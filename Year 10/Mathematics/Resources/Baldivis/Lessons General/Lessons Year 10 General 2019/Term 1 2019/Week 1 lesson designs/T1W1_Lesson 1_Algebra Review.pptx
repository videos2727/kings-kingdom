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2"/>
  </p:notesMasterIdLst>
  <p:sldIdLst>
    <p:sldId id="257" r:id="rId2"/>
    <p:sldId id="259" r:id="rId3"/>
    <p:sldId id="260" r:id="rId4"/>
    <p:sldId id="256" r:id="rId5"/>
    <p:sldId id="261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7608" autoAdjust="0"/>
  </p:normalViewPr>
  <p:slideViewPr>
    <p:cSldViewPr snapToGrid="0">
      <p:cViewPr varScale="1">
        <p:scale>
          <a:sx n="45" d="100"/>
          <a:sy n="45" d="100"/>
        </p:scale>
        <p:origin x="14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458D68-FDE5-4A84-BD63-45823E666E15}" type="datetimeFigureOut">
              <a:rPr lang="en-AU" smtClean="0"/>
              <a:t>2/02/2019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5DE2C-A79A-449B-B4AB-DCF8743D49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1298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95249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308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Cut these up prior to lesson. Students work in pairs or groups to glue in the correct order using template on next slide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9C68D-D041-4DD6-A5D7-C777CB980885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20674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5DE2C-A79A-449B-B4AB-DCF8743D4915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03424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470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6802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1230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554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66C9A-FFC0-41EB-B416-C96568D052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53348F-C0AD-4F36-89CB-95C2630052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BDC37-745F-4EB2-AEB0-F46A422C7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480C5-A9E7-4D70-BA7C-92053136D139}" type="datetimeFigureOut">
              <a:rPr lang="en-AU" smtClean="0"/>
              <a:t>2/02/2019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2F57D-32AF-4AB2-8DDA-0611090FD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AEE21-5957-4918-AFE9-B8D400E1B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52BCF-9AAE-41FE-AA5B-210A7641C5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442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0C04D-D3A5-4032-930A-3D281C6B9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945C2-13B1-4C07-ABC6-A190971B1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EDCCF-54BB-4248-90AF-F7A695751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480C5-A9E7-4D70-BA7C-92053136D139}" type="datetimeFigureOut">
              <a:rPr lang="en-AU" smtClean="0"/>
              <a:t>2/02/2019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5890E-A3A4-4E1B-9729-A13769707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4F974-8CD2-4234-9C1F-ABE5032A4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52BCF-9AAE-41FE-AA5B-210A7641C5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852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638AF-4468-46CE-86F8-9AA1487BC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E4A56-4A0B-4037-99A6-EE6DC4D71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BB60E-0801-45F9-8006-4DCD25A0A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480C5-A9E7-4D70-BA7C-92053136D139}" type="datetimeFigureOut">
              <a:rPr lang="en-AU" smtClean="0"/>
              <a:t>2/02/2019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B2F6D-B130-4961-9978-32A7B8798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E3726-1F6F-4E6A-922B-269DE8930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52BCF-9AAE-41FE-AA5B-210A7641C5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9513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18962-7A23-4876-AA04-5C9C2FFFD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9ED4F-B19B-4462-B82C-1BAB0E211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A07622-A831-4744-8F2D-E22C5AE54A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3A676A-8A21-4293-A95B-9F85D38CA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480C5-A9E7-4D70-BA7C-92053136D139}" type="datetimeFigureOut">
              <a:rPr lang="en-AU" smtClean="0"/>
              <a:t>2/02/2019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96EEB6-E8FE-462A-A666-68BA3C335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B1EC24-CD4F-43C3-B537-D7C57A2CB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52BCF-9AAE-41FE-AA5B-210A7641C5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3628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A78E0-E142-47DF-928E-7B08D1BDB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FD6A1A-414F-46CF-A203-8104D9E82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21B4B-6934-404D-8788-C1A9F00E64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7DE311-F319-4DB9-BD20-621982203E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3FCB73-9D16-46CA-A806-C567DFD032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2B8124-E870-4CD3-BAFC-CF81B60A0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480C5-A9E7-4D70-BA7C-92053136D139}" type="datetimeFigureOut">
              <a:rPr lang="en-AU" smtClean="0"/>
              <a:t>2/02/2019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62EDF3-48BA-40EC-9D87-50775C50D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CE86A9-8895-4E30-9294-970179A91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52BCF-9AAE-41FE-AA5B-210A7641C5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1860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61450-E3A5-40A9-924C-0389C566E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ED4AF1-D201-482E-A2E0-B9FEA4024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480C5-A9E7-4D70-BA7C-92053136D139}" type="datetimeFigureOut">
              <a:rPr lang="en-AU" smtClean="0"/>
              <a:t>2/02/2019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6A24B3-8E85-41A1-90A0-AFF642AAB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CBDEB2-65CE-4508-8DB7-2BC3B09F6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52BCF-9AAE-41FE-AA5B-210A7641C5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1520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FC3940-8007-41D4-94E1-AE9016F7A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480C5-A9E7-4D70-BA7C-92053136D139}" type="datetimeFigureOut">
              <a:rPr lang="en-AU" smtClean="0"/>
              <a:t>2/02/2019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4178E-67B3-4763-9D51-42922E141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2C47E-4A8B-4311-99E8-127F85952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52BCF-9AAE-41FE-AA5B-210A7641C5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1426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39E00-0B09-4F41-8BCE-A9B6349BB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F6BC1-D4B5-4BCA-A965-DB4F329F9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691A2F-9B91-40DC-BEC3-99952FAE3F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070A1B-B384-47BB-8ACF-CD596B5AA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480C5-A9E7-4D70-BA7C-92053136D139}" type="datetimeFigureOut">
              <a:rPr lang="en-AU" smtClean="0"/>
              <a:t>2/02/2019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790870-DF08-4B72-AEA9-CCFCC402C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09D11D-00DE-4F8C-B0CE-6DCD6D285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52BCF-9AAE-41FE-AA5B-210A7641C5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3151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A76AA-814F-4513-A9D4-8FB1754AC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DBD7CE-6523-48D4-AF40-59D07B4E13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AECE2C-D321-4183-BB3C-6730D56D16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CDC573-E61C-4AEF-85FB-C3CD38707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480C5-A9E7-4D70-BA7C-92053136D139}" type="datetimeFigureOut">
              <a:rPr lang="en-AU" smtClean="0"/>
              <a:t>2/02/2019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91881-2B90-4811-A10F-BAF631070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76E460-7717-4081-B605-98675CB3A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52BCF-9AAE-41FE-AA5B-210A7641C5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9973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BED5B-153A-4F53-83CF-A367ACC81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7B617-DB26-473F-8409-51737B4FFA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4107A-637B-4D3C-87B0-3BF1A066B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480C5-A9E7-4D70-BA7C-92053136D139}" type="datetimeFigureOut">
              <a:rPr lang="en-AU" smtClean="0"/>
              <a:t>2/02/2019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DB601-AE17-465A-B4E9-7FC2529A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B4B24-0EA0-43CA-BDC7-F2E5D66BA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52BCF-9AAE-41FE-AA5B-210A7641C5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3634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9E9B96-CB24-4C33-9FA7-7ED71A1959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235463-9688-4F89-8981-3C96B8121B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79340-596D-4A51-B065-3FBF24F87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480C5-A9E7-4D70-BA7C-92053136D139}" type="datetimeFigureOut">
              <a:rPr lang="en-AU" smtClean="0"/>
              <a:t>2/02/2019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CFC0C-F678-48C8-8AD6-99E947D82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DF5B8-0501-4334-8BC1-006B85E1B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52BCF-9AAE-41FE-AA5B-210A7641C5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22463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12384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10A69-C0BC-4A5A-8FE4-5D0B5D0F11EE}" type="datetimeFigureOut">
              <a:rPr lang="en-US" dirty="0"/>
              <a:t>2/2/2019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582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C834B7-5E67-4FFB-A4FD-BA7DE3123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217E43-DFD1-43D5-94DD-36390372B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87BBE-3F7C-4DE8-9690-C2FC86EBFC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2480C5-A9E7-4D70-BA7C-92053136D139}" type="datetimeFigureOut">
              <a:rPr lang="en-AU" smtClean="0"/>
              <a:t>2/02/2019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83A56-8B52-440F-9AF5-C296794653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BBC3D-4436-4C6B-AFF2-E0FB7183F6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52BCF-9AAE-41FE-AA5B-210A7641C5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2296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gif"/><Relationship Id="rId4" Type="http://schemas.openxmlformats.org/officeDocument/2006/relationships/image" Target="../media/image6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5142" y="1466849"/>
            <a:ext cx="7766936" cy="783761"/>
          </a:xfrm>
        </p:spPr>
        <p:txBody>
          <a:bodyPr/>
          <a:lstStyle/>
          <a:p>
            <a:pPr algn="l"/>
            <a:r>
              <a:rPr lang="en-US" sz="3200" dirty="0"/>
              <a:t>Topic: Algebra Review</a:t>
            </a:r>
            <a:endParaRPr lang="en-AU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5542" y="2774484"/>
            <a:ext cx="9189508" cy="783762"/>
          </a:xfrm>
        </p:spPr>
        <p:txBody>
          <a:bodyPr>
            <a:normAutofit/>
          </a:bodyPr>
          <a:lstStyle/>
          <a:p>
            <a:pPr algn="l"/>
            <a:r>
              <a:rPr lang="en-AU" sz="2000" dirty="0"/>
              <a:t>EQ: What are the important algebraic definitions?</a:t>
            </a:r>
          </a:p>
        </p:txBody>
      </p:sp>
    </p:spTree>
    <p:extLst>
      <p:ext uri="{BB962C8B-B14F-4D97-AF65-F5344CB8AC3E}">
        <p14:creationId xmlns:p14="http://schemas.microsoft.com/office/powerpoint/2010/main" val="120763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97540"/>
            <a:ext cx="8610600" cy="1293028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50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3600" dirty="0"/>
              <a:t>Find the length of the shorter side</a:t>
            </a: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12571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8173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Algebra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EQ – What are the important algebraic definitions?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94653C22-7DB7-4083-A85E-EFA3B458F685}"/>
              </a:ext>
            </a:extLst>
          </p:cNvPr>
          <p:cNvSpPr/>
          <p:nvPr/>
        </p:nvSpPr>
        <p:spPr>
          <a:xfrm>
            <a:off x="2759028" y="1546145"/>
            <a:ext cx="8039942" cy="19287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eaLnBrk="1" hangingPunct="1">
              <a:buNone/>
            </a:pPr>
            <a:r>
              <a:rPr lang="en-GB" altLang="en-US" sz="2800" dirty="0"/>
              <a:t>15 mins Match up pair activity.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GB" altLang="en-US" dirty="0"/>
              <a:t>Work in pairs but you will each have a template to glue in HERE BUT MAKE SURE THAT IT CAN BE FOLDED TO LEAVE ROOM FOR MORE NOTES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endParaRPr lang="en-GB" altLang="en-US" dirty="0"/>
          </a:p>
          <a:p>
            <a:pPr marL="0" indent="0" eaLnBrk="1" hangingPunct="1">
              <a:buNone/>
            </a:pPr>
            <a:endParaRPr lang="en-GB" altLang="en-US" sz="2800" baseline="30000" dirty="0"/>
          </a:p>
          <a:p>
            <a:pPr marL="0" indent="0" eaLnBrk="1" hangingPunct="1">
              <a:buNone/>
            </a:pPr>
            <a:endParaRPr lang="en-GB" altLang="en-US" sz="2800" baseline="30000" dirty="0"/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099256" y="103031"/>
            <a:ext cx="1721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u="sng" dirty="0"/>
              <a:t>Algebra - Vocabulary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108755" y="577999"/>
              <a:ext cx="5897092" cy="4582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1971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8199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9538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Vocabulary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Meaning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Examples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Term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An algebraic quantity which</a:t>
                          </a:r>
                          <a:r>
                            <a:rPr lang="en-GB" sz="1200" baseline="0" dirty="0"/>
                            <a:t> only contains letters (and maybe a number) – no signs in the middle!</a:t>
                          </a:r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−5</m:t>
                                </m:r>
                                <m:sSup>
                                  <m:sSupPr>
                                    <m:ctrlP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f>
                                  <m:fPr>
                                    <m:ctrlP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Expression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Made up of algebraic terms – no equals</a:t>
                          </a:r>
                          <a:r>
                            <a:rPr lang="en-GB" sz="1200" baseline="0" dirty="0"/>
                            <a:t> sign!</a:t>
                          </a:r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GB" sz="12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3(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Equation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Contains</a:t>
                          </a:r>
                          <a:r>
                            <a:rPr lang="en-GB" sz="1200" baseline="0" dirty="0"/>
                            <a:t> an equals sign! Can be solved but only for some (not all) values of </a:t>
                          </a:r>
                          <a:r>
                            <a:rPr lang="en-GB" sz="1200" i="1" baseline="0" dirty="0">
                              <a:latin typeface="+mn-lt"/>
                            </a:rPr>
                            <a:t>x </a:t>
                          </a:r>
                          <a:r>
                            <a:rPr lang="en-GB" sz="1200" i="0" baseline="0" dirty="0">
                              <a:latin typeface="+mn-lt"/>
                            </a:rPr>
                            <a:t>(or any variable)</a:t>
                          </a:r>
                          <a:r>
                            <a:rPr lang="en-GB" sz="1200" i="0" baseline="0" dirty="0"/>
                            <a:t>.</a:t>
                          </a:r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+4=10</m:t>
                                </m:r>
                              </m:oMath>
                            </m:oMathPara>
                          </a14:m>
                          <a:endParaRPr lang="en-GB" sz="12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+2=0 </m:t>
                                </m:r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Constant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A number with nothing else attached to it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3, 16, 256</m:t>
                                </m:r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Variable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200" dirty="0">
                              <a:latin typeface="+mn-lt"/>
                              <a:cs typeface="Arial" panose="020B0604020202020204" pitchFamily="34" charset="0"/>
                            </a:rPr>
                            <a:t>A letter that represents an unknown number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Coefficient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200" dirty="0">
                              <a:latin typeface="+mn-lt"/>
                              <a:cs typeface="Arial" panose="020B0604020202020204" pitchFamily="34" charset="0"/>
                            </a:rPr>
                            <a:t>The number in front of the variable</a:t>
                          </a:r>
                        </a:p>
                        <a:p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3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      3 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𝑖𝑠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𝑡h𝑒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𝑐𝑜𝑒𝑓𝑓𝑖𝑐𝑖𝑒𝑛𝑡</m:t>
                                </m:r>
                              </m:oMath>
                            </m:oMathPara>
                          </a14:m>
                          <a:endParaRPr lang="en-AU" sz="1200" b="0" dirty="0">
                            <a:latin typeface="+mn-lt"/>
                            <a:cs typeface="Arial" panose="020B0604020202020204" pitchFamily="34" charset="0"/>
                          </a:endParaRPr>
                        </a:p>
                        <a:p>
                          <a:r>
                            <a:rPr lang="en-AU" sz="1200" dirty="0">
                              <a:latin typeface="+mn-lt"/>
                              <a:cs typeface="Arial" panose="020B0604020202020204" pitchFamily="34" charset="0"/>
                            </a:rPr>
                            <a:t>       </a:t>
                          </a:r>
                          <a14:m>
                            <m:oMath xmlns:m="http://schemas.openxmlformats.org/officeDocument/2006/math"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5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    5 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𝑖𝑠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𝑡h𝑒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𝑐𝑜𝑒𝑓𝑓𝑖𝑐𝑖𝑒𝑛𝑡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</m:oMath>
                          </a14:m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Like terms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1200" dirty="0">
                              <a:latin typeface="+mn-lt"/>
                              <a:cs typeface="Arial" panose="020B0604020202020204" pitchFamily="34" charset="0"/>
                            </a:rPr>
                            <a:t>Terms that have the </a:t>
                          </a:r>
                          <a:r>
                            <a:rPr lang="en-US" altLang="en-US" sz="1200" b="1" u="sng" dirty="0">
                              <a:latin typeface="+mn-lt"/>
                              <a:cs typeface="Arial" panose="020B0604020202020204" pitchFamily="34" charset="0"/>
                            </a:rPr>
                            <a:t>same variables</a:t>
                          </a:r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4t and 6t</a:t>
                          </a:r>
                        </a:p>
                        <a:p>
                          <a:pPr algn="ctr"/>
                          <a:r>
                            <a:rPr lang="en-GB" sz="1200" dirty="0"/>
                            <a:t>11x and 2x</a:t>
                          </a:r>
                        </a:p>
                        <a:p>
                          <a:pPr algn="ctr"/>
                          <a:endParaRPr lang="en-GB" sz="1200" dirty="0"/>
                        </a:p>
                        <a:p>
                          <a:pPr algn="ctr"/>
                          <a:r>
                            <a:rPr lang="en-GB" sz="1200" dirty="0"/>
                            <a:t>4x</a:t>
                          </a:r>
                          <a:r>
                            <a:rPr lang="en-GB" sz="1200" baseline="30000" dirty="0"/>
                            <a:t>2</a:t>
                          </a:r>
                          <a:r>
                            <a:rPr lang="en-GB" sz="1200" baseline="0" dirty="0"/>
                            <a:t> and 3x ARE NOT LIKE TERMS</a:t>
                          </a:r>
                          <a:endParaRPr lang="en-GB" sz="1200" baseline="30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445399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108755" y="577999"/>
              <a:ext cx="5897092" cy="4582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1971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8199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9538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Vocabulary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Meaning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Examples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Term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An algebraic quantity which</a:t>
                          </a:r>
                          <a:r>
                            <a:rPr lang="en-GB" sz="1200" baseline="0" dirty="0"/>
                            <a:t> only contains letters (and maybe a number) – no signs in the middle!</a:t>
                          </a:r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8814" t="-59048" r="-678" b="-56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Expression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Made up of algebraic terms – no equals</a:t>
                          </a:r>
                          <a:r>
                            <a:rPr lang="en-GB" sz="1200" baseline="0" dirty="0"/>
                            <a:t> sign!</a:t>
                          </a:r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8814" t="-222667" r="-678" b="-69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Equation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Contains</a:t>
                          </a:r>
                          <a:r>
                            <a:rPr lang="en-GB" sz="1200" baseline="0" dirty="0"/>
                            <a:t> an equals sign! Can be solved but only for some (not all) values of </a:t>
                          </a:r>
                          <a:r>
                            <a:rPr lang="en-GB" sz="1200" i="1" baseline="0" dirty="0">
                              <a:latin typeface="+mn-lt"/>
                            </a:rPr>
                            <a:t>x </a:t>
                          </a:r>
                          <a:r>
                            <a:rPr lang="en-GB" sz="1200" i="0" baseline="0" dirty="0">
                              <a:latin typeface="+mn-lt"/>
                            </a:rPr>
                            <a:t>(or any variable)</a:t>
                          </a:r>
                          <a:r>
                            <a:rPr lang="en-GB" sz="1200" i="0" baseline="0" dirty="0"/>
                            <a:t>.</a:t>
                          </a:r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8814" t="-230476" r="-678" b="-394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Constant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A number with nothing else attached to it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8814" t="-568852" r="-678" b="-5786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Variable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200" dirty="0">
                              <a:latin typeface="+mn-lt"/>
                              <a:cs typeface="Arial" panose="020B0604020202020204" pitchFamily="34" charset="0"/>
                            </a:rPr>
                            <a:t>A letter that represents an unknown number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8814" t="-536842" r="-678" b="-3644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Coefficient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200" dirty="0">
                              <a:latin typeface="+mn-lt"/>
                              <a:cs typeface="Arial" panose="020B0604020202020204" pitchFamily="34" charset="0"/>
                            </a:rPr>
                            <a:t>The number in front of the variable</a:t>
                          </a:r>
                        </a:p>
                        <a:p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8814" t="-460952" r="-678" b="-1638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Like terms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1200" dirty="0">
                              <a:latin typeface="+mn-lt"/>
                              <a:cs typeface="Arial" panose="020B0604020202020204" pitchFamily="34" charset="0"/>
                            </a:rPr>
                            <a:t>Terms that have the </a:t>
                          </a:r>
                          <a:r>
                            <a:rPr lang="en-US" altLang="en-US" sz="1200" b="1" u="sng" dirty="0">
                              <a:latin typeface="+mn-lt"/>
                              <a:cs typeface="Arial" panose="020B0604020202020204" pitchFamily="34" charset="0"/>
                            </a:rPr>
                            <a:t>same variables</a:t>
                          </a:r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4t and 6t</a:t>
                          </a:r>
                        </a:p>
                        <a:p>
                          <a:pPr algn="ctr"/>
                          <a:r>
                            <a:rPr lang="en-GB" sz="1200" dirty="0"/>
                            <a:t>11x and 2x</a:t>
                          </a:r>
                        </a:p>
                        <a:p>
                          <a:pPr algn="ctr"/>
                          <a:endParaRPr lang="en-GB" sz="1200" dirty="0"/>
                        </a:p>
                        <a:p>
                          <a:pPr algn="ctr"/>
                          <a:r>
                            <a:rPr lang="en-GB" sz="1200" dirty="0"/>
                            <a:t>4x</a:t>
                          </a:r>
                          <a:r>
                            <a:rPr lang="en-GB" sz="1200" baseline="30000" dirty="0"/>
                            <a:t>2</a:t>
                          </a:r>
                          <a:r>
                            <a:rPr lang="en-GB" sz="1200" baseline="0" dirty="0"/>
                            <a:t> and 3x ARE NOT LIKE TERMS</a:t>
                          </a:r>
                          <a:endParaRPr lang="en-GB" sz="1200" baseline="30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445399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/>
          <p:cNvSpPr txBox="1"/>
          <p:nvPr/>
        </p:nvSpPr>
        <p:spPr>
          <a:xfrm>
            <a:off x="8188816" y="103032"/>
            <a:ext cx="1721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u="sng" dirty="0"/>
              <a:t>Algebra - Vocabulary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24D74E9D-CCB8-4361-9262-B13D5BA28F9E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6186155" y="577999"/>
              <a:ext cx="5897092" cy="4582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1971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8199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9538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Vocabulary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Meaning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Examples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Term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An algebraic quantity which</a:t>
                          </a:r>
                          <a:r>
                            <a:rPr lang="en-GB" sz="1200" baseline="0" dirty="0"/>
                            <a:t> only contains letters (and maybe a number) – no signs in the middle!</a:t>
                          </a:r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−5</m:t>
                                </m:r>
                                <m:sSup>
                                  <m:sSupPr>
                                    <m:ctrlP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f>
                                  <m:fPr>
                                    <m:ctrlP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Expression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Made up of algebraic terms – no equals</a:t>
                          </a:r>
                          <a:r>
                            <a:rPr lang="en-GB" sz="1200" baseline="0" dirty="0"/>
                            <a:t> sign!</a:t>
                          </a:r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GB" sz="12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3(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Equation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Contains</a:t>
                          </a:r>
                          <a:r>
                            <a:rPr lang="en-GB" sz="1200" baseline="0" dirty="0"/>
                            <a:t> an equals sign! Can be solved but only for some (not all) values of </a:t>
                          </a:r>
                          <a:r>
                            <a:rPr lang="en-GB" sz="1200" i="1" baseline="0" dirty="0">
                              <a:latin typeface="+mn-lt"/>
                            </a:rPr>
                            <a:t>x </a:t>
                          </a:r>
                          <a:r>
                            <a:rPr lang="en-GB" sz="1200" i="0" baseline="0" dirty="0">
                              <a:latin typeface="+mn-lt"/>
                            </a:rPr>
                            <a:t>(or any variable)</a:t>
                          </a:r>
                          <a:r>
                            <a:rPr lang="en-GB" sz="1200" i="0" baseline="0" dirty="0"/>
                            <a:t>.</a:t>
                          </a:r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+4=10</m:t>
                                </m:r>
                              </m:oMath>
                            </m:oMathPara>
                          </a14:m>
                          <a:endParaRPr lang="en-GB" sz="12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+2=0 </m:t>
                                </m:r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Constant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A number with nothing else attached to it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3, 16, 256</m:t>
                                </m:r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Variable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200" dirty="0">
                              <a:latin typeface="+mn-lt"/>
                              <a:cs typeface="Arial" panose="020B0604020202020204" pitchFamily="34" charset="0"/>
                            </a:rPr>
                            <a:t>A letter that represents an unknown number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Coefficient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200" dirty="0">
                              <a:latin typeface="+mn-lt"/>
                              <a:cs typeface="Arial" panose="020B0604020202020204" pitchFamily="34" charset="0"/>
                            </a:rPr>
                            <a:t>The number in front of the variable</a:t>
                          </a:r>
                        </a:p>
                        <a:p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3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      3 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𝑖𝑠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𝑡h𝑒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𝑐𝑜𝑒𝑓𝑓𝑖𝑐𝑖𝑒𝑛𝑡</m:t>
                                </m:r>
                              </m:oMath>
                            </m:oMathPara>
                          </a14:m>
                          <a:endParaRPr lang="en-AU" sz="1200" b="0" dirty="0">
                            <a:latin typeface="+mn-lt"/>
                            <a:cs typeface="Arial" panose="020B0604020202020204" pitchFamily="34" charset="0"/>
                          </a:endParaRPr>
                        </a:p>
                        <a:p>
                          <a:r>
                            <a:rPr lang="en-AU" sz="1200" dirty="0">
                              <a:latin typeface="+mn-lt"/>
                              <a:cs typeface="Arial" panose="020B0604020202020204" pitchFamily="34" charset="0"/>
                            </a:rPr>
                            <a:t>       </a:t>
                          </a:r>
                          <a14:m>
                            <m:oMath xmlns:m="http://schemas.openxmlformats.org/officeDocument/2006/math"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5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    5 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𝑖𝑠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𝑡h𝑒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𝑐𝑜𝑒𝑓𝑓𝑖𝑐𝑖𝑒𝑛𝑡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</m:oMath>
                          </a14:m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Like terms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1200" dirty="0">
                              <a:latin typeface="+mn-lt"/>
                              <a:cs typeface="Arial" panose="020B0604020202020204" pitchFamily="34" charset="0"/>
                            </a:rPr>
                            <a:t>Terms that have the </a:t>
                          </a:r>
                          <a:r>
                            <a:rPr lang="en-US" altLang="en-US" sz="1200" b="1" u="sng" dirty="0">
                              <a:latin typeface="+mn-lt"/>
                              <a:cs typeface="Arial" panose="020B0604020202020204" pitchFamily="34" charset="0"/>
                            </a:rPr>
                            <a:t>same variables</a:t>
                          </a:r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4t and 6t</a:t>
                          </a:r>
                        </a:p>
                        <a:p>
                          <a:pPr algn="ctr"/>
                          <a:r>
                            <a:rPr lang="en-GB" sz="1200" dirty="0"/>
                            <a:t>11x and 2x</a:t>
                          </a:r>
                        </a:p>
                        <a:p>
                          <a:pPr algn="ctr"/>
                          <a:endParaRPr lang="en-GB" sz="1200" dirty="0"/>
                        </a:p>
                        <a:p>
                          <a:pPr algn="ctr"/>
                          <a:r>
                            <a:rPr lang="en-GB" sz="1200" dirty="0"/>
                            <a:t>4x</a:t>
                          </a:r>
                          <a:r>
                            <a:rPr lang="en-GB" sz="1200" baseline="30000" dirty="0"/>
                            <a:t>2</a:t>
                          </a:r>
                          <a:r>
                            <a:rPr lang="en-GB" sz="1200" baseline="0" dirty="0"/>
                            <a:t> and 3x ARE NOT LIKE TERMS</a:t>
                          </a:r>
                          <a:endParaRPr lang="en-GB" sz="1200" baseline="30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445399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24D74E9D-CCB8-4361-9262-B13D5BA28F9E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6186155" y="577999"/>
              <a:ext cx="5897092" cy="4582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1971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8199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9538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Vocabulary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Meaning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Examples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Term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An algebraic quantity which</a:t>
                          </a:r>
                          <a:r>
                            <a:rPr lang="en-GB" sz="1200" baseline="0" dirty="0"/>
                            <a:t> only contains letters (and maybe a number) – no signs in the middle!</a:t>
                          </a:r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28814" t="-59048" r="-678" b="-56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Expression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Made up of algebraic terms – no equals</a:t>
                          </a:r>
                          <a:r>
                            <a:rPr lang="en-GB" sz="1200" baseline="0" dirty="0"/>
                            <a:t> sign!</a:t>
                          </a:r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28814" t="-222667" r="-678" b="-69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Equation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Contains</a:t>
                          </a:r>
                          <a:r>
                            <a:rPr lang="en-GB" sz="1200" baseline="0" dirty="0"/>
                            <a:t> an equals sign! Can be solved but only for some (not all) values of </a:t>
                          </a:r>
                          <a:r>
                            <a:rPr lang="en-GB" sz="1200" i="1" baseline="0" dirty="0">
                              <a:latin typeface="+mn-lt"/>
                            </a:rPr>
                            <a:t>x </a:t>
                          </a:r>
                          <a:r>
                            <a:rPr lang="en-GB" sz="1200" i="0" baseline="0" dirty="0">
                              <a:latin typeface="+mn-lt"/>
                            </a:rPr>
                            <a:t>(or any variable)</a:t>
                          </a:r>
                          <a:r>
                            <a:rPr lang="en-GB" sz="1200" i="0" baseline="0" dirty="0"/>
                            <a:t>.</a:t>
                          </a:r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28814" t="-230476" r="-678" b="-394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Constant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A number with nothing else attached to it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28814" t="-568852" r="-678" b="-5786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Variable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200" dirty="0">
                              <a:latin typeface="+mn-lt"/>
                              <a:cs typeface="Arial" panose="020B0604020202020204" pitchFamily="34" charset="0"/>
                            </a:rPr>
                            <a:t>A letter that represents an unknown number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28814" t="-536842" r="-678" b="-3644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Coefficient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200" dirty="0">
                              <a:latin typeface="+mn-lt"/>
                              <a:cs typeface="Arial" panose="020B0604020202020204" pitchFamily="34" charset="0"/>
                            </a:rPr>
                            <a:t>The number in front of the variable</a:t>
                          </a:r>
                        </a:p>
                        <a:p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28814" t="-460952" r="-678" b="-1638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Like terms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1200" dirty="0">
                              <a:latin typeface="+mn-lt"/>
                              <a:cs typeface="Arial" panose="020B0604020202020204" pitchFamily="34" charset="0"/>
                            </a:rPr>
                            <a:t>Terms that have the </a:t>
                          </a:r>
                          <a:r>
                            <a:rPr lang="en-US" altLang="en-US" sz="1200" b="1" u="sng" dirty="0">
                              <a:latin typeface="+mn-lt"/>
                              <a:cs typeface="Arial" panose="020B0604020202020204" pitchFamily="34" charset="0"/>
                            </a:rPr>
                            <a:t>same variables</a:t>
                          </a:r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4t and 6t</a:t>
                          </a:r>
                        </a:p>
                        <a:p>
                          <a:pPr algn="ctr"/>
                          <a:r>
                            <a:rPr lang="en-GB" sz="1200" dirty="0"/>
                            <a:t>11x and 2x</a:t>
                          </a:r>
                        </a:p>
                        <a:p>
                          <a:pPr algn="ctr"/>
                          <a:endParaRPr lang="en-GB" sz="1200" dirty="0"/>
                        </a:p>
                        <a:p>
                          <a:pPr algn="ctr"/>
                          <a:r>
                            <a:rPr lang="en-GB" sz="1200" dirty="0"/>
                            <a:t>4x</a:t>
                          </a:r>
                          <a:r>
                            <a:rPr lang="en-GB" sz="1200" baseline="30000" dirty="0"/>
                            <a:t>2</a:t>
                          </a:r>
                          <a:r>
                            <a:rPr lang="en-GB" sz="1200" baseline="0" dirty="0"/>
                            <a:t> and 3x ARE NOT LIKE TERMS</a:t>
                          </a:r>
                          <a:endParaRPr lang="en-GB" sz="1200" baseline="30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445399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33225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099256" y="103031"/>
            <a:ext cx="1721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u="sng" dirty="0"/>
              <a:t>Algebra - Vocabulary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108755" y="577999"/>
              <a:ext cx="5897092" cy="4851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1971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8199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9538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Vocabulary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Meaning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Examples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Term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−5</m:t>
                                </m:r>
                                <m:sSup>
                                  <m:sSupPr>
                                    <m:ctrlP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f>
                                  <m:fPr>
                                    <m:ctrlP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Expression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Made up of algebraic terms – no equals</a:t>
                          </a:r>
                          <a:r>
                            <a:rPr lang="en-GB" sz="1200" baseline="0" dirty="0"/>
                            <a:t> sign!</a:t>
                          </a:r>
                        </a:p>
                        <a:p>
                          <a:pPr algn="l"/>
                          <a:endParaRPr lang="en-GB" sz="12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Equation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Constant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Variable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  <a:p>
                          <a:endParaRPr lang="en-US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  <a:p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Coefficient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  <a:p>
                          <a:endParaRPr lang="en-US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  <a:p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Like terms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aseline="30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445399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108755" y="577999"/>
              <a:ext cx="5897092" cy="4851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1971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8199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9538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Vocabulary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Meaning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Examples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Term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8814" t="-59048" r="-678" b="-60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Expression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Made up of algebraic terms – no equals</a:t>
                          </a:r>
                          <a:r>
                            <a:rPr lang="en-GB" sz="1200" baseline="0" dirty="0"/>
                            <a:t> sign!</a:t>
                          </a:r>
                        </a:p>
                        <a:p>
                          <a:pPr algn="l"/>
                          <a:endParaRPr lang="en-GB" sz="12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Equation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Constant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Variable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  <a:p>
                          <a:endParaRPr lang="en-US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  <a:p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Coefficient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  <a:p>
                          <a:endParaRPr lang="en-US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  <a:p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Like terms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aseline="30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445399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/>
          <p:cNvSpPr txBox="1"/>
          <p:nvPr/>
        </p:nvSpPr>
        <p:spPr>
          <a:xfrm>
            <a:off x="8188816" y="103032"/>
            <a:ext cx="1721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u="sng" dirty="0"/>
              <a:t>Algebra - Vocabulary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F9F8CBB0-7C0F-4EA3-8E86-87DCBF6E0901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6101211" y="644674"/>
              <a:ext cx="5897092" cy="4851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1971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8199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9538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Vocabulary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Meaning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Examples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Term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−5</m:t>
                                </m:r>
                                <m:sSup>
                                  <m:sSupPr>
                                    <m:ctrlP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f>
                                  <m:fPr>
                                    <m:ctrlP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Expression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Made up of algebraic terms – no equals</a:t>
                          </a:r>
                          <a:r>
                            <a:rPr lang="en-GB" sz="1200" baseline="0" dirty="0"/>
                            <a:t> sign!</a:t>
                          </a:r>
                        </a:p>
                        <a:p>
                          <a:pPr algn="l"/>
                          <a:endParaRPr lang="en-GB" sz="12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Equation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Constant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Variable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  <a:p>
                          <a:endParaRPr lang="en-US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  <a:p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Coefficient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  <a:p>
                          <a:endParaRPr lang="en-US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  <a:p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Like terms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aseline="30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445399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F9F8CBB0-7C0F-4EA3-8E86-87DCBF6E0901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6101211" y="644674"/>
              <a:ext cx="5897092" cy="4851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1971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8199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9538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Vocabulary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Meaning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Examples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Term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8814" t="-59048" r="-678" b="-60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Expression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Made up of algebraic terms – no equals</a:t>
                          </a:r>
                          <a:r>
                            <a:rPr lang="en-GB" sz="1200" baseline="0" dirty="0"/>
                            <a:t> sign!</a:t>
                          </a:r>
                        </a:p>
                        <a:p>
                          <a:pPr algn="l"/>
                          <a:endParaRPr lang="en-GB" sz="1200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Equation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Constant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Variable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  <a:p>
                          <a:endParaRPr lang="en-US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  <a:p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Coefficient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  <a:p>
                          <a:endParaRPr lang="en-US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  <a:p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Like terms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aseline="30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445399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76237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31F0-15B2-4EA9-B65F-D192823FF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684561"/>
          </a:xfrm>
        </p:spPr>
        <p:txBody>
          <a:bodyPr>
            <a:normAutofit fontScale="90000"/>
          </a:bodyPr>
          <a:lstStyle/>
          <a:p>
            <a:r>
              <a:rPr lang="en-AU" dirty="0"/>
              <a:t>Practice: LHS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634288E-EF37-463B-84EF-4578E76F2292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685801" y="2443609"/>
              <a:ext cx="8128000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330691866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77732446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443144986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4603693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4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𝑎𝑏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6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𝑦𝑥𝑧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27473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𝑦𝑥𝑧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²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8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8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𝑧𝑦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8297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9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18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𝑏𝑎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𝑥𝑦𝑧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10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²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72896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634288E-EF37-463B-84EF-4578E76F22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7698595"/>
                  </p:ext>
                </p:extLst>
              </p:nvPr>
            </p:nvGraphicFramePr>
            <p:xfrm>
              <a:off x="685801" y="2443609"/>
              <a:ext cx="8128000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330691866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77732446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443144986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4603693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9" t="-1639" r="-300000" b="-2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601" t="-1639" r="-200901" b="-2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000" t="-1639" r="-100299" b="-2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901" t="-1639" r="-601" b="-2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27473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9" t="-100000" r="-300000" b="-1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601" t="-100000" r="-200901" b="-1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000" t="-100000" r="-100299" b="-1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901" t="-100000" r="-601" b="-111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8297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9" t="-203279" r="-300000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601" t="-203279" r="-200901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000" t="-203279" r="-100299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901" t="-203279" r="-601" b="-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728966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2850A12-344E-4464-8B50-1174ABB184D4}"/>
              </a:ext>
            </a:extLst>
          </p:cNvPr>
          <p:cNvSpPr txBox="1"/>
          <p:nvPr/>
        </p:nvSpPr>
        <p:spPr>
          <a:xfrm>
            <a:off x="637881" y="1458306"/>
            <a:ext cx="5458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GROUP  THE FOLLOWING INTO LIKE TERMS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0CC4F7BE-D617-458E-821A-B34D8D5711D8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759381" y="3976553"/>
              <a:ext cx="10323300" cy="108564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20550">
                      <a:extLst>
                        <a:ext uri="{9D8B030D-6E8A-4147-A177-3AD203B41FA5}">
                          <a16:colId xmlns:a16="http://schemas.microsoft.com/office/drawing/2014/main" val="4274588088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1155024427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4187622094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517163734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3951418350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560248314"/>
                        </a:ext>
                      </a:extLst>
                    </a:gridCol>
                  </a:tblGrid>
                  <a:tr h="108564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4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9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8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𝑎𝑏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𝟏𝟖</m:t>
                                </m:r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𝒂𝒃</m:t>
                                </m:r>
                              </m:oMath>
                            </m:oMathPara>
                          </a14:m>
                          <a:endParaRPr lang="en-AU" b="1" u="sng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𝟖</m:t>
                                </m:r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𝒚𝒛</m:t>
                                </m:r>
                              </m:oMath>
                            </m:oMathPara>
                          </a14:m>
                          <a:endParaRPr lang="en-AU" b="1" u="sng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𝟔</m:t>
                                </m:r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𝒙𝒚𝒛</m:t>
                                </m:r>
                              </m:oMath>
                            </m:oMathPara>
                          </a14:m>
                          <a:endParaRPr lang="en-AU" b="1" u="sng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𝟓</m:t>
                                </m:r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𝒙𝒚𝒛</m:t>
                                </m:r>
                              </m:oMath>
                            </m:oMathPara>
                          </a14:m>
                          <a:endParaRPr lang="en-AU" b="1" u="sng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𝑥𝑦𝑧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²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10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²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67111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0CC4F7BE-D617-458E-821A-B34D8D5711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3667783"/>
                  </p:ext>
                </p:extLst>
              </p:nvPr>
            </p:nvGraphicFramePr>
            <p:xfrm>
              <a:off x="759381" y="3976553"/>
              <a:ext cx="10323300" cy="108564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20550">
                      <a:extLst>
                        <a:ext uri="{9D8B030D-6E8A-4147-A177-3AD203B41FA5}">
                          <a16:colId xmlns:a16="http://schemas.microsoft.com/office/drawing/2014/main" val="4274588088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1155024427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4187622094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517163734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3951418350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560248314"/>
                        </a:ext>
                      </a:extLst>
                    </a:gridCol>
                  </a:tblGrid>
                  <a:tr h="10856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53" t="-559" r="-499647" b="-1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709" t="-559" r="-401418" b="-1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559" r="-300000" b="-1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1064" t="-559" r="-201064" b="-1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99647" t="-559" r="-100353" b="-1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01418" t="-559" r="-709" b="-11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671113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89FE3F-F7C5-47ED-8530-A90674E2713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69088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12571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8173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Algebra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EQ – What are the important algebraic definitions?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2903F1E-BCA5-4E37-BD61-011ACA11DA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176745"/>
                  </p:ext>
                </p:extLst>
              </p:nvPr>
            </p:nvGraphicFramePr>
            <p:xfrm>
              <a:off x="2394755" y="1511375"/>
              <a:ext cx="4606120" cy="4785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3080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7296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0234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2592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Vocabulary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Meaning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Examples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474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Term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An algebraic quantity which</a:t>
                          </a:r>
                          <a:r>
                            <a:rPr lang="en-GB" sz="1200" baseline="0" dirty="0"/>
                            <a:t> only contains letters (and maybe a number) – no signs in the middle!</a:t>
                          </a:r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 −5</m:t>
                                </m:r>
                                <m:sSup>
                                  <m:sSupPr>
                                    <m:ctrlP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f>
                                  <m:fPr>
                                    <m:ctrlP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9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Expression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Made up of algebraic terms – no equals</a:t>
                          </a:r>
                          <a:r>
                            <a:rPr lang="en-GB" sz="1200" baseline="0" dirty="0"/>
                            <a:t> sign!</a:t>
                          </a:r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GB" sz="12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3(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474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Equation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Contains</a:t>
                          </a:r>
                          <a:r>
                            <a:rPr lang="en-GB" sz="1200" baseline="0" dirty="0"/>
                            <a:t> an equals sign! Can be solved but only for some (not all) values of </a:t>
                          </a:r>
                          <a:r>
                            <a:rPr lang="en-GB" sz="1200" i="1" baseline="0" dirty="0">
                              <a:latin typeface="+mn-lt"/>
                            </a:rPr>
                            <a:t>x </a:t>
                          </a:r>
                          <a:r>
                            <a:rPr lang="en-GB" sz="1200" i="0" baseline="0" dirty="0">
                              <a:latin typeface="+mn-lt"/>
                            </a:rPr>
                            <a:t>(or any variable)</a:t>
                          </a:r>
                          <a:r>
                            <a:rPr lang="en-GB" sz="1200" i="0" baseline="0" dirty="0"/>
                            <a:t>.</a:t>
                          </a:r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+4=10</m:t>
                                </m:r>
                              </m:oMath>
                            </m:oMathPara>
                          </a14:m>
                          <a:endParaRPr lang="en-GB" sz="12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GB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+2=0 </m:t>
                                </m:r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592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Constant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A number with nothing else attached to it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3, 16, 256</m:t>
                                </m:r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9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Variable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200" dirty="0">
                              <a:latin typeface="+mn-lt"/>
                              <a:cs typeface="Arial" panose="020B0604020202020204" pitchFamily="34" charset="0"/>
                            </a:rPr>
                            <a:t>A letter that represents an unknown number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474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Coefficient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200" dirty="0">
                              <a:latin typeface="+mn-lt"/>
                              <a:cs typeface="Arial" panose="020B0604020202020204" pitchFamily="34" charset="0"/>
                            </a:rPr>
                            <a:t>The number in front of the variable</a:t>
                          </a:r>
                        </a:p>
                        <a:p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3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      3 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𝑖𝑠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𝑡h𝑒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  <m:r>
                                  <a:rPr lang="en-AU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𝑐𝑜𝑒𝑓𝑓𝑖𝑐𝑖𝑒𝑛𝑡</m:t>
                                </m:r>
                              </m:oMath>
                            </m:oMathPara>
                          </a14:m>
                          <a:endParaRPr lang="en-AU" sz="1200" b="0" dirty="0">
                            <a:latin typeface="+mn-lt"/>
                            <a:cs typeface="Arial" panose="020B0604020202020204" pitchFamily="34" charset="0"/>
                          </a:endParaRPr>
                        </a:p>
                        <a:p>
                          <a:r>
                            <a:rPr lang="en-AU" sz="1200" dirty="0">
                              <a:latin typeface="+mn-lt"/>
                              <a:cs typeface="Arial" panose="020B0604020202020204" pitchFamily="34" charset="0"/>
                            </a:rPr>
                            <a:t>       </a:t>
                          </a:r>
                          <a14:m>
                            <m:oMath xmlns:m="http://schemas.openxmlformats.org/officeDocument/2006/math"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5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    5 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𝑖𝑠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𝑡h𝑒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𝑐𝑜𝑒𝑓𝑓𝑖𝑐𝑖𝑒𝑛𝑡</m:t>
                              </m:r>
                              <m:r>
                                <a:rPr lang="en-AU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</m:oMath>
                          </a14:m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7032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Like terms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1200" dirty="0">
                              <a:latin typeface="+mn-lt"/>
                              <a:cs typeface="Arial" panose="020B0604020202020204" pitchFamily="34" charset="0"/>
                            </a:rPr>
                            <a:t>Terms that have the </a:t>
                          </a:r>
                          <a:r>
                            <a:rPr lang="en-US" altLang="en-US" sz="1200" b="1" u="sng" dirty="0">
                              <a:latin typeface="+mn-lt"/>
                              <a:cs typeface="Arial" panose="020B0604020202020204" pitchFamily="34" charset="0"/>
                            </a:rPr>
                            <a:t>same variables</a:t>
                          </a:r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4t and 6t</a:t>
                          </a:r>
                        </a:p>
                        <a:p>
                          <a:pPr algn="ctr"/>
                          <a:r>
                            <a:rPr lang="en-GB" sz="1200" dirty="0"/>
                            <a:t>11x and 2x</a:t>
                          </a:r>
                        </a:p>
                        <a:p>
                          <a:pPr algn="ctr"/>
                          <a:endParaRPr lang="en-GB" sz="1200" dirty="0"/>
                        </a:p>
                        <a:p>
                          <a:pPr algn="ctr"/>
                          <a:r>
                            <a:rPr lang="en-GB" sz="1200" dirty="0"/>
                            <a:t>4x</a:t>
                          </a:r>
                          <a:r>
                            <a:rPr lang="en-GB" sz="1200" baseline="30000" dirty="0"/>
                            <a:t>2</a:t>
                          </a:r>
                          <a:r>
                            <a:rPr lang="en-GB" sz="1200" baseline="0" dirty="0"/>
                            <a:t> and 3x ARE NOT LIKE TERMS</a:t>
                          </a:r>
                          <a:endParaRPr lang="en-GB" sz="1200" baseline="30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445399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2903F1E-BCA5-4E37-BD61-011ACA11DA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176745"/>
                  </p:ext>
                </p:extLst>
              </p:nvPr>
            </p:nvGraphicFramePr>
            <p:xfrm>
              <a:off x="2394755" y="1511375"/>
              <a:ext cx="4606120" cy="4785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3080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7296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0234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Vocabulary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Meaning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b="1" u="sng" dirty="0"/>
                            <a:t>Examples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Term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An algebraic quantity which</a:t>
                          </a:r>
                          <a:r>
                            <a:rPr lang="en-GB" sz="1200" baseline="0" dirty="0"/>
                            <a:t> only contains letters (and maybe a number) – no signs in the middle!</a:t>
                          </a:r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9565" t="-37778" r="-870" b="-45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Expression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Made up of algebraic terms – no equals</a:t>
                          </a:r>
                          <a:r>
                            <a:rPr lang="en-GB" sz="1200" baseline="0" dirty="0"/>
                            <a:t> sign!</a:t>
                          </a:r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9565" t="-248000" r="-870" b="-71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Equation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Contains</a:t>
                          </a:r>
                          <a:r>
                            <a:rPr lang="en-GB" sz="1200" baseline="0" dirty="0"/>
                            <a:t> an equals sign! Can be solved but only for some (not all) values of </a:t>
                          </a:r>
                          <a:r>
                            <a:rPr lang="en-GB" sz="1200" i="1" baseline="0" dirty="0">
                              <a:latin typeface="+mn-lt"/>
                            </a:rPr>
                            <a:t>x </a:t>
                          </a:r>
                          <a:r>
                            <a:rPr lang="en-GB" sz="1200" i="0" baseline="0" dirty="0">
                              <a:latin typeface="+mn-lt"/>
                            </a:rPr>
                            <a:t>(or any variable)</a:t>
                          </a:r>
                          <a:r>
                            <a:rPr lang="en-GB" sz="1200" i="0" baseline="0" dirty="0"/>
                            <a:t>.</a:t>
                          </a:r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9565" t="-248571" r="-870" b="-40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Constant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dirty="0"/>
                            <a:t>A number with nothing else attached to it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9565" t="-481579" r="-870" b="-4644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Variable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200" dirty="0">
                              <a:latin typeface="+mn-lt"/>
                              <a:cs typeface="Arial" panose="020B0604020202020204" pitchFamily="34" charset="0"/>
                            </a:rPr>
                            <a:t>A letter that represents an unknown number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9565" t="-589333" r="-870" b="-37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Coefficient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200" dirty="0">
                              <a:latin typeface="+mn-lt"/>
                              <a:cs typeface="Arial" panose="020B0604020202020204" pitchFamily="34" charset="0"/>
                            </a:rPr>
                            <a:t>The number in front of the variable</a:t>
                          </a:r>
                        </a:p>
                        <a:p>
                          <a:endParaRPr lang="en-AU" sz="1200" dirty="0">
                            <a:latin typeface="+mn-lt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9565" t="-492381" r="-870" b="-1647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Like terms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1200" dirty="0">
                              <a:latin typeface="+mn-lt"/>
                              <a:cs typeface="Arial" panose="020B0604020202020204" pitchFamily="34" charset="0"/>
                            </a:rPr>
                            <a:t>Terms that have the </a:t>
                          </a:r>
                          <a:r>
                            <a:rPr lang="en-US" altLang="en-US" sz="1200" b="1" u="sng" dirty="0">
                              <a:latin typeface="+mn-lt"/>
                              <a:cs typeface="Arial" panose="020B0604020202020204" pitchFamily="34" charset="0"/>
                            </a:rPr>
                            <a:t>same variables</a:t>
                          </a:r>
                        </a:p>
                        <a:p>
                          <a:pPr algn="l"/>
                          <a:endParaRPr lang="en-GB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dirty="0"/>
                            <a:t>4t and 6t</a:t>
                          </a:r>
                        </a:p>
                        <a:p>
                          <a:pPr algn="ctr"/>
                          <a:r>
                            <a:rPr lang="en-GB" sz="1200" dirty="0"/>
                            <a:t>11x and 2x</a:t>
                          </a:r>
                        </a:p>
                        <a:p>
                          <a:pPr algn="ctr"/>
                          <a:endParaRPr lang="en-GB" sz="1200" dirty="0"/>
                        </a:p>
                        <a:p>
                          <a:pPr algn="ctr"/>
                          <a:r>
                            <a:rPr lang="en-GB" sz="1200" dirty="0"/>
                            <a:t>4x</a:t>
                          </a:r>
                          <a:r>
                            <a:rPr lang="en-GB" sz="1200" baseline="30000" dirty="0"/>
                            <a:t>2</a:t>
                          </a:r>
                          <a:r>
                            <a:rPr lang="en-GB" sz="1200" baseline="0" dirty="0"/>
                            <a:t> and 3x ARE NOT LIKE TERMS</a:t>
                          </a:r>
                          <a:endParaRPr lang="en-GB" sz="1200" baseline="30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445399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31206D8B-EDBD-4C02-82B2-0A326EF7FB71}"/>
              </a:ext>
            </a:extLst>
          </p:cNvPr>
          <p:cNvSpPr/>
          <p:nvPr/>
        </p:nvSpPr>
        <p:spPr>
          <a:xfrm>
            <a:off x="7129462" y="1511375"/>
            <a:ext cx="5060951" cy="1044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spcBef>
                <a:spcPts val="1650"/>
              </a:spcBef>
              <a:spcAft>
                <a:spcPts val="750"/>
              </a:spcAft>
            </a:pPr>
            <a:r>
              <a:rPr lang="en-AU" sz="1600" dirty="0">
                <a:solidFill>
                  <a:srgbClr val="6600CC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Adding Positive Numbers</a:t>
            </a:r>
            <a:endParaRPr lang="en-A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725"/>
              </a:lnSpc>
              <a:spcBef>
                <a:spcPts val="1200"/>
              </a:spcBef>
              <a:spcAft>
                <a:spcPts val="1875"/>
              </a:spcAft>
            </a:pPr>
            <a:r>
              <a:rPr lang="en-AU" sz="16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Adding positive numbers is just simple addition.</a:t>
            </a:r>
            <a:endParaRPr lang="en-A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F5D719-4F50-4797-99C4-109DD734F432}"/>
              </a:ext>
            </a:extLst>
          </p:cNvPr>
          <p:cNvSpPr/>
          <p:nvPr/>
        </p:nvSpPr>
        <p:spPr>
          <a:xfrm>
            <a:off x="7129463" y="2769053"/>
            <a:ext cx="4929187" cy="1041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spcBef>
                <a:spcPts val="1650"/>
              </a:spcBef>
              <a:spcAft>
                <a:spcPts val="750"/>
              </a:spcAft>
            </a:pPr>
            <a:r>
              <a:rPr lang="en-AU" sz="1600" dirty="0">
                <a:solidFill>
                  <a:srgbClr val="6600CC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Subtracting Positive Numbers</a:t>
            </a:r>
            <a:endParaRPr lang="en-A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725"/>
              </a:lnSpc>
              <a:spcBef>
                <a:spcPts val="1200"/>
              </a:spcBef>
              <a:spcAft>
                <a:spcPts val="1875"/>
              </a:spcAft>
            </a:pPr>
            <a:r>
              <a:rPr lang="en-AU" sz="16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Subtracting positive numbers is just simple subtraction.</a:t>
            </a:r>
            <a:endParaRPr lang="en-A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CDCA96-9C4E-4B85-9C9B-4EA4ACC56B7E}"/>
              </a:ext>
            </a:extLst>
          </p:cNvPr>
          <p:cNvSpPr/>
          <p:nvPr/>
        </p:nvSpPr>
        <p:spPr>
          <a:xfrm>
            <a:off x="7091363" y="3932820"/>
            <a:ext cx="5267325" cy="8233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spcBef>
                <a:spcPts val="1650"/>
              </a:spcBef>
              <a:spcAft>
                <a:spcPts val="750"/>
              </a:spcAft>
            </a:pPr>
            <a:r>
              <a:rPr lang="en-AU" sz="1600" dirty="0">
                <a:solidFill>
                  <a:srgbClr val="6600CC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Subtracting a Negative Number</a:t>
            </a:r>
            <a:endParaRPr lang="en-A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725"/>
              </a:lnSpc>
              <a:spcBef>
                <a:spcPts val="1200"/>
              </a:spcBef>
              <a:spcAft>
                <a:spcPts val="1875"/>
              </a:spcAft>
            </a:pPr>
            <a:r>
              <a:rPr lang="en-AU" sz="16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Subtracting a negative number is like adding </a:t>
            </a:r>
            <a:endParaRPr lang="en-A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 descr="http://www.mathsisfun.com/numbers/images/minus-minus-plus.gif">
            <a:extLst>
              <a:ext uri="{FF2B5EF4-FFF2-40B4-BE49-F238E27FC236}">
                <a16:creationId xmlns:a16="http://schemas.microsoft.com/office/drawing/2014/main" id="{4C6EA4A9-3E0B-4FF6-9966-B227D59CCF16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8156" y="4892309"/>
            <a:ext cx="1501274" cy="29453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44CED7A-5344-47A2-BAE8-CD9FA4921605}"/>
              </a:ext>
            </a:extLst>
          </p:cNvPr>
          <p:cNvSpPr/>
          <p:nvPr/>
        </p:nvSpPr>
        <p:spPr>
          <a:xfrm>
            <a:off x="6924677" y="5169156"/>
            <a:ext cx="5267323" cy="1041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spcBef>
                <a:spcPts val="1650"/>
              </a:spcBef>
              <a:spcAft>
                <a:spcPts val="750"/>
              </a:spcAft>
            </a:pPr>
            <a:r>
              <a:rPr lang="en-AU" sz="1600" dirty="0">
                <a:solidFill>
                  <a:srgbClr val="6600CC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Adding a Negative Number</a:t>
            </a:r>
            <a:endParaRPr lang="en-A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725"/>
              </a:lnSpc>
              <a:spcBef>
                <a:spcPts val="1200"/>
              </a:spcBef>
              <a:spcAft>
                <a:spcPts val="1875"/>
              </a:spcAft>
            </a:pPr>
            <a:r>
              <a:rPr lang="en-AU" sz="16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Subtracting a negative number is like subtracting. SAME AS SUBTRACTING A POSITIVE</a:t>
            </a:r>
            <a:endParaRPr lang="en-A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 descr="http://www.mathsisfun.com/numbers/images/plus-minus-minus.gif">
            <a:extLst>
              <a:ext uri="{FF2B5EF4-FFF2-40B4-BE49-F238E27FC236}">
                <a16:creationId xmlns:a16="http://schemas.microsoft.com/office/drawing/2014/main" id="{2809BE02-73AF-47C5-ACDF-A731F73C42A6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8157" y="6132601"/>
            <a:ext cx="1737418" cy="7253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94768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12571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8173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Algebra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EQ – What are the important algebraic definitions?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EEDF9388-45B6-40AD-8732-85D71C2863D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681412" y="1625282"/>
            <a:ext cx="4829175" cy="36074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00CA6F-6EC8-4EBC-B690-D1E1DE74CD69}"/>
              </a:ext>
            </a:extLst>
          </p:cNvPr>
          <p:cNvSpPr txBox="1"/>
          <p:nvPr/>
        </p:nvSpPr>
        <p:spPr>
          <a:xfrm>
            <a:off x="2714625" y="5743575"/>
            <a:ext cx="5795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Don’t forget BIDMAS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64155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12571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8173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Algebra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EQ – What are the important algebraic definitions?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200CA6F-6EC8-4EBC-B690-D1E1DE74CD69}"/>
              </a:ext>
            </a:extLst>
          </p:cNvPr>
          <p:cNvSpPr txBox="1"/>
          <p:nvPr/>
        </p:nvSpPr>
        <p:spPr>
          <a:xfrm>
            <a:off x="2297141" y="1575533"/>
            <a:ext cx="5795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Worked example</a:t>
            </a:r>
            <a:endParaRPr lang="en-A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AD1EC4-D16E-4262-A38A-1476C838F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073" y="2199913"/>
            <a:ext cx="4416994" cy="91476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059F74D-3634-4ED9-B4D1-59998B7C39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7141" y="3471863"/>
            <a:ext cx="5715000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40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12571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8173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Algebra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EQ – What are the important algebraic definitions?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200CA6F-6EC8-4EBC-B690-D1E1DE74CD69}"/>
              </a:ext>
            </a:extLst>
          </p:cNvPr>
          <p:cNvSpPr txBox="1"/>
          <p:nvPr/>
        </p:nvSpPr>
        <p:spPr>
          <a:xfrm>
            <a:off x="2297141" y="1575533"/>
            <a:ext cx="57959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Your turn</a:t>
            </a:r>
          </a:p>
          <a:p>
            <a:endParaRPr lang="en-US" dirty="0"/>
          </a:p>
          <a:p>
            <a:r>
              <a:rPr lang="en-AU" dirty="0"/>
              <a:t>Combined operations on integers worksheet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78748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Words>845</Words>
  <Application>Microsoft Office PowerPoint</Application>
  <PresentationFormat>Widescreen</PresentationFormat>
  <Paragraphs>215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Kiwi School Handwriting</vt:lpstr>
      <vt:lpstr>Verdana</vt:lpstr>
      <vt:lpstr>Office Theme</vt:lpstr>
      <vt:lpstr>Topic: Algebra Review</vt:lpstr>
      <vt:lpstr>Learning Intentions</vt:lpstr>
      <vt:lpstr>PowerPoint Presentation</vt:lpstr>
      <vt:lpstr>PowerPoint Presentation</vt:lpstr>
      <vt:lpstr>PowerPoint Presentation</vt:lpstr>
      <vt:lpstr>Practice: LHS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Algebra Review</dc:title>
  <dc:creator>Sarah James</dc:creator>
  <cp:lastModifiedBy>Sarah James</cp:lastModifiedBy>
  <cp:revision>6</cp:revision>
  <dcterms:created xsi:type="dcterms:W3CDTF">2019-02-02T12:48:52Z</dcterms:created>
  <dcterms:modified xsi:type="dcterms:W3CDTF">2019-02-02T13:38:08Z</dcterms:modified>
</cp:coreProperties>
</file>
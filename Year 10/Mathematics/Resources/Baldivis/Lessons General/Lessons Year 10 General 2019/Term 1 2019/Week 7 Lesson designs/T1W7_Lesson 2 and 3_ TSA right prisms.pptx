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263" r:id="rId2"/>
    <p:sldId id="285" r:id="rId3"/>
    <p:sldId id="259" r:id="rId4"/>
    <p:sldId id="264" r:id="rId5"/>
    <p:sldId id="270" r:id="rId6"/>
    <p:sldId id="283" r:id="rId7"/>
    <p:sldId id="275" r:id="rId8"/>
    <p:sldId id="268" r:id="rId9"/>
    <p:sldId id="269" r:id="rId10"/>
    <p:sldId id="276" r:id="rId11"/>
    <p:sldId id="277" r:id="rId12"/>
    <p:sldId id="280" r:id="rId13"/>
    <p:sldId id="271" r:id="rId14"/>
    <p:sldId id="274" r:id="rId15"/>
    <p:sldId id="273" r:id="rId16"/>
    <p:sldId id="272" r:id="rId17"/>
    <p:sldId id="28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62778-0A59-4E60-82C8-EEA7FC81ED28}" v="16" dt="2019-03-15T05:17:42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D3162778-0A59-4E60-82C8-EEA7FC81ED28}"/>
    <pc:docChg chg="undo custSel addSld delSld modSld sldOrd">
      <pc:chgData name="Sarah James" userId="e5e3e68366f0feb3" providerId="LiveId" clId="{D3162778-0A59-4E60-82C8-EEA7FC81ED28}" dt="2019-03-15T05:18:32.825" v="659" actId="255"/>
      <pc:docMkLst>
        <pc:docMk/>
      </pc:docMkLst>
      <pc:sldChg chg="del">
        <pc:chgData name="Sarah James" userId="e5e3e68366f0feb3" providerId="LiveId" clId="{D3162778-0A59-4E60-82C8-EEA7FC81ED28}" dt="2019-03-15T04:23:08.747" v="165" actId="2696"/>
        <pc:sldMkLst>
          <pc:docMk/>
          <pc:sldMk cId="1167979869" sldId="257"/>
        </pc:sldMkLst>
      </pc:sldChg>
      <pc:sldChg chg="del">
        <pc:chgData name="Sarah James" userId="e5e3e68366f0feb3" providerId="LiveId" clId="{D3162778-0A59-4E60-82C8-EEA7FC81ED28}" dt="2019-03-15T04:23:12.033" v="166" actId="2696"/>
        <pc:sldMkLst>
          <pc:docMk/>
          <pc:sldMk cId="3209397224" sldId="258"/>
        </pc:sldMkLst>
      </pc:sldChg>
      <pc:sldChg chg="modSp add">
        <pc:chgData name="Sarah James" userId="e5e3e68366f0feb3" providerId="LiveId" clId="{D3162778-0A59-4E60-82C8-EEA7FC81ED28}" dt="2019-03-15T05:18:32.825" v="659" actId="255"/>
        <pc:sldMkLst>
          <pc:docMk/>
          <pc:sldMk cId="965025783" sldId="259"/>
        </pc:sldMkLst>
        <pc:spChg chg="mod">
          <ac:chgData name="Sarah James" userId="e5e3e68366f0feb3" providerId="LiveId" clId="{D3162778-0A59-4E60-82C8-EEA7FC81ED28}" dt="2019-03-15T05:18:24.400" v="657" actId="255"/>
          <ac:spMkLst>
            <pc:docMk/>
            <pc:sldMk cId="965025783" sldId="259"/>
            <ac:spMk id="12" creationId="{71B8C075-951F-470A-8BEF-6717DE917476}"/>
          </ac:spMkLst>
        </pc:spChg>
        <pc:spChg chg="mod">
          <ac:chgData name="Sarah James" userId="e5e3e68366f0feb3" providerId="LiveId" clId="{D3162778-0A59-4E60-82C8-EEA7FC81ED28}" dt="2019-03-15T05:18:32.825" v="659" actId="255"/>
          <ac:spMkLst>
            <pc:docMk/>
            <pc:sldMk cId="965025783" sldId="259"/>
            <ac:spMk id="13" creationId="{03C6AC60-0EEB-4482-9041-0A4971612EE3}"/>
          </ac:spMkLst>
        </pc:spChg>
      </pc:sldChg>
      <pc:sldChg chg="delSp modSp ord">
        <pc:chgData name="Sarah James" userId="e5e3e68366f0feb3" providerId="LiveId" clId="{D3162778-0A59-4E60-82C8-EEA7FC81ED28}" dt="2019-03-15T05:17:52.466" v="655" actId="1076"/>
        <pc:sldMkLst>
          <pc:docMk/>
          <pc:sldMk cId="3200671243" sldId="263"/>
        </pc:sldMkLst>
        <pc:spChg chg="del">
          <ac:chgData name="Sarah James" userId="e5e3e68366f0feb3" providerId="LiveId" clId="{D3162778-0A59-4E60-82C8-EEA7FC81ED28}" dt="2019-03-15T05:17:50.086" v="654" actId="478"/>
          <ac:spMkLst>
            <pc:docMk/>
            <pc:sldMk cId="3200671243" sldId="263"/>
            <ac:spMk id="3" creationId="{00000000-0000-0000-0000-000000000000}"/>
          </ac:spMkLst>
        </pc:spChg>
        <pc:picChg chg="mod">
          <ac:chgData name="Sarah James" userId="e5e3e68366f0feb3" providerId="LiveId" clId="{D3162778-0A59-4E60-82C8-EEA7FC81ED28}" dt="2019-03-15T05:17:52.466" v="655" actId="1076"/>
          <ac:picMkLst>
            <pc:docMk/>
            <pc:sldMk cId="3200671243" sldId="263"/>
            <ac:picMk id="4" creationId="{612D858E-3AE5-4A59-A1C8-4BD62A6B6007}"/>
          </ac:picMkLst>
        </pc:picChg>
      </pc:sldChg>
      <pc:sldChg chg="modSp">
        <pc:chgData name="Sarah James" userId="e5e3e68366f0feb3" providerId="LiveId" clId="{D3162778-0A59-4E60-82C8-EEA7FC81ED28}" dt="2019-03-15T04:21:29.979" v="27" actId="20577"/>
        <pc:sldMkLst>
          <pc:docMk/>
          <pc:sldMk cId="321455895" sldId="264"/>
        </pc:sldMkLst>
        <pc:spChg chg="mod">
          <ac:chgData name="Sarah James" userId="e5e3e68366f0feb3" providerId="LiveId" clId="{D3162778-0A59-4E60-82C8-EEA7FC81ED28}" dt="2019-03-15T04:21:29.979" v="27" actId="20577"/>
          <ac:spMkLst>
            <pc:docMk/>
            <pc:sldMk cId="321455895" sldId="264"/>
            <ac:spMk id="12" creationId="{00000000-0000-0000-0000-000000000000}"/>
          </ac:spMkLst>
        </pc:spChg>
      </pc:sldChg>
      <pc:sldChg chg="addSp modSp">
        <pc:chgData name="Sarah James" userId="e5e3e68366f0feb3" providerId="LiveId" clId="{D3162778-0A59-4E60-82C8-EEA7FC81ED28}" dt="2019-03-15T04:30:19.401" v="643"/>
        <pc:sldMkLst>
          <pc:docMk/>
          <pc:sldMk cId="2308602834" sldId="268"/>
        </pc:sldMkLst>
        <pc:spChg chg="add mod">
          <ac:chgData name="Sarah James" userId="e5e3e68366f0feb3" providerId="LiveId" clId="{D3162778-0A59-4E60-82C8-EEA7FC81ED28}" dt="2019-03-15T04:28:10.088" v="620" actId="14100"/>
          <ac:spMkLst>
            <pc:docMk/>
            <pc:sldMk cId="2308602834" sldId="268"/>
            <ac:spMk id="2" creationId="{43CABA92-0046-4782-BFB9-4DC35F91C698}"/>
          </ac:spMkLst>
        </pc:spChg>
        <pc:spChg chg="mod">
          <ac:chgData name="Sarah James" userId="e5e3e68366f0feb3" providerId="LiveId" clId="{D3162778-0A59-4E60-82C8-EEA7FC81ED28}" dt="2019-03-15T04:25:46.685" v="361" actId="20577"/>
          <ac:spMkLst>
            <pc:docMk/>
            <pc:sldMk cId="2308602834" sldId="268"/>
            <ac:spMk id="21506" creationId="{00000000-0000-0000-0000-000000000000}"/>
          </ac:spMkLst>
        </pc:spChg>
        <pc:graphicFrameChg chg="add mod modGraphic">
          <ac:chgData name="Sarah James" userId="e5e3e68366f0feb3" providerId="LiveId" clId="{D3162778-0A59-4E60-82C8-EEA7FC81ED28}" dt="2019-03-15T04:30:19.401" v="643"/>
          <ac:graphicFrameMkLst>
            <pc:docMk/>
            <pc:sldMk cId="2308602834" sldId="268"/>
            <ac:graphicFrameMk id="3" creationId="{BEC74EE4-66F5-4DFF-BDD6-093EB8EBAEB1}"/>
          </ac:graphicFrameMkLst>
        </pc:graphicFrameChg>
      </pc:sldChg>
      <pc:sldChg chg="modSp">
        <pc:chgData name="Sarah James" userId="e5e3e68366f0feb3" providerId="LiveId" clId="{D3162778-0A59-4E60-82C8-EEA7FC81ED28}" dt="2019-03-15T04:23:28.408" v="184" actId="20577"/>
        <pc:sldMkLst>
          <pc:docMk/>
          <pc:sldMk cId="1168766112" sldId="270"/>
        </pc:sldMkLst>
        <pc:spChg chg="mod">
          <ac:chgData name="Sarah James" userId="e5e3e68366f0feb3" providerId="LiveId" clId="{D3162778-0A59-4E60-82C8-EEA7FC81ED28}" dt="2019-03-15T04:23:28.408" v="184" actId="20577"/>
          <ac:spMkLst>
            <pc:docMk/>
            <pc:sldMk cId="1168766112" sldId="270"/>
            <ac:spMk id="12" creationId="{00000000-0000-0000-0000-000000000000}"/>
          </ac:spMkLst>
        </pc:spChg>
      </pc:sldChg>
      <pc:sldChg chg="ord">
        <pc:chgData name="Sarah James" userId="e5e3e68366f0feb3" providerId="LiveId" clId="{D3162778-0A59-4E60-82C8-EEA7FC81ED28}" dt="2019-03-15T04:32:43.350" v="652"/>
        <pc:sldMkLst>
          <pc:docMk/>
          <pc:sldMk cId="1599794048" sldId="274"/>
        </pc:sldMkLst>
      </pc:sldChg>
      <pc:sldChg chg="modSp">
        <pc:chgData name="Sarah James" userId="e5e3e68366f0feb3" providerId="LiveId" clId="{D3162778-0A59-4E60-82C8-EEA7FC81ED28}" dt="2019-03-15T04:31:25.790" v="649" actId="20577"/>
        <pc:sldMkLst>
          <pc:docMk/>
          <pc:sldMk cId="4086677618" sldId="276"/>
        </pc:sldMkLst>
        <pc:spChg chg="mod">
          <ac:chgData name="Sarah James" userId="e5e3e68366f0feb3" providerId="LiveId" clId="{D3162778-0A59-4E60-82C8-EEA7FC81ED28}" dt="2019-03-15T04:31:25.790" v="649" actId="20577"/>
          <ac:spMkLst>
            <pc:docMk/>
            <pc:sldMk cId="4086677618" sldId="276"/>
            <ac:spMk id="12" creationId="{00000000-0000-0000-0000-000000000000}"/>
          </ac:spMkLst>
        </pc:spChg>
      </pc:sldChg>
      <pc:sldChg chg="del">
        <pc:chgData name="Sarah James" userId="e5e3e68366f0feb3" providerId="LiveId" clId="{D3162778-0A59-4E60-82C8-EEA7FC81ED28}" dt="2019-03-15T04:32:09.444" v="650" actId="2696"/>
        <pc:sldMkLst>
          <pc:docMk/>
          <pc:sldMk cId="3933097866" sldId="278"/>
        </pc:sldMkLst>
      </pc:sldChg>
      <pc:sldChg chg="del">
        <pc:chgData name="Sarah James" userId="e5e3e68366f0feb3" providerId="LiveId" clId="{D3162778-0A59-4E60-82C8-EEA7FC81ED28}" dt="2019-03-15T04:31:02.051" v="644" actId="2696"/>
        <pc:sldMkLst>
          <pc:docMk/>
          <pc:sldMk cId="2214834288" sldId="282"/>
        </pc:sldMkLst>
      </pc:sldChg>
      <pc:sldChg chg="modSp ord">
        <pc:chgData name="Sarah James" userId="e5e3e68366f0feb3" providerId="LiveId" clId="{D3162778-0A59-4E60-82C8-EEA7FC81ED28}" dt="2019-03-15T04:26:52.234" v="434" actId="20577"/>
        <pc:sldMkLst>
          <pc:docMk/>
          <pc:sldMk cId="3240478013" sldId="283"/>
        </pc:sldMkLst>
        <pc:spChg chg="mod">
          <ac:chgData name="Sarah James" userId="e5e3e68366f0feb3" providerId="LiveId" clId="{D3162778-0A59-4E60-82C8-EEA7FC81ED28}" dt="2019-03-15T04:26:52.234" v="434" actId="20577"/>
          <ac:spMkLst>
            <pc:docMk/>
            <pc:sldMk cId="3240478013" sldId="283"/>
            <ac:spMk id="2" creationId="{C399C642-42C6-4A95-8724-FE3E24DAEF0B}"/>
          </ac:spMkLst>
        </pc:spChg>
      </pc:sldChg>
      <pc:sldChg chg="add del">
        <pc:chgData name="Sarah James" userId="e5e3e68366f0feb3" providerId="LiveId" clId="{D3162778-0A59-4E60-82C8-EEA7FC81ED28}" dt="2019-03-15T04:20:51.372" v="2" actId="2696"/>
        <pc:sldMkLst>
          <pc:docMk/>
          <pc:sldMk cId="1129662292" sldId="284"/>
        </pc:sldMkLst>
      </pc:sldChg>
      <pc:sldChg chg="modSp add ord">
        <pc:chgData name="Sarah James" userId="e5e3e68366f0feb3" providerId="LiveId" clId="{D3162778-0A59-4E60-82C8-EEA7FC81ED28}" dt="2019-03-15T04:21:42.052" v="33" actId="20577"/>
        <pc:sldMkLst>
          <pc:docMk/>
          <pc:sldMk cId="120763887" sldId="285"/>
        </pc:sldMkLst>
        <pc:spChg chg="mod">
          <ac:chgData name="Sarah James" userId="e5e3e68366f0feb3" providerId="LiveId" clId="{D3162778-0A59-4E60-82C8-EEA7FC81ED28}" dt="2019-03-15T04:21:05.869" v="21" actId="20577"/>
          <ac:spMkLst>
            <pc:docMk/>
            <pc:sldMk cId="120763887" sldId="285"/>
            <ac:spMk id="2" creationId="{00000000-0000-0000-0000-000000000000}"/>
          </ac:spMkLst>
        </pc:spChg>
        <pc:spChg chg="mod">
          <ac:chgData name="Sarah James" userId="e5e3e68366f0feb3" providerId="LiveId" clId="{D3162778-0A59-4E60-82C8-EEA7FC81ED28}" dt="2019-03-15T04:21:42.052" v="33" actId="20577"/>
          <ac:spMkLst>
            <pc:docMk/>
            <pc:sldMk cId="120763887" sldId="28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DBC69-85FF-43CF-8928-DEA9C99F262C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9271F-7E62-4D46-9D05-2213C9CBDF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096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71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packaging boxes to demonstrate the 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38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119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From the previous slide write the measurements onto the net so the students can see how to transfer the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48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43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739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4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996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80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524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794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63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555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24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16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88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160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979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42641E-B065-4880-8D95-BB6EB71EB65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D1E6D63-0EC7-4A98-B9B9-4F15F30650CB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99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 Minute Revision Starter- work with shoulder partner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D858E-3AE5-4A59-A1C8-4BD62A6B6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7" t="22703" r="7479" b="3804"/>
          <a:stretch/>
        </p:blipFill>
        <p:spPr>
          <a:xfrm>
            <a:off x="2058380" y="2005608"/>
            <a:ext cx="807524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142" y="1466849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Total Surface Area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542" y="2774484"/>
            <a:ext cx="9189508" cy="78376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EQ: How do you calculate the total surface area of a prism?</a:t>
            </a:r>
          </a:p>
          <a:p>
            <a:pPr algn="l"/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dirty="0"/>
              <a:t>Students will be able to</a:t>
            </a:r>
          </a:p>
          <a:p>
            <a:r>
              <a:rPr lang="en-AU" sz="3200" dirty="0"/>
              <a:t>- determine the difference between 2D and 3D shapes</a:t>
            </a:r>
          </a:p>
          <a:p>
            <a:r>
              <a:rPr lang="en-AU" sz="3200" dirty="0"/>
              <a:t>use area rules of shapes to find the total surface area of a 3 D shapes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prism?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8350" y="5723751"/>
            <a:ext cx="412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667000" y="1592796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67000" y="2294874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37103" y="969551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853862" y="229487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03713" y="1160748"/>
            <a:ext cx="15672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6381" y="937016"/>
            <a:ext cx="118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636" y="1654828"/>
            <a:ext cx="646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EQ – How do I calculate the surface area of a prism?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5015880" y="2564905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400" dirty="0">
                <a:solidFill>
                  <a:prstClr val="black"/>
                </a:solidFill>
                <a:latin typeface="Calibri" panose="020F0502020204030204"/>
              </a:rPr>
              <a:t>A prism is a 3D shape that has a constant cross-section.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94F8EF-E9A7-4683-B41B-6276A654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676" y="2861718"/>
            <a:ext cx="2908550" cy="1592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56302E-051E-48B1-89CA-F1695495749D}"/>
              </a:ext>
            </a:extLst>
          </p:cNvPr>
          <p:cNvSpPr txBox="1"/>
          <p:nvPr/>
        </p:nvSpPr>
        <p:spPr>
          <a:xfrm>
            <a:off x="5239677" y="5013176"/>
            <a:ext cx="4194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Total Surface Area (TSA) is the sum of the areas for each face of the 3D object</a:t>
            </a:r>
          </a:p>
        </p:txBody>
      </p:sp>
    </p:spTree>
    <p:extLst>
      <p:ext uri="{BB962C8B-B14F-4D97-AF65-F5344CB8AC3E}">
        <p14:creationId xmlns:p14="http://schemas.microsoft.com/office/powerpoint/2010/main" val="116876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9C642-42C6-4A95-8724-FE3E24DAEF0B}"/>
              </a:ext>
            </a:extLst>
          </p:cNvPr>
          <p:cNvSpPr txBox="1"/>
          <p:nvPr/>
        </p:nvSpPr>
        <p:spPr>
          <a:xfrm>
            <a:off x="3719736" y="1700809"/>
            <a:ext cx="51845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notes: Use slide 7 as notes</a:t>
            </a:r>
          </a:p>
          <a:p>
            <a:endParaRPr lang="en-US" dirty="0"/>
          </a:p>
          <a:p>
            <a:r>
              <a:rPr lang="en-US" dirty="0"/>
              <a:t>Now set up 2 column notes to show working out of the following examples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pairs: </a:t>
            </a:r>
          </a:p>
          <a:p>
            <a:endParaRPr lang="en-US" dirty="0"/>
          </a:p>
          <a:p>
            <a:r>
              <a:rPr lang="en-US" dirty="0"/>
              <a:t>Talk about the faces and how to find the area of each face and then how to find the total surface area of the whole prism</a:t>
            </a:r>
          </a:p>
          <a:p>
            <a:endParaRPr lang="en-US" dirty="0"/>
          </a:p>
          <a:p>
            <a:r>
              <a:rPr lang="en-US" dirty="0"/>
              <a:t>Use cubes and rectangular prisms boxes  and rulers to calculate a real life examples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047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DD850-1D4C-40D8-9363-F6B70099AB6C}"/>
              </a:ext>
            </a:extLst>
          </p:cNvPr>
          <p:cNvSpPr txBox="1"/>
          <p:nvPr/>
        </p:nvSpPr>
        <p:spPr>
          <a:xfrm>
            <a:off x="4583833" y="2276872"/>
            <a:ext cx="57605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each 3D shape you need to break it down.</a:t>
            </a:r>
          </a:p>
          <a:p>
            <a:endParaRPr lang="en-AU" dirty="0"/>
          </a:p>
          <a:p>
            <a:r>
              <a:rPr lang="en-AU" dirty="0"/>
              <a:t>For example a Cube</a:t>
            </a:r>
          </a:p>
          <a:p>
            <a:endParaRPr lang="en-AU" dirty="0"/>
          </a:p>
          <a:p>
            <a:r>
              <a:rPr lang="en-AU" dirty="0"/>
              <a:t>                                a cube has 6 faces</a:t>
            </a:r>
          </a:p>
          <a:p>
            <a:r>
              <a:rPr lang="en-AU" dirty="0"/>
              <a:t>		Front/back</a:t>
            </a:r>
          </a:p>
          <a:p>
            <a:r>
              <a:rPr lang="en-AU" dirty="0"/>
              <a:t>		Top/Bottom</a:t>
            </a:r>
          </a:p>
          <a:p>
            <a:r>
              <a:rPr lang="en-AU" dirty="0"/>
              <a:t>		Left/Right</a:t>
            </a:r>
          </a:p>
          <a:p>
            <a:endParaRPr lang="en-AU" dirty="0"/>
          </a:p>
          <a:p>
            <a:r>
              <a:rPr lang="en-AU" dirty="0"/>
              <a:t>You need to calculate the area for each face then add the 6 area’s together to get the Total Surface Area (TSA)</a:t>
            </a:r>
          </a:p>
          <a:p>
            <a:endParaRPr lang="en-AU" dirty="0"/>
          </a:p>
          <a:p>
            <a:r>
              <a:rPr lang="en-AU" dirty="0"/>
              <a:t>Rectangular Prisms also have 6 faces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37D4B-FB09-4D03-95B1-C5B54D1E8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459" r="67333"/>
          <a:stretch/>
        </p:blipFill>
        <p:spPr>
          <a:xfrm>
            <a:off x="5146034" y="3314432"/>
            <a:ext cx="949966" cy="11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429000" y="9144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AU" altLang="en-US" sz="2400" dirty="0">
                <a:solidFill>
                  <a:prstClr val="black"/>
                </a:solidFill>
                <a:latin typeface="Times New Roman" charset="0"/>
              </a:rPr>
              <a:t>TSA of a rectangular prism or cube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4114800" y="2438400"/>
            <a:ext cx="2514600" cy="10668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1054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en-AU" altLang="en-US" sz="2400" dirty="0">
                <a:solidFill>
                  <a:prstClr val="black"/>
                </a:solidFill>
                <a:latin typeface="Times New Roman" charset="0"/>
              </a:rPr>
              <a:t>8m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6858000" y="3048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7m</a:t>
            </a: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7239000" y="213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6m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ABA92-0046-4782-BFB9-4DC35F91C698}"/>
              </a:ext>
            </a:extLst>
          </p:cNvPr>
          <p:cNvSpPr txBox="1"/>
          <p:nvPr/>
        </p:nvSpPr>
        <p:spPr>
          <a:xfrm>
            <a:off x="828675" y="247650"/>
            <a:ext cx="1136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you have had a go of measuring and calculating the TSA of a real packaging box, Let’s do this one together to make sure you are showing detailed communication </a:t>
            </a:r>
            <a:endParaRPr lang="en-A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C74EE4-66F5-4DFF-BDD6-093EB8EBA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589530"/>
              </p:ext>
            </p:extLst>
          </p:nvPr>
        </p:nvGraphicFramePr>
        <p:xfrm>
          <a:off x="609599" y="4038600"/>
          <a:ext cx="111918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651">
                  <a:extLst>
                    <a:ext uri="{9D8B030D-6E8A-4147-A177-3AD203B41FA5}">
                      <a16:colId xmlns:a16="http://schemas.microsoft.com/office/drawing/2014/main" val="2005788758"/>
                    </a:ext>
                  </a:extLst>
                </a:gridCol>
                <a:gridCol w="5991224">
                  <a:extLst>
                    <a:ext uri="{9D8B030D-6E8A-4147-A177-3AD203B41FA5}">
                      <a16:colId xmlns:a16="http://schemas.microsoft.com/office/drawing/2014/main" val="4171578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1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602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0" y="6858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Cut the box up into its 6 faces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7315200" y="1447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Front &amp; Back.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7391400" y="1828801"/>
            <a:ext cx="2971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2 of these, so SA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= 2 </a:t>
            </a:r>
            <a:r>
              <a:rPr lang="en-AU" altLang="en-US" sz="2400">
                <a:solidFill>
                  <a:prstClr val="black"/>
                </a:solidFill>
                <a:latin typeface="Times New Roman" charset="0"/>
                <a:sym typeface="Symbol" pitchFamily="18" charset="2"/>
              </a:rPr>
              <a:t> 8  6 = </a:t>
            </a:r>
            <a:r>
              <a:rPr lang="en-AU" altLang="en-US" sz="36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96 m</a:t>
            </a:r>
            <a:r>
              <a:rPr lang="en-AU" altLang="en-US" sz="3600" baseline="30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2</a:t>
            </a:r>
            <a:endParaRPr lang="en-AU" altLang="en-US" sz="3600">
              <a:solidFill>
                <a:srgbClr val="D60093"/>
              </a:solidFill>
              <a:latin typeface="Times New Roman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429000" y="1447800"/>
            <a:ext cx="3581400" cy="1066800"/>
            <a:chOff x="1296" y="2928"/>
            <a:chExt cx="1632" cy="672"/>
          </a:xfrm>
        </p:grpSpPr>
        <p:sp>
          <p:nvSpPr>
            <p:cNvPr id="22549" name="Text Box 3"/>
            <p:cNvSpPr txBox="1">
              <a:spLocks noChangeArrowheads="1"/>
            </p:cNvSpPr>
            <p:nvPr/>
          </p:nvSpPr>
          <p:spPr bwMode="auto">
            <a:xfrm>
              <a:off x="2496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defRPr/>
              </a:pPr>
              <a:r>
                <a:rPr lang="en-AU" altLang="en-US" sz="2400">
                  <a:solidFill>
                    <a:prstClr val="black"/>
                  </a:solidFill>
                  <a:latin typeface="Times New Roman" charset="0"/>
                </a:rPr>
                <a:t>6m</a:t>
              </a:r>
            </a:p>
          </p:txBody>
        </p:sp>
        <p:sp>
          <p:nvSpPr>
            <p:cNvPr id="22550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1200" cy="57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2551" name="Text Box 5"/>
            <p:cNvSpPr txBox="1">
              <a:spLocks noChangeArrowheads="1"/>
            </p:cNvSpPr>
            <p:nvPr/>
          </p:nvSpPr>
          <p:spPr bwMode="auto">
            <a:xfrm>
              <a:off x="1728" y="29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defRPr/>
              </a:pPr>
              <a:r>
                <a:rPr lang="en-AU" altLang="en-US" sz="2400">
                  <a:solidFill>
                    <a:prstClr val="black"/>
                  </a:solidFill>
                  <a:latin typeface="Times New Roman" charset="0"/>
                </a:rPr>
                <a:t>8m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3429000" y="3124200"/>
            <a:ext cx="3124200" cy="1295400"/>
            <a:chOff x="1200" y="1968"/>
            <a:chExt cx="1968" cy="816"/>
          </a:xfrm>
        </p:grpSpPr>
        <p:sp>
          <p:nvSpPr>
            <p:cNvPr id="22546" name="Rectangle 9"/>
            <p:cNvSpPr>
              <a:spLocks noChangeArrowheads="1"/>
            </p:cNvSpPr>
            <p:nvPr/>
          </p:nvSpPr>
          <p:spPr bwMode="auto">
            <a:xfrm>
              <a:off x="1200" y="2064"/>
              <a:ext cx="1728" cy="720"/>
            </a:xfrm>
            <a:prstGeom prst="rect">
              <a:avLst/>
            </a:prstGeom>
            <a:solidFill>
              <a:srgbClr val="F5F6FD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2547" name="Text Box 10"/>
            <p:cNvSpPr txBox="1">
              <a:spLocks noChangeArrowheads="1"/>
            </p:cNvSpPr>
            <p:nvPr/>
          </p:nvSpPr>
          <p:spPr bwMode="auto">
            <a:xfrm>
              <a:off x="1776" y="196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AU" altLang="en-US" sz="2400">
                  <a:solidFill>
                    <a:prstClr val="black"/>
                  </a:solidFill>
                  <a:latin typeface="Times New Roman" charset="0"/>
                </a:rPr>
                <a:t>8m</a:t>
              </a:r>
            </a:p>
          </p:txBody>
        </p:sp>
        <p:sp>
          <p:nvSpPr>
            <p:cNvPr id="22548" name="Text Box 11"/>
            <p:cNvSpPr txBox="1">
              <a:spLocks noChangeArrowheads="1"/>
            </p:cNvSpPr>
            <p:nvPr/>
          </p:nvSpPr>
          <p:spPr bwMode="auto">
            <a:xfrm>
              <a:off x="2688" y="23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AU" altLang="en-US" sz="2400">
                  <a:solidFill>
                    <a:prstClr val="black"/>
                  </a:solidFill>
                  <a:latin typeface="Times New Roman" charset="0"/>
                </a:rPr>
                <a:t>7m</a:t>
              </a:r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7391400" y="3352800"/>
            <a:ext cx="2667000" cy="30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Top &amp; Bottom.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7086600" y="3657601"/>
            <a:ext cx="3276600" cy="73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25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2 of these, so SA </a:t>
            </a:r>
          </a:p>
          <a:p>
            <a:pPr eaLnBrk="1" hangingPunct="1">
              <a:lnSpc>
                <a:spcPct val="50000"/>
              </a:lnSpc>
              <a:spcBef>
                <a:spcPct val="25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= 2 </a:t>
            </a:r>
            <a:r>
              <a:rPr lang="en-AU" altLang="en-US" sz="2400">
                <a:solidFill>
                  <a:prstClr val="black"/>
                </a:solidFill>
                <a:latin typeface="Times New Roman" charset="0"/>
                <a:sym typeface="Symbol" pitchFamily="18" charset="2"/>
              </a:rPr>
              <a:t> 8  7 = </a:t>
            </a:r>
            <a:r>
              <a:rPr lang="en-AU" altLang="en-US" sz="3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112</a:t>
            </a:r>
            <a:r>
              <a:rPr lang="en-AU" altLang="en-US" sz="36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 m</a:t>
            </a:r>
            <a:r>
              <a:rPr lang="en-AU" altLang="en-US" sz="3600" baseline="30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2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429000" y="4876800"/>
            <a:ext cx="3048000" cy="1371600"/>
            <a:chOff x="1200" y="3072"/>
            <a:chExt cx="1920" cy="864"/>
          </a:xfrm>
        </p:grpSpPr>
        <p:sp>
          <p:nvSpPr>
            <p:cNvPr id="22543" name="Rectangle 14"/>
            <p:cNvSpPr>
              <a:spLocks noChangeArrowheads="1"/>
            </p:cNvSpPr>
            <p:nvPr/>
          </p:nvSpPr>
          <p:spPr bwMode="auto">
            <a:xfrm>
              <a:off x="1200" y="3312"/>
              <a:ext cx="1440" cy="624"/>
            </a:xfrm>
            <a:prstGeom prst="rect">
              <a:avLst/>
            </a:prstGeom>
            <a:solidFill>
              <a:srgbClr val="F36D5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defRPr/>
              </a:pPr>
              <a:endParaRPr lang="en-AU" altLang="en-US" sz="2400">
                <a:solidFill>
                  <a:srgbClr val="F36D5F"/>
                </a:solidFill>
                <a:latin typeface="Times New Roman" charset="0"/>
              </a:endParaRPr>
            </a:p>
          </p:txBody>
        </p:sp>
        <p:sp>
          <p:nvSpPr>
            <p:cNvPr id="22544" name="Text Box 15"/>
            <p:cNvSpPr txBox="1">
              <a:spLocks noChangeArrowheads="1"/>
            </p:cNvSpPr>
            <p:nvPr/>
          </p:nvSpPr>
          <p:spPr bwMode="auto">
            <a:xfrm>
              <a:off x="1728" y="307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AU" altLang="en-US" sz="2400">
                  <a:solidFill>
                    <a:prstClr val="black"/>
                  </a:solidFill>
                  <a:latin typeface="Times New Roman" charset="0"/>
                </a:rPr>
                <a:t>7m</a:t>
              </a:r>
            </a:p>
          </p:txBody>
        </p:sp>
        <p:sp>
          <p:nvSpPr>
            <p:cNvPr id="22545" name="Text Box 16"/>
            <p:cNvSpPr txBox="1">
              <a:spLocks noChangeArrowheads="1"/>
            </p:cNvSpPr>
            <p:nvPr/>
          </p:nvSpPr>
          <p:spPr bwMode="auto">
            <a:xfrm>
              <a:off x="2640" y="340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AU" altLang="en-US" sz="2400">
                  <a:solidFill>
                    <a:prstClr val="black"/>
                  </a:solidFill>
                  <a:latin typeface="Times New Roman" charset="0"/>
                </a:rPr>
                <a:t>6m</a:t>
              </a:r>
            </a:p>
          </p:txBody>
        </p:sp>
      </p:grp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7391400" y="5105400"/>
            <a:ext cx="2667000" cy="30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Left &amp; right.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7239000" y="5486401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2 of these, so SA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AU" altLang="en-US" sz="2400">
                <a:solidFill>
                  <a:prstClr val="black"/>
                </a:solidFill>
                <a:latin typeface="Times New Roman" charset="0"/>
              </a:rPr>
              <a:t>= 2 </a:t>
            </a:r>
            <a:r>
              <a:rPr lang="en-AU" altLang="en-US" sz="2400">
                <a:solidFill>
                  <a:prstClr val="black"/>
                </a:solidFill>
                <a:latin typeface="Times New Roman" charset="0"/>
                <a:sym typeface="Symbol" pitchFamily="18" charset="2"/>
              </a:rPr>
              <a:t> 6  7 = </a:t>
            </a:r>
            <a:r>
              <a:rPr lang="en-AU" altLang="en-US" sz="32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84m</a:t>
            </a:r>
            <a:r>
              <a:rPr lang="en-AU" altLang="en-US" sz="3200" baseline="30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2</a:t>
            </a:r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2971800" y="31242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3124200" y="48006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4648200" y="64008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TSA = 96 + 112 + 84 = 292m</a:t>
            </a:r>
            <a:r>
              <a:rPr lang="en-AU" altLang="en-US" sz="2400" baseline="30000">
                <a:solidFill>
                  <a:srgbClr val="0000FF"/>
                </a:solidFill>
                <a:latin typeface="Times New Roman" charset="0"/>
              </a:rPr>
              <a:t>2</a:t>
            </a:r>
            <a:endParaRPr lang="en-AU" altLang="en-US" sz="240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3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7" grpId="0" autoUpdateAnimBg="0"/>
      <p:bldP spid="15368" grpId="0" autoUpdateAnimBg="0"/>
      <p:bldP spid="15372" grpId="0" autoUpdateAnimBg="0"/>
      <p:bldP spid="15373" grpId="0" autoUpdateAnimBg="0"/>
      <p:bldP spid="15377" grpId="0" autoUpdateAnimBg="0"/>
      <p:bldP spid="15378" grpId="0" autoUpdateAnimBg="0"/>
      <p:bldP spid="15379" grpId="0" animBg="1"/>
      <p:bldP spid="15380" grpId="0" animBg="1"/>
      <p:bldP spid="1538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prism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44B49-4064-4F6E-B3BD-95FAA449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33" y="2179561"/>
            <a:ext cx="2341067" cy="2011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6C4A1-1540-4666-A953-928F4B6050C5}"/>
              </a:ext>
            </a:extLst>
          </p:cNvPr>
          <p:cNvSpPr txBox="1"/>
          <p:nvPr/>
        </p:nvSpPr>
        <p:spPr>
          <a:xfrm>
            <a:off x="4943872" y="4437113"/>
            <a:ext cx="5320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triangular prism has 5 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Front/back which are triangles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3 sides that are rectangles.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With some prisms using ‘shape nets’ can make it easier to identify the dimensions of each of the faces, triangular prisms are one of these shapes.</a:t>
            </a:r>
          </a:p>
        </p:txBody>
      </p:sp>
    </p:spTree>
    <p:extLst>
      <p:ext uri="{BB962C8B-B14F-4D97-AF65-F5344CB8AC3E}">
        <p14:creationId xmlns:p14="http://schemas.microsoft.com/office/powerpoint/2010/main" val="408667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F5C6E8-3F3F-4B10-8F0F-6AC14C4B8C02}"/>
              </a:ext>
            </a:extLst>
          </p:cNvPr>
          <p:cNvPicPr/>
          <p:nvPr/>
        </p:nvPicPr>
        <p:blipFill rotWithShape="1">
          <a:blip r:embed="rId3"/>
          <a:srcRect l="28086" t="14358" r="27542" b="7730"/>
          <a:stretch/>
        </p:blipFill>
        <p:spPr bwMode="auto">
          <a:xfrm>
            <a:off x="4824412" y="2033588"/>
            <a:ext cx="3359820" cy="38436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3BFF6-4086-4C79-8C50-917E89A1A194}"/>
              </a:ext>
            </a:extLst>
          </p:cNvPr>
          <p:cNvSpPr txBox="1"/>
          <p:nvPr/>
        </p:nvSpPr>
        <p:spPr>
          <a:xfrm>
            <a:off x="8472264" y="2708920"/>
            <a:ext cx="1872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Shape net of a Triangular prism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Clearly shows the areas that need calculating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Once drawn transfer the measurements and then calculate your areas.</a:t>
            </a:r>
          </a:p>
        </p:txBody>
      </p:sp>
    </p:spTree>
    <p:extLst>
      <p:ext uri="{BB962C8B-B14F-4D97-AF65-F5344CB8AC3E}">
        <p14:creationId xmlns:p14="http://schemas.microsoft.com/office/powerpoint/2010/main" val="1136435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C6D4AA-8A5D-4472-9957-2C844E36E01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4264" t="8509" r="27044" b="4538"/>
          <a:stretch/>
        </p:blipFill>
        <p:spPr bwMode="auto">
          <a:xfrm>
            <a:off x="4068439" y="1600201"/>
            <a:ext cx="4055123" cy="45259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486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2905475" y="1106743"/>
            <a:ext cx="6619526" cy="89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2722682" y="2240868"/>
            <a:ext cx="6802321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22683" y="3537013"/>
            <a:ext cx="672169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9. Katy wants to wrap a present that is 15cm wide, 18cm deep and 4cm high. How much wrapping paper will she need to use?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11. A box has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no lid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. The box measures 1.2m by 30cm by 45cm. What is the surface area of the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outside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2683" y="2240869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3805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3042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7229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1387" y="857250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05" y="958988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5240" y="99226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2207" y="903021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700" dirty="0"/>
              <a:t>Surface Area of Prisms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341694" y="391505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833542" y="499517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833542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291704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335900" y="2726922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27748" y="3807042"/>
            <a:ext cx="1458162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827748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5285910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341694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833543" y="3807042"/>
            <a:ext cx="1005255" cy="1188132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799856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291704" y="380704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14622" y="497296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9cm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593" y="416287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8cm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790" y="4281990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7959" y="3093858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933982" y="2726922"/>
            <a:ext cx="0" cy="1080120"/>
          </a:xfrm>
          <a:prstGeom prst="straightConnector1">
            <a:avLst/>
          </a:prstGeom>
          <a:ln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2056" y="1212575"/>
            <a:ext cx="294294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Parallelograms 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 x 7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63cm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11 x 9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99cm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99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198cm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 x 11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88cm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88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176cm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TOTAL SURFACE AREA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63 + 198 + 176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437cm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of Prisms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686935" y="1916833"/>
            <a:ext cx="5083253" cy="2705114"/>
            <a:chOff x="26577" y="1403486"/>
            <a:chExt cx="8217831" cy="4141074"/>
          </a:xfrm>
        </p:grpSpPr>
        <p:sp>
          <p:nvSpPr>
            <p:cNvPr id="4" name="Trapezoid 3"/>
            <p:cNvSpPr/>
            <p:nvPr/>
          </p:nvSpPr>
          <p:spPr>
            <a:xfrm>
              <a:off x="871882" y="3501008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Trapezoid 4"/>
            <p:cNvSpPr/>
            <p:nvPr/>
          </p:nvSpPr>
          <p:spPr>
            <a:xfrm>
              <a:off x="3536178" y="1781200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1259632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871882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131840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536178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923928" y="1781200"/>
              <a:ext cx="1872208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09991" y="1781200"/>
              <a:ext cx="404338" cy="158417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31640" y="5085185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10cm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8588" y="1403486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6cm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77" y="3966383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5219" y="2276871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87400" y="4149080"/>
              <a:ext cx="1368775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16cm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020272" y="1772818"/>
              <a:ext cx="0" cy="1592559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20272" y="2276871"/>
              <a:ext cx="122413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096000" y="3753038"/>
            <a:ext cx="338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Trapeziums = ½ (10 + 6) x 7</a:t>
            </a:r>
          </a:p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= ½ x 16 x 7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3622" y="4695965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1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9203" y="4721006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2 = 10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160cm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3622" y="5318995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3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9203" y="5344037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4 = 6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96cm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6180" y="1916832"/>
            <a:ext cx="1761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TOTAL SURFACE AREA = 56 + 128 + 160 + 128 + 96</a:t>
            </a:r>
          </a:p>
          <a:p>
            <a:pPr defTabSz="685800"/>
            <a:endParaRPr lang="en-GB" dirty="0">
              <a:solidFill>
                <a:srgbClr val="FF0000"/>
              </a:solidFill>
              <a:latin typeface="Calibri" panose="020F0502020204030204"/>
            </a:endParaRP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7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5732" y="1063229"/>
            <a:ext cx="5516369" cy="368850"/>
          </a:xfrm>
        </p:spPr>
        <p:txBody>
          <a:bodyPr>
            <a:normAutofit/>
          </a:bodyPr>
          <a:lstStyle/>
          <a:p>
            <a:r>
              <a:rPr lang="en-GB" sz="15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3017658" y="1970838"/>
            <a:ext cx="1782198" cy="1026114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87688" y="299695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1814" y="2780928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9826" y="2233899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6258018" y="2130054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7500156" y="1646803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6660881" y="16468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6258018" y="2841904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7500156" y="2841904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7903018" y="1646803"/>
            <a:ext cx="839276" cy="11951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20036" y="331243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8198" y="308817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6210" y="199155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5970" y="2546581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6660881" y="2130054"/>
            <a:ext cx="0" cy="119510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09058" y="2618910"/>
            <a:ext cx="6210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692487" y="3589435"/>
            <a:ext cx="3785945" cy="2246193"/>
            <a:chOff x="33981" y="3193687"/>
            <a:chExt cx="5703364" cy="345649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7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70" y="3682934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2747629" y="1646803"/>
            <a:ext cx="307696" cy="30769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258019" y="1761102"/>
            <a:ext cx="307696" cy="30769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3002282" y="3599674"/>
            <a:ext cx="307696" cy="30769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2C0A8C-7660-48A4-B196-984DFB4F993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5427" t="15689" r="32528" b="55368"/>
          <a:stretch/>
        </p:blipFill>
        <p:spPr bwMode="auto">
          <a:xfrm>
            <a:off x="2279576" y="1700808"/>
            <a:ext cx="7416824" cy="33123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06503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</TotalTime>
  <Words>817</Words>
  <Application>Microsoft Office PowerPoint</Application>
  <PresentationFormat>Widescreen</PresentationFormat>
  <Paragraphs>194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Times New Roman</vt:lpstr>
      <vt:lpstr>Retrospect</vt:lpstr>
      <vt:lpstr>6 Minute Revision Starter- work with shoulder partner</vt:lpstr>
      <vt:lpstr>Topic: Total Surface Area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Surface Area of Prisms</vt:lpstr>
      <vt:lpstr>Surface Area of Prisms</vt:lpstr>
      <vt:lpstr>Find the surface area of the following shapes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Minute Revision Starter- work with shoulder partner</dc:title>
  <dc:creator>Sarah James</dc:creator>
  <cp:lastModifiedBy>Sarah James</cp:lastModifiedBy>
  <cp:revision>1</cp:revision>
  <dcterms:created xsi:type="dcterms:W3CDTF">2019-03-15T00:14:36Z</dcterms:created>
  <dcterms:modified xsi:type="dcterms:W3CDTF">2019-03-15T05:18:41Z</dcterms:modified>
</cp:coreProperties>
</file>
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68" r:id="rId2"/>
    <p:sldId id="257" r:id="rId3"/>
    <p:sldId id="269" r:id="rId4"/>
    <p:sldId id="271" r:id="rId5"/>
    <p:sldId id="263" r:id="rId6"/>
    <p:sldId id="264" r:id="rId7"/>
    <p:sldId id="272" r:id="rId8"/>
    <p:sldId id="273" r:id="rId9"/>
    <p:sldId id="274" r:id="rId10"/>
    <p:sldId id="266" r:id="rId11"/>
    <p:sldId id="279" r:id="rId12"/>
    <p:sldId id="276" r:id="rId13"/>
    <p:sldId id="275" r:id="rId14"/>
    <p:sldId id="277" r:id="rId15"/>
    <p:sldId id="278" r:id="rId16"/>
    <p:sldId id="262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9FAD5-C21B-4F4C-BC46-BC3D380B8AF5}" v="2" dt="2019-03-15T05:16:2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B099FAD5-C21B-4F4C-BC46-BC3D380B8AF5}"/>
    <pc:docChg chg="undo custSel modSld">
      <pc:chgData name="Sarah James" userId="e5e3e68366f0feb3" providerId="LiveId" clId="{B099FAD5-C21B-4F4C-BC46-BC3D380B8AF5}" dt="2019-03-15T05:17:02.074" v="77" actId="1076"/>
      <pc:docMkLst>
        <pc:docMk/>
      </pc:docMkLst>
      <pc:sldChg chg="modSp">
        <pc:chgData name="Sarah James" userId="e5e3e68366f0feb3" providerId="LiveId" clId="{B099FAD5-C21B-4F4C-BC46-BC3D380B8AF5}" dt="2019-03-15T05:14:55.764" v="27" actId="20577"/>
        <pc:sldMkLst>
          <pc:docMk/>
          <pc:sldMk cId="1167979869" sldId="257"/>
        </pc:sldMkLst>
        <pc:spChg chg="mod">
          <ac:chgData name="Sarah James" userId="e5e3e68366f0feb3" providerId="LiveId" clId="{B099FAD5-C21B-4F4C-BC46-BC3D380B8AF5}" dt="2019-03-15T05:14:55.764" v="27" actId="20577"/>
          <ac:spMkLst>
            <pc:docMk/>
            <pc:sldMk cId="1167979869" sldId="257"/>
            <ac:spMk id="3" creationId="{00000000-0000-0000-0000-000000000000}"/>
          </ac:spMkLst>
        </pc:spChg>
      </pc:sldChg>
      <pc:sldChg chg="modSp">
        <pc:chgData name="Sarah James" userId="e5e3e68366f0feb3" providerId="LiveId" clId="{B099FAD5-C21B-4F4C-BC46-BC3D380B8AF5}" dt="2019-03-15T05:17:02.074" v="77" actId="1076"/>
        <pc:sldMkLst>
          <pc:docMk/>
          <pc:sldMk cId="321455895" sldId="264"/>
        </pc:sldMkLst>
        <pc:spChg chg="mod">
          <ac:chgData name="Sarah James" userId="e5e3e68366f0feb3" providerId="LiveId" clId="{B099FAD5-C21B-4F4C-BC46-BC3D380B8AF5}" dt="2019-03-15T05:16:55.970" v="73" actId="1076"/>
          <ac:spMkLst>
            <pc:docMk/>
            <pc:sldMk cId="321455895" sldId="264"/>
            <ac:spMk id="8" creationId="{4A6A76CF-CA01-4E55-AA81-C0CB1C7087C3}"/>
          </ac:spMkLst>
        </pc:spChg>
        <pc:spChg chg="mod">
          <ac:chgData name="Sarah James" userId="e5e3e68366f0feb3" providerId="LiveId" clId="{B099FAD5-C21B-4F4C-BC46-BC3D380B8AF5}" dt="2019-03-15T05:16:54.738" v="72" actId="1076"/>
          <ac:spMkLst>
            <pc:docMk/>
            <pc:sldMk cId="321455895" sldId="264"/>
            <ac:spMk id="13" creationId="{43739281-2AFC-4FC4-A73C-C34A9DF29D3C}"/>
          </ac:spMkLst>
        </pc:spChg>
        <pc:spChg chg="mod">
          <ac:chgData name="Sarah James" userId="e5e3e68366f0feb3" providerId="LiveId" clId="{B099FAD5-C21B-4F4C-BC46-BC3D380B8AF5}" dt="2019-03-15T05:16:53.367" v="71" actId="1076"/>
          <ac:spMkLst>
            <pc:docMk/>
            <pc:sldMk cId="321455895" sldId="264"/>
            <ac:spMk id="14" creationId="{8580D802-58DF-4095-9EF4-8EAAEBFDEDE3}"/>
          </ac:spMkLst>
        </pc:spChg>
        <pc:spChg chg="mod">
          <ac:chgData name="Sarah James" userId="e5e3e68366f0feb3" providerId="LiveId" clId="{B099FAD5-C21B-4F4C-BC46-BC3D380B8AF5}" dt="2019-03-15T05:16:51.901" v="70" actId="1076"/>
          <ac:spMkLst>
            <pc:docMk/>
            <pc:sldMk cId="321455895" sldId="264"/>
            <ac:spMk id="15" creationId="{C717790E-57CE-4C20-BDA9-1939EDCAB0EE}"/>
          </ac:spMkLst>
        </pc:spChg>
        <pc:spChg chg="mod">
          <ac:chgData name="Sarah James" userId="e5e3e68366f0feb3" providerId="LiveId" clId="{B099FAD5-C21B-4F4C-BC46-BC3D380B8AF5}" dt="2019-03-15T05:17:02.074" v="77" actId="1076"/>
          <ac:spMkLst>
            <pc:docMk/>
            <pc:sldMk cId="321455895" sldId="264"/>
            <ac:spMk id="16" creationId="{6901C70C-1C37-4167-9EFF-8A82DC72BDD8}"/>
          </ac:spMkLst>
        </pc:spChg>
        <pc:spChg chg="mod">
          <ac:chgData name="Sarah James" userId="e5e3e68366f0feb3" providerId="LiveId" clId="{B099FAD5-C21B-4F4C-BC46-BC3D380B8AF5}" dt="2019-03-15T05:17:00.962" v="76" actId="1076"/>
          <ac:spMkLst>
            <pc:docMk/>
            <pc:sldMk cId="321455895" sldId="264"/>
            <ac:spMk id="17" creationId="{34039EEE-499F-4A26-B2B6-2E42C3C4CC44}"/>
          </ac:spMkLst>
        </pc:spChg>
        <pc:spChg chg="mod">
          <ac:chgData name="Sarah James" userId="e5e3e68366f0feb3" providerId="LiveId" clId="{B099FAD5-C21B-4F4C-BC46-BC3D380B8AF5}" dt="2019-03-15T05:16:59.740" v="75" actId="1076"/>
          <ac:spMkLst>
            <pc:docMk/>
            <pc:sldMk cId="321455895" sldId="264"/>
            <ac:spMk id="18" creationId="{5525D44A-FBE8-4120-8D2D-99210B68BAF0}"/>
          </ac:spMkLst>
        </pc:spChg>
        <pc:spChg chg="mod">
          <ac:chgData name="Sarah James" userId="e5e3e68366f0feb3" providerId="LiveId" clId="{B099FAD5-C21B-4F4C-BC46-BC3D380B8AF5}" dt="2019-03-15T05:16:58.067" v="74" actId="1076"/>
          <ac:spMkLst>
            <pc:docMk/>
            <pc:sldMk cId="321455895" sldId="264"/>
            <ac:spMk id="19" creationId="{92A9E287-033F-459E-97A6-113BEB3F516D}"/>
          </ac:spMkLst>
        </pc:spChg>
        <pc:picChg chg="mod">
          <ac:chgData name="Sarah James" userId="e5e3e68366f0feb3" providerId="LiveId" clId="{B099FAD5-C21B-4F4C-BC46-BC3D380B8AF5}" dt="2019-03-15T05:16:49.323" v="69" actId="1076"/>
          <ac:picMkLst>
            <pc:docMk/>
            <pc:sldMk cId="321455895" sldId="264"/>
            <ac:picMk id="5" creationId="{F2A6AB25-30B3-4A98-AD6F-7B59CAE9B4AB}"/>
          </ac:picMkLst>
        </pc:picChg>
      </pc:sldChg>
      <pc:sldChg chg="addSp delSp modSp">
        <pc:chgData name="Sarah James" userId="e5e3e68366f0feb3" providerId="LiveId" clId="{B099FAD5-C21B-4F4C-BC46-BC3D380B8AF5}" dt="2019-03-15T05:16:35.643" v="68" actId="1076"/>
        <pc:sldMkLst>
          <pc:docMk/>
          <pc:sldMk cId="3125062734" sldId="268"/>
        </pc:sldMkLst>
        <pc:spChg chg="del">
          <ac:chgData name="Sarah James" userId="e5e3e68366f0feb3" providerId="LiveId" clId="{B099FAD5-C21B-4F4C-BC46-BC3D380B8AF5}" dt="2019-03-15T05:14:39.671" v="3" actId="478"/>
          <ac:spMkLst>
            <pc:docMk/>
            <pc:sldMk cId="3125062734" sldId="268"/>
            <ac:spMk id="2" creationId="{00000000-0000-0000-0000-000000000000}"/>
          </ac:spMkLst>
        </pc:spChg>
        <pc:spChg chg="mod">
          <ac:chgData name="Sarah James" userId="e5e3e68366f0feb3" providerId="LiveId" clId="{B099FAD5-C21B-4F4C-BC46-BC3D380B8AF5}" dt="2019-03-15T05:16:35.643" v="68" actId="1076"/>
          <ac:spMkLst>
            <pc:docMk/>
            <pc:sldMk cId="3125062734" sldId="268"/>
            <ac:spMk id="3" creationId="{00000000-0000-0000-0000-000000000000}"/>
          </ac:spMkLst>
        </pc:spChg>
        <pc:spChg chg="add del mod">
          <ac:chgData name="Sarah James" userId="e5e3e68366f0feb3" providerId="LiveId" clId="{B099FAD5-C21B-4F4C-BC46-BC3D380B8AF5}" dt="2019-03-15T05:16:31.569" v="67" actId="478"/>
          <ac:spMkLst>
            <pc:docMk/>
            <pc:sldMk cId="3125062734" sldId="268"/>
            <ac:spMk id="5" creationId="{CD9D442B-F2EE-4E2D-AF8F-8EA5135D6062}"/>
          </ac:spMkLst>
        </pc:spChg>
        <pc:picChg chg="del">
          <ac:chgData name="Sarah James" userId="e5e3e68366f0feb3" providerId="LiveId" clId="{B099FAD5-C21B-4F4C-BC46-BC3D380B8AF5}" dt="2019-03-15T05:14:41.357" v="4" actId="478"/>
          <ac:picMkLst>
            <pc:docMk/>
            <pc:sldMk cId="3125062734" sldId="268"/>
            <ac:picMk id="27650" creationId="{00000000-0000-0000-0000-000000000000}"/>
          </ac:picMkLst>
        </pc:picChg>
        <pc:picChg chg="del">
          <ac:chgData name="Sarah James" userId="e5e3e68366f0feb3" providerId="LiveId" clId="{B099FAD5-C21B-4F4C-BC46-BC3D380B8AF5}" dt="2019-03-15T05:14:37.730" v="2" actId="478"/>
          <ac:picMkLst>
            <pc:docMk/>
            <pc:sldMk cId="3125062734" sldId="268"/>
            <ac:picMk id="27652" creationId="{00000000-0000-0000-0000-000000000000}"/>
          </ac:picMkLst>
        </pc:picChg>
      </pc:sldChg>
      <pc:sldChg chg="modSp">
        <pc:chgData name="Sarah James" userId="e5e3e68366f0feb3" providerId="LiveId" clId="{B099FAD5-C21B-4F4C-BC46-BC3D380B8AF5}" dt="2019-03-15T05:15:10.905" v="35" actId="20577"/>
        <pc:sldMkLst>
          <pc:docMk/>
          <pc:sldMk cId="1515457332" sldId="269"/>
        </pc:sldMkLst>
        <pc:spChg chg="mod">
          <ac:chgData name="Sarah James" userId="e5e3e68366f0feb3" providerId="LiveId" clId="{B099FAD5-C21B-4F4C-BC46-BC3D380B8AF5}" dt="2019-03-15T05:15:10.905" v="35" actId="20577"/>
          <ac:spMkLst>
            <pc:docMk/>
            <pc:sldMk cId="1515457332" sldId="269"/>
            <ac:spMk id="2" creationId="{9D78A04C-DE07-4FD8-9BB9-61DD7AC690CE}"/>
          </ac:spMkLst>
        </pc:spChg>
      </pc:sldChg>
      <pc:sldChg chg="modSp">
        <pc:chgData name="Sarah James" userId="e5e3e68366f0feb3" providerId="LiveId" clId="{B099FAD5-C21B-4F4C-BC46-BC3D380B8AF5}" dt="2019-03-15T05:15:29.757" v="38" actId="20577"/>
        <pc:sldMkLst>
          <pc:docMk/>
          <pc:sldMk cId="2458784909" sldId="271"/>
        </pc:sldMkLst>
        <pc:spChg chg="mod">
          <ac:chgData name="Sarah James" userId="e5e3e68366f0feb3" providerId="LiveId" clId="{B099FAD5-C21B-4F4C-BC46-BC3D380B8AF5}" dt="2019-03-15T05:15:24.925" v="37" actId="20577"/>
          <ac:spMkLst>
            <pc:docMk/>
            <pc:sldMk cId="2458784909" sldId="271"/>
            <ac:spMk id="10" creationId="{00000000-0000-0000-0000-000000000000}"/>
          </ac:spMkLst>
        </pc:spChg>
        <pc:spChg chg="mod">
          <ac:chgData name="Sarah James" userId="e5e3e68366f0feb3" providerId="LiveId" clId="{B099FAD5-C21B-4F4C-BC46-BC3D380B8AF5}" dt="2019-03-15T05:15:29.757" v="38" actId="20577"/>
          <ac:spMkLst>
            <pc:docMk/>
            <pc:sldMk cId="2458784909" sldId="27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6FEFA-E6AE-4C64-B5FB-7AFC860F58D5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65F1E-C6C2-4064-98C2-8243ED97FC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42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1530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need worksheet ‘</a:t>
            </a:r>
            <a:r>
              <a:rPr lang="en-AU" dirty="0" err="1"/>
              <a:t>AreaFormula</a:t>
            </a:r>
            <a:r>
              <a:rPr lang="en-AU" dirty="0"/>
              <a:t>’ once completed students need to glue into note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Each click reveals the correct 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90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1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Handout – ‘</a:t>
            </a:r>
            <a:r>
              <a:rPr lang="en-AU" dirty="0" err="1"/>
              <a:t>AreaReviewWorksheet</a:t>
            </a:r>
            <a:r>
              <a:rPr lang="en-AU" dirty="0"/>
              <a:t>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54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6314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956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25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43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77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843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89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88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68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06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45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06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888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562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8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330ED68-83A2-45B7-84F4-35786BDD84FD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DED7385-4925-4D2F-A643-5F83D2888D89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08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3740" y="2409825"/>
            <a:ext cx="8848725" cy="1752600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Topic: Area revision</a:t>
            </a:r>
          </a:p>
          <a:p>
            <a:r>
              <a:rPr lang="en-AU" dirty="0"/>
              <a:t>Eq: How do you calculate the area of regular shapes?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Review how to calculate the area of a variety of shapes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0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78A04C-DE07-4FD8-9BB9-61DD7AC690CE}"/>
              </a:ext>
            </a:extLst>
          </p:cNvPr>
          <p:cNvSpPr txBox="1"/>
          <p:nvPr/>
        </p:nvSpPr>
        <p:spPr>
          <a:xfrm>
            <a:off x="1919537" y="1844825"/>
            <a:ext cx="3816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PUT THIS NEW UNIT IN YOUR CONTENTS PAGE. WE ARE FINISHED WITH ALGEBRA FOR THE TIME BEING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shapes?</a:t>
            </a:r>
          </a:p>
        </p:txBody>
      </p:sp>
    </p:spTree>
    <p:extLst>
      <p:ext uri="{BB962C8B-B14F-4D97-AF65-F5344CB8AC3E}">
        <p14:creationId xmlns:p14="http://schemas.microsoft.com/office/powerpoint/2010/main" val="245878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Match-Up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dirty="0"/>
              <a:t>Match the following formula’s with the correct shapes</a:t>
            </a:r>
          </a:p>
          <a:p>
            <a:pPr marL="0" indent="0">
              <a:buNone/>
            </a:pP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014708-CC79-4C53-9F5A-695A684D4D5D}"/>
                  </a:ext>
                </a:extLst>
              </p:cNvPr>
              <p:cNvSpPr txBox="1"/>
              <p:nvPr/>
            </p:nvSpPr>
            <p:spPr>
              <a:xfrm>
                <a:off x="2999656" y="2492897"/>
                <a:ext cx="1440160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014708-CC79-4C53-9F5A-695A684D4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56" y="2492897"/>
                <a:ext cx="1440160" cy="634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8313BA-9875-4215-8A81-F286BBFD889D}"/>
                  </a:ext>
                </a:extLst>
              </p:cNvPr>
              <p:cNvSpPr txBox="1"/>
              <p:nvPr/>
            </p:nvSpPr>
            <p:spPr>
              <a:xfrm>
                <a:off x="5240260" y="3073498"/>
                <a:ext cx="544771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8313BA-9875-4215-8A81-F286BBFD8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260" y="3073498"/>
                <a:ext cx="54477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F9B02-EB57-448A-B479-03ECB6CCEDBB}"/>
                  </a:ext>
                </a:extLst>
              </p:cNvPr>
              <p:cNvSpPr txBox="1"/>
              <p:nvPr/>
            </p:nvSpPr>
            <p:spPr>
              <a:xfrm>
                <a:off x="8289058" y="3575809"/>
                <a:ext cx="1008112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F9B02-EB57-448A-B479-03ECB6CCE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058" y="3575809"/>
                <a:ext cx="1008112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69FF7-1E13-4D7C-8222-5FFD34C5E953}"/>
                  </a:ext>
                </a:extLst>
              </p:cNvPr>
              <p:cNvSpPr txBox="1"/>
              <p:nvPr/>
            </p:nvSpPr>
            <p:spPr>
              <a:xfrm>
                <a:off x="2999656" y="3441278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69FF7-1E13-4D7C-8222-5FFD34C5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56" y="3441278"/>
                <a:ext cx="12241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95A70-25BA-4797-9B56-F3782065508A}"/>
                  </a:ext>
                </a:extLst>
              </p:cNvPr>
              <p:cNvSpPr txBox="1"/>
              <p:nvPr/>
            </p:nvSpPr>
            <p:spPr>
              <a:xfrm>
                <a:off x="4727848" y="3816307"/>
                <a:ext cx="1215752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95A70-25BA-4797-9B56-F37820655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3816307"/>
                <a:ext cx="1215752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7E4F34-1A97-4247-8597-34593078E36F}"/>
                  </a:ext>
                </a:extLst>
              </p:cNvPr>
              <p:cNvSpPr txBox="1"/>
              <p:nvPr/>
            </p:nvSpPr>
            <p:spPr>
              <a:xfrm>
                <a:off x="4880955" y="2338921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7E4F34-1A97-4247-8597-34593078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955" y="2338921"/>
                <a:ext cx="12241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302E0E-7A6F-4D2F-9147-17755BCDE5C9}"/>
                  </a:ext>
                </a:extLst>
              </p:cNvPr>
              <p:cNvSpPr txBox="1"/>
              <p:nvPr/>
            </p:nvSpPr>
            <p:spPr>
              <a:xfrm>
                <a:off x="6841006" y="2506123"/>
                <a:ext cx="1224136" cy="610936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302E0E-7A6F-4D2F-9147-17755BCD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006" y="2506123"/>
                <a:ext cx="1224136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F2805-C43D-48ED-8F0A-896B141440D8}"/>
                  </a:ext>
                </a:extLst>
              </p:cNvPr>
              <p:cNvSpPr txBox="1"/>
              <p:nvPr/>
            </p:nvSpPr>
            <p:spPr>
              <a:xfrm>
                <a:off x="6452579" y="3467238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F2805-C43D-48ED-8F0A-896B14144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579" y="3467238"/>
                <a:ext cx="122413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6AB25-30B3-4A98-AD6F-7B59CAE9B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38" y="2069768"/>
            <a:ext cx="6115904" cy="37247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6A76CF-CA01-4E55-AA81-C0CB1C7087C3}"/>
              </a:ext>
            </a:extLst>
          </p:cNvPr>
          <p:cNvSpPr/>
          <p:nvPr/>
        </p:nvSpPr>
        <p:spPr>
          <a:xfrm>
            <a:off x="4882540" y="2609915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39281-2AFC-4FC4-A73C-C34A9DF29D3C}"/>
              </a:ext>
            </a:extLst>
          </p:cNvPr>
          <p:cNvSpPr/>
          <p:nvPr/>
        </p:nvSpPr>
        <p:spPr>
          <a:xfrm>
            <a:off x="6367465" y="2533508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80D802-58DF-4095-9EF4-8EAAEBFDEDE3}"/>
              </a:ext>
            </a:extLst>
          </p:cNvPr>
          <p:cNvSpPr/>
          <p:nvPr/>
        </p:nvSpPr>
        <p:spPr>
          <a:xfrm>
            <a:off x="7852390" y="2582450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7790E-57CE-4C20-BDA9-1939EDCAB0EE}"/>
              </a:ext>
            </a:extLst>
          </p:cNvPr>
          <p:cNvSpPr/>
          <p:nvPr/>
        </p:nvSpPr>
        <p:spPr>
          <a:xfrm>
            <a:off x="9454088" y="254640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1C70C-1C37-4167-9EFF-8A82DC72BDD8}"/>
              </a:ext>
            </a:extLst>
          </p:cNvPr>
          <p:cNvSpPr/>
          <p:nvPr/>
        </p:nvSpPr>
        <p:spPr>
          <a:xfrm>
            <a:off x="4957134" y="4236934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039EEE-499F-4A26-B2B6-2E42C3C4CC44}"/>
              </a:ext>
            </a:extLst>
          </p:cNvPr>
          <p:cNvSpPr/>
          <p:nvPr/>
        </p:nvSpPr>
        <p:spPr>
          <a:xfrm>
            <a:off x="6393943" y="4236934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5D44A-FBE8-4120-8D2D-99210B68BAF0}"/>
              </a:ext>
            </a:extLst>
          </p:cNvPr>
          <p:cNvSpPr/>
          <p:nvPr/>
        </p:nvSpPr>
        <p:spPr>
          <a:xfrm>
            <a:off x="7899409" y="419876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A9E287-033F-459E-97A6-113BEB3F516D}"/>
              </a:ext>
            </a:extLst>
          </p:cNvPr>
          <p:cNvSpPr/>
          <p:nvPr/>
        </p:nvSpPr>
        <p:spPr>
          <a:xfrm>
            <a:off x="9542190" y="419876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19DB-FD01-466C-99E3-3235E22F1D21}"/>
              </a:ext>
            </a:extLst>
          </p:cNvPr>
          <p:cNvSpPr txBox="1"/>
          <p:nvPr/>
        </p:nvSpPr>
        <p:spPr>
          <a:xfrm>
            <a:off x="4794438" y="2348881"/>
            <a:ext cx="55500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process for calculating the area of a shape is</a:t>
            </a:r>
          </a:p>
          <a:p>
            <a:endParaRPr lang="en-A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Identify the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Select the correct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Make sure the units are the same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Substitute the values into the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area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Remember to include the units</a:t>
            </a:r>
            <a:r>
              <a:rPr lang="en-AU" baseline="30000" dirty="0"/>
              <a:t>2</a:t>
            </a:r>
            <a:r>
              <a:rPr lang="en-AU" dirty="0"/>
              <a:t> in your answer</a:t>
            </a:r>
          </a:p>
        </p:txBody>
      </p:sp>
    </p:spTree>
    <p:extLst>
      <p:ext uri="{BB962C8B-B14F-4D97-AF65-F5344CB8AC3E}">
        <p14:creationId xmlns:p14="http://schemas.microsoft.com/office/powerpoint/2010/main" val="26522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C8E-31BA-459E-9F65-BFF7B9AEB718}"/>
              </a:ext>
            </a:extLst>
          </p:cNvPr>
          <p:cNvSpPr txBox="1"/>
          <p:nvPr/>
        </p:nvSpPr>
        <p:spPr>
          <a:xfrm>
            <a:off x="4583832" y="2276873"/>
            <a:ext cx="5832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the area of the following shape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</a:t>
            </a:r>
            <a:r>
              <a:rPr lang="en-AU" sz="1600" dirty="0"/>
              <a:t>12cm</a:t>
            </a:r>
          </a:p>
          <a:p>
            <a:endParaRPr lang="en-AU" dirty="0"/>
          </a:p>
          <a:p>
            <a:r>
              <a:rPr lang="en-AU" dirty="0"/>
              <a:t>Formula is Area = l x w</a:t>
            </a:r>
          </a:p>
          <a:p>
            <a:endParaRPr lang="en-AU" dirty="0"/>
          </a:p>
          <a:p>
            <a:r>
              <a:rPr lang="en-AU" dirty="0"/>
              <a:t>Substitute the values into the formula</a:t>
            </a:r>
          </a:p>
          <a:p>
            <a:r>
              <a:rPr lang="en-AU" dirty="0"/>
              <a:t>                    Area = 12cm x 5cm</a:t>
            </a:r>
          </a:p>
          <a:p>
            <a:r>
              <a:rPr lang="en-AU" dirty="0"/>
              <a:t>                    Area = 60cm </a:t>
            </a:r>
            <a:r>
              <a:rPr lang="en-AU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0DCA-D72E-4AC0-9E6F-8946BB037BC1}"/>
              </a:ext>
            </a:extLst>
          </p:cNvPr>
          <p:cNvSpPr/>
          <p:nvPr/>
        </p:nvSpPr>
        <p:spPr>
          <a:xfrm>
            <a:off x="4794438" y="2924944"/>
            <a:ext cx="36058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9E5E-DB44-40D0-9BA7-7DF3D4D5A8CF}"/>
              </a:ext>
            </a:extLst>
          </p:cNvPr>
          <p:cNvSpPr txBox="1"/>
          <p:nvPr/>
        </p:nvSpPr>
        <p:spPr>
          <a:xfrm>
            <a:off x="8544272" y="3501008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37599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C8E-31BA-459E-9F65-BFF7B9AEB718}"/>
              </a:ext>
            </a:extLst>
          </p:cNvPr>
          <p:cNvSpPr txBox="1"/>
          <p:nvPr/>
        </p:nvSpPr>
        <p:spPr>
          <a:xfrm>
            <a:off x="4583832" y="2276872"/>
            <a:ext cx="58326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the area of the following shape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</a:t>
            </a:r>
            <a:r>
              <a:rPr lang="en-AU" sz="1600" dirty="0"/>
              <a:t>12cm</a:t>
            </a:r>
          </a:p>
          <a:p>
            <a:endParaRPr lang="en-AU" dirty="0"/>
          </a:p>
          <a:p>
            <a:r>
              <a:rPr lang="en-AU" dirty="0"/>
              <a:t>Change 50mm to _______ cm</a:t>
            </a:r>
          </a:p>
          <a:p>
            <a:endParaRPr lang="en-AU" dirty="0"/>
          </a:p>
          <a:p>
            <a:r>
              <a:rPr lang="en-AU" dirty="0"/>
              <a:t>Formula is Area = l x w</a:t>
            </a:r>
          </a:p>
          <a:p>
            <a:r>
              <a:rPr lang="en-AU" dirty="0"/>
              <a:t>Substitute the values into the formula</a:t>
            </a:r>
          </a:p>
          <a:p>
            <a:r>
              <a:rPr lang="en-AU" dirty="0"/>
              <a:t>                    Area = 12cm x 5cm</a:t>
            </a:r>
          </a:p>
          <a:p>
            <a:r>
              <a:rPr lang="en-AU" dirty="0"/>
              <a:t>                    Area = 60cm </a:t>
            </a:r>
            <a:r>
              <a:rPr lang="en-AU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0DCA-D72E-4AC0-9E6F-8946BB037BC1}"/>
              </a:ext>
            </a:extLst>
          </p:cNvPr>
          <p:cNvSpPr/>
          <p:nvPr/>
        </p:nvSpPr>
        <p:spPr>
          <a:xfrm>
            <a:off x="4794438" y="2924944"/>
            <a:ext cx="36058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9E5E-DB44-40D0-9BA7-7DF3D4D5A8CF}"/>
              </a:ext>
            </a:extLst>
          </p:cNvPr>
          <p:cNvSpPr txBox="1"/>
          <p:nvPr/>
        </p:nvSpPr>
        <p:spPr>
          <a:xfrm>
            <a:off x="8544272" y="3501008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50mm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3ADC8D65-F2E9-45D8-BACB-F86C503ED6B6}"/>
              </a:ext>
            </a:extLst>
          </p:cNvPr>
          <p:cNvSpPr/>
          <p:nvPr/>
        </p:nvSpPr>
        <p:spPr>
          <a:xfrm rot="8758045">
            <a:off x="8332242" y="3993926"/>
            <a:ext cx="1919360" cy="1954523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348546-7A5C-4F4A-898C-7E855CE3A378}"/>
              </a:ext>
            </a:extLst>
          </p:cNvPr>
          <p:cNvSpPr txBox="1"/>
          <p:nvPr/>
        </p:nvSpPr>
        <p:spPr>
          <a:xfrm>
            <a:off x="8760296" y="4293097"/>
            <a:ext cx="1296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Make sure the units are the same before calculating</a:t>
            </a:r>
          </a:p>
        </p:txBody>
      </p:sp>
    </p:spTree>
    <p:extLst>
      <p:ext uri="{BB962C8B-B14F-4D97-AF65-F5344CB8AC3E}">
        <p14:creationId xmlns:p14="http://schemas.microsoft.com/office/powerpoint/2010/main" val="269301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Shoulder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0E097-9796-4ED1-8A39-273B863E6033}"/>
              </a:ext>
            </a:extLst>
          </p:cNvPr>
          <p:cNvSpPr txBox="1"/>
          <p:nvPr/>
        </p:nvSpPr>
        <p:spPr>
          <a:xfrm>
            <a:off x="2999656" y="1772816"/>
            <a:ext cx="6768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person next to you has all the notes written down.</a:t>
            </a:r>
          </a:p>
          <a:p>
            <a:endParaRPr lang="en-AU" dirty="0"/>
          </a:p>
          <a:p>
            <a:r>
              <a:rPr lang="en-AU" dirty="0"/>
              <a:t>Are they ready to move on?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259CD001-517D-41BA-BE57-3E92332E6C4C}"/>
              </a:ext>
            </a:extLst>
          </p:cNvPr>
          <p:cNvSpPr/>
          <p:nvPr/>
        </p:nvSpPr>
        <p:spPr>
          <a:xfrm>
            <a:off x="3993846" y="3284984"/>
            <a:ext cx="1944216" cy="1944216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59F796A7-5D99-4FDA-9908-4A4DC77E84C3}"/>
              </a:ext>
            </a:extLst>
          </p:cNvPr>
          <p:cNvSpPr/>
          <p:nvPr/>
        </p:nvSpPr>
        <p:spPr>
          <a:xfrm rot="10800000">
            <a:off x="7104112" y="3284984"/>
            <a:ext cx="1944216" cy="1944216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B2661-8AF7-4B17-81F5-4108F427803A}"/>
              </a:ext>
            </a:extLst>
          </p:cNvPr>
          <p:cNvSpPr txBox="1"/>
          <p:nvPr/>
        </p:nvSpPr>
        <p:spPr>
          <a:xfrm>
            <a:off x="5339916" y="2780928"/>
            <a:ext cx="208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Thumbs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36C0A-B350-4A8C-895D-9D1D2A2032B6}"/>
              </a:ext>
            </a:extLst>
          </p:cNvPr>
          <p:cNvSpPr txBox="1"/>
          <p:nvPr/>
        </p:nvSpPr>
        <p:spPr>
          <a:xfrm>
            <a:off x="4583833" y="3933056"/>
            <a:ext cx="7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74645D-CAC9-48C2-BEDF-18DD799B97A8}"/>
              </a:ext>
            </a:extLst>
          </p:cNvPr>
          <p:cNvSpPr txBox="1"/>
          <p:nvPr/>
        </p:nvSpPr>
        <p:spPr>
          <a:xfrm>
            <a:off x="7788187" y="425709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309579-30C1-4546-ACA5-881C10C822B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43514" t="48678" r="27800" b="34874"/>
          <a:stretch/>
        </p:blipFill>
        <p:spPr bwMode="auto">
          <a:xfrm>
            <a:off x="3143672" y="1556792"/>
            <a:ext cx="6048672" cy="25922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E1A319-CB42-48BA-AEA8-BDABC573F8A8}"/>
              </a:ext>
            </a:extLst>
          </p:cNvPr>
          <p:cNvSpPr txBox="1"/>
          <p:nvPr/>
        </p:nvSpPr>
        <p:spPr>
          <a:xfrm>
            <a:off x="2927648" y="4653137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do questions 5, 6, 7 &amp; 8 on both the front and back of the worksheet.</a:t>
            </a:r>
          </a:p>
        </p:txBody>
      </p:sp>
    </p:spTree>
    <p:extLst>
      <p:ext uri="{BB962C8B-B14F-4D97-AF65-F5344CB8AC3E}">
        <p14:creationId xmlns:p14="http://schemas.microsoft.com/office/powerpoint/2010/main" val="2284356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19DB-FD01-466C-99E3-3235E22F1D21}"/>
              </a:ext>
            </a:extLst>
          </p:cNvPr>
          <p:cNvSpPr txBox="1"/>
          <p:nvPr/>
        </p:nvSpPr>
        <p:spPr>
          <a:xfrm>
            <a:off x="4794438" y="2348880"/>
            <a:ext cx="555003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process for calculating the area of a shape is</a:t>
            </a:r>
          </a:p>
          <a:p>
            <a:endParaRPr lang="en-A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Break the shape into regular shapes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Identify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Select the correct formula’s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dimensions of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Make sure the units are the same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Substitute the values into the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area of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Combine the area’s (add or subtract)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Remember to include the units</a:t>
            </a:r>
            <a:r>
              <a:rPr lang="en-AU" baseline="30000" dirty="0"/>
              <a:t>2</a:t>
            </a:r>
            <a:r>
              <a:rPr lang="en-AU" dirty="0"/>
              <a:t> in your answer</a:t>
            </a:r>
          </a:p>
        </p:txBody>
      </p:sp>
    </p:spTree>
    <p:extLst>
      <p:ext uri="{BB962C8B-B14F-4D97-AF65-F5344CB8AC3E}">
        <p14:creationId xmlns:p14="http://schemas.microsoft.com/office/powerpoint/2010/main" val="327015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/>
              <p:nvPr/>
            </p:nvSpPr>
            <p:spPr>
              <a:xfrm>
                <a:off x="4794438" y="2348880"/>
                <a:ext cx="5622043" cy="4464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Calculate the area of the following shape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Break the shape into shapes you know the formula’s for</a:t>
                </a:r>
              </a:p>
              <a:p>
                <a:r>
                  <a:rPr lang="en-AU" dirty="0"/>
                  <a:t>Select the formula’s (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&amp;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Work out dimensions: l=8cm;w=5cm;b=5cm;h=2cm</a:t>
                </a:r>
              </a:p>
              <a:p>
                <a:r>
                  <a:rPr lang="en-AU" dirty="0"/>
                  <a:t>Calculate area’s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=8×5=40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5×2=5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Area = 40 + 5 = 45cm</a:t>
                </a:r>
                <a:r>
                  <a:rPr lang="en-AU" baseline="30000" dirty="0"/>
                  <a:t>2</a:t>
                </a: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438" y="2348880"/>
                <a:ext cx="5622043" cy="4464556"/>
              </a:xfrm>
              <a:prstGeom prst="rect">
                <a:avLst/>
              </a:prstGeom>
              <a:blipFill>
                <a:blip r:embed="rId3"/>
                <a:stretch>
                  <a:fillRect l="-867" t="-682" b="-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8ED6476-2F20-4E12-AA07-234524E6AD86}"/>
              </a:ext>
            </a:extLst>
          </p:cNvPr>
          <p:cNvSpPr/>
          <p:nvPr/>
        </p:nvSpPr>
        <p:spPr>
          <a:xfrm>
            <a:off x="5879976" y="2874914"/>
            <a:ext cx="2304256" cy="936104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B54EA-6FD7-4B49-BF42-AA2DB5B920A9}"/>
              </a:ext>
            </a:extLst>
          </p:cNvPr>
          <p:cNvSpPr txBox="1"/>
          <p:nvPr/>
        </p:nvSpPr>
        <p:spPr>
          <a:xfrm>
            <a:off x="5231904" y="3212977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5CC37-F5B9-4F37-A77C-182B20E4382B}"/>
              </a:ext>
            </a:extLst>
          </p:cNvPr>
          <p:cNvSpPr txBox="1"/>
          <p:nvPr/>
        </p:nvSpPr>
        <p:spPr>
          <a:xfrm>
            <a:off x="6528918" y="3880365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8cm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84D0AA-0BE4-457C-B621-A91D1B696C1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5879976" y="3342966"/>
            <a:ext cx="2304256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8B2FA6-24B2-47AB-A7FB-F45FDBB26F52}"/>
              </a:ext>
            </a:extLst>
          </p:cNvPr>
          <p:cNvCxnSpPr/>
          <p:nvPr/>
        </p:nvCxnSpPr>
        <p:spPr>
          <a:xfrm>
            <a:off x="5953726" y="3887762"/>
            <a:ext cx="17264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167266-BD09-4C6D-9B7F-ABEF2E7D8970}"/>
              </a:ext>
            </a:extLst>
          </p:cNvPr>
          <p:cNvSpPr txBox="1"/>
          <p:nvPr/>
        </p:nvSpPr>
        <p:spPr>
          <a:xfrm>
            <a:off x="6475544" y="3056150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10cm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321ED3-1F34-4FFF-BFF3-900D92C60178}"/>
              </a:ext>
            </a:extLst>
          </p:cNvPr>
          <p:cNvCxnSpPr/>
          <p:nvPr/>
        </p:nvCxnSpPr>
        <p:spPr>
          <a:xfrm>
            <a:off x="7680176" y="2852936"/>
            <a:ext cx="0" cy="95808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536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/>
              <p:nvPr/>
            </p:nvSpPr>
            <p:spPr>
              <a:xfrm>
                <a:off x="4760902" y="2024904"/>
                <a:ext cx="562204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Calculate the area of the following shape (shaded part)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Break the shape into shapes you know the formula’s for</a:t>
                </a:r>
              </a:p>
              <a:p>
                <a:r>
                  <a:rPr lang="en-AU" dirty="0"/>
                  <a:t>Select the formula’s (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>
                        <a:latin typeface="Cambria Math" panose="02040503050406030204" pitchFamily="18" charset="0"/>
                      </a:rPr>
                      <m:t>l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Work out dimensions: l=6cm;w=10cm;&amp;l=2cm;w=5cm</a:t>
                </a:r>
              </a:p>
              <a:p>
                <a:r>
                  <a:rPr lang="en-AU" dirty="0"/>
                  <a:t>Calculate area’s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=6×10=60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=2×5=10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 algn="ctr">
                  <a:lnSpc>
                    <a:spcPct val="150000"/>
                  </a:lnSpc>
                </a:pPr>
                <a:r>
                  <a:rPr lang="en-AU" dirty="0"/>
                  <a:t>Area = 60 - 10 = 50cm</a:t>
                </a:r>
                <a:r>
                  <a:rPr lang="en-AU" baseline="30000" dirty="0"/>
                  <a:t>2</a:t>
                </a: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902" y="2024904"/>
                <a:ext cx="5622043" cy="4524315"/>
              </a:xfrm>
              <a:prstGeom prst="rect">
                <a:avLst/>
              </a:prstGeom>
              <a:blipFill>
                <a:blip r:embed="rId3"/>
                <a:stretch>
                  <a:fillRect l="-976" t="-674" b="-2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B4703C7-7735-4B5F-958E-B7C3EBC64329}"/>
              </a:ext>
            </a:extLst>
          </p:cNvPr>
          <p:cNvSpPr/>
          <p:nvPr/>
        </p:nvSpPr>
        <p:spPr>
          <a:xfrm>
            <a:off x="5542844" y="2461204"/>
            <a:ext cx="2232248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839F1-02A1-479C-98B0-17B4A8F4A2E4}"/>
              </a:ext>
            </a:extLst>
          </p:cNvPr>
          <p:cNvSpPr/>
          <p:nvPr/>
        </p:nvSpPr>
        <p:spPr>
          <a:xfrm>
            <a:off x="5974892" y="2742473"/>
            <a:ext cx="1368152" cy="5760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FBE4B9-0CC6-4F95-B79D-9FFE990C6028}"/>
              </a:ext>
            </a:extLst>
          </p:cNvPr>
          <p:cNvSpPr txBox="1"/>
          <p:nvPr/>
        </p:nvSpPr>
        <p:spPr>
          <a:xfrm>
            <a:off x="4908470" y="2785317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6m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8A6A7D-02E2-49D0-8B01-BD8436945238}"/>
              </a:ext>
            </a:extLst>
          </p:cNvPr>
          <p:cNvSpPr txBox="1"/>
          <p:nvPr/>
        </p:nvSpPr>
        <p:spPr>
          <a:xfrm>
            <a:off x="6370936" y="370233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771375-82DD-42C2-B8FE-EB542CB7394F}"/>
              </a:ext>
            </a:extLst>
          </p:cNvPr>
          <p:cNvSpPr txBox="1"/>
          <p:nvPr/>
        </p:nvSpPr>
        <p:spPr>
          <a:xfrm>
            <a:off x="7283890" y="2919384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A191D-05C3-406F-989D-EC99A71ADF84}"/>
              </a:ext>
            </a:extLst>
          </p:cNvPr>
          <p:cNvSpPr txBox="1"/>
          <p:nvPr/>
        </p:nvSpPr>
        <p:spPr>
          <a:xfrm>
            <a:off x="6370936" y="327271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5m</a:t>
            </a:r>
          </a:p>
        </p:txBody>
      </p:sp>
    </p:spTree>
    <p:extLst>
      <p:ext uri="{BB962C8B-B14F-4D97-AF65-F5344CB8AC3E}">
        <p14:creationId xmlns:p14="http://schemas.microsoft.com/office/powerpoint/2010/main" val="211347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672" y="112474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65FA3-0717-47C6-B4D8-88ADF67B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2636912"/>
            <a:ext cx="8748464" cy="205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0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D48759-583D-4BB3-98CC-1A1EAFE67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7688" y="1124744"/>
            <a:ext cx="568863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Success Criteria </a:t>
            </a:r>
          </a:p>
          <a:p>
            <a:pPr marL="0" indent="0" algn="ctr">
              <a:buNone/>
            </a:pPr>
            <a:r>
              <a:rPr lang="en-AU" dirty="0"/>
              <a:t>- Being able to calculate the area of a variety of shapes.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Jot down 3 points that demonstrate you have meet the “Success Criteria”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767</Words>
  <Application>Microsoft Office PowerPoint</Application>
  <PresentationFormat>Widescreen</PresentationFormat>
  <Paragraphs>224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Cambria Math</vt:lpstr>
      <vt:lpstr>Wingdings</vt:lpstr>
      <vt:lpstr>Retrospect</vt:lpstr>
      <vt:lpstr>PowerPoint Presentation</vt:lpstr>
      <vt:lpstr>Lesson objective</vt:lpstr>
      <vt:lpstr>PowerPoint Presentation</vt:lpstr>
      <vt:lpstr>PowerPoint Presentation</vt:lpstr>
      <vt:lpstr>Match-Up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Activity</vt:lpstr>
      <vt:lpstr>Quick Write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Measurement Interactive Notebook</dc:title>
  <dc:creator>Sarah James</dc:creator>
  <cp:lastModifiedBy>Sarah James</cp:lastModifiedBy>
  <cp:revision>1</cp:revision>
  <dcterms:created xsi:type="dcterms:W3CDTF">2019-03-01T06:15:19Z</dcterms:created>
  <dcterms:modified xsi:type="dcterms:W3CDTF">2019-03-15T05:17:08Z</dcterms:modified>
</cp:coreProperties>
</file>
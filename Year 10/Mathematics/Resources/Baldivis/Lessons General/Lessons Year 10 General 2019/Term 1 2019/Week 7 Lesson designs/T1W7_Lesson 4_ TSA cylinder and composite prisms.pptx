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3"/>
  </p:notesMasterIdLst>
  <p:sldIdLst>
    <p:sldId id="286" r:id="rId2"/>
    <p:sldId id="287" r:id="rId3"/>
    <p:sldId id="259" r:id="rId4"/>
    <p:sldId id="272" r:id="rId5"/>
    <p:sldId id="273" r:id="rId6"/>
    <p:sldId id="260" r:id="rId7"/>
    <p:sldId id="284" r:id="rId8"/>
    <p:sldId id="279" r:id="rId9"/>
    <p:sldId id="280" r:id="rId10"/>
    <p:sldId id="289" r:id="rId11"/>
    <p:sldId id="29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33BAFD-4B27-4296-971C-3B7D7C9B1641}" v="2" dt="2019-03-15T05:19:50.0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B533BAFD-4B27-4296-971C-3B7D7C9B1641}"/>
    <pc:docChg chg="custSel delSld modSld">
      <pc:chgData name="Sarah James" userId="e5e3e68366f0feb3" providerId="LiveId" clId="{B533BAFD-4B27-4296-971C-3B7D7C9B1641}" dt="2019-03-15T05:21:34.509" v="33" actId="20577"/>
      <pc:docMkLst>
        <pc:docMk/>
      </pc:docMkLst>
      <pc:sldChg chg="modSp">
        <pc:chgData name="Sarah James" userId="e5e3e68366f0feb3" providerId="LiveId" clId="{B533BAFD-4B27-4296-971C-3B7D7C9B1641}" dt="2019-03-15T05:20:00.810" v="10" actId="14100"/>
        <pc:sldMkLst>
          <pc:docMk/>
          <pc:sldMk cId="1785210916" sldId="272"/>
        </pc:sldMkLst>
        <pc:spChg chg="mod">
          <ac:chgData name="Sarah James" userId="e5e3e68366f0feb3" providerId="LiveId" clId="{B533BAFD-4B27-4296-971C-3B7D7C9B1641}" dt="2019-03-15T05:20:00.810" v="10" actId="14100"/>
          <ac:spMkLst>
            <pc:docMk/>
            <pc:sldMk cId="1785210916" sldId="272"/>
            <ac:spMk id="2" creationId="{00000000-0000-0000-0000-000000000000}"/>
          </ac:spMkLst>
        </pc:spChg>
        <pc:spChg chg="mod">
          <ac:chgData name="Sarah James" userId="e5e3e68366f0feb3" providerId="LiveId" clId="{B533BAFD-4B27-4296-971C-3B7D7C9B1641}" dt="2019-03-15T05:19:54.303" v="9" actId="27636"/>
          <ac:spMkLst>
            <pc:docMk/>
            <pc:sldMk cId="1785210916" sldId="272"/>
            <ac:spMk id="3" creationId="{00000000-0000-0000-0000-000000000000}"/>
          </ac:spMkLst>
        </pc:spChg>
      </pc:sldChg>
      <pc:sldChg chg="modSp">
        <pc:chgData name="Sarah James" userId="e5e3e68366f0feb3" providerId="LiveId" clId="{B533BAFD-4B27-4296-971C-3B7D7C9B1641}" dt="2019-03-15T05:20:14.499" v="16" actId="14100"/>
        <pc:sldMkLst>
          <pc:docMk/>
          <pc:sldMk cId="3426018378" sldId="273"/>
        </pc:sldMkLst>
        <pc:spChg chg="mod">
          <ac:chgData name="Sarah James" userId="e5e3e68366f0feb3" providerId="LiveId" clId="{B533BAFD-4B27-4296-971C-3B7D7C9B1641}" dt="2019-03-15T05:20:07.443" v="11" actId="14100"/>
          <ac:spMkLst>
            <pc:docMk/>
            <pc:sldMk cId="3426018378" sldId="273"/>
            <ac:spMk id="2" creationId="{00000000-0000-0000-0000-000000000000}"/>
          </ac:spMkLst>
        </pc:spChg>
        <pc:spChg chg="mod">
          <ac:chgData name="Sarah James" userId="e5e3e68366f0feb3" providerId="LiveId" clId="{B533BAFD-4B27-4296-971C-3B7D7C9B1641}" dt="2019-03-15T05:20:14.499" v="16" actId="14100"/>
          <ac:spMkLst>
            <pc:docMk/>
            <pc:sldMk cId="3426018378" sldId="273"/>
            <ac:spMk id="3" creationId="{00000000-0000-0000-0000-000000000000}"/>
          </ac:spMkLst>
        </pc:spChg>
      </pc:sldChg>
      <pc:sldChg chg="modSp">
        <pc:chgData name="Sarah James" userId="e5e3e68366f0feb3" providerId="LiveId" clId="{B533BAFD-4B27-4296-971C-3B7D7C9B1641}" dt="2019-03-15T05:21:34.509" v="33" actId="20577"/>
        <pc:sldMkLst>
          <pc:docMk/>
          <pc:sldMk cId="4178989868" sldId="279"/>
        </pc:sldMkLst>
        <pc:spChg chg="mod">
          <ac:chgData name="Sarah James" userId="e5e3e68366f0feb3" providerId="LiveId" clId="{B533BAFD-4B27-4296-971C-3B7D7C9B1641}" dt="2019-03-15T05:21:34.509" v="33" actId="20577"/>
          <ac:spMkLst>
            <pc:docMk/>
            <pc:sldMk cId="4178989868" sldId="279"/>
            <ac:spMk id="2" creationId="{00000000-0000-0000-0000-000000000000}"/>
          </ac:spMkLst>
        </pc:spChg>
        <pc:spChg chg="mod">
          <ac:chgData name="Sarah James" userId="e5e3e68366f0feb3" providerId="LiveId" clId="{B533BAFD-4B27-4296-971C-3B7D7C9B1641}" dt="2019-03-15T05:21:26.174" v="22" actId="20577"/>
          <ac:spMkLst>
            <pc:docMk/>
            <pc:sldMk cId="4178989868" sldId="279"/>
            <ac:spMk id="3" creationId="{00000000-0000-0000-0000-000000000000}"/>
          </ac:spMkLst>
        </pc:spChg>
      </pc:sldChg>
      <pc:sldChg chg="modSp">
        <pc:chgData name="Sarah James" userId="e5e3e68366f0feb3" providerId="LiveId" clId="{B533BAFD-4B27-4296-971C-3B7D7C9B1641}" dt="2019-03-15T05:19:39.322" v="4" actId="27636"/>
        <pc:sldMkLst>
          <pc:docMk/>
          <pc:sldMk cId="965025783" sldId="287"/>
        </pc:sldMkLst>
        <pc:spChg chg="mod">
          <ac:chgData name="Sarah James" userId="e5e3e68366f0feb3" providerId="LiveId" clId="{B533BAFD-4B27-4296-971C-3B7D7C9B1641}" dt="2019-03-15T05:19:30.270" v="1" actId="255"/>
          <ac:spMkLst>
            <pc:docMk/>
            <pc:sldMk cId="965025783" sldId="287"/>
            <ac:spMk id="12" creationId="{71B8C075-951F-470A-8BEF-6717DE917476}"/>
          </ac:spMkLst>
        </pc:spChg>
        <pc:spChg chg="mod">
          <ac:chgData name="Sarah James" userId="e5e3e68366f0feb3" providerId="LiveId" clId="{B533BAFD-4B27-4296-971C-3B7D7C9B1641}" dt="2019-03-15T05:19:39.322" v="4" actId="27636"/>
          <ac:spMkLst>
            <pc:docMk/>
            <pc:sldMk cId="965025783" sldId="287"/>
            <ac:spMk id="13" creationId="{03C6AC60-0EEB-4482-9041-0A4971612EE3}"/>
          </ac:spMkLst>
        </pc:spChg>
      </pc:sldChg>
      <pc:sldChg chg="del">
        <pc:chgData name="Sarah James" userId="e5e3e68366f0feb3" providerId="LiveId" clId="{B533BAFD-4B27-4296-971C-3B7D7C9B1641}" dt="2019-03-15T05:20:34.725" v="17" actId="2696"/>
        <pc:sldMkLst>
          <pc:docMk/>
          <pc:sldMk cId="633416213" sldId="288"/>
        </pc:sldMkLst>
      </pc:sldChg>
      <pc:sldChg chg="delSp modSp">
        <pc:chgData name="Sarah James" userId="e5e3e68366f0feb3" providerId="LiveId" clId="{B533BAFD-4B27-4296-971C-3B7D7C9B1641}" dt="2019-03-15T05:21:08.882" v="21" actId="478"/>
        <pc:sldMkLst>
          <pc:docMk/>
          <pc:sldMk cId="2628803934" sldId="289"/>
        </pc:sldMkLst>
        <pc:spChg chg="del">
          <ac:chgData name="Sarah James" userId="e5e3e68366f0feb3" providerId="LiveId" clId="{B533BAFD-4B27-4296-971C-3B7D7C9B1641}" dt="2019-03-15T05:21:08.882" v="21" actId="478"/>
          <ac:spMkLst>
            <pc:docMk/>
            <pc:sldMk cId="2628803934" sldId="289"/>
            <ac:spMk id="2" creationId="{00000000-0000-0000-0000-000000000000}"/>
          </ac:spMkLst>
        </pc:spChg>
        <pc:spChg chg="mod">
          <ac:chgData name="Sarah James" userId="e5e3e68366f0feb3" providerId="LiveId" clId="{B533BAFD-4B27-4296-971C-3B7D7C9B1641}" dt="2019-03-15T05:20:57.091" v="19" actId="1076"/>
          <ac:spMkLst>
            <pc:docMk/>
            <pc:sldMk cId="2628803934" sldId="289"/>
            <ac:spMk id="16" creationId="{D503DA88-1642-4A1B-80C3-7BADE45DE0E0}"/>
          </ac:spMkLst>
        </pc:spChg>
        <pc:spChg chg="mod">
          <ac:chgData name="Sarah James" userId="e5e3e68366f0feb3" providerId="LiveId" clId="{B533BAFD-4B27-4296-971C-3B7D7C9B1641}" dt="2019-03-15T05:20:54.597" v="18" actId="1076"/>
          <ac:spMkLst>
            <pc:docMk/>
            <pc:sldMk cId="2628803934" sldId="289"/>
            <ac:spMk id="17" creationId="{1408FA5E-11D8-4FB7-874A-30C39B38DAF5}"/>
          </ac:spMkLst>
        </pc:spChg>
      </pc:sldChg>
      <pc:sldChg chg="delSp">
        <pc:chgData name="Sarah James" userId="e5e3e68366f0feb3" providerId="LiveId" clId="{B533BAFD-4B27-4296-971C-3B7D7C9B1641}" dt="2019-03-15T05:21:04.274" v="20" actId="478"/>
        <pc:sldMkLst>
          <pc:docMk/>
          <pc:sldMk cId="91506370" sldId="290"/>
        </pc:sldMkLst>
        <pc:spChg chg="del">
          <ac:chgData name="Sarah James" userId="e5e3e68366f0feb3" providerId="LiveId" clId="{B533BAFD-4B27-4296-971C-3B7D7C9B1641}" dt="2019-03-15T05:21:04.274" v="20" actId="478"/>
          <ac:spMkLst>
            <pc:docMk/>
            <pc:sldMk cId="91506370" sldId="290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3F506F-EB35-4F39-9FC1-D234FF0C8369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CFAF30-8BA5-4FA8-8C9E-B42DC20E19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7301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95249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1166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42495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91002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5363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7D798-6B76-4144-B060-0BCFA3AE7F03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3AB93-B72B-442F-9D1A-0A2B4E5C98D6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7592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7D798-6B76-4144-B060-0BCFA3AE7F03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3AB93-B72B-442F-9D1A-0A2B4E5C98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1464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7D798-6B76-4144-B060-0BCFA3AE7F03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3AB93-B72B-442F-9D1A-0A2B4E5C98D6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045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7D798-6B76-4144-B060-0BCFA3AE7F03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3AB93-B72B-442F-9D1A-0A2B4E5C98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2141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7D798-6B76-4144-B060-0BCFA3AE7F03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3AB93-B72B-442F-9D1A-0A2B4E5C98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1991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7D798-6B76-4144-B060-0BCFA3AE7F03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3AB93-B72B-442F-9D1A-0A2B4E5C98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9632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7D798-6B76-4144-B060-0BCFA3AE7F03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3AB93-B72B-442F-9D1A-0A2B4E5C98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6616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CC7D798-6B76-4144-B060-0BCFA3AE7F03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6C3AB93-B72B-442F-9D1A-0A2B4E5C98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9417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7D798-6B76-4144-B060-0BCFA3AE7F03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3AB93-B72B-442F-9D1A-0A2B4E5C98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2771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7D798-6B76-4144-B060-0BCFA3AE7F03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3AB93-B72B-442F-9D1A-0A2B4E5C98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6288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7D798-6B76-4144-B060-0BCFA3AE7F03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3AB93-B72B-442F-9D1A-0A2B4E5C98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81878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11361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CC7D798-6B76-4144-B060-0BCFA3AE7F03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6C3AB93-B72B-442F-9D1A-0A2B4E5C98D6}" type="slidenum">
              <a:rPr lang="en-AU" smtClean="0"/>
              <a:t>‹#›</a:t>
            </a:fld>
            <a:endParaRPr lang="en-A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3532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5142" y="1466849"/>
            <a:ext cx="7766936" cy="783761"/>
          </a:xfrm>
        </p:spPr>
        <p:txBody>
          <a:bodyPr/>
          <a:lstStyle/>
          <a:p>
            <a:pPr algn="l"/>
            <a:r>
              <a:rPr lang="en-US" sz="3200" dirty="0"/>
              <a:t>Topic: Total Surface Area</a:t>
            </a:r>
            <a:endParaRPr lang="en-AU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5542" y="2774484"/>
            <a:ext cx="9189508" cy="783762"/>
          </a:xfrm>
        </p:spPr>
        <p:txBody>
          <a:bodyPr>
            <a:normAutofit/>
          </a:bodyPr>
          <a:lstStyle/>
          <a:p>
            <a:pPr algn="l"/>
            <a:r>
              <a:rPr lang="en-AU" sz="2000" dirty="0"/>
              <a:t>EQ: How do you calculate the total surface area of a cylinder and composite prisms?</a:t>
            </a:r>
          </a:p>
          <a:p>
            <a:pPr algn="l"/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20763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97540"/>
            <a:ext cx="8610600" cy="1293028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dirty="0"/>
              <a:t>Students will be able to</a:t>
            </a:r>
          </a:p>
          <a:p>
            <a:r>
              <a:rPr lang="en-AU" sz="2800" dirty="0"/>
              <a:t>- calculate the TSA of a cylinder</a:t>
            </a:r>
          </a:p>
          <a:p>
            <a:endParaRPr lang="en-AU" sz="2800" dirty="0"/>
          </a:p>
          <a:p>
            <a:r>
              <a:rPr lang="en-AU" sz="2800" dirty="0"/>
              <a:t>- define a composite solid</a:t>
            </a:r>
          </a:p>
          <a:p>
            <a:endParaRPr lang="en-AU" sz="2800" dirty="0"/>
          </a:p>
          <a:p>
            <a:r>
              <a:rPr lang="en-US" sz="2800" dirty="0"/>
              <a:t>determine the surface areas of composite solids by considering the individual solids from which they are constructed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6" y="404664"/>
            <a:ext cx="281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Total Surface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How do I calculate the surface area of cylinders and composite prisms?</a:t>
            </a:r>
          </a:p>
        </p:txBody>
      </p:sp>
      <p:sp>
        <p:nvSpPr>
          <p:cNvPr id="5" name="AutoShape 2" descr="angle of elevation">
            <a:extLst>
              <a:ext uri="{FF2B5EF4-FFF2-40B4-BE49-F238E27FC236}">
                <a16:creationId xmlns:a16="http://schemas.microsoft.com/office/drawing/2014/main" id="{6930FAF4-87A9-4F3A-B1C2-7171BDC12F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E30D8A-4EA7-469E-8A46-0A25827750FD}"/>
              </a:ext>
            </a:extLst>
          </p:cNvPr>
          <p:cNvSpPr txBox="1"/>
          <p:nvPr/>
        </p:nvSpPr>
        <p:spPr>
          <a:xfrm>
            <a:off x="1812270" y="2487957"/>
            <a:ext cx="24835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surface area of a shape?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D2DC93-619B-415D-8BEF-534F7B6F19CA}"/>
              </a:ext>
            </a:extLst>
          </p:cNvPr>
          <p:cNvSpPr/>
          <p:nvPr/>
        </p:nvSpPr>
        <p:spPr>
          <a:xfrm>
            <a:off x="4960776" y="2330368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600" dirty="0"/>
              <a:t>Review: The surface area of a shape is how much space is visible on the outside (if you dunked the shape into a pot of paint, it’s the area that would become coloured).</a:t>
            </a:r>
          </a:p>
        </p:txBody>
      </p:sp>
      <p:pic>
        <p:nvPicPr>
          <p:cNvPr id="15" name="Picture 2" descr="http://images.clipartpanda.com/paint-bucket-clip-art-black-and-white-7caKx6edi.png">
            <a:extLst>
              <a:ext uri="{FF2B5EF4-FFF2-40B4-BE49-F238E27FC236}">
                <a16:creationId xmlns:a16="http://schemas.microsoft.com/office/drawing/2014/main" id="{7D5F7CE1-EB71-4C67-98BA-058819729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346" y="3103133"/>
            <a:ext cx="3190767" cy="3190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0BECED14-309F-40DC-8602-7BC3CF1CFCF7}"/>
              </a:ext>
            </a:extLst>
          </p:cNvPr>
          <p:cNvSpPr/>
          <p:nvPr/>
        </p:nvSpPr>
        <p:spPr>
          <a:xfrm>
            <a:off x="10379729" y="4063277"/>
            <a:ext cx="1080120" cy="108012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mph" presetSubtype="2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48DD4"/>
                                      </p:to>
                                    </p:animClr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64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864 -2.59259E-6 L -0.07864 -0.25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6" grpId="2" animBg="1"/>
      <p:bldP spid="16" grpId="3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520" y="286603"/>
            <a:ext cx="9916160" cy="790357"/>
          </a:xfrm>
        </p:spPr>
        <p:txBody>
          <a:bodyPr/>
          <a:lstStyle/>
          <a:p>
            <a:r>
              <a:rPr lang="en-GB" dirty="0"/>
              <a:t>Surface Area - Cylinder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09384" y="2074707"/>
            <a:ext cx="3464296" cy="411273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Now we know that a cylinder’s net is made up of two circles and a rectangle, but what are the dimensions?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 height of the rectangle is the height of the original cylinder, but what about the width?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For the width, we need to know the circumference of the circular ends.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Rectangle 3"/>
          <p:cNvSpPr/>
          <p:nvPr/>
        </p:nvSpPr>
        <p:spPr>
          <a:xfrm>
            <a:off x="2135560" y="2708920"/>
            <a:ext cx="3995936" cy="2304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/>
          <p:cNvSpPr/>
          <p:nvPr/>
        </p:nvSpPr>
        <p:spPr>
          <a:xfrm>
            <a:off x="3413448" y="1268760"/>
            <a:ext cx="1440160" cy="1440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3413448" y="5013176"/>
            <a:ext cx="1440160" cy="1440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21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1920" y="286603"/>
            <a:ext cx="9763760" cy="830997"/>
          </a:xfrm>
        </p:spPr>
        <p:txBody>
          <a:bodyPr/>
          <a:lstStyle/>
          <a:p>
            <a:r>
              <a:rPr lang="en-GB" dirty="0"/>
              <a:t>Surface Area - Cylinder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338394" y="2438399"/>
                <a:ext cx="4254166" cy="217424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Using this knowledge, our surface area formula for a cylinder is</a:t>
                </a:r>
              </a:p>
              <a:p>
                <a:pPr marL="0" indent="0">
                  <a:buNone/>
                </a:pPr>
                <a:endParaRPr lang="en-GB" sz="24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/>
                        </a:rPr>
                        <m:t>2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𝑟h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+2</m:t>
                      </m:r>
                      <m:r>
                        <a:rPr lang="en-GB" sz="2400" i="1">
                          <a:latin typeface="Cambria Math"/>
                          <a:ea typeface="Cambria Math"/>
                        </a:rPr>
                        <m:t>𝜋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/>
                              <a:ea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GB" sz="2400" i="1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38394" y="2438399"/>
                <a:ext cx="4254166" cy="2174241"/>
              </a:xfrm>
              <a:blipFill>
                <a:blip r:embed="rId2"/>
                <a:stretch>
                  <a:fillRect l="-4441" t="-3922" r="-372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2135560" y="2708920"/>
            <a:ext cx="3995936" cy="2304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/>
          <p:cNvSpPr/>
          <p:nvPr/>
        </p:nvSpPr>
        <p:spPr>
          <a:xfrm>
            <a:off x="3413448" y="1268760"/>
            <a:ext cx="1440160" cy="1440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3413448" y="5013176"/>
            <a:ext cx="1440160" cy="1440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018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91787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How do I calculate the surface area of cylinders and composite prisms?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F71EAD-7F4E-4EBE-B904-59755A76DF16}"/>
              </a:ext>
            </a:extLst>
          </p:cNvPr>
          <p:cNvSpPr txBox="1"/>
          <p:nvPr/>
        </p:nvSpPr>
        <p:spPr>
          <a:xfrm>
            <a:off x="1775520" y="2420889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surface area of a cylinder?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B77233-FF12-4F8B-B61D-224370B8E3D8}"/>
              </a:ext>
            </a:extLst>
          </p:cNvPr>
          <p:cNvSpPr txBox="1"/>
          <p:nvPr/>
        </p:nvSpPr>
        <p:spPr>
          <a:xfrm>
            <a:off x="2639616" y="404664"/>
            <a:ext cx="20276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Surface Area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1408FA5E-11D8-4FB7-874A-30C39B38DAF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41701" y="2284774"/>
                <a:ext cx="3393347" cy="383596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Calculate the surface area of a cylinder with radius 3cm and height 5cm.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Formula =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/>
                      </a:rPr>
                      <m:t>2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𝑟h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+2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/>
                            <a:ea typeface="Cambria Math"/>
                          </a:rPr>
                          <m:t>𝑟</m:t>
                        </m:r>
                      </m:e>
                      <m:sup>
                        <m:r>
                          <a:rPr lang="en-GB" sz="2000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Substitute in our values</a:t>
                </a:r>
              </a:p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000" dirty="0"/>
                  <a:t>Surface area </a:t>
                </a:r>
                <a14:m>
                  <m:oMath xmlns:m="http://schemas.openxmlformats.org/officeDocument/2006/math">
                    <m:r>
                      <a:rPr lang="en-GB" sz="2000">
                        <a:latin typeface="Cambria Math"/>
                      </a:rPr>
                      <m:t>=</m:t>
                    </m:r>
                    <m:r>
                      <a:rPr lang="en-GB" sz="2000" i="1">
                        <a:latin typeface="Cambria Math"/>
                      </a:rPr>
                      <m:t>2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×3×5+2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  <m:sup>
                        <m:r>
                          <a:rPr lang="en-GB" sz="2000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GB" sz="2000" dirty="0">
                    <a:ea typeface="Cambria Math"/>
                  </a:rPr>
                </a:br>
                <a:r>
                  <a:rPr lang="en-GB" sz="2000" dirty="0">
                    <a:ea typeface="Cambria Math"/>
                  </a:rPr>
                  <a:t>     	          </a:t>
                </a:r>
                <a14:m>
                  <m:oMath xmlns:m="http://schemas.openxmlformats.org/officeDocument/2006/math">
                    <m:r>
                      <a:rPr lang="en-GB" sz="2000">
                        <a:latin typeface="Cambria Math"/>
                        <a:ea typeface="Cambria Math"/>
                      </a:rPr>
                      <m:t>=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30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+18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br>
                  <a:rPr lang="en-GB" sz="2000" dirty="0">
                    <a:ea typeface="Cambria Math"/>
                  </a:rPr>
                </a:br>
                <a:r>
                  <a:rPr lang="en-GB" sz="2000" dirty="0">
                    <a:ea typeface="Cambria Math"/>
                  </a:rPr>
                  <a:t>  	          </a:t>
                </a:r>
                <a14:m>
                  <m:oMath xmlns:m="http://schemas.openxmlformats.org/officeDocument/2006/math">
                    <m:r>
                      <a:rPr lang="en-GB" sz="2000">
                        <a:latin typeface="Cambria Math"/>
                        <a:ea typeface="Cambria Math"/>
                      </a:rPr>
                      <m:t>=48</m:t>
                    </m:r>
                    <m:r>
                      <a:rPr lang="en-GB" sz="2000" i="1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GB" sz="2000" dirty="0"/>
                  <a:t>cm</a:t>
                </a:r>
                <a:r>
                  <a:rPr lang="en-GB" sz="2000" baseline="30000" dirty="0"/>
                  <a:t>2</a:t>
                </a:r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1408FA5E-11D8-4FB7-874A-30C39B38DA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1701" y="2284774"/>
                <a:ext cx="3393347" cy="3835964"/>
              </a:xfrm>
              <a:prstGeom prst="rect">
                <a:avLst/>
              </a:prstGeom>
              <a:blipFill>
                <a:blip r:embed="rId3"/>
                <a:stretch>
                  <a:fillRect l="-1795" t="-1749" r="-898" b="-1097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Flowchart: Magnetic Disk 17">
            <a:extLst>
              <a:ext uri="{FF2B5EF4-FFF2-40B4-BE49-F238E27FC236}">
                <a16:creationId xmlns:a16="http://schemas.microsoft.com/office/drawing/2014/main" id="{D2E54B92-887D-4FFB-B615-279FADC48763}"/>
              </a:ext>
            </a:extLst>
          </p:cNvPr>
          <p:cNvSpPr/>
          <p:nvPr/>
        </p:nvSpPr>
        <p:spPr>
          <a:xfrm>
            <a:off x="4775237" y="2327378"/>
            <a:ext cx="1721900" cy="4291475"/>
          </a:xfrm>
          <a:prstGeom prst="flowChartMagneticDisk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021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547E12-2DA2-4B61-9160-0F5EA9722FF5}"/>
              </a:ext>
            </a:extLst>
          </p:cNvPr>
          <p:cNvPicPr/>
          <p:nvPr/>
        </p:nvPicPr>
        <p:blipFill rotWithShape="1">
          <a:blip r:embed="rId2"/>
          <a:srcRect l="29913" t="15157" r="31955" b="52136"/>
          <a:stretch/>
        </p:blipFill>
        <p:spPr bwMode="auto">
          <a:xfrm>
            <a:off x="1890091" y="1001158"/>
            <a:ext cx="8353839" cy="490931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23742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Your </a:t>
            </a:r>
            <a:r>
              <a:rPr lang="en-GB"/>
              <a:t>Turn- EXIT PASS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Grab your white boards or blank pieces of papers and keep your formulae prepared in front of you.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Calculate the surface area for the upcoming shape (keep </a:t>
            </a:r>
            <a:r>
              <a:rPr lang="el-GR" dirty="0"/>
              <a:t>π</a:t>
            </a:r>
            <a:r>
              <a:rPr lang="en-GB" dirty="0"/>
              <a:t> as </a:t>
            </a:r>
            <a:r>
              <a:rPr lang="el-GR" dirty="0"/>
              <a:t>π</a:t>
            </a:r>
            <a:r>
              <a:rPr lang="en-GB" dirty="0"/>
              <a:t> in your answers).</a:t>
            </a:r>
          </a:p>
        </p:txBody>
      </p:sp>
    </p:spTree>
    <p:extLst>
      <p:ext uri="{BB962C8B-B14F-4D97-AF65-F5344CB8AC3E}">
        <p14:creationId xmlns:p14="http://schemas.microsoft.com/office/powerpoint/2010/main" val="4178989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951984" y="1600201"/>
                <a:ext cx="4258816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Calculate the surface area of a cylinder with radius 3cm and height 9cm.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b="1" u="sng" dirty="0"/>
                  <a:t>Answer: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Formula </a:t>
                </a:r>
                <a14:m>
                  <m:oMath xmlns:m="http://schemas.openxmlformats.org/officeDocument/2006/math">
                    <m:r>
                      <a:rPr lang="en-GB" sz="2400">
                        <a:latin typeface="Cambria Math"/>
                      </a:rPr>
                      <m:t>=</m:t>
                    </m:r>
                    <m:r>
                      <a:rPr lang="en-GB" sz="2400" i="1">
                        <a:latin typeface="Cambria Math"/>
                      </a:rPr>
                      <m:t>2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𝑟h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+2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/>
                            <a:ea typeface="Cambria Math"/>
                          </a:rPr>
                          <m:t>𝑟</m:t>
                        </m:r>
                      </m:e>
                      <m:sup>
                        <m:r>
                          <a:rPr lang="en-GB" sz="2400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GB" sz="2400" dirty="0">
                  <a:ea typeface="Cambria Math"/>
                </a:endParaRP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sz="2400" i="1">
                        <a:latin typeface="Cambria Math"/>
                      </a:rPr>
                      <m:t>54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+18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=72</m:t>
                    </m:r>
                    <m:r>
                      <a:rPr lang="en-GB" sz="2400" i="1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GB" sz="2400" dirty="0"/>
                  <a:t>cm</a:t>
                </a:r>
                <a:r>
                  <a:rPr lang="en-GB" sz="2400" baseline="30000" dirty="0"/>
                  <a:t>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51984" y="1600201"/>
                <a:ext cx="4258816" cy="4525963"/>
              </a:xfrm>
              <a:blipFill>
                <a:blip r:embed="rId2"/>
                <a:stretch>
                  <a:fillRect l="-2146" t="-18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lowchart: Magnetic Disk 3"/>
          <p:cNvSpPr/>
          <p:nvPr/>
        </p:nvSpPr>
        <p:spPr>
          <a:xfrm>
            <a:off x="2351584" y="1546951"/>
            <a:ext cx="2232248" cy="4608512"/>
          </a:xfrm>
          <a:prstGeom prst="flowChartMagneticDisk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540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91787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How do I calculate the surface area of cylinders and composite prisms?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F71EAD-7F4E-4EBE-B904-59755A76DF16}"/>
              </a:ext>
            </a:extLst>
          </p:cNvPr>
          <p:cNvSpPr txBox="1"/>
          <p:nvPr/>
        </p:nvSpPr>
        <p:spPr>
          <a:xfrm>
            <a:off x="1627249" y="3849639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find the surface area of composite solids?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B77233-FF12-4F8B-B61D-224370B8E3D8}"/>
              </a:ext>
            </a:extLst>
          </p:cNvPr>
          <p:cNvSpPr txBox="1"/>
          <p:nvPr/>
        </p:nvSpPr>
        <p:spPr>
          <a:xfrm>
            <a:off x="2639616" y="404664"/>
            <a:ext cx="20276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Surface Area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408FA5E-11D8-4FB7-874A-30C39B38DAF5}"/>
              </a:ext>
            </a:extLst>
          </p:cNvPr>
          <p:cNvSpPr txBox="1">
            <a:spLocks/>
          </p:cNvSpPr>
          <p:nvPr/>
        </p:nvSpPr>
        <p:spPr>
          <a:xfrm>
            <a:off x="4861106" y="3547674"/>
            <a:ext cx="2743541" cy="278698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Hints: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GB" sz="1600" dirty="0">
                <a:ea typeface="Cambria Math"/>
              </a:rPr>
              <a:t>Draw diagram and add in measurements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GB" sz="1600" dirty="0">
                <a:ea typeface="Cambria Math"/>
              </a:rPr>
              <a:t>Name/Label the faces on your diagram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GB" sz="1600" dirty="0">
                <a:ea typeface="Cambria Math"/>
              </a:rPr>
              <a:t>Identify the faces in your working. This will keep you and the assessor of your work from getting lost</a:t>
            </a:r>
            <a:br>
              <a:rPr lang="en-GB" sz="1600" dirty="0">
                <a:ea typeface="Cambria Math"/>
              </a:rPr>
            </a:br>
            <a:r>
              <a:rPr lang="en-GB" sz="1600" dirty="0">
                <a:ea typeface="Cambria Math"/>
              </a:rPr>
              <a:t>  	</a:t>
            </a:r>
            <a:endParaRPr lang="en-GB" sz="1600" baseline="30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745F83-8846-4FD7-A1E3-CD596FC0CAD3}"/>
              </a:ext>
            </a:extLst>
          </p:cNvPr>
          <p:cNvSpPr txBox="1"/>
          <p:nvPr/>
        </p:nvSpPr>
        <p:spPr>
          <a:xfrm>
            <a:off x="1700742" y="2099172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are composite solids?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503DA88-1642-4A1B-80C3-7BADE45DE0E0}"/>
              </a:ext>
            </a:extLst>
          </p:cNvPr>
          <p:cNvSpPr txBox="1">
            <a:spLocks/>
          </p:cNvSpPr>
          <p:nvPr/>
        </p:nvSpPr>
        <p:spPr>
          <a:xfrm>
            <a:off x="8147640" y="3710840"/>
            <a:ext cx="3820838" cy="278698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Steps: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GB" sz="1600" dirty="0">
                <a:ea typeface="Cambria Math"/>
              </a:rPr>
              <a:t>Identify the individual solids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GB" sz="1600" dirty="0">
                <a:ea typeface="Cambria Math"/>
              </a:rPr>
              <a:t>Find the surface area of each solid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GB" sz="1600" dirty="0">
                <a:ea typeface="Cambria Math"/>
              </a:rPr>
              <a:t>Add surface areas to find the TSA of the composite solid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GB" sz="1600" dirty="0">
                <a:ea typeface="Cambria Math"/>
              </a:rPr>
              <a:t>Subtract non-surface areas form total</a:t>
            </a:r>
            <a:br>
              <a:rPr lang="en-GB" sz="1600" dirty="0">
                <a:ea typeface="Cambria Math"/>
              </a:rPr>
            </a:br>
            <a:r>
              <a:rPr lang="en-GB" sz="1600" dirty="0">
                <a:ea typeface="Cambria Math"/>
              </a:rPr>
              <a:t>  	</a:t>
            </a:r>
            <a:endParaRPr lang="en-GB" sz="1600" baseline="30000" dirty="0"/>
          </a:p>
        </p:txBody>
      </p:sp>
    </p:spTree>
    <p:extLst>
      <p:ext uri="{BB962C8B-B14F-4D97-AF65-F5344CB8AC3E}">
        <p14:creationId xmlns:p14="http://schemas.microsoft.com/office/powerpoint/2010/main" val="262880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  <p:bldP spid="1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25845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91787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How do I calculate the surface area of cylinders and composite prisms?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B77233-FF12-4F8B-B61D-224370B8E3D8}"/>
              </a:ext>
            </a:extLst>
          </p:cNvPr>
          <p:cNvSpPr txBox="1"/>
          <p:nvPr/>
        </p:nvSpPr>
        <p:spPr>
          <a:xfrm>
            <a:off x="2639616" y="404664"/>
            <a:ext cx="20276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Surface Area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DF38E8-06DB-450B-9CB6-F52078137AB6}"/>
              </a:ext>
            </a:extLst>
          </p:cNvPr>
          <p:cNvSpPr txBox="1"/>
          <p:nvPr/>
        </p:nvSpPr>
        <p:spPr>
          <a:xfrm>
            <a:off x="233680" y="2204720"/>
            <a:ext cx="1493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 column notes now</a:t>
            </a:r>
            <a:endParaRPr lang="en-A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137AD5-0B0C-45CE-9E3D-40B41E6786CD}"/>
              </a:ext>
            </a:extLst>
          </p:cNvPr>
          <p:cNvSpPr txBox="1"/>
          <p:nvPr/>
        </p:nvSpPr>
        <p:spPr>
          <a:xfrm>
            <a:off x="68071" y="3503620"/>
            <a:ext cx="1493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Surface area worksheet Q1-3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150637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62</TotalTime>
  <Words>498</Words>
  <Application>Microsoft Office PowerPoint</Application>
  <PresentationFormat>Widescreen</PresentationFormat>
  <Paragraphs>91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Retrospect</vt:lpstr>
      <vt:lpstr>Topic: Total Surface Area</vt:lpstr>
      <vt:lpstr>Learning Intentions</vt:lpstr>
      <vt:lpstr>PowerPoint Presentation</vt:lpstr>
      <vt:lpstr>Surface Area - Cylinder</vt:lpstr>
      <vt:lpstr>Surface Area - Cylinder</vt:lpstr>
      <vt:lpstr>PowerPoint Presentation</vt:lpstr>
      <vt:lpstr>PowerPoint Presentation</vt:lpstr>
      <vt:lpstr>Your Turn- EXIT PASS</vt:lpstr>
      <vt:lpstr>Question 1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James</dc:creator>
  <cp:lastModifiedBy>Sarah James</cp:lastModifiedBy>
  <cp:revision>5</cp:revision>
  <dcterms:created xsi:type="dcterms:W3CDTF">2019-03-15T04:18:49Z</dcterms:created>
  <dcterms:modified xsi:type="dcterms:W3CDTF">2019-03-15T05:21:35Z</dcterms:modified>
</cp:coreProperties>
</file>
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55" r:id="rId2"/>
    <p:sldId id="273" r:id="rId3"/>
    <p:sldId id="347" r:id="rId4"/>
    <p:sldId id="351" r:id="rId5"/>
    <p:sldId id="356" r:id="rId6"/>
    <p:sldId id="35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9409" autoAdjust="0"/>
  </p:normalViewPr>
  <p:slideViewPr>
    <p:cSldViewPr snapToGrid="0">
      <p:cViewPr varScale="1">
        <p:scale>
          <a:sx n="40" d="100"/>
          <a:sy n="40" d="100"/>
        </p:scale>
        <p:origin x="16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0ED40-2C0C-4CE3-BFCF-5D51EB5A99E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30CEA-CAFF-4935-81BC-EC0F23403D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127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sz="1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Draw  and label triangle</a:t>
            </a:r>
          </a:p>
          <a:p>
            <a:pPr eaLnBrk="1" hangingPunct="1">
              <a:buFont typeface="Wingdings" charset="0"/>
              <a:buChar char="§"/>
              <a:defRPr/>
            </a:pPr>
            <a:endParaRPr lang="en-US" sz="12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buFont typeface="Wingdings" charset="0"/>
              <a:buChar char="§"/>
              <a:defRPr/>
            </a:pPr>
            <a:endParaRPr lang="en-US" sz="12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buFont typeface="Wingdings" charset="0"/>
              <a:buChar char="§"/>
              <a:defRPr/>
            </a:pPr>
            <a:r>
              <a:rPr lang="en-US" sz="12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Check to see whether the answer should be rounded or not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2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8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2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C313-C31E-4BE2-AF3D-E19F9D97B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046B6-A474-4557-87C9-48B3E8E20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69BCA-9975-43A3-B36D-3799C6F2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8C15-A2FF-41E6-9CCD-74EB24FB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EBCC0-A543-4264-89C3-7FC07708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54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4051-EC2D-40D5-8C72-91E53818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C1EBA-12CA-4427-8AF5-8AA228CEE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B1AF-17A5-4488-954E-421EE106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F0ECE-68B5-4F36-83DC-83E64097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003F-E2FF-4CA0-9EDA-62816839C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820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9865-FE4C-4ED8-930D-5D5D4063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EF42A-A323-4647-B533-08C902ACE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9BC5C-681F-4155-A104-A5D000E6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76D2E-3146-4664-AEC0-72BACF65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0A9CF-49EE-48DD-B963-C66BCD63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372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B483-B36A-4808-BA74-E0DC807B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BDEC-6E28-4BA1-9047-731F98638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196AA-831A-45C3-A88C-6EED6DCCA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BB9FE-0944-4BA3-9D8A-120F0655E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BCC30-C4A7-4D1A-8744-2754B3EB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8822C-E1D3-45F6-84B3-C6CAA042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75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89CE-2ECC-47DC-AA82-04148D00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8BBF1-209C-4B24-808C-3D1D5459C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42A40-C5AF-4CE0-9CAD-ED4CE3C32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95D69-D7BA-405C-A2D1-29C44E611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B7A27-600B-408A-B5BD-5235B7AB5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716D1-AA2D-40F4-B226-0942B74C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115A68-05AD-4161-936A-7DCE11CB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E662F-A0DC-4D30-920F-512CB7D7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694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584-BC8E-4C33-BA5B-48843E3B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7F62C-225E-4914-84E7-0DCA7417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06AF8-E5DB-4C3B-A847-E3F462B1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A44F7-9379-4BD4-8208-3A6F2A27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353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8528A-A437-46C1-A6B0-FD29A231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332D7-213E-416E-8CB9-E0CA738F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B3D44-4E7E-4CE2-AAE3-C2F227F6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47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1A1-EDBF-48F9-9DC8-0D148327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FBD1-192F-4215-BE85-51F489282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B54A3-FDD4-4C18-BC19-B14887EA8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093F0-5D96-4F25-A0B8-DC00F42D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F0B55-9A21-467B-A03C-1340A1CD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20B1C-A9C4-4B48-9CB6-7302A6CF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490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BB59-5708-4D6C-900D-F42F8475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AAA4C-747F-4F90-AC78-C0028F1AA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FCD39-85B7-4421-8C7C-D8A308201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B4013-6B8E-417B-988C-3412A0DF7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C4A55-A3CB-43A1-AB36-6466A691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2067A-F406-46BD-B03E-905D5FF5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5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5FCD-E195-4172-AD5C-F04691FB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5925A-BA35-4FBF-A682-50179122F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C638E-0482-46FD-B3AA-4F90D2F4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349F7-21CD-4DDB-8385-A1B87ECC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8AA50-2D92-496B-B084-4ABFDE5E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46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1766EE-EB8F-417A-A0CA-D55D4C1D0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71ADE-ABA3-443E-ABD5-BDFEBB006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75ABD-D275-48C1-89D5-3F64EC3DD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2F063-6FA3-4891-94E9-637989AD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9F175-E7A1-4818-8F70-2B6E58E5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768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345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0BE47-4399-4888-9269-972E29E3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461A8-F9DD-4D4E-B9E7-EAA0083E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41A77-8296-488C-97CF-BD1A23EB3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FE0C8-431D-4C79-9E68-8895257F9E3A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D9FB2-6E22-4C96-9BD5-FCDA0DBCA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2240C-0331-4520-9EEF-982529FA6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17254-84E5-49DA-92F5-67B9378165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0621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Pythagoras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use Pythagoras’ theory in real life?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950" y="318770"/>
            <a:ext cx="7955280" cy="814181"/>
          </a:xfrm>
        </p:spPr>
        <p:txBody>
          <a:bodyPr>
            <a:normAutofit fontScale="90000"/>
          </a:bodyPr>
          <a:lstStyle/>
          <a:p>
            <a:pPr algn="l"/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6600" b="1" dirty="0">
                <a:latin typeface="DJB Fancy Nancy" panose="02000500000000000000" pitchFamily="2" charset="0"/>
              </a:rPr>
              <a:t>Topic: Pythagoras</a:t>
            </a:r>
            <a:endParaRPr lang="en-US" sz="6600" b="1" cap="none" dirty="0"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525" y="1132951"/>
            <a:ext cx="9446339" cy="814181"/>
          </a:xfrm>
        </p:spPr>
        <p:txBody>
          <a:bodyPr>
            <a:normAutofit/>
          </a:bodyPr>
          <a:lstStyle/>
          <a:p>
            <a:pPr algn="l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use Pythagoras’ theory in real life?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43F1D-7EDD-4060-83B4-EEEF719B8A81}"/>
              </a:ext>
            </a:extLst>
          </p:cNvPr>
          <p:cNvSpPr txBox="1"/>
          <p:nvPr/>
        </p:nvSpPr>
        <p:spPr>
          <a:xfrm>
            <a:off x="1390650" y="2314575"/>
            <a:ext cx="7210425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GET YOUR VIVOS</a:t>
            </a:r>
          </a:p>
          <a:p>
            <a:pPr marL="285750" indent="-285750">
              <a:buFontTx/>
              <a:buChar char="-"/>
            </a:pPr>
            <a:r>
              <a:rPr lang="en-US" dirty="0"/>
              <a:t>Arrive on time and begin working within 10 mins of the start of lesson AND NO PHONES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Work:</a:t>
            </a:r>
          </a:p>
          <a:p>
            <a:pPr marL="342900" indent="-342900" fontAlgn="ctr">
              <a:buAutoNum type="arabicPeriod"/>
            </a:pPr>
            <a:r>
              <a:rPr lang="en-US" dirty="0"/>
              <a:t>Summary from last lesson </a:t>
            </a:r>
          </a:p>
          <a:p>
            <a:pPr marL="342900" indent="-342900" fontAlgn="ctr">
              <a:buAutoNum type="arabicPeriod"/>
            </a:pPr>
            <a:r>
              <a:rPr lang="en-US" dirty="0"/>
              <a:t>Predict and discuss:</a:t>
            </a:r>
          </a:p>
          <a:p>
            <a:pPr marL="285750" indent="-285750">
              <a:lnSpc>
                <a:spcPct val="90000"/>
              </a:lnSpc>
              <a:buFontTx/>
              <a:buChar char="-"/>
              <a:defRPr/>
            </a:pPr>
            <a:r>
              <a:rPr lang="en-US" dirty="0"/>
              <a:t>What should be done first when solving a word problem involving the Pythagorean Theorem?</a:t>
            </a:r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- What must be done before writing the answer to a Pythagorean Theorem problem?</a:t>
            </a:r>
          </a:p>
          <a:p>
            <a:pPr marL="342900" indent="-342900" fontAlgn="ctr">
              <a:buAutoNum type="arabicPeriod"/>
            </a:pPr>
            <a:endParaRPr lang="en-AU" dirty="0"/>
          </a:p>
          <a:p>
            <a:pPr fontAlgn="ctr"/>
            <a:endParaRPr lang="en-AU" dirty="0"/>
          </a:p>
          <a:p>
            <a:pPr marL="342900" indent="-342900" fontAlgn="ctr">
              <a:buAutoNum type="arabicPeriod"/>
            </a:pPr>
            <a:endParaRPr lang="en-AU" b="1" dirty="0"/>
          </a:p>
          <a:p>
            <a:pPr fontAlgn="ctr"/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8"/>
            <a:ext cx="6113641" cy="911318"/>
          </a:xfrm>
        </p:spPr>
        <p:txBody>
          <a:bodyPr>
            <a:normAutofit fontScale="90000"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334784" y="1051884"/>
            <a:ext cx="11057116" cy="1405566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 fontScale="25000" lnSpcReduction="2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96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9600" dirty="0">
                <a:latin typeface="Kiwi School Handwriting" panose="00000500000000000000" pitchFamily="2" charset="0"/>
              </a:rPr>
              <a:t>- draw a diagram and apply Pythagoras’ theory to solve a worded real life problem</a:t>
            </a:r>
          </a:p>
          <a:p>
            <a:pPr marL="571500" indent="-571500">
              <a:buFontTx/>
              <a:buChar char="-"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571500" indent="-571500">
              <a:buFontTx/>
              <a:buChar char="-"/>
            </a:pPr>
            <a:endParaRPr lang="en-AU" dirty="0"/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84D984-CD7B-4838-AFAB-E7AB4961EAFE}"/>
              </a:ext>
            </a:extLst>
          </p:cNvPr>
          <p:cNvGraphicFramePr>
            <a:graphicFrameLocks noGrp="1"/>
          </p:cNvGraphicFramePr>
          <p:nvPr/>
        </p:nvGraphicFramePr>
        <p:xfrm>
          <a:off x="3545206" y="2387418"/>
          <a:ext cx="4836794" cy="43513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3788">
                  <a:extLst>
                    <a:ext uri="{9D8B030D-6E8A-4147-A177-3AD203B41FA5}">
                      <a16:colId xmlns:a16="http://schemas.microsoft.com/office/drawing/2014/main" val="2903742706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3645413104"/>
                    </a:ext>
                  </a:extLst>
                </a:gridCol>
                <a:gridCol w="1016070">
                  <a:extLst>
                    <a:ext uri="{9D8B030D-6E8A-4147-A177-3AD203B41FA5}">
                      <a16:colId xmlns:a16="http://schemas.microsoft.com/office/drawing/2014/main" val="1991819720"/>
                    </a:ext>
                  </a:extLst>
                </a:gridCol>
                <a:gridCol w="1001586">
                  <a:extLst>
                    <a:ext uri="{9D8B030D-6E8A-4147-A177-3AD203B41FA5}">
                      <a16:colId xmlns:a16="http://schemas.microsoft.com/office/drawing/2014/main" val="2686779554"/>
                    </a:ext>
                  </a:extLst>
                </a:gridCol>
                <a:gridCol w="1011778">
                  <a:extLst>
                    <a:ext uri="{9D8B030D-6E8A-4147-A177-3AD203B41FA5}">
                      <a16:colId xmlns:a16="http://schemas.microsoft.com/office/drawing/2014/main" val="2930162029"/>
                    </a:ext>
                  </a:extLst>
                </a:gridCol>
              </a:tblGrid>
              <a:tr h="1766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</a:rPr>
                        <a:t>Goal-setting for Year 10 Pythagoras and Trigonometry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272186"/>
                  </a:ext>
                </a:extLst>
              </a:tr>
              <a:tr h="1261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Week/s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034450"/>
                  </a:ext>
                </a:extLst>
              </a:tr>
              <a:tr h="4048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8 and 10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Chooses (without direction within question) to use algebra in solving a problem requiring the use of Pythagoras’ Theorem to find the missing lengths of the side/s.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Diagrammatically represents a complex word problem (including direction and elevation)  and applies Pythagoras’ Theorem multiple times to determine an unknown side length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Diagrammatically represents a word problem involving elevations.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Diagrammatically represents a word problem and applies Pythagoras’ Theorem to determine an unknown side length of a right-angled triangle.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Applies Pythagoras’ Theorem to determine an unknown side length of a given right-angled triangle.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05446"/>
                  </a:ext>
                </a:extLst>
              </a:tr>
            </a:tbl>
          </a:graphicData>
        </a:graphic>
      </p:graphicFrame>
      <p:sp>
        <p:nvSpPr>
          <p:cNvPr id="6" name="Arrow: Left 5">
            <a:extLst>
              <a:ext uri="{FF2B5EF4-FFF2-40B4-BE49-F238E27FC236}">
                <a16:creationId xmlns:a16="http://schemas.microsoft.com/office/drawing/2014/main" id="{91247B3C-A5E1-45D3-A476-0D382D0A848C}"/>
              </a:ext>
            </a:extLst>
          </p:cNvPr>
          <p:cNvSpPr/>
          <p:nvPr/>
        </p:nvSpPr>
        <p:spPr>
          <a:xfrm>
            <a:off x="6953250" y="3905250"/>
            <a:ext cx="2781300" cy="2095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use Pythagoras’ theory in real life?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3A2AFD-46CF-407C-A60D-98A9F36E99B8}"/>
              </a:ext>
            </a:extLst>
          </p:cNvPr>
          <p:cNvSpPr txBox="1"/>
          <p:nvPr/>
        </p:nvSpPr>
        <p:spPr>
          <a:xfrm>
            <a:off x="3080084" y="1534210"/>
            <a:ext cx="312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column notes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0FA9A-6153-415D-9A4A-7331350DAA3D}"/>
              </a:ext>
            </a:extLst>
          </p:cNvPr>
          <p:cNvSpPr txBox="1"/>
          <p:nvPr/>
        </p:nvSpPr>
        <p:spPr>
          <a:xfrm>
            <a:off x="2222437" y="2551837"/>
            <a:ext cx="4547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Hints for </a:t>
            </a:r>
            <a:r>
              <a:rPr lang="en-US" dirty="0" err="1"/>
              <a:t>Pythag</a:t>
            </a:r>
            <a:r>
              <a:rPr lang="en-US" dirty="0"/>
              <a:t> worded questions:</a:t>
            </a:r>
          </a:p>
          <a:p>
            <a:pPr marL="342900" indent="-342900">
              <a:buAutoNum type="arabicPeriod"/>
            </a:pPr>
            <a:r>
              <a:rPr lang="en-US" dirty="0"/>
              <a:t>Draw the diagram</a:t>
            </a:r>
          </a:p>
          <a:p>
            <a:pPr marL="342900" indent="-342900">
              <a:buAutoNum type="arabicPeriod"/>
            </a:pPr>
            <a:r>
              <a:rPr lang="en-US" dirty="0"/>
              <a:t>Write the known values on the diagram</a:t>
            </a:r>
          </a:p>
          <a:p>
            <a:pPr marL="342900" indent="-342900">
              <a:buAutoNum type="arabicPeriod"/>
            </a:pPr>
            <a:r>
              <a:rPr lang="en-US" dirty="0"/>
              <a:t>Tick known values in each formula</a:t>
            </a:r>
          </a:p>
          <a:p>
            <a:pPr marL="342900" indent="-342900">
              <a:buAutoNum type="arabicPeriod"/>
            </a:pPr>
            <a:r>
              <a:rPr lang="en-US" dirty="0"/>
              <a:t>Put a ? On the unknown wanted</a:t>
            </a:r>
          </a:p>
          <a:p>
            <a:pPr marL="342900" indent="-342900">
              <a:buAutoNum type="arabicPeriod"/>
            </a:pPr>
            <a:r>
              <a:rPr lang="en-US" dirty="0"/>
              <a:t>If only one unknown then use the formula</a:t>
            </a:r>
            <a:endParaRPr lang="en-A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FB0B3A-A271-4C28-9F61-BA6FDA8FB9A6}"/>
              </a:ext>
            </a:extLst>
          </p:cNvPr>
          <p:cNvCxnSpPr/>
          <p:nvPr/>
        </p:nvCxnSpPr>
        <p:spPr>
          <a:xfrm>
            <a:off x="7138737" y="1320485"/>
            <a:ext cx="0" cy="5537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6D0735F-8BE4-45D4-8279-8BFB6B0C3440}"/>
              </a:ext>
            </a:extLst>
          </p:cNvPr>
          <p:cNvSpPr/>
          <p:nvPr/>
        </p:nvSpPr>
        <p:spPr>
          <a:xfrm>
            <a:off x="7261518" y="1446474"/>
            <a:ext cx="42350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A 4.5m ladder leans up against a building.  The foot of the ladder is 1.5 m from the base of the building.  </a:t>
            </a:r>
          </a:p>
          <a:p>
            <a:endParaRPr lang="en-US" altLang="en-US" dirty="0"/>
          </a:p>
          <a:p>
            <a:r>
              <a:rPr lang="en-US" altLang="en-US" dirty="0"/>
              <a:t>How high up the wall, to the nearest foot does the ladder reach?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511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use Pythagoras’ theory in real life?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3A2AFD-46CF-407C-A60D-98A9F36E99B8}"/>
              </a:ext>
            </a:extLst>
          </p:cNvPr>
          <p:cNvSpPr txBox="1"/>
          <p:nvPr/>
        </p:nvSpPr>
        <p:spPr>
          <a:xfrm>
            <a:off x="3080084" y="1534210"/>
            <a:ext cx="312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column notes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D0FA9A-6153-415D-9A4A-7331350DAA3D}"/>
              </a:ext>
            </a:extLst>
          </p:cNvPr>
          <p:cNvSpPr txBox="1"/>
          <p:nvPr/>
        </p:nvSpPr>
        <p:spPr>
          <a:xfrm>
            <a:off x="2222437" y="2551837"/>
            <a:ext cx="4547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Hints for </a:t>
            </a:r>
            <a:r>
              <a:rPr lang="en-US" dirty="0" err="1"/>
              <a:t>Pythag</a:t>
            </a:r>
            <a:r>
              <a:rPr lang="en-US" dirty="0"/>
              <a:t> worded questions:</a:t>
            </a:r>
          </a:p>
          <a:p>
            <a:pPr marL="342900" indent="-342900">
              <a:buAutoNum type="arabicPeriod"/>
            </a:pPr>
            <a:r>
              <a:rPr lang="en-US" dirty="0"/>
              <a:t>Draw the diagram</a:t>
            </a:r>
          </a:p>
          <a:p>
            <a:pPr marL="342900" indent="-342900">
              <a:buAutoNum type="arabicPeriod"/>
            </a:pPr>
            <a:r>
              <a:rPr lang="en-US" dirty="0"/>
              <a:t>Write the known values on the diagram</a:t>
            </a:r>
          </a:p>
          <a:p>
            <a:pPr marL="342900" indent="-342900">
              <a:buAutoNum type="arabicPeriod"/>
            </a:pPr>
            <a:r>
              <a:rPr lang="en-US" dirty="0"/>
              <a:t>Tick known values in each formula</a:t>
            </a:r>
          </a:p>
          <a:p>
            <a:pPr marL="342900" indent="-342900">
              <a:buAutoNum type="arabicPeriod"/>
            </a:pPr>
            <a:r>
              <a:rPr lang="en-US" dirty="0"/>
              <a:t>Put a ? On the unknown wanted</a:t>
            </a:r>
          </a:p>
          <a:p>
            <a:pPr marL="342900" indent="-342900">
              <a:buAutoNum type="arabicPeriod"/>
            </a:pPr>
            <a:r>
              <a:rPr lang="en-US" dirty="0"/>
              <a:t>If only one unknown then use the formula</a:t>
            </a:r>
            <a:endParaRPr lang="en-A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FB0B3A-A271-4C28-9F61-BA6FDA8FB9A6}"/>
              </a:ext>
            </a:extLst>
          </p:cNvPr>
          <p:cNvCxnSpPr/>
          <p:nvPr/>
        </p:nvCxnSpPr>
        <p:spPr>
          <a:xfrm>
            <a:off x="7138737" y="1320485"/>
            <a:ext cx="0" cy="5537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">
            <a:extLst>
              <a:ext uri="{FF2B5EF4-FFF2-40B4-BE49-F238E27FC236}">
                <a16:creationId xmlns:a16="http://schemas.microsoft.com/office/drawing/2014/main" id="{2370BF28-52A0-49C8-ABAA-72547221D0FE}"/>
              </a:ext>
            </a:extLst>
          </p:cNvPr>
          <p:cNvSpPr txBox="1">
            <a:spLocks noChangeArrowheads="1"/>
          </p:cNvSpPr>
          <p:nvPr/>
        </p:nvSpPr>
        <p:spPr>
          <a:xfrm>
            <a:off x="7507708" y="1331081"/>
            <a:ext cx="4002518" cy="15557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2000" dirty="0">
                <a:latin typeface="+mn-lt"/>
              </a:rPr>
              <a:t>Tim rode 8 km due north, then 3 km due east.  How far, to the nearest km, is Tim from where he started? </a:t>
            </a:r>
          </a:p>
        </p:txBody>
      </p:sp>
    </p:spTree>
    <p:extLst>
      <p:ext uri="{BB962C8B-B14F-4D97-AF65-F5344CB8AC3E}">
        <p14:creationId xmlns:p14="http://schemas.microsoft.com/office/powerpoint/2010/main" val="156342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use Pythagoras’ theory in real life?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38FDB46-C73F-47AB-874A-EB822AA692A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372" y="2434477"/>
            <a:ext cx="6642100" cy="532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CAA464-D419-4D00-A5CD-F28C442E561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045" y="3188087"/>
            <a:ext cx="6642100" cy="514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2C5DE3-9728-4E61-B3D6-031BBFB199D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045" y="4520352"/>
            <a:ext cx="6642100" cy="5537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9DB5C2-BAA4-499E-A803-3ACE328084DE}"/>
              </a:ext>
            </a:extLst>
          </p:cNvPr>
          <p:cNvSpPr txBox="1"/>
          <p:nvPr/>
        </p:nvSpPr>
        <p:spPr>
          <a:xfrm>
            <a:off x="2422358" y="1524000"/>
            <a:ext cx="628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your groups with mini whiteboards and solve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530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439</Words>
  <Application>Microsoft Office PowerPoint</Application>
  <PresentationFormat>Widescreen</PresentationFormat>
  <Paragraphs>97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DJB Fancy Nancy</vt:lpstr>
      <vt:lpstr>Kiwi School Handwriting</vt:lpstr>
      <vt:lpstr>Wingdings</vt:lpstr>
      <vt:lpstr>Office Theme</vt:lpstr>
      <vt:lpstr>Topic: Pythagoras</vt:lpstr>
      <vt:lpstr>        Topic: Pythagoras</vt:lpstr>
      <vt:lpstr>Learning Intentions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Pythagoras</dc:title>
  <dc:creator>Sarah James</dc:creator>
  <cp:lastModifiedBy>Sarah James</cp:lastModifiedBy>
  <cp:revision>4</cp:revision>
  <dcterms:created xsi:type="dcterms:W3CDTF">2019-09-03T11:02:02Z</dcterms:created>
  <dcterms:modified xsi:type="dcterms:W3CDTF">2019-09-03T11:32:11Z</dcterms:modified>
</cp:coreProperties>
</file>
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embeddings/oleObject1.bin" ContentType="application/vnd.openxmlformats-officedocument.oleObject"/>
  <Override PartName="/ppt/notesSlides/notesSlide5.xml" ContentType="application/vnd.openxmlformats-officedocument.presentationml.notesSlide+xml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347" r:id="rId4"/>
    <p:sldId id="351" r:id="rId5"/>
    <p:sldId id="355" r:id="rId6"/>
    <p:sldId id="258" r:id="rId7"/>
    <p:sldId id="352" r:id="rId8"/>
    <p:sldId id="260" r:id="rId9"/>
    <p:sldId id="261" r:id="rId10"/>
    <p:sldId id="356" r:id="rId11"/>
    <p:sldId id="358" r:id="rId12"/>
    <p:sldId id="360" r:id="rId13"/>
    <p:sldId id="3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4B20D7-BDFF-4056-9DD9-DA2EE41473A8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B9AD0-80A0-4C8E-9F63-9FD68DA98E0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3981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22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84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475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523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F50F9-9E47-4479-842C-75F0B3FCF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5DE5C-FA2E-4CD6-90A7-A9AAD0A633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CC7B2-BAF2-4448-A631-0CBCC24B0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47B25-C378-4066-8C55-30417C93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6114B-502B-4E29-95F0-7D880D22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1675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5F17E-DDD7-4634-9557-E103B2896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171C0-EED1-47B4-96DE-8B2A02F4B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3F747-6023-4E55-9B25-EDC29E948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75B21-7333-4E5F-8F96-39C1F0A79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D0B8E-8CD6-44C3-AC1B-5436A36A8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29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60E5D-9FD6-424F-AE28-0083C4689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DA030-6AD5-40F7-8C59-FC4D03522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DAD95-7A0D-4018-A5ED-F279D0D1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3DB5B-225B-47C9-A1C5-14B0B92D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15A4D-C838-478B-9EBA-28B1C31A8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986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6CB6-B09E-4A87-91E6-AF77A715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D2A87-AC5B-4EE9-B695-BA27BC892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36EC3-31FC-4F1B-AD69-BC28F6F07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B73B51-7D9A-4F9C-A3C0-05DB8B1E2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48279-B48B-4515-AD37-EE110248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16E56-F899-4A82-A0E4-0A93753B6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621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C047-AE63-4B3E-95BD-E8FC0AB3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E32D2-0ED7-4217-8484-9E9C7F62E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A12B9C-4C5E-48FE-85E6-A4688B541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AEF29-C180-4463-95B4-D8B43DF7FB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143069-C4C8-4DC1-8392-8D4B5570B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E098F-7EE1-413F-A68B-51FA47457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CF542-963C-43FB-9AE1-B185EEF0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0F8198-52A9-4AB4-B815-13B24977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4980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8A01-F0E0-49AF-A8D9-197762CB9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B7898-1231-4373-A296-D4579652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71E35-B0A7-4723-8302-3BBEC6993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EB5B3-9CC3-40A2-AC23-4F0C4FA7E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410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FC7A51-1707-4AEF-8E7D-996540256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971E5-8264-4350-BDD3-229447A64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30F38-2E65-4517-AAD3-632F9435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620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B895E-F4B5-498A-9283-2741F3A7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A9CCE-BA97-49A9-B2A6-B3438F5D4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BA164-0EC5-4D98-A483-8CC87FFAB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0C0B6-158C-4A6F-AA83-5EAF0A24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43960-7EE0-42C6-B455-A5B41485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E64CE-5808-44F2-98DC-C9548B801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47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9E2A8-B467-49BC-B8AC-45FFC998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2B753-2C0C-4A83-9709-D96610F4FF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658EB-C4AD-4AE1-9544-E0C94D828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27695-9D52-4D95-B28D-EBCBA023C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AE167-CE8E-4FFF-BC12-2FA2DAE8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9E9BB-1C13-4991-9EB5-E5299421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506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2C571-230A-42FF-92EB-AE0F993E6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07305-C573-4BC2-AF20-A72B28BE2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ECBBA-8BF9-42DD-983F-D32D3CA45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3DD20-0500-4EF6-9661-FB063B82F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10C27-A7AA-4FF2-ADFE-3F6A5B67F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7458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B1B301-E367-49DF-A102-0E9C149AC0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D49ABD-417E-4BC7-A5A6-6BFC59FCCF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D06D9-49B9-4FC7-874E-882593DB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26144-354C-42E8-A6EE-686EDDDB5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7D838-C25B-4A81-A248-6675E4EC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1833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8327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E6B289-5DDD-4900-8310-2ACEBA32A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A5A5E-5C21-48E9-B291-490BA2A4F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BE357-11B4-43BC-B15C-64C568953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14D52-9BDD-4217-A9B2-097D28C46394}" type="datetimeFigureOut">
              <a:rPr lang="en-AU" smtClean="0"/>
              <a:t>3/09/2019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D5438-2A3A-4552-AFA5-F9120191EE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C5965-5335-4036-8969-FBBD1CF78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72D11-2D8C-44D8-B758-BD0C0D6986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7223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Topic: Pythagoras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When do I need to use the Pythagorean Theory?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3421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3950" y="318770"/>
            <a:ext cx="7955280" cy="814181"/>
          </a:xfrm>
        </p:spPr>
        <p:txBody>
          <a:bodyPr>
            <a:normAutofit fontScale="90000"/>
          </a:bodyPr>
          <a:lstStyle/>
          <a:p>
            <a:pPr algn="l"/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br>
              <a:rPr lang="en-US" sz="6600" b="1" cap="none" dirty="0">
                <a:solidFill>
                  <a:srgbClr val="0070C0"/>
                </a:solidFill>
                <a:latin typeface="DJB Fancy Nancy" panose="02000500000000000000" pitchFamily="2" charset="0"/>
              </a:rPr>
            </a:br>
            <a:r>
              <a:rPr lang="en-US" sz="6600" b="1" dirty="0">
                <a:latin typeface="DJB Fancy Nancy" panose="02000500000000000000" pitchFamily="2" charset="0"/>
              </a:rPr>
              <a:t>Topic: Pythagoras</a:t>
            </a:r>
            <a:endParaRPr lang="en-US" sz="6600" b="1" cap="none" dirty="0"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525" y="1132951"/>
            <a:ext cx="9446339" cy="814181"/>
          </a:xfrm>
        </p:spPr>
        <p:txBody>
          <a:bodyPr>
            <a:normAutofit/>
          </a:bodyPr>
          <a:lstStyle/>
          <a:p>
            <a:pPr algn="l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When do I need to use the Pythagorean Theory?</a:t>
            </a:r>
            <a:endParaRPr lang="en-US" sz="32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43F1D-7EDD-4060-83B4-EEEF719B8A81}"/>
              </a:ext>
            </a:extLst>
          </p:cNvPr>
          <p:cNvSpPr txBox="1"/>
          <p:nvPr/>
        </p:nvSpPr>
        <p:spPr>
          <a:xfrm>
            <a:off x="1390650" y="2314575"/>
            <a:ext cx="7210425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GET YOUR VIVOS</a:t>
            </a:r>
          </a:p>
          <a:p>
            <a:pPr marL="285750" indent="-285750">
              <a:buFontTx/>
              <a:buChar char="-"/>
            </a:pPr>
            <a:r>
              <a:rPr lang="en-US" dirty="0"/>
              <a:t>Arrive on time and begin working within 10 mins of the start of lesson AND NO PHONES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Work:</a:t>
            </a:r>
          </a:p>
          <a:p>
            <a:pPr marL="342900" indent="-342900" fontAlgn="ctr">
              <a:buAutoNum type="arabicPeriod"/>
            </a:pPr>
            <a:r>
              <a:rPr lang="en-US" dirty="0"/>
              <a:t>New </a:t>
            </a:r>
            <a:r>
              <a:rPr lang="en-AU" dirty="0"/>
              <a:t>Unit Cover page- Pythagoras </a:t>
            </a:r>
            <a:r>
              <a:rPr lang="en-AU" b="1" dirty="0"/>
              <a:t>glue in the learning goals</a:t>
            </a:r>
          </a:p>
          <a:p>
            <a:pPr marL="342900" indent="-342900" fontAlgn="ctr">
              <a:buFontTx/>
              <a:buAutoNum type="arabicPeriod"/>
            </a:pPr>
            <a:r>
              <a:rPr lang="en-AU" dirty="0"/>
              <a:t>Review Questions: Copy and complete this table on LHS:</a:t>
            </a:r>
          </a:p>
          <a:p>
            <a:pPr fontAlgn="ctr"/>
            <a:endParaRPr lang="en-AU" dirty="0"/>
          </a:p>
          <a:p>
            <a:pPr marL="342900" indent="-342900" fontAlgn="ctr">
              <a:buAutoNum type="arabicPeriod"/>
            </a:pPr>
            <a:endParaRPr lang="en-AU" b="1" dirty="0"/>
          </a:p>
          <a:p>
            <a:pPr fontAlgn="ctr"/>
            <a:endParaRPr lang="en-AU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C3327-8003-4329-A8E8-02F38F104211}"/>
              </a:ext>
            </a:extLst>
          </p:cNvPr>
          <p:cNvSpPr txBox="1"/>
          <p:nvPr/>
        </p:nvSpPr>
        <p:spPr>
          <a:xfrm>
            <a:off x="1234525" y="1743075"/>
            <a:ext cx="559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: Seating plan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BE8403-6DE8-443A-A841-06E8ED431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97" y="4754742"/>
            <a:ext cx="6145278" cy="1940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8"/>
            <a:ext cx="6113641" cy="911318"/>
          </a:xfrm>
        </p:spPr>
        <p:txBody>
          <a:bodyPr>
            <a:normAutofit fontScale="90000"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334784" y="1051884"/>
            <a:ext cx="11057116" cy="1405566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 fontScale="25000" lnSpcReduction="2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96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9600" dirty="0">
                <a:latin typeface="Kiwi School Handwriting" panose="00000500000000000000" pitchFamily="2" charset="0"/>
              </a:rPr>
              <a:t>- use Pythagoras’ theory to find the length of an unknown side</a:t>
            </a:r>
          </a:p>
          <a:p>
            <a:pPr marL="571500" indent="-571500">
              <a:buFontTx/>
              <a:buChar char="-"/>
            </a:pPr>
            <a:endParaRPr lang="en-AU" sz="4000" dirty="0">
              <a:latin typeface="Kiwi School Handwriting" panose="00000500000000000000" pitchFamily="2" charset="0"/>
            </a:endParaRPr>
          </a:p>
          <a:p>
            <a:pPr marL="571500" indent="-571500">
              <a:buFontTx/>
              <a:buChar char="-"/>
            </a:pPr>
            <a:endParaRPr lang="en-AU" dirty="0"/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84D984-CD7B-4838-AFAB-E7AB4961E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08461"/>
              </p:ext>
            </p:extLst>
          </p:nvPr>
        </p:nvGraphicFramePr>
        <p:xfrm>
          <a:off x="3545206" y="2387418"/>
          <a:ext cx="4836794" cy="43513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3788">
                  <a:extLst>
                    <a:ext uri="{9D8B030D-6E8A-4147-A177-3AD203B41FA5}">
                      <a16:colId xmlns:a16="http://schemas.microsoft.com/office/drawing/2014/main" val="2903742706"/>
                    </a:ext>
                  </a:extLst>
                </a:gridCol>
                <a:gridCol w="1143572">
                  <a:extLst>
                    <a:ext uri="{9D8B030D-6E8A-4147-A177-3AD203B41FA5}">
                      <a16:colId xmlns:a16="http://schemas.microsoft.com/office/drawing/2014/main" val="3645413104"/>
                    </a:ext>
                  </a:extLst>
                </a:gridCol>
                <a:gridCol w="1016070">
                  <a:extLst>
                    <a:ext uri="{9D8B030D-6E8A-4147-A177-3AD203B41FA5}">
                      <a16:colId xmlns:a16="http://schemas.microsoft.com/office/drawing/2014/main" val="1991819720"/>
                    </a:ext>
                  </a:extLst>
                </a:gridCol>
                <a:gridCol w="1001586">
                  <a:extLst>
                    <a:ext uri="{9D8B030D-6E8A-4147-A177-3AD203B41FA5}">
                      <a16:colId xmlns:a16="http://schemas.microsoft.com/office/drawing/2014/main" val="2686779554"/>
                    </a:ext>
                  </a:extLst>
                </a:gridCol>
                <a:gridCol w="1011778">
                  <a:extLst>
                    <a:ext uri="{9D8B030D-6E8A-4147-A177-3AD203B41FA5}">
                      <a16:colId xmlns:a16="http://schemas.microsoft.com/office/drawing/2014/main" val="2930162029"/>
                    </a:ext>
                  </a:extLst>
                </a:gridCol>
              </a:tblGrid>
              <a:tr h="1766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solidFill>
                            <a:schemeClr val="tx1"/>
                          </a:solidFill>
                          <a:effectLst/>
                        </a:rPr>
                        <a:t>Goal-setting for Year 10 Pythagoras and Trigonometry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2272186"/>
                  </a:ext>
                </a:extLst>
              </a:tr>
              <a:tr h="12619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Week/s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B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C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D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5034450"/>
                  </a:ext>
                </a:extLst>
              </a:tr>
              <a:tr h="404845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8 and 10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Chooses (without direction within question) to use algebra in solving a problem requiring the use of Pythagoras’ Theorem to find the missing lengths of the side/s.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Diagrammatically represents a complex word problem (including direction and elevation)  and applies Pythagoras’ Theorem multiple times to determine an unknown side length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Diagrammatically represents a word problem involving elevations.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Diagrammatically represents a word problem and applies Pythagoras’ Theorem to determine an unknown side length of a right-angled triangle.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Applies Pythagoras’ Theorem to determine an unknown side length of a given right-angled triangle.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9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8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AU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537" marR="55537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05446"/>
                  </a:ext>
                </a:extLst>
              </a:tr>
            </a:tbl>
          </a:graphicData>
        </a:graphic>
      </p:graphicFrame>
      <p:sp>
        <p:nvSpPr>
          <p:cNvPr id="5" name="Arrow: Left 4">
            <a:extLst>
              <a:ext uri="{FF2B5EF4-FFF2-40B4-BE49-F238E27FC236}">
                <a16:creationId xmlns:a16="http://schemas.microsoft.com/office/drawing/2014/main" id="{0EEBAC3A-013A-4194-8D39-E7665DA08463}"/>
              </a:ext>
            </a:extLst>
          </p:cNvPr>
          <p:cNvSpPr/>
          <p:nvPr/>
        </p:nvSpPr>
        <p:spPr>
          <a:xfrm>
            <a:off x="8153400" y="3076575"/>
            <a:ext cx="1943100" cy="2095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When do I need to use the Pythagorean Theory?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7E7EE96-08F0-4745-846E-5CAAE2E714D3}"/>
              </a:ext>
            </a:extLst>
          </p:cNvPr>
          <p:cNvSpPr/>
          <p:nvPr/>
        </p:nvSpPr>
        <p:spPr>
          <a:xfrm>
            <a:off x="0" y="1534210"/>
            <a:ext cx="198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When do I need to use</a:t>
            </a:r>
            <a:br>
              <a:rPr lang="en-US" altLang="en-US" dirty="0"/>
            </a:br>
            <a:r>
              <a:rPr lang="en-US" altLang="en-US" dirty="0"/>
              <a:t>the Pythagorean Theorem 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5DA2D2A-C308-429F-9982-ECFBFC7B8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7117820"/>
                  </p:ext>
                </p:extLst>
              </p:nvPr>
            </p:nvGraphicFramePr>
            <p:xfrm>
              <a:off x="2464932" y="2073431"/>
              <a:ext cx="8128000" cy="3114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98043">
                      <a:extLst>
                        <a:ext uri="{9D8B030D-6E8A-4147-A177-3AD203B41FA5}">
                          <a16:colId xmlns:a16="http://schemas.microsoft.com/office/drawing/2014/main" val="3445532587"/>
                        </a:ext>
                      </a:extLst>
                    </a:gridCol>
                    <a:gridCol w="2029957">
                      <a:extLst>
                        <a:ext uri="{9D8B030D-6E8A-4147-A177-3AD203B41FA5}">
                          <a16:colId xmlns:a16="http://schemas.microsoft.com/office/drawing/2014/main" val="22994909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Notes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Hints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568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- When a ________- __________ ___________________ is involved</a:t>
                          </a:r>
                          <a:endParaRPr lang="en-AU" dirty="0"/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shape?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385439"/>
                      </a:ext>
                    </a:extLst>
                  </a:tr>
                  <a:tr h="38696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r>
                            <a:rPr lang="en-US" altLang="en-US" dirty="0">
                              <a:solidFill>
                                <a:schemeClr val="tx1"/>
                              </a:solidFill>
                            </a:rPr>
                            <a:t>Pythagoras’ formula is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__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__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AU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eaLnBrk="1" hangingPunct="1">
                            <a:buFont typeface="Wingdings" panose="05000000000000000000" pitchFamily="2" charset="2"/>
                            <a:buNone/>
                            <a:defRPr/>
                          </a:pPr>
                          <a:endParaRPr lang="en-US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does each variable represent?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24777"/>
                      </a:ext>
                    </a:extLst>
                  </a:tr>
                  <a:tr h="38696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 </a:t>
                          </a:r>
                          <a:r>
                            <a:rPr lang="en-US" altLang="en-US" dirty="0">
                              <a:solidFill>
                                <a:schemeClr val="tx1"/>
                              </a:solidFill>
                            </a:rPr>
                            <a:t>When I know the  length of two sides and NEED TO KNOW……….</a:t>
                          </a:r>
                        </a:p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How can the Pythagoras’ formula help?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2294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5DA2D2A-C308-429F-9982-ECFBFC7B8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7117820"/>
                  </p:ext>
                </p:extLst>
              </p:nvPr>
            </p:nvGraphicFramePr>
            <p:xfrm>
              <a:off x="2464932" y="2073431"/>
              <a:ext cx="8128000" cy="3114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98043">
                      <a:extLst>
                        <a:ext uri="{9D8B030D-6E8A-4147-A177-3AD203B41FA5}">
                          <a16:colId xmlns:a16="http://schemas.microsoft.com/office/drawing/2014/main" val="3445532587"/>
                        </a:ext>
                      </a:extLst>
                    </a:gridCol>
                    <a:gridCol w="2029957">
                      <a:extLst>
                        <a:ext uri="{9D8B030D-6E8A-4147-A177-3AD203B41FA5}">
                          <a16:colId xmlns:a16="http://schemas.microsoft.com/office/drawing/2014/main" val="22994909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Notes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Hints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568016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- When a ________- __________ ___________________ is involved</a:t>
                          </a:r>
                          <a:endParaRPr lang="en-AU" dirty="0"/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shape?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38543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" t="-205714" r="-33467" b="-1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does each variable represent?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2477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 </a:t>
                          </a:r>
                          <a:r>
                            <a:rPr lang="en-US" altLang="en-US" dirty="0">
                              <a:solidFill>
                                <a:schemeClr val="tx1"/>
                              </a:solidFill>
                            </a:rPr>
                            <a:t>When I know the  length of two sides and NEED TO KNOW……….</a:t>
                          </a:r>
                        </a:p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How can the Pythagoras’ formula help?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2294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55118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When do I need to use the Pythagorean Theory?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17E7EE96-08F0-4745-846E-5CAAE2E714D3}"/>
              </a:ext>
            </a:extLst>
          </p:cNvPr>
          <p:cNvSpPr/>
          <p:nvPr/>
        </p:nvSpPr>
        <p:spPr>
          <a:xfrm>
            <a:off x="0" y="1534210"/>
            <a:ext cx="198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dirty="0"/>
              <a:t>When do I need to use</a:t>
            </a:r>
            <a:br>
              <a:rPr lang="en-US" altLang="en-US" dirty="0"/>
            </a:br>
            <a:r>
              <a:rPr lang="en-US" altLang="en-US" dirty="0"/>
              <a:t>the Pythagorean Theorem 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5DA2D2A-C308-429F-9982-ECFBFC7B8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8854071"/>
                  </p:ext>
                </p:extLst>
              </p:nvPr>
            </p:nvGraphicFramePr>
            <p:xfrm>
              <a:off x="2464932" y="2073431"/>
              <a:ext cx="8128000" cy="3388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98043">
                      <a:extLst>
                        <a:ext uri="{9D8B030D-6E8A-4147-A177-3AD203B41FA5}">
                          <a16:colId xmlns:a16="http://schemas.microsoft.com/office/drawing/2014/main" val="3445532587"/>
                        </a:ext>
                      </a:extLst>
                    </a:gridCol>
                    <a:gridCol w="2029957">
                      <a:extLst>
                        <a:ext uri="{9D8B030D-6E8A-4147-A177-3AD203B41FA5}">
                          <a16:colId xmlns:a16="http://schemas.microsoft.com/office/drawing/2014/main" val="22994909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Notes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Hints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5680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- When a 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RIGHT-ANGLED TRIANGLE </a:t>
                          </a:r>
                          <a:r>
                            <a:rPr lang="en-US" dirty="0"/>
                            <a:t>is involved</a:t>
                          </a:r>
                          <a:endParaRPr lang="en-AU" dirty="0"/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shape?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385439"/>
                      </a:ext>
                    </a:extLst>
                  </a:tr>
                  <a:tr h="38696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r>
                            <a:rPr lang="en-US" altLang="en-US" dirty="0">
                              <a:solidFill>
                                <a:schemeClr val="tx1"/>
                              </a:solidFill>
                            </a:rPr>
                            <a:t>Pythagoras’ formula is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pt-BR" sz="1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AU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endParaRPr lang="en-AU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r>
                            <a:rPr lang="en-AU" sz="1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a= hypotenuse 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Wingdings" panose="05000000000000000000" pitchFamily="2" charset="2"/>
                            <a:buNone/>
                            <a:tabLst/>
                            <a:defRPr/>
                          </a:pPr>
                          <a:r>
                            <a:rPr lang="en-AU" sz="1800" b="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a:t>b and c  = the shorter sides (legs)</a:t>
                          </a:r>
                        </a:p>
                        <a:p>
                          <a:pPr eaLnBrk="1" hangingPunct="1">
                            <a:buFont typeface="Wingdings" panose="05000000000000000000" pitchFamily="2" charset="2"/>
                            <a:buNone/>
                            <a:defRPr/>
                          </a:pPr>
                          <a:endParaRPr lang="en-US" alt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does each variable represent?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24777"/>
                      </a:ext>
                    </a:extLst>
                  </a:tr>
                  <a:tr h="386968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 </a:t>
                          </a:r>
                          <a:r>
                            <a:rPr lang="en-US" altLang="en-US" dirty="0">
                              <a:solidFill>
                                <a:schemeClr val="tx1"/>
                              </a:solidFill>
                            </a:rPr>
                            <a:t>When I know the  length of two sides and NEED TO KNOW</a:t>
                          </a:r>
                          <a:r>
                            <a:rPr lang="en-US" altLang="en-US" dirty="0">
                              <a:solidFill>
                                <a:srgbClr val="FF0000"/>
                              </a:solidFill>
                            </a:rPr>
                            <a:t> the length of the third side of a right angled triangle</a:t>
                          </a:r>
                          <a:endParaRPr lang="en-US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How can the Pythagoras’ formula help?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22945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5DA2D2A-C308-429F-9982-ECFBFC7B8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68854071"/>
                  </p:ext>
                </p:extLst>
              </p:nvPr>
            </p:nvGraphicFramePr>
            <p:xfrm>
              <a:off x="2464932" y="2073431"/>
              <a:ext cx="8128000" cy="3388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098043">
                      <a:extLst>
                        <a:ext uri="{9D8B030D-6E8A-4147-A177-3AD203B41FA5}">
                          <a16:colId xmlns:a16="http://schemas.microsoft.com/office/drawing/2014/main" val="3445532587"/>
                        </a:ext>
                      </a:extLst>
                    </a:gridCol>
                    <a:gridCol w="2029957">
                      <a:extLst>
                        <a:ext uri="{9D8B030D-6E8A-4147-A177-3AD203B41FA5}">
                          <a16:colId xmlns:a16="http://schemas.microsoft.com/office/drawing/2014/main" val="229949097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Notes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Hints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756801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- When a </a:t>
                          </a:r>
                          <a:r>
                            <a:rPr lang="en-US" dirty="0">
                              <a:solidFill>
                                <a:srgbClr val="FF0000"/>
                              </a:solidFill>
                            </a:rPr>
                            <a:t>RIGHT-ANGLED TRIANGLE </a:t>
                          </a:r>
                          <a:r>
                            <a:rPr lang="en-US" dirty="0"/>
                            <a:t>is involved</a:t>
                          </a:r>
                          <a:endParaRPr lang="en-AU" dirty="0"/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shape?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07385439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" t="-87692" r="-33467" b="-1015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What does each variable represent?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8924777"/>
                      </a:ext>
                    </a:extLst>
                  </a:tr>
                  <a:tr h="118872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- </a:t>
                          </a:r>
                          <a:r>
                            <a:rPr lang="en-US" altLang="en-US" dirty="0">
                              <a:solidFill>
                                <a:schemeClr val="tx1"/>
                              </a:solidFill>
                            </a:rPr>
                            <a:t>When I know the  length of two sides and NEED TO KNOW</a:t>
                          </a:r>
                          <a:r>
                            <a:rPr lang="en-US" altLang="en-US" dirty="0">
                              <a:solidFill>
                                <a:srgbClr val="FF0000"/>
                              </a:solidFill>
                            </a:rPr>
                            <a:t> the length of the third side of a right angled triangle</a:t>
                          </a:r>
                          <a:endParaRPr lang="en-US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>
                              <a:solidFill>
                                <a:sysClr val="windowText" lastClr="000000"/>
                              </a:solidFill>
                            </a:rPr>
                            <a:t>How can the Pythagoras’ formula help?</a:t>
                          </a:r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  <a:p>
                          <a:endParaRPr lang="en-AU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82294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21863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3BE64807-F2E1-40EA-9962-5CC7ED9AE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762000"/>
            <a:ext cx="723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A2A6F03-C878-4531-8EBC-FE48510D4B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622300"/>
            <a:ext cx="548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A3FA8E2-68CD-4237-8FED-30726F4F2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584200"/>
            <a:ext cx="845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26B5FC63-5831-4757-B68B-EA8BE6DB6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33401"/>
            <a:ext cx="7672388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6000" dirty="0">
                <a:solidFill>
                  <a:schemeClr val="accent2"/>
                </a:solidFill>
              </a:rPr>
              <a:t>What is the Pythagorean Theorem?</a:t>
            </a:r>
          </a:p>
        </p:txBody>
      </p:sp>
      <p:sp>
        <p:nvSpPr>
          <p:cNvPr id="6150" name="AutoShape 6">
            <a:extLst>
              <a:ext uri="{FF2B5EF4-FFF2-40B4-BE49-F238E27FC236}">
                <a16:creationId xmlns:a16="http://schemas.microsoft.com/office/drawing/2014/main" id="{1E5D9158-2201-4CE4-99F2-46914204B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905000"/>
            <a:ext cx="5105400" cy="3048000"/>
          </a:xfrm>
          <a:prstGeom prst="rtTriangle">
            <a:avLst/>
          </a:prstGeom>
          <a:solidFill>
            <a:schemeClr val="accent2"/>
          </a:solidFill>
          <a:ln w="762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151" name="WordArt 7">
            <a:extLst>
              <a:ext uri="{FF2B5EF4-FFF2-40B4-BE49-F238E27FC236}">
                <a16:creationId xmlns:a16="http://schemas.microsoft.com/office/drawing/2014/main" id="{9428BA1D-852D-43FB-974C-ED60895D06B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05000" y="3276600"/>
            <a:ext cx="457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tx2"/>
                </a:solidFill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6152" name="WordArt 8">
            <a:extLst>
              <a:ext uri="{FF2B5EF4-FFF2-40B4-BE49-F238E27FC236}">
                <a16:creationId xmlns:a16="http://schemas.microsoft.com/office/drawing/2014/main" id="{586ABCAB-3012-405E-8C49-7B11608E37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91000" y="5257800"/>
            <a:ext cx="533400" cy="609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6153" name="WordArt 9">
            <a:extLst>
              <a:ext uri="{FF2B5EF4-FFF2-40B4-BE49-F238E27FC236}">
                <a16:creationId xmlns:a16="http://schemas.microsoft.com/office/drawing/2014/main" id="{FDC45F42-ED32-4DC8-BC22-29D773F7A59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029200" y="2590800"/>
            <a:ext cx="3810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c</a:t>
            </a:r>
          </a:p>
        </p:txBody>
      </p:sp>
      <p:graphicFrame>
        <p:nvGraphicFramePr>
          <p:cNvPr id="6154" name="Object 10">
            <a:extLst>
              <a:ext uri="{FF2B5EF4-FFF2-40B4-BE49-F238E27FC236}">
                <a16:creationId xmlns:a16="http://schemas.microsoft.com/office/drawing/2014/main" id="{A1A46268-2002-4010-AC2D-33CDE006A4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590800"/>
          <a:ext cx="47244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5" imgW="762000" imgH="190500" progId="Equation.DSMT4">
                  <p:embed/>
                </p:oleObj>
              </mc:Choice>
              <mc:Fallback>
                <p:oleObj name="Equation" r:id="rId5" imgW="762000" imgH="190500" progId="Equation.DSMT4">
                  <p:embed/>
                  <p:pic>
                    <p:nvPicPr>
                      <p:cNvPr id="6154" name="Object 10">
                        <a:extLst>
                          <a:ext uri="{FF2B5EF4-FFF2-40B4-BE49-F238E27FC236}">
                            <a16:creationId xmlns:a16="http://schemas.microsoft.com/office/drawing/2014/main" id="{A1A46268-2002-4010-AC2D-33CDE006A4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590800"/>
                        <a:ext cx="4724400" cy="11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5" name="Text Box 11">
            <a:extLst>
              <a:ext uri="{FF2B5EF4-FFF2-40B4-BE49-F238E27FC236}">
                <a16:creationId xmlns:a16="http://schemas.microsoft.com/office/drawing/2014/main" id="{5B716DBC-3471-424E-B1FC-D3D537B2C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6019800"/>
            <a:ext cx="8915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3600">
                <a:solidFill>
                  <a:srgbClr val="000000"/>
                </a:solidFill>
              </a:rPr>
              <a:t>Where a and b are legs and c is the hypotenuse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ubbles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pplause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utoUpdateAnimBg="0"/>
      <p:bldP spid="6150" grpId="0" animBg="1"/>
      <p:bldP spid="615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When do I need to use the Pythagorean Theory?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4F44B84-8EAA-479E-9923-C543DD442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862" y="1942805"/>
            <a:ext cx="4181475" cy="43148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64B5C4-44E0-4856-92E3-8F537F2B98E2}"/>
              </a:ext>
            </a:extLst>
          </p:cNvPr>
          <p:cNvSpPr txBox="1"/>
          <p:nvPr/>
        </p:nvSpPr>
        <p:spPr>
          <a:xfrm>
            <a:off x="7138988" y="3435630"/>
            <a:ext cx="5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Discussion on each of these Pythagoras formulas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77873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60FD470F-A3A0-4F09-9851-F2360C0FAF2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28600" y="1825625"/>
            <a:ext cx="5791200" cy="4351338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Looking for length of the hypotenuse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482E13B-BE85-4384-BB0C-62D28B06356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69026" y="1598614"/>
            <a:ext cx="4037013" cy="4573587"/>
          </a:xfrm>
        </p:spPr>
        <p:txBody>
          <a:bodyPr/>
          <a:lstStyle/>
          <a:p>
            <a:pPr eaLnBrk="1" hangingPunct="1">
              <a:buFont typeface="Wingdings" charset="0"/>
              <a:buChar char="§"/>
              <a:defRPr/>
            </a:pPr>
            <a:r>
              <a:rPr lang="en-US" sz="3600" dirty="0"/>
              <a:t>a</a:t>
            </a:r>
            <a:r>
              <a:rPr lang="en-US" sz="3600" baseline="30000" dirty="0"/>
              <a:t>2</a:t>
            </a:r>
            <a:r>
              <a:rPr lang="en-US" sz="3600" dirty="0"/>
              <a:t> + b</a:t>
            </a:r>
            <a:r>
              <a:rPr lang="en-US" sz="3600" baseline="30000" dirty="0"/>
              <a:t>2</a:t>
            </a:r>
            <a:r>
              <a:rPr lang="en-US" sz="3600" dirty="0"/>
              <a:t> = c</a:t>
            </a:r>
            <a:r>
              <a:rPr lang="en-US" sz="3600" baseline="30000" dirty="0"/>
              <a:t>2</a:t>
            </a:r>
          </a:p>
          <a:p>
            <a:pPr eaLnBrk="1" hangingPunct="1">
              <a:buFont typeface="Wingdings" charset="0"/>
              <a:buChar char="§"/>
              <a:defRPr/>
            </a:pPr>
            <a:endParaRPr lang="en-US" sz="3600" baseline="30000" dirty="0"/>
          </a:p>
          <a:p>
            <a:pPr eaLnBrk="1" hangingPunct="1">
              <a:buFont typeface="Wingdings" charset="0"/>
              <a:buChar char="§"/>
              <a:defRPr/>
            </a:pPr>
            <a:r>
              <a:rPr lang="en-US" sz="3600" dirty="0"/>
              <a:t>15</a:t>
            </a:r>
            <a:r>
              <a:rPr lang="en-US" sz="3600" baseline="30000" dirty="0"/>
              <a:t>2</a:t>
            </a:r>
            <a:r>
              <a:rPr lang="en-US" sz="3600" dirty="0"/>
              <a:t> + 20</a:t>
            </a:r>
            <a:r>
              <a:rPr lang="en-US" sz="3600" baseline="30000" dirty="0"/>
              <a:t>2</a:t>
            </a:r>
            <a:r>
              <a:rPr lang="en-US" sz="3600" dirty="0"/>
              <a:t> = c</a:t>
            </a:r>
            <a:r>
              <a:rPr lang="en-US" sz="3600" baseline="30000" dirty="0"/>
              <a:t>2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en-US" sz="3600" dirty="0"/>
              <a:t>225 + 400 = c</a:t>
            </a:r>
            <a:r>
              <a:rPr lang="en-US" sz="3600" baseline="30000" dirty="0"/>
              <a:t>2</a:t>
            </a:r>
            <a:endParaRPr lang="en-US" sz="3600" dirty="0"/>
          </a:p>
          <a:p>
            <a:pPr eaLnBrk="1" hangingPunct="1">
              <a:buFont typeface="Wingdings" charset="0"/>
              <a:buChar char="§"/>
              <a:defRPr/>
            </a:pPr>
            <a:r>
              <a:rPr lang="en-US" sz="3600" dirty="0"/>
              <a:t>625 = c</a:t>
            </a:r>
            <a:r>
              <a:rPr lang="en-US" sz="3600" baseline="30000" dirty="0"/>
              <a:t>2</a:t>
            </a:r>
            <a:endParaRPr lang="en-US" sz="3600" dirty="0"/>
          </a:p>
          <a:p>
            <a:pPr eaLnBrk="1" hangingPunct="1">
              <a:buFont typeface="Wingdings" charset="0"/>
              <a:buChar char="§"/>
              <a:defRPr/>
            </a:pPr>
            <a:endParaRPr lang="en-US" dirty="0">
              <a:ea typeface="+mn-ea"/>
            </a:endParaRPr>
          </a:p>
        </p:txBody>
      </p:sp>
      <p:sp>
        <p:nvSpPr>
          <p:cNvPr id="1029" name="AutoShape 5">
            <a:extLst>
              <a:ext uri="{FF2B5EF4-FFF2-40B4-BE49-F238E27FC236}">
                <a16:creationId xmlns:a16="http://schemas.microsoft.com/office/drawing/2014/main" id="{557C7C6C-C366-4A6B-A239-F573FF9DD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895600"/>
            <a:ext cx="2286000" cy="1371600"/>
          </a:xfrm>
          <a:prstGeom prst="rtTriangle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1" name="WordArt 7">
            <a:extLst>
              <a:ext uri="{FF2B5EF4-FFF2-40B4-BE49-F238E27FC236}">
                <a16:creationId xmlns:a16="http://schemas.microsoft.com/office/drawing/2014/main" id="{96E55763-234D-48BD-9D4E-0ABC53F89C1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57400" y="3352800"/>
            <a:ext cx="609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15</a:t>
            </a:r>
          </a:p>
        </p:txBody>
      </p:sp>
      <p:sp>
        <p:nvSpPr>
          <p:cNvPr id="1032" name="WordArt 8">
            <a:extLst>
              <a:ext uri="{FF2B5EF4-FFF2-40B4-BE49-F238E27FC236}">
                <a16:creationId xmlns:a16="http://schemas.microsoft.com/office/drawing/2014/main" id="{A840B03E-854F-48C9-8DEE-3DC8A5DA478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5200" y="4343400"/>
            <a:ext cx="609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20</a:t>
            </a:r>
          </a:p>
        </p:txBody>
      </p:sp>
      <p:sp>
        <p:nvSpPr>
          <p:cNvPr id="1033" name="WordArt 9">
            <a:extLst>
              <a:ext uri="{FF2B5EF4-FFF2-40B4-BE49-F238E27FC236}">
                <a16:creationId xmlns:a16="http://schemas.microsoft.com/office/drawing/2014/main" id="{9B31057D-BAE1-4E51-99A1-CE2FB8B42E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14800" y="3124200"/>
            <a:ext cx="457200" cy="4953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x</a:t>
            </a:r>
          </a:p>
        </p:txBody>
      </p:sp>
      <p:graphicFrame>
        <p:nvGraphicFramePr>
          <p:cNvPr id="1035" name="Object 11">
            <a:extLst>
              <a:ext uri="{FF2B5EF4-FFF2-40B4-BE49-F238E27FC236}">
                <a16:creationId xmlns:a16="http://schemas.microsoft.com/office/drawing/2014/main" id="{4429BFE2-CA6C-4B09-AF8F-3E672005EA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4724400"/>
          <a:ext cx="2317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Equation" r:id="rId3" imgW="673100" imgH="215900" progId="Equation.DSMT4">
                  <p:embed/>
                </p:oleObj>
              </mc:Choice>
              <mc:Fallback>
                <p:oleObj name="Equation" r:id="rId3" imgW="673100" imgH="215900" progId="Equation.DSMT4">
                  <p:embed/>
                  <p:pic>
                    <p:nvPicPr>
                      <p:cNvPr id="1035" name="Object 11">
                        <a:extLst>
                          <a:ext uri="{FF2B5EF4-FFF2-40B4-BE49-F238E27FC236}">
                            <a16:creationId xmlns:a16="http://schemas.microsoft.com/office/drawing/2014/main" id="{4429BFE2-CA6C-4B09-AF8F-3E672005EA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4724400"/>
                        <a:ext cx="23177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6" name="Object 12">
            <a:extLst>
              <a:ext uri="{FF2B5EF4-FFF2-40B4-BE49-F238E27FC236}">
                <a16:creationId xmlns:a16="http://schemas.microsoft.com/office/drawing/2014/main" id="{3E8E9CEF-54D8-4123-9B36-3DD981D80C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05600" y="5562601"/>
          <a:ext cx="21209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Equation" r:id="rId5" imgW="431800" imgH="165100" progId="Equation.DSMT4">
                  <p:embed/>
                </p:oleObj>
              </mc:Choice>
              <mc:Fallback>
                <p:oleObj name="Equation" r:id="rId5" imgW="431800" imgH="165100" progId="Equation.DSMT4">
                  <p:embed/>
                  <p:pic>
                    <p:nvPicPr>
                      <p:cNvPr id="1036" name="Object 12">
                        <a:extLst>
                          <a:ext uri="{FF2B5EF4-FFF2-40B4-BE49-F238E27FC236}">
                            <a16:creationId xmlns:a16="http://schemas.microsoft.com/office/drawing/2014/main" id="{3E8E9CEF-54D8-4123-9B36-3DD981D80C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5600" y="5562601"/>
                        <a:ext cx="21209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9BB5F72-EEC5-48D4-ACC8-DDC8A4A5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EXAMPLES:</a:t>
            </a:r>
            <a:endParaRPr lang="en-AU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 autoUpdateAnimBg="0"/>
      <p:bldP spid="1034" grpId="0" build="p" autoUpdateAnimBg="0"/>
      <p:bldP spid="10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DD85AC5-659F-4D0E-801A-5BD353610B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chemeClr val="accent2"/>
                </a:solidFill>
                <a:ea typeface="+mj-ea"/>
              </a:rPr>
              <a:t>EXAMPLES:</a:t>
            </a:r>
            <a:endParaRPr lang="en-US" dirty="0">
              <a:ea typeface="+mj-ea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BF47BBA-C8AF-4303-8662-5E47D9EBF7D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/>
              <a:t>Looking for length of a leg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19F3577A-3C0A-4D11-8F05-5D3FE3CEAFD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169026" y="1598614"/>
            <a:ext cx="4037013" cy="45735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3600"/>
              <a:t>a</a:t>
            </a:r>
            <a:r>
              <a:rPr lang="en-US" sz="3600" baseline="30000"/>
              <a:t>2</a:t>
            </a:r>
            <a:r>
              <a:rPr lang="en-US" sz="3600"/>
              <a:t> + b</a:t>
            </a:r>
            <a:r>
              <a:rPr lang="en-US" sz="3600" baseline="30000"/>
              <a:t>2</a:t>
            </a:r>
            <a:r>
              <a:rPr lang="en-US" sz="3600"/>
              <a:t> = c</a:t>
            </a:r>
            <a:r>
              <a:rPr lang="en-US" sz="3600" baseline="30000"/>
              <a:t>2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 sz="3600" baseline="30000"/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3600"/>
              <a:t>6</a:t>
            </a:r>
            <a:r>
              <a:rPr lang="en-US" sz="3600" baseline="30000"/>
              <a:t>2</a:t>
            </a:r>
            <a:r>
              <a:rPr lang="en-US" sz="3600"/>
              <a:t> + b</a:t>
            </a:r>
            <a:r>
              <a:rPr lang="en-US" sz="3600" baseline="30000"/>
              <a:t>2</a:t>
            </a:r>
            <a:r>
              <a:rPr lang="en-US" sz="3600"/>
              <a:t> = 10</a:t>
            </a:r>
            <a:r>
              <a:rPr lang="en-US" sz="3600" baseline="30000"/>
              <a:t>2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3600"/>
              <a:t>36 + b</a:t>
            </a:r>
            <a:r>
              <a:rPr lang="en-US" sz="3600" baseline="30000"/>
              <a:t>2</a:t>
            </a:r>
            <a:r>
              <a:rPr lang="en-US" sz="3600"/>
              <a:t> = 100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3600"/>
              <a:t>-36           -36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3600"/>
              <a:t>b</a:t>
            </a:r>
            <a:r>
              <a:rPr lang="en-US" sz="3600" baseline="30000"/>
              <a:t>2</a:t>
            </a:r>
            <a:r>
              <a:rPr lang="en-US" sz="3600"/>
              <a:t> = 64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r>
              <a:rPr lang="en-US" sz="3600"/>
              <a:t>b = 8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§"/>
              <a:defRPr/>
            </a:pPr>
            <a:endParaRPr lang="en-US">
              <a:ea typeface="+mn-ea"/>
            </a:endParaRPr>
          </a:p>
        </p:txBody>
      </p:sp>
      <p:sp>
        <p:nvSpPr>
          <p:cNvPr id="7172" name="AutoShape 4">
            <a:extLst>
              <a:ext uri="{FF2B5EF4-FFF2-40B4-BE49-F238E27FC236}">
                <a16:creationId xmlns:a16="http://schemas.microsoft.com/office/drawing/2014/main" id="{F19545C7-AF6B-44A8-9A22-87A27FF38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895600"/>
            <a:ext cx="2286000" cy="1371600"/>
          </a:xfrm>
          <a:prstGeom prst="rtTriangle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7173" name="WordArt 5">
            <a:extLst>
              <a:ext uri="{FF2B5EF4-FFF2-40B4-BE49-F238E27FC236}">
                <a16:creationId xmlns:a16="http://schemas.microsoft.com/office/drawing/2014/main" id="{CEFEB661-EF84-4BE5-9551-FDCD4C8F900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57400" y="3276600"/>
            <a:ext cx="609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6</a:t>
            </a:r>
          </a:p>
        </p:txBody>
      </p:sp>
      <p:sp>
        <p:nvSpPr>
          <p:cNvPr id="7174" name="WordArt 6">
            <a:extLst>
              <a:ext uri="{FF2B5EF4-FFF2-40B4-BE49-F238E27FC236}">
                <a16:creationId xmlns:a16="http://schemas.microsoft.com/office/drawing/2014/main" id="{970FB25F-1BC3-4C6C-9EA9-281449B24BF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505200" y="4343400"/>
            <a:ext cx="6096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x</a:t>
            </a:r>
          </a:p>
        </p:txBody>
      </p:sp>
      <p:sp>
        <p:nvSpPr>
          <p:cNvPr id="7175" name="WordArt 7">
            <a:extLst>
              <a:ext uri="{FF2B5EF4-FFF2-40B4-BE49-F238E27FC236}">
                <a16:creationId xmlns:a16="http://schemas.microsoft.com/office/drawing/2014/main" id="{5BE54695-62B6-43E8-BB83-BA98A3A0741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14800" y="2971800"/>
            <a:ext cx="685800" cy="6477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Arial Black" panose="020B0A04020102020204" pitchFamily="34" charset="0"/>
              </a:rPr>
              <a:t>10</a:t>
            </a:r>
          </a:p>
        </p:txBody>
      </p:sp>
      <p:sp>
        <p:nvSpPr>
          <p:cNvPr id="8201" name="Rectangle 11">
            <a:extLst>
              <a:ext uri="{FF2B5EF4-FFF2-40B4-BE49-F238E27FC236}">
                <a16:creationId xmlns:a16="http://schemas.microsoft.com/office/drawing/2014/main" id="{C733A456-722B-4F3F-A8BB-8E58B0575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3" y="33162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7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1" grpId="0" build="p" autoUpdateAnimBg="0"/>
      <p:bldP spid="7176" grpId="0" build="p" autoUpdateAnimBg="0"/>
      <p:bldP spid="717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8EB8-3AED-40E9-BD1F-969B307D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4548F-2333-4AF5-932C-A1C60B1432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 GRADE: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BB3FB5-76F1-4CFE-BD1D-254B7DEE5FE0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lphaLcParenR"/>
            </a:pPr>
            <a:r>
              <a:rPr lang="en-AU" dirty="0"/>
              <a:t>Name the side of the hypotenuse?</a:t>
            </a:r>
          </a:p>
          <a:p>
            <a:pPr marL="514350" indent="-514350">
              <a:buAutoNum type="alphaLcParenR"/>
            </a:pPr>
            <a:r>
              <a:rPr lang="en-AU" dirty="0"/>
              <a:t>Determine the length of the hypotenuse.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45A6E-C03D-45D0-92D5-DE5898D82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3529012"/>
            <a:ext cx="6858000" cy="28670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43D5BE-95BE-4103-958F-C1707D144CBC}"/>
                  </a:ext>
                </a:extLst>
              </p:cNvPr>
              <p:cNvSpPr/>
              <p:nvPr/>
            </p:nvSpPr>
            <p:spPr>
              <a:xfrm>
                <a:off x="8229600" y="2967335"/>
                <a:ext cx="3543300" cy="31719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Answers</a:t>
                </a:r>
              </a:p>
              <a:p>
                <a:endParaRPr lang="en-AU" dirty="0"/>
              </a:p>
              <a:p>
                <a:r>
                  <a:rPr lang="en-AU" dirty="0"/>
                  <a:t>The hypotenuse is side f.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12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=144+25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69</m:t>
                      </m:r>
                    </m:oMath>
                  </m:oMathPara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latin typeface="Cambria Math" panose="02040503050406030204" pitchFamily="18" charset="0"/>
                            </a:rPr>
                            <m:t>169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pPr algn="ctr"/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AU" dirty="0"/>
                  <a:t> cm</a:t>
                </a:r>
              </a:p>
              <a:p>
                <a:endParaRPr lang="en-GB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243D5BE-95BE-4103-958F-C1707D144C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0" y="2967335"/>
                <a:ext cx="3543300" cy="3171959"/>
              </a:xfrm>
              <a:prstGeom prst="rect">
                <a:avLst/>
              </a:prstGeom>
              <a:blipFill>
                <a:blip r:embed="rId3"/>
                <a:stretch>
                  <a:fillRect l="-1377" t="-11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1218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8EB8-3AED-40E9-BD1F-969B307D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4548F-2333-4AF5-932C-A1C60B1432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 GRADE: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BB3FB5-76F1-4CFE-BD1D-254B7DEE5FE0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/>
              <a:t>Calculate the length AB.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3D5BE-95BE-4103-958F-C1707D144CBC}"/>
              </a:ext>
            </a:extLst>
          </p:cNvPr>
          <p:cNvSpPr/>
          <p:nvPr/>
        </p:nvSpPr>
        <p:spPr>
          <a:xfrm>
            <a:off x="8229600" y="2967335"/>
            <a:ext cx="35433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Answers</a:t>
            </a:r>
          </a:p>
          <a:p>
            <a:endParaRPr lang="en-AU" dirty="0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2AEB70-637A-4A13-9642-A93BD7AFD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2806700"/>
            <a:ext cx="4505325" cy="368617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A5E956F-287D-4140-A04F-971960E1D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71564"/>
            <a:ext cx="12554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                                  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 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         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 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        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 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31F20"/>
                </a:solidFill>
                <a:effectLst/>
                <a:latin typeface="ReithSans"/>
              </a:rPr>
              <a:t>                   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3314" name="Picture 2" descr="b^2 = 10^2 - 8^2">
            <a:extLst>
              <a:ext uri="{FF2B5EF4-FFF2-40B4-BE49-F238E27FC236}">
                <a16:creationId xmlns:a16="http://schemas.microsoft.com/office/drawing/2014/main" id="{DF3B6630-B86C-4EFE-96E6-1D0F39D7B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5825" y="3585865"/>
            <a:ext cx="9429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b^2 = 36">
            <a:extLst>
              <a:ext uri="{FF2B5EF4-FFF2-40B4-BE49-F238E27FC236}">
                <a16:creationId xmlns:a16="http://schemas.microsoft.com/office/drawing/2014/main" id="{9C575FBC-8067-411C-BB9B-D9C67BE290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456" y="4048125"/>
            <a:ext cx="514350" cy="16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b = \sqrt{36}">
            <a:extLst>
              <a:ext uri="{FF2B5EF4-FFF2-40B4-BE49-F238E27FC236}">
                <a16:creationId xmlns:a16="http://schemas.microsoft.com/office/drawing/2014/main" id="{C8404B7D-8119-421F-823D-6BDC7B617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456" y="4407714"/>
            <a:ext cx="619125" cy="209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7" name="Picture 5" descr="b = 6~\text{cm}">
            <a:extLst>
              <a:ext uri="{FF2B5EF4-FFF2-40B4-BE49-F238E27FC236}">
                <a16:creationId xmlns:a16="http://schemas.microsoft.com/office/drawing/2014/main" id="{0C79317E-4060-42C4-A942-5ED32CA43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3455" y="4748253"/>
            <a:ext cx="61912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8641AE6-0A47-4A0A-8918-FFD0A1E82815}"/>
              </a:ext>
            </a:extLst>
          </p:cNvPr>
          <p:cNvSpPr/>
          <p:nvPr/>
        </p:nvSpPr>
        <p:spPr>
          <a:xfrm>
            <a:off x="8097239" y="5050474"/>
            <a:ext cx="2250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231F20"/>
                </a:solidFill>
                <a:latin typeface="ReithSans"/>
              </a:rPr>
              <a:t>The length AB is 6 cm.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7849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When do I need to use the Pythagorean Theory?</a:t>
            </a:r>
            <a:endParaRPr lang="en-US" sz="24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7E7EE96-08F0-4745-846E-5CAAE2E714D3}"/>
                  </a:ext>
                </a:extLst>
              </p:cNvPr>
              <p:cNvSpPr/>
              <p:nvPr/>
            </p:nvSpPr>
            <p:spPr>
              <a:xfrm>
                <a:off x="2423736" y="2128118"/>
                <a:ext cx="79533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en-US" dirty="0"/>
                  <a:t>Find the value o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dirty="0"/>
                  <a:t>in the diagram below, correct to two decimal places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7E7EE96-08F0-4745-846E-5CAAE2E714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736" y="2128118"/>
                <a:ext cx="7953373" cy="369332"/>
              </a:xfrm>
              <a:prstGeom prst="rect">
                <a:avLst/>
              </a:prstGeom>
              <a:blipFill>
                <a:blip r:embed="rId3"/>
                <a:stretch>
                  <a:fillRect l="-690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BF476C37-CD5A-420C-9D19-39943B438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462" y="2411923"/>
            <a:ext cx="2924175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9E62F1-65BD-4848-827A-5058A6971C84}"/>
              </a:ext>
            </a:extLst>
          </p:cNvPr>
          <p:cNvSpPr txBox="1"/>
          <p:nvPr/>
        </p:nvSpPr>
        <p:spPr>
          <a:xfrm>
            <a:off x="2348737" y="1473480"/>
            <a:ext cx="889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JUST ANOTHER ONE OF THE REARRANGED EQUATIONS WITH THE ADDED COMPLEXITY OF  2 COMBINED TRIANGLES. USE ALL OF THE NUMBERS GIVEN TO YOU IN THE Q.</a:t>
            </a:r>
          </a:p>
        </p:txBody>
      </p:sp>
    </p:spTree>
    <p:extLst>
      <p:ext uri="{BB962C8B-B14F-4D97-AF65-F5344CB8AC3E}">
        <p14:creationId xmlns:p14="http://schemas.microsoft.com/office/powerpoint/2010/main" val="2302319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3144-E9B6-43D6-8C6F-E1134CED1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Practicing Pythagoras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9225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614</Words>
  <Application>Microsoft Office PowerPoint</Application>
  <PresentationFormat>Widescreen</PresentationFormat>
  <Paragraphs>152</Paragraphs>
  <Slides>13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Cambria Math</vt:lpstr>
      <vt:lpstr>DJB Fancy Nancy</vt:lpstr>
      <vt:lpstr>Kiwi School Handwriting</vt:lpstr>
      <vt:lpstr>ReithSans</vt:lpstr>
      <vt:lpstr>Times</vt:lpstr>
      <vt:lpstr>Wingdings</vt:lpstr>
      <vt:lpstr>Office Theme</vt:lpstr>
      <vt:lpstr>MathType 5.0 Equation</vt:lpstr>
      <vt:lpstr>Topic: Pythagoras</vt:lpstr>
      <vt:lpstr>        Topic: Pythagoras</vt:lpstr>
      <vt:lpstr>Learning Intentions</vt:lpstr>
      <vt:lpstr>PowerPoint Presentation</vt:lpstr>
      <vt:lpstr>PowerPoint Presentation</vt:lpstr>
      <vt:lpstr>PowerPoint Presentation</vt:lpstr>
      <vt:lpstr>PowerPoint Presentation</vt:lpstr>
      <vt:lpstr>EXAMPLES:</vt:lpstr>
      <vt:lpstr>EXAMPLES:</vt:lpstr>
      <vt:lpstr>Practice:</vt:lpstr>
      <vt:lpstr>Practice:</vt:lpstr>
      <vt:lpstr>PowerPoint Presentation</vt:lpstr>
      <vt:lpstr>Practicing Pythagoras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Pythagoras</dc:title>
  <dc:creator>Sarah James</dc:creator>
  <cp:lastModifiedBy>Sarah James</cp:lastModifiedBy>
  <cp:revision>10</cp:revision>
  <dcterms:created xsi:type="dcterms:W3CDTF">2019-09-03T02:35:33Z</dcterms:created>
  <dcterms:modified xsi:type="dcterms:W3CDTF">2019-09-03T11:28:31Z</dcterms:modified>
</cp:coreProperties>
</file>
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6"/>
  </p:notesMasterIdLst>
  <p:sldIdLst>
    <p:sldId id="289" r:id="rId2"/>
    <p:sldId id="306" r:id="rId3"/>
    <p:sldId id="326" r:id="rId4"/>
    <p:sldId id="263" r:id="rId5"/>
    <p:sldId id="265" r:id="rId6"/>
    <p:sldId id="264" r:id="rId7"/>
    <p:sldId id="266" r:id="rId8"/>
    <p:sldId id="343" r:id="rId9"/>
    <p:sldId id="340" r:id="rId10"/>
    <p:sldId id="344" r:id="rId11"/>
    <p:sldId id="260" r:id="rId12"/>
    <p:sldId id="275" r:id="rId13"/>
    <p:sldId id="345" r:id="rId14"/>
    <p:sldId id="25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" y="8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6.wmf"/><Relationship Id="rId1" Type="http://schemas.openxmlformats.org/officeDocument/2006/relationships/image" Target="../media/image5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41FBB1-E461-4EE2-8064-F0C5B06BD487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10EBA9-1C23-4FC6-AAC6-74DECE9A3A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5672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0293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Lesson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1AD3D9-0B11-4189-8D45-47537C1CF889}" type="slidenum">
              <a:rPr lang="en-AU" smtClean="0"/>
              <a:pPr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41599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95613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2859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2475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296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429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999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589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1926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6432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6507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4154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9350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3228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8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922357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873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4953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9406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104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3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808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3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01BDBF-F4FC-4BD8-8353-209347E61AA3}" type="datetimeFigureOut">
              <a:rPr lang="en-US" smtClean="0"/>
              <a:t>6/10/2018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384DA0-6F7A-44A9-ABED-D817F96A12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1945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7" Type="http://schemas.openxmlformats.org/officeDocument/2006/relationships/image" Target="../media/image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5.wmf"/><Relationship Id="rId4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7.wmf"/><Relationship Id="rId4" Type="http://schemas.openxmlformats.org/officeDocument/2006/relationships/oleObject" Target="../embeddings/oleObject3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71759" y="1697490"/>
            <a:ext cx="7766936" cy="1236891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VENN Diagrams</a:t>
            </a:r>
            <a:endParaRPr lang="en-US" b="1" dirty="0">
              <a:solidFill>
                <a:srgbClr val="0070C0"/>
              </a:solidFill>
              <a:latin typeface="DJB Fancy Nancy" panose="02000500000000000000" pitchFamily="2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71759" y="3500278"/>
            <a:ext cx="9446339" cy="1040326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 pitchFamily="2" charset="0"/>
              </a:rPr>
              <a:t>Year 10 Mathematics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5543392-3F6D-430F-85B7-9B79A4D93A42}"/>
              </a:ext>
            </a:extLst>
          </p:cNvPr>
          <p:cNvSpPr/>
          <p:nvPr/>
        </p:nvSpPr>
        <p:spPr>
          <a:xfrm>
            <a:off x="1205990" y="2934381"/>
            <a:ext cx="865079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/>
            <a:r>
              <a:rPr lang="en-AU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we sort data using Venn Diagrams?</a:t>
            </a: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Lesson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AU" dirty="0"/>
              <a:t>By the end of this lesson you will be able to;</a:t>
            </a:r>
          </a:p>
          <a:p>
            <a:pPr>
              <a:buFontTx/>
              <a:buChar char="-"/>
            </a:pPr>
            <a:r>
              <a:rPr lang="en-AU" dirty="0"/>
              <a:t>Constructs and uses </a:t>
            </a:r>
            <a:r>
              <a:rPr lang="en-AU" dirty="0" err="1"/>
              <a:t>venn</a:t>
            </a:r>
            <a:r>
              <a:rPr lang="en-AU" dirty="0"/>
              <a:t> diagrams to calculate probabilities</a:t>
            </a:r>
          </a:p>
          <a:p>
            <a:pPr marL="0" indent="0">
              <a:buNone/>
            </a:pPr>
            <a:endParaRPr lang="en-AU" dirty="0"/>
          </a:p>
          <a:p>
            <a:pPr>
              <a:buFontTx/>
              <a:buChar char="-"/>
            </a:pPr>
            <a:r>
              <a:rPr lang="en-AU" b="1" dirty="0">
                <a:solidFill>
                  <a:srgbClr val="00B050"/>
                </a:solidFill>
              </a:rPr>
              <a:t>C grade and above: </a:t>
            </a:r>
            <a:r>
              <a:rPr lang="en-AU" dirty="0"/>
              <a:t>Lists outcomes for two and three-step chance experiments using tree diagrams, arrays and Venn diagrams as required, with or without replacement, and calculates the probability of outcomes. </a:t>
            </a:r>
          </a:p>
          <a:p>
            <a:pPr marL="0" indent="0">
              <a:buNone/>
            </a:pPr>
            <a:endParaRPr lang="en-AU" dirty="0"/>
          </a:p>
          <a:p>
            <a:pPr>
              <a:buFontTx/>
              <a:buChar char="-"/>
            </a:pPr>
            <a:endParaRPr lang="en-AU" dirty="0"/>
          </a:p>
          <a:p>
            <a:pPr>
              <a:buFontTx/>
              <a:buChar char="-"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1679798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236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Venn Diagrams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we sort data using Venn diagrams?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14/06/2018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5AC4D26-AE99-4656-B4EB-BC04AE569673}"/>
              </a:ext>
            </a:extLst>
          </p:cNvPr>
          <p:cNvSpPr txBox="1"/>
          <p:nvPr/>
        </p:nvSpPr>
        <p:spPr>
          <a:xfrm>
            <a:off x="2194646" y="1370101"/>
            <a:ext cx="9570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Venn Diagrams are used to compare and contrasts sets of data. A set is a collection of items that have something in common and are written inside curly brackets, </a:t>
            </a:r>
            <a:r>
              <a:rPr lang="en-AU" b="1" dirty="0"/>
              <a:t>{ }.</a:t>
            </a:r>
          </a:p>
          <a:p>
            <a:endParaRPr lang="en-GB" dirty="0"/>
          </a:p>
        </p:txBody>
      </p:sp>
      <p:sp>
        <p:nvSpPr>
          <p:cNvPr id="15" name="Oval 4">
            <a:extLst>
              <a:ext uri="{FF2B5EF4-FFF2-40B4-BE49-F238E27FC236}">
                <a16:creationId xmlns:a16="http://schemas.microsoft.com/office/drawing/2014/main" id="{F8B9E21D-2041-440E-B807-0D2DEE8040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2208" y="2737030"/>
            <a:ext cx="3927959" cy="3309809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" name="Oval 5">
            <a:extLst>
              <a:ext uri="{FF2B5EF4-FFF2-40B4-BE49-F238E27FC236}">
                <a16:creationId xmlns:a16="http://schemas.microsoft.com/office/drawing/2014/main" id="{5870F1DC-C9C6-4990-A569-65CE656649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0495" y="2665592"/>
            <a:ext cx="3927959" cy="3309809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1" name="WordArt 6">
            <a:extLst>
              <a:ext uri="{FF2B5EF4-FFF2-40B4-BE49-F238E27FC236}">
                <a16:creationId xmlns:a16="http://schemas.microsoft.com/office/drawing/2014/main" id="{B94E9FF0-EE7C-4E58-B732-FC4E81B8F61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2831761" y="6524050"/>
            <a:ext cx="134314" cy="290536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3</a:t>
            </a:r>
          </a:p>
        </p:txBody>
      </p:sp>
      <p:sp>
        <p:nvSpPr>
          <p:cNvPr id="22" name="WordArt 7">
            <a:extLst>
              <a:ext uri="{FF2B5EF4-FFF2-40B4-BE49-F238E27FC236}">
                <a16:creationId xmlns:a16="http://schemas.microsoft.com/office/drawing/2014/main" id="{CB2B5B30-E69B-42FA-B27B-7A790DC82AC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334999" y="6524050"/>
            <a:ext cx="134314" cy="290536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5</a:t>
            </a:r>
          </a:p>
        </p:txBody>
      </p:sp>
      <p:sp>
        <p:nvSpPr>
          <p:cNvPr id="23" name="WordArt 8">
            <a:extLst>
              <a:ext uri="{FF2B5EF4-FFF2-40B4-BE49-F238E27FC236}">
                <a16:creationId xmlns:a16="http://schemas.microsoft.com/office/drawing/2014/main" id="{F17E8CA5-C51D-4A7D-8BAB-52BFD55136B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3766799" y="6524050"/>
            <a:ext cx="134314" cy="290536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7</a:t>
            </a:r>
          </a:p>
        </p:txBody>
      </p:sp>
      <p:sp>
        <p:nvSpPr>
          <p:cNvPr id="24" name="WordArt 9">
            <a:extLst>
              <a:ext uri="{FF2B5EF4-FFF2-40B4-BE49-F238E27FC236}">
                <a16:creationId xmlns:a16="http://schemas.microsoft.com/office/drawing/2014/main" id="{CD845A99-3E7F-4898-BADA-9ACF9708F684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128738" y="6524050"/>
            <a:ext cx="271614" cy="290536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10</a:t>
            </a:r>
          </a:p>
        </p:txBody>
      </p:sp>
      <p:sp>
        <p:nvSpPr>
          <p:cNvPr id="25" name="WordArt 11">
            <a:extLst>
              <a:ext uri="{FF2B5EF4-FFF2-40B4-BE49-F238E27FC236}">
                <a16:creationId xmlns:a16="http://schemas.microsoft.com/office/drawing/2014/main" id="{03A9A7B2-5CC4-4951-ADDA-94A566F6A1C6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281263" y="6524050"/>
            <a:ext cx="271614" cy="290536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15</a:t>
            </a:r>
          </a:p>
        </p:txBody>
      </p:sp>
      <p:sp>
        <p:nvSpPr>
          <p:cNvPr id="26" name="WordArt 12">
            <a:extLst>
              <a:ext uri="{FF2B5EF4-FFF2-40B4-BE49-F238E27FC236}">
                <a16:creationId xmlns:a16="http://schemas.microsoft.com/office/drawing/2014/main" id="{7AE08770-E194-4E39-8237-FF8BD6C5A8A9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5786088" y="6524050"/>
            <a:ext cx="271614" cy="290536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18</a:t>
            </a:r>
          </a:p>
        </p:txBody>
      </p:sp>
      <p:sp>
        <p:nvSpPr>
          <p:cNvPr id="27" name="WordArt 13">
            <a:extLst>
              <a:ext uri="{FF2B5EF4-FFF2-40B4-BE49-F238E27FC236}">
                <a16:creationId xmlns:a16="http://schemas.microsoft.com/office/drawing/2014/main" id="{9BBB5E0B-8F50-4B1A-8B3F-A3671261CD53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6433788" y="6524050"/>
            <a:ext cx="271614" cy="290536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24</a:t>
            </a:r>
          </a:p>
        </p:txBody>
      </p:sp>
      <p:sp>
        <p:nvSpPr>
          <p:cNvPr id="28" name="WordArt 14">
            <a:extLst>
              <a:ext uri="{FF2B5EF4-FFF2-40B4-BE49-F238E27FC236}">
                <a16:creationId xmlns:a16="http://schemas.microsoft.com/office/drawing/2014/main" id="{8DF5533C-8692-4C72-9C7C-D186AE0A2CFB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018113" y="6524050"/>
            <a:ext cx="271614" cy="290536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30</a:t>
            </a:r>
          </a:p>
        </p:txBody>
      </p:sp>
      <p:sp>
        <p:nvSpPr>
          <p:cNvPr id="29" name="WordArt 15">
            <a:extLst>
              <a:ext uri="{FF2B5EF4-FFF2-40B4-BE49-F238E27FC236}">
                <a16:creationId xmlns:a16="http://schemas.microsoft.com/office/drawing/2014/main" id="{343CDFC9-C1F5-4DCC-8BEA-FFC8D8D3647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705001" y="6524050"/>
            <a:ext cx="271614" cy="290536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13</a:t>
            </a:r>
          </a:p>
        </p:txBody>
      </p:sp>
      <p:sp>
        <p:nvSpPr>
          <p:cNvPr id="30" name="WordArt 16">
            <a:extLst>
              <a:ext uri="{FF2B5EF4-FFF2-40B4-BE49-F238E27FC236}">
                <a16:creationId xmlns:a16="http://schemas.microsoft.com/office/drawing/2014/main" id="{F98AA517-95E7-424D-8DEA-07897AF7E71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010051" y="6524050"/>
            <a:ext cx="271614" cy="290536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25</a:t>
            </a:r>
          </a:p>
        </p:txBody>
      </p:sp>
      <p:sp>
        <p:nvSpPr>
          <p:cNvPr id="31" name="WordArt 17">
            <a:extLst>
              <a:ext uri="{FF2B5EF4-FFF2-40B4-BE49-F238E27FC236}">
                <a16:creationId xmlns:a16="http://schemas.microsoft.com/office/drawing/2014/main" id="{BC0F5348-363A-433B-9B88-E9E013198D5F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7513288" y="6524050"/>
            <a:ext cx="271614" cy="290536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27</a:t>
            </a:r>
          </a:p>
        </p:txBody>
      </p:sp>
      <p:sp>
        <p:nvSpPr>
          <p:cNvPr id="32" name="WordArt 18">
            <a:extLst>
              <a:ext uri="{FF2B5EF4-FFF2-40B4-BE49-F238E27FC236}">
                <a16:creationId xmlns:a16="http://schemas.microsoft.com/office/drawing/2014/main" id="{8360E1C7-4C78-405B-B889-6E7552223301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169051" y="6524050"/>
            <a:ext cx="271614" cy="290536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40</a:t>
            </a:r>
          </a:p>
        </p:txBody>
      </p:sp>
      <p:sp>
        <p:nvSpPr>
          <p:cNvPr id="34" name="WordArt 19">
            <a:extLst>
              <a:ext uri="{FF2B5EF4-FFF2-40B4-BE49-F238E27FC236}">
                <a16:creationId xmlns:a16="http://schemas.microsoft.com/office/drawing/2014/main" id="{F862E7E4-06A0-4855-9DAA-B51DFB0FB88A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9673876" y="6524050"/>
            <a:ext cx="271614" cy="290536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50</a:t>
            </a:r>
          </a:p>
        </p:txBody>
      </p:sp>
      <p:sp>
        <p:nvSpPr>
          <p:cNvPr id="35" name="WordArt 20">
            <a:extLst>
              <a:ext uri="{FF2B5EF4-FFF2-40B4-BE49-F238E27FC236}">
                <a16:creationId xmlns:a16="http://schemas.microsoft.com/office/drawing/2014/main" id="{51A309DC-7984-4EEF-9448-FFD91B6DCAF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8594376" y="6524050"/>
            <a:ext cx="271614" cy="290536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36</a:t>
            </a:r>
          </a:p>
        </p:txBody>
      </p:sp>
      <p:sp>
        <p:nvSpPr>
          <p:cNvPr id="36" name="Text Box 21">
            <a:extLst>
              <a:ext uri="{FF2B5EF4-FFF2-40B4-BE49-F238E27FC236}">
                <a16:creationId xmlns:a16="http://schemas.microsoft.com/office/drawing/2014/main" id="{688399D4-BAAB-4B5C-BDA8-5CA69DA4C1D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1335" y="6188709"/>
            <a:ext cx="8673988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These numbers needed to be sorted into multiples of 3 and even numbers</a:t>
            </a:r>
          </a:p>
        </p:txBody>
      </p:sp>
      <p:sp>
        <p:nvSpPr>
          <p:cNvPr id="37" name="Text Box 22">
            <a:extLst>
              <a:ext uri="{FF2B5EF4-FFF2-40B4-BE49-F238E27FC236}">
                <a16:creationId xmlns:a16="http://schemas.microsoft.com/office/drawing/2014/main" id="{9475032D-6526-47FA-A792-9055B91C42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92634" y="1996348"/>
            <a:ext cx="1759522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/>
              <a:t>Multiples of 3</a:t>
            </a:r>
          </a:p>
        </p:txBody>
      </p:sp>
      <p:sp>
        <p:nvSpPr>
          <p:cNvPr id="38" name="Text Box 23">
            <a:extLst>
              <a:ext uri="{FF2B5EF4-FFF2-40B4-BE49-F238E27FC236}">
                <a16:creationId xmlns:a16="http://schemas.microsoft.com/office/drawing/2014/main" id="{A293DB6A-2ABF-4F5D-A729-A63E69D80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74626" y="1985573"/>
            <a:ext cx="175952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 dirty="0"/>
              <a:t>Even numbers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727920C-3F82-4A2B-9E0A-F8F85C174862}"/>
              </a:ext>
            </a:extLst>
          </p:cNvPr>
          <p:cNvSpPr/>
          <p:nvPr/>
        </p:nvSpPr>
        <p:spPr>
          <a:xfrm>
            <a:off x="2796970" y="2378247"/>
            <a:ext cx="8122938" cy="3830727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774890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/>
          <p:cNvSpPr txBox="1">
            <a:spLocks noChangeArrowheads="1"/>
          </p:cNvSpPr>
          <p:nvPr/>
        </p:nvSpPr>
        <p:spPr bwMode="auto">
          <a:xfrm>
            <a:off x="1847851" y="260351"/>
            <a:ext cx="86407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800" b="1">
                <a:effectLst>
                  <a:outerShdw blurRad="38100" dist="38100" dir="2700000" algn="tl">
                    <a:srgbClr val="FFFFFF"/>
                  </a:outerShdw>
                </a:effectLst>
              </a:rPr>
              <a:t>A VENN DIAGRAM IS USED TO SORT THINGS</a:t>
            </a:r>
          </a:p>
        </p:txBody>
      </p:sp>
      <p:sp>
        <p:nvSpPr>
          <p:cNvPr id="9221" name="Oval 5"/>
          <p:cNvSpPr>
            <a:spLocks noChangeArrowheads="1"/>
          </p:cNvSpPr>
          <p:nvPr/>
        </p:nvSpPr>
        <p:spPr bwMode="auto">
          <a:xfrm>
            <a:off x="5375275" y="1196976"/>
            <a:ext cx="4178300" cy="4105275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222" name="WordArt 6"/>
          <p:cNvSpPr>
            <a:spLocks noChangeArrowheads="1" noChangeShapeType="1" noTextEdit="1"/>
          </p:cNvSpPr>
          <p:nvPr/>
        </p:nvSpPr>
        <p:spPr bwMode="auto">
          <a:xfrm>
            <a:off x="1847851" y="6237288"/>
            <a:ext cx="14287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3</a:t>
            </a:r>
          </a:p>
        </p:txBody>
      </p:sp>
      <p:sp>
        <p:nvSpPr>
          <p:cNvPr id="9223" name="WordArt 7"/>
          <p:cNvSpPr>
            <a:spLocks noChangeArrowheads="1" noChangeShapeType="1" noTextEdit="1"/>
          </p:cNvSpPr>
          <p:nvPr/>
        </p:nvSpPr>
        <p:spPr bwMode="auto">
          <a:xfrm>
            <a:off x="2351089" y="6237288"/>
            <a:ext cx="14287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5</a:t>
            </a:r>
          </a:p>
        </p:txBody>
      </p:sp>
      <p:sp>
        <p:nvSpPr>
          <p:cNvPr id="9224" name="WordArt 8"/>
          <p:cNvSpPr>
            <a:spLocks noChangeArrowheads="1" noChangeShapeType="1" noTextEdit="1"/>
          </p:cNvSpPr>
          <p:nvPr/>
        </p:nvSpPr>
        <p:spPr bwMode="auto">
          <a:xfrm>
            <a:off x="2782889" y="6237288"/>
            <a:ext cx="14287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7</a:t>
            </a:r>
          </a:p>
        </p:txBody>
      </p:sp>
      <p:sp>
        <p:nvSpPr>
          <p:cNvPr id="9225" name="WordArt 9"/>
          <p:cNvSpPr>
            <a:spLocks noChangeArrowheads="1" noChangeShapeType="1" noTextEdit="1"/>
          </p:cNvSpPr>
          <p:nvPr/>
        </p:nvSpPr>
        <p:spPr bwMode="auto">
          <a:xfrm>
            <a:off x="3143251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10</a:t>
            </a:r>
          </a:p>
        </p:txBody>
      </p:sp>
      <p:sp>
        <p:nvSpPr>
          <p:cNvPr id="9226" name="WordArt 10"/>
          <p:cNvSpPr>
            <a:spLocks noChangeArrowheads="1" noChangeShapeType="1" noTextEdit="1"/>
          </p:cNvSpPr>
          <p:nvPr/>
        </p:nvSpPr>
        <p:spPr bwMode="auto">
          <a:xfrm>
            <a:off x="4295776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15</a:t>
            </a:r>
          </a:p>
        </p:txBody>
      </p:sp>
      <p:sp>
        <p:nvSpPr>
          <p:cNvPr id="9227" name="WordArt 11"/>
          <p:cNvSpPr>
            <a:spLocks noChangeArrowheads="1" noChangeShapeType="1" noTextEdit="1"/>
          </p:cNvSpPr>
          <p:nvPr/>
        </p:nvSpPr>
        <p:spPr bwMode="auto">
          <a:xfrm>
            <a:off x="4800601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18</a:t>
            </a:r>
          </a:p>
        </p:txBody>
      </p:sp>
      <p:sp>
        <p:nvSpPr>
          <p:cNvPr id="9228" name="WordArt 12"/>
          <p:cNvSpPr>
            <a:spLocks noChangeArrowheads="1" noChangeShapeType="1" noTextEdit="1"/>
          </p:cNvSpPr>
          <p:nvPr/>
        </p:nvSpPr>
        <p:spPr bwMode="auto">
          <a:xfrm>
            <a:off x="5448301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24</a:t>
            </a:r>
          </a:p>
        </p:txBody>
      </p:sp>
      <p:sp>
        <p:nvSpPr>
          <p:cNvPr id="9229" name="WordArt 13"/>
          <p:cNvSpPr>
            <a:spLocks noChangeArrowheads="1" noChangeShapeType="1" noTextEdit="1"/>
          </p:cNvSpPr>
          <p:nvPr/>
        </p:nvSpPr>
        <p:spPr bwMode="auto">
          <a:xfrm>
            <a:off x="7032626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30</a:t>
            </a:r>
          </a:p>
        </p:txBody>
      </p:sp>
      <p:sp>
        <p:nvSpPr>
          <p:cNvPr id="9230" name="WordArt 14"/>
          <p:cNvSpPr>
            <a:spLocks noChangeArrowheads="1" noChangeShapeType="1" noTextEdit="1"/>
          </p:cNvSpPr>
          <p:nvPr/>
        </p:nvSpPr>
        <p:spPr bwMode="auto">
          <a:xfrm>
            <a:off x="3719514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13</a:t>
            </a:r>
          </a:p>
        </p:txBody>
      </p:sp>
      <p:sp>
        <p:nvSpPr>
          <p:cNvPr id="9231" name="WordArt 15"/>
          <p:cNvSpPr>
            <a:spLocks noChangeArrowheads="1" noChangeShapeType="1" noTextEdit="1"/>
          </p:cNvSpPr>
          <p:nvPr/>
        </p:nvSpPr>
        <p:spPr bwMode="auto">
          <a:xfrm>
            <a:off x="6024564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25</a:t>
            </a:r>
          </a:p>
        </p:txBody>
      </p:sp>
      <p:sp>
        <p:nvSpPr>
          <p:cNvPr id="9232" name="WordArt 16"/>
          <p:cNvSpPr>
            <a:spLocks noChangeArrowheads="1" noChangeShapeType="1" noTextEdit="1"/>
          </p:cNvSpPr>
          <p:nvPr/>
        </p:nvSpPr>
        <p:spPr bwMode="auto">
          <a:xfrm>
            <a:off x="6527801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27</a:t>
            </a:r>
          </a:p>
        </p:txBody>
      </p:sp>
      <p:sp>
        <p:nvSpPr>
          <p:cNvPr id="9233" name="WordArt 17"/>
          <p:cNvSpPr>
            <a:spLocks noChangeArrowheads="1" noChangeShapeType="1" noTextEdit="1"/>
          </p:cNvSpPr>
          <p:nvPr/>
        </p:nvSpPr>
        <p:spPr bwMode="auto">
          <a:xfrm>
            <a:off x="8183564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40</a:t>
            </a:r>
          </a:p>
        </p:txBody>
      </p:sp>
      <p:sp>
        <p:nvSpPr>
          <p:cNvPr id="9234" name="WordArt 18"/>
          <p:cNvSpPr>
            <a:spLocks noChangeArrowheads="1" noChangeShapeType="1" noTextEdit="1"/>
          </p:cNvSpPr>
          <p:nvPr/>
        </p:nvSpPr>
        <p:spPr bwMode="auto">
          <a:xfrm>
            <a:off x="8688389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50</a:t>
            </a:r>
          </a:p>
        </p:txBody>
      </p:sp>
      <p:sp>
        <p:nvSpPr>
          <p:cNvPr id="9235" name="WordArt 19"/>
          <p:cNvSpPr>
            <a:spLocks noChangeArrowheads="1" noChangeShapeType="1" noTextEdit="1"/>
          </p:cNvSpPr>
          <p:nvPr/>
        </p:nvSpPr>
        <p:spPr bwMode="auto">
          <a:xfrm>
            <a:off x="7608889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36</a:t>
            </a:r>
          </a:p>
        </p:txBody>
      </p:sp>
      <p:sp>
        <p:nvSpPr>
          <p:cNvPr id="9236" name="Text Box 20"/>
          <p:cNvSpPr txBox="1">
            <a:spLocks noChangeArrowheads="1"/>
          </p:cNvSpPr>
          <p:nvPr/>
        </p:nvSpPr>
        <p:spPr bwMode="auto">
          <a:xfrm>
            <a:off x="3792538" y="836613"/>
            <a:ext cx="18716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/>
              <a:t>Multiples of 3</a:t>
            </a:r>
          </a:p>
        </p:txBody>
      </p:sp>
      <p:sp>
        <p:nvSpPr>
          <p:cNvPr id="9237" name="Text Box 21"/>
          <p:cNvSpPr txBox="1">
            <a:spLocks noChangeArrowheads="1"/>
          </p:cNvSpPr>
          <p:nvPr/>
        </p:nvSpPr>
        <p:spPr bwMode="auto">
          <a:xfrm>
            <a:off x="6600826" y="765176"/>
            <a:ext cx="18716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/>
              <a:t>Even numbers</a:t>
            </a:r>
          </a:p>
        </p:txBody>
      </p:sp>
      <p:sp>
        <p:nvSpPr>
          <p:cNvPr id="9220" name="Oval 4"/>
          <p:cNvSpPr>
            <a:spLocks noChangeArrowheads="1"/>
          </p:cNvSpPr>
          <p:nvPr/>
        </p:nvSpPr>
        <p:spPr bwMode="auto">
          <a:xfrm>
            <a:off x="2566988" y="1268414"/>
            <a:ext cx="4178300" cy="41052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9238" name="Text Box 22"/>
          <p:cNvSpPr txBox="1">
            <a:spLocks noChangeArrowheads="1"/>
          </p:cNvSpPr>
          <p:nvPr/>
        </p:nvSpPr>
        <p:spPr bwMode="auto">
          <a:xfrm>
            <a:off x="3575050" y="2060576"/>
            <a:ext cx="2089150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3200" b="1"/>
              <a:t>Multiples of 3 go inside this circle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03512" y="765175"/>
            <a:ext cx="8640638" cy="4751388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00407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ext Box 2"/>
          <p:cNvSpPr txBox="1">
            <a:spLocks noChangeArrowheads="1"/>
          </p:cNvSpPr>
          <p:nvPr/>
        </p:nvSpPr>
        <p:spPr bwMode="auto">
          <a:xfrm>
            <a:off x="1847851" y="260351"/>
            <a:ext cx="86407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800" b="1">
                <a:effectLst>
                  <a:outerShdw blurRad="38100" dist="38100" dir="2700000" algn="tl">
                    <a:srgbClr val="FFFFFF"/>
                  </a:outerShdw>
                </a:effectLst>
              </a:rPr>
              <a:t>A VENN DIAGRAM IS USED TO SORT THINGS</a:t>
            </a:r>
          </a:p>
        </p:txBody>
      </p:sp>
      <p:sp>
        <p:nvSpPr>
          <p:cNvPr id="11267" name="Oval 3"/>
          <p:cNvSpPr>
            <a:spLocks noChangeArrowheads="1"/>
          </p:cNvSpPr>
          <p:nvPr/>
        </p:nvSpPr>
        <p:spPr bwMode="auto">
          <a:xfrm>
            <a:off x="2566988" y="1268414"/>
            <a:ext cx="4178300" cy="4105275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1268" name="Oval 4"/>
          <p:cNvSpPr>
            <a:spLocks noChangeArrowheads="1"/>
          </p:cNvSpPr>
          <p:nvPr/>
        </p:nvSpPr>
        <p:spPr bwMode="auto">
          <a:xfrm>
            <a:off x="5375275" y="1196976"/>
            <a:ext cx="4178300" cy="4105275"/>
          </a:xfrm>
          <a:prstGeom prst="ellipse">
            <a:avLst/>
          </a:prstGeom>
          <a:solidFill>
            <a:schemeClr val="accent1"/>
          </a:solidFill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1269" name="WordArt 5"/>
          <p:cNvSpPr>
            <a:spLocks noChangeArrowheads="1" noChangeShapeType="1" noTextEdit="1"/>
          </p:cNvSpPr>
          <p:nvPr/>
        </p:nvSpPr>
        <p:spPr bwMode="auto">
          <a:xfrm>
            <a:off x="1847851" y="6237288"/>
            <a:ext cx="14287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3</a:t>
            </a:r>
          </a:p>
        </p:txBody>
      </p:sp>
      <p:sp>
        <p:nvSpPr>
          <p:cNvPr id="11270" name="WordArt 6"/>
          <p:cNvSpPr>
            <a:spLocks noChangeArrowheads="1" noChangeShapeType="1" noTextEdit="1"/>
          </p:cNvSpPr>
          <p:nvPr/>
        </p:nvSpPr>
        <p:spPr bwMode="auto">
          <a:xfrm>
            <a:off x="2351089" y="6237288"/>
            <a:ext cx="14287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5</a:t>
            </a:r>
          </a:p>
        </p:txBody>
      </p:sp>
      <p:sp>
        <p:nvSpPr>
          <p:cNvPr id="11271" name="WordArt 7"/>
          <p:cNvSpPr>
            <a:spLocks noChangeArrowheads="1" noChangeShapeType="1" noTextEdit="1"/>
          </p:cNvSpPr>
          <p:nvPr/>
        </p:nvSpPr>
        <p:spPr bwMode="auto">
          <a:xfrm>
            <a:off x="2782889" y="6237288"/>
            <a:ext cx="14287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7</a:t>
            </a:r>
          </a:p>
        </p:txBody>
      </p:sp>
      <p:sp>
        <p:nvSpPr>
          <p:cNvPr id="11272" name="WordArt 8"/>
          <p:cNvSpPr>
            <a:spLocks noChangeArrowheads="1" noChangeShapeType="1" noTextEdit="1"/>
          </p:cNvSpPr>
          <p:nvPr/>
        </p:nvSpPr>
        <p:spPr bwMode="auto">
          <a:xfrm>
            <a:off x="3143251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10</a:t>
            </a:r>
          </a:p>
        </p:txBody>
      </p:sp>
      <p:sp>
        <p:nvSpPr>
          <p:cNvPr id="11273" name="WordArt 9"/>
          <p:cNvSpPr>
            <a:spLocks noChangeArrowheads="1" noChangeShapeType="1" noTextEdit="1"/>
          </p:cNvSpPr>
          <p:nvPr/>
        </p:nvSpPr>
        <p:spPr bwMode="auto">
          <a:xfrm>
            <a:off x="4295776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15</a:t>
            </a:r>
          </a:p>
        </p:txBody>
      </p:sp>
      <p:sp>
        <p:nvSpPr>
          <p:cNvPr id="11274" name="WordArt 10"/>
          <p:cNvSpPr>
            <a:spLocks noChangeArrowheads="1" noChangeShapeType="1" noTextEdit="1"/>
          </p:cNvSpPr>
          <p:nvPr/>
        </p:nvSpPr>
        <p:spPr bwMode="auto">
          <a:xfrm>
            <a:off x="4800601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18</a:t>
            </a:r>
          </a:p>
        </p:txBody>
      </p:sp>
      <p:sp>
        <p:nvSpPr>
          <p:cNvPr id="11275" name="WordArt 11"/>
          <p:cNvSpPr>
            <a:spLocks noChangeArrowheads="1" noChangeShapeType="1" noTextEdit="1"/>
          </p:cNvSpPr>
          <p:nvPr/>
        </p:nvSpPr>
        <p:spPr bwMode="auto">
          <a:xfrm>
            <a:off x="5448301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24</a:t>
            </a:r>
          </a:p>
        </p:txBody>
      </p:sp>
      <p:sp>
        <p:nvSpPr>
          <p:cNvPr id="11276" name="WordArt 12"/>
          <p:cNvSpPr>
            <a:spLocks noChangeArrowheads="1" noChangeShapeType="1" noTextEdit="1"/>
          </p:cNvSpPr>
          <p:nvPr/>
        </p:nvSpPr>
        <p:spPr bwMode="auto">
          <a:xfrm>
            <a:off x="7032626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30</a:t>
            </a:r>
          </a:p>
        </p:txBody>
      </p:sp>
      <p:sp>
        <p:nvSpPr>
          <p:cNvPr id="11277" name="WordArt 13"/>
          <p:cNvSpPr>
            <a:spLocks noChangeArrowheads="1" noChangeShapeType="1" noTextEdit="1"/>
          </p:cNvSpPr>
          <p:nvPr/>
        </p:nvSpPr>
        <p:spPr bwMode="auto">
          <a:xfrm>
            <a:off x="3719514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13</a:t>
            </a:r>
          </a:p>
        </p:txBody>
      </p:sp>
      <p:sp>
        <p:nvSpPr>
          <p:cNvPr id="11278" name="WordArt 14"/>
          <p:cNvSpPr>
            <a:spLocks noChangeArrowheads="1" noChangeShapeType="1" noTextEdit="1"/>
          </p:cNvSpPr>
          <p:nvPr/>
        </p:nvSpPr>
        <p:spPr bwMode="auto">
          <a:xfrm>
            <a:off x="6024564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25</a:t>
            </a:r>
          </a:p>
        </p:txBody>
      </p:sp>
      <p:sp>
        <p:nvSpPr>
          <p:cNvPr id="11279" name="WordArt 15"/>
          <p:cNvSpPr>
            <a:spLocks noChangeArrowheads="1" noChangeShapeType="1" noTextEdit="1"/>
          </p:cNvSpPr>
          <p:nvPr/>
        </p:nvSpPr>
        <p:spPr bwMode="auto">
          <a:xfrm>
            <a:off x="6527801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27</a:t>
            </a:r>
          </a:p>
        </p:txBody>
      </p:sp>
      <p:sp>
        <p:nvSpPr>
          <p:cNvPr id="11280" name="WordArt 16"/>
          <p:cNvSpPr>
            <a:spLocks noChangeArrowheads="1" noChangeShapeType="1" noTextEdit="1"/>
          </p:cNvSpPr>
          <p:nvPr/>
        </p:nvSpPr>
        <p:spPr bwMode="auto">
          <a:xfrm>
            <a:off x="8183564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40</a:t>
            </a:r>
          </a:p>
        </p:txBody>
      </p:sp>
      <p:sp>
        <p:nvSpPr>
          <p:cNvPr id="11281" name="WordArt 17"/>
          <p:cNvSpPr>
            <a:spLocks noChangeArrowheads="1" noChangeShapeType="1" noTextEdit="1"/>
          </p:cNvSpPr>
          <p:nvPr/>
        </p:nvSpPr>
        <p:spPr bwMode="auto">
          <a:xfrm>
            <a:off x="8688389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50</a:t>
            </a:r>
          </a:p>
        </p:txBody>
      </p:sp>
      <p:sp>
        <p:nvSpPr>
          <p:cNvPr id="11282" name="WordArt 18"/>
          <p:cNvSpPr>
            <a:spLocks noChangeArrowheads="1" noChangeShapeType="1" noTextEdit="1"/>
          </p:cNvSpPr>
          <p:nvPr/>
        </p:nvSpPr>
        <p:spPr bwMode="auto">
          <a:xfrm>
            <a:off x="7608889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36</a:t>
            </a:r>
          </a:p>
        </p:txBody>
      </p:sp>
      <p:sp>
        <p:nvSpPr>
          <p:cNvPr id="11283" name="Text Box 19"/>
          <p:cNvSpPr txBox="1">
            <a:spLocks noChangeArrowheads="1"/>
          </p:cNvSpPr>
          <p:nvPr/>
        </p:nvSpPr>
        <p:spPr bwMode="auto">
          <a:xfrm>
            <a:off x="3792538" y="836613"/>
            <a:ext cx="18716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/>
              <a:t>Multiples of 3</a:t>
            </a:r>
          </a:p>
        </p:txBody>
      </p:sp>
      <p:sp>
        <p:nvSpPr>
          <p:cNvPr id="11284" name="Text Box 20"/>
          <p:cNvSpPr txBox="1">
            <a:spLocks noChangeArrowheads="1"/>
          </p:cNvSpPr>
          <p:nvPr/>
        </p:nvSpPr>
        <p:spPr bwMode="auto">
          <a:xfrm>
            <a:off x="6600826" y="765176"/>
            <a:ext cx="18716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/>
              <a:t>Even numbers</a:t>
            </a:r>
          </a:p>
        </p:txBody>
      </p:sp>
      <p:sp>
        <p:nvSpPr>
          <p:cNvPr id="11285" name="Text Box 21"/>
          <p:cNvSpPr txBox="1">
            <a:spLocks noChangeArrowheads="1"/>
          </p:cNvSpPr>
          <p:nvPr/>
        </p:nvSpPr>
        <p:spPr bwMode="auto">
          <a:xfrm>
            <a:off x="6600826" y="2060576"/>
            <a:ext cx="2087563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3200" b="1"/>
              <a:t>Even numbers go inside this circle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03512" y="765175"/>
            <a:ext cx="8640638" cy="4751388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6998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 Box 2"/>
          <p:cNvSpPr txBox="1">
            <a:spLocks noChangeArrowheads="1"/>
          </p:cNvSpPr>
          <p:nvPr/>
        </p:nvSpPr>
        <p:spPr bwMode="auto">
          <a:xfrm>
            <a:off x="1847851" y="260351"/>
            <a:ext cx="86407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800" b="1">
                <a:effectLst>
                  <a:outerShdw blurRad="38100" dist="38100" dir="2700000" algn="tl">
                    <a:srgbClr val="FFFFFF"/>
                  </a:outerShdw>
                </a:effectLst>
              </a:rPr>
              <a:t>A VENN DIAGRAM IS USED TO SORT THINGS</a:t>
            </a:r>
          </a:p>
        </p:txBody>
      </p:sp>
      <p:sp>
        <p:nvSpPr>
          <p:cNvPr id="10243" name="Oval 3"/>
          <p:cNvSpPr>
            <a:spLocks noChangeArrowheads="1"/>
          </p:cNvSpPr>
          <p:nvPr/>
        </p:nvSpPr>
        <p:spPr bwMode="auto">
          <a:xfrm>
            <a:off x="2566988" y="1268414"/>
            <a:ext cx="4178300" cy="4105275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0244" name="Oval 4"/>
          <p:cNvSpPr>
            <a:spLocks noChangeArrowheads="1"/>
          </p:cNvSpPr>
          <p:nvPr/>
        </p:nvSpPr>
        <p:spPr bwMode="auto">
          <a:xfrm>
            <a:off x="5375275" y="1196976"/>
            <a:ext cx="4178300" cy="4105275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0245" name="WordArt 5"/>
          <p:cNvSpPr>
            <a:spLocks noChangeArrowheads="1" noChangeShapeType="1" noTextEdit="1"/>
          </p:cNvSpPr>
          <p:nvPr/>
        </p:nvSpPr>
        <p:spPr bwMode="auto">
          <a:xfrm>
            <a:off x="1847851" y="6237288"/>
            <a:ext cx="14287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3</a:t>
            </a:r>
          </a:p>
        </p:txBody>
      </p:sp>
      <p:sp>
        <p:nvSpPr>
          <p:cNvPr id="10246" name="WordArt 6"/>
          <p:cNvSpPr>
            <a:spLocks noChangeArrowheads="1" noChangeShapeType="1" noTextEdit="1"/>
          </p:cNvSpPr>
          <p:nvPr/>
        </p:nvSpPr>
        <p:spPr bwMode="auto">
          <a:xfrm>
            <a:off x="2351089" y="6237288"/>
            <a:ext cx="14287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5</a:t>
            </a:r>
          </a:p>
        </p:txBody>
      </p:sp>
      <p:sp>
        <p:nvSpPr>
          <p:cNvPr id="10247" name="WordArt 7"/>
          <p:cNvSpPr>
            <a:spLocks noChangeArrowheads="1" noChangeShapeType="1" noTextEdit="1"/>
          </p:cNvSpPr>
          <p:nvPr/>
        </p:nvSpPr>
        <p:spPr bwMode="auto">
          <a:xfrm>
            <a:off x="2782889" y="6237288"/>
            <a:ext cx="14287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7</a:t>
            </a:r>
          </a:p>
        </p:txBody>
      </p:sp>
      <p:sp>
        <p:nvSpPr>
          <p:cNvPr id="10248" name="WordArt 8"/>
          <p:cNvSpPr>
            <a:spLocks noChangeArrowheads="1" noChangeShapeType="1" noTextEdit="1"/>
          </p:cNvSpPr>
          <p:nvPr/>
        </p:nvSpPr>
        <p:spPr bwMode="auto">
          <a:xfrm>
            <a:off x="3143251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10</a:t>
            </a:r>
          </a:p>
        </p:txBody>
      </p:sp>
      <p:sp>
        <p:nvSpPr>
          <p:cNvPr id="10249" name="WordArt 9"/>
          <p:cNvSpPr>
            <a:spLocks noChangeArrowheads="1" noChangeShapeType="1" noTextEdit="1"/>
          </p:cNvSpPr>
          <p:nvPr/>
        </p:nvSpPr>
        <p:spPr bwMode="auto">
          <a:xfrm>
            <a:off x="4295776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15</a:t>
            </a:r>
          </a:p>
        </p:txBody>
      </p:sp>
      <p:sp>
        <p:nvSpPr>
          <p:cNvPr id="10250" name="WordArt 10"/>
          <p:cNvSpPr>
            <a:spLocks noChangeArrowheads="1" noChangeShapeType="1" noTextEdit="1"/>
          </p:cNvSpPr>
          <p:nvPr/>
        </p:nvSpPr>
        <p:spPr bwMode="auto">
          <a:xfrm>
            <a:off x="4800601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18</a:t>
            </a:r>
          </a:p>
        </p:txBody>
      </p:sp>
      <p:sp>
        <p:nvSpPr>
          <p:cNvPr id="10251" name="WordArt 11"/>
          <p:cNvSpPr>
            <a:spLocks noChangeArrowheads="1" noChangeShapeType="1" noTextEdit="1"/>
          </p:cNvSpPr>
          <p:nvPr/>
        </p:nvSpPr>
        <p:spPr bwMode="auto">
          <a:xfrm>
            <a:off x="5448301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24</a:t>
            </a:r>
          </a:p>
        </p:txBody>
      </p:sp>
      <p:sp>
        <p:nvSpPr>
          <p:cNvPr id="10252" name="WordArt 12"/>
          <p:cNvSpPr>
            <a:spLocks noChangeArrowheads="1" noChangeShapeType="1" noTextEdit="1"/>
          </p:cNvSpPr>
          <p:nvPr/>
        </p:nvSpPr>
        <p:spPr bwMode="auto">
          <a:xfrm>
            <a:off x="7032626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30</a:t>
            </a:r>
          </a:p>
        </p:txBody>
      </p:sp>
      <p:sp>
        <p:nvSpPr>
          <p:cNvPr id="10253" name="WordArt 13"/>
          <p:cNvSpPr>
            <a:spLocks noChangeArrowheads="1" noChangeShapeType="1" noTextEdit="1"/>
          </p:cNvSpPr>
          <p:nvPr/>
        </p:nvSpPr>
        <p:spPr bwMode="auto">
          <a:xfrm>
            <a:off x="3719514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13</a:t>
            </a:r>
          </a:p>
        </p:txBody>
      </p:sp>
      <p:sp>
        <p:nvSpPr>
          <p:cNvPr id="10254" name="WordArt 14"/>
          <p:cNvSpPr>
            <a:spLocks noChangeArrowheads="1" noChangeShapeType="1" noTextEdit="1"/>
          </p:cNvSpPr>
          <p:nvPr/>
        </p:nvSpPr>
        <p:spPr bwMode="auto">
          <a:xfrm>
            <a:off x="6024564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25</a:t>
            </a:r>
          </a:p>
        </p:txBody>
      </p:sp>
      <p:sp>
        <p:nvSpPr>
          <p:cNvPr id="10255" name="WordArt 15"/>
          <p:cNvSpPr>
            <a:spLocks noChangeArrowheads="1" noChangeShapeType="1" noTextEdit="1"/>
          </p:cNvSpPr>
          <p:nvPr/>
        </p:nvSpPr>
        <p:spPr bwMode="auto">
          <a:xfrm>
            <a:off x="6527801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27</a:t>
            </a:r>
          </a:p>
        </p:txBody>
      </p:sp>
      <p:sp>
        <p:nvSpPr>
          <p:cNvPr id="10256" name="WordArt 16"/>
          <p:cNvSpPr>
            <a:spLocks noChangeArrowheads="1" noChangeShapeType="1" noTextEdit="1"/>
          </p:cNvSpPr>
          <p:nvPr/>
        </p:nvSpPr>
        <p:spPr bwMode="auto">
          <a:xfrm>
            <a:off x="8183564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40</a:t>
            </a:r>
          </a:p>
        </p:txBody>
      </p:sp>
      <p:sp>
        <p:nvSpPr>
          <p:cNvPr id="10257" name="WordArt 17"/>
          <p:cNvSpPr>
            <a:spLocks noChangeArrowheads="1" noChangeShapeType="1" noTextEdit="1"/>
          </p:cNvSpPr>
          <p:nvPr/>
        </p:nvSpPr>
        <p:spPr bwMode="auto">
          <a:xfrm>
            <a:off x="8688389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50</a:t>
            </a:r>
          </a:p>
        </p:txBody>
      </p:sp>
      <p:sp>
        <p:nvSpPr>
          <p:cNvPr id="10258" name="WordArt 18"/>
          <p:cNvSpPr>
            <a:spLocks noChangeArrowheads="1" noChangeShapeType="1" noTextEdit="1"/>
          </p:cNvSpPr>
          <p:nvPr/>
        </p:nvSpPr>
        <p:spPr bwMode="auto">
          <a:xfrm>
            <a:off x="7608889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36</a:t>
            </a:r>
          </a:p>
        </p:txBody>
      </p:sp>
      <p:sp>
        <p:nvSpPr>
          <p:cNvPr id="10259" name="Text Box 19"/>
          <p:cNvSpPr txBox="1">
            <a:spLocks noChangeArrowheads="1"/>
          </p:cNvSpPr>
          <p:nvPr/>
        </p:nvSpPr>
        <p:spPr bwMode="auto">
          <a:xfrm>
            <a:off x="3792538" y="836613"/>
            <a:ext cx="18716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/>
              <a:t>Multiples of 3</a:t>
            </a:r>
          </a:p>
        </p:txBody>
      </p:sp>
      <p:sp>
        <p:nvSpPr>
          <p:cNvPr id="10260" name="Text Box 20"/>
          <p:cNvSpPr txBox="1">
            <a:spLocks noChangeArrowheads="1"/>
          </p:cNvSpPr>
          <p:nvPr/>
        </p:nvSpPr>
        <p:spPr bwMode="auto">
          <a:xfrm>
            <a:off x="6600826" y="765176"/>
            <a:ext cx="18716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/>
              <a:t>Even numbers</a:t>
            </a:r>
          </a:p>
        </p:txBody>
      </p:sp>
      <p:sp>
        <p:nvSpPr>
          <p:cNvPr id="10261" name="Text Box 21"/>
          <p:cNvSpPr txBox="1">
            <a:spLocks noChangeArrowheads="1"/>
          </p:cNvSpPr>
          <p:nvPr/>
        </p:nvSpPr>
        <p:spPr bwMode="auto">
          <a:xfrm>
            <a:off x="795131" y="5633244"/>
            <a:ext cx="11178208" cy="369332"/>
          </a:xfrm>
          <a:prstGeom prst="rect">
            <a:avLst/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b="1" dirty="0"/>
              <a:t>Numbers that are multiples of 3 </a:t>
            </a:r>
            <a:r>
              <a:rPr lang="en-GB" b="1" u="sng" dirty="0"/>
              <a:t>and</a:t>
            </a:r>
            <a:r>
              <a:rPr lang="en-GB" b="1" dirty="0"/>
              <a:t> even numbers go here because they belong to both circles...</a:t>
            </a:r>
          </a:p>
        </p:txBody>
      </p:sp>
      <p:sp>
        <p:nvSpPr>
          <p:cNvPr id="10262" name="AutoShape 22"/>
          <p:cNvSpPr>
            <a:spLocks noChangeArrowheads="1"/>
          </p:cNvSpPr>
          <p:nvPr/>
        </p:nvSpPr>
        <p:spPr bwMode="auto">
          <a:xfrm>
            <a:off x="5880100" y="3500438"/>
            <a:ext cx="431800" cy="2132806"/>
          </a:xfrm>
          <a:prstGeom prst="upArrow">
            <a:avLst>
              <a:gd name="adj1" fmla="val 50000"/>
              <a:gd name="adj2" fmla="val 112592"/>
            </a:avLst>
          </a:prstGeom>
          <a:solidFill>
            <a:srgbClr val="FFFF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6" name="Rectangle 25"/>
          <p:cNvSpPr/>
          <p:nvPr/>
        </p:nvSpPr>
        <p:spPr>
          <a:xfrm>
            <a:off x="1703512" y="765175"/>
            <a:ext cx="8640638" cy="4751388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74649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0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61" grpId="0" animBg="1"/>
      <p:bldP spid="10261" grpId="1" animBg="1"/>
      <p:bldP spid="1026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847851" y="260351"/>
            <a:ext cx="86407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800" b="1">
                <a:effectLst>
                  <a:outerShdw blurRad="38100" dist="38100" dir="2700000" algn="tl">
                    <a:srgbClr val="FFFFFF"/>
                  </a:outerShdw>
                </a:effectLst>
              </a:rPr>
              <a:t>A VENN DIAGRAM IS USED TO SORT THINGS</a:t>
            </a:r>
          </a:p>
        </p:txBody>
      </p:sp>
      <p:sp>
        <p:nvSpPr>
          <p:cNvPr id="12291" name="Oval 3"/>
          <p:cNvSpPr>
            <a:spLocks noChangeArrowheads="1"/>
          </p:cNvSpPr>
          <p:nvPr/>
        </p:nvSpPr>
        <p:spPr bwMode="auto">
          <a:xfrm>
            <a:off x="2566988" y="1268414"/>
            <a:ext cx="4178300" cy="4105275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2292" name="Oval 4"/>
          <p:cNvSpPr>
            <a:spLocks noChangeArrowheads="1"/>
          </p:cNvSpPr>
          <p:nvPr/>
        </p:nvSpPr>
        <p:spPr bwMode="auto">
          <a:xfrm>
            <a:off x="5375275" y="1196976"/>
            <a:ext cx="4178300" cy="4105275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2293" name="WordArt 5"/>
          <p:cNvSpPr>
            <a:spLocks noChangeArrowheads="1" noChangeShapeType="1" noTextEdit="1"/>
          </p:cNvSpPr>
          <p:nvPr/>
        </p:nvSpPr>
        <p:spPr bwMode="auto">
          <a:xfrm>
            <a:off x="1847851" y="6237288"/>
            <a:ext cx="14287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3</a:t>
            </a:r>
          </a:p>
        </p:txBody>
      </p:sp>
      <p:sp>
        <p:nvSpPr>
          <p:cNvPr id="12294" name="WordArt 6"/>
          <p:cNvSpPr>
            <a:spLocks noChangeArrowheads="1" noChangeShapeType="1" noTextEdit="1"/>
          </p:cNvSpPr>
          <p:nvPr/>
        </p:nvSpPr>
        <p:spPr bwMode="auto">
          <a:xfrm>
            <a:off x="2351089" y="6237288"/>
            <a:ext cx="14287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5</a:t>
            </a:r>
          </a:p>
        </p:txBody>
      </p:sp>
      <p:sp>
        <p:nvSpPr>
          <p:cNvPr id="12295" name="WordArt 7"/>
          <p:cNvSpPr>
            <a:spLocks noChangeArrowheads="1" noChangeShapeType="1" noTextEdit="1"/>
          </p:cNvSpPr>
          <p:nvPr/>
        </p:nvSpPr>
        <p:spPr bwMode="auto">
          <a:xfrm>
            <a:off x="2782889" y="6237288"/>
            <a:ext cx="14287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7</a:t>
            </a:r>
          </a:p>
        </p:txBody>
      </p:sp>
      <p:sp>
        <p:nvSpPr>
          <p:cNvPr id="12296" name="WordArt 8"/>
          <p:cNvSpPr>
            <a:spLocks noChangeArrowheads="1" noChangeShapeType="1" noTextEdit="1"/>
          </p:cNvSpPr>
          <p:nvPr/>
        </p:nvSpPr>
        <p:spPr bwMode="auto">
          <a:xfrm>
            <a:off x="3143251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10</a:t>
            </a:r>
          </a:p>
        </p:txBody>
      </p:sp>
      <p:sp>
        <p:nvSpPr>
          <p:cNvPr id="12297" name="WordArt 9"/>
          <p:cNvSpPr>
            <a:spLocks noChangeArrowheads="1" noChangeShapeType="1" noTextEdit="1"/>
          </p:cNvSpPr>
          <p:nvPr/>
        </p:nvSpPr>
        <p:spPr bwMode="auto">
          <a:xfrm>
            <a:off x="4295776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15</a:t>
            </a:r>
          </a:p>
        </p:txBody>
      </p:sp>
      <p:sp>
        <p:nvSpPr>
          <p:cNvPr id="12298" name="WordArt 10"/>
          <p:cNvSpPr>
            <a:spLocks noChangeArrowheads="1" noChangeShapeType="1" noTextEdit="1"/>
          </p:cNvSpPr>
          <p:nvPr/>
        </p:nvSpPr>
        <p:spPr bwMode="auto">
          <a:xfrm>
            <a:off x="4800601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18</a:t>
            </a:r>
          </a:p>
        </p:txBody>
      </p:sp>
      <p:sp>
        <p:nvSpPr>
          <p:cNvPr id="12299" name="WordArt 11"/>
          <p:cNvSpPr>
            <a:spLocks noChangeArrowheads="1" noChangeShapeType="1" noTextEdit="1"/>
          </p:cNvSpPr>
          <p:nvPr/>
        </p:nvSpPr>
        <p:spPr bwMode="auto">
          <a:xfrm>
            <a:off x="5448301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24</a:t>
            </a:r>
          </a:p>
        </p:txBody>
      </p:sp>
      <p:sp>
        <p:nvSpPr>
          <p:cNvPr id="12300" name="WordArt 12"/>
          <p:cNvSpPr>
            <a:spLocks noChangeArrowheads="1" noChangeShapeType="1" noTextEdit="1"/>
          </p:cNvSpPr>
          <p:nvPr/>
        </p:nvSpPr>
        <p:spPr bwMode="auto">
          <a:xfrm>
            <a:off x="7032626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30</a:t>
            </a:r>
          </a:p>
        </p:txBody>
      </p:sp>
      <p:sp>
        <p:nvSpPr>
          <p:cNvPr id="12301" name="WordArt 13"/>
          <p:cNvSpPr>
            <a:spLocks noChangeArrowheads="1" noChangeShapeType="1" noTextEdit="1"/>
          </p:cNvSpPr>
          <p:nvPr/>
        </p:nvSpPr>
        <p:spPr bwMode="auto">
          <a:xfrm>
            <a:off x="3719514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13</a:t>
            </a:r>
          </a:p>
        </p:txBody>
      </p:sp>
      <p:sp>
        <p:nvSpPr>
          <p:cNvPr id="12302" name="WordArt 14"/>
          <p:cNvSpPr>
            <a:spLocks noChangeArrowheads="1" noChangeShapeType="1" noTextEdit="1"/>
          </p:cNvSpPr>
          <p:nvPr/>
        </p:nvSpPr>
        <p:spPr bwMode="auto">
          <a:xfrm>
            <a:off x="6024564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25</a:t>
            </a:r>
          </a:p>
        </p:txBody>
      </p:sp>
      <p:sp>
        <p:nvSpPr>
          <p:cNvPr id="12303" name="WordArt 15"/>
          <p:cNvSpPr>
            <a:spLocks noChangeArrowheads="1" noChangeShapeType="1" noTextEdit="1"/>
          </p:cNvSpPr>
          <p:nvPr/>
        </p:nvSpPr>
        <p:spPr bwMode="auto">
          <a:xfrm>
            <a:off x="6527801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27</a:t>
            </a:r>
          </a:p>
        </p:txBody>
      </p:sp>
      <p:sp>
        <p:nvSpPr>
          <p:cNvPr id="12304" name="WordArt 16"/>
          <p:cNvSpPr>
            <a:spLocks noChangeArrowheads="1" noChangeShapeType="1" noTextEdit="1"/>
          </p:cNvSpPr>
          <p:nvPr/>
        </p:nvSpPr>
        <p:spPr bwMode="auto">
          <a:xfrm>
            <a:off x="8183564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40</a:t>
            </a:r>
          </a:p>
        </p:txBody>
      </p:sp>
      <p:sp>
        <p:nvSpPr>
          <p:cNvPr id="12305" name="WordArt 17"/>
          <p:cNvSpPr>
            <a:spLocks noChangeArrowheads="1" noChangeShapeType="1" noTextEdit="1"/>
          </p:cNvSpPr>
          <p:nvPr/>
        </p:nvSpPr>
        <p:spPr bwMode="auto">
          <a:xfrm>
            <a:off x="8688389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50</a:t>
            </a:r>
          </a:p>
        </p:txBody>
      </p:sp>
      <p:sp>
        <p:nvSpPr>
          <p:cNvPr id="12306" name="WordArt 18"/>
          <p:cNvSpPr>
            <a:spLocks noChangeArrowheads="1" noChangeShapeType="1" noTextEdit="1"/>
          </p:cNvSpPr>
          <p:nvPr/>
        </p:nvSpPr>
        <p:spPr bwMode="auto">
          <a:xfrm>
            <a:off x="7608889" y="623728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36</a:t>
            </a:r>
          </a:p>
        </p:txBody>
      </p:sp>
      <p:sp>
        <p:nvSpPr>
          <p:cNvPr id="12307" name="Text Box 19"/>
          <p:cNvSpPr txBox="1">
            <a:spLocks noChangeArrowheads="1"/>
          </p:cNvSpPr>
          <p:nvPr/>
        </p:nvSpPr>
        <p:spPr bwMode="auto">
          <a:xfrm>
            <a:off x="3792538" y="836613"/>
            <a:ext cx="18716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/>
              <a:t>Multiples of 3</a:t>
            </a:r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6600826" y="765176"/>
            <a:ext cx="18716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/>
              <a:t>Even numbers</a:t>
            </a:r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1703389" y="5649120"/>
            <a:ext cx="87852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Numbers that are not multiples of 3 and not even, stay on the outside.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03512" y="765175"/>
            <a:ext cx="8640638" cy="4751388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3353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6.17946E-6 L 0.2441 -0.65032 " pathEditMode="relative" ptsTypes="AA">
                                      <p:cBhvr>
                                        <p:cTn id="6" dur="3000" fill="hold"/>
                                        <p:tgtEl>
                                          <p:spTgt spid="122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11841E-6 L 0.40174 -0.67136 " pathEditMode="relative" ptsTypes="AA">
                                      <p:cBhvr>
                                        <p:cTn id="10" dur="3000" fill="hold"/>
                                        <p:tgtEl>
                                          <p:spTgt spid="122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3308 -0.00486 L -0.10078 -0.51898 " pathEditMode="relative" rAng="0" ptsTypes="AA">
                                      <p:cBhvr>
                                        <p:cTn id="14" dur="3000" fill="hold"/>
                                        <p:tgtEl>
                                          <p:spTgt spid="1229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693" y="-2571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04167E-6 1.85185E-6 L 0.10013 -0.53171 " pathEditMode="relative" rAng="0" ptsTypes="AA">
                                      <p:cBhvr>
                                        <p:cTn id="18" dur="3000" fill="hold"/>
                                        <p:tgtEl>
                                          <p:spTgt spid="122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00" y="-2659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8.51064E-7 L 0.0158 -0.50347 " pathEditMode="relative" ptsTypes="AA">
                                      <p:cBhvr>
                                        <p:cTn id="22" dur="3000" fill="hold"/>
                                        <p:tgtEl>
                                          <p:spTgt spid="122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8.51064E-7 L -0.22049 -0.51411 " pathEditMode="relative" ptsTypes="AA">
                                      <p:cBhvr>
                                        <p:cTn id="26" dur="2000" fill="hold"/>
                                        <p:tgtEl>
                                          <p:spTgt spid="1230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8.51064E-7 L -0.09462 -0.45097 " pathEditMode="relative" ptsTypes="AA">
                                      <p:cBhvr>
                                        <p:cTn id="30" dur="3000" fill="hold"/>
                                        <p:tgtEl>
                                          <p:spTgt spid="1230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713 -0.23102 L -0.1418 -0.60857 " pathEditMode="relative" rAng="0" ptsTypes="AA">
                                      <p:cBhvr>
                                        <p:cTn id="34" dur="3000" fill="hold"/>
                                        <p:tgtEl>
                                          <p:spTgt spid="1230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53" y="-1888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6.11111E-6 8.51064E-7 L -6.11111E-6 -0.53492 " pathEditMode="relative" ptsTypes="AA">
                                      <p:cBhvr>
                                        <p:cTn id="38" dur="3000" fill="hold"/>
                                        <p:tgtEl>
                                          <p:spTgt spid="1230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44444E-6 8.51064E-7 L -0.14966 -0.38806 " pathEditMode="relative" ptsTypes="AA">
                                      <p:cBhvr>
                                        <p:cTn id="42" dur="2000" fill="hold"/>
                                        <p:tgtEl>
                                          <p:spTgt spid="1230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2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0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08333E-6 1.85185E-6 L -0.03542 -0.41111 " pathEditMode="relative" rAng="0" ptsTypes="AA">
                                      <p:cBhvr>
                                        <p:cTn id="55" dur="3000" fill="hold"/>
                                        <p:tgtEl>
                                          <p:spTgt spid="1229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771" y="-20556"/>
                                    </p:animMotion>
                                  </p:childTnLst>
                                </p:cTn>
                              </p:par>
                              <p:par>
                                <p:cTn id="56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58333E-6 1.85185E-6 L -0.0414 -0.34537 " pathEditMode="relative" rAng="0" ptsTypes="AA">
                                      <p:cBhvr>
                                        <p:cTn id="57" dur="3000" fill="hold"/>
                                        <p:tgtEl>
                                          <p:spTgt spid="122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70" y="-17269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14 -0.02616 L -0.14766 -0.59283 " pathEditMode="relative" rAng="0" ptsTypes="AA">
                                      <p:cBhvr>
                                        <p:cTn id="59" dur="3000" fill="hold"/>
                                        <p:tgtEl>
                                          <p:spTgt spid="123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9453" y="-28333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0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16667E-7 1.85185E-6 L -0.3375 -0.27084 " pathEditMode="relative" rAng="0" ptsTypes="AA">
                                      <p:cBhvr>
                                        <p:cTn id="61" dur="3000" fill="hold"/>
                                        <p:tgtEl>
                                          <p:spTgt spid="123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6875" y="-1354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93" grpId="0" animBg="1"/>
      <p:bldP spid="12294" grpId="0" animBg="1"/>
      <p:bldP spid="12295" grpId="0" animBg="1"/>
      <p:bldP spid="12296" grpId="0" animBg="1"/>
      <p:bldP spid="12297" grpId="0" animBg="1"/>
      <p:bldP spid="12298" grpId="0" animBg="1"/>
      <p:bldP spid="12299" grpId="0" animBg="1"/>
      <p:bldP spid="12300" grpId="0" animBg="1"/>
      <p:bldP spid="12301" grpId="0" animBg="1"/>
      <p:bldP spid="12302" grpId="0" animBg="1"/>
      <p:bldP spid="12303" grpId="0" animBg="1"/>
      <p:bldP spid="12304" grpId="0" animBg="1"/>
      <p:bldP spid="12305" grpId="0" animBg="1"/>
      <p:bldP spid="12306" grpId="0" animBg="1"/>
      <p:bldP spid="12309" grpId="0"/>
      <p:bldP spid="12309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 Box 2"/>
          <p:cNvSpPr txBox="1">
            <a:spLocks noChangeArrowheads="1"/>
          </p:cNvSpPr>
          <p:nvPr/>
        </p:nvSpPr>
        <p:spPr bwMode="auto">
          <a:xfrm>
            <a:off x="1847851" y="260351"/>
            <a:ext cx="86407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800" b="1">
                <a:effectLst>
                  <a:outerShdw blurRad="38100" dist="38100" dir="2700000" algn="tl">
                    <a:srgbClr val="FFFFFF"/>
                  </a:outerShdw>
                </a:effectLst>
              </a:rPr>
              <a:t>A VENN DIAGRAM IS USED TO SORT THINGS</a:t>
            </a:r>
          </a:p>
        </p:txBody>
      </p:sp>
      <p:sp>
        <p:nvSpPr>
          <p:cNvPr id="12291" name="Oval 3"/>
          <p:cNvSpPr>
            <a:spLocks noChangeArrowheads="1"/>
          </p:cNvSpPr>
          <p:nvPr/>
        </p:nvSpPr>
        <p:spPr bwMode="auto">
          <a:xfrm>
            <a:off x="2566988" y="1268414"/>
            <a:ext cx="4178300" cy="4105275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2292" name="Oval 4"/>
          <p:cNvSpPr>
            <a:spLocks noChangeArrowheads="1"/>
          </p:cNvSpPr>
          <p:nvPr/>
        </p:nvSpPr>
        <p:spPr bwMode="auto">
          <a:xfrm>
            <a:off x="5375275" y="1196976"/>
            <a:ext cx="4178300" cy="4105275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2293" name="WordArt 5"/>
          <p:cNvSpPr>
            <a:spLocks noChangeArrowheads="1" noChangeShapeType="1" noTextEdit="1"/>
          </p:cNvSpPr>
          <p:nvPr/>
        </p:nvSpPr>
        <p:spPr bwMode="auto">
          <a:xfrm>
            <a:off x="4331431" y="2936806"/>
            <a:ext cx="14287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3</a:t>
            </a:r>
          </a:p>
        </p:txBody>
      </p:sp>
      <p:sp>
        <p:nvSpPr>
          <p:cNvPr id="12294" name="WordArt 6"/>
          <p:cNvSpPr>
            <a:spLocks noChangeArrowheads="1" noChangeShapeType="1" noTextEdit="1"/>
          </p:cNvSpPr>
          <p:nvPr/>
        </p:nvSpPr>
        <p:spPr bwMode="auto">
          <a:xfrm>
            <a:off x="2113210" y="1701422"/>
            <a:ext cx="14287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5</a:t>
            </a:r>
          </a:p>
        </p:txBody>
      </p:sp>
      <p:sp>
        <p:nvSpPr>
          <p:cNvPr id="12295" name="WordArt 7"/>
          <p:cNvSpPr>
            <a:spLocks noChangeArrowheads="1" noChangeShapeType="1" noTextEdit="1"/>
          </p:cNvSpPr>
          <p:nvPr/>
        </p:nvSpPr>
        <p:spPr bwMode="auto">
          <a:xfrm>
            <a:off x="2184648" y="3469517"/>
            <a:ext cx="135027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7</a:t>
            </a:r>
          </a:p>
        </p:txBody>
      </p:sp>
      <p:sp>
        <p:nvSpPr>
          <p:cNvPr id="12296" name="WordArt 8"/>
          <p:cNvSpPr>
            <a:spLocks noChangeArrowheads="1" noChangeShapeType="1" noTextEdit="1"/>
          </p:cNvSpPr>
          <p:nvPr/>
        </p:nvSpPr>
        <p:spPr bwMode="auto">
          <a:xfrm>
            <a:off x="7127628" y="2316578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10</a:t>
            </a:r>
          </a:p>
        </p:txBody>
      </p:sp>
      <p:sp>
        <p:nvSpPr>
          <p:cNvPr id="12297" name="WordArt 9"/>
          <p:cNvSpPr>
            <a:spLocks noChangeArrowheads="1" noChangeShapeType="1" noTextEdit="1"/>
          </p:cNvSpPr>
          <p:nvPr/>
        </p:nvSpPr>
        <p:spPr bwMode="auto">
          <a:xfrm>
            <a:off x="3250468" y="2673749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15</a:t>
            </a:r>
          </a:p>
        </p:txBody>
      </p:sp>
      <p:sp>
        <p:nvSpPr>
          <p:cNvPr id="12298" name="WordArt 10"/>
          <p:cNvSpPr>
            <a:spLocks noChangeArrowheads="1" noChangeShapeType="1" noTextEdit="1"/>
          </p:cNvSpPr>
          <p:nvPr/>
        </p:nvSpPr>
        <p:spPr bwMode="auto">
          <a:xfrm>
            <a:off x="6022665" y="3469517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18</a:t>
            </a:r>
          </a:p>
        </p:txBody>
      </p:sp>
      <p:sp>
        <p:nvSpPr>
          <p:cNvPr id="12299" name="WordArt 11"/>
          <p:cNvSpPr>
            <a:spLocks noChangeArrowheads="1" noChangeShapeType="1" noTextEdit="1"/>
          </p:cNvSpPr>
          <p:nvPr/>
        </p:nvSpPr>
        <p:spPr bwMode="auto">
          <a:xfrm>
            <a:off x="5591175" y="2853930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24</a:t>
            </a:r>
          </a:p>
        </p:txBody>
      </p:sp>
      <p:sp>
        <p:nvSpPr>
          <p:cNvPr id="12300" name="WordArt 12"/>
          <p:cNvSpPr>
            <a:spLocks noChangeArrowheads="1" noChangeShapeType="1" noTextEdit="1"/>
          </p:cNvSpPr>
          <p:nvPr/>
        </p:nvSpPr>
        <p:spPr bwMode="auto">
          <a:xfrm>
            <a:off x="6096000" y="2771741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30</a:t>
            </a:r>
          </a:p>
        </p:txBody>
      </p:sp>
      <p:sp>
        <p:nvSpPr>
          <p:cNvPr id="12301" name="WordArt 13"/>
          <p:cNvSpPr>
            <a:spLocks noChangeArrowheads="1" noChangeShapeType="1" noTextEdit="1"/>
          </p:cNvSpPr>
          <p:nvPr/>
        </p:nvSpPr>
        <p:spPr bwMode="auto">
          <a:xfrm>
            <a:off x="1952686" y="2591560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13</a:t>
            </a:r>
          </a:p>
        </p:txBody>
      </p:sp>
      <p:sp>
        <p:nvSpPr>
          <p:cNvPr id="12302" name="WordArt 14"/>
          <p:cNvSpPr>
            <a:spLocks noChangeArrowheads="1" noChangeShapeType="1" noTextEdit="1"/>
          </p:cNvSpPr>
          <p:nvPr/>
        </p:nvSpPr>
        <p:spPr bwMode="auto">
          <a:xfrm>
            <a:off x="2062164" y="4335601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25</a:t>
            </a:r>
          </a:p>
        </p:txBody>
      </p:sp>
      <p:sp>
        <p:nvSpPr>
          <p:cNvPr id="12303" name="WordArt 15"/>
          <p:cNvSpPr>
            <a:spLocks noChangeArrowheads="1" noChangeShapeType="1" noTextEdit="1"/>
          </p:cNvSpPr>
          <p:nvPr/>
        </p:nvSpPr>
        <p:spPr bwMode="auto">
          <a:xfrm>
            <a:off x="4367213" y="1922429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27</a:t>
            </a:r>
          </a:p>
        </p:txBody>
      </p:sp>
      <p:sp>
        <p:nvSpPr>
          <p:cNvPr id="12304" name="WordArt 16"/>
          <p:cNvSpPr>
            <a:spLocks noChangeArrowheads="1" noChangeShapeType="1" noTextEdit="1"/>
          </p:cNvSpPr>
          <p:nvPr/>
        </p:nvSpPr>
        <p:spPr bwMode="auto">
          <a:xfrm>
            <a:off x="7247421" y="3765757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40</a:t>
            </a:r>
          </a:p>
        </p:txBody>
      </p:sp>
      <p:sp>
        <p:nvSpPr>
          <p:cNvPr id="12305" name="WordArt 17"/>
          <p:cNvSpPr>
            <a:spLocks noChangeArrowheads="1" noChangeShapeType="1" noTextEdit="1"/>
          </p:cNvSpPr>
          <p:nvPr/>
        </p:nvSpPr>
        <p:spPr bwMode="auto">
          <a:xfrm>
            <a:off x="8111331" y="2673749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50</a:t>
            </a:r>
          </a:p>
        </p:txBody>
      </p:sp>
      <p:sp>
        <p:nvSpPr>
          <p:cNvPr id="12306" name="WordArt 18"/>
          <p:cNvSpPr>
            <a:spLocks noChangeArrowheads="1" noChangeShapeType="1" noTextEdit="1"/>
          </p:cNvSpPr>
          <p:nvPr/>
        </p:nvSpPr>
        <p:spPr bwMode="auto">
          <a:xfrm>
            <a:off x="5807075" y="2102610"/>
            <a:ext cx="288925" cy="360362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/>
              </a14:hiddenEffects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AU" sz="3600" kern="10" dirty="0">
                <a:ln w="9525">
                  <a:solidFill>
                    <a:srgbClr val="000000"/>
                  </a:solidFill>
                  <a:round/>
                  <a:headEnd/>
                  <a:tailEnd/>
                </a:ln>
                <a:solidFill>
                  <a:schemeClr val="accent2"/>
                </a:solidFill>
                <a:latin typeface="Arial Black"/>
              </a:rPr>
              <a:t>36</a:t>
            </a:r>
          </a:p>
        </p:txBody>
      </p:sp>
      <p:sp>
        <p:nvSpPr>
          <p:cNvPr id="12307" name="Text Box 19"/>
          <p:cNvSpPr txBox="1">
            <a:spLocks noChangeArrowheads="1"/>
          </p:cNvSpPr>
          <p:nvPr/>
        </p:nvSpPr>
        <p:spPr bwMode="auto">
          <a:xfrm>
            <a:off x="3792538" y="836613"/>
            <a:ext cx="1871662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/>
              <a:t>Multiples of 3</a:t>
            </a:r>
          </a:p>
        </p:txBody>
      </p:sp>
      <p:sp>
        <p:nvSpPr>
          <p:cNvPr id="12308" name="Text Box 20"/>
          <p:cNvSpPr txBox="1">
            <a:spLocks noChangeArrowheads="1"/>
          </p:cNvSpPr>
          <p:nvPr/>
        </p:nvSpPr>
        <p:spPr bwMode="auto">
          <a:xfrm>
            <a:off x="6600826" y="765176"/>
            <a:ext cx="1871663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/>
              <a:t>Even numbers</a:t>
            </a:r>
          </a:p>
        </p:txBody>
      </p:sp>
      <p:sp>
        <p:nvSpPr>
          <p:cNvPr id="12309" name="Text Box 21"/>
          <p:cNvSpPr txBox="1">
            <a:spLocks noChangeArrowheads="1"/>
          </p:cNvSpPr>
          <p:nvPr/>
        </p:nvSpPr>
        <p:spPr bwMode="auto">
          <a:xfrm>
            <a:off x="1703389" y="5537366"/>
            <a:ext cx="8785225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GB" b="1" dirty="0">
                <a:effectLst>
                  <a:outerShdw blurRad="38100" dist="38100" dir="2700000" algn="tl">
                    <a:srgbClr val="FFFFFF"/>
                  </a:outerShdw>
                </a:effectLst>
              </a:rPr>
              <a:t>Numbers that are not multiples of 3 and not even, stay on the outside.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703512" y="765175"/>
            <a:ext cx="8640638" cy="4751388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629616F-0212-4716-9C77-99DBAD66464B}"/>
              </a:ext>
            </a:extLst>
          </p:cNvPr>
          <p:cNvSpPr txBox="1"/>
          <p:nvPr/>
        </p:nvSpPr>
        <p:spPr>
          <a:xfrm>
            <a:off x="2422946" y="6072463"/>
            <a:ext cx="208883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P(multiple of 3) =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8E7344D-CD0B-4984-96B7-70EB2823DDA8}"/>
                  </a:ext>
                </a:extLst>
              </p:cNvPr>
              <p:cNvSpPr txBox="1"/>
              <p:nvPr/>
            </p:nvSpPr>
            <p:spPr>
              <a:xfrm>
                <a:off x="4178251" y="5939735"/>
                <a:ext cx="1197024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dirty="0" smtClean="0">
                              <a:latin typeface="Cambria Math"/>
                            </a:rPr>
                            <m:t>7</m:t>
                          </m:r>
                        </m:num>
                        <m:den>
                          <m:r>
                            <a:rPr lang="en-AU" b="0" i="1" dirty="0" smtClean="0">
                              <a:latin typeface="Cambria Math"/>
                            </a:rPr>
                            <m:t>14</m:t>
                          </m:r>
                        </m:den>
                      </m:f>
                      <m:r>
                        <a:rPr lang="en-AU" b="0" i="1" dirty="0" smtClean="0">
                          <a:latin typeface="Cambria Math"/>
                        </a:rPr>
                        <m:t>= </m:t>
                      </m:r>
                      <m:f>
                        <m:fPr>
                          <m:ctrlPr>
                            <a:rPr lang="en-AU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dirty="0" smtClean="0"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b="0" i="1" dirty="0" smtClean="0"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8E7344D-CD0B-4984-96B7-70EB2823DD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8251" y="5939735"/>
                <a:ext cx="1197024" cy="63478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TextBox 25">
            <a:extLst>
              <a:ext uri="{FF2B5EF4-FFF2-40B4-BE49-F238E27FC236}">
                <a16:creationId xmlns:a16="http://schemas.microsoft.com/office/drawing/2014/main" id="{9E16C89C-A9CE-46B9-ADDA-2F28B8785755}"/>
              </a:ext>
            </a:extLst>
          </p:cNvPr>
          <p:cNvSpPr txBox="1"/>
          <p:nvPr/>
        </p:nvSpPr>
        <p:spPr>
          <a:xfrm>
            <a:off x="5880100" y="6072463"/>
            <a:ext cx="29717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P(only even number) =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B677DAF-7615-4461-9938-F460A3132136}"/>
                  </a:ext>
                </a:extLst>
              </p:cNvPr>
              <p:cNvSpPr txBox="1"/>
              <p:nvPr/>
            </p:nvSpPr>
            <p:spPr>
              <a:xfrm>
                <a:off x="8851896" y="5992351"/>
                <a:ext cx="505247" cy="6347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b="0" i="1" dirty="0" smtClean="0"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b="0" i="1" dirty="0" smtClean="0">
                              <a:latin typeface="Cambria Math"/>
                            </a:rPr>
                            <m:t>14</m:t>
                          </m:r>
                        </m:den>
                      </m:f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4B677DAF-7615-4461-9938-F460A313213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51896" y="5992351"/>
                <a:ext cx="505247" cy="6347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214416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236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Venn Diagrams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we sort data using Venn Diagrams?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14/06/2018</a:t>
            </a:r>
          </a:p>
        </p:txBody>
      </p:sp>
      <p:sp>
        <p:nvSpPr>
          <p:cNvPr id="11" name="Freeform 45">
            <a:extLst>
              <a:ext uri="{FF2B5EF4-FFF2-40B4-BE49-F238E27FC236}">
                <a16:creationId xmlns:a16="http://schemas.microsoft.com/office/drawing/2014/main" id="{A102B713-89AD-48A4-BBF3-FACED6CFDDBB}"/>
              </a:ext>
            </a:extLst>
          </p:cNvPr>
          <p:cNvSpPr/>
          <p:nvPr/>
        </p:nvSpPr>
        <p:spPr>
          <a:xfrm>
            <a:off x="3733851" y="2339660"/>
            <a:ext cx="342900" cy="923925"/>
          </a:xfrm>
          <a:custGeom>
            <a:avLst/>
            <a:gdLst>
              <a:gd name="connsiteX0" fmla="*/ 161925 w 342900"/>
              <a:gd name="connsiteY0" fmla="*/ 0 h 923925"/>
              <a:gd name="connsiteX1" fmla="*/ 28575 w 342900"/>
              <a:gd name="connsiteY1" fmla="*/ 161925 h 923925"/>
              <a:gd name="connsiteX2" fmla="*/ 0 w 342900"/>
              <a:gd name="connsiteY2" fmla="*/ 466725 h 923925"/>
              <a:gd name="connsiteX3" fmla="*/ 28575 w 342900"/>
              <a:gd name="connsiteY3" fmla="*/ 685800 h 923925"/>
              <a:gd name="connsiteX4" fmla="*/ 152400 w 342900"/>
              <a:gd name="connsiteY4" fmla="*/ 923925 h 923925"/>
              <a:gd name="connsiteX5" fmla="*/ 247650 w 342900"/>
              <a:gd name="connsiteY5" fmla="*/ 819150 h 923925"/>
              <a:gd name="connsiteX6" fmla="*/ 342900 w 342900"/>
              <a:gd name="connsiteY6" fmla="*/ 609600 h 923925"/>
              <a:gd name="connsiteX7" fmla="*/ 342900 w 342900"/>
              <a:gd name="connsiteY7" fmla="*/ 409575 h 923925"/>
              <a:gd name="connsiteX8" fmla="*/ 323850 w 342900"/>
              <a:gd name="connsiteY8" fmla="*/ 219075 h 923925"/>
              <a:gd name="connsiteX9" fmla="*/ 238125 w 342900"/>
              <a:gd name="connsiteY9" fmla="*/ 114300 h 923925"/>
              <a:gd name="connsiteX10" fmla="*/ 161925 w 342900"/>
              <a:gd name="connsiteY10" fmla="*/ 0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42900" h="923925">
                <a:moveTo>
                  <a:pt x="161925" y="0"/>
                </a:moveTo>
                <a:lnTo>
                  <a:pt x="28575" y="161925"/>
                </a:lnTo>
                <a:lnTo>
                  <a:pt x="0" y="466725"/>
                </a:lnTo>
                <a:lnTo>
                  <a:pt x="28575" y="685800"/>
                </a:lnTo>
                <a:lnTo>
                  <a:pt x="152400" y="923925"/>
                </a:lnTo>
                <a:lnTo>
                  <a:pt x="247650" y="819150"/>
                </a:lnTo>
                <a:lnTo>
                  <a:pt x="342900" y="609600"/>
                </a:lnTo>
                <a:lnTo>
                  <a:pt x="342900" y="409575"/>
                </a:lnTo>
                <a:lnTo>
                  <a:pt x="323850" y="219075"/>
                </a:lnTo>
                <a:lnTo>
                  <a:pt x="238125" y="114300"/>
                </a:lnTo>
                <a:lnTo>
                  <a:pt x="161925" y="0"/>
                </a:ln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7ABF4604-89E3-41B5-B60A-4801A26FFFF2}"/>
              </a:ext>
            </a:extLst>
          </p:cNvPr>
          <p:cNvSpPr txBox="1">
            <a:spLocks/>
          </p:cNvSpPr>
          <p:nvPr/>
        </p:nvSpPr>
        <p:spPr>
          <a:xfrm>
            <a:off x="2274939" y="1320485"/>
            <a:ext cx="8713787" cy="61912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None/>
            </a:pPr>
            <a:r>
              <a:rPr lang="en-GB" sz="2800" u="sng">
                <a:solidFill>
                  <a:srgbClr val="FF0000"/>
                </a:solidFill>
              </a:rPr>
              <a:t>Definitions:</a:t>
            </a:r>
          </a:p>
          <a:p>
            <a:pPr>
              <a:buFont typeface="Arial" charset="0"/>
              <a:buNone/>
            </a:pPr>
            <a:endParaRPr lang="en-GB" sz="2000" u="sng"/>
          </a:p>
          <a:p>
            <a:pPr>
              <a:lnSpc>
                <a:spcPct val="150000"/>
              </a:lnSpc>
              <a:buFont typeface="Arial" charset="0"/>
              <a:buNone/>
            </a:pPr>
            <a:r>
              <a:rPr lang="en-GB" sz="2000"/>
              <a:t>		</a:t>
            </a:r>
          </a:p>
          <a:p>
            <a:endParaRPr lang="en-GB" sz="2000"/>
          </a:p>
          <a:p>
            <a:pPr>
              <a:buFont typeface="Arial" charset="0"/>
              <a:buNone/>
            </a:pPr>
            <a:endParaRPr lang="en-GB" sz="200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8730E0E-DAB4-4A5F-9038-4AFB3CABBFA1}"/>
              </a:ext>
            </a:extLst>
          </p:cNvPr>
          <p:cNvSpPr>
            <a:spLocks noChangeAspect="1"/>
          </p:cNvSpPr>
          <p:nvPr/>
        </p:nvSpPr>
        <p:spPr>
          <a:xfrm>
            <a:off x="3714801" y="2112648"/>
            <a:ext cx="1368425" cy="1366837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GB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264B403-4A1A-405C-9419-D6C89F45754A}"/>
              </a:ext>
            </a:extLst>
          </p:cNvPr>
          <p:cNvSpPr/>
          <p:nvPr/>
        </p:nvSpPr>
        <p:spPr>
          <a:xfrm>
            <a:off x="2203501" y="1823723"/>
            <a:ext cx="3455988" cy="1871662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GB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2148A15-F23E-4922-A847-76C9793EF1A5}"/>
              </a:ext>
            </a:extLst>
          </p:cNvPr>
          <p:cNvSpPr>
            <a:spLocks noChangeAspect="1"/>
          </p:cNvSpPr>
          <p:nvPr/>
        </p:nvSpPr>
        <p:spPr>
          <a:xfrm>
            <a:off x="2706739" y="2112648"/>
            <a:ext cx="1368425" cy="1366837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GB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18" name="TextBox 25">
            <a:extLst>
              <a:ext uri="{FF2B5EF4-FFF2-40B4-BE49-F238E27FC236}">
                <a16:creationId xmlns:a16="http://schemas.microsoft.com/office/drawing/2014/main" id="{AAD3C6A4-CC26-4DFE-A7DB-381A3CEB9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6601" y="1823723"/>
            <a:ext cx="12255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600"/>
              <a:t>B</a:t>
            </a:r>
          </a:p>
        </p:txBody>
      </p:sp>
      <p:sp>
        <p:nvSpPr>
          <p:cNvPr id="19" name="TextBox 26">
            <a:extLst>
              <a:ext uri="{FF2B5EF4-FFF2-40B4-BE49-F238E27FC236}">
                <a16:creationId xmlns:a16="http://schemas.microsoft.com/office/drawing/2014/main" id="{7D456A6B-32F2-43EE-8146-04E43AE88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0839" y="1823723"/>
            <a:ext cx="12239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600"/>
              <a:t>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C4DF085-E5B1-4639-978A-83B2036864F0}"/>
              </a:ext>
            </a:extLst>
          </p:cNvPr>
          <p:cNvSpPr/>
          <p:nvPr/>
        </p:nvSpPr>
        <p:spPr>
          <a:xfrm>
            <a:off x="2203501" y="3839848"/>
            <a:ext cx="3455988" cy="187166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GB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6B1D9A6-18A7-4598-BFF7-ACABA90C012C}"/>
              </a:ext>
            </a:extLst>
          </p:cNvPr>
          <p:cNvSpPr>
            <a:spLocks noChangeAspect="1"/>
          </p:cNvSpPr>
          <p:nvPr/>
        </p:nvSpPr>
        <p:spPr>
          <a:xfrm>
            <a:off x="2706739" y="4128773"/>
            <a:ext cx="1368425" cy="1368425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GB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51792BB-EAE3-462B-85B2-DA9C570B91AE}"/>
              </a:ext>
            </a:extLst>
          </p:cNvPr>
          <p:cNvSpPr>
            <a:spLocks noChangeAspect="1"/>
          </p:cNvSpPr>
          <p:nvPr/>
        </p:nvSpPr>
        <p:spPr>
          <a:xfrm>
            <a:off x="3714801" y="4128773"/>
            <a:ext cx="1368425" cy="136683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GB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24" name="TextBox 34">
            <a:extLst>
              <a:ext uri="{FF2B5EF4-FFF2-40B4-BE49-F238E27FC236}">
                <a16:creationId xmlns:a16="http://schemas.microsoft.com/office/drawing/2014/main" id="{59FD61E5-0EED-435B-BEBC-B1A58EC43F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46601" y="3839848"/>
            <a:ext cx="12255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600"/>
              <a:t>B</a:t>
            </a:r>
          </a:p>
        </p:txBody>
      </p:sp>
      <p:sp>
        <p:nvSpPr>
          <p:cNvPr id="25" name="TextBox 35">
            <a:extLst>
              <a:ext uri="{FF2B5EF4-FFF2-40B4-BE49-F238E27FC236}">
                <a16:creationId xmlns:a16="http://schemas.microsoft.com/office/drawing/2014/main" id="{229D149F-081D-4C3B-A97A-FE1A67A58F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90839" y="3839848"/>
            <a:ext cx="12239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600"/>
              <a:t>A</a:t>
            </a:r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939E5988-CB13-47DE-80F0-EFF2EB170434}"/>
              </a:ext>
            </a:extLst>
          </p:cNvPr>
          <p:cNvSpPr>
            <a:spLocks noChangeAspect="1"/>
          </p:cNvSpPr>
          <p:nvPr/>
        </p:nvSpPr>
        <p:spPr>
          <a:xfrm>
            <a:off x="2706739" y="4128773"/>
            <a:ext cx="1368425" cy="1366837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GB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04E3140-8BB5-4CA3-820C-AA76BF88DCA3}"/>
              </a:ext>
            </a:extLst>
          </p:cNvPr>
          <p:cNvSpPr/>
          <p:nvPr/>
        </p:nvSpPr>
        <p:spPr>
          <a:xfrm>
            <a:off x="5803951" y="1823723"/>
            <a:ext cx="5256213" cy="151288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r>
              <a:rPr lang="en-GB">
                <a:solidFill>
                  <a:srgbClr val="000000"/>
                </a:solidFill>
                <a:cs typeface="Arial" charset="0"/>
              </a:rPr>
              <a:t>The </a:t>
            </a:r>
            <a:r>
              <a:rPr lang="en-GB" b="1">
                <a:solidFill>
                  <a:srgbClr val="000000"/>
                </a:solidFill>
                <a:cs typeface="Arial" charset="0"/>
              </a:rPr>
              <a:t>intersection</a:t>
            </a:r>
            <a:r>
              <a:rPr lang="en-GB">
                <a:solidFill>
                  <a:srgbClr val="000000"/>
                </a:solidFill>
                <a:cs typeface="Arial" charset="0"/>
              </a:rPr>
              <a:t> is where two sets overlap.</a:t>
            </a:r>
          </a:p>
          <a:p>
            <a:endParaRPr lang="en-GB">
              <a:solidFill>
                <a:srgbClr val="000000"/>
              </a:solidFill>
              <a:cs typeface="Arial" charset="0"/>
            </a:endParaRPr>
          </a:p>
          <a:p>
            <a:endParaRPr lang="en-GB">
              <a:solidFill>
                <a:srgbClr val="000000"/>
              </a:solidFill>
              <a:cs typeface="Arial" charset="0"/>
            </a:endParaRPr>
          </a:p>
          <a:p>
            <a:r>
              <a:rPr lang="en-GB">
                <a:solidFill>
                  <a:srgbClr val="000000"/>
                </a:solidFill>
                <a:cs typeface="Arial" charset="0"/>
              </a:rPr>
              <a:t>This means </a:t>
            </a:r>
            <a:r>
              <a:rPr lang="en-GB" b="1">
                <a:solidFill>
                  <a:srgbClr val="000000"/>
                </a:solidFill>
                <a:cs typeface="Arial" charset="0"/>
              </a:rPr>
              <a:t>A and B</a:t>
            </a:r>
            <a:r>
              <a:rPr lang="en-GB">
                <a:solidFill>
                  <a:srgbClr val="000000"/>
                </a:solidFill>
                <a:cs typeface="Arial" charset="0"/>
              </a:rPr>
              <a:t>.</a:t>
            </a:r>
          </a:p>
        </p:txBody>
      </p:sp>
      <p:graphicFrame>
        <p:nvGraphicFramePr>
          <p:cNvPr id="34" name="Object 2">
            <a:extLst>
              <a:ext uri="{FF2B5EF4-FFF2-40B4-BE49-F238E27FC236}">
                <a16:creationId xmlns:a16="http://schemas.microsoft.com/office/drawing/2014/main" id="{CDC8C3C1-A6F9-4B31-84BA-41DDA9AFF57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4394735"/>
              </p:ext>
            </p:extLst>
          </p:nvPr>
        </p:nvGraphicFramePr>
        <p:xfrm>
          <a:off x="5946826" y="2255523"/>
          <a:ext cx="91440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4" name="Equation" r:id="rId4" imgW="419040" imgH="164880" progId="Equation.3">
                  <p:embed/>
                </p:oleObj>
              </mc:Choice>
              <mc:Fallback>
                <p:oleObj name="Equation" r:id="rId4" imgW="419040" imgH="164880" progId="Equation.3">
                  <p:embed/>
                  <p:pic>
                    <p:nvPicPr>
                      <p:cNvPr id="20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6826" y="2255523"/>
                        <a:ext cx="91440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" name="Rectangle 34">
            <a:extLst>
              <a:ext uri="{FF2B5EF4-FFF2-40B4-BE49-F238E27FC236}">
                <a16:creationId xmlns:a16="http://schemas.microsoft.com/office/drawing/2014/main" id="{DF8D4775-0C5C-4528-8D55-7F8FCFF5CF84}"/>
              </a:ext>
            </a:extLst>
          </p:cNvPr>
          <p:cNvSpPr/>
          <p:nvPr/>
        </p:nvSpPr>
        <p:spPr>
          <a:xfrm>
            <a:off x="5803951" y="3839848"/>
            <a:ext cx="5256213" cy="151288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>
                <a:solidFill>
                  <a:srgbClr val="000000"/>
                </a:solidFill>
                <a:cs typeface="Arial" charset="0"/>
              </a:rPr>
              <a:t>If you put two sets together, you get the </a:t>
            </a:r>
            <a:r>
              <a:rPr lang="en-GB" b="1" dirty="0">
                <a:solidFill>
                  <a:srgbClr val="000000"/>
                </a:solidFill>
                <a:cs typeface="Arial" charset="0"/>
              </a:rPr>
              <a:t>union</a:t>
            </a:r>
            <a:r>
              <a:rPr lang="en-GB" dirty="0">
                <a:solidFill>
                  <a:srgbClr val="000000"/>
                </a:solidFill>
                <a:cs typeface="Arial" charset="0"/>
              </a:rPr>
              <a:t>.</a:t>
            </a:r>
          </a:p>
          <a:p>
            <a:endParaRPr lang="en-GB" dirty="0">
              <a:solidFill>
                <a:srgbClr val="000000"/>
              </a:solidFill>
              <a:cs typeface="Arial" charset="0"/>
            </a:endParaRPr>
          </a:p>
          <a:p>
            <a:endParaRPr lang="en-GB" dirty="0">
              <a:solidFill>
                <a:srgbClr val="000000"/>
              </a:solidFill>
              <a:cs typeface="Arial" charset="0"/>
            </a:endParaRPr>
          </a:p>
          <a:p>
            <a:r>
              <a:rPr lang="en-GB" dirty="0">
                <a:solidFill>
                  <a:srgbClr val="000000"/>
                </a:solidFill>
                <a:cs typeface="Arial" charset="0"/>
              </a:rPr>
              <a:t>This means </a:t>
            </a:r>
            <a:r>
              <a:rPr lang="en-GB" b="1" dirty="0">
                <a:solidFill>
                  <a:srgbClr val="000000"/>
                </a:solidFill>
                <a:cs typeface="Arial" charset="0"/>
              </a:rPr>
              <a:t>A or B</a:t>
            </a:r>
            <a:r>
              <a:rPr lang="en-GB" dirty="0">
                <a:solidFill>
                  <a:srgbClr val="000000"/>
                </a:solidFill>
                <a:cs typeface="Arial" charset="0"/>
              </a:rPr>
              <a:t>.</a:t>
            </a:r>
          </a:p>
        </p:txBody>
      </p:sp>
      <p:graphicFrame>
        <p:nvGraphicFramePr>
          <p:cNvPr id="36" name="Object 3">
            <a:extLst>
              <a:ext uri="{FF2B5EF4-FFF2-40B4-BE49-F238E27FC236}">
                <a16:creationId xmlns:a16="http://schemas.microsoft.com/office/drawing/2014/main" id="{BD4AB3DB-0DA5-427D-8DC8-E3617DB9177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15344600"/>
              </p:ext>
            </p:extLst>
          </p:nvPr>
        </p:nvGraphicFramePr>
        <p:xfrm>
          <a:off x="5859607" y="4505950"/>
          <a:ext cx="914400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55" name="Equation" r:id="rId6" imgW="419040" imgH="164880" progId="Equation.3">
                  <p:embed/>
                </p:oleObj>
              </mc:Choice>
              <mc:Fallback>
                <p:oleObj name="Equation" r:id="rId6" imgW="419040" imgH="164880" progId="Equation.3">
                  <p:embed/>
                  <p:pic>
                    <p:nvPicPr>
                      <p:cNvPr id="205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9607" y="4505950"/>
                        <a:ext cx="914400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68851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001874" y="1320485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82367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Topic: Venn Diagrams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</a:t>
            </a:r>
            <a:r>
              <a:rPr lang="en-AU" sz="24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How do we sort data using Venn Diagrams?</a:t>
            </a:r>
            <a:endParaRPr lang="en-AU" sz="2399" b="1" dirty="0">
              <a:solidFill>
                <a:prstClr val="black"/>
              </a:solidFill>
              <a:latin typeface="Kiwi School Handwriting" panose="00000500000000000000" pitchFamily="2" charset="0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n-US" sz="3200" dirty="0"/>
          </a:p>
          <a:p>
            <a:pPr>
              <a:defRPr/>
            </a:pPr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B812459-19F4-41C9-A93F-75C41CF324CC}"/>
              </a:ext>
            </a:extLst>
          </p:cNvPr>
          <p:cNvSpPr txBox="1"/>
          <p:nvPr/>
        </p:nvSpPr>
        <p:spPr>
          <a:xfrm>
            <a:off x="8855825" y="204438"/>
            <a:ext cx="264077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14/06/2018</a:t>
            </a:r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40B719FD-1099-41D1-8737-0AA9BA998411}"/>
              </a:ext>
            </a:extLst>
          </p:cNvPr>
          <p:cNvSpPr txBox="1">
            <a:spLocks/>
          </p:cNvSpPr>
          <p:nvPr/>
        </p:nvSpPr>
        <p:spPr>
          <a:xfrm>
            <a:off x="2293110" y="1387755"/>
            <a:ext cx="8713787" cy="619125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charset="0"/>
              <a:buNone/>
            </a:pPr>
            <a:r>
              <a:rPr lang="en-GB" sz="2800" u="sng">
                <a:solidFill>
                  <a:srgbClr val="FF0000"/>
                </a:solidFill>
              </a:rPr>
              <a:t>Definitions:</a:t>
            </a:r>
          </a:p>
          <a:p>
            <a:pPr>
              <a:buFont typeface="Arial" charset="0"/>
              <a:buNone/>
            </a:pPr>
            <a:endParaRPr lang="en-GB" sz="2000" u="sng"/>
          </a:p>
          <a:p>
            <a:pPr>
              <a:lnSpc>
                <a:spcPct val="150000"/>
              </a:lnSpc>
              <a:buFont typeface="Arial" charset="0"/>
              <a:buNone/>
            </a:pPr>
            <a:r>
              <a:rPr lang="en-GB" sz="2000"/>
              <a:t>		</a:t>
            </a:r>
          </a:p>
          <a:p>
            <a:endParaRPr lang="en-GB" sz="2000"/>
          </a:p>
          <a:p>
            <a:pPr>
              <a:buFont typeface="Arial" charset="0"/>
              <a:buNone/>
            </a:pPr>
            <a:endParaRPr lang="en-GB" sz="200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0F5FDA77-5293-4C84-836A-8321977BCCF4}"/>
              </a:ext>
            </a:extLst>
          </p:cNvPr>
          <p:cNvSpPr/>
          <p:nvPr/>
        </p:nvSpPr>
        <p:spPr>
          <a:xfrm>
            <a:off x="2368523" y="2002654"/>
            <a:ext cx="3455988" cy="187325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GB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45605338-EA73-4592-81A0-A7DD0D9DB69D}"/>
              </a:ext>
            </a:extLst>
          </p:cNvPr>
          <p:cNvSpPr>
            <a:spLocks noChangeAspect="1"/>
          </p:cNvSpPr>
          <p:nvPr/>
        </p:nvSpPr>
        <p:spPr>
          <a:xfrm>
            <a:off x="2871761" y="2291579"/>
            <a:ext cx="1368425" cy="1368425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GB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A869964D-FD24-40A8-9436-48949361F996}"/>
              </a:ext>
            </a:extLst>
          </p:cNvPr>
          <p:cNvSpPr>
            <a:spLocks noChangeAspect="1"/>
          </p:cNvSpPr>
          <p:nvPr/>
        </p:nvSpPr>
        <p:spPr>
          <a:xfrm>
            <a:off x="3879823" y="2291579"/>
            <a:ext cx="1368425" cy="1366837"/>
          </a:xfrm>
          <a:prstGeom prst="ellipse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endParaRPr lang="en-GB">
              <a:solidFill>
                <a:srgbClr val="000000"/>
              </a:solidFill>
              <a:cs typeface="Arial" charset="0"/>
            </a:endParaRPr>
          </a:p>
        </p:txBody>
      </p:sp>
      <p:sp>
        <p:nvSpPr>
          <p:cNvPr id="48" name="TextBox 39">
            <a:extLst>
              <a:ext uri="{FF2B5EF4-FFF2-40B4-BE49-F238E27FC236}">
                <a16:creationId xmlns:a16="http://schemas.microsoft.com/office/drawing/2014/main" id="{C3ED89C8-F29B-4443-8DCF-376C7CA735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1623" y="2002654"/>
            <a:ext cx="12255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600"/>
              <a:t>B</a:t>
            </a:r>
          </a:p>
        </p:txBody>
      </p:sp>
      <p:sp>
        <p:nvSpPr>
          <p:cNvPr id="49" name="TextBox 40">
            <a:extLst>
              <a:ext uri="{FF2B5EF4-FFF2-40B4-BE49-F238E27FC236}">
                <a16:creationId xmlns:a16="http://schemas.microsoft.com/office/drawing/2014/main" id="{AA3815FA-600C-43B9-9670-8C4C60BB25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55861" y="2002654"/>
            <a:ext cx="1223962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GB" sz="1600"/>
              <a:t>A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1EC1F4AC-FE70-417C-82D1-4FE925D9C32E}"/>
              </a:ext>
            </a:extLst>
          </p:cNvPr>
          <p:cNvSpPr/>
          <p:nvPr/>
        </p:nvSpPr>
        <p:spPr>
          <a:xfrm>
            <a:off x="5968973" y="2002654"/>
            <a:ext cx="5256213" cy="151288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/>
          <a:lstStyle/>
          <a:p>
            <a:r>
              <a:rPr lang="en-GB" dirty="0">
                <a:solidFill>
                  <a:srgbClr val="000000"/>
                </a:solidFill>
                <a:cs typeface="Arial" charset="0"/>
              </a:rPr>
              <a:t>The </a:t>
            </a:r>
            <a:r>
              <a:rPr lang="en-GB" b="1" dirty="0">
                <a:solidFill>
                  <a:srgbClr val="000000"/>
                </a:solidFill>
                <a:cs typeface="Arial" charset="0"/>
              </a:rPr>
              <a:t>complement of A </a:t>
            </a:r>
            <a:r>
              <a:rPr lang="en-GB" dirty="0">
                <a:solidFill>
                  <a:srgbClr val="000000"/>
                </a:solidFill>
                <a:cs typeface="Arial" charset="0"/>
              </a:rPr>
              <a:t>is the region that is not A.</a:t>
            </a:r>
          </a:p>
          <a:p>
            <a:endParaRPr lang="en-GB" dirty="0">
              <a:solidFill>
                <a:srgbClr val="000000"/>
              </a:solidFill>
              <a:cs typeface="Arial" charset="0"/>
            </a:endParaRPr>
          </a:p>
          <a:p>
            <a:endParaRPr lang="en-GB" dirty="0">
              <a:solidFill>
                <a:srgbClr val="000000"/>
              </a:solidFill>
              <a:cs typeface="Arial" charset="0"/>
            </a:endParaRPr>
          </a:p>
          <a:p>
            <a:r>
              <a:rPr lang="en-GB" dirty="0">
                <a:solidFill>
                  <a:srgbClr val="000000"/>
                </a:solidFill>
                <a:cs typeface="Arial" charset="0"/>
              </a:rPr>
              <a:t>This means </a:t>
            </a:r>
            <a:r>
              <a:rPr lang="en-GB" b="1" dirty="0">
                <a:solidFill>
                  <a:srgbClr val="000000"/>
                </a:solidFill>
                <a:cs typeface="Arial" charset="0"/>
              </a:rPr>
              <a:t>not A</a:t>
            </a:r>
            <a:r>
              <a:rPr lang="en-GB" dirty="0">
                <a:solidFill>
                  <a:srgbClr val="000000"/>
                </a:solidFill>
                <a:cs typeface="Arial" charset="0"/>
              </a:rPr>
              <a:t>.</a:t>
            </a:r>
          </a:p>
        </p:txBody>
      </p:sp>
      <p:graphicFrame>
        <p:nvGraphicFramePr>
          <p:cNvPr id="56" name="Object 4">
            <a:extLst>
              <a:ext uri="{FF2B5EF4-FFF2-40B4-BE49-F238E27FC236}">
                <a16:creationId xmlns:a16="http://schemas.microsoft.com/office/drawing/2014/main" id="{523B4974-830F-4598-9C97-4AB778240A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0094292"/>
              </p:ext>
            </p:extLst>
          </p:nvPr>
        </p:nvGraphicFramePr>
        <p:xfrm>
          <a:off x="6400525" y="2433759"/>
          <a:ext cx="388937" cy="360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Equation" r:id="rId4" imgW="177480" imgH="164880" progId="Equation.3">
                  <p:embed/>
                </p:oleObj>
              </mc:Choice>
              <mc:Fallback>
                <p:oleObj name="Equation" r:id="rId4" imgW="177480" imgH="164880" progId="Equation.3">
                  <p:embed/>
                  <p:pic>
                    <p:nvPicPr>
                      <p:cNvPr id="205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525" y="2433759"/>
                        <a:ext cx="388937" cy="360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08856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08" y="749371"/>
            <a:ext cx="11582400" cy="1143000"/>
          </a:xfrm>
        </p:spPr>
        <p:txBody>
          <a:bodyPr>
            <a:noAutofit/>
          </a:bodyPr>
          <a:lstStyle/>
          <a:p>
            <a:pPr algn="l"/>
            <a:r>
              <a:rPr lang="en-AU" sz="2800" b="1" u="sng" cap="none" dirty="0"/>
              <a:t>Example</a:t>
            </a:r>
            <a:br>
              <a:rPr lang="en-AU" sz="2800" cap="none" dirty="0"/>
            </a:br>
            <a:r>
              <a:rPr lang="en-AU" sz="2800" cap="none" dirty="0"/>
              <a:t>In a class of 30 students, 19 study physics, 17 study chemistry and 15 study both. Use a Venn diagram to display this information.</a:t>
            </a:r>
          </a:p>
        </p:txBody>
      </p:sp>
      <p:sp>
        <p:nvSpPr>
          <p:cNvPr id="4" name="Oval 4"/>
          <p:cNvSpPr>
            <a:spLocks noChangeArrowheads="1"/>
          </p:cNvSpPr>
          <p:nvPr/>
        </p:nvSpPr>
        <p:spPr bwMode="auto">
          <a:xfrm>
            <a:off x="5300801" y="2638173"/>
            <a:ext cx="2779986" cy="2731399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5" name="Text Box 19"/>
          <p:cNvSpPr txBox="1">
            <a:spLocks noChangeArrowheads="1"/>
          </p:cNvSpPr>
          <p:nvPr/>
        </p:nvSpPr>
        <p:spPr bwMode="auto">
          <a:xfrm>
            <a:off x="4077980" y="2210548"/>
            <a:ext cx="115212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 dirty="0"/>
              <a:t>Physics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12149" y="2120888"/>
            <a:ext cx="5973028" cy="3619564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Oval 3"/>
          <p:cNvSpPr>
            <a:spLocks noChangeArrowheads="1"/>
          </p:cNvSpPr>
          <p:nvPr/>
        </p:nvSpPr>
        <p:spPr bwMode="auto">
          <a:xfrm>
            <a:off x="3371260" y="2690876"/>
            <a:ext cx="2779986" cy="2731399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3" name="Text Box 19"/>
          <p:cNvSpPr txBox="1">
            <a:spLocks noChangeArrowheads="1"/>
          </p:cNvSpPr>
          <p:nvPr/>
        </p:nvSpPr>
        <p:spPr bwMode="auto">
          <a:xfrm>
            <a:off x="6237413" y="2189216"/>
            <a:ext cx="15841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 dirty="0"/>
              <a:t>Chemistry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08" y="6048830"/>
            <a:ext cx="53194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P(P and C) = P(P</a:t>
            </a:r>
            <a:r>
              <a:rPr lang="en-AU" sz="2800" dirty="0">
                <a:sym typeface="Symbol"/>
              </a:rPr>
              <a:t>C) =</a:t>
            </a:r>
            <a:endParaRPr lang="en-AU" sz="2800" dirty="0"/>
          </a:p>
        </p:txBody>
      </p:sp>
      <p:sp>
        <p:nvSpPr>
          <p:cNvPr id="19" name="TextBox 18"/>
          <p:cNvSpPr txBox="1"/>
          <p:nvPr/>
        </p:nvSpPr>
        <p:spPr>
          <a:xfrm>
            <a:off x="6049616" y="6031965"/>
            <a:ext cx="538146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P(P or C) = P(P</a:t>
            </a:r>
            <a:r>
              <a:rPr lang="en-AU" sz="2800" dirty="0">
                <a:sym typeface="Symbol"/>
              </a:rPr>
              <a:t>C) =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646473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08" y="749371"/>
            <a:ext cx="11582400" cy="1143000"/>
          </a:xfrm>
        </p:spPr>
        <p:txBody>
          <a:bodyPr>
            <a:noAutofit/>
          </a:bodyPr>
          <a:lstStyle/>
          <a:p>
            <a:pPr algn="l"/>
            <a:r>
              <a:rPr lang="en-AU" sz="2800" b="1" u="sng" cap="none" dirty="0"/>
              <a:t>Example</a:t>
            </a:r>
            <a:br>
              <a:rPr lang="en-AU" sz="2800" cap="none" dirty="0"/>
            </a:br>
            <a:r>
              <a:rPr lang="en-AU" sz="2800" cap="none" dirty="0"/>
              <a:t>In a class of 30 students, 19 study physics, 17 study chemistry and 15 study both. Use a Venn diagram to display this information.</a:t>
            </a:r>
          </a:p>
        </p:txBody>
      </p:sp>
      <p:sp>
        <p:nvSpPr>
          <p:cNvPr id="10" name="Oval 4">
            <a:extLst>
              <a:ext uri="{FF2B5EF4-FFF2-40B4-BE49-F238E27FC236}">
                <a16:creationId xmlns:a16="http://schemas.microsoft.com/office/drawing/2014/main" id="{69756691-9D0A-4B57-B398-F3079E758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1820" y="2571913"/>
            <a:ext cx="2779986" cy="2731399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1" name="Text Box 19">
            <a:extLst>
              <a:ext uri="{FF2B5EF4-FFF2-40B4-BE49-F238E27FC236}">
                <a16:creationId xmlns:a16="http://schemas.microsoft.com/office/drawing/2014/main" id="{C878FCE7-53B6-4175-BA04-D9DE890682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08999" y="2144288"/>
            <a:ext cx="1152128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 dirty="0"/>
              <a:t>Physics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37BFA7-A358-445F-9D44-BA04CD694650}"/>
              </a:ext>
            </a:extLst>
          </p:cNvPr>
          <p:cNvSpPr/>
          <p:nvPr/>
        </p:nvSpPr>
        <p:spPr>
          <a:xfrm>
            <a:off x="2843168" y="2054628"/>
            <a:ext cx="5973028" cy="3619564"/>
          </a:xfrm>
          <a:prstGeom prst="rect">
            <a:avLst/>
          </a:prstGeom>
          <a:noFill/>
          <a:ln w="444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3">
            <a:extLst>
              <a:ext uri="{FF2B5EF4-FFF2-40B4-BE49-F238E27FC236}">
                <a16:creationId xmlns:a16="http://schemas.microsoft.com/office/drawing/2014/main" id="{2CAB97A5-BBD4-4A91-A0F3-5D0F3F702D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02279" y="2624616"/>
            <a:ext cx="2779986" cy="2731399"/>
          </a:xfrm>
          <a:prstGeom prst="ellipse">
            <a:avLst/>
          </a:prstGeom>
          <a:noFill/>
          <a:ln w="571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" name="Text Box 19">
            <a:extLst>
              <a:ext uri="{FF2B5EF4-FFF2-40B4-BE49-F238E27FC236}">
                <a16:creationId xmlns:a16="http://schemas.microsoft.com/office/drawing/2014/main" id="{797C90AA-20A5-4077-B561-A8F163EC43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68432" y="2122956"/>
            <a:ext cx="15841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b="1" dirty="0"/>
              <a:t>Chemistry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863BA8-A181-46ED-9CDC-543E5A684769}"/>
              </a:ext>
            </a:extLst>
          </p:cNvPr>
          <p:cNvSpPr txBox="1"/>
          <p:nvPr/>
        </p:nvSpPr>
        <p:spPr>
          <a:xfrm>
            <a:off x="5580930" y="3819331"/>
            <a:ext cx="701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15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7786C65-08BD-42F6-A185-807B875D5339}"/>
              </a:ext>
            </a:extLst>
          </p:cNvPr>
          <p:cNvSpPr txBox="1"/>
          <p:nvPr/>
        </p:nvSpPr>
        <p:spPr>
          <a:xfrm>
            <a:off x="6857235" y="3728704"/>
            <a:ext cx="701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2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BEBDFEA-6B6B-4FF0-B451-D7139C3C03D6}"/>
              </a:ext>
            </a:extLst>
          </p:cNvPr>
          <p:cNvSpPr txBox="1"/>
          <p:nvPr/>
        </p:nvSpPr>
        <p:spPr>
          <a:xfrm>
            <a:off x="4099991" y="3742387"/>
            <a:ext cx="701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DAD2CBB-C5EB-4D77-9D9C-85C458956A81}"/>
              </a:ext>
            </a:extLst>
          </p:cNvPr>
          <p:cNvSpPr txBox="1"/>
          <p:nvPr/>
        </p:nvSpPr>
        <p:spPr>
          <a:xfrm>
            <a:off x="2937194" y="5150972"/>
            <a:ext cx="70133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/>
              <a:t>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BE2DB45-EFD3-48BF-B9EF-1E2FBF12478C}"/>
                  </a:ext>
                </a:extLst>
              </p:cNvPr>
              <p:cNvSpPr txBox="1"/>
              <p:nvPr/>
            </p:nvSpPr>
            <p:spPr>
              <a:xfrm>
                <a:off x="6821813" y="5873619"/>
                <a:ext cx="5055353" cy="7042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/>
                  <a:t>P(P or C) = P(P</a:t>
                </a:r>
                <a:r>
                  <a:rPr lang="en-AU" sz="2800" dirty="0">
                    <a:sym typeface="Symbol"/>
                  </a:rPr>
                  <a:t>C)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  <a:sym typeface="Symbol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/>
                            <a:sym typeface="Symbol"/>
                          </a:rPr>
                          <m:t>21</m:t>
                        </m:r>
                      </m:num>
                      <m:den>
                        <m:r>
                          <a:rPr lang="en-AU" sz="2800" i="1">
                            <a:latin typeface="Cambria Math"/>
                            <a:sym typeface="Symbol"/>
                          </a:rPr>
                          <m:t>30</m:t>
                        </m:r>
                      </m:den>
                    </m:f>
                  </m:oMath>
                </a14:m>
                <a:r>
                  <a:rPr lang="en-AU" sz="28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/>
                          </a:rPr>
                          <m:t>7</m:t>
                        </m:r>
                      </m:num>
                      <m:den>
                        <m:r>
                          <a:rPr lang="en-AU" sz="2800" i="1">
                            <a:latin typeface="Cambria Math"/>
                          </a:rPr>
                          <m:t>10</m:t>
                        </m:r>
                      </m:den>
                    </m:f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EBE2DB45-EFD3-48BF-B9EF-1E2FBF12478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21813" y="5873619"/>
                <a:ext cx="5055353" cy="704295"/>
              </a:xfrm>
              <a:prstGeom prst="rect">
                <a:avLst/>
              </a:prstGeom>
              <a:blipFill>
                <a:blip r:embed="rId2"/>
                <a:stretch>
                  <a:fillRect l="-2413" b="-9565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896221F-B133-48EE-94FD-777BC875DCC5}"/>
                  </a:ext>
                </a:extLst>
              </p:cNvPr>
              <p:cNvSpPr txBox="1"/>
              <p:nvPr/>
            </p:nvSpPr>
            <p:spPr>
              <a:xfrm>
                <a:off x="657587" y="5926003"/>
                <a:ext cx="5172095" cy="71045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2800" dirty="0"/>
                  <a:t>P(P and C) = P(P</a:t>
                </a:r>
                <a:r>
                  <a:rPr lang="en-AU" sz="2800" dirty="0">
                    <a:sym typeface="Symbol"/>
                  </a:rPr>
                  <a:t>C)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  <a:sym typeface="Symbol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/>
                            <a:sym typeface="Symbol"/>
                          </a:rPr>
                          <m:t>15</m:t>
                        </m:r>
                      </m:num>
                      <m:den>
                        <m:r>
                          <a:rPr lang="en-AU" sz="2800" i="1">
                            <a:latin typeface="Cambria Math"/>
                            <a:sym typeface="Symbol"/>
                          </a:rPr>
                          <m:t>30</m:t>
                        </m:r>
                      </m:den>
                    </m:f>
                  </m:oMath>
                </a14:m>
                <a:r>
                  <a:rPr lang="en-AU" sz="28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800" i="1">
                            <a:latin typeface="Cambria Math"/>
                          </a:rPr>
                          <m:t>1</m:t>
                        </m:r>
                      </m:num>
                      <m:den>
                        <m:r>
                          <a:rPr lang="en-AU" sz="2800" i="1">
                            <a:latin typeface="Cambria Math"/>
                          </a:rPr>
                          <m:t>2</m:t>
                        </m:r>
                      </m:den>
                    </m:f>
                  </m:oMath>
                </a14:m>
                <a:endParaRPr lang="en-AU" sz="2800" dirty="0"/>
              </a:p>
            </p:txBody>
          </p:sp>
        </mc:Choice>
        <mc:Fallback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896221F-B133-48EE-94FD-777BC875DC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7587" y="5926003"/>
                <a:ext cx="5172095" cy="710451"/>
              </a:xfrm>
              <a:prstGeom prst="rect">
                <a:avLst/>
              </a:prstGeom>
              <a:blipFill>
                <a:blip r:embed="rId3"/>
                <a:stretch>
                  <a:fillRect l="-2476" b="-8547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758554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6ABC60C-22A6-43CC-89B1-022B1791D2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Dwyer Year 10 Text, Exercise 8.5, Questions 1-3, p.108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err="1"/>
              <a:t>And/Or</a:t>
            </a:r>
            <a:r>
              <a:rPr lang="en-US" dirty="0"/>
              <a:t> Problems Puzzle Sheet</a:t>
            </a:r>
          </a:p>
          <a:p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B5B740C-03A6-4C1E-A03F-B71FA9886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</p:spPr>
        <p:txBody>
          <a:bodyPr/>
          <a:lstStyle/>
          <a:p>
            <a:r>
              <a:rPr lang="en-AU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Task</a:t>
            </a:r>
          </a:p>
        </p:txBody>
      </p:sp>
    </p:spTree>
    <p:extLst>
      <p:ext uri="{BB962C8B-B14F-4D97-AF65-F5344CB8AC3E}">
        <p14:creationId xmlns:p14="http://schemas.microsoft.com/office/powerpoint/2010/main" val="3829465617"/>
      </p:ext>
    </p:extLst>
  </p:cSld>
  <p:clrMapOvr>
    <a:masterClrMapping/>
  </p:clrMapOvr>
</p:sld>
</file>

<file path=ppt/theme/theme1.xml><?xml version="1.0" encoding="utf-8"?>
<a:theme xmlns:a="http://schemas.openxmlformats.org/drawingml/2006/main" name="BSC Theme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C4220D"/>
      </a:accent1>
      <a:accent2>
        <a:srgbClr val="EB7712"/>
      </a:accent2>
      <a:accent3>
        <a:srgbClr val="ECBD31"/>
      </a:accent3>
      <a:accent4>
        <a:srgbClr val="92CE4A"/>
      </a:accent4>
      <a:accent5>
        <a:srgbClr val="50CFB4"/>
      </a:accent5>
      <a:accent6>
        <a:srgbClr val="0D8EC5"/>
      </a:accent6>
      <a:hlink>
        <a:srgbClr val="EA5A0C"/>
      </a:hlink>
      <a:folHlink>
        <a:srgbClr val="F09D3A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SC Theme" id="{C1CBADD6-BB5F-440A-B968-1DF8E3AA1E88}" vid="{968D037D-C1E6-4504-B0AA-F343FEB667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BSC Theme</Template>
  <TotalTime>306</TotalTime>
  <Words>576</Words>
  <Application>Microsoft Office PowerPoint</Application>
  <PresentationFormat>Widescreen</PresentationFormat>
  <Paragraphs>187</Paragraphs>
  <Slides>14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4" baseType="lpstr">
      <vt:lpstr>Arial</vt:lpstr>
      <vt:lpstr>Arial Black</vt:lpstr>
      <vt:lpstr>Calibri</vt:lpstr>
      <vt:lpstr>Cambria Math</vt:lpstr>
      <vt:lpstr>Century Gothic</vt:lpstr>
      <vt:lpstr>DJB Fancy Nancy</vt:lpstr>
      <vt:lpstr>Kiwi School Handwriting</vt:lpstr>
      <vt:lpstr>Symbol</vt:lpstr>
      <vt:lpstr>BSC Theme</vt:lpstr>
      <vt:lpstr>Equation</vt:lpstr>
      <vt:lpstr>VENN Diagrams</vt:lpstr>
      <vt:lpstr>Lesson objective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Example In a class of 30 students, 19 study physics, 17 study chemistry and 15 study both. Use a Venn diagram to display this information.</vt:lpstr>
      <vt:lpstr>Example In a class of 30 students, 19 study physics, 17 study chemistry and 15 study both. Use a Venn diagram to display this information.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</dc:title>
  <dc:creator>Toby</dc:creator>
  <cp:lastModifiedBy>Magdeline Lum</cp:lastModifiedBy>
  <cp:revision>17</cp:revision>
  <cp:lastPrinted>2018-06-10T15:00:28Z</cp:lastPrinted>
  <dcterms:created xsi:type="dcterms:W3CDTF">2018-06-02T10:27:40Z</dcterms:created>
  <dcterms:modified xsi:type="dcterms:W3CDTF">2018-06-10T15:56:48Z</dcterms:modified>
</cp:coreProperties>
</file>
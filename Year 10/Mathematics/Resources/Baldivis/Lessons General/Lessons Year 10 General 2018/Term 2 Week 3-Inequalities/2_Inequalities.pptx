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61" r:id="rId5"/>
    <p:sldId id="26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8" d="100"/>
          <a:sy n="68" d="100"/>
        </p:scale>
        <p:origin x="61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8F4CD-211D-4B17-BABD-AC4244FC6C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07D0B5-6AC4-43C8-AD22-556B254EFE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D7D8B7-997A-4A46-AF91-40C89486A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C3A26-36E2-456E-B9C2-F079D2C10363}" type="datetimeFigureOut">
              <a:rPr lang="en-AU" smtClean="0"/>
              <a:t>23/05/2018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AB4232-A07A-470F-B1F8-8DA421D96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EB5A56-C1FF-495D-B271-1BCC02E4A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F2E5A-DB60-4FEE-BF67-9E11FD48A42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14338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7A4F9-BCE1-4C2D-8A13-8BB125D4F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B1600-EFFA-4421-B3A5-AAD80D268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7415CF-6561-4930-B497-7204C37ED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C3A26-36E2-456E-B9C2-F079D2C10363}" type="datetimeFigureOut">
              <a:rPr lang="en-AU" smtClean="0"/>
              <a:t>23/05/2018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D75BD8-2079-45CA-99AE-C777EE7D1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AE3C23-3198-4AB2-BECE-790306FD6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F2E5A-DB60-4FEE-BF67-9E11FD48A42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027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F25E8-4850-4175-A848-08D6E8D0F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E1A3F3-0ED0-4C4C-8E16-3F379BEEA7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1F0436-0FC5-4829-9B7A-DFBDF5B6E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C3A26-36E2-456E-B9C2-F079D2C10363}" type="datetimeFigureOut">
              <a:rPr lang="en-AU" smtClean="0"/>
              <a:t>23/05/2018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F4BF1-1CB5-42A3-9C42-4383CE1B6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682AC-EC33-4818-9459-48EAE24D8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F2E5A-DB60-4FEE-BF67-9E11FD48A42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9258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3E3BC-0CC1-43B1-AFC6-41B2BCBB3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6170E-2B51-405B-8FC3-91988BDE4F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B89EA2-9F52-4740-BB7A-B94E6733A1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1C25C6-F760-449D-936B-D103E4B78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C3A26-36E2-456E-B9C2-F079D2C10363}" type="datetimeFigureOut">
              <a:rPr lang="en-AU" smtClean="0"/>
              <a:t>23/05/2018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E95F8C-EE05-4033-80AD-6F8B8D2EE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DDAD1C-B873-4BB0-A952-7E5A42F91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F2E5A-DB60-4FEE-BF67-9E11FD48A42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47684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962D3-1A96-42F2-A4D8-AB8C3D953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4B486-BF1D-46A2-95D8-1A6F13025D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61221D-980F-403C-A94F-9BBF7C12C3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9ED990-A785-4F44-8217-4F9451D345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9CD2A5-8496-4EE9-BA2B-D47EAC582B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798134-1270-47D6-9A3B-24BD3C7D0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C3A26-36E2-456E-B9C2-F079D2C10363}" type="datetimeFigureOut">
              <a:rPr lang="en-AU" smtClean="0"/>
              <a:t>23/05/2018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EE17C4-12AD-46DD-A248-AAEEE18E0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1FC059-DC6B-43D9-B7FB-8931A40D3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F2E5A-DB60-4FEE-BF67-9E11FD48A42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08751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1AE37-CA7E-4D57-8B4B-91EBA6627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874036-CCC3-45FA-A09B-81EE137C0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C3A26-36E2-456E-B9C2-F079D2C10363}" type="datetimeFigureOut">
              <a:rPr lang="en-AU" smtClean="0"/>
              <a:t>23/05/2018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3A21A8-BD2A-45F0-AE87-FC3FCFC0D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8CAEF7-1186-4D85-BA8B-BEDEF03BB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F2E5A-DB60-4FEE-BF67-9E11FD48A42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5858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167FD3-2DCB-4291-ACE8-462FAA5CE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C3A26-36E2-456E-B9C2-F079D2C10363}" type="datetimeFigureOut">
              <a:rPr lang="en-AU" smtClean="0"/>
              <a:t>23/05/2018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D1C1F4-A9B9-4521-B92F-42A39C17E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20A98E-4DC8-42C2-9029-08F80162B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F2E5A-DB60-4FEE-BF67-9E11FD48A42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2295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7371B-AAAC-45D8-9825-5BF05FCB9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53BD1-4304-4A3F-9FA4-A5F1F9291C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BE225-C609-49EA-87B1-DEF4822100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744AE9-563A-4EBD-96A6-256986CB3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C3A26-36E2-456E-B9C2-F079D2C10363}" type="datetimeFigureOut">
              <a:rPr lang="en-AU" smtClean="0"/>
              <a:t>23/05/2018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D61E2B-A89F-4E3F-9822-25B1EB26E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55D4AB-C0ED-46A4-AFA9-3473B89CC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F2E5A-DB60-4FEE-BF67-9E11FD48A42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7704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905EE-C48A-4A7F-99BC-9D43F8A71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1B2F01-8621-4B56-BE6F-BFC2072F7A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EEA256-DD18-43C6-B765-9AAC046FC2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8297D4-5DED-49FC-A131-1F793F43A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C3A26-36E2-456E-B9C2-F079D2C10363}" type="datetimeFigureOut">
              <a:rPr lang="en-AU" smtClean="0"/>
              <a:t>23/05/2018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243D8-6115-41E1-BF80-21B10A688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AF6BAE-0238-4BD5-AAEB-A6ED9FD11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F2E5A-DB60-4FEE-BF67-9E11FD48A42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04351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A6ED0-BDF3-4301-93E3-E02476A15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74E1E6-E611-41B6-9973-ED02D6D42C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B544BC-1BE0-41F8-8EF9-478739779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C3A26-36E2-456E-B9C2-F079D2C10363}" type="datetimeFigureOut">
              <a:rPr lang="en-AU" smtClean="0"/>
              <a:t>23/05/2018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25ABA-7AC5-40CA-8EB7-C23F92BBB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E4209-55F9-49E9-A4A2-EAA58D524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F2E5A-DB60-4FEE-BF67-9E11FD48A42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0013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6F288C-B197-41CC-B75F-C2CA2E92FA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4C8565-DB85-4DCA-B2BD-FE84DBEBCD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2037D0-08D7-40DD-904C-1A33BD3E0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C3A26-36E2-456E-B9C2-F079D2C10363}" type="datetimeFigureOut">
              <a:rPr lang="en-AU" smtClean="0"/>
              <a:t>23/05/2018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76EED-46FC-42C6-AF97-C5F0E0B33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2F26C-5D56-4E62-B204-1434FAE54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F2E5A-DB60-4FEE-BF67-9E11FD48A42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54289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C96B98-F3F9-4D17-85B2-1957129E4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78A924-BE72-4136-9130-D1E00578C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0A8889-B00E-45A4-82B3-9B0F8AE297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FC3A26-36E2-456E-B9C2-F079D2C10363}" type="datetimeFigureOut">
              <a:rPr lang="en-AU" smtClean="0"/>
              <a:t>23/05/2018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41CF6B-17B7-43EC-B5F7-F48172EB49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953E19-A62F-4727-AEA9-07A83601B7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7F2E5A-DB60-4FEE-BF67-9E11FD48A42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2572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C9B70-1179-488A-A488-0821EC4443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Topic: Linear inequalities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B76438-C07D-4046-8B0F-DD963A3EDF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EQ: How to graph linear inequalities?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78311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553404"/>
            <a:ext cx="9144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105074"/>
            <a:ext cx="9144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24001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3713228" y="1109730"/>
            <a:ext cx="18714" cy="574827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47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0174" y="598894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– How to solve linear inequalities?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89962" y="45023"/>
            <a:ext cx="33512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Linear Inequalities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034E13-41F2-4108-9058-5F7F9D3D63FC}"/>
              </a:ext>
            </a:extLst>
          </p:cNvPr>
          <p:cNvSpPr txBox="1"/>
          <p:nvPr/>
        </p:nvSpPr>
        <p:spPr>
          <a:xfrm>
            <a:off x="4035995" y="1126054"/>
            <a:ext cx="80824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 dirty="0"/>
              <a:t>Graphing a linear inequality is very similar to graphing a linear equation.</a:t>
            </a:r>
            <a:endParaRPr lang="en-US" dirty="0"/>
          </a:p>
          <a:p>
            <a:endParaRPr lang="en-A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31D0E1-8BE7-4939-8B7B-ADFFA4EB6B87}"/>
              </a:ext>
            </a:extLst>
          </p:cNvPr>
          <p:cNvSpPr txBox="1"/>
          <p:nvPr/>
        </p:nvSpPr>
        <p:spPr>
          <a:xfrm>
            <a:off x="1676400" y="1768824"/>
            <a:ext cx="21892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What is an inequality?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C5E21598-5AAC-4A45-91DA-6AD158234DBA}"/>
              </a:ext>
            </a:extLst>
          </p:cNvPr>
          <p:cNvSpPr txBox="1">
            <a:spLocks noChangeArrowheads="1"/>
          </p:cNvSpPr>
          <p:nvPr/>
        </p:nvSpPr>
        <p:spPr>
          <a:xfrm>
            <a:off x="3713228" y="1584714"/>
            <a:ext cx="7696200" cy="51054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b="1"/>
              <a:t>1) Solve the inequality for </a:t>
            </a:r>
            <a:r>
              <a:rPr lang="en-US" altLang="en-US" b="1" i="1"/>
              <a:t>y</a:t>
            </a:r>
            <a:r>
              <a:rPr lang="en-US" altLang="en-US" b="1"/>
              <a:t> </a:t>
            </a:r>
          </a:p>
          <a:p>
            <a:pPr>
              <a:buFont typeface="Monotype Sorts" charset="2"/>
              <a:buNone/>
            </a:pPr>
            <a:r>
              <a:rPr lang="en-US" altLang="en-US" b="1"/>
              <a:t>        (or for </a:t>
            </a:r>
            <a:r>
              <a:rPr lang="en-US" altLang="en-US" b="1" i="1"/>
              <a:t>x </a:t>
            </a:r>
            <a:r>
              <a:rPr lang="en-US" altLang="en-US" b="1"/>
              <a:t>if there is no </a:t>
            </a:r>
            <a:r>
              <a:rPr lang="en-US" altLang="en-US" b="1" i="1"/>
              <a:t>y</a:t>
            </a:r>
            <a:r>
              <a:rPr lang="en-US" altLang="en-US" b="1"/>
              <a:t>).</a:t>
            </a:r>
          </a:p>
          <a:p>
            <a:r>
              <a:rPr lang="en-US" altLang="en-US" b="1"/>
              <a:t>2) Change the inequality to an equation</a:t>
            </a:r>
          </a:p>
          <a:p>
            <a:pPr>
              <a:buFont typeface="Monotype Sorts" charset="2"/>
              <a:buNone/>
            </a:pPr>
            <a:r>
              <a:rPr lang="en-US" altLang="en-US" b="1"/>
              <a:t>        and graph.</a:t>
            </a:r>
          </a:p>
          <a:p>
            <a:r>
              <a:rPr lang="en-US" altLang="en-US" b="1"/>
              <a:t>3) If the inequality is &lt; or &gt;, the line</a:t>
            </a:r>
          </a:p>
          <a:p>
            <a:pPr>
              <a:buFont typeface="Monotype Sorts" charset="2"/>
              <a:buNone/>
            </a:pPr>
            <a:r>
              <a:rPr lang="en-US" altLang="en-US" b="1"/>
              <a:t>       is dotted.  If the inequality is ≤ or</a:t>
            </a:r>
          </a:p>
          <a:p>
            <a:pPr>
              <a:buFont typeface="Monotype Sorts" charset="2"/>
              <a:buNone/>
            </a:pPr>
            <a:r>
              <a:rPr lang="en-US" altLang="en-US" b="1"/>
              <a:t>       ≥, the line is solid.</a:t>
            </a:r>
          </a:p>
          <a:p>
            <a:endParaRPr lang="en-US" altLang="en-US" b="1" dirty="0"/>
          </a:p>
        </p:txBody>
      </p:sp>
    </p:spTree>
    <p:extLst>
      <p:ext uri="{BB962C8B-B14F-4D97-AF65-F5344CB8AC3E}">
        <p14:creationId xmlns:p14="http://schemas.microsoft.com/office/powerpoint/2010/main" val="3934207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uiExpand="1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553404"/>
            <a:ext cx="9144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105074"/>
            <a:ext cx="9144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24001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3713228" y="1109730"/>
            <a:ext cx="18714" cy="574827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47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0174" y="598894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– How to solve linear inequalities?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89962" y="45023"/>
            <a:ext cx="33512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Linear Inequalities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034E13-41F2-4108-9058-5F7F9D3D63FC}"/>
              </a:ext>
            </a:extLst>
          </p:cNvPr>
          <p:cNvSpPr txBox="1"/>
          <p:nvPr/>
        </p:nvSpPr>
        <p:spPr>
          <a:xfrm>
            <a:off x="4035995" y="1126054"/>
            <a:ext cx="808243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basic technique for solving inequality is to:</a:t>
            </a:r>
          </a:p>
          <a:p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imagine that in place of the inequality sign, there is an equals sign</a:t>
            </a:r>
          </a:p>
          <a:p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solve the inequality as if it were a linear equation, except that in place of the equals sign keep the original inequality sign unless the special case outlined below applies- </a:t>
            </a:r>
            <a:r>
              <a:rPr lang="en-US" b="1" dirty="0"/>
              <a:t>we will do these examples later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A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31D0E1-8BE7-4939-8B7B-ADFFA4EB6B87}"/>
              </a:ext>
            </a:extLst>
          </p:cNvPr>
          <p:cNvSpPr txBox="1"/>
          <p:nvPr/>
        </p:nvSpPr>
        <p:spPr>
          <a:xfrm>
            <a:off x="1676400" y="1768824"/>
            <a:ext cx="21892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How to solve an inequality?</a:t>
            </a:r>
          </a:p>
        </p:txBody>
      </p:sp>
    </p:spTree>
    <p:extLst>
      <p:ext uri="{BB962C8B-B14F-4D97-AF65-F5344CB8AC3E}">
        <p14:creationId xmlns:p14="http://schemas.microsoft.com/office/powerpoint/2010/main" val="3788659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9BBCE-1AAF-4D83-A246-7788AC815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Worked examples: We will do these together</a:t>
            </a:r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518E4F-D869-4267-9F44-6815E3744FAA}"/>
              </a:ext>
            </a:extLst>
          </p:cNvPr>
          <p:cNvSpPr txBox="1"/>
          <p:nvPr/>
        </p:nvSpPr>
        <p:spPr>
          <a:xfrm>
            <a:off x="5244662" y="2154621"/>
            <a:ext cx="1933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Solutions:</a:t>
            </a:r>
            <a:endParaRPr lang="en-AU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DFA55F-2E9F-45C1-9937-E09F11168634}"/>
              </a:ext>
            </a:extLst>
          </p:cNvPr>
          <p:cNvSpPr/>
          <p:nvPr/>
        </p:nvSpPr>
        <p:spPr>
          <a:xfrm>
            <a:off x="380215" y="1739122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Sketch the half plane given by each of the following inequations.</a:t>
            </a:r>
          </a:p>
          <a:p>
            <a:pPr>
              <a:buFont typeface="+mj-lt"/>
              <a:buAutoNum type="arabicPeriod"/>
            </a:pPr>
            <a:r>
              <a:rPr lang="en-US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y</a:t>
            </a:r>
            <a:r>
              <a:rPr lang="en-US" b="1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 ≥ </a:t>
            </a:r>
            <a:r>
              <a:rPr lang="en-US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x</a:t>
            </a:r>
            <a:r>
              <a:rPr lang="en-US" b="1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 + 2</a:t>
            </a:r>
          </a:p>
          <a:p>
            <a:pPr>
              <a:buFont typeface="+mj-lt"/>
              <a:buAutoNum type="arabicPeriod"/>
            </a:pPr>
            <a:r>
              <a:rPr lang="en-US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y</a:t>
            </a:r>
            <a:r>
              <a:rPr lang="en-US" b="1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 &lt; 3</a:t>
            </a:r>
            <a:r>
              <a:rPr lang="en-US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x</a:t>
            </a:r>
            <a:r>
              <a:rPr lang="en-US" b="1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 − 1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352B1B7-5F7E-46A9-B81B-C1179CCB44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2348" y="2523953"/>
            <a:ext cx="2535441" cy="44400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4D1D48B-7157-4E20-AF25-CE05B9B5FC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3615" y="1442453"/>
            <a:ext cx="2772602" cy="179366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7B1BE3C-C55A-4B33-9CE8-A967D34BEC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3615" y="3233761"/>
            <a:ext cx="2313865" cy="3540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451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1B98EC-C3E9-4917-AA41-F12FF15F4576}"/>
              </a:ext>
            </a:extLst>
          </p:cNvPr>
          <p:cNvSpPr txBox="1"/>
          <p:nvPr/>
        </p:nvSpPr>
        <p:spPr>
          <a:xfrm>
            <a:off x="2102177" y="725864"/>
            <a:ext cx="7541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Your turn: Sketch the graph of each of the following linear inequalities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E7E4DE-7495-4605-B433-659F11EB1F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745" y="1696824"/>
            <a:ext cx="3914969" cy="454597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2722B80-2B56-4475-A12E-CD7DC9766D17}"/>
                  </a:ext>
                </a:extLst>
              </p:cNvPr>
              <p:cNvSpPr txBox="1"/>
              <p:nvPr/>
            </p:nvSpPr>
            <p:spPr>
              <a:xfrm>
                <a:off x="2204646" y="1404594"/>
                <a:ext cx="2724347" cy="26637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&gt;4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−4</m:t>
                    </m:r>
                  </m:oMath>
                </a14:m>
                <a:endParaRPr lang="en-US" b="0" dirty="0"/>
              </a:p>
              <a:p>
                <a:pPr marL="342900" indent="-342900"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endParaRPr lang="en-US" b="0" dirty="0"/>
              </a:p>
              <a:p>
                <a:pPr marL="342900" indent="-342900">
                  <a:buFontTx/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endParaRPr lang="en-US" b="0" dirty="0"/>
              </a:p>
              <a:p>
                <a:pPr marL="342900" indent="-342900">
                  <a:buFontTx/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−4</m:t>
                    </m:r>
                  </m:oMath>
                </a14:m>
                <a:endParaRPr lang="en-US" b="0" dirty="0"/>
              </a:p>
              <a:p>
                <a:endParaRPr lang="en-US" b="0" dirty="0"/>
              </a:p>
              <a:p>
                <a:pPr marL="342900" indent="-342900">
                  <a:buAutoNum type="arabicPeriod"/>
                </a:pPr>
                <a:endParaRPr lang="en-US" b="0" dirty="0"/>
              </a:p>
              <a:p>
                <a:pPr marL="342900" indent="-342900">
                  <a:buAutoNum type="arabicPeriod"/>
                </a:pPr>
                <a:endParaRPr lang="en-US" b="0" dirty="0"/>
              </a:p>
              <a:p>
                <a:pPr marL="342900" indent="-342900">
                  <a:buAutoNum type="arabicPeriod"/>
                </a:pPr>
                <a:endParaRPr lang="en-AU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2722B80-2B56-4475-A12E-CD7DC9766D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4646" y="1404594"/>
                <a:ext cx="2724347" cy="2663743"/>
              </a:xfrm>
              <a:prstGeom prst="rect">
                <a:avLst/>
              </a:prstGeom>
              <a:blipFill>
                <a:blip r:embed="rId3"/>
                <a:stretch>
                  <a:fillRect l="-1790" t="-114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56246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396</TotalTime>
  <Words>247</Words>
  <Application>Microsoft Office PowerPoint</Application>
  <PresentationFormat>Widescreen</PresentationFormat>
  <Paragraphs>42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Chalkboard</vt:lpstr>
      <vt:lpstr>Helvetica</vt:lpstr>
      <vt:lpstr>Monotype Sorts</vt:lpstr>
      <vt:lpstr>Times New Roman</vt:lpstr>
      <vt:lpstr>Office Theme</vt:lpstr>
      <vt:lpstr>Topic: Linear inequalities</vt:lpstr>
      <vt:lpstr>PowerPoint Presentation</vt:lpstr>
      <vt:lpstr>PowerPoint Presentation</vt:lpstr>
      <vt:lpstr>Worked examples: We will do these together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Sarah James</dc:creator>
  <cp:lastModifiedBy>Sarah James</cp:lastModifiedBy>
  <cp:revision>4</cp:revision>
  <dcterms:created xsi:type="dcterms:W3CDTF">2018-05-23T05:39:55Z</dcterms:created>
  <dcterms:modified xsi:type="dcterms:W3CDTF">2018-05-23T12:16:17Z</dcterms:modified>
</cp:coreProperties>
</file>
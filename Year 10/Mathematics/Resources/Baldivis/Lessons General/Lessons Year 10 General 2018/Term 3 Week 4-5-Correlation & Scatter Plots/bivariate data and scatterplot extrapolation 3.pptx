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62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66"/>
  </p:normalViewPr>
  <p:slideViewPr>
    <p:cSldViewPr snapToGrid="0" snapToObjects="1">
      <p:cViewPr varScale="1">
        <p:scale>
          <a:sx n="105" d="100"/>
          <a:sy n="105" d="100"/>
        </p:scale>
        <p:origin x="20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Workbook6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Drinks sold</c:v>
                </c:pt>
              </c:strCache>
            </c:strRef>
          </c:tx>
          <c:spPr>
            <a:ln w="25400" cap="rnd">
              <a:noFill/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trendline>
            <c:spPr>
              <a:ln w="25400" cap="rnd">
                <a:solidFill>
                  <a:schemeClr val="accent1">
                    <a:alpha val="50000"/>
                  </a:schemeClr>
                </a:solidFill>
              </a:ln>
              <a:effectLst/>
            </c:spPr>
            <c:trendlineType val="linear"/>
            <c:forward val="2.0"/>
            <c:dispRSqr val="0"/>
            <c:dispEq val="0"/>
          </c:trendline>
          <c:xVal>
            <c:numRef>
              <c:f>Sheet1!$A$2:$A$11</c:f>
              <c:numCache>
                <c:formatCode>General</c:formatCode>
                <c:ptCount val="10"/>
                <c:pt idx="0">
                  <c:v>18.0</c:v>
                </c:pt>
                <c:pt idx="1">
                  <c:v>22.0</c:v>
                </c:pt>
                <c:pt idx="2">
                  <c:v>24.0</c:v>
                </c:pt>
                <c:pt idx="3">
                  <c:v>33.0</c:v>
                </c:pt>
                <c:pt idx="4">
                  <c:v>30.0</c:v>
                </c:pt>
                <c:pt idx="5">
                  <c:v>28.0</c:v>
                </c:pt>
                <c:pt idx="6">
                  <c:v>29.0</c:v>
                </c:pt>
                <c:pt idx="7">
                  <c:v>17.0</c:v>
                </c:pt>
                <c:pt idx="8">
                  <c:v>23.0</c:v>
                </c:pt>
                <c:pt idx="9">
                  <c:v>27.0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160.0</c:v>
                </c:pt>
                <c:pt idx="1">
                  <c:v>200.0</c:v>
                </c:pt>
                <c:pt idx="2">
                  <c:v>250.0</c:v>
                </c:pt>
                <c:pt idx="3">
                  <c:v>450.0</c:v>
                </c:pt>
                <c:pt idx="4">
                  <c:v>430.0</c:v>
                </c:pt>
                <c:pt idx="5">
                  <c:v>300.0</c:v>
                </c:pt>
                <c:pt idx="6">
                  <c:v>360.0</c:v>
                </c:pt>
                <c:pt idx="7">
                  <c:v>150.0</c:v>
                </c:pt>
                <c:pt idx="8">
                  <c:v>230.0</c:v>
                </c:pt>
                <c:pt idx="9">
                  <c:v>250.0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021821088"/>
        <c:axId val="-1989003728"/>
      </c:scatterChart>
      <c:valAx>
        <c:axId val="-2021821088"/>
        <c:scaling>
          <c:orientation val="minMax"/>
          <c:min val="15.0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989003728"/>
        <c:crosses val="autoZero"/>
        <c:crossBetween val="midCat"/>
      </c:valAx>
      <c:valAx>
        <c:axId val="-1989003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218210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5739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862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261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32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13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093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1603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026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9510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1150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617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0484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0144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5047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422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1244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448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E82FD63-1921-4543-B2F3-D51AA6A3D917}" type="datetimeFigureOut">
              <a:rPr lang="en-AU" smtClean="0"/>
              <a:t>26/07/2018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43899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Correlation in scatterplots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“correlation does not equal causation”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763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567847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Review</a:t>
            </a:r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243328" y="1438656"/>
            <a:ext cx="73556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Last lesson we looked at constructing scatterplots</a:t>
            </a:r>
          </a:p>
          <a:p>
            <a:pPr marL="285750" indent="-285750">
              <a:buFont typeface="Arial" charset="0"/>
              <a:buChar char="•"/>
            </a:pPr>
            <a:r>
              <a:rPr lang="en-AU" dirty="0" smtClean="0"/>
              <a:t>Dependent variables rely on the other variable, and go on the x-axis</a:t>
            </a:r>
          </a:p>
          <a:p>
            <a:pPr marL="285750" indent="-285750">
              <a:buFont typeface="Arial" charset="0"/>
              <a:buChar char="•"/>
            </a:pPr>
            <a:r>
              <a:rPr lang="en-AU" dirty="0" smtClean="0"/>
              <a:t>Independent Variables act on their own, and go on the y-axis. </a:t>
            </a:r>
          </a:p>
          <a:p>
            <a:pPr marL="285750" indent="-285750">
              <a:buFont typeface="Arial" charset="0"/>
              <a:buChar char="•"/>
            </a:pPr>
            <a:r>
              <a:rPr lang="en-AU" dirty="0" smtClean="0"/>
              <a:t>Scatter plot can be strong or weak, positive or negative and linear or not.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8065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567847"/>
          </a:xfrm>
        </p:spPr>
        <p:txBody>
          <a:bodyPr>
            <a:normAutofit fontScale="90000"/>
          </a:bodyPr>
          <a:lstStyle/>
          <a:p>
            <a:r>
              <a:rPr lang="en-AU" smtClean="0"/>
              <a:t>Bivariate data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424" y="1177447"/>
            <a:ext cx="10063576" cy="5680553"/>
          </a:xfrm>
        </p:spPr>
        <p:txBody>
          <a:bodyPr/>
          <a:lstStyle/>
          <a:p>
            <a:r>
              <a:rPr lang="en-AU" dirty="0" smtClean="0"/>
              <a:t>Scatter plots can be given a line of best fit, also known as a trend line. </a:t>
            </a:r>
          </a:p>
          <a:p>
            <a:r>
              <a:rPr lang="en-AU" dirty="0" smtClean="0"/>
              <a:t>This line helps to illustrate wether the data is linear or not. </a:t>
            </a:r>
          </a:p>
          <a:p>
            <a:r>
              <a:rPr lang="en-AU" dirty="0" smtClean="0"/>
              <a:t>A trend line should pass through the middle of most data, and have an equal number od points above and below. </a:t>
            </a:r>
          </a:p>
          <a:p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185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225" y="593683"/>
            <a:ext cx="10131425" cy="784013"/>
          </a:xfrm>
        </p:spPr>
        <p:txBody>
          <a:bodyPr/>
          <a:lstStyle/>
          <a:p>
            <a:r>
              <a:rPr lang="en-AU" dirty="0" smtClean="0"/>
              <a:t>Using our graph from the previous lesson, lets look at </a:t>
            </a:r>
            <a:r>
              <a:rPr lang="en-AU" smtClean="0"/>
              <a:t>a trend line</a:t>
            </a:r>
            <a:endParaRPr lang="en-AU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7254427"/>
              </p:ext>
            </p:extLst>
          </p:nvPr>
        </p:nvGraphicFramePr>
        <p:xfrm>
          <a:off x="981456" y="176679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443025"/>
              </p:ext>
            </p:extLst>
          </p:nvPr>
        </p:nvGraphicFramePr>
        <p:xfrm>
          <a:off x="6400800" y="1520952"/>
          <a:ext cx="2889504" cy="30306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3456"/>
                <a:gridCol w="1146048"/>
              </a:tblGrid>
              <a:tr h="36880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effectLst/>
                        </a:rPr>
                        <a:t>Daily Temperature (C</a:t>
                      </a:r>
                      <a:r>
                        <a:rPr lang="en-US" sz="1400" u="none" strike="noStrike" baseline="30000">
                          <a:effectLst/>
                        </a:rPr>
                        <a:t>o</a:t>
                      </a:r>
                      <a:r>
                        <a:rPr lang="en-US" sz="1400" u="none" strike="noStrike">
                          <a:effectLst/>
                        </a:rPr>
                        <a:t>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Drinks sold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</a:tr>
              <a:tr h="24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fi-FI" sz="1400" u="none" strike="noStrike">
                          <a:effectLst/>
                        </a:rPr>
                        <a:t>18</a:t>
                      </a:r>
                      <a:endParaRPr lang="fi-FI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160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</a:tr>
              <a:tr h="24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400" u="none" strike="noStrike">
                          <a:effectLst/>
                        </a:rPr>
                        <a:t>22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400" u="none" strike="noStrike">
                          <a:effectLst/>
                        </a:rPr>
                        <a:t>200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</a:tr>
              <a:tr h="24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400" u="none" strike="noStrike">
                          <a:effectLst/>
                        </a:rPr>
                        <a:t>24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400" u="none" strike="noStrike">
                          <a:effectLst/>
                        </a:rPr>
                        <a:t>250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</a:tr>
              <a:tr h="24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33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450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</a:tr>
              <a:tr h="24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430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</a:tr>
              <a:tr h="24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400" u="none" strike="noStrike">
                          <a:effectLst/>
                        </a:rPr>
                        <a:t>28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400" u="none" strike="noStrike">
                          <a:effectLst/>
                        </a:rPr>
                        <a:t>300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</a:tr>
              <a:tr h="24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400" u="none" strike="noStrike">
                          <a:effectLst/>
                        </a:rPr>
                        <a:t>29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cs-CZ" sz="1400" u="none" strike="noStrike">
                          <a:effectLst/>
                        </a:rPr>
                        <a:t>360</a:t>
                      </a:r>
                      <a:endParaRPr lang="cs-CZ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</a:tr>
              <a:tr h="24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150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</a:tr>
              <a:tr h="24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400" u="none" strike="noStrike">
                          <a:effectLst/>
                        </a:rPr>
                        <a:t>23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400" u="none" strike="noStrike">
                          <a:effectLst/>
                        </a:rPr>
                        <a:t>230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</a:tr>
              <a:tr h="24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400" u="none" strike="noStrike">
                          <a:effectLst/>
                        </a:rPr>
                        <a:t>27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s-IS" sz="1400" u="none" strike="noStrike">
                          <a:effectLst/>
                        </a:rPr>
                        <a:t>250</a:t>
                      </a:r>
                      <a:endParaRPr lang="is-IS" sz="14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ctr"/>
                </a:tc>
              </a:tr>
              <a:tr h="16636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10398" marR="10398" marT="10398" marB="0" anchor="b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81456" y="4899098"/>
            <a:ext cx="8827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We can see our data is linear, and that there are 5 points above, and 5 points below the line.</a:t>
            </a:r>
          </a:p>
          <a:p>
            <a:r>
              <a:rPr lang="en-AU" dirty="0" smtClean="0"/>
              <a:t>Similar to linear equations, going up and to the right, we know our trend is positive.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90592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128424" y="1177447"/>
            <a:ext cx="10063576" cy="5680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 smtClean="0"/>
              <a:t>Using our trend line, we can either </a:t>
            </a:r>
            <a:r>
              <a:rPr lang="en-AU" i="1" u="sng" dirty="0" smtClean="0"/>
              <a:t>interpolate</a:t>
            </a:r>
            <a:r>
              <a:rPr lang="en-AU" dirty="0" smtClean="0"/>
              <a:t>, or </a:t>
            </a:r>
            <a:r>
              <a:rPr lang="en-AU" i="1" u="sng" dirty="0" smtClean="0"/>
              <a:t>extrapolate</a:t>
            </a:r>
            <a:r>
              <a:rPr lang="en-AU" dirty="0" smtClean="0"/>
              <a:t> our data.</a:t>
            </a:r>
          </a:p>
          <a:p>
            <a:r>
              <a:rPr lang="en-AU" dirty="0" smtClean="0"/>
              <a:t>Interpolation is the use of a trend line to estimate results below our maximum known data</a:t>
            </a:r>
          </a:p>
          <a:p>
            <a:r>
              <a:rPr lang="en-AU" dirty="0" smtClean="0"/>
              <a:t>Extrapolation is using our trend line to continue further, and make prediction outside of our known data</a:t>
            </a:r>
          </a:p>
          <a:p>
            <a:pPr lvl="1"/>
            <a:r>
              <a:rPr lang="en-AU" dirty="0" smtClean="0"/>
              <a:t>WARNING- when extrapolating data, we assume that the relationship is linear, and that there is a causal relationship</a:t>
            </a:r>
            <a:endParaRPr lang="en-AU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85801" y="609600"/>
            <a:ext cx="10131425" cy="56784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mtClean="0"/>
              <a:t>Bivariate data</a:t>
            </a:r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197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Bryans growth chart</a:t>
            </a:r>
            <a:endParaRPr lang="en-AU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73"/>
          <a:stretch/>
        </p:blipFill>
        <p:spPr bwMode="auto">
          <a:xfrm>
            <a:off x="502921" y="2687659"/>
            <a:ext cx="4124295" cy="26193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132832" y="2687658"/>
            <a:ext cx="64129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Bryan mapped his growth on a chart, and constructed the scatterplot below. </a:t>
            </a:r>
          </a:p>
          <a:p>
            <a:r>
              <a:rPr lang="en-AU" dirty="0" smtClean="0"/>
              <a:t>He fit a trend line to the data to predict how tall he would be when he was 20, and then 25. </a:t>
            </a:r>
          </a:p>
          <a:p>
            <a:endParaRPr lang="en-AU" dirty="0" smtClean="0"/>
          </a:p>
          <a:p>
            <a:r>
              <a:rPr lang="en-AU" dirty="0" smtClean="0"/>
              <a:t>Based on this EXTRAPOLATION, we would have a 9ft tall Bryan. </a:t>
            </a:r>
          </a:p>
          <a:p>
            <a:endParaRPr lang="en-AU" dirty="0"/>
          </a:p>
          <a:p>
            <a:r>
              <a:rPr lang="en-AU" dirty="0" smtClean="0"/>
              <a:t>What is wrong with this?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51689" y="5744160"/>
            <a:ext cx="11554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trend is linear, but </a:t>
            </a:r>
            <a:r>
              <a:rPr lang="en-AU" dirty="0"/>
              <a:t>B</a:t>
            </a:r>
            <a:r>
              <a:rPr lang="en-AU" dirty="0" smtClean="0"/>
              <a:t>ryan will stop growing at a constant rate around 19 or 20, so he should level off. Because we extrapolated the results, we got an unrealistic answer.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6205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128424" y="1177447"/>
            <a:ext cx="10063576" cy="5680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AU" smtClean="0"/>
              <a:t>jnkmlxsdfved</a:t>
            </a:r>
            <a:endParaRPr lang="en-AU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85801" y="609600"/>
            <a:ext cx="10131425" cy="56784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mtClean="0"/>
              <a:t>Bivariate data</a:t>
            </a:r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1464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A52E383-5B10-4447-AA10-8D7246AD3E7B}" vid="{D92C5A04-299F-6F48-B2A5-13D3E83A9D2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372</Words>
  <Application>Microsoft Macintosh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Arial</vt:lpstr>
      <vt:lpstr>Celestial</vt:lpstr>
      <vt:lpstr>Correlation in scatterplots</vt:lpstr>
      <vt:lpstr>Review</vt:lpstr>
      <vt:lpstr>Bivariate data</vt:lpstr>
      <vt:lpstr>PowerPoint Presentation</vt:lpstr>
      <vt:lpstr>PowerPoint Presentation</vt:lpstr>
      <vt:lpstr>Bryans growth chart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Correlation in scatterplots</dc:title>
  <dc:creator>POWER Travis [Baldivis Secondary College]</dc:creator>
  <cp:lastModifiedBy>POWER Travis [Baldivis Secondary College]</cp:lastModifiedBy>
  <cp:revision>3</cp:revision>
  <dcterms:created xsi:type="dcterms:W3CDTF">2018-07-26T14:15:51Z</dcterms:created>
  <dcterms:modified xsi:type="dcterms:W3CDTF">2018-07-26T14:35:31Z</dcterms:modified>
</cp:coreProperties>
</file>
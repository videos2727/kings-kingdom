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15" r:id="rId2"/>
    <p:sldId id="259" r:id="rId3"/>
    <p:sldId id="258" r:id="rId4"/>
    <p:sldId id="303" r:id="rId5"/>
    <p:sldId id="316" r:id="rId6"/>
    <p:sldId id="317" r:id="rId7"/>
    <p:sldId id="318" r:id="rId8"/>
    <p:sldId id="319" r:id="rId9"/>
    <p:sldId id="320" r:id="rId10"/>
    <p:sldId id="323" r:id="rId11"/>
    <p:sldId id="324" r:id="rId12"/>
    <p:sldId id="325" r:id="rId13"/>
    <p:sldId id="333" r:id="rId14"/>
    <p:sldId id="322" r:id="rId15"/>
    <p:sldId id="327" r:id="rId16"/>
    <p:sldId id="328" r:id="rId17"/>
    <p:sldId id="329" r:id="rId18"/>
    <p:sldId id="330" r:id="rId19"/>
    <p:sldId id="326" r:id="rId20"/>
    <p:sldId id="331" r:id="rId21"/>
    <p:sldId id="332" r:id="rId22"/>
    <p:sldId id="335" r:id="rId23"/>
    <p:sldId id="334" r:id="rId24"/>
    <p:sldId id="292" r:id="rId25"/>
    <p:sldId id="29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4" autoAdjust="0"/>
    <p:restoredTop sz="92883" autoAdjust="0"/>
  </p:normalViewPr>
  <p:slideViewPr>
    <p:cSldViewPr>
      <p:cViewPr>
        <p:scale>
          <a:sx n="75" d="100"/>
          <a:sy n="75" d="100"/>
        </p:scale>
        <p:origin x="688" y="3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t>22/5/17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22/5/17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22/5/17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22/5/17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t>22/5/17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t>22/5/17</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t>22/5/17</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22/5/17</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22/5/17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22/5/17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22/5/17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t>22/5/17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t>22/5/17</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tif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4371" y="2771046"/>
            <a:ext cx="8229600" cy="1143000"/>
          </a:xfrm>
        </p:spPr>
        <p:txBody>
          <a:bodyPr>
            <a:normAutofit fontScale="90000"/>
          </a:bodyPr>
          <a:lstStyle/>
          <a:p>
            <a:r>
              <a:rPr lang="en-GB" b="1" dirty="0" smtClean="0"/>
              <a:t>Topic: Bivariate Data</a:t>
            </a:r>
            <a:br>
              <a:rPr lang="en-GB" b="1" dirty="0" smtClean="0"/>
            </a:br>
            <a:r>
              <a:rPr lang="en-GB" b="1" dirty="0"/>
              <a:t/>
            </a:r>
            <a:br>
              <a:rPr lang="en-GB" b="1" dirty="0"/>
            </a:br>
            <a:r>
              <a:rPr lang="en-GB" b="1" dirty="0" smtClean="0"/>
              <a:t>EQ: How do I compare bivariate Data?</a:t>
            </a:r>
            <a:endParaRPr lang="en-GB" b="1" dirty="0"/>
          </a:p>
        </p:txBody>
      </p:sp>
    </p:spTree>
    <p:extLst>
      <p:ext uri="{BB962C8B-B14F-4D97-AF65-F5344CB8AC3E}">
        <p14:creationId xmlns:p14="http://schemas.microsoft.com/office/powerpoint/2010/main" val="13913279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smtClean="0"/>
              <a:t>2</a:t>
            </a:r>
            <a:endParaRPr lang="en-AU" dirty="0"/>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smtClean="0"/>
              <a:t>3</a:t>
            </a:r>
            <a:endParaRPr lang="en-AU" dirty="0"/>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smtClean="0"/>
              <a:t>Contents</a:t>
            </a:r>
            <a:endParaRPr lang="en-AU" sz="1600" dirty="0"/>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smtClean="0"/>
              <a:t>Page</a:t>
            </a:r>
            <a:endParaRPr lang="en-AU" sz="1600" dirty="0"/>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smtClean="0"/>
              <a:t>Date</a:t>
            </a:r>
            <a:endParaRPr lang="en-AU" sz="1600" dirty="0"/>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smtClean="0"/>
              <a:t>Description</a:t>
            </a:r>
            <a:endParaRPr lang="en-AU" sz="1600" dirty="0"/>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smtClean="0"/>
              <a:t>Glossary or Formula Page</a:t>
            </a:r>
            <a:endParaRPr lang="en-AU" sz="1600" dirty="0"/>
          </a:p>
        </p:txBody>
      </p:sp>
    </p:spTree>
    <p:extLst>
      <p:ext uri="{BB962C8B-B14F-4D97-AF65-F5344CB8AC3E}">
        <p14:creationId xmlns:p14="http://schemas.microsoft.com/office/powerpoint/2010/main" val="15154573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smtClean="0"/>
              <a:t>24</a:t>
            </a:r>
          </a:p>
          <a:p>
            <a:r>
              <a:rPr lang="en-AU" sz="1000" dirty="0" smtClean="0"/>
              <a:t>7</a:t>
            </a:r>
          </a:p>
          <a:p>
            <a:r>
              <a:rPr lang="en-AU" sz="1000" dirty="0" smtClean="0"/>
              <a:t>30</a:t>
            </a:r>
            <a:endParaRPr lang="en-AU" sz="1000" dirty="0"/>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smtClean="0"/>
              <a:t>Essential Question</a:t>
            </a:r>
            <a:endParaRPr lang="en-AU" sz="1000" dirty="0"/>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smtClean="0"/>
              <a:t>Notes</a:t>
            </a:r>
            <a:endParaRPr lang="en-AU" sz="1000" dirty="0"/>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smtClean="0"/>
              <a:t>Questions</a:t>
            </a:r>
            <a:endParaRPr lang="en-AU" sz="1000" dirty="0"/>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smtClean="0"/>
              <a:t>Summary</a:t>
            </a:r>
            <a:endParaRPr lang="en-AU" sz="1000" dirty="0"/>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smtClean="0"/>
              <a:t>Tasks</a:t>
            </a:r>
            <a:endParaRPr lang="en-AU" dirty="0"/>
          </a:p>
        </p:txBody>
      </p:sp>
    </p:spTree>
    <p:extLst>
      <p:ext uri="{BB962C8B-B14F-4D97-AF65-F5344CB8AC3E}">
        <p14:creationId xmlns:p14="http://schemas.microsoft.com/office/powerpoint/2010/main" val="22165325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8" name="TextBox 7"/>
          <p:cNvSpPr txBox="1"/>
          <p:nvPr/>
        </p:nvSpPr>
        <p:spPr>
          <a:xfrm>
            <a:off x="119514" y="3826785"/>
            <a:ext cx="2652287" cy="1200329"/>
          </a:xfrm>
          <a:prstGeom prst="rect">
            <a:avLst/>
          </a:prstGeom>
          <a:noFill/>
        </p:spPr>
        <p:txBody>
          <a:bodyPr wrap="square" rtlCol="0">
            <a:spAutoFit/>
          </a:bodyPr>
          <a:lstStyle/>
          <a:p>
            <a:r>
              <a:rPr lang="en-US"/>
              <a:t>What is the relationship between the two variables? </a:t>
            </a:r>
          </a:p>
          <a:p>
            <a:endParaRPr lang="en-AU"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
        <p:nvSpPr>
          <p:cNvPr id="15" name="TextBox 14"/>
          <p:cNvSpPr txBox="1"/>
          <p:nvPr/>
        </p:nvSpPr>
        <p:spPr>
          <a:xfrm>
            <a:off x="3056390" y="2086157"/>
            <a:ext cx="5025671" cy="646331"/>
          </a:xfrm>
          <a:prstGeom prst="rect">
            <a:avLst/>
          </a:prstGeom>
          <a:noFill/>
        </p:spPr>
        <p:txBody>
          <a:bodyPr wrap="none" rtlCol="0">
            <a:spAutoFit/>
          </a:bodyPr>
          <a:lstStyle/>
          <a:p>
            <a:r>
              <a:rPr lang="en-US" dirty="0"/>
              <a:t>Bivariate data is </a:t>
            </a:r>
            <a:r>
              <a:rPr lang="en-US" dirty="0" smtClean="0"/>
              <a:t>data represented </a:t>
            </a:r>
            <a:r>
              <a:rPr lang="en-US" dirty="0"/>
              <a:t>by two variables. </a:t>
            </a:r>
          </a:p>
          <a:p>
            <a:endParaRPr lang="en-US" dirty="0"/>
          </a:p>
        </p:txBody>
      </p:sp>
      <p:sp>
        <p:nvSpPr>
          <p:cNvPr id="16" name="TextBox 15"/>
          <p:cNvSpPr txBox="1"/>
          <p:nvPr/>
        </p:nvSpPr>
        <p:spPr>
          <a:xfrm>
            <a:off x="3183467" y="4064000"/>
            <a:ext cx="5564997" cy="923330"/>
          </a:xfrm>
          <a:prstGeom prst="rect">
            <a:avLst/>
          </a:prstGeom>
          <a:noFill/>
        </p:spPr>
        <p:txBody>
          <a:bodyPr wrap="square" rtlCol="0">
            <a:spAutoFit/>
          </a:bodyPr>
          <a:lstStyle/>
          <a:p>
            <a:r>
              <a:rPr lang="en-US" dirty="0" smtClean="0"/>
              <a:t>1.   Are </a:t>
            </a:r>
            <a:r>
              <a:rPr lang="en-US" dirty="0"/>
              <a:t>the values of one variable related to the values of another variable? </a:t>
            </a:r>
          </a:p>
          <a:p>
            <a:endParaRPr lang="en-US" dirty="0"/>
          </a:p>
        </p:txBody>
      </p:sp>
      <p:sp>
        <p:nvSpPr>
          <p:cNvPr id="18" name="TextBox 17"/>
          <p:cNvSpPr txBox="1"/>
          <p:nvPr/>
        </p:nvSpPr>
        <p:spPr>
          <a:xfrm>
            <a:off x="3221234" y="5027114"/>
            <a:ext cx="5617348" cy="923330"/>
          </a:xfrm>
          <a:prstGeom prst="rect">
            <a:avLst/>
          </a:prstGeom>
          <a:noFill/>
        </p:spPr>
        <p:txBody>
          <a:bodyPr wrap="square" rtlCol="0">
            <a:spAutoFit/>
          </a:bodyPr>
          <a:lstStyle/>
          <a:p>
            <a:r>
              <a:rPr lang="en-US" smtClean="0"/>
              <a:t>2.    </a:t>
            </a:r>
            <a:r>
              <a:rPr lang="en-US" dirty="0" smtClean="0"/>
              <a:t>Can </a:t>
            </a:r>
            <a:r>
              <a:rPr lang="en-US" dirty="0"/>
              <a:t>the values of one variable be used to predict the values of another variable? </a:t>
            </a:r>
          </a:p>
          <a:p>
            <a:endParaRPr lang="en-US" dirty="0"/>
          </a:p>
        </p:txBody>
      </p:sp>
    </p:spTree>
    <p:extLst>
      <p:ext uri="{BB962C8B-B14F-4D97-AF65-F5344CB8AC3E}">
        <p14:creationId xmlns:p14="http://schemas.microsoft.com/office/powerpoint/2010/main" val="16709025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Tree>
    <p:extLst>
      <p:ext uri="{BB962C8B-B14F-4D97-AF65-F5344CB8AC3E}">
        <p14:creationId xmlns:p14="http://schemas.microsoft.com/office/powerpoint/2010/main" val="21351009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
        <p:nvSpPr>
          <p:cNvPr id="15" name="TextBox 14"/>
          <p:cNvSpPr txBox="1"/>
          <p:nvPr/>
        </p:nvSpPr>
        <p:spPr>
          <a:xfrm>
            <a:off x="3056390" y="2086157"/>
            <a:ext cx="5025671" cy="646331"/>
          </a:xfrm>
          <a:prstGeom prst="rect">
            <a:avLst/>
          </a:prstGeom>
          <a:noFill/>
        </p:spPr>
        <p:txBody>
          <a:bodyPr wrap="none" rtlCol="0">
            <a:spAutoFit/>
          </a:bodyPr>
          <a:lstStyle/>
          <a:p>
            <a:r>
              <a:rPr lang="en-US" dirty="0"/>
              <a:t>Bivariate data is </a:t>
            </a:r>
            <a:r>
              <a:rPr lang="en-US" dirty="0" smtClean="0"/>
              <a:t>data represented </a:t>
            </a:r>
            <a:r>
              <a:rPr lang="en-US" dirty="0"/>
              <a:t>by two variables. </a:t>
            </a:r>
          </a:p>
          <a:p>
            <a:endParaRPr lang="en-US" dirty="0"/>
          </a:p>
        </p:txBody>
      </p:sp>
    </p:spTree>
    <p:extLst>
      <p:ext uri="{BB962C8B-B14F-4D97-AF65-F5344CB8AC3E}">
        <p14:creationId xmlns:p14="http://schemas.microsoft.com/office/powerpoint/2010/main" val="688844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GB" sz="2400" b="1" dirty="0" smtClean="0"/>
              <a:t>EQ</a:t>
            </a:r>
            <a:r>
              <a:rPr lang="en-GB" sz="2400" b="1" dirty="0"/>
              <a:t>: How do I compare bivariate Data?</a:t>
            </a:r>
            <a:endParaRPr lang="en-AU" sz="2400" dirty="0"/>
          </a:p>
        </p:txBody>
      </p:sp>
      <p:sp>
        <p:nvSpPr>
          <p:cNvPr id="8" name="TextBox 7"/>
          <p:cNvSpPr txBox="1"/>
          <p:nvPr/>
        </p:nvSpPr>
        <p:spPr>
          <a:xfrm>
            <a:off x="119514" y="3826785"/>
            <a:ext cx="2652287" cy="1200329"/>
          </a:xfrm>
          <a:prstGeom prst="rect">
            <a:avLst/>
          </a:prstGeom>
          <a:noFill/>
        </p:spPr>
        <p:txBody>
          <a:bodyPr wrap="square" rtlCol="0">
            <a:spAutoFit/>
          </a:bodyPr>
          <a:lstStyle/>
          <a:p>
            <a:r>
              <a:rPr lang="en-US"/>
              <a:t>What is the relationship between the two variables? </a:t>
            </a:r>
          </a:p>
          <a:p>
            <a:endParaRPr lang="en-AU"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
        <p:nvSpPr>
          <p:cNvPr id="15" name="TextBox 14"/>
          <p:cNvSpPr txBox="1"/>
          <p:nvPr/>
        </p:nvSpPr>
        <p:spPr>
          <a:xfrm>
            <a:off x="3056390" y="2086157"/>
            <a:ext cx="5025671" cy="646331"/>
          </a:xfrm>
          <a:prstGeom prst="rect">
            <a:avLst/>
          </a:prstGeom>
          <a:noFill/>
        </p:spPr>
        <p:txBody>
          <a:bodyPr wrap="none" rtlCol="0">
            <a:spAutoFit/>
          </a:bodyPr>
          <a:lstStyle/>
          <a:p>
            <a:r>
              <a:rPr lang="en-US" dirty="0"/>
              <a:t>Bivariate data is </a:t>
            </a:r>
            <a:r>
              <a:rPr lang="en-US" dirty="0" smtClean="0"/>
              <a:t>data represented </a:t>
            </a:r>
            <a:r>
              <a:rPr lang="en-US" dirty="0"/>
              <a:t>by two variables. </a:t>
            </a:r>
          </a:p>
          <a:p>
            <a:endParaRPr lang="en-US" dirty="0"/>
          </a:p>
        </p:txBody>
      </p:sp>
    </p:spTree>
    <p:extLst>
      <p:ext uri="{BB962C8B-B14F-4D97-AF65-F5344CB8AC3E}">
        <p14:creationId xmlns:p14="http://schemas.microsoft.com/office/powerpoint/2010/main" val="1051832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8" name="TextBox 7"/>
          <p:cNvSpPr txBox="1"/>
          <p:nvPr/>
        </p:nvSpPr>
        <p:spPr>
          <a:xfrm>
            <a:off x="119514" y="3826785"/>
            <a:ext cx="2652287" cy="1200329"/>
          </a:xfrm>
          <a:prstGeom prst="rect">
            <a:avLst/>
          </a:prstGeom>
          <a:noFill/>
        </p:spPr>
        <p:txBody>
          <a:bodyPr wrap="square" rtlCol="0">
            <a:spAutoFit/>
          </a:bodyPr>
          <a:lstStyle/>
          <a:p>
            <a:r>
              <a:rPr lang="en-US"/>
              <a:t>What is the relationship between the two variables? </a:t>
            </a:r>
          </a:p>
          <a:p>
            <a:endParaRPr lang="en-AU"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
        <p:nvSpPr>
          <p:cNvPr id="15" name="TextBox 14"/>
          <p:cNvSpPr txBox="1"/>
          <p:nvPr/>
        </p:nvSpPr>
        <p:spPr>
          <a:xfrm>
            <a:off x="3056390" y="2086157"/>
            <a:ext cx="5025671" cy="646331"/>
          </a:xfrm>
          <a:prstGeom prst="rect">
            <a:avLst/>
          </a:prstGeom>
          <a:noFill/>
        </p:spPr>
        <p:txBody>
          <a:bodyPr wrap="none" rtlCol="0">
            <a:spAutoFit/>
          </a:bodyPr>
          <a:lstStyle/>
          <a:p>
            <a:r>
              <a:rPr lang="en-US" dirty="0"/>
              <a:t>Bivariate data is </a:t>
            </a:r>
            <a:r>
              <a:rPr lang="en-US" dirty="0" smtClean="0"/>
              <a:t>data represented </a:t>
            </a:r>
            <a:r>
              <a:rPr lang="en-US" dirty="0"/>
              <a:t>by two variables. </a:t>
            </a:r>
          </a:p>
          <a:p>
            <a:endParaRPr lang="en-US" dirty="0"/>
          </a:p>
        </p:txBody>
      </p:sp>
      <p:sp>
        <p:nvSpPr>
          <p:cNvPr id="16" name="TextBox 15"/>
          <p:cNvSpPr txBox="1"/>
          <p:nvPr/>
        </p:nvSpPr>
        <p:spPr>
          <a:xfrm>
            <a:off x="3183467" y="4064000"/>
            <a:ext cx="5564997" cy="923330"/>
          </a:xfrm>
          <a:prstGeom prst="rect">
            <a:avLst/>
          </a:prstGeom>
          <a:noFill/>
        </p:spPr>
        <p:txBody>
          <a:bodyPr wrap="square" rtlCol="0">
            <a:spAutoFit/>
          </a:bodyPr>
          <a:lstStyle/>
          <a:p>
            <a:r>
              <a:rPr lang="en-US" dirty="0" smtClean="0"/>
              <a:t>1.   Are </a:t>
            </a:r>
            <a:r>
              <a:rPr lang="en-US" dirty="0"/>
              <a:t>the values of one variable related to the values of another variable? </a:t>
            </a:r>
          </a:p>
          <a:p>
            <a:endParaRPr lang="en-US" dirty="0"/>
          </a:p>
        </p:txBody>
      </p:sp>
    </p:spTree>
    <p:extLst>
      <p:ext uri="{BB962C8B-B14F-4D97-AF65-F5344CB8AC3E}">
        <p14:creationId xmlns:p14="http://schemas.microsoft.com/office/powerpoint/2010/main" val="5089229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8" name="TextBox 7"/>
          <p:cNvSpPr txBox="1"/>
          <p:nvPr/>
        </p:nvSpPr>
        <p:spPr>
          <a:xfrm>
            <a:off x="119514" y="3826785"/>
            <a:ext cx="2652287" cy="1200329"/>
          </a:xfrm>
          <a:prstGeom prst="rect">
            <a:avLst/>
          </a:prstGeom>
          <a:noFill/>
        </p:spPr>
        <p:txBody>
          <a:bodyPr wrap="square" rtlCol="0">
            <a:spAutoFit/>
          </a:bodyPr>
          <a:lstStyle/>
          <a:p>
            <a:r>
              <a:rPr lang="en-US"/>
              <a:t>What is the relationship between the two variables? </a:t>
            </a:r>
          </a:p>
          <a:p>
            <a:endParaRPr lang="en-AU" dirty="0"/>
          </a:p>
        </p:txBody>
      </p:sp>
      <p:sp>
        <p:nvSpPr>
          <p:cNvPr id="14" name="Rectangle 13"/>
          <p:cNvSpPr/>
          <p:nvPr/>
        </p:nvSpPr>
        <p:spPr>
          <a:xfrm>
            <a:off x="125601" y="2086157"/>
            <a:ext cx="2358167" cy="369332"/>
          </a:xfrm>
          <a:prstGeom prst="rect">
            <a:avLst/>
          </a:prstGeom>
        </p:spPr>
        <p:txBody>
          <a:bodyPr wrap="square">
            <a:spAutoFit/>
          </a:bodyPr>
          <a:lstStyle/>
          <a:p>
            <a:r>
              <a:rPr lang="en-US" dirty="0" smtClean="0">
                <a:latin typeface="TimesNewRomanPSMT" charset="0"/>
              </a:rPr>
              <a:t>What is Bivariate </a:t>
            </a:r>
            <a:r>
              <a:rPr lang="en-US" dirty="0">
                <a:latin typeface="TimesNewRomanPSMT" charset="0"/>
              </a:rPr>
              <a:t>data </a:t>
            </a:r>
            <a:r>
              <a:rPr lang="en-US" dirty="0" smtClean="0">
                <a:latin typeface="TimesNewRomanPSMT" charset="0"/>
              </a:rPr>
              <a:t> </a:t>
            </a:r>
            <a:endParaRPr lang="en-US" dirty="0"/>
          </a:p>
        </p:txBody>
      </p:sp>
      <p:sp>
        <p:nvSpPr>
          <p:cNvPr id="15" name="TextBox 14"/>
          <p:cNvSpPr txBox="1"/>
          <p:nvPr/>
        </p:nvSpPr>
        <p:spPr>
          <a:xfrm>
            <a:off x="3056390" y="2086157"/>
            <a:ext cx="5025671" cy="646331"/>
          </a:xfrm>
          <a:prstGeom prst="rect">
            <a:avLst/>
          </a:prstGeom>
          <a:noFill/>
        </p:spPr>
        <p:txBody>
          <a:bodyPr wrap="none" rtlCol="0">
            <a:spAutoFit/>
          </a:bodyPr>
          <a:lstStyle/>
          <a:p>
            <a:r>
              <a:rPr lang="en-US" dirty="0"/>
              <a:t>Bivariate data is </a:t>
            </a:r>
            <a:r>
              <a:rPr lang="en-US" dirty="0" smtClean="0"/>
              <a:t>data represented </a:t>
            </a:r>
            <a:r>
              <a:rPr lang="en-US" dirty="0"/>
              <a:t>by two variables. </a:t>
            </a:r>
          </a:p>
          <a:p>
            <a:endParaRPr lang="en-US" dirty="0"/>
          </a:p>
        </p:txBody>
      </p:sp>
      <p:sp>
        <p:nvSpPr>
          <p:cNvPr id="16" name="TextBox 15"/>
          <p:cNvSpPr txBox="1"/>
          <p:nvPr/>
        </p:nvSpPr>
        <p:spPr>
          <a:xfrm>
            <a:off x="3183467" y="4064000"/>
            <a:ext cx="5564997" cy="923330"/>
          </a:xfrm>
          <a:prstGeom prst="rect">
            <a:avLst/>
          </a:prstGeom>
          <a:noFill/>
        </p:spPr>
        <p:txBody>
          <a:bodyPr wrap="square" rtlCol="0">
            <a:spAutoFit/>
          </a:bodyPr>
          <a:lstStyle/>
          <a:p>
            <a:r>
              <a:rPr lang="en-US" dirty="0" smtClean="0"/>
              <a:t>1.   Are </a:t>
            </a:r>
            <a:r>
              <a:rPr lang="en-US" dirty="0"/>
              <a:t>the values of one variable related to the values of another variable? </a:t>
            </a:r>
          </a:p>
          <a:p>
            <a:endParaRPr lang="en-US" dirty="0"/>
          </a:p>
        </p:txBody>
      </p:sp>
      <p:sp>
        <p:nvSpPr>
          <p:cNvPr id="18" name="TextBox 17"/>
          <p:cNvSpPr txBox="1"/>
          <p:nvPr/>
        </p:nvSpPr>
        <p:spPr>
          <a:xfrm>
            <a:off x="3221234" y="5027114"/>
            <a:ext cx="5617348" cy="923330"/>
          </a:xfrm>
          <a:prstGeom prst="rect">
            <a:avLst/>
          </a:prstGeom>
          <a:noFill/>
        </p:spPr>
        <p:txBody>
          <a:bodyPr wrap="square" rtlCol="0">
            <a:spAutoFit/>
          </a:bodyPr>
          <a:lstStyle/>
          <a:p>
            <a:r>
              <a:rPr lang="en-US" smtClean="0"/>
              <a:t>2.    </a:t>
            </a:r>
            <a:r>
              <a:rPr lang="en-US" dirty="0" smtClean="0"/>
              <a:t>Can </a:t>
            </a:r>
            <a:r>
              <a:rPr lang="en-US" dirty="0"/>
              <a:t>the values of one variable be used to predict the values of another variable? </a:t>
            </a:r>
          </a:p>
          <a:p>
            <a:endParaRPr lang="en-US" dirty="0"/>
          </a:p>
        </p:txBody>
      </p:sp>
    </p:spTree>
    <p:extLst>
      <p:ext uri="{BB962C8B-B14F-4D97-AF65-F5344CB8AC3E}">
        <p14:creationId xmlns:p14="http://schemas.microsoft.com/office/powerpoint/2010/main" val="598461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14" name="Rectangle 13"/>
          <p:cNvSpPr/>
          <p:nvPr/>
        </p:nvSpPr>
        <p:spPr>
          <a:xfrm>
            <a:off x="125601" y="2086157"/>
            <a:ext cx="2358167" cy="1477328"/>
          </a:xfrm>
          <a:prstGeom prst="rect">
            <a:avLst/>
          </a:prstGeom>
        </p:spPr>
        <p:txBody>
          <a:bodyPr wrap="square">
            <a:spAutoFit/>
          </a:bodyPr>
          <a:lstStyle/>
          <a:p>
            <a:r>
              <a:rPr lang="en-US" dirty="0"/>
              <a:t>This is an example of bivariate data.</a:t>
            </a:r>
            <a:br>
              <a:rPr lang="en-US" dirty="0"/>
            </a:br>
            <a:r>
              <a:rPr lang="en-US" dirty="0"/>
              <a:t>The two variables are </a:t>
            </a:r>
            <a:r>
              <a:rPr lang="en-US" b="1" dirty="0"/>
              <a:t>Year </a:t>
            </a:r>
            <a:r>
              <a:rPr lang="en-US" dirty="0"/>
              <a:t>and </a:t>
            </a:r>
            <a:r>
              <a:rPr lang="en-US" b="1" dirty="0"/>
              <a:t>$</a:t>
            </a:r>
            <a:r>
              <a:rPr lang="en-US" b="1" dirty="0" err="1"/>
              <a:t>Abillion</a:t>
            </a:r>
            <a:r>
              <a:rPr lang="en-US" dirty="0"/>
              <a:t>. </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62545099"/>
              </p:ext>
            </p:extLst>
          </p:nvPr>
        </p:nvGraphicFramePr>
        <p:xfrm>
          <a:off x="3851412" y="2130664"/>
          <a:ext cx="3096344" cy="1950720"/>
        </p:xfrm>
        <a:graphic>
          <a:graphicData uri="http://schemas.openxmlformats.org/drawingml/2006/table">
            <a:tbl>
              <a:tblPr/>
              <a:tblGrid>
                <a:gridCol w="1548172"/>
                <a:gridCol w="1548172"/>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spTree>
    <p:extLst>
      <p:ext uri="{BB962C8B-B14F-4D97-AF65-F5344CB8AC3E}">
        <p14:creationId xmlns:p14="http://schemas.microsoft.com/office/powerpoint/2010/main" val="6465792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14" name="Rectangle 13"/>
          <p:cNvSpPr/>
          <p:nvPr/>
        </p:nvSpPr>
        <p:spPr>
          <a:xfrm>
            <a:off x="125601" y="2086157"/>
            <a:ext cx="2358167" cy="1477328"/>
          </a:xfrm>
          <a:prstGeom prst="rect">
            <a:avLst/>
          </a:prstGeom>
        </p:spPr>
        <p:txBody>
          <a:bodyPr wrap="square">
            <a:spAutoFit/>
          </a:bodyPr>
          <a:lstStyle/>
          <a:p>
            <a:r>
              <a:rPr lang="en-US" dirty="0"/>
              <a:t>This is an example of bivariate data.</a:t>
            </a:r>
            <a:br>
              <a:rPr lang="en-US" dirty="0"/>
            </a:br>
            <a:r>
              <a:rPr lang="en-US" dirty="0"/>
              <a:t>The two variables are </a:t>
            </a:r>
            <a:r>
              <a:rPr lang="en-US" b="1" dirty="0"/>
              <a:t>Year </a:t>
            </a:r>
            <a:r>
              <a:rPr lang="en-US" dirty="0"/>
              <a:t>and </a:t>
            </a:r>
            <a:r>
              <a:rPr lang="en-US" b="1" dirty="0"/>
              <a:t>$</a:t>
            </a:r>
            <a:r>
              <a:rPr lang="en-US" b="1" dirty="0" err="1"/>
              <a:t>Abillion</a:t>
            </a:r>
            <a:r>
              <a:rPr lang="en-US" dirty="0"/>
              <a:t>. </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62545099"/>
              </p:ext>
            </p:extLst>
          </p:nvPr>
        </p:nvGraphicFramePr>
        <p:xfrm>
          <a:off x="3851412" y="2130664"/>
          <a:ext cx="3096344" cy="1950720"/>
        </p:xfrm>
        <a:graphic>
          <a:graphicData uri="http://schemas.openxmlformats.org/drawingml/2006/table">
            <a:tbl>
              <a:tblPr/>
              <a:tblGrid>
                <a:gridCol w="1548172"/>
                <a:gridCol w="1548172"/>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sp>
        <p:nvSpPr>
          <p:cNvPr id="8" name="TextBox 7"/>
          <p:cNvSpPr txBox="1"/>
          <p:nvPr/>
        </p:nvSpPr>
        <p:spPr>
          <a:xfrm>
            <a:off x="3059833" y="4530498"/>
            <a:ext cx="5688632" cy="923330"/>
          </a:xfrm>
          <a:prstGeom prst="rect">
            <a:avLst/>
          </a:prstGeom>
          <a:noFill/>
        </p:spPr>
        <p:txBody>
          <a:bodyPr wrap="square" rtlCol="0">
            <a:spAutoFit/>
          </a:bodyPr>
          <a:lstStyle/>
          <a:p>
            <a:r>
              <a:rPr lang="en-US" dirty="0"/>
              <a:t>Is there a relationship between Year and the value of exports to China? </a:t>
            </a:r>
          </a:p>
          <a:p>
            <a:endParaRPr lang="en-US" dirty="0"/>
          </a:p>
        </p:txBody>
      </p:sp>
    </p:spTree>
    <p:extLst>
      <p:ext uri="{BB962C8B-B14F-4D97-AF65-F5344CB8AC3E}">
        <p14:creationId xmlns:p14="http://schemas.microsoft.com/office/powerpoint/2010/main" val="16066236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14" name="Rectangle 13"/>
          <p:cNvSpPr/>
          <p:nvPr/>
        </p:nvSpPr>
        <p:spPr>
          <a:xfrm>
            <a:off x="125601" y="2086157"/>
            <a:ext cx="2358167" cy="1477328"/>
          </a:xfrm>
          <a:prstGeom prst="rect">
            <a:avLst/>
          </a:prstGeom>
        </p:spPr>
        <p:txBody>
          <a:bodyPr wrap="square">
            <a:spAutoFit/>
          </a:bodyPr>
          <a:lstStyle/>
          <a:p>
            <a:r>
              <a:rPr lang="en-US" dirty="0"/>
              <a:t>This is an example of bivariate data.</a:t>
            </a:r>
            <a:br>
              <a:rPr lang="en-US" dirty="0"/>
            </a:br>
            <a:r>
              <a:rPr lang="en-US" dirty="0"/>
              <a:t>The two variables are </a:t>
            </a:r>
            <a:r>
              <a:rPr lang="en-US" b="1" dirty="0"/>
              <a:t>Year </a:t>
            </a:r>
            <a:r>
              <a:rPr lang="en-US" dirty="0"/>
              <a:t>and </a:t>
            </a:r>
            <a:r>
              <a:rPr lang="en-US" b="1" dirty="0"/>
              <a:t>$</a:t>
            </a:r>
            <a:r>
              <a:rPr lang="en-US" b="1" dirty="0" err="1"/>
              <a:t>Abillion</a:t>
            </a:r>
            <a:r>
              <a:rPr lang="en-US" dirty="0"/>
              <a:t>. </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62545099"/>
              </p:ext>
            </p:extLst>
          </p:nvPr>
        </p:nvGraphicFramePr>
        <p:xfrm>
          <a:off x="3851412" y="2130664"/>
          <a:ext cx="3096344" cy="1950720"/>
        </p:xfrm>
        <a:graphic>
          <a:graphicData uri="http://schemas.openxmlformats.org/drawingml/2006/table">
            <a:tbl>
              <a:tblPr/>
              <a:tblGrid>
                <a:gridCol w="1548172"/>
                <a:gridCol w="1548172"/>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sp>
        <p:nvSpPr>
          <p:cNvPr id="8" name="TextBox 7"/>
          <p:cNvSpPr txBox="1"/>
          <p:nvPr/>
        </p:nvSpPr>
        <p:spPr>
          <a:xfrm>
            <a:off x="3059833" y="4530498"/>
            <a:ext cx="5688632" cy="923330"/>
          </a:xfrm>
          <a:prstGeom prst="rect">
            <a:avLst/>
          </a:prstGeom>
          <a:noFill/>
        </p:spPr>
        <p:txBody>
          <a:bodyPr wrap="square" rtlCol="0">
            <a:spAutoFit/>
          </a:bodyPr>
          <a:lstStyle/>
          <a:p>
            <a:r>
              <a:rPr lang="en-US" dirty="0"/>
              <a:t>Is there a relationship between Year and the value of exports to China? </a:t>
            </a:r>
          </a:p>
          <a:p>
            <a:endParaRPr lang="en-US" dirty="0"/>
          </a:p>
        </p:txBody>
      </p:sp>
      <p:sp>
        <p:nvSpPr>
          <p:cNvPr id="13" name="TextBox 12"/>
          <p:cNvSpPr txBox="1"/>
          <p:nvPr/>
        </p:nvSpPr>
        <p:spPr>
          <a:xfrm>
            <a:off x="3059833" y="5429627"/>
            <a:ext cx="5544615" cy="923330"/>
          </a:xfrm>
          <a:prstGeom prst="rect">
            <a:avLst/>
          </a:prstGeom>
          <a:noFill/>
        </p:spPr>
        <p:txBody>
          <a:bodyPr wrap="square" rtlCol="0">
            <a:spAutoFit/>
          </a:bodyPr>
          <a:lstStyle/>
          <a:p>
            <a:r>
              <a:rPr lang="en-US" dirty="0"/>
              <a:t>Can a prediction be made about the value of exports to China in 2012? </a:t>
            </a:r>
          </a:p>
          <a:p>
            <a:endParaRPr lang="en-US" dirty="0"/>
          </a:p>
        </p:txBody>
      </p:sp>
    </p:spTree>
    <p:extLst>
      <p:ext uri="{BB962C8B-B14F-4D97-AF65-F5344CB8AC3E}">
        <p14:creationId xmlns:p14="http://schemas.microsoft.com/office/powerpoint/2010/main" val="12659614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548680"/>
            <a:ext cx="8352928" cy="6063198"/>
          </a:xfrm>
          <a:prstGeom prst="rect">
            <a:avLst/>
          </a:prstGeom>
        </p:spPr>
        <p:txBody>
          <a:bodyPr wrap="square">
            <a:spAutoFit/>
          </a:bodyPr>
          <a:lstStyle/>
          <a:p>
            <a:pPr algn="ctr"/>
            <a:r>
              <a:rPr lang="en-US" sz="3600" dirty="0" smtClean="0">
                <a:latin typeface="Times" charset="0"/>
              </a:rPr>
              <a:t>In summary</a:t>
            </a:r>
          </a:p>
          <a:p>
            <a:pPr algn="ctr"/>
            <a:endParaRPr lang="en-US" sz="2800" dirty="0" smtClean="0">
              <a:latin typeface="Times" charset="0"/>
            </a:endParaRPr>
          </a:p>
          <a:p>
            <a:r>
              <a:rPr lang="en-US" sz="2800" dirty="0" smtClean="0">
                <a:latin typeface="Times" charset="0"/>
              </a:rPr>
              <a:t>We </a:t>
            </a:r>
            <a:r>
              <a:rPr lang="en-US" sz="2800" dirty="0">
                <a:latin typeface="Times" charset="0"/>
              </a:rPr>
              <a:t>often want to know if there is a relationship between the items in two different data sets. Examples of this are: </a:t>
            </a:r>
            <a:endParaRPr lang="en-US" sz="2800" dirty="0"/>
          </a:p>
          <a:p>
            <a:pPr>
              <a:buFont typeface="Arial" charset="0"/>
              <a:buChar char="•"/>
            </a:pPr>
            <a:r>
              <a:rPr lang="en-US" sz="2000" dirty="0">
                <a:latin typeface="Times" charset="0"/>
              </a:rPr>
              <a:t>Is there a relationship between children’s ages and their heights? </a:t>
            </a:r>
          </a:p>
          <a:p>
            <a:pPr>
              <a:buFont typeface="Arial" charset="0"/>
              <a:buChar char="•"/>
            </a:pPr>
            <a:r>
              <a:rPr lang="en-US" sz="2000" dirty="0">
                <a:latin typeface="Times" charset="0"/>
              </a:rPr>
              <a:t>Is there a relationship between people’s heights and weights? </a:t>
            </a:r>
          </a:p>
          <a:p>
            <a:pPr>
              <a:buFont typeface="Arial" charset="0"/>
              <a:buChar char="•"/>
            </a:pPr>
            <a:r>
              <a:rPr lang="en-US" sz="2000" dirty="0">
                <a:latin typeface="Times" charset="0"/>
              </a:rPr>
              <a:t>Is there a relationship between students’ marks in an English examination and their marks in a mathematics examination? </a:t>
            </a:r>
            <a:endParaRPr lang="en-US" sz="2000" dirty="0" smtClean="0">
              <a:latin typeface="Times" charset="0"/>
            </a:endParaRPr>
          </a:p>
          <a:p>
            <a:pPr>
              <a:buFont typeface="Arial" charset="0"/>
              <a:buChar char="•"/>
            </a:pPr>
            <a:endParaRPr lang="en-US" sz="2000" dirty="0">
              <a:latin typeface="Times" charset="0"/>
            </a:endParaRPr>
          </a:p>
          <a:p>
            <a:r>
              <a:rPr lang="en-US" sz="2800" dirty="0">
                <a:latin typeface="Times" charset="0"/>
              </a:rPr>
              <a:t>In each of the above, two pieces of information are to be collected from each </a:t>
            </a:r>
            <a:r>
              <a:rPr lang="en-US" sz="2800" dirty="0" smtClean="0">
                <a:latin typeface="Times" charset="0"/>
              </a:rPr>
              <a:t>person in </a:t>
            </a:r>
            <a:r>
              <a:rPr lang="en-US" sz="2800" dirty="0">
                <a:latin typeface="Times" charset="0"/>
              </a:rPr>
              <a:t>the investigation and then the two data sets are to be compared. When two pieces of information are collected from each subject in an investigation, we are then concerned with </a:t>
            </a:r>
            <a:r>
              <a:rPr lang="en-US" sz="2800" b="1" dirty="0">
                <a:solidFill>
                  <a:srgbClr val="D80000"/>
                </a:solidFill>
                <a:latin typeface="Times" charset="0"/>
              </a:rPr>
              <a:t>bivariate data</a:t>
            </a:r>
            <a:r>
              <a:rPr lang="en-US" sz="2800" dirty="0">
                <a:latin typeface="Times" charset="0"/>
              </a:rPr>
              <a:t>. </a:t>
            </a:r>
          </a:p>
        </p:txBody>
      </p:sp>
    </p:spTree>
    <p:extLst>
      <p:ext uri="{BB962C8B-B14F-4D97-AF65-F5344CB8AC3E}">
        <p14:creationId xmlns:p14="http://schemas.microsoft.com/office/powerpoint/2010/main" val="1936348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smtClean="0"/>
              <a:t>What is </a:t>
            </a:r>
            <a:r>
              <a:rPr lang="en-US" smtClean="0"/>
              <a:t>a Scatterplot?</a:t>
            </a:r>
            <a:endParaRPr lang="en-US"/>
          </a:p>
        </p:txBody>
      </p:sp>
    </p:spTree>
    <p:extLst>
      <p:ext uri="{BB962C8B-B14F-4D97-AF65-F5344CB8AC3E}">
        <p14:creationId xmlns:p14="http://schemas.microsoft.com/office/powerpoint/2010/main" val="20412534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smtClean="0"/>
              <a:t>What is </a:t>
            </a:r>
            <a:r>
              <a:rPr lang="en-US" smtClean="0"/>
              <a:t>a Scatterplot?</a:t>
            </a:r>
            <a:endParaRPr lang="en-US"/>
          </a:p>
        </p:txBody>
      </p:sp>
      <p:sp>
        <p:nvSpPr>
          <p:cNvPr id="5" name="TextBox 4"/>
          <p:cNvSpPr txBox="1"/>
          <p:nvPr/>
        </p:nvSpPr>
        <p:spPr>
          <a:xfrm>
            <a:off x="3053957" y="2133210"/>
            <a:ext cx="5694508" cy="1200329"/>
          </a:xfrm>
          <a:prstGeom prst="rect">
            <a:avLst/>
          </a:prstGeom>
          <a:noFill/>
        </p:spPr>
        <p:txBody>
          <a:bodyPr wrap="square" rtlCol="0">
            <a:spAutoFit/>
          </a:bodyPr>
          <a:lstStyle/>
          <a:p>
            <a:r>
              <a:rPr lang="en-US"/>
              <a:t>Scatterplots give a visual representation of how the values of one variable are related to the values of another variable. </a:t>
            </a:r>
          </a:p>
          <a:p>
            <a:endParaRPr lang="en-US" dirty="0"/>
          </a:p>
        </p:txBody>
      </p:sp>
    </p:spTree>
    <p:extLst>
      <p:ext uri="{BB962C8B-B14F-4D97-AF65-F5344CB8AC3E}">
        <p14:creationId xmlns:p14="http://schemas.microsoft.com/office/powerpoint/2010/main" val="4211427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smtClean="0"/>
              <a:t>What is </a:t>
            </a:r>
            <a:r>
              <a:rPr lang="en-US" smtClean="0"/>
              <a:t>a Scatterplot?</a:t>
            </a:r>
            <a:endParaRPr lang="en-US"/>
          </a:p>
        </p:txBody>
      </p:sp>
      <p:sp>
        <p:nvSpPr>
          <p:cNvPr id="5" name="TextBox 4"/>
          <p:cNvSpPr txBox="1"/>
          <p:nvPr/>
        </p:nvSpPr>
        <p:spPr>
          <a:xfrm>
            <a:off x="3053957" y="2133210"/>
            <a:ext cx="5694508" cy="1200329"/>
          </a:xfrm>
          <a:prstGeom prst="rect">
            <a:avLst/>
          </a:prstGeom>
          <a:noFill/>
        </p:spPr>
        <p:txBody>
          <a:bodyPr wrap="square" rtlCol="0">
            <a:spAutoFit/>
          </a:bodyPr>
          <a:lstStyle/>
          <a:p>
            <a:r>
              <a:rPr lang="en-US"/>
              <a:t>Scatterplots give a visual representation of how the values of one variable are related to the values of another variable. </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4150417"/>
              </p:ext>
            </p:extLst>
          </p:nvPr>
        </p:nvGraphicFramePr>
        <p:xfrm>
          <a:off x="360039" y="3227390"/>
          <a:ext cx="2195738" cy="1950720"/>
        </p:xfrm>
        <a:graphic>
          <a:graphicData uri="http://schemas.openxmlformats.org/drawingml/2006/table">
            <a:tbl>
              <a:tblPr/>
              <a:tblGrid>
                <a:gridCol w="1097869"/>
                <a:gridCol w="1097869"/>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spTree>
    <p:extLst>
      <p:ext uri="{BB962C8B-B14F-4D97-AF65-F5344CB8AC3E}">
        <p14:creationId xmlns:p14="http://schemas.microsoft.com/office/powerpoint/2010/main" val="252413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smtClean="0"/>
              <a:t>What is </a:t>
            </a:r>
            <a:r>
              <a:rPr lang="en-US" smtClean="0"/>
              <a:t>a Scatterplot?</a:t>
            </a:r>
            <a:endParaRPr lang="en-US"/>
          </a:p>
        </p:txBody>
      </p:sp>
      <p:sp>
        <p:nvSpPr>
          <p:cNvPr id="5" name="TextBox 4"/>
          <p:cNvSpPr txBox="1"/>
          <p:nvPr/>
        </p:nvSpPr>
        <p:spPr>
          <a:xfrm>
            <a:off x="3053957" y="2133210"/>
            <a:ext cx="5694508" cy="1200329"/>
          </a:xfrm>
          <a:prstGeom prst="rect">
            <a:avLst/>
          </a:prstGeom>
          <a:noFill/>
        </p:spPr>
        <p:txBody>
          <a:bodyPr wrap="square" rtlCol="0">
            <a:spAutoFit/>
          </a:bodyPr>
          <a:lstStyle/>
          <a:p>
            <a:r>
              <a:rPr lang="en-US"/>
              <a:t>Scatterplots give a visual representation of how the values of one variable are related to the values of another variable. </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4150417"/>
              </p:ext>
            </p:extLst>
          </p:nvPr>
        </p:nvGraphicFramePr>
        <p:xfrm>
          <a:off x="360039" y="3227390"/>
          <a:ext cx="2195738" cy="1950720"/>
        </p:xfrm>
        <a:graphic>
          <a:graphicData uri="http://schemas.openxmlformats.org/drawingml/2006/table">
            <a:tbl>
              <a:tblPr/>
              <a:tblGrid>
                <a:gridCol w="1097869"/>
                <a:gridCol w="1097869"/>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8619" y="3182461"/>
            <a:ext cx="2857500" cy="1790700"/>
          </a:xfrm>
          <a:prstGeom prst="rect">
            <a:avLst/>
          </a:prstGeom>
        </p:spPr>
      </p:pic>
    </p:spTree>
    <p:extLst>
      <p:ext uri="{BB962C8B-B14F-4D97-AF65-F5344CB8AC3E}">
        <p14:creationId xmlns:p14="http://schemas.microsoft.com/office/powerpoint/2010/main" val="18976293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smtClean="0"/>
              <a:t>What is </a:t>
            </a:r>
            <a:r>
              <a:rPr lang="en-US" smtClean="0"/>
              <a:t>a Scatterplot?</a:t>
            </a:r>
            <a:endParaRPr lang="en-US"/>
          </a:p>
        </p:txBody>
      </p:sp>
      <p:sp>
        <p:nvSpPr>
          <p:cNvPr id="5" name="TextBox 4"/>
          <p:cNvSpPr txBox="1"/>
          <p:nvPr/>
        </p:nvSpPr>
        <p:spPr>
          <a:xfrm>
            <a:off x="3053957" y="2133210"/>
            <a:ext cx="5694508" cy="1200329"/>
          </a:xfrm>
          <a:prstGeom prst="rect">
            <a:avLst/>
          </a:prstGeom>
          <a:noFill/>
        </p:spPr>
        <p:txBody>
          <a:bodyPr wrap="square" rtlCol="0">
            <a:spAutoFit/>
          </a:bodyPr>
          <a:lstStyle/>
          <a:p>
            <a:r>
              <a:rPr lang="en-US"/>
              <a:t>Scatterplots give a visual representation of how the values of one variable are related to the values of another variable. </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4150417"/>
              </p:ext>
            </p:extLst>
          </p:nvPr>
        </p:nvGraphicFramePr>
        <p:xfrm>
          <a:off x="360039" y="3227390"/>
          <a:ext cx="2195738" cy="1950720"/>
        </p:xfrm>
        <a:graphic>
          <a:graphicData uri="http://schemas.openxmlformats.org/drawingml/2006/table">
            <a:tbl>
              <a:tblPr/>
              <a:tblGrid>
                <a:gridCol w="1097869"/>
                <a:gridCol w="1097869"/>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8619" y="3182461"/>
            <a:ext cx="2857500" cy="1790700"/>
          </a:xfrm>
          <a:prstGeom prst="rect">
            <a:avLst/>
          </a:prstGeom>
        </p:spPr>
      </p:pic>
      <p:sp>
        <p:nvSpPr>
          <p:cNvPr id="17" name="TextBox 16"/>
          <p:cNvSpPr txBox="1"/>
          <p:nvPr/>
        </p:nvSpPr>
        <p:spPr>
          <a:xfrm>
            <a:off x="3313291" y="5406913"/>
            <a:ext cx="5350567" cy="369332"/>
          </a:xfrm>
          <a:prstGeom prst="rect">
            <a:avLst/>
          </a:prstGeom>
          <a:noFill/>
        </p:spPr>
        <p:txBody>
          <a:bodyPr wrap="none" rtlCol="0">
            <a:spAutoFit/>
          </a:bodyPr>
          <a:lstStyle/>
          <a:p>
            <a:r>
              <a:rPr lang="en-US" dirty="0"/>
              <a:t>The </a:t>
            </a:r>
            <a:r>
              <a:rPr lang="en-US" dirty="0" smtClean="0"/>
              <a:t>independent </a:t>
            </a:r>
            <a:r>
              <a:rPr lang="en-US" dirty="0"/>
              <a:t>variable, Year, is placed on the x-axis. </a:t>
            </a:r>
          </a:p>
        </p:txBody>
      </p:sp>
      <p:sp>
        <p:nvSpPr>
          <p:cNvPr id="15" name="TextBox 14"/>
          <p:cNvSpPr txBox="1"/>
          <p:nvPr/>
        </p:nvSpPr>
        <p:spPr>
          <a:xfrm>
            <a:off x="3225927" y="5863278"/>
            <a:ext cx="4818820" cy="369332"/>
          </a:xfrm>
          <a:prstGeom prst="rect">
            <a:avLst/>
          </a:prstGeom>
          <a:noFill/>
        </p:spPr>
        <p:txBody>
          <a:bodyPr wrap="none" rtlCol="0">
            <a:spAutoFit/>
          </a:bodyPr>
          <a:lstStyle/>
          <a:p>
            <a:r>
              <a:rPr lang="en-US" dirty="0"/>
              <a:t>The </a:t>
            </a:r>
            <a:r>
              <a:rPr lang="en-US" dirty="0" smtClean="0"/>
              <a:t>dependent ($) , </a:t>
            </a:r>
            <a:r>
              <a:rPr lang="en-US" dirty="0"/>
              <a:t>Year, is placed on the </a:t>
            </a:r>
            <a:r>
              <a:rPr lang="en-US" dirty="0" smtClean="0"/>
              <a:t>y-axis</a:t>
            </a:r>
            <a:r>
              <a:rPr lang="en-US" dirty="0"/>
              <a:t>. </a:t>
            </a:r>
          </a:p>
        </p:txBody>
      </p:sp>
    </p:spTree>
    <p:extLst>
      <p:ext uri="{BB962C8B-B14F-4D97-AF65-F5344CB8AC3E}">
        <p14:creationId xmlns:p14="http://schemas.microsoft.com/office/powerpoint/2010/main" val="461815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graphicFrame>
        <p:nvGraphicFramePr>
          <p:cNvPr id="5" name="Table 4"/>
          <p:cNvGraphicFramePr>
            <a:graphicFrameLocks noGrp="1"/>
          </p:cNvGraphicFramePr>
          <p:nvPr>
            <p:extLst>
              <p:ext uri="{D42A27DB-BD31-4B8C-83A1-F6EECF244321}">
                <p14:modId xmlns:p14="http://schemas.microsoft.com/office/powerpoint/2010/main" val="1006952244"/>
              </p:ext>
            </p:extLst>
          </p:nvPr>
        </p:nvGraphicFramePr>
        <p:xfrm>
          <a:off x="324035" y="2189768"/>
          <a:ext cx="2267746" cy="1950720"/>
        </p:xfrm>
        <a:graphic>
          <a:graphicData uri="http://schemas.openxmlformats.org/drawingml/2006/table">
            <a:tbl>
              <a:tblPr/>
              <a:tblGrid>
                <a:gridCol w="1133873"/>
                <a:gridCol w="1133873"/>
              </a:tblGrid>
              <a:tr h="0">
                <a:tc gridSpan="2">
                  <a:txBody>
                    <a:bodyPr/>
                    <a:lstStyle/>
                    <a:p>
                      <a:r>
                        <a:rPr lang="en-US" sz="1000">
                          <a:effectLst/>
                          <a:latin typeface="TimesNewRomanPSMT" charset="0"/>
                        </a:rPr>
                        <a:t>Value of Australian imports from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40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spTree>
    <p:extLst>
      <p:ext uri="{BB962C8B-B14F-4D97-AF65-F5344CB8AC3E}">
        <p14:creationId xmlns:p14="http://schemas.microsoft.com/office/powerpoint/2010/main" val="21061370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graphicFrame>
        <p:nvGraphicFramePr>
          <p:cNvPr id="5" name="Table 4"/>
          <p:cNvGraphicFramePr>
            <a:graphicFrameLocks noGrp="1"/>
          </p:cNvGraphicFramePr>
          <p:nvPr>
            <p:extLst>
              <p:ext uri="{D42A27DB-BD31-4B8C-83A1-F6EECF244321}">
                <p14:modId xmlns:p14="http://schemas.microsoft.com/office/powerpoint/2010/main" val="1006952244"/>
              </p:ext>
            </p:extLst>
          </p:nvPr>
        </p:nvGraphicFramePr>
        <p:xfrm>
          <a:off x="324035" y="2189768"/>
          <a:ext cx="2267746" cy="1950720"/>
        </p:xfrm>
        <a:graphic>
          <a:graphicData uri="http://schemas.openxmlformats.org/drawingml/2006/table">
            <a:tbl>
              <a:tblPr/>
              <a:tblGrid>
                <a:gridCol w="1133873"/>
                <a:gridCol w="1133873"/>
              </a:tblGrid>
              <a:tr h="0">
                <a:tc gridSpan="2">
                  <a:txBody>
                    <a:bodyPr/>
                    <a:lstStyle/>
                    <a:p>
                      <a:r>
                        <a:rPr lang="en-US" sz="1000">
                          <a:effectLst/>
                          <a:latin typeface="TimesNewRomanPSMT" charset="0"/>
                        </a:rPr>
                        <a:t>Value of Australian imports from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40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6622" y="2308564"/>
            <a:ext cx="3238500" cy="1943100"/>
          </a:xfrm>
          <a:prstGeom prst="rect">
            <a:avLst/>
          </a:prstGeom>
        </p:spPr>
      </p:pic>
    </p:spTree>
    <p:extLst>
      <p:ext uri="{BB962C8B-B14F-4D97-AF65-F5344CB8AC3E}">
        <p14:creationId xmlns:p14="http://schemas.microsoft.com/office/powerpoint/2010/main" val="12222890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smtClean="0"/>
              <a:t> </a:t>
            </a:r>
            <a:r>
              <a:rPr lang="en-AU" dirty="0"/>
              <a:t>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smtClean="0"/>
              <a:t>24</a:t>
            </a:r>
          </a:p>
          <a:p>
            <a:r>
              <a:rPr lang="en-AU" sz="1600" dirty="0" smtClean="0"/>
              <a:t>7</a:t>
            </a:r>
          </a:p>
          <a:p>
            <a:r>
              <a:rPr lang="en-AU" sz="1600" dirty="0" smtClean="0"/>
              <a:t>30</a:t>
            </a:r>
            <a:endParaRPr lang="en-AU" sz="1600" dirty="0"/>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smtClean="0"/>
              <a:t>Date</a:t>
            </a:r>
            <a:endParaRPr lang="en-AU" sz="2400" dirty="0"/>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smtClean="0"/>
              <a:t> </a:t>
            </a:r>
            <a:r>
              <a:rPr lang="en-GB" sz="2400" b="1" dirty="0"/>
              <a:t>EQ: How do I compare bivariate Data?</a:t>
            </a:r>
            <a:endParaRPr lang="en-AU" sz="2400" dirty="0"/>
          </a:p>
        </p:txBody>
      </p:sp>
      <p:graphicFrame>
        <p:nvGraphicFramePr>
          <p:cNvPr id="5" name="Table 4"/>
          <p:cNvGraphicFramePr>
            <a:graphicFrameLocks noGrp="1"/>
          </p:cNvGraphicFramePr>
          <p:nvPr>
            <p:extLst>
              <p:ext uri="{D42A27DB-BD31-4B8C-83A1-F6EECF244321}">
                <p14:modId xmlns:p14="http://schemas.microsoft.com/office/powerpoint/2010/main" val="1006952244"/>
              </p:ext>
            </p:extLst>
          </p:nvPr>
        </p:nvGraphicFramePr>
        <p:xfrm>
          <a:off x="324035" y="2189768"/>
          <a:ext cx="2267746" cy="1950720"/>
        </p:xfrm>
        <a:graphic>
          <a:graphicData uri="http://schemas.openxmlformats.org/drawingml/2006/table">
            <a:tbl>
              <a:tblPr/>
              <a:tblGrid>
                <a:gridCol w="1133873"/>
                <a:gridCol w="1133873"/>
              </a:tblGrid>
              <a:tr h="0">
                <a:tc gridSpan="2">
                  <a:txBody>
                    <a:bodyPr/>
                    <a:lstStyle/>
                    <a:p>
                      <a:r>
                        <a:rPr lang="en-US" sz="1000">
                          <a:effectLst/>
                          <a:latin typeface="TimesNewRomanPSMT" charset="0"/>
                        </a:rPr>
                        <a:t>Value of Australian imports from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40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r>
            </a:tbl>
          </a:graphicData>
        </a:graphic>
      </p:graphicFrame>
      <p:sp>
        <p:nvSpPr>
          <p:cNvPr id="8" name="TextBox 7"/>
          <p:cNvSpPr txBox="1"/>
          <p:nvPr/>
        </p:nvSpPr>
        <p:spPr>
          <a:xfrm>
            <a:off x="3003199" y="4726492"/>
            <a:ext cx="6107535" cy="923330"/>
          </a:xfrm>
          <a:prstGeom prst="rect">
            <a:avLst/>
          </a:prstGeom>
          <a:noFill/>
        </p:spPr>
        <p:txBody>
          <a:bodyPr wrap="square" rtlCol="0">
            <a:spAutoFit/>
          </a:bodyPr>
          <a:lstStyle/>
          <a:p>
            <a:r>
              <a:rPr lang="en-US" dirty="0"/>
              <a:t>$</a:t>
            </a:r>
            <a:r>
              <a:rPr lang="en-US" dirty="0" err="1"/>
              <a:t>Abillion</a:t>
            </a:r>
            <a:r>
              <a:rPr lang="en-US" dirty="0"/>
              <a:t> depends on the Year, thus $</a:t>
            </a:r>
            <a:r>
              <a:rPr lang="en-US" dirty="0" err="1"/>
              <a:t>Abillion</a:t>
            </a:r>
            <a:r>
              <a:rPr lang="en-US" dirty="0"/>
              <a:t> is the dependent variable. Year is the independent variable. </a:t>
            </a:r>
          </a:p>
          <a:p>
            <a:endParaRPr lang="en-US" dirty="0"/>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9300" y="3416300"/>
            <a:ext cx="12700" cy="25400"/>
          </a:xfrm>
          <a:prstGeom prst="rect">
            <a:avLst/>
          </a:prstGeom>
        </p:spPr>
      </p:pic>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6622" y="2308564"/>
            <a:ext cx="3238500" cy="1943100"/>
          </a:xfrm>
          <a:prstGeom prst="rect">
            <a:avLst/>
          </a:prstGeom>
        </p:spPr>
      </p:pic>
    </p:spTree>
    <p:extLst>
      <p:ext uri="{BB962C8B-B14F-4D97-AF65-F5344CB8AC3E}">
        <p14:creationId xmlns:p14="http://schemas.microsoft.com/office/powerpoint/2010/main" val="16671976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5183" y="0"/>
            <a:ext cx="5373634" cy="6858000"/>
          </a:xfrm>
          <a:prstGeom prst="rect">
            <a:avLst/>
          </a:prstGeom>
        </p:spPr>
      </p:pic>
    </p:spTree>
    <p:extLst>
      <p:ext uri="{BB962C8B-B14F-4D97-AF65-F5344CB8AC3E}">
        <p14:creationId xmlns:p14="http://schemas.microsoft.com/office/powerpoint/2010/main" val="12735408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836712"/>
            <a:ext cx="8280920" cy="3385542"/>
          </a:xfrm>
          <a:prstGeom prst="rect">
            <a:avLst/>
          </a:prstGeom>
        </p:spPr>
        <p:txBody>
          <a:bodyPr wrap="square">
            <a:spAutoFit/>
          </a:bodyPr>
          <a:lstStyle/>
          <a:p>
            <a:endParaRPr lang="en-US" dirty="0" smtClean="0">
              <a:latin typeface="Times" charset="0"/>
            </a:endParaRPr>
          </a:p>
          <a:p>
            <a:pPr algn="ctr"/>
            <a:r>
              <a:rPr lang="en-US" sz="2800" dirty="0" smtClean="0">
                <a:latin typeface="Times" charset="0"/>
              </a:rPr>
              <a:t>In Summary</a:t>
            </a:r>
          </a:p>
          <a:p>
            <a:endParaRPr lang="en-US" sz="2400" dirty="0">
              <a:latin typeface="Times" charset="0"/>
            </a:endParaRPr>
          </a:p>
          <a:p>
            <a:r>
              <a:rPr lang="en-US" sz="2400" dirty="0" smtClean="0">
                <a:latin typeface="Times" charset="0"/>
              </a:rPr>
              <a:t>A </a:t>
            </a:r>
            <a:r>
              <a:rPr lang="en-US" sz="2400" b="1" dirty="0">
                <a:solidFill>
                  <a:srgbClr val="D80000"/>
                </a:solidFill>
                <a:latin typeface="Times" charset="0"/>
              </a:rPr>
              <a:t>scatter graph </a:t>
            </a:r>
            <a:r>
              <a:rPr lang="en-US" sz="2400" dirty="0">
                <a:latin typeface="Times" charset="0"/>
              </a:rPr>
              <a:t>or </a:t>
            </a:r>
            <a:r>
              <a:rPr lang="en-US" sz="2400" b="1" dirty="0">
                <a:solidFill>
                  <a:srgbClr val="D80000"/>
                </a:solidFill>
                <a:latin typeface="Times" charset="0"/>
              </a:rPr>
              <a:t>scatter plot </a:t>
            </a:r>
            <a:r>
              <a:rPr lang="en-US" sz="2400" dirty="0">
                <a:latin typeface="Times" charset="0"/>
              </a:rPr>
              <a:t>is a type of display that uses coordinates to display values for two variables for a set of data. The data is displayed as a collection of points, each having the value of one variable determining the position of the horizontal coordinate and the value of the other variable determining the position of the vertical coordinate. </a:t>
            </a:r>
          </a:p>
        </p:txBody>
      </p:sp>
    </p:spTree>
    <p:extLst>
      <p:ext uri="{BB962C8B-B14F-4D97-AF65-F5344CB8AC3E}">
        <p14:creationId xmlns:p14="http://schemas.microsoft.com/office/powerpoint/2010/main" val="3606831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Notes Review</a:t>
            </a:r>
            <a:endParaRPr lang="en-AU" dirty="0"/>
          </a:p>
        </p:txBody>
      </p:sp>
      <p:sp>
        <p:nvSpPr>
          <p:cNvPr id="3" name="Content Placeholder 2"/>
          <p:cNvSpPr>
            <a:spLocks noGrp="1"/>
          </p:cNvSpPr>
          <p:nvPr>
            <p:ph idx="1"/>
          </p:nvPr>
        </p:nvSpPr>
        <p:spPr/>
        <p:txBody>
          <a:bodyPr>
            <a:normAutofit fontScale="92500" lnSpcReduction="20000"/>
          </a:bodyPr>
          <a:lstStyle/>
          <a:p>
            <a:r>
              <a:rPr lang="en-AU" dirty="0" smtClean="0"/>
              <a:t>24, 7 ,30</a:t>
            </a:r>
          </a:p>
          <a:p>
            <a:r>
              <a:rPr lang="en-AU" dirty="0" smtClean="0"/>
              <a:t>Date</a:t>
            </a:r>
          </a:p>
          <a:p>
            <a:r>
              <a:rPr lang="en-AU" dirty="0" smtClean="0"/>
              <a:t>Title</a:t>
            </a:r>
          </a:p>
          <a:p>
            <a:r>
              <a:rPr lang="en-AU" dirty="0" smtClean="0"/>
              <a:t>Essential question</a:t>
            </a:r>
          </a:p>
          <a:p>
            <a:r>
              <a:rPr lang="en-AU" dirty="0" smtClean="0"/>
              <a:t>Notes complete </a:t>
            </a:r>
          </a:p>
          <a:p>
            <a:r>
              <a:rPr lang="en-AU" dirty="0" smtClean="0"/>
              <a:t>Notes complete with colour and diagrams</a:t>
            </a:r>
          </a:p>
          <a:p>
            <a:r>
              <a:rPr lang="en-AU" dirty="0" smtClean="0"/>
              <a:t>Questions completed</a:t>
            </a:r>
          </a:p>
          <a:p>
            <a:r>
              <a:rPr lang="en-AU" dirty="0" smtClean="0"/>
              <a:t>Contents page filed in</a:t>
            </a:r>
          </a:p>
          <a:p>
            <a:r>
              <a:rPr lang="en-AU" dirty="0" smtClean="0"/>
              <a:t>Formula page filled in</a:t>
            </a:r>
          </a:p>
          <a:p>
            <a:pPr marL="0" indent="0">
              <a:buNone/>
            </a:pPr>
            <a:endParaRPr lang="en-AU" dirty="0" smtClean="0"/>
          </a:p>
          <a:p>
            <a:endParaRPr lang="en-AU" dirty="0" smtClean="0"/>
          </a:p>
        </p:txBody>
      </p:sp>
    </p:spTree>
    <p:extLst>
      <p:ext uri="{BB962C8B-B14F-4D97-AF65-F5344CB8AC3E}">
        <p14:creationId xmlns:p14="http://schemas.microsoft.com/office/powerpoint/2010/main" val="30699218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Homework</a:t>
            </a:r>
            <a:endParaRPr lang="en-AU" dirty="0"/>
          </a:p>
        </p:txBody>
      </p:sp>
      <p:sp>
        <p:nvSpPr>
          <p:cNvPr id="3" name="Content Placeholder 2"/>
          <p:cNvSpPr>
            <a:spLocks noGrp="1"/>
          </p:cNvSpPr>
          <p:nvPr>
            <p:ph idx="1"/>
          </p:nvPr>
        </p:nvSpPr>
        <p:spPr/>
        <p:txBody>
          <a:bodyPr/>
          <a:lstStyle/>
          <a:p>
            <a:r>
              <a:rPr lang="en-AU" dirty="0" smtClean="0"/>
              <a:t>Review your notes and write a summary answering the essential question. </a:t>
            </a:r>
            <a:endParaRPr lang="en-AU" dirty="0"/>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934</TotalTime>
  <Words>1158</Words>
  <Application>Microsoft Macintosh PowerPoint</Application>
  <PresentationFormat>On-screen Show (4:3)</PresentationFormat>
  <Paragraphs>334</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Times</vt:lpstr>
      <vt:lpstr>TimesNewRomanPSMT</vt:lpstr>
      <vt:lpstr>Office Theme</vt:lpstr>
      <vt:lpstr>Topic: Bivariate Data  EQ: How do I compare bivariate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Kath Farmer</cp:lastModifiedBy>
  <cp:revision>74</cp:revision>
  <dcterms:created xsi:type="dcterms:W3CDTF">2014-05-14T02:58:57Z</dcterms:created>
  <dcterms:modified xsi:type="dcterms:W3CDTF">2017-05-22T02:25:13Z</dcterms:modified>
</cp:coreProperties>
</file>
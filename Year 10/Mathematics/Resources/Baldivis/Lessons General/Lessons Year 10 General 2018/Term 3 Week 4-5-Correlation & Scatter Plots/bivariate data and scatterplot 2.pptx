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04"/>
    <p:restoredTop sz="91401"/>
  </p:normalViewPr>
  <p:slideViewPr>
    <p:cSldViewPr snapToGrid="0" snapToObjects="1">
      <p:cViewPr varScale="1">
        <p:scale>
          <a:sx n="91" d="100"/>
          <a:sy n="91" d="100"/>
        </p:scale>
        <p:origin x="2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Workbook5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Workbook5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file://localhost/Users/TravisPower/Desktop/year%2010%20car%20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temperature</a:t>
            </a:r>
            <a:r>
              <a:rPr lang="en-US" baseline="0"/>
              <a:t> and Drinks sold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Drinks sold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18.0</c:v>
                </c:pt>
                <c:pt idx="1">
                  <c:v>22.0</c:v>
                </c:pt>
                <c:pt idx="2">
                  <c:v>24.0</c:v>
                </c:pt>
                <c:pt idx="3">
                  <c:v>33.0</c:v>
                </c:pt>
                <c:pt idx="4">
                  <c:v>30.0</c:v>
                </c:pt>
                <c:pt idx="5">
                  <c:v>28.0</c:v>
                </c:pt>
                <c:pt idx="6">
                  <c:v>29.0</c:v>
                </c:pt>
                <c:pt idx="7">
                  <c:v>17.0</c:v>
                </c:pt>
                <c:pt idx="8">
                  <c:v>23.0</c:v>
                </c:pt>
                <c:pt idx="9">
                  <c:v>27.0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160.0</c:v>
                </c:pt>
                <c:pt idx="1">
                  <c:v>200.0</c:v>
                </c:pt>
                <c:pt idx="2">
                  <c:v>250.0</c:v>
                </c:pt>
                <c:pt idx="3">
                  <c:v>450.0</c:v>
                </c:pt>
                <c:pt idx="4">
                  <c:v>430.0</c:v>
                </c:pt>
                <c:pt idx="5">
                  <c:v>300.0</c:v>
                </c:pt>
                <c:pt idx="6">
                  <c:v>360.0</c:v>
                </c:pt>
                <c:pt idx="7">
                  <c:v>150.0</c:v>
                </c:pt>
                <c:pt idx="8">
                  <c:v>230.0</c:v>
                </c:pt>
                <c:pt idx="9">
                  <c:v>250.0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958231872"/>
        <c:axId val="-1995757200"/>
      </c:scatterChart>
      <c:valAx>
        <c:axId val="-1958231872"/>
        <c:scaling>
          <c:orientation val="minMax"/>
          <c:min val="15.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Daily Temperature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95757200"/>
        <c:crosses val="autoZero"/>
        <c:crossBetween val="midCat"/>
      </c:valAx>
      <c:valAx>
        <c:axId val="-199575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Drink</a:t>
                </a:r>
                <a:r>
                  <a:rPr lang="en-US" baseline="0"/>
                  <a:t>s sold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58231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temperature</a:t>
            </a:r>
            <a:r>
              <a:rPr lang="en-US" baseline="0"/>
              <a:t> and Drinks sold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Drinks sold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18.0</c:v>
                </c:pt>
                <c:pt idx="1">
                  <c:v>22.0</c:v>
                </c:pt>
                <c:pt idx="2">
                  <c:v>24.0</c:v>
                </c:pt>
                <c:pt idx="3">
                  <c:v>33.0</c:v>
                </c:pt>
                <c:pt idx="4">
                  <c:v>30.0</c:v>
                </c:pt>
                <c:pt idx="5">
                  <c:v>28.0</c:v>
                </c:pt>
                <c:pt idx="6">
                  <c:v>29.0</c:v>
                </c:pt>
                <c:pt idx="7">
                  <c:v>17.0</c:v>
                </c:pt>
                <c:pt idx="8">
                  <c:v>23.0</c:v>
                </c:pt>
                <c:pt idx="9">
                  <c:v>27.0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160.0</c:v>
                </c:pt>
                <c:pt idx="1">
                  <c:v>200.0</c:v>
                </c:pt>
                <c:pt idx="2">
                  <c:v>250.0</c:v>
                </c:pt>
                <c:pt idx="3">
                  <c:v>450.0</c:v>
                </c:pt>
                <c:pt idx="4">
                  <c:v>430.0</c:v>
                </c:pt>
                <c:pt idx="5">
                  <c:v>300.0</c:v>
                </c:pt>
                <c:pt idx="6">
                  <c:v>360.0</c:v>
                </c:pt>
                <c:pt idx="7">
                  <c:v>150.0</c:v>
                </c:pt>
                <c:pt idx="8">
                  <c:v>230.0</c:v>
                </c:pt>
                <c:pt idx="9">
                  <c:v>250.0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32515856"/>
        <c:axId val="2145866000"/>
      </c:scatterChart>
      <c:valAx>
        <c:axId val="-2132515856"/>
        <c:scaling>
          <c:orientation val="minMax"/>
          <c:min val="15.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Daily Temperature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5866000"/>
        <c:crosses val="autoZero"/>
        <c:crossBetween val="midCat"/>
      </c:valAx>
      <c:valAx>
        <c:axId val="2145866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Drink</a:t>
                </a:r>
                <a:r>
                  <a:rPr lang="en-US" baseline="0"/>
                  <a:t>s sold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515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Cost of Car vs Years old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32000.0</c:v>
                </c:pt>
                <c:pt idx="1">
                  <c:v>29500.0</c:v>
                </c:pt>
                <c:pt idx="2">
                  <c:v>24500.0</c:v>
                </c:pt>
                <c:pt idx="3" formatCode="#,##0">
                  <c:v>20000.0</c:v>
                </c:pt>
                <c:pt idx="4">
                  <c:v>16500.0</c:v>
                </c:pt>
                <c:pt idx="5">
                  <c:v>14500.0</c:v>
                </c:pt>
                <c:pt idx="6">
                  <c:v>13000.0</c:v>
                </c:pt>
                <c:pt idx="7">
                  <c:v>10900.0</c:v>
                </c:pt>
                <c:pt idx="8">
                  <c:v>10500.0</c:v>
                </c:pt>
                <c:pt idx="9">
                  <c:v>7500.0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11.0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40818896"/>
        <c:axId val="-2142152048"/>
      </c:scatterChart>
      <c:valAx>
        <c:axId val="-21408188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Cost of car ($)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42152048"/>
        <c:crosses val="autoZero"/>
        <c:crossBetween val="midCat"/>
      </c:valAx>
      <c:valAx>
        <c:axId val="-2142152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Years old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408188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116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85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50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27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6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35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45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15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39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766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97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597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12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772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398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9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7/27/18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363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Topic: Bivariate data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what is Bivariate data, and how can it be useful for statistical analysis?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Review of Data types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There are 2 sub-categories of data- Numerical and Categorical</a:t>
            </a:r>
          </a:p>
          <a:p>
            <a:r>
              <a:rPr lang="en-AU" dirty="0" smtClean="0"/>
              <a:t>Numerical data is data relating to numbers</a:t>
            </a:r>
          </a:p>
          <a:p>
            <a:r>
              <a:rPr lang="en-AU" dirty="0" smtClean="0"/>
              <a:t>Categorical is data based on observable characteristics. </a:t>
            </a:r>
          </a:p>
          <a:p>
            <a:r>
              <a:rPr lang="en-AU" dirty="0" err="1" smtClean="0"/>
              <a:t>Univariate</a:t>
            </a:r>
            <a:r>
              <a:rPr lang="en-AU" dirty="0" smtClean="0"/>
              <a:t> data is single piece data – height, weight, shoe size</a:t>
            </a:r>
          </a:p>
          <a:p>
            <a:r>
              <a:rPr lang="en-AU" dirty="0" smtClean="0"/>
              <a:t>Bivariate data is two-piece data – </a:t>
            </a:r>
            <a:r>
              <a:rPr lang="en-AU" dirty="0" err="1" smtClean="0"/>
              <a:t>heigh</a:t>
            </a:r>
            <a:r>
              <a:rPr lang="en-AU" dirty="0" smtClean="0"/>
              <a:t> and weight, Heartbeat and exercise amount, Reaction times and Sleep amount </a:t>
            </a:r>
            <a:r>
              <a:rPr lang="en-AU" dirty="0" err="1" smtClean="0"/>
              <a:t>ect</a:t>
            </a:r>
            <a:r>
              <a:rPr lang="en-AU" dirty="0" smtClean="0"/>
              <a:t>. </a:t>
            </a:r>
          </a:p>
          <a:p>
            <a:r>
              <a:rPr lang="en-AU" dirty="0" smtClean="0"/>
              <a:t>Bivariate data is often represented in a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149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57666" y="166474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Bivariate data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16899" y="1375961"/>
            <a:ext cx="10075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 example of bivariate data that you may encounter is the “value of drinks sold at the school canteen” and the “daily temperature”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524990" y="5760720"/>
            <a:ext cx="714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Does it look like the number of drinks sold is affected by the temperature?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34628"/>
              </p:ext>
            </p:extLst>
          </p:nvPr>
        </p:nvGraphicFramePr>
        <p:xfrm>
          <a:off x="4842960" y="2022292"/>
          <a:ext cx="3752400" cy="342002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5612"/>
                <a:gridCol w="1666788"/>
              </a:tblGrid>
              <a:tr h="4328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700" u="none" strike="noStrike" dirty="0">
                          <a:effectLst/>
                        </a:rPr>
                        <a:t>Daily Temperature (C</a:t>
                      </a:r>
                      <a:r>
                        <a:rPr lang="en-US" sz="1700" u="none" strike="noStrike" baseline="30000" dirty="0">
                          <a:effectLst/>
                        </a:rPr>
                        <a:t>o</a:t>
                      </a:r>
                      <a:r>
                        <a:rPr lang="en-US" sz="1700" u="none" strike="noStrike" dirty="0">
                          <a:effectLst/>
                        </a:rPr>
                        <a:t>)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Drinks sold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313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fi-FI" sz="1700" u="none" strike="noStrike" dirty="0">
                          <a:effectLst/>
                        </a:rPr>
                        <a:t>18</a:t>
                      </a:r>
                      <a:endParaRPr lang="fi-FI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160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22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200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24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250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33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450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30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430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28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300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29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cs-CZ" sz="1700" u="none" strike="noStrike" dirty="0">
                          <a:effectLst/>
                        </a:rPr>
                        <a:t>360</a:t>
                      </a:r>
                      <a:endParaRPr lang="cs-CZ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17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150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23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230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27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250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0" y="73432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07963" y="729630"/>
            <a:ext cx="958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EQ: What </a:t>
            </a:r>
            <a:r>
              <a:rPr lang="en-AU" dirty="0"/>
              <a:t>is </a:t>
            </a:r>
            <a:r>
              <a:rPr lang="en-AU" dirty="0" smtClean="0"/>
              <a:t>bivariate </a:t>
            </a:r>
            <a:r>
              <a:rPr lang="en-AU" dirty="0"/>
              <a:t>data, and how can it be useful for statistical analysis?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259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16899" y="1319935"/>
            <a:ext cx="9900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This chart is called a scatterplot. It is used with bivariate data to determine if there is a trend in out data or not. 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2198587" y="6133445"/>
            <a:ext cx="9362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As the daily temperature (x-axis) increases, does the amount of drinks sold increase (y-axis)?</a:t>
            </a:r>
            <a:endParaRPr lang="en-AU" dirty="0"/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9333208"/>
              </p:ext>
            </p:extLst>
          </p:nvPr>
        </p:nvGraphicFramePr>
        <p:xfrm>
          <a:off x="3403600" y="2042873"/>
          <a:ext cx="5384800" cy="394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657666" y="166474"/>
            <a:ext cx="10131425" cy="567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mtClean="0"/>
              <a:t>Bivariate data</a:t>
            </a:r>
            <a:endParaRPr lang="en-AU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3432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7963" y="729630"/>
            <a:ext cx="958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EQ: What </a:t>
            </a:r>
            <a:r>
              <a:rPr lang="en-AU" dirty="0"/>
              <a:t>is </a:t>
            </a:r>
            <a:r>
              <a:rPr lang="en-AU" dirty="0" smtClean="0"/>
              <a:t>bivariate </a:t>
            </a:r>
            <a:r>
              <a:rPr lang="en-AU" dirty="0"/>
              <a:t>data, and how can it be useful for statistical analysis?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38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0" y="2377207"/>
            <a:ext cx="6685726" cy="42717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20482" y="1407994"/>
            <a:ext cx="986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constructing scatterplots of bivariate data, we often describe the correlation and trend of the data. Some of the key words are listed below. </a:t>
            </a:r>
            <a:endParaRPr lang="en-AU" dirty="0"/>
          </a:p>
        </p:txBody>
      </p:sp>
      <p:sp>
        <p:nvSpPr>
          <p:cNvPr id="9" name="Oval 8"/>
          <p:cNvSpPr/>
          <p:nvPr/>
        </p:nvSpPr>
        <p:spPr>
          <a:xfrm>
            <a:off x="6635931" y="2181497"/>
            <a:ext cx="3981715" cy="197249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57666" y="166474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Bivariate data</a:t>
            </a:r>
            <a:endParaRPr lang="en-AU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73432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7963" y="729630"/>
            <a:ext cx="958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EQ: What </a:t>
            </a:r>
            <a:r>
              <a:rPr lang="en-AU" dirty="0"/>
              <a:t>is </a:t>
            </a:r>
            <a:r>
              <a:rPr lang="en-AU" dirty="0" smtClean="0"/>
              <a:t>bivariate </a:t>
            </a:r>
            <a:r>
              <a:rPr lang="en-AU" dirty="0"/>
              <a:t>data, and how can it be useful for statistical analysis?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110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864815"/>
              </p:ext>
            </p:extLst>
          </p:nvPr>
        </p:nvGraphicFramePr>
        <p:xfrm>
          <a:off x="2515325" y="2669890"/>
          <a:ext cx="5384800" cy="394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515326" y="1323503"/>
            <a:ext cx="48390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would you describe this scatterplot?</a:t>
            </a:r>
          </a:p>
          <a:p>
            <a:r>
              <a:rPr lang="en-AU" dirty="0" smtClean="0"/>
              <a:t>Strong or Weak?</a:t>
            </a:r>
          </a:p>
          <a:p>
            <a:r>
              <a:rPr lang="en-AU" dirty="0" smtClean="0"/>
              <a:t>Linear or Not?</a:t>
            </a:r>
          </a:p>
          <a:p>
            <a:r>
              <a:rPr lang="en-AU" dirty="0" smtClean="0"/>
              <a:t>Positive or Negative?									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	</a:t>
            </a:r>
            <a:r>
              <a:rPr lang="en-AU" dirty="0" smtClean="0"/>
              <a:t>									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/>
              <a:t>	</a:t>
            </a:r>
            <a:r>
              <a:rPr lang="en-AU" dirty="0" smtClean="0"/>
              <a:t>	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8190411" y="2669890"/>
            <a:ext cx="3814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Our graph is a strong, positive graph, that is  almost linear. </a:t>
            </a:r>
            <a:endParaRPr lang="en-AU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57666" y="166474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Bivariate data</a:t>
            </a:r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4321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7963" y="729630"/>
            <a:ext cx="958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EQ: What </a:t>
            </a:r>
            <a:r>
              <a:rPr lang="en-AU" dirty="0"/>
              <a:t>is </a:t>
            </a:r>
            <a:r>
              <a:rPr lang="en-AU" dirty="0" smtClean="0"/>
              <a:t>bivariate </a:t>
            </a:r>
            <a:r>
              <a:rPr lang="en-AU" dirty="0"/>
              <a:t>data, and how can it be useful for statistical analysis?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13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03921"/>
            <a:ext cx="10131425" cy="3255124"/>
          </a:xfrm>
        </p:spPr>
        <p:txBody>
          <a:bodyPr/>
          <a:lstStyle/>
          <a:p>
            <a:r>
              <a:rPr lang="en-AU" dirty="0" smtClean="0"/>
              <a:t>Sam’s Mum wants to buy a new Golf. She looks on gumtree and makes a list of how many years old the car is, and the sale price. 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691703"/>
              </p:ext>
            </p:extLst>
          </p:nvPr>
        </p:nvGraphicFramePr>
        <p:xfrm>
          <a:off x="892097" y="3112426"/>
          <a:ext cx="5285678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/>
                <a:gridCol w="2642839"/>
              </a:tblGrid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Cost of car ($)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Number of years old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32000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29500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>
                          <a:effectLst/>
                        </a:rPr>
                        <a:t>2</a:t>
                      </a:r>
                      <a:endParaRPr lang="is-I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16500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13000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10900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7500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2000" u="none" strike="noStrike" dirty="0">
                          <a:effectLst/>
                        </a:rPr>
                        <a:t>11</a:t>
                      </a:r>
                      <a:endParaRPr lang="cs-CZ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49737" y="3278459"/>
            <a:ext cx="2765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Which  variable is the;</a:t>
            </a:r>
          </a:p>
          <a:p>
            <a:r>
              <a:rPr lang="en-AU" dirty="0" smtClean="0"/>
              <a:t>Independent</a:t>
            </a:r>
          </a:p>
          <a:p>
            <a:r>
              <a:rPr lang="en-AU" dirty="0" smtClean="0"/>
              <a:t>- Number of years old</a:t>
            </a:r>
          </a:p>
          <a:p>
            <a:r>
              <a:rPr lang="en-AU" dirty="0" smtClean="0"/>
              <a:t>Dependent</a:t>
            </a:r>
          </a:p>
          <a:p>
            <a:r>
              <a:rPr lang="en-AU" dirty="0" smtClean="0"/>
              <a:t> - Cost of the car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602634" y="5599047"/>
            <a:ext cx="525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Make a scatterplot of the data, and describe the trend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025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Car data Scatter plot</a:t>
            </a:r>
            <a:endParaRPr lang="en-AU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5275228"/>
              </p:ext>
            </p:extLst>
          </p:nvPr>
        </p:nvGraphicFramePr>
        <p:xfrm>
          <a:off x="1178414" y="1880409"/>
          <a:ext cx="6515927" cy="4208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34941" y="2065867"/>
            <a:ext cx="38560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can see that the lower the years on the car, the more expensive it is to buy.</a:t>
            </a:r>
          </a:p>
          <a:p>
            <a:endParaRPr lang="en-AU" dirty="0"/>
          </a:p>
          <a:p>
            <a:r>
              <a:rPr lang="en-AU" dirty="0" smtClean="0"/>
              <a:t>The trend is very linear, and negative. The dots form almost a straight line, so the correlation could be classified as strong.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639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776</TotalTime>
  <Words>516</Words>
  <Application>Microsoft Macintosh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Arial</vt:lpstr>
      <vt:lpstr>Celestial</vt:lpstr>
      <vt:lpstr>Topic: Bivariate data</vt:lpstr>
      <vt:lpstr>Review of Data types</vt:lpstr>
      <vt:lpstr>Bivariate data</vt:lpstr>
      <vt:lpstr>PowerPoint Presentation</vt:lpstr>
      <vt:lpstr>Bivariate data</vt:lpstr>
      <vt:lpstr>Bivariate data</vt:lpstr>
      <vt:lpstr>Your turn</vt:lpstr>
      <vt:lpstr>Car data Scatter plot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Bivariate data</dc:title>
  <dc:creator>POWER Travis [Baldivis Secondary College]</dc:creator>
  <cp:lastModifiedBy>POWER Travis [Baldivis Secondary College]</cp:lastModifiedBy>
  <cp:revision>9</cp:revision>
  <dcterms:created xsi:type="dcterms:W3CDTF">2018-07-24T09:14:17Z</dcterms:created>
  <dcterms:modified xsi:type="dcterms:W3CDTF">2018-07-27T00:17:30Z</dcterms:modified>
</cp:coreProperties>
</file>
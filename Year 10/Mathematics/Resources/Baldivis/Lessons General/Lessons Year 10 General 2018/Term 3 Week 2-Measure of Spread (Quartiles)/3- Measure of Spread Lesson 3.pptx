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4" autoAdjust="0"/>
    <p:restoredTop sz="94617" autoAdjust="0"/>
  </p:normalViewPr>
  <p:slideViewPr>
    <p:cSldViewPr>
      <p:cViewPr varScale="1">
        <p:scale>
          <a:sx n="84" d="100"/>
          <a:sy n="84" d="100"/>
        </p:scale>
        <p:origin x="84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61DDC-5327-634A-948C-8F1DA07938D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9808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C2106-0E2B-6A44-A04E-4D35E94D8C1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01070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A53AD-716A-AA47-B8EE-7233BFA07FF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8611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FA55C-E6E8-7F48-BCF9-F70A950741B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28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6CDBA-67E0-3643-98EE-92970B0D1C8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335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8F7BA-4D57-B640-847D-46170811E424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4269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F19FA-CEED-3F4D-9522-4111EBFA268F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7065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E664E-BFF8-504B-8996-7FF33C8B304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0518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BC7D0-6F97-0348-BEEC-62506EC5D79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4685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F2E99-136F-1C4C-A8E8-2957846B661B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5555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86DD5-E443-654B-86C4-2445A380210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5259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408608-F8D2-0F4E-878C-15ABD4F80B65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84213" y="5157788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ES" altLang="x-none" dirty="0" err="1" smtClean="0">
                <a:solidFill>
                  <a:schemeClr val="tx1"/>
                </a:solidFill>
              </a:rPr>
              <a:t>Topic</a:t>
            </a:r>
            <a:r>
              <a:rPr lang="es-ES" altLang="x-none" dirty="0" smtClean="0">
                <a:solidFill>
                  <a:schemeClr val="tx1"/>
                </a:solidFill>
              </a:rPr>
              <a:t>: </a:t>
            </a:r>
            <a:r>
              <a:rPr lang="es-ES" altLang="x-none" dirty="0" err="1" smtClean="0">
                <a:solidFill>
                  <a:schemeClr val="tx1"/>
                </a:solidFill>
              </a:rPr>
              <a:t>Statistics</a:t>
            </a:r>
            <a:r>
              <a:rPr lang="es-ES" altLang="x-none" dirty="0" smtClean="0">
                <a:solidFill>
                  <a:schemeClr val="tx1"/>
                </a:solidFill>
              </a:rPr>
              <a:t> &amp; Data</a:t>
            </a:r>
          </a:p>
          <a:p>
            <a:r>
              <a:rPr lang="es-ES" altLang="x-none" dirty="0" err="1" smtClean="0">
                <a:solidFill>
                  <a:schemeClr val="tx1"/>
                </a:solidFill>
              </a:rPr>
              <a:t>Measure</a:t>
            </a:r>
            <a:r>
              <a:rPr lang="es-ES" altLang="x-none" dirty="0" smtClean="0">
                <a:solidFill>
                  <a:schemeClr val="tx1"/>
                </a:solidFill>
              </a:rPr>
              <a:t> of Spread #2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403350" y="2276475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2"/>
            <a:ext cx="8229600" cy="864096"/>
          </a:xfrm>
        </p:spPr>
        <p:txBody>
          <a:bodyPr/>
          <a:lstStyle/>
          <a:p>
            <a:r>
              <a:rPr lang="es-UY" altLang="x-none" u="sng" smtClean="0">
                <a:solidFill>
                  <a:schemeClr val="tx1"/>
                </a:solidFill>
              </a:rPr>
              <a:t>Warm </a:t>
            </a:r>
            <a:r>
              <a:rPr lang="es-UY" altLang="x-none" u="sng" smtClean="0">
                <a:solidFill>
                  <a:schemeClr val="tx1"/>
                </a:solidFill>
              </a:rPr>
              <a:t>up</a:t>
            </a:r>
            <a:endParaRPr lang="es-ES" altLang="x-none" u="sng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Quick-write reviewing last lesson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34860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209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</a:t>
            </a:r>
            <a:r>
              <a:rPr lang="en-AU" sz="2400" dirty="0" smtClean="0"/>
              <a:t>Summary as a measure of spread?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quartiles?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3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quartiles?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Quartiles </a:t>
            </a:r>
            <a:r>
              <a:rPr lang="en-US" b="1" dirty="0" smtClean="0"/>
              <a:t>are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three values that separate the scores when a set of ordered data is divided into four equal parts 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Summary?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9126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quartiles?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Quartiles </a:t>
            </a:r>
            <a:r>
              <a:rPr lang="en-US" b="1" dirty="0" smtClean="0"/>
              <a:t>are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three values that separate the scores when a set of ordered data is divided into four equal parts </a:t>
            </a:r>
          </a:p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160415" y="3139803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data are placed in order, then the </a:t>
            </a:r>
            <a:r>
              <a:rPr lang="en-US" b="1" u="sng" dirty="0" smtClean="0"/>
              <a:t>median </a:t>
            </a:r>
            <a:r>
              <a:rPr lang="en-US" dirty="0" smtClean="0"/>
              <a:t>is the middle number in the data set.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9512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Summary?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2353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160415" y="3929321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The lower </a:t>
            </a:r>
            <a:r>
              <a:rPr lang="en-US" b="1" u="sng" dirty="0"/>
              <a:t>quartile </a:t>
            </a:r>
            <a:r>
              <a:rPr lang="en-US" dirty="0"/>
              <a:t>is </a:t>
            </a:r>
            <a:r>
              <a:rPr lang="en-US" dirty="0" err="1" smtClean="0"/>
              <a:t>centre</a:t>
            </a:r>
            <a:r>
              <a:rPr lang="en-US" dirty="0" smtClean="0"/>
              <a:t> point </a:t>
            </a:r>
            <a:r>
              <a:rPr lang="en-US" dirty="0"/>
              <a:t>to the lower half of the data.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quartiles?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Quartiles </a:t>
            </a:r>
            <a:r>
              <a:rPr lang="en-US" b="1" dirty="0" smtClean="0"/>
              <a:t>are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three values that separate the scores when a set of ordered data is divided into four equal parts </a:t>
            </a:r>
          </a:p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160415" y="3139803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data are placed in order, then the </a:t>
            </a:r>
            <a:r>
              <a:rPr lang="en-US" b="1" u="sng" dirty="0" smtClean="0"/>
              <a:t>median </a:t>
            </a:r>
            <a:r>
              <a:rPr lang="en-US" dirty="0" smtClean="0"/>
              <a:t>is the middle number in the data set.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Summary?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650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160415" y="3929321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The lower </a:t>
            </a:r>
            <a:r>
              <a:rPr lang="en-US" b="1" u="sng" dirty="0"/>
              <a:t>quartile </a:t>
            </a:r>
            <a:r>
              <a:rPr lang="en-US" dirty="0"/>
              <a:t>is </a:t>
            </a:r>
            <a:r>
              <a:rPr lang="en-US" dirty="0" err="1" smtClean="0"/>
              <a:t>centre</a:t>
            </a:r>
            <a:r>
              <a:rPr lang="en-US" dirty="0" smtClean="0"/>
              <a:t> point </a:t>
            </a:r>
            <a:r>
              <a:rPr lang="en-US" dirty="0"/>
              <a:t>to the lower half of the data.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7536" y="4819534"/>
            <a:ext cx="5790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upper quartile </a:t>
            </a:r>
            <a:r>
              <a:rPr lang="en-US" dirty="0"/>
              <a:t>is </a:t>
            </a:r>
            <a:r>
              <a:rPr lang="en-US" dirty="0" err="1" smtClean="0"/>
              <a:t>centre</a:t>
            </a:r>
            <a:r>
              <a:rPr lang="en-US" dirty="0" smtClean="0"/>
              <a:t> point  in </a:t>
            </a:r>
            <a:r>
              <a:rPr lang="en-US" dirty="0"/>
              <a:t>the upper half of the data. 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quartiles?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Quartiles </a:t>
            </a:r>
            <a:r>
              <a:rPr lang="en-US" b="1" dirty="0" smtClean="0"/>
              <a:t>are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three values that separate the scores when a set of ordered data is divided into four equal parts </a:t>
            </a:r>
          </a:p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160415" y="3139803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data are placed in order, then the </a:t>
            </a:r>
            <a:r>
              <a:rPr lang="en-US" b="1" u="sng" dirty="0" smtClean="0"/>
              <a:t>median </a:t>
            </a:r>
            <a:r>
              <a:rPr lang="en-US" dirty="0" smtClean="0"/>
              <a:t>is the middle number in the data set.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Summary?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9010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0519" y="2253770"/>
            <a:ext cx="254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interquartile range?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02986" y="2200972"/>
            <a:ext cx="496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</a:t>
            </a:r>
            <a:r>
              <a:rPr lang="en-US" dirty="0"/>
              <a:t>measure of spread giving the difference between the upper and lower quartiles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2162" y="2923605"/>
            <a:ext cx="3683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IQR = upper quartile – lower quartile </a:t>
            </a:r>
          </a:p>
          <a:p>
            <a:r>
              <a:rPr lang="en-US" dirty="0"/>
              <a:t>= Q3 – Q1 </a:t>
            </a:r>
          </a:p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Summary?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6832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0519" y="2253770"/>
            <a:ext cx="254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interquartile range?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02986" y="2200972"/>
            <a:ext cx="496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</a:t>
            </a:r>
            <a:r>
              <a:rPr lang="en-US" dirty="0"/>
              <a:t>measure of spread giving the difference between the upper and lower quartiles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19" y="4287029"/>
            <a:ext cx="254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an outlier?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162162" y="2923605"/>
            <a:ext cx="3683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IQR = upper quartile – lower quartile </a:t>
            </a:r>
          </a:p>
          <a:p>
            <a:r>
              <a:rPr lang="en-US" dirty="0"/>
              <a:t>= Q3 – Q1 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Summary?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6969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0519" y="2253770"/>
            <a:ext cx="254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interquartile range?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02986" y="2200972"/>
            <a:ext cx="496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</a:t>
            </a:r>
            <a:r>
              <a:rPr lang="en-US" dirty="0"/>
              <a:t>measure of spread giving the difference between the upper and lower quartiles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19" y="3919118"/>
            <a:ext cx="254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an outlier?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063149" y="3820255"/>
            <a:ext cx="5933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Any value that is much larger or much smaller than the rest of the data in a set </a:t>
            </a:r>
          </a:p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162162" y="2923605"/>
            <a:ext cx="3683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IQR = upper quartile – lower quartile </a:t>
            </a:r>
          </a:p>
          <a:p>
            <a:r>
              <a:rPr lang="en-US" dirty="0"/>
              <a:t>= Q3 – Q1 </a:t>
            </a:r>
          </a:p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25096" y="4550028"/>
            <a:ext cx="37733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data point is an outlier if it is either: </a:t>
            </a:r>
            <a:endParaRPr lang="en-US" dirty="0" smtClean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Less than Q1-1.5 x IQR or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Greater </a:t>
            </a:r>
            <a:r>
              <a:rPr lang="en-US" dirty="0"/>
              <a:t>than Q3 + 1.5 × IQR 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values do I need to calculate a Five Figure Summary?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24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a Five Figure Summary?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What is a five number summary?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8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a Five Figure Summary?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What is a five number summary?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140721" y="2085531"/>
            <a:ext cx="4809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numbers that </a:t>
            </a:r>
            <a:r>
              <a:rPr lang="en-US" dirty="0" err="1"/>
              <a:t>summarise</a:t>
            </a:r>
            <a:r>
              <a:rPr lang="en-US" dirty="0"/>
              <a:t> a set of data: the minimum score, </a:t>
            </a:r>
            <a:r>
              <a:rPr lang="en-US" dirty="0" smtClean="0"/>
              <a:t>first </a:t>
            </a:r>
            <a:r>
              <a:rPr lang="en-US" dirty="0"/>
              <a:t>quartile, median, third quartile and maximum score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63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Quartiles and Outliers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a Five Figure Summary?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What is a five number summary?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140721" y="2085531"/>
            <a:ext cx="4809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numbers that </a:t>
            </a:r>
            <a:r>
              <a:rPr lang="en-US" dirty="0" err="1"/>
              <a:t>summarise</a:t>
            </a:r>
            <a:r>
              <a:rPr lang="en-US" dirty="0"/>
              <a:t> a set of data: the minimum score, </a:t>
            </a:r>
            <a:r>
              <a:rPr lang="en-US" dirty="0" smtClean="0"/>
              <a:t>first </a:t>
            </a:r>
            <a:r>
              <a:rPr lang="en-US" dirty="0"/>
              <a:t>quartile, median, third quartile and maximum score </a:t>
            </a:r>
            <a:endParaRPr lang="en-US" dirty="0">
              <a:effectLst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82" y="3942190"/>
            <a:ext cx="7379197" cy="198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0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93849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727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36" id="{DF23AC15-5DF4-914A-AB3D-EFCE691C88C2}" vid="{2458D6BE-EF50-064C-AB0E-3A0D1802B5C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636</Template>
  <TotalTime>406</TotalTime>
  <Words>731</Words>
  <Application>Microsoft Macintosh PowerPoint</Application>
  <PresentationFormat>On-screen Show (4:3)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Diseño predeterminado</vt:lpstr>
      <vt:lpstr>PowerPoint Presentation</vt:lpstr>
      <vt:lpstr>Warm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Kath Farmer</cp:lastModifiedBy>
  <cp:revision>22</cp:revision>
  <dcterms:created xsi:type="dcterms:W3CDTF">2017-06-07T03:32:40Z</dcterms:created>
  <dcterms:modified xsi:type="dcterms:W3CDTF">2017-07-23T07:01:11Z</dcterms:modified>
</cp:coreProperties>
</file>
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58" r:id="rId6"/>
    <p:sldId id="270" r:id="rId7"/>
    <p:sldId id="271" r:id="rId8"/>
    <p:sldId id="259" r:id="rId9"/>
    <p:sldId id="269" r:id="rId10"/>
    <p:sldId id="272" r:id="rId11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6" autoAdjust="0"/>
    <p:restoredTop sz="94617" autoAdjust="0"/>
  </p:normalViewPr>
  <p:slideViewPr>
    <p:cSldViewPr>
      <p:cViewPr varScale="1">
        <p:scale>
          <a:sx n="84" d="100"/>
          <a:sy n="84" d="100"/>
        </p:scale>
        <p:origin x="84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61DDC-5327-634A-948C-8F1DA07938D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69808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C2106-0E2B-6A44-A04E-4D35E94D8C1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01070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A53AD-716A-AA47-B8EE-7233BFA07FF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8611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FA55C-E6E8-7F48-BCF9-F70A950741B2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83285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6CDBA-67E0-3643-98EE-92970B0D1C8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33535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8F7BA-4D57-B640-847D-46170811E424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4269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F19FA-CEED-3F4D-9522-4111EBFA268F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7065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FE664E-BFF8-504B-8996-7FF33C8B304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90518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4BC7D0-6F97-0348-BEEC-62506EC5D79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46853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F2E99-136F-1C4C-A8E8-2957846B661B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55556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886DD5-E443-654B-86C4-2445A380210C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5259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modificar el estilo de texto del patrón</a:t>
            </a:r>
          </a:p>
          <a:p>
            <a:pPr lvl="1"/>
            <a:r>
              <a:rPr lang="es-ES" altLang="x-none"/>
              <a:t>Segundo nivel</a:t>
            </a:r>
          </a:p>
          <a:p>
            <a:pPr lvl="2"/>
            <a:r>
              <a:rPr lang="es-ES" altLang="x-none"/>
              <a:t>Tercer nivel</a:t>
            </a:r>
          </a:p>
          <a:p>
            <a:pPr lvl="3"/>
            <a:r>
              <a:rPr lang="es-ES" altLang="x-none"/>
              <a:t>Cuarto nivel</a:t>
            </a:r>
          </a:p>
          <a:p>
            <a:pPr lvl="4"/>
            <a:r>
              <a:rPr lang="es-ES" altLang="x-none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 altLang="x-non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 altLang="x-non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7408608-F8D2-0F4E-878C-15ABD4F80B65}" type="slidenum">
              <a:rPr lang="es-ES" altLang="x-none"/>
              <a:pPr/>
              <a:t>‹#›</a:t>
            </a:fld>
            <a:endParaRPr lang="es-E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abs.gov.au/websitedbs/a3121120.nsf/home/statistical+language+-+measures+of+central+tendency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abs.gov.au/websitedbs/a3121120.nsf/home/statistical+language+-+statistical+language+glossary#Measures%20of%20central%20tendency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abs.gov.au/websitedbs/a3121120.nsf/home/statistical+language+-+statistical+language+glossary#Quantitative%20data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684213" y="5157788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s-ES" altLang="x-none" dirty="0" err="1" smtClean="0">
                <a:solidFill>
                  <a:schemeClr val="tx1"/>
                </a:solidFill>
              </a:rPr>
              <a:t>Topic</a:t>
            </a:r>
            <a:r>
              <a:rPr lang="es-ES" altLang="x-none" smtClean="0">
                <a:solidFill>
                  <a:schemeClr val="tx1"/>
                </a:solidFill>
              </a:rPr>
              <a:t>: </a:t>
            </a:r>
            <a:r>
              <a:rPr lang="es-ES" altLang="x-none" err="1" smtClean="0">
                <a:solidFill>
                  <a:schemeClr val="tx1"/>
                </a:solidFill>
              </a:rPr>
              <a:t>Statistics</a:t>
            </a:r>
            <a:r>
              <a:rPr lang="es-ES" altLang="x-none" smtClean="0">
                <a:solidFill>
                  <a:schemeClr val="tx1"/>
                </a:solidFill>
              </a:rPr>
              <a:t> &amp; Data</a:t>
            </a:r>
          </a:p>
          <a:p>
            <a:r>
              <a:rPr lang="es-ES" altLang="x-none" err="1" smtClean="0">
                <a:solidFill>
                  <a:schemeClr val="tx1"/>
                </a:solidFill>
              </a:rPr>
              <a:t>Measure</a:t>
            </a:r>
            <a:r>
              <a:rPr lang="es-ES" altLang="x-none" smtClean="0">
                <a:solidFill>
                  <a:schemeClr val="tx1"/>
                </a:solidFill>
              </a:rPr>
              <a:t> of Spread</a:t>
            </a:r>
            <a:endParaRPr lang="es-ES" altLang="x-none">
              <a:solidFill>
                <a:schemeClr val="tx1"/>
              </a:solidFill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403350" y="2276475"/>
            <a:ext cx="6400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endParaRPr lang="x-none" altLang="x-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6632"/>
            <a:ext cx="8229600" cy="864096"/>
          </a:xfrm>
        </p:spPr>
        <p:txBody>
          <a:bodyPr/>
          <a:lstStyle/>
          <a:p>
            <a:r>
              <a:rPr lang="es-UY" altLang="x-none" u="sng" smtClean="0">
                <a:solidFill>
                  <a:schemeClr val="tx1"/>
                </a:solidFill>
              </a:rPr>
              <a:t>Warm up</a:t>
            </a:r>
            <a:endParaRPr lang="es-ES" altLang="x-none" u="sng" dirty="0">
              <a:solidFill>
                <a:schemeClr val="tx1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281" y="764704"/>
            <a:ext cx="8229600" cy="1717228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x-none" dirty="0" err="1" smtClean="0"/>
              <a:t>Gallery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Walk</a:t>
            </a:r>
            <a:r>
              <a:rPr lang="es-ES" altLang="x-none" dirty="0" smtClean="0"/>
              <a:t>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x-none" sz="1800" i="1" dirty="0" smtClean="0"/>
              <a:t>Resources </a:t>
            </a:r>
            <a:r>
              <a:rPr lang="es-ES" altLang="x-none" sz="1800" i="1" dirty="0" err="1" smtClean="0"/>
              <a:t>required</a:t>
            </a:r>
            <a:r>
              <a:rPr lang="es-ES" altLang="x-none" sz="1800" i="1" dirty="0" smtClean="0"/>
              <a:t>: post </a:t>
            </a:r>
            <a:r>
              <a:rPr lang="es-ES" altLang="x-none" sz="1800" i="1" dirty="0" err="1" smtClean="0"/>
              <a:t>it</a:t>
            </a:r>
            <a:r>
              <a:rPr lang="es-ES" altLang="x-none" sz="1800" i="1" dirty="0" smtClean="0"/>
              <a:t> notes, A3 </a:t>
            </a:r>
            <a:r>
              <a:rPr lang="es-ES" altLang="x-none" sz="1800" i="1" dirty="0" err="1" smtClean="0"/>
              <a:t>paper</a:t>
            </a:r>
            <a:r>
              <a:rPr lang="es-ES" altLang="x-none" sz="1800" i="1" dirty="0" smtClean="0"/>
              <a:t>, </a:t>
            </a:r>
            <a:r>
              <a:rPr lang="es-ES" altLang="x-none" sz="1800" i="1" dirty="0" err="1" smtClean="0"/>
              <a:t>coloured</a:t>
            </a:r>
            <a:r>
              <a:rPr lang="es-ES" altLang="x-none" sz="1800" i="1" dirty="0" smtClean="0"/>
              <a:t> </a:t>
            </a:r>
            <a:r>
              <a:rPr lang="es-ES" altLang="x-none" sz="1800" i="1" dirty="0" err="1" smtClean="0"/>
              <a:t>textas</a:t>
            </a:r>
            <a:r>
              <a:rPr lang="es-ES" altLang="x-none" sz="1800" i="1" dirty="0" smtClean="0"/>
              <a:t>/pen, blue tac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altLang="x-none" sz="1000" i="1" dirty="0" smtClean="0"/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altLang="x-none" sz="2000" dirty="0" smtClean="0"/>
              <a:t>Ask </a:t>
            </a:r>
            <a:r>
              <a:rPr lang="es-ES" altLang="x-none" sz="2000" dirty="0" err="1" smtClean="0"/>
              <a:t>students</a:t>
            </a:r>
            <a:r>
              <a:rPr lang="es-ES" altLang="x-none" sz="2000" dirty="0" smtClean="0"/>
              <a:t> to </a:t>
            </a:r>
            <a:r>
              <a:rPr lang="es-ES" altLang="x-none" sz="2000" dirty="0" err="1" smtClean="0"/>
              <a:t>consider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the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question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on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next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slide</a:t>
            </a:r>
            <a:r>
              <a:rPr lang="es-ES" altLang="x-none" sz="2000" dirty="0" smtClean="0"/>
              <a:t> and </a:t>
            </a:r>
            <a:r>
              <a:rPr lang="es-ES" altLang="x-none" sz="2000" dirty="0" err="1" smtClean="0"/>
              <a:t>have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them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consider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the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answer</a:t>
            </a:r>
            <a:r>
              <a:rPr lang="es-ES" altLang="x-none" sz="2000" dirty="0" smtClean="0"/>
              <a:t> and </a:t>
            </a:r>
            <a:r>
              <a:rPr lang="es-ES" altLang="x-none" sz="2000" dirty="0" err="1" smtClean="0"/>
              <a:t>jot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down</a:t>
            </a:r>
            <a:r>
              <a:rPr lang="es-ES" altLang="x-none" sz="2000" dirty="0" smtClean="0"/>
              <a:t> a </a:t>
            </a:r>
            <a:r>
              <a:rPr lang="es-ES" altLang="x-none" sz="2000" dirty="0" err="1" smtClean="0"/>
              <a:t>few</a:t>
            </a:r>
            <a:r>
              <a:rPr lang="es-ES" altLang="x-none" sz="2000" dirty="0" smtClean="0"/>
              <a:t> ideas </a:t>
            </a:r>
            <a:r>
              <a:rPr lang="es-ES" altLang="x-none" sz="2000" dirty="0" err="1" smtClean="0"/>
              <a:t>on</a:t>
            </a:r>
            <a:r>
              <a:rPr lang="es-ES" altLang="x-none" sz="2000" dirty="0" smtClean="0"/>
              <a:t> a post-</a:t>
            </a:r>
            <a:r>
              <a:rPr lang="es-ES" altLang="x-none" sz="2000" dirty="0" err="1" smtClean="0"/>
              <a:t>it</a:t>
            </a:r>
            <a:r>
              <a:rPr lang="es-ES" altLang="x-none" sz="2000" dirty="0" smtClean="0"/>
              <a:t> note.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altLang="x-none" sz="2000" dirty="0" err="1" smtClean="0"/>
              <a:t>Number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students</a:t>
            </a:r>
            <a:r>
              <a:rPr lang="es-ES" altLang="x-none" sz="2000" dirty="0" smtClean="0"/>
              <a:t> off </a:t>
            </a:r>
            <a:r>
              <a:rPr lang="es-ES" altLang="x-none" sz="2000" dirty="0" err="1" smtClean="0"/>
              <a:t>into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groups</a:t>
            </a:r>
            <a:r>
              <a:rPr lang="es-ES" altLang="x-none" sz="2000" dirty="0" smtClean="0"/>
              <a:t> of 4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altLang="x-none" sz="2000" dirty="0" smtClean="0"/>
              <a:t>Hand out A3 </a:t>
            </a:r>
            <a:r>
              <a:rPr lang="es-ES" altLang="x-none" sz="2000" dirty="0" err="1" smtClean="0"/>
              <a:t>paper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one</a:t>
            </a:r>
            <a:r>
              <a:rPr lang="es-ES" altLang="x-none" sz="2000" dirty="0" smtClean="0"/>
              <a:t> per </a:t>
            </a:r>
            <a:r>
              <a:rPr lang="es-ES" altLang="x-none" sz="2000" dirty="0" err="1" smtClean="0"/>
              <a:t>group</a:t>
            </a:r>
            <a:r>
              <a:rPr lang="es-ES" altLang="x-none" sz="2000" dirty="0" smtClean="0"/>
              <a:t>. Divide </a:t>
            </a:r>
            <a:r>
              <a:rPr lang="es-ES" altLang="x-none" sz="2000" dirty="0" err="1" smtClean="0"/>
              <a:t>the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sheet</a:t>
            </a:r>
            <a:r>
              <a:rPr lang="es-ES" altLang="x-none" sz="2000" dirty="0" smtClean="0"/>
              <a:t> in 1/3, 2/3 </a:t>
            </a:r>
            <a:r>
              <a:rPr lang="es-ES" altLang="x-none" sz="2000" dirty="0" err="1" smtClean="0"/>
              <a:t>split</a:t>
            </a:r>
            <a:endParaRPr lang="es-ES" altLang="x-none" sz="2000" dirty="0" smtClean="0"/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s-ES" altLang="x-none" sz="2000" dirty="0" err="1" smtClean="0"/>
              <a:t>Allow</a:t>
            </a:r>
            <a:r>
              <a:rPr lang="es-ES" altLang="x-none" sz="2000" dirty="0" smtClean="0"/>
              <a:t> time to </a:t>
            </a:r>
            <a:r>
              <a:rPr lang="es-ES" altLang="x-none" sz="2000" dirty="0" err="1" smtClean="0"/>
              <a:t>collabortively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discuss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the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question</a:t>
            </a:r>
            <a:r>
              <a:rPr lang="es-ES" altLang="x-none" sz="2000" dirty="0" smtClean="0"/>
              <a:t> and </a:t>
            </a:r>
            <a:r>
              <a:rPr lang="es-ES" altLang="x-none" sz="2000" dirty="0" err="1" smtClean="0"/>
              <a:t>present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their</a:t>
            </a:r>
            <a:r>
              <a:rPr lang="es-ES" altLang="x-none" sz="2000" dirty="0" smtClean="0"/>
              <a:t> ideas and In </a:t>
            </a:r>
            <a:r>
              <a:rPr lang="es-ES" altLang="x-none" sz="2000" dirty="0" err="1"/>
              <a:t>the</a:t>
            </a:r>
            <a:r>
              <a:rPr lang="es-ES" altLang="x-none" sz="2000" dirty="0"/>
              <a:t> </a:t>
            </a:r>
            <a:r>
              <a:rPr lang="es-ES" altLang="x-none" sz="2000" dirty="0" err="1"/>
              <a:t>bottom</a:t>
            </a:r>
            <a:r>
              <a:rPr lang="es-ES" altLang="x-none" sz="2000" dirty="0"/>
              <a:t> </a:t>
            </a:r>
            <a:r>
              <a:rPr lang="es-ES" altLang="x-none" sz="2000" dirty="0" smtClean="0"/>
              <a:t>2/3rd’s</a:t>
            </a:r>
            <a:r>
              <a:rPr lang="es-ES" altLang="x-none" sz="2000" dirty="0"/>
              <a:t>-</a:t>
            </a:r>
            <a:r>
              <a:rPr lang="es-ES" altLang="x-none" sz="2000" dirty="0" smtClean="0"/>
              <a:t>Have </a:t>
            </a:r>
            <a:r>
              <a:rPr lang="es-ES" altLang="x-none" sz="2000" dirty="0" err="1" smtClean="0"/>
              <a:t>students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create</a:t>
            </a:r>
            <a:r>
              <a:rPr lang="es-ES" altLang="x-none" sz="2000" dirty="0" smtClean="0"/>
              <a:t> a poster of </a:t>
            </a:r>
            <a:r>
              <a:rPr lang="es-ES" altLang="x-none" sz="2000" dirty="0" err="1" smtClean="0"/>
              <a:t>all</a:t>
            </a:r>
            <a:r>
              <a:rPr lang="es-ES" altLang="x-none" sz="2000" dirty="0" smtClean="0"/>
              <a:t> ideas </a:t>
            </a:r>
            <a:r>
              <a:rPr lang="es-ES" altLang="x-none" sz="2000" dirty="0" err="1" smtClean="0"/>
              <a:t>they</a:t>
            </a:r>
            <a:r>
              <a:rPr lang="es-ES" altLang="x-none" sz="2000" dirty="0" smtClean="0"/>
              <a:t> can </a:t>
            </a:r>
            <a:r>
              <a:rPr lang="es-ES" altLang="x-none" sz="2000" dirty="0" err="1" smtClean="0"/>
              <a:t>think</a:t>
            </a:r>
            <a:r>
              <a:rPr lang="es-ES" altLang="x-none" sz="2000" dirty="0" smtClean="0"/>
              <a:t> of </a:t>
            </a:r>
            <a:r>
              <a:rPr lang="es-ES" altLang="x-none" sz="2000" dirty="0" err="1" smtClean="0"/>
              <a:t>related</a:t>
            </a:r>
            <a:r>
              <a:rPr lang="es-ES" altLang="x-none" sz="2000" dirty="0" smtClean="0"/>
              <a:t> to </a:t>
            </a:r>
            <a:r>
              <a:rPr lang="es-ES" altLang="x-none" sz="2000" dirty="0" err="1" smtClean="0"/>
              <a:t>answering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the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question</a:t>
            </a:r>
            <a:r>
              <a:rPr lang="es-ES" altLang="x-none" sz="2000" dirty="0" smtClean="0"/>
              <a:t>.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s-ES" altLang="x-none" sz="2000" dirty="0" smtClean="0"/>
              <a:t>Pin </a:t>
            </a:r>
            <a:r>
              <a:rPr lang="es-ES" altLang="x-none" sz="2000" dirty="0" err="1" smtClean="0"/>
              <a:t>these</a:t>
            </a:r>
            <a:r>
              <a:rPr lang="es-ES" altLang="x-none" sz="2000" dirty="0" smtClean="0"/>
              <a:t> posters up </a:t>
            </a:r>
            <a:r>
              <a:rPr lang="es-ES" altLang="x-none" sz="2000" dirty="0" err="1" smtClean="0"/>
              <a:t>around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the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room</a:t>
            </a:r>
            <a:r>
              <a:rPr lang="es-ES" altLang="x-none" sz="2000" dirty="0"/>
              <a:t>.</a:t>
            </a:r>
            <a:endParaRPr lang="es-ES" altLang="x-none" sz="2000" dirty="0" smtClean="0"/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altLang="x-none" sz="2000" dirty="0" err="1" smtClean="0"/>
              <a:t>Allow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students</a:t>
            </a:r>
            <a:r>
              <a:rPr lang="es-ES" altLang="x-none" sz="2000" dirty="0" smtClean="0"/>
              <a:t> to complete a </a:t>
            </a:r>
            <a:r>
              <a:rPr lang="es-ES" altLang="x-none" sz="2000" dirty="0" err="1" smtClean="0"/>
              <a:t>gallery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walk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viewing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others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people’s</a:t>
            </a:r>
            <a:r>
              <a:rPr lang="es-ES" altLang="x-none" sz="2000" dirty="0" smtClean="0"/>
              <a:t> responses.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altLang="x-none" sz="2000" dirty="0" err="1" smtClean="0"/>
              <a:t>Finally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return</a:t>
            </a:r>
            <a:r>
              <a:rPr lang="es-ES" altLang="x-none" sz="2000" dirty="0" smtClean="0"/>
              <a:t> to original </a:t>
            </a:r>
            <a:r>
              <a:rPr lang="es-ES" altLang="x-none" sz="2000" dirty="0" err="1" smtClean="0"/>
              <a:t>groups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allow</a:t>
            </a:r>
            <a:r>
              <a:rPr lang="es-ES" altLang="x-none" sz="2000" dirty="0" smtClean="0"/>
              <a:t> time to alter </a:t>
            </a:r>
            <a:r>
              <a:rPr lang="es-ES" altLang="x-none" sz="2000" dirty="0" err="1" smtClean="0"/>
              <a:t>or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review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the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team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resonse</a:t>
            </a:r>
            <a:r>
              <a:rPr lang="es-ES" altLang="x-none" sz="2000" dirty="0" smtClean="0"/>
              <a:t>. </a:t>
            </a:r>
            <a:r>
              <a:rPr lang="es-ES" altLang="x-none" sz="2000" dirty="0" err="1" smtClean="0"/>
              <a:t>Create</a:t>
            </a:r>
            <a:r>
              <a:rPr lang="es-ES" altLang="x-none" sz="2000" dirty="0" smtClean="0"/>
              <a:t> a final response to </a:t>
            </a:r>
            <a:r>
              <a:rPr lang="es-ES" altLang="x-none" sz="2000" dirty="0" err="1" smtClean="0"/>
              <a:t>the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qustion</a:t>
            </a:r>
            <a:r>
              <a:rPr lang="es-ES" altLang="x-none" sz="2000" dirty="0" smtClean="0"/>
              <a:t> in </a:t>
            </a:r>
            <a:r>
              <a:rPr lang="es-ES" altLang="x-none" sz="2000" dirty="0" err="1" smtClean="0"/>
              <a:t>the</a:t>
            </a:r>
            <a:r>
              <a:rPr lang="es-ES" altLang="x-none" sz="2000" dirty="0" smtClean="0"/>
              <a:t> top 1/3 of </a:t>
            </a:r>
            <a:r>
              <a:rPr lang="es-ES" altLang="x-none" sz="2000" dirty="0" err="1" smtClean="0"/>
              <a:t>the</a:t>
            </a:r>
            <a:r>
              <a:rPr lang="es-ES" altLang="x-none" sz="2000" dirty="0" smtClean="0"/>
              <a:t> poster. 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altLang="x-none" sz="2000" dirty="0" err="1" smtClean="0"/>
              <a:t>Randomly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choose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someone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fromt</a:t>
            </a:r>
            <a:r>
              <a:rPr lang="es-ES" altLang="x-none" sz="2000" dirty="0" smtClean="0"/>
              <a:t> he </a:t>
            </a:r>
            <a:r>
              <a:rPr lang="es-ES" altLang="x-none" sz="2000" dirty="0" err="1" smtClean="0"/>
              <a:t>group</a:t>
            </a:r>
            <a:r>
              <a:rPr lang="es-ES" altLang="x-none" sz="2000" dirty="0" smtClean="0"/>
              <a:t> to </a:t>
            </a:r>
            <a:r>
              <a:rPr lang="es-ES" altLang="x-none" sz="2000" dirty="0" err="1"/>
              <a:t>p</a:t>
            </a:r>
            <a:r>
              <a:rPr lang="es-ES" altLang="x-none" sz="2000" dirty="0" err="1" smtClean="0"/>
              <a:t>resent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this</a:t>
            </a:r>
            <a:r>
              <a:rPr lang="es-ES" altLang="x-none" sz="2000" dirty="0" smtClean="0"/>
              <a:t> response to </a:t>
            </a:r>
            <a:r>
              <a:rPr lang="es-ES" altLang="x-none" sz="2000" dirty="0" err="1" smtClean="0"/>
              <a:t>the</a:t>
            </a:r>
            <a:r>
              <a:rPr lang="es-ES" altLang="x-none" sz="2000" dirty="0" smtClean="0"/>
              <a:t> </a:t>
            </a:r>
            <a:r>
              <a:rPr lang="es-ES" altLang="x-none" sz="2000" dirty="0" err="1" smtClean="0"/>
              <a:t>class</a:t>
            </a:r>
            <a:r>
              <a:rPr lang="es-ES" altLang="x-none" sz="2000" dirty="0" smtClean="0"/>
              <a:t>.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ES" altLang="x-none" sz="2400" dirty="0" smtClean="0"/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ES" altLang="x-none" sz="2400" dirty="0" smtClean="0"/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ES" altLang="x-none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r>
              <a:rPr lang="es-UY" altLang="x-none" u="sng" smtClean="0">
                <a:solidFill>
                  <a:schemeClr val="tx1"/>
                </a:solidFill>
              </a:rPr>
              <a:t>Warm up</a:t>
            </a:r>
            <a:endParaRPr lang="es-ES" altLang="x-none" u="sng">
              <a:solidFill>
                <a:schemeClr val="tx1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06759"/>
            <a:ext cx="8229600" cy="1717228"/>
          </a:xfrm>
        </p:spPr>
        <p:txBody>
          <a:bodyPr/>
          <a:lstStyle/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A real estate agent tells you that the median house price for a suburb in 2012 was </a:t>
            </a:r>
            <a:endParaRPr lang="en-US" smtClean="0"/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mtClean="0"/>
              <a:t>$</a:t>
            </a:r>
            <a:r>
              <a:rPr lang="en-US"/>
              <a:t>753 000 and the mean was $948 000.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altLang="x-none"/>
          </a:p>
        </p:txBody>
      </p:sp>
      <p:sp>
        <p:nvSpPr>
          <p:cNvPr id="2" name="TextBox 1"/>
          <p:cNvSpPr txBox="1"/>
          <p:nvPr/>
        </p:nvSpPr>
        <p:spPr>
          <a:xfrm>
            <a:off x="468313" y="3565200"/>
            <a:ext cx="6733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Is it possible for the median and the mean to differ by so much? </a:t>
            </a:r>
          </a:p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6169" y="4205280"/>
            <a:ext cx="5698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Under what circumstances could this occur? Discuss.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2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1928"/>
            <a:ext cx="8229600" cy="1143000"/>
          </a:xfrm>
        </p:spPr>
        <p:txBody>
          <a:bodyPr/>
          <a:lstStyle/>
          <a:p>
            <a:r>
              <a:rPr lang="en-US" dirty="0" smtClean="0"/>
              <a:t>Key ideas-teaching </a:t>
            </a:r>
            <a:r>
              <a:rPr lang="en-US" dirty="0" smtClean="0"/>
              <a:t>information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4525963"/>
          </a:xfrm>
        </p:spPr>
        <p:txBody>
          <a:bodyPr/>
          <a:lstStyle/>
          <a:p>
            <a:r>
              <a:rPr lang="en-US" sz="1600" b="1" dirty="0"/>
              <a:t>A measure of central tendency (also referred to as measures of </a:t>
            </a:r>
            <a:r>
              <a:rPr lang="en-US" sz="1600" b="1" dirty="0" err="1"/>
              <a:t>centre</a:t>
            </a:r>
            <a:r>
              <a:rPr lang="en-US" sz="1600" b="1" dirty="0"/>
              <a:t> or central location) is a summary measure that attempts to describe a whole set of data with a single value that represents the middle or </a:t>
            </a:r>
            <a:r>
              <a:rPr lang="en-US" sz="1600" b="1" dirty="0" err="1"/>
              <a:t>centre</a:t>
            </a:r>
            <a:r>
              <a:rPr lang="en-US" sz="1600" b="1" dirty="0"/>
              <a:t> of its distribution.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There are three main measures of central tendency: the mode, the median and the mean. Each of these measures describes a different indication of the typical or central value in the distribution. </a:t>
            </a:r>
            <a:r>
              <a:rPr lang="en-US" sz="1600" dirty="0" smtClean="0"/>
              <a:t>The </a:t>
            </a:r>
            <a:r>
              <a:rPr lang="en-US" sz="1600" dirty="0"/>
              <a:t>mean, median and mode are all valid measures of central tendency, but under different conditions, some measures of central tendency become more appropriate to use than others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The mean (or average) is the most popular and well known measure of central tendency. </a:t>
            </a:r>
            <a:endParaRPr lang="en-US" sz="1600" dirty="0" smtClean="0"/>
          </a:p>
          <a:p>
            <a:r>
              <a:rPr lang="en-US" sz="1600" dirty="0"/>
              <a:t>The mean has one main disadvantage: it is particularly susceptible to the influence of outliers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The median is the middle score for a set of data that has been arranged in order of </a:t>
            </a:r>
            <a:r>
              <a:rPr lang="en-US" sz="1600" dirty="0" smtClean="0"/>
              <a:t>magnitude</a:t>
            </a:r>
            <a:r>
              <a:rPr lang="en-US" sz="1600" dirty="0"/>
              <a:t>. The median is less affected by outliers and skewed data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The mode is the most frequent score in our data set. You can, therefore, sometimes consider the mode as being the most popular option. </a:t>
            </a:r>
            <a:endParaRPr lang="en-US" sz="1600" dirty="0" smtClean="0"/>
          </a:p>
          <a:p>
            <a:r>
              <a:rPr lang="en-US" sz="1600" dirty="0" err="1" smtClean="0"/>
              <a:t>Uselful</a:t>
            </a:r>
            <a:r>
              <a:rPr lang="en-US" sz="1600" dirty="0" smtClean="0"/>
              <a:t> website</a:t>
            </a:r>
          </a:p>
          <a:p>
            <a:r>
              <a:rPr lang="en-US" sz="1600" dirty="0" smtClean="0">
                <a:hlinkClick r:id="rId2"/>
              </a:rPr>
              <a:t>http</a:t>
            </a:r>
            <a:r>
              <a:rPr lang="en-US" sz="1600" dirty="0">
                <a:hlinkClick r:id="rId2"/>
              </a:rPr>
              <a:t>://www.abs.gov.au/websitedbs/a3121120.nsf/home/statistical+language+-+</a:t>
            </a:r>
            <a:r>
              <a:rPr lang="en-US" sz="1600" dirty="0" smtClean="0">
                <a:hlinkClick r:id="rId2"/>
              </a:rPr>
              <a:t>measures+of+central+tendency</a:t>
            </a:r>
            <a:endParaRPr lang="en-US" sz="1600" dirty="0" smtClean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3238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r>
              <a:rPr lang="es-UY" altLang="x-none" smtClean="0">
                <a:solidFill>
                  <a:schemeClr val="tx1"/>
                </a:solidFill>
              </a:rPr>
              <a:t>Direct Teaching</a:t>
            </a:r>
            <a:endParaRPr lang="es-ES" altLang="x-none">
              <a:solidFill>
                <a:schemeClr val="tx1"/>
              </a:solidFill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73238"/>
            <a:ext cx="8229600" cy="4525962"/>
          </a:xfrm>
        </p:spPr>
        <p:txBody>
          <a:bodyPr/>
          <a:lstStyle/>
          <a:p>
            <a:r>
              <a:rPr lang="es-ES" altLang="x-none" dirty="0" err="1" smtClean="0"/>
              <a:t>Other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important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information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we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gain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from</a:t>
            </a:r>
            <a:r>
              <a:rPr lang="es-ES" altLang="x-none" dirty="0" smtClean="0"/>
              <a:t> data </a:t>
            </a:r>
            <a:r>
              <a:rPr lang="es-ES" altLang="x-none" dirty="0" err="1" smtClean="0"/>
              <a:t>is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how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much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the</a:t>
            </a:r>
            <a:r>
              <a:rPr lang="es-ES" altLang="x-none" dirty="0" smtClean="0"/>
              <a:t> data </a:t>
            </a:r>
            <a:r>
              <a:rPr lang="es-ES" altLang="x-none" dirty="0" err="1" smtClean="0"/>
              <a:t>is</a:t>
            </a:r>
            <a:r>
              <a:rPr lang="es-ES" altLang="x-none" dirty="0" smtClean="0"/>
              <a:t> spread.</a:t>
            </a:r>
          </a:p>
          <a:p>
            <a:r>
              <a:rPr lang="es-ES" altLang="x-none" dirty="0" err="1" smtClean="0"/>
              <a:t>Discuss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the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difference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between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the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measure</a:t>
            </a:r>
            <a:r>
              <a:rPr lang="es-ES" altLang="x-none" dirty="0" smtClean="0"/>
              <a:t> of central </a:t>
            </a:r>
            <a:r>
              <a:rPr lang="es-ES" altLang="x-none" dirty="0" err="1" smtClean="0"/>
              <a:t>tendancy</a:t>
            </a:r>
            <a:r>
              <a:rPr lang="es-ES" altLang="x-none" dirty="0" smtClean="0"/>
              <a:t> and </a:t>
            </a:r>
            <a:r>
              <a:rPr lang="es-ES" altLang="x-none" dirty="0" err="1" smtClean="0"/>
              <a:t>measure</a:t>
            </a:r>
            <a:r>
              <a:rPr lang="es-ES" altLang="x-none" dirty="0" smtClean="0"/>
              <a:t> of spread.</a:t>
            </a:r>
          </a:p>
          <a:p>
            <a:r>
              <a:rPr lang="es-ES" altLang="x-none" dirty="0" err="1" smtClean="0"/>
              <a:t>Why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might</a:t>
            </a:r>
            <a:r>
              <a:rPr lang="es-ES" altLang="x-none" dirty="0" smtClean="0"/>
              <a:t> </a:t>
            </a:r>
            <a:r>
              <a:rPr lang="es-ES" altLang="x-none" dirty="0" err="1" smtClean="0"/>
              <a:t>measure</a:t>
            </a:r>
            <a:r>
              <a:rPr lang="es-ES" altLang="x-none" dirty="0" smtClean="0"/>
              <a:t> of spread be </a:t>
            </a:r>
            <a:r>
              <a:rPr lang="es-ES" altLang="x-none" dirty="0" err="1" smtClean="0"/>
              <a:t>useful</a:t>
            </a:r>
            <a:r>
              <a:rPr lang="es-ES" altLang="x-none" dirty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do we measure spread?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Summarising</a:t>
            </a:r>
            <a:r>
              <a:rPr lang="en-US" sz="2000" dirty="0"/>
              <a:t> the dataset can help us understand the data, especially when the dataset is large. </a:t>
            </a:r>
            <a:endParaRPr lang="en-US" sz="2000" dirty="0" smtClean="0"/>
          </a:p>
          <a:p>
            <a:r>
              <a:rPr lang="en-US" sz="2000" dirty="0" smtClean="0"/>
              <a:t>As </a:t>
            </a:r>
            <a:r>
              <a:rPr lang="en-US" sz="2000" dirty="0"/>
              <a:t>discussed in the </a:t>
            </a:r>
            <a:r>
              <a:rPr lang="en-US" sz="2000" dirty="0">
                <a:hlinkClick r:id="rId2"/>
              </a:rPr>
              <a:t>Measures of Central Tendency</a:t>
            </a:r>
            <a:r>
              <a:rPr lang="en-US" sz="2000" dirty="0"/>
              <a:t> page, the mode, median, and mean </a:t>
            </a:r>
            <a:r>
              <a:rPr lang="en-US" sz="2000" dirty="0" err="1"/>
              <a:t>summarise</a:t>
            </a:r>
            <a:r>
              <a:rPr lang="en-US" sz="2000" dirty="0"/>
              <a:t> the data into a single value that is typical or representative of all the values in the dataset, but this is only part of the 'picture' that </a:t>
            </a:r>
            <a:r>
              <a:rPr lang="en-US" sz="2000" dirty="0" err="1"/>
              <a:t>summarises</a:t>
            </a:r>
            <a:r>
              <a:rPr lang="en-US" sz="2000" dirty="0"/>
              <a:t> a dataset. </a:t>
            </a:r>
            <a:endParaRPr lang="en-US" sz="2000" dirty="0" smtClean="0"/>
          </a:p>
          <a:p>
            <a:r>
              <a:rPr lang="en-US" sz="2000" dirty="0" smtClean="0"/>
              <a:t>Measures </a:t>
            </a:r>
            <a:r>
              <a:rPr lang="en-US" sz="2000" dirty="0"/>
              <a:t>of spread </a:t>
            </a:r>
            <a:r>
              <a:rPr lang="en-US" sz="2000" dirty="0" err="1"/>
              <a:t>summarise</a:t>
            </a:r>
            <a:r>
              <a:rPr lang="en-US" sz="2000" dirty="0"/>
              <a:t> the data in a way that shows how scattered the values are and how much they differ from the mean value.</a:t>
            </a:r>
          </a:p>
        </p:txBody>
      </p:sp>
    </p:spTree>
    <p:extLst>
      <p:ext uri="{BB962C8B-B14F-4D97-AF65-F5344CB8AC3E}">
        <p14:creationId xmlns:p14="http://schemas.microsoft.com/office/powerpoint/2010/main" val="1631548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274638"/>
            <a:ext cx="8791781" cy="5746650"/>
          </a:xfrm>
        </p:spPr>
      </p:pic>
    </p:spTree>
    <p:extLst>
      <p:ext uri="{BB962C8B-B14F-4D97-AF65-F5344CB8AC3E}">
        <p14:creationId xmlns:p14="http://schemas.microsoft.com/office/powerpoint/2010/main" val="94190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14694" y="1237206"/>
            <a:ext cx="8229600" cy="1143000"/>
          </a:xfrm>
        </p:spPr>
        <p:txBody>
          <a:bodyPr/>
          <a:lstStyle/>
          <a:p>
            <a:r>
              <a:rPr lang="es-UY" altLang="x-none" sz="3200" dirty="0" smtClean="0">
                <a:solidFill>
                  <a:schemeClr val="tx1"/>
                </a:solidFill>
              </a:rPr>
              <a:t>EQ:What are some important measure when looking at data analysis</a:t>
            </a:r>
            <a:r>
              <a:rPr lang="es-UY" sz="3200" b="1" dirty="0" smtClean="0"/>
              <a:t>?</a:t>
            </a:r>
            <a:r>
              <a:rPr lang="es-UY" sz="3200" dirty="0" smtClean="0"/>
              <a:t> </a:t>
            </a:r>
            <a:r>
              <a:rPr lang="es-UY" dirty="0"/>
              <a:t/>
            </a:r>
            <a:br>
              <a:rPr lang="es-UY" dirty="0"/>
            </a:br>
            <a:r>
              <a:rPr lang="es-UY" altLang="x-none" dirty="0" smtClean="0">
                <a:solidFill>
                  <a:schemeClr val="tx1"/>
                </a:solidFill>
              </a:rPr>
              <a:t> </a:t>
            </a:r>
            <a:endParaRPr lang="es-ES" altLang="x-none" dirty="0">
              <a:solidFill>
                <a:schemeClr val="tx1"/>
              </a:solidFill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49311" y="239871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s-UY" sz="4000" b="1" u="sng" dirty="0" smtClean="0">
                <a:solidFill>
                  <a:schemeClr val="tx1"/>
                </a:solidFill>
              </a:rPr>
              <a:t>Note Taking:</a:t>
            </a:r>
            <a:r>
              <a:rPr lang="es-UY" sz="4000" b="1" u="sng" dirty="0" smtClean="0"/>
              <a:t/>
            </a:r>
            <a:br>
              <a:rPr lang="es-UY" sz="4000" b="1" u="sng" dirty="0" smtClean="0"/>
            </a:br>
            <a:r>
              <a:rPr lang="es-UY" altLang="x-none" dirty="0" smtClean="0">
                <a:solidFill>
                  <a:schemeClr val="tx1"/>
                </a:solidFill>
              </a:rPr>
              <a:t> </a:t>
            </a:r>
            <a:endParaRPr lang="es-ES" altLang="x-none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419871" y="2095589"/>
            <a:ext cx="548980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33333"/>
                </a:solidFill>
              </a:rPr>
              <a:t>Measures of spread describe how similar or varied the set of observed values are for a particular </a:t>
            </a:r>
            <a:r>
              <a:rPr lang="en-US" b="1" dirty="0" smtClean="0">
                <a:solidFill>
                  <a:srgbClr val="934E9C"/>
                </a:solidFill>
              </a:rPr>
              <a:t>set of data.</a:t>
            </a:r>
            <a:r>
              <a:rPr lang="en-US" dirty="0">
                <a:solidFill>
                  <a:srgbClr val="333333"/>
                </a:solidFill>
              </a:rPr>
              <a:t> </a:t>
            </a:r>
            <a:endParaRPr lang="en-US" dirty="0" smtClean="0">
              <a:solidFill>
                <a:srgbClr val="333333"/>
              </a:solidFill>
            </a:endParaRPr>
          </a:p>
          <a:p>
            <a:endParaRPr lang="en-US" dirty="0">
              <a:solidFill>
                <a:srgbClr val="333333"/>
              </a:solidFill>
            </a:endParaRPr>
          </a:p>
          <a:p>
            <a:r>
              <a:rPr lang="en-US" dirty="0" smtClean="0">
                <a:solidFill>
                  <a:srgbClr val="333333"/>
                </a:solidFill>
              </a:rPr>
              <a:t>Measures </a:t>
            </a:r>
            <a:r>
              <a:rPr lang="en-US" dirty="0">
                <a:solidFill>
                  <a:srgbClr val="333333"/>
                </a:solidFill>
              </a:rPr>
              <a:t>of spread </a:t>
            </a:r>
            <a:r>
              <a:rPr lang="en-US" dirty="0" smtClean="0">
                <a:solidFill>
                  <a:srgbClr val="333333"/>
                </a:solidFill>
              </a:rPr>
              <a:t>include the</a:t>
            </a:r>
            <a:r>
              <a:rPr lang="en-US" dirty="0">
                <a:solidFill>
                  <a:srgbClr val="333333"/>
                </a:solidFill>
              </a:rPr>
              <a:t> range, quartiles and the interquartile range, variance and standard deviation.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49311" y="2090172"/>
            <a:ext cx="2332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What are measures of spread?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3528" y="548680"/>
            <a:ext cx="2332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When can we measure spread?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47864" y="578416"/>
            <a:ext cx="54898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spread of the values can be measured for </a:t>
            </a:r>
            <a:r>
              <a:rPr lang="en-US" dirty="0">
                <a:hlinkClick r:id="rId2"/>
              </a:rPr>
              <a:t>quantitative data</a:t>
            </a:r>
            <a:r>
              <a:rPr lang="en-US" dirty="0"/>
              <a:t>, as the variables are numeric and can be arranged into a logical order with a low end value and a high end value.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3528" y="2636912"/>
            <a:ext cx="1800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/>
              <a:t>What is the Range?  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3347864" y="2511028"/>
            <a:ext cx="54898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333333"/>
                </a:solidFill>
              </a:rPr>
              <a:t>Range is the most common measure of spread.</a:t>
            </a:r>
          </a:p>
          <a:p>
            <a:r>
              <a:rPr lang="en-US" dirty="0" smtClean="0">
                <a:solidFill>
                  <a:srgbClr val="333333"/>
                </a:solidFill>
              </a:rPr>
              <a:t>The range is the difference between the smallest value and the largest value in a dataset.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415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04665"/>
            <a:ext cx="8136904" cy="30975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388" y="908720"/>
            <a:ext cx="3759200" cy="774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00" y="3035300"/>
            <a:ext cx="3708400" cy="787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38" y="4221088"/>
            <a:ext cx="6769100" cy="368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182" y="2066295"/>
            <a:ext cx="66421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0908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636" id="{DF23AC15-5DF4-914A-AB3D-EFCE691C88C2}" vid="{2458D6BE-EF50-064C-AB0E-3A0D1802B5C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636</Template>
  <TotalTime>389</TotalTime>
  <Words>350</Words>
  <Application>Microsoft Macintosh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Diseño predeterminado</vt:lpstr>
      <vt:lpstr>PowerPoint Presentation</vt:lpstr>
      <vt:lpstr>Warm up</vt:lpstr>
      <vt:lpstr>Warm up</vt:lpstr>
      <vt:lpstr>Key ideas-teaching information </vt:lpstr>
      <vt:lpstr>Direct Teaching</vt:lpstr>
      <vt:lpstr>Why do we measure spread? </vt:lpstr>
      <vt:lpstr>PowerPoint Presentation</vt:lpstr>
      <vt:lpstr>EQ:What are some important measure when looking at data analysis? 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 Farmer</dc:creator>
  <cp:lastModifiedBy>Kath Farmer</cp:lastModifiedBy>
  <cp:revision>20</cp:revision>
  <dcterms:created xsi:type="dcterms:W3CDTF">2017-06-07T03:32:40Z</dcterms:created>
  <dcterms:modified xsi:type="dcterms:W3CDTF">2017-07-23T06:58:46Z</dcterms:modified>
</cp:coreProperties>
</file>
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9" r:id="rId2"/>
    <p:sldId id="306" r:id="rId3"/>
    <p:sldId id="307" r:id="rId4"/>
    <p:sldId id="288" r:id="rId5"/>
    <p:sldId id="308" r:id="rId6"/>
    <p:sldId id="257" r:id="rId7"/>
    <p:sldId id="290" r:id="rId8"/>
    <p:sldId id="30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3DBBBD-492C-4760-9D86-8A5FF1EC27E6}" v="163" dt="2018-06-02T08:23:44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" userId="38e27ca1fc287518" providerId="LiveId" clId="{BF3DBBBD-492C-4760-9D86-8A5FF1EC27E6}"/>
    <pc:docChg chg="custSel modSld">
      <pc:chgData name="Toby" userId="38e27ca1fc287518" providerId="LiveId" clId="{BF3DBBBD-492C-4760-9D86-8A5FF1EC27E6}" dt="2018-06-02T08:23:44.297" v="161" actId="20577"/>
      <pc:docMkLst>
        <pc:docMk/>
      </pc:docMkLst>
      <pc:sldChg chg="modSp">
        <pc:chgData name="Toby" userId="38e27ca1fc287518" providerId="LiveId" clId="{BF3DBBBD-492C-4760-9D86-8A5FF1EC27E6}" dt="2018-06-02T08:18:08.337" v="0" actId="27636"/>
        <pc:sldMkLst>
          <pc:docMk/>
          <pc:sldMk cId="506761459" sldId="289"/>
        </pc:sldMkLst>
        <pc:spChg chg="mod">
          <ac:chgData name="Toby" userId="38e27ca1fc287518" providerId="LiveId" clId="{BF3DBBBD-492C-4760-9D86-8A5FF1EC27E6}" dt="2018-06-02T08:18:08.337" v="0" actId="27636"/>
          <ac:spMkLst>
            <pc:docMk/>
            <pc:sldMk cId="506761459" sldId="289"/>
            <ac:spMk id="3" creationId="{00000000-0000-0000-0000-000000000000}"/>
          </ac:spMkLst>
        </pc:spChg>
      </pc:sldChg>
      <pc:sldChg chg="modSp">
        <pc:chgData name="Toby" userId="38e27ca1fc287518" providerId="LiveId" clId="{BF3DBBBD-492C-4760-9D86-8A5FF1EC27E6}" dt="2018-06-02T08:23:44.297" v="161" actId="20577"/>
        <pc:sldMkLst>
          <pc:docMk/>
          <pc:sldMk cId="1485369653" sldId="300"/>
        </pc:sldMkLst>
        <pc:spChg chg="mod">
          <ac:chgData name="Toby" userId="38e27ca1fc287518" providerId="LiveId" clId="{BF3DBBBD-492C-4760-9D86-8A5FF1EC27E6}" dt="2018-06-02T08:23:44.297" v="161" actId="20577"/>
          <ac:spMkLst>
            <pc:docMk/>
            <pc:sldMk cId="1485369653" sldId="300"/>
            <ac:spMk id="3" creationId="{38BF123A-6D89-47FF-AE67-0D2BBA526F6E}"/>
          </ac:spMkLst>
        </pc:spChg>
      </pc:sldChg>
      <pc:sldChg chg="modSp">
        <pc:chgData name="Toby" userId="38e27ca1fc287518" providerId="LiveId" clId="{BF3DBBBD-492C-4760-9D86-8A5FF1EC27E6}" dt="2018-06-02T08:21:58.363" v="98" actId="20577"/>
        <pc:sldMkLst>
          <pc:docMk/>
          <pc:sldMk cId="1167979869" sldId="306"/>
        </pc:sldMkLst>
        <pc:spChg chg="mod">
          <ac:chgData name="Toby" userId="38e27ca1fc287518" providerId="LiveId" clId="{BF3DBBBD-492C-4760-9D86-8A5FF1EC27E6}" dt="2018-06-02T08:21:58.363" v="98" actId="20577"/>
          <ac:spMkLst>
            <pc:docMk/>
            <pc:sldMk cId="1167979869" sldId="306"/>
            <ac:spMk id="3" creationId="{00000000-0000-0000-0000-000000000000}"/>
          </ac:spMkLst>
        </pc:spChg>
      </pc:sldChg>
      <pc:sldChg chg="modSp">
        <pc:chgData name="Toby" userId="38e27ca1fc287518" providerId="LiveId" clId="{BF3DBBBD-492C-4760-9D86-8A5FF1EC27E6}" dt="2018-06-02T08:18:08.370" v="1" actId="27636"/>
        <pc:sldMkLst>
          <pc:docMk/>
          <pc:sldMk cId="537792204" sldId="307"/>
        </pc:sldMkLst>
        <pc:spChg chg="mod">
          <ac:chgData name="Toby" userId="38e27ca1fc287518" providerId="LiveId" clId="{BF3DBBBD-492C-4760-9D86-8A5FF1EC27E6}" dt="2018-06-02T08:18:08.370" v="1" actId="27636"/>
          <ac:spMkLst>
            <pc:docMk/>
            <pc:sldMk cId="537792204" sldId="307"/>
            <ac:spMk id="3" creationId="{FEACA266-4E63-4A4B-AA44-08B38A7C7E2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B45A3-C210-49FD-BDA2-59ADF3522D8E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82315-0ADD-43B5-8EE2-6A282371E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36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20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949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4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890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5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271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82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9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46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75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8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8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3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79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9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4014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73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7821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6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65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4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73178-70C9-428E-ACAB-305A7F43C4DF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803730-9223-4BCE-8508-205C0D4E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44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951" y="1664239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800675"/>
            <a:ext cx="9446339" cy="1040326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377786" y="3151759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probabilities of single events?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Calculate the expected frequency </a:t>
            </a:r>
          </a:p>
          <a:p>
            <a:pPr>
              <a:buFontTx/>
              <a:buChar char="-"/>
            </a:pPr>
            <a:r>
              <a:rPr lang="en-AU" dirty="0"/>
              <a:t>Use the complement of an event to calculate the probability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0A18E-A743-44C1-9E69-CB83BFFF8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last lesson: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CA266-4E63-4A4B-AA44-08B38A7C7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/>
              <a:t>You can use probability to predict the proportion of times something will happen in the long run, but it cannot tell you what will definitely happen next.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pPr lvl="1"/>
            <a:r>
              <a:rPr lang="en-US" sz="2000" i="1" dirty="0" err="1"/>
              <a:t>e.g</a:t>
            </a:r>
            <a:r>
              <a:rPr lang="en-US" sz="2000" i="1" dirty="0"/>
              <a:t> The probability of getting a tail the next time you throw a coin is always 0.5. It doesn’t matter if you have tossed 20 heads in a row, the probability is still 0.5.</a:t>
            </a:r>
          </a:p>
          <a:p>
            <a:pPr marL="457200" lvl="1" indent="0">
              <a:buNone/>
            </a:pPr>
            <a:endParaRPr lang="en-US" sz="2000" i="1" dirty="0"/>
          </a:p>
          <a:p>
            <a:pPr lvl="1"/>
            <a:r>
              <a:rPr lang="en-US" dirty="0"/>
              <a:t>While there is natural variation, the greater the number of trials, the closer the theoretical and experimental probabilities will be.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“The last banana” https://www.youtube.com/watch?v=Kgudt4PXs28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9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3642001" y="2259012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143821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Probability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DD5202A0-6271-4728-92EA-ED0218A0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73223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probabilities of single events?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77C06FA-41CC-406E-A392-7AA35EB5D8B3}"/>
                  </a:ext>
                </a:extLst>
              </p:cNvPr>
              <p:cNvSpPr/>
              <p:nvPr/>
            </p:nvSpPr>
            <p:spPr>
              <a:xfrm>
                <a:off x="3642001" y="2380696"/>
                <a:ext cx="7322376" cy="39744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Experimental probability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uses real data to work out the chances.</a:t>
                </a:r>
              </a:p>
              <a:p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Theoretical probability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based on a list that contains all the possible outcomes.</a:t>
                </a: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list is called the 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sample space</a:t>
                </a: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Probability of an event is written as P(event) and can be shown as a decimal, fraction or percentage</a:t>
                </a:r>
              </a:p>
              <a:p>
                <a:endParaRPr lang="en-US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P(event)=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𝑓𝑟𝑒𝑞𝑢𝑒𝑛𝑐𝑦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𝑜𝑓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𝑒𝑣𝑒𝑛𝑡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𝑇𝑜𝑡𝑎𝑙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𝑓𝑟𝑒𝑞𝑢𝑒𝑛𝑐𝑦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OR </a:t>
                </a:r>
              </a:p>
              <a:p>
                <a:endParaRPr lang="en-US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P(event)=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𝑛𝑢𝑚𝑏𝑒𝑟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𝑜𝑓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𝑓𝑎𝑣𝑜𝑢𝑟𝑎𝑏𝑙𝑒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𝑁𝑢𝑚𝑏𝑒𝑟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𝑜𝑓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𝑡𝑟𝑖𝑎𝑙𝑠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OR</a:t>
                </a:r>
              </a:p>
              <a:p>
                <a:endParaRPr lang="en-US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P(event)=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𝑒𝑣𝑒𝑛𝑡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𝑠𝑎𝑚𝑝𝑙𝑒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𝑠𝑝𝑎𝑐𝑒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77C06FA-41CC-406E-A392-7AA35EB5D8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001" y="2380696"/>
                <a:ext cx="7322376" cy="3974421"/>
              </a:xfrm>
              <a:prstGeom prst="rect">
                <a:avLst/>
              </a:prstGeom>
              <a:blipFill>
                <a:blip r:embed="rId3"/>
                <a:stretch>
                  <a:fillRect l="-666" t="-920" r="-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8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3642001" y="2259012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143821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Probability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DD5202A0-6271-4728-92EA-ED0218A0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73223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probabilities of single events?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7C06FA-41CC-406E-A392-7AA35EB5D8B3}"/>
              </a:ext>
            </a:extLst>
          </p:cNvPr>
          <p:cNvSpPr/>
          <p:nvPr/>
        </p:nvSpPr>
        <p:spPr>
          <a:xfrm>
            <a:off x="4211782" y="2309091"/>
            <a:ext cx="7462983" cy="7009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Complement</a:t>
            </a:r>
            <a:r>
              <a:rPr lang="en-AU" dirty="0"/>
              <a:t> of an Event= all outcomes that are </a:t>
            </a:r>
            <a:r>
              <a:rPr lang="en-AU" b="1" dirty="0"/>
              <a:t>NOT</a:t>
            </a:r>
            <a:r>
              <a:rPr lang="en-AU" dirty="0"/>
              <a:t> the event.</a:t>
            </a:r>
          </a:p>
          <a:p>
            <a:endParaRPr lang="en-AU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i="1" dirty="0"/>
              <a:t>P(A)</a:t>
            </a:r>
            <a:r>
              <a:rPr lang="en-AU" dirty="0"/>
              <a:t> means "Probability of Event A“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i="1" dirty="0"/>
              <a:t>P(A')</a:t>
            </a:r>
            <a:r>
              <a:rPr lang="en-AU" dirty="0"/>
              <a:t> means "Probability of the complement of Event A"</a:t>
            </a:r>
          </a:p>
          <a:p>
            <a:endParaRPr lang="en-AU" dirty="0"/>
          </a:p>
          <a:p>
            <a:r>
              <a:rPr lang="en-AU" dirty="0"/>
              <a:t>The complement is shown by a little mark after the letter such as A’ </a:t>
            </a:r>
          </a:p>
          <a:p>
            <a:endParaRPr lang="en-AU" dirty="0"/>
          </a:p>
          <a:p>
            <a:r>
              <a:rPr lang="en-AU" dirty="0"/>
              <a:t>The two probabilities always add to 1</a:t>
            </a:r>
          </a:p>
          <a:p>
            <a:r>
              <a:rPr lang="en-AU" dirty="0"/>
              <a:t>	P(A) + P(A') = 1</a:t>
            </a:r>
          </a:p>
          <a:p>
            <a:endParaRPr lang="en-US" dirty="0"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You can use the probability of an event to predict the number of times an event might happen.</a:t>
            </a:r>
          </a:p>
          <a:p>
            <a:endParaRPr lang="en-US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This is called </a:t>
            </a:r>
            <a:r>
              <a:rPr lang="en-US" b="1" dirty="0">
                <a:cs typeface="Calibri" panose="020F0502020204030204" pitchFamily="34" charset="0"/>
              </a:rPr>
              <a:t>expected frequency</a:t>
            </a:r>
          </a:p>
          <a:p>
            <a:endParaRPr lang="en-US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Expected frequency = Probability x number of trials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34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0" y="419072"/>
            <a:ext cx="8764840" cy="921026"/>
          </a:xfrm>
        </p:spPr>
        <p:txBody>
          <a:bodyPr>
            <a:normAutofit/>
          </a:bodyPr>
          <a:lstStyle/>
          <a:p>
            <a:r>
              <a:rPr lang="en-US" sz="2400" dirty="0"/>
              <a:t>Example 1: We will do this together. Complete this in your Interactive notebook</a:t>
            </a:r>
            <a:endParaRPr lang="en-AU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3FE5-F475-423B-8755-4C98FD26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60" y="1641415"/>
            <a:ext cx="7763254" cy="2811145"/>
          </a:xfrm>
        </p:spPr>
        <p:txBody>
          <a:bodyPr>
            <a:normAutofit/>
          </a:bodyPr>
          <a:lstStyle/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E07A18-3029-4347-9F07-55317296D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91" y="1491528"/>
            <a:ext cx="6234546" cy="4721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559CB-A4D3-4E6B-9647-36770C9D7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228" y="2274887"/>
            <a:ext cx="44958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dirty="0"/>
              <a:t>Example 2: We will do this together. Complete this in your Interactive notebook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524591-6A45-4A2D-8F75-365E129BB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05" y="1067377"/>
            <a:ext cx="5022995" cy="38984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640B52-C4D0-454E-A7C0-4EDAC1E1F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652" y="2691677"/>
            <a:ext cx="44005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1364-E5E1-485F-BFB1-46666CF98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to practice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123A-6D89-47FF-AE67-0D2BBA526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7789"/>
            <a:ext cx="9043708" cy="2478776"/>
          </a:xfrm>
        </p:spPr>
        <p:txBody>
          <a:bodyPr>
            <a:normAutofit/>
          </a:bodyPr>
          <a:lstStyle/>
          <a:p>
            <a:r>
              <a:rPr lang="en-US" dirty="0"/>
              <a:t>Complete the following worksheet:</a:t>
            </a:r>
          </a:p>
          <a:p>
            <a:pPr lvl="1"/>
            <a:r>
              <a:rPr lang="en-US" dirty="0"/>
              <a:t>3_Single event probabilities worksheet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/>
                </a:solidFill>
              </a:rPr>
              <a:t>This worksheet will be on CONNECT along with this PowerPoint to support your revision and study of this topic.</a:t>
            </a:r>
          </a:p>
          <a:p>
            <a:pPr lvl="1"/>
            <a:endParaRPr lang="en-US" dirty="0"/>
          </a:p>
          <a:p>
            <a:pPr lvl="1"/>
            <a:r>
              <a:rPr lang="en-AU" dirty="0"/>
              <a:t>Early finishers: Use </a:t>
            </a:r>
            <a:r>
              <a:rPr lang="en-AU" dirty="0" err="1"/>
              <a:t>NelsonWA</a:t>
            </a:r>
            <a:r>
              <a:rPr lang="en-AU" dirty="0"/>
              <a:t> </a:t>
            </a:r>
            <a:r>
              <a:rPr lang="en-AU"/>
              <a:t>Maths textbook Ex 6.1 p 235</a:t>
            </a:r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281C6B-06A0-450C-82E2-AA433FAD6458}"/>
              </a:ext>
            </a:extLst>
          </p:cNvPr>
          <p:cNvSpPr txBox="1">
            <a:spLocks/>
          </p:cNvSpPr>
          <p:nvPr/>
        </p:nvSpPr>
        <p:spPr>
          <a:xfrm>
            <a:off x="1124374" y="390435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Homework/Revision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F4DC49-305E-4851-A40C-52C5C3D29094}"/>
              </a:ext>
            </a:extLst>
          </p:cNvPr>
          <p:cNvSpPr txBox="1">
            <a:spLocks/>
          </p:cNvSpPr>
          <p:nvPr/>
        </p:nvSpPr>
        <p:spPr>
          <a:xfrm>
            <a:off x="900853" y="4564755"/>
            <a:ext cx="7646799" cy="13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Continue to work through the worksheet above</a:t>
            </a:r>
          </a:p>
          <a:p>
            <a:pPr lvl="1"/>
            <a:r>
              <a:rPr lang="en-US" dirty="0"/>
              <a:t>Write your summary of this topic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53696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</TotalTime>
  <Words>371</Words>
  <Application>Microsoft Office PowerPoint</Application>
  <PresentationFormat>Widescreen</PresentationFormat>
  <Paragraphs>84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 Math</vt:lpstr>
      <vt:lpstr>DJB Fancy Nancy</vt:lpstr>
      <vt:lpstr>Kiwi School Handwriting</vt:lpstr>
      <vt:lpstr>Trebuchet MS</vt:lpstr>
      <vt:lpstr>Wingdings 3</vt:lpstr>
      <vt:lpstr>Facet</vt:lpstr>
      <vt:lpstr>Probability</vt:lpstr>
      <vt:lpstr>Lesson objective</vt:lpstr>
      <vt:lpstr>From last lesson: </vt:lpstr>
      <vt:lpstr>PowerPoint Presentation</vt:lpstr>
      <vt:lpstr>PowerPoint Presentation</vt:lpstr>
      <vt:lpstr>Example 1: We will do this together. Complete this in your Interactive notebook</vt:lpstr>
      <vt:lpstr>Example 2: We will do this together. Complete this in your Interactive notebook</vt:lpstr>
      <vt:lpstr>Your turn to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Toby</dc:creator>
  <cp:lastModifiedBy>Toby</cp:lastModifiedBy>
  <cp:revision>6</cp:revision>
  <dcterms:created xsi:type="dcterms:W3CDTF">2018-06-02T07:15:30Z</dcterms:created>
  <dcterms:modified xsi:type="dcterms:W3CDTF">2018-06-02T08:23:47Z</dcterms:modified>
</cp:coreProperties>
</file>
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9856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191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948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9908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818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4241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0785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6775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0085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050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6628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1054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418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8258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18705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15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4784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51D52B9-E719-A64E-A1A0-011D15DFFA1C}" type="datetimeFigureOut">
              <a:rPr lang="en-AU" smtClean="0"/>
              <a:t>28/08/2018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1FBD702-38CD-8341-B3DA-8FFBE011F2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45020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What is depreciation?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Compound interest- depreciation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3072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Depreciation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Depreciation is a practise where businesses reduce the value of a good to pay less capital gains tax. </a:t>
            </a:r>
          </a:p>
          <a:p>
            <a:r>
              <a:rPr lang="en-AU" dirty="0" smtClean="0"/>
              <a:t>Depreciation works much he same as compound interest, but operates to reduce an items value by a percentage each year. </a:t>
            </a:r>
          </a:p>
          <a:p>
            <a:r>
              <a:rPr lang="en-AU" dirty="0" smtClean="0"/>
              <a:t>The big question- </a:t>
            </a:r>
            <a:r>
              <a:rPr lang="en-AU" b="1" dirty="0" smtClean="0"/>
              <a:t>“If an item is depreciated by 20% each year, will it ever become worthless?”</a:t>
            </a:r>
          </a:p>
        </p:txBody>
      </p:sp>
    </p:spTree>
    <p:extLst>
      <p:ext uri="{BB962C8B-B14F-4D97-AF65-F5344CB8AC3E}">
        <p14:creationId xmlns:p14="http://schemas.microsoft.com/office/powerpoint/2010/main" val="121742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Depreciation in practise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AU" dirty="0" smtClean="0"/>
                  <a:t>Dave buys a Lathe for his wood working company, and depreciates it at 4% for 20 years. The cost of the lathe was $26,500. How much would the lathe be worth if he sold it in 20 years?</a:t>
                </a:r>
              </a:p>
              <a:p>
                <a:r>
                  <a:rPr lang="en-AU" dirty="0" smtClean="0"/>
                  <a:t>Remember the formula for CI </a:t>
                </a:r>
                <a:r>
                  <a:rPr lang="en-AU" dirty="0"/>
                  <a:t>= P(1+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𝑟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bg-BG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AU" dirty="0" smtClean="0"/>
                  <a:t>. For compound interest we </a:t>
                </a:r>
                <a:r>
                  <a:rPr lang="en-AU" b="1" u="sng" dirty="0" smtClean="0"/>
                  <a:t>ADD</a:t>
                </a:r>
                <a:r>
                  <a:rPr lang="en-AU" dirty="0" smtClean="0"/>
                  <a:t>. For depreciation we </a:t>
                </a:r>
                <a:r>
                  <a:rPr lang="en-AU" b="1" u="sng" dirty="0" smtClean="0"/>
                  <a:t>SUBTRACT. </a:t>
                </a:r>
                <a:r>
                  <a:rPr lang="en-AU" dirty="0" smtClean="0"/>
                  <a:t>Therefore, the new formula is D </a:t>
                </a:r>
                <a:r>
                  <a:rPr lang="en-AU" dirty="0"/>
                  <a:t>= </a:t>
                </a:r>
                <a:r>
                  <a:rPr lang="en-AU" dirty="0" smtClean="0"/>
                  <a:t>P(1 -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𝑟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bg-BG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AU" dirty="0"/>
                  <a:t>. </a:t>
                </a:r>
                <a:endParaRPr lang="en-AU" dirty="0" smtClean="0"/>
              </a:p>
              <a:p>
                <a:r>
                  <a:rPr lang="en-AU" dirty="0" smtClean="0"/>
                  <a:t>NB; </a:t>
                </a:r>
              </a:p>
              <a:p>
                <a:pPr>
                  <a:buFont typeface="Courier New" charset="0"/>
                  <a:buChar char="o"/>
                </a:pPr>
                <a:r>
                  <a:rPr lang="en-AU" i="1" dirty="0" smtClean="0"/>
                  <a:t>r is rate in decimal form (%/100) </a:t>
                </a:r>
              </a:p>
              <a:p>
                <a:pPr>
                  <a:buFont typeface="Courier New" charset="0"/>
                  <a:buChar char="o"/>
                </a:pPr>
                <a:r>
                  <a:rPr lang="en-AU" i="1" dirty="0" smtClean="0"/>
                  <a:t>n is number of times per year (usually one)</a:t>
                </a:r>
              </a:p>
              <a:p>
                <a:pPr>
                  <a:buFont typeface="Courier New" charset="0"/>
                  <a:buChar char="o"/>
                </a:pPr>
                <a:r>
                  <a:rPr lang="en-AU" i="1" dirty="0"/>
                  <a:t>t</a:t>
                </a:r>
                <a:r>
                  <a:rPr lang="en-AU" i="1" dirty="0" smtClean="0"/>
                  <a:t> is the number of years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776" y="4216400"/>
            <a:ext cx="2797024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276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Depreciation in practise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D </a:t>
                </a:r>
                <a:r>
                  <a:rPr lang="en-AU" dirty="0"/>
                  <a:t>= </a:t>
                </a:r>
                <a:r>
                  <a:rPr lang="en-AU" dirty="0"/>
                  <a:t>P(1 -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𝑟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bg-BG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AU" dirty="0"/>
                  <a:t>. </a:t>
                </a:r>
                <a:endParaRPr lang="en-AU" dirty="0" smtClean="0"/>
              </a:p>
              <a:p>
                <a:pPr lvl="1"/>
                <a:r>
                  <a:rPr lang="en-AU" dirty="0" smtClean="0"/>
                  <a:t>Sub in values</a:t>
                </a:r>
              </a:p>
              <a:p>
                <a:r>
                  <a:rPr lang="en-AU" dirty="0"/>
                  <a:t>D </a:t>
                </a:r>
                <a:r>
                  <a:rPr lang="en-AU" dirty="0"/>
                  <a:t>= </a:t>
                </a:r>
                <a:r>
                  <a:rPr lang="en-AU" dirty="0" smtClean="0"/>
                  <a:t>26500(1 </a:t>
                </a:r>
                <a:r>
                  <a:rPr lang="en-AU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0.04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1</m:t>
                        </m:r>
                      </m:den>
                    </m:f>
                    <m:sSup>
                      <m:sSupPr>
                        <m:ctrlPr>
                          <a:rPr lang="bg-BG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AU" dirty="0"/>
                  <a:t>. </a:t>
                </a:r>
              </a:p>
              <a:p>
                <a:r>
                  <a:rPr lang="en-AU" dirty="0" smtClean="0"/>
                  <a:t>D=11713.0645 ~$11,713.06</a:t>
                </a:r>
              </a:p>
              <a:p>
                <a:r>
                  <a:rPr lang="en-AU" dirty="0" smtClean="0"/>
                  <a:t>The lathe would be worth the above amount after 20 year depreciating at 4%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8506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39865"/>
            <a:ext cx="10515600" cy="1325563"/>
          </a:xfrm>
        </p:spPr>
        <p:txBody>
          <a:bodyPr/>
          <a:lstStyle/>
          <a:p>
            <a:r>
              <a:rPr lang="en-AU" dirty="0" smtClean="0"/>
              <a:t>How does it work across time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20000" y="1312058"/>
                <a:ext cx="10233800" cy="4351338"/>
              </a:xfrm>
            </p:spPr>
            <p:txBody>
              <a:bodyPr/>
              <a:lstStyle/>
              <a:p>
                <a:r>
                  <a:rPr lang="en-AU" dirty="0" smtClean="0"/>
                  <a:t>Using a $30,000 brand new car, which depreciates at 5% per year, lets look at these effects at 1,5,10 and 15 years. </a:t>
                </a:r>
              </a:p>
              <a:p>
                <a:r>
                  <a:rPr lang="en-AU" dirty="0"/>
                  <a:t>D </a:t>
                </a:r>
                <a:r>
                  <a:rPr lang="en-AU" dirty="0"/>
                  <a:t>= P(1 -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𝑟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bg-BG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AU" dirty="0"/>
                  <a:t>. </a:t>
                </a:r>
                <a:endParaRPr lang="en-AU" dirty="0"/>
              </a:p>
              <a:p>
                <a:r>
                  <a:rPr lang="en-AU" dirty="0"/>
                  <a:t>D </a:t>
                </a:r>
                <a:r>
                  <a:rPr lang="en-AU" dirty="0"/>
                  <a:t>= </a:t>
                </a:r>
                <a:r>
                  <a:rPr lang="en-AU" dirty="0" smtClean="0"/>
                  <a:t>30000(1 </a:t>
                </a:r>
                <a:r>
                  <a:rPr lang="en-AU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0.05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1</m:t>
                        </m:r>
                      </m:den>
                    </m:f>
                    <m:sSup>
                      <m:sSupPr>
                        <m:ctrlPr>
                          <a:rPr lang="bg-BG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</a:rPr>
                          <m:t>𝑌𝐸𝐴𝑅𝑆</m:t>
                        </m:r>
                      </m:sup>
                    </m:sSup>
                  </m:oMath>
                </a14:m>
                <a:r>
                  <a:rPr lang="en-AU" dirty="0"/>
                  <a:t>. </a:t>
                </a:r>
                <a:endParaRPr lang="en-AU" dirty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000" y="1312058"/>
                <a:ext cx="10233800" cy="4351338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2814666"/>
                  </p:ext>
                </p:extLst>
              </p:nvPr>
            </p:nvGraphicFramePr>
            <p:xfrm>
              <a:off x="1049750" y="3554074"/>
              <a:ext cx="10092499" cy="30562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1537"/>
                    <a:gridCol w="2226086"/>
                    <a:gridCol w="5487229"/>
                    <a:gridCol w="1677647"/>
                  </a:tblGrid>
                  <a:tr h="333427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Years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Formula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Amount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Average</a:t>
                          </a:r>
                          <a:r>
                            <a:rPr lang="en-AU" baseline="0" dirty="0" smtClean="0"/>
                            <a:t> $ lost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/>
                            <a:t>D = </a:t>
                          </a:r>
                          <a:r>
                            <a:rPr lang="en-AU" dirty="0" smtClean="0"/>
                            <a:t>30000(1 </a:t>
                          </a:r>
                          <a:r>
                            <a:rPr lang="en-AU" dirty="0"/>
                            <a:t>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bg-BG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0.05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bg-BG" i="1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latin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AU" dirty="0"/>
                            <a:t>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$30000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$0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D = 30000(1 </a:t>
                          </a:r>
                          <a:r>
                            <a:rPr lang="en-AU" dirty="0"/>
                            <a:t>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bg-BG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0.05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bg-BG" i="1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latin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$28500 - $1500 lost</a:t>
                          </a:r>
                          <a:r>
                            <a:rPr lang="en-AU" baseline="0" dirty="0" smtClean="0"/>
                            <a:t> after 1 year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$1500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5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D = 30000(1 </a:t>
                          </a:r>
                          <a:r>
                            <a:rPr lang="en-AU" dirty="0"/>
                            <a:t>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bg-BG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0.05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bg-BG" i="1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latin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~ $23,213.43 – $6786.57 lost in 5 years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$1357.31 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10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D = 30000(1 </a:t>
                          </a:r>
                          <a:r>
                            <a:rPr lang="en-AU" dirty="0"/>
                            <a:t>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bg-BG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0.05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bg-BG" i="1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latin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~ $17,962.11 - $12037.89 lost in 10 years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$1203.79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15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D = 30000(1 </a:t>
                          </a:r>
                          <a:r>
                            <a:rPr lang="en-AU" dirty="0"/>
                            <a:t>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bg-BG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0.05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bg-BG" i="1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latin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~ $13898.74 - $16101.26</a:t>
                          </a:r>
                          <a:r>
                            <a:rPr lang="en-AU" baseline="0" dirty="0" smtClean="0"/>
                            <a:t> lost in 15 years.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$1073.45</a:t>
                          </a:r>
                          <a:endParaRPr lang="en-AU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2814666"/>
                  </p:ext>
                </p:extLst>
              </p:nvPr>
            </p:nvGraphicFramePr>
            <p:xfrm>
              <a:off x="1049750" y="3554074"/>
              <a:ext cx="10092499" cy="30562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1537"/>
                    <a:gridCol w="2226086"/>
                    <a:gridCol w="5487229"/>
                    <a:gridCol w="1677647"/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Years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Formula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Amount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Average</a:t>
                          </a:r>
                          <a:r>
                            <a:rPr lang="en-AU" baseline="0" dirty="0" smtClean="0"/>
                            <a:t> $ lost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483235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1781" t="-137500" r="-323288" b="-4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$30000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$0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483235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1781" t="-240506" r="-323288" b="-3113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$28500 - $1500 lost</a:t>
                          </a:r>
                          <a:r>
                            <a:rPr lang="en-AU" baseline="0" dirty="0" smtClean="0"/>
                            <a:t> after 1 year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$1500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483235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5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1781" t="-340506" r="-323288" b="-2113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~ $23,213.43 – $6786.57 lost in 5 years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$1357.31 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483235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10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1781" t="-435000" r="-323288" b="-10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~ $17,962.11 - $12037.89 lost in 10 years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$1203.79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483235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15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1781" t="-541772" r="-323288" b="-10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~ $13898.74 - $16101.26</a:t>
                          </a:r>
                          <a:r>
                            <a:rPr lang="en-AU" baseline="0" dirty="0" smtClean="0"/>
                            <a:t> lost in 15 years.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$1073.45</a:t>
                          </a:r>
                          <a:endParaRPr lang="en-AU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95247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Key takeaway points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825625"/>
            <a:ext cx="7159704" cy="4351338"/>
          </a:xfrm>
        </p:spPr>
        <p:txBody>
          <a:bodyPr/>
          <a:lstStyle/>
          <a:p>
            <a:r>
              <a:rPr lang="en-AU" dirty="0" smtClean="0"/>
              <a:t>Depreciation is losing money across time</a:t>
            </a:r>
          </a:p>
          <a:p>
            <a:r>
              <a:rPr lang="en-AU" dirty="0" smtClean="0"/>
              <a:t>When an item depreciates, it loses less money each year because we only depreciate the new value, not just the first one. </a:t>
            </a:r>
          </a:p>
          <a:p>
            <a:r>
              <a:rPr lang="en-AU" dirty="0" smtClean="0"/>
              <a:t>With the car, if we kept losing $1500 every year, the $30,000 would be gone in 20 years, making the car worthless. </a:t>
            </a:r>
          </a:p>
          <a:p>
            <a:r>
              <a:rPr lang="en-AU" dirty="0" smtClean="0"/>
              <a:t>If all cars became worthless in 10 or 20 years, we would have massive junk yards and shortages of resources. 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648" y="1027906"/>
            <a:ext cx="3230677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49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Key question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“If I depreciate something by 20% each year, will it ever become worthless?”- What do you think? </a:t>
            </a:r>
          </a:p>
          <a:p>
            <a:r>
              <a:rPr lang="en-AU" dirty="0" smtClean="0"/>
              <a:t>Would depreciation by simple interest create a worthless good?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2135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Depreciate the following goods by the specified percentages</a:t>
            </a:r>
          </a:p>
          <a:p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087750"/>
              </p:ext>
            </p:extLst>
          </p:nvPr>
        </p:nvGraphicFramePr>
        <p:xfrm>
          <a:off x="1656219" y="3312553"/>
          <a:ext cx="96975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392"/>
                <a:gridCol w="626301"/>
                <a:gridCol w="1878904"/>
                <a:gridCol w="1929009"/>
                <a:gridCol w="3737974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Principal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%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Times</a:t>
                      </a:r>
                      <a:r>
                        <a:rPr lang="en-AU" baseline="0" dirty="0" smtClean="0"/>
                        <a:t> per year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Number of years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End Amount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$36,000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$10,000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$20,000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$100,000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365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0.5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124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675354"/>
              </p:ext>
            </p:extLst>
          </p:nvPr>
        </p:nvGraphicFramePr>
        <p:xfrm>
          <a:off x="1120775" y="1825625"/>
          <a:ext cx="96975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392"/>
                <a:gridCol w="626301"/>
                <a:gridCol w="1878904"/>
                <a:gridCol w="1929009"/>
                <a:gridCol w="3737974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Principal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%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Times</a:t>
                      </a:r>
                      <a:r>
                        <a:rPr lang="en-AU" baseline="0" dirty="0" smtClean="0"/>
                        <a:t> per year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Number of years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End Amount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$36,000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$10,026.04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$10,000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$7350.92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$20,000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$19,180.44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$100,000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365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0.5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$99,312.71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732750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4341</TotalTime>
  <Words>448</Words>
  <Application>Microsoft Macintosh PowerPoint</Application>
  <PresentationFormat>Widescreen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Cambria Math</vt:lpstr>
      <vt:lpstr>Corbel</vt:lpstr>
      <vt:lpstr>Courier New</vt:lpstr>
      <vt:lpstr>Arial</vt:lpstr>
      <vt:lpstr>Depth</vt:lpstr>
      <vt:lpstr>What is depreciation?</vt:lpstr>
      <vt:lpstr>Depreciation</vt:lpstr>
      <vt:lpstr>Depreciation in practise</vt:lpstr>
      <vt:lpstr>Depreciation in practise</vt:lpstr>
      <vt:lpstr>How does it work across time</vt:lpstr>
      <vt:lpstr>Key takeaway points</vt:lpstr>
      <vt:lpstr>Key question</vt:lpstr>
      <vt:lpstr>Practise</vt:lpstr>
      <vt:lpstr>Answers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depreciation?</dc:title>
  <dc:creator>POWER Travis [Baldivis Secondary College]</dc:creator>
  <cp:lastModifiedBy>POWER Travis [Baldivis Secondary College]</cp:lastModifiedBy>
  <cp:revision>11</cp:revision>
  <dcterms:created xsi:type="dcterms:W3CDTF">2018-08-28T06:38:50Z</dcterms:created>
  <dcterms:modified xsi:type="dcterms:W3CDTF">2018-08-31T07:00:40Z</dcterms:modified>
</cp:coreProperties>
</file>
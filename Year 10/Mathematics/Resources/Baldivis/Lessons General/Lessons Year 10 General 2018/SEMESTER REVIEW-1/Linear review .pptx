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1401"/>
  </p:normalViewPr>
  <p:slideViewPr>
    <p:cSldViewPr snapToGrid="0" snapToObjects="1">
      <p:cViewPr>
        <p:scale>
          <a:sx n="67" d="100"/>
          <a:sy n="67" d="100"/>
        </p:scale>
        <p:origin x="624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6/4/18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5567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21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6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070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111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77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047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265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563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32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6031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64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7510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6214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111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7882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6/4/18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9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6/4/18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8893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watch?v=3OcGX817cOI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Year 10 Revision Lesson 1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Linear, Parallel and Perpendicular and point of intersection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344002"/>
            <a:ext cx="6032500" cy="234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67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275" y="597074"/>
            <a:ext cx="10131425" cy="1456267"/>
          </a:xfrm>
        </p:spPr>
        <p:txBody>
          <a:bodyPr/>
          <a:lstStyle/>
          <a:p>
            <a:r>
              <a:rPr lang="en-AU" dirty="0" smtClean="0"/>
              <a:t>Linear Equations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93721" y="2142067"/>
            <a:ext cx="5369229" cy="3134783"/>
          </a:xfrm>
        </p:spPr>
        <p:txBody>
          <a:bodyPr/>
          <a:lstStyle/>
          <a:p>
            <a:r>
              <a:rPr lang="en-AU" dirty="0" smtClean="0"/>
              <a:t>Linear equations are in the standard form of y=</a:t>
            </a:r>
            <a:r>
              <a:rPr lang="en-AU" dirty="0" err="1" smtClean="0"/>
              <a:t>mx+c</a:t>
            </a:r>
            <a:endParaRPr lang="en-AU" dirty="0" smtClean="0"/>
          </a:p>
          <a:p>
            <a:r>
              <a:rPr lang="en-AU" dirty="0" smtClean="0"/>
              <a:t>M= gradient</a:t>
            </a:r>
          </a:p>
          <a:p>
            <a:r>
              <a:rPr lang="en-AU" dirty="0" smtClean="0"/>
              <a:t>C = y-intercept</a:t>
            </a:r>
          </a:p>
          <a:p>
            <a:r>
              <a:rPr lang="en-AU" dirty="0" smtClean="0"/>
              <a:t>Y= a vertical axis value</a:t>
            </a:r>
          </a:p>
          <a:p>
            <a:r>
              <a:rPr lang="en-AU" dirty="0" smtClean="0"/>
              <a:t>X= a horizontal axis value</a:t>
            </a:r>
          </a:p>
          <a:p>
            <a:r>
              <a:rPr lang="en-AU" dirty="0" smtClean="0"/>
              <a:t>Occasionally, linear equations are written in the forms of f(x) = </a:t>
            </a:r>
            <a:r>
              <a:rPr lang="en-AU" dirty="0" err="1" smtClean="0"/>
              <a:t>mx+c</a:t>
            </a:r>
            <a:r>
              <a:rPr lang="en-AU" dirty="0" smtClean="0"/>
              <a:t>, where f(x) means the function of “x”.</a:t>
            </a:r>
            <a:endParaRPr lang="en-AU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56575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214206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993721" y="2142067"/>
            <a:ext cx="0" cy="4715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6614" y="1703540"/>
            <a:ext cx="10822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Linear equations and what do the letters “m” “x” and “c” mean</a:t>
            </a:r>
            <a:endParaRPr lang="en-AU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3160183"/>
            <a:ext cx="40386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559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“C” – y intercept – where x always = 0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93721" y="2218268"/>
            <a:ext cx="9198279" cy="4639732"/>
          </a:xfrm>
        </p:spPr>
        <p:txBody>
          <a:bodyPr>
            <a:normAutofit/>
          </a:bodyPr>
          <a:lstStyle/>
          <a:p>
            <a:r>
              <a:rPr lang="en-AU" dirty="0" smtClean="0"/>
              <a:t>The C value in a standard form linear equation is the vertical intercept. </a:t>
            </a:r>
          </a:p>
          <a:p>
            <a:r>
              <a:rPr lang="en-AU" dirty="0" smtClean="0"/>
              <a:t>What it does is adjust the line upwards when ”C” is positive, and downwards when “C” is negative. </a:t>
            </a:r>
          </a:p>
          <a:p>
            <a:r>
              <a:rPr lang="en-AU" dirty="0" smtClean="0"/>
              <a:t>The easiest way to find the Y intercept is to look at the y-axis and determine the point of intercept. </a:t>
            </a:r>
          </a:p>
          <a:p>
            <a:r>
              <a:rPr lang="en-AU" dirty="0" smtClean="0"/>
              <a:t>If the line does not pass through at a whole number, you can find the Y-intercept algebraically. </a:t>
            </a:r>
          </a:p>
          <a:p>
            <a:pPr marL="0" indent="0">
              <a:buNone/>
            </a:pPr>
            <a:r>
              <a:rPr lang="en-AU" dirty="0" smtClean="0"/>
              <a:t>Algebra – the gradient of a line is </a:t>
            </a:r>
            <a:r>
              <a:rPr lang="en-AU" dirty="0" smtClean="0">
                <a:solidFill>
                  <a:srgbClr val="FF0000"/>
                </a:solidFill>
              </a:rPr>
              <a:t>2</a:t>
            </a:r>
            <a:r>
              <a:rPr lang="en-AU" dirty="0" smtClean="0"/>
              <a:t>, and the point (</a:t>
            </a:r>
            <a:r>
              <a:rPr lang="en-AU" dirty="0" smtClean="0">
                <a:solidFill>
                  <a:srgbClr val="00B050"/>
                </a:solidFill>
              </a:rPr>
              <a:t>2</a:t>
            </a:r>
            <a:r>
              <a:rPr lang="en-AU" dirty="0" smtClean="0"/>
              <a:t>,</a:t>
            </a:r>
            <a:r>
              <a:rPr lang="en-AU" dirty="0" smtClean="0">
                <a:solidFill>
                  <a:srgbClr val="FFFF00"/>
                </a:solidFill>
              </a:rPr>
              <a:t>7</a:t>
            </a:r>
            <a:r>
              <a:rPr lang="en-AU" dirty="0" smtClean="0"/>
              <a:t>) is on the line. </a:t>
            </a:r>
          </a:p>
          <a:p>
            <a:pPr>
              <a:buFontTx/>
              <a:buChar char="-"/>
            </a:pPr>
            <a:r>
              <a:rPr lang="en-AU" dirty="0" smtClean="0"/>
              <a:t>Make an equation : y=</a:t>
            </a:r>
            <a:r>
              <a:rPr lang="en-AU" dirty="0" smtClean="0">
                <a:solidFill>
                  <a:srgbClr val="FF0000"/>
                </a:solidFill>
              </a:rPr>
              <a:t>2</a:t>
            </a:r>
            <a:r>
              <a:rPr lang="en-AU" dirty="0" smtClean="0"/>
              <a:t>x+c</a:t>
            </a:r>
          </a:p>
          <a:p>
            <a:pPr>
              <a:buFontTx/>
              <a:buChar char="-"/>
            </a:pPr>
            <a:r>
              <a:rPr lang="en-AU" dirty="0" smtClean="0"/>
              <a:t>Sub in line point: </a:t>
            </a:r>
            <a:r>
              <a:rPr lang="en-AU" dirty="0" smtClean="0">
                <a:solidFill>
                  <a:srgbClr val="FFFF00"/>
                </a:solidFill>
              </a:rPr>
              <a:t>7</a:t>
            </a:r>
            <a:r>
              <a:rPr lang="en-AU" dirty="0" smtClean="0"/>
              <a:t>= </a:t>
            </a:r>
            <a:r>
              <a:rPr lang="en-AU" dirty="0" smtClean="0">
                <a:solidFill>
                  <a:srgbClr val="FF0000"/>
                </a:solidFill>
              </a:rPr>
              <a:t>2</a:t>
            </a:r>
            <a:r>
              <a:rPr lang="en-AU" dirty="0" smtClean="0"/>
              <a:t>(</a:t>
            </a:r>
            <a:r>
              <a:rPr lang="en-AU" dirty="0" smtClean="0">
                <a:solidFill>
                  <a:srgbClr val="00B050"/>
                </a:solidFill>
              </a:rPr>
              <a:t>2</a:t>
            </a:r>
            <a:r>
              <a:rPr lang="en-AU" dirty="0" smtClean="0"/>
              <a:t>)+c</a:t>
            </a:r>
          </a:p>
          <a:p>
            <a:pPr>
              <a:buFontTx/>
              <a:buChar char="-"/>
            </a:pPr>
            <a:r>
              <a:rPr lang="en-AU" dirty="0" smtClean="0"/>
              <a:t>Solve like normal: 7 </a:t>
            </a:r>
            <a:r>
              <a:rPr lang="en-AU" dirty="0" smtClean="0">
                <a:solidFill>
                  <a:srgbClr val="FF0000"/>
                </a:solidFill>
              </a:rPr>
              <a:t>(-4)</a:t>
            </a:r>
            <a:r>
              <a:rPr lang="en-AU" dirty="0" smtClean="0"/>
              <a:t> = </a:t>
            </a:r>
            <a:r>
              <a:rPr lang="en-AU" dirty="0">
                <a:solidFill>
                  <a:srgbClr val="FF0000"/>
                </a:solidFill>
              </a:rPr>
              <a:t>4</a:t>
            </a:r>
            <a:r>
              <a:rPr lang="en-AU" dirty="0" smtClean="0"/>
              <a:t> + c </a:t>
            </a:r>
            <a:r>
              <a:rPr lang="en-AU" dirty="0" smtClean="0">
                <a:solidFill>
                  <a:srgbClr val="FF0000"/>
                </a:solidFill>
              </a:rPr>
              <a:t>(- 4)</a:t>
            </a:r>
          </a:p>
          <a:p>
            <a:pPr>
              <a:buFontTx/>
              <a:buChar char="-"/>
            </a:pPr>
            <a:r>
              <a:rPr lang="en-AU" dirty="0" smtClean="0"/>
              <a:t>Answer: 3 = c. </a:t>
            </a:r>
            <a:r>
              <a:rPr lang="en-AU" b="1" i="1" u="sng" dirty="0"/>
              <a:t>T</a:t>
            </a:r>
            <a:r>
              <a:rPr lang="en-AU" b="1" i="1" u="sng" dirty="0" smtClean="0"/>
              <a:t>herefore the Y intercept is 3. </a:t>
            </a:r>
          </a:p>
          <a:p>
            <a:pPr>
              <a:buFontTx/>
              <a:buChar char="-"/>
            </a:pP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56575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0" y="214206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993721" y="2142067"/>
            <a:ext cx="0" cy="4715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6614" y="1703540"/>
            <a:ext cx="10822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Linear equations and what do the letters “m” “x” and “c” mean</a:t>
            </a:r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983" y="4500033"/>
            <a:ext cx="1668135" cy="21981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7762" y="3946036"/>
            <a:ext cx="2675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 smtClean="0"/>
              <a:t>We can see the y-intercept is 3, using graphing software.</a:t>
            </a:r>
            <a:endParaRPr lang="en-AU" sz="1400" i="1" dirty="0"/>
          </a:p>
        </p:txBody>
      </p:sp>
    </p:spTree>
    <p:extLst>
      <p:ext uri="{BB962C8B-B14F-4D97-AF65-F5344CB8AC3E}">
        <p14:creationId xmlns:p14="http://schemas.microsoft.com/office/powerpoint/2010/main" val="210859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73275" y="597074"/>
            <a:ext cx="10131425" cy="1456267"/>
          </a:xfrm>
        </p:spPr>
        <p:txBody>
          <a:bodyPr/>
          <a:lstStyle/>
          <a:p>
            <a:r>
              <a:rPr lang="en-AU" dirty="0" smtClean="0"/>
              <a:t>“M” – Gradient – rise over run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993721" y="2142067"/>
                <a:ext cx="8918531" cy="4521780"/>
              </a:xfrm>
            </p:spPr>
            <p:txBody>
              <a:bodyPr/>
              <a:lstStyle/>
              <a:p>
                <a:r>
                  <a:rPr lang="en-AU" dirty="0" smtClean="0"/>
                  <a:t>The gradient of a line is also called Slope. </a:t>
                </a:r>
              </a:p>
              <a:p>
                <a:r>
                  <a:rPr lang="en-AU" dirty="0" smtClean="0"/>
                  <a:t>Slope is the change in height divided by the change from left to right. </a:t>
                </a:r>
              </a:p>
              <a:p>
                <a:r>
                  <a:rPr lang="en-AU" dirty="0" smtClean="0"/>
                  <a:t>Gradient can be positive (up to the right) or negative (down the right)</a:t>
                </a:r>
              </a:p>
              <a:p>
                <a:r>
                  <a:rPr lang="en-AU" dirty="0" smtClean="0"/>
                  <a:t>A Gradient can be found buy substituting two points on a line like so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 smtClean="0">
                            <a:latin typeface="Cambria Math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charset="0"/>
                              </a:rPr>
                              <m:t>2 </m:t>
                            </m:r>
                          </m:sub>
                        </m:sSub>
                        <m:r>
                          <a:rPr lang="en-AU" b="0" i="1" smtClean="0">
                            <a:latin typeface="Cambria Math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r>
                          <a:rPr lang="en-AU" b="0" i="1" smtClean="0">
                            <a:latin typeface="Cambria Math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AU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AU" dirty="0" smtClean="0"/>
                  <a:t>. </a:t>
                </a:r>
                <a:r>
                  <a:rPr lang="en-AU" i="1" u="sng" dirty="0" smtClean="0"/>
                  <a:t>Remember that points are given as (</a:t>
                </a:r>
                <a:r>
                  <a:rPr lang="en-AU" i="1" u="sng" dirty="0" err="1" smtClean="0"/>
                  <a:t>x,y</a:t>
                </a:r>
                <a:r>
                  <a:rPr lang="en-AU" i="1" u="sng" dirty="0" smtClean="0"/>
                  <a:t>)</a:t>
                </a:r>
              </a:p>
              <a:p>
                <a:pPr marL="0" indent="0">
                  <a:buNone/>
                </a:pPr>
                <a:r>
                  <a:rPr lang="en-AU" dirty="0" smtClean="0"/>
                  <a:t>Example Question: Two points 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(1,3) </a:t>
                </a:r>
                <a:r>
                  <a:rPr lang="en-AU" dirty="0" smtClean="0"/>
                  <a:t>and </a:t>
                </a:r>
                <a:r>
                  <a:rPr lang="en-AU" dirty="0" smtClean="0">
                    <a:solidFill>
                      <a:srgbClr val="FFFF00"/>
                    </a:solidFill>
                  </a:rPr>
                  <a:t>(3,7) </a:t>
                </a:r>
                <a:r>
                  <a:rPr lang="en-AU" dirty="0" smtClean="0"/>
                  <a:t>are on a line. Find the gradient of the line</a:t>
                </a:r>
              </a:p>
              <a:p>
                <a:pPr marL="342900" indent="-342900">
                  <a:buAutoNum type="arabicParenR"/>
                </a:pPr>
                <a:r>
                  <a:rPr lang="en-AU" dirty="0" smtClean="0"/>
                  <a:t>Label the two points 1 and 2 – 1=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(1,3) </a:t>
                </a:r>
                <a:r>
                  <a:rPr lang="en-AU" dirty="0" smtClean="0"/>
                  <a:t>and 2=</a:t>
                </a:r>
                <a:r>
                  <a:rPr lang="en-AU" dirty="0" smtClean="0">
                    <a:solidFill>
                      <a:srgbClr val="FFFF00"/>
                    </a:solidFill>
                  </a:rPr>
                  <a:t>(3,7)</a:t>
                </a:r>
              </a:p>
              <a:p>
                <a:pPr marL="342900" indent="-342900">
                  <a:buAutoNum type="arabicParenR"/>
                </a:pPr>
                <a:r>
                  <a:rPr lang="en-AU" dirty="0" smtClean="0"/>
                  <a:t>Subtract the first points from the second: (</a:t>
                </a:r>
                <a:r>
                  <a:rPr lang="en-AU" dirty="0" smtClean="0">
                    <a:solidFill>
                      <a:srgbClr val="FFFF00"/>
                    </a:solidFill>
                  </a:rPr>
                  <a:t>7</a:t>
                </a:r>
                <a:r>
                  <a:rPr lang="en-AU" dirty="0" smtClean="0"/>
                  <a:t>-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3</a:t>
                </a:r>
                <a:r>
                  <a:rPr lang="en-AU" dirty="0" smtClean="0"/>
                  <a:t>) / (</a:t>
                </a:r>
                <a:r>
                  <a:rPr lang="en-AU" dirty="0" smtClean="0">
                    <a:solidFill>
                      <a:srgbClr val="FFFF00"/>
                    </a:solidFill>
                  </a:rPr>
                  <a:t>3</a:t>
                </a:r>
                <a:r>
                  <a:rPr lang="en-AU" dirty="0" smtClean="0"/>
                  <a:t>-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1</a:t>
                </a:r>
                <a:r>
                  <a:rPr lang="en-AU" dirty="0" smtClean="0"/>
                  <a:t>) = (4/2) -&gt; 2/1 -&gt; </a:t>
                </a:r>
                <a:r>
                  <a:rPr lang="en-AU" b="1" dirty="0" smtClean="0"/>
                  <a:t>2, </a:t>
                </a:r>
                <a:r>
                  <a:rPr lang="en-AU" b="1" u="sng" dirty="0" smtClean="0"/>
                  <a:t>therefore 2 is the gradient</a:t>
                </a:r>
              </a:p>
            </p:txBody>
          </p:sp>
        </mc:Choice>
        <mc:Fallback>
          <p:sp>
            <p:nvSpPr>
              <p:cNvPr id="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93721" y="2142067"/>
                <a:ext cx="8918531" cy="4521780"/>
              </a:xfrm>
              <a:blipFill rotWithShape="0">
                <a:blip r:embed="rId2"/>
                <a:stretch>
                  <a:fillRect l="-547" r="-10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/>
          <p:nvPr/>
        </p:nvCxnSpPr>
        <p:spPr>
          <a:xfrm>
            <a:off x="0" y="156575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214206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993721" y="2142067"/>
            <a:ext cx="0" cy="4715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6614" y="1703540"/>
            <a:ext cx="10822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Linear equations and what do the letters “m” “x” and “c” mean</a:t>
            </a:r>
            <a:endParaRPr lang="en-AU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00" y="4060347"/>
            <a:ext cx="2543573" cy="2603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0356" y="3548931"/>
            <a:ext cx="2673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 smtClean="0"/>
              <a:t>The line below shows the gradient of 2</a:t>
            </a:r>
            <a:endParaRPr lang="en-AU" sz="1400" i="1" dirty="0"/>
          </a:p>
        </p:txBody>
      </p:sp>
    </p:spTree>
    <p:extLst>
      <p:ext uri="{BB962C8B-B14F-4D97-AF65-F5344CB8AC3E}">
        <p14:creationId xmlns:p14="http://schemas.microsoft.com/office/powerpoint/2010/main" val="596409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73275" y="597074"/>
            <a:ext cx="10131425" cy="1456267"/>
          </a:xfrm>
        </p:spPr>
        <p:txBody>
          <a:bodyPr/>
          <a:lstStyle/>
          <a:p>
            <a:r>
              <a:rPr lang="en-AU" dirty="0" smtClean="0"/>
              <a:t>Standard Form</a:t>
            </a:r>
            <a:endParaRPr lang="en-AU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993721" y="2072872"/>
            <a:ext cx="8918531" cy="4590975"/>
          </a:xfrm>
        </p:spPr>
        <p:txBody>
          <a:bodyPr/>
          <a:lstStyle/>
          <a:p>
            <a:r>
              <a:rPr lang="en-AU" dirty="0" smtClean="0"/>
              <a:t>Standard form of a linear equation is y=</a:t>
            </a:r>
            <a:r>
              <a:rPr lang="en-AU" dirty="0" err="1" smtClean="0"/>
              <a:t>mx+c</a:t>
            </a:r>
            <a:endParaRPr lang="en-AU" dirty="0" smtClean="0"/>
          </a:p>
          <a:p>
            <a:r>
              <a:rPr lang="en-AU" dirty="0" smtClean="0"/>
              <a:t>Sometimes, the questions will not be given in this form, and you will need </a:t>
            </a:r>
            <a:r>
              <a:rPr lang="en-AU" dirty="0" err="1" smtClean="0"/>
              <a:t>ot</a:t>
            </a:r>
            <a:r>
              <a:rPr lang="en-AU" dirty="0" smtClean="0"/>
              <a:t> rearrange the problem to standard form. </a:t>
            </a:r>
          </a:p>
          <a:p>
            <a:r>
              <a:rPr lang="en-AU" dirty="0" smtClean="0"/>
              <a:t>This video will show us how to rearrange a formula to standard form:</a:t>
            </a:r>
          </a:p>
          <a:p>
            <a:r>
              <a:rPr lang="en-AU" dirty="0" smtClean="0">
                <a:hlinkClick r:id="rId2"/>
              </a:rPr>
              <a:t>https</a:t>
            </a:r>
            <a:r>
              <a:rPr lang="en-AU" dirty="0">
                <a:hlinkClick r:id="rId2"/>
              </a:rPr>
              <a:t>://</a:t>
            </a:r>
            <a:r>
              <a:rPr lang="en-AU" dirty="0" smtClean="0">
                <a:hlinkClick r:id="rId2"/>
              </a:rPr>
              <a:t>www.youtube.com/watch?v=3OcGX817cOI</a:t>
            </a: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Have a go at rearranging these two equations: “y – 4x = 6” and “3y -18 =12x”</a:t>
            </a:r>
          </a:p>
          <a:p>
            <a:pPr marL="342900" indent="-342900">
              <a:buAutoNum type="arabicParenR"/>
            </a:pPr>
            <a:r>
              <a:rPr lang="en-AU" dirty="0" smtClean="0"/>
              <a:t>“</a:t>
            </a:r>
            <a:r>
              <a:rPr lang="en-AU" dirty="0"/>
              <a:t>y – 4x = 6” </a:t>
            </a:r>
            <a:r>
              <a:rPr lang="en-AU" dirty="0" smtClean="0"/>
              <a:t>, </a:t>
            </a:r>
          </a:p>
          <a:p>
            <a:pPr marL="800100" lvl="1" indent="-342900">
              <a:buAutoNum type="arabicParenR"/>
            </a:pPr>
            <a:r>
              <a:rPr lang="en-AU" dirty="0" smtClean="0"/>
              <a:t>move the 4x, and remember – </a:t>
            </a:r>
            <a:r>
              <a:rPr lang="en-AU" b="1" dirty="0" smtClean="0"/>
              <a:t>change side, change sign – y=6+4x,</a:t>
            </a:r>
          </a:p>
          <a:p>
            <a:pPr marL="800100" lvl="1" indent="-342900">
              <a:buAutoNum type="arabicParenR"/>
            </a:pPr>
            <a:r>
              <a:rPr lang="en-AU" b="1" dirty="0" smtClean="0"/>
              <a:t> swap the order – y=4x + 6</a:t>
            </a:r>
          </a:p>
          <a:p>
            <a:pPr marL="342900" indent="-342900">
              <a:buFont typeface="Arial"/>
              <a:buAutoNum type="arabicParenR"/>
            </a:pPr>
            <a:r>
              <a:rPr lang="en-AU" dirty="0"/>
              <a:t>“3y -18 =12x”</a:t>
            </a:r>
          </a:p>
          <a:p>
            <a:pPr marL="800100" lvl="1" indent="-342900">
              <a:buAutoNum type="arabicParenR"/>
            </a:pPr>
            <a:r>
              <a:rPr lang="en-AU" dirty="0" smtClean="0"/>
              <a:t>Notice all numbers can be divided by 3, so do that  -&gt; y – 6 = 4x, </a:t>
            </a:r>
          </a:p>
          <a:p>
            <a:pPr marL="800100" lvl="1" indent="-342900">
              <a:buAutoNum type="arabicParenR"/>
            </a:pPr>
            <a:r>
              <a:rPr lang="en-AU" dirty="0" smtClean="0"/>
              <a:t>Move the “6” across to the other side – </a:t>
            </a:r>
            <a:r>
              <a:rPr lang="en-AU" b="1" dirty="0" smtClean="0"/>
              <a:t>CSCS</a:t>
            </a:r>
            <a:r>
              <a:rPr lang="en-AU" b="1" dirty="0" smtClean="0">
                <a:sym typeface="Wingdings"/>
              </a:rPr>
              <a:t> y=4x+6</a:t>
            </a:r>
            <a:endParaRPr lang="en-AU" b="1" dirty="0" smtClean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56575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214206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993721" y="2142067"/>
            <a:ext cx="0" cy="4715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6614" y="1703540"/>
            <a:ext cx="10822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Linear equations and what do the letters “m” “x” and “c” mean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37499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Review of linear - 3 minute quiz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Q1) What does the M in y=</a:t>
            </a:r>
            <a:r>
              <a:rPr lang="en-AU" dirty="0" err="1" smtClean="0"/>
              <a:t>mx+c</a:t>
            </a:r>
            <a:r>
              <a:rPr lang="en-AU" dirty="0" smtClean="0"/>
              <a:t> mean?</a:t>
            </a:r>
          </a:p>
          <a:p>
            <a:r>
              <a:rPr lang="en-AU" dirty="0" smtClean="0"/>
              <a:t>Q2) If a line slope goes up 6 spaces, and across 3 spaces, what is the gradient?</a:t>
            </a:r>
          </a:p>
          <a:p>
            <a:r>
              <a:rPr lang="en-AU" dirty="0" smtClean="0"/>
              <a:t>Q3) if a line has two points – (0,2) and (4,8) – what is the equation of the line? </a:t>
            </a:r>
          </a:p>
          <a:p>
            <a:endParaRPr lang="en-AU" dirty="0"/>
          </a:p>
          <a:p>
            <a:r>
              <a:rPr lang="en-AU" dirty="0" smtClean="0"/>
              <a:t>1- M means Gradient</a:t>
            </a:r>
          </a:p>
          <a:p>
            <a:r>
              <a:rPr lang="en-AU" dirty="0" smtClean="0"/>
              <a:t>2- rise / run = 6 / 3, so the gradient is 2</a:t>
            </a:r>
          </a:p>
          <a:p>
            <a:r>
              <a:rPr lang="en-AU" dirty="0" smtClean="0"/>
              <a:t>3 – the point 0,2 is the y intercept, so C= 2. then rise over run is (8-2) / (4-0) = 6/4 or 3/2. putting it all together gives us </a:t>
            </a:r>
            <a:r>
              <a:rPr lang="en-AU" u="sng" dirty="0" smtClean="0"/>
              <a:t>“Y = 3/2x + 2”</a:t>
            </a:r>
          </a:p>
        </p:txBody>
      </p:sp>
    </p:spTree>
    <p:extLst>
      <p:ext uri="{BB962C8B-B14F-4D97-AF65-F5344CB8AC3E}">
        <p14:creationId xmlns:p14="http://schemas.microsoft.com/office/powerpoint/2010/main" val="990024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1" y="1619250"/>
            <a:ext cx="6172199" cy="2514600"/>
          </a:xfrm>
        </p:spPr>
        <p:txBody>
          <a:bodyPr/>
          <a:lstStyle/>
          <a:p>
            <a:r>
              <a:rPr lang="en-AU" dirty="0" smtClean="0"/>
              <a:t>How do you feel? Are there any holes in your understanding you need plugged?  Are there some burning questions you may have? 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116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36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73275" y="597074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Parallel</a:t>
            </a:r>
            <a:r>
              <a:rPr lang="en-AU" dirty="0" smtClean="0"/>
              <a:t> lines – Remember “m”</a:t>
            </a:r>
            <a:endParaRPr lang="en-AU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993721" y="2142067"/>
            <a:ext cx="8918531" cy="45217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AU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56575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214206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993721" y="2142067"/>
            <a:ext cx="0" cy="4715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6614" y="1703540"/>
            <a:ext cx="10822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we tell if two lines are parallel?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408218" y="2527069"/>
                <a:ext cx="8013469" cy="42242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charset="0"/>
                  <a:buChar char="•"/>
                </a:pPr>
                <a:r>
                  <a:rPr lang="en-AU" dirty="0" smtClean="0"/>
                  <a:t>Parallel means that the distance between two lines is always constant. </a:t>
                </a:r>
              </a:p>
              <a:p>
                <a:pPr marL="285750" indent="-285750">
                  <a:buFont typeface="Arial" charset="0"/>
                  <a:buChar char="•"/>
                </a:pPr>
                <a:r>
                  <a:rPr lang="en-AU" dirty="0" smtClean="0"/>
                  <a:t>We know that Linear equations are in the form of Y = </a:t>
                </a:r>
                <a:r>
                  <a:rPr lang="en-AU" dirty="0" err="1" smtClean="0"/>
                  <a:t>Mx</a:t>
                </a:r>
                <a:r>
                  <a:rPr lang="en-AU" dirty="0" smtClean="0"/>
                  <a:t> + C. </a:t>
                </a:r>
                <a:endParaRPr lang="en-AU" dirty="0"/>
              </a:p>
              <a:p>
                <a:pPr marL="285750" indent="-285750">
                  <a:buFont typeface="Arial" charset="0"/>
                  <a:buChar char="•"/>
                </a:pPr>
                <a:r>
                  <a:rPr lang="en-AU" dirty="0" smtClean="0"/>
                  <a:t>We also know “M” is the gradient (slope) of a line. </a:t>
                </a:r>
                <a:endParaRPr lang="en-AU" dirty="0"/>
              </a:p>
              <a:p>
                <a:pPr marL="285750" indent="-285750">
                  <a:buFont typeface="Arial" charset="0"/>
                  <a:buChar char="•"/>
                </a:pPr>
                <a:r>
                  <a:rPr lang="en-AU" dirty="0" smtClean="0"/>
                  <a:t>Thirdly, we also know that “C” is the Y-intercept, AND that it moves a line up and down the y axis. </a:t>
                </a:r>
              </a:p>
              <a:p>
                <a:pPr marL="285750" indent="-285750">
                  <a:buFont typeface="Arial" charset="0"/>
                  <a:buChar char="•"/>
                </a:pPr>
                <a:r>
                  <a:rPr lang="en-AU" dirty="0"/>
                  <a:t>So, how do we tell if two lines are </a:t>
                </a:r>
                <a:r>
                  <a:rPr lang="en-AU" dirty="0" smtClean="0"/>
                  <a:t>parallel? </a:t>
                </a:r>
              </a:p>
              <a:p>
                <a:pPr marL="285750" indent="-285750">
                  <a:buFont typeface="Arial" charset="0"/>
                  <a:buChar char="•"/>
                </a:pPr>
                <a:r>
                  <a:rPr lang="en-AU" dirty="0" smtClean="0"/>
                  <a:t>Given an equation – </a:t>
                </a:r>
                <a:r>
                  <a:rPr lang="en-AU" dirty="0" err="1" smtClean="0"/>
                  <a:t>eg</a:t>
                </a:r>
                <a:r>
                  <a:rPr lang="en-AU" dirty="0" smtClean="0"/>
                  <a:t> y=2x+3, we know that any line with a gradient of 2, will be parallel. So y=2x-3, y=2x+4, y=2x-1, y=2x+46.5 will be parallel. </a:t>
                </a:r>
              </a:p>
              <a:p>
                <a:pPr marL="285750" indent="-285750">
                  <a:buFont typeface="Arial" charset="0"/>
                  <a:buChar char="•"/>
                </a:pPr>
                <a:endParaRPr lang="en-AU" dirty="0"/>
              </a:p>
              <a:p>
                <a:r>
                  <a:rPr lang="en-AU" dirty="0" smtClean="0"/>
                  <a:t>Test your Skills: are these parallel or not?</a:t>
                </a:r>
              </a:p>
              <a:p>
                <a:pPr marL="342900" indent="-342900">
                  <a:buAutoNum type="arabicParenR"/>
                </a:pPr>
                <a:r>
                  <a:rPr lang="en-AU" dirty="0" smtClean="0"/>
                  <a:t>y=2x + 4 and y=2x – 5. </a:t>
                </a:r>
              </a:p>
              <a:p>
                <a:pPr marL="342900" indent="-342900">
                  <a:buAutoNum type="arabicParenR"/>
                </a:pPr>
                <a:r>
                  <a:rPr lang="en-AU" dirty="0" smtClean="0"/>
                  <a:t>y=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dirty="0" smtClean="0"/>
                  <a:t>x + 5 and y=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AU" dirty="0" smtClean="0"/>
                  <a:t>x +4</a:t>
                </a:r>
              </a:p>
              <a:p>
                <a:pPr marL="342900" indent="-342900">
                  <a:buAutoNum type="arabicParenR"/>
                </a:pPr>
                <a:r>
                  <a:rPr lang="en-AU" dirty="0" smtClean="0"/>
                  <a:t>y=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</a:rPr>
                          <m:t>45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dirty="0" smtClean="0"/>
                  <a:t>x -13 and y=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</a:rPr>
                          <m:t>45</m:t>
                        </m:r>
                      </m:num>
                      <m:den>
                        <m:r>
                          <a:rPr lang="en-AU" i="1"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dirty="0"/>
                  <a:t>x </a:t>
                </a:r>
                <a:r>
                  <a:rPr lang="en-AU" dirty="0" smtClean="0"/>
                  <a:t>=44</a:t>
                </a:r>
              </a:p>
              <a:p>
                <a:pPr marL="285750" indent="-285750">
                  <a:buFont typeface="Arial" charset="0"/>
                  <a:buChar char="•"/>
                </a:pPr>
                <a:endParaRPr lang="en-AU" dirty="0" smtClean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8218" y="2527069"/>
                <a:ext cx="8013469" cy="4224233"/>
              </a:xfrm>
              <a:prstGeom prst="rect">
                <a:avLst/>
              </a:prstGeom>
              <a:blipFill rotWithShape="0">
                <a:blip r:embed="rId2"/>
                <a:stretch>
                  <a:fillRect l="-608" t="-867" r="-3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187857" y="5322580"/>
            <a:ext cx="974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1) yes</a:t>
            </a:r>
          </a:p>
          <a:p>
            <a:r>
              <a:rPr lang="en-AU" dirty="0" smtClean="0"/>
              <a:t>2) no</a:t>
            </a:r>
          </a:p>
          <a:p>
            <a:r>
              <a:rPr lang="en-AU" dirty="0" smtClean="0"/>
              <a:t>3) yes</a:t>
            </a:r>
            <a:endParaRPr lang="en-AU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9" y="3396310"/>
            <a:ext cx="2384338" cy="182331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787" y="4927985"/>
            <a:ext cx="1569851" cy="182331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0" y="2642736"/>
            <a:ext cx="26179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 smtClean="0"/>
              <a:t>The graph below shows how the same gradient with different “c” values still leave parallel lines </a:t>
            </a:r>
            <a:endParaRPr lang="en-AU" sz="1400" i="1" dirty="0"/>
          </a:p>
        </p:txBody>
      </p:sp>
    </p:spTree>
    <p:extLst>
      <p:ext uri="{BB962C8B-B14F-4D97-AF65-F5344CB8AC3E}">
        <p14:creationId xmlns:p14="http://schemas.microsoft.com/office/powerpoint/2010/main" val="599481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73275" y="597074"/>
            <a:ext cx="10131425" cy="1456267"/>
          </a:xfrm>
        </p:spPr>
        <p:txBody>
          <a:bodyPr/>
          <a:lstStyle/>
          <a:p>
            <a:r>
              <a:rPr lang="en-AU" dirty="0" smtClean="0"/>
              <a:t>Perpendicular Linear Equations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993721" y="2142067"/>
                <a:ext cx="8918531" cy="4521780"/>
              </a:xfrm>
            </p:spPr>
            <p:txBody>
              <a:bodyPr/>
              <a:lstStyle/>
              <a:p>
                <a:pPr defTabSz="914400">
                  <a:spcAft>
                    <a:spcPts val="0"/>
                  </a:spcAft>
                  <a:buClrTx/>
                  <a:buSzTx/>
                </a:pPr>
                <a:r>
                  <a:rPr lang="en-AU" dirty="0" smtClean="0"/>
                  <a:t>Perpendicular means intersecting at a 90 degree angle, or making a tangent at 90 degrees to a line. </a:t>
                </a:r>
              </a:p>
              <a:p>
                <a:pPr defTabSz="914400">
                  <a:spcAft>
                    <a:spcPts val="0"/>
                  </a:spcAft>
                  <a:buClrTx/>
                  <a:buSzTx/>
                </a:pPr>
                <a:r>
                  <a:rPr lang="en-AU" dirty="0" smtClean="0"/>
                  <a:t>To determine perpendicular lines, the gradient needs to be flipped, and the sign changed. </a:t>
                </a:r>
              </a:p>
              <a:p>
                <a:pPr defTabSz="914400">
                  <a:spcAft>
                    <a:spcPts val="0"/>
                  </a:spcAft>
                  <a:buClrTx/>
                  <a:buSzTx/>
                </a:pPr>
                <a:r>
                  <a:rPr lang="en-AU" dirty="0" smtClean="0"/>
                  <a:t>Key things to note;</a:t>
                </a:r>
              </a:p>
              <a:p>
                <a:pPr lvl="1" defTabSz="914400">
                  <a:spcAft>
                    <a:spcPts val="0"/>
                  </a:spcAft>
                  <a:buClrTx/>
                  <a:buSzTx/>
                </a:pPr>
                <a:r>
                  <a:rPr lang="en-AU" dirty="0" smtClean="0"/>
                  <a:t>The number 2 is the same as the fraction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AU" dirty="0" smtClean="0"/>
                  <a:t>. 3 is the same 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AU" dirty="0" smtClean="0"/>
                  <a:t>. </a:t>
                </a:r>
              </a:p>
              <a:p>
                <a:pPr lvl="1" defTabSz="914400">
                  <a:spcAft>
                    <a:spcPts val="0"/>
                  </a:spcAft>
                  <a:buClrTx/>
                  <a:buSzTx/>
                </a:pPr>
                <a:r>
                  <a:rPr lang="en-AU" dirty="0" smtClean="0"/>
                  <a:t>The opposite of a positive number, is a negative number. </a:t>
                </a:r>
              </a:p>
              <a:p>
                <a:pPr defTabSz="914400">
                  <a:spcAft>
                    <a:spcPts val="0"/>
                  </a:spcAft>
                  <a:buClrTx/>
                  <a:buSzTx/>
                </a:pPr>
                <a:endParaRPr lang="en-AU" dirty="0" smtClean="0"/>
              </a:p>
              <a:p>
                <a:pPr defTabSz="914400">
                  <a:spcAft>
                    <a:spcPts val="0"/>
                  </a:spcAft>
                  <a:buClrTx/>
                  <a:buSzTx/>
                </a:pPr>
                <a:r>
                  <a:rPr lang="en-AU" dirty="0" smtClean="0"/>
                  <a:t>The reciprocal of a whole number is the flipped fraction, </a:t>
                </a:r>
                <a:r>
                  <a:rPr lang="en-AU" dirty="0" err="1" smtClean="0"/>
                  <a:t>eg</a:t>
                </a:r>
                <a:r>
                  <a:rPr lang="en-AU" dirty="0" smtClean="0"/>
                  <a:t> 2 is the same 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1</m:t>
                        </m:r>
                      </m:den>
                    </m:f>
                    <m:r>
                      <a:rPr lang="en-AU" b="0" i="1" smtClean="0">
                        <a:latin typeface="Cambria Math" charset="0"/>
                      </a:rPr>
                      <m:t> , </m:t>
                    </m:r>
                  </m:oMath>
                </a14:m>
                <a:r>
                  <a:rPr lang="en-AU" dirty="0" smtClean="0"/>
                  <a:t>so the reciprocal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dirty="0" smtClean="0"/>
                  <a:t>. The opposite of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dirty="0" smtClean="0"/>
                  <a:t> is -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charset="0"/>
                      </a:rPr>
                      <m:t> </m:t>
                    </m:r>
                    <m:f>
                      <m:fPr>
                        <m:ctrlPr>
                          <a:rPr lang="bg-BG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AU" i="1"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dirty="0" smtClean="0"/>
                  <a:t>. </a:t>
                </a:r>
              </a:p>
              <a:p>
                <a:pPr defTabSz="914400">
                  <a:spcAft>
                    <a:spcPts val="0"/>
                  </a:spcAft>
                  <a:buClrTx/>
                  <a:buSzTx/>
                </a:pPr>
                <a:r>
                  <a:rPr lang="en-AU" dirty="0" smtClean="0"/>
                  <a:t>The perpendicular to a line with the gradient of 2, is a line with a gradient of 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AU" i="1"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dirty="0" smtClean="0"/>
                  <a:t>. </a:t>
                </a:r>
              </a:p>
              <a:p>
                <a:pPr lvl="1" defTabSz="914400">
                  <a:spcAft>
                    <a:spcPts val="0"/>
                  </a:spcAft>
                  <a:buClrTx/>
                  <a:buSzTx/>
                </a:pPr>
                <a:endParaRPr lang="en-AU" dirty="0"/>
              </a:p>
            </p:txBody>
          </p:sp>
        </mc:Choice>
        <mc:Fallback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93721" y="2142067"/>
                <a:ext cx="8918531" cy="4521780"/>
              </a:xfrm>
              <a:blipFill rotWithShape="0">
                <a:blip r:embed="rId2"/>
                <a:stretch>
                  <a:fillRect l="-41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/>
          <p:cNvCxnSpPr/>
          <p:nvPr/>
        </p:nvCxnSpPr>
        <p:spPr>
          <a:xfrm>
            <a:off x="0" y="156575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214206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993721" y="2142067"/>
            <a:ext cx="0" cy="4715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6614" y="1703540"/>
            <a:ext cx="10822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does Perpendicular mean, and how can we tell if two lines are Perpendicular? </a:t>
            </a:r>
            <a:endParaRPr lang="en-AU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906" y="4402957"/>
            <a:ext cx="2253560" cy="22609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25260" y="3360107"/>
                <a:ext cx="2868460" cy="1042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400" i="1" dirty="0" smtClean="0"/>
                  <a:t>We can see the lines with a gradient of 2 and a 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sz="1400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sz="1400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AU" sz="1400" i="1"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sz="1400" i="1" dirty="0" smtClean="0"/>
                  <a:t>, and they form a 90 degree cross. The negative makes the line slope down to the right. </a:t>
                </a:r>
                <a:endParaRPr lang="en-AU" sz="1400" i="1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60" y="3360107"/>
                <a:ext cx="2868460" cy="1042850"/>
              </a:xfrm>
              <a:prstGeom prst="rect">
                <a:avLst/>
              </a:prstGeom>
              <a:blipFill rotWithShape="0">
                <a:blip r:embed="rId4"/>
                <a:stretch>
                  <a:fillRect l="-638" t="-1170" b="-58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2810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Point of intersection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7449" y="775042"/>
            <a:ext cx="9198320" cy="4715934"/>
          </a:xfrm>
        </p:spPr>
        <p:txBody>
          <a:bodyPr/>
          <a:lstStyle/>
          <a:p>
            <a:r>
              <a:rPr lang="en-AU" dirty="0" smtClean="0"/>
              <a:t>Where two line cross, this is the point of intersections, and this is also called a solution. </a:t>
            </a:r>
          </a:p>
          <a:p>
            <a:r>
              <a:rPr lang="en-AU" dirty="0" smtClean="0"/>
              <a:t>From the equations below, an X value of 2 and a Y value of 4, will make both sided of the equation equal.</a:t>
            </a:r>
            <a:endParaRPr lang="en-AU" dirty="0"/>
          </a:p>
          <a:p>
            <a:r>
              <a:rPr lang="en-AU" dirty="0" smtClean="0"/>
              <a:t>Proof? Substitute the Point of intersection into both equations (2,</a:t>
            </a:r>
            <a:r>
              <a:rPr lang="en-AU" dirty="0" smtClean="0">
                <a:solidFill>
                  <a:srgbClr val="FFFF00"/>
                </a:solidFill>
              </a:rPr>
              <a:t>4</a:t>
            </a:r>
            <a:r>
              <a:rPr lang="en-AU" dirty="0" smtClean="0"/>
              <a:t>)</a:t>
            </a:r>
          </a:p>
          <a:p>
            <a:endParaRPr lang="en-AU" dirty="0" smtClean="0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56575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214206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993721" y="2142067"/>
            <a:ext cx="0" cy="4715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6614" y="1703540"/>
            <a:ext cx="10822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Linear equations and what do the letters “m” “x” and “c” mean</a:t>
            </a:r>
            <a:endParaRPr lang="en-AU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0275" y="4313374"/>
            <a:ext cx="1213498" cy="91532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8220" y="4313374"/>
            <a:ext cx="2400881" cy="24008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525786" y="4313374"/>
            <a:ext cx="20794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GREEN   </a:t>
            </a:r>
            <a:r>
              <a:rPr lang="en-AU" sz="1600" dirty="0" smtClean="0">
                <a:solidFill>
                  <a:srgbClr val="FFFF00"/>
                </a:solidFill>
              </a:rPr>
              <a:t>4</a:t>
            </a:r>
            <a:r>
              <a:rPr lang="en-AU" sz="1600" dirty="0" smtClean="0"/>
              <a:t> = -1/2(</a:t>
            </a:r>
            <a:r>
              <a:rPr lang="en-AU" sz="16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AU" sz="1600" dirty="0" smtClean="0"/>
              <a:t>) + 5</a:t>
            </a:r>
          </a:p>
          <a:p>
            <a:r>
              <a:rPr lang="en-AU" sz="1600" dirty="0"/>
              <a:t>	</a:t>
            </a:r>
            <a:r>
              <a:rPr lang="en-AU" sz="1600" dirty="0" smtClean="0"/>
              <a:t>      </a:t>
            </a:r>
            <a:r>
              <a:rPr lang="en-AU" sz="1600" dirty="0" smtClean="0">
                <a:solidFill>
                  <a:srgbClr val="FFFF00"/>
                </a:solidFill>
              </a:rPr>
              <a:t>4</a:t>
            </a:r>
            <a:r>
              <a:rPr lang="en-AU" sz="1600" dirty="0" smtClean="0"/>
              <a:t> = -1 + 5</a:t>
            </a:r>
          </a:p>
          <a:p>
            <a:r>
              <a:rPr lang="en-AU" sz="1600" dirty="0"/>
              <a:t>	 </a:t>
            </a:r>
            <a:r>
              <a:rPr lang="en-AU" sz="1600" dirty="0" smtClean="0"/>
              <a:t>     </a:t>
            </a:r>
            <a:r>
              <a:rPr lang="en-AU" sz="1600" dirty="0" smtClean="0">
                <a:solidFill>
                  <a:srgbClr val="FFFF00"/>
                </a:solidFill>
              </a:rPr>
              <a:t>4</a:t>
            </a:r>
            <a:r>
              <a:rPr lang="en-AU" sz="1600" dirty="0" smtClean="0"/>
              <a:t> = 4 </a:t>
            </a:r>
            <a:endParaRPr lang="en-AU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3357488" y="4313374"/>
            <a:ext cx="2122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AU" dirty="0" smtClean="0"/>
              <a:t>RED   </a:t>
            </a:r>
            <a:r>
              <a:rPr lang="en-AU" dirty="0" smtClean="0">
                <a:solidFill>
                  <a:srgbClr val="FFFF00"/>
                </a:solidFill>
              </a:rPr>
              <a:t>4</a:t>
            </a:r>
            <a:r>
              <a:rPr lang="en-AU" dirty="0" smtClean="0"/>
              <a:t> </a:t>
            </a:r>
            <a:r>
              <a:rPr lang="en-AU" dirty="0"/>
              <a:t>= 2(</a:t>
            </a:r>
            <a:r>
              <a:rPr lang="en-AU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AU" dirty="0"/>
              <a:t>)</a:t>
            </a:r>
          </a:p>
          <a:p>
            <a:r>
              <a:rPr lang="en-AU" dirty="0"/>
              <a:t>		</a:t>
            </a:r>
            <a:r>
              <a:rPr lang="en-AU" dirty="0" smtClean="0"/>
              <a:t> </a:t>
            </a:r>
            <a:r>
              <a:rPr lang="en-AU" dirty="0" smtClean="0">
                <a:solidFill>
                  <a:srgbClr val="FFFF00"/>
                </a:solidFill>
              </a:rPr>
              <a:t>4</a:t>
            </a:r>
            <a:r>
              <a:rPr lang="en-AU" dirty="0" smtClean="0"/>
              <a:t> </a:t>
            </a:r>
            <a:r>
              <a:rPr lang="en-AU" dirty="0"/>
              <a:t>= 4  </a:t>
            </a:r>
          </a:p>
        </p:txBody>
      </p:sp>
    </p:spTree>
    <p:extLst>
      <p:ext uri="{BB962C8B-B14F-4D97-AF65-F5344CB8AC3E}">
        <p14:creationId xmlns:p14="http://schemas.microsoft.com/office/powerpoint/2010/main" val="1074950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266</TotalTime>
  <Words>1043</Words>
  <Application>Microsoft Macintosh PowerPoint</Application>
  <PresentationFormat>Widescreen</PresentationFormat>
  <Paragraphs>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Calibri Light</vt:lpstr>
      <vt:lpstr>Cambria Math</vt:lpstr>
      <vt:lpstr>Wingdings</vt:lpstr>
      <vt:lpstr>Arial</vt:lpstr>
      <vt:lpstr>Celestial</vt:lpstr>
      <vt:lpstr>Year 10 Revision Lesson 1</vt:lpstr>
      <vt:lpstr>Linear Equations</vt:lpstr>
      <vt:lpstr>“C” – y intercept – where x always = 0</vt:lpstr>
      <vt:lpstr>“M” – Gradient – rise over run</vt:lpstr>
      <vt:lpstr>Standard Form</vt:lpstr>
      <vt:lpstr>Review of linear - 3 minute quiz</vt:lpstr>
      <vt:lpstr>PowerPoint Presentation</vt:lpstr>
      <vt:lpstr>PowerPoint Presentation</vt:lpstr>
      <vt:lpstr>Perpendicular Linear Equations</vt:lpstr>
      <vt:lpstr>Point of intersection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Year 10 Revision Lesson 1</dc:title>
  <dc:creator>POWER Travis [Baldivis Secondary College]</dc:creator>
  <cp:lastModifiedBy>POWER Travis [Baldivis Secondary College]</cp:lastModifiedBy>
  <cp:revision>16</cp:revision>
  <dcterms:created xsi:type="dcterms:W3CDTF">2018-06-04T09:23:37Z</dcterms:created>
  <dcterms:modified xsi:type="dcterms:W3CDTF">2018-06-04T13:50:28Z</dcterms:modified>
</cp:coreProperties>
</file>
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6" r:id="rId5"/>
    <p:sldId id="259" r:id="rId6"/>
    <p:sldId id="261" r:id="rId7"/>
    <p:sldId id="260" r:id="rId8"/>
    <p:sldId id="262" r:id="rId9"/>
    <p:sldId id="267" r:id="rId10"/>
    <p:sldId id="268" r:id="rId11"/>
    <p:sldId id="269" r:id="rId12"/>
    <p:sldId id="263" r:id="rId13"/>
    <p:sldId id="271" r:id="rId14"/>
    <p:sldId id="272" r:id="rId15"/>
    <p:sldId id="273" r:id="rId16"/>
    <p:sldId id="274" r:id="rId17"/>
    <p:sldId id="275" r:id="rId18"/>
    <p:sldId id="276" r:id="rId19"/>
    <p:sldId id="270" r:id="rId20"/>
    <p:sldId id="264" r:id="rId21"/>
    <p:sldId id="265"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00" d="100"/>
          <a:sy n="100" d="100"/>
        </p:scale>
        <p:origin x="-1984" y="-6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printerSettings" Target="printerSettings/printerSettings1.bin"/><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oleObject" Target="Workbook1"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Workbook1"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Macintosh%20HD:Users:jnguyen:Library:Application%20Support:Microsoft:Office:Office%202011%20AutoRecovery:Workbook1%20(version%201).xlsb"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Workbook1"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Workbook1"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Workbook1"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Work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col"/>
        <c:grouping val="clustered"/>
        <c:varyColors val="0"/>
        <c:ser>
          <c:idx val="1"/>
          <c:order val="0"/>
          <c:spPr>
            <a:gradFill flip="none" rotWithShape="1">
              <a:gsLst>
                <a:gs pos="0">
                  <a:schemeClr val="bg1">
                    <a:lumMod val="85000"/>
                  </a:schemeClr>
                </a:gs>
                <a:gs pos="100000">
                  <a:srgbClr val="000000"/>
                </a:gs>
                <a:gs pos="51000">
                  <a:schemeClr val="tx2">
                    <a:lumMod val="20000"/>
                    <a:lumOff val="80000"/>
                  </a:schemeClr>
                </a:gs>
                <a:gs pos="99000">
                  <a:schemeClr val="tx2">
                    <a:lumMod val="60000"/>
                    <a:lumOff val="40000"/>
                  </a:schemeClr>
                </a:gs>
              </a:gsLst>
              <a:path path="rect">
                <a:fillToRect l="100000" t="100000"/>
              </a:path>
              <a:tileRect r="-100000" b="-100000"/>
            </a:gradFill>
            <a:ln>
              <a:solidFill>
                <a:schemeClr val="tx1"/>
              </a:solidFill>
            </a:ln>
          </c:spPr>
          <c:invertIfNegative val="0"/>
          <c:val>
            <c:numRef>
              <c:f>Sheet1!$B$1:$B$7</c:f>
              <c:numCache>
                <c:formatCode>General</c:formatCode>
                <c:ptCount val="7"/>
                <c:pt idx="0">
                  <c:v>1.0</c:v>
                </c:pt>
                <c:pt idx="1">
                  <c:v>2.0</c:v>
                </c:pt>
                <c:pt idx="2">
                  <c:v>3.0</c:v>
                </c:pt>
                <c:pt idx="3">
                  <c:v>4.0</c:v>
                </c:pt>
                <c:pt idx="4">
                  <c:v>3.0</c:v>
                </c:pt>
                <c:pt idx="5">
                  <c:v>2.0</c:v>
                </c:pt>
                <c:pt idx="6">
                  <c:v>1.0</c:v>
                </c:pt>
              </c:numCache>
            </c:numRef>
          </c:val>
        </c:ser>
        <c:dLbls>
          <c:showLegendKey val="0"/>
          <c:showVal val="0"/>
          <c:showCatName val="0"/>
          <c:showSerName val="0"/>
          <c:showPercent val="0"/>
          <c:showBubbleSize val="0"/>
        </c:dLbls>
        <c:gapWidth val="0"/>
        <c:axId val="2085771064"/>
        <c:axId val="2144655032"/>
      </c:barChart>
      <c:catAx>
        <c:axId val="2085771064"/>
        <c:scaling>
          <c:orientation val="minMax"/>
        </c:scaling>
        <c:delete val="0"/>
        <c:axPos val="b"/>
        <c:majorTickMark val="out"/>
        <c:minorTickMark val="none"/>
        <c:tickLblPos val="nextTo"/>
        <c:crossAx val="2144655032"/>
        <c:crosses val="autoZero"/>
        <c:auto val="1"/>
        <c:lblAlgn val="ctr"/>
        <c:lblOffset val="100"/>
        <c:noMultiLvlLbl val="0"/>
      </c:catAx>
      <c:valAx>
        <c:axId val="2144655032"/>
        <c:scaling>
          <c:orientation val="minMax"/>
        </c:scaling>
        <c:delete val="0"/>
        <c:axPos val="l"/>
        <c:majorGridlines/>
        <c:numFmt formatCode="General" sourceLinked="1"/>
        <c:majorTickMark val="out"/>
        <c:minorTickMark val="none"/>
        <c:tickLblPos val="nextTo"/>
        <c:crossAx val="2085771064"/>
        <c:crosses val="autoZero"/>
        <c:crossBetween val="between"/>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col"/>
        <c:grouping val="clustered"/>
        <c:varyColors val="0"/>
        <c:ser>
          <c:idx val="1"/>
          <c:order val="0"/>
          <c:spPr>
            <a:gradFill flip="none" rotWithShape="1">
              <a:gsLst>
                <a:gs pos="0">
                  <a:schemeClr val="bg1">
                    <a:lumMod val="85000"/>
                  </a:schemeClr>
                </a:gs>
                <a:gs pos="100000">
                  <a:srgbClr val="000000"/>
                </a:gs>
                <a:gs pos="51000">
                  <a:schemeClr val="tx2">
                    <a:lumMod val="20000"/>
                    <a:lumOff val="80000"/>
                  </a:schemeClr>
                </a:gs>
                <a:gs pos="99000">
                  <a:schemeClr val="tx2">
                    <a:lumMod val="60000"/>
                    <a:lumOff val="40000"/>
                  </a:schemeClr>
                </a:gs>
              </a:gsLst>
              <a:path path="circle">
                <a:fillToRect l="100000" t="100000"/>
              </a:path>
              <a:tileRect r="-100000" b="-100000"/>
            </a:gradFill>
            <a:ln>
              <a:solidFill>
                <a:schemeClr val="tx1"/>
              </a:solidFill>
            </a:ln>
          </c:spPr>
          <c:invertIfNegative val="0"/>
          <c:val>
            <c:numRef>
              <c:f>Sheet1!$B$9:$B$15</c:f>
              <c:numCache>
                <c:formatCode>General</c:formatCode>
                <c:ptCount val="7"/>
                <c:pt idx="2">
                  <c:v>5.0</c:v>
                </c:pt>
                <c:pt idx="3">
                  <c:v>7.0</c:v>
                </c:pt>
                <c:pt idx="4">
                  <c:v>5.0</c:v>
                </c:pt>
              </c:numCache>
            </c:numRef>
          </c:val>
        </c:ser>
        <c:dLbls>
          <c:showLegendKey val="0"/>
          <c:showVal val="0"/>
          <c:showCatName val="0"/>
          <c:showSerName val="0"/>
          <c:showPercent val="0"/>
          <c:showBubbleSize val="0"/>
        </c:dLbls>
        <c:gapWidth val="0"/>
        <c:axId val="2128361384"/>
        <c:axId val="2127831496"/>
      </c:barChart>
      <c:catAx>
        <c:axId val="2128361384"/>
        <c:scaling>
          <c:orientation val="minMax"/>
        </c:scaling>
        <c:delete val="0"/>
        <c:axPos val="b"/>
        <c:majorTickMark val="out"/>
        <c:minorTickMark val="none"/>
        <c:tickLblPos val="nextTo"/>
        <c:crossAx val="2127831496"/>
        <c:crosses val="autoZero"/>
        <c:auto val="1"/>
        <c:lblAlgn val="ctr"/>
        <c:lblOffset val="100"/>
        <c:noMultiLvlLbl val="0"/>
      </c:catAx>
      <c:valAx>
        <c:axId val="2127831496"/>
        <c:scaling>
          <c:orientation val="minMax"/>
        </c:scaling>
        <c:delete val="0"/>
        <c:axPos val="l"/>
        <c:majorGridlines/>
        <c:numFmt formatCode="General" sourceLinked="1"/>
        <c:majorTickMark val="out"/>
        <c:minorTickMark val="none"/>
        <c:tickLblPos val="nextTo"/>
        <c:crossAx val="2128361384"/>
        <c:crosses val="autoZero"/>
        <c:crossBetween val="between"/>
      </c:valAx>
    </c:plotArea>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col"/>
        <c:grouping val="clustered"/>
        <c:varyColors val="0"/>
        <c:ser>
          <c:idx val="1"/>
          <c:order val="0"/>
          <c:spPr>
            <a:gradFill flip="none" rotWithShape="1">
              <a:gsLst>
                <a:gs pos="0">
                  <a:schemeClr val="accent1"/>
                </a:gs>
                <a:gs pos="100000">
                  <a:prstClr val="white"/>
                </a:gs>
              </a:gsLst>
              <a:path path="circle">
                <a:fillToRect l="100000" t="100000"/>
              </a:path>
              <a:tileRect r="-100000" b="-100000"/>
            </a:gradFill>
            <a:ln>
              <a:solidFill>
                <a:schemeClr val="tx1"/>
              </a:solidFill>
            </a:ln>
          </c:spPr>
          <c:invertIfNegative val="0"/>
          <c:val>
            <c:numRef>
              <c:f>Sheet1!$B$57:$B$63</c:f>
              <c:numCache>
                <c:formatCode>General</c:formatCode>
                <c:ptCount val="7"/>
                <c:pt idx="0">
                  <c:v>7.0</c:v>
                </c:pt>
                <c:pt idx="1">
                  <c:v>6.0</c:v>
                </c:pt>
                <c:pt idx="2">
                  <c:v>4.0</c:v>
                </c:pt>
                <c:pt idx="3">
                  <c:v>2.0</c:v>
                </c:pt>
                <c:pt idx="4">
                  <c:v>4.0</c:v>
                </c:pt>
                <c:pt idx="5">
                  <c:v>6.0</c:v>
                </c:pt>
                <c:pt idx="6">
                  <c:v>7.0</c:v>
                </c:pt>
              </c:numCache>
            </c:numRef>
          </c:val>
        </c:ser>
        <c:dLbls>
          <c:showLegendKey val="0"/>
          <c:showVal val="0"/>
          <c:showCatName val="0"/>
          <c:showSerName val="0"/>
          <c:showPercent val="0"/>
          <c:showBubbleSize val="0"/>
        </c:dLbls>
        <c:gapWidth val="0"/>
        <c:axId val="2128580984"/>
        <c:axId val="2128570424"/>
      </c:barChart>
      <c:catAx>
        <c:axId val="2128580984"/>
        <c:scaling>
          <c:orientation val="minMax"/>
        </c:scaling>
        <c:delete val="0"/>
        <c:axPos val="b"/>
        <c:majorTickMark val="out"/>
        <c:minorTickMark val="none"/>
        <c:tickLblPos val="nextTo"/>
        <c:crossAx val="2128570424"/>
        <c:crosses val="autoZero"/>
        <c:auto val="1"/>
        <c:lblAlgn val="ctr"/>
        <c:lblOffset val="100"/>
        <c:noMultiLvlLbl val="0"/>
      </c:catAx>
      <c:valAx>
        <c:axId val="2128570424"/>
        <c:scaling>
          <c:orientation val="minMax"/>
        </c:scaling>
        <c:delete val="0"/>
        <c:axPos val="l"/>
        <c:majorGridlines/>
        <c:numFmt formatCode="General" sourceLinked="1"/>
        <c:majorTickMark val="out"/>
        <c:minorTickMark val="none"/>
        <c:tickLblPos val="nextTo"/>
        <c:crossAx val="2128580984"/>
        <c:crosses val="autoZero"/>
        <c:crossBetween val="between"/>
      </c:valAx>
    </c:plotArea>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col"/>
        <c:grouping val="clustered"/>
        <c:varyColors val="0"/>
        <c:ser>
          <c:idx val="1"/>
          <c:order val="0"/>
          <c:spPr>
            <a:gradFill flip="none" rotWithShape="1">
              <a:gsLst>
                <a:gs pos="0">
                  <a:schemeClr val="bg1">
                    <a:lumMod val="85000"/>
                  </a:schemeClr>
                </a:gs>
                <a:gs pos="100000">
                  <a:srgbClr val="000000"/>
                </a:gs>
                <a:gs pos="51000">
                  <a:schemeClr val="tx2">
                    <a:lumMod val="20000"/>
                    <a:lumOff val="80000"/>
                  </a:schemeClr>
                </a:gs>
                <a:gs pos="99000">
                  <a:schemeClr val="tx2">
                    <a:lumMod val="60000"/>
                    <a:lumOff val="40000"/>
                  </a:schemeClr>
                </a:gs>
              </a:gsLst>
              <a:path path="circle">
                <a:fillToRect l="100000" t="100000"/>
              </a:path>
              <a:tileRect r="-100000" b="-100000"/>
            </a:gradFill>
            <a:ln>
              <a:solidFill>
                <a:schemeClr val="tx1"/>
              </a:solidFill>
            </a:ln>
          </c:spPr>
          <c:invertIfNegative val="0"/>
          <c:val>
            <c:numRef>
              <c:f>Sheet1!$B$41:$B$47</c:f>
              <c:numCache>
                <c:formatCode>General</c:formatCode>
                <c:ptCount val="7"/>
                <c:pt idx="0">
                  <c:v>8.0</c:v>
                </c:pt>
                <c:pt idx="1">
                  <c:v>9.0</c:v>
                </c:pt>
                <c:pt idx="2">
                  <c:v>8.0</c:v>
                </c:pt>
                <c:pt idx="6">
                  <c:v>1.0</c:v>
                </c:pt>
              </c:numCache>
            </c:numRef>
          </c:val>
        </c:ser>
        <c:dLbls>
          <c:showLegendKey val="0"/>
          <c:showVal val="0"/>
          <c:showCatName val="0"/>
          <c:showSerName val="0"/>
          <c:showPercent val="0"/>
          <c:showBubbleSize val="0"/>
        </c:dLbls>
        <c:gapWidth val="0"/>
        <c:axId val="2125540680"/>
        <c:axId val="2117090728"/>
      </c:barChart>
      <c:catAx>
        <c:axId val="2125540680"/>
        <c:scaling>
          <c:orientation val="minMax"/>
        </c:scaling>
        <c:delete val="0"/>
        <c:axPos val="b"/>
        <c:majorTickMark val="out"/>
        <c:minorTickMark val="none"/>
        <c:tickLblPos val="nextTo"/>
        <c:crossAx val="2117090728"/>
        <c:crosses val="autoZero"/>
        <c:auto val="1"/>
        <c:lblAlgn val="ctr"/>
        <c:lblOffset val="100"/>
        <c:noMultiLvlLbl val="0"/>
      </c:catAx>
      <c:valAx>
        <c:axId val="2117090728"/>
        <c:scaling>
          <c:orientation val="minMax"/>
        </c:scaling>
        <c:delete val="0"/>
        <c:axPos val="l"/>
        <c:majorGridlines/>
        <c:numFmt formatCode="General" sourceLinked="1"/>
        <c:majorTickMark val="out"/>
        <c:minorTickMark val="none"/>
        <c:tickLblPos val="nextTo"/>
        <c:crossAx val="2125540680"/>
        <c:crosses val="autoZero"/>
        <c:crossBetween val="between"/>
      </c:valAx>
    </c:plotArea>
    <c:plotVisOnly val="1"/>
    <c:dispBlanksAs val="gap"/>
    <c:showDLblsOverMax val="0"/>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col"/>
        <c:grouping val="clustered"/>
        <c:varyColors val="0"/>
        <c:ser>
          <c:idx val="1"/>
          <c:order val="0"/>
          <c:spPr>
            <a:gradFill flip="none" rotWithShape="1">
              <a:gsLst>
                <a:gs pos="0">
                  <a:schemeClr val="bg1">
                    <a:lumMod val="85000"/>
                  </a:schemeClr>
                </a:gs>
                <a:gs pos="100000">
                  <a:srgbClr val="000000"/>
                </a:gs>
                <a:gs pos="51000">
                  <a:schemeClr val="tx2">
                    <a:lumMod val="20000"/>
                    <a:lumOff val="80000"/>
                  </a:schemeClr>
                </a:gs>
                <a:gs pos="99000">
                  <a:schemeClr val="tx2">
                    <a:lumMod val="60000"/>
                    <a:lumOff val="40000"/>
                  </a:schemeClr>
                </a:gs>
              </a:gsLst>
              <a:path path="circle">
                <a:fillToRect l="100000" t="100000"/>
              </a:path>
              <a:tileRect r="-100000" b="-100000"/>
            </a:gradFill>
            <a:ln>
              <a:solidFill>
                <a:schemeClr val="tx1"/>
              </a:solidFill>
            </a:ln>
          </c:spPr>
          <c:invertIfNegative val="0"/>
          <c:val>
            <c:numRef>
              <c:f>Sheet1!$B$25:$B$31</c:f>
              <c:numCache>
                <c:formatCode>General</c:formatCode>
                <c:ptCount val="7"/>
                <c:pt idx="0">
                  <c:v>7.0</c:v>
                </c:pt>
                <c:pt idx="1">
                  <c:v>6.7</c:v>
                </c:pt>
                <c:pt idx="2">
                  <c:v>5.5</c:v>
                </c:pt>
                <c:pt idx="3">
                  <c:v>4.0</c:v>
                </c:pt>
                <c:pt idx="4">
                  <c:v>3.0</c:v>
                </c:pt>
                <c:pt idx="5">
                  <c:v>1.0</c:v>
                </c:pt>
                <c:pt idx="6">
                  <c:v>1.0</c:v>
                </c:pt>
              </c:numCache>
            </c:numRef>
          </c:val>
        </c:ser>
        <c:dLbls>
          <c:showLegendKey val="0"/>
          <c:showVal val="0"/>
          <c:showCatName val="0"/>
          <c:showSerName val="0"/>
          <c:showPercent val="0"/>
          <c:showBubbleSize val="0"/>
        </c:dLbls>
        <c:gapWidth val="0"/>
        <c:axId val="2118325736"/>
        <c:axId val="2141619000"/>
      </c:barChart>
      <c:catAx>
        <c:axId val="2118325736"/>
        <c:scaling>
          <c:orientation val="minMax"/>
        </c:scaling>
        <c:delete val="0"/>
        <c:axPos val="b"/>
        <c:majorTickMark val="out"/>
        <c:minorTickMark val="none"/>
        <c:tickLblPos val="nextTo"/>
        <c:crossAx val="2141619000"/>
        <c:crosses val="autoZero"/>
        <c:auto val="1"/>
        <c:lblAlgn val="ctr"/>
        <c:lblOffset val="100"/>
        <c:noMultiLvlLbl val="0"/>
      </c:catAx>
      <c:valAx>
        <c:axId val="2141619000"/>
        <c:scaling>
          <c:orientation val="minMax"/>
        </c:scaling>
        <c:delete val="0"/>
        <c:axPos val="l"/>
        <c:majorGridlines/>
        <c:numFmt formatCode="General" sourceLinked="1"/>
        <c:majorTickMark val="out"/>
        <c:minorTickMark val="none"/>
        <c:tickLblPos val="nextTo"/>
        <c:crossAx val="2118325736"/>
        <c:crosses val="autoZero"/>
        <c:crossBetween val="between"/>
      </c:valAx>
    </c:plotArea>
    <c:plotVisOnly val="1"/>
    <c:dispBlanksAs val="gap"/>
    <c:showDLblsOverMax val="0"/>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col"/>
        <c:grouping val="clustered"/>
        <c:varyColors val="0"/>
        <c:ser>
          <c:idx val="1"/>
          <c:order val="0"/>
          <c:spPr>
            <a:gradFill flip="none" rotWithShape="1">
              <a:gsLst>
                <a:gs pos="0">
                  <a:schemeClr val="bg1">
                    <a:lumMod val="85000"/>
                  </a:schemeClr>
                </a:gs>
                <a:gs pos="100000">
                  <a:srgbClr val="000000"/>
                </a:gs>
                <a:gs pos="51000">
                  <a:schemeClr val="tx2">
                    <a:lumMod val="20000"/>
                    <a:lumOff val="80000"/>
                  </a:schemeClr>
                </a:gs>
                <a:gs pos="99000">
                  <a:schemeClr val="tx2">
                    <a:lumMod val="60000"/>
                    <a:lumOff val="40000"/>
                  </a:schemeClr>
                </a:gs>
              </a:gsLst>
              <a:path path="circle">
                <a:fillToRect l="100000" t="100000"/>
              </a:path>
              <a:tileRect r="-100000" b="-100000"/>
            </a:gradFill>
            <a:ln>
              <a:solidFill>
                <a:schemeClr val="tx1"/>
              </a:solidFill>
            </a:ln>
          </c:spPr>
          <c:invertIfNegative val="0"/>
          <c:val>
            <c:numRef>
              <c:f>Sheet1!$B$33:$B$39</c:f>
              <c:numCache>
                <c:formatCode>General</c:formatCode>
                <c:ptCount val="7"/>
                <c:pt idx="0">
                  <c:v>0.2</c:v>
                </c:pt>
                <c:pt idx="1">
                  <c:v>1.0</c:v>
                </c:pt>
                <c:pt idx="2">
                  <c:v>3.0</c:v>
                </c:pt>
                <c:pt idx="3">
                  <c:v>4.0</c:v>
                </c:pt>
                <c:pt idx="4">
                  <c:v>6.0</c:v>
                </c:pt>
                <c:pt idx="5">
                  <c:v>7.0</c:v>
                </c:pt>
                <c:pt idx="6">
                  <c:v>7.0</c:v>
                </c:pt>
              </c:numCache>
            </c:numRef>
          </c:val>
        </c:ser>
        <c:dLbls>
          <c:showLegendKey val="0"/>
          <c:showVal val="0"/>
          <c:showCatName val="0"/>
          <c:showSerName val="0"/>
          <c:showPercent val="0"/>
          <c:showBubbleSize val="0"/>
        </c:dLbls>
        <c:gapWidth val="0"/>
        <c:axId val="2128705560"/>
        <c:axId val="2125845032"/>
      </c:barChart>
      <c:catAx>
        <c:axId val="2128705560"/>
        <c:scaling>
          <c:orientation val="minMax"/>
        </c:scaling>
        <c:delete val="0"/>
        <c:axPos val="b"/>
        <c:majorTickMark val="out"/>
        <c:minorTickMark val="none"/>
        <c:tickLblPos val="nextTo"/>
        <c:crossAx val="2125845032"/>
        <c:crosses val="autoZero"/>
        <c:auto val="1"/>
        <c:lblAlgn val="ctr"/>
        <c:lblOffset val="100"/>
        <c:noMultiLvlLbl val="0"/>
      </c:catAx>
      <c:valAx>
        <c:axId val="2125845032"/>
        <c:scaling>
          <c:orientation val="minMax"/>
        </c:scaling>
        <c:delete val="0"/>
        <c:axPos val="l"/>
        <c:majorGridlines/>
        <c:numFmt formatCode="General" sourceLinked="1"/>
        <c:majorTickMark val="out"/>
        <c:minorTickMark val="none"/>
        <c:tickLblPos val="nextTo"/>
        <c:crossAx val="2128705560"/>
        <c:crosses val="autoZero"/>
        <c:crossBetween val="between"/>
      </c:valAx>
    </c:plotArea>
    <c:plotVisOnly val="1"/>
    <c:dispBlanksAs val="gap"/>
    <c:showDLblsOverMax val="0"/>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manualLayout>
          <c:layoutTarget val="inner"/>
          <c:xMode val="edge"/>
          <c:yMode val="edge"/>
          <c:x val="0.18639635398836"/>
          <c:y val="0.0423571003729871"/>
          <c:w val="0.813346884628552"/>
          <c:h val="0.72929143575006"/>
        </c:manualLayout>
      </c:layout>
      <c:barChart>
        <c:barDir val="col"/>
        <c:grouping val="clustered"/>
        <c:varyColors val="0"/>
        <c:ser>
          <c:idx val="1"/>
          <c:order val="0"/>
          <c:spPr>
            <a:gradFill flip="none" rotWithShape="1">
              <a:gsLst>
                <a:gs pos="0">
                  <a:schemeClr val="bg1">
                    <a:lumMod val="85000"/>
                  </a:schemeClr>
                </a:gs>
                <a:gs pos="100000">
                  <a:srgbClr val="000000"/>
                </a:gs>
                <a:gs pos="51000">
                  <a:schemeClr val="tx2">
                    <a:lumMod val="20000"/>
                    <a:lumOff val="80000"/>
                  </a:schemeClr>
                </a:gs>
                <a:gs pos="99000">
                  <a:schemeClr val="tx2">
                    <a:lumMod val="60000"/>
                    <a:lumOff val="40000"/>
                  </a:schemeClr>
                </a:gs>
              </a:gsLst>
              <a:path path="circle">
                <a:fillToRect l="100000" t="100000"/>
              </a:path>
              <a:tileRect r="-100000" b="-100000"/>
            </a:gradFill>
            <a:ln>
              <a:solidFill>
                <a:schemeClr val="tx1"/>
              </a:solidFill>
            </a:ln>
          </c:spPr>
          <c:invertIfNegative val="0"/>
          <c:val>
            <c:numRef>
              <c:f>Sheet1!$B$17:$B$23</c:f>
              <c:numCache>
                <c:formatCode>General</c:formatCode>
                <c:ptCount val="7"/>
                <c:pt idx="0">
                  <c:v>4.0</c:v>
                </c:pt>
                <c:pt idx="1">
                  <c:v>4.0</c:v>
                </c:pt>
                <c:pt idx="2">
                  <c:v>4.0</c:v>
                </c:pt>
                <c:pt idx="3">
                  <c:v>4.0</c:v>
                </c:pt>
                <c:pt idx="4">
                  <c:v>4.0</c:v>
                </c:pt>
                <c:pt idx="5">
                  <c:v>4.0</c:v>
                </c:pt>
                <c:pt idx="6">
                  <c:v>4.0</c:v>
                </c:pt>
              </c:numCache>
            </c:numRef>
          </c:val>
        </c:ser>
        <c:dLbls>
          <c:showLegendKey val="0"/>
          <c:showVal val="0"/>
          <c:showCatName val="0"/>
          <c:showSerName val="0"/>
          <c:showPercent val="0"/>
          <c:showBubbleSize val="0"/>
        </c:dLbls>
        <c:gapWidth val="0"/>
        <c:axId val="2140571160"/>
        <c:axId val="2140779544"/>
      </c:barChart>
      <c:catAx>
        <c:axId val="2140571160"/>
        <c:scaling>
          <c:orientation val="minMax"/>
        </c:scaling>
        <c:delete val="0"/>
        <c:axPos val="b"/>
        <c:majorTickMark val="out"/>
        <c:minorTickMark val="none"/>
        <c:tickLblPos val="nextTo"/>
        <c:crossAx val="2140779544"/>
        <c:crosses val="autoZero"/>
        <c:auto val="1"/>
        <c:lblAlgn val="ctr"/>
        <c:lblOffset val="100"/>
        <c:noMultiLvlLbl val="0"/>
      </c:catAx>
      <c:valAx>
        <c:axId val="2140779544"/>
        <c:scaling>
          <c:orientation val="minMax"/>
        </c:scaling>
        <c:delete val="0"/>
        <c:axPos val="l"/>
        <c:majorGridlines/>
        <c:numFmt formatCode="General" sourceLinked="1"/>
        <c:majorTickMark val="out"/>
        <c:minorTickMark val="none"/>
        <c:tickLblPos val="nextTo"/>
        <c:crossAx val="2140571160"/>
        <c:crosses val="autoZero"/>
        <c:crossBetween val="between"/>
      </c:valAx>
    </c:plotArea>
    <c:plotVisOnly val="1"/>
    <c:dispBlanksAs val="gap"/>
    <c:showDLblsOverMax val="0"/>
  </c:chart>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F0334EE-BDCD-E940-9BE8-394FEA1F9AC3}" type="datetimeFigureOut">
              <a:rPr lang="en-US" smtClean="0"/>
              <a:t>4/11/17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3973646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F0334EE-BDCD-E940-9BE8-394FEA1F9AC3}" type="datetimeFigureOut">
              <a:rPr lang="en-US" smtClean="0"/>
              <a:t>4/11/17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224089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F0334EE-BDCD-E940-9BE8-394FEA1F9AC3}" type="datetimeFigureOut">
              <a:rPr lang="en-US" smtClean="0"/>
              <a:t>4/11/17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3516081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F0334EE-BDCD-E940-9BE8-394FEA1F9AC3}" type="datetimeFigureOut">
              <a:rPr lang="en-US" smtClean="0"/>
              <a:t>4/11/17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2355175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F0334EE-BDCD-E940-9BE8-394FEA1F9AC3}" type="datetimeFigureOut">
              <a:rPr lang="en-US" smtClean="0"/>
              <a:t>4/11/17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991126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F0334EE-BDCD-E940-9BE8-394FEA1F9AC3}" type="datetimeFigureOut">
              <a:rPr lang="en-US" smtClean="0"/>
              <a:t>4/11/17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3478294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0334EE-BDCD-E940-9BE8-394FEA1F9AC3}" type="datetimeFigureOut">
              <a:rPr lang="en-US" smtClean="0"/>
              <a:t>4/11/17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3079001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F0334EE-BDCD-E940-9BE8-394FEA1F9AC3}" type="datetimeFigureOut">
              <a:rPr lang="en-US" smtClean="0"/>
              <a:t>4/11/17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1442013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F0334EE-BDCD-E940-9BE8-394FEA1F9AC3}" type="datetimeFigureOut">
              <a:rPr lang="en-US" smtClean="0"/>
              <a:t>4/11/17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2757996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F0334EE-BDCD-E940-9BE8-394FEA1F9AC3}" type="datetimeFigureOut">
              <a:rPr lang="en-US" smtClean="0"/>
              <a:t>4/11/17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1862631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F0334EE-BDCD-E940-9BE8-394FEA1F9AC3}" type="datetimeFigureOut">
              <a:rPr lang="en-US" smtClean="0"/>
              <a:t>4/11/17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B6A61D-F79D-A746-80BF-88929137AC9F}" type="slidenum">
              <a:rPr lang="en-US" smtClean="0"/>
              <a:t>‹#›</a:t>
            </a:fld>
            <a:endParaRPr lang="en-US" dirty="0"/>
          </a:p>
        </p:txBody>
      </p:sp>
    </p:spTree>
    <p:extLst>
      <p:ext uri="{BB962C8B-B14F-4D97-AF65-F5344CB8AC3E}">
        <p14:creationId xmlns:p14="http://schemas.microsoft.com/office/powerpoint/2010/main" val="2784232294"/>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0334EE-BDCD-E940-9BE8-394FEA1F9AC3}" type="datetimeFigureOut">
              <a:rPr lang="en-US" smtClean="0"/>
              <a:t>4/11/17</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B6A61D-F79D-A746-80BF-88929137AC9F}" type="slidenum">
              <a:rPr lang="en-US" smtClean="0"/>
              <a:t>‹#›</a:t>
            </a:fld>
            <a:endParaRPr lang="en-US" dirty="0"/>
          </a:p>
        </p:txBody>
      </p:sp>
    </p:spTree>
    <p:extLst>
      <p:ext uri="{BB962C8B-B14F-4D97-AF65-F5344CB8AC3E}">
        <p14:creationId xmlns:p14="http://schemas.microsoft.com/office/powerpoint/2010/main" val="8116701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chart" Target="../charts/char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chart" Target="../charts/char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chart" Target="../charts/char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chart" Target="../charts/char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chart" Target="../charts/char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hyperlink" Target="http://www.teacherspayteachers.com/store/math-byrd" TargetMode="External"/><Relationship Id="rId4" Type="http://schemas.openxmlformats.org/officeDocument/2006/relationships/hyperlink" Target="mailto:mathbyrd@gmail.com" TargetMode="External"/><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4" Type="http://schemas.openxmlformats.org/officeDocument/2006/relationships/hyperlink" Target="http://www.teacherspayteachers.com/store/math-byrd" TargetMode="External"/><Relationship Id="rId1" Type="http://schemas.openxmlformats.org/officeDocument/2006/relationships/slideLayout" Target="../slideLayouts/slideLayout2.xml"/><Relationship Id="rId2"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Red-Gingham-Checkered-Background-800px.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TextBox 4"/>
          <p:cNvSpPr txBox="1"/>
          <p:nvPr/>
        </p:nvSpPr>
        <p:spPr>
          <a:xfrm>
            <a:off x="0" y="976975"/>
            <a:ext cx="9144000" cy="4585870"/>
          </a:xfrm>
          <a:prstGeom prst="rect">
            <a:avLst/>
          </a:prstGeom>
          <a:solidFill>
            <a:schemeClr val="bg1"/>
          </a:solidFill>
        </p:spPr>
        <p:txBody>
          <a:bodyPr wrap="square" rtlCol="0">
            <a:spAutoFit/>
          </a:bodyPr>
          <a:lstStyle/>
          <a:p>
            <a:r>
              <a:rPr lang="en-US" sz="6200" dirty="0" smtClean="0">
                <a:latin typeface="Braggadocio"/>
                <a:cs typeface="Braggadocio"/>
              </a:rPr>
              <a:t>Representing &amp; Interpreting Data</a:t>
            </a:r>
          </a:p>
          <a:p>
            <a:pPr algn="ctr"/>
            <a:endParaRPr lang="en-US" sz="2400" b="1" dirty="0" smtClean="0">
              <a:latin typeface="Century Gothic"/>
              <a:cs typeface="Century Gothic"/>
            </a:endParaRPr>
          </a:p>
          <a:p>
            <a:pPr algn="ctr"/>
            <a:r>
              <a:rPr lang="en-US" sz="2400" b="1" dirty="0" smtClean="0">
                <a:latin typeface="Century Gothic"/>
                <a:cs typeface="Century Gothic"/>
              </a:rPr>
              <a:t>COMMON CORE STANDARDS: </a:t>
            </a:r>
          </a:p>
          <a:p>
            <a:r>
              <a:rPr lang="en-US" sz="2400" b="1" dirty="0" smtClean="0">
                <a:latin typeface="Century Gothic"/>
                <a:cs typeface="Century Gothic"/>
              </a:rPr>
              <a:t>CCSS.HSS.ID.A.1 </a:t>
            </a:r>
            <a:r>
              <a:rPr lang="en-US" sz="2400" dirty="0" smtClean="0">
                <a:latin typeface="Century Gothic"/>
                <a:cs typeface="Century Gothic"/>
              </a:rPr>
              <a:t>Represent data with plots on the real 	number line (dot plots, histograms, and box plots).</a:t>
            </a:r>
          </a:p>
          <a:p>
            <a:r>
              <a:rPr lang="en-US" sz="2400" b="1" dirty="0" smtClean="0">
                <a:latin typeface="Century Gothic"/>
                <a:cs typeface="Century Gothic"/>
              </a:rPr>
              <a:t>CCSS.HSS.ID.A.3 </a:t>
            </a:r>
            <a:r>
              <a:rPr lang="en-US" sz="2400" dirty="0" smtClean="0">
                <a:latin typeface="Century Gothic"/>
                <a:cs typeface="Century Gothic"/>
              </a:rPr>
              <a:t>Interpret differences in shape, center, and 	spread in the context of the data sets, accounting for 	possible effects of extreme data points (outliers).</a:t>
            </a:r>
          </a:p>
        </p:txBody>
      </p:sp>
      <p:sp>
        <p:nvSpPr>
          <p:cNvPr id="6" name="TextBox 5"/>
          <p:cNvSpPr txBox="1"/>
          <p:nvPr/>
        </p:nvSpPr>
        <p:spPr>
          <a:xfrm>
            <a:off x="3564061" y="6501717"/>
            <a:ext cx="3482128" cy="369332"/>
          </a:xfrm>
          <a:prstGeom prst="rect">
            <a:avLst/>
          </a:prstGeom>
          <a:noFill/>
        </p:spPr>
        <p:txBody>
          <a:bodyPr wrap="square" rtlCol="0">
            <a:spAutoFit/>
          </a:bodyPr>
          <a:lstStyle/>
          <a:p>
            <a:r>
              <a:rPr lang="en-US" b="1" dirty="0" smtClean="0"/>
              <a:t>Created by: Math Byrd</a:t>
            </a:r>
            <a:endParaRPr lang="en-US" b="1" dirty="0"/>
          </a:p>
        </p:txBody>
      </p:sp>
    </p:spTree>
    <p:extLst>
      <p:ext uri="{BB962C8B-B14F-4D97-AF65-F5344CB8AC3E}">
        <p14:creationId xmlns:p14="http://schemas.microsoft.com/office/powerpoint/2010/main" val="563291484"/>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1869967" y="809492"/>
            <a:ext cx="5554082" cy="1107996"/>
          </a:xfrm>
          <a:prstGeom prst="rect">
            <a:avLst/>
          </a:prstGeom>
          <a:noFill/>
        </p:spPr>
        <p:txBody>
          <a:bodyPr wrap="square" rtlCol="0">
            <a:spAutoFit/>
          </a:bodyPr>
          <a:lstStyle/>
          <a:p>
            <a:pPr algn="ctr"/>
            <a:r>
              <a:rPr lang="en-US" sz="6600" b="1" dirty="0" smtClean="0">
                <a:latin typeface="Rockwell"/>
                <a:cs typeface="Rockwell"/>
              </a:rPr>
              <a:t>DOT PLOT</a:t>
            </a:r>
            <a:endParaRPr lang="en-US" sz="6600" b="1" dirty="0">
              <a:latin typeface="Rockwell"/>
              <a:cs typeface="Rockwell"/>
            </a:endParaRPr>
          </a:p>
        </p:txBody>
      </p:sp>
      <p:pic>
        <p:nvPicPr>
          <p:cNvPr id="7" name="Picture 6" descr="dots-2-300px.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9900" y="2026443"/>
            <a:ext cx="3124200" cy="3810000"/>
          </a:xfrm>
          <a:prstGeom prst="rect">
            <a:avLst/>
          </a:prstGeom>
        </p:spPr>
      </p:pic>
    </p:spTree>
    <p:extLst>
      <p:ext uri="{BB962C8B-B14F-4D97-AF65-F5344CB8AC3E}">
        <p14:creationId xmlns:p14="http://schemas.microsoft.com/office/powerpoint/2010/main" val="2780748988"/>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r>
              <a:rPr lang="en-US" dirty="0" smtClean="0"/>
              <a:t>Graphic display of data using dots</a:t>
            </a:r>
          </a:p>
          <a:p>
            <a:r>
              <a:rPr lang="en-US" dirty="0" smtClean="0"/>
              <a:t>The data values are on the horizontal axis</a:t>
            </a:r>
          </a:p>
          <a:p>
            <a:r>
              <a:rPr lang="en-US" dirty="0" smtClean="0"/>
              <a:t>The frequency of each data is represented by dots</a:t>
            </a:r>
          </a:p>
          <a:p>
            <a:endParaRPr lang="en-US" dirty="0" smtClean="0"/>
          </a:p>
          <a:p>
            <a:r>
              <a:rPr lang="en-US" dirty="0" smtClean="0"/>
              <a:t>Ex: A survey for “How many green shirts do you own?” had these results:</a:t>
            </a:r>
          </a:p>
          <a:p>
            <a:r>
              <a:rPr lang="en-US" dirty="0" smtClean="0"/>
              <a:t> 5, 3, 3, 0, 6, 2, 1, 4, 3, 7, 2, 4, 5, 4, 2, 5, 1, 6, 0</a:t>
            </a:r>
            <a:endParaRPr lang="en-US" dirty="0"/>
          </a:p>
        </p:txBody>
      </p:sp>
      <p:sp>
        <p:nvSpPr>
          <p:cNvPr id="6" name="TextBox 5"/>
          <p:cNvSpPr txBox="1"/>
          <p:nvPr/>
        </p:nvSpPr>
        <p:spPr>
          <a:xfrm>
            <a:off x="1869967" y="516399"/>
            <a:ext cx="5554082" cy="830997"/>
          </a:xfrm>
          <a:prstGeom prst="rect">
            <a:avLst/>
          </a:prstGeom>
          <a:noFill/>
        </p:spPr>
        <p:txBody>
          <a:bodyPr wrap="square" rtlCol="0">
            <a:spAutoFit/>
          </a:bodyPr>
          <a:lstStyle/>
          <a:p>
            <a:pPr algn="ctr"/>
            <a:r>
              <a:rPr lang="en-US" sz="4800" b="1" dirty="0" smtClean="0">
                <a:latin typeface="Rockwell"/>
                <a:cs typeface="Rockwell"/>
              </a:rPr>
              <a:t>DOT PLOT</a:t>
            </a:r>
            <a:endParaRPr lang="en-US" sz="4800" b="1" dirty="0">
              <a:latin typeface="Rockwell"/>
              <a:cs typeface="Rockwell"/>
            </a:endParaRPr>
          </a:p>
        </p:txBody>
      </p:sp>
      <p:sp>
        <p:nvSpPr>
          <p:cNvPr id="2" name="TextBox 1"/>
          <p:cNvSpPr txBox="1"/>
          <p:nvPr/>
        </p:nvSpPr>
        <p:spPr>
          <a:xfrm>
            <a:off x="586109" y="1347396"/>
            <a:ext cx="7982248" cy="2677656"/>
          </a:xfrm>
          <a:prstGeom prst="rect">
            <a:avLst/>
          </a:prstGeom>
          <a:noFill/>
        </p:spPr>
        <p:txBody>
          <a:bodyPr wrap="square" rtlCol="0">
            <a:spAutoFit/>
          </a:bodyPr>
          <a:lstStyle/>
          <a:p>
            <a:r>
              <a:rPr lang="en-US" sz="2400" dirty="0" smtClean="0"/>
              <a:t>Graphic display of data using dots</a:t>
            </a:r>
          </a:p>
          <a:p>
            <a:r>
              <a:rPr lang="en-US" sz="2400" dirty="0" smtClean="0"/>
              <a:t>The data values are on the horizontal axis</a:t>
            </a:r>
          </a:p>
          <a:p>
            <a:r>
              <a:rPr lang="en-US" sz="2400" dirty="0" smtClean="0"/>
              <a:t>The frequency of each data is represented by dots</a:t>
            </a:r>
          </a:p>
          <a:p>
            <a:endParaRPr lang="en-US" sz="2400" dirty="0" smtClean="0"/>
          </a:p>
          <a:p>
            <a:r>
              <a:rPr lang="en-US" sz="2400" dirty="0" smtClean="0"/>
              <a:t>Ex: A survey for “How many green shirts do you own?” had these results:</a:t>
            </a:r>
          </a:p>
          <a:p>
            <a:r>
              <a:rPr lang="en-US" sz="2400" dirty="0" smtClean="0"/>
              <a:t> 5, 3, 3, 0, 6, 2, 1, 4, 3, 7, 2, 4, 5, 4, 2, 5, 1, 6, 0</a:t>
            </a:r>
            <a:endParaRPr lang="en-US" sz="2400" dirty="0"/>
          </a:p>
        </p:txBody>
      </p:sp>
    </p:spTree>
    <p:extLst>
      <p:ext uri="{BB962C8B-B14F-4D97-AF65-F5344CB8AC3E}">
        <p14:creationId xmlns:p14="http://schemas.microsoft.com/office/powerpoint/2010/main" val="3904655346"/>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r>
              <a:rPr lang="en-US" dirty="0" smtClean="0"/>
              <a:t>Graphic display of data using dots</a:t>
            </a:r>
          </a:p>
          <a:p>
            <a:r>
              <a:rPr lang="en-US" dirty="0" smtClean="0"/>
              <a:t>The data values are on the horizontal axis</a:t>
            </a:r>
          </a:p>
          <a:p>
            <a:r>
              <a:rPr lang="en-US" dirty="0" smtClean="0"/>
              <a:t>The frequency of each data is represented by dots</a:t>
            </a:r>
          </a:p>
          <a:p>
            <a:endParaRPr lang="en-US" dirty="0" smtClean="0"/>
          </a:p>
          <a:p>
            <a:r>
              <a:rPr lang="en-US" dirty="0" smtClean="0"/>
              <a:t>Ex: A survey for “How many green shirts do you own?” had these results:</a:t>
            </a:r>
          </a:p>
          <a:p>
            <a:r>
              <a:rPr lang="en-US" dirty="0" smtClean="0"/>
              <a:t> 5, 3, 3, 0, 6, 2, 1, 4, 3, 7, 2, 4, 5, 4, 2, 5, 1, 6, 0</a:t>
            </a:r>
            <a:endParaRPr lang="en-US" dirty="0"/>
          </a:p>
        </p:txBody>
      </p:sp>
      <p:sp>
        <p:nvSpPr>
          <p:cNvPr id="6" name="TextBox 5"/>
          <p:cNvSpPr txBox="1"/>
          <p:nvPr/>
        </p:nvSpPr>
        <p:spPr>
          <a:xfrm>
            <a:off x="1869967" y="516399"/>
            <a:ext cx="5554082" cy="830997"/>
          </a:xfrm>
          <a:prstGeom prst="rect">
            <a:avLst/>
          </a:prstGeom>
          <a:noFill/>
        </p:spPr>
        <p:txBody>
          <a:bodyPr wrap="square" rtlCol="0">
            <a:spAutoFit/>
          </a:bodyPr>
          <a:lstStyle/>
          <a:p>
            <a:pPr algn="ctr"/>
            <a:r>
              <a:rPr lang="en-US" sz="4800" b="1" dirty="0" smtClean="0">
                <a:latin typeface="Rockwell"/>
                <a:cs typeface="Rockwell"/>
              </a:rPr>
              <a:t>DOT PLOT</a:t>
            </a:r>
            <a:endParaRPr lang="en-US" sz="4800" b="1" dirty="0">
              <a:latin typeface="Rockwell"/>
              <a:cs typeface="Rockwell"/>
            </a:endParaRPr>
          </a:p>
        </p:txBody>
      </p:sp>
      <p:sp>
        <p:nvSpPr>
          <p:cNvPr id="2" name="TextBox 1"/>
          <p:cNvSpPr txBox="1"/>
          <p:nvPr/>
        </p:nvSpPr>
        <p:spPr>
          <a:xfrm>
            <a:off x="586109" y="1347396"/>
            <a:ext cx="7982248" cy="2554545"/>
          </a:xfrm>
          <a:prstGeom prst="rect">
            <a:avLst/>
          </a:prstGeom>
          <a:noFill/>
        </p:spPr>
        <p:txBody>
          <a:bodyPr wrap="square" rtlCol="0">
            <a:spAutoFit/>
          </a:bodyPr>
          <a:lstStyle/>
          <a:p>
            <a:r>
              <a:rPr lang="en-US" sz="3200" dirty="0" smtClean="0"/>
              <a:t>The </a:t>
            </a:r>
            <a:r>
              <a:rPr lang="en-US" sz="3200" b="1" dirty="0" smtClean="0"/>
              <a:t>modal value</a:t>
            </a:r>
            <a:r>
              <a:rPr lang="en-US" sz="3200" dirty="0" smtClean="0"/>
              <a:t>, or the number that appears most often in a set, is easily determined when examining a dot plot. What is the modal value, also known as the mode, for the previous example?</a:t>
            </a:r>
            <a:endParaRPr lang="en-US" sz="3200" dirty="0"/>
          </a:p>
        </p:txBody>
      </p:sp>
    </p:spTree>
    <p:extLst>
      <p:ext uri="{BB962C8B-B14F-4D97-AF65-F5344CB8AC3E}">
        <p14:creationId xmlns:p14="http://schemas.microsoft.com/office/powerpoint/2010/main" val="509932833"/>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809492"/>
            <a:ext cx="7982248" cy="1107996"/>
          </a:xfrm>
          <a:prstGeom prst="rect">
            <a:avLst/>
          </a:prstGeom>
          <a:noFill/>
        </p:spPr>
        <p:txBody>
          <a:bodyPr wrap="square" rtlCol="0">
            <a:spAutoFit/>
          </a:bodyPr>
          <a:lstStyle/>
          <a:p>
            <a:pPr algn="ctr"/>
            <a:r>
              <a:rPr lang="en-US" sz="6600" b="1" dirty="0" smtClean="0">
                <a:latin typeface="Rockwell"/>
                <a:cs typeface="Rockwell"/>
              </a:rPr>
              <a:t>HISTOGRAM</a:t>
            </a:r>
            <a:endParaRPr lang="en-US" sz="6600" b="1" dirty="0">
              <a:latin typeface="Rockwell"/>
              <a:cs typeface="Rockwell"/>
            </a:endParaRPr>
          </a:p>
        </p:txBody>
      </p:sp>
      <p:pic>
        <p:nvPicPr>
          <p:cNvPr id="2" name="Picture 1" descr="achievement-18134_1280.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6461" y="1917488"/>
            <a:ext cx="5878535" cy="4358383"/>
          </a:xfrm>
          <a:prstGeom prst="rect">
            <a:avLst/>
          </a:prstGeom>
        </p:spPr>
      </p:pic>
    </p:spTree>
    <p:extLst>
      <p:ext uri="{BB962C8B-B14F-4D97-AF65-F5344CB8AC3E}">
        <p14:creationId xmlns:p14="http://schemas.microsoft.com/office/powerpoint/2010/main" val="3444751153"/>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88486"/>
            <a:ext cx="7982248" cy="830997"/>
          </a:xfrm>
          <a:prstGeom prst="rect">
            <a:avLst/>
          </a:prstGeom>
          <a:noFill/>
        </p:spPr>
        <p:txBody>
          <a:bodyPr wrap="square" rtlCol="0">
            <a:spAutoFit/>
          </a:bodyPr>
          <a:lstStyle/>
          <a:p>
            <a:pPr algn="ctr"/>
            <a:r>
              <a:rPr lang="en-US" sz="4800" b="1" dirty="0" smtClean="0">
                <a:latin typeface="Rockwell"/>
                <a:cs typeface="Rockwell"/>
              </a:rPr>
              <a:t>HISTOGRAM</a:t>
            </a:r>
            <a:endParaRPr lang="en-US" sz="4800" b="1" dirty="0">
              <a:latin typeface="Rockwell"/>
              <a:cs typeface="Rockwell"/>
            </a:endParaRPr>
          </a:p>
        </p:txBody>
      </p:sp>
      <p:sp>
        <p:nvSpPr>
          <p:cNvPr id="3" name="TextBox 2"/>
          <p:cNvSpPr txBox="1"/>
          <p:nvPr/>
        </p:nvSpPr>
        <p:spPr>
          <a:xfrm>
            <a:off x="586109" y="1221786"/>
            <a:ext cx="7982248" cy="2800766"/>
          </a:xfrm>
          <a:prstGeom prst="rect">
            <a:avLst/>
          </a:prstGeom>
          <a:noFill/>
        </p:spPr>
        <p:txBody>
          <a:bodyPr wrap="square" rtlCol="0">
            <a:spAutoFit/>
          </a:bodyPr>
          <a:lstStyle/>
          <a:p>
            <a:r>
              <a:rPr lang="en-US" sz="2200" dirty="0" smtClean="0"/>
              <a:t>Graphic display of data using bars</a:t>
            </a:r>
          </a:p>
          <a:p>
            <a:r>
              <a:rPr lang="en-US" sz="2200" dirty="0" smtClean="0"/>
              <a:t>The data values are grouped in number ranges, or class intervals, on the horizontal axis </a:t>
            </a:r>
          </a:p>
          <a:p>
            <a:r>
              <a:rPr lang="en-US" sz="2200" dirty="0" smtClean="0"/>
              <a:t>The frequency of each data is on the vertical axis (height of bar)</a:t>
            </a:r>
          </a:p>
          <a:p>
            <a:endParaRPr lang="en-US" sz="2200" dirty="0" smtClean="0"/>
          </a:p>
          <a:p>
            <a:r>
              <a:rPr lang="en-US" sz="2200" dirty="0" smtClean="0"/>
              <a:t>Ex: A survey for the heights (in inches) of students in had these results:</a:t>
            </a:r>
          </a:p>
          <a:p>
            <a:r>
              <a:rPr lang="en-US" sz="2200" dirty="0" smtClean="0"/>
              <a:t>51, 53, 68, 74, 66, 54, 55, 57, 72, 56, 59, 60, 61,63</a:t>
            </a:r>
            <a:endParaRPr lang="en-US" sz="2200" dirty="0"/>
          </a:p>
        </p:txBody>
      </p:sp>
    </p:spTree>
    <p:extLst>
      <p:ext uri="{BB962C8B-B14F-4D97-AF65-F5344CB8AC3E}">
        <p14:creationId xmlns:p14="http://schemas.microsoft.com/office/powerpoint/2010/main" val="1566241513"/>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1869967" y="460572"/>
            <a:ext cx="5554082" cy="1107996"/>
          </a:xfrm>
          <a:prstGeom prst="rect">
            <a:avLst/>
          </a:prstGeom>
          <a:noFill/>
        </p:spPr>
        <p:txBody>
          <a:bodyPr wrap="square" rtlCol="0">
            <a:spAutoFit/>
          </a:bodyPr>
          <a:lstStyle/>
          <a:p>
            <a:pPr algn="ctr"/>
            <a:r>
              <a:rPr lang="en-US" sz="6600" b="1" dirty="0" smtClean="0">
                <a:latin typeface="Rockwell"/>
                <a:cs typeface="Rockwell"/>
              </a:rPr>
              <a:t>BOX PLOT</a:t>
            </a:r>
            <a:endParaRPr lang="en-US" sz="6600" b="1" dirty="0">
              <a:latin typeface="Rockwell"/>
              <a:cs typeface="Rockwell"/>
            </a:endParaRPr>
          </a:p>
        </p:txBody>
      </p:sp>
      <p:pic>
        <p:nvPicPr>
          <p:cNvPr id="2" name="Picture 1" descr="boxplotfig7.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804" y="1395675"/>
            <a:ext cx="6858000" cy="5010474"/>
          </a:xfrm>
          <a:prstGeom prst="rect">
            <a:avLst/>
          </a:prstGeom>
        </p:spPr>
      </p:pic>
    </p:spTree>
    <p:extLst>
      <p:ext uri="{BB962C8B-B14F-4D97-AF65-F5344CB8AC3E}">
        <p14:creationId xmlns:p14="http://schemas.microsoft.com/office/powerpoint/2010/main" val="3444751153"/>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1869967" y="460572"/>
            <a:ext cx="5554082" cy="830997"/>
          </a:xfrm>
          <a:prstGeom prst="rect">
            <a:avLst/>
          </a:prstGeom>
          <a:noFill/>
        </p:spPr>
        <p:txBody>
          <a:bodyPr wrap="square" rtlCol="0">
            <a:spAutoFit/>
          </a:bodyPr>
          <a:lstStyle/>
          <a:p>
            <a:pPr algn="ctr"/>
            <a:r>
              <a:rPr lang="en-US" sz="4800" b="1" dirty="0" smtClean="0">
                <a:latin typeface="Rockwell"/>
                <a:cs typeface="Rockwell"/>
              </a:rPr>
              <a:t>BOX PLOT</a:t>
            </a:r>
            <a:endParaRPr lang="en-US" sz="4800" b="1" dirty="0">
              <a:latin typeface="Rockwell"/>
              <a:cs typeface="Rockwell"/>
            </a:endParaRPr>
          </a:p>
        </p:txBody>
      </p:sp>
      <p:sp>
        <p:nvSpPr>
          <p:cNvPr id="3" name="TextBox 2"/>
          <p:cNvSpPr txBox="1"/>
          <p:nvPr/>
        </p:nvSpPr>
        <p:spPr>
          <a:xfrm>
            <a:off x="586109" y="1305526"/>
            <a:ext cx="7982247" cy="2031325"/>
          </a:xfrm>
          <a:prstGeom prst="rect">
            <a:avLst/>
          </a:prstGeom>
          <a:noFill/>
        </p:spPr>
        <p:txBody>
          <a:bodyPr wrap="square" rtlCol="0">
            <a:spAutoFit/>
          </a:bodyPr>
          <a:lstStyle/>
          <a:p>
            <a:pPr marL="228600" indent="-228600">
              <a:buAutoNum type="arabicParenR"/>
            </a:pPr>
            <a:r>
              <a:rPr lang="en-US" dirty="0" smtClean="0"/>
              <a:t>Find the 5 number summary of the data set: </a:t>
            </a:r>
            <a:r>
              <a:rPr lang="en-US" b="1" dirty="0" smtClean="0"/>
              <a:t>min., Q1, median, Q3, max.</a:t>
            </a:r>
            <a:endParaRPr lang="en-US" dirty="0" smtClean="0"/>
          </a:p>
          <a:p>
            <a:r>
              <a:rPr lang="en-US" dirty="0" smtClean="0"/>
              <a:t>2) Create a horizontal or vertical number line, make sure to use a scale that includes the numbers from your 5 number summary</a:t>
            </a:r>
          </a:p>
          <a:p>
            <a:r>
              <a:rPr lang="en-US" dirty="0" smtClean="0"/>
              <a:t>3) Use the 5 numbers to create a box plot. </a:t>
            </a:r>
          </a:p>
          <a:p>
            <a:endParaRPr lang="en-US" dirty="0" smtClean="0"/>
          </a:p>
          <a:p>
            <a:r>
              <a:rPr lang="en-US" dirty="0" smtClean="0"/>
              <a:t>Ex: A survey for the average miles per gallon(mpg) of each car in a parking lot had these results: 29, 22, 13, 28, 24, 32, 25, 28, 27, 22, 30</a:t>
            </a:r>
            <a:endParaRPr lang="en-US" dirty="0"/>
          </a:p>
        </p:txBody>
      </p:sp>
    </p:spTree>
    <p:extLst>
      <p:ext uri="{BB962C8B-B14F-4D97-AF65-F5344CB8AC3E}">
        <p14:creationId xmlns:p14="http://schemas.microsoft.com/office/powerpoint/2010/main" val="734880990"/>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1869967" y="460572"/>
            <a:ext cx="5554082" cy="830997"/>
          </a:xfrm>
          <a:prstGeom prst="rect">
            <a:avLst/>
          </a:prstGeom>
          <a:noFill/>
        </p:spPr>
        <p:txBody>
          <a:bodyPr wrap="square" rtlCol="0">
            <a:spAutoFit/>
          </a:bodyPr>
          <a:lstStyle/>
          <a:p>
            <a:pPr algn="ctr"/>
            <a:r>
              <a:rPr lang="en-US" sz="4800" b="1" dirty="0" smtClean="0">
                <a:latin typeface="Rockwell"/>
                <a:cs typeface="Rockwell"/>
              </a:rPr>
              <a:t>BOX PLOT</a:t>
            </a:r>
            <a:endParaRPr lang="en-US" sz="4800" b="1" dirty="0">
              <a:latin typeface="Rockwell"/>
              <a:cs typeface="Rockwell"/>
            </a:endParaRPr>
          </a:p>
        </p:txBody>
      </p:sp>
      <p:sp>
        <p:nvSpPr>
          <p:cNvPr id="3" name="TextBox 2"/>
          <p:cNvSpPr txBox="1"/>
          <p:nvPr/>
        </p:nvSpPr>
        <p:spPr>
          <a:xfrm>
            <a:off x="586109" y="1305526"/>
            <a:ext cx="7982247" cy="4247316"/>
          </a:xfrm>
          <a:prstGeom prst="rect">
            <a:avLst/>
          </a:prstGeom>
          <a:noFill/>
        </p:spPr>
        <p:txBody>
          <a:bodyPr wrap="square" rtlCol="0">
            <a:spAutoFit/>
          </a:bodyPr>
          <a:lstStyle/>
          <a:p>
            <a:r>
              <a:rPr lang="en-US" sz="2700" dirty="0" smtClean="0"/>
              <a:t>The </a:t>
            </a:r>
            <a:r>
              <a:rPr lang="en-US" sz="2700" b="1" dirty="0" smtClean="0"/>
              <a:t>range</a:t>
            </a:r>
            <a:r>
              <a:rPr lang="en-US" sz="2700" dirty="0" smtClean="0"/>
              <a:t>, the difference between the maximum and the minimum values, is easily determined by examining a box plot. What is the range for the previous example?</a:t>
            </a:r>
          </a:p>
          <a:p>
            <a:endParaRPr lang="en-US" sz="2700" dirty="0" smtClean="0"/>
          </a:p>
          <a:p>
            <a:endParaRPr lang="en-US" sz="2700" dirty="0" smtClean="0"/>
          </a:p>
          <a:p>
            <a:endParaRPr lang="en-US" sz="2000" dirty="0"/>
          </a:p>
          <a:p>
            <a:r>
              <a:rPr lang="en-US" sz="2700" dirty="0" smtClean="0"/>
              <a:t>The </a:t>
            </a:r>
            <a:r>
              <a:rPr lang="en-US" sz="2700" b="1" dirty="0" smtClean="0"/>
              <a:t>interquartile range</a:t>
            </a:r>
            <a:r>
              <a:rPr lang="en-US" sz="2700" dirty="0" smtClean="0"/>
              <a:t>, the difference between the 3</a:t>
            </a:r>
            <a:r>
              <a:rPr lang="en-US" sz="2700" baseline="30000" dirty="0" smtClean="0"/>
              <a:t>rd</a:t>
            </a:r>
            <a:r>
              <a:rPr lang="en-US" sz="2700" dirty="0" smtClean="0"/>
              <a:t> quartile and the 1</a:t>
            </a:r>
            <a:r>
              <a:rPr lang="en-US" sz="2700" baseline="30000" dirty="0" smtClean="0"/>
              <a:t>st</a:t>
            </a:r>
            <a:r>
              <a:rPr lang="en-US" sz="2700" dirty="0" smtClean="0"/>
              <a:t> quartile, is also easily determined by examining a box plot. What is the interquartile range in the previous example?</a:t>
            </a:r>
            <a:endParaRPr lang="en-US" sz="2700" dirty="0"/>
          </a:p>
        </p:txBody>
      </p:sp>
    </p:spTree>
    <p:extLst>
      <p:ext uri="{BB962C8B-B14F-4D97-AF65-F5344CB8AC3E}">
        <p14:creationId xmlns:p14="http://schemas.microsoft.com/office/powerpoint/2010/main" val="3146698093"/>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60572"/>
            <a:ext cx="7982248" cy="830997"/>
          </a:xfrm>
          <a:prstGeom prst="rect">
            <a:avLst/>
          </a:prstGeom>
          <a:noFill/>
        </p:spPr>
        <p:txBody>
          <a:bodyPr wrap="square" rtlCol="0">
            <a:spAutoFit/>
          </a:bodyPr>
          <a:lstStyle/>
          <a:p>
            <a:pPr algn="ctr"/>
            <a:r>
              <a:rPr lang="en-US" sz="4800" b="1" dirty="0" smtClean="0">
                <a:latin typeface="Rockwell"/>
                <a:cs typeface="Rockwell"/>
              </a:rPr>
              <a:t>Distribution of Data</a:t>
            </a:r>
            <a:endParaRPr lang="en-US" sz="4800" b="1" dirty="0">
              <a:latin typeface="Rockwell"/>
              <a:cs typeface="Rockwell"/>
            </a:endParaRPr>
          </a:p>
        </p:txBody>
      </p:sp>
      <p:pic>
        <p:nvPicPr>
          <p:cNvPr id="7" name="Picture 6" descr="Student-ChalkSlate--Arvin61r58-300px.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1617" y="1291569"/>
            <a:ext cx="6899451" cy="4894972"/>
          </a:xfrm>
          <a:prstGeom prst="rect">
            <a:avLst/>
          </a:prstGeom>
        </p:spPr>
      </p:pic>
      <p:sp>
        <p:nvSpPr>
          <p:cNvPr id="8" name="TextBox 7"/>
          <p:cNvSpPr txBox="1"/>
          <p:nvPr/>
        </p:nvSpPr>
        <p:spPr>
          <a:xfrm>
            <a:off x="1706276" y="1713537"/>
            <a:ext cx="6311958" cy="4031873"/>
          </a:xfrm>
          <a:prstGeom prst="rect">
            <a:avLst/>
          </a:prstGeom>
          <a:noFill/>
        </p:spPr>
        <p:txBody>
          <a:bodyPr wrap="square" rtlCol="0">
            <a:spAutoFit/>
          </a:bodyPr>
          <a:lstStyle/>
          <a:p>
            <a:r>
              <a:rPr lang="en-US" sz="3200" dirty="0" smtClean="0">
                <a:solidFill>
                  <a:schemeClr val="bg1"/>
                </a:solidFill>
                <a:latin typeface="Chalkboard"/>
                <a:cs typeface="Chalkboard"/>
              </a:rPr>
              <a:t>The distribution of data shows how the data is arranged. We can discuss distribution in 3 ways:</a:t>
            </a:r>
          </a:p>
          <a:p>
            <a:endParaRPr lang="en-US" sz="3200" dirty="0" smtClean="0">
              <a:solidFill>
                <a:schemeClr val="bg1"/>
              </a:solidFill>
              <a:latin typeface="Chalkboard"/>
              <a:cs typeface="Chalkboard"/>
            </a:endParaRPr>
          </a:p>
          <a:p>
            <a:pPr marL="342900" indent="-342900">
              <a:buAutoNum type="arabicParenR"/>
            </a:pPr>
            <a:r>
              <a:rPr lang="en-US" sz="3200" dirty="0" smtClean="0">
                <a:solidFill>
                  <a:schemeClr val="bg1"/>
                </a:solidFill>
                <a:latin typeface="Chalkboard"/>
                <a:cs typeface="Chalkboard"/>
              </a:rPr>
              <a:t> Center</a:t>
            </a:r>
          </a:p>
          <a:p>
            <a:pPr marL="342900" indent="-342900">
              <a:buAutoNum type="arabicParenR"/>
            </a:pPr>
            <a:r>
              <a:rPr lang="en-US" sz="3200" dirty="0" smtClean="0">
                <a:solidFill>
                  <a:schemeClr val="bg1"/>
                </a:solidFill>
                <a:latin typeface="Chalkboard"/>
                <a:cs typeface="Chalkboard"/>
              </a:rPr>
              <a:t> Spread (variation)</a:t>
            </a:r>
          </a:p>
          <a:p>
            <a:pPr marL="342900" indent="-342900">
              <a:buAutoNum type="arabicParenR"/>
            </a:pPr>
            <a:r>
              <a:rPr lang="en-US" sz="3200" dirty="0" smtClean="0">
                <a:solidFill>
                  <a:schemeClr val="bg1"/>
                </a:solidFill>
                <a:latin typeface="Chalkboard"/>
                <a:cs typeface="Chalkboard"/>
              </a:rPr>
              <a:t> Shape</a:t>
            </a:r>
            <a:endParaRPr lang="en-US" sz="3200" dirty="0">
              <a:solidFill>
                <a:schemeClr val="bg1"/>
              </a:solidFill>
              <a:latin typeface="Chalkboard"/>
              <a:cs typeface="Chalkboard"/>
            </a:endParaRPr>
          </a:p>
        </p:txBody>
      </p:sp>
    </p:spTree>
    <p:extLst>
      <p:ext uri="{BB962C8B-B14F-4D97-AF65-F5344CB8AC3E}">
        <p14:creationId xmlns:p14="http://schemas.microsoft.com/office/powerpoint/2010/main" val="1943789968"/>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60572"/>
            <a:ext cx="7982248" cy="830997"/>
          </a:xfrm>
          <a:prstGeom prst="rect">
            <a:avLst/>
          </a:prstGeom>
          <a:noFill/>
        </p:spPr>
        <p:txBody>
          <a:bodyPr wrap="square" rtlCol="0">
            <a:spAutoFit/>
          </a:bodyPr>
          <a:lstStyle/>
          <a:p>
            <a:pPr algn="ctr"/>
            <a:r>
              <a:rPr lang="en-US" sz="4800" b="1" dirty="0" smtClean="0">
                <a:latin typeface="Rockwell"/>
                <a:cs typeface="Rockwell"/>
              </a:rPr>
              <a:t>Distribution of Data</a:t>
            </a:r>
            <a:endParaRPr lang="en-US" sz="4800" b="1" dirty="0">
              <a:latin typeface="Rockwell"/>
              <a:cs typeface="Rockwell"/>
            </a:endParaRPr>
          </a:p>
        </p:txBody>
      </p:sp>
      <p:grpSp>
        <p:nvGrpSpPr>
          <p:cNvPr id="2" name="Group 1"/>
          <p:cNvGrpSpPr/>
          <p:nvPr/>
        </p:nvGrpSpPr>
        <p:grpSpPr>
          <a:xfrm>
            <a:off x="769751" y="1355702"/>
            <a:ext cx="7479414" cy="5042920"/>
            <a:chOff x="3551759" y="1355702"/>
            <a:chExt cx="3776141" cy="3955430"/>
          </a:xfrm>
        </p:grpSpPr>
        <p:sp>
          <p:nvSpPr>
            <p:cNvPr id="9" name="TextBox 8"/>
            <p:cNvSpPr txBox="1"/>
            <p:nvPr/>
          </p:nvSpPr>
          <p:spPr>
            <a:xfrm>
              <a:off x="3971367" y="1435057"/>
              <a:ext cx="3145367" cy="869060"/>
            </a:xfrm>
            <a:prstGeom prst="rect">
              <a:avLst/>
            </a:prstGeom>
            <a:noFill/>
          </p:spPr>
          <p:txBody>
            <a:bodyPr wrap="square" rtlCol="0">
              <a:spAutoFit/>
            </a:bodyPr>
            <a:lstStyle/>
            <a:p>
              <a:r>
                <a:rPr lang="en-US" sz="2400" b="1" dirty="0" smtClean="0">
                  <a:latin typeface="Noteworthy Light"/>
                  <a:cs typeface="Noteworthy Light"/>
                </a:rPr>
                <a:t>Which measures of center and spread should </a:t>
              </a:r>
            </a:p>
            <a:p>
              <a:pPr algn="ctr"/>
              <a:r>
                <a:rPr lang="en-US" sz="2400" b="1" dirty="0" smtClean="0">
                  <a:latin typeface="Noteworthy Light"/>
                  <a:cs typeface="Noteworthy Light"/>
                </a:rPr>
                <a:t>I use to describe data?</a:t>
              </a:r>
            </a:p>
            <a:p>
              <a:endParaRPr lang="en-US" dirty="0"/>
            </a:p>
          </p:txBody>
        </p:sp>
        <p:sp>
          <p:nvSpPr>
            <p:cNvPr id="10" name="TextBox 9"/>
            <p:cNvSpPr txBox="1"/>
            <p:nvPr/>
          </p:nvSpPr>
          <p:spPr>
            <a:xfrm>
              <a:off x="4148659" y="2658662"/>
              <a:ext cx="2874433" cy="603513"/>
            </a:xfrm>
            <a:prstGeom prst="rect">
              <a:avLst/>
            </a:prstGeom>
            <a:noFill/>
          </p:spPr>
          <p:txBody>
            <a:bodyPr wrap="square" rtlCol="0">
              <a:spAutoFit/>
            </a:bodyPr>
            <a:lstStyle/>
            <a:p>
              <a:pPr algn="ctr"/>
              <a:r>
                <a:rPr lang="en-US" sz="2200" dirty="0" smtClean="0">
                  <a:latin typeface="Noteworthy Bold"/>
                  <a:cs typeface="Noteworthy Bold"/>
                </a:rPr>
                <a:t>Is the distribution SYMMETRIC </a:t>
              </a:r>
            </a:p>
            <a:p>
              <a:pPr algn="ctr"/>
              <a:r>
                <a:rPr lang="en-US" sz="2200" dirty="0" smtClean="0">
                  <a:latin typeface="Noteworthy Bold"/>
                  <a:cs typeface="Noteworthy Bold"/>
                </a:rPr>
                <a:t>(left side looks like right side)?</a:t>
              </a:r>
              <a:endParaRPr lang="en-US" sz="2200" dirty="0">
                <a:latin typeface="Noteworthy Bold"/>
                <a:cs typeface="Noteworthy Bold"/>
              </a:endParaRPr>
            </a:p>
          </p:txBody>
        </p:sp>
        <p:sp>
          <p:nvSpPr>
            <p:cNvPr id="11" name="TextBox 10"/>
            <p:cNvSpPr txBox="1"/>
            <p:nvPr/>
          </p:nvSpPr>
          <p:spPr>
            <a:xfrm>
              <a:off x="3732744" y="4031683"/>
              <a:ext cx="1701800" cy="1279449"/>
            </a:xfrm>
            <a:prstGeom prst="rect">
              <a:avLst/>
            </a:prstGeom>
            <a:noFill/>
          </p:spPr>
          <p:txBody>
            <a:bodyPr wrap="square" rtlCol="0">
              <a:spAutoFit/>
            </a:bodyPr>
            <a:lstStyle/>
            <a:p>
              <a:pPr algn="ctr"/>
              <a:r>
                <a:rPr lang="en-US" sz="2000" dirty="0" smtClean="0">
                  <a:latin typeface="Marker Felt"/>
                  <a:cs typeface="Marker Felt"/>
                </a:rPr>
                <a:t>Use the mean to discuss the center</a:t>
              </a:r>
            </a:p>
            <a:p>
              <a:pPr algn="ctr"/>
              <a:r>
                <a:rPr lang="en-US" sz="2000" dirty="0" smtClean="0">
                  <a:latin typeface="Marker Felt"/>
                  <a:cs typeface="Marker Felt"/>
                </a:rPr>
                <a:t>and use the mean absolute deviation to discuss spread.</a:t>
              </a:r>
              <a:endParaRPr lang="en-US" sz="2000" dirty="0">
                <a:latin typeface="Marker Felt"/>
                <a:cs typeface="Marker Felt"/>
              </a:endParaRPr>
            </a:p>
          </p:txBody>
        </p:sp>
        <p:sp>
          <p:nvSpPr>
            <p:cNvPr id="12" name="TextBox 11"/>
            <p:cNvSpPr txBox="1"/>
            <p:nvPr/>
          </p:nvSpPr>
          <p:spPr>
            <a:xfrm>
              <a:off x="5655733" y="4032284"/>
              <a:ext cx="1672167" cy="1038043"/>
            </a:xfrm>
            <a:prstGeom prst="rect">
              <a:avLst/>
            </a:prstGeom>
            <a:noFill/>
          </p:spPr>
          <p:txBody>
            <a:bodyPr wrap="square" rtlCol="0">
              <a:spAutoFit/>
            </a:bodyPr>
            <a:lstStyle/>
            <a:p>
              <a:pPr algn="ctr"/>
              <a:r>
                <a:rPr lang="en-US" sz="2000" dirty="0" smtClean="0">
                  <a:latin typeface="Marker Felt"/>
                  <a:cs typeface="Marker Felt"/>
                </a:rPr>
                <a:t>Use the median to discuss the center</a:t>
              </a:r>
            </a:p>
            <a:p>
              <a:pPr algn="ctr"/>
              <a:r>
                <a:rPr lang="en-US" sz="2000" dirty="0" smtClean="0">
                  <a:latin typeface="Marker Felt"/>
                  <a:cs typeface="Marker Felt"/>
                </a:rPr>
                <a:t>and use the interquartile range to discuss the spread.</a:t>
              </a:r>
              <a:endParaRPr lang="en-US" sz="2000" dirty="0">
                <a:latin typeface="Marker Felt"/>
                <a:cs typeface="Marker Felt"/>
              </a:endParaRPr>
            </a:p>
          </p:txBody>
        </p:sp>
        <p:pic>
          <p:nvPicPr>
            <p:cNvPr id="13" name="Picture 12" descr="Boy-asking-question-300px.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2744" y="2079662"/>
              <a:ext cx="845138" cy="1190334"/>
            </a:xfrm>
            <a:prstGeom prst="rect">
              <a:avLst/>
            </a:prstGeom>
          </p:spPr>
        </p:pic>
        <p:cxnSp>
          <p:nvCxnSpPr>
            <p:cNvPr id="14" name="Elbow Connector 13"/>
            <p:cNvCxnSpPr/>
            <p:nvPr/>
          </p:nvCxnSpPr>
          <p:spPr>
            <a:xfrm rot="16200000" flipH="1">
              <a:off x="5030682" y="2228491"/>
              <a:ext cx="568522" cy="467781"/>
            </a:xfrm>
            <a:prstGeom prst="bentConnector3">
              <a:avLst>
                <a:gd name="adj1" fmla="val 50000"/>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5" name="Cloud Callout 14"/>
            <p:cNvSpPr/>
            <p:nvPr/>
          </p:nvSpPr>
          <p:spPr>
            <a:xfrm>
              <a:off x="3551759" y="1355702"/>
              <a:ext cx="3708400" cy="822418"/>
            </a:xfrm>
            <a:prstGeom prst="cloudCallou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6" name="Elbow Connector 15"/>
            <p:cNvCxnSpPr/>
            <p:nvPr/>
          </p:nvCxnSpPr>
          <p:spPr>
            <a:xfrm rot="16200000" flipH="1">
              <a:off x="5483959" y="3252869"/>
              <a:ext cx="500961" cy="416983"/>
            </a:xfrm>
            <a:prstGeom prst="bentConnector3">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7" name="Elbow Connector 16"/>
            <p:cNvCxnSpPr/>
            <p:nvPr/>
          </p:nvCxnSpPr>
          <p:spPr>
            <a:xfrm rot="5400000">
              <a:off x="5094578" y="3248433"/>
              <a:ext cx="439407" cy="423333"/>
            </a:xfrm>
            <a:prstGeom prst="bentConnector3">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19589" y="3658149"/>
              <a:ext cx="2421467" cy="369332"/>
            </a:xfrm>
            <a:prstGeom prst="rect">
              <a:avLst/>
            </a:prstGeom>
            <a:noFill/>
          </p:spPr>
          <p:txBody>
            <a:bodyPr wrap="square" rtlCol="0">
              <a:spAutoFit/>
            </a:bodyPr>
            <a:lstStyle/>
            <a:p>
              <a:r>
                <a:rPr lang="en-US" sz="2400" dirty="0" smtClean="0">
                  <a:latin typeface="Noteworthy Bold"/>
                  <a:cs typeface="Noteworthy Bold"/>
                </a:rPr>
                <a:t>	    YES			    NO</a:t>
              </a:r>
              <a:endParaRPr lang="en-US" sz="2400" dirty="0">
                <a:latin typeface="Noteworthy Bold"/>
                <a:cs typeface="Noteworthy Bold"/>
              </a:endParaRPr>
            </a:p>
          </p:txBody>
        </p:sp>
        <p:sp>
          <p:nvSpPr>
            <p:cNvPr id="19" name="Rounded Rectangle 18"/>
            <p:cNvSpPr/>
            <p:nvPr/>
          </p:nvSpPr>
          <p:spPr>
            <a:xfrm>
              <a:off x="3732236" y="3978250"/>
              <a:ext cx="1689098" cy="1171297"/>
            </a:xfrm>
            <a:prstGeom prst="round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 name="Rounded Rectangle 19"/>
            <p:cNvSpPr/>
            <p:nvPr/>
          </p:nvSpPr>
          <p:spPr>
            <a:xfrm>
              <a:off x="5613402" y="3980728"/>
              <a:ext cx="1689098" cy="1171297"/>
            </a:xfrm>
            <a:prstGeom prst="round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288566704"/>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60572"/>
            <a:ext cx="7982248" cy="830997"/>
          </a:xfrm>
          <a:prstGeom prst="rect">
            <a:avLst/>
          </a:prstGeom>
          <a:noFill/>
        </p:spPr>
        <p:txBody>
          <a:bodyPr wrap="square" rtlCol="0">
            <a:spAutoFit/>
          </a:bodyPr>
          <a:lstStyle/>
          <a:p>
            <a:pPr algn="ctr"/>
            <a:r>
              <a:rPr lang="en-US" sz="4800" b="1" dirty="0" smtClean="0">
                <a:latin typeface="Rockwell"/>
                <a:cs typeface="Rockwell"/>
              </a:rPr>
              <a:t>Distribution of Data</a:t>
            </a:r>
            <a:endParaRPr lang="en-US" sz="4800" b="1" dirty="0">
              <a:latin typeface="Rockwell"/>
              <a:cs typeface="Rockwell"/>
            </a:endParaRPr>
          </a:p>
        </p:txBody>
      </p:sp>
      <p:graphicFrame>
        <p:nvGraphicFramePr>
          <p:cNvPr id="8" name="Chart 7"/>
          <p:cNvGraphicFramePr>
            <a:graphicFrameLocks/>
          </p:cNvGraphicFramePr>
          <p:nvPr>
            <p:extLst>
              <p:ext uri="{D42A27DB-BD31-4B8C-83A1-F6EECF244321}">
                <p14:modId xmlns:p14="http://schemas.microsoft.com/office/powerpoint/2010/main" val="1875777995"/>
              </p:ext>
            </p:extLst>
          </p:nvPr>
        </p:nvGraphicFramePr>
        <p:xfrm>
          <a:off x="1744768" y="1513667"/>
          <a:ext cx="5516549" cy="3540439"/>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723900" y="5083496"/>
            <a:ext cx="7692044" cy="1077218"/>
          </a:xfrm>
          <a:prstGeom prst="rect">
            <a:avLst/>
          </a:prstGeom>
          <a:noFill/>
        </p:spPr>
        <p:txBody>
          <a:bodyPr wrap="square" rtlCol="0">
            <a:spAutoFit/>
          </a:bodyPr>
          <a:lstStyle/>
          <a:p>
            <a:pPr algn="ctr"/>
            <a:r>
              <a:rPr lang="en-US" sz="3200" dirty="0" smtClean="0"/>
              <a:t>Normal/ Bell Shape Distribution, </a:t>
            </a:r>
          </a:p>
          <a:p>
            <a:pPr algn="ctr"/>
            <a:r>
              <a:rPr lang="en-US" sz="3200" dirty="0" smtClean="0"/>
              <a:t>Symmetric, More Spread</a:t>
            </a:r>
            <a:endParaRPr lang="en-US" sz="3200" dirty="0"/>
          </a:p>
        </p:txBody>
      </p:sp>
    </p:spTree>
    <p:extLst>
      <p:ext uri="{BB962C8B-B14F-4D97-AF65-F5344CB8AC3E}">
        <p14:creationId xmlns:p14="http://schemas.microsoft.com/office/powerpoint/2010/main" val="4269261999"/>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60572"/>
            <a:ext cx="7982248" cy="830997"/>
          </a:xfrm>
          <a:prstGeom prst="rect">
            <a:avLst/>
          </a:prstGeom>
          <a:noFill/>
        </p:spPr>
        <p:txBody>
          <a:bodyPr wrap="square" rtlCol="0">
            <a:spAutoFit/>
          </a:bodyPr>
          <a:lstStyle/>
          <a:p>
            <a:pPr algn="ctr"/>
            <a:r>
              <a:rPr lang="en-US" sz="4800" b="1" dirty="0" smtClean="0">
                <a:latin typeface="Rockwell"/>
                <a:cs typeface="Rockwell"/>
              </a:rPr>
              <a:t>Distribution of Data</a:t>
            </a:r>
            <a:endParaRPr lang="en-US" sz="4800" b="1" dirty="0">
              <a:latin typeface="Rockwell"/>
              <a:cs typeface="Rockwell"/>
            </a:endParaRPr>
          </a:p>
        </p:txBody>
      </p:sp>
      <p:graphicFrame>
        <p:nvGraphicFramePr>
          <p:cNvPr id="7" name="Chart 6"/>
          <p:cNvGraphicFramePr>
            <a:graphicFrameLocks/>
          </p:cNvGraphicFramePr>
          <p:nvPr>
            <p:extLst>
              <p:ext uri="{D42A27DB-BD31-4B8C-83A1-F6EECF244321}">
                <p14:modId xmlns:p14="http://schemas.microsoft.com/office/powerpoint/2010/main" val="3625401986"/>
              </p:ext>
            </p:extLst>
          </p:nvPr>
        </p:nvGraphicFramePr>
        <p:xfrm>
          <a:off x="1621942" y="1356832"/>
          <a:ext cx="5908787" cy="3966655"/>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1455163" y="5285003"/>
            <a:ext cx="6656738" cy="1077218"/>
          </a:xfrm>
          <a:prstGeom prst="rect">
            <a:avLst/>
          </a:prstGeom>
          <a:noFill/>
        </p:spPr>
        <p:txBody>
          <a:bodyPr wrap="square" rtlCol="0">
            <a:spAutoFit/>
          </a:bodyPr>
          <a:lstStyle/>
          <a:p>
            <a:pPr algn="ctr"/>
            <a:r>
              <a:rPr lang="en-US" sz="3200" dirty="0" smtClean="0"/>
              <a:t>Unimodal, Symmetric, </a:t>
            </a:r>
          </a:p>
          <a:p>
            <a:pPr algn="ctr"/>
            <a:r>
              <a:rPr lang="en-US" sz="3200" dirty="0" smtClean="0"/>
              <a:t>Less Spread, mean≈median</a:t>
            </a:r>
            <a:endParaRPr lang="en-US" sz="3200" dirty="0"/>
          </a:p>
        </p:txBody>
      </p:sp>
    </p:spTree>
    <p:extLst>
      <p:ext uri="{BB962C8B-B14F-4D97-AF65-F5344CB8AC3E}">
        <p14:creationId xmlns:p14="http://schemas.microsoft.com/office/powerpoint/2010/main" val="619630311"/>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60572"/>
            <a:ext cx="7982248" cy="830997"/>
          </a:xfrm>
          <a:prstGeom prst="rect">
            <a:avLst/>
          </a:prstGeom>
          <a:noFill/>
        </p:spPr>
        <p:txBody>
          <a:bodyPr wrap="square" rtlCol="0">
            <a:spAutoFit/>
          </a:bodyPr>
          <a:lstStyle/>
          <a:p>
            <a:pPr algn="ctr"/>
            <a:r>
              <a:rPr lang="en-US" sz="4800" b="1" dirty="0" smtClean="0">
                <a:latin typeface="Rockwell"/>
                <a:cs typeface="Rockwell"/>
              </a:rPr>
              <a:t>Distribution of Data</a:t>
            </a:r>
            <a:endParaRPr lang="en-US" sz="4800" b="1" dirty="0">
              <a:latin typeface="Rockwell"/>
              <a:cs typeface="Rockwell"/>
            </a:endParaRPr>
          </a:p>
        </p:txBody>
      </p:sp>
      <p:graphicFrame>
        <p:nvGraphicFramePr>
          <p:cNvPr id="8" name="Chart 7"/>
          <p:cNvGraphicFramePr>
            <a:graphicFrameLocks/>
          </p:cNvGraphicFramePr>
          <p:nvPr>
            <p:extLst>
              <p:ext uri="{D42A27DB-BD31-4B8C-83A1-F6EECF244321}">
                <p14:modId xmlns:p14="http://schemas.microsoft.com/office/powerpoint/2010/main" val="4013141629"/>
              </p:ext>
            </p:extLst>
          </p:nvPr>
        </p:nvGraphicFramePr>
        <p:xfrm>
          <a:off x="1462527" y="1291570"/>
          <a:ext cx="6158008" cy="391647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1162237" y="5251963"/>
            <a:ext cx="6949489" cy="107721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dirty="0" smtClean="0"/>
              <a:t>U-Shape Distribution, </a:t>
            </a:r>
          </a:p>
          <a:p>
            <a:pPr algn="ctr"/>
            <a:r>
              <a:rPr lang="en-US" sz="3200" dirty="0" smtClean="0"/>
              <a:t>Symmetric, Bimodal </a:t>
            </a:r>
            <a:endParaRPr lang="en-US" sz="3200" dirty="0"/>
          </a:p>
        </p:txBody>
      </p:sp>
    </p:spTree>
    <p:extLst>
      <p:ext uri="{BB962C8B-B14F-4D97-AF65-F5344CB8AC3E}">
        <p14:creationId xmlns:p14="http://schemas.microsoft.com/office/powerpoint/2010/main" val="1996987974"/>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60572"/>
            <a:ext cx="7982248" cy="830997"/>
          </a:xfrm>
          <a:prstGeom prst="rect">
            <a:avLst/>
          </a:prstGeom>
          <a:noFill/>
        </p:spPr>
        <p:txBody>
          <a:bodyPr wrap="square" rtlCol="0">
            <a:spAutoFit/>
          </a:bodyPr>
          <a:lstStyle/>
          <a:p>
            <a:pPr algn="ctr"/>
            <a:r>
              <a:rPr lang="en-US" sz="4800" b="1" dirty="0" smtClean="0">
                <a:latin typeface="Rockwell"/>
                <a:cs typeface="Rockwell"/>
              </a:rPr>
              <a:t>Distribution of Data</a:t>
            </a:r>
            <a:endParaRPr lang="en-US" sz="4800" b="1" dirty="0">
              <a:latin typeface="Rockwell"/>
              <a:cs typeface="Rockwell"/>
            </a:endParaRPr>
          </a:p>
        </p:txBody>
      </p:sp>
      <p:graphicFrame>
        <p:nvGraphicFramePr>
          <p:cNvPr id="7" name="Chart 6"/>
          <p:cNvGraphicFramePr>
            <a:graphicFrameLocks/>
          </p:cNvGraphicFramePr>
          <p:nvPr>
            <p:extLst>
              <p:ext uri="{D42A27DB-BD31-4B8C-83A1-F6EECF244321}">
                <p14:modId xmlns:p14="http://schemas.microsoft.com/office/powerpoint/2010/main" val="1504914709"/>
              </p:ext>
            </p:extLst>
          </p:nvPr>
        </p:nvGraphicFramePr>
        <p:xfrm>
          <a:off x="1598487" y="1330624"/>
          <a:ext cx="5983560" cy="3915898"/>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1269934" y="5416657"/>
            <a:ext cx="7030196" cy="58477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dirty="0" smtClean="0"/>
              <a:t>Asymmetric, Gap, Outlier</a:t>
            </a:r>
            <a:endParaRPr lang="en-US" sz="3200" dirty="0"/>
          </a:p>
        </p:txBody>
      </p:sp>
    </p:spTree>
    <p:extLst>
      <p:ext uri="{BB962C8B-B14F-4D97-AF65-F5344CB8AC3E}">
        <p14:creationId xmlns:p14="http://schemas.microsoft.com/office/powerpoint/2010/main" val="2552657986"/>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60572"/>
            <a:ext cx="7982248" cy="830997"/>
          </a:xfrm>
          <a:prstGeom prst="rect">
            <a:avLst/>
          </a:prstGeom>
          <a:noFill/>
        </p:spPr>
        <p:txBody>
          <a:bodyPr wrap="square" rtlCol="0">
            <a:spAutoFit/>
          </a:bodyPr>
          <a:lstStyle/>
          <a:p>
            <a:pPr algn="ctr"/>
            <a:r>
              <a:rPr lang="en-US" sz="4800" b="1" dirty="0" smtClean="0">
                <a:latin typeface="Rockwell"/>
                <a:cs typeface="Rockwell"/>
              </a:rPr>
              <a:t>Distribution of Data</a:t>
            </a:r>
            <a:endParaRPr lang="en-US" sz="4800" b="1" dirty="0">
              <a:latin typeface="Rockwell"/>
              <a:cs typeface="Rockwell"/>
            </a:endParaRPr>
          </a:p>
        </p:txBody>
      </p:sp>
      <p:graphicFrame>
        <p:nvGraphicFramePr>
          <p:cNvPr id="8" name="Chart 7"/>
          <p:cNvGraphicFramePr>
            <a:graphicFrameLocks/>
          </p:cNvGraphicFramePr>
          <p:nvPr>
            <p:extLst>
              <p:ext uri="{D42A27DB-BD31-4B8C-83A1-F6EECF244321}">
                <p14:modId xmlns:p14="http://schemas.microsoft.com/office/powerpoint/2010/main" val="1757738633"/>
              </p:ext>
            </p:extLst>
          </p:nvPr>
        </p:nvGraphicFramePr>
        <p:xfrm>
          <a:off x="1682219" y="1291569"/>
          <a:ext cx="5745878" cy="385233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1051993" y="5220648"/>
            <a:ext cx="7184341" cy="107721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dirty="0" smtClean="0"/>
              <a:t>Skewed Right, Positive Skew, mean&gt;median</a:t>
            </a:r>
            <a:endParaRPr lang="en-US" sz="3200" dirty="0"/>
          </a:p>
        </p:txBody>
      </p:sp>
    </p:spTree>
    <p:extLst>
      <p:ext uri="{BB962C8B-B14F-4D97-AF65-F5344CB8AC3E}">
        <p14:creationId xmlns:p14="http://schemas.microsoft.com/office/powerpoint/2010/main" val="1769176526"/>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60572"/>
            <a:ext cx="7982248" cy="830997"/>
          </a:xfrm>
          <a:prstGeom prst="rect">
            <a:avLst/>
          </a:prstGeom>
          <a:noFill/>
        </p:spPr>
        <p:txBody>
          <a:bodyPr wrap="square" rtlCol="0">
            <a:spAutoFit/>
          </a:bodyPr>
          <a:lstStyle/>
          <a:p>
            <a:pPr algn="ctr"/>
            <a:r>
              <a:rPr lang="en-US" sz="4800" b="1" dirty="0" smtClean="0">
                <a:latin typeface="Rockwell"/>
                <a:cs typeface="Rockwell"/>
              </a:rPr>
              <a:t>Distribution of Data</a:t>
            </a:r>
            <a:endParaRPr lang="en-US" sz="4800" b="1" dirty="0">
              <a:latin typeface="Rockwell"/>
              <a:cs typeface="Rockwell"/>
            </a:endParaRPr>
          </a:p>
        </p:txBody>
      </p:sp>
      <p:graphicFrame>
        <p:nvGraphicFramePr>
          <p:cNvPr id="7" name="Chart 6"/>
          <p:cNvGraphicFramePr>
            <a:graphicFrameLocks/>
          </p:cNvGraphicFramePr>
          <p:nvPr>
            <p:extLst>
              <p:ext uri="{D42A27DB-BD31-4B8C-83A1-F6EECF244321}">
                <p14:modId xmlns:p14="http://schemas.microsoft.com/office/powerpoint/2010/main" val="474928650"/>
              </p:ext>
            </p:extLst>
          </p:nvPr>
        </p:nvGraphicFramePr>
        <p:xfrm>
          <a:off x="1585653" y="1333558"/>
          <a:ext cx="5945077" cy="3590125"/>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1585653" y="5055468"/>
            <a:ext cx="6178172" cy="107721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dirty="0" smtClean="0"/>
              <a:t>Skewed Left, Negative Skew, median&gt;mean</a:t>
            </a:r>
            <a:endParaRPr lang="en-US" sz="3200" dirty="0"/>
          </a:p>
        </p:txBody>
      </p:sp>
    </p:spTree>
    <p:extLst>
      <p:ext uri="{BB962C8B-B14F-4D97-AF65-F5344CB8AC3E}">
        <p14:creationId xmlns:p14="http://schemas.microsoft.com/office/powerpoint/2010/main" val="1010315954"/>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a:off x="586109" y="460572"/>
            <a:ext cx="7982248" cy="830997"/>
          </a:xfrm>
          <a:prstGeom prst="rect">
            <a:avLst/>
          </a:prstGeom>
          <a:noFill/>
        </p:spPr>
        <p:txBody>
          <a:bodyPr wrap="square" rtlCol="0">
            <a:spAutoFit/>
          </a:bodyPr>
          <a:lstStyle/>
          <a:p>
            <a:pPr algn="ctr"/>
            <a:r>
              <a:rPr lang="en-US" sz="4800" b="1" dirty="0" smtClean="0">
                <a:latin typeface="Rockwell"/>
                <a:cs typeface="Rockwell"/>
              </a:rPr>
              <a:t>Distribution of Data</a:t>
            </a:r>
            <a:endParaRPr lang="en-US" sz="4800" b="1" dirty="0">
              <a:latin typeface="Rockwell"/>
              <a:cs typeface="Rockwell"/>
            </a:endParaRPr>
          </a:p>
        </p:txBody>
      </p:sp>
      <p:graphicFrame>
        <p:nvGraphicFramePr>
          <p:cNvPr id="8" name="Chart 7"/>
          <p:cNvGraphicFramePr>
            <a:graphicFrameLocks/>
          </p:cNvGraphicFramePr>
          <p:nvPr>
            <p:extLst>
              <p:ext uri="{D42A27DB-BD31-4B8C-83A1-F6EECF244321}">
                <p14:modId xmlns:p14="http://schemas.microsoft.com/office/powerpoint/2010/main" val="2783303996"/>
              </p:ext>
            </p:extLst>
          </p:nvPr>
        </p:nvGraphicFramePr>
        <p:xfrm>
          <a:off x="481982" y="1385390"/>
          <a:ext cx="6970280" cy="450251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3979176" y="5452180"/>
            <a:ext cx="2281465" cy="58477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200" dirty="0" smtClean="0"/>
              <a:t>Uniform</a:t>
            </a:r>
            <a:endParaRPr lang="en-US" sz="3200" dirty="0"/>
          </a:p>
        </p:txBody>
      </p:sp>
    </p:spTree>
    <p:extLst>
      <p:ext uri="{BB962C8B-B14F-4D97-AF65-F5344CB8AC3E}">
        <p14:creationId xmlns:p14="http://schemas.microsoft.com/office/powerpoint/2010/main" val="4048403318"/>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TextBox 6"/>
          <p:cNvSpPr txBox="1"/>
          <p:nvPr/>
        </p:nvSpPr>
        <p:spPr>
          <a:xfrm>
            <a:off x="586109" y="460572"/>
            <a:ext cx="7982248" cy="6017032"/>
          </a:xfrm>
          <a:prstGeom prst="rect">
            <a:avLst/>
          </a:prstGeom>
          <a:noFill/>
        </p:spPr>
        <p:txBody>
          <a:bodyPr wrap="square" rtlCol="0">
            <a:spAutoFit/>
          </a:bodyPr>
          <a:lstStyle/>
          <a:p>
            <a:pPr algn="ctr"/>
            <a:r>
              <a:rPr lang="en-US" sz="4800" b="1" u="sng" dirty="0" smtClean="0">
                <a:latin typeface="Rockwell"/>
                <a:cs typeface="Rockwell"/>
              </a:rPr>
              <a:t>Summary: Pick one!</a:t>
            </a:r>
          </a:p>
          <a:p>
            <a:pPr algn="ctr"/>
            <a:endParaRPr lang="en-US" sz="1200" b="1" u="sng" dirty="0" smtClean="0">
              <a:latin typeface="Rockwell"/>
              <a:cs typeface="Rockwell"/>
            </a:endParaRPr>
          </a:p>
          <a:p>
            <a:r>
              <a:rPr lang="en-US" sz="2800" dirty="0" smtClean="0">
                <a:latin typeface="American Typewriter"/>
                <a:cs typeface="American Typewriter"/>
              </a:rPr>
              <a:t>-How do I summarize, represent, and interpret data?</a:t>
            </a:r>
          </a:p>
          <a:p>
            <a:endParaRPr lang="en-US" sz="1100" b="1" dirty="0" smtClean="0">
              <a:latin typeface="Rockwell"/>
              <a:cs typeface="Rockwell"/>
            </a:endParaRPr>
          </a:p>
          <a:p>
            <a:r>
              <a:rPr lang="en-US" sz="2800" b="1" dirty="0" smtClean="0">
                <a:latin typeface="Rockwell"/>
                <a:cs typeface="Rockwell"/>
              </a:rPr>
              <a:t>-</a:t>
            </a:r>
            <a:r>
              <a:rPr lang="en-US" sz="3200" b="1" dirty="0" smtClean="0">
                <a:latin typeface="Apple Chancery"/>
                <a:cs typeface="Apple Chancery"/>
              </a:rPr>
              <a:t>When describing sets of data, what factors are important to consider as far as which statistical calculations to use?</a:t>
            </a:r>
          </a:p>
          <a:p>
            <a:endParaRPr lang="en-US" sz="1100" b="1" dirty="0" smtClean="0">
              <a:latin typeface="Rockwell"/>
              <a:cs typeface="Rockwell"/>
            </a:endParaRPr>
          </a:p>
          <a:p>
            <a:r>
              <a:rPr lang="en-US" sz="2800" b="1" dirty="0" smtClean="0">
                <a:latin typeface="Rockwell"/>
                <a:cs typeface="Rockwell"/>
              </a:rPr>
              <a:t>-</a:t>
            </a:r>
            <a:r>
              <a:rPr lang="en-US" sz="2800" dirty="0" smtClean="0">
                <a:latin typeface="Herculanum"/>
                <a:cs typeface="Herculanum"/>
              </a:rPr>
              <a:t>What clues will give me an idea which graph will best represent my data?</a:t>
            </a:r>
          </a:p>
          <a:p>
            <a:endParaRPr lang="en-US" sz="1100" b="1" dirty="0" smtClean="0">
              <a:latin typeface="Rockwell"/>
              <a:cs typeface="Rockwell"/>
            </a:endParaRPr>
          </a:p>
          <a:p>
            <a:r>
              <a:rPr lang="en-US" sz="2800" b="1" dirty="0" smtClean="0">
                <a:latin typeface="Rockwell"/>
                <a:cs typeface="Rockwell"/>
              </a:rPr>
              <a:t>-</a:t>
            </a:r>
            <a:r>
              <a:rPr lang="en-US" sz="2800" b="1" dirty="0" smtClean="0">
                <a:latin typeface="Colonna MT"/>
                <a:cs typeface="Colonna MT"/>
              </a:rPr>
              <a:t>Why should I be concerned with interpreting data in the real world?</a:t>
            </a:r>
          </a:p>
          <a:p>
            <a:r>
              <a:rPr lang="en-US" sz="2800" b="1" dirty="0" smtClean="0">
                <a:latin typeface="Rockwell"/>
                <a:cs typeface="Rockwell"/>
              </a:rPr>
              <a:t> </a:t>
            </a:r>
            <a:endParaRPr lang="en-US" sz="2800" b="1" dirty="0">
              <a:latin typeface="Rockwell"/>
              <a:cs typeface="Rockwell"/>
            </a:endParaRPr>
          </a:p>
        </p:txBody>
      </p:sp>
    </p:spTree>
    <p:extLst>
      <p:ext uri="{BB962C8B-B14F-4D97-AF65-F5344CB8AC3E}">
        <p14:creationId xmlns:p14="http://schemas.microsoft.com/office/powerpoint/2010/main" val="338642598"/>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ed-Gingham-Checkered-Background-800px.png"/>
          <p:cNvPicPr>
            <a:picLocks noGrp="1" noChangeAspect="1"/>
          </p:cNvPicPr>
          <p:nvPr>
            <p:ph idx="1"/>
          </p:nvPr>
        </p:nvPicPr>
        <p:blipFill>
          <a:blip r:embed="rId2">
            <a:extLst>
              <a:ext uri="{28A0092B-C50C-407E-A947-70E740481C1C}">
                <a14:useLocalDpi xmlns:a14="http://schemas.microsoft.com/office/drawing/2010/main" val="0"/>
              </a:ext>
            </a:extLst>
          </a:blip>
          <a:srcRect t="22502" b="22502"/>
          <a:stretch>
            <a:fillRect/>
          </a:stretch>
        </p:blipFill>
        <p:spPr>
          <a:xfrm>
            <a:off x="0" y="0"/>
            <a:ext cx="9144000" cy="6858000"/>
          </a:xfrm>
        </p:spPr>
      </p:pic>
      <p:sp>
        <p:nvSpPr>
          <p:cNvPr id="5" name="Rectangle 4"/>
          <p:cNvSpPr/>
          <p:nvPr/>
        </p:nvSpPr>
        <p:spPr>
          <a:xfrm>
            <a:off x="586109" y="460572"/>
            <a:ext cx="7982248" cy="5945577"/>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Text Box 73"/>
          <p:cNvSpPr txBox="1"/>
          <p:nvPr/>
        </p:nvSpPr>
        <p:spPr>
          <a:xfrm>
            <a:off x="586109" y="2070761"/>
            <a:ext cx="7982248" cy="4000500"/>
          </a:xfrm>
          <a:prstGeom prst="rect">
            <a:avLst/>
          </a:prstGeom>
          <a:noFill/>
          <a:ln>
            <a:noFill/>
          </a:ln>
          <a:effectLst/>
          <a:extLst>
            <a:ext uri="{C572A759-6A51-4108-AA02-DFA0A04FC94B}">
              <ma14:wrappingTextBoxFlag xmlns:ma14="http://schemas.microsoft.com/office/mac/drawingml/2011/main"/>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600">
                <a:effectLst/>
                <a:latin typeface="Chalkboard"/>
                <a:ea typeface="ＭＳ 明朝"/>
                <a:cs typeface="Times New Roman"/>
              </a:rPr>
              <a:t>© Math Byrd 2017</a:t>
            </a:r>
            <a:endParaRPr lang="en-US" sz="1200">
              <a:effectLst/>
              <a:latin typeface="Cambria Math"/>
              <a:ea typeface="ＭＳ 明朝"/>
              <a:cs typeface="Times New Roman"/>
            </a:endParaRPr>
          </a:p>
          <a:p>
            <a:pPr marL="0" marR="0">
              <a:spcBef>
                <a:spcPts val="0"/>
              </a:spcBef>
              <a:spcAft>
                <a:spcPts val="0"/>
              </a:spcAft>
            </a:pPr>
            <a:r>
              <a:rPr lang="en-US" sz="1600">
                <a:effectLst/>
                <a:latin typeface="Chalkboard"/>
                <a:ea typeface="ＭＳ 明朝"/>
                <a:cs typeface="Times New Roman"/>
              </a:rPr>
              <a:t>All rights reserved. Purchase of this product provides </a:t>
            </a:r>
            <a:r>
              <a:rPr lang="en-US" sz="1600" u="sng">
                <a:solidFill>
                  <a:srgbClr val="000000"/>
                </a:solidFill>
                <a:effectLst/>
                <a:latin typeface="Chalkboard"/>
                <a:ea typeface="ＭＳ 明朝"/>
                <a:cs typeface="Times New Roman"/>
              </a:rPr>
              <a:t>one</a:t>
            </a:r>
            <a:r>
              <a:rPr lang="en-US" sz="1600" b="1">
                <a:effectLst/>
                <a:latin typeface="Chalkboard"/>
                <a:ea typeface="ＭＳ 明朝"/>
                <a:cs typeface="Times New Roman"/>
              </a:rPr>
              <a:t> </a:t>
            </a:r>
            <a:r>
              <a:rPr lang="en-US" sz="1600">
                <a:effectLst/>
                <a:latin typeface="Chalkboard"/>
                <a:ea typeface="ＭＳ 明朝"/>
                <a:cs typeface="Times New Roman"/>
              </a:rPr>
              <a:t>(1) purchaser the rights for solely personal classroom use. No part of this publication may be reproduced, distributed, or transmitted without the written consent of the author. Posting any part of this publication on the Internet in any form, including classroom and/or personal websites, social media, or network drives is strictly prohibited and in violation of the Digital Millennium Copyright Act (DCMA). To share this resource with colleagues, or use within a department, grade level, school, or district, additional licenses may be purchased through the Teachers Pay Teachers website: </a:t>
            </a:r>
            <a:r>
              <a:rPr lang="en-US" sz="1600" u="sng">
                <a:solidFill>
                  <a:srgbClr val="0000FF"/>
                </a:solidFill>
                <a:effectLst/>
                <a:latin typeface="Chalkboard"/>
                <a:ea typeface="ＭＳ 明朝"/>
                <a:cs typeface="Times New Roman"/>
                <a:hlinkClick r:id="rId3"/>
              </a:rPr>
              <a:t>www.teacherspayteachers.com/store/math-byrd</a:t>
            </a:r>
            <a:r>
              <a:rPr lang="en-US" sz="1600">
                <a:effectLst/>
                <a:latin typeface="Chalkboard"/>
                <a:ea typeface="ＭＳ 明朝"/>
                <a:cs typeface="Times New Roman"/>
              </a:rPr>
              <a:t> or via inquiry to </a:t>
            </a:r>
            <a:r>
              <a:rPr lang="en-US" sz="1600" u="sng">
                <a:solidFill>
                  <a:srgbClr val="0000FF"/>
                </a:solidFill>
                <a:effectLst/>
                <a:latin typeface="Chalkboard"/>
                <a:ea typeface="ＭＳ 明朝"/>
                <a:cs typeface="Times New Roman"/>
                <a:hlinkClick r:id="rId4"/>
              </a:rPr>
              <a:t>mathbyrd@gmail.com</a:t>
            </a:r>
            <a:endParaRPr lang="en-US" sz="1200">
              <a:effectLst/>
              <a:latin typeface="Cambria Math"/>
              <a:ea typeface="ＭＳ 明朝"/>
              <a:cs typeface="Times New Roman"/>
            </a:endParaRPr>
          </a:p>
          <a:p>
            <a:pPr marL="0" marR="0">
              <a:spcBef>
                <a:spcPts val="0"/>
              </a:spcBef>
              <a:spcAft>
                <a:spcPts val="0"/>
              </a:spcAft>
            </a:pPr>
            <a:r>
              <a:rPr lang="en-US" sz="1600">
                <a:effectLst/>
                <a:latin typeface="Chalkboard"/>
                <a:ea typeface="ＭＳ 明朝"/>
                <a:cs typeface="Times New Roman"/>
              </a:rPr>
              <a:t>   </a:t>
            </a:r>
            <a:endParaRPr lang="en-US" sz="1200">
              <a:effectLst/>
              <a:latin typeface="Cambria Math"/>
              <a:ea typeface="ＭＳ 明朝"/>
              <a:cs typeface="Times New Roman"/>
            </a:endParaRPr>
          </a:p>
          <a:p>
            <a:pPr marL="0" marR="0">
              <a:spcBef>
                <a:spcPts val="0"/>
              </a:spcBef>
              <a:spcAft>
                <a:spcPts val="0"/>
              </a:spcAft>
            </a:pPr>
            <a:r>
              <a:rPr lang="en-US" sz="1600">
                <a:effectLst/>
                <a:latin typeface="Chalkboard"/>
                <a:ea typeface="ＭＳ 明朝"/>
                <a:cs typeface="Times New Roman"/>
              </a:rPr>
              <a:t> </a:t>
            </a:r>
            <a:endParaRPr lang="en-US" sz="1200">
              <a:effectLst/>
              <a:latin typeface="Cambria Math"/>
              <a:ea typeface="ＭＳ 明朝"/>
              <a:cs typeface="Times New Roman"/>
            </a:endParaRPr>
          </a:p>
        </p:txBody>
      </p:sp>
    </p:spTree>
    <p:extLst>
      <p:ext uri="{BB962C8B-B14F-4D97-AF65-F5344CB8AC3E}">
        <p14:creationId xmlns:p14="http://schemas.microsoft.com/office/powerpoint/2010/main" val="3382538260"/>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tile tx="0" ty="0" sx="100000" sy="100000" flip="none" algn="tl"/>
        </a:blipFill>
        <a:effectLst/>
      </p:bgPr>
    </p:bg>
    <p:spTree>
      <p:nvGrpSpPr>
        <p:cNvPr id="1" name=""/>
        <p:cNvGrpSpPr/>
        <p:nvPr/>
      </p:nvGrpSpPr>
      <p:grpSpPr>
        <a:xfrm>
          <a:off x="0" y="0"/>
          <a:ext cx="0" cy="0"/>
          <a:chOff x="0" y="0"/>
          <a:chExt cx="0" cy="0"/>
        </a:xfrm>
      </p:grpSpPr>
      <p:pic>
        <p:nvPicPr>
          <p:cNvPr id="3" name="Picture 2" descr="scrapbook-1355800_1920.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0" y="-1"/>
            <a:ext cx="9146510" cy="6858001"/>
          </a:xfrm>
          <a:prstGeom prst="rect">
            <a:avLst/>
          </a:prstGeom>
        </p:spPr>
      </p:pic>
      <p:sp>
        <p:nvSpPr>
          <p:cNvPr id="6" name="Text Box 74"/>
          <p:cNvSpPr txBox="1"/>
          <p:nvPr/>
        </p:nvSpPr>
        <p:spPr>
          <a:xfrm>
            <a:off x="3185190" y="1915502"/>
            <a:ext cx="5641310" cy="7086600"/>
          </a:xfrm>
          <a:prstGeom prst="rect">
            <a:avLst/>
          </a:prstGeom>
          <a:noFill/>
          <a:ln>
            <a:noFill/>
          </a:ln>
          <a:effectLst/>
          <a:extLst>
            <a:ext uri="{C572A759-6A51-4108-AA02-DFA0A04FC94B}">
              <ma14:wrappingTextBoxFlag xmlns:ma14="http://schemas.microsoft.com/office/mac/drawingml/2011/main"/>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90000"/>
              </a:lnSpc>
            </a:pPr>
            <a:r>
              <a:rPr lang="en-US" sz="1600" dirty="0">
                <a:effectLst/>
                <a:latin typeface="Papyrus"/>
              </a:rPr>
              <a:t>Dear Fellow Educator,</a:t>
            </a:r>
            <a:endParaRPr lang="en-US" sz="1600" dirty="0">
              <a:effectLst/>
            </a:endParaRPr>
          </a:p>
          <a:p>
            <a:pPr>
              <a:lnSpc>
                <a:spcPct val="110000"/>
              </a:lnSpc>
            </a:pPr>
            <a:r>
              <a:rPr lang="en-US" sz="1600" dirty="0">
                <a:effectLst/>
                <a:latin typeface="Papyrus"/>
              </a:rPr>
              <a:t> </a:t>
            </a:r>
            <a:endParaRPr lang="en-US" sz="1600" dirty="0">
              <a:effectLst/>
            </a:endParaRPr>
          </a:p>
          <a:p>
            <a:pPr>
              <a:lnSpc>
                <a:spcPct val="110000"/>
              </a:lnSpc>
            </a:pPr>
            <a:r>
              <a:rPr lang="en-US" sz="1600" dirty="0">
                <a:effectLst/>
                <a:latin typeface="Papyrus"/>
              </a:rPr>
              <a:t>	Thank you for supporting my product! I sincerely appreciate your business and hope that your students find this resource effective and engaging. All of my products are created with a passion! </a:t>
            </a:r>
            <a:endParaRPr lang="en-US" sz="1600" dirty="0">
              <a:effectLst/>
            </a:endParaRPr>
          </a:p>
          <a:p>
            <a:pPr>
              <a:lnSpc>
                <a:spcPct val="110000"/>
              </a:lnSpc>
            </a:pPr>
            <a:r>
              <a:rPr lang="en-US" sz="1600" dirty="0">
                <a:effectLst/>
                <a:latin typeface="Papyrus"/>
              </a:rPr>
              <a:t>	I hope to read your thoughts under the comments &amp; rating section of my TPT store, where you can find other Common Core aligned resources for </a:t>
            </a:r>
            <a:r>
              <a:rPr lang="en-US" sz="1600" dirty="0" smtClean="0">
                <a:effectLst/>
                <a:latin typeface="Papyrus"/>
              </a:rPr>
              <a:t>Math</a:t>
            </a:r>
            <a:r>
              <a:rPr lang="en-US" sz="1600" dirty="0">
                <a:effectLst/>
                <a:latin typeface="Papyrus"/>
              </a:rPr>
              <a:t>, Algebra - Calculus.</a:t>
            </a:r>
            <a:endParaRPr lang="en-US" sz="1600" dirty="0">
              <a:effectLst/>
            </a:endParaRPr>
          </a:p>
          <a:p>
            <a:pPr>
              <a:lnSpc>
                <a:spcPct val="110000"/>
              </a:lnSpc>
            </a:pPr>
            <a:r>
              <a:rPr lang="en-US" sz="1600" dirty="0">
                <a:effectLst/>
                <a:latin typeface="Papyrus"/>
              </a:rPr>
              <a:t>				</a:t>
            </a:r>
            <a:r>
              <a:rPr lang="en-US" sz="1600" dirty="0" smtClean="0">
                <a:effectLst/>
                <a:latin typeface="Papyrus"/>
              </a:rPr>
              <a:t>		With </a:t>
            </a:r>
            <a:r>
              <a:rPr lang="en-US" sz="1600" dirty="0">
                <a:effectLst/>
                <a:latin typeface="Papyrus"/>
              </a:rPr>
              <a:t>gratitude,</a:t>
            </a:r>
            <a:endParaRPr lang="en-US" sz="1600" dirty="0">
              <a:effectLst/>
            </a:endParaRPr>
          </a:p>
          <a:p>
            <a:pPr marL="0" marR="0">
              <a:lnSpc>
                <a:spcPct val="110000"/>
              </a:lnSpc>
              <a:spcBef>
                <a:spcPts val="0"/>
              </a:spcBef>
              <a:spcAft>
                <a:spcPts val="0"/>
              </a:spcAft>
            </a:pPr>
            <a:r>
              <a:rPr lang="en-US" sz="1600" dirty="0">
                <a:effectLst/>
                <a:latin typeface="Papyrus"/>
                <a:ea typeface="ＭＳ 明朝"/>
                <a:cs typeface="Times New Roman"/>
              </a:rPr>
              <a:t>					</a:t>
            </a:r>
            <a:r>
              <a:rPr lang="en-US" sz="1600" dirty="0" smtClean="0">
                <a:effectLst/>
                <a:latin typeface="Papyrus"/>
                <a:ea typeface="ＭＳ 明朝"/>
                <a:cs typeface="Times New Roman"/>
              </a:rPr>
              <a:t>		Jennifer </a:t>
            </a:r>
            <a:r>
              <a:rPr lang="en-US" sz="1600" dirty="0">
                <a:effectLst/>
                <a:latin typeface="Papyrus"/>
                <a:ea typeface="ＭＳ 明朝"/>
                <a:cs typeface="Times New Roman"/>
              </a:rPr>
              <a:t>Byrd</a:t>
            </a:r>
            <a:endParaRPr lang="en-US" sz="1600" dirty="0">
              <a:effectLst/>
              <a:latin typeface="Cambria Math"/>
              <a:ea typeface="ＭＳ 明朝"/>
              <a:cs typeface="Times New Roman"/>
            </a:endParaRPr>
          </a:p>
          <a:p>
            <a:pPr marL="0" marR="0">
              <a:spcBef>
                <a:spcPts val="0"/>
              </a:spcBef>
              <a:spcAft>
                <a:spcPts val="0"/>
              </a:spcAft>
            </a:pPr>
            <a:r>
              <a:rPr lang="en-US" sz="1600" dirty="0">
                <a:effectLst/>
                <a:latin typeface="Papyrus"/>
                <a:ea typeface="ＭＳ 明朝"/>
                <a:cs typeface="Times New Roman"/>
              </a:rPr>
              <a:t> </a:t>
            </a:r>
            <a:endParaRPr lang="en-US" sz="1600" dirty="0">
              <a:effectLst/>
              <a:latin typeface="Cambria Math"/>
              <a:ea typeface="ＭＳ 明朝"/>
              <a:cs typeface="Times New Roman"/>
            </a:endParaRPr>
          </a:p>
          <a:p>
            <a:pPr>
              <a:lnSpc>
                <a:spcPct val="90000"/>
              </a:lnSpc>
            </a:pPr>
            <a:r>
              <a:rPr lang="en-US" sz="1600" dirty="0">
                <a:effectLst/>
                <a:latin typeface="Papyrus"/>
              </a:rPr>
              <a:t>P.S. Please only share with colleagues by directing them to my TPT site:</a:t>
            </a:r>
            <a:endParaRPr lang="en-US" sz="1600" dirty="0">
              <a:effectLst/>
            </a:endParaRPr>
          </a:p>
          <a:p>
            <a:pPr>
              <a:lnSpc>
                <a:spcPct val="90000"/>
              </a:lnSpc>
            </a:pPr>
            <a:r>
              <a:rPr lang="en-US" sz="1600" dirty="0">
                <a:effectLst/>
                <a:latin typeface="Papyrus"/>
              </a:rPr>
              <a:t> </a:t>
            </a:r>
            <a:r>
              <a:rPr lang="en-US" sz="1600" u="sng" dirty="0">
                <a:solidFill>
                  <a:srgbClr val="0000FF"/>
                </a:solidFill>
                <a:effectLst/>
                <a:latin typeface="Papyrus"/>
                <a:hlinkClick r:id="rId4"/>
              </a:rPr>
              <a:t>www.teacherspayteachers.com/store/math-byrd</a:t>
            </a:r>
            <a:endParaRPr lang="en-US" sz="1600" dirty="0">
              <a:effectLst/>
            </a:endParaRPr>
          </a:p>
          <a:p>
            <a:pPr>
              <a:lnSpc>
                <a:spcPct val="90000"/>
              </a:lnSpc>
            </a:pPr>
            <a:r>
              <a:rPr lang="en-US" sz="1600" dirty="0">
                <a:effectLst/>
                <a:latin typeface="Papyrus"/>
              </a:rPr>
              <a:t> </a:t>
            </a:r>
            <a:endParaRPr lang="en-US" sz="1600" dirty="0">
              <a:effectLst/>
            </a:endParaRPr>
          </a:p>
          <a:p>
            <a:pPr marL="0" marR="0">
              <a:spcBef>
                <a:spcPts val="0"/>
              </a:spcBef>
              <a:spcAft>
                <a:spcPts val="0"/>
              </a:spcAft>
            </a:pPr>
            <a:r>
              <a:rPr lang="en-US" sz="1600" dirty="0">
                <a:effectLst/>
                <a:latin typeface="Papyrus"/>
                <a:ea typeface="ＭＳ 明朝"/>
                <a:cs typeface="Times New Roman"/>
              </a:rPr>
              <a:t>	</a:t>
            </a:r>
            <a:r>
              <a:rPr lang="en-US" sz="1600" dirty="0" smtClean="0">
                <a:effectLst/>
                <a:latin typeface="Papyrus"/>
                <a:ea typeface="ＭＳ 明朝"/>
                <a:cs typeface="Times New Roman"/>
              </a:rPr>
              <a:t>	It’s </a:t>
            </a:r>
            <a:r>
              <a:rPr lang="en-US" sz="1600" dirty="0">
                <a:effectLst/>
                <a:latin typeface="Papyrus"/>
                <a:ea typeface="ＭＳ 明朝"/>
                <a:cs typeface="Times New Roman"/>
              </a:rPr>
              <a:t>about supporting teachers </a:t>
            </a:r>
            <a:r>
              <a:rPr lang="en-US" sz="1600" dirty="0">
                <a:effectLst/>
                <a:latin typeface="Papyrus"/>
                <a:ea typeface="ＭＳ 明朝"/>
                <a:cs typeface="Papyrus"/>
                <a:sym typeface="Wingdings"/>
              </a:rPr>
              <a:t></a:t>
            </a:r>
            <a:r>
              <a:rPr lang="en-US" sz="1600" dirty="0">
                <a:effectLst/>
                <a:latin typeface="Papyrus"/>
                <a:ea typeface="ＭＳ 明朝"/>
                <a:cs typeface="Times New Roman"/>
              </a:rPr>
              <a:t>	 </a:t>
            </a:r>
            <a:endParaRPr lang="en-US" sz="1200" dirty="0">
              <a:effectLst/>
              <a:latin typeface="Cambria Math"/>
              <a:ea typeface="ＭＳ 明朝"/>
              <a:cs typeface="Times New Roman"/>
            </a:endParaRPr>
          </a:p>
        </p:txBody>
      </p:sp>
    </p:spTree>
    <p:extLst>
      <p:ext uri="{BB962C8B-B14F-4D97-AF65-F5344CB8AC3E}">
        <p14:creationId xmlns:p14="http://schemas.microsoft.com/office/powerpoint/2010/main" val="3023114984"/>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1729</TotalTime>
  <Words>947</Words>
  <Application>Microsoft Macintosh PowerPoint</Application>
  <PresentationFormat>On-screen Show (4:3)</PresentationFormat>
  <Paragraphs>107</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Jennifer Nguyen</dc:creator>
  <cp:lastModifiedBy>Jennifer Nguyen</cp:lastModifiedBy>
  <cp:revision>13</cp:revision>
  <dcterms:created xsi:type="dcterms:W3CDTF">2017-01-07T02:52:36Z</dcterms:created>
  <dcterms:modified xsi:type="dcterms:W3CDTF">2017-04-11T16:38:07Z</dcterms:modified>
</cp:coreProperties>
</file>
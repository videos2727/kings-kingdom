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75" r:id="rId3"/>
    <p:sldId id="337" r:id="rId4"/>
    <p:sldId id="338" r:id="rId5"/>
    <p:sldId id="339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4671"/>
  </p:normalViewPr>
  <p:slideViewPr>
    <p:cSldViewPr snapToGrid="0" snapToObjects="1">
      <p:cViewPr varScale="1">
        <p:scale>
          <a:sx n="96" d="100"/>
          <a:sy n="96" d="100"/>
        </p:scale>
        <p:origin x="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2F989-D8A0-F84A-BF99-B43C9D682E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18B2CE-A967-114A-B348-E2B7101984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5A7B6-A871-1A4B-9A33-A725E9AD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FFEF3-DB6F-614D-9F17-EAE32C353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C6E7A3-901D-3349-BD5E-2A7A79E68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8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B7184-5A70-544A-AD14-9B9CE522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EB543-1B99-EC42-9CB4-21A11AA3D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49CB6-1A63-BD40-A25B-EC74F4021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7B50A5-9390-0A43-841A-340249806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69AE9-ADBB-0A40-8565-839F43828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850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C62B-F471-1B43-B0C7-2819D44D0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0B8FE-6F4D-AA48-B0C0-E3A6353BA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C69A2D-1E02-8B43-9E92-48648862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989B1-878A-BE46-A746-0F304788F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BE17C-8CD2-8A45-951C-753AC3631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54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4127D-0642-C14E-8379-429920CE1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76D49-5F8D-344B-ABCA-147013D64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559F5A-B12F-BB44-A794-5A2349D8B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EB6ED-DB4A-9B42-86F5-3B8A37582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F6268-D66B-6B4F-A3A4-C40F735E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4AEF4-81F6-0C47-A7E3-BB82A2B2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45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3C0B-6798-0244-8770-48C7C8E92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F8F8F6-22E5-1143-8BBB-C57EFC108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FD206-FE68-E24F-9663-7A56B86E7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7CB2C1-C206-C848-9F42-774F3913E7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3264CC-A4BE-7744-9F99-59A6285D8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4067D-A82E-CE47-95E2-C06FE043D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D65A92-F631-D846-865C-BEEC28805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3A8CAE-A2E9-6944-BB52-37FCE37B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783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22FC5-9E92-2D47-B7AE-FC585471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3E1AF3-1EB5-0545-9D98-086A0B268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899498-0625-CB4B-B188-C943AD247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0538B-4C2B-8A44-B7EF-C39376727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7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A1344E-EC05-5D4E-9AF8-A3D99570B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9F7CA7-179B-DD43-8B7B-17E51749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79712-EED3-1941-A80E-7F1CB4108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69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80773-75D1-7048-9312-D2B2DC80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FE53F-0380-504A-BCBA-62DBD6894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6B729-165A-DC43-9A0C-9ECBF627F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A224D-4FB7-374F-93A3-38BFD88EF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AA2044-0232-D44B-BD58-8F71F2999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E6DDEE-C113-434B-AD77-E94D3234F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7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4299B-8AFF-E144-ADBD-4554869E2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03A80-CD45-A64E-98F9-554D0812ED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F81B8D-F3F2-684F-811F-5C45954B1C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18931-C18C-344A-94CF-DD0FF10D6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DDC78C-A400-AD46-B0B8-C095C1A99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200045-A5A3-B948-A521-E72DB2F74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779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1A04D-A3F5-5842-8D58-A777D08D2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14CA4-64A7-2542-B1F7-F20D8ACBFD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04EEE-EF7B-4444-A9BA-660FE7CD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0C11D-E4EE-CF4E-B4B8-294788C1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0A20C-5249-234D-A3B0-D923CCF9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65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E39D9-8FFA-3447-B1C1-B09F5C735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7756F8-3BEA-0241-B5CF-08B3D5C4C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919A6-69F1-4742-8F94-320E09D6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41284C-3030-AA40-A350-65889B051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85F4F-B0EE-6E4B-803F-7AFB2A8F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333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002820-EBDE-9F46-ACD9-0C62B3C5E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1F4B2-9442-7C42-BFDF-A57C824836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A23C14-8EB4-CD40-85EF-7261860CE1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FD20B-E7D3-B647-9534-29AADC7E4857}" type="datetimeFigureOut">
              <a:rPr lang="en-US" smtClean="0"/>
              <a:t>7/27/18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DE83B-17DD-0E4E-BC34-B57641B853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CF426-55AD-1545-ABBD-DF4F5A973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07846-AB54-664C-9D18-2ADDC07FB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201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3AED9-ECB3-6B4A-AC2D-9E0689BCE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0FE1B-831D-5044-85DA-B479934B8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Today we will:</a:t>
            </a:r>
          </a:p>
          <a:p>
            <a:r>
              <a:rPr lang="en-US" dirty="0"/>
              <a:t>Fill some gaps in our Box Plot knowledge</a:t>
            </a:r>
          </a:p>
          <a:p>
            <a:r>
              <a:rPr lang="en-US" dirty="0"/>
              <a:t>Learn how to make comparisons using Box Plots</a:t>
            </a:r>
          </a:p>
        </p:txBody>
      </p:sp>
    </p:spTree>
    <p:extLst>
      <p:ext uri="{BB962C8B-B14F-4D97-AF65-F5344CB8AC3E}">
        <p14:creationId xmlns:p14="http://schemas.microsoft.com/office/powerpoint/2010/main" val="4102615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5000">
              <a:schemeClr val="accent4">
                <a:lumMod val="0"/>
                <a:lumOff val="100000"/>
              </a:schemeClr>
            </a:gs>
            <a:gs pos="100000">
              <a:schemeClr val="accent4">
                <a:lumMod val="10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2537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1" y="77898"/>
            <a:ext cx="3649133" cy="2749973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Dominant Hand</a:t>
            </a:r>
            <a:br>
              <a:rPr lang="en-AU" sz="3000" dirty="0"/>
            </a:br>
            <a:r>
              <a:rPr lang="en-US" sz="2600" dirty="0"/>
              <a:t>Minimum: 1</a:t>
            </a:r>
            <a:br>
              <a:rPr lang="en-US" sz="2600" dirty="0"/>
            </a:br>
            <a:r>
              <a:rPr lang="en-US" sz="2600" dirty="0"/>
              <a:t>Maximum: 40</a:t>
            </a:r>
            <a:br>
              <a:rPr lang="en-US" sz="2600" dirty="0"/>
            </a:br>
            <a:r>
              <a:rPr lang="en-US" sz="2600" dirty="0"/>
              <a:t>Median: 24</a:t>
            </a:r>
            <a:br>
              <a:rPr lang="en-US" sz="2600" dirty="0"/>
            </a:br>
            <a:r>
              <a:rPr lang="en-US" sz="2600" dirty="0"/>
              <a:t>Lower Quartile (Q</a:t>
            </a:r>
            <a:r>
              <a:rPr lang="en-US" sz="2600" baseline="-25000" dirty="0"/>
              <a:t>1</a:t>
            </a:r>
            <a:r>
              <a:rPr lang="en-US" sz="2600" dirty="0"/>
              <a:t>): 18</a:t>
            </a:r>
            <a:br>
              <a:rPr lang="en-US" sz="2600" dirty="0"/>
            </a:br>
            <a:r>
              <a:rPr lang="en-US" sz="2600" dirty="0"/>
              <a:t>Upper Quartile (Q</a:t>
            </a:r>
            <a:r>
              <a:rPr lang="en-US" sz="2600" baseline="-25000" dirty="0"/>
              <a:t>3</a:t>
            </a:r>
            <a:r>
              <a:rPr lang="en-US" sz="2600" dirty="0"/>
              <a:t>): 30</a:t>
            </a:r>
            <a:endParaRPr lang="en-US" sz="2800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5C6C666-01CC-4148-9D8C-E699C6EA94C4}"/>
              </a:ext>
            </a:extLst>
          </p:cNvPr>
          <p:cNvSpPr txBox="1">
            <a:spLocks/>
          </p:cNvSpPr>
          <p:nvPr/>
        </p:nvSpPr>
        <p:spPr>
          <a:xfrm>
            <a:off x="8365063" y="25376"/>
            <a:ext cx="3742267" cy="275169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Non Dominant Hand</a:t>
            </a:r>
            <a:br>
              <a:rPr lang="en-AU" sz="3000" dirty="0"/>
            </a:br>
            <a:r>
              <a:rPr lang="en-US" sz="3000" dirty="0"/>
              <a:t>Minimum: 1</a:t>
            </a:r>
            <a:br>
              <a:rPr lang="en-US" sz="3000" dirty="0"/>
            </a:br>
            <a:r>
              <a:rPr lang="en-US" sz="3000" dirty="0"/>
              <a:t>Maximum: 32</a:t>
            </a:r>
            <a:br>
              <a:rPr lang="en-US" sz="3000" dirty="0"/>
            </a:br>
            <a:r>
              <a:rPr lang="en-US" sz="3000" dirty="0"/>
              <a:t>Median: 10</a:t>
            </a:r>
            <a:br>
              <a:rPr lang="en-US" sz="3000" dirty="0"/>
            </a:br>
            <a:r>
              <a:rPr lang="en-US" sz="2800" dirty="0"/>
              <a:t>Lower Quartile (Q</a:t>
            </a:r>
            <a:r>
              <a:rPr lang="en-US" sz="2800" baseline="-25000" dirty="0"/>
              <a:t>1</a:t>
            </a:r>
            <a:r>
              <a:rPr lang="en-US" sz="2800" dirty="0"/>
              <a:t>): 4</a:t>
            </a:r>
            <a:br>
              <a:rPr lang="en-US" sz="2800" dirty="0"/>
            </a:br>
            <a:r>
              <a:rPr lang="en-US" sz="2800" dirty="0"/>
              <a:t>Upper Quartile (Q</a:t>
            </a:r>
            <a:r>
              <a:rPr lang="en-US" sz="2800" baseline="-25000" dirty="0"/>
              <a:t>3</a:t>
            </a:r>
            <a:r>
              <a:rPr lang="en-US" sz="2800" dirty="0"/>
              <a:t>): 14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CC54F1-F1B0-CA4C-B3CF-B799B4D47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25" y="2765247"/>
            <a:ext cx="6369148" cy="40927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B5C417-C107-E446-99E0-A0309EFF11D5}"/>
              </a:ext>
            </a:extLst>
          </p:cNvPr>
          <p:cNvSpPr txBox="1"/>
          <p:nvPr/>
        </p:nvSpPr>
        <p:spPr>
          <a:xfrm>
            <a:off x="7857067" y="3742266"/>
            <a:ext cx="42502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What is the difference in the position of the median between the two data sets?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C73202-6AEB-5B49-84DA-18B35F1A8450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4961467" y="4267200"/>
            <a:ext cx="2895600" cy="383007"/>
          </a:xfrm>
          <a:prstGeom prst="straightConnector1">
            <a:avLst/>
          </a:prstGeom>
          <a:ln w="412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96D482D-1E7E-1540-9928-342120BCE445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6773333" y="4650207"/>
            <a:ext cx="1083734" cy="7281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783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1" y="77898"/>
            <a:ext cx="3649133" cy="2749973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Dominant Hand</a:t>
            </a:r>
            <a:br>
              <a:rPr lang="en-AU" sz="3000" dirty="0"/>
            </a:br>
            <a:r>
              <a:rPr lang="en-US" sz="2600" dirty="0"/>
              <a:t>Minimum: 1</a:t>
            </a:r>
            <a:br>
              <a:rPr lang="en-US" sz="2600" dirty="0"/>
            </a:br>
            <a:r>
              <a:rPr lang="en-US" sz="2600" dirty="0"/>
              <a:t>Maximum: 40</a:t>
            </a:r>
            <a:br>
              <a:rPr lang="en-US" sz="2600" dirty="0"/>
            </a:br>
            <a:r>
              <a:rPr lang="en-US" sz="2600" dirty="0"/>
              <a:t>Median: 24</a:t>
            </a:r>
            <a:br>
              <a:rPr lang="en-US" sz="2600" dirty="0"/>
            </a:br>
            <a:r>
              <a:rPr lang="en-US" sz="2600" dirty="0"/>
              <a:t>Lower Quartile (Q</a:t>
            </a:r>
            <a:r>
              <a:rPr lang="en-US" sz="2600" baseline="-25000" dirty="0"/>
              <a:t>1</a:t>
            </a:r>
            <a:r>
              <a:rPr lang="en-US" sz="2600" dirty="0"/>
              <a:t>): 18</a:t>
            </a:r>
            <a:br>
              <a:rPr lang="en-US" sz="2600" dirty="0"/>
            </a:br>
            <a:r>
              <a:rPr lang="en-US" sz="2600" dirty="0"/>
              <a:t>Upper Quartile (Q</a:t>
            </a:r>
            <a:r>
              <a:rPr lang="en-US" sz="2600" baseline="-25000" dirty="0"/>
              <a:t>3</a:t>
            </a:r>
            <a:r>
              <a:rPr lang="en-US" sz="2600" dirty="0"/>
              <a:t>): 30</a:t>
            </a:r>
            <a:endParaRPr lang="en-US" sz="2800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5C6C666-01CC-4148-9D8C-E699C6EA94C4}"/>
              </a:ext>
            </a:extLst>
          </p:cNvPr>
          <p:cNvSpPr txBox="1">
            <a:spLocks/>
          </p:cNvSpPr>
          <p:nvPr/>
        </p:nvSpPr>
        <p:spPr>
          <a:xfrm>
            <a:off x="8365063" y="25376"/>
            <a:ext cx="3742267" cy="275169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Non Dominant Hand</a:t>
            </a:r>
            <a:br>
              <a:rPr lang="en-AU" sz="3000" dirty="0"/>
            </a:br>
            <a:r>
              <a:rPr lang="en-US" sz="3000" dirty="0"/>
              <a:t>Minimum: 1</a:t>
            </a:r>
            <a:br>
              <a:rPr lang="en-US" sz="3000" dirty="0"/>
            </a:br>
            <a:r>
              <a:rPr lang="en-US" sz="3000" dirty="0"/>
              <a:t>Maximum: 32</a:t>
            </a:r>
            <a:br>
              <a:rPr lang="en-US" sz="3000" dirty="0"/>
            </a:br>
            <a:r>
              <a:rPr lang="en-US" sz="3000" dirty="0"/>
              <a:t>Median: 10</a:t>
            </a:r>
            <a:br>
              <a:rPr lang="en-US" sz="3000" dirty="0"/>
            </a:br>
            <a:r>
              <a:rPr lang="en-US" sz="2800" dirty="0"/>
              <a:t>Lower Quartile (Q</a:t>
            </a:r>
            <a:r>
              <a:rPr lang="en-US" sz="2800" baseline="-25000" dirty="0"/>
              <a:t>1</a:t>
            </a:r>
            <a:r>
              <a:rPr lang="en-US" sz="2800" dirty="0"/>
              <a:t>): 4</a:t>
            </a:r>
            <a:br>
              <a:rPr lang="en-US" sz="2800" dirty="0"/>
            </a:br>
            <a:r>
              <a:rPr lang="en-US" sz="2800" dirty="0"/>
              <a:t>Upper Quartile (Q</a:t>
            </a:r>
            <a:r>
              <a:rPr lang="en-US" sz="2800" baseline="-25000" dirty="0"/>
              <a:t>3</a:t>
            </a:r>
            <a:r>
              <a:rPr lang="en-US" sz="2800" dirty="0"/>
              <a:t>): 14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CC54F1-F1B0-CA4C-B3CF-B799B4D47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25" y="2765247"/>
            <a:ext cx="6369148" cy="40927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B5C417-C107-E446-99E0-A0309EFF11D5}"/>
              </a:ext>
            </a:extLst>
          </p:cNvPr>
          <p:cNvSpPr txBox="1"/>
          <p:nvPr/>
        </p:nvSpPr>
        <p:spPr>
          <a:xfrm>
            <a:off x="7857067" y="4385733"/>
            <a:ext cx="425026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What is the difference in the range?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8A2EC14-7E15-A84E-BCB1-35549C5486D0}"/>
              </a:ext>
            </a:extLst>
          </p:cNvPr>
          <p:cNvCxnSpPr/>
          <p:nvPr/>
        </p:nvCxnSpPr>
        <p:spPr>
          <a:xfrm>
            <a:off x="3759200" y="4216400"/>
            <a:ext cx="392853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154207-4929-9349-88BC-414633134E55}"/>
              </a:ext>
            </a:extLst>
          </p:cNvPr>
          <p:cNvCxnSpPr>
            <a:cxnSpLocks/>
          </p:cNvCxnSpPr>
          <p:nvPr/>
        </p:nvCxnSpPr>
        <p:spPr>
          <a:xfrm>
            <a:off x="3742270" y="5418665"/>
            <a:ext cx="487679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574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FAA04B-DE2F-4A61-AFDE-6A86AB909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1" y="77898"/>
            <a:ext cx="3649133" cy="2749973"/>
          </a:xfrm>
          <a:ln>
            <a:solidFill>
              <a:schemeClr val="tx1"/>
            </a:solidFill>
          </a:ln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Dominant Hand</a:t>
            </a:r>
            <a:br>
              <a:rPr lang="en-AU" sz="3000" dirty="0"/>
            </a:br>
            <a:r>
              <a:rPr lang="en-US" sz="2600" dirty="0"/>
              <a:t>Minimum: 1</a:t>
            </a:r>
            <a:br>
              <a:rPr lang="en-US" sz="2600" dirty="0"/>
            </a:br>
            <a:r>
              <a:rPr lang="en-US" sz="2600" dirty="0"/>
              <a:t>Maximum: 40</a:t>
            </a:r>
            <a:br>
              <a:rPr lang="en-US" sz="2600" dirty="0"/>
            </a:br>
            <a:r>
              <a:rPr lang="en-US" sz="2600" dirty="0"/>
              <a:t>Median: 24</a:t>
            </a:r>
            <a:br>
              <a:rPr lang="en-US" sz="2600" dirty="0"/>
            </a:br>
            <a:r>
              <a:rPr lang="en-US" sz="2600" dirty="0"/>
              <a:t>Lower Quartile (Q</a:t>
            </a:r>
            <a:r>
              <a:rPr lang="en-US" sz="2600" baseline="-25000" dirty="0"/>
              <a:t>1</a:t>
            </a:r>
            <a:r>
              <a:rPr lang="en-US" sz="2600" dirty="0"/>
              <a:t>): 18</a:t>
            </a:r>
            <a:br>
              <a:rPr lang="en-US" sz="2600" dirty="0"/>
            </a:br>
            <a:r>
              <a:rPr lang="en-US" sz="2600" dirty="0"/>
              <a:t>Upper Quartile (Q</a:t>
            </a:r>
            <a:r>
              <a:rPr lang="en-US" sz="2600" baseline="-25000" dirty="0"/>
              <a:t>3</a:t>
            </a:r>
            <a:r>
              <a:rPr lang="en-US" sz="2600" dirty="0"/>
              <a:t>): 30</a:t>
            </a:r>
            <a:endParaRPr lang="en-US" sz="2800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75C6C666-01CC-4148-9D8C-E699C6EA94C4}"/>
              </a:ext>
            </a:extLst>
          </p:cNvPr>
          <p:cNvSpPr txBox="1">
            <a:spLocks/>
          </p:cNvSpPr>
          <p:nvPr/>
        </p:nvSpPr>
        <p:spPr>
          <a:xfrm>
            <a:off x="8365063" y="25376"/>
            <a:ext cx="3742267" cy="275169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Clr>
                <a:srgbClr val="CC0099"/>
              </a:buClr>
              <a:defRPr/>
            </a:pPr>
            <a:r>
              <a:rPr lang="en-AU" sz="3000" b="1" dirty="0"/>
              <a:t>Non Dominant Hand</a:t>
            </a:r>
            <a:br>
              <a:rPr lang="en-AU" sz="3000" dirty="0"/>
            </a:br>
            <a:r>
              <a:rPr lang="en-US" sz="3000" dirty="0"/>
              <a:t>Minimum: 1</a:t>
            </a:r>
            <a:br>
              <a:rPr lang="en-US" sz="3000" dirty="0"/>
            </a:br>
            <a:r>
              <a:rPr lang="en-US" sz="3000" dirty="0"/>
              <a:t>Maximum: 32</a:t>
            </a:r>
            <a:br>
              <a:rPr lang="en-US" sz="3000" dirty="0"/>
            </a:br>
            <a:r>
              <a:rPr lang="en-US" sz="3000" dirty="0"/>
              <a:t>Median: 10</a:t>
            </a:r>
            <a:br>
              <a:rPr lang="en-US" sz="3000" dirty="0"/>
            </a:br>
            <a:r>
              <a:rPr lang="en-US" sz="2800" dirty="0"/>
              <a:t>Lower Quartile (Q</a:t>
            </a:r>
            <a:r>
              <a:rPr lang="en-US" sz="2800" baseline="-25000" dirty="0"/>
              <a:t>1</a:t>
            </a:r>
            <a:r>
              <a:rPr lang="en-US" sz="2800" dirty="0"/>
              <a:t>): 4</a:t>
            </a:r>
            <a:br>
              <a:rPr lang="en-US" sz="2800" dirty="0"/>
            </a:br>
            <a:r>
              <a:rPr lang="en-US" sz="2800" dirty="0"/>
              <a:t>Upper Quartile (Q</a:t>
            </a:r>
            <a:r>
              <a:rPr lang="en-US" sz="2800" baseline="-25000" dirty="0"/>
              <a:t>3</a:t>
            </a:r>
            <a:r>
              <a:rPr lang="en-US" sz="2800" dirty="0"/>
              <a:t>): 14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1CC54F1-F1B0-CA4C-B3CF-B799B4D47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25" y="2765247"/>
            <a:ext cx="6369148" cy="40927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B5C417-C107-E446-99E0-A0309EFF11D5}"/>
              </a:ext>
            </a:extLst>
          </p:cNvPr>
          <p:cNvSpPr txBox="1"/>
          <p:nvPr/>
        </p:nvSpPr>
        <p:spPr>
          <a:xfrm>
            <a:off x="7857067" y="4030135"/>
            <a:ext cx="42502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What is the difference in the interquartile range (IQR)?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7F0554-6A07-B043-87E5-BBEF60350198}"/>
              </a:ext>
            </a:extLst>
          </p:cNvPr>
          <p:cNvSpPr/>
          <p:nvPr/>
        </p:nvSpPr>
        <p:spPr>
          <a:xfrm>
            <a:off x="4165600" y="3911600"/>
            <a:ext cx="1320800" cy="677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D87D47-1537-4E4F-BDDB-6190F60B1ABD}"/>
              </a:ext>
            </a:extLst>
          </p:cNvPr>
          <p:cNvSpPr/>
          <p:nvPr/>
        </p:nvSpPr>
        <p:spPr>
          <a:xfrm>
            <a:off x="5909733" y="5096930"/>
            <a:ext cx="1524007" cy="6773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8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4487593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152400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52400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17471" y="149732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4439816" y="1916833"/>
            <a:ext cx="0" cy="403339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639617" y="404664"/>
            <a:ext cx="15177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Box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514" y="107500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compare data sets using box plot?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339C4F-CD5A-564A-BD81-3D79783E6C16}"/>
              </a:ext>
            </a:extLst>
          </p:cNvPr>
          <p:cNvSpPr txBox="1"/>
          <p:nvPr/>
        </p:nvSpPr>
        <p:spPr>
          <a:xfrm>
            <a:off x="6294782" y="2085749"/>
            <a:ext cx="54041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Glue your </a:t>
            </a:r>
            <a:r>
              <a:rPr lang="en-US" sz="1400" i="1"/>
              <a:t>“Comparing” </a:t>
            </a:r>
            <a:r>
              <a:rPr lang="en-US" sz="1400" i="1" dirty="0"/>
              <a:t>notes page here</a:t>
            </a:r>
          </a:p>
        </p:txBody>
      </p:sp>
    </p:spTree>
    <p:extLst>
      <p:ext uri="{BB962C8B-B14F-4D97-AF65-F5344CB8AC3E}">
        <p14:creationId xmlns:p14="http://schemas.microsoft.com/office/powerpoint/2010/main" val="3660245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98</Words>
  <Application>Microsoft Macintosh PowerPoint</Application>
  <PresentationFormat>Widescreen</PresentationFormat>
  <Paragraphs>21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16.0015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Rosemary THOMPSON</dc:creator>
  <cp:lastModifiedBy>Rosemary THOMPSON</cp:lastModifiedBy>
  <cp:revision>8</cp:revision>
  <dcterms:created xsi:type="dcterms:W3CDTF">2018-07-24T04:37:59Z</dcterms:created>
  <dcterms:modified xsi:type="dcterms:W3CDTF">2018-07-27T13:54:29Z</dcterms:modified>
</cp:coreProperties>
</file>
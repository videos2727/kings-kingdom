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63" r:id="rId3"/>
    <p:sldId id="264" r:id="rId4"/>
    <p:sldId id="257" r:id="rId5"/>
    <p:sldId id="258" r:id="rId6"/>
    <p:sldId id="270" r:id="rId7"/>
    <p:sldId id="275" r:id="rId8"/>
    <p:sldId id="268" r:id="rId9"/>
    <p:sldId id="269" r:id="rId10"/>
    <p:sldId id="276" r:id="rId11"/>
    <p:sldId id="277" r:id="rId12"/>
    <p:sldId id="280" r:id="rId13"/>
    <p:sldId id="271" r:id="rId14"/>
    <p:sldId id="274" r:id="rId15"/>
    <p:sldId id="273" r:id="rId16"/>
    <p:sldId id="272" r:id="rId17"/>
    <p:sldId id="278" r:id="rId18"/>
    <p:sldId id="281" r:id="rId19"/>
    <p:sldId id="28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>
      <p:cViewPr varScale="1">
        <p:scale>
          <a:sx n="85" d="100"/>
          <a:sy n="85" d="100"/>
        </p:scale>
        <p:origin x="115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1AD3D9-0B11-4189-8D45-47537C1CF889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071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4382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4119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From the previous slide write the measurements onto the net so the students can see how to transfer the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8481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6437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5349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7391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4290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F4DF-6BC0-4265-839E-77003BC78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2FA9E-F217-4219-A952-1897F027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BD752-66B0-4936-9E4D-291214225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66A22-219B-4B7A-BD3F-B4CA18C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B62A-E2A6-4D4E-B0B6-2D31A380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7041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DD96-C4FE-461C-B655-BED872D2D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42DBA-9CCC-4C07-8486-4ED40E851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DF5E1-34C9-45CF-9824-D0CAD2E7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940CF-5AF2-4B5D-B39E-8C4DEA39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BFCCD-4F4D-457E-8FEB-A11D17F3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46087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56986-C434-4E77-8EE7-F40816F98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0FDE5-67DF-471C-A957-ACA8B7CDD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57653-8BAA-44D8-931D-32363E76E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46C29-7E7F-414E-BA06-B24B88AB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BF6E0-0B3B-4FD6-A041-1CB23D1FA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6215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E8C9-693E-4807-AFBD-6E6C65EF9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6646F-6223-4BAF-8842-1D1AA7905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4C0C4D-396D-48C7-ABBE-CE4DC31AB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9A7B3-A32E-4CC5-87BD-546A7D6C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F124A-A1B0-467C-84B9-B8393A1B9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2162A-53DB-4617-8E76-FFEEDDF1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5067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5C866-D4FE-448F-B7E1-8866DDC0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AD7D4-9DE0-45E1-A0E4-883BD9615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4C93F-7D12-4568-A9E8-BE3D77355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9D1D61-A972-4879-96CD-0423676A0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555FD-6250-45F6-B122-3B047BFA12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93D8B9-CCD1-45D4-AE07-4C7E55AB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01268A-180B-4F79-8983-B3FF7C383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68CD7D-C508-411F-9BF0-716A0EA88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1086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FD567-747E-4679-A77C-750CC8830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97453-175A-4CC3-8B1F-F647C0C0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F4509-8CFC-4179-AB57-68B8B4606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EA133-E7F2-4E7E-933E-9E4681EC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0522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FA363-C616-4F99-B78E-A239E003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ECDF6F-8316-4345-BD6C-03F017B52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D3602-4D80-4839-A4CD-8A036FB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268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E43D-6212-47C4-B5A1-0D229D667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869B7-23A1-408F-8C78-EC38E5E28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132B4-1175-4591-96D0-B8FEF51CD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7766B-E690-4F48-866E-7A43D4EF5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C126F-3738-41FF-A090-E437FB9C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EA337-4D1E-4FD4-AA48-B95D8159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2164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6F0F-CB98-4E66-BA0C-405B61C79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D740A4-8263-43E1-AA70-2FC905E71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52FEC-53BF-475F-ACC8-E2D2D23EE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8BE9E-9170-4774-83C8-34C1E2D0D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EAD8C-F16E-4007-B41A-0D46B384E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8AC92-3B86-490A-9387-887722B64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12320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B17D-9F90-4130-8C93-8DA41B885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BD99A-5D2C-4D3B-8467-DC1D5F398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64975-7786-4DD6-BB19-1355C2D70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AD682-75F0-406A-93EF-606DA0587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72F6B-538D-479C-8831-D3CF156F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2028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E90C8E-5BD7-44AF-9908-B5553ABC2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DD182-59A8-41B1-B484-8E8F63038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79092-5EEA-4036-9CEA-822107368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BA220-2127-4026-A18F-B8C55935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BF103-9D37-4807-B588-B14D274B1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0151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B97AFD-E1C9-4C11-B0BA-492D0838B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F5D86-2B23-4642-BFC1-5E56D58AA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CA235-F976-4A79-A515-1DA6A03FE9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17BB7-AE6F-42D2-B4C2-0B3A5EB33426}" type="datetimeFigureOut">
              <a:rPr lang="en-AU" smtClean="0"/>
              <a:t>20/03/2018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2033F-A6EE-4CCF-93D1-B35AF69F2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D7558-55E3-4537-A520-C509E8636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660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2D858E-3AE5-4A59-A1C8-4BD62A6B60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7" t="22703" r="7479" b="3804"/>
          <a:stretch/>
        </p:blipFill>
        <p:spPr>
          <a:xfrm>
            <a:off x="457200" y="1700808"/>
            <a:ext cx="8075240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3D object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- Calculate the Total Surface Area of a 3D object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Being able to calculate the Total </a:t>
            </a:r>
            <a:r>
              <a:rPr lang="en-AU" dirty="0" err="1"/>
              <a:t>Suface</a:t>
            </a:r>
            <a:r>
              <a:rPr lang="en-AU" dirty="0"/>
              <a:t> Area of an object</a:t>
            </a:r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04349" y="5723751"/>
            <a:ext cx="41233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350" dirty="0">
                <a:solidFill>
                  <a:prstClr val="black"/>
                </a:solidFill>
                <a:latin typeface="Calibri" panose="020F0502020204030204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143000" y="1592796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143000" y="2294874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3103" y="969550"/>
            <a:ext cx="432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800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800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29862" y="229487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79712" y="1160748"/>
            <a:ext cx="156728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AU" sz="2100" dirty="0">
                <a:solidFill>
                  <a:prstClr val="black"/>
                </a:solidFill>
                <a:latin typeface="Calibri" panose="020F0502020204030204"/>
              </a:rPr>
              <a:t>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2381" y="937016"/>
            <a:ext cx="118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2635" y="1654828"/>
            <a:ext cx="6465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EQ – How do I calculate the surface area of a 3D object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79A990-9932-44DE-B094-A133C2B7232C}"/>
              </a:ext>
            </a:extLst>
          </p:cNvPr>
          <p:cNvSpPr txBox="1"/>
          <p:nvPr/>
        </p:nvSpPr>
        <p:spPr>
          <a:xfrm>
            <a:off x="3491880" y="2564904"/>
            <a:ext cx="432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400" dirty="0">
                <a:solidFill>
                  <a:prstClr val="black"/>
                </a:solidFill>
                <a:latin typeface="Calibri" panose="020F0502020204030204"/>
              </a:rPr>
              <a:t>A prism is a 3D shape that has a constant cross-section.</a:t>
            </a:r>
          </a:p>
        </p:txBody>
      </p:sp>
      <p:sp>
        <p:nvSpPr>
          <p:cNvPr id="5" name="AutoShape 2" descr="angle of elevation">
            <a:extLst>
              <a:ext uri="{FF2B5EF4-FFF2-40B4-BE49-F238E27FC236}">
                <a16:creationId xmlns:a16="http://schemas.microsoft.com/office/drawing/2014/main" id="{6930FAF4-87A9-4F3A-B1C2-7171BDC12F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94F8EF-E9A7-4683-B41B-6276A6544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676" y="2861718"/>
            <a:ext cx="2908550" cy="15922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56302E-051E-48B1-89CA-F1695495749D}"/>
              </a:ext>
            </a:extLst>
          </p:cNvPr>
          <p:cNvSpPr txBox="1"/>
          <p:nvPr/>
        </p:nvSpPr>
        <p:spPr>
          <a:xfrm>
            <a:off x="3715676" y="5013176"/>
            <a:ext cx="4194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Total Surface Area (TSA) is the sum of the areas for each face of the 3D object</a:t>
            </a:r>
          </a:p>
        </p:txBody>
      </p:sp>
    </p:spTree>
    <p:extLst>
      <p:ext uri="{BB962C8B-B14F-4D97-AF65-F5344CB8AC3E}">
        <p14:creationId xmlns:p14="http://schemas.microsoft.com/office/powerpoint/2010/main" val="116876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3D object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DD850-1D4C-40D8-9363-F6B70099AB6C}"/>
              </a:ext>
            </a:extLst>
          </p:cNvPr>
          <p:cNvSpPr txBox="1"/>
          <p:nvPr/>
        </p:nvSpPr>
        <p:spPr>
          <a:xfrm>
            <a:off x="3059832" y="2276872"/>
            <a:ext cx="57605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For each 3D shape you need to break it down.</a:t>
            </a:r>
          </a:p>
          <a:p>
            <a:endParaRPr lang="en-AU" dirty="0"/>
          </a:p>
          <a:p>
            <a:r>
              <a:rPr lang="en-AU" dirty="0"/>
              <a:t>For example a Cube</a:t>
            </a:r>
          </a:p>
          <a:p>
            <a:endParaRPr lang="en-AU" dirty="0"/>
          </a:p>
          <a:p>
            <a:r>
              <a:rPr lang="en-AU" dirty="0"/>
              <a:t>                                a cube has 6 faces</a:t>
            </a:r>
          </a:p>
          <a:p>
            <a:r>
              <a:rPr lang="en-AU" dirty="0"/>
              <a:t>		Front/back</a:t>
            </a:r>
          </a:p>
          <a:p>
            <a:r>
              <a:rPr lang="en-AU" dirty="0"/>
              <a:t>		Top/Bottom</a:t>
            </a:r>
          </a:p>
          <a:p>
            <a:r>
              <a:rPr lang="en-AU" dirty="0"/>
              <a:t>		Left/Right</a:t>
            </a:r>
          </a:p>
          <a:p>
            <a:endParaRPr lang="en-AU" dirty="0"/>
          </a:p>
          <a:p>
            <a:r>
              <a:rPr lang="en-AU" dirty="0"/>
              <a:t>You need to calculate the area for each face then add the 6 area’s together to get the Total Surface Area (TSA)</a:t>
            </a:r>
          </a:p>
          <a:p>
            <a:endParaRPr lang="en-AU" dirty="0"/>
          </a:p>
          <a:p>
            <a:r>
              <a:rPr lang="en-AU" dirty="0"/>
              <a:t>Rectangular Prisms also have 6 faces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37D4B-FB09-4D03-95B1-C5B54D1E86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459" r="67333"/>
          <a:stretch/>
        </p:blipFill>
        <p:spPr>
          <a:xfrm>
            <a:off x="3622034" y="3314431"/>
            <a:ext cx="949966" cy="11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94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905000" y="914400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2.1: TSA of a rectangular prism or cube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2590800" y="2438400"/>
            <a:ext cx="2514600" cy="1066800"/>
          </a:xfrm>
          <a:prstGeom prst="rect">
            <a:avLst/>
          </a:prstGeom>
          <a:solidFill>
            <a:srgbClr val="FF99C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99CC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3581400" y="3505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8m</a:t>
            </a:r>
          </a:p>
        </p:txBody>
      </p:sp>
      <p:sp>
        <p:nvSpPr>
          <p:cNvPr id="21509" name="Text Box 6"/>
          <p:cNvSpPr txBox="1">
            <a:spLocks noChangeArrowheads="1"/>
          </p:cNvSpPr>
          <p:nvPr/>
        </p:nvSpPr>
        <p:spPr bwMode="auto">
          <a:xfrm>
            <a:off x="5334000" y="3048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7m</a:t>
            </a:r>
          </a:p>
        </p:txBody>
      </p:sp>
      <p:sp>
        <p:nvSpPr>
          <p:cNvPr id="21510" name="Text Box 11"/>
          <p:cNvSpPr txBox="1">
            <a:spLocks noChangeArrowheads="1"/>
          </p:cNvSpPr>
          <p:nvPr/>
        </p:nvSpPr>
        <p:spPr bwMode="auto">
          <a:xfrm>
            <a:off x="5715000" y="2133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6m</a:t>
            </a:r>
          </a:p>
        </p:txBody>
      </p:sp>
    </p:spTree>
    <p:extLst>
      <p:ext uri="{BB962C8B-B14F-4D97-AF65-F5344CB8AC3E}">
        <p14:creationId xmlns:p14="http://schemas.microsoft.com/office/powerpoint/2010/main" val="2308602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2286000" y="685800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Cut the box up into its 6 faces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5791200" y="14478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Front &amp; Back.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5867400" y="1828800"/>
            <a:ext cx="29718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2 of these, so SA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= 2 </a:t>
            </a: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 8  6 = </a:t>
            </a:r>
            <a:r>
              <a:rPr kumimoji="0" lang="en-AU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96 m</a:t>
            </a:r>
            <a:r>
              <a:rPr kumimoji="0" lang="en-AU" altLang="en-US" sz="3600" b="1" i="0" u="none" strike="noStrike" kern="1200" cap="none" spc="0" normalizeH="0" baseline="3000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2</a:t>
            </a:r>
            <a:endParaRPr kumimoji="0" lang="en-AU" altLang="en-US" sz="3600" b="1" i="0" u="none" strike="noStrike" kern="1200" cap="none" spc="0" normalizeH="0" baseline="0" noProof="0">
              <a:ln>
                <a:noFill/>
              </a:ln>
              <a:solidFill>
                <a:srgbClr val="D60093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905000" y="1447800"/>
            <a:ext cx="3581400" cy="1066800"/>
            <a:chOff x="1296" y="2928"/>
            <a:chExt cx="1632" cy="672"/>
          </a:xfrm>
        </p:grpSpPr>
        <p:sp>
          <p:nvSpPr>
            <p:cNvPr id="22549" name="Text Box 3"/>
            <p:cNvSpPr txBox="1">
              <a:spLocks noChangeArrowheads="1"/>
            </p:cNvSpPr>
            <p:nvPr/>
          </p:nvSpPr>
          <p:spPr bwMode="auto">
            <a:xfrm>
              <a:off x="2496" y="312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6m</a:t>
              </a:r>
            </a:p>
          </p:txBody>
        </p:sp>
        <p:sp>
          <p:nvSpPr>
            <p:cNvPr id="22550" name="Rectangle 4"/>
            <p:cNvSpPr>
              <a:spLocks noChangeArrowheads="1"/>
            </p:cNvSpPr>
            <p:nvPr/>
          </p:nvSpPr>
          <p:spPr bwMode="auto">
            <a:xfrm>
              <a:off x="1296" y="3024"/>
              <a:ext cx="1200" cy="57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2551" name="Text Box 5"/>
            <p:cNvSpPr txBox="1">
              <a:spLocks noChangeArrowheads="1"/>
            </p:cNvSpPr>
            <p:nvPr/>
          </p:nvSpPr>
          <p:spPr bwMode="auto">
            <a:xfrm>
              <a:off x="1728" y="292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8m</a:t>
              </a:r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1905000" y="3124200"/>
            <a:ext cx="3124200" cy="1295400"/>
            <a:chOff x="1200" y="1968"/>
            <a:chExt cx="1968" cy="816"/>
          </a:xfrm>
        </p:grpSpPr>
        <p:sp>
          <p:nvSpPr>
            <p:cNvPr id="22546" name="Rectangle 9"/>
            <p:cNvSpPr>
              <a:spLocks noChangeArrowheads="1"/>
            </p:cNvSpPr>
            <p:nvPr/>
          </p:nvSpPr>
          <p:spPr bwMode="auto">
            <a:xfrm>
              <a:off x="1200" y="2064"/>
              <a:ext cx="1728" cy="720"/>
            </a:xfrm>
            <a:prstGeom prst="rect">
              <a:avLst/>
            </a:prstGeom>
            <a:solidFill>
              <a:srgbClr val="F5F6FD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2547" name="Text Box 10"/>
            <p:cNvSpPr txBox="1">
              <a:spLocks noChangeArrowheads="1"/>
            </p:cNvSpPr>
            <p:nvPr/>
          </p:nvSpPr>
          <p:spPr bwMode="auto">
            <a:xfrm>
              <a:off x="1776" y="196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8m</a:t>
              </a:r>
            </a:p>
          </p:txBody>
        </p:sp>
        <p:sp>
          <p:nvSpPr>
            <p:cNvPr id="22548" name="Text Box 11"/>
            <p:cNvSpPr txBox="1">
              <a:spLocks noChangeArrowheads="1"/>
            </p:cNvSpPr>
            <p:nvPr/>
          </p:nvSpPr>
          <p:spPr bwMode="auto">
            <a:xfrm>
              <a:off x="2688" y="23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7m</a:t>
              </a:r>
            </a:p>
          </p:txBody>
        </p:sp>
      </p:grp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5867400" y="3352800"/>
            <a:ext cx="2667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ct val="5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Top &amp; Bottom.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5562600" y="3657600"/>
            <a:ext cx="3276600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ct val="25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2 of these, so SA </a:t>
            </a:r>
          </a:p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ct val="25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= 2 </a:t>
            </a: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 8  7 = </a:t>
            </a:r>
            <a:r>
              <a:rPr kumimoji="0" lang="en-AU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112</a:t>
            </a:r>
            <a:r>
              <a:rPr kumimoji="0" lang="en-AU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 m</a:t>
            </a:r>
            <a:r>
              <a:rPr kumimoji="0" lang="en-AU" altLang="en-US" sz="3600" b="1" i="0" u="none" strike="noStrike" kern="1200" cap="none" spc="0" normalizeH="0" baseline="3000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2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1905000" y="4876800"/>
            <a:ext cx="3048000" cy="1371600"/>
            <a:chOff x="1200" y="3072"/>
            <a:chExt cx="1920" cy="864"/>
          </a:xfrm>
        </p:grpSpPr>
        <p:sp>
          <p:nvSpPr>
            <p:cNvPr id="22543" name="Rectangle 14"/>
            <p:cNvSpPr>
              <a:spLocks noChangeArrowheads="1"/>
            </p:cNvSpPr>
            <p:nvPr/>
          </p:nvSpPr>
          <p:spPr bwMode="auto">
            <a:xfrm>
              <a:off x="1200" y="3312"/>
              <a:ext cx="1440" cy="624"/>
            </a:xfrm>
            <a:prstGeom prst="rect">
              <a:avLst/>
            </a:prstGeom>
            <a:solidFill>
              <a:srgbClr val="F36D5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36D5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endParaRPr>
            </a:p>
          </p:txBody>
        </p:sp>
        <p:sp>
          <p:nvSpPr>
            <p:cNvPr id="22544" name="Text Box 15"/>
            <p:cNvSpPr txBox="1">
              <a:spLocks noChangeArrowheads="1"/>
            </p:cNvSpPr>
            <p:nvPr/>
          </p:nvSpPr>
          <p:spPr bwMode="auto">
            <a:xfrm>
              <a:off x="1728" y="3072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7m</a:t>
              </a:r>
            </a:p>
          </p:txBody>
        </p:sp>
        <p:sp>
          <p:nvSpPr>
            <p:cNvPr id="22545" name="Text Box 16"/>
            <p:cNvSpPr txBox="1">
              <a:spLocks noChangeArrowheads="1"/>
            </p:cNvSpPr>
            <p:nvPr/>
          </p:nvSpPr>
          <p:spPr bwMode="auto">
            <a:xfrm>
              <a:off x="2640" y="340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6m</a:t>
              </a:r>
            </a:p>
          </p:txBody>
        </p:sp>
      </p:grpSp>
      <p:sp>
        <p:nvSpPr>
          <p:cNvPr id="15377" name="Text Box 17"/>
          <p:cNvSpPr txBox="1">
            <a:spLocks noChangeArrowheads="1"/>
          </p:cNvSpPr>
          <p:nvPr/>
        </p:nvSpPr>
        <p:spPr bwMode="auto">
          <a:xfrm>
            <a:off x="5867400" y="5105400"/>
            <a:ext cx="2667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ct val="4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Left &amp; right.</a:t>
            </a:r>
          </a:p>
        </p:txBody>
      </p:sp>
      <p:sp>
        <p:nvSpPr>
          <p:cNvPr id="15378" name="Text Box 18"/>
          <p:cNvSpPr txBox="1">
            <a:spLocks noChangeArrowheads="1"/>
          </p:cNvSpPr>
          <p:nvPr/>
        </p:nvSpPr>
        <p:spPr bwMode="auto">
          <a:xfrm>
            <a:off x="5715000" y="5486400"/>
            <a:ext cx="2819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ct val="4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2 of these, so SA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= 2 </a:t>
            </a: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 6  7 = </a:t>
            </a:r>
            <a:r>
              <a:rPr kumimoji="0" lang="en-AU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84m</a:t>
            </a:r>
            <a:r>
              <a:rPr kumimoji="0" lang="en-AU" altLang="en-US" sz="3200" b="1" i="0" u="none" strike="noStrike" kern="1200" cap="none" spc="0" normalizeH="0" baseline="3000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2</a:t>
            </a:r>
          </a:p>
        </p:txBody>
      </p:sp>
      <p:sp>
        <p:nvSpPr>
          <p:cNvPr id="15379" name="Line 19"/>
          <p:cNvSpPr>
            <a:spLocks noChangeShapeType="1"/>
          </p:cNvSpPr>
          <p:nvPr/>
        </p:nvSpPr>
        <p:spPr bwMode="auto">
          <a:xfrm>
            <a:off x="1447800" y="3124200"/>
            <a:ext cx="73152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80" name="Line 20"/>
          <p:cNvSpPr>
            <a:spLocks noChangeShapeType="1"/>
          </p:cNvSpPr>
          <p:nvPr/>
        </p:nvSpPr>
        <p:spPr bwMode="auto">
          <a:xfrm>
            <a:off x="1600200" y="4800600"/>
            <a:ext cx="73152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85" name="Text Box 25"/>
          <p:cNvSpPr txBox="1">
            <a:spLocks noChangeArrowheads="1"/>
          </p:cNvSpPr>
          <p:nvPr/>
        </p:nvSpPr>
        <p:spPr bwMode="auto">
          <a:xfrm>
            <a:off x="3124200" y="6400800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TSA = 96 + 112 + 84 = 292m</a:t>
            </a:r>
            <a:r>
              <a:rPr kumimoji="0" lang="en-AU" altLang="en-US" sz="2400" b="1" i="0" u="none" strike="noStrike" kern="1200" cap="none" spc="0" normalizeH="0" baseline="30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2</a:t>
            </a:r>
            <a:endParaRPr kumimoji="0" lang="en-AU" altLang="en-US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830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utoUpdateAnimBg="0"/>
      <p:bldP spid="15367" grpId="0" autoUpdateAnimBg="0"/>
      <p:bldP spid="15368" grpId="0" autoUpdateAnimBg="0"/>
      <p:bldP spid="15372" grpId="0" autoUpdateAnimBg="0"/>
      <p:bldP spid="15373" grpId="0" autoUpdateAnimBg="0"/>
      <p:bldP spid="15377" grpId="0" autoUpdateAnimBg="0"/>
      <p:bldP spid="15378" grpId="0" autoUpdateAnimBg="0"/>
      <p:bldP spid="15379" grpId="0" animBg="1"/>
      <p:bldP spid="15380" grpId="0" animBg="1"/>
      <p:bldP spid="1538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3D object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644B49-4064-4F6E-B3BD-95FAA449E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2179561"/>
            <a:ext cx="2341067" cy="20118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76C4A1-1540-4666-A953-928F4B6050C5}"/>
              </a:ext>
            </a:extLst>
          </p:cNvPr>
          <p:cNvSpPr txBox="1"/>
          <p:nvPr/>
        </p:nvSpPr>
        <p:spPr>
          <a:xfrm>
            <a:off x="3419872" y="4437112"/>
            <a:ext cx="53200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triangular prism has 5 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Front/back which are triangles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3 sides that are rectangles.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With some prisms using ‘shape nets’ can make it easier to identify the dimensions of each of the faces, triangular prisms are one of these shapes.</a:t>
            </a:r>
          </a:p>
        </p:txBody>
      </p:sp>
    </p:spTree>
    <p:extLst>
      <p:ext uri="{BB962C8B-B14F-4D97-AF65-F5344CB8AC3E}">
        <p14:creationId xmlns:p14="http://schemas.microsoft.com/office/powerpoint/2010/main" val="4086677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3D object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F5C6E8-3F3F-4B10-8F0F-6AC14C4B8C02}"/>
              </a:ext>
            </a:extLst>
          </p:cNvPr>
          <p:cNvPicPr/>
          <p:nvPr/>
        </p:nvPicPr>
        <p:blipFill rotWithShape="1">
          <a:blip r:embed="rId3"/>
          <a:srcRect l="28086" t="14358" r="27542" b="7730"/>
          <a:stretch/>
        </p:blipFill>
        <p:spPr bwMode="auto">
          <a:xfrm>
            <a:off x="3300412" y="2033587"/>
            <a:ext cx="3359820" cy="38436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C3BFF6-4086-4C79-8C50-917E89A1A194}"/>
              </a:ext>
            </a:extLst>
          </p:cNvPr>
          <p:cNvSpPr txBox="1"/>
          <p:nvPr/>
        </p:nvSpPr>
        <p:spPr>
          <a:xfrm>
            <a:off x="6948264" y="2708920"/>
            <a:ext cx="18722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Shape net of a Triangular prism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Clearly shows the areas that need calculating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Once drawn transfer the measurements and then calculate your areas.</a:t>
            </a:r>
          </a:p>
        </p:txBody>
      </p:sp>
    </p:spTree>
    <p:extLst>
      <p:ext uri="{BB962C8B-B14F-4D97-AF65-F5344CB8AC3E}">
        <p14:creationId xmlns:p14="http://schemas.microsoft.com/office/powerpoint/2010/main" val="1136435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C6D4AA-8A5D-4472-9957-2C844E36E019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/>
          <a:srcRect l="24264" t="8509" r="27044" b="4538"/>
          <a:stretch/>
        </p:blipFill>
        <p:spPr bwMode="auto">
          <a:xfrm>
            <a:off x="2544438" y="1600200"/>
            <a:ext cx="4055123" cy="45259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34867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5" t="36941" r="11796" b="50361"/>
          <a:stretch/>
        </p:blipFill>
        <p:spPr bwMode="auto">
          <a:xfrm>
            <a:off x="1381475" y="1106743"/>
            <a:ext cx="6619526" cy="897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8" t="62879" r="9740" b="17929"/>
          <a:stretch/>
        </p:blipFill>
        <p:spPr bwMode="auto">
          <a:xfrm>
            <a:off x="1198681" y="2240868"/>
            <a:ext cx="6802321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98682" y="3537013"/>
            <a:ext cx="6721693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9. Katy wants to wrap a present that is 15cm wide, 18cm deep and 4cm high. How much wrapping paper will she need to use?</a:t>
            </a:r>
          </a:p>
          <a:p>
            <a:pPr defTabSz="685800"/>
            <a:endParaRPr lang="en-GB" sz="165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10. A length of copper piping is in the shape of a triangular prism. The triangle on it’s end is 9mm tall, 4mm wide. The piece of pipe is 18cm long. What is the surface area of the pipe?</a:t>
            </a:r>
          </a:p>
          <a:p>
            <a:pPr defTabSz="685800"/>
            <a:endParaRPr lang="en-GB" sz="165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11. A box has </a:t>
            </a:r>
            <a:r>
              <a:rPr lang="en-GB" sz="1650" b="1" dirty="0">
                <a:solidFill>
                  <a:srgbClr val="FF0000"/>
                </a:solidFill>
                <a:latin typeface="Calibri" panose="020F0502020204030204"/>
              </a:rPr>
              <a:t>no lid</a:t>
            </a:r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. The box measures 1.2m by 30cm by 45cm. What is the surface area of the </a:t>
            </a:r>
            <a:r>
              <a:rPr lang="en-GB" sz="1650" b="1" dirty="0">
                <a:solidFill>
                  <a:srgbClr val="FF0000"/>
                </a:solidFill>
                <a:latin typeface="Calibri" panose="020F0502020204030204"/>
              </a:rPr>
              <a:t>outside</a:t>
            </a:r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 of the box?</a:t>
            </a:r>
          </a:p>
        </p:txBody>
      </p:sp>
      <p:sp>
        <p:nvSpPr>
          <p:cNvPr id="5" name="Rectangle 4"/>
          <p:cNvSpPr/>
          <p:nvPr/>
        </p:nvSpPr>
        <p:spPr>
          <a:xfrm>
            <a:off x="1198682" y="2240869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5.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9804" y="2249006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6.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9041" y="2249006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3228" y="2249006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8.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7386" y="857250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9804" y="958988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1239" y="992266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8206" y="903021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184011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2700" dirty="0"/>
              <a:t>Surface Area of Prisms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817694" y="3915054"/>
            <a:ext cx="1458162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309542" y="4995174"/>
            <a:ext cx="1458162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309542" y="3915054"/>
            <a:ext cx="508152" cy="10801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2767704" y="3915054"/>
            <a:ext cx="508152" cy="10801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811900" y="2726922"/>
            <a:ext cx="1458162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303748" y="3807042"/>
            <a:ext cx="1458162" cy="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303748" y="2726922"/>
            <a:ext cx="508152" cy="108012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761910" y="2726922"/>
            <a:ext cx="508152" cy="10801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1817694" y="2726922"/>
            <a:ext cx="994206" cy="1188132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1309542" y="3807042"/>
            <a:ext cx="1005255" cy="1188132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3275856" y="2726922"/>
            <a:ext cx="994206" cy="1188132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2767704" y="3807042"/>
            <a:ext cx="994206" cy="1188132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90621" y="4972962"/>
            <a:ext cx="9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9cm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592" y="4162872"/>
            <a:ext cx="9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8cm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2789" y="4281990"/>
            <a:ext cx="9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11cm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3958" y="3093858"/>
            <a:ext cx="9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7cm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4409982" y="2726922"/>
            <a:ext cx="0" cy="1080120"/>
          </a:xfrm>
          <a:prstGeom prst="straightConnector1">
            <a:avLst/>
          </a:prstGeom>
          <a:ln>
            <a:solidFill>
              <a:srgbClr val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58056" y="1212574"/>
            <a:ext cx="2942946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Area of Parallelograms 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9 x 7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</a:t>
            </a:r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63cm</a:t>
            </a:r>
            <a:r>
              <a:rPr lang="en-GB" sz="1500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  <a:p>
            <a:pPr defTabSz="685800"/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Area of Rectangles 1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11 x 9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99cm</a:t>
            </a:r>
            <a:r>
              <a:rPr lang="en-GB" sz="1500" baseline="30000" dirty="0">
                <a:solidFill>
                  <a:prstClr val="black"/>
                </a:solidFill>
                <a:latin typeface="Calibri" panose="020F0502020204030204"/>
              </a:rPr>
              <a:t>2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99 x 2</a:t>
            </a: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= 198cm</a:t>
            </a:r>
            <a:r>
              <a:rPr lang="en-GB" sz="1500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  <a:p>
            <a:pPr defTabSz="685800"/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Area of Rectangles 2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8 x 11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88cm</a:t>
            </a:r>
            <a:r>
              <a:rPr lang="en-GB" sz="1500" baseline="30000" dirty="0">
                <a:solidFill>
                  <a:prstClr val="black"/>
                </a:solidFill>
                <a:latin typeface="Calibri" panose="020F0502020204030204"/>
              </a:rPr>
              <a:t>2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88 x 2</a:t>
            </a: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= 176cm</a:t>
            </a:r>
            <a:r>
              <a:rPr lang="en-GB" sz="1500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  <a:p>
            <a:pPr defTabSz="685800"/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TOTAL SURFACE AREA</a:t>
            </a: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= 63 + 198 + 176</a:t>
            </a: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= 437cm</a:t>
            </a:r>
            <a:r>
              <a:rPr lang="en-GB" sz="1500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9979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of Prisms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162934" y="1916833"/>
            <a:ext cx="5083253" cy="2705114"/>
            <a:chOff x="26577" y="1403486"/>
            <a:chExt cx="8217831" cy="4141074"/>
          </a:xfrm>
        </p:grpSpPr>
        <p:sp>
          <p:nvSpPr>
            <p:cNvPr id="4" name="Trapezoid 3"/>
            <p:cNvSpPr/>
            <p:nvPr/>
          </p:nvSpPr>
          <p:spPr>
            <a:xfrm>
              <a:off x="871882" y="3501008"/>
              <a:ext cx="2664296" cy="1584176"/>
            </a:xfrm>
            <a:prstGeom prst="trapezoid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" name="Trapezoid 4"/>
            <p:cNvSpPr/>
            <p:nvPr/>
          </p:nvSpPr>
          <p:spPr>
            <a:xfrm>
              <a:off x="3536178" y="1781200"/>
              <a:ext cx="2664296" cy="1584176"/>
            </a:xfrm>
            <a:prstGeom prst="trapezoid">
              <a:avLst/>
            </a:prstGeom>
            <a:noFill/>
            <a:ln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 flipV="1">
              <a:off x="1259632" y="1781200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871882" y="3365376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3131840" y="1781200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3536178" y="3365376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923928" y="1781200"/>
              <a:ext cx="1872208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809991" y="1781200"/>
              <a:ext cx="404338" cy="1584176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331640" y="5085185"/>
              <a:ext cx="158417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10cm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48588" y="1403486"/>
              <a:ext cx="158417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6cm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6577" y="3966383"/>
              <a:ext cx="158417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8cm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525219" y="2276871"/>
              <a:ext cx="158417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8cm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87400" y="4149080"/>
              <a:ext cx="1368775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16cm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7020272" y="1772818"/>
              <a:ext cx="0" cy="1592559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020272" y="2276871"/>
              <a:ext cx="122413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7cm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4572000" y="3753037"/>
            <a:ext cx="3381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Trapeziums = ½ (10 + 6) x 7</a:t>
            </a:r>
          </a:p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= ½ x 16 x 7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56cm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9622" y="4695964"/>
            <a:ext cx="338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Rectangle 1 = 16 x 8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128cm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5203" y="4721005"/>
            <a:ext cx="338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Rectangle 2 = 10 x 16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160cm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9622" y="5318994"/>
            <a:ext cx="338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Rectangle 3 = 16 x 8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128cm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5203" y="5344036"/>
            <a:ext cx="338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Rectangle 4 = 6 x 16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96cm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2180" y="1916832"/>
            <a:ext cx="17617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TOTAL SURFACE AREA = 56 + 128 + 160 + 128 + 96</a:t>
            </a:r>
          </a:p>
          <a:p>
            <a:pPr defTabSz="685800"/>
            <a:endParaRPr lang="en-GB" dirty="0">
              <a:solidFill>
                <a:srgbClr val="FF0000"/>
              </a:solidFill>
              <a:latin typeface="Calibri" panose="020F0502020204030204"/>
            </a:endParaRP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568cm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4372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  <p:bldP spid="30" grpId="0"/>
      <p:bldP spid="31" grpId="0"/>
      <p:bldP spid="32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731" y="1063229"/>
            <a:ext cx="5516369" cy="368850"/>
          </a:xfrm>
        </p:spPr>
        <p:txBody>
          <a:bodyPr>
            <a:normAutofit/>
          </a:bodyPr>
          <a:lstStyle/>
          <a:p>
            <a:r>
              <a:rPr lang="en-GB" sz="1500" dirty="0"/>
              <a:t>Find the surface area of the following shapes</a:t>
            </a:r>
          </a:p>
        </p:txBody>
      </p:sp>
      <p:sp>
        <p:nvSpPr>
          <p:cNvPr id="4" name="Cube 3"/>
          <p:cNvSpPr/>
          <p:nvPr/>
        </p:nvSpPr>
        <p:spPr>
          <a:xfrm>
            <a:off x="1493658" y="1970838"/>
            <a:ext cx="1782198" cy="1026114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63688" y="2996952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7cm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7814" y="2780928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3cm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5826" y="2233899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4cm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4734018" y="2130053"/>
            <a:ext cx="1242138" cy="1195101"/>
          </a:xfrm>
          <a:prstGeom prst="triangle">
            <a:avLst>
              <a:gd name="adj" fmla="val 32433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Isosceles Triangle 9"/>
          <p:cNvSpPr/>
          <p:nvPr/>
        </p:nvSpPr>
        <p:spPr>
          <a:xfrm>
            <a:off x="5976156" y="1646802"/>
            <a:ext cx="1242138" cy="1195101"/>
          </a:xfrm>
          <a:prstGeom prst="triangle">
            <a:avLst>
              <a:gd name="adj" fmla="val 32433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2" name="Straight Connector 11"/>
          <p:cNvCxnSpPr>
            <a:stCxn id="9" idx="0"/>
            <a:endCxn id="10" idx="0"/>
          </p:cNvCxnSpPr>
          <p:nvPr/>
        </p:nvCxnSpPr>
        <p:spPr>
          <a:xfrm flipV="1">
            <a:off x="5136881" y="1646802"/>
            <a:ext cx="1242138" cy="4832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2"/>
            <a:endCxn id="10" idx="2"/>
          </p:cNvCxnSpPr>
          <p:nvPr/>
        </p:nvCxnSpPr>
        <p:spPr>
          <a:xfrm flipV="1">
            <a:off x="4734018" y="2841903"/>
            <a:ext cx="1242138" cy="48325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9" idx="4"/>
            <a:endCxn id="10" idx="4"/>
          </p:cNvCxnSpPr>
          <p:nvPr/>
        </p:nvCxnSpPr>
        <p:spPr>
          <a:xfrm flipV="1">
            <a:off x="5976156" y="2841903"/>
            <a:ext cx="1242138" cy="4832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0"/>
            <a:endCxn id="10" idx="4"/>
          </p:cNvCxnSpPr>
          <p:nvPr/>
        </p:nvCxnSpPr>
        <p:spPr>
          <a:xfrm>
            <a:off x="6379018" y="1646802"/>
            <a:ext cx="839276" cy="11951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96036" y="3312433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4198" y="3088172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9m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2210" y="1991553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1970" y="2546581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5m</a:t>
            </a:r>
          </a:p>
        </p:txBody>
      </p:sp>
      <p:cxnSp>
        <p:nvCxnSpPr>
          <p:cNvPr id="25" name="Straight Arrow Connector 24"/>
          <p:cNvCxnSpPr>
            <a:stCxn id="9" idx="0"/>
            <a:endCxn id="9" idx="3"/>
          </p:cNvCxnSpPr>
          <p:nvPr/>
        </p:nvCxnSpPr>
        <p:spPr>
          <a:xfrm>
            <a:off x="5136881" y="2130053"/>
            <a:ext cx="0" cy="1195101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85057" y="2618910"/>
            <a:ext cx="62106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4m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1168486" y="3589434"/>
            <a:ext cx="3785945" cy="2246193"/>
            <a:chOff x="33981" y="3193687"/>
            <a:chExt cx="5703364" cy="3456492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258117" y="4777863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580581" y="6218023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580581" y="4777863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2524797" y="4777863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583725" y="3193687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906189" y="4633847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1906189" y="3193687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3850405" y="3193687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V="1">
              <a:off x="1258117" y="319368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V="1">
              <a:off x="580581" y="4633847"/>
              <a:ext cx="1340340" cy="1584176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3202333" y="319368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2524797" y="463384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955353" y="6188406"/>
              <a:ext cx="1310875" cy="4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9cm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3981" y="5108287"/>
              <a:ext cx="1310875" cy="4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8cm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71577" y="5267110"/>
              <a:ext cx="1310875" cy="4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11cm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426470" y="3682934"/>
              <a:ext cx="1310875" cy="4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7cm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>
              <a:off x="4714501" y="3193687"/>
              <a:ext cx="0" cy="1440160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Oval 44"/>
          <p:cNvSpPr/>
          <p:nvPr/>
        </p:nvSpPr>
        <p:spPr>
          <a:xfrm>
            <a:off x="1223629" y="1646803"/>
            <a:ext cx="307696" cy="30769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4734019" y="1761102"/>
            <a:ext cx="307696" cy="30769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478282" y="3599674"/>
            <a:ext cx="307696" cy="30769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25885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654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 (TSA)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3D object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4D5AC9-1196-44F7-A7C0-EF4301B18E12}"/>
              </a:ext>
            </a:extLst>
          </p:cNvPr>
          <p:cNvPicPr/>
          <p:nvPr/>
        </p:nvPicPr>
        <p:blipFill rotWithShape="1">
          <a:blip r:embed="rId3"/>
          <a:srcRect l="29249" t="17550" r="26878" b="8527"/>
          <a:stretch/>
        </p:blipFill>
        <p:spPr bwMode="auto">
          <a:xfrm>
            <a:off x="3314700" y="2105024"/>
            <a:ext cx="2913484" cy="319618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C5AAB1-870D-423E-A6FC-92AF12E8B907}"/>
              </a:ext>
            </a:extLst>
          </p:cNvPr>
          <p:cNvSpPr txBox="1"/>
          <p:nvPr/>
        </p:nvSpPr>
        <p:spPr>
          <a:xfrm>
            <a:off x="6300192" y="2708920"/>
            <a:ext cx="27231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Shape nets are good for calculating the surface area of composite shaped prism and pyramids.</a:t>
            </a:r>
          </a:p>
          <a:p>
            <a:endParaRPr lang="en-AU" dirty="0"/>
          </a:p>
          <a:p>
            <a:r>
              <a:rPr lang="en-AU" dirty="0"/>
              <a:t>Once you have flattened the 3D shape you can see what needs to be calculated.</a:t>
            </a:r>
          </a:p>
          <a:p>
            <a:endParaRPr lang="en-AU" dirty="0"/>
          </a:p>
          <a:p>
            <a:r>
              <a:rPr lang="en-AU" dirty="0"/>
              <a:t>The pyramid pictured needs the area of 4 triangles and 1 square added together to find TSA</a:t>
            </a:r>
          </a:p>
        </p:txBody>
      </p:sp>
    </p:spTree>
    <p:extLst>
      <p:ext uri="{BB962C8B-B14F-4D97-AF65-F5344CB8AC3E}">
        <p14:creationId xmlns:p14="http://schemas.microsoft.com/office/powerpoint/2010/main" val="3933097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2C0A8C-7660-48A4-B196-984DFB4F993E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/>
          <a:srcRect l="25427" t="15689" r="32528" b="55368"/>
          <a:stretch/>
        </p:blipFill>
        <p:spPr bwMode="auto">
          <a:xfrm>
            <a:off x="755576" y="1700808"/>
            <a:ext cx="7416824" cy="33123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60650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2C0A8C-7660-48A4-B196-984DFB4F993E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/>
          <a:srcRect l="25427" t="59602" r="32528" b="7463"/>
          <a:stretch/>
        </p:blipFill>
        <p:spPr bwMode="auto">
          <a:xfrm>
            <a:off x="899592" y="1844824"/>
            <a:ext cx="7416824" cy="39604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14834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798</Words>
  <Application>Microsoft Office PowerPoint</Application>
  <PresentationFormat>On-screen Show (4:3)</PresentationFormat>
  <Paragraphs>196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Comic Sans MS</vt:lpstr>
      <vt:lpstr>Symbol</vt:lpstr>
      <vt:lpstr>Times New Roman</vt:lpstr>
      <vt:lpstr>Office Theme</vt:lpstr>
      <vt:lpstr>1_Office Theme</vt:lpstr>
      <vt:lpstr>PowerPoint Presentation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Surface Area of Prisms</vt:lpstr>
      <vt:lpstr>Surface Area of Prisms</vt:lpstr>
      <vt:lpstr>Find the surface area of the following shapes</vt:lpstr>
      <vt:lpstr>PowerPoint Presentation</vt:lpstr>
      <vt:lpstr>Activity</vt:lpstr>
      <vt:lpstr>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13</cp:revision>
  <dcterms:created xsi:type="dcterms:W3CDTF">2016-10-20T03:14:06Z</dcterms:created>
  <dcterms:modified xsi:type="dcterms:W3CDTF">2018-03-20T16:35:34Z</dcterms:modified>
</cp:coreProperties>
</file>
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handoutMasterIdLst>
    <p:handoutMasterId r:id="rId14"/>
  </p:handoutMasterIdLst>
  <p:sldIdLst>
    <p:sldId id="272" r:id="rId2"/>
    <p:sldId id="263" r:id="rId3"/>
    <p:sldId id="277" r:id="rId4"/>
    <p:sldId id="273" r:id="rId5"/>
    <p:sldId id="274" r:id="rId6"/>
    <p:sldId id="275" r:id="rId7"/>
    <p:sldId id="276" r:id="rId8"/>
    <p:sldId id="270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AE8423-492F-48B3-969D-5F5F29AC9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09F01-0840-4362-8B71-AB1F7188E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1F158-C6B5-413B-BEC5-11DE300B2995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18405-4D53-410A-8E5B-4164670576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7B983-ECD4-40EE-AD74-DF6E4464DA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D7CC1-DE81-4243-A8A9-4D05221EBB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114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40D7D-9290-49C6-B8C8-001609809562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A9E23-5653-4857-95D5-EBB8BCCCB4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0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2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4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75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6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83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14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4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17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64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03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342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533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162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72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809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865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312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803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05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39F4A-CE88-433F-9892-937EE53AA716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B2170-B4CE-4C11-9214-C3C6F2F33E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50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066713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Rearranging Formulas – Simple Interest Formula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9253" y="3567542"/>
            <a:ext cx="7084754" cy="103850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Lum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Maths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1CAB50-F208-4383-8020-4C959393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Mental Warm Up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C812EF-F22B-444E-AEBD-A6063333C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43" y="1731080"/>
            <a:ext cx="10954657" cy="4487607"/>
          </a:xfrm>
        </p:spPr>
        <p:txBody>
          <a:bodyPr>
            <a:normAutofit/>
          </a:bodyPr>
          <a:lstStyle/>
          <a:p>
            <a:r>
              <a:rPr lang="en-AU" sz="2400" dirty="0"/>
              <a:t>Solve</a:t>
            </a:r>
          </a:p>
        </p:txBody>
      </p:sp>
      <p:pic>
        <p:nvPicPr>
          <p:cNvPr id="3" name="Picture 2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010701D8-1DE5-459F-907F-93ECD0EAC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265" y="2057401"/>
            <a:ext cx="4670367" cy="467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A0DA43FA-47BA-406F-9E02-71EAE83B3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265" y="2057401"/>
            <a:ext cx="4808913" cy="480891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C812EF-F22B-444E-AEBD-A6063333C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43" y="1731080"/>
            <a:ext cx="10954657" cy="4487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Answer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D7E5796B-EA8B-4CC9-9CA7-34387FCB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Mental Warm Up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</p:spTree>
    <p:extLst>
      <p:ext uri="{BB962C8B-B14F-4D97-AF65-F5344CB8AC3E}">
        <p14:creationId xmlns:p14="http://schemas.microsoft.com/office/powerpoint/2010/main" val="112331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06/02/2018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6C1EC8C-B600-4E28-A450-0AEBEE1A53FF}"/>
              </a:ext>
            </a:extLst>
          </p:cNvPr>
          <p:cNvSpPr txBox="1">
            <a:spLocks noChangeArrowheads="1"/>
          </p:cNvSpPr>
          <p:nvPr/>
        </p:nvSpPr>
        <p:spPr>
          <a:xfrm>
            <a:off x="1937447" y="1399537"/>
            <a:ext cx="9559152" cy="45865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Joe wants to borrow $2000 from a bank to buy a new car. He will take 2 years to pay the money back, and the bank’s interest rate is 8% per annum (per year). 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simple interest does he pay?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he pay altogether?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09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06/02/2018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B1A726-4D4F-4766-835E-8E0FB864D062}"/>
              </a:ext>
            </a:extLst>
          </p:cNvPr>
          <p:cNvSpPr txBox="1"/>
          <p:nvPr/>
        </p:nvSpPr>
        <p:spPr>
          <a:xfrm>
            <a:off x="8039295" y="2519803"/>
            <a:ext cx="3906174" cy="286232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When solving word problems you need to list all your information systematically. </a:t>
            </a:r>
          </a:p>
          <a:p>
            <a:endParaRPr lang="en-AU" dirty="0"/>
          </a:p>
          <a:p>
            <a:r>
              <a:rPr lang="en-AU" dirty="0"/>
              <a:t>P = </a:t>
            </a:r>
          </a:p>
          <a:p>
            <a:endParaRPr lang="en-AU" dirty="0"/>
          </a:p>
          <a:p>
            <a:r>
              <a:rPr lang="en-AU" dirty="0"/>
              <a:t>R = </a:t>
            </a:r>
          </a:p>
          <a:p>
            <a:endParaRPr lang="en-AU" dirty="0"/>
          </a:p>
          <a:p>
            <a:r>
              <a:rPr lang="en-AU" dirty="0"/>
              <a:t>T = </a:t>
            </a:r>
          </a:p>
          <a:p>
            <a:endParaRPr lang="en-AU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3B3B472-7933-4362-8914-489E1CFF7322}"/>
              </a:ext>
            </a:extLst>
          </p:cNvPr>
          <p:cNvSpPr txBox="1">
            <a:spLocks noChangeArrowheads="1"/>
          </p:cNvSpPr>
          <p:nvPr/>
        </p:nvSpPr>
        <p:spPr>
          <a:xfrm>
            <a:off x="2032000" y="1560286"/>
            <a:ext cx="9913461" cy="468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AU" dirty="0"/>
              <a:t>Susie borrows $4500 for a holiday. She expects to pay it off after 18 months. The bank charges 9% </a:t>
            </a:r>
            <a:r>
              <a:rPr lang="en-AU" i="1" dirty="0"/>
              <a:t>per annum </a:t>
            </a:r>
            <a:r>
              <a:rPr lang="en-AU" dirty="0"/>
              <a:t>interest.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How much interest does Susie pay? </a:t>
            </a:r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endParaRPr lang="en-AU" dirty="0"/>
          </a:p>
          <a:p>
            <a:pPr>
              <a:buFont typeface="Wingdings" pitchFamily="2" charset="2"/>
              <a:buNone/>
            </a:pPr>
            <a:r>
              <a:rPr lang="en-AU" dirty="0"/>
              <a:t>How much does she pay altogether?</a:t>
            </a:r>
          </a:p>
        </p:txBody>
      </p:sp>
    </p:spTree>
    <p:extLst>
      <p:ext uri="{BB962C8B-B14F-4D97-AF65-F5344CB8AC3E}">
        <p14:creationId xmlns:p14="http://schemas.microsoft.com/office/powerpoint/2010/main" val="32204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06/02/2018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03056-4FD6-4A80-A4A0-6F0AF5D7C346}"/>
              </a:ext>
            </a:extLst>
          </p:cNvPr>
          <p:cNvSpPr txBox="1"/>
          <p:nvPr/>
        </p:nvSpPr>
        <p:spPr>
          <a:xfrm>
            <a:off x="1958710" y="1377944"/>
            <a:ext cx="592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Whatever is being solved for in the equation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36A7-0248-4965-8976-EB5A893E4484}"/>
              </a:ext>
            </a:extLst>
          </p:cNvPr>
          <p:cNvSpPr txBox="1"/>
          <p:nvPr/>
        </p:nvSpPr>
        <p:spPr>
          <a:xfrm>
            <a:off x="1958710" y="1783802"/>
            <a:ext cx="7801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>
                    <a:lumMod val="75000"/>
                  </a:schemeClr>
                </a:solidFill>
              </a:rPr>
              <a:t>In this equation simple interest is the subject but what if we wanted to find the rate? (or principal amount or time)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B8829-3DB0-463E-B4BF-AECE9D046602}"/>
              </a:ext>
            </a:extLst>
          </p:cNvPr>
          <p:cNvSpPr txBox="1"/>
          <p:nvPr/>
        </p:nvSpPr>
        <p:spPr>
          <a:xfrm>
            <a:off x="1958710" y="2491688"/>
            <a:ext cx="6408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need to re-arrange the equation using back-tracking</a:t>
            </a:r>
          </a:p>
          <a:p>
            <a:endParaRPr lang="en-AU" sz="1000" dirty="0"/>
          </a:p>
          <a:p>
            <a:r>
              <a:rPr lang="en-AU" sz="2400" dirty="0"/>
              <a:t>Backtracking uses opposite operations to find the unknown.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CAA2-35C2-4A17-8EDF-E489BAC73D4B}"/>
              </a:ext>
            </a:extLst>
          </p:cNvPr>
          <p:cNvSpPr txBox="1"/>
          <p:nvPr/>
        </p:nvSpPr>
        <p:spPr>
          <a:xfrm>
            <a:off x="8678223" y="2491688"/>
            <a:ext cx="3110133" cy="15081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Opposite Operations</a:t>
            </a:r>
          </a:p>
          <a:p>
            <a:endParaRPr lang="en-AU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 Addition and Subtraction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Multiplication and Division</a:t>
            </a:r>
            <a:r>
              <a:rPr lang="en-AU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F7D2C-A5FF-4B26-BE55-9D4E35F2FF95}"/>
              </a:ext>
            </a:extLst>
          </p:cNvPr>
          <p:cNvSpPr txBox="1"/>
          <p:nvPr/>
        </p:nvSpPr>
        <p:spPr>
          <a:xfrm>
            <a:off x="2443273" y="43393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D7E86C-6C10-47D8-8EA7-9CA6BD5C6C5B}"/>
              </a:ext>
            </a:extLst>
          </p:cNvPr>
          <p:cNvSpPr txBox="1"/>
          <p:nvPr/>
        </p:nvSpPr>
        <p:spPr>
          <a:xfrm>
            <a:off x="5859259" y="4272551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E4DE3-FE9D-446B-B49A-7C794EE38161}"/>
              </a:ext>
            </a:extLst>
          </p:cNvPr>
          <p:cNvSpPr txBox="1"/>
          <p:nvPr/>
        </p:nvSpPr>
        <p:spPr>
          <a:xfrm>
            <a:off x="5859261" y="4937438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0AC92-1A84-476B-A847-772324C29CFB}"/>
              </a:ext>
            </a:extLst>
          </p:cNvPr>
          <p:cNvSpPr txBox="1"/>
          <p:nvPr/>
        </p:nvSpPr>
        <p:spPr>
          <a:xfrm>
            <a:off x="5954108" y="5466048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We have to do the EXACT same thing to both sides to keep the equation BALANCED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/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3B449-3412-49D0-94D6-AB0288AA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887" y="5005830"/>
                <a:ext cx="586438" cy="277370"/>
              </a:xfrm>
              <a:prstGeom prst="rect">
                <a:avLst/>
              </a:prstGeom>
              <a:blipFill>
                <a:blip r:embed="rId3"/>
                <a:stretch>
                  <a:fillRect l="-4167" r="-8333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/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E28A1-1726-48CE-99D6-CF3558661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147" y="5035341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11" r="-7368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/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BAE858-5F22-4870-834D-7167DD2F1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693" y="5397864"/>
                <a:ext cx="3355755" cy="96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F32349A-A30D-4D50-A105-4C529CE96C14}"/>
              </a:ext>
            </a:extLst>
          </p:cNvPr>
          <p:cNvSpPr txBox="1"/>
          <p:nvPr/>
        </p:nvSpPr>
        <p:spPr>
          <a:xfrm>
            <a:off x="122294" y="1528062"/>
            <a:ext cx="2282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subject?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DA096B-E8F6-438F-9EFB-592D63C53160}"/>
              </a:ext>
            </a:extLst>
          </p:cNvPr>
          <p:cNvSpPr txBox="1"/>
          <p:nvPr/>
        </p:nvSpPr>
        <p:spPr>
          <a:xfrm>
            <a:off x="168698" y="2601407"/>
            <a:ext cx="156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get a different subject?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FFFA3-988C-4CE7-AD4C-D915727FBCF2}"/>
              </a:ext>
            </a:extLst>
          </p:cNvPr>
          <p:cNvSpPr txBox="1"/>
          <p:nvPr/>
        </p:nvSpPr>
        <p:spPr>
          <a:xfrm>
            <a:off x="122294" y="4488273"/>
            <a:ext cx="1665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20283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5241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06/02/2018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calculate for the other variables in the simple interest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D5497A-F0C9-4E59-850F-CA89E5D9016F}"/>
              </a:ext>
            </a:extLst>
          </p:cNvPr>
          <p:cNvSpPr txBox="1"/>
          <p:nvPr/>
        </p:nvSpPr>
        <p:spPr>
          <a:xfrm>
            <a:off x="479376" y="112677"/>
            <a:ext cx="4858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EAB3B-4CB6-4986-A80F-00E216A57C79}"/>
              </a:ext>
            </a:extLst>
          </p:cNvPr>
          <p:cNvSpPr txBox="1"/>
          <p:nvPr/>
        </p:nvSpPr>
        <p:spPr>
          <a:xfrm>
            <a:off x="-20850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5108D-17E5-41AC-877F-17DDCDBA65A6}"/>
              </a:ext>
            </a:extLst>
          </p:cNvPr>
          <p:cNvSpPr txBox="1"/>
          <p:nvPr/>
        </p:nvSpPr>
        <p:spPr>
          <a:xfrm>
            <a:off x="2220686" y="1473398"/>
            <a:ext cx="339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  <a:r>
              <a:rPr lang="en-AU" sz="4000" dirty="0">
                <a:solidFill>
                  <a:srgbClr val="FF0000"/>
                </a:solidFill>
              </a:rPr>
              <a:t>P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RT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/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DE534DD-C380-47DF-BE30-1D24B8605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895" y="2121578"/>
                <a:ext cx="3355755" cy="963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/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204477-39B7-49C4-81BA-E87DDBA82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72" y="2031229"/>
                <a:ext cx="578941" cy="276999"/>
              </a:xfrm>
              <a:prstGeom prst="rect">
                <a:avLst/>
              </a:prstGeom>
              <a:blipFill>
                <a:blip r:embed="rId4"/>
                <a:stretch>
                  <a:fillRect l="-4255" r="-851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/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7FD618-F1D9-4640-982A-1D8EE193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1946712"/>
                <a:ext cx="578941" cy="276999"/>
              </a:xfrm>
              <a:prstGeom prst="rect">
                <a:avLst/>
              </a:prstGeom>
              <a:blipFill>
                <a:blip r:embed="rId5"/>
                <a:stretch>
                  <a:fillRect l="-4211" r="-8421" b="-10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D0D1A8E-CCA0-45F5-AEB7-153FD563607B}"/>
              </a:ext>
            </a:extLst>
          </p:cNvPr>
          <p:cNvSpPr txBox="1"/>
          <p:nvPr/>
        </p:nvSpPr>
        <p:spPr>
          <a:xfrm>
            <a:off x="6012464" y="1623546"/>
            <a:ext cx="5438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want to get P by itself.  What operation is happening to P?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9A297-E8D5-4583-8512-343F6D8848A2}"/>
              </a:ext>
            </a:extLst>
          </p:cNvPr>
          <p:cNvSpPr txBox="1"/>
          <p:nvPr/>
        </p:nvSpPr>
        <p:spPr>
          <a:xfrm>
            <a:off x="6012464" y="2269877"/>
            <a:ext cx="543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undo multiplication? </a:t>
            </a:r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Division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47600-D72B-42BE-A8AD-629F345D0452}"/>
              </a:ext>
            </a:extLst>
          </p:cNvPr>
          <p:cNvSpPr txBox="1"/>
          <p:nvPr/>
        </p:nvSpPr>
        <p:spPr>
          <a:xfrm>
            <a:off x="6237653" y="2629366"/>
            <a:ext cx="5438741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F0"/>
                </a:solidFill>
              </a:rPr>
              <a:t>We have to do the EXACT same thing to both sides to keep the equation BALANCED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5B9DEB-16CA-4B72-AC5B-F65D1DEE3F40}"/>
              </a:ext>
            </a:extLst>
          </p:cNvPr>
          <p:cNvSpPr txBox="1"/>
          <p:nvPr/>
        </p:nvSpPr>
        <p:spPr>
          <a:xfrm>
            <a:off x="2269331" y="318503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</a:t>
            </a:r>
            <a:r>
              <a:rPr lang="en-AU" sz="4000" dirty="0">
                <a:solidFill>
                  <a:srgbClr val="FF0000"/>
                </a:solidFill>
              </a:rPr>
              <a:t>R</a:t>
            </a:r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/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8B134B-98D4-4EFF-AD47-7C559809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154" y="3779202"/>
                <a:ext cx="574132" cy="276999"/>
              </a:xfrm>
              <a:prstGeom prst="rect">
                <a:avLst/>
              </a:prstGeom>
              <a:blipFill>
                <a:blip r:embed="rId6"/>
                <a:stretch>
                  <a:fillRect l="-4255" r="-851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/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𝑃𝑇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EFBB0C-4BA7-4A03-9B55-7977533C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551" y="3723457"/>
                <a:ext cx="574132" cy="276999"/>
              </a:xfrm>
              <a:prstGeom prst="rect">
                <a:avLst/>
              </a:prstGeom>
              <a:blipFill>
                <a:blip r:embed="rId7"/>
                <a:stretch>
                  <a:fillRect l="-4255" r="-957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/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A088164-467A-45C1-B12A-1E6B0194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30" y="4045762"/>
                <a:ext cx="3355755" cy="963149"/>
              </a:xfrm>
              <a:prstGeom prst="rect">
                <a:avLst/>
              </a:prstGeom>
              <a:blipFill>
                <a:blip r:embed="rId8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B27F5D1-F62E-4190-A5B9-F91B73F57706}"/>
              </a:ext>
            </a:extLst>
          </p:cNvPr>
          <p:cNvSpPr txBox="1"/>
          <p:nvPr/>
        </p:nvSpPr>
        <p:spPr>
          <a:xfrm>
            <a:off x="2084379" y="4939679"/>
            <a:ext cx="335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chemeClr val="accent1">
                    <a:lumMod val="75000"/>
                  </a:schemeClr>
                </a:solidFill>
              </a:rPr>
              <a:t>I = PR</a:t>
            </a:r>
            <a:r>
              <a:rPr lang="en-AU" sz="4000" dirty="0">
                <a:solidFill>
                  <a:srgbClr val="FF0000"/>
                </a:solidFill>
              </a:rPr>
              <a:t>T</a:t>
            </a:r>
            <a:r>
              <a:rPr lang="en-AU" sz="4000" dirty="0">
                <a:solidFill>
                  <a:srgbClr val="FFFF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/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7D40E5-8BBE-4A54-9600-700E40875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69" y="5532288"/>
                <a:ext cx="585417" cy="276999"/>
              </a:xfrm>
              <a:prstGeom prst="rect">
                <a:avLst/>
              </a:prstGeom>
              <a:blipFill>
                <a:blip r:embed="rId9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/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𝑃𝑅</m:t>
                      </m:r>
                    </m:oMath>
                  </m:oMathPara>
                </a14:m>
                <a:endParaRPr lang="en-AU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8CFB7-E241-44E1-979F-20510B4C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972" y="5478738"/>
                <a:ext cx="585417" cy="276999"/>
              </a:xfrm>
              <a:prstGeom prst="rect">
                <a:avLst/>
              </a:prstGeom>
              <a:blipFill>
                <a:blip r:embed="rId10"/>
                <a:stretch>
                  <a:fillRect l="-4167" r="-8333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/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543C0-401A-4A92-8DB6-24C014FD1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771" y="5769429"/>
                <a:ext cx="3317314" cy="9631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AE20D84-07BE-4CD9-8CE6-8705C37FE848}"/>
              </a:ext>
            </a:extLst>
          </p:cNvPr>
          <p:cNvSpPr txBox="1"/>
          <p:nvPr/>
        </p:nvSpPr>
        <p:spPr>
          <a:xfrm>
            <a:off x="103866" y="1554459"/>
            <a:ext cx="1671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P the subject of the equation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64689-57C3-42C8-B86C-2A5DE1AAE4C2}"/>
              </a:ext>
            </a:extLst>
          </p:cNvPr>
          <p:cNvSpPr txBox="1"/>
          <p:nvPr/>
        </p:nvSpPr>
        <p:spPr>
          <a:xfrm>
            <a:off x="79900" y="3237053"/>
            <a:ext cx="2264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R the subject of the equation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0EE97-56F0-452A-A90E-2EF9A7D1C335}"/>
              </a:ext>
            </a:extLst>
          </p:cNvPr>
          <p:cNvSpPr txBox="1"/>
          <p:nvPr/>
        </p:nvSpPr>
        <p:spPr>
          <a:xfrm>
            <a:off x="79900" y="4877174"/>
            <a:ext cx="1695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Make T the subject of the equation</a:t>
            </a:r>
          </a:p>
        </p:txBody>
      </p:sp>
    </p:spTree>
    <p:extLst>
      <p:ext uri="{BB962C8B-B14F-4D97-AF65-F5344CB8AC3E}">
        <p14:creationId xmlns:p14="http://schemas.microsoft.com/office/powerpoint/2010/main" val="32205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EE9-67DE-4865-AF37-2313B173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E77DC3-5208-41AB-B735-FCFAFAF7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52" y="120444"/>
            <a:ext cx="11687695" cy="378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1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62B3E7-1AF6-4E84-B1B4-8EAE7C8B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53"/>
            <a:ext cx="12192000" cy="33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4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037232-1A3C-4250-9833-8E3342800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12"/>
            <a:ext cx="12192000" cy="379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6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12F31-FB99-401F-9291-A35610F2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89877"/>
            <a:ext cx="9759142" cy="441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06381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4287</TotalTime>
  <Words>486</Words>
  <Application>Microsoft Office PowerPoint</Application>
  <PresentationFormat>Widescreen</PresentationFormat>
  <Paragraphs>112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</vt:lpstr>
      <vt:lpstr>BSC Theme</vt:lpstr>
      <vt:lpstr>Rearranging Formulas – Simple Interest Formula</vt:lpstr>
      <vt:lpstr>Mental Warm Up</vt:lpstr>
      <vt:lpstr>Mental Warm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E4092707</dc:creator>
  <cp:lastModifiedBy>LUM Magdeline [Baldivis Secondary College]</cp:lastModifiedBy>
  <cp:revision>20</cp:revision>
  <cp:lastPrinted>2018-02-09T07:15:32Z</cp:lastPrinted>
  <dcterms:created xsi:type="dcterms:W3CDTF">2018-02-01T23:14:49Z</dcterms:created>
  <dcterms:modified xsi:type="dcterms:W3CDTF">2018-03-11T10:56:01Z</dcterms:modified>
</cp:coreProperties>
</file>
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13"/>
  </p:notesMasterIdLst>
  <p:sldIdLst>
    <p:sldId id="266" r:id="rId2"/>
    <p:sldId id="267" r:id="rId3"/>
    <p:sldId id="268" r:id="rId4"/>
    <p:sldId id="269" r:id="rId5"/>
    <p:sldId id="271" r:id="rId6"/>
    <p:sldId id="275" r:id="rId7"/>
    <p:sldId id="272" r:id="rId8"/>
    <p:sldId id="270" r:id="rId9"/>
    <p:sldId id="273" r:id="rId10"/>
    <p:sldId id="274" r:id="rId11"/>
    <p:sldId id="27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2"/>
    <p:restoredTop sz="94655"/>
  </p:normalViewPr>
  <p:slideViewPr>
    <p:cSldViewPr snapToGrid="0" snapToObjects="1">
      <p:cViewPr>
        <p:scale>
          <a:sx n="86" d="100"/>
          <a:sy n="86" d="100"/>
        </p:scale>
        <p:origin x="42" y="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04/03/2018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0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8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2796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Students to complete without teacher assistance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874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780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2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481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009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447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877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6279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019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126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634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7820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310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4580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42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3306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6326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609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C23BB-2070-D146-BD10-A01B23AF686B}" type="datetimeFigureOut">
              <a:rPr lang="en-AU" smtClean="0"/>
              <a:t>4/03/2018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6754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10outline.scsa.wa.edu.au/home/teaching/codes/mathematics/year-10/acmna234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21.png"/><Relationship Id="rId5" Type="http://schemas.openxmlformats.org/officeDocument/2006/relationships/image" Target="../media/image11.png"/><Relationship Id="rId10" Type="http://schemas.openxmlformats.org/officeDocument/2006/relationships/image" Target="../media/image20.png"/><Relationship Id="rId4" Type="http://schemas.openxmlformats.org/officeDocument/2006/relationships/image" Target="../media/image10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Substitution – Perimeter, Area, and Cost Functions</a:t>
            </a:r>
            <a:endParaRPr lang="en-GB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Miss Lum </a:t>
            </a:r>
          </a:p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Year </a:t>
            </a:r>
            <a:r>
              <a:rPr lang="en-AU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10 Maths</a:t>
            </a:r>
            <a:endParaRPr lang="en-GB" sz="20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406D-1B0F-4A8E-9995-B02B2CB3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2">
                    <a:lumMod val="75000"/>
                  </a:schemeClr>
                </a:solidFill>
                <a:latin typeface="Kiwi School Handwriting"/>
              </a:rPr>
              <a:t>Learning Outcomes</a:t>
            </a:r>
            <a:endParaRPr lang="en-GB" sz="5400" b="1" dirty="0">
              <a:solidFill>
                <a:schemeClr val="accent2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91107-7794-4BDC-A667-DF76D18C9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dirty="0"/>
              <a:t>Substitute values into formulas to determine an unknown </a:t>
            </a:r>
            <a:r>
              <a:rPr lang="en-AU" sz="3200" b="1" u="sng" dirty="0">
                <a:solidFill>
                  <a:schemeClr val="accent1"/>
                </a:solidFill>
                <a:hlinkClick r:id="rId3"/>
              </a:rPr>
              <a:t>(ACMNA234)</a:t>
            </a:r>
            <a:endParaRPr lang="en-AU" sz="3200" b="1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GB" sz="32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84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64408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Substitution of Values into Formulas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292" y="20443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/03/2018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40114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solve for an unknown in a formula?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CE75910-7F01-4776-8A5A-6BE4A39CB1FD}"/>
              </a:ext>
            </a:extLst>
          </p:cNvPr>
          <p:cNvSpPr txBox="1"/>
          <p:nvPr/>
        </p:nvSpPr>
        <p:spPr>
          <a:xfrm>
            <a:off x="1967345" y="1490749"/>
            <a:ext cx="97535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 evaluate an algebraic expression you use substitution. You put in values for the variables, (substitute values) and work out the answer. </a:t>
            </a:r>
          </a:p>
          <a:p>
            <a:endParaRPr lang="en-AU" sz="2400" dirty="0"/>
          </a:p>
          <a:p>
            <a:r>
              <a:rPr lang="en-AU" sz="2400" dirty="0"/>
              <a:t>When x = - 3 is substituted into the expression 5x + 8, its value is 7.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1F5CFC-E017-4AF6-A217-3CE7DE13BEA9}"/>
                  </a:ext>
                </a:extLst>
              </p:cNvPr>
              <p:cNvSpPr txBox="1"/>
              <p:nvPr/>
            </p:nvSpPr>
            <p:spPr>
              <a:xfrm>
                <a:off x="5356781" y="3620308"/>
                <a:ext cx="14026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1F5CFC-E017-4AF6-A217-3CE7DE13B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781" y="3620308"/>
                <a:ext cx="140262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770484-CB1A-46AC-879E-DB28643B6F4C}"/>
                  </a:ext>
                </a:extLst>
              </p:cNvPr>
              <p:cNvSpPr txBox="1"/>
              <p:nvPr/>
            </p:nvSpPr>
            <p:spPr>
              <a:xfrm>
                <a:off x="5261717" y="4036878"/>
                <a:ext cx="186115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×−3+8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770484-CB1A-46AC-879E-DB28643B6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717" y="4036878"/>
                <a:ext cx="1861151" cy="369332"/>
              </a:xfrm>
              <a:prstGeom prst="rect">
                <a:avLst/>
              </a:prstGeom>
              <a:blipFill>
                <a:blip r:embed="rId4"/>
                <a:stretch>
                  <a:fillRect l="-984" r="-3279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8ED62B-F3C3-442E-A839-EB44F5ED017F}"/>
                  </a:ext>
                </a:extLst>
              </p:cNvPr>
              <p:cNvSpPr txBox="1"/>
              <p:nvPr/>
            </p:nvSpPr>
            <p:spPr>
              <a:xfrm>
                <a:off x="5218100" y="4398203"/>
                <a:ext cx="154130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−15+8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8ED62B-F3C3-442E-A839-EB44F5ED0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100" y="4398203"/>
                <a:ext cx="1541301" cy="369332"/>
              </a:xfrm>
              <a:prstGeom prst="rect">
                <a:avLst/>
              </a:prstGeom>
              <a:blipFill>
                <a:blip r:embed="rId5"/>
                <a:stretch>
                  <a:fillRect r="-2372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EB611C-D2A2-48D1-AB46-3F2431C24C5B}"/>
                  </a:ext>
                </a:extLst>
              </p:cNvPr>
              <p:cNvSpPr txBox="1"/>
              <p:nvPr/>
            </p:nvSpPr>
            <p:spPr>
              <a:xfrm>
                <a:off x="5087144" y="4779513"/>
                <a:ext cx="110514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−7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EB611C-D2A2-48D1-AB46-3F2431C24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144" y="4779513"/>
                <a:ext cx="1105148" cy="369332"/>
              </a:xfrm>
              <a:prstGeom prst="rect">
                <a:avLst/>
              </a:prstGeom>
              <a:blipFill>
                <a:blip r:embed="rId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3700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64408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Substitution of Values into Formulas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292" y="20443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/03/2018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40114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solve for an unknown in a formula?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CE75910-7F01-4776-8A5A-6BE4A39CB1FD}"/>
              </a:ext>
            </a:extLst>
          </p:cNvPr>
          <p:cNvSpPr txBox="1"/>
          <p:nvPr/>
        </p:nvSpPr>
        <p:spPr>
          <a:xfrm>
            <a:off x="1967345" y="1490749"/>
            <a:ext cx="97535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 evaluate an algebraic expression you use substitution. You put in values for the variables, (substitute values) and work out the answer. </a:t>
            </a:r>
          </a:p>
          <a:p>
            <a:endParaRPr lang="en-AU" sz="2400" dirty="0"/>
          </a:p>
          <a:p>
            <a:r>
              <a:rPr lang="en-AU" sz="2400" dirty="0"/>
              <a:t>When x = </a:t>
            </a:r>
            <a:r>
              <a:rPr lang="en-AU" sz="2400" b="1" dirty="0">
                <a:solidFill>
                  <a:schemeClr val="accent1">
                    <a:lumMod val="75000"/>
                  </a:schemeClr>
                </a:solidFill>
              </a:rPr>
              <a:t>-3 </a:t>
            </a:r>
            <a:r>
              <a:rPr lang="en-AU" sz="2400" dirty="0"/>
              <a:t>is substituted into the expression 5x + 8, its value is 7.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1F5CFC-E017-4AF6-A217-3CE7DE13BEA9}"/>
                  </a:ext>
                </a:extLst>
              </p:cNvPr>
              <p:cNvSpPr txBox="1"/>
              <p:nvPr/>
            </p:nvSpPr>
            <p:spPr>
              <a:xfrm>
                <a:off x="5356781" y="3620308"/>
                <a:ext cx="14026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1F5CFC-E017-4AF6-A217-3CE7DE13B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781" y="3620308"/>
                <a:ext cx="140262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770484-CB1A-46AC-879E-DB28643B6F4C}"/>
                  </a:ext>
                </a:extLst>
              </p:cNvPr>
              <p:cNvSpPr txBox="1"/>
              <p:nvPr/>
            </p:nvSpPr>
            <p:spPr>
              <a:xfrm>
                <a:off x="5261717" y="4036878"/>
                <a:ext cx="186115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AU" sz="24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770484-CB1A-46AC-879E-DB28643B6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717" y="4036878"/>
                <a:ext cx="1861151" cy="369332"/>
              </a:xfrm>
              <a:prstGeom prst="rect">
                <a:avLst/>
              </a:prstGeom>
              <a:blipFill>
                <a:blip r:embed="rId4"/>
                <a:stretch>
                  <a:fillRect l="-1311" r="-3607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8ED62B-F3C3-442E-A839-EB44F5ED017F}"/>
                  </a:ext>
                </a:extLst>
              </p:cNvPr>
              <p:cNvSpPr txBox="1"/>
              <p:nvPr/>
            </p:nvSpPr>
            <p:spPr>
              <a:xfrm>
                <a:off x="5218100" y="4398203"/>
                <a:ext cx="154130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−15+8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8ED62B-F3C3-442E-A839-EB44F5ED0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100" y="4398203"/>
                <a:ext cx="1541301" cy="369332"/>
              </a:xfrm>
              <a:prstGeom prst="rect">
                <a:avLst/>
              </a:prstGeom>
              <a:blipFill>
                <a:blip r:embed="rId5"/>
                <a:stretch>
                  <a:fillRect r="-2372"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EB611C-D2A2-48D1-AB46-3F2431C24C5B}"/>
                  </a:ext>
                </a:extLst>
              </p:cNvPr>
              <p:cNvSpPr txBox="1"/>
              <p:nvPr/>
            </p:nvSpPr>
            <p:spPr>
              <a:xfrm>
                <a:off x="5087144" y="4779513"/>
                <a:ext cx="110514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−7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EB611C-D2A2-48D1-AB46-3F2431C24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144" y="4779513"/>
                <a:ext cx="1105148" cy="369332"/>
              </a:xfrm>
              <a:prstGeom prst="rect">
                <a:avLst/>
              </a:prstGeom>
              <a:blipFill>
                <a:blip r:embed="rId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A451EF6-BFA5-4390-A2F2-7F1D3E2AB57A}"/>
              </a:ext>
            </a:extLst>
          </p:cNvPr>
          <p:cNvSpPr txBox="1"/>
          <p:nvPr/>
        </p:nvSpPr>
        <p:spPr>
          <a:xfrm>
            <a:off x="7833838" y="3936538"/>
            <a:ext cx="3607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Remember: Order of Operations applies!</a:t>
            </a:r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291B761-842A-4A25-9970-AD0535CF9A53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7209905" y="4259703"/>
            <a:ext cx="62393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561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2" grpId="0"/>
      <p:bldP spid="13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7097" y="764373"/>
            <a:ext cx="9409103" cy="1293028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Perimeter and </a:t>
            </a:r>
            <a:r>
              <a:rPr lang="en-AU" sz="5400" b="1" dirty="0" err="1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ARea</a:t>
            </a:r>
            <a:endParaRPr lang="en-AU" sz="5400" b="1" dirty="0">
              <a:solidFill>
                <a:schemeClr val="accent1">
                  <a:lumMod val="75000"/>
                </a:schemeClr>
              </a:solidFill>
              <a:latin typeface="Kiwi School Handwriting" panose="0000050000000000000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B5AE5-FBA2-4906-B447-644059260241}"/>
              </a:ext>
            </a:extLst>
          </p:cNvPr>
          <p:cNvSpPr txBox="1"/>
          <p:nvPr/>
        </p:nvSpPr>
        <p:spPr>
          <a:xfrm>
            <a:off x="1080655" y="1872735"/>
            <a:ext cx="108633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/>
              <a:t>The perimeter, (P) and area, (A) of a rectangle can be calculated using these formulae: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FFE3B2-C1DA-4C98-B938-C0ED353E3920}"/>
                  </a:ext>
                </a:extLst>
              </p:cNvPr>
              <p:cNvSpPr txBox="1"/>
              <p:nvPr/>
            </p:nvSpPr>
            <p:spPr>
              <a:xfrm>
                <a:off x="2499359" y="2774729"/>
                <a:ext cx="2322022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=2(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FFE3B2-C1DA-4C98-B938-C0ED353E3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359" y="2774729"/>
                <a:ext cx="2322022" cy="461665"/>
              </a:xfrm>
              <a:prstGeom prst="rect">
                <a:avLst/>
              </a:prstGeom>
              <a:blipFill>
                <a:blip r:embed="rId3"/>
                <a:stretch>
                  <a:fillRect b="-179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92FB47-D2E7-4F27-B6C2-C5CDAFD2F47F}"/>
                  </a:ext>
                </a:extLst>
              </p:cNvPr>
              <p:cNvSpPr txBox="1"/>
              <p:nvPr/>
            </p:nvSpPr>
            <p:spPr>
              <a:xfrm>
                <a:off x="2499359" y="3456711"/>
                <a:ext cx="2322022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92FB47-D2E7-4F27-B6C2-C5CDAFD2F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359" y="3456711"/>
                <a:ext cx="232202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1E9441FE-1D7D-405B-A8F4-8CC75AF52BDA}"/>
              </a:ext>
            </a:extLst>
          </p:cNvPr>
          <p:cNvSpPr/>
          <p:nvPr/>
        </p:nvSpPr>
        <p:spPr>
          <a:xfrm>
            <a:off x="6002481" y="2736582"/>
            <a:ext cx="3474720" cy="10474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46B586-BD1B-47CE-9A93-28F86317A1AB}"/>
                  </a:ext>
                </a:extLst>
              </p:cNvPr>
              <p:cNvSpPr txBox="1"/>
              <p:nvPr/>
            </p:nvSpPr>
            <p:spPr>
              <a:xfrm>
                <a:off x="7613072" y="2385849"/>
                <a:ext cx="371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46B586-BD1B-47CE-9A93-28F86317A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3072" y="2385849"/>
                <a:ext cx="37130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40436F-3CAA-47E0-AE4B-47863335D995}"/>
                  </a:ext>
                </a:extLst>
              </p:cNvPr>
              <p:cNvSpPr txBox="1"/>
              <p:nvPr/>
            </p:nvSpPr>
            <p:spPr>
              <a:xfrm>
                <a:off x="7578436" y="3783985"/>
                <a:ext cx="44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40436F-3CAA-47E0-AE4B-47863335D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436" y="3783985"/>
                <a:ext cx="44057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FF893F-7556-4DD3-8050-0F3B24B90AF8}"/>
                  </a:ext>
                </a:extLst>
              </p:cNvPr>
              <p:cNvSpPr txBox="1"/>
              <p:nvPr/>
            </p:nvSpPr>
            <p:spPr>
              <a:xfrm>
                <a:off x="9467501" y="3054872"/>
                <a:ext cx="371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FF893F-7556-4DD3-8050-0F3B24B90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7501" y="3054872"/>
                <a:ext cx="37130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A083449-E03F-4B99-9622-C62A026C6D11}"/>
                  </a:ext>
                </a:extLst>
              </p:cNvPr>
              <p:cNvSpPr txBox="1"/>
              <p:nvPr/>
            </p:nvSpPr>
            <p:spPr>
              <a:xfrm>
                <a:off x="5645726" y="3017901"/>
                <a:ext cx="371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A083449-E03F-4B99-9622-C62A026C6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726" y="3017901"/>
                <a:ext cx="37130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E59626-C38E-4075-B1E9-8BC8DEBE4DD8}"/>
              </a:ext>
            </a:extLst>
          </p:cNvPr>
          <p:cNvCxnSpPr>
            <a:stCxn id="9" idx="3"/>
          </p:cNvCxnSpPr>
          <p:nvPr/>
        </p:nvCxnSpPr>
        <p:spPr>
          <a:xfrm>
            <a:off x="7984373" y="2570515"/>
            <a:ext cx="14928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60F01FA-D05F-485F-9DA5-ABEE49207CF8}"/>
              </a:ext>
            </a:extLst>
          </p:cNvPr>
          <p:cNvCxnSpPr/>
          <p:nvPr/>
        </p:nvCxnSpPr>
        <p:spPr>
          <a:xfrm>
            <a:off x="7974673" y="3968651"/>
            <a:ext cx="14928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5B24EE-C09B-4BBD-8CA1-19F2C2EA47FC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6017028" y="3968651"/>
            <a:ext cx="15614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043B3D0-9128-4C52-8DD0-85A51B3399B0}"/>
              </a:ext>
            </a:extLst>
          </p:cNvPr>
          <p:cNvCxnSpPr>
            <a:cxnSpLocks/>
          </p:cNvCxnSpPr>
          <p:nvPr/>
        </p:nvCxnSpPr>
        <p:spPr>
          <a:xfrm flipH="1">
            <a:off x="6002481" y="2570515"/>
            <a:ext cx="15614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2069210-4343-4595-B845-1DF86E5AF307}"/>
              </a:ext>
            </a:extLst>
          </p:cNvPr>
          <p:cNvCxnSpPr>
            <a:cxnSpLocks/>
          </p:cNvCxnSpPr>
          <p:nvPr/>
        </p:nvCxnSpPr>
        <p:spPr>
          <a:xfrm flipV="1">
            <a:off x="5831376" y="2736582"/>
            <a:ext cx="0" cy="385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B14935C-047D-4B97-8EEC-F921893FD202}"/>
              </a:ext>
            </a:extLst>
          </p:cNvPr>
          <p:cNvCxnSpPr>
            <a:cxnSpLocks/>
          </p:cNvCxnSpPr>
          <p:nvPr/>
        </p:nvCxnSpPr>
        <p:spPr>
          <a:xfrm flipV="1">
            <a:off x="9653151" y="2736582"/>
            <a:ext cx="0" cy="385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820CAA6-6DD0-497E-AE59-66F6161B3AAE}"/>
              </a:ext>
            </a:extLst>
          </p:cNvPr>
          <p:cNvCxnSpPr>
            <a:cxnSpLocks/>
          </p:cNvCxnSpPr>
          <p:nvPr/>
        </p:nvCxnSpPr>
        <p:spPr>
          <a:xfrm>
            <a:off x="5831376" y="3360582"/>
            <a:ext cx="0" cy="4234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1538EFA-E9B4-4FB1-B663-F8ED54089C4D}"/>
              </a:ext>
            </a:extLst>
          </p:cNvPr>
          <p:cNvCxnSpPr>
            <a:cxnSpLocks/>
          </p:cNvCxnSpPr>
          <p:nvPr/>
        </p:nvCxnSpPr>
        <p:spPr>
          <a:xfrm>
            <a:off x="9653151" y="3387233"/>
            <a:ext cx="0" cy="4234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DEB932A-FFEA-4543-83BD-E43B76619466}"/>
              </a:ext>
            </a:extLst>
          </p:cNvPr>
          <p:cNvSpPr txBox="1"/>
          <p:nvPr/>
        </p:nvSpPr>
        <p:spPr>
          <a:xfrm>
            <a:off x="906088" y="4290509"/>
            <a:ext cx="10863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Calculate the perimeter and area of rectangular gardens with these measurements.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8E12ADB-AFF4-4686-820A-A2EFDE1DC8B5}"/>
                  </a:ext>
                </a:extLst>
              </p:cNvPr>
              <p:cNvSpPr txBox="1"/>
              <p:nvPr/>
            </p:nvSpPr>
            <p:spPr>
              <a:xfrm>
                <a:off x="1379913" y="4739586"/>
                <a:ext cx="2593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Length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=5 </m:t>
                    </m:r>
                  </m:oMath>
                </a14:m>
                <a:r>
                  <a:rPr lang="en-AU" dirty="0"/>
                  <a:t>m</a:t>
                </a:r>
                <a:endParaRPr lang="en-AU" b="0" dirty="0"/>
              </a:p>
              <a:p>
                <a:r>
                  <a:rPr lang="en-AU" dirty="0"/>
                  <a:t>Width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AU" dirty="0"/>
                  <a:t> m</a:t>
                </a:r>
                <a:endParaRPr lang="en-GB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8E12ADB-AFF4-4686-820A-A2EFDE1DC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913" y="4739586"/>
                <a:ext cx="2593571" cy="646331"/>
              </a:xfrm>
              <a:prstGeom prst="rect">
                <a:avLst/>
              </a:prstGeom>
              <a:blipFill>
                <a:blip r:embed="rId9"/>
                <a:stretch>
                  <a:fillRect l="-1878" t="-4673" b="-130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73F881B-B120-4074-996B-2568861C1821}"/>
                  </a:ext>
                </a:extLst>
              </p:cNvPr>
              <p:cNvSpPr txBox="1"/>
              <p:nvPr/>
            </p:nvSpPr>
            <p:spPr>
              <a:xfrm>
                <a:off x="4204161" y="4751082"/>
                <a:ext cx="2593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Length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=10 </m:t>
                    </m:r>
                  </m:oMath>
                </a14:m>
                <a:r>
                  <a:rPr lang="en-AU" dirty="0"/>
                  <a:t>m</a:t>
                </a:r>
                <a:endParaRPr lang="en-AU" b="0" dirty="0"/>
              </a:p>
              <a:p>
                <a:r>
                  <a:rPr lang="en-AU" dirty="0"/>
                  <a:t>Width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AU" dirty="0"/>
                  <a:t> m</a:t>
                </a:r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73F881B-B120-4074-996B-2568861C1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4161" y="4751082"/>
                <a:ext cx="2593571" cy="646331"/>
              </a:xfrm>
              <a:prstGeom prst="rect">
                <a:avLst/>
              </a:prstGeom>
              <a:blipFill>
                <a:blip r:embed="rId10"/>
                <a:stretch>
                  <a:fillRect l="-2118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FE7CD88-E22F-42A8-A758-A88675EA00F6}"/>
                  </a:ext>
                </a:extLst>
              </p:cNvPr>
              <p:cNvSpPr txBox="1"/>
              <p:nvPr/>
            </p:nvSpPr>
            <p:spPr>
              <a:xfrm>
                <a:off x="7739841" y="4751082"/>
                <a:ext cx="2593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Length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=8 </m:t>
                    </m:r>
                  </m:oMath>
                </a14:m>
                <a:r>
                  <a:rPr lang="en-AU" dirty="0"/>
                  <a:t>m</a:t>
                </a:r>
                <a:endParaRPr lang="en-AU" b="0" dirty="0"/>
              </a:p>
              <a:p>
                <a:r>
                  <a:rPr lang="en-AU" dirty="0"/>
                  <a:t>Width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AU" dirty="0"/>
                  <a:t> m</a:t>
                </a:r>
                <a:endParaRPr lang="en-GB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FE7CD88-E22F-42A8-A758-A88675EA0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841" y="4751082"/>
                <a:ext cx="2593571" cy="646331"/>
              </a:xfrm>
              <a:prstGeom prst="rect">
                <a:avLst/>
              </a:prstGeom>
              <a:blipFill>
                <a:blip r:embed="rId11"/>
                <a:stretch>
                  <a:fillRect l="-2118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356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  <p:bldP spid="29" grpId="0"/>
      <p:bldP spid="30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ECEF-097C-4377-848C-6C8618887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0" y="764373"/>
            <a:ext cx="9189720" cy="1293028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Check our understanding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97D4CF-1FF6-4473-A6E6-82FFE544DB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79" y="2700131"/>
            <a:ext cx="11608279" cy="197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84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7097" y="764373"/>
            <a:ext cx="9409103" cy="1293028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Perimeter and </a:t>
            </a:r>
            <a:r>
              <a:rPr lang="en-AU" sz="5400" b="1" dirty="0" err="1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ARea</a:t>
            </a:r>
            <a:endParaRPr lang="en-AU" sz="5400" b="1" dirty="0">
              <a:solidFill>
                <a:schemeClr val="accent1">
                  <a:lumMod val="75000"/>
                </a:schemeClr>
              </a:solidFill>
              <a:latin typeface="Kiwi School Handwriting" panose="0000050000000000000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B5AE5-FBA2-4906-B447-644059260241}"/>
              </a:ext>
            </a:extLst>
          </p:cNvPr>
          <p:cNvSpPr txBox="1"/>
          <p:nvPr/>
        </p:nvSpPr>
        <p:spPr>
          <a:xfrm>
            <a:off x="1080655" y="1872735"/>
            <a:ext cx="108633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/>
              <a:t>The perimeter, (P) and area, (A) of a rectangle can be calculated using these formulae: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FFE3B2-C1DA-4C98-B938-C0ED353E3920}"/>
                  </a:ext>
                </a:extLst>
              </p:cNvPr>
              <p:cNvSpPr txBox="1"/>
              <p:nvPr/>
            </p:nvSpPr>
            <p:spPr>
              <a:xfrm>
                <a:off x="2499359" y="2774729"/>
                <a:ext cx="2322022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=2(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FFE3B2-C1DA-4C98-B938-C0ED353E3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359" y="2774729"/>
                <a:ext cx="2322022" cy="461665"/>
              </a:xfrm>
              <a:prstGeom prst="rect">
                <a:avLst/>
              </a:prstGeom>
              <a:blipFill>
                <a:blip r:embed="rId3"/>
                <a:stretch>
                  <a:fillRect b="-179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92FB47-D2E7-4F27-B6C2-C5CDAFD2F47F}"/>
                  </a:ext>
                </a:extLst>
              </p:cNvPr>
              <p:cNvSpPr txBox="1"/>
              <p:nvPr/>
            </p:nvSpPr>
            <p:spPr>
              <a:xfrm>
                <a:off x="2499359" y="3456711"/>
                <a:ext cx="2322022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92FB47-D2E7-4F27-B6C2-C5CDAFD2F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359" y="3456711"/>
                <a:ext cx="2322022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1E9441FE-1D7D-405B-A8F4-8CC75AF52BDA}"/>
              </a:ext>
            </a:extLst>
          </p:cNvPr>
          <p:cNvSpPr/>
          <p:nvPr/>
        </p:nvSpPr>
        <p:spPr>
          <a:xfrm>
            <a:off x="6002481" y="2736582"/>
            <a:ext cx="3474720" cy="10474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46B586-BD1B-47CE-9A93-28F86317A1AB}"/>
                  </a:ext>
                </a:extLst>
              </p:cNvPr>
              <p:cNvSpPr txBox="1"/>
              <p:nvPr/>
            </p:nvSpPr>
            <p:spPr>
              <a:xfrm>
                <a:off x="7613072" y="2385849"/>
                <a:ext cx="371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46B586-BD1B-47CE-9A93-28F86317A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3072" y="2385849"/>
                <a:ext cx="37130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40436F-3CAA-47E0-AE4B-47863335D995}"/>
                  </a:ext>
                </a:extLst>
              </p:cNvPr>
              <p:cNvSpPr txBox="1"/>
              <p:nvPr/>
            </p:nvSpPr>
            <p:spPr>
              <a:xfrm>
                <a:off x="7578436" y="3783985"/>
                <a:ext cx="440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540436F-3CAA-47E0-AE4B-47863335D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436" y="3783985"/>
                <a:ext cx="44057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FF893F-7556-4DD3-8050-0F3B24B90AF8}"/>
                  </a:ext>
                </a:extLst>
              </p:cNvPr>
              <p:cNvSpPr txBox="1"/>
              <p:nvPr/>
            </p:nvSpPr>
            <p:spPr>
              <a:xfrm>
                <a:off x="9467501" y="3054872"/>
                <a:ext cx="371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FF893F-7556-4DD3-8050-0F3B24B90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7501" y="3054872"/>
                <a:ext cx="37130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A083449-E03F-4B99-9622-C62A026C6D11}"/>
                  </a:ext>
                </a:extLst>
              </p:cNvPr>
              <p:cNvSpPr txBox="1"/>
              <p:nvPr/>
            </p:nvSpPr>
            <p:spPr>
              <a:xfrm>
                <a:off x="5645726" y="3017901"/>
                <a:ext cx="371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A083449-E03F-4B99-9622-C62A026C6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726" y="3017901"/>
                <a:ext cx="37130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E59626-C38E-4075-B1E9-8BC8DEBE4DD8}"/>
              </a:ext>
            </a:extLst>
          </p:cNvPr>
          <p:cNvCxnSpPr>
            <a:stCxn id="9" idx="3"/>
          </p:cNvCxnSpPr>
          <p:nvPr/>
        </p:nvCxnSpPr>
        <p:spPr>
          <a:xfrm>
            <a:off x="7984373" y="2570515"/>
            <a:ext cx="14928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60F01FA-D05F-485F-9DA5-ABEE49207CF8}"/>
              </a:ext>
            </a:extLst>
          </p:cNvPr>
          <p:cNvCxnSpPr/>
          <p:nvPr/>
        </p:nvCxnSpPr>
        <p:spPr>
          <a:xfrm>
            <a:off x="7974673" y="3968651"/>
            <a:ext cx="14928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5B24EE-C09B-4BBD-8CA1-19F2C2EA47FC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6017028" y="3968651"/>
            <a:ext cx="15614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043B3D0-9128-4C52-8DD0-85A51B3399B0}"/>
              </a:ext>
            </a:extLst>
          </p:cNvPr>
          <p:cNvCxnSpPr>
            <a:cxnSpLocks/>
          </p:cNvCxnSpPr>
          <p:nvPr/>
        </p:nvCxnSpPr>
        <p:spPr>
          <a:xfrm flipH="1">
            <a:off x="6002481" y="2570515"/>
            <a:ext cx="15614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2069210-4343-4595-B845-1DF86E5AF307}"/>
              </a:ext>
            </a:extLst>
          </p:cNvPr>
          <p:cNvCxnSpPr>
            <a:cxnSpLocks/>
          </p:cNvCxnSpPr>
          <p:nvPr/>
        </p:nvCxnSpPr>
        <p:spPr>
          <a:xfrm flipV="1">
            <a:off x="5831376" y="2736582"/>
            <a:ext cx="0" cy="385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B14935C-047D-4B97-8EEC-F921893FD202}"/>
              </a:ext>
            </a:extLst>
          </p:cNvPr>
          <p:cNvCxnSpPr>
            <a:cxnSpLocks/>
          </p:cNvCxnSpPr>
          <p:nvPr/>
        </p:nvCxnSpPr>
        <p:spPr>
          <a:xfrm flipV="1">
            <a:off x="9653151" y="2736582"/>
            <a:ext cx="0" cy="385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820CAA6-6DD0-497E-AE59-66F6161B3AAE}"/>
              </a:ext>
            </a:extLst>
          </p:cNvPr>
          <p:cNvCxnSpPr>
            <a:cxnSpLocks/>
          </p:cNvCxnSpPr>
          <p:nvPr/>
        </p:nvCxnSpPr>
        <p:spPr>
          <a:xfrm>
            <a:off x="5831376" y="3360582"/>
            <a:ext cx="0" cy="4234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1538EFA-E9B4-4FB1-B663-F8ED54089C4D}"/>
              </a:ext>
            </a:extLst>
          </p:cNvPr>
          <p:cNvCxnSpPr>
            <a:cxnSpLocks/>
          </p:cNvCxnSpPr>
          <p:nvPr/>
        </p:nvCxnSpPr>
        <p:spPr>
          <a:xfrm>
            <a:off x="9653151" y="3387233"/>
            <a:ext cx="0" cy="4234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DEB932A-FFEA-4543-83BD-E43B76619466}"/>
              </a:ext>
            </a:extLst>
          </p:cNvPr>
          <p:cNvSpPr txBox="1"/>
          <p:nvPr/>
        </p:nvSpPr>
        <p:spPr>
          <a:xfrm>
            <a:off x="906088" y="4290509"/>
            <a:ext cx="10863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Calculate the perimeter and area of rectangular gardens with these measurements.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8E12ADB-AFF4-4686-820A-A2EFDE1DC8B5}"/>
                  </a:ext>
                </a:extLst>
              </p:cNvPr>
              <p:cNvSpPr txBox="1"/>
              <p:nvPr/>
            </p:nvSpPr>
            <p:spPr>
              <a:xfrm>
                <a:off x="1379913" y="4739586"/>
                <a:ext cx="2593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Length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=11 </m:t>
                    </m:r>
                  </m:oMath>
                </a14:m>
                <a:r>
                  <a:rPr lang="en-AU" dirty="0"/>
                  <a:t>m</a:t>
                </a:r>
                <a:endParaRPr lang="en-AU" b="0" dirty="0"/>
              </a:p>
              <a:p>
                <a:r>
                  <a:rPr lang="en-AU" dirty="0"/>
                  <a:t>Width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AU" dirty="0"/>
                  <a:t> m</a:t>
                </a:r>
                <a:endParaRPr lang="en-GB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8E12ADB-AFF4-4686-820A-A2EFDE1DC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913" y="4739586"/>
                <a:ext cx="2593571" cy="646331"/>
              </a:xfrm>
              <a:prstGeom prst="rect">
                <a:avLst/>
              </a:prstGeom>
              <a:blipFill>
                <a:blip r:embed="rId9"/>
                <a:stretch>
                  <a:fillRect l="-1878" t="-4673" b="-130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73F881B-B120-4074-996B-2568861C1821}"/>
                  </a:ext>
                </a:extLst>
              </p:cNvPr>
              <p:cNvSpPr txBox="1"/>
              <p:nvPr/>
            </p:nvSpPr>
            <p:spPr>
              <a:xfrm>
                <a:off x="4204161" y="4751082"/>
                <a:ext cx="2593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Length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=9 </m:t>
                    </m:r>
                  </m:oMath>
                </a14:m>
                <a:r>
                  <a:rPr lang="en-AU" dirty="0"/>
                  <a:t>m</a:t>
                </a:r>
                <a:endParaRPr lang="en-AU" b="0" dirty="0"/>
              </a:p>
              <a:p>
                <a:r>
                  <a:rPr lang="en-AU" dirty="0"/>
                  <a:t>Width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AU" dirty="0"/>
                  <a:t> m</a:t>
                </a:r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73F881B-B120-4074-996B-2568861C1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4161" y="4751082"/>
                <a:ext cx="2593571" cy="646331"/>
              </a:xfrm>
              <a:prstGeom prst="rect">
                <a:avLst/>
              </a:prstGeom>
              <a:blipFill>
                <a:blip r:embed="rId10"/>
                <a:stretch>
                  <a:fillRect l="-2118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FE7CD88-E22F-42A8-A758-A88675EA00F6}"/>
                  </a:ext>
                </a:extLst>
              </p:cNvPr>
              <p:cNvSpPr txBox="1"/>
              <p:nvPr/>
            </p:nvSpPr>
            <p:spPr>
              <a:xfrm>
                <a:off x="7739841" y="4751082"/>
                <a:ext cx="25935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Length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=12 </m:t>
                    </m:r>
                  </m:oMath>
                </a14:m>
                <a:r>
                  <a:rPr lang="en-AU" dirty="0"/>
                  <a:t>m</a:t>
                </a:r>
                <a:endParaRPr lang="en-AU" b="0" dirty="0"/>
              </a:p>
              <a:p>
                <a:r>
                  <a:rPr lang="en-AU" dirty="0"/>
                  <a:t>Width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AU" dirty="0"/>
                  <a:t> m</a:t>
                </a:r>
                <a:endParaRPr lang="en-GB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FE7CD88-E22F-42A8-A758-A88675EA0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841" y="4751082"/>
                <a:ext cx="2593571" cy="646331"/>
              </a:xfrm>
              <a:prstGeom prst="rect">
                <a:avLst/>
              </a:prstGeom>
              <a:blipFill>
                <a:blip r:embed="rId11"/>
                <a:stretch>
                  <a:fillRect l="-2118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672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  <p:bldP spid="29" grpId="0"/>
      <p:bldP spid="30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7097" y="764373"/>
            <a:ext cx="9409103" cy="1293028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Simple Linear Equations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B47FA9-9D0C-4C44-AC87-F839F4F25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826" y="1699976"/>
            <a:ext cx="8435527" cy="521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836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F537D-4EC5-4084-86C1-E4E7B0EEE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Simple Linear Equations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472E37-DA58-4A52-9EDE-5CC582F8F0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8945" y="1823258"/>
            <a:ext cx="9381470" cy="499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535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F537D-4EC5-4084-86C1-E4E7B0EEE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Simple Linear Equations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B07985C-5BC8-45B6-8B96-2AA05A96FE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45" y="2166851"/>
            <a:ext cx="12013852" cy="350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021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84BA7-F128-4FEB-BB52-745F6126E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 err="1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HomeWORK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758BA-5F8E-4162-8652-790DEC158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Complete your summaries</a:t>
            </a:r>
          </a:p>
          <a:p>
            <a:r>
              <a:rPr lang="en-AU" dirty="0"/>
              <a:t>Write your questions</a:t>
            </a:r>
          </a:p>
          <a:p>
            <a:r>
              <a:rPr lang="en-AU" dirty="0"/>
              <a:t>24, 7, 30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8198682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670</TotalTime>
  <Words>412</Words>
  <Application>Microsoft Office PowerPoint</Application>
  <PresentationFormat>Widescreen</PresentationFormat>
  <Paragraphs>76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 Math</vt:lpstr>
      <vt:lpstr>Century Gothic</vt:lpstr>
      <vt:lpstr>Kiwi School Handwriting</vt:lpstr>
      <vt:lpstr>BSC Theme</vt:lpstr>
      <vt:lpstr>Substitution – Perimeter, Area, and Cost Functions</vt:lpstr>
      <vt:lpstr>Learning Outcomes</vt:lpstr>
      <vt:lpstr>PowerPoint Presentation</vt:lpstr>
      <vt:lpstr>PowerPoint Presentation</vt:lpstr>
      <vt:lpstr>Perimeter and ARea</vt:lpstr>
      <vt:lpstr>Check our understanding</vt:lpstr>
      <vt:lpstr>Perimeter and ARea</vt:lpstr>
      <vt:lpstr>Simple Linear Equations</vt:lpstr>
      <vt:lpstr>Simple Linear Equations</vt:lpstr>
      <vt:lpstr>Simple Linear Equations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 </dc:title>
  <dc:creator>Travis Power</dc:creator>
  <cp:lastModifiedBy>LUM Magdeline [Baldivis Secondary College]</cp:lastModifiedBy>
  <cp:revision>28</cp:revision>
  <dcterms:created xsi:type="dcterms:W3CDTF">2018-02-13T05:48:53Z</dcterms:created>
  <dcterms:modified xsi:type="dcterms:W3CDTF">2018-03-04T03:52:50Z</dcterms:modified>
</cp:coreProperties>
</file>
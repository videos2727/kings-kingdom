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2"/>
  </p:notesMasterIdLst>
  <p:sldIdLst>
    <p:sldId id="266" r:id="rId2"/>
    <p:sldId id="267" r:id="rId3"/>
    <p:sldId id="277" r:id="rId4"/>
    <p:sldId id="278" r:id="rId5"/>
    <p:sldId id="275" r:id="rId6"/>
    <p:sldId id="279" r:id="rId7"/>
    <p:sldId id="280" r:id="rId8"/>
    <p:sldId id="281" r:id="rId9"/>
    <p:sldId id="282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55"/>
  </p:normalViewPr>
  <p:slideViewPr>
    <p:cSldViewPr snapToGrid="0" snapToObjects="1">
      <p:cViewPr>
        <p:scale>
          <a:sx n="86" d="100"/>
          <a:sy n="86" d="100"/>
        </p:scale>
        <p:origin x="42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04/03/2018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91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10outline.scsa.wa.edu.au/home/teaching/codes/mathematics/year-10/acmna234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://imperfectlypainted.blogspot.com/2012/02/talk-it-out-tuesday-how-much-is-it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Substitution – Simple Interest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10 Maths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Substitute values into formulas to determine an unknown </a:t>
            </a:r>
            <a:r>
              <a:rPr lang="en-AU" sz="3200" b="1" u="sng" dirty="0">
                <a:solidFill>
                  <a:schemeClr val="accent1"/>
                </a:solidFill>
                <a:hlinkClick r:id="rId3"/>
              </a:rPr>
              <a:t>(ACMNA234)</a:t>
            </a:r>
            <a:endParaRPr lang="en-AU" sz="32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AU" sz="32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AU" sz="3200" dirty="0"/>
              <a:t>Context: Calculate Simple Interest </a:t>
            </a: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212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deposit money into a bank, the bank pays you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borrow money from a bank, you pay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 to the bank. 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8">
            <a:extLst>
              <a:ext uri="{FF2B5EF4-FFF2-40B4-BE49-F238E27FC236}">
                <a16:creationId xmlns:a16="http://schemas.microsoft.com/office/drawing/2014/main" id="{BFF9985B-AA3F-4302-9517-DF8B1B11C2F9}"/>
              </a:ext>
            </a:extLst>
          </p:cNvPr>
          <p:cNvGrpSpPr>
            <a:grpSpLocks/>
          </p:cNvGrpSpPr>
          <p:nvPr/>
        </p:nvGrpSpPr>
        <p:grpSpPr bwMode="auto">
          <a:xfrm>
            <a:off x="3304124" y="3410420"/>
            <a:ext cx="3267075" cy="1651001"/>
            <a:chOff x="342" y="1936"/>
            <a:chExt cx="2058" cy="1040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EA49935-057C-4A8E-AAEA-7E13BC07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" y="1936"/>
              <a:ext cx="205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 </a:t>
              </a:r>
              <a:r>
                <a:rPr lang="en-US" sz="2400" dirty="0">
                  <a:latin typeface="Verdana" pitchFamily="34" charset="0"/>
                </a:rPr>
                <a:t>is money paid only on the principal.</a:t>
              </a:r>
              <a:endParaRPr lang="en-US" sz="2400" dirty="0">
                <a:solidFill>
                  <a:srgbClr val="006600"/>
                </a:solidFill>
                <a:latin typeface="Verdana" pitchFamily="34" charset="0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83D8126-273F-4DEA-82C4-99C96B6F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30BC3CD-4BD8-44F0-B015-736C9C015956}"/>
              </a:ext>
            </a:extLst>
          </p:cNvPr>
          <p:cNvGrpSpPr>
            <a:grpSpLocks/>
          </p:cNvGrpSpPr>
          <p:nvPr/>
        </p:nvGrpSpPr>
        <p:grpSpPr bwMode="auto">
          <a:xfrm>
            <a:off x="6613775" y="3599646"/>
            <a:ext cx="3978275" cy="1295400"/>
            <a:chOff x="2592" y="2064"/>
            <a:chExt cx="2506" cy="816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6B43063-4583-4F07-ADB7-59FB9CDEB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r>
                <a:rPr lang="en-US" sz="2400" dirty="0">
                  <a:latin typeface="Verdana" pitchFamily="34" charset="0"/>
                </a:rPr>
                <a:t> is the percent charged or earned as a decimal</a:t>
              </a: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9D66F52-09AF-4320-A22C-CDB6120F7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CC1F6892-CB8C-41F8-9C3E-83533633297F}"/>
              </a:ext>
            </a:extLst>
          </p:cNvPr>
          <p:cNvGrpSpPr>
            <a:grpSpLocks/>
          </p:cNvGrpSpPr>
          <p:nvPr/>
        </p:nvGrpSpPr>
        <p:grpSpPr bwMode="auto">
          <a:xfrm>
            <a:off x="2823841" y="5241140"/>
            <a:ext cx="4724400" cy="1279525"/>
            <a:chOff x="288" y="3120"/>
            <a:chExt cx="2544" cy="806"/>
          </a:xfrm>
        </p:grpSpPr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0F79B3D3-A464-4F5C-9FD5-6984321A3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 borrowed or invested.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D955127-211A-4BC4-94DC-90237B20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01B50C2-ACED-4424-BE37-82D11DCD8E17}"/>
              </a:ext>
            </a:extLst>
          </p:cNvPr>
          <p:cNvGrpSpPr>
            <a:grpSpLocks/>
          </p:cNvGrpSpPr>
          <p:nvPr/>
        </p:nvGrpSpPr>
        <p:grpSpPr bwMode="auto">
          <a:xfrm>
            <a:off x="7285048" y="5152883"/>
            <a:ext cx="4038600" cy="1339850"/>
            <a:chOff x="3216" y="3120"/>
            <a:chExt cx="2352" cy="844"/>
          </a:xfrm>
        </p:grpSpPr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B452A155-01D6-44D7-9E39-1F2BF0AD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 dirty="0">
                  <a:latin typeface="Verdana" pitchFamily="34" charset="0"/>
                </a:rPr>
                <a:t> that the money is borrowed or invested (in years).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522D189-4039-4FB3-AA32-357DAE24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Gallery WALK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48132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Change % to decimal 	</a:t>
            </a:r>
          </a:p>
          <a:p>
            <a:pPr marL="533400" indent="-533400">
              <a:buFontTx/>
              <a:buNone/>
            </a:pPr>
            <a:endParaRPr lang="en-US" sz="1800" dirty="0"/>
          </a:p>
          <a:p>
            <a:pPr marL="533400" indent="-533400">
              <a:buFontTx/>
              <a:buNone/>
            </a:pPr>
            <a:r>
              <a:rPr lang="en-US" sz="2400" dirty="0"/>
              <a:t>1) 12%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2) 5%	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3) 2 ½ 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4) 8.5%				</a:t>
            </a:r>
          </a:p>
          <a:p>
            <a:pPr marL="533400" indent="-533400">
              <a:buFontTx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Change from decimal to %</a:t>
            </a:r>
          </a:p>
          <a:p>
            <a:pPr marL="533400" indent="-533400">
              <a:buFontTx/>
              <a:buNone/>
            </a:pPr>
            <a:r>
              <a:rPr lang="en-US" sz="2400" dirty="0"/>
              <a:t>5) .098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6) .455				</a:t>
            </a:r>
          </a:p>
          <a:p>
            <a:pPr marL="533400" indent="-533400"/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A1CFEF-9FE7-403F-8EA4-42C795B4CA5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1901728"/>
            <a:ext cx="4796390" cy="44181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Answers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533400" indent="-533400">
              <a:buFontTx/>
              <a:buNone/>
            </a:pPr>
            <a:r>
              <a:rPr lang="en-US" sz="2400" dirty="0"/>
              <a:t>1) 0.12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2) 0.05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3) 0.025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4) 0.085				</a:t>
            </a:r>
          </a:p>
          <a:p>
            <a:pPr marL="533400" indent="-533400">
              <a:buFontTx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Answers</a:t>
            </a:r>
          </a:p>
          <a:p>
            <a:pPr marL="533400" indent="-533400">
              <a:buFontTx/>
              <a:buNone/>
            </a:pPr>
            <a:r>
              <a:rPr lang="en-US" sz="2400" dirty="0"/>
              <a:t>5) 9.8%				</a:t>
            </a:r>
          </a:p>
          <a:p>
            <a:pPr marL="533400" indent="-533400">
              <a:buFontTx/>
              <a:buNone/>
            </a:pPr>
            <a:r>
              <a:rPr lang="en-US" sz="2400" dirty="0"/>
              <a:t>6) 45.5%				</a:t>
            </a:r>
          </a:p>
          <a:p>
            <a:pPr marL="533400" indent="-533400"/>
            <a:endParaRPr lang="en-US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6B0C5AAA-168E-41AD-BE7B-608E427F6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820" y="1670756"/>
            <a:ext cx="2990850" cy="1524000"/>
          </a:xfrm>
          <a:prstGeom prst="leftArrow">
            <a:avLst>
              <a:gd name="adj1" fmla="val 50000"/>
              <a:gd name="adj2" fmla="val 49063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Divide by 100 </a:t>
            </a:r>
          </a:p>
          <a:p>
            <a:pPr algn="ctr"/>
            <a:r>
              <a:rPr lang="en-US" dirty="0"/>
              <a:t>&amp; drop % sign</a:t>
            </a: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1992A50D-B767-4F77-A47A-950DC7497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59" y="5318907"/>
            <a:ext cx="2690842" cy="1418482"/>
          </a:xfrm>
          <a:prstGeom prst="rightArrow">
            <a:avLst>
              <a:gd name="adj1" fmla="val 50000"/>
              <a:gd name="adj2" fmla="val 4404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Multiply by 100 </a:t>
            </a:r>
          </a:p>
          <a:p>
            <a:pPr algn="ctr"/>
            <a:r>
              <a:rPr lang="en-US" dirty="0"/>
              <a:t>&amp; add % sign</a:t>
            </a:r>
          </a:p>
        </p:txBody>
      </p:sp>
    </p:spTree>
    <p:extLst>
      <p:ext uri="{BB962C8B-B14F-4D97-AF65-F5344CB8AC3E}">
        <p14:creationId xmlns:p14="http://schemas.microsoft.com/office/powerpoint/2010/main" val="157949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5C2C7-92E8-433A-A3F3-806478BCADE0}"/>
              </a:ext>
            </a:extLst>
          </p:cNvPr>
          <p:cNvSpPr txBox="1"/>
          <p:nvPr/>
        </p:nvSpPr>
        <p:spPr>
          <a:xfrm>
            <a:off x="2064413" y="1464162"/>
            <a:ext cx="65973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Words Associated with Simple Interest</a:t>
            </a:r>
          </a:p>
          <a:p>
            <a:endParaRPr lang="en-AU" sz="2400" b="1" u="sng" dirty="0"/>
          </a:p>
          <a:p>
            <a:r>
              <a:rPr lang="en-AU" sz="2400" dirty="0"/>
              <a:t>Per annum: It is Latin for per year. Per annum can also be written as p/a or 	p.a.</a:t>
            </a:r>
          </a:p>
          <a:p>
            <a:endParaRPr lang="en-AU" sz="2400" dirty="0"/>
          </a:p>
          <a:p>
            <a:r>
              <a:rPr lang="en-AU" sz="2400" dirty="0"/>
              <a:t>Investment: An amount of money put aside to earn money</a:t>
            </a:r>
          </a:p>
          <a:p>
            <a:endParaRPr lang="en-AU" sz="2400" dirty="0"/>
          </a:p>
          <a:p>
            <a:r>
              <a:rPr lang="en-AU" sz="2400" dirty="0"/>
              <a:t>Loan: Borrowing money from the bank and paying that amount of money back plus interest</a:t>
            </a:r>
            <a:endParaRPr lang="en-GB" sz="2400" dirty="0"/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28523E9B-E162-4E6B-BBD8-4359D2C98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34747" y="3851577"/>
            <a:ext cx="3219450" cy="2543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EE61E-A6F4-4246-8901-18DAEE01647E}"/>
              </a:ext>
            </a:extLst>
          </p:cNvPr>
          <p:cNvSpPr txBox="1"/>
          <p:nvPr/>
        </p:nvSpPr>
        <p:spPr>
          <a:xfrm>
            <a:off x="8807737" y="6349745"/>
            <a:ext cx="3219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Licensed under </a:t>
            </a:r>
            <a:r>
              <a:rPr lang="en-GB" sz="900" dirty="0">
                <a:hlinkClick r:id="rId5" tooltip="https://creativecommons.org/licenses/by-nc-nd/3.0/"/>
              </a:rPr>
              <a:t>CC BY-NC-ND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$1000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20%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20%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0.2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=1000×0.2×2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=400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400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1" t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5D9AF1-3B4B-4244-864C-4E0FC04EE346}"/>
              </a:ext>
            </a:extLst>
          </p:cNvPr>
          <p:cNvSpPr txBox="1"/>
          <p:nvPr/>
        </p:nvSpPr>
        <p:spPr>
          <a:xfrm>
            <a:off x="8275414" y="2194560"/>
            <a:ext cx="2726370" cy="230832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Now you try with a partner : </a:t>
            </a:r>
          </a:p>
          <a:p>
            <a:endParaRPr lang="en-AU" sz="2400" dirty="0"/>
          </a:p>
          <a:p>
            <a:r>
              <a:rPr lang="en-AU" sz="2400" dirty="0"/>
              <a:t>P = $1,500</a:t>
            </a:r>
          </a:p>
          <a:p>
            <a:r>
              <a:rPr lang="en-AU" sz="2400" dirty="0"/>
              <a:t>T = 3 years</a:t>
            </a:r>
          </a:p>
          <a:p>
            <a:r>
              <a:rPr lang="en-AU" sz="2400" dirty="0"/>
              <a:t>R= 15% p/a</a:t>
            </a:r>
          </a:p>
        </p:txBody>
      </p:sp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B56-690D-40F0-B2B8-AB21F682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Ray has $750 in a savings account that pays 3% pa simple interest. How much interest will he earn in 4 years?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64FCD-6F1D-4C12-A6AE-6BB028CCA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835942"/>
            <a:ext cx="10820400" cy="274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2630</TotalTime>
  <Words>299</Words>
  <Application>Microsoft Office PowerPoint</Application>
  <PresentationFormat>Widescreen</PresentationFormat>
  <Paragraphs>85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Kiwi School Handwriting</vt:lpstr>
      <vt:lpstr>Verdana</vt:lpstr>
      <vt:lpstr>Webdings</vt:lpstr>
      <vt:lpstr>Wingdings</vt:lpstr>
      <vt:lpstr>BSC Theme</vt:lpstr>
      <vt:lpstr>Substitution – Simple Interest</vt:lpstr>
      <vt:lpstr>Learning Outcomes</vt:lpstr>
      <vt:lpstr>PowerPoint Presentation</vt:lpstr>
      <vt:lpstr>Gallery WALK</vt:lpstr>
      <vt:lpstr>Check our understanding</vt:lpstr>
      <vt:lpstr>PowerPoint Presentation</vt:lpstr>
      <vt:lpstr>Let’s Try It Out</vt:lpstr>
      <vt:lpstr>One More To Be Sure</vt:lpstr>
      <vt:lpstr>Calculate the Simple Interest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31</cp:revision>
  <dcterms:created xsi:type="dcterms:W3CDTF">2018-02-13T05:48:53Z</dcterms:created>
  <dcterms:modified xsi:type="dcterms:W3CDTF">2018-03-05T12:32:27Z</dcterms:modified>
</cp:coreProperties>
</file>
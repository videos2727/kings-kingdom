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8" r:id="rId2"/>
    <p:sldId id="263" r:id="rId3"/>
    <p:sldId id="257" r:id="rId4"/>
    <p:sldId id="269" r:id="rId5"/>
    <p:sldId id="260" r:id="rId6"/>
    <p:sldId id="264" r:id="rId7"/>
    <p:sldId id="267" r:id="rId8"/>
    <p:sldId id="266" r:id="rId9"/>
    <p:sldId id="258" r:id="rId10"/>
    <p:sldId id="262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94655"/>
  </p:normalViewPr>
  <p:slideViewPr>
    <p:cSldViewPr>
      <p:cViewPr varScale="1">
        <p:scale>
          <a:sx n="94" d="100"/>
          <a:sy n="94" d="100"/>
        </p:scale>
        <p:origin x="46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79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23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89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8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44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19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0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01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06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8444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45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0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ea typeface="Breamcatcher" charset="0"/>
                <a:cs typeface="Breamcatcher" charset="0"/>
              </a:rPr>
              <a:t>Factorising</a:t>
            </a:r>
            <a:r>
              <a:rPr lang="en-US" b="1" dirty="0">
                <a:ea typeface="Breamcatcher" charset="0"/>
                <a:cs typeface="Breamcatcher" charset="0"/>
              </a:rPr>
              <a:t> Algebraic expression: lesson 1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Week 2, Day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17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Mental set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See what you remember by simplifying the following. </a:t>
            </a:r>
          </a:p>
          <a:p>
            <a:pPr marL="0" indent="0">
              <a:buNone/>
            </a:pPr>
            <a:r>
              <a:rPr lang="en-AU" dirty="0" smtClean="0"/>
              <a:t>1) 5a + 2a = </a:t>
            </a:r>
          </a:p>
          <a:p>
            <a:pPr marL="0" indent="0">
              <a:buNone/>
            </a:pPr>
            <a:r>
              <a:rPr lang="en-AU" dirty="0" smtClean="0"/>
              <a:t>2) 3x + 2y - x + y =</a:t>
            </a:r>
          </a:p>
          <a:p>
            <a:pPr marL="0" indent="0">
              <a:buNone/>
            </a:pPr>
            <a:r>
              <a:rPr lang="en-AU" dirty="0" smtClean="0"/>
              <a:t>3) 2(x+3) =</a:t>
            </a:r>
          </a:p>
          <a:p>
            <a:pPr marL="0" indent="0">
              <a:buNone/>
            </a:pPr>
            <a:r>
              <a:rPr lang="en-AU" dirty="0" smtClean="0"/>
              <a:t>4) 3(2x + 3y) =</a:t>
            </a:r>
          </a:p>
          <a:p>
            <a:pPr marL="0" indent="0">
              <a:buNone/>
            </a:pPr>
            <a:r>
              <a:rPr lang="en-AU" dirty="0" smtClean="0"/>
              <a:t>5) 10xy + 3yx -2yz =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547662"/>
            <a:ext cx="2884870" cy="308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Breamcatcher" charset="0"/>
                <a:cs typeface="Breamcatcher" charset="0"/>
              </a:rPr>
              <a:t>Learning Intentions </a:t>
            </a:r>
            <a:r>
              <a:rPr lang="en-US" sz="3600" b="1" dirty="0">
                <a:ea typeface="Breamcatcher" charset="0"/>
                <a:cs typeface="Breamcatcher" charset="0"/>
              </a:rPr>
              <a:t>: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u="sng" dirty="0"/>
              <a:t>Students will be able to</a:t>
            </a:r>
          </a:p>
          <a:p>
            <a:r>
              <a:rPr lang="en-AU" dirty="0"/>
              <a:t>Simplify algebraic expressions</a:t>
            </a:r>
          </a:p>
          <a:p>
            <a:r>
              <a:rPr lang="en-AU" dirty="0"/>
              <a:t>Identify common factors in algebraic terms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0426" y="2356091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dirty="0">
                <a:solidFill>
                  <a:prstClr val="black"/>
                </a:solidFill>
              </a:rPr>
              <a:t>A term is a combination of a variable (a, b, x, y etc..) and a coefficient (number)</a:t>
            </a:r>
          </a:p>
          <a:p>
            <a:pPr marL="342900" indent="-342900" defTabSz="914126">
              <a:buFont typeface="Arial" charset="0"/>
              <a:buChar char="•"/>
            </a:pPr>
            <a:r>
              <a:rPr lang="en-AU" dirty="0">
                <a:solidFill>
                  <a:prstClr val="black"/>
                </a:solidFill>
              </a:rPr>
              <a:t>Like terms are expressions with the same variable</a:t>
            </a:r>
          </a:p>
          <a:p>
            <a:pPr marL="342900" indent="-342900" defTabSz="914126">
              <a:buFont typeface="Arial" charset="0"/>
              <a:buChar char="•"/>
            </a:pPr>
            <a:r>
              <a:rPr lang="en-AU" dirty="0">
                <a:solidFill>
                  <a:prstClr val="black"/>
                </a:solidFill>
              </a:rPr>
              <a:t>Like terms can be added and subtracted from each other</a:t>
            </a:r>
          </a:p>
          <a:p>
            <a:pPr marL="342900" indent="-342900" defTabSz="914126">
              <a:buFont typeface="Arial" charset="0"/>
              <a:buChar char="•"/>
            </a:pPr>
            <a:endParaRPr lang="en-AU" dirty="0">
              <a:solidFill>
                <a:prstClr val="black"/>
              </a:solidFill>
            </a:endParaRPr>
          </a:p>
          <a:p>
            <a:pPr marL="342900" indent="-342900" defTabSz="914126">
              <a:buFont typeface="Arial" charset="0"/>
              <a:buChar char="•"/>
            </a:pPr>
            <a:r>
              <a:rPr lang="en-AU" i="1" dirty="0">
                <a:solidFill>
                  <a:prstClr val="black"/>
                </a:solidFill>
              </a:rPr>
              <a:t>4ac</a:t>
            </a:r>
            <a:r>
              <a:rPr lang="en-AU" dirty="0">
                <a:solidFill>
                  <a:prstClr val="black"/>
                </a:solidFill>
              </a:rPr>
              <a:t> and </a:t>
            </a:r>
            <a:r>
              <a:rPr lang="en-AU" i="1" dirty="0">
                <a:solidFill>
                  <a:prstClr val="black"/>
                </a:solidFill>
              </a:rPr>
              <a:t>3ca</a:t>
            </a:r>
            <a:r>
              <a:rPr lang="en-AU" dirty="0">
                <a:solidFill>
                  <a:prstClr val="black"/>
                </a:solidFill>
              </a:rPr>
              <a:t> </a:t>
            </a:r>
            <a:r>
              <a:rPr lang="en-AU" b="1" dirty="0">
                <a:solidFill>
                  <a:prstClr val="black"/>
                </a:solidFill>
              </a:rPr>
              <a:t>are</a:t>
            </a:r>
            <a:r>
              <a:rPr lang="en-AU" dirty="0">
                <a:solidFill>
                  <a:prstClr val="black"/>
                </a:solidFill>
              </a:rPr>
              <a:t> like terms as they have the same variables, despite being in a different order</a:t>
            </a:r>
          </a:p>
          <a:p>
            <a:pPr marL="342900" indent="-342900" defTabSz="914126">
              <a:buFont typeface="Arial" charset="0"/>
              <a:buChar char="•"/>
            </a:pPr>
            <a:endParaRPr lang="en-AU" dirty="0">
              <a:solidFill>
                <a:prstClr val="black"/>
              </a:solidFill>
            </a:endParaRPr>
          </a:p>
          <a:p>
            <a:pPr marL="342900" indent="-342900" defTabSz="914126">
              <a:buFont typeface="Arial" charset="0"/>
              <a:buChar char="•"/>
            </a:pPr>
            <a:r>
              <a:rPr lang="en-AU" i="1" dirty="0">
                <a:solidFill>
                  <a:prstClr val="black"/>
                </a:solidFill>
              </a:rPr>
              <a:t>4ac + 3ca = 7ac- </a:t>
            </a:r>
            <a:r>
              <a:rPr lang="en-AU" dirty="0">
                <a:solidFill>
                  <a:prstClr val="black"/>
                </a:solidFill>
              </a:rPr>
              <a:t>leave answers in alphabetical order.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1115616" y="404664"/>
            <a:ext cx="3729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Title: </a:t>
            </a:r>
            <a:r>
              <a:rPr lang="en-US" sz="2800" dirty="0"/>
              <a:t>Algebra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93471" y="115432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>
                <a:solidFill>
                  <a:prstClr val="black"/>
                </a:solidFill>
              </a:rPr>
              <a:t>EQ-  How can we simplify algebraic term using factorising? </a:t>
            </a:r>
            <a:endParaRPr lang="en-AU" sz="2800" dirty="0">
              <a:solidFill>
                <a:prstClr val="black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2326674" y="1901005"/>
            <a:ext cx="13078" cy="42642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81337" y="2022387"/>
            <a:ext cx="1690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Algebra Review: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68874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29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Title: </a:t>
            </a:r>
            <a:r>
              <a:rPr lang="en-US" sz="2800" dirty="0"/>
              <a:t>Algebra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15432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>
                <a:solidFill>
                  <a:prstClr val="black"/>
                </a:solidFill>
              </a:rPr>
              <a:t>EQ-  How can we simplify algebraic term using factorising? 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5087" y="2017537"/>
            <a:ext cx="61561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 smtClean="0"/>
              <a:t>Distributive law</a:t>
            </a:r>
            <a:endParaRPr lang="en-US" sz="2000" u="sng" dirty="0"/>
          </a:p>
          <a:p>
            <a:r>
              <a:rPr lang="en-US" sz="2000" dirty="0" smtClean="0"/>
              <a:t>When a coefficient is in front of a set of bracket, you distribute that value into the terms. </a:t>
            </a:r>
          </a:p>
          <a:p>
            <a:r>
              <a:rPr lang="en-US" sz="2000" dirty="0" smtClean="0"/>
              <a:t>e.g. </a:t>
            </a:r>
          </a:p>
          <a:p>
            <a:r>
              <a:rPr lang="en-US" sz="2000" dirty="0" smtClean="0"/>
              <a:t>5(2</a:t>
            </a:r>
            <a:r>
              <a:rPr lang="en-US" sz="2000" i="1" dirty="0" smtClean="0"/>
              <a:t>x</a:t>
            </a:r>
            <a:r>
              <a:rPr lang="en-US" sz="2000" dirty="0" smtClean="0"/>
              <a:t> + 3) becomes,</a:t>
            </a:r>
          </a:p>
          <a:p>
            <a:r>
              <a:rPr lang="en-US" sz="2000" dirty="0" smtClean="0"/>
              <a:t>= (</a:t>
            </a:r>
            <a:r>
              <a:rPr lang="en-US" sz="2000" u="sng" dirty="0" smtClean="0"/>
              <a:t>5</a:t>
            </a:r>
            <a:r>
              <a:rPr lang="en-US" sz="2000" dirty="0" smtClean="0"/>
              <a:t> x </a:t>
            </a:r>
            <a:r>
              <a:rPr lang="en-US" sz="2000" u="sng" dirty="0" smtClean="0"/>
              <a:t>2</a:t>
            </a:r>
            <a:r>
              <a:rPr lang="en-US" sz="2000" i="1" u="sng" dirty="0" smtClean="0"/>
              <a:t>x</a:t>
            </a:r>
            <a:r>
              <a:rPr lang="en-US" sz="2000" dirty="0" smtClean="0"/>
              <a:t>) + (</a:t>
            </a:r>
            <a:r>
              <a:rPr lang="en-US" sz="2000" u="sng" dirty="0" smtClean="0"/>
              <a:t>5</a:t>
            </a:r>
            <a:r>
              <a:rPr lang="en-US" sz="2000" dirty="0" smtClean="0"/>
              <a:t> x </a:t>
            </a:r>
            <a:r>
              <a:rPr lang="en-US" sz="2000" u="sng" dirty="0" smtClean="0"/>
              <a:t>3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= 10</a:t>
            </a:r>
            <a:r>
              <a:rPr lang="en-US" sz="2000" i="1" dirty="0" smtClean="0"/>
              <a:t>x</a:t>
            </a:r>
            <a:r>
              <a:rPr lang="en-US" sz="2000" dirty="0" smtClean="0"/>
              <a:t> + 15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or with a variable</a:t>
            </a:r>
          </a:p>
          <a:p>
            <a:r>
              <a:rPr lang="en-US" sz="2000" i="1" dirty="0" smtClean="0"/>
              <a:t>x(2x + y)</a:t>
            </a:r>
          </a:p>
          <a:p>
            <a:r>
              <a:rPr lang="en-US" sz="2000" i="1" dirty="0" smtClean="0"/>
              <a:t>=(</a:t>
            </a:r>
            <a:r>
              <a:rPr lang="en-US" sz="2000" i="1" u="sng" dirty="0" smtClean="0"/>
              <a:t>x</a:t>
            </a:r>
            <a:r>
              <a:rPr lang="en-US" sz="2000" i="1" dirty="0" smtClean="0"/>
              <a:t> </a:t>
            </a:r>
            <a:r>
              <a:rPr lang="en-US" sz="2000" dirty="0" smtClean="0"/>
              <a:t>x </a:t>
            </a:r>
            <a:r>
              <a:rPr lang="en-US" sz="2000" i="1" u="sng" dirty="0" smtClean="0"/>
              <a:t>2x</a:t>
            </a:r>
            <a:r>
              <a:rPr lang="en-US" sz="2000" i="1" dirty="0" smtClean="0"/>
              <a:t>) + (</a:t>
            </a:r>
            <a:r>
              <a:rPr lang="en-US" sz="2000" i="1" u="sng" dirty="0" smtClean="0"/>
              <a:t>x</a:t>
            </a:r>
            <a:r>
              <a:rPr lang="en-US" sz="2000" i="1" dirty="0" smtClean="0"/>
              <a:t> </a:t>
            </a:r>
            <a:r>
              <a:rPr lang="en-US" sz="2000" dirty="0" smtClean="0"/>
              <a:t>x</a:t>
            </a:r>
            <a:r>
              <a:rPr lang="en-US" sz="2000" i="1" dirty="0" smtClean="0"/>
              <a:t> </a:t>
            </a:r>
            <a:r>
              <a:rPr lang="en-US" sz="2000" i="1" u="sng" dirty="0" smtClean="0"/>
              <a:t>y</a:t>
            </a:r>
            <a:r>
              <a:rPr lang="en-US" sz="2000" i="1" dirty="0" smtClean="0"/>
              <a:t>)</a:t>
            </a:r>
          </a:p>
          <a:p>
            <a:r>
              <a:rPr lang="en-US" sz="2000" i="1" dirty="0" smtClean="0"/>
              <a:t>=2x</a:t>
            </a:r>
            <a:r>
              <a:rPr lang="en-US" sz="2000" i="1" baseline="30000" dirty="0" smtClean="0"/>
              <a:t>2</a:t>
            </a:r>
            <a:r>
              <a:rPr lang="en-US" sz="2000" i="1" dirty="0" smtClean="0"/>
              <a:t> + </a:t>
            </a:r>
            <a:r>
              <a:rPr lang="en-US" sz="2000" i="1" dirty="0" err="1" smtClean="0"/>
              <a:t>xy</a:t>
            </a:r>
            <a:endParaRPr lang="en-US" sz="2000" dirty="0"/>
          </a:p>
          <a:p>
            <a:r>
              <a:rPr lang="en-US" sz="2000" dirty="0" smtClean="0"/>
              <a:t>So what is the opposite of distribution? </a:t>
            </a:r>
          </a:p>
          <a:p>
            <a:endParaRPr lang="en-US" sz="2000" dirty="0" smtClean="0"/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793" y="3212976"/>
            <a:ext cx="2990764" cy="173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547664" y="1916411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77541" y="340161"/>
            <a:ext cx="37292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Title: </a:t>
            </a:r>
            <a:r>
              <a:rPr lang="en-US" sz="2800" dirty="0"/>
              <a:t>Algebra techniques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020272" y="33736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dirty="0" smtClean="0">
                <a:solidFill>
                  <a:prstClr val="black"/>
                </a:solidFill>
              </a:rPr>
              <a:t>EQ-  How </a:t>
            </a:r>
            <a:r>
              <a:rPr lang="en-AU" sz="2400" dirty="0">
                <a:solidFill>
                  <a:prstClr val="black"/>
                </a:solidFill>
              </a:rPr>
              <a:t>can we simplify algebraic term using factorising? 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2816" y="1916411"/>
            <a:ext cx="739053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u="sng" dirty="0" smtClean="0">
                <a:solidFill>
                  <a:prstClr val="black"/>
                </a:solidFill>
              </a:rPr>
              <a:t>Factorising</a:t>
            </a:r>
            <a:endParaRPr lang="en-AU" dirty="0">
              <a:solidFill>
                <a:prstClr val="black"/>
              </a:solidFill>
            </a:endParaRPr>
          </a:p>
          <a:p>
            <a:pPr defTabSz="914126"/>
            <a:r>
              <a:rPr lang="en-AU" dirty="0">
                <a:solidFill>
                  <a:prstClr val="black"/>
                </a:solidFill>
              </a:rPr>
              <a:t>10ac and 5ab </a:t>
            </a:r>
            <a:r>
              <a:rPr lang="en-AU" b="1" dirty="0">
                <a:solidFill>
                  <a:prstClr val="black"/>
                </a:solidFill>
              </a:rPr>
              <a:t>are not </a:t>
            </a:r>
            <a:r>
              <a:rPr lang="en-AU" dirty="0">
                <a:solidFill>
                  <a:prstClr val="black"/>
                </a:solidFill>
              </a:rPr>
              <a:t>like terms, but have some common feature- “5” and “a”</a:t>
            </a:r>
          </a:p>
          <a:p>
            <a:pPr defTabSz="914126"/>
            <a:r>
              <a:rPr lang="en-AU" dirty="0" smtClean="0">
                <a:solidFill>
                  <a:prstClr val="black"/>
                </a:solidFill>
              </a:rPr>
              <a:t>To </a:t>
            </a:r>
            <a:r>
              <a:rPr lang="en-AU" dirty="0">
                <a:solidFill>
                  <a:prstClr val="black"/>
                </a:solidFill>
              </a:rPr>
              <a:t>simplify this, we can remove </a:t>
            </a:r>
            <a:r>
              <a:rPr lang="en-AU" u="sng" dirty="0">
                <a:solidFill>
                  <a:prstClr val="black"/>
                </a:solidFill>
              </a:rPr>
              <a:t>“5”</a:t>
            </a:r>
            <a:r>
              <a:rPr lang="en-AU" dirty="0">
                <a:solidFill>
                  <a:prstClr val="black"/>
                </a:solidFill>
              </a:rPr>
              <a:t> and </a:t>
            </a:r>
            <a:r>
              <a:rPr lang="en-AU" u="sng" dirty="0">
                <a:solidFill>
                  <a:prstClr val="black"/>
                </a:solidFill>
              </a:rPr>
              <a:t>“a” </a:t>
            </a:r>
            <a:r>
              <a:rPr lang="en-AU" dirty="0">
                <a:solidFill>
                  <a:prstClr val="black"/>
                </a:solidFill>
              </a:rPr>
              <a:t>from both terms to get 5a(2c+b)</a:t>
            </a:r>
          </a:p>
          <a:p>
            <a:pPr defTabSz="914126"/>
            <a:endParaRPr lang="en-AU" dirty="0">
              <a:solidFill>
                <a:prstClr val="black"/>
              </a:solidFill>
            </a:endParaRPr>
          </a:p>
          <a:p>
            <a:pPr defTabSz="914126"/>
            <a:r>
              <a:rPr lang="en-AU" dirty="0">
                <a:solidFill>
                  <a:prstClr val="black"/>
                </a:solidFill>
              </a:rPr>
              <a:t>5a(2c + b) is the factorised form of 10ac and 5ab</a:t>
            </a:r>
            <a:r>
              <a:rPr lang="en-AU" dirty="0" smtClean="0">
                <a:solidFill>
                  <a:prstClr val="black"/>
                </a:solidFill>
              </a:rPr>
              <a:t>.</a:t>
            </a:r>
          </a:p>
          <a:p>
            <a:pPr defTabSz="914126"/>
            <a:endParaRPr lang="en-AU" dirty="0">
              <a:solidFill>
                <a:prstClr val="black"/>
              </a:solidFill>
            </a:endParaRPr>
          </a:p>
          <a:p>
            <a:pPr defTabSz="914126"/>
            <a:r>
              <a:rPr lang="en-AU" sz="2000" dirty="0" smtClean="0"/>
              <a:t>Factorising</a:t>
            </a:r>
            <a:r>
              <a:rPr lang="en-US" sz="2000" dirty="0" smtClean="0"/>
              <a:t> Process:</a:t>
            </a:r>
          </a:p>
          <a:p>
            <a:pPr marL="342900" indent="-342900" defTabSz="914126">
              <a:buAutoNum type="arabicParenR"/>
            </a:pPr>
            <a:r>
              <a:rPr lang="en-US" dirty="0" smtClean="0">
                <a:solidFill>
                  <a:prstClr val="black"/>
                </a:solidFill>
              </a:rPr>
              <a:t>Look at all terms in an expression and identify all common factors- both numerical and variables.</a:t>
            </a:r>
          </a:p>
          <a:p>
            <a:pPr marL="342900" indent="-342900" defTabSz="914126">
              <a:buAutoNum type="arabicParenR"/>
            </a:pPr>
            <a:r>
              <a:rPr lang="en-US" dirty="0" smtClean="0">
                <a:solidFill>
                  <a:prstClr val="black"/>
                </a:solidFill>
              </a:rPr>
              <a:t>Place these in front of a bracket</a:t>
            </a:r>
          </a:p>
          <a:p>
            <a:pPr marL="342900" indent="-342900" defTabSz="914126">
              <a:buAutoNum type="arabicParenR"/>
            </a:pPr>
            <a:r>
              <a:rPr lang="en-US" dirty="0" smtClean="0">
                <a:solidFill>
                  <a:prstClr val="black"/>
                </a:solidFill>
              </a:rPr>
              <a:t>W</a:t>
            </a:r>
            <a:r>
              <a:rPr lang="en-AU" dirty="0" smtClean="0">
                <a:solidFill>
                  <a:prstClr val="black"/>
                </a:solidFill>
              </a:rPr>
              <a:t>rite all terms without the removed factors – think dividing algebraic terms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u="sng" dirty="0" smtClean="0"/>
              <a:t>Guided Practice</a:t>
            </a:r>
            <a:endParaRPr lang="en-AU" sz="4400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1124744"/>
            <a:ext cx="824349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Factorise</a:t>
            </a:r>
            <a:r>
              <a:rPr lang="en-US" dirty="0" smtClean="0"/>
              <a:t> the following:</a:t>
            </a:r>
            <a:endParaRPr lang="en-US" dirty="0"/>
          </a:p>
          <a:p>
            <a:pPr marL="342900" indent="-342900">
              <a:buAutoNum type="arabicParenR"/>
            </a:pPr>
            <a:r>
              <a:rPr lang="en-US" dirty="0" smtClean="0"/>
              <a:t>12x + 36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12 is common, but x is not.</a:t>
            </a:r>
          </a:p>
          <a:p>
            <a:r>
              <a:rPr lang="en-US" dirty="0" smtClean="0"/>
              <a:t>=12(x + 3)</a:t>
            </a:r>
          </a:p>
          <a:p>
            <a:r>
              <a:rPr lang="en-US" i="1" dirty="0" smtClean="0"/>
              <a:t>To double check, distribute 12 back into the brackets</a:t>
            </a:r>
          </a:p>
          <a:p>
            <a:r>
              <a:rPr lang="en-US" dirty="0" smtClean="0"/>
              <a:t>(</a:t>
            </a:r>
            <a:r>
              <a:rPr lang="en-US" u="sng" dirty="0" smtClean="0"/>
              <a:t>12</a:t>
            </a:r>
            <a:r>
              <a:rPr lang="en-US" dirty="0" smtClean="0"/>
              <a:t> x </a:t>
            </a:r>
            <a:r>
              <a:rPr lang="en-US" i="1" u="sng" dirty="0" smtClean="0"/>
              <a:t>x</a:t>
            </a:r>
            <a:r>
              <a:rPr lang="en-US" dirty="0" smtClean="0"/>
              <a:t>) + (</a:t>
            </a:r>
            <a:r>
              <a:rPr lang="en-US" u="sng" dirty="0" smtClean="0"/>
              <a:t>12</a:t>
            </a:r>
            <a:r>
              <a:rPr lang="en-US" dirty="0" smtClean="0"/>
              <a:t> x </a:t>
            </a:r>
            <a:r>
              <a:rPr lang="en-US" u="sng" dirty="0" smtClean="0"/>
              <a:t>3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12x + 36 </a:t>
            </a:r>
            <a:r>
              <a:rPr lang="en-US" sz="1200" b="1" dirty="0"/>
              <a:t>✓</a:t>
            </a:r>
            <a:endParaRPr lang="en-US" sz="1200" b="1" dirty="0" smtClean="0"/>
          </a:p>
          <a:p>
            <a:endParaRPr lang="en-US" dirty="0"/>
          </a:p>
          <a:p>
            <a:r>
              <a:rPr lang="en-US" dirty="0"/>
              <a:t>2</a:t>
            </a:r>
            <a:r>
              <a:rPr lang="en-US" dirty="0" smtClean="0"/>
              <a:t>) 10xz - 25yz + 30bz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10 and 30 have a HCF of 10, but 10 does not go into 25 evenly, so it cant be 10.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5 goes into 25, 10 and 30, and </a:t>
            </a:r>
            <a:r>
              <a:rPr lang="en-US" b="1" dirty="0" smtClean="0"/>
              <a:t>is</a:t>
            </a:r>
            <a:r>
              <a:rPr lang="en-US" dirty="0" smtClean="0"/>
              <a:t> the HCF, so it goes at the front. 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“z” is a common </a:t>
            </a:r>
            <a:r>
              <a:rPr lang="en-US" dirty="0" err="1" smtClean="0"/>
              <a:t>varaible</a:t>
            </a:r>
            <a:r>
              <a:rPr lang="en-US" dirty="0" smtClean="0"/>
              <a:t> in all three terms, so it also goes at the front.</a:t>
            </a:r>
          </a:p>
          <a:p>
            <a:r>
              <a:rPr lang="en-US" dirty="0" smtClean="0"/>
              <a:t>=5z(2x – 5y + 6b)</a:t>
            </a:r>
          </a:p>
          <a:p>
            <a:r>
              <a:rPr lang="en-US" i="1" dirty="0"/>
              <a:t>To double check, distribute </a:t>
            </a:r>
            <a:r>
              <a:rPr lang="en-US" i="1" dirty="0" smtClean="0"/>
              <a:t>5z </a:t>
            </a:r>
            <a:r>
              <a:rPr lang="en-US" i="1" dirty="0"/>
              <a:t>back into the </a:t>
            </a:r>
            <a:r>
              <a:rPr lang="en-US" i="1" dirty="0" smtClean="0"/>
              <a:t>brackets</a:t>
            </a:r>
          </a:p>
          <a:p>
            <a:r>
              <a:rPr lang="en-US" dirty="0" smtClean="0"/>
              <a:t>(5z x 2x) – (5z x5y) + (5z x 6b)</a:t>
            </a:r>
          </a:p>
          <a:p>
            <a:r>
              <a:rPr lang="en-US" b="1" dirty="0" smtClean="0"/>
              <a:t>10xz – 25yz + 30bz </a:t>
            </a:r>
            <a:r>
              <a:rPr lang="en-US" b="1" dirty="0"/>
              <a:t>✓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u="sng" dirty="0" smtClean="0"/>
              <a:t>Check for understanding</a:t>
            </a:r>
            <a:endParaRPr lang="en-AU" sz="4000" u="sn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81" y="3140968"/>
            <a:ext cx="8027422" cy="13681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322" y="1757427"/>
            <a:ext cx="6767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Using your thumb, show the teacher you understanding of </a:t>
            </a:r>
            <a:r>
              <a:rPr lang="en-US" smtClean="0"/>
              <a:t>the learning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You will know you are successful in achieving the objective if when you distribute the front value (coefficient) into the expression and come back to the original expression.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0" y="1124744"/>
            <a:ext cx="6571343" cy="1049235"/>
          </a:xfrm>
        </p:spPr>
        <p:txBody>
          <a:bodyPr/>
          <a:lstStyle/>
          <a:p>
            <a:r>
              <a:rPr lang="en-AU" dirty="0" smtClean="0"/>
              <a:t>Activity: Dwyer 10, ex 1.4 - </a:t>
            </a:r>
            <a:r>
              <a:rPr lang="en-AU" dirty="0" err="1" smtClean="0"/>
              <a:t>pg</a:t>
            </a:r>
            <a:r>
              <a:rPr lang="en-AU" dirty="0" smtClean="0"/>
              <a:t> 5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348880"/>
            <a:ext cx="8537833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Write your summary Notes and Questions.</a:t>
            </a:r>
          </a:p>
          <a:p>
            <a:r>
              <a:rPr lang="en-AU" dirty="0" smtClean="0"/>
              <a:t>Were you able to complete the exercises successfully? When you checked them were you getting them correct?  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sson slide skeleton" id="{B001B13B-E41C-C744-A4CE-2C73AFCAA955}" vid="{B5F7E36D-56E0-5044-BB5A-F94EC2D08E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Lesson slide skeleton</Template>
  <TotalTime>108</TotalTime>
  <Words>653</Words>
  <Application>Microsoft Macintosh PowerPoint</Application>
  <PresentationFormat>On-screen Show (4:3)</PresentationFormat>
  <Paragraphs>109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Breamcatcher</vt:lpstr>
      <vt:lpstr>Calibri</vt:lpstr>
      <vt:lpstr>Gill Sans MT</vt:lpstr>
      <vt:lpstr>Arial</vt:lpstr>
      <vt:lpstr>Gallery</vt:lpstr>
      <vt:lpstr>Factorising Algebraic expression: lesson 1</vt:lpstr>
      <vt:lpstr>Mental set</vt:lpstr>
      <vt:lpstr>Learning Intentions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Success Criteria</vt:lpstr>
      <vt:lpstr>Activity: Dwyer 10, ex 1.4 - pg 5</vt:lpstr>
      <vt:lpstr>Closure activity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Factorising Algebraic expression: lesson 1</dc:title>
  <dc:creator>Travis Power</dc:creator>
  <cp:lastModifiedBy>Travis Power</cp:lastModifiedBy>
  <cp:revision>10</cp:revision>
  <dcterms:created xsi:type="dcterms:W3CDTF">2018-02-01T00:04:42Z</dcterms:created>
  <dcterms:modified xsi:type="dcterms:W3CDTF">2018-02-01T02:06:15Z</dcterms:modified>
</cp:coreProperties>
</file>
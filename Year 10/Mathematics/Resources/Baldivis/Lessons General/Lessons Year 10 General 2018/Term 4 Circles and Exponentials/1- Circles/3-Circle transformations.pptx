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28"/>
  </p:notesMasterIdLst>
  <p:sldIdLst>
    <p:sldId id="274" r:id="rId3"/>
    <p:sldId id="275" r:id="rId4"/>
    <p:sldId id="280" r:id="rId5"/>
    <p:sldId id="277" r:id="rId6"/>
    <p:sldId id="281" r:id="rId7"/>
    <p:sldId id="282" r:id="rId8"/>
    <p:sldId id="283" r:id="rId9"/>
    <p:sldId id="279" r:id="rId10"/>
    <p:sldId id="276" r:id="rId11"/>
    <p:sldId id="278" r:id="rId12"/>
    <p:sldId id="284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800" y="-3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45562-DAF9-4BBD-B6C6-89A7C3DF7637}" type="datetimeFigureOut">
              <a:rPr lang="en-AU" smtClean="0"/>
              <a:t>20/10/2016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F8924-05AE-4B70-8C98-111FE6C251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8424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20/10/2016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72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20/10/2016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10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20/10/2016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548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20/10/2016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29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20/10/2016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82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20/10/2016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05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20/10/2016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53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20/10/2016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152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20/10/2016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81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20/10/2016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917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20/10/2016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665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7200" y="668338"/>
            <a:ext cx="8229600" cy="5549900"/>
          </a:xfrm>
        </p:spPr>
        <p:txBody>
          <a:bodyPr>
            <a:normAutofit/>
          </a:bodyPr>
          <a:lstStyle>
            <a:lvl1pPr>
              <a:defRPr sz="1800">
                <a:latin typeface="Times New Roman"/>
              </a:defRPr>
            </a:lvl1pPr>
            <a:lvl2pPr>
              <a:defRPr sz="1800">
                <a:latin typeface="Times New Roman"/>
              </a:defRPr>
            </a:lvl2pPr>
            <a:lvl3pPr>
              <a:defRPr sz="1800">
                <a:latin typeface="Times New Roman"/>
              </a:defRPr>
            </a:lvl3pPr>
            <a:lvl4pPr>
              <a:defRPr sz="1800">
                <a:latin typeface="Times New Roman"/>
              </a:defRPr>
            </a:lvl4pPr>
            <a:lvl5pPr>
              <a:defRPr sz="1800">
                <a:latin typeface="Times New Roman"/>
              </a:defRPr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44F07C0D-B348-43B0-8713-23E8A23C4472}" type="datetimeFigureOut">
              <a:rPr lang="en-US"/>
              <a:pPr/>
              <a:t>10/20/2016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Times New Roman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F2C75002-5AC5-47F9-96F0-CA33683F81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29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5CBBB31-4FAF-457B-8029-E820CEF8DCF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74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0FA3B7-DA79-4DD6-BE52-411A6B09EB4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603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14B25D-72E3-42E7-9A89-160F1121B5C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719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55EBE2-C888-4524-863B-EE8F6E66A55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321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EE0220-D05F-4754-B9F2-54548D4036A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3262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724BDB-2F40-4CED-8DBE-00CA2470724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9919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E8929-D5F1-460B-B2AD-127959590F5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737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0309A2-724F-4868-8CB5-6A0584AD5F2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1034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29B3CD-079C-4686-91AE-7ABD92E961C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1134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5C8E1E-E171-42C1-B149-C2BC3BEC5ED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08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7D38D5-F656-4BBE-8AAB-9617D14A61A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450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1FE6CA-9931-49A7-8283-8663DA231F5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7429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5CBBB31-4FAF-457B-8029-E820CEF8DCF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424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20/10/2016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294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867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867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867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A084FD1-C78A-4E11-A328-930C2A07FF48}" type="slidenum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5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4.png"/><Relationship Id="rId4" Type="http://schemas.openxmlformats.org/officeDocument/2006/relationships/image" Target="../media/image1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7.png"/><Relationship Id="rId4" Type="http://schemas.openxmlformats.org/officeDocument/2006/relationships/image" Target="../media/image16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0.png"/><Relationship Id="rId4" Type="http://schemas.openxmlformats.org/officeDocument/2006/relationships/image" Target="../media/image19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4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6.png"/><Relationship Id="rId4" Type="http://schemas.openxmlformats.org/officeDocument/2006/relationships/image" Target="../media/image25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 </a:t>
            </a:r>
            <a:r>
              <a:rPr lang="en-AU" dirty="0">
                <a:solidFill>
                  <a:prstClr val="black"/>
                </a:solidFill>
              </a:rPr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</a:rPr>
              <a:t>24</a:t>
            </a:r>
          </a:p>
          <a:p>
            <a:r>
              <a:rPr lang="en-AU" sz="1600" dirty="0" smtClean="0">
                <a:solidFill>
                  <a:prstClr val="black"/>
                </a:solidFill>
              </a:rPr>
              <a:t>7</a:t>
            </a:r>
          </a:p>
          <a:p>
            <a:r>
              <a:rPr lang="en-AU" sz="1600" dirty="0" smtClean="0">
                <a:solidFill>
                  <a:prstClr val="black"/>
                </a:solidFill>
              </a:rPr>
              <a:t>30</a:t>
            </a:r>
            <a:endParaRPr lang="en-AU" sz="1600" dirty="0">
              <a:solidFill>
                <a:prstClr val="black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11561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9743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>
                <a:solidFill>
                  <a:prstClr val="black"/>
                </a:solidFill>
              </a:rPr>
              <a:t>Topic: Equation of a circle</a:t>
            </a:r>
            <a:r>
              <a:rPr lang="en-GB" sz="2800" b="1" dirty="0">
                <a:solidFill>
                  <a:prstClr val="black"/>
                </a:solidFill>
              </a:rPr>
              <a:t/>
            </a:r>
            <a:br>
              <a:rPr lang="en-GB" sz="2800" b="1" dirty="0">
                <a:solidFill>
                  <a:prstClr val="black"/>
                </a:solidFill>
              </a:rPr>
            </a:b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Date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 </a:t>
            </a:r>
            <a:r>
              <a:rPr lang="en-GB" sz="2400" b="1" dirty="0" smtClean="0">
                <a:solidFill>
                  <a:prstClr val="black"/>
                </a:solidFill>
              </a:rPr>
              <a:t>EQ: </a:t>
            </a:r>
            <a:r>
              <a:rPr lang="en-GB" sz="2400" dirty="0" smtClean="0">
                <a:solidFill>
                  <a:prstClr val="black"/>
                </a:solidFill>
              </a:rPr>
              <a:t>What is the equation of a circle?</a:t>
            </a:r>
            <a:endParaRPr lang="en-AU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54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576263" y="890588"/>
            <a:ext cx="8229600" cy="989012"/>
          </a:xfrm>
        </p:spPr>
        <p:txBody>
          <a:bodyPr/>
          <a:lstStyle/>
          <a:p>
            <a:pPr marL="0" indent="0">
              <a:buFont typeface="Arial" pitchFamily="34" charset="0"/>
              <a:buNone/>
            </a:pPr>
            <a:r>
              <a:rPr lang="en-US" smtClean="0">
                <a:solidFill>
                  <a:srgbClr val="0000FF"/>
                </a:solidFill>
                <a:latin typeface="Times New Roman" pitchFamily="18" charset="0"/>
              </a:rPr>
              <a:t>A circle may be defined as the set of all points, P, in a plane at a given distance from a fixed point in the plane. The fixed point is the centre of the circle and the fixed distance is the radius.</a:t>
            </a:r>
          </a:p>
        </p:txBody>
      </p:sp>
      <p:sp>
        <p:nvSpPr>
          <p:cNvPr id="11266" name="TextBox 2"/>
          <p:cNvSpPr txBox="1">
            <a:spLocks noChangeArrowheads="1"/>
          </p:cNvSpPr>
          <p:nvPr/>
        </p:nvSpPr>
        <p:spPr bwMode="auto">
          <a:xfrm>
            <a:off x="457200" y="274638"/>
            <a:ext cx="1454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Definition</a:t>
            </a:r>
          </a:p>
        </p:txBody>
      </p: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620487" y="2654008"/>
            <a:ext cx="7661275" cy="1870075"/>
            <a:chOff x="575895" y="1973996"/>
            <a:chExt cx="7662166" cy="1869871"/>
          </a:xfrm>
        </p:grpSpPr>
        <p:sp>
          <p:nvSpPr>
            <p:cNvPr id="11280" name="Text Placeholder 1"/>
            <p:cNvSpPr txBox="1">
              <a:spLocks/>
            </p:cNvSpPr>
            <p:nvPr/>
          </p:nvSpPr>
          <p:spPr bwMode="auto">
            <a:xfrm>
              <a:off x="575895" y="2050199"/>
              <a:ext cx="4851238" cy="1793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20000"/>
                </a:spcBef>
                <a:buFont typeface="Arial" pitchFamily="34" charset="0"/>
                <a:buNone/>
              </a:pPr>
              <a:r>
                <a:rPr lang="en-US" dirty="0">
                  <a:latin typeface="Times New Roman" pitchFamily="18" charset="0"/>
                </a:rPr>
                <a:t>The </a:t>
              </a:r>
              <a:r>
                <a:rPr lang="en-US" i="1" dirty="0">
                  <a:solidFill>
                    <a:srgbClr val="FF0000"/>
                  </a:solidFill>
                  <a:latin typeface="Times New Roman" pitchFamily="18" charset="0"/>
                </a:rPr>
                <a:t>standard circle </a:t>
              </a:r>
              <a:r>
                <a:rPr lang="en-US" dirty="0">
                  <a:latin typeface="Times New Roman" pitchFamily="18" charset="0"/>
                </a:rPr>
                <a:t>has  </a:t>
              </a:r>
              <a:r>
                <a:rPr lang="en-US" i="1" dirty="0">
                  <a:latin typeface="Times New Roman" pitchFamily="18" charset="0"/>
                </a:rPr>
                <a:t>center</a:t>
              </a:r>
              <a:r>
                <a:rPr lang="en-US" dirty="0">
                  <a:latin typeface="Times New Roman" pitchFamily="18" charset="0"/>
                </a:rPr>
                <a:t> at the origin, </a:t>
              </a:r>
              <a:r>
                <a:rPr lang="en-US" dirty="0">
                  <a:solidFill>
                    <a:srgbClr val="0000FF"/>
                  </a:solidFill>
                  <a:latin typeface="Times New Roman" pitchFamily="18" charset="0"/>
                </a:rPr>
                <a:t>(0, 0)</a:t>
              </a:r>
              <a:r>
                <a:rPr lang="en-US" dirty="0">
                  <a:latin typeface="Times New Roman" pitchFamily="18" charset="0"/>
                </a:rPr>
                <a:t> and </a:t>
              </a:r>
              <a:r>
                <a:rPr lang="en-US" i="1" dirty="0">
                  <a:latin typeface="Times New Roman" pitchFamily="18" charset="0"/>
                </a:rPr>
                <a:t>radius</a:t>
              </a:r>
              <a:r>
                <a:rPr lang="en-US" dirty="0">
                  <a:latin typeface="Times New Roman" pitchFamily="18" charset="0"/>
                </a:rPr>
                <a:t>, </a:t>
              </a:r>
              <a:r>
                <a:rPr lang="en-US" i="1" dirty="0">
                  <a:solidFill>
                    <a:srgbClr val="0000FF"/>
                  </a:solidFill>
                  <a:latin typeface="Times New Roman" pitchFamily="18" charset="0"/>
                </a:rPr>
                <a:t>r</a:t>
              </a:r>
              <a:r>
                <a:rPr lang="en-US" dirty="0">
                  <a:latin typeface="Times New Roman" pitchFamily="18" charset="0"/>
                </a:rPr>
                <a:t>. </a:t>
              </a:r>
              <a:r>
                <a:rPr lang="en-US" dirty="0" smtClean="0">
                  <a:latin typeface="Times New Roman" pitchFamily="18" charset="0"/>
                </a:rPr>
                <a:t>Its equation </a:t>
              </a:r>
              <a:r>
                <a:rPr lang="en-US" dirty="0">
                  <a:latin typeface="Times New Roman" pitchFamily="18" charset="0"/>
                </a:rPr>
                <a:t>is of the form</a:t>
              </a:r>
            </a:p>
            <a:p>
              <a:pPr>
                <a:spcBef>
                  <a:spcPct val="20000"/>
                </a:spcBef>
                <a:buFont typeface="Arial" pitchFamily="34" charset="0"/>
                <a:buNone/>
              </a:pPr>
              <a:r>
                <a:rPr lang="en-US" dirty="0">
                  <a:latin typeface="Times New Roman" pitchFamily="18" charset="0"/>
                </a:rPr>
                <a:t>	</a:t>
              </a:r>
              <a:r>
                <a:rPr lang="en-US" sz="2400" i="1" dirty="0" smtClean="0">
                  <a:solidFill>
                    <a:srgbClr val="FF0000"/>
                  </a:solidFill>
                  <a:latin typeface="Times New Roman" pitchFamily="18" charset="0"/>
                </a:rPr>
                <a:t>x</a:t>
              </a:r>
              <a:r>
                <a:rPr lang="en-US" sz="2400" i="1" baseline="30000" dirty="0" smtClean="0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en-US" sz="2400" i="1" dirty="0" smtClean="0">
                  <a:solidFill>
                    <a:srgbClr val="FF0000"/>
                  </a:solidFill>
                  <a:latin typeface="Times New Roman" pitchFamily="18" charset="0"/>
                </a:rPr>
                <a:t>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</a:rPr>
                <a:t>+ y</a:t>
              </a:r>
              <a:r>
                <a:rPr lang="en-US" sz="2400" i="1" baseline="30000" dirty="0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</a:rPr>
                <a:t> = r</a:t>
              </a:r>
              <a:r>
                <a:rPr lang="en-US" sz="2400" i="1" baseline="30000" dirty="0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</a:rPr>
                <a:t> </a:t>
              </a:r>
            </a:p>
          </p:txBody>
        </p:sp>
        <p:grpSp>
          <p:nvGrpSpPr>
            <p:cNvPr id="11281" name="Group 29"/>
            <p:cNvGrpSpPr>
              <a:grpSpLocks/>
            </p:cNvGrpSpPr>
            <p:nvPr/>
          </p:nvGrpSpPr>
          <p:grpSpPr bwMode="auto">
            <a:xfrm>
              <a:off x="6388093" y="1973996"/>
              <a:ext cx="1849968" cy="1869871"/>
              <a:chOff x="6582834" y="1973996"/>
              <a:chExt cx="1849968" cy="1869871"/>
            </a:xfrm>
          </p:grpSpPr>
          <p:grpSp>
            <p:nvGrpSpPr>
              <p:cNvPr id="11282" name="Group 17"/>
              <p:cNvGrpSpPr>
                <a:grpSpLocks/>
              </p:cNvGrpSpPr>
              <p:nvPr/>
            </p:nvGrpSpPr>
            <p:grpSpPr bwMode="auto">
              <a:xfrm>
                <a:off x="6582834" y="2192867"/>
                <a:ext cx="1849968" cy="1651000"/>
                <a:chOff x="6582834" y="2192867"/>
                <a:chExt cx="1849968" cy="1651000"/>
              </a:xfrm>
            </p:grpSpPr>
            <p:grpSp>
              <p:nvGrpSpPr>
                <p:cNvPr id="11284" name="Group 8"/>
                <p:cNvGrpSpPr>
                  <a:grpSpLocks/>
                </p:cNvGrpSpPr>
                <p:nvPr/>
              </p:nvGrpSpPr>
              <p:grpSpPr bwMode="auto">
                <a:xfrm>
                  <a:off x="6582834" y="2192867"/>
                  <a:ext cx="1651000" cy="1651000"/>
                  <a:chOff x="6582834" y="2192867"/>
                  <a:chExt cx="1651000" cy="1651000"/>
                </a:xfrm>
              </p:grpSpPr>
              <p:cxnSp>
                <p:nvCxnSpPr>
                  <p:cNvPr id="7" name="Straight Connector 6"/>
                  <p:cNvCxnSpPr/>
                  <p:nvPr/>
                </p:nvCxnSpPr>
                <p:spPr>
                  <a:xfrm>
                    <a:off x="7408745" y="2193047"/>
                    <a:ext cx="0" cy="165082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Connector 7"/>
                  <p:cNvCxnSpPr/>
                  <p:nvPr/>
                </p:nvCxnSpPr>
                <p:spPr>
                  <a:xfrm rot="16200000">
                    <a:off x="7408745" y="2192861"/>
                    <a:ext cx="0" cy="165119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Oval 9"/>
                <p:cNvSpPr/>
                <p:nvPr/>
              </p:nvSpPr>
              <p:spPr>
                <a:xfrm>
                  <a:off x="6894335" y="2504163"/>
                  <a:ext cx="1028820" cy="1028588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cxnSp>
              <p:nvCxnSpPr>
                <p:cNvPr id="12" name="Straight Connector 11"/>
                <p:cNvCxnSpPr>
                  <a:endCxn id="10" idx="7"/>
                </p:cNvCxnSpPr>
                <p:nvPr/>
              </p:nvCxnSpPr>
              <p:spPr>
                <a:xfrm flipV="1">
                  <a:off x="7408745" y="2654959"/>
                  <a:ext cx="363580" cy="363498"/>
                </a:xfrm>
                <a:prstGeom prst="line">
                  <a:avLst/>
                </a:prstGeom>
                <a:ln>
                  <a:solidFill>
                    <a:srgbClr val="0000FF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287" name="TextBox 12"/>
                <p:cNvSpPr txBox="1">
                  <a:spLocks noChangeArrowheads="1"/>
                </p:cNvSpPr>
                <p:nvPr/>
              </p:nvSpPr>
              <p:spPr bwMode="auto">
                <a:xfrm>
                  <a:off x="7061202" y="3009900"/>
                  <a:ext cx="524933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r>
                    <a:rPr lang="en-US" sz="1000">
                      <a:latin typeface="Times New Roman" pitchFamily="18" charset="0"/>
                      <a:cs typeface="Times New Roman" pitchFamily="18" charset="0"/>
                    </a:rPr>
                    <a:t>(0,0)</a:t>
                  </a:r>
                </a:p>
              </p:txBody>
            </p:sp>
            <p:sp>
              <p:nvSpPr>
                <p:cNvPr id="11288" name="TextBox 13"/>
                <p:cNvSpPr txBox="1">
                  <a:spLocks noChangeArrowheads="1"/>
                </p:cNvSpPr>
                <p:nvPr/>
              </p:nvSpPr>
              <p:spPr bwMode="auto">
                <a:xfrm>
                  <a:off x="7408334" y="2654667"/>
                  <a:ext cx="270934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r>
                    <a:rPr lang="en-US" sz="1000" i="1">
                      <a:latin typeface="Times New Roman" pitchFamily="18" charset="0"/>
                      <a:cs typeface="Times New Roman" pitchFamily="18" charset="0"/>
                    </a:rPr>
                    <a:t>r</a:t>
                  </a:r>
                </a:p>
              </p:txBody>
            </p:sp>
            <p:sp>
              <p:nvSpPr>
                <p:cNvPr id="11289" name="TextBox 15"/>
                <p:cNvSpPr txBox="1">
                  <a:spLocks noChangeArrowheads="1"/>
                </p:cNvSpPr>
                <p:nvPr/>
              </p:nvSpPr>
              <p:spPr bwMode="auto">
                <a:xfrm>
                  <a:off x="8161868" y="2886789"/>
                  <a:ext cx="270934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r>
                    <a:rPr lang="en-US" sz="1000" i="1"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</a:p>
              </p:txBody>
            </p:sp>
          </p:grpSp>
          <p:sp>
            <p:nvSpPr>
              <p:cNvPr id="11283" name="TextBox 16"/>
              <p:cNvSpPr txBox="1">
                <a:spLocks noChangeArrowheads="1"/>
              </p:cNvSpPr>
              <p:nvPr/>
            </p:nvSpPr>
            <p:spPr bwMode="auto">
              <a:xfrm>
                <a:off x="7272867" y="1973996"/>
                <a:ext cx="27093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000" i="1">
                    <a:latin typeface="Times New Roman" pitchFamily="18" charset="0"/>
                    <a:cs typeface="Times New Roman" pitchFamily="18" charset="0"/>
                  </a:rPr>
                  <a:t>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6388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25500" y="228600"/>
            <a:ext cx="6870700" cy="838200"/>
          </a:xfrm>
        </p:spPr>
        <p:txBody>
          <a:bodyPr/>
          <a:lstStyle/>
          <a:p>
            <a:r>
              <a:rPr lang="en-US">
                <a:solidFill>
                  <a:srgbClr val="1919ED"/>
                </a:solidFill>
              </a:rPr>
              <a:t>Unit Circle equation 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0713" y="1978025"/>
            <a:ext cx="7413625" cy="188595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   where the center of the circle is at</a:t>
            </a:r>
            <a:br>
              <a:rPr lang="en-US" sz="2800"/>
            </a:br>
            <a:r>
              <a:rPr lang="en-US" sz="2800"/>
              <a:t>the origin </a:t>
            </a:r>
            <a:r>
              <a:rPr lang="en-US" sz="2800">
                <a:solidFill>
                  <a:schemeClr val="tx2"/>
                </a:solidFill>
              </a:rPr>
              <a:t>(0,0)</a:t>
            </a:r>
            <a:r>
              <a:rPr lang="en-US" sz="2800"/>
              <a:t> and with a radius of</a:t>
            </a:r>
            <a:br>
              <a:rPr lang="en-US" sz="2800"/>
            </a:br>
            <a:r>
              <a:rPr lang="en-US" sz="2800">
                <a:solidFill>
                  <a:schemeClr val="tx2"/>
                </a:solidFill>
              </a:rPr>
              <a:t>1</a:t>
            </a:r>
            <a:r>
              <a:rPr lang="en-US" sz="2800"/>
              <a:t>, is called the unit circle.</a:t>
            </a:r>
          </a:p>
        </p:txBody>
      </p:sp>
      <p:graphicFrame>
        <p:nvGraphicFramePr>
          <p:cNvPr id="258052" name="Object 4"/>
          <p:cNvGraphicFramePr>
            <a:graphicFrameLocks noChangeAspect="1"/>
          </p:cNvGraphicFramePr>
          <p:nvPr/>
        </p:nvGraphicFramePr>
        <p:xfrm>
          <a:off x="3200400" y="984250"/>
          <a:ext cx="20526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3" imgW="622080" imgH="228600" progId="Equation.DSMT4">
                  <p:embed/>
                </p:oleObj>
              </mc:Choice>
              <mc:Fallback>
                <p:oleObj name="Equation" r:id="rId3" imgW="62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984250"/>
                        <a:ext cx="2052638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3" name="Text Box 5"/>
          <p:cNvSpPr txBox="1">
            <a:spLocks noChangeArrowheads="1"/>
          </p:cNvSpPr>
          <p:nvPr/>
        </p:nvSpPr>
        <p:spPr bwMode="auto">
          <a:xfrm>
            <a:off x="5791200" y="3733800"/>
            <a:ext cx="25908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Comic Sans MS" pitchFamily="66" charset="0"/>
              </a:rPr>
              <a:t>Since the radius = </a:t>
            </a: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1</a:t>
            </a:r>
            <a:r>
              <a:rPr lang="en-US" sz="2000">
                <a:latin typeface="Comic Sans MS" pitchFamily="66" charset="0"/>
              </a:rPr>
              <a:t>, use the center </a:t>
            </a: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(0,0)</a:t>
            </a:r>
            <a:r>
              <a:rPr lang="en-US" sz="2000">
                <a:latin typeface="Comic Sans MS" pitchFamily="66" charset="0"/>
              </a:rPr>
              <a:t> as a reference point and then move </a:t>
            </a:r>
            <a:r>
              <a:rPr lang="en-US" sz="2000">
                <a:solidFill>
                  <a:schemeClr val="tx2"/>
                </a:solidFill>
                <a:latin typeface="Comic Sans MS" pitchFamily="66" charset="0"/>
              </a:rPr>
              <a:t>1 </a:t>
            </a:r>
            <a:r>
              <a:rPr lang="en-US" sz="2000">
                <a:latin typeface="Comic Sans MS" pitchFamily="66" charset="0"/>
              </a:rPr>
              <a:t>point to the left, right, up and down.</a:t>
            </a:r>
          </a:p>
        </p:txBody>
      </p:sp>
      <p:pic>
        <p:nvPicPr>
          <p:cNvPr id="258059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4600" y="3810000"/>
            <a:ext cx="2552700" cy="2552700"/>
          </a:xfrm>
          <a:noFill/>
          <a:ln/>
        </p:spPr>
      </p:pic>
      <p:sp>
        <p:nvSpPr>
          <p:cNvPr id="258061" name="Oval 13"/>
          <p:cNvSpPr>
            <a:spLocks noChangeArrowheads="1"/>
          </p:cNvSpPr>
          <p:nvPr/>
        </p:nvSpPr>
        <p:spPr bwMode="auto">
          <a:xfrm flipV="1">
            <a:off x="3783013" y="5078413"/>
            <a:ext cx="26987" cy="269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777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304800" y="4724400"/>
            <a:ext cx="6705600" cy="1752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8196" name="WordArt 4"/>
          <p:cNvSpPr>
            <a:spLocks noChangeArrowheads="1" noChangeShapeType="1" noTextEdit="1"/>
          </p:cNvSpPr>
          <p:nvPr/>
        </p:nvSpPr>
        <p:spPr bwMode="auto">
          <a:xfrm>
            <a:off x="228600" y="304800"/>
            <a:ext cx="4848225" cy="6477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MAPPING RULES</a:t>
            </a: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 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28600" y="1524000"/>
            <a:ext cx="80772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We often use a coordinate grid when we work with transformations.  We use a </a:t>
            </a:r>
            <a:r>
              <a:rPr lang="en-US" sz="2400" b="1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mapping rule</a:t>
            </a: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to describe how points and their images are related. </a:t>
            </a:r>
          </a:p>
          <a:p>
            <a:pPr>
              <a:spcBef>
                <a:spcPct val="50000"/>
              </a:spcBef>
            </a:pPr>
            <a:endParaRPr lang="en-US" sz="2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50000"/>
              </a:spcBef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 </a:t>
            </a:r>
            <a:r>
              <a:rPr lang="en-US" sz="2400" b="1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mapping rule</a:t>
            </a: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tells you what to do to the coordinates of any point on the figure to determine the coordinates of </a:t>
            </a:r>
            <a:r>
              <a:rPr 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its </a:t>
            </a: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image.</a:t>
            </a: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990600" y="5410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304800" y="4751388"/>
            <a:ext cx="65532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Mapping rule:</a:t>
            </a:r>
          </a:p>
          <a:p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(x, y)   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(5x, 5y)</a:t>
            </a:r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It tells you to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multiply the x-coordinate by 5 and multiply the y-coordinate by 5.</a:t>
            </a:r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50000"/>
              </a:spcBef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255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265" name="Text Placeholder 1"/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76263" y="890588"/>
                <a:ext cx="8229600" cy="5562748"/>
              </a:xfrm>
            </p:spPr>
            <p:txBody>
              <a:bodyPr>
                <a:normAutofit/>
              </a:bodyPr>
              <a:lstStyle/>
              <a:p>
                <a:pPr marL="0" indent="0">
                  <a:buFont typeface="Arial" pitchFamily="34" charset="0"/>
                  <a:buNone/>
                </a:pPr>
                <a:r>
                  <a:rPr lang="en-US" dirty="0" smtClean="0">
                    <a:solidFill>
                      <a:schemeClr val="tx1"/>
                    </a:solidFill>
                    <a:latin typeface="Times New Roman" pitchFamily="18" charset="0"/>
                  </a:rPr>
                  <a:t>The equation of a circle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+ </m:t>
                    </m:r>
                    <m:sSup>
                      <m:sSup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=36</m:t>
                    </m:r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  <a:latin typeface="Times New Roman" pitchFamily="18" charset="0"/>
                  </a:rPr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r>
                  <a:rPr lang="en-US" dirty="0" smtClean="0">
                    <a:solidFill>
                      <a:schemeClr val="tx1"/>
                    </a:solidFill>
                    <a:latin typeface="Times New Roman" pitchFamily="18" charset="0"/>
                  </a:rPr>
                  <a:t>a) What is the </a:t>
                </a:r>
                <a:r>
                  <a:rPr lang="en-US" dirty="0" err="1" smtClean="0">
                    <a:solidFill>
                      <a:schemeClr val="tx1"/>
                    </a:solidFill>
                    <a:latin typeface="Times New Roman" pitchFamily="18" charset="0"/>
                  </a:rPr>
                  <a:t>centre</a:t>
                </a:r>
                <a:r>
                  <a:rPr lang="en-US" dirty="0" smtClean="0">
                    <a:solidFill>
                      <a:schemeClr val="tx1"/>
                    </a:solidFill>
                    <a:latin typeface="Times New Roman" pitchFamily="18" charset="0"/>
                  </a:rPr>
                  <a:t>?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dirty="0" smtClean="0">
                  <a:solidFill>
                    <a:schemeClr val="tx1"/>
                  </a:solidFill>
                  <a:latin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n-US" dirty="0" smtClean="0">
                  <a:solidFill>
                    <a:schemeClr val="tx1"/>
                  </a:solidFill>
                  <a:latin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n-US" dirty="0" smtClean="0">
                    <a:solidFill>
                      <a:schemeClr val="tx1"/>
                    </a:solidFill>
                    <a:latin typeface="Times New Roman" pitchFamily="18" charset="0"/>
                  </a:rPr>
                  <a:t>b) What is the radius?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dirty="0" smtClean="0">
                  <a:latin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n-US" dirty="0" smtClean="0">
                  <a:latin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n-US" dirty="0">
                  <a:latin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n-US" dirty="0" smtClean="0">
                    <a:solidFill>
                      <a:schemeClr val="tx1"/>
                    </a:solidFill>
                    <a:latin typeface="Times New Roman" pitchFamily="18" charset="0"/>
                  </a:rPr>
                  <a:t>c) Does the point P(4, 4) lie on the circle? If not, where is the point in relation to the circle? Justify your answer mathematically.</a:t>
                </a:r>
              </a:p>
            </p:txBody>
          </p:sp>
        </mc:Choice>
        <mc:Fallback xmlns="">
          <p:sp>
            <p:nvSpPr>
              <p:cNvPr id="11265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76263" y="890588"/>
                <a:ext cx="8229600" cy="5562748"/>
              </a:xfrm>
              <a:blipFill rotWithShape="1">
                <a:blip r:embed="rId2"/>
                <a:stretch>
                  <a:fillRect l="-667" t="-5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6" name="TextBox 2"/>
          <p:cNvSpPr txBox="1">
            <a:spLocks noChangeArrowheads="1"/>
          </p:cNvSpPr>
          <p:nvPr/>
        </p:nvSpPr>
        <p:spPr bwMode="auto">
          <a:xfrm>
            <a:off x="457200" y="274638"/>
            <a:ext cx="16113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Question 1: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781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265" name="Text Placeholder 1"/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76263" y="890588"/>
                <a:ext cx="8229600" cy="5562748"/>
              </a:xfrm>
            </p:spPr>
            <p:txBody>
              <a:bodyPr>
                <a:normAutofit/>
              </a:bodyPr>
              <a:lstStyle/>
              <a:p>
                <a:pPr marL="0" indent="0">
                  <a:buFont typeface="Arial" pitchFamily="34" charset="0"/>
                  <a:buNone/>
                </a:pPr>
                <a:r>
                  <a:rPr lang="en-US" dirty="0" smtClean="0">
                    <a:solidFill>
                      <a:schemeClr val="tx1"/>
                    </a:solidFill>
                    <a:latin typeface="Times New Roman" pitchFamily="18" charset="0"/>
                  </a:rPr>
                  <a:t>The equation of a circle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+ </m:t>
                    </m:r>
                    <m:sSup>
                      <m:sSupPr>
                        <m:ctrlP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AU" b="0" i="0" smtClean="0">
                        <a:solidFill>
                          <a:schemeClr val="tx1"/>
                        </a:solidFill>
                        <a:latin typeface="Cambria Math"/>
                      </a:rPr>
                      <m:t>25.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  <a:latin typeface="Times New Roman" pitchFamily="18" charset="0"/>
                  </a:rPr>
                  <a:t> </a:t>
                </a:r>
              </a:p>
              <a:p>
                <a:pPr marL="0" indent="0">
                  <a:buFont typeface="Arial" pitchFamily="34" charset="0"/>
                  <a:buNone/>
                </a:pPr>
                <a:r>
                  <a:rPr lang="en-US" dirty="0" smtClean="0">
                    <a:solidFill>
                      <a:schemeClr val="tx1"/>
                    </a:solidFill>
                    <a:latin typeface="Times New Roman" pitchFamily="18" charset="0"/>
                  </a:rPr>
                  <a:t>a) What is the </a:t>
                </a:r>
                <a:r>
                  <a:rPr lang="en-US" dirty="0" err="1" smtClean="0">
                    <a:solidFill>
                      <a:schemeClr val="tx1"/>
                    </a:solidFill>
                    <a:latin typeface="Times New Roman" pitchFamily="18" charset="0"/>
                  </a:rPr>
                  <a:t>centre</a:t>
                </a:r>
                <a:r>
                  <a:rPr lang="en-US" dirty="0" smtClean="0">
                    <a:solidFill>
                      <a:schemeClr val="tx1"/>
                    </a:solidFill>
                    <a:latin typeface="Times New Roman" pitchFamily="18" charset="0"/>
                  </a:rPr>
                  <a:t>?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dirty="0" smtClean="0">
                  <a:solidFill>
                    <a:schemeClr val="tx1"/>
                  </a:solidFill>
                  <a:latin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n-US" dirty="0" smtClean="0">
                  <a:solidFill>
                    <a:schemeClr val="tx1"/>
                  </a:solidFill>
                  <a:latin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n-US" dirty="0" smtClean="0">
                    <a:solidFill>
                      <a:schemeClr val="tx1"/>
                    </a:solidFill>
                    <a:latin typeface="Times New Roman" pitchFamily="18" charset="0"/>
                  </a:rPr>
                  <a:t>b) What is the radius?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dirty="0" smtClean="0">
                  <a:latin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n-US" dirty="0" smtClean="0">
                  <a:latin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n-US" dirty="0">
                  <a:latin typeface="Times New Roman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r>
                  <a:rPr lang="en-US" dirty="0" smtClean="0">
                    <a:solidFill>
                      <a:schemeClr val="tx1"/>
                    </a:solidFill>
                    <a:latin typeface="Times New Roman" pitchFamily="18" charset="0"/>
                  </a:rPr>
                  <a:t>c) Does the point P(3, 4) lie on the circle? If not, where is the point in relation to the circle? Justify your answer mathematically.</a:t>
                </a:r>
              </a:p>
            </p:txBody>
          </p:sp>
        </mc:Choice>
        <mc:Fallback xmlns="">
          <p:sp>
            <p:nvSpPr>
              <p:cNvPr id="11265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76263" y="890588"/>
                <a:ext cx="8229600" cy="5562748"/>
              </a:xfrm>
              <a:blipFill rotWithShape="1">
                <a:blip r:embed="rId2"/>
                <a:stretch>
                  <a:fillRect l="-667" t="-5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6" name="TextBox 2"/>
          <p:cNvSpPr txBox="1">
            <a:spLocks noChangeArrowheads="1"/>
          </p:cNvSpPr>
          <p:nvPr/>
        </p:nvSpPr>
        <p:spPr bwMode="auto">
          <a:xfrm>
            <a:off x="457200" y="274638"/>
            <a:ext cx="16113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Question 2: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00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576263" y="890588"/>
            <a:ext cx="8229600" cy="5562748"/>
          </a:xfrm>
        </p:spPr>
        <p:txBody>
          <a:bodyPr>
            <a:normAutofit/>
          </a:bodyPr>
          <a:lstStyle/>
          <a:p>
            <a:pPr marL="0" indent="0">
              <a:buFont typeface="Arial" pitchFamily="34" charset="0"/>
              <a:buNone/>
            </a:pPr>
            <a:r>
              <a:rPr lang="en-AU" dirty="0" smtClean="0">
                <a:solidFill>
                  <a:schemeClr val="tx1"/>
                </a:solidFill>
                <a:latin typeface="Times New Roman" pitchFamily="18" charset="0"/>
              </a:rPr>
              <a:t>Write the equation of a circle if the centre is C(0, 0) and A(6, -3) is a point on the circle. Justify you’re answer mathematically.</a:t>
            </a:r>
          </a:p>
          <a:p>
            <a:pPr marL="0" indent="0">
              <a:buFont typeface="Arial" pitchFamily="34" charset="0"/>
              <a:buNone/>
            </a:pPr>
            <a:endParaRPr lang="en-AU" dirty="0">
              <a:latin typeface="Times New Roman" pitchFamily="18" charset="0"/>
            </a:endParaRPr>
          </a:p>
          <a:p>
            <a:pPr marL="0" indent="0">
              <a:buFont typeface="Arial" pitchFamily="34" charset="0"/>
              <a:buNone/>
            </a:pPr>
            <a:endParaRPr lang="en-AU" dirty="0" smtClean="0">
              <a:solidFill>
                <a:schemeClr val="tx1"/>
              </a:solidFill>
              <a:latin typeface="Times New Roman" pitchFamily="18" charset="0"/>
            </a:endParaRPr>
          </a:p>
          <a:p>
            <a:pPr marL="0" indent="0">
              <a:buFont typeface="Arial" pitchFamily="34" charset="0"/>
              <a:buNone/>
            </a:pPr>
            <a:endParaRPr lang="en-AU" dirty="0">
              <a:latin typeface="Times New Roman" pitchFamily="18" charset="0"/>
            </a:endParaRPr>
          </a:p>
          <a:p>
            <a:pPr marL="0" indent="0">
              <a:buFont typeface="Arial" pitchFamily="34" charset="0"/>
              <a:buNone/>
            </a:pPr>
            <a:endParaRPr lang="en-AU" dirty="0" smtClean="0">
              <a:solidFill>
                <a:schemeClr val="tx1"/>
              </a:solidFill>
              <a:latin typeface="Times New Roman" pitchFamily="18" charset="0"/>
            </a:endParaRPr>
          </a:p>
          <a:p>
            <a:pPr marL="0" indent="0">
              <a:buFont typeface="Arial" pitchFamily="34" charset="0"/>
              <a:buNone/>
            </a:pPr>
            <a:endParaRPr lang="en-AU" dirty="0">
              <a:latin typeface="Times New Roman" pitchFamily="18" charset="0"/>
            </a:endParaRPr>
          </a:p>
          <a:p>
            <a:pPr marL="0" indent="0">
              <a:buFont typeface="Arial" pitchFamily="34" charset="0"/>
              <a:buNone/>
            </a:pPr>
            <a:endParaRPr lang="en-AU" dirty="0" smtClean="0">
              <a:solidFill>
                <a:schemeClr val="tx1"/>
              </a:solidFill>
              <a:latin typeface="Times New Roman" pitchFamily="18" charset="0"/>
            </a:endParaRPr>
          </a:p>
          <a:p>
            <a:pPr marL="0" indent="0">
              <a:buNone/>
            </a:pPr>
            <a:r>
              <a:rPr lang="en-AU" dirty="0">
                <a:latin typeface="Times New Roman" pitchFamily="18" charset="0"/>
              </a:rPr>
              <a:t>Write the equation of a circle if the centre is C(0, 0) and </a:t>
            </a:r>
            <a:r>
              <a:rPr lang="en-AU" dirty="0" smtClean="0">
                <a:latin typeface="Times New Roman" pitchFamily="18" charset="0"/>
              </a:rPr>
              <a:t>A(5, 12) </a:t>
            </a:r>
            <a:r>
              <a:rPr lang="en-AU" dirty="0">
                <a:latin typeface="Times New Roman" pitchFamily="18" charset="0"/>
              </a:rPr>
              <a:t>is a point on the circle. Justify you’re answer mathematically.</a:t>
            </a:r>
          </a:p>
          <a:p>
            <a:pPr marL="0" indent="0">
              <a:buFont typeface="Arial" pitchFamily="34" charset="0"/>
              <a:buNone/>
            </a:pPr>
            <a:endParaRPr lang="en-US" dirty="0" smtClean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266" name="TextBox 2"/>
          <p:cNvSpPr txBox="1">
            <a:spLocks noChangeArrowheads="1"/>
          </p:cNvSpPr>
          <p:nvPr/>
        </p:nvSpPr>
        <p:spPr bwMode="auto">
          <a:xfrm>
            <a:off x="683568" y="3068960"/>
            <a:ext cx="16113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Question 4: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658686" y="476672"/>
            <a:ext cx="16113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Question 3: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51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304800" y="4724400"/>
            <a:ext cx="6705600" cy="1752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8196" name="WordArt 4"/>
          <p:cNvSpPr>
            <a:spLocks noChangeArrowheads="1" noChangeShapeType="1" noTextEdit="1"/>
          </p:cNvSpPr>
          <p:nvPr/>
        </p:nvSpPr>
        <p:spPr bwMode="auto">
          <a:xfrm>
            <a:off x="228600" y="304800"/>
            <a:ext cx="4848225" cy="6477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MAPPING RULES</a:t>
            </a: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 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28600" y="1524000"/>
            <a:ext cx="80772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We often use a coordinate grid when we work with transformations.  We use a </a:t>
            </a:r>
            <a:r>
              <a:rPr lang="en-US" sz="2400" b="1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mapping rule</a:t>
            </a: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to describe how points and their images are related. </a:t>
            </a:r>
          </a:p>
          <a:p>
            <a:pPr>
              <a:spcBef>
                <a:spcPct val="50000"/>
              </a:spcBef>
            </a:pPr>
            <a:endParaRPr lang="en-US" sz="2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spcBef>
                <a:spcPct val="50000"/>
              </a:spcBef>
            </a:pP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 </a:t>
            </a:r>
            <a:r>
              <a:rPr lang="en-US" sz="2400" b="1" i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mapping rule</a:t>
            </a: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tells you what to do to the coordinates of any point on the figure to determine the coordinates of </a:t>
            </a:r>
            <a:r>
              <a:rPr 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its </a:t>
            </a:r>
            <a:r>
              <a:rPr 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image.</a:t>
            </a: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990600" y="5410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304800" y="4751388"/>
            <a:ext cx="6553200" cy="210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Mapping rule:</a:t>
            </a:r>
          </a:p>
          <a:p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(x, y)   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(</a:t>
            </a:r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 + 5, y - 2)</a:t>
            </a:r>
          </a:p>
          <a:p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It tells you to add 5 to the x-coordinate and to subtract 2 from the y-coordinate.</a:t>
            </a:r>
          </a:p>
          <a:p>
            <a:pPr>
              <a:spcBef>
                <a:spcPct val="50000"/>
              </a:spcBef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6406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576263" y="890588"/>
            <a:ext cx="8229600" cy="989012"/>
          </a:xfrm>
        </p:spPr>
        <p:txBody>
          <a:bodyPr/>
          <a:lstStyle/>
          <a:p>
            <a:pPr marL="0" indent="0">
              <a:buFont typeface="Arial" pitchFamily="34" charset="0"/>
              <a:buNone/>
            </a:pPr>
            <a:r>
              <a:rPr lang="en-US" smtClean="0">
                <a:solidFill>
                  <a:srgbClr val="0000FF"/>
                </a:solidFill>
                <a:latin typeface="Times New Roman" pitchFamily="18" charset="0"/>
              </a:rPr>
              <a:t>A circle may be defined as the set of all points, P, in a plane at a given distance from a fixed point in the plane. The fixed point is the centre of the circle and the fixed distance is the radius.</a:t>
            </a:r>
          </a:p>
        </p:txBody>
      </p:sp>
      <p:sp>
        <p:nvSpPr>
          <p:cNvPr id="11266" name="TextBox 2"/>
          <p:cNvSpPr txBox="1">
            <a:spLocks noChangeArrowheads="1"/>
          </p:cNvSpPr>
          <p:nvPr/>
        </p:nvSpPr>
        <p:spPr bwMode="auto">
          <a:xfrm>
            <a:off x="457200" y="274638"/>
            <a:ext cx="1454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Definition</a:t>
            </a:r>
          </a:p>
        </p:txBody>
      </p: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576263" y="1973263"/>
            <a:ext cx="7661275" cy="1870075"/>
            <a:chOff x="575895" y="1973996"/>
            <a:chExt cx="7662166" cy="1869871"/>
          </a:xfrm>
        </p:grpSpPr>
        <p:sp>
          <p:nvSpPr>
            <p:cNvPr id="11280" name="Text Placeholder 1"/>
            <p:cNvSpPr txBox="1">
              <a:spLocks/>
            </p:cNvSpPr>
            <p:nvPr/>
          </p:nvSpPr>
          <p:spPr bwMode="auto">
            <a:xfrm>
              <a:off x="575895" y="2050199"/>
              <a:ext cx="4851238" cy="1793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20000"/>
                </a:spcBef>
                <a:buFont typeface="Arial" pitchFamily="34" charset="0"/>
                <a:buNone/>
              </a:pPr>
              <a:r>
                <a:rPr lang="en-US" dirty="0">
                  <a:latin typeface="Times New Roman" pitchFamily="18" charset="0"/>
                </a:rPr>
                <a:t>The </a:t>
              </a:r>
              <a:r>
                <a:rPr lang="en-US" i="1" dirty="0">
                  <a:solidFill>
                    <a:srgbClr val="FF0000"/>
                  </a:solidFill>
                  <a:latin typeface="Times New Roman" pitchFamily="18" charset="0"/>
                </a:rPr>
                <a:t>standard circle </a:t>
              </a:r>
              <a:r>
                <a:rPr lang="en-US" dirty="0">
                  <a:latin typeface="Times New Roman" pitchFamily="18" charset="0"/>
                </a:rPr>
                <a:t>has  </a:t>
              </a:r>
              <a:r>
                <a:rPr lang="en-US" i="1" dirty="0">
                  <a:latin typeface="Times New Roman" pitchFamily="18" charset="0"/>
                </a:rPr>
                <a:t>center</a:t>
              </a:r>
              <a:r>
                <a:rPr lang="en-US" dirty="0">
                  <a:latin typeface="Times New Roman" pitchFamily="18" charset="0"/>
                </a:rPr>
                <a:t> at the origin, </a:t>
              </a:r>
              <a:r>
                <a:rPr lang="en-US" dirty="0">
                  <a:solidFill>
                    <a:srgbClr val="0000FF"/>
                  </a:solidFill>
                  <a:latin typeface="Times New Roman" pitchFamily="18" charset="0"/>
                </a:rPr>
                <a:t>(0, 0)</a:t>
              </a:r>
              <a:r>
                <a:rPr lang="en-US" dirty="0">
                  <a:latin typeface="Times New Roman" pitchFamily="18" charset="0"/>
                </a:rPr>
                <a:t> and </a:t>
              </a:r>
              <a:r>
                <a:rPr lang="en-US" i="1" dirty="0">
                  <a:latin typeface="Times New Roman" pitchFamily="18" charset="0"/>
                </a:rPr>
                <a:t>radius</a:t>
              </a:r>
              <a:r>
                <a:rPr lang="en-US" dirty="0">
                  <a:latin typeface="Times New Roman" pitchFamily="18" charset="0"/>
                </a:rPr>
                <a:t>, </a:t>
              </a:r>
              <a:r>
                <a:rPr lang="en-US" i="1" dirty="0">
                  <a:solidFill>
                    <a:srgbClr val="0000FF"/>
                  </a:solidFill>
                  <a:latin typeface="Times New Roman" pitchFamily="18" charset="0"/>
                </a:rPr>
                <a:t>r</a:t>
              </a:r>
              <a:r>
                <a:rPr lang="en-US" dirty="0">
                  <a:latin typeface="Times New Roman" pitchFamily="18" charset="0"/>
                </a:rPr>
                <a:t>. </a:t>
              </a:r>
              <a:r>
                <a:rPr lang="en-US" dirty="0" smtClean="0">
                  <a:latin typeface="Times New Roman" pitchFamily="18" charset="0"/>
                </a:rPr>
                <a:t>Its equation </a:t>
              </a:r>
              <a:r>
                <a:rPr lang="en-US" dirty="0">
                  <a:latin typeface="Times New Roman" pitchFamily="18" charset="0"/>
                </a:rPr>
                <a:t>is of the form</a:t>
              </a:r>
            </a:p>
            <a:p>
              <a:pPr>
                <a:spcBef>
                  <a:spcPct val="20000"/>
                </a:spcBef>
                <a:buFont typeface="Arial" pitchFamily="34" charset="0"/>
                <a:buNone/>
              </a:pPr>
              <a:r>
                <a:rPr lang="en-US" dirty="0">
                  <a:latin typeface="Times New Roman" pitchFamily="18" charset="0"/>
                </a:rPr>
                <a:t>	</a:t>
              </a:r>
              <a:r>
                <a:rPr lang="en-US" sz="2400" i="1" dirty="0" smtClean="0">
                  <a:solidFill>
                    <a:srgbClr val="FF0000"/>
                  </a:solidFill>
                  <a:latin typeface="Times New Roman" pitchFamily="18" charset="0"/>
                </a:rPr>
                <a:t>x</a:t>
              </a:r>
              <a:r>
                <a:rPr lang="en-US" sz="2400" i="1" baseline="30000" dirty="0" smtClean="0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en-US" sz="2400" i="1" dirty="0" smtClean="0">
                  <a:solidFill>
                    <a:srgbClr val="FF0000"/>
                  </a:solidFill>
                  <a:latin typeface="Times New Roman" pitchFamily="18" charset="0"/>
                </a:rPr>
                <a:t>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</a:rPr>
                <a:t>+ y</a:t>
              </a:r>
              <a:r>
                <a:rPr lang="en-US" sz="2400" i="1" baseline="30000" dirty="0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</a:rPr>
                <a:t> = r</a:t>
              </a:r>
              <a:r>
                <a:rPr lang="en-US" sz="2400" i="1" baseline="30000" dirty="0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</a:rPr>
                <a:t> </a:t>
              </a:r>
            </a:p>
          </p:txBody>
        </p:sp>
        <p:grpSp>
          <p:nvGrpSpPr>
            <p:cNvPr id="11281" name="Group 29"/>
            <p:cNvGrpSpPr>
              <a:grpSpLocks/>
            </p:cNvGrpSpPr>
            <p:nvPr/>
          </p:nvGrpSpPr>
          <p:grpSpPr bwMode="auto">
            <a:xfrm>
              <a:off x="6388093" y="1973996"/>
              <a:ext cx="1849968" cy="1869871"/>
              <a:chOff x="6582834" y="1973996"/>
              <a:chExt cx="1849968" cy="1869871"/>
            </a:xfrm>
          </p:grpSpPr>
          <p:grpSp>
            <p:nvGrpSpPr>
              <p:cNvPr id="11282" name="Group 17"/>
              <p:cNvGrpSpPr>
                <a:grpSpLocks/>
              </p:cNvGrpSpPr>
              <p:nvPr/>
            </p:nvGrpSpPr>
            <p:grpSpPr bwMode="auto">
              <a:xfrm>
                <a:off x="6582834" y="2192867"/>
                <a:ext cx="1849968" cy="1651000"/>
                <a:chOff x="6582834" y="2192867"/>
                <a:chExt cx="1849968" cy="1651000"/>
              </a:xfrm>
            </p:grpSpPr>
            <p:grpSp>
              <p:nvGrpSpPr>
                <p:cNvPr id="11284" name="Group 8"/>
                <p:cNvGrpSpPr>
                  <a:grpSpLocks/>
                </p:cNvGrpSpPr>
                <p:nvPr/>
              </p:nvGrpSpPr>
              <p:grpSpPr bwMode="auto">
                <a:xfrm>
                  <a:off x="6582834" y="2192867"/>
                  <a:ext cx="1651000" cy="1651000"/>
                  <a:chOff x="6582834" y="2192867"/>
                  <a:chExt cx="1651000" cy="1651000"/>
                </a:xfrm>
              </p:grpSpPr>
              <p:cxnSp>
                <p:nvCxnSpPr>
                  <p:cNvPr id="7" name="Straight Connector 6"/>
                  <p:cNvCxnSpPr/>
                  <p:nvPr/>
                </p:nvCxnSpPr>
                <p:spPr>
                  <a:xfrm>
                    <a:off x="7408745" y="2193047"/>
                    <a:ext cx="0" cy="165082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Connector 7"/>
                  <p:cNvCxnSpPr/>
                  <p:nvPr/>
                </p:nvCxnSpPr>
                <p:spPr>
                  <a:xfrm rot="16200000">
                    <a:off x="7408745" y="2192861"/>
                    <a:ext cx="0" cy="165119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" name="Oval 9"/>
                <p:cNvSpPr/>
                <p:nvPr/>
              </p:nvSpPr>
              <p:spPr>
                <a:xfrm>
                  <a:off x="6894335" y="2504163"/>
                  <a:ext cx="1028820" cy="1028588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cxnSp>
              <p:nvCxnSpPr>
                <p:cNvPr id="12" name="Straight Connector 11"/>
                <p:cNvCxnSpPr>
                  <a:endCxn id="10" idx="7"/>
                </p:cNvCxnSpPr>
                <p:nvPr/>
              </p:nvCxnSpPr>
              <p:spPr>
                <a:xfrm flipV="1">
                  <a:off x="7408745" y="2654959"/>
                  <a:ext cx="363580" cy="363498"/>
                </a:xfrm>
                <a:prstGeom prst="line">
                  <a:avLst/>
                </a:prstGeom>
                <a:ln>
                  <a:solidFill>
                    <a:srgbClr val="0000FF"/>
                  </a:solidFill>
                  <a:prstDash val="sysDash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287" name="TextBox 12"/>
                <p:cNvSpPr txBox="1">
                  <a:spLocks noChangeArrowheads="1"/>
                </p:cNvSpPr>
                <p:nvPr/>
              </p:nvSpPr>
              <p:spPr bwMode="auto">
                <a:xfrm>
                  <a:off x="7061202" y="3009900"/>
                  <a:ext cx="524933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r>
                    <a:rPr lang="en-US" sz="1000">
                      <a:latin typeface="Times New Roman" pitchFamily="18" charset="0"/>
                      <a:cs typeface="Times New Roman" pitchFamily="18" charset="0"/>
                    </a:rPr>
                    <a:t>(0,0)</a:t>
                  </a:r>
                </a:p>
              </p:txBody>
            </p:sp>
            <p:sp>
              <p:nvSpPr>
                <p:cNvPr id="11288" name="TextBox 13"/>
                <p:cNvSpPr txBox="1">
                  <a:spLocks noChangeArrowheads="1"/>
                </p:cNvSpPr>
                <p:nvPr/>
              </p:nvSpPr>
              <p:spPr bwMode="auto">
                <a:xfrm>
                  <a:off x="7408334" y="2654667"/>
                  <a:ext cx="270934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r>
                    <a:rPr lang="en-US" sz="1000" i="1">
                      <a:latin typeface="Times New Roman" pitchFamily="18" charset="0"/>
                      <a:cs typeface="Times New Roman" pitchFamily="18" charset="0"/>
                    </a:rPr>
                    <a:t>r</a:t>
                  </a:r>
                </a:p>
              </p:txBody>
            </p:sp>
            <p:sp>
              <p:nvSpPr>
                <p:cNvPr id="11289" name="TextBox 15"/>
                <p:cNvSpPr txBox="1">
                  <a:spLocks noChangeArrowheads="1"/>
                </p:cNvSpPr>
                <p:nvPr/>
              </p:nvSpPr>
              <p:spPr bwMode="auto">
                <a:xfrm>
                  <a:off x="8161868" y="2886789"/>
                  <a:ext cx="270934" cy="246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r>
                    <a:rPr lang="en-US" sz="1000" i="1"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</a:p>
              </p:txBody>
            </p:sp>
          </p:grpSp>
          <p:sp>
            <p:nvSpPr>
              <p:cNvPr id="11283" name="TextBox 16"/>
              <p:cNvSpPr txBox="1">
                <a:spLocks noChangeArrowheads="1"/>
              </p:cNvSpPr>
              <p:nvPr/>
            </p:nvSpPr>
            <p:spPr bwMode="auto">
              <a:xfrm>
                <a:off x="7272867" y="1973996"/>
                <a:ext cx="27093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000" i="1">
                    <a:latin typeface="Times New Roman" pitchFamily="18" charset="0"/>
                    <a:cs typeface="Times New Roman" pitchFamily="18" charset="0"/>
                  </a:rPr>
                  <a:t>y</a:t>
                </a:r>
              </a:p>
            </p:txBody>
          </p:sp>
        </p:grpSp>
      </p:grpSp>
      <p:grpSp>
        <p:nvGrpSpPr>
          <p:cNvPr id="32" name="Group 31"/>
          <p:cNvGrpSpPr>
            <a:grpSpLocks/>
          </p:cNvGrpSpPr>
          <p:nvPr/>
        </p:nvGrpSpPr>
        <p:grpSpPr bwMode="auto">
          <a:xfrm>
            <a:off x="576263" y="4016375"/>
            <a:ext cx="7793037" cy="1919288"/>
            <a:chOff x="575894" y="4016064"/>
            <a:chExt cx="7793407" cy="1919075"/>
          </a:xfrm>
        </p:grpSpPr>
        <p:sp>
          <p:nvSpPr>
            <p:cNvPr id="11269" name="Text Placeholder 1"/>
            <p:cNvSpPr txBox="1">
              <a:spLocks/>
            </p:cNvSpPr>
            <p:nvPr/>
          </p:nvSpPr>
          <p:spPr bwMode="auto">
            <a:xfrm>
              <a:off x="575894" y="4258737"/>
              <a:ext cx="4986705" cy="1354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20000"/>
                </a:spcBef>
                <a:buFont typeface="Arial" pitchFamily="34" charset="0"/>
                <a:buNone/>
              </a:pPr>
              <a:r>
                <a:rPr lang="en-US" dirty="0">
                  <a:latin typeface="Times New Roman" pitchFamily="18" charset="0"/>
                </a:rPr>
                <a:t>The </a:t>
              </a:r>
              <a:r>
                <a:rPr lang="en-US" i="1" dirty="0">
                  <a:solidFill>
                    <a:srgbClr val="FF0000"/>
                  </a:solidFill>
                  <a:latin typeface="Times New Roman" pitchFamily="18" charset="0"/>
                </a:rPr>
                <a:t>general circle </a:t>
              </a:r>
              <a:r>
                <a:rPr lang="en-US" dirty="0">
                  <a:latin typeface="Times New Roman" pitchFamily="18" charset="0"/>
                </a:rPr>
                <a:t>has  </a:t>
              </a:r>
              <a:r>
                <a:rPr lang="en-US" i="1" dirty="0">
                  <a:latin typeface="Times New Roman" pitchFamily="18" charset="0"/>
                </a:rPr>
                <a:t>center</a:t>
              </a:r>
              <a:r>
                <a:rPr lang="en-US" dirty="0">
                  <a:latin typeface="Times New Roman" pitchFamily="18" charset="0"/>
                </a:rPr>
                <a:t> at </a:t>
              </a:r>
              <a:r>
                <a:rPr lang="en-US" i="1" dirty="0">
                  <a:solidFill>
                    <a:srgbClr val="0000FF"/>
                  </a:solidFill>
                  <a:latin typeface="Times New Roman" pitchFamily="18" charset="0"/>
                </a:rPr>
                <a:t>(h, k) </a:t>
              </a:r>
              <a:r>
                <a:rPr lang="en-US" dirty="0">
                  <a:latin typeface="Times New Roman" pitchFamily="18" charset="0"/>
                </a:rPr>
                <a:t>and </a:t>
              </a:r>
              <a:r>
                <a:rPr lang="en-US" i="1" dirty="0">
                  <a:latin typeface="Times New Roman" pitchFamily="18" charset="0"/>
                </a:rPr>
                <a:t>radius</a:t>
              </a:r>
              <a:r>
                <a:rPr lang="en-US" dirty="0">
                  <a:latin typeface="Times New Roman" pitchFamily="18" charset="0"/>
                </a:rPr>
                <a:t>, </a:t>
              </a:r>
              <a:r>
                <a:rPr lang="en-US" i="1" dirty="0">
                  <a:solidFill>
                    <a:srgbClr val="0000FF"/>
                  </a:solidFill>
                  <a:latin typeface="Times New Roman" pitchFamily="18" charset="0"/>
                </a:rPr>
                <a:t>r</a:t>
              </a:r>
              <a:r>
                <a:rPr lang="en-US" dirty="0">
                  <a:latin typeface="Times New Roman" pitchFamily="18" charset="0"/>
                </a:rPr>
                <a:t>.</a:t>
              </a:r>
            </a:p>
            <a:p>
              <a:pPr>
                <a:spcBef>
                  <a:spcPct val="20000"/>
                </a:spcBef>
                <a:buFont typeface="Arial" pitchFamily="34" charset="0"/>
                <a:buNone/>
              </a:pPr>
              <a:r>
                <a:rPr lang="en-US" dirty="0" smtClean="0">
                  <a:latin typeface="Times New Roman" pitchFamily="18" charset="0"/>
                </a:rPr>
                <a:t>Its equation </a:t>
              </a:r>
              <a:r>
                <a:rPr lang="en-US" dirty="0">
                  <a:latin typeface="Times New Roman" pitchFamily="18" charset="0"/>
                </a:rPr>
                <a:t>is of the form</a:t>
              </a:r>
            </a:p>
            <a:p>
              <a:pPr>
                <a:spcBef>
                  <a:spcPct val="20000"/>
                </a:spcBef>
                <a:buFont typeface="Arial" pitchFamily="34" charset="0"/>
                <a:buNone/>
              </a:pPr>
              <a:r>
                <a:rPr lang="en-US" dirty="0">
                  <a:latin typeface="Times New Roman" pitchFamily="18" charset="0"/>
                </a:rPr>
                <a:t>	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</a:rPr>
                <a:t>(x – </a:t>
              </a:r>
              <a:r>
                <a:rPr lang="en-US" sz="2400" i="1" dirty="0">
                  <a:solidFill>
                    <a:srgbClr val="0000FF"/>
                  </a:solidFill>
                  <a:latin typeface="Times New Roman" pitchFamily="18" charset="0"/>
                </a:rPr>
                <a:t>h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</a:rPr>
                <a:t>)</a:t>
              </a:r>
              <a:r>
                <a:rPr lang="en-US" sz="2400" i="1" baseline="30000" dirty="0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</a:rPr>
                <a:t> + (y – </a:t>
              </a:r>
              <a:r>
                <a:rPr lang="en-US" sz="2400" i="1" dirty="0">
                  <a:solidFill>
                    <a:srgbClr val="0000FF"/>
                  </a:solidFill>
                  <a:latin typeface="Times New Roman" pitchFamily="18" charset="0"/>
                </a:rPr>
                <a:t>k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</a:rPr>
                <a:t>)</a:t>
              </a:r>
              <a:r>
                <a:rPr lang="en-US" sz="2400" i="1" baseline="30000" dirty="0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</a:rPr>
                <a:t> = </a:t>
              </a:r>
              <a:r>
                <a:rPr lang="en-US" sz="2400" i="1" dirty="0">
                  <a:solidFill>
                    <a:srgbClr val="0000FF"/>
                  </a:solidFill>
                  <a:latin typeface="Times New Roman" pitchFamily="18" charset="0"/>
                </a:rPr>
                <a:t>r</a:t>
              </a:r>
              <a:r>
                <a:rPr lang="en-US" sz="2400" i="1" baseline="30000" dirty="0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</a:rPr>
                <a:t> </a:t>
              </a:r>
            </a:p>
          </p:txBody>
        </p:sp>
        <p:grpSp>
          <p:nvGrpSpPr>
            <p:cNvPr id="11270" name="Group 28"/>
            <p:cNvGrpSpPr>
              <a:grpSpLocks/>
            </p:cNvGrpSpPr>
            <p:nvPr/>
          </p:nvGrpSpPr>
          <p:grpSpPr bwMode="auto">
            <a:xfrm>
              <a:off x="6388093" y="4016064"/>
              <a:ext cx="1981208" cy="1919075"/>
              <a:chOff x="6388093" y="4016064"/>
              <a:chExt cx="1981208" cy="1919075"/>
            </a:xfrm>
          </p:grpSpPr>
          <p:sp>
            <p:nvSpPr>
              <p:cNvPr id="11271" name="TextBox 14"/>
              <p:cNvSpPr txBox="1">
                <a:spLocks noChangeArrowheads="1"/>
              </p:cNvSpPr>
              <p:nvPr/>
            </p:nvSpPr>
            <p:spPr bwMode="auto">
              <a:xfrm>
                <a:off x="6582834" y="4016064"/>
                <a:ext cx="27093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000" i="1">
                    <a:latin typeface="Times New Roman" pitchFamily="18" charset="0"/>
                    <a:cs typeface="Times New Roman" pitchFamily="18" charset="0"/>
                  </a:rPr>
                  <a:t>y</a:t>
                </a:r>
              </a:p>
            </p:txBody>
          </p:sp>
          <p:grpSp>
            <p:nvGrpSpPr>
              <p:cNvPr id="11272" name="Group 27"/>
              <p:cNvGrpSpPr>
                <a:grpSpLocks/>
              </p:cNvGrpSpPr>
              <p:nvPr/>
            </p:nvGrpSpPr>
            <p:grpSpPr bwMode="auto">
              <a:xfrm>
                <a:off x="6388093" y="4284139"/>
                <a:ext cx="1651000" cy="1651000"/>
                <a:chOff x="6388093" y="4284139"/>
                <a:chExt cx="1651000" cy="1651000"/>
              </a:xfrm>
            </p:grpSpPr>
            <p:cxnSp>
              <p:nvCxnSpPr>
                <p:cNvPr id="26" name="Straight Connector 25"/>
                <p:cNvCxnSpPr/>
                <p:nvPr/>
              </p:nvCxnSpPr>
              <p:spPr>
                <a:xfrm>
                  <a:off x="6748387" y="4284322"/>
                  <a:ext cx="0" cy="165081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/>
              </p:nvCxnSpPr>
              <p:spPr>
                <a:xfrm rot="16200000">
                  <a:off x="7213546" y="4842930"/>
                  <a:ext cx="0" cy="16510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Oval 20"/>
              <p:cNvSpPr/>
              <p:nvPr/>
            </p:nvSpPr>
            <p:spPr>
              <a:xfrm>
                <a:off x="6894444" y="4450991"/>
                <a:ext cx="1028749" cy="1028586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cxnSp>
            <p:nvCxnSpPr>
              <p:cNvPr id="22" name="Straight Connector 21"/>
              <p:cNvCxnSpPr>
                <a:endCxn id="21" idx="7"/>
              </p:cNvCxnSpPr>
              <p:nvPr/>
            </p:nvCxnSpPr>
            <p:spPr>
              <a:xfrm flipV="1">
                <a:off x="7408818" y="4601787"/>
                <a:ext cx="363554" cy="363497"/>
              </a:xfrm>
              <a:prstGeom prst="line">
                <a:avLst/>
              </a:prstGeom>
              <a:ln>
                <a:solidFill>
                  <a:srgbClr val="0000FF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75" name="TextBox 22"/>
              <p:cNvSpPr txBox="1">
                <a:spLocks noChangeArrowheads="1"/>
              </p:cNvSpPr>
              <p:nvPr/>
            </p:nvSpPr>
            <p:spPr bwMode="auto">
              <a:xfrm>
                <a:off x="7061202" y="4957233"/>
                <a:ext cx="524933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000" i="1">
                    <a:latin typeface="Times New Roman" pitchFamily="18" charset="0"/>
                    <a:cs typeface="Times New Roman" pitchFamily="18" charset="0"/>
                  </a:rPr>
                  <a:t>(h,k)</a:t>
                </a:r>
              </a:p>
            </p:txBody>
          </p:sp>
          <p:sp>
            <p:nvSpPr>
              <p:cNvPr id="11276" name="TextBox 23"/>
              <p:cNvSpPr txBox="1">
                <a:spLocks noChangeArrowheads="1"/>
              </p:cNvSpPr>
              <p:nvPr/>
            </p:nvSpPr>
            <p:spPr bwMode="auto">
              <a:xfrm>
                <a:off x="7408334" y="4602000"/>
                <a:ext cx="27093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000" i="1">
                    <a:latin typeface="Times New Roman" pitchFamily="18" charset="0"/>
                    <a:cs typeface="Times New Roman" pitchFamily="18" charset="0"/>
                  </a:rPr>
                  <a:t>r</a:t>
                </a:r>
              </a:p>
            </p:txBody>
          </p:sp>
          <p:sp>
            <p:nvSpPr>
              <p:cNvPr id="11277" name="TextBox 24"/>
              <p:cNvSpPr txBox="1">
                <a:spLocks noChangeArrowheads="1"/>
              </p:cNvSpPr>
              <p:nvPr/>
            </p:nvSpPr>
            <p:spPr bwMode="auto">
              <a:xfrm>
                <a:off x="8098367" y="5490289"/>
                <a:ext cx="27093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000" i="1">
                    <a:latin typeface="Times New Roman" pitchFamily="18" charset="0"/>
                    <a:cs typeface="Times New Roman" pitchFamily="18" charset="0"/>
                  </a:rPr>
                  <a:t>x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61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7411" name="WordArt 3"/>
          <p:cNvSpPr>
            <a:spLocks noChangeArrowheads="1" noChangeShapeType="1" noTextEdit="1"/>
          </p:cNvSpPr>
          <p:nvPr/>
        </p:nvSpPr>
        <p:spPr bwMode="auto">
          <a:xfrm>
            <a:off x="228600" y="304800"/>
            <a:ext cx="6096000" cy="6477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MAPPING RULES FOR TRANSLATIONS</a:t>
            </a:r>
          </a:p>
        </p:txBody>
      </p:sp>
      <p:sp>
        <p:nvSpPr>
          <p:cNvPr id="17412" name="Line 4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 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228600" y="1524000"/>
            <a:ext cx="8077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The transformation (x,y)        (x + h, y + k) represents a translation for all values of h and k.</a:t>
            </a:r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3505200" y="1763486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pic>
        <p:nvPicPr>
          <p:cNvPr id="17416" name="Picture 8" descr="Mapping Rule Notes - p415(MOMA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23195">
            <a:off x="3886200" y="2743200"/>
            <a:ext cx="4068763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7" name="AutoShape 9"/>
          <p:cNvSpPr>
            <a:spLocks noChangeArrowheads="1"/>
          </p:cNvSpPr>
          <p:nvPr/>
        </p:nvSpPr>
        <p:spPr bwMode="auto">
          <a:xfrm>
            <a:off x="685800" y="2819400"/>
            <a:ext cx="3124200" cy="2819400"/>
          </a:xfrm>
          <a:prstGeom prst="cloudCallout">
            <a:avLst>
              <a:gd name="adj1" fmla="val -30333"/>
              <a:gd name="adj2" fmla="val 6081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1219200" y="3429000"/>
            <a:ext cx="2438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YOU NEED TO MEMORIZE THE MAPPING RULES!!!!</a:t>
            </a:r>
          </a:p>
        </p:txBody>
      </p:sp>
    </p:spTree>
    <p:extLst>
      <p:ext uri="{BB962C8B-B14F-4D97-AF65-F5344CB8AC3E}">
        <p14:creationId xmlns:p14="http://schemas.microsoft.com/office/powerpoint/2010/main" val="313217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919ED"/>
                </a:solidFill>
              </a:rPr>
              <a:t>Standard form of an equation of a circle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3657600"/>
            <a:ext cx="6934200" cy="190500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   where (h,k) is the center of </a:t>
            </a:r>
            <a:br>
              <a:rPr lang="en-US"/>
            </a:br>
            <a:r>
              <a:rPr lang="en-US"/>
              <a:t>the circle and r is the radius</a:t>
            </a:r>
          </a:p>
        </p:txBody>
      </p:sp>
      <p:graphicFrame>
        <p:nvGraphicFramePr>
          <p:cNvPr id="256004" name="Object 4"/>
          <p:cNvGraphicFramePr>
            <a:graphicFrameLocks noChangeAspect="1"/>
          </p:cNvGraphicFramePr>
          <p:nvPr/>
        </p:nvGraphicFramePr>
        <p:xfrm>
          <a:off x="2057400" y="2133600"/>
          <a:ext cx="41910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3" imgW="1269720" imgH="253800" progId="Equation.DSMT4">
                  <p:embed/>
                </p:oleObj>
              </mc:Choice>
              <mc:Fallback>
                <p:oleObj name="Equation" r:id="rId3" imgW="12697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133600"/>
                        <a:ext cx="41910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0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8487"/>
          </a:xfrm>
        </p:spPr>
        <p:txBody>
          <a:bodyPr/>
          <a:lstStyle/>
          <a:p>
            <a:r>
              <a:rPr lang="en-US">
                <a:solidFill>
                  <a:srgbClr val="1919ED"/>
                </a:solidFill>
              </a:rPr>
              <a:t>Graphing a Circle</a:t>
            </a:r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19200"/>
            <a:ext cx="5029200" cy="42672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   Given the following equation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   Recall the standard form of </a:t>
            </a:r>
            <a:br>
              <a:rPr lang="en-US" sz="2400"/>
            </a:br>
            <a:r>
              <a:rPr lang="en-US" sz="2400"/>
              <a:t>an equation of a circle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  Therefore, h=</a:t>
            </a:r>
            <a:r>
              <a:rPr lang="en-US" sz="2400">
                <a:solidFill>
                  <a:schemeClr val="tx2"/>
                </a:solidFill>
              </a:rPr>
              <a:t>-3</a:t>
            </a:r>
            <a:r>
              <a:rPr lang="en-US" sz="2400"/>
              <a:t>, k=</a:t>
            </a:r>
            <a:r>
              <a:rPr lang="en-US" sz="2400">
                <a:solidFill>
                  <a:schemeClr val="tx2"/>
                </a:solidFill>
              </a:rPr>
              <a:t>5</a:t>
            </a:r>
            <a:r>
              <a:rPr lang="en-US" sz="2400"/>
              <a:t>, and r=</a:t>
            </a:r>
            <a:r>
              <a:rPr lang="en-US" sz="2400">
                <a:solidFill>
                  <a:schemeClr val="tx2"/>
                </a:solidFill>
              </a:rPr>
              <a:t>6</a:t>
            </a:r>
            <a:r>
              <a:rPr lang="en-US" sz="240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  The center of the circle (</a:t>
            </a:r>
            <a:r>
              <a:rPr lang="en-US" sz="2400">
                <a:solidFill>
                  <a:schemeClr val="tx2"/>
                </a:solidFill>
              </a:rPr>
              <a:t>-3,5</a:t>
            </a:r>
            <a:r>
              <a:rPr lang="en-US" sz="2400"/>
              <a:t> 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  with a radius of </a:t>
            </a:r>
            <a:r>
              <a:rPr lang="en-US" sz="2400">
                <a:solidFill>
                  <a:schemeClr val="tx2"/>
                </a:solidFill>
              </a:rPr>
              <a:t>6</a:t>
            </a:r>
            <a:r>
              <a:rPr lang="en-US" sz="2400"/>
              <a:t>.</a:t>
            </a:r>
          </a:p>
        </p:txBody>
      </p:sp>
      <p:graphicFrame>
        <p:nvGraphicFramePr>
          <p:cNvPr id="260100" name="Object 4"/>
          <p:cNvGraphicFramePr>
            <a:graphicFrameLocks noChangeAspect="1"/>
          </p:cNvGraphicFramePr>
          <p:nvPr/>
        </p:nvGraphicFramePr>
        <p:xfrm>
          <a:off x="4876800" y="1066800"/>
          <a:ext cx="3124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3" imgW="1422360" imgH="279360" progId="Equation.DSMT4">
                  <p:embed/>
                </p:oleObj>
              </mc:Choice>
              <mc:Fallback>
                <p:oleObj name="Equation" r:id="rId3" imgW="14223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066800"/>
                        <a:ext cx="3124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1" name="Object 5"/>
          <p:cNvGraphicFramePr>
            <a:graphicFrameLocks noChangeAspect="1"/>
          </p:cNvGraphicFramePr>
          <p:nvPr/>
        </p:nvGraphicFramePr>
        <p:xfrm>
          <a:off x="4800600" y="1905000"/>
          <a:ext cx="35814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5" imgW="1562040" imgH="558720" progId="Equation.DSMT4">
                  <p:embed/>
                </p:oleObj>
              </mc:Choice>
              <mc:Fallback>
                <p:oleObj name="Equation" r:id="rId5" imgW="156204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905000"/>
                        <a:ext cx="35814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4" name="Text Box 8"/>
          <p:cNvSpPr txBox="1">
            <a:spLocks noChangeArrowheads="1"/>
          </p:cNvSpPr>
          <p:nvPr/>
        </p:nvSpPr>
        <p:spPr bwMode="auto">
          <a:xfrm>
            <a:off x="1981200" y="5105400"/>
            <a:ext cx="3657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Comic Sans MS" pitchFamily="66" charset="0"/>
              </a:rPr>
              <a:t>Since the radius = 6, use the center (-3,5) as a reference point and then move 6 points to left, right, up and down.</a:t>
            </a:r>
          </a:p>
        </p:txBody>
      </p:sp>
      <p:pic>
        <p:nvPicPr>
          <p:cNvPr id="260107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53100" y="3771900"/>
            <a:ext cx="2552700" cy="2552700"/>
          </a:xfrm>
          <a:noFill/>
          <a:ln/>
        </p:spPr>
      </p:pic>
      <p:sp>
        <p:nvSpPr>
          <p:cNvPr id="260111" name="Oval 15"/>
          <p:cNvSpPr>
            <a:spLocks noChangeArrowheads="1"/>
          </p:cNvSpPr>
          <p:nvPr/>
        </p:nvSpPr>
        <p:spPr bwMode="auto">
          <a:xfrm flipH="1" flipV="1">
            <a:off x="7010400" y="5029200"/>
            <a:ext cx="26988" cy="2698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72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55638"/>
            <a:ext cx="8229600" cy="544512"/>
          </a:xfrm>
        </p:spPr>
        <p:txBody>
          <a:bodyPr/>
          <a:lstStyle/>
          <a:p>
            <a:r>
              <a:rPr lang="en-US">
                <a:solidFill>
                  <a:srgbClr val="1919ED"/>
                </a:solidFill>
              </a:rPr>
              <a:t>Graph</a:t>
            </a:r>
          </a:p>
        </p:txBody>
      </p:sp>
      <p:graphicFrame>
        <p:nvGraphicFramePr>
          <p:cNvPr id="279555" name="Object 3"/>
          <p:cNvGraphicFramePr>
            <a:graphicFrameLocks noChangeAspect="1"/>
          </p:cNvGraphicFramePr>
          <p:nvPr/>
        </p:nvGraphicFramePr>
        <p:xfrm>
          <a:off x="1941513" y="1981200"/>
          <a:ext cx="44989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3" imgW="1447560" imgH="279360" progId="Equation.DSMT4">
                  <p:embed/>
                </p:oleObj>
              </mc:Choice>
              <mc:Fallback>
                <p:oleObj name="Equation" r:id="rId3" imgW="14475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1981200"/>
                        <a:ext cx="44989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923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3771900" cy="3657600"/>
          </a:xfrm>
        </p:spPr>
        <p:txBody>
          <a:bodyPr/>
          <a:lstStyle/>
          <a:p>
            <a:pPr>
              <a:buFontTx/>
              <a:buNone/>
            </a:pPr>
            <a:r>
              <a:rPr lang="en-US" sz="2800"/>
              <a:t>   </a:t>
            </a:r>
            <a:r>
              <a:rPr lang="en-US" sz="2400"/>
              <a:t>Recall the standard </a:t>
            </a:r>
            <a:br>
              <a:rPr lang="en-US" sz="2400"/>
            </a:br>
            <a:r>
              <a:rPr lang="en-US" sz="2400"/>
              <a:t>form of an equation</a:t>
            </a:r>
            <a:br>
              <a:rPr lang="en-US" sz="2400"/>
            </a:br>
            <a:r>
              <a:rPr lang="en-US" sz="2400"/>
              <a:t>of a circle</a:t>
            </a:r>
          </a:p>
          <a:p>
            <a:pPr>
              <a:buFontTx/>
              <a:buNone/>
            </a:pPr>
            <a:endParaRPr lang="en-US" sz="2400"/>
          </a:p>
          <a:p>
            <a:pPr>
              <a:buFontTx/>
              <a:buNone/>
            </a:pPr>
            <a:r>
              <a:rPr lang="en-US" sz="2400"/>
              <a:t>   Find the center </a:t>
            </a:r>
            <a:r>
              <a:rPr lang="en-US" sz="2400">
                <a:solidFill>
                  <a:srgbClr val="E95BE2"/>
                </a:solidFill>
              </a:rPr>
              <a:t>(4,-3)</a:t>
            </a:r>
          </a:p>
          <a:p>
            <a:pPr>
              <a:buFontTx/>
              <a:buNone/>
            </a:pPr>
            <a:r>
              <a:rPr lang="en-US" sz="2400"/>
              <a:t>   Find the radius  </a:t>
            </a:r>
            <a:r>
              <a:rPr lang="en-US" sz="2400">
                <a:solidFill>
                  <a:srgbClr val="E95BE2"/>
                </a:solidFill>
              </a:rPr>
              <a:t>5</a:t>
            </a:r>
          </a:p>
          <a:p>
            <a:pPr>
              <a:buFontTx/>
              <a:buNone/>
            </a:pPr>
            <a:r>
              <a:rPr lang="en-US" sz="2400"/>
              <a:t>   Then graph</a:t>
            </a:r>
          </a:p>
        </p:txBody>
      </p:sp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2057400" y="381000"/>
          <a:ext cx="4267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3" imgW="1447560" imgH="279360" progId="Equation.DSMT4">
                  <p:embed/>
                </p:oleObj>
              </mc:Choice>
              <mc:Fallback>
                <p:oleObj name="Equation" r:id="rId3" imgW="14475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81000"/>
                        <a:ext cx="4267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5" name="Object 5"/>
          <p:cNvGraphicFramePr>
            <a:graphicFrameLocks noChangeAspect="1"/>
          </p:cNvGraphicFramePr>
          <p:nvPr/>
        </p:nvGraphicFramePr>
        <p:xfrm>
          <a:off x="4159250" y="1600200"/>
          <a:ext cx="414655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5" imgW="1612800" imgH="558720" progId="Equation.DSMT4">
                  <p:embed/>
                </p:oleObj>
              </mc:Choice>
              <mc:Fallback>
                <p:oleObj name="Equation" r:id="rId5" imgW="161280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0" y="1600200"/>
                        <a:ext cx="414655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6" name="Text Box 6"/>
          <p:cNvSpPr txBox="1">
            <a:spLocks noChangeArrowheads="1"/>
          </p:cNvSpPr>
          <p:nvPr/>
        </p:nvSpPr>
        <p:spPr bwMode="auto">
          <a:xfrm>
            <a:off x="1905000" y="4953000"/>
            <a:ext cx="31242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Comic Sans MS" pitchFamily="66" charset="0"/>
              </a:rPr>
              <a:t>Since the radius = </a:t>
            </a:r>
            <a:r>
              <a:rPr lang="en-US" sz="2000">
                <a:solidFill>
                  <a:srgbClr val="E95BE2"/>
                </a:solidFill>
                <a:latin typeface="Comic Sans MS" pitchFamily="66" charset="0"/>
              </a:rPr>
              <a:t>5</a:t>
            </a:r>
            <a:r>
              <a:rPr lang="en-US" sz="2000">
                <a:solidFill>
                  <a:srgbClr val="000000"/>
                </a:solidFill>
                <a:latin typeface="Comic Sans MS" pitchFamily="66" charset="0"/>
              </a:rPr>
              <a:t>, use the center </a:t>
            </a:r>
            <a:r>
              <a:rPr lang="en-US" sz="2000">
                <a:solidFill>
                  <a:srgbClr val="E95BE2"/>
                </a:solidFill>
                <a:latin typeface="Comic Sans MS" pitchFamily="66" charset="0"/>
              </a:rPr>
              <a:t>(4,-3)</a:t>
            </a:r>
            <a:r>
              <a:rPr lang="en-US" sz="2000">
                <a:solidFill>
                  <a:srgbClr val="000000"/>
                </a:solidFill>
                <a:latin typeface="Comic Sans MS" pitchFamily="66" charset="0"/>
              </a:rPr>
              <a:t> as a reference point and then move </a:t>
            </a:r>
            <a:r>
              <a:rPr lang="en-US" sz="2000">
                <a:solidFill>
                  <a:srgbClr val="E95BE2"/>
                </a:solidFill>
                <a:latin typeface="Comic Sans MS" pitchFamily="66" charset="0"/>
              </a:rPr>
              <a:t>5</a:t>
            </a:r>
            <a:r>
              <a:rPr lang="en-US" sz="2000">
                <a:solidFill>
                  <a:srgbClr val="000000"/>
                </a:solidFill>
                <a:latin typeface="Comic Sans MS" pitchFamily="66" charset="0"/>
              </a:rPr>
              <a:t> points to left, right, up and down.</a:t>
            </a:r>
          </a:p>
        </p:txBody>
      </p:sp>
      <p:pic>
        <p:nvPicPr>
          <p:cNvPr id="261127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48300" y="3886200"/>
            <a:ext cx="2552700" cy="2552700"/>
          </a:xfrm>
          <a:noFill/>
          <a:ln/>
        </p:spPr>
      </p:pic>
      <p:sp>
        <p:nvSpPr>
          <p:cNvPr id="261129" name="Oval 9"/>
          <p:cNvSpPr>
            <a:spLocks noChangeArrowheads="1"/>
          </p:cNvSpPr>
          <p:nvPr/>
        </p:nvSpPr>
        <p:spPr bwMode="auto">
          <a:xfrm flipH="1" flipV="1">
            <a:off x="6705600" y="5154613"/>
            <a:ext cx="26988" cy="269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43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55638"/>
            <a:ext cx="8229600" cy="544512"/>
          </a:xfrm>
        </p:spPr>
        <p:txBody>
          <a:bodyPr/>
          <a:lstStyle/>
          <a:p>
            <a:r>
              <a:rPr lang="en-US">
                <a:solidFill>
                  <a:srgbClr val="1919ED"/>
                </a:solidFill>
              </a:rPr>
              <a:t>Graph</a:t>
            </a:r>
          </a:p>
        </p:txBody>
      </p:sp>
      <p:graphicFrame>
        <p:nvGraphicFramePr>
          <p:cNvPr id="262148" name="Object 4"/>
          <p:cNvGraphicFramePr>
            <a:graphicFrameLocks noChangeAspect="1"/>
          </p:cNvGraphicFramePr>
          <p:nvPr/>
        </p:nvGraphicFramePr>
        <p:xfrm>
          <a:off x="1981200" y="1981200"/>
          <a:ext cx="4419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3" imgW="1422360" imgH="279360" progId="Equation.DSMT4">
                  <p:embed/>
                </p:oleObj>
              </mc:Choice>
              <mc:Fallback>
                <p:oleObj name="Equation" r:id="rId3" imgW="14223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981200"/>
                        <a:ext cx="4419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8978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3838" cy="4525963"/>
          </a:xfrm>
        </p:spPr>
        <p:txBody>
          <a:bodyPr/>
          <a:lstStyle/>
          <a:p>
            <a:pPr algn="ctr">
              <a:buFontTx/>
              <a:buNone/>
            </a:pPr>
            <a:endParaRPr lang="en-US" sz="2400"/>
          </a:p>
          <a:p>
            <a:pPr algn="ctr">
              <a:buFontTx/>
              <a:buNone/>
            </a:pPr>
            <a:endParaRPr lang="en-US" sz="2400"/>
          </a:p>
          <a:p>
            <a:pPr algn="ctr">
              <a:buFontTx/>
              <a:buNone/>
            </a:pPr>
            <a:r>
              <a:rPr lang="en-US" sz="2800"/>
              <a:t>Center </a:t>
            </a:r>
            <a:r>
              <a:rPr lang="en-US" sz="2800">
                <a:solidFill>
                  <a:schemeClr val="tx2"/>
                </a:solidFill>
              </a:rPr>
              <a:t>(2,4)</a:t>
            </a:r>
          </a:p>
          <a:p>
            <a:pPr algn="ctr">
              <a:buFontTx/>
              <a:buNone/>
            </a:pPr>
            <a:r>
              <a:rPr lang="en-US" sz="2800"/>
              <a:t>Radius </a:t>
            </a:r>
            <a:r>
              <a:rPr lang="en-US" sz="2800">
                <a:solidFill>
                  <a:schemeClr val="tx2"/>
                </a:solidFill>
              </a:rPr>
              <a:t>4</a:t>
            </a:r>
          </a:p>
          <a:p>
            <a:pPr>
              <a:buFontTx/>
              <a:buNone/>
            </a:pPr>
            <a:endParaRPr lang="en-US" sz="2400"/>
          </a:p>
        </p:txBody>
      </p:sp>
      <p:graphicFrame>
        <p:nvGraphicFramePr>
          <p:cNvPr id="266244" name="Object 4"/>
          <p:cNvGraphicFramePr>
            <a:graphicFrameLocks noChangeAspect="1"/>
          </p:cNvGraphicFramePr>
          <p:nvPr/>
        </p:nvGraphicFramePr>
        <p:xfrm>
          <a:off x="2133600" y="457200"/>
          <a:ext cx="44196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3" imgW="1422360" imgH="558720" progId="Equation.DSMT4">
                  <p:embed/>
                </p:oleObj>
              </mc:Choice>
              <mc:Fallback>
                <p:oleObj name="Equation" r:id="rId3" imgW="142236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57200"/>
                        <a:ext cx="44196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5" name="Text Box 5"/>
          <p:cNvSpPr txBox="1">
            <a:spLocks noChangeArrowheads="1"/>
          </p:cNvSpPr>
          <p:nvPr/>
        </p:nvSpPr>
        <p:spPr bwMode="auto">
          <a:xfrm>
            <a:off x="914400" y="4038600"/>
            <a:ext cx="365760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Comic Sans MS" pitchFamily="66" charset="0"/>
              </a:rPr>
              <a:t>Since the radius = 4, use the center (2,4) as a reference point and then move 4 points to left, right, up and down.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Comic Sans MS" pitchFamily="66" charset="0"/>
            </a:endParaRPr>
          </a:p>
        </p:txBody>
      </p:sp>
      <p:pic>
        <p:nvPicPr>
          <p:cNvPr id="266246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2100" y="3390900"/>
            <a:ext cx="2552700" cy="2552700"/>
          </a:xfrm>
          <a:noFill/>
          <a:ln/>
        </p:spPr>
      </p:pic>
      <p:sp>
        <p:nvSpPr>
          <p:cNvPr id="266249" name="Oval 9"/>
          <p:cNvSpPr>
            <a:spLocks noChangeArrowheads="1"/>
          </p:cNvSpPr>
          <p:nvPr/>
        </p:nvSpPr>
        <p:spPr bwMode="auto">
          <a:xfrm flipH="1" flipV="1">
            <a:off x="6678613" y="4621213"/>
            <a:ext cx="26987" cy="269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93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55638"/>
            <a:ext cx="8229600" cy="544512"/>
          </a:xfrm>
        </p:spPr>
        <p:txBody>
          <a:bodyPr/>
          <a:lstStyle/>
          <a:p>
            <a:r>
              <a:rPr lang="en-US">
                <a:solidFill>
                  <a:srgbClr val="1919ED"/>
                </a:solidFill>
              </a:rPr>
              <a:t>Graph</a:t>
            </a:r>
          </a:p>
        </p:txBody>
      </p:sp>
      <p:graphicFrame>
        <p:nvGraphicFramePr>
          <p:cNvPr id="263171" name="Object 3"/>
          <p:cNvGraphicFramePr>
            <a:graphicFrameLocks noChangeAspect="1"/>
          </p:cNvGraphicFramePr>
          <p:nvPr/>
        </p:nvGraphicFramePr>
        <p:xfrm>
          <a:off x="1962150" y="1981200"/>
          <a:ext cx="44592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3" imgW="1434960" imgH="279360" progId="Equation.DSMT4">
                  <p:embed/>
                </p:oleObj>
              </mc:Choice>
              <mc:Fallback>
                <p:oleObj name="Equation" r:id="rId3" imgW="14349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1981200"/>
                        <a:ext cx="445928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4449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3838" cy="4525963"/>
          </a:xfrm>
        </p:spPr>
        <p:txBody>
          <a:bodyPr/>
          <a:lstStyle/>
          <a:p>
            <a:pPr algn="ctr">
              <a:buFontTx/>
              <a:buNone/>
            </a:pPr>
            <a:endParaRPr lang="en-US" sz="2400"/>
          </a:p>
          <a:p>
            <a:pPr algn="ctr">
              <a:buFontTx/>
              <a:buNone/>
            </a:pPr>
            <a:endParaRPr lang="en-US" sz="2400"/>
          </a:p>
          <a:p>
            <a:pPr algn="ctr">
              <a:buFontTx/>
              <a:buNone/>
            </a:pPr>
            <a:r>
              <a:rPr lang="en-US" sz="2800"/>
              <a:t>Center </a:t>
            </a:r>
            <a:r>
              <a:rPr lang="en-US" sz="2800">
                <a:solidFill>
                  <a:schemeClr val="tx2"/>
                </a:solidFill>
              </a:rPr>
              <a:t>(-3,7)</a:t>
            </a:r>
          </a:p>
          <a:p>
            <a:pPr algn="ctr">
              <a:buFontTx/>
              <a:buNone/>
            </a:pPr>
            <a:r>
              <a:rPr lang="en-US" sz="2800"/>
              <a:t>Radius </a:t>
            </a:r>
            <a:r>
              <a:rPr lang="en-US" sz="2800">
                <a:solidFill>
                  <a:schemeClr val="tx2"/>
                </a:solidFill>
              </a:rPr>
              <a:t>7</a:t>
            </a:r>
          </a:p>
          <a:p>
            <a:pPr>
              <a:buFontTx/>
              <a:buNone/>
            </a:pPr>
            <a:endParaRPr lang="en-US" sz="2800"/>
          </a:p>
        </p:txBody>
      </p:sp>
      <p:graphicFrame>
        <p:nvGraphicFramePr>
          <p:cNvPr id="267267" name="Object 3"/>
          <p:cNvGraphicFramePr>
            <a:graphicFrameLocks noChangeAspect="1"/>
          </p:cNvGraphicFramePr>
          <p:nvPr/>
        </p:nvGraphicFramePr>
        <p:xfrm>
          <a:off x="1878013" y="381000"/>
          <a:ext cx="4932362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3" imgW="1587240" imgH="583920" progId="Equation.DSMT4">
                  <p:embed/>
                </p:oleObj>
              </mc:Choice>
              <mc:Fallback>
                <p:oleObj name="Equation" r:id="rId3" imgW="158724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013" y="381000"/>
                        <a:ext cx="4932362" cy="207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68" name="Text Box 4"/>
          <p:cNvSpPr txBox="1">
            <a:spLocks noChangeArrowheads="1"/>
          </p:cNvSpPr>
          <p:nvPr/>
        </p:nvSpPr>
        <p:spPr bwMode="auto">
          <a:xfrm>
            <a:off x="914400" y="3962400"/>
            <a:ext cx="35814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Comic Sans MS" pitchFamily="66" charset="0"/>
              </a:rPr>
              <a:t>Since the radius = 7, use the center (-3,7) as a reference point and then move 7 points to left, right, up and down.</a:t>
            </a:r>
          </a:p>
        </p:txBody>
      </p:sp>
      <p:pic>
        <p:nvPicPr>
          <p:cNvPr id="267269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95900" y="3162300"/>
            <a:ext cx="2552700" cy="2552700"/>
          </a:xfrm>
          <a:noFill/>
          <a:ln/>
        </p:spPr>
      </p:pic>
      <p:sp>
        <p:nvSpPr>
          <p:cNvPr id="267272" name="Oval 8"/>
          <p:cNvSpPr>
            <a:spLocks noChangeArrowheads="1"/>
          </p:cNvSpPr>
          <p:nvPr/>
        </p:nvSpPr>
        <p:spPr bwMode="auto">
          <a:xfrm flipH="1" flipV="1">
            <a:off x="6602413" y="4392613"/>
            <a:ext cx="26987" cy="269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3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55638"/>
            <a:ext cx="8229600" cy="544512"/>
          </a:xfrm>
        </p:spPr>
        <p:txBody>
          <a:bodyPr/>
          <a:lstStyle/>
          <a:p>
            <a:r>
              <a:rPr lang="en-US">
                <a:solidFill>
                  <a:srgbClr val="1919ED"/>
                </a:solidFill>
              </a:rPr>
              <a:t>Graph</a:t>
            </a:r>
          </a:p>
        </p:txBody>
      </p:sp>
      <p:graphicFrame>
        <p:nvGraphicFramePr>
          <p:cNvPr id="264195" name="Object 3"/>
          <p:cNvGraphicFramePr>
            <a:graphicFrameLocks noChangeAspect="1"/>
          </p:cNvGraphicFramePr>
          <p:nvPr/>
        </p:nvGraphicFramePr>
        <p:xfrm>
          <a:off x="2079625" y="1981200"/>
          <a:ext cx="42227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3" imgW="1358640" imgH="279360" progId="Equation.DSMT4">
                  <p:embed/>
                </p:oleObj>
              </mc:Choice>
              <mc:Fallback>
                <p:oleObj name="Equation" r:id="rId3" imgW="13586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1981200"/>
                        <a:ext cx="42227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1431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732088"/>
            <a:ext cx="4033838" cy="339407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2800"/>
              <a:t>Center </a:t>
            </a:r>
            <a:r>
              <a:rPr lang="en-US" sz="2800">
                <a:solidFill>
                  <a:schemeClr val="tx2"/>
                </a:solidFill>
              </a:rPr>
              <a:t>(5,-4)</a:t>
            </a:r>
          </a:p>
          <a:p>
            <a:pPr algn="ctr">
              <a:buFontTx/>
              <a:buNone/>
            </a:pPr>
            <a:r>
              <a:rPr lang="en-US" sz="2800"/>
              <a:t>Radius </a:t>
            </a:r>
            <a:r>
              <a:rPr lang="en-US" sz="2800">
                <a:solidFill>
                  <a:schemeClr val="tx2"/>
                </a:solidFill>
              </a:rPr>
              <a:t>2</a:t>
            </a:r>
          </a:p>
          <a:p>
            <a:pPr>
              <a:buFontTx/>
              <a:buNone/>
            </a:pPr>
            <a:endParaRPr lang="en-US" sz="2800"/>
          </a:p>
        </p:txBody>
      </p:sp>
      <p:graphicFrame>
        <p:nvGraphicFramePr>
          <p:cNvPr id="268291" name="Object 3"/>
          <p:cNvGraphicFramePr>
            <a:graphicFrameLocks noChangeAspect="1"/>
          </p:cNvGraphicFramePr>
          <p:nvPr/>
        </p:nvGraphicFramePr>
        <p:xfrm>
          <a:off x="1878013" y="381000"/>
          <a:ext cx="4932362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3" imgW="1587240" imgH="583920" progId="Equation.DSMT4">
                  <p:embed/>
                </p:oleObj>
              </mc:Choice>
              <mc:Fallback>
                <p:oleObj name="Equation" r:id="rId3" imgW="158724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013" y="381000"/>
                        <a:ext cx="4932362" cy="207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2" name="Text Box 4"/>
          <p:cNvSpPr txBox="1">
            <a:spLocks noChangeArrowheads="1"/>
          </p:cNvSpPr>
          <p:nvPr/>
        </p:nvSpPr>
        <p:spPr bwMode="auto">
          <a:xfrm>
            <a:off x="914400" y="3962400"/>
            <a:ext cx="3733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Comic Sans MS" pitchFamily="66" charset="0"/>
              </a:rPr>
              <a:t>Since the radius = 2, use the center (5,-4) as a reference point and then move 2 points to left, right, up and down.</a:t>
            </a:r>
          </a:p>
        </p:txBody>
      </p:sp>
      <p:pic>
        <p:nvPicPr>
          <p:cNvPr id="268293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2100" y="3276600"/>
            <a:ext cx="2552700" cy="2552700"/>
          </a:xfrm>
          <a:noFill/>
          <a:ln/>
        </p:spPr>
      </p:pic>
      <p:sp>
        <p:nvSpPr>
          <p:cNvPr id="268296" name="Oval 8"/>
          <p:cNvSpPr>
            <a:spLocks noChangeArrowheads="1"/>
          </p:cNvSpPr>
          <p:nvPr/>
        </p:nvSpPr>
        <p:spPr bwMode="auto">
          <a:xfrm flipH="1" flipV="1">
            <a:off x="6705600" y="4468813"/>
            <a:ext cx="26988" cy="269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55638"/>
            <a:ext cx="8229600" cy="544512"/>
          </a:xfrm>
        </p:spPr>
        <p:txBody>
          <a:bodyPr/>
          <a:lstStyle/>
          <a:p>
            <a:r>
              <a:rPr lang="en-US">
                <a:solidFill>
                  <a:srgbClr val="1919ED"/>
                </a:solidFill>
              </a:rPr>
              <a:t>Graph</a:t>
            </a:r>
          </a:p>
        </p:txBody>
      </p:sp>
      <p:graphicFrame>
        <p:nvGraphicFramePr>
          <p:cNvPr id="265219" name="Object 3"/>
          <p:cNvGraphicFramePr>
            <a:graphicFrameLocks noChangeAspect="1"/>
          </p:cNvGraphicFramePr>
          <p:nvPr/>
        </p:nvGraphicFramePr>
        <p:xfrm>
          <a:off x="1981200" y="1981200"/>
          <a:ext cx="4419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3" imgW="1422360" imgH="279360" progId="Equation.DSMT4">
                  <p:embed/>
                </p:oleObj>
              </mc:Choice>
              <mc:Fallback>
                <p:oleObj name="Equation" r:id="rId3" imgW="14223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981200"/>
                        <a:ext cx="4419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0455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732088"/>
            <a:ext cx="4033838" cy="3300412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2800"/>
              <a:t>Center </a:t>
            </a:r>
            <a:r>
              <a:rPr lang="en-US" sz="2800">
                <a:solidFill>
                  <a:schemeClr val="tx2"/>
                </a:solidFill>
              </a:rPr>
              <a:t>(-9,-7)</a:t>
            </a:r>
          </a:p>
          <a:p>
            <a:pPr algn="ctr">
              <a:buFontTx/>
              <a:buNone/>
            </a:pPr>
            <a:r>
              <a:rPr lang="en-US" sz="2800"/>
              <a:t>Radius </a:t>
            </a:r>
            <a:r>
              <a:rPr lang="en-US" sz="2800">
                <a:solidFill>
                  <a:schemeClr val="tx2"/>
                </a:solidFill>
              </a:rPr>
              <a:t>9</a:t>
            </a:r>
          </a:p>
          <a:p>
            <a:pPr>
              <a:buFontTx/>
              <a:buNone/>
            </a:pPr>
            <a:endParaRPr lang="en-US" sz="2800"/>
          </a:p>
        </p:txBody>
      </p:sp>
      <p:graphicFrame>
        <p:nvGraphicFramePr>
          <p:cNvPr id="269315" name="Object 3"/>
          <p:cNvGraphicFramePr>
            <a:graphicFrameLocks noChangeAspect="1"/>
          </p:cNvGraphicFramePr>
          <p:nvPr/>
        </p:nvGraphicFramePr>
        <p:xfrm>
          <a:off x="1581150" y="381000"/>
          <a:ext cx="5524500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3" imgW="1777680" imgH="583920" progId="Equation.DSMT4">
                  <p:embed/>
                </p:oleObj>
              </mc:Choice>
              <mc:Fallback>
                <p:oleObj name="Equation" r:id="rId3" imgW="177768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150" y="381000"/>
                        <a:ext cx="5524500" cy="207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6" name="Text Box 4"/>
          <p:cNvSpPr txBox="1">
            <a:spLocks noChangeArrowheads="1"/>
          </p:cNvSpPr>
          <p:nvPr/>
        </p:nvSpPr>
        <p:spPr bwMode="auto">
          <a:xfrm>
            <a:off x="914400" y="3962400"/>
            <a:ext cx="3733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Comic Sans MS" pitchFamily="66" charset="0"/>
              </a:rPr>
              <a:t>Since the radius = 9, use the center (-9,-7) as a reference point and then move 9 points to left, right, up and down.</a:t>
            </a:r>
          </a:p>
        </p:txBody>
      </p:sp>
      <p:pic>
        <p:nvPicPr>
          <p:cNvPr id="269317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2100" y="3314700"/>
            <a:ext cx="2552700" cy="2552700"/>
          </a:xfrm>
          <a:noFill/>
          <a:ln/>
        </p:spPr>
      </p:pic>
      <p:sp>
        <p:nvSpPr>
          <p:cNvPr id="269320" name="Oval 8"/>
          <p:cNvSpPr>
            <a:spLocks noChangeArrowheads="1"/>
          </p:cNvSpPr>
          <p:nvPr/>
        </p:nvSpPr>
        <p:spPr bwMode="auto">
          <a:xfrm flipH="1" flipV="1">
            <a:off x="6553200" y="4545013"/>
            <a:ext cx="26988" cy="269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63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55638"/>
            <a:ext cx="8229600" cy="544512"/>
          </a:xfrm>
        </p:spPr>
        <p:txBody>
          <a:bodyPr/>
          <a:lstStyle/>
          <a:p>
            <a:r>
              <a:rPr lang="en-US">
                <a:solidFill>
                  <a:srgbClr val="1919ED"/>
                </a:solidFill>
              </a:rPr>
              <a:t>Graph</a:t>
            </a:r>
          </a:p>
        </p:txBody>
      </p:sp>
      <p:graphicFrame>
        <p:nvGraphicFramePr>
          <p:cNvPr id="272387" name="Object 3"/>
          <p:cNvGraphicFramePr>
            <a:graphicFrameLocks noChangeAspect="1"/>
          </p:cNvGraphicFramePr>
          <p:nvPr/>
        </p:nvGraphicFramePr>
        <p:xfrm>
          <a:off x="2119313" y="1981200"/>
          <a:ext cx="41433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3" imgW="1333440" imgH="279360" progId="Equation.DSMT4">
                  <p:embed/>
                </p:oleObj>
              </mc:Choice>
              <mc:Fallback>
                <p:oleObj name="Equation" r:id="rId3" imgW="13334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1981200"/>
                        <a:ext cx="41433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2791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3505200"/>
            <a:ext cx="3771900" cy="9906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2400"/>
              <a:t>Center </a:t>
            </a:r>
            <a:r>
              <a:rPr lang="en-US" sz="2400">
                <a:solidFill>
                  <a:schemeClr val="tx2"/>
                </a:solidFill>
              </a:rPr>
              <a:t>(-5,0)</a:t>
            </a:r>
          </a:p>
          <a:p>
            <a:pPr algn="ctr">
              <a:buFontTx/>
              <a:buNone/>
            </a:pPr>
            <a:r>
              <a:rPr lang="en-US" sz="2400"/>
              <a:t>Radius </a:t>
            </a:r>
            <a:r>
              <a:rPr lang="en-US" sz="2400">
                <a:solidFill>
                  <a:schemeClr val="tx2"/>
                </a:solidFill>
              </a:rPr>
              <a:t>10</a:t>
            </a:r>
          </a:p>
          <a:p>
            <a:pPr>
              <a:buFontTx/>
              <a:buNone/>
            </a:pPr>
            <a:endParaRPr lang="en-US" sz="2400"/>
          </a:p>
        </p:txBody>
      </p:sp>
      <p:graphicFrame>
        <p:nvGraphicFramePr>
          <p:cNvPr id="273411" name="Object 3"/>
          <p:cNvGraphicFramePr>
            <a:graphicFrameLocks noChangeAspect="1"/>
          </p:cNvGraphicFramePr>
          <p:nvPr/>
        </p:nvGraphicFramePr>
        <p:xfrm>
          <a:off x="2209800" y="228600"/>
          <a:ext cx="4419600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3" imgW="1650960" imgH="1320480" progId="Equation.DSMT4">
                  <p:embed/>
                </p:oleObj>
              </mc:Choice>
              <mc:Fallback>
                <p:oleObj name="Equation" r:id="rId3" imgW="1650960" imgH="1320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8600"/>
                        <a:ext cx="4419600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12" name="Text Box 4"/>
          <p:cNvSpPr txBox="1">
            <a:spLocks noChangeArrowheads="1"/>
          </p:cNvSpPr>
          <p:nvPr/>
        </p:nvSpPr>
        <p:spPr bwMode="auto">
          <a:xfrm>
            <a:off x="685800" y="4419600"/>
            <a:ext cx="37338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Comic Sans MS" pitchFamily="66" charset="0"/>
              </a:rPr>
              <a:t>Since the radius = 10, use the center (-5,0) as a reference point and then move 10 points</a:t>
            </a:r>
            <a:br>
              <a:rPr lang="en-US" sz="2000">
                <a:solidFill>
                  <a:srgbClr val="000000"/>
                </a:solidFill>
                <a:latin typeface="Comic Sans MS" pitchFamily="66" charset="0"/>
              </a:rPr>
            </a:br>
            <a:r>
              <a:rPr lang="en-US" sz="2000">
                <a:solidFill>
                  <a:srgbClr val="000000"/>
                </a:solidFill>
                <a:latin typeface="Comic Sans MS" pitchFamily="66" charset="0"/>
              </a:rPr>
              <a:t>                   to left, right, up</a:t>
            </a:r>
            <a:br>
              <a:rPr lang="en-US" sz="2000">
                <a:solidFill>
                  <a:srgbClr val="000000"/>
                </a:solidFill>
                <a:latin typeface="Comic Sans MS" pitchFamily="66" charset="0"/>
              </a:rPr>
            </a:br>
            <a:r>
              <a:rPr lang="en-US" sz="2000">
                <a:solidFill>
                  <a:srgbClr val="000000"/>
                </a:solidFill>
                <a:latin typeface="Comic Sans MS" pitchFamily="66" charset="0"/>
              </a:rPr>
              <a:t>                   and down.</a:t>
            </a:r>
          </a:p>
        </p:txBody>
      </p:sp>
      <p:pic>
        <p:nvPicPr>
          <p:cNvPr id="273413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3733800"/>
            <a:ext cx="2590800" cy="2552700"/>
          </a:xfrm>
          <a:noFill/>
          <a:ln/>
        </p:spPr>
      </p:pic>
      <p:sp>
        <p:nvSpPr>
          <p:cNvPr id="273416" name="Oval 8"/>
          <p:cNvSpPr>
            <a:spLocks noChangeArrowheads="1"/>
          </p:cNvSpPr>
          <p:nvPr/>
        </p:nvSpPr>
        <p:spPr bwMode="auto">
          <a:xfrm flipH="1" flipV="1">
            <a:off x="6400800" y="5002213"/>
            <a:ext cx="26988" cy="269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66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057400"/>
            <a:ext cx="6870700" cy="2590800"/>
          </a:xfrm>
        </p:spPr>
        <p:txBody>
          <a:bodyPr/>
          <a:lstStyle/>
          <a:p>
            <a:r>
              <a:rPr lang="en-US" sz="6000">
                <a:solidFill>
                  <a:schemeClr val="hlink"/>
                </a:solidFill>
              </a:rPr>
              <a:t>Congratulations!!</a:t>
            </a:r>
            <a:r>
              <a:rPr lang="en-US" sz="5400"/>
              <a:t/>
            </a:r>
            <a:br>
              <a:rPr lang="en-US" sz="5400"/>
            </a:br>
            <a:r>
              <a:rPr lang="en-US"/>
              <a:t>You just completed </a:t>
            </a:r>
            <a:r>
              <a:rPr lang="en-US" sz="5400"/>
              <a:t>Graphing Circles</a:t>
            </a:r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63770988"/>
      </p:ext>
    </p:ext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4" grpId="0" autoUpdateAnimBg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956</Words>
  <Application>Microsoft Office PowerPoint</Application>
  <PresentationFormat>On-screen Show (4:3)</PresentationFormat>
  <Paragraphs>134</Paragraphs>
  <Slides>25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1_Office Theme</vt:lpstr>
      <vt:lpstr>Default Design</vt:lpstr>
      <vt:lpstr>Equation</vt:lpstr>
      <vt:lpstr>PowerPoint Presentation</vt:lpstr>
      <vt:lpstr>PowerPoint Presentation</vt:lpstr>
      <vt:lpstr>Unit Circle equation </vt:lpstr>
      <vt:lpstr> </vt:lpstr>
      <vt:lpstr>PowerPoint Presentation</vt:lpstr>
      <vt:lpstr>PowerPoint Presentation</vt:lpstr>
      <vt:lpstr>PowerPoint Presentation</vt:lpstr>
      <vt:lpstr> </vt:lpstr>
      <vt:lpstr>PowerPoint Presentation</vt:lpstr>
      <vt:lpstr> </vt:lpstr>
      <vt:lpstr>Standard form of an equation of a circle</vt:lpstr>
      <vt:lpstr>Graphing a Circle</vt:lpstr>
      <vt:lpstr>Graph</vt:lpstr>
      <vt:lpstr>PowerPoint Presentation</vt:lpstr>
      <vt:lpstr>Graph</vt:lpstr>
      <vt:lpstr>PowerPoint Presentation</vt:lpstr>
      <vt:lpstr>Graph</vt:lpstr>
      <vt:lpstr>PowerPoint Presentation</vt:lpstr>
      <vt:lpstr>Graph</vt:lpstr>
      <vt:lpstr>PowerPoint Presentation</vt:lpstr>
      <vt:lpstr>Graph</vt:lpstr>
      <vt:lpstr>PowerPoint Presentation</vt:lpstr>
      <vt:lpstr>Graph</vt:lpstr>
      <vt:lpstr>PowerPoint Presentation</vt:lpstr>
      <vt:lpstr>Congratulations!! You just completed Graphing Circles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and Perpendicular Lines</dc:title>
  <dc:creator>ben</dc:creator>
  <cp:lastModifiedBy>FRASER-JONES Laura</cp:lastModifiedBy>
  <cp:revision>22</cp:revision>
  <dcterms:created xsi:type="dcterms:W3CDTF">2012-01-16T18:48:20Z</dcterms:created>
  <dcterms:modified xsi:type="dcterms:W3CDTF">2016-10-19T23:53:11Z</dcterms:modified>
</cp:coreProperties>
</file>
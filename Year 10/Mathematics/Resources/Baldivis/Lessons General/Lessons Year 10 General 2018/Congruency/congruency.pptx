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11/22/18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Congruency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Triangles and similarities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65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Topic: Congruency in Triangles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Triangles are made of three angles, and three sides. 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Triangles can be classified into three types: Scalene, Isosceles and Equilateral. </a:t>
            </a:r>
          </a:p>
          <a:p>
            <a:pPr lvl="1"/>
            <a:r>
              <a:rPr lang="en-AU" dirty="0" smtClean="0"/>
              <a:t>A scalene triangle has all three sides and angles different. </a:t>
            </a:r>
          </a:p>
          <a:p>
            <a:pPr lvl="1"/>
            <a:r>
              <a:rPr lang="en-AU" dirty="0" smtClean="0"/>
              <a:t>An Isosceles triangle has two sides of the same length and two angles that are the same</a:t>
            </a:r>
          </a:p>
          <a:p>
            <a:pPr lvl="1"/>
            <a:r>
              <a:rPr lang="en-AU" dirty="0" smtClean="0"/>
              <a:t>An Equilateral triangle has all sides and angles the same. </a:t>
            </a:r>
            <a:endParaRPr lang="en-AU" dirty="0"/>
          </a:p>
          <a:p>
            <a:pPr>
              <a:buFont typeface="Arial" charset="0"/>
              <a:buChar char="•"/>
            </a:pPr>
            <a:r>
              <a:rPr lang="en-AU" dirty="0" smtClean="0"/>
              <a:t>The word Congruent means </a:t>
            </a:r>
            <a:r>
              <a:rPr lang="en-AU" i="1" dirty="0" smtClean="0"/>
              <a:t>“in identical forms; Coinciding when super imposed”</a:t>
            </a:r>
          </a:p>
          <a:p>
            <a:pPr>
              <a:buFont typeface="Arial" charset="0"/>
              <a:buChar char="•"/>
            </a:pPr>
            <a:r>
              <a:rPr lang="en-AU" i="1" dirty="0" smtClean="0"/>
              <a:t> </a:t>
            </a:r>
            <a:r>
              <a:rPr lang="en-AU" dirty="0" smtClean="0"/>
              <a:t>This means that you could increase or decrease either triangle and they would </a:t>
            </a:r>
            <a:r>
              <a:rPr lang="en-AU" dirty="0" smtClean="0"/>
              <a:t>match </a:t>
            </a:r>
            <a:r>
              <a:rPr lang="en-AU" dirty="0" smtClean="0"/>
              <a:t>up exactly. 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can we determine congruency </a:t>
            </a:r>
            <a:r>
              <a:rPr lang="en-AU" smtClean="0"/>
              <a:t>in triangles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0" y="5312954"/>
            <a:ext cx="3987800" cy="136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2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997" y="2286000"/>
            <a:ext cx="8339204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When looking at two triangles, we need to see if the triangles share the same </a:t>
            </a:r>
            <a:r>
              <a:rPr lang="en-AU" dirty="0" smtClean="0"/>
              <a:t>features</a:t>
            </a:r>
            <a:r>
              <a:rPr lang="en-AU" dirty="0"/>
              <a:t> </a:t>
            </a:r>
            <a:r>
              <a:rPr lang="en-AU" dirty="0" smtClean="0"/>
              <a:t>– angle size, side length and shape type (a square is not congruent with triangle, even if they both have a right angle)</a:t>
            </a:r>
            <a:endParaRPr lang="en-AU" dirty="0" smtClean="0"/>
          </a:p>
          <a:p>
            <a:pPr>
              <a:buFont typeface="Arial" charset="0"/>
              <a:buChar char="•"/>
            </a:pPr>
            <a:endParaRPr lang="en-AU" dirty="0" smtClean="0"/>
          </a:p>
          <a:p>
            <a:pPr>
              <a:buFont typeface="Arial" charset="0"/>
              <a:buChar char="•"/>
            </a:pPr>
            <a:endParaRPr lang="en-AU" dirty="0" smtClean="0"/>
          </a:p>
          <a:p>
            <a:pPr>
              <a:buFont typeface="Arial" charset="0"/>
              <a:buChar char="•"/>
            </a:pP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can we determine congruency </a:t>
            </a:r>
            <a:r>
              <a:rPr lang="en-AU" smtClean="0"/>
              <a:t>in triangles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948" y="3228018"/>
            <a:ext cx="7611252" cy="36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3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432" y="2831746"/>
            <a:ext cx="7039768" cy="4022725"/>
          </a:xfr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can we determine congruency </a:t>
            </a:r>
            <a:r>
              <a:rPr lang="en-AU" smtClean="0"/>
              <a:t>in triangles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29821" y="2185415"/>
            <a:ext cx="979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looking for congruency in triangles, there are tests we can perform to find out if the triangle is congruent to another or not. The four of them are;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3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can we determine congruency </a:t>
            </a:r>
            <a:r>
              <a:rPr lang="en-AU" smtClean="0"/>
              <a:t>in triangles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9341" y="2222805"/>
            <a:ext cx="252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EXAMPLE CONGRUENCY</a:t>
            </a:r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341" y="2642430"/>
            <a:ext cx="7370113" cy="40798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340" y="5135671"/>
            <a:ext cx="7370113" cy="152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6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can we determine congruency </a:t>
            </a:r>
            <a:r>
              <a:rPr lang="en-AU" smtClean="0"/>
              <a:t>in triangles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14" y="2286001"/>
            <a:ext cx="7480300" cy="2667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65429" y="5053585"/>
                <a:ext cx="259127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 smtClean="0"/>
                  <a:t>A 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 smtClean="0"/>
                  <a:t>C are Right angles [R]</a:t>
                </a:r>
              </a:p>
              <a:p>
                <a:r>
                  <a:rPr lang="en-AU" dirty="0" smtClean="0"/>
                  <a:t>Side BD is common [H]</a:t>
                </a:r>
              </a:p>
              <a:p>
                <a:r>
                  <a:rPr lang="en-AU" dirty="0" smtClean="0"/>
                  <a:t>Side AB and Side CD are the same [S]</a:t>
                </a: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 smtClean="0">
                        <a:latin typeface="Cambria Math" charset="0"/>
                      </a:rPr>
                      <m:t>𝐴𝐵𝐷</m:t>
                    </m:r>
                    <m:r>
                      <a:rPr lang="en-AU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𝐵𝐶𝐷</m:t>
                    </m:r>
                    <m:r>
                      <a:rPr lang="en-AU" i="1" dirty="0" smtClean="0">
                        <a:latin typeface="Cambria Math" charset="0"/>
                      </a:rPr>
                      <m:t> </m:t>
                    </m:r>
                    <m:r>
                      <a:rPr lang="en-AU" b="0" i="1" dirty="0" smtClean="0">
                        <a:latin typeface="Cambria Math" charset="0"/>
                      </a:rPr>
                      <m:t>[</m:t>
                    </m:r>
                    <m:r>
                      <a:rPr lang="en-AU" i="1" dirty="0" smtClean="0">
                        <a:latin typeface="Cambria Math" charset="0"/>
                      </a:rPr>
                      <m:t>𝑅𝐻𝑆</m:t>
                    </m:r>
                    <m:r>
                      <a:rPr lang="en-AU" b="0" i="1" dirty="0" smtClean="0">
                        <a:latin typeface="Cambria Math" charset="0"/>
                      </a:rPr>
                      <m:t>]</m:t>
                    </m:r>
                  </m:oMath>
                </a14:m>
                <a:endParaRPr lang="en-AU" dirty="0" smtClean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429" y="5053585"/>
                <a:ext cx="2591272" cy="1754326"/>
              </a:xfrm>
              <a:prstGeom prst="rect">
                <a:avLst/>
              </a:prstGeom>
              <a:blipFill rotWithShape="0">
                <a:blip r:embed="rId3"/>
                <a:stretch>
                  <a:fillRect l="-1882" t="-1736" r="-1176" b="-24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055929" y="5061641"/>
                <a:ext cx="25635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AC is common [S]</a:t>
                </a:r>
                <a:endParaRPr lang="en-AU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is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shared</m:t>
                    </m:r>
                  </m:oMath>
                </a14:m>
                <a:r>
                  <a:rPr lang="en-AU" b="0" dirty="0" smtClean="0">
                    <a:ea typeface="Cambria Math" charset="0"/>
                    <a:cs typeface="Cambria Math" charset="0"/>
                  </a:rPr>
                  <a:t> [A]</a:t>
                </a:r>
              </a:p>
              <a:p>
                <a:r>
                  <a:rPr lang="en-AU" dirty="0" smtClean="0"/>
                  <a:t>Side AB and side AD [S]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>
                        <a:latin typeface="Cambria Math" charset="0"/>
                      </a:rPr>
                      <m:t>𝐴𝐵</m:t>
                    </m:r>
                    <m:r>
                      <a:rPr lang="en-AU" b="0" i="1" dirty="0" smtClean="0">
                        <a:latin typeface="Cambria Math" charset="0"/>
                      </a:rPr>
                      <m:t>𝐶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𝐴𝐷𝐶</m:t>
                    </m:r>
                    <m:r>
                      <a:rPr lang="en-AU" i="1" dirty="0">
                        <a:latin typeface="Cambria Math" charset="0"/>
                      </a:rPr>
                      <m:t> [</m:t>
                    </m:r>
                    <m:r>
                      <a:rPr lang="en-AU" b="0" i="1" dirty="0" smtClean="0">
                        <a:latin typeface="Cambria Math" charset="0"/>
                      </a:rPr>
                      <m:t>𝑆𝐴𝑆</m:t>
                    </m:r>
                    <m:r>
                      <a:rPr lang="en-AU" i="1" dirty="0">
                        <a:latin typeface="Cambria Math" charset="0"/>
                      </a:rPr>
                      <m:t>]</m:t>
                    </m:r>
                  </m:oMath>
                </a14:m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929" y="5061641"/>
                <a:ext cx="2563586" cy="1477328"/>
              </a:xfrm>
              <a:prstGeom prst="rect">
                <a:avLst/>
              </a:prstGeom>
              <a:blipFill rotWithShape="0">
                <a:blip r:embed="rId4"/>
                <a:stretch>
                  <a:fillRect l="-1900" t="-5350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138010" y="4806044"/>
                <a:ext cx="372413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is</m:t>
                    </m:r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shared</m:t>
                    </m:r>
                  </m:oMath>
                </a14:m>
                <a:r>
                  <a:rPr lang="en-AU" dirty="0" smtClean="0"/>
                  <a:t> [A]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D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and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 smtClean="0"/>
                  <a:t>B are the same [A]</a:t>
                </a:r>
              </a:p>
              <a:p>
                <a:r>
                  <a:rPr lang="en-AU" dirty="0" smtClean="0"/>
                  <a:t>Side AC is common [S]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>
                        <a:latin typeface="Cambria Math" charset="0"/>
                      </a:rPr>
                      <m:t>𝐴𝐵</m:t>
                    </m:r>
                    <m:r>
                      <a:rPr lang="en-AU" i="1" dirty="0">
                        <a:latin typeface="Cambria Math" charset="0"/>
                      </a:rPr>
                      <m:t>𝐶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𝐴𝐷𝐶</m:t>
                    </m:r>
                    <m:r>
                      <a:rPr lang="en-AU" i="1" dirty="0">
                        <a:latin typeface="Cambria Math" charset="0"/>
                      </a:rPr>
                      <m:t> [</m:t>
                    </m:r>
                    <m:r>
                      <a:rPr lang="en-AU" b="0" i="1" dirty="0" smtClean="0">
                        <a:latin typeface="Cambria Math" charset="0"/>
                      </a:rPr>
                      <m:t>𝐴</m:t>
                    </m:r>
                    <m:r>
                      <a:rPr lang="en-AU" i="1" dirty="0">
                        <a:latin typeface="Cambria Math" charset="0"/>
                      </a:rPr>
                      <m:t>𝐴𝑆</m:t>
                    </m:r>
                    <m:r>
                      <a:rPr lang="en-AU" i="1" dirty="0">
                        <a:latin typeface="Cambria Math" charset="0"/>
                      </a:rPr>
                      <m:t>]</m:t>
                    </m:r>
                  </m:oMath>
                </a14:m>
                <a:endParaRPr lang="en-AU" dirty="0"/>
              </a:p>
              <a:p>
                <a:r>
                  <a:rPr lang="en-AU" dirty="0" smtClean="0"/>
                  <a:t>NOTE: If a triangle has two of the same angles, the  third angle will also be the same. </a:t>
                </a:r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10" y="4806044"/>
                <a:ext cx="3724138" cy="2585323"/>
              </a:xfrm>
              <a:prstGeom prst="rect">
                <a:avLst/>
              </a:prstGeom>
              <a:blipFill rotWithShape="0">
                <a:blip r:embed="rId5"/>
                <a:stretch>
                  <a:fillRect l="-1473" t="-136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7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67</TotalTime>
  <Words>370</Words>
  <Application>Microsoft Macintosh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Cambria Math</vt:lpstr>
      <vt:lpstr>Tw Cen MT</vt:lpstr>
      <vt:lpstr>Tw Cen MT Condensed</vt:lpstr>
      <vt:lpstr>Wingdings 3</vt:lpstr>
      <vt:lpstr>Arial</vt:lpstr>
      <vt:lpstr>Integral</vt:lpstr>
      <vt:lpstr>Congruency</vt:lpstr>
      <vt:lpstr>Topic: Congruency in Triangles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Proofs</dc:title>
  <dc:creator>POWER Travis [Baldivis Secondary College]</dc:creator>
  <cp:lastModifiedBy>POWER Travis [Baldivis Secondary College]</cp:lastModifiedBy>
  <cp:revision>6</cp:revision>
  <dcterms:created xsi:type="dcterms:W3CDTF">2018-11-21T06:14:16Z</dcterms:created>
  <dcterms:modified xsi:type="dcterms:W3CDTF">2018-11-22T02:29:10Z</dcterms:modified>
</cp:coreProperties>
</file>
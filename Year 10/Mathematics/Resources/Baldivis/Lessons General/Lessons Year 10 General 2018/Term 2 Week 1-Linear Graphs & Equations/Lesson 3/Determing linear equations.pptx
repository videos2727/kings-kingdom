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89" r:id="rId2"/>
    <p:sldId id="288" r:id="rId3"/>
    <p:sldId id="292" r:id="rId4"/>
    <p:sldId id="257" r:id="rId5"/>
    <p:sldId id="290" r:id="rId6"/>
    <p:sldId id="291" r:id="rId7"/>
    <p:sldId id="294" r:id="rId8"/>
    <p:sldId id="295" r:id="rId9"/>
    <p:sldId id="3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4C31D131-00CF-4CF7-B2FA-31764DDADFD1}"/>
    <pc:docChg chg="modSld">
      <pc:chgData name="Sarah James" userId="e5e3e68366f0feb3" providerId="LiveId" clId="{4C31D131-00CF-4CF7-B2FA-31764DDADFD1}" dt="2018-04-24T06:10:17.709" v="19"/>
      <pc:docMkLst>
        <pc:docMk/>
      </pc:docMkLst>
      <pc:sldChg chg="modAnim">
        <pc:chgData name="Sarah James" userId="e5e3e68366f0feb3" providerId="LiveId" clId="{4C31D131-00CF-4CF7-B2FA-31764DDADFD1}" dt="2018-04-24T06:09:28.095" v="7"/>
        <pc:sldMkLst>
          <pc:docMk/>
          <pc:sldMk cId="3829465617" sldId="257"/>
        </pc:sldMkLst>
      </pc:sldChg>
      <pc:sldChg chg="modSp modAnim">
        <pc:chgData name="Sarah James" userId="e5e3e68366f0feb3" providerId="LiveId" clId="{4C31D131-00CF-4CF7-B2FA-31764DDADFD1}" dt="2018-04-24T06:09:07.033" v="5"/>
        <pc:sldMkLst>
          <pc:docMk/>
          <pc:sldMk cId="136082148" sldId="288"/>
        </pc:sldMkLst>
        <pc:spChg chg="mod">
          <ac:chgData name="Sarah James" userId="e5e3e68366f0feb3" providerId="LiveId" clId="{4C31D131-00CF-4CF7-B2FA-31764DDADFD1}" dt="2018-04-24T06:08:42.682" v="3" actId="20577"/>
          <ac:spMkLst>
            <pc:docMk/>
            <pc:sldMk cId="136082148" sldId="288"/>
            <ac:spMk id="15371" creationId="{19AB3100-DA34-49A7-BED1-80F1353AB7A7}"/>
          </ac:spMkLst>
        </pc:spChg>
      </pc:sldChg>
      <pc:sldChg chg="modAnim">
        <pc:chgData name="Sarah James" userId="e5e3e68366f0feb3" providerId="LiveId" clId="{4C31D131-00CF-4CF7-B2FA-31764DDADFD1}" dt="2018-04-24T06:09:43.213" v="11"/>
        <pc:sldMkLst>
          <pc:docMk/>
          <pc:sldMk cId="3209984161" sldId="290"/>
        </pc:sldMkLst>
      </pc:sldChg>
      <pc:sldChg chg="modAnim">
        <pc:chgData name="Sarah James" userId="e5e3e68366f0feb3" providerId="LiveId" clId="{4C31D131-00CF-4CF7-B2FA-31764DDADFD1}" dt="2018-04-24T06:09:51.733" v="13"/>
        <pc:sldMkLst>
          <pc:docMk/>
          <pc:sldMk cId="2309815804" sldId="291"/>
        </pc:sldMkLst>
      </pc:sldChg>
      <pc:sldChg chg="modAnim">
        <pc:chgData name="Sarah James" userId="e5e3e68366f0feb3" providerId="LiveId" clId="{4C31D131-00CF-4CF7-B2FA-31764DDADFD1}" dt="2018-04-24T06:10:05.125" v="16"/>
        <pc:sldMkLst>
          <pc:docMk/>
          <pc:sldMk cId="452736427" sldId="294"/>
        </pc:sldMkLst>
      </pc:sldChg>
      <pc:sldChg chg="modAnim">
        <pc:chgData name="Sarah James" userId="e5e3e68366f0feb3" providerId="LiveId" clId="{4C31D131-00CF-4CF7-B2FA-31764DDADFD1}" dt="2018-04-24T06:10:17.709" v="19"/>
        <pc:sldMkLst>
          <pc:docMk/>
          <pc:sldMk cId="1732969547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635B7-4548-491B-BA2A-F000FEB869B8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423F2-E735-46DD-81CD-0853D028A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675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61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2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79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411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05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286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30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563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52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23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252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884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63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248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1966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809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6919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197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42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72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74DC3-3E58-4A53-9C72-3E9305849205}" type="datetimeFigureOut">
              <a:rPr lang="en-AU" smtClean="0"/>
              <a:t>24/04/2018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68DE7C-AF68-4ABA-B611-B1D3E8BDB9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1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459533"/>
            <a:ext cx="7766936" cy="164630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Linear relationships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05835"/>
            <a:ext cx="67675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equation of a linear graph?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64658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equation of a linear graph?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6011" y="2466975"/>
                <a:ext cx="7140081" cy="20621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 equation of a straight line can be determined if you are given: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 • two points through which the line passes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• the gradient of the line and one other point through which the line passes.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 gradient of a straight line can be calculated from the coordinates of two points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600" dirty="0"/>
                  <a:t>) and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) which lie on the line.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6011" y="2466975"/>
                <a:ext cx="7140081" cy="2062103"/>
              </a:xfrm>
              <a:prstGeom prst="rect">
                <a:avLst/>
              </a:prstGeom>
              <a:blipFill>
                <a:blip r:embed="rId3"/>
                <a:stretch>
                  <a:fillRect l="-427" t="-8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DCCDD5C-0D46-479E-B273-3129EFD18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20" y="4371975"/>
            <a:ext cx="2667000" cy="5524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06565B-E3D2-47E9-8447-AEBB5F714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620" y="4371975"/>
            <a:ext cx="3100699" cy="24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64658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equation of a linear graph?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6011" y="2466975"/>
                <a:ext cx="7140081" cy="2185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The equation of the straight line can then be found in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</a:rPr>
                      <m:t>form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600" dirty="0"/>
                  <a:t>where c is the y-intercept.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Once the gradient has been found, substitute one pair of known x- and y-values into the standard linear equation y = mx + c to determine the value of c.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/>
                  <a:t>If the y-intercept has already been given, then this is the value of c and no further calculation is required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5371" name="Text Box 11">
                <a:extLst>
                  <a:ext uri="{FF2B5EF4-FFF2-40B4-BE49-F238E27FC236}">
                    <a16:creationId xmlns:a16="http://schemas.microsoft.com/office/drawing/2014/main" id="{19AB3100-DA34-49A7-BED1-80F1353AB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6011" y="2466975"/>
                <a:ext cx="7140081" cy="2185214"/>
              </a:xfrm>
              <a:prstGeom prst="rect">
                <a:avLst/>
              </a:prstGeom>
              <a:blipFill>
                <a:blip r:embed="rId3"/>
                <a:stretch>
                  <a:fillRect l="-427" t="-838" r="-85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C06565B-E3D2-47E9-8447-AEBB5F714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4223" y="4287522"/>
            <a:ext cx="3100699" cy="247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8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together. Complete this in your Interactive notebook</a:t>
            </a: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0A8DE8-E48C-4565-B7FF-AFB250B2F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60" y="1340098"/>
            <a:ext cx="5095875" cy="240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692B6D-5391-476A-ADEF-412946329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35" y="3429000"/>
            <a:ext cx="5597401" cy="324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84213"/>
            <a:ext cx="8719709" cy="1096900"/>
          </a:xfrm>
        </p:spPr>
        <p:txBody>
          <a:bodyPr/>
          <a:lstStyle/>
          <a:p>
            <a:pPr algn="l"/>
            <a:r>
              <a:rPr lang="en-US" sz="3600" dirty="0"/>
              <a:t>Example 2: This is where you will need to work independently. GIVE YOUR 100%</a:t>
            </a:r>
            <a:endParaRPr lang="en-AU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84E84-3634-4454-9FA2-5AD05AC35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7" y="1484312"/>
            <a:ext cx="4886325" cy="638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1137BA-D846-403B-84AA-D4375BDB0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882" y="1554161"/>
            <a:ext cx="2400300" cy="1543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CBCB11-36C0-46C6-9FF2-D2859EE33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3097211"/>
            <a:ext cx="6203632" cy="375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9210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3: We will do this together. Complete this in your Interactive notebook</a:t>
            </a:r>
            <a:endParaRPr lang="en-AU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230AE-9315-4F13-BA0E-CA26894A8CBD}"/>
              </a:ext>
            </a:extLst>
          </p:cNvPr>
          <p:cNvSpPr/>
          <p:nvPr/>
        </p:nvSpPr>
        <p:spPr>
          <a:xfrm>
            <a:off x="150560" y="1340099"/>
            <a:ext cx="9298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equation of the straight line passing through (-2, 5) and (1, -1).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EDE549-D1BB-4092-9642-C8F7C198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" y="1900237"/>
            <a:ext cx="82200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1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8233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4: We will do this together. Complete this in your Interactive notebook</a:t>
            </a:r>
          </a:p>
          <a:p>
            <a:endParaRPr lang="en-AU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230AE-9315-4F13-BA0E-CA26894A8CBD}"/>
              </a:ext>
            </a:extLst>
          </p:cNvPr>
          <p:cNvSpPr/>
          <p:nvPr/>
        </p:nvSpPr>
        <p:spPr>
          <a:xfrm>
            <a:off x="0" y="1386648"/>
            <a:ext cx="92982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Sometimes you can find  the equation of a straight line using the gradient and another point. This is called the point–gradient method.</a:t>
            </a:r>
            <a:endParaRPr lang="en-AU" sz="1600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ACA796-A33D-47B4-8A84-CB32C82A7D81}"/>
              </a:ext>
            </a:extLst>
          </p:cNvPr>
          <p:cNvSpPr/>
          <p:nvPr/>
        </p:nvSpPr>
        <p:spPr>
          <a:xfrm>
            <a:off x="150560" y="2115680"/>
            <a:ext cx="86753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equation of the straight line with gradient of 2 and y-intercept of -5.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8A83C-E1C7-4B41-8132-12B3BC9D2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47" y="2760027"/>
            <a:ext cx="637222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DAD084-640C-454F-94F1-8E3339B8EDE5}"/>
              </a:ext>
            </a:extLst>
          </p:cNvPr>
          <p:cNvSpPr txBox="1">
            <a:spLocks/>
          </p:cNvSpPr>
          <p:nvPr/>
        </p:nvSpPr>
        <p:spPr>
          <a:xfrm>
            <a:off x="150560" y="419072"/>
            <a:ext cx="8764840" cy="8233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/>
              <a:t>Example 5: We will do this together. Complete this in your Interactive notebook</a:t>
            </a:r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4230AE-9315-4F13-BA0E-CA26894A8CBD}"/>
                  </a:ext>
                </a:extLst>
              </p:cNvPr>
              <p:cNvSpPr/>
              <p:nvPr/>
            </p:nvSpPr>
            <p:spPr>
              <a:xfrm>
                <a:off x="0" y="1386648"/>
                <a:ext cx="929824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sz="1600" dirty="0">
                    <a:solidFill>
                      <a:srgbClr val="FF0000"/>
                    </a:solidFill>
                  </a:rPr>
                  <a:t>Sometimes the gradient and another point which is not the y-intercept is given. The value of c can then be found by substituting the coordinates of this point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𝑖𝑛𝑡𝑜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1600" b="1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B4230AE-9315-4F13-BA0E-CA26894A8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86648"/>
                <a:ext cx="9298240" cy="584775"/>
              </a:xfrm>
              <a:prstGeom prst="rect">
                <a:avLst/>
              </a:prstGeom>
              <a:blipFill>
                <a:blip r:embed="rId2"/>
                <a:stretch>
                  <a:fillRect l="-328" t="-4167" r="-262" b="-114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1ACA796-A33D-47B4-8A84-CB32C82A7D81}"/>
              </a:ext>
            </a:extLst>
          </p:cNvPr>
          <p:cNvSpPr/>
          <p:nvPr/>
        </p:nvSpPr>
        <p:spPr>
          <a:xfrm>
            <a:off x="150560" y="2115680"/>
            <a:ext cx="9768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equation of the straight line passing through the point (5, -1) with a gradient of 3.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57F2D-49FC-474D-86BF-559D13916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92" y="2891472"/>
            <a:ext cx="795337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6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1364-E5E1-485F-BFB1-46666CF9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to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123A-6D89-47FF-AE67-0D2BBA526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7789"/>
            <a:ext cx="9043708" cy="2478776"/>
          </a:xfrm>
        </p:spPr>
        <p:txBody>
          <a:bodyPr>
            <a:normAutofit/>
          </a:bodyPr>
          <a:lstStyle/>
          <a:p>
            <a:r>
              <a:rPr lang="en-US" dirty="0"/>
              <a:t>Complete the following worksheets:</a:t>
            </a:r>
          </a:p>
          <a:p>
            <a:pPr lvl="1"/>
            <a:r>
              <a:rPr lang="en-US" dirty="0"/>
              <a:t>Determining linear equations Worksheet 1(easiest)</a:t>
            </a:r>
          </a:p>
          <a:p>
            <a:pPr lvl="1"/>
            <a:r>
              <a:rPr lang="en-US" dirty="0"/>
              <a:t>Linear equations Worksheet 2(moderate)</a:t>
            </a:r>
          </a:p>
          <a:p>
            <a:pPr lvl="1"/>
            <a:r>
              <a:rPr lang="en-US" dirty="0"/>
              <a:t>More complex linear equations Worksheet 3(challenging)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/>
                </a:solidFill>
              </a:rPr>
              <a:t>These worksheets will be on CONNECT along with this PowerPoint to support your revision and study of this topic.</a:t>
            </a:r>
          </a:p>
          <a:p>
            <a:pPr lvl="1"/>
            <a:endParaRPr lang="en-US" dirty="0"/>
          </a:p>
          <a:p>
            <a:pPr lvl="1"/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281C6B-06A0-450C-82E2-AA433FAD6458}"/>
              </a:ext>
            </a:extLst>
          </p:cNvPr>
          <p:cNvSpPr txBox="1">
            <a:spLocks/>
          </p:cNvSpPr>
          <p:nvPr/>
        </p:nvSpPr>
        <p:spPr>
          <a:xfrm>
            <a:off x="1124374" y="390435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Homework/Revision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F4DC49-305E-4851-A40C-52C5C3D29094}"/>
              </a:ext>
            </a:extLst>
          </p:cNvPr>
          <p:cNvSpPr txBox="1">
            <a:spLocks/>
          </p:cNvSpPr>
          <p:nvPr/>
        </p:nvSpPr>
        <p:spPr>
          <a:xfrm>
            <a:off x="900853" y="4564755"/>
            <a:ext cx="7646799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Continue to work through the worksheets above</a:t>
            </a:r>
          </a:p>
          <a:p>
            <a:pPr lvl="1"/>
            <a:r>
              <a:rPr lang="en-US" dirty="0"/>
              <a:t>Write your summary of this topic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53696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482</Words>
  <Application>Microsoft Office PowerPoint</Application>
  <PresentationFormat>Widescreen</PresentationFormat>
  <Paragraphs>52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 Math</vt:lpstr>
      <vt:lpstr>DJB Fancy Nancy</vt:lpstr>
      <vt:lpstr>Kiwi School Handwriting</vt:lpstr>
      <vt:lpstr>Trebuchet MS</vt:lpstr>
      <vt:lpstr>Wingdings 3</vt:lpstr>
      <vt:lpstr>Facet</vt:lpstr>
      <vt:lpstr>Linear relationships</vt:lpstr>
      <vt:lpstr>PowerPoint Presentation</vt:lpstr>
      <vt:lpstr>PowerPoint Presentation</vt:lpstr>
      <vt:lpstr>Example 1: We will do this together. Complete this in your Interactive notebook</vt:lpstr>
      <vt:lpstr>Example 2: This is where you will need to work independently. GIVE YOUR 100%</vt:lpstr>
      <vt:lpstr>PowerPoint Presentation</vt:lpstr>
      <vt:lpstr>PowerPoint Presentation</vt:lpstr>
      <vt:lpstr>PowerPoint Presentation</vt:lpstr>
      <vt:lpstr>Your turn to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relationships</dc:title>
  <dc:creator>Sarah James</dc:creator>
  <cp:lastModifiedBy>Sarah James</cp:lastModifiedBy>
  <cp:revision>4</cp:revision>
  <dcterms:created xsi:type="dcterms:W3CDTF">2018-04-24T05:29:29Z</dcterms:created>
  <dcterms:modified xsi:type="dcterms:W3CDTF">2018-04-24T06:10:20Z</dcterms:modified>
</cp:coreProperties>
</file>
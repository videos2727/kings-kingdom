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1"/>
  </p:notesMasterIdLst>
  <p:sldIdLst>
    <p:sldId id="339" r:id="rId3"/>
    <p:sldId id="332" r:id="rId4"/>
    <p:sldId id="340" r:id="rId5"/>
    <p:sldId id="341" r:id="rId6"/>
    <p:sldId id="342" r:id="rId7"/>
    <p:sldId id="292" r:id="rId8"/>
    <p:sldId id="343" r:id="rId9"/>
    <p:sldId id="291" r:id="rId10"/>
  </p:sldIdLst>
  <p:sldSz cx="9144000" cy="6858000" type="screen4x3"/>
  <p:notesSz cx="6794500" cy="9931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35" autoAdjust="0"/>
    <p:restoredTop sz="92895" autoAdjust="0"/>
  </p:normalViewPr>
  <p:slideViewPr>
    <p:cSldViewPr>
      <p:cViewPr>
        <p:scale>
          <a:sx n="75" d="100"/>
          <a:sy n="75" d="100"/>
        </p:scale>
        <p:origin x="-672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21/02/2016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17415"/>
            <a:ext cx="5435600" cy="446913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645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21/02/2016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21/02/2016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21/02/2016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21/02/2016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21/02/2016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21/02/2016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F74863-6DAE-461C-AB23-A6CDF103F09C}" type="datetimeFigureOut">
              <a:rPr lang="en-AU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21/02/2016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2E15B9-5984-43CB-B7B3-916FEC0E062C}" type="slidenum">
              <a:rPr lang="en-AU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36040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6A27A1-8593-4C00-BB99-6B94DDCFF150}" type="datetimeFigureOut">
              <a:rPr lang="en-AU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21/02/2016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8834B2-9493-4851-977E-CA25020BA5DD}" type="slidenum">
              <a:rPr lang="en-AU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87390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632A39-50C3-4DBB-B813-33961D892BA0}" type="datetimeFigureOut">
              <a:rPr lang="en-AU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21/02/2016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EC0400-F13C-4988-AD0D-32896843F201}" type="slidenum">
              <a:rPr lang="en-AU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74079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4D25BB-A85F-4818-9EB6-216092EF29B9}" type="datetimeFigureOut">
              <a:rPr lang="en-AU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21/02/2016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4DEF2-78E3-4950-A1CF-E1D9A8437A12}" type="slidenum">
              <a:rPr lang="en-AU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69698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69C872-70D3-4D9B-AAD0-09994CC76EDA}" type="datetimeFigureOut">
              <a:rPr lang="en-AU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21/02/2016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743C65-9323-4C05-83AF-7487F94E544A}" type="slidenum">
              <a:rPr lang="en-AU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16143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8E90CE-C75B-42C5-860D-11A9409C13E2}" type="datetimeFigureOut">
              <a:rPr lang="en-AU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21/02/2016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6898F4-F88D-4372-A41C-F1E26294B73E}" type="slidenum">
              <a:rPr lang="en-AU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25270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B29C33-F596-4EA8-98D0-F4F79AFF4A05}" type="datetimeFigureOut">
              <a:rPr lang="en-AU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21/02/2016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7EAA68-2CA1-4BF7-804C-A7DCF83C2649}" type="slidenum">
              <a:rPr lang="en-AU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68294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5CC517-A663-4BDD-9F3A-919CDA8B5BDC}" type="datetimeFigureOut">
              <a:rPr lang="en-AU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21/02/2016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8FE872-FDCA-4EF9-9E9F-24C5ABED9444}" type="slidenum">
              <a:rPr lang="en-AU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20604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AU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D61BC3-F29D-48E9-8E54-F0D2FC4773B5}" type="datetimeFigureOut">
              <a:rPr lang="en-AU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21/02/2016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0ABD72-5174-476E-BD73-2B9715F8049D}" type="slidenum">
              <a:rPr lang="en-AU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50138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E23DE9-1630-42B8-9C02-0F3D7DBE8467}" type="datetimeFigureOut">
              <a:rPr lang="en-AU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21/02/2016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04E132-C831-4764-8D8F-5A85B1A63FA6}" type="slidenum">
              <a:rPr lang="en-AU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69608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98F0F2-B710-4A67-B52A-483FE7792EDF}" type="datetimeFigureOut">
              <a:rPr lang="en-AU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21/02/2016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197234-C2CE-4D42-A8A0-5231EAD88D7C}" type="slidenum">
              <a:rPr lang="en-AU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9253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21/02/2016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AU" smtClean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6B71FC0-2279-4B03-AE0E-7A1B11794824}" type="datetimeFigureOut">
              <a:rPr lang="en-AU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21/02/2016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23B7AA1-9384-40C5-B964-D9DED7DCF768}" type="slidenum">
              <a:rPr lang="en-AU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5257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91" t="21428" r="35634" b="8929"/>
          <a:stretch>
            <a:fillRect/>
          </a:stretch>
        </p:blipFill>
        <p:spPr bwMode="auto">
          <a:xfrm>
            <a:off x="827088" y="1412875"/>
            <a:ext cx="7258050" cy="5094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2555875" y="549275"/>
            <a:ext cx="417671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AU" sz="4000" b="1" smtClean="0">
                <a:solidFill>
                  <a:prstClr val="black"/>
                </a:solidFill>
              </a:rPr>
              <a:t>Rule up new page.</a:t>
            </a:r>
          </a:p>
        </p:txBody>
      </p:sp>
    </p:spTree>
    <p:extLst>
      <p:ext uri="{BB962C8B-B14F-4D97-AF65-F5344CB8AC3E}">
        <p14:creationId xmlns:p14="http://schemas.microsoft.com/office/powerpoint/2010/main" val="2516060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75557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0" name="Rectangle 9"/>
          <p:cNvSpPr/>
          <p:nvPr/>
        </p:nvSpPr>
        <p:spPr>
          <a:xfrm>
            <a:off x="123090" y="1052736"/>
            <a:ext cx="902091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200" dirty="0"/>
              <a:t>EQ – How do I </a:t>
            </a:r>
            <a:r>
              <a:rPr lang="en-AU" sz="2200" dirty="0" smtClean="0"/>
              <a:t>solve </a:t>
            </a:r>
            <a:r>
              <a:rPr lang="en-AU" sz="2200" dirty="0" smtClean="0"/>
              <a:t>simultaneous</a:t>
            </a:r>
            <a:r>
              <a:rPr lang="en-AU" sz="2200" dirty="0" smtClean="0"/>
              <a:t> equations using the substitution method? </a:t>
            </a:r>
            <a:endParaRPr lang="en-AU" sz="2200" dirty="0"/>
          </a:p>
        </p:txBody>
      </p:sp>
      <p:sp>
        <p:nvSpPr>
          <p:cNvPr id="25" name="TextBox 24"/>
          <p:cNvSpPr txBox="1"/>
          <p:nvPr/>
        </p:nvSpPr>
        <p:spPr>
          <a:xfrm>
            <a:off x="981577" y="298231"/>
            <a:ext cx="70124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Simultaneous equations – substitution method</a:t>
            </a:r>
            <a:endParaRPr lang="en-AU" sz="2800" dirty="0"/>
          </a:p>
        </p:txBody>
      </p:sp>
      <p:sp>
        <p:nvSpPr>
          <p:cNvPr id="21" name="TextBox 20"/>
          <p:cNvSpPr txBox="1"/>
          <p:nvPr/>
        </p:nvSpPr>
        <p:spPr>
          <a:xfrm>
            <a:off x="1153096" y="2204864"/>
            <a:ext cx="770485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If two (or more) equations have the same variables and the same solutions then they are simultaneous equations</a:t>
            </a:r>
            <a:r>
              <a:rPr lang="en-AU" sz="2800" dirty="0" smtClean="0"/>
              <a:t>.</a:t>
            </a:r>
          </a:p>
          <a:p>
            <a:endParaRPr lang="en-AU" sz="2800" dirty="0" smtClean="0"/>
          </a:p>
          <a:p>
            <a:r>
              <a:rPr lang="en-AU" sz="2800" dirty="0"/>
              <a:t>'Solving' simultaneous equations means finding the values of 'x' and 'y' that make them true. The following steps will demonstrate how to solve simultaneous equations by the </a:t>
            </a:r>
            <a:r>
              <a:rPr lang="en-AU" sz="2800" b="1" dirty="0"/>
              <a:t>substitution method</a:t>
            </a:r>
            <a:r>
              <a:rPr lang="en-AU" sz="2800" dirty="0"/>
              <a:t>.   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3585838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77281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755576" y="1776264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0" name="Rectangle 9"/>
          <p:cNvSpPr/>
          <p:nvPr/>
        </p:nvSpPr>
        <p:spPr>
          <a:xfrm>
            <a:off x="123090" y="1052736"/>
            <a:ext cx="902091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200" dirty="0"/>
              <a:t>EQ – How do I </a:t>
            </a:r>
            <a:r>
              <a:rPr lang="en-AU" sz="2200" dirty="0" smtClean="0"/>
              <a:t>solve </a:t>
            </a:r>
            <a:r>
              <a:rPr lang="en-AU" sz="2200" dirty="0" smtClean="0"/>
              <a:t>simultaneous</a:t>
            </a:r>
            <a:r>
              <a:rPr lang="en-AU" sz="2200" dirty="0" smtClean="0"/>
              <a:t> equations using the substitution method? </a:t>
            </a:r>
            <a:endParaRPr lang="en-AU" sz="2200" dirty="0"/>
          </a:p>
        </p:txBody>
      </p:sp>
      <p:sp>
        <p:nvSpPr>
          <p:cNvPr id="25" name="TextBox 24"/>
          <p:cNvSpPr txBox="1"/>
          <p:nvPr/>
        </p:nvSpPr>
        <p:spPr>
          <a:xfrm>
            <a:off x="981577" y="298231"/>
            <a:ext cx="70124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Simultaneous equations – substitution method</a:t>
            </a:r>
            <a:endParaRPr lang="en-AU" sz="2800" dirty="0"/>
          </a:p>
        </p:txBody>
      </p:sp>
      <p:sp>
        <p:nvSpPr>
          <p:cNvPr id="21" name="TextBox 20"/>
          <p:cNvSpPr txBox="1"/>
          <p:nvPr/>
        </p:nvSpPr>
        <p:spPr>
          <a:xfrm>
            <a:off x="901781" y="1800796"/>
            <a:ext cx="7704856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/>
              <a:t>Solve the following:</a:t>
            </a:r>
          </a:p>
          <a:p>
            <a:r>
              <a:rPr lang="es-ES" sz="2000" i="1" dirty="0" smtClean="0"/>
              <a:t>x</a:t>
            </a:r>
            <a:r>
              <a:rPr lang="es-ES" sz="2000" dirty="0" smtClean="0"/>
              <a:t> </a:t>
            </a:r>
            <a:r>
              <a:rPr lang="es-ES" sz="2000" dirty="0"/>
              <a:t>+ </a:t>
            </a:r>
            <a:r>
              <a:rPr lang="es-ES" sz="2000" i="1" dirty="0"/>
              <a:t>y</a:t>
            </a:r>
            <a:r>
              <a:rPr lang="es-ES" sz="2000" dirty="0"/>
              <a:t> = 3 and</a:t>
            </a:r>
          </a:p>
          <a:p>
            <a:r>
              <a:rPr lang="es-ES" sz="2000" dirty="0"/>
              <a:t>2</a:t>
            </a:r>
            <a:r>
              <a:rPr lang="es-ES" sz="2000" i="1" dirty="0"/>
              <a:t>x</a:t>
            </a:r>
            <a:r>
              <a:rPr lang="es-ES" sz="2000" dirty="0"/>
              <a:t> + 3</a:t>
            </a:r>
            <a:r>
              <a:rPr lang="es-ES" sz="2000" i="1" dirty="0"/>
              <a:t>y</a:t>
            </a:r>
            <a:r>
              <a:rPr lang="es-ES" sz="2000" dirty="0"/>
              <a:t> = </a:t>
            </a:r>
            <a:r>
              <a:rPr lang="es-ES" sz="2000" dirty="0" smtClean="0"/>
              <a:t>8</a:t>
            </a:r>
          </a:p>
          <a:p>
            <a:endParaRPr lang="es-ES" sz="2000" dirty="0" smtClean="0"/>
          </a:p>
          <a:p>
            <a:r>
              <a:rPr lang="en-AU" sz="2000" b="1" dirty="0" smtClean="0"/>
              <a:t>Step 1</a:t>
            </a:r>
            <a:r>
              <a:rPr lang="en-AU" sz="2000" b="1" dirty="0"/>
              <a:t>:</a:t>
            </a:r>
            <a:r>
              <a:rPr lang="en-AU" sz="2000" b="1" dirty="0" smtClean="0"/>
              <a:t> </a:t>
            </a:r>
            <a:r>
              <a:rPr lang="en-AU" sz="2000" b="1" dirty="0"/>
              <a:t>Isolate one of the variables ( ‘</a:t>
            </a:r>
            <a:r>
              <a:rPr lang="en-AU" sz="2000" b="1" i="1" dirty="0"/>
              <a:t>x</a:t>
            </a:r>
            <a:r>
              <a:rPr lang="en-AU" sz="2000" b="1" dirty="0"/>
              <a:t>’ ) on one side of one of the equations: </a:t>
            </a:r>
            <a:endParaRPr lang="en-AU" sz="2000" dirty="0"/>
          </a:p>
          <a:p>
            <a:r>
              <a:rPr lang="en-AU" sz="2000" i="1" dirty="0"/>
              <a:t>x</a:t>
            </a:r>
            <a:r>
              <a:rPr lang="en-AU" sz="2000" dirty="0"/>
              <a:t> + </a:t>
            </a:r>
            <a:r>
              <a:rPr lang="en-AU" sz="2000" i="1" dirty="0"/>
              <a:t>y</a:t>
            </a:r>
            <a:r>
              <a:rPr lang="en-AU" sz="2000" dirty="0"/>
              <a:t> = 3 </a:t>
            </a:r>
            <a:r>
              <a:rPr lang="en-AU" sz="2000" dirty="0" smtClean="0"/>
              <a:t>   (-y)</a:t>
            </a:r>
          </a:p>
          <a:p>
            <a:endParaRPr lang="en-AU" sz="2000" dirty="0"/>
          </a:p>
          <a:p>
            <a:r>
              <a:rPr lang="en-AU" sz="2000" i="1" dirty="0"/>
              <a:t>x</a:t>
            </a:r>
            <a:r>
              <a:rPr lang="en-AU" sz="2000" dirty="0"/>
              <a:t>  = 3 - </a:t>
            </a:r>
            <a:r>
              <a:rPr lang="en-AU" sz="2000" i="1" dirty="0"/>
              <a:t>y</a:t>
            </a:r>
            <a:r>
              <a:rPr lang="en-AU" sz="2000" dirty="0"/>
              <a:t> </a:t>
            </a:r>
            <a:endParaRPr lang="en-AU" sz="2000" dirty="0" smtClean="0"/>
          </a:p>
          <a:p>
            <a:endParaRPr lang="en-AU" sz="2000" dirty="0"/>
          </a:p>
          <a:p>
            <a:r>
              <a:rPr lang="en-AU" sz="2000" b="1" dirty="0"/>
              <a:t>(2) Substitute for the isolated variable in the other equation: </a:t>
            </a:r>
            <a:endParaRPr lang="en-AU" sz="2000" dirty="0"/>
          </a:p>
          <a:p>
            <a:r>
              <a:rPr lang="en-AU" sz="2000" dirty="0"/>
              <a:t>2</a:t>
            </a:r>
            <a:r>
              <a:rPr lang="en-AU" sz="2000" i="1" dirty="0"/>
              <a:t>x</a:t>
            </a:r>
            <a:r>
              <a:rPr lang="en-AU" sz="2000" dirty="0"/>
              <a:t> + 3</a:t>
            </a:r>
            <a:r>
              <a:rPr lang="en-AU" sz="2000" i="1" dirty="0"/>
              <a:t>y</a:t>
            </a:r>
            <a:r>
              <a:rPr lang="en-AU" sz="2000" dirty="0"/>
              <a:t> = 8 </a:t>
            </a:r>
            <a:r>
              <a:rPr lang="en-AU" sz="2000" dirty="0" smtClean="0"/>
              <a:t>         (Substituting </a:t>
            </a:r>
            <a:r>
              <a:rPr lang="en-AU" sz="2000" dirty="0"/>
              <a:t>3 - y for ‘</a:t>
            </a:r>
            <a:r>
              <a:rPr lang="en-AU" sz="2000" i="1" dirty="0"/>
              <a:t>x</a:t>
            </a:r>
            <a:r>
              <a:rPr lang="en-AU" sz="2000" dirty="0" smtClean="0"/>
              <a:t>’)</a:t>
            </a:r>
          </a:p>
          <a:p>
            <a:endParaRPr lang="en-AU" sz="2000" dirty="0"/>
          </a:p>
          <a:p>
            <a:r>
              <a:rPr lang="en-AU" sz="2000" dirty="0"/>
              <a:t>2(3 - </a:t>
            </a:r>
            <a:r>
              <a:rPr lang="en-AU" sz="2000" i="1" dirty="0"/>
              <a:t>y</a:t>
            </a:r>
            <a:r>
              <a:rPr lang="en-AU" sz="2000" dirty="0"/>
              <a:t>) + 3</a:t>
            </a:r>
            <a:r>
              <a:rPr lang="en-AU" sz="2000" i="1" dirty="0"/>
              <a:t>y</a:t>
            </a:r>
            <a:r>
              <a:rPr lang="en-AU" sz="2000" dirty="0"/>
              <a:t> = 8 </a:t>
            </a:r>
            <a:endParaRPr lang="en-AU" sz="2000" dirty="0" smtClean="0"/>
          </a:p>
          <a:p>
            <a:endParaRPr lang="en-AU" sz="2000" dirty="0"/>
          </a:p>
          <a:p>
            <a:r>
              <a:rPr lang="en-AU" sz="2000" dirty="0"/>
              <a:t> This equation has only one variable, so we can solve it</a:t>
            </a:r>
            <a:r>
              <a:rPr lang="en-AU" sz="2000" dirty="0" smtClean="0"/>
              <a:t>.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588212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84175" y="1483623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755576" y="1483623"/>
            <a:ext cx="0" cy="554577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0" name="Rectangle 9"/>
          <p:cNvSpPr/>
          <p:nvPr/>
        </p:nvSpPr>
        <p:spPr>
          <a:xfrm>
            <a:off x="123090" y="1052736"/>
            <a:ext cx="902091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200" dirty="0"/>
              <a:t>EQ – How do I </a:t>
            </a:r>
            <a:r>
              <a:rPr lang="en-AU" sz="2200" dirty="0" smtClean="0"/>
              <a:t>solve </a:t>
            </a:r>
            <a:r>
              <a:rPr lang="en-AU" sz="2200" dirty="0" smtClean="0"/>
              <a:t>simultaneous</a:t>
            </a:r>
            <a:r>
              <a:rPr lang="en-AU" sz="2200" dirty="0" smtClean="0"/>
              <a:t> equations using the substitution method? </a:t>
            </a:r>
            <a:endParaRPr lang="en-AU" sz="2200" dirty="0"/>
          </a:p>
        </p:txBody>
      </p:sp>
      <p:sp>
        <p:nvSpPr>
          <p:cNvPr id="25" name="TextBox 24"/>
          <p:cNvSpPr txBox="1"/>
          <p:nvPr/>
        </p:nvSpPr>
        <p:spPr>
          <a:xfrm>
            <a:off x="981577" y="298231"/>
            <a:ext cx="70124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Simultaneous equations – substitution method</a:t>
            </a:r>
            <a:endParaRPr lang="en-AU" sz="2800" dirty="0"/>
          </a:p>
        </p:txBody>
      </p:sp>
      <p:sp>
        <p:nvSpPr>
          <p:cNvPr id="21" name="TextBox 20"/>
          <p:cNvSpPr txBox="1"/>
          <p:nvPr/>
        </p:nvSpPr>
        <p:spPr>
          <a:xfrm>
            <a:off x="781117" y="1508155"/>
            <a:ext cx="7704856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 smtClean="0"/>
              <a:t>Step 3: </a:t>
            </a:r>
            <a:r>
              <a:rPr lang="en-AU" sz="2000" b="1" dirty="0"/>
              <a:t>Solve this equation for the other variable, ‘</a:t>
            </a:r>
            <a:r>
              <a:rPr lang="en-AU" sz="2000" b="1" i="1" dirty="0"/>
              <a:t>y</a:t>
            </a:r>
            <a:r>
              <a:rPr lang="en-AU" sz="2000" b="1" dirty="0"/>
              <a:t>’: </a:t>
            </a:r>
            <a:endParaRPr lang="en-AU" sz="2000" dirty="0"/>
          </a:p>
          <a:p>
            <a:r>
              <a:rPr lang="en-AU" sz="2000" dirty="0"/>
              <a:t>2(3 - </a:t>
            </a:r>
            <a:r>
              <a:rPr lang="en-AU" sz="2000" i="1" dirty="0"/>
              <a:t>y</a:t>
            </a:r>
            <a:r>
              <a:rPr lang="en-AU" sz="2000" dirty="0"/>
              <a:t>) + 3</a:t>
            </a:r>
            <a:r>
              <a:rPr lang="en-AU" sz="2000" i="1" dirty="0"/>
              <a:t>y</a:t>
            </a:r>
            <a:r>
              <a:rPr lang="en-AU" sz="2000" dirty="0"/>
              <a:t> = 8 </a:t>
            </a:r>
            <a:r>
              <a:rPr lang="en-AU" sz="2000" dirty="0" smtClean="0"/>
              <a:t>       (Expanding </a:t>
            </a:r>
            <a:r>
              <a:rPr lang="en-AU" sz="2000" dirty="0"/>
              <a:t>the </a:t>
            </a:r>
            <a:r>
              <a:rPr lang="en-AU" sz="2000" dirty="0" smtClean="0"/>
              <a:t>brackets)</a:t>
            </a:r>
          </a:p>
          <a:p>
            <a:endParaRPr lang="en-AU" sz="2000" dirty="0"/>
          </a:p>
          <a:p>
            <a:r>
              <a:rPr lang="en-AU" sz="2000" dirty="0"/>
              <a:t>6 - 2</a:t>
            </a:r>
            <a:r>
              <a:rPr lang="en-AU" sz="2000" i="1" dirty="0"/>
              <a:t>y</a:t>
            </a:r>
            <a:r>
              <a:rPr lang="en-AU" sz="2000" dirty="0"/>
              <a:t> + 3</a:t>
            </a:r>
            <a:r>
              <a:rPr lang="en-AU" sz="2000" i="1" dirty="0"/>
              <a:t>y</a:t>
            </a:r>
            <a:r>
              <a:rPr lang="en-AU" sz="2000" dirty="0"/>
              <a:t> = 8 </a:t>
            </a:r>
            <a:r>
              <a:rPr lang="en-AU" sz="2000" dirty="0" smtClean="0"/>
              <a:t>          (Simplify)</a:t>
            </a:r>
          </a:p>
          <a:p>
            <a:endParaRPr lang="en-AU" sz="2000" dirty="0"/>
          </a:p>
          <a:p>
            <a:r>
              <a:rPr lang="en-AU" sz="2000" dirty="0"/>
              <a:t>6 + </a:t>
            </a:r>
            <a:r>
              <a:rPr lang="en-AU" sz="2000" i="1" dirty="0"/>
              <a:t>y</a:t>
            </a:r>
            <a:r>
              <a:rPr lang="en-AU" sz="2000" dirty="0"/>
              <a:t> = 8 </a:t>
            </a:r>
            <a:r>
              <a:rPr lang="en-AU" sz="2000" dirty="0" smtClean="0"/>
              <a:t>                    (-6)</a:t>
            </a:r>
          </a:p>
          <a:p>
            <a:endParaRPr lang="en-AU" sz="2000" dirty="0"/>
          </a:p>
          <a:p>
            <a:r>
              <a:rPr lang="en-AU" sz="2000" i="1" dirty="0"/>
              <a:t>y</a:t>
            </a:r>
            <a:r>
              <a:rPr lang="en-AU" sz="2000" dirty="0"/>
              <a:t> = 2 </a:t>
            </a:r>
            <a:endParaRPr lang="en-AU" sz="2000" dirty="0" smtClean="0"/>
          </a:p>
          <a:p>
            <a:endParaRPr lang="en-AU" sz="2000" dirty="0"/>
          </a:p>
          <a:p>
            <a:r>
              <a:rPr lang="en-AU" sz="2000" b="1" dirty="0"/>
              <a:t> </a:t>
            </a:r>
            <a:r>
              <a:rPr lang="en-AU" sz="2000" b="1" dirty="0" smtClean="0"/>
              <a:t>Step 4: </a:t>
            </a:r>
            <a:r>
              <a:rPr lang="en-AU" sz="2000" b="1" dirty="0"/>
              <a:t>Substitute the known value of ‘</a:t>
            </a:r>
            <a:r>
              <a:rPr lang="en-AU" sz="2000" b="1" i="1" dirty="0"/>
              <a:t>y</a:t>
            </a:r>
            <a:r>
              <a:rPr lang="en-AU" sz="2000" b="1" dirty="0"/>
              <a:t>’ into the equation for ‘</a:t>
            </a:r>
            <a:r>
              <a:rPr lang="en-AU" sz="2000" b="1" i="1" dirty="0"/>
              <a:t>x</a:t>
            </a:r>
            <a:r>
              <a:rPr lang="en-AU" sz="2000" b="1" dirty="0"/>
              <a:t>’ derived in step 1: </a:t>
            </a:r>
            <a:endParaRPr lang="en-AU" sz="2000" dirty="0"/>
          </a:p>
          <a:p>
            <a:r>
              <a:rPr lang="en-AU" sz="2000" i="1" dirty="0"/>
              <a:t>x</a:t>
            </a:r>
            <a:r>
              <a:rPr lang="en-AU" sz="2000" dirty="0"/>
              <a:t>  = 3 - </a:t>
            </a:r>
            <a:r>
              <a:rPr lang="en-AU" sz="2000" i="1" dirty="0"/>
              <a:t>y</a:t>
            </a:r>
            <a:r>
              <a:rPr lang="en-AU" sz="2000" dirty="0"/>
              <a:t> </a:t>
            </a:r>
            <a:r>
              <a:rPr lang="en-AU" sz="2000" dirty="0" smtClean="0"/>
              <a:t>                      (Substitute </a:t>
            </a:r>
            <a:r>
              <a:rPr lang="en-AU" sz="2000" dirty="0"/>
              <a:t>2 for </a:t>
            </a:r>
            <a:r>
              <a:rPr lang="en-AU" sz="2000" b="1" dirty="0"/>
              <a:t>‘</a:t>
            </a:r>
            <a:r>
              <a:rPr lang="en-AU" sz="2000" b="1" i="1" dirty="0"/>
              <a:t>y</a:t>
            </a:r>
            <a:r>
              <a:rPr lang="en-AU" sz="2000" b="1" dirty="0" smtClean="0"/>
              <a:t>’</a:t>
            </a:r>
            <a:r>
              <a:rPr lang="en-AU" sz="2000" dirty="0" smtClean="0"/>
              <a:t>)</a:t>
            </a:r>
          </a:p>
          <a:p>
            <a:endParaRPr lang="en-AU" sz="2000" dirty="0"/>
          </a:p>
          <a:p>
            <a:r>
              <a:rPr lang="en-AU" sz="2000" i="1" dirty="0"/>
              <a:t>x</a:t>
            </a:r>
            <a:r>
              <a:rPr lang="en-AU" sz="2000" dirty="0"/>
              <a:t>  = 3 - 2 </a:t>
            </a:r>
            <a:endParaRPr lang="en-AU" sz="2000" dirty="0" smtClean="0"/>
          </a:p>
          <a:p>
            <a:endParaRPr lang="en-AU" sz="2000" dirty="0"/>
          </a:p>
          <a:p>
            <a:r>
              <a:rPr lang="en-AU" sz="2000" i="1" dirty="0" smtClean="0"/>
              <a:t>x</a:t>
            </a:r>
            <a:r>
              <a:rPr lang="en-AU" sz="2000" dirty="0" smtClean="0"/>
              <a:t> </a:t>
            </a:r>
            <a:r>
              <a:rPr lang="en-AU" sz="2000" dirty="0"/>
              <a:t>= 1 </a:t>
            </a:r>
          </a:p>
        </p:txBody>
      </p:sp>
    </p:spTree>
    <p:extLst>
      <p:ext uri="{BB962C8B-B14F-4D97-AF65-F5344CB8AC3E}">
        <p14:creationId xmlns:p14="http://schemas.microsoft.com/office/powerpoint/2010/main" val="3595679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84175" y="1483623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755576" y="1483623"/>
            <a:ext cx="0" cy="554577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0" name="Rectangle 9"/>
          <p:cNvSpPr/>
          <p:nvPr/>
        </p:nvSpPr>
        <p:spPr>
          <a:xfrm>
            <a:off x="123090" y="1052736"/>
            <a:ext cx="902091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200" dirty="0"/>
              <a:t>EQ – How do I </a:t>
            </a:r>
            <a:r>
              <a:rPr lang="en-AU" sz="2200" dirty="0" smtClean="0"/>
              <a:t>solve </a:t>
            </a:r>
            <a:r>
              <a:rPr lang="en-AU" sz="2200" dirty="0" smtClean="0"/>
              <a:t>simultaneous</a:t>
            </a:r>
            <a:r>
              <a:rPr lang="en-AU" sz="2200" dirty="0" smtClean="0"/>
              <a:t> equations using the substitution method? </a:t>
            </a:r>
            <a:endParaRPr lang="en-AU" sz="2200" dirty="0"/>
          </a:p>
        </p:txBody>
      </p:sp>
      <p:sp>
        <p:nvSpPr>
          <p:cNvPr id="25" name="TextBox 24"/>
          <p:cNvSpPr txBox="1"/>
          <p:nvPr/>
        </p:nvSpPr>
        <p:spPr>
          <a:xfrm>
            <a:off x="981577" y="298231"/>
            <a:ext cx="70124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Simultaneous equations – substitution method</a:t>
            </a:r>
            <a:endParaRPr lang="en-AU" sz="2800" dirty="0"/>
          </a:p>
        </p:txBody>
      </p:sp>
      <p:sp>
        <p:nvSpPr>
          <p:cNvPr id="21" name="TextBox 20"/>
          <p:cNvSpPr txBox="1"/>
          <p:nvPr/>
        </p:nvSpPr>
        <p:spPr>
          <a:xfrm>
            <a:off x="781117" y="1508155"/>
            <a:ext cx="770485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 smtClean="0"/>
              <a:t>Solution: </a:t>
            </a:r>
            <a:r>
              <a:rPr lang="en-AU" sz="2000" dirty="0" smtClean="0"/>
              <a:t>x = 1, y = 2</a:t>
            </a:r>
            <a:endParaRPr lang="en-AU" sz="2000" b="1" dirty="0" smtClean="0"/>
          </a:p>
          <a:p>
            <a:endParaRPr lang="en-AU" sz="2000" dirty="0"/>
          </a:p>
          <a:p>
            <a:r>
              <a:rPr lang="en-AU" sz="2000" b="1" dirty="0" smtClean="0"/>
              <a:t>Check:</a:t>
            </a:r>
          </a:p>
          <a:p>
            <a:endParaRPr lang="en-AU" sz="2000" dirty="0"/>
          </a:p>
          <a:p>
            <a:r>
              <a:rPr lang="es-ES" sz="2000" i="1" dirty="0" smtClean="0"/>
              <a:t>1</a:t>
            </a:r>
            <a:r>
              <a:rPr lang="es-ES" sz="2000" dirty="0" smtClean="0"/>
              <a:t> </a:t>
            </a:r>
            <a:r>
              <a:rPr lang="es-ES" sz="2000" dirty="0"/>
              <a:t>+ </a:t>
            </a:r>
            <a:r>
              <a:rPr lang="es-ES" sz="2000" i="1" dirty="0" smtClean="0"/>
              <a:t>2</a:t>
            </a:r>
            <a:r>
              <a:rPr lang="es-ES" sz="2000" dirty="0" smtClean="0"/>
              <a:t> </a:t>
            </a:r>
            <a:r>
              <a:rPr lang="es-ES" sz="2000" dirty="0"/>
              <a:t>= 3 </a:t>
            </a:r>
            <a:r>
              <a:rPr lang="es-ES" sz="2000" dirty="0" smtClean="0">
                <a:solidFill>
                  <a:srgbClr val="FF0000"/>
                </a:solidFill>
                <a:sym typeface="Wingdings 2"/>
              </a:rPr>
              <a:t></a:t>
            </a:r>
          </a:p>
          <a:p>
            <a:endParaRPr lang="es-ES" sz="2000" dirty="0">
              <a:solidFill>
                <a:srgbClr val="FF0000"/>
              </a:solidFill>
            </a:endParaRPr>
          </a:p>
          <a:p>
            <a:r>
              <a:rPr lang="es-ES" sz="2000" dirty="0" smtClean="0"/>
              <a:t>2 </a:t>
            </a:r>
            <a:r>
              <a:rPr lang="es-ES" sz="2000" dirty="0" smtClean="0">
                <a:sym typeface="Symbol"/>
              </a:rPr>
              <a:t> 1</a:t>
            </a:r>
            <a:r>
              <a:rPr lang="es-ES" sz="2000" dirty="0" smtClean="0"/>
              <a:t> </a:t>
            </a:r>
            <a:r>
              <a:rPr lang="es-ES" sz="2000" dirty="0"/>
              <a:t>+ </a:t>
            </a:r>
            <a:r>
              <a:rPr lang="es-ES" sz="2000" dirty="0" smtClean="0"/>
              <a:t>3 </a:t>
            </a:r>
            <a:r>
              <a:rPr lang="es-ES" sz="2000" dirty="0" smtClean="0">
                <a:sym typeface="Symbol"/>
              </a:rPr>
              <a:t> 2</a:t>
            </a:r>
            <a:r>
              <a:rPr lang="es-ES" sz="2000" dirty="0" smtClean="0"/>
              <a:t> </a:t>
            </a:r>
            <a:r>
              <a:rPr lang="es-ES" sz="2000" dirty="0"/>
              <a:t>= </a:t>
            </a:r>
            <a:r>
              <a:rPr lang="es-ES" sz="2000" dirty="0" smtClean="0"/>
              <a:t>8 </a:t>
            </a:r>
            <a:r>
              <a:rPr lang="es-ES" sz="2000" dirty="0">
                <a:solidFill>
                  <a:srgbClr val="FF0000"/>
                </a:solidFill>
                <a:sym typeface="Wingdings 2"/>
              </a:rPr>
              <a:t></a:t>
            </a:r>
            <a:endParaRPr lang="es-ES" sz="2000" dirty="0">
              <a:solidFill>
                <a:srgbClr val="FF0000"/>
              </a:solidFill>
            </a:endParaRPr>
          </a:p>
          <a:p>
            <a:endParaRPr lang="es-ES" sz="2000" dirty="0"/>
          </a:p>
          <a:p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4119592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530626"/>
          </a:xfrm>
        </p:spPr>
        <p:txBody>
          <a:bodyPr>
            <a:normAutofit/>
          </a:bodyPr>
          <a:lstStyle/>
          <a:p>
            <a:r>
              <a:rPr lang="en-AU" dirty="0" smtClean="0"/>
              <a:t>Questions:</a:t>
            </a:r>
            <a:br>
              <a:rPr lang="en-AU" dirty="0" smtClean="0"/>
            </a:br>
            <a:r>
              <a:rPr lang="en-AU" dirty="0" smtClean="0"/>
              <a:t>Exercise 2.7 page 24</a:t>
            </a:r>
            <a:br>
              <a:rPr lang="en-AU" dirty="0" smtClean="0"/>
            </a:br>
            <a:r>
              <a:rPr lang="en-AU" dirty="0" smtClean="0"/>
              <a:t>Dwyer Book</a:t>
            </a:r>
            <a:r>
              <a:rPr lang="en-AU" dirty="0" smtClean="0"/>
              <a:t/>
            </a:r>
            <a:br>
              <a:rPr lang="en-AU" dirty="0" smtClean="0"/>
            </a:br>
            <a:r>
              <a:rPr lang="en-AU" dirty="0"/>
              <a:t/>
            </a:r>
            <a:br>
              <a:rPr lang="en-AU" dirty="0"/>
            </a:b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181356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1407</TotalTime>
  <Words>410</Words>
  <Application>Microsoft Office PowerPoint</Application>
  <PresentationFormat>On-screen Show (4:3)</PresentationFormat>
  <Paragraphs>78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Questions: Exercise 2.7 page 24 Dwyer Book  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PURCELL Laura</cp:lastModifiedBy>
  <cp:revision>120</cp:revision>
  <dcterms:created xsi:type="dcterms:W3CDTF">2014-05-14T02:58:57Z</dcterms:created>
  <dcterms:modified xsi:type="dcterms:W3CDTF">2016-02-21T03:58:42Z</dcterms:modified>
</cp:coreProperties>
</file>
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339" r:id="rId3"/>
    <p:sldId id="332" r:id="rId4"/>
    <p:sldId id="344" r:id="rId5"/>
    <p:sldId id="345" r:id="rId6"/>
    <p:sldId id="346" r:id="rId7"/>
    <p:sldId id="347" r:id="rId8"/>
    <p:sldId id="348" r:id="rId9"/>
    <p:sldId id="349" r:id="rId10"/>
    <p:sldId id="292" r:id="rId11"/>
    <p:sldId id="343" r:id="rId12"/>
    <p:sldId id="291" r:id="rId13"/>
  </p:sldIdLst>
  <p:sldSz cx="9144000" cy="6858000" type="screen4x3"/>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2895" autoAdjust="0"/>
  </p:normalViewPr>
  <p:slideViewPr>
    <p:cSldViewPr>
      <p:cViewPr>
        <p:scale>
          <a:sx n="75" d="100"/>
          <a:sy n="75" d="100"/>
        </p:scale>
        <p:origin x="-672" y="17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657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6570"/>
          </a:xfrm>
          <a:prstGeom prst="rect">
            <a:avLst/>
          </a:prstGeom>
        </p:spPr>
        <p:txBody>
          <a:bodyPr vert="horz" lIns="91440" tIns="45720" rIns="91440" bIns="45720" rtlCol="0"/>
          <a:lstStyle>
            <a:lvl1pPr algn="r">
              <a:defRPr sz="1200"/>
            </a:lvl1pPr>
          </a:lstStyle>
          <a:p>
            <a:fld id="{D75AD73A-AE13-444E-A6A8-7967ABAB8119}" type="datetimeFigureOut">
              <a:rPr lang="en-AU" smtClean="0"/>
              <a:t>21/02/2016</a:t>
            </a:fld>
            <a:endParaRPr lang="en-AU"/>
          </a:p>
        </p:txBody>
      </p:sp>
      <p:sp>
        <p:nvSpPr>
          <p:cNvPr id="4" name="Slide Image Placeholder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17415"/>
            <a:ext cx="5435600" cy="446913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433106"/>
            <a:ext cx="2944283" cy="49657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6"/>
            <a:ext cx="2944283" cy="49657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21/02/2016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pPr>
              <a:defRPr/>
            </a:pPr>
            <a:fld id="{0FF74863-6DAE-461C-AB23-A6CDF103F09C}" type="datetimeFigureOut">
              <a:rPr lang="en-AU">
                <a:solidFill>
                  <a:prstClr val="black">
                    <a:tint val="75000"/>
                  </a:prstClr>
                </a:solidFill>
              </a:rPr>
              <a:pPr>
                <a:defRPr/>
              </a:pPr>
              <a:t>21/02/2016</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32E15B9-5984-43CB-B7B3-916FEC0E062C}"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1743604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0D6A27A1-8593-4C00-BB99-6B94DDCFF150}" type="datetimeFigureOut">
              <a:rPr lang="en-AU">
                <a:solidFill>
                  <a:prstClr val="black">
                    <a:tint val="75000"/>
                  </a:prstClr>
                </a:solidFill>
              </a:rPr>
              <a:pPr>
                <a:defRPr/>
              </a:pPr>
              <a:t>21/02/2016</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E8834B2-9493-4851-977E-CA25020BA5DD}"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698739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C632A39-50C3-4DBB-B813-33961D892BA0}" type="datetimeFigureOut">
              <a:rPr lang="en-AU">
                <a:solidFill>
                  <a:prstClr val="black">
                    <a:tint val="75000"/>
                  </a:prstClr>
                </a:solidFill>
              </a:rPr>
              <a:pPr>
                <a:defRPr/>
              </a:pPr>
              <a:t>21/02/2016</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1EC0400-F13C-4988-AD0D-32896843F201}"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1767407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pPr>
              <a:defRPr/>
            </a:pPr>
            <a:fld id="{A04D25BB-A85F-4818-9EB6-216092EF29B9}" type="datetimeFigureOut">
              <a:rPr lang="en-AU">
                <a:solidFill>
                  <a:prstClr val="black">
                    <a:tint val="75000"/>
                  </a:prstClr>
                </a:solidFill>
              </a:rPr>
              <a:pPr>
                <a:defRPr/>
              </a:pPr>
              <a:t>21/02/2016</a:t>
            </a:fld>
            <a:endParaRPr lang="en-AU">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A04DEF2-78E3-4950-A1CF-E1D9A8437A12}"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2676969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pPr>
              <a:defRPr/>
            </a:pPr>
            <a:fld id="{0769C872-70D3-4D9B-AAD0-09994CC76EDA}" type="datetimeFigureOut">
              <a:rPr lang="en-AU">
                <a:solidFill>
                  <a:prstClr val="black">
                    <a:tint val="75000"/>
                  </a:prstClr>
                </a:solidFill>
              </a:rPr>
              <a:pPr>
                <a:defRPr/>
              </a:pPr>
              <a:t>21/02/2016</a:t>
            </a:fld>
            <a:endParaRPr lang="en-AU">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28743C65-9323-4C05-83AF-7487F94E544A}"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3581614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DC8E90CE-C75B-42C5-860D-11A9409C13E2}" type="datetimeFigureOut">
              <a:rPr lang="en-AU">
                <a:solidFill>
                  <a:prstClr val="black">
                    <a:tint val="75000"/>
                  </a:prstClr>
                </a:solidFill>
              </a:rPr>
              <a:pPr>
                <a:defRPr/>
              </a:pPr>
              <a:t>21/02/2016</a:t>
            </a:fld>
            <a:endParaRPr lang="en-AU">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B76898F4-F88D-4372-A41C-F1E26294B73E}"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3842527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9B29C33-F596-4EA8-98D0-F4F79AFF4A05}" type="datetimeFigureOut">
              <a:rPr lang="en-AU">
                <a:solidFill>
                  <a:prstClr val="black">
                    <a:tint val="75000"/>
                  </a:prstClr>
                </a:solidFill>
              </a:rPr>
              <a:pPr>
                <a:defRPr/>
              </a:pPr>
              <a:t>21/02/2016</a:t>
            </a:fld>
            <a:endParaRPr lang="en-AU">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967EAA68-2CA1-4BF7-804C-A7DCF83C2649}"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936829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15CC517-A663-4BDD-9F3A-919CDA8B5BDC}" type="datetimeFigureOut">
              <a:rPr lang="en-AU">
                <a:solidFill>
                  <a:prstClr val="black">
                    <a:tint val="75000"/>
                  </a:prstClr>
                </a:solidFill>
              </a:rPr>
              <a:pPr>
                <a:defRPr/>
              </a:pPr>
              <a:t>21/02/2016</a:t>
            </a:fld>
            <a:endParaRPr lang="en-AU">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98FE872-FDCA-4EF9-9E9F-24C5ABED9444}"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782060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FD61BC3-F29D-48E9-8E54-F0D2FC4773B5}" type="datetimeFigureOut">
              <a:rPr lang="en-AU">
                <a:solidFill>
                  <a:prstClr val="black">
                    <a:tint val="75000"/>
                  </a:prstClr>
                </a:solidFill>
              </a:rPr>
              <a:pPr>
                <a:defRPr/>
              </a:pPr>
              <a:t>21/02/2016</a:t>
            </a:fld>
            <a:endParaRPr lang="en-AU">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D0ABD72-5174-476E-BD73-2B9715F8049D}"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495013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9CE23DE9-1630-42B8-9C02-0F3D7DBE8467}" type="datetimeFigureOut">
              <a:rPr lang="en-AU">
                <a:solidFill>
                  <a:prstClr val="black">
                    <a:tint val="75000"/>
                  </a:prstClr>
                </a:solidFill>
              </a:rPr>
              <a:pPr>
                <a:defRPr/>
              </a:pPr>
              <a:t>21/02/2016</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E04E132-C831-4764-8D8F-5A85B1A63FA6}"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3866960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2198F0F2-B710-4A67-B52A-483FE7792EDF}" type="datetimeFigureOut">
              <a:rPr lang="en-AU">
                <a:solidFill>
                  <a:prstClr val="black">
                    <a:tint val="75000"/>
                  </a:prstClr>
                </a:solidFill>
              </a:rPr>
              <a:pPr>
                <a:defRPr/>
              </a:pPr>
              <a:t>21/02/2016</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AU">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1197234-C2CE-4D42-A8A0-5231EAD88D7C}"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819253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21/02/2016</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AU"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E6B71FC0-2279-4B03-AE0E-7A1B11794824}" type="datetimeFigureOut">
              <a:rPr lang="en-AU">
                <a:solidFill>
                  <a:prstClr val="black">
                    <a:tint val="75000"/>
                  </a:prstClr>
                </a:solidFill>
              </a:rPr>
              <a:pPr>
                <a:defRPr/>
              </a:pPr>
              <a:t>21/02/2016</a:t>
            </a:fld>
            <a:endParaRPr lang="en-AU">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AU">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123B7AA1-9384-40C5-B964-D9DED7DCF768}" type="slidenum">
              <a:rPr lang="en-AU">
                <a:solidFill>
                  <a:prstClr val="black">
                    <a:tint val="75000"/>
                  </a:prstClr>
                </a:solidFill>
              </a:rPr>
              <a:pPr>
                <a:defRPr/>
              </a:pPr>
              <a:t>‹#›</a:t>
            </a:fld>
            <a:endParaRPr lang="en-AU">
              <a:solidFill>
                <a:prstClr val="black">
                  <a:tint val="75000"/>
                </a:prstClr>
              </a:solidFill>
            </a:endParaRPr>
          </a:p>
        </p:txBody>
      </p:sp>
    </p:spTree>
    <p:extLst>
      <p:ext uri="{BB962C8B-B14F-4D97-AF65-F5344CB8AC3E}">
        <p14:creationId xmlns:p14="http://schemas.microsoft.com/office/powerpoint/2010/main" val="36752575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l="8591" t="21428" r="35634" b="8929"/>
          <a:stretch>
            <a:fillRect/>
          </a:stretch>
        </p:blipFill>
        <p:spPr bwMode="auto">
          <a:xfrm>
            <a:off x="827088" y="1412875"/>
            <a:ext cx="7258050" cy="509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TextBox 3"/>
          <p:cNvSpPr txBox="1">
            <a:spLocks noChangeArrowheads="1"/>
          </p:cNvSpPr>
          <p:nvPr/>
        </p:nvSpPr>
        <p:spPr bwMode="auto">
          <a:xfrm>
            <a:off x="2555875" y="549275"/>
            <a:ext cx="41767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r>
              <a:rPr lang="en-AU" sz="4000" b="1" smtClean="0">
                <a:solidFill>
                  <a:prstClr val="black"/>
                </a:solidFill>
              </a:rPr>
              <a:t>Rule up new page.</a:t>
            </a:r>
          </a:p>
        </p:txBody>
      </p:sp>
    </p:spTree>
    <p:extLst>
      <p:ext uri="{BB962C8B-B14F-4D97-AF65-F5344CB8AC3E}">
        <p14:creationId xmlns:p14="http://schemas.microsoft.com/office/powerpoint/2010/main" val="25160600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853480" y="1697610"/>
            <a:ext cx="7967736" cy="4893647"/>
          </a:xfrm>
          <a:prstGeom prst="rect">
            <a:avLst/>
          </a:prstGeom>
          <a:noFill/>
        </p:spPr>
        <p:txBody>
          <a:bodyPr wrap="square" rtlCol="0">
            <a:spAutoFit/>
          </a:bodyPr>
          <a:lstStyle/>
          <a:p>
            <a:r>
              <a:rPr lang="en-AU" sz="2400" dirty="0" smtClean="0">
                <a:solidFill>
                  <a:schemeClr val="tx2">
                    <a:lumMod val="60000"/>
                    <a:lumOff val="40000"/>
                  </a:schemeClr>
                </a:solidFill>
              </a:rPr>
              <a:t>In </a:t>
            </a:r>
            <a:r>
              <a:rPr lang="en-AU" sz="2400" dirty="0">
                <a:solidFill>
                  <a:schemeClr val="tx2">
                    <a:lumMod val="60000"/>
                    <a:lumOff val="40000"/>
                  </a:schemeClr>
                </a:solidFill>
              </a:rPr>
              <a:t>the ‘elimination’ method for solving simultaneous equations, two equations are simplified by adding them or subtracting them. This eliminates one of the variables so that the other variable can be found</a:t>
            </a:r>
            <a:r>
              <a:rPr lang="en-AU" sz="2400" dirty="0" smtClean="0">
                <a:solidFill>
                  <a:schemeClr val="tx2">
                    <a:lumMod val="60000"/>
                    <a:lumOff val="40000"/>
                  </a:schemeClr>
                </a:solidFill>
              </a:rPr>
              <a:t>.</a:t>
            </a:r>
          </a:p>
          <a:p>
            <a:endParaRPr lang="en-AU" sz="2400" dirty="0" smtClean="0"/>
          </a:p>
          <a:p>
            <a:r>
              <a:rPr lang="en-AU" sz="2400" b="1" dirty="0" smtClean="0"/>
              <a:t>Example </a:t>
            </a:r>
            <a:endParaRPr lang="en-AU" sz="2400" i="1" dirty="0" smtClean="0"/>
          </a:p>
          <a:p>
            <a:r>
              <a:rPr lang="en-AU" sz="2400" i="1" dirty="0" smtClean="0"/>
              <a:t>Consider </a:t>
            </a:r>
            <a:r>
              <a:rPr lang="en-AU" sz="2400" i="1" dirty="0"/>
              <a:t>these equations: </a:t>
            </a:r>
            <a:endParaRPr lang="en-AU" sz="2400" dirty="0"/>
          </a:p>
          <a:p>
            <a:r>
              <a:rPr lang="en-AU" sz="2400" dirty="0"/>
              <a:t>2</a:t>
            </a:r>
            <a:r>
              <a:rPr lang="en-AU" sz="2400" i="1" dirty="0"/>
              <a:t>x</a:t>
            </a:r>
            <a:r>
              <a:rPr lang="en-AU" sz="2400" dirty="0"/>
              <a:t> - 5</a:t>
            </a:r>
            <a:r>
              <a:rPr lang="en-AU" sz="2400" i="1" dirty="0"/>
              <a:t>y</a:t>
            </a:r>
            <a:r>
              <a:rPr lang="en-AU" sz="2400" dirty="0"/>
              <a:t>  =   1 </a:t>
            </a:r>
          </a:p>
          <a:p>
            <a:r>
              <a:rPr lang="en-AU" sz="2400" dirty="0"/>
              <a:t>3</a:t>
            </a:r>
            <a:r>
              <a:rPr lang="en-AU" sz="2400" i="1" dirty="0"/>
              <a:t>x</a:t>
            </a:r>
            <a:r>
              <a:rPr lang="en-AU" sz="2400" dirty="0"/>
              <a:t> + 5</a:t>
            </a:r>
            <a:r>
              <a:rPr lang="en-AU" sz="2400" i="1" dirty="0"/>
              <a:t>y</a:t>
            </a:r>
            <a:r>
              <a:rPr lang="en-AU" sz="2400" dirty="0"/>
              <a:t>  = 14 </a:t>
            </a:r>
            <a:endParaRPr lang="en-AU" sz="2400" dirty="0" smtClean="0"/>
          </a:p>
          <a:p>
            <a:endParaRPr lang="en-AU" sz="2400" dirty="0" smtClean="0"/>
          </a:p>
          <a:p>
            <a:r>
              <a:rPr lang="en-AU" sz="2400" dirty="0">
                <a:solidFill>
                  <a:schemeClr val="tx2">
                    <a:lumMod val="60000"/>
                    <a:lumOff val="40000"/>
                  </a:schemeClr>
                </a:solidFill>
              </a:rPr>
              <a:t>The first equation contains a ‘-5</a:t>
            </a:r>
            <a:r>
              <a:rPr lang="en-AU" sz="2400" i="1" dirty="0">
                <a:solidFill>
                  <a:schemeClr val="tx2">
                    <a:lumMod val="60000"/>
                    <a:lumOff val="40000"/>
                  </a:schemeClr>
                </a:solidFill>
              </a:rPr>
              <a:t>y</a:t>
            </a:r>
            <a:r>
              <a:rPr lang="en-AU" sz="2400" dirty="0">
                <a:solidFill>
                  <a:schemeClr val="tx2">
                    <a:lumMod val="60000"/>
                    <a:lumOff val="40000"/>
                  </a:schemeClr>
                </a:solidFill>
              </a:rPr>
              <a:t>’ term, while the second equation contains a ‘+5</a:t>
            </a:r>
            <a:r>
              <a:rPr lang="en-AU" sz="2400" i="1" dirty="0">
                <a:solidFill>
                  <a:schemeClr val="tx2">
                    <a:lumMod val="60000"/>
                    <a:lumOff val="40000"/>
                  </a:schemeClr>
                </a:solidFill>
              </a:rPr>
              <a:t>y</a:t>
            </a:r>
            <a:r>
              <a:rPr lang="en-AU" sz="2400" dirty="0">
                <a:solidFill>
                  <a:schemeClr val="tx2">
                    <a:lumMod val="60000"/>
                    <a:lumOff val="40000"/>
                  </a:schemeClr>
                </a:solidFill>
              </a:rPr>
              <a:t>’ term. These two terms will cancel if added together, so we will add the equations to eliminate ‘</a:t>
            </a:r>
            <a:r>
              <a:rPr lang="en-AU" sz="2400" i="1" dirty="0">
                <a:solidFill>
                  <a:schemeClr val="tx2">
                    <a:lumMod val="60000"/>
                    <a:lumOff val="40000"/>
                  </a:schemeClr>
                </a:solidFill>
              </a:rPr>
              <a:t>y</a:t>
            </a:r>
            <a:r>
              <a:rPr lang="en-AU" sz="2400" dirty="0">
                <a:solidFill>
                  <a:schemeClr val="tx2">
                    <a:lumMod val="60000"/>
                    <a:lumOff val="40000"/>
                  </a:schemeClr>
                </a:solidFill>
              </a:rPr>
              <a:t>’.</a:t>
            </a:r>
            <a:endParaRPr lang="en-AU" sz="2400" dirty="0">
              <a:solidFill>
                <a:schemeClr val="tx2">
                  <a:lumMod val="60000"/>
                  <a:lumOff val="40000"/>
                </a:schemeClr>
              </a:solidFill>
            </a:endParaRPr>
          </a:p>
        </p:txBody>
      </p:sp>
    </p:spTree>
    <p:extLst>
      <p:ext uri="{BB962C8B-B14F-4D97-AF65-F5344CB8AC3E}">
        <p14:creationId xmlns:p14="http://schemas.microsoft.com/office/powerpoint/2010/main" val="358583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950025" y="1697610"/>
            <a:ext cx="7967736" cy="5262979"/>
          </a:xfrm>
          <a:prstGeom prst="rect">
            <a:avLst/>
          </a:prstGeom>
          <a:noFill/>
        </p:spPr>
        <p:txBody>
          <a:bodyPr wrap="square" rtlCol="0">
            <a:spAutoFit/>
          </a:bodyPr>
          <a:lstStyle/>
          <a:p>
            <a:r>
              <a:rPr lang="en-AU" sz="2400" dirty="0" smtClean="0">
                <a:solidFill>
                  <a:schemeClr val="tx2">
                    <a:lumMod val="60000"/>
                    <a:lumOff val="40000"/>
                  </a:schemeClr>
                </a:solidFill>
              </a:rPr>
              <a:t>Step1: To </a:t>
            </a:r>
            <a:r>
              <a:rPr lang="en-AU" sz="2400" dirty="0">
                <a:solidFill>
                  <a:schemeClr val="tx2">
                    <a:lumMod val="60000"/>
                    <a:lumOff val="40000"/>
                  </a:schemeClr>
                </a:solidFill>
              </a:rPr>
              <a:t>add the equations, add the left side expressions and the right side expressions separately</a:t>
            </a:r>
            <a:r>
              <a:rPr lang="en-AU" sz="2400" dirty="0" smtClean="0">
                <a:solidFill>
                  <a:schemeClr val="tx2">
                    <a:lumMod val="60000"/>
                    <a:lumOff val="40000"/>
                  </a:schemeClr>
                </a:solidFill>
              </a:rPr>
              <a:t>.</a:t>
            </a:r>
          </a:p>
          <a:p>
            <a:endParaRPr lang="en-AU" sz="2400" dirty="0"/>
          </a:p>
          <a:p>
            <a:r>
              <a:rPr lang="en-AU" sz="2400" dirty="0" smtClean="0"/>
              <a:t>   2x – 5y = 1</a:t>
            </a:r>
          </a:p>
          <a:p>
            <a:r>
              <a:rPr lang="en-AU" sz="2400" dirty="0" smtClean="0">
                <a:solidFill>
                  <a:srgbClr val="FF0000"/>
                </a:solidFill>
              </a:rPr>
              <a:t>+</a:t>
            </a:r>
            <a:r>
              <a:rPr lang="en-AU" sz="2400" dirty="0" smtClean="0"/>
              <a:t> 3x + 5y = 14</a:t>
            </a:r>
          </a:p>
          <a:p>
            <a:r>
              <a:rPr lang="en-AU" sz="2400" dirty="0" smtClean="0"/>
              <a:t>   5x          = 15        (÷5)</a:t>
            </a:r>
          </a:p>
          <a:p>
            <a:r>
              <a:rPr lang="en-AU" sz="2400" dirty="0"/>
              <a:t> </a:t>
            </a:r>
            <a:r>
              <a:rPr lang="en-AU" sz="2400" dirty="0" smtClean="0"/>
              <a:t>             x = 3</a:t>
            </a:r>
            <a:endParaRPr lang="en-AU" sz="2400" dirty="0"/>
          </a:p>
          <a:p>
            <a:endParaRPr lang="en-AU" sz="2400" dirty="0" smtClean="0"/>
          </a:p>
          <a:p>
            <a:r>
              <a:rPr lang="en-AU" sz="2400" dirty="0" smtClean="0">
                <a:solidFill>
                  <a:schemeClr val="tx2">
                    <a:lumMod val="60000"/>
                    <a:lumOff val="40000"/>
                  </a:schemeClr>
                </a:solidFill>
              </a:rPr>
              <a:t>Step 2: Substitute x = 3 into one of the equations</a:t>
            </a:r>
          </a:p>
          <a:p>
            <a:endParaRPr lang="en-AU" sz="2400" dirty="0"/>
          </a:p>
          <a:p>
            <a:r>
              <a:rPr lang="en-AU" sz="2400" dirty="0" smtClean="0"/>
              <a:t>    2x – 5y = 1   (Substitute x)</a:t>
            </a:r>
          </a:p>
          <a:p>
            <a:endParaRPr lang="en-AU" sz="2400" dirty="0"/>
          </a:p>
          <a:p>
            <a:r>
              <a:rPr lang="en-AU" sz="2400" dirty="0" smtClean="0"/>
              <a:t>2 </a:t>
            </a:r>
            <a:r>
              <a:rPr lang="en-AU" sz="2400" dirty="0" smtClean="0">
                <a:sym typeface="Symbol"/>
              </a:rPr>
              <a:t> 3 + 5y = 1</a:t>
            </a:r>
            <a:endParaRPr lang="en-AU" sz="2400" dirty="0" smtClean="0"/>
          </a:p>
          <a:p>
            <a:endParaRPr lang="en-AU" sz="2400" dirty="0"/>
          </a:p>
        </p:txBody>
      </p:sp>
      <p:cxnSp>
        <p:nvCxnSpPr>
          <p:cNvPr id="17" name="Straight Connector 16"/>
          <p:cNvCxnSpPr/>
          <p:nvPr/>
        </p:nvCxnSpPr>
        <p:spPr>
          <a:xfrm>
            <a:off x="1115616" y="3573016"/>
            <a:ext cx="16561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763688" y="2852936"/>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799692" y="3284984"/>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10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950025" y="1697610"/>
            <a:ext cx="7967736" cy="2308324"/>
          </a:xfrm>
          <a:prstGeom prst="rect">
            <a:avLst/>
          </a:prstGeom>
          <a:noFill/>
        </p:spPr>
        <p:txBody>
          <a:bodyPr wrap="square" rtlCol="0">
            <a:spAutoFit/>
          </a:bodyPr>
          <a:lstStyle/>
          <a:p>
            <a:r>
              <a:rPr lang="en-AU" sz="2400" dirty="0" smtClean="0">
                <a:sym typeface="Symbol"/>
              </a:rPr>
              <a:t>  6 - 5y = 1           (-6)</a:t>
            </a:r>
          </a:p>
          <a:p>
            <a:endParaRPr lang="en-AU" sz="2400" dirty="0">
              <a:sym typeface="Symbol"/>
            </a:endParaRPr>
          </a:p>
          <a:p>
            <a:r>
              <a:rPr lang="en-AU" sz="2400" dirty="0" smtClean="0">
                <a:sym typeface="Symbol"/>
              </a:rPr>
              <a:t>       -5y = -5          (÷5)</a:t>
            </a:r>
          </a:p>
          <a:p>
            <a:endParaRPr lang="en-AU" sz="2400" dirty="0">
              <a:sym typeface="Symbol"/>
            </a:endParaRPr>
          </a:p>
          <a:p>
            <a:r>
              <a:rPr lang="en-AU" sz="2400" dirty="0" smtClean="0">
                <a:sym typeface="Symbol"/>
              </a:rPr>
              <a:t>          y = 1</a:t>
            </a:r>
            <a:endParaRPr lang="en-AU" sz="2400" dirty="0" smtClean="0"/>
          </a:p>
          <a:p>
            <a:endParaRPr lang="en-AU" sz="2400" dirty="0"/>
          </a:p>
        </p:txBody>
      </p:sp>
      <p:sp>
        <p:nvSpPr>
          <p:cNvPr id="13" name="TextBox 12"/>
          <p:cNvSpPr txBox="1"/>
          <p:nvPr/>
        </p:nvSpPr>
        <p:spPr>
          <a:xfrm>
            <a:off x="755576" y="4000411"/>
            <a:ext cx="7704856" cy="3416320"/>
          </a:xfrm>
          <a:prstGeom prst="rect">
            <a:avLst/>
          </a:prstGeom>
          <a:noFill/>
        </p:spPr>
        <p:txBody>
          <a:bodyPr wrap="square" rtlCol="0">
            <a:spAutoFit/>
          </a:bodyPr>
          <a:lstStyle/>
          <a:p>
            <a:r>
              <a:rPr lang="en-AU" sz="2400" b="1" dirty="0" smtClean="0"/>
              <a:t>Solution: </a:t>
            </a:r>
            <a:r>
              <a:rPr lang="en-AU" sz="2400" dirty="0" smtClean="0"/>
              <a:t>x = </a:t>
            </a:r>
            <a:r>
              <a:rPr lang="en-AU" sz="2400" dirty="0" smtClean="0"/>
              <a:t>3, </a:t>
            </a:r>
            <a:r>
              <a:rPr lang="en-AU" sz="2400" dirty="0" smtClean="0"/>
              <a:t>y = </a:t>
            </a:r>
            <a:r>
              <a:rPr lang="en-AU" sz="2400" dirty="0" smtClean="0"/>
              <a:t>1</a:t>
            </a:r>
            <a:endParaRPr lang="en-AU" sz="2400" b="1" dirty="0" smtClean="0"/>
          </a:p>
          <a:p>
            <a:endParaRPr lang="en-AU" sz="2400" dirty="0"/>
          </a:p>
          <a:p>
            <a:r>
              <a:rPr lang="en-AU" sz="2400" b="1" dirty="0" smtClean="0"/>
              <a:t>Check:</a:t>
            </a:r>
          </a:p>
          <a:p>
            <a:endParaRPr lang="en-AU" sz="2400" dirty="0"/>
          </a:p>
          <a:p>
            <a:r>
              <a:rPr lang="es-ES" sz="2400" dirty="0"/>
              <a:t>2</a:t>
            </a:r>
            <a:r>
              <a:rPr lang="es-ES" sz="2400" dirty="0" smtClean="0"/>
              <a:t> </a:t>
            </a:r>
            <a:r>
              <a:rPr lang="es-ES" sz="2400" dirty="0">
                <a:sym typeface="Symbol"/>
              </a:rPr>
              <a:t> </a:t>
            </a:r>
            <a:r>
              <a:rPr lang="es-ES" sz="2400" dirty="0" smtClean="0">
                <a:sym typeface="Symbol"/>
              </a:rPr>
              <a:t>3</a:t>
            </a:r>
            <a:r>
              <a:rPr lang="es-ES" sz="2400" dirty="0" smtClean="0"/>
              <a:t> - </a:t>
            </a:r>
            <a:r>
              <a:rPr lang="es-ES" sz="2400" dirty="0" smtClean="0"/>
              <a:t>5 </a:t>
            </a:r>
            <a:r>
              <a:rPr lang="es-ES" sz="2400" dirty="0">
                <a:sym typeface="Symbol"/>
              </a:rPr>
              <a:t> </a:t>
            </a:r>
            <a:r>
              <a:rPr lang="es-ES" sz="2400" dirty="0" smtClean="0">
                <a:sym typeface="Symbol"/>
              </a:rPr>
              <a:t>1</a:t>
            </a:r>
            <a:r>
              <a:rPr lang="es-ES" sz="2400" dirty="0" smtClean="0"/>
              <a:t> </a:t>
            </a:r>
            <a:r>
              <a:rPr lang="es-ES" sz="2400" dirty="0"/>
              <a:t>= </a:t>
            </a:r>
            <a:r>
              <a:rPr lang="es-ES" sz="2400" dirty="0" smtClean="0"/>
              <a:t>1 </a:t>
            </a:r>
            <a:r>
              <a:rPr lang="es-ES" sz="2400" dirty="0" smtClean="0">
                <a:solidFill>
                  <a:srgbClr val="FF0000"/>
                </a:solidFill>
                <a:sym typeface="Wingdings 2"/>
              </a:rPr>
              <a:t></a:t>
            </a:r>
          </a:p>
          <a:p>
            <a:endParaRPr lang="es-ES" sz="2400" dirty="0">
              <a:solidFill>
                <a:srgbClr val="FF0000"/>
              </a:solidFill>
            </a:endParaRPr>
          </a:p>
          <a:p>
            <a:r>
              <a:rPr lang="es-ES" sz="2400" dirty="0"/>
              <a:t>3</a:t>
            </a:r>
            <a:r>
              <a:rPr lang="es-ES" sz="2400" dirty="0" smtClean="0"/>
              <a:t> </a:t>
            </a:r>
            <a:r>
              <a:rPr lang="es-ES" sz="2400" dirty="0" smtClean="0">
                <a:sym typeface="Symbol"/>
              </a:rPr>
              <a:t> </a:t>
            </a:r>
            <a:r>
              <a:rPr lang="es-ES" sz="2400" dirty="0" smtClean="0">
                <a:sym typeface="Symbol"/>
              </a:rPr>
              <a:t>3</a:t>
            </a:r>
            <a:r>
              <a:rPr lang="es-ES" sz="2400" dirty="0" smtClean="0"/>
              <a:t> </a:t>
            </a:r>
            <a:r>
              <a:rPr lang="es-ES" sz="2400" dirty="0"/>
              <a:t>+ </a:t>
            </a:r>
            <a:r>
              <a:rPr lang="es-ES" sz="2400" dirty="0"/>
              <a:t>5</a:t>
            </a:r>
            <a:r>
              <a:rPr lang="es-ES" sz="2400" dirty="0" smtClean="0"/>
              <a:t> </a:t>
            </a:r>
            <a:r>
              <a:rPr lang="es-ES" sz="2400" dirty="0" smtClean="0">
                <a:sym typeface="Symbol"/>
              </a:rPr>
              <a:t> </a:t>
            </a:r>
            <a:r>
              <a:rPr lang="es-ES" sz="2400" dirty="0" smtClean="0">
                <a:sym typeface="Symbol"/>
              </a:rPr>
              <a:t>1</a:t>
            </a:r>
            <a:r>
              <a:rPr lang="es-ES" sz="2400" dirty="0" smtClean="0"/>
              <a:t> </a:t>
            </a:r>
            <a:r>
              <a:rPr lang="es-ES" sz="2400" dirty="0"/>
              <a:t>= </a:t>
            </a:r>
            <a:r>
              <a:rPr lang="es-ES" sz="2400" dirty="0" smtClean="0"/>
              <a:t>8 </a:t>
            </a:r>
            <a:r>
              <a:rPr lang="es-ES" sz="2400" dirty="0">
                <a:solidFill>
                  <a:srgbClr val="FF0000"/>
                </a:solidFill>
                <a:sym typeface="Wingdings 2"/>
              </a:rPr>
              <a:t></a:t>
            </a:r>
            <a:endParaRPr lang="es-ES" sz="2400" dirty="0">
              <a:solidFill>
                <a:srgbClr val="FF0000"/>
              </a:solidFill>
            </a:endParaRPr>
          </a:p>
          <a:p>
            <a:endParaRPr lang="es-ES" sz="2400" dirty="0"/>
          </a:p>
          <a:p>
            <a:endParaRPr lang="en-AU" sz="2400" dirty="0"/>
          </a:p>
        </p:txBody>
      </p:sp>
    </p:spTree>
    <p:extLst>
      <p:ext uri="{BB962C8B-B14F-4D97-AF65-F5344CB8AC3E}">
        <p14:creationId xmlns:p14="http://schemas.microsoft.com/office/powerpoint/2010/main" val="219231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853480" y="1697610"/>
            <a:ext cx="7967736" cy="4154984"/>
          </a:xfrm>
          <a:prstGeom prst="rect">
            <a:avLst/>
          </a:prstGeom>
          <a:noFill/>
        </p:spPr>
        <p:txBody>
          <a:bodyPr wrap="square" rtlCol="0">
            <a:spAutoFit/>
          </a:bodyPr>
          <a:lstStyle/>
          <a:p>
            <a:r>
              <a:rPr lang="en-AU" sz="2400" dirty="0">
                <a:solidFill>
                  <a:schemeClr val="tx2">
                    <a:lumMod val="60000"/>
                    <a:lumOff val="40000"/>
                  </a:schemeClr>
                </a:solidFill>
              </a:rPr>
              <a:t>The elimination method will only work if you can eliminate one of the variables by adding or subtracting the equations as in example 1 above. But for many simultaneous equations, this is not the case</a:t>
            </a:r>
            <a:r>
              <a:rPr lang="en-AU" sz="2400" dirty="0" smtClean="0">
                <a:solidFill>
                  <a:schemeClr val="tx2">
                    <a:lumMod val="60000"/>
                    <a:lumOff val="40000"/>
                  </a:schemeClr>
                </a:solidFill>
              </a:rPr>
              <a:t>.</a:t>
            </a:r>
          </a:p>
          <a:p>
            <a:endParaRPr lang="en-AU" sz="2400" dirty="0" smtClean="0"/>
          </a:p>
          <a:p>
            <a:r>
              <a:rPr lang="en-AU" sz="2400" b="1" dirty="0" smtClean="0"/>
              <a:t>Example 2</a:t>
            </a:r>
            <a:endParaRPr lang="en-AU" sz="2400" i="1" dirty="0" smtClean="0"/>
          </a:p>
          <a:p>
            <a:r>
              <a:rPr lang="es-ES" sz="2400" dirty="0"/>
              <a:t>2</a:t>
            </a:r>
            <a:r>
              <a:rPr lang="es-ES" sz="2400" i="1" dirty="0"/>
              <a:t>x</a:t>
            </a:r>
            <a:r>
              <a:rPr lang="es-ES" sz="2400" dirty="0"/>
              <a:t> + 3</a:t>
            </a:r>
            <a:r>
              <a:rPr lang="es-ES" sz="2400" i="1" dirty="0"/>
              <a:t>y</a:t>
            </a:r>
            <a:r>
              <a:rPr lang="es-ES" sz="2400" dirty="0"/>
              <a:t>  =   4 </a:t>
            </a:r>
          </a:p>
          <a:p>
            <a:r>
              <a:rPr lang="es-ES" sz="2400" dirty="0"/>
              <a:t>  </a:t>
            </a:r>
            <a:r>
              <a:rPr lang="es-ES" sz="2400" i="1" dirty="0"/>
              <a:t>x</a:t>
            </a:r>
            <a:r>
              <a:rPr lang="es-ES" sz="2400" dirty="0"/>
              <a:t> - 2</a:t>
            </a:r>
            <a:r>
              <a:rPr lang="es-ES" sz="2400" i="1" dirty="0"/>
              <a:t>y</a:t>
            </a:r>
            <a:r>
              <a:rPr lang="es-ES" sz="2400" dirty="0"/>
              <a:t>  = -5 </a:t>
            </a:r>
          </a:p>
          <a:p>
            <a:endParaRPr lang="en-AU" sz="2400" dirty="0" smtClean="0"/>
          </a:p>
          <a:p>
            <a:r>
              <a:rPr lang="en-AU" sz="2400" dirty="0">
                <a:solidFill>
                  <a:schemeClr val="tx2">
                    <a:lumMod val="60000"/>
                    <a:lumOff val="40000"/>
                  </a:schemeClr>
                </a:solidFill>
              </a:rPr>
              <a:t>Adding or subtracting these equations will not cancel out the ‘x’ or ‘y’ terms</a:t>
            </a:r>
            <a:r>
              <a:rPr lang="en-AU" sz="2400" dirty="0" smtClean="0">
                <a:solidFill>
                  <a:schemeClr val="tx2">
                    <a:lumMod val="60000"/>
                    <a:lumOff val="40000"/>
                  </a:schemeClr>
                </a:solidFill>
              </a:rPr>
              <a:t>.</a:t>
            </a:r>
            <a:endParaRPr lang="en-AU" sz="2400" dirty="0">
              <a:solidFill>
                <a:schemeClr val="tx2">
                  <a:lumMod val="60000"/>
                  <a:lumOff val="40000"/>
                </a:schemeClr>
              </a:solidFill>
            </a:endParaRPr>
          </a:p>
        </p:txBody>
      </p:sp>
    </p:spTree>
    <p:extLst>
      <p:ext uri="{BB962C8B-B14F-4D97-AF65-F5344CB8AC3E}">
        <p14:creationId xmlns:p14="http://schemas.microsoft.com/office/powerpoint/2010/main" val="163243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852116" y="1624610"/>
            <a:ext cx="7967736" cy="4893647"/>
          </a:xfrm>
          <a:prstGeom prst="rect">
            <a:avLst/>
          </a:prstGeom>
          <a:noFill/>
        </p:spPr>
        <p:txBody>
          <a:bodyPr wrap="square" rtlCol="0">
            <a:spAutoFit/>
          </a:bodyPr>
          <a:lstStyle/>
          <a:p>
            <a:r>
              <a:rPr lang="en-AU" sz="2400" dirty="0">
                <a:solidFill>
                  <a:schemeClr val="tx2">
                    <a:lumMod val="60000"/>
                    <a:lumOff val="40000"/>
                  </a:schemeClr>
                </a:solidFill>
              </a:rPr>
              <a:t>Before using the elimination method you may have to </a:t>
            </a:r>
            <a:r>
              <a:rPr lang="en-AU" sz="2400" b="1" dirty="0">
                <a:solidFill>
                  <a:schemeClr val="tx2">
                    <a:lumMod val="60000"/>
                    <a:lumOff val="40000"/>
                  </a:schemeClr>
                </a:solidFill>
              </a:rPr>
              <a:t>multiply </a:t>
            </a:r>
            <a:r>
              <a:rPr lang="en-AU" sz="2400" dirty="0">
                <a:solidFill>
                  <a:schemeClr val="tx2">
                    <a:lumMod val="60000"/>
                    <a:lumOff val="40000"/>
                  </a:schemeClr>
                </a:solidFill>
              </a:rPr>
              <a:t>every term of one or both of the equations by some number so that equal terms can be eliminated</a:t>
            </a:r>
            <a:r>
              <a:rPr lang="en-AU" sz="2400" dirty="0" smtClean="0">
                <a:solidFill>
                  <a:schemeClr val="tx2">
                    <a:lumMod val="60000"/>
                    <a:lumOff val="40000"/>
                  </a:schemeClr>
                </a:solidFill>
              </a:rPr>
              <a:t>.</a:t>
            </a:r>
          </a:p>
          <a:p>
            <a:endParaRPr lang="en-AU" sz="2400" dirty="0">
              <a:solidFill>
                <a:schemeClr val="tx2">
                  <a:lumMod val="60000"/>
                  <a:lumOff val="40000"/>
                </a:schemeClr>
              </a:solidFill>
            </a:endParaRPr>
          </a:p>
          <a:p>
            <a:r>
              <a:rPr lang="en-AU" sz="2400" dirty="0">
                <a:solidFill>
                  <a:schemeClr val="tx2">
                    <a:lumMod val="60000"/>
                    <a:lumOff val="40000"/>
                  </a:schemeClr>
                </a:solidFill>
              </a:rPr>
              <a:t>We could eliminate ‘</a:t>
            </a:r>
            <a:r>
              <a:rPr lang="en-AU" sz="2400" i="1" dirty="0">
                <a:solidFill>
                  <a:schemeClr val="tx2">
                    <a:lumMod val="60000"/>
                    <a:lumOff val="40000"/>
                  </a:schemeClr>
                </a:solidFill>
              </a:rPr>
              <a:t>x</a:t>
            </a:r>
            <a:r>
              <a:rPr lang="en-AU" sz="2400" dirty="0">
                <a:solidFill>
                  <a:schemeClr val="tx2">
                    <a:lumMod val="60000"/>
                    <a:lumOff val="40000"/>
                  </a:schemeClr>
                </a:solidFill>
              </a:rPr>
              <a:t>’ for this example if the second </a:t>
            </a:r>
            <a:r>
              <a:rPr lang="en-AU" sz="2400" dirty="0" smtClean="0">
                <a:solidFill>
                  <a:schemeClr val="tx2">
                    <a:lumMod val="60000"/>
                    <a:lumOff val="40000"/>
                  </a:schemeClr>
                </a:solidFill>
              </a:rPr>
              <a:t>equation (</a:t>
            </a:r>
            <a:r>
              <a:rPr lang="es-ES" sz="2400" i="1" dirty="0">
                <a:solidFill>
                  <a:schemeClr val="tx2">
                    <a:lumMod val="60000"/>
                    <a:lumOff val="40000"/>
                  </a:schemeClr>
                </a:solidFill>
              </a:rPr>
              <a:t>x</a:t>
            </a:r>
            <a:r>
              <a:rPr lang="es-ES" sz="2400" dirty="0">
                <a:solidFill>
                  <a:schemeClr val="tx2">
                    <a:lumMod val="60000"/>
                    <a:lumOff val="40000"/>
                  </a:schemeClr>
                </a:solidFill>
              </a:rPr>
              <a:t> - 2</a:t>
            </a:r>
            <a:r>
              <a:rPr lang="es-ES" sz="2400" i="1" dirty="0">
                <a:solidFill>
                  <a:schemeClr val="tx2">
                    <a:lumMod val="60000"/>
                    <a:lumOff val="40000"/>
                  </a:schemeClr>
                </a:solidFill>
              </a:rPr>
              <a:t>y</a:t>
            </a:r>
            <a:r>
              <a:rPr lang="es-ES" sz="2400" dirty="0">
                <a:solidFill>
                  <a:schemeClr val="tx2">
                    <a:lumMod val="60000"/>
                    <a:lumOff val="40000"/>
                  </a:schemeClr>
                </a:solidFill>
              </a:rPr>
              <a:t>  = -</a:t>
            </a:r>
            <a:r>
              <a:rPr lang="es-ES" sz="2400" dirty="0" smtClean="0">
                <a:solidFill>
                  <a:schemeClr val="tx2">
                    <a:lumMod val="60000"/>
                    <a:lumOff val="40000"/>
                  </a:schemeClr>
                </a:solidFill>
              </a:rPr>
              <a:t>5)</a:t>
            </a:r>
            <a:r>
              <a:rPr lang="en-AU" sz="2400" dirty="0" smtClean="0">
                <a:solidFill>
                  <a:schemeClr val="tx2">
                    <a:lumMod val="60000"/>
                    <a:lumOff val="40000"/>
                  </a:schemeClr>
                </a:solidFill>
              </a:rPr>
              <a:t> </a:t>
            </a:r>
            <a:r>
              <a:rPr lang="en-AU" sz="2400" dirty="0">
                <a:solidFill>
                  <a:schemeClr val="tx2">
                    <a:lumMod val="60000"/>
                    <a:lumOff val="40000"/>
                  </a:schemeClr>
                </a:solidFill>
              </a:rPr>
              <a:t>had a ‘2</a:t>
            </a:r>
            <a:r>
              <a:rPr lang="en-AU" sz="2400" i="1" dirty="0">
                <a:solidFill>
                  <a:schemeClr val="tx2">
                    <a:lumMod val="60000"/>
                    <a:lumOff val="40000"/>
                  </a:schemeClr>
                </a:solidFill>
              </a:rPr>
              <a:t>x</a:t>
            </a:r>
            <a:r>
              <a:rPr lang="en-AU" sz="2400" dirty="0">
                <a:solidFill>
                  <a:schemeClr val="tx2">
                    <a:lumMod val="60000"/>
                    <a:lumOff val="40000"/>
                  </a:schemeClr>
                </a:solidFill>
              </a:rPr>
              <a:t>’ term instead of an ‘</a:t>
            </a:r>
            <a:r>
              <a:rPr lang="en-AU" sz="2400" i="1" dirty="0">
                <a:solidFill>
                  <a:schemeClr val="tx2">
                    <a:lumMod val="60000"/>
                    <a:lumOff val="40000"/>
                  </a:schemeClr>
                </a:solidFill>
              </a:rPr>
              <a:t>x</a:t>
            </a:r>
            <a:r>
              <a:rPr lang="en-AU" sz="2400" dirty="0">
                <a:solidFill>
                  <a:schemeClr val="tx2">
                    <a:lumMod val="60000"/>
                    <a:lumOff val="40000"/>
                  </a:schemeClr>
                </a:solidFill>
              </a:rPr>
              <a:t>’ term. By multiplying every term in the second equation by 2, the ‘</a:t>
            </a:r>
            <a:r>
              <a:rPr lang="en-AU" sz="2400" i="1" dirty="0">
                <a:solidFill>
                  <a:schemeClr val="tx2">
                    <a:lumMod val="60000"/>
                    <a:lumOff val="40000"/>
                  </a:schemeClr>
                </a:solidFill>
              </a:rPr>
              <a:t>x</a:t>
            </a:r>
            <a:r>
              <a:rPr lang="en-AU" sz="2400" dirty="0">
                <a:solidFill>
                  <a:schemeClr val="tx2">
                    <a:lumMod val="60000"/>
                    <a:lumOff val="40000"/>
                  </a:schemeClr>
                </a:solidFill>
              </a:rPr>
              <a:t>’ term will become ‘2</a:t>
            </a:r>
            <a:r>
              <a:rPr lang="en-AU" sz="2400" i="1" dirty="0">
                <a:solidFill>
                  <a:schemeClr val="tx2">
                    <a:lumMod val="60000"/>
                    <a:lumOff val="40000"/>
                  </a:schemeClr>
                </a:solidFill>
              </a:rPr>
              <a:t>x</a:t>
            </a:r>
            <a:r>
              <a:rPr lang="en-AU" sz="2400" dirty="0">
                <a:solidFill>
                  <a:schemeClr val="tx2">
                    <a:lumMod val="60000"/>
                    <a:lumOff val="40000"/>
                  </a:schemeClr>
                </a:solidFill>
              </a:rPr>
              <a:t>’, like this:</a:t>
            </a:r>
          </a:p>
          <a:p>
            <a:endParaRPr lang="en-AU" sz="2400" dirty="0" smtClean="0"/>
          </a:p>
          <a:p>
            <a:r>
              <a:rPr lang="es-ES" sz="2400" dirty="0" smtClean="0"/>
              <a:t>x </a:t>
            </a:r>
            <a:r>
              <a:rPr lang="es-ES" sz="2400" dirty="0" smtClean="0">
                <a:solidFill>
                  <a:srgbClr val="00B050"/>
                </a:solidFill>
                <a:sym typeface="Symbol"/>
              </a:rPr>
              <a:t> </a:t>
            </a:r>
            <a:r>
              <a:rPr lang="es-ES" sz="2400" dirty="0" smtClean="0">
                <a:solidFill>
                  <a:srgbClr val="00B050"/>
                </a:solidFill>
              </a:rPr>
              <a:t>2 </a:t>
            </a:r>
            <a:r>
              <a:rPr lang="es-ES" sz="2400" dirty="0"/>
              <a:t>- </a:t>
            </a:r>
            <a:r>
              <a:rPr lang="es-ES" sz="2400" dirty="0" smtClean="0"/>
              <a:t>2</a:t>
            </a:r>
            <a:r>
              <a:rPr lang="es-ES" sz="2400" i="1" dirty="0" smtClean="0"/>
              <a:t>y</a:t>
            </a:r>
            <a:r>
              <a:rPr lang="es-ES" sz="2400" dirty="0"/>
              <a:t> </a:t>
            </a:r>
            <a:r>
              <a:rPr lang="es-ES" sz="2400" dirty="0" smtClean="0">
                <a:solidFill>
                  <a:srgbClr val="00B050"/>
                </a:solidFill>
                <a:sym typeface="Symbol"/>
              </a:rPr>
              <a:t> </a:t>
            </a:r>
            <a:r>
              <a:rPr lang="es-ES" sz="2400" dirty="0" smtClean="0">
                <a:solidFill>
                  <a:srgbClr val="00B050"/>
                </a:solidFill>
              </a:rPr>
              <a:t>2  </a:t>
            </a:r>
            <a:r>
              <a:rPr lang="es-ES" sz="2400" dirty="0"/>
              <a:t>= -</a:t>
            </a:r>
            <a:r>
              <a:rPr lang="es-ES" sz="2400" dirty="0" smtClean="0"/>
              <a:t>5 </a:t>
            </a:r>
            <a:r>
              <a:rPr lang="es-ES" sz="2400" dirty="0" smtClean="0">
                <a:solidFill>
                  <a:srgbClr val="00B050"/>
                </a:solidFill>
                <a:sym typeface="Symbol"/>
              </a:rPr>
              <a:t> </a:t>
            </a:r>
            <a:r>
              <a:rPr lang="es-ES" sz="2400" dirty="0" smtClean="0">
                <a:solidFill>
                  <a:srgbClr val="00B050"/>
                </a:solidFill>
              </a:rPr>
              <a:t>2 </a:t>
            </a:r>
          </a:p>
          <a:p>
            <a:endParaRPr lang="es-ES" sz="2400" dirty="0">
              <a:solidFill>
                <a:srgbClr val="00B0F0"/>
              </a:solidFill>
            </a:endParaRPr>
          </a:p>
          <a:p>
            <a:r>
              <a:rPr lang="es-ES" sz="2400" dirty="0" smtClean="0"/>
              <a:t>           2</a:t>
            </a:r>
            <a:r>
              <a:rPr lang="es-ES" sz="2400" i="1" dirty="0" smtClean="0"/>
              <a:t>x</a:t>
            </a:r>
            <a:r>
              <a:rPr lang="es-ES" sz="2400" dirty="0" smtClean="0"/>
              <a:t> </a:t>
            </a:r>
            <a:r>
              <a:rPr lang="es-ES" sz="2400" dirty="0"/>
              <a:t>- 4y  = -10 </a:t>
            </a:r>
          </a:p>
          <a:p>
            <a:endParaRPr lang="en-AU" sz="2400" dirty="0" smtClean="0"/>
          </a:p>
        </p:txBody>
      </p:sp>
    </p:spTree>
    <p:extLst>
      <p:ext uri="{BB962C8B-B14F-4D97-AF65-F5344CB8AC3E}">
        <p14:creationId xmlns:p14="http://schemas.microsoft.com/office/powerpoint/2010/main" val="47433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21451"/>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4684" y="1360686"/>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46166"/>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360686"/>
            <a:ext cx="0" cy="5668714"/>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123090" y="901199"/>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950025" y="1397089"/>
            <a:ext cx="7967736" cy="5878532"/>
          </a:xfrm>
          <a:prstGeom prst="rect">
            <a:avLst/>
          </a:prstGeom>
          <a:noFill/>
        </p:spPr>
        <p:txBody>
          <a:bodyPr wrap="square" rtlCol="0">
            <a:spAutoFit/>
          </a:bodyPr>
          <a:lstStyle/>
          <a:p>
            <a:r>
              <a:rPr lang="en-AU" sz="2400" dirty="0" smtClean="0">
                <a:solidFill>
                  <a:schemeClr val="tx2">
                    <a:lumMod val="60000"/>
                    <a:lumOff val="40000"/>
                  </a:schemeClr>
                </a:solidFill>
              </a:rPr>
              <a:t>Now the equations can be </a:t>
            </a:r>
            <a:r>
              <a:rPr lang="en-AU" sz="2400" b="1" dirty="0" smtClean="0">
                <a:solidFill>
                  <a:schemeClr val="tx2">
                    <a:lumMod val="60000"/>
                    <a:lumOff val="40000"/>
                  </a:schemeClr>
                </a:solidFill>
              </a:rPr>
              <a:t>subtracted!</a:t>
            </a:r>
          </a:p>
          <a:p>
            <a:endParaRPr lang="en-AU" sz="2400" dirty="0" smtClean="0">
              <a:solidFill>
                <a:schemeClr val="tx2">
                  <a:lumMod val="60000"/>
                  <a:lumOff val="40000"/>
                </a:schemeClr>
              </a:solidFill>
            </a:endParaRPr>
          </a:p>
          <a:p>
            <a:r>
              <a:rPr lang="en-AU" sz="2400" dirty="0" smtClean="0">
                <a:solidFill>
                  <a:schemeClr val="tx2">
                    <a:lumMod val="60000"/>
                    <a:lumOff val="40000"/>
                  </a:schemeClr>
                </a:solidFill>
              </a:rPr>
              <a:t>Step1: To </a:t>
            </a:r>
            <a:r>
              <a:rPr lang="en-AU" sz="2400" dirty="0">
                <a:solidFill>
                  <a:schemeClr val="tx2">
                    <a:lumMod val="60000"/>
                    <a:lumOff val="40000"/>
                  </a:schemeClr>
                </a:solidFill>
              </a:rPr>
              <a:t>add the equations, add the left side expressions and the right side expressions separately</a:t>
            </a:r>
            <a:r>
              <a:rPr lang="en-AU" sz="2400" dirty="0" smtClean="0">
                <a:solidFill>
                  <a:schemeClr val="tx2">
                    <a:lumMod val="60000"/>
                    <a:lumOff val="40000"/>
                  </a:schemeClr>
                </a:solidFill>
              </a:rPr>
              <a:t>.</a:t>
            </a:r>
          </a:p>
          <a:p>
            <a:endParaRPr lang="en-AU" sz="2400" dirty="0"/>
          </a:p>
          <a:p>
            <a:r>
              <a:rPr lang="en-AU" sz="2400" dirty="0" smtClean="0"/>
              <a:t>   2x + </a:t>
            </a:r>
            <a:r>
              <a:rPr lang="en-AU" sz="2400" dirty="0"/>
              <a:t>3</a:t>
            </a:r>
            <a:r>
              <a:rPr lang="en-AU" sz="2400" dirty="0" smtClean="0"/>
              <a:t>y =    4</a:t>
            </a:r>
          </a:p>
          <a:p>
            <a:r>
              <a:rPr lang="en-AU" sz="2400" dirty="0" smtClean="0">
                <a:solidFill>
                  <a:srgbClr val="FF0000"/>
                </a:solidFill>
              </a:rPr>
              <a:t>- </a:t>
            </a:r>
            <a:r>
              <a:rPr lang="en-AU" sz="2400" dirty="0" smtClean="0"/>
              <a:t> </a:t>
            </a:r>
            <a:r>
              <a:rPr lang="en-AU" sz="2400" dirty="0"/>
              <a:t>2</a:t>
            </a:r>
            <a:r>
              <a:rPr lang="en-AU" sz="2400" dirty="0" smtClean="0"/>
              <a:t>x - </a:t>
            </a:r>
            <a:r>
              <a:rPr lang="en-AU" sz="2400" dirty="0"/>
              <a:t>4</a:t>
            </a:r>
            <a:r>
              <a:rPr lang="en-AU" sz="2400" dirty="0" smtClean="0"/>
              <a:t>y = </a:t>
            </a:r>
            <a:r>
              <a:rPr lang="en-AU" sz="2400" dirty="0">
                <a:solidFill>
                  <a:srgbClr val="FF0000"/>
                </a:solidFill>
              </a:rPr>
              <a:t>- </a:t>
            </a:r>
            <a:r>
              <a:rPr lang="en-AU" sz="2400" dirty="0" smtClean="0"/>
              <a:t>-10</a:t>
            </a:r>
          </a:p>
          <a:p>
            <a:r>
              <a:rPr lang="en-AU" sz="2400" dirty="0" smtClean="0"/>
              <a:t>           7y =   14        (÷7)</a:t>
            </a:r>
          </a:p>
          <a:p>
            <a:r>
              <a:rPr lang="en-AU" sz="2400" dirty="0"/>
              <a:t> </a:t>
            </a:r>
            <a:r>
              <a:rPr lang="en-AU" sz="2400" dirty="0" smtClean="0"/>
              <a:t>             y = 2</a:t>
            </a:r>
            <a:endParaRPr lang="en-AU" sz="2400" dirty="0"/>
          </a:p>
          <a:p>
            <a:endParaRPr lang="en-AU" dirty="0" smtClean="0"/>
          </a:p>
          <a:p>
            <a:r>
              <a:rPr lang="en-AU" sz="2400" dirty="0" smtClean="0">
                <a:solidFill>
                  <a:schemeClr val="tx2">
                    <a:lumMod val="60000"/>
                    <a:lumOff val="40000"/>
                  </a:schemeClr>
                </a:solidFill>
              </a:rPr>
              <a:t>Step 2: Substitute y = 2 into one of the equations</a:t>
            </a:r>
          </a:p>
          <a:p>
            <a:endParaRPr lang="en-AU" sz="2000" dirty="0"/>
          </a:p>
          <a:p>
            <a:r>
              <a:rPr lang="en-AU" sz="2400" dirty="0" smtClean="0"/>
              <a:t>    2x + 3y = 4   (Substitute y)</a:t>
            </a:r>
          </a:p>
          <a:p>
            <a:endParaRPr lang="en-AU" sz="2000" dirty="0"/>
          </a:p>
          <a:p>
            <a:r>
              <a:rPr lang="en-AU" sz="2400" dirty="0" smtClean="0"/>
              <a:t>2x</a:t>
            </a:r>
            <a:r>
              <a:rPr lang="en-AU" sz="2400" dirty="0" smtClean="0">
                <a:sym typeface="Symbol"/>
              </a:rPr>
              <a:t> + 3 </a:t>
            </a:r>
            <a:r>
              <a:rPr lang="en-AU" sz="2400" dirty="0">
                <a:sym typeface="Symbol"/>
              </a:rPr>
              <a:t> </a:t>
            </a:r>
            <a:r>
              <a:rPr lang="en-AU" sz="2400" dirty="0" smtClean="0">
                <a:sym typeface="Symbol"/>
              </a:rPr>
              <a:t>2 = 4</a:t>
            </a:r>
            <a:endParaRPr lang="en-AU" sz="2400" dirty="0" smtClean="0"/>
          </a:p>
          <a:p>
            <a:endParaRPr lang="en-AU" sz="2400" dirty="0"/>
          </a:p>
        </p:txBody>
      </p:sp>
      <p:cxnSp>
        <p:nvCxnSpPr>
          <p:cNvPr id="17" name="Straight Connector 16"/>
          <p:cNvCxnSpPr/>
          <p:nvPr/>
        </p:nvCxnSpPr>
        <p:spPr>
          <a:xfrm>
            <a:off x="1115616" y="4064744"/>
            <a:ext cx="16561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259632" y="3361184"/>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259632" y="3729732"/>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0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smtClean="0"/>
              <a:t>Date</a:t>
            </a:r>
            <a:endParaRPr lang="en-AU" sz="2400" dirty="0"/>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a:t>
            </a:r>
            <a:r>
              <a:rPr lang="en-AU" sz="2200" dirty="0" smtClean="0"/>
              <a:t>solve simultaneous equations using the </a:t>
            </a:r>
            <a:r>
              <a:rPr lang="en-AU" sz="2200" dirty="0" smtClean="0"/>
              <a:t>elimination method</a:t>
            </a:r>
            <a:r>
              <a:rPr lang="en-AU" sz="2200" dirty="0" smtClean="0"/>
              <a:t>? </a:t>
            </a:r>
            <a:endParaRPr lang="en-AU" sz="2200" dirty="0"/>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smtClean="0"/>
              <a:t>Simultaneous equations – </a:t>
            </a:r>
            <a:r>
              <a:rPr lang="en-AU" sz="2800" dirty="0" smtClean="0"/>
              <a:t>elimination method</a:t>
            </a:r>
            <a:endParaRPr lang="en-AU" sz="2800" dirty="0"/>
          </a:p>
        </p:txBody>
      </p:sp>
      <p:sp>
        <p:nvSpPr>
          <p:cNvPr id="21" name="TextBox 20"/>
          <p:cNvSpPr txBox="1"/>
          <p:nvPr/>
        </p:nvSpPr>
        <p:spPr>
          <a:xfrm>
            <a:off x="950025" y="1444308"/>
            <a:ext cx="7967736" cy="2677656"/>
          </a:xfrm>
          <a:prstGeom prst="rect">
            <a:avLst/>
          </a:prstGeom>
          <a:noFill/>
        </p:spPr>
        <p:txBody>
          <a:bodyPr wrap="square" rtlCol="0">
            <a:spAutoFit/>
          </a:bodyPr>
          <a:lstStyle/>
          <a:p>
            <a:r>
              <a:rPr lang="en-AU" sz="2400" dirty="0" smtClean="0"/>
              <a:t>2x</a:t>
            </a:r>
            <a:r>
              <a:rPr lang="en-AU" sz="2400" dirty="0" smtClean="0">
                <a:sym typeface="Symbol"/>
              </a:rPr>
              <a:t> + 3 </a:t>
            </a:r>
            <a:r>
              <a:rPr lang="en-AU" sz="2400" dirty="0">
                <a:sym typeface="Symbol"/>
              </a:rPr>
              <a:t> </a:t>
            </a:r>
            <a:r>
              <a:rPr lang="en-AU" sz="2400" dirty="0" smtClean="0">
                <a:sym typeface="Symbol"/>
              </a:rPr>
              <a:t>2 = 4</a:t>
            </a:r>
            <a:endParaRPr lang="en-AU" sz="2400" dirty="0" smtClean="0"/>
          </a:p>
          <a:p>
            <a:endParaRPr lang="en-AU" sz="2400" dirty="0"/>
          </a:p>
          <a:p>
            <a:r>
              <a:rPr lang="en-AU" sz="2400" dirty="0" smtClean="0"/>
              <a:t>       2x + 6 = 4         (-6)</a:t>
            </a:r>
          </a:p>
          <a:p>
            <a:endParaRPr lang="en-AU" sz="2400" dirty="0"/>
          </a:p>
          <a:p>
            <a:r>
              <a:rPr lang="en-AU" sz="2400" dirty="0" smtClean="0"/>
              <a:t>              2x = -2        (÷2)</a:t>
            </a:r>
          </a:p>
          <a:p>
            <a:endParaRPr lang="en-AU" sz="2400" dirty="0"/>
          </a:p>
          <a:p>
            <a:r>
              <a:rPr lang="en-AU" sz="2400" dirty="0" smtClean="0"/>
              <a:t>                x = -1 </a:t>
            </a:r>
            <a:endParaRPr lang="en-AU" sz="2400" dirty="0"/>
          </a:p>
        </p:txBody>
      </p:sp>
      <p:sp>
        <p:nvSpPr>
          <p:cNvPr id="13" name="TextBox 12"/>
          <p:cNvSpPr txBox="1"/>
          <p:nvPr/>
        </p:nvSpPr>
        <p:spPr>
          <a:xfrm>
            <a:off x="755576" y="4149080"/>
            <a:ext cx="7704856" cy="2523768"/>
          </a:xfrm>
          <a:prstGeom prst="rect">
            <a:avLst/>
          </a:prstGeom>
          <a:noFill/>
        </p:spPr>
        <p:txBody>
          <a:bodyPr wrap="square" rtlCol="0">
            <a:spAutoFit/>
          </a:bodyPr>
          <a:lstStyle/>
          <a:p>
            <a:r>
              <a:rPr lang="en-AU" sz="2400" b="1" dirty="0" smtClean="0"/>
              <a:t>Solution: </a:t>
            </a:r>
            <a:r>
              <a:rPr lang="en-AU" sz="2400" dirty="0" smtClean="0"/>
              <a:t>x </a:t>
            </a:r>
            <a:r>
              <a:rPr lang="en-AU" sz="2400" dirty="0" smtClean="0"/>
              <a:t>= </a:t>
            </a:r>
            <a:r>
              <a:rPr lang="en-AU" sz="2400" dirty="0" smtClean="0"/>
              <a:t>-1, </a:t>
            </a:r>
            <a:r>
              <a:rPr lang="en-AU" sz="2400" dirty="0" smtClean="0"/>
              <a:t>y = </a:t>
            </a:r>
            <a:r>
              <a:rPr lang="en-AU" sz="2400" dirty="0"/>
              <a:t>2</a:t>
            </a:r>
            <a:endParaRPr lang="en-AU" sz="2400" b="1" dirty="0" smtClean="0"/>
          </a:p>
          <a:p>
            <a:endParaRPr lang="en-AU" sz="2400" dirty="0"/>
          </a:p>
          <a:p>
            <a:r>
              <a:rPr lang="en-AU" sz="2400" b="1" dirty="0" smtClean="0"/>
              <a:t>Check:</a:t>
            </a:r>
          </a:p>
          <a:p>
            <a:endParaRPr lang="en-AU" dirty="0"/>
          </a:p>
          <a:p>
            <a:r>
              <a:rPr lang="es-ES" sz="2400" dirty="0"/>
              <a:t>2</a:t>
            </a:r>
            <a:r>
              <a:rPr lang="es-ES" sz="2400" dirty="0" smtClean="0"/>
              <a:t> </a:t>
            </a:r>
            <a:r>
              <a:rPr lang="es-ES" sz="2400" dirty="0">
                <a:sym typeface="Symbol"/>
              </a:rPr>
              <a:t> </a:t>
            </a:r>
            <a:r>
              <a:rPr lang="es-ES" sz="2400" dirty="0" smtClean="0">
                <a:sym typeface="Symbol"/>
              </a:rPr>
              <a:t>-1</a:t>
            </a:r>
            <a:r>
              <a:rPr lang="es-ES" sz="2400" dirty="0" smtClean="0"/>
              <a:t> + 3</a:t>
            </a:r>
            <a:r>
              <a:rPr lang="es-ES" sz="2400" dirty="0" smtClean="0"/>
              <a:t> </a:t>
            </a:r>
            <a:r>
              <a:rPr lang="es-ES" sz="2400" dirty="0">
                <a:sym typeface="Symbol"/>
              </a:rPr>
              <a:t> </a:t>
            </a:r>
            <a:r>
              <a:rPr lang="es-ES" sz="2400" dirty="0" smtClean="0">
                <a:sym typeface="Symbol"/>
              </a:rPr>
              <a:t>2</a:t>
            </a:r>
            <a:r>
              <a:rPr lang="es-ES" sz="2400" dirty="0" smtClean="0"/>
              <a:t> </a:t>
            </a:r>
            <a:r>
              <a:rPr lang="es-ES" sz="2400" dirty="0"/>
              <a:t>= </a:t>
            </a:r>
            <a:r>
              <a:rPr lang="es-ES" sz="2400" dirty="0"/>
              <a:t>4</a:t>
            </a:r>
            <a:r>
              <a:rPr lang="es-ES" sz="2400" dirty="0" smtClean="0"/>
              <a:t> </a:t>
            </a:r>
            <a:r>
              <a:rPr lang="es-ES" sz="2400" dirty="0" smtClean="0">
                <a:solidFill>
                  <a:srgbClr val="FF0000"/>
                </a:solidFill>
                <a:sym typeface="Wingdings 2"/>
              </a:rPr>
              <a:t></a:t>
            </a:r>
          </a:p>
          <a:p>
            <a:endParaRPr lang="es-ES" dirty="0">
              <a:solidFill>
                <a:srgbClr val="FF0000"/>
              </a:solidFill>
            </a:endParaRPr>
          </a:p>
          <a:p>
            <a:r>
              <a:rPr lang="es-ES" sz="2400" dirty="0" smtClean="0"/>
              <a:t>        -1 </a:t>
            </a:r>
            <a:r>
              <a:rPr lang="es-ES" sz="2400" dirty="0"/>
              <a:t>-</a:t>
            </a:r>
            <a:r>
              <a:rPr lang="es-ES" sz="2400" dirty="0" smtClean="0"/>
              <a:t> </a:t>
            </a:r>
            <a:r>
              <a:rPr lang="es-ES" sz="2400" dirty="0" smtClean="0"/>
              <a:t>2</a:t>
            </a:r>
            <a:r>
              <a:rPr lang="es-ES" sz="2400" dirty="0" smtClean="0"/>
              <a:t> </a:t>
            </a:r>
            <a:r>
              <a:rPr lang="es-ES" sz="2400" dirty="0" smtClean="0">
                <a:sym typeface="Symbol"/>
              </a:rPr>
              <a:t> </a:t>
            </a:r>
            <a:r>
              <a:rPr lang="es-ES" sz="2400" dirty="0">
                <a:sym typeface="Symbol"/>
              </a:rPr>
              <a:t>2</a:t>
            </a:r>
            <a:r>
              <a:rPr lang="es-ES" sz="2400" dirty="0" smtClean="0"/>
              <a:t> </a:t>
            </a:r>
            <a:r>
              <a:rPr lang="es-ES" sz="2400" dirty="0"/>
              <a:t>= </a:t>
            </a:r>
            <a:r>
              <a:rPr lang="es-ES" sz="2400" dirty="0" smtClean="0"/>
              <a:t>-5</a:t>
            </a:r>
            <a:r>
              <a:rPr lang="es-ES" sz="2400" dirty="0" smtClean="0"/>
              <a:t> </a:t>
            </a:r>
            <a:r>
              <a:rPr lang="es-ES" sz="2400" dirty="0" smtClean="0">
                <a:solidFill>
                  <a:srgbClr val="FF0000"/>
                </a:solidFill>
                <a:sym typeface="Wingdings 2"/>
              </a:rPr>
              <a:t></a:t>
            </a:r>
            <a:endParaRPr lang="es-ES" sz="2400" dirty="0">
              <a:solidFill>
                <a:srgbClr val="FF0000"/>
              </a:solidFill>
            </a:endParaRPr>
          </a:p>
        </p:txBody>
      </p:sp>
    </p:spTree>
    <p:extLst>
      <p:ext uri="{BB962C8B-B14F-4D97-AF65-F5344CB8AC3E}">
        <p14:creationId xmlns:p14="http://schemas.microsoft.com/office/powerpoint/2010/main" val="135217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30626"/>
          </a:xfrm>
        </p:spPr>
        <p:txBody>
          <a:bodyPr>
            <a:normAutofit/>
          </a:bodyPr>
          <a:lstStyle/>
          <a:p>
            <a:r>
              <a:rPr lang="en-AU" dirty="0" smtClean="0"/>
              <a:t>Questions:</a:t>
            </a:r>
            <a:br>
              <a:rPr lang="en-AU" dirty="0" smtClean="0"/>
            </a:br>
            <a:r>
              <a:rPr lang="en-AU" smtClean="0"/>
              <a:t>Exercise </a:t>
            </a:r>
            <a:r>
              <a:rPr lang="en-AU" smtClean="0"/>
              <a:t>2.8 </a:t>
            </a:r>
            <a:r>
              <a:rPr lang="en-AU" smtClean="0"/>
              <a:t>page </a:t>
            </a:r>
            <a:r>
              <a:rPr lang="en-AU" smtClean="0"/>
              <a:t>25</a:t>
            </a:r>
            <a:r>
              <a:rPr lang="en-AU" dirty="0" smtClean="0"/>
              <a:t/>
            </a:r>
            <a:br>
              <a:rPr lang="en-AU" dirty="0" smtClean="0"/>
            </a:br>
            <a:r>
              <a:rPr lang="en-AU" dirty="0" smtClean="0"/>
              <a:t>Dwyer Book</a:t>
            </a:r>
            <a:br>
              <a:rPr lang="en-AU" dirty="0" smtClean="0"/>
            </a:br>
            <a:r>
              <a:rPr lang="en-AU" dirty="0"/>
              <a:t/>
            </a:r>
            <a:br>
              <a:rPr lang="en-AU" dirty="0"/>
            </a:br>
            <a:endParaRPr lang="en-AU" dirty="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1813562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1454</TotalTime>
  <Words>742</Words>
  <Application>Microsoft Office PowerPoint</Application>
  <PresentationFormat>On-screen Show (4:3)</PresentationFormat>
  <Paragraphs>130</Paragraphs>
  <Slides>11</Slides>
  <Notes>0</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 Exercise 2.8 page 25 Dwyer Book  </vt:lpstr>
      <vt:lpstr>Notes Review</vt:lpstr>
      <vt:lpstr>Homework</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PURCELL Laura</cp:lastModifiedBy>
  <cp:revision>128</cp:revision>
  <dcterms:created xsi:type="dcterms:W3CDTF">2014-05-14T02:58:57Z</dcterms:created>
  <dcterms:modified xsi:type="dcterms:W3CDTF">2016-02-21T04:49:33Z</dcterms:modified>
</cp:coreProperties>
</file>
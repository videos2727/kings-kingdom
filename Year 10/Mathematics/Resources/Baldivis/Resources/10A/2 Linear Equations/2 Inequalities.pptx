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0" r:id="rId2"/>
    <p:sldId id="259" r:id="rId3"/>
    <p:sldId id="258" r:id="rId4"/>
    <p:sldId id="331" r:id="rId5"/>
    <p:sldId id="337" r:id="rId6"/>
    <p:sldId id="338" r:id="rId7"/>
    <p:sldId id="339" r:id="rId8"/>
    <p:sldId id="333" r:id="rId9"/>
    <p:sldId id="292" r:id="rId10"/>
    <p:sldId id="291" r:id="rId11"/>
  </p:sldIdLst>
  <p:sldSz cx="9144000" cy="6858000" type="screen4x3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2895" autoAdjust="0"/>
  </p:normalViewPr>
  <p:slideViewPr>
    <p:cSldViewPr>
      <p:cViewPr>
        <p:scale>
          <a:sx n="75" d="100"/>
          <a:sy n="75" d="100"/>
        </p:scale>
        <p:origin x="-1014" y="53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16/02/2016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16/02/2016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16/02/2016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16/02/2016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16/02/2016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16/02/2016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16/02/2016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16/02/2016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Linear Equations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6821" y="1196752"/>
            <a:ext cx="89365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EQ – How do I look at something greater than or less than? </a:t>
            </a:r>
            <a:endParaRPr lang="en-AU" sz="2200" dirty="0"/>
          </a:p>
        </p:txBody>
      </p:sp>
      <p:sp>
        <p:nvSpPr>
          <p:cNvPr id="14" name="TextBox 13"/>
          <p:cNvSpPr txBox="1"/>
          <p:nvPr/>
        </p:nvSpPr>
        <p:spPr>
          <a:xfrm>
            <a:off x="669535" y="368717"/>
            <a:ext cx="16369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Inequalities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626383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627784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6821" y="1196752"/>
            <a:ext cx="89365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EQ – How do I look at something greater than or less than? </a:t>
            </a:r>
            <a:endParaRPr lang="en-AU" sz="2200" dirty="0"/>
          </a:p>
        </p:txBody>
      </p:sp>
      <p:sp>
        <p:nvSpPr>
          <p:cNvPr id="14" name="TextBox 13"/>
          <p:cNvSpPr txBox="1"/>
          <p:nvPr/>
        </p:nvSpPr>
        <p:spPr>
          <a:xfrm>
            <a:off x="669535" y="368717"/>
            <a:ext cx="16369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Inequalities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2348880"/>
            <a:ext cx="2488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greater than or less than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6" t="42253" r="50000" b="45942"/>
          <a:stretch/>
        </p:blipFill>
        <p:spPr>
          <a:xfrm>
            <a:off x="2889211" y="3645024"/>
            <a:ext cx="5771465" cy="54191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843808" y="2071881"/>
            <a:ext cx="57714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Inequalities can be, greater than, less than, greater than or equal to or less </a:t>
            </a:r>
            <a:r>
              <a:rPr lang="en-AU" dirty="0"/>
              <a:t>than or equal </a:t>
            </a:r>
            <a:r>
              <a:rPr lang="en-AU" dirty="0" smtClean="0"/>
              <a:t>to.  The equal to has a filled in circle the non equal part has a hollow circle.</a:t>
            </a:r>
            <a:endParaRPr lang="en-AU" dirty="0"/>
          </a:p>
        </p:txBody>
      </p:sp>
      <p:grpSp>
        <p:nvGrpSpPr>
          <p:cNvPr id="19" name="Group 18"/>
          <p:cNvGrpSpPr/>
          <p:nvPr/>
        </p:nvGrpSpPr>
        <p:grpSpPr>
          <a:xfrm>
            <a:off x="3757659" y="5730606"/>
            <a:ext cx="1594852" cy="115162"/>
            <a:chOff x="3683715" y="3688177"/>
            <a:chExt cx="2074719" cy="115162"/>
          </a:xfrm>
        </p:grpSpPr>
        <p:sp>
          <p:nvSpPr>
            <p:cNvPr id="20" name="Oval 19"/>
            <p:cNvSpPr/>
            <p:nvPr/>
          </p:nvSpPr>
          <p:spPr>
            <a:xfrm>
              <a:off x="5625270" y="3688177"/>
              <a:ext cx="133164" cy="11516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21" name="Straight Arrow Connector 20"/>
            <p:cNvCxnSpPr/>
            <p:nvPr/>
          </p:nvCxnSpPr>
          <p:spPr>
            <a:xfrm flipH="1">
              <a:off x="3683715" y="3745758"/>
              <a:ext cx="1978522" cy="0"/>
            </a:xfrm>
            <a:prstGeom prst="straightConnector1">
              <a:avLst/>
            </a:prstGeom>
            <a:ln w="222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/>
          <p:cNvSpPr txBox="1"/>
          <p:nvPr/>
        </p:nvSpPr>
        <p:spPr>
          <a:xfrm>
            <a:off x="3203848" y="3140968"/>
            <a:ext cx="4570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err="1" smtClean="0"/>
              <a:t>Eg</a:t>
            </a:r>
            <a:r>
              <a:rPr lang="en-AU" dirty="0" smtClean="0"/>
              <a:t> x &lt; 2 		See below	or x &gt; 4</a:t>
            </a:r>
            <a:endParaRPr lang="en-AU" dirty="0"/>
          </a:p>
        </p:txBody>
      </p:sp>
      <p:grpSp>
        <p:nvGrpSpPr>
          <p:cNvPr id="26" name="Group 25"/>
          <p:cNvGrpSpPr/>
          <p:nvPr/>
        </p:nvGrpSpPr>
        <p:grpSpPr>
          <a:xfrm rot="10800000">
            <a:off x="6724241" y="3645024"/>
            <a:ext cx="1690490" cy="115162"/>
            <a:chOff x="4067944" y="3688177"/>
            <a:chExt cx="1690490" cy="115162"/>
          </a:xfrm>
        </p:grpSpPr>
        <p:sp>
          <p:nvSpPr>
            <p:cNvPr id="27" name="Oval 26"/>
            <p:cNvSpPr/>
            <p:nvPr/>
          </p:nvSpPr>
          <p:spPr>
            <a:xfrm>
              <a:off x="5625270" y="3688177"/>
              <a:ext cx="133164" cy="11516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28" name="Straight Arrow Connector 27"/>
            <p:cNvCxnSpPr/>
            <p:nvPr/>
          </p:nvCxnSpPr>
          <p:spPr>
            <a:xfrm flipH="1">
              <a:off x="4067944" y="3745758"/>
              <a:ext cx="1594293" cy="0"/>
            </a:xfrm>
            <a:prstGeom prst="straightConnector1">
              <a:avLst/>
            </a:prstGeom>
            <a:ln w="222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/>
          <p:cNvGrpSpPr/>
          <p:nvPr/>
        </p:nvGrpSpPr>
        <p:grpSpPr>
          <a:xfrm>
            <a:off x="4593471" y="3645024"/>
            <a:ext cx="1690490" cy="115162"/>
            <a:chOff x="4067944" y="3688177"/>
            <a:chExt cx="1690490" cy="115162"/>
          </a:xfrm>
        </p:grpSpPr>
        <p:sp>
          <p:nvSpPr>
            <p:cNvPr id="30" name="Oval 29"/>
            <p:cNvSpPr/>
            <p:nvPr/>
          </p:nvSpPr>
          <p:spPr>
            <a:xfrm>
              <a:off x="5625270" y="3688177"/>
              <a:ext cx="133164" cy="11516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31" name="Straight Arrow Connector 30"/>
            <p:cNvCxnSpPr/>
            <p:nvPr/>
          </p:nvCxnSpPr>
          <p:spPr>
            <a:xfrm flipH="1">
              <a:off x="4067944" y="3745758"/>
              <a:ext cx="1594293" cy="0"/>
            </a:xfrm>
            <a:prstGeom prst="straightConnector1">
              <a:avLst/>
            </a:prstGeom>
            <a:ln w="222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Picture 3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6" t="42253" r="50000" b="45942"/>
          <a:stretch/>
        </p:blipFill>
        <p:spPr>
          <a:xfrm>
            <a:off x="2976999" y="5845768"/>
            <a:ext cx="5771465" cy="541911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819911" y="4186935"/>
            <a:ext cx="59100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if I there is </a:t>
            </a:r>
            <a:r>
              <a:rPr lang="en-AU" dirty="0"/>
              <a:t>greater than and equal to or less than and equal to</a:t>
            </a:r>
          </a:p>
          <a:p>
            <a:r>
              <a:rPr lang="en-AU" dirty="0" smtClean="0"/>
              <a:t> .</a:t>
            </a:r>
          </a:p>
          <a:p>
            <a:r>
              <a:rPr lang="en-AU" dirty="0" err="1" smtClean="0"/>
              <a:t>Eg</a:t>
            </a:r>
            <a:r>
              <a:rPr lang="en-AU" dirty="0" smtClean="0"/>
              <a:t>     x </a:t>
            </a:r>
            <a:r>
              <a:rPr lang="en-AU" dirty="0" smtClean="0">
                <a:latin typeface="Cambria Math" pitchFamily="18" charset="0"/>
                <a:ea typeface="Cambria Math" pitchFamily="18" charset="0"/>
              </a:rPr>
              <a:t>≤</a:t>
            </a:r>
            <a:r>
              <a:rPr lang="en-AU" dirty="0" smtClean="0"/>
              <a:t> -2 		or 	   x </a:t>
            </a:r>
            <a:r>
              <a:rPr lang="en-AU" dirty="0">
                <a:latin typeface="Cambria Math"/>
                <a:ea typeface="Cambria Math"/>
              </a:rPr>
              <a:t>≥</a:t>
            </a:r>
            <a:r>
              <a:rPr lang="en-AU" dirty="0" smtClean="0"/>
              <a:t> 5</a:t>
            </a:r>
            <a:endParaRPr lang="en-AU" dirty="0"/>
          </a:p>
        </p:txBody>
      </p:sp>
      <p:grpSp>
        <p:nvGrpSpPr>
          <p:cNvPr id="40" name="Group 39"/>
          <p:cNvGrpSpPr/>
          <p:nvPr/>
        </p:nvGrpSpPr>
        <p:grpSpPr>
          <a:xfrm rot="10800000">
            <a:off x="7065824" y="5730606"/>
            <a:ext cx="1594852" cy="115162"/>
            <a:chOff x="3683715" y="3688177"/>
            <a:chExt cx="2074719" cy="115162"/>
          </a:xfrm>
        </p:grpSpPr>
        <p:sp>
          <p:nvSpPr>
            <p:cNvPr id="41" name="Oval 40"/>
            <p:cNvSpPr/>
            <p:nvPr/>
          </p:nvSpPr>
          <p:spPr>
            <a:xfrm>
              <a:off x="5625270" y="3688177"/>
              <a:ext cx="133164" cy="11516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42" name="Straight Arrow Connector 41"/>
            <p:cNvCxnSpPr/>
            <p:nvPr/>
          </p:nvCxnSpPr>
          <p:spPr>
            <a:xfrm flipH="1">
              <a:off x="3683715" y="3745758"/>
              <a:ext cx="1978522" cy="0"/>
            </a:xfrm>
            <a:prstGeom prst="straightConnector1">
              <a:avLst/>
            </a:prstGeom>
            <a:ln w="222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/>
          <p:cNvSpPr txBox="1"/>
          <p:nvPr/>
        </p:nvSpPr>
        <p:spPr>
          <a:xfrm>
            <a:off x="178609" y="4325434"/>
            <a:ext cx="23182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greater </a:t>
            </a:r>
            <a:r>
              <a:rPr lang="en-AU" dirty="0" smtClean="0"/>
              <a:t>than and equal to or </a:t>
            </a:r>
            <a:r>
              <a:rPr lang="en-AU" dirty="0"/>
              <a:t>less </a:t>
            </a:r>
            <a:r>
              <a:rPr lang="en-AU" dirty="0" smtClean="0"/>
              <a:t>than and equal to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94714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627784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6821" y="1196752"/>
            <a:ext cx="89365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EQ – How do I look at something greater than or less than? </a:t>
            </a:r>
            <a:endParaRPr lang="en-AU" sz="2200" dirty="0"/>
          </a:p>
        </p:txBody>
      </p:sp>
      <p:sp>
        <p:nvSpPr>
          <p:cNvPr id="14" name="TextBox 13"/>
          <p:cNvSpPr txBox="1"/>
          <p:nvPr/>
        </p:nvSpPr>
        <p:spPr>
          <a:xfrm>
            <a:off x="669535" y="368717"/>
            <a:ext cx="16369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Inequalities</a:t>
            </a:r>
            <a:endParaRPr lang="en-AU" sz="2400" dirty="0"/>
          </a:p>
        </p:txBody>
      </p:sp>
      <p:grpSp>
        <p:nvGrpSpPr>
          <p:cNvPr id="24" name="Group 23"/>
          <p:cNvGrpSpPr/>
          <p:nvPr/>
        </p:nvGrpSpPr>
        <p:grpSpPr>
          <a:xfrm>
            <a:off x="3923928" y="5811383"/>
            <a:ext cx="1690490" cy="115162"/>
            <a:chOff x="4067944" y="3688177"/>
            <a:chExt cx="1690490" cy="115162"/>
          </a:xfrm>
        </p:grpSpPr>
        <p:sp>
          <p:nvSpPr>
            <p:cNvPr id="10" name="Oval 9"/>
            <p:cNvSpPr/>
            <p:nvPr/>
          </p:nvSpPr>
          <p:spPr>
            <a:xfrm>
              <a:off x="5625270" y="3688177"/>
              <a:ext cx="133164" cy="11516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 flipH="1">
              <a:off x="4067944" y="3745758"/>
              <a:ext cx="1594293" cy="0"/>
            </a:xfrm>
            <a:prstGeom prst="straightConnector1">
              <a:avLst/>
            </a:prstGeom>
            <a:ln w="222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 rot="10800000">
            <a:off x="6876256" y="5831566"/>
            <a:ext cx="1594852" cy="115162"/>
            <a:chOff x="3683715" y="3688177"/>
            <a:chExt cx="2074719" cy="115162"/>
          </a:xfrm>
        </p:grpSpPr>
        <p:sp>
          <p:nvSpPr>
            <p:cNvPr id="20" name="Oval 19"/>
            <p:cNvSpPr/>
            <p:nvPr/>
          </p:nvSpPr>
          <p:spPr>
            <a:xfrm>
              <a:off x="5625270" y="3688177"/>
              <a:ext cx="133164" cy="11516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21" name="Straight Arrow Connector 20"/>
            <p:cNvCxnSpPr/>
            <p:nvPr/>
          </p:nvCxnSpPr>
          <p:spPr>
            <a:xfrm flipH="1">
              <a:off x="3683715" y="3745758"/>
              <a:ext cx="1978522" cy="0"/>
            </a:xfrm>
            <a:prstGeom prst="straightConnector1">
              <a:avLst/>
            </a:prstGeom>
            <a:ln w="222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Picture 3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6" t="42253" r="50000" b="45942"/>
          <a:stretch/>
        </p:blipFill>
        <p:spPr>
          <a:xfrm>
            <a:off x="3003267" y="3586588"/>
            <a:ext cx="5771465" cy="541911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863676" y="1988840"/>
            <a:ext cx="59100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if I have to solve an equation first – with addition and subtraction it is the same as normal.</a:t>
            </a:r>
          </a:p>
          <a:p>
            <a:r>
              <a:rPr lang="en-AU" dirty="0" err="1" smtClean="0"/>
              <a:t>Eg</a:t>
            </a:r>
            <a:r>
              <a:rPr lang="en-AU" dirty="0" smtClean="0"/>
              <a:t> x + 5 &lt; 3		or	x -7 &gt; -2</a:t>
            </a:r>
          </a:p>
          <a:p>
            <a:r>
              <a:rPr lang="en-AU" dirty="0"/>
              <a:t> </a:t>
            </a:r>
            <a:r>
              <a:rPr lang="en-AU" dirty="0" smtClean="0"/>
              <a:t>        x &lt; 3 – 5			   x &gt; -2 + 7</a:t>
            </a:r>
          </a:p>
          <a:p>
            <a:r>
              <a:rPr lang="en-AU" dirty="0"/>
              <a:t> </a:t>
            </a:r>
            <a:r>
              <a:rPr lang="en-AU" dirty="0" smtClean="0"/>
              <a:t>        x &lt; -2 			   x &gt; 5</a:t>
            </a:r>
            <a:endParaRPr lang="en-AU" dirty="0"/>
          </a:p>
        </p:txBody>
      </p:sp>
      <p:grpSp>
        <p:nvGrpSpPr>
          <p:cNvPr id="34" name="Group 33"/>
          <p:cNvGrpSpPr/>
          <p:nvPr/>
        </p:nvGrpSpPr>
        <p:grpSpPr>
          <a:xfrm>
            <a:off x="3635896" y="3481531"/>
            <a:ext cx="1690490" cy="115162"/>
            <a:chOff x="4067944" y="3688177"/>
            <a:chExt cx="1690490" cy="115162"/>
          </a:xfrm>
        </p:grpSpPr>
        <p:sp>
          <p:nvSpPr>
            <p:cNvPr id="35" name="Oval 34"/>
            <p:cNvSpPr/>
            <p:nvPr/>
          </p:nvSpPr>
          <p:spPr>
            <a:xfrm>
              <a:off x="5625270" y="3688177"/>
              <a:ext cx="133164" cy="11516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36" name="Straight Arrow Connector 35"/>
            <p:cNvCxnSpPr/>
            <p:nvPr/>
          </p:nvCxnSpPr>
          <p:spPr>
            <a:xfrm flipH="1">
              <a:off x="4067944" y="3745758"/>
              <a:ext cx="1594293" cy="0"/>
            </a:xfrm>
            <a:prstGeom prst="straightConnector1">
              <a:avLst/>
            </a:prstGeom>
            <a:ln w="222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>
          <a:xfrm rot="10800000">
            <a:off x="7062429" y="3481531"/>
            <a:ext cx="1690490" cy="115162"/>
            <a:chOff x="4067944" y="3688177"/>
            <a:chExt cx="1690490" cy="115162"/>
          </a:xfrm>
        </p:grpSpPr>
        <p:sp>
          <p:nvSpPr>
            <p:cNvPr id="38" name="Oval 37"/>
            <p:cNvSpPr/>
            <p:nvPr/>
          </p:nvSpPr>
          <p:spPr>
            <a:xfrm>
              <a:off x="5625270" y="3688177"/>
              <a:ext cx="133164" cy="11516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39" name="Straight Arrow Connector 38"/>
            <p:cNvCxnSpPr/>
            <p:nvPr/>
          </p:nvCxnSpPr>
          <p:spPr>
            <a:xfrm flipH="1">
              <a:off x="4067944" y="3745758"/>
              <a:ext cx="1594293" cy="0"/>
            </a:xfrm>
            <a:prstGeom prst="straightConnector1">
              <a:avLst/>
            </a:prstGeom>
            <a:ln w="222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03267" y="4152666"/>
                <a:ext cx="4814908" cy="15959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With Multiplication and division???????</a:t>
                </a:r>
              </a:p>
              <a:p>
                <a:r>
                  <a:rPr lang="en-AU" dirty="0" err="1" smtClean="0"/>
                  <a:t>Eg</a:t>
                </a:r>
                <a:r>
                  <a:rPr lang="en-AU" dirty="0" smtClean="0"/>
                  <a:t> 2x + 7 &lt; 4	or		4x </a:t>
                </a:r>
                <a:r>
                  <a:rPr lang="en-AU" dirty="0" smtClean="0">
                    <a:latin typeface="Cambria Math"/>
                    <a:ea typeface="Cambria Math"/>
                  </a:rPr>
                  <a:t>≥ 15</a:t>
                </a:r>
              </a:p>
              <a:p>
                <a:r>
                  <a:rPr lang="en-AU" dirty="0" smtClean="0">
                    <a:latin typeface="Cambria Math"/>
                    <a:ea typeface="Cambria Math"/>
                  </a:rPr>
                  <a:t>      2x  &lt; 4 – 7			</a:t>
                </a:r>
              </a:p>
              <a:p>
                <a:r>
                  <a:rPr lang="en-AU" dirty="0">
                    <a:latin typeface="Cambria Math"/>
                    <a:ea typeface="Cambria Math"/>
                  </a:rPr>
                  <a:t> </a:t>
                </a:r>
                <a:r>
                  <a:rPr lang="en-AU" dirty="0" smtClean="0">
                    <a:latin typeface="Cambria Math"/>
                    <a:ea typeface="Cambria Math"/>
                  </a:rPr>
                  <a:t>      x  &lt;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−3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dirty="0" smtClean="0"/>
                  <a:t>			x </a:t>
                </a:r>
                <a:r>
                  <a:rPr lang="en-AU" dirty="0" smtClean="0">
                    <a:latin typeface="Cambria Math"/>
                    <a:ea typeface="Cambria Math"/>
                  </a:rPr>
                  <a:t>≥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15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</m:t>
                        </m:r>
                      </m:den>
                    </m:f>
                  </m:oMath>
                </a14:m>
                <a:endParaRPr lang="en-AU" dirty="0" smtClean="0"/>
              </a:p>
              <a:p>
                <a:r>
                  <a:rPr lang="en-AU" dirty="0"/>
                  <a:t> </a:t>
                </a:r>
                <a:r>
                  <a:rPr lang="en-AU" dirty="0" smtClean="0"/>
                  <a:t>      x &lt; -1.5			x </a:t>
                </a:r>
                <a:r>
                  <a:rPr lang="en-AU" dirty="0" smtClean="0">
                    <a:latin typeface="Cambria Math"/>
                    <a:ea typeface="Cambria Math"/>
                  </a:rPr>
                  <a:t>≥ 3.75</a:t>
                </a:r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3267" y="4152666"/>
                <a:ext cx="4814908" cy="1595950"/>
              </a:xfrm>
              <a:prstGeom prst="rect">
                <a:avLst/>
              </a:prstGeom>
              <a:blipFill rotWithShape="1">
                <a:blip r:embed="rId3"/>
                <a:stretch>
                  <a:fillRect l="-1139" t="-1908" b="-534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6" t="42253" r="50000" b="45942"/>
          <a:stretch/>
        </p:blipFill>
        <p:spPr>
          <a:xfrm>
            <a:off x="3145075" y="5926545"/>
            <a:ext cx="5771465" cy="541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642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627784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6821" y="1196752"/>
            <a:ext cx="89365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EQ – How do I look at something greater than or less than? </a:t>
            </a:r>
            <a:endParaRPr lang="en-AU" sz="2200" dirty="0"/>
          </a:p>
        </p:txBody>
      </p:sp>
      <p:sp>
        <p:nvSpPr>
          <p:cNvPr id="14" name="TextBox 13"/>
          <p:cNvSpPr txBox="1"/>
          <p:nvPr/>
        </p:nvSpPr>
        <p:spPr>
          <a:xfrm>
            <a:off x="669535" y="368717"/>
            <a:ext cx="16369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Inequalities</a:t>
            </a:r>
            <a:endParaRPr lang="en-AU" sz="2400" dirty="0"/>
          </a:p>
        </p:txBody>
      </p:sp>
      <p:grpSp>
        <p:nvGrpSpPr>
          <p:cNvPr id="24" name="Group 23"/>
          <p:cNvGrpSpPr/>
          <p:nvPr/>
        </p:nvGrpSpPr>
        <p:grpSpPr>
          <a:xfrm rot="10800000">
            <a:off x="6156176" y="4357954"/>
            <a:ext cx="1690490" cy="115162"/>
            <a:chOff x="4067944" y="3688177"/>
            <a:chExt cx="1690490" cy="115162"/>
          </a:xfrm>
        </p:grpSpPr>
        <p:sp>
          <p:nvSpPr>
            <p:cNvPr id="10" name="Oval 9"/>
            <p:cNvSpPr/>
            <p:nvPr/>
          </p:nvSpPr>
          <p:spPr>
            <a:xfrm>
              <a:off x="5625270" y="3688177"/>
              <a:ext cx="133164" cy="11516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 flipH="1">
              <a:off x="4067944" y="3745758"/>
              <a:ext cx="1594293" cy="0"/>
            </a:xfrm>
            <a:prstGeom prst="straightConnector1">
              <a:avLst/>
            </a:prstGeom>
            <a:ln w="222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>
            <a:off x="3347864" y="4415535"/>
            <a:ext cx="1594852" cy="115162"/>
            <a:chOff x="3683715" y="3688177"/>
            <a:chExt cx="2074719" cy="115162"/>
          </a:xfrm>
        </p:grpSpPr>
        <p:sp>
          <p:nvSpPr>
            <p:cNvPr id="20" name="Oval 19"/>
            <p:cNvSpPr/>
            <p:nvPr/>
          </p:nvSpPr>
          <p:spPr>
            <a:xfrm>
              <a:off x="5625270" y="3688177"/>
              <a:ext cx="133164" cy="11516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21" name="Straight Arrow Connector 20"/>
            <p:cNvCxnSpPr/>
            <p:nvPr/>
          </p:nvCxnSpPr>
          <p:spPr>
            <a:xfrm flipH="1">
              <a:off x="3683715" y="3745758"/>
              <a:ext cx="1978522" cy="0"/>
            </a:xfrm>
            <a:prstGeom prst="straightConnector1">
              <a:avLst/>
            </a:prstGeom>
            <a:ln w="222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03267" y="2204864"/>
                <a:ext cx="4764446" cy="18729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With Multiplication and division??????? </a:t>
                </a:r>
              </a:p>
              <a:p>
                <a:r>
                  <a:rPr lang="en-AU" dirty="0" smtClean="0"/>
                  <a:t>With a negative number Oh dear!</a:t>
                </a:r>
              </a:p>
              <a:p>
                <a:r>
                  <a:rPr lang="en-AU" dirty="0" err="1" smtClean="0"/>
                  <a:t>Eg</a:t>
                </a:r>
                <a:r>
                  <a:rPr lang="en-AU" dirty="0" smtClean="0"/>
                  <a:t> -2x + 7 &lt; 4	or		-4x </a:t>
                </a:r>
                <a:r>
                  <a:rPr lang="en-AU" dirty="0" smtClean="0">
                    <a:latin typeface="Cambria Math"/>
                    <a:ea typeface="Cambria Math"/>
                  </a:rPr>
                  <a:t>≥ 15</a:t>
                </a:r>
              </a:p>
              <a:p>
                <a:r>
                  <a:rPr lang="en-AU" dirty="0">
                    <a:latin typeface="Cambria Math"/>
                    <a:ea typeface="Cambria Math"/>
                  </a:rPr>
                  <a:t> </a:t>
                </a:r>
                <a:r>
                  <a:rPr lang="en-AU" dirty="0" smtClean="0">
                    <a:latin typeface="Cambria Math"/>
                    <a:ea typeface="Cambria Math"/>
                  </a:rPr>
                  <a:t>     -2x  &lt; 4 – 7			</a:t>
                </a:r>
              </a:p>
              <a:p>
                <a:r>
                  <a:rPr lang="en-AU" dirty="0">
                    <a:latin typeface="Cambria Math"/>
                    <a:ea typeface="Cambria Math"/>
                  </a:rPr>
                  <a:t> </a:t>
                </a:r>
                <a:r>
                  <a:rPr lang="en-AU" dirty="0" smtClean="0">
                    <a:latin typeface="Cambria Math"/>
                    <a:ea typeface="Cambria Math"/>
                  </a:rPr>
                  <a:t>      x  &gt;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−3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−2</m:t>
                        </m:r>
                      </m:den>
                    </m:f>
                  </m:oMath>
                </a14:m>
                <a:r>
                  <a:rPr lang="en-AU" dirty="0" smtClean="0"/>
                  <a:t>			x </a:t>
                </a:r>
                <a:r>
                  <a:rPr lang="en-AU" dirty="0">
                    <a:latin typeface="Cambria Math" pitchFamily="18" charset="0"/>
                    <a:ea typeface="Cambria Math" pitchFamily="18" charset="0"/>
                  </a:rPr>
                  <a:t>≤</a:t>
                </a:r>
                <a:r>
                  <a:rPr lang="en-AU" dirty="0" smtClean="0">
                    <a:latin typeface="Cambria Math"/>
                    <a:ea typeface="Cambria Math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15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−4</m:t>
                        </m:r>
                      </m:den>
                    </m:f>
                  </m:oMath>
                </a14:m>
                <a:endParaRPr lang="en-AU" dirty="0" smtClean="0"/>
              </a:p>
              <a:p>
                <a:r>
                  <a:rPr lang="en-AU" dirty="0"/>
                  <a:t> </a:t>
                </a:r>
                <a:r>
                  <a:rPr lang="en-AU" dirty="0" smtClean="0"/>
                  <a:t>      x &gt; 1.5			x </a:t>
                </a:r>
                <a:r>
                  <a:rPr lang="en-AU" dirty="0">
                    <a:latin typeface="Cambria Math" pitchFamily="18" charset="0"/>
                    <a:ea typeface="Cambria Math" pitchFamily="18" charset="0"/>
                  </a:rPr>
                  <a:t>≤</a:t>
                </a:r>
                <a:r>
                  <a:rPr lang="en-AU" dirty="0" smtClean="0">
                    <a:latin typeface="Cambria Math"/>
                    <a:ea typeface="Cambria Math"/>
                  </a:rPr>
                  <a:t> -3.75</a:t>
                </a:r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3267" y="2204864"/>
                <a:ext cx="4764446" cy="1872949"/>
              </a:xfrm>
              <a:prstGeom prst="rect">
                <a:avLst/>
              </a:prstGeom>
              <a:blipFill rotWithShape="1">
                <a:blip r:embed="rId2"/>
                <a:stretch>
                  <a:fillRect l="-1152" t="-1629" r="-256" b="-45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6" t="42253" r="50000" b="45942"/>
          <a:stretch/>
        </p:blipFill>
        <p:spPr>
          <a:xfrm>
            <a:off x="3016587" y="4581128"/>
            <a:ext cx="5771465" cy="54191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11881" y="5473005"/>
            <a:ext cx="27928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If you multiply or </a:t>
            </a:r>
            <a:r>
              <a:rPr lang="en-AU" dirty="0" smtClean="0"/>
              <a:t>divide both </a:t>
            </a:r>
            <a:r>
              <a:rPr lang="en-AU" dirty="0"/>
              <a:t>sides of an </a:t>
            </a:r>
            <a:r>
              <a:rPr lang="en-AU" dirty="0" err="1"/>
              <a:t>inequation</a:t>
            </a:r>
            <a:endParaRPr lang="en-AU" dirty="0"/>
          </a:p>
          <a:p>
            <a:r>
              <a:rPr lang="en-AU" dirty="0"/>
              <a:t>by a </a:t>
            </a:r>
            <a:r>
              <a:rPr lang="en-AU" dirty="0" smtClean="0"/>
              <a:t>negative.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6876256" y="5288339"/>
            <a:ext cx="154125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&lt; becomes &gt;</a:t>
            </a:r>
          </a:p>
          <a:p>
            <a:r>
              <a:rPr lang="en-AU" b="1" dirty="0" smtClean="0"/>
              <a:t> </a:t>
            </a:r>
            <a:r>
              <a:rPr lang="en-AU" b="1" dirty="0"/>
              <a:t>&gt; becomes </a:t>
            </a:r>
            <a:r>
              <a:rPr lang="en-AU" b="1" dirty="0" smtClean="0"/>
              <a:t>&lt;</a:t>
            </a:r>
          </a:p>
          <a:p>
            <a:r>
              <a:rPr lang="en-AU" dirty="0">
                <a:latin typeface="Cambria Math" pitchFamily="18" charset="0"/>
                <a:ea typeface="Cambria Math" pitchFamily="18" charset="0"/>
              </a:rPr>
              <a:t>≤</a:t>
            </a:r>
            <a:r>
              <a:rPr lang="en-AU" b="1" dirty="0" smtClean="0"/>
              <a:t> </a:t>
            </a:r>
            <a:r>
              <a:rPr lang="en-AU" b="1" dirty="0"/>
              <a:t>becomes </a:t>
            </a:r>
            <a:r>
              <a:rPr lang="en-AU" dirty="0">
                <a:latin typeface="Cambria Math"/>
                <a:ea typeface="Cambria Math"/>
              </a:rPr>
              <a:t>≥</a:t>
            </a:r>
            <a:endParaRPr lang="en-AU" b="1" dirty="0"/>
          </a:p>
          <a:p>
            <a:r>
              <a:rPr lang="en-AU" b="1" dirty="0"/>
              <a:t> </a:t>
            </a:r>
            <a:r>
              <a:rPr lang="en-AU" dirty="0">
                <a:latin typeface="Cambria Math"/>
                <a:ea typeface="Cambria Math"/>
              </a:rPr>
              <a:t>≥</a:t>
            </a:r>
            <a:r>
              <a:rPr lang="en-AU" b="1" dirty="0" smtClean="0"/>
              <a:t> </a:t>
            </a:r>
            <a:r>
              <a:rPr lang="en-AU" b="1" dirty="0"/>
              <a:t>becomes </a:t>
            </a:r>
            <a:r>
              <a:rPr lang="en-AU" dirty="0">
                <a:latin typeface="Cambria Math" pitchFamily="18" charset="0"/>
                <a:ea typeface="Cambria Math" pitchFamily="18" charset="0"/>
              </a:rPr>
              <a:t>≤</a:t>
            </a:r>
            <a:endParaRPr lang="en-AU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5716512" y="5473005"/>
            <a:ext cx="7649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t</a:t>
            </a:r>
            <a:r>
              <a:rPr lang="en-AU" sz="2400" dirty="0" smtClean="0"/>
              <a:t>hen</a:t>
            </a:r>
            <a:endParaRPr lang="en-AU" sz="2400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5716512" y="6021288"/>
            <a:ext cx="943720" cy="0"/>
          </a:xfrm>
          <a:prstGeom prst="straightConnector1">
            <a:avLst/>
          </a:prstGeom>
          <a:ln w="730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368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1560" y="764704"/>
            <a:ext cx="7632848" cy="4536504"/>
          </a:xfrm>
        </p:spPr>
        <p:txBody>
          <a:bodyPr>
            <a:normAutofit/>
          </a:bodyPr>
          <a:lstStyle/>
          <a:p>
            <a:r>
              <a:rPr lang="en-AU" b="1" dirty="0" smtClean="0">
                <a:solidFill>
                  <a:schemeClr val="tx1"/>
                </a:solidFill>
              </a:rPr>
              <a:t>Exercises</a:t>
            </a:r>
          </a:p>
          <a:p>
            <a:r>
              <a:rPr lang="en-AU" b="1" dirty="0" smtClean="0">
                <a:solidFill>
                  <a:schemeClr val="tx1"/>
                </a:solidFill>
              </a:rPr>
              <a:t>Exercise 2.3 and 2.4  from Dwyer</a:t>
            </a:r>
          </a:p>
          <a:p>
            <a:endParaRPr lang="en-AU" b="1" dirty="0">
              <a:solidFill>
                <a:schemeClr val="tx1"/>
              </a:solidFill>
            </a:endParaRPr>
          </a:p>
          <a:p>
            <a:endParaRPr lang="en-AU" b="1" dirty="0">
              <a:solidFill>
                <a:schemeClr val="tx1"/>
              </a:solidFill>
            </a:endParaRPr>
          </a:p>
          <a:p>
            <a:r>
              <a:rPr lang="en-AU" b="1" dirty="0" smtClean="0">
                <a:solidFill>
                  <a:schemeClr val="tx2"/>
                </a:solidFill>
              </a:rPr>
              <a:t>All to be done with a smile on your faces.</a:t>
            </a:r>
            <a:endParaRPr lang="en-AU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9001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1340</TotalTime>
  <Words>367</Words>
  <Application>Microsoft Office PowerPoint</Application>
  <PresentationFormat>On-screen Show (4:3)</PresentationFormat>
  <Paragraphs>106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My Linear Equations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MCALLISTER Robert</cp:lastModifiedBy>
  <cp:revision>108</cp:revision>
  <dcterms:created xsi:type="dcterms:W3CDTF">2014-05-14T02:58:57Z</dcterms:created>
  <dcterms:modified xsi:type="dcterms:W3CDTF">2016-02-16T05:13:40Z</dcterms:modified>
</cp:coreProperties>
</file>
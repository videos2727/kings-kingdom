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31" r:id="rId5"/>
    <p:sldId id="335" r:id="rId6"/>
    <p:sldId id="336" r:id="rId7"/>
    <p:sldId id="337" r:id="rId8"/>
    <p:sldId id="338" r:id="rId9"/>
    <p:sldId id="333" r:id="rId10"/>
    <p:sldId id="292" r:id="rId11"/>
    <p:sldId id="291" r:id="rId12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31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Equations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Substitution?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638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Substitution?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16832"/>
            <a:ext cx="5832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When you use the substitution method you use one equation to express one variable </a:t>
            </a:r>
            <a:r>
              <a:rPr lang="en-AU" sz="1600" dirty="0" smtClean="0"/>
              <a:t>in terms </a:t>
            </a:r>
            <a:r>
              <a:rPr lang="en-AU" sz="1600" dirty="0"/>
              <a:t>of the other. Then you substitute this into the other equation to make a linear </a:t>
            </a:r>
            <a:r>
              <a:rPr lang="en-AU" sz="1600" dirty="0" smtClean="0"/>
              <a:t>equation in </a:t>
            </a:r>
            <a:r>
              <a:rPr lang="en-AU" sz="1600" dirty="0"/>
              <a:t>one variable.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236" y="2996952"/>
            <a:ext cx="1598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Substitute?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915816" y="2764956"/>
            <a:ext cx="61075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Solve </a:t>
            </a:r>
            <a:r>
              <a:rPr lang="en-AU" dirty="0" smtClean="0"/>
              <a:t>this pair </a:t>
            </a:r>
            <a:r>
              <a:rPr lang="en-AU" dirty="0"/>
              <a:t>of simultaneous equations by substitution</a:t>
            </a:r>
            <a:r>
              <a:rPr lang="en-AU" dirty="0" smtClean="0"/>
              <a:t>.</a:t>
            </a:r>
          </a:p>
          <a:p>
            <a:pPr algn="ctr"/>
            <a:r>
              <a:rPr lang="en-AU" dirty="0" smtClean="0"/>
              <a:t>2b – a = 3      [1]</a:t>
            </a:r>
          </a:p>
          <a:p>
            <a:pPr algn="ctr"/>
            <a:r>
              <a:rPr lang="en-AU" dirty="0" smtClean="0"/>
              <a:t>a + 3b = 7       [2]</a:t>
            </a:r>
          </a:p>
          <a:p>
            <a:r>
              <a:rPr lang="en-AU" dirty="0" smtClean="0"/>
              <a:t>Rewrite equation 1 like this  a = 2b – 3</a:t>
            </a:r>
          </a:p>
          <a:p>
            <a:r>
              <a:rPr lang="en-AU" dirty="0" smtClean="0"/>
              <a:t>Substitute this changed equation 1 into where a is in equation 2</a:t>
            </a:r>
          </a:p>
          <a:p>
            <a:pPr algn="ctr"/>
            <a:r>
              <a:rPr lang="en-AU" dirty="0" smtClean="0"/>
              <a:t>(2b – 3) + 3b = 7</a:t>
            </a:r>
          </a:p>
          <a:p>
            <a:pPr algn="ctr"/>
            <a:r>
              <a:rPr lang="en-AU" dirty="0"/>
              <a:t>2b – </a:t>
            </a:r>
            <a:r>
              <a:rPr lang="en-AU" dirty="0" smtClean="0"/>
              <a:t>3 </a:t>
            </a:r>
            <a:r>
              <a:rPr lang="en-AU" dirty="0"/>
              <a:t>+ 3b = 7</a:t>
            </a:r>
          </a:p>
          <a:p>
            <a:pPr algn="ctr"/>
            <a:r>
              <a:rPr lang="en-AU" dirty="0" smtClean="0"/>
              <a:t>5b = 7 + 3</a:t>
            </a:r>
          </a:p>
          <a:p>
            <a:pPr algn="ctr"/>
            <a:r>
              <a:rPr lang="en-AU" dirty="0" smtClean="0"/>
              <a:t>5b = 10</a:t>
            </a:r>
          </a:p>
          <a:p>
            <a:pPr algn="ctr"/>
            <a:r>
              <a:rPr lang="en-AU" dirty="0" smtClean="0"/>
              <a:t>b = 2</a:t>
            </a:r>
          </a:p>
          <a:p>
            <a:pPr algn="ctr"/>
            <a:r>
              <a:rPr lang="en-AU" dirty="0" smtClean="0"/>
              <a:t>Now substitute b = 2 into equation 1</a:t>
            </a:r>
          </a:p>
          <a:p>
            <a:pPr algn="ctr"/>
            <a:r>
              <a:rPr lang="en-AU" dirty="0" smtClean="0"/>
              <a:t>a = 2*(2) – 3</a:t>
            </a:r>
          </a:p>
          <a:p>
            <a:pPr algn="ctr"/>
            <a:r>
              <a:rPr lang="en-AU" dirty="0" smtClean="0"/>
              <a:t>a = 1</a:t>
            </a:r>
          </a:p>
          <a:p>
            <a:pPr algn="ctr"/>
            <a:r>
              <a:rPr lang="en-AU" dirty="0" smtClean="0">
                <a:sym typeface="Symbol"/>
              </a:rPr>
              <a:t> a = 1 and b = 2 or written as (1,2)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755576" y="4653136"/>
            <a:ext cx="195489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sz="1600" dirty="0" smtClean="0"/>
              <a:t>Where a is put </a:t>
            </a:r>
            <a:r>
              <a:rPr lang="en-AU" sz="1600" dirty="0"/>
              <a:t>2b – </a:t>
            </a:r>
            <a:r>
              <a:rPr lang="en-AU" sz="1600" dirty="0" smtClean="0"/>
              <a:t>3</a:t>
            </a:r>
            <a:endParaRPr lang="en-AU" sz="1600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771800" y="4365104"/>
            <a:ext cx="2376264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6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Substitution?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81502" y="2060847"/>
            <a:ext cx="2174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Substitute again a bit harder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924302" y="1925888"/>
                <a:ext cx="6107534" cy="4592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Solve this pair </a:t>
                </a:r>
                <a:r>
                  <a:rPr lang="en-AU" dirty="0"/>
                  <a:t>of simultaneous equations by substitution</a:t>
                </a:r>
                <a:r>
                  <a:rPr lang="en-AU" dirty="0" smtClean="0"/>
                  <a:t>.</a:t>
                </a:r>
              </a:p>
              <a:p>
                <a:pPr algn="ctr"/>
                <a:r>
                  <a:rPr lang="en-AU" dirty="0" smtClean="0"/>
                  <a:t>4x + 3y = 8      [1]</a:t>
                </a:r>
              </a:p>
              <a:p>
                <a:pPr algn="ctr"/>
                <a:r>
                  <a:rPr lang="en-AU" dirty="0" smtClean="0"/>
                  <a:t>3x + 2y = </a:t>
                </a:r>
                <a:r>
                  <a:rPr lang="en-AU" dirty="0"/>
                  <a:t>7</a:t>
                </a:r>
                <a:r>
                  <a:rPr lang="en-AU" dirty="0" smtClean="0"/>
                  <a:t>       [2]</a:t>
                </a:r>
              </a:p>
              <a:p>
                <a:r>
                  <a:rPr lang="en-AU" dirty="0" smtClean="0"/>
                  <a:t>Rewrite equation 2 like this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dirty="0" smtClean="0">
                        <a:latin typeface="Cambria Math"/>
                      </a:rPr>
                      <m:t>y</m:t>
                    </m:r>
                    <m:r>
                      <a:rPr lang="en-AU" b="0" i="0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7−3</m:t>
                        </m:r>
                        <m:r>
                          <a:rPr lang="en-AU" b="0" i="1" dirty="0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AU" dirty="0" smtClean="0"/>
                  <a:t>Substitute this changed equation 2 into where y is in equation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7−3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=8</m:t>
                      </m:r>
                    </m:oMath>
                  </m:oMathPara>
                </a14:m>
                <a:endParaRPr lang="en-AU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+3(7−3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)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AU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+21−9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=16</m:t>
                      </m:r>
                    </m:oMath>
                  </m:oMathPara>
                </a14:m>
                <a:endParaRPr lang="en-AU" b="0" dirty="0" smtClean="0"/>
              </a:p>
              <a:p>
                <a:pPr algn="ctr"/>
                <a:r>
                  <a:rPr lang="en-AU" dirty="0" smtClean="0"/>
                  <a:t>-x = 16 – 21</a:t>
                </a:r>
              </a:p>
              <a:p>
                <a:pPr algn="ctr"/>
                <a:r>
                  <a:rPr lang="en-AU" dirty="0" smtClean="0"/>
                  <a:t>x = 5</a:t>
                </a:r>
              </a:p>
              <a:p>
                <a:pPr algn="ctr"/>
                <a:r>
                  <a:rPr lang="en-AU" dirty="0" smtClean="0"/>
                  <a:t>Now substitute </a:t>
                </a:r>
                <a:r>
                  <a:rPr lang="en-AU" dirty="0"/>
                  <a:t>x = </a:t>
                </a:r>
                <a:r>
                  <a:rPr lang="en-AU" dirty="0" smtClean="0"/>
                  <a:t>5 into equation 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dirty="0">
                          <a:latin typeface="Cambria Math"/>
                        </a:rPr>
                        <m:t>y</m:t>
                      </m:r>
                      <m:r>
                        <a:rPr lang="en-AU" dirty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 dirty="0">
                              <a:latin typeface="Cambria Math"/>
                            </a:rPr>
                            <m:t>7−3</m:t>
                          </m:r>
                          <m:r>
                            <a:rPr lang="en-AU" b="0" i="1" dirty="0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b="0" i="1" dirty="0" smtClean="0">
                              <a:latin typeface="Cambria Math"/>
                            </a:rPr>
                            <m:t>(5)</m:t>
                          </m:r>
                        </m:num>
                        <m:den>
                          <m:r>
                            <a:rPr lang="en-AU" i="1" dirty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ym typeface="Symbol"/>
                </a:endParaRPr>
              </a:p>
              <a:p>
                <a:pPr algn="ctr"/>
                <a:r>
                  <a:rPr lang="en-AU" dirty="0" smtClean="0">
                    <a:sym typeface="Symbol"/>
                  </a:rPr>
                  <a:t>y = -4</a:t>
                </a:r>
              </a:p>
              <a:p>
                <a:pPr algn="ctr"/>
                <a:r>
                  <a:rPr lang="en-AU" dirty="0" smtClean="0">
                    <a:sym typeface="Symbol"/>
                  </a:rPr>
                  <a:t> x = 5 and y = -4 or written as (5,-4)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302" y="1925888"/>
                <a:ext cx="6107534" cy="4592539"/>
              </a:xfrm>
              <a:prstGeom prst="rect">
                <a:avLst/>
              </a:prstGeom>
              <a:blipFill rotWithShape="1">
                <a:blip r:embed="rId2"/>
                <a:stretch>
                  <a:fillRect l="-898" t="-664" r="-699" b="-1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971600" y="3861048"/>
                <a:ext cx="2063706" cy="72449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/>
                        </a:rPr>
                        <m:t>4</m:t>
                      </m:r>
                      <m:r>
                        <a:rPr lang="en-AU" sz="1400" b="0" i="1" smtClean="0">
                          <a:latin typeface="Cambria Math"/>
                        </a:rPr>
                        <m:t>𝑥</m:t>
                      </m:r>
                      <m:r>
                        <a:rPr lang="en-AU" sz="1400" b="0" i="1" smtClean="0">
                          <a:latin typeface="Cambria Math"/>
                        </a:rPr>
                        <m:t>+3</m:t>
                      </m:r>
                      <m:r>
                        <a:rPr lang="en-AU" sz="1400" b="0" i="1" smtClean="0">
                          <a:latin typeface="Cambria Math"/>
                        </a:rPr>
                        <m:t>𝑦</m:t>
                      </m:r>
                      <m:r>
                        <a:rPr lang="en-AU" sz="1400" b="0" i="1" smtClean="0">
                          <a:latin typeface="Cambria Math"/>
                        </a:rPr>
                        <m:t>=8</m:t>
                      </m:r>
                    </m:oMath>
                  </m:oMathPara>
                </a14:m>
                <a:endParaRPr lang="en-AU" sz="1400" b="0" i="1" dirty="0" smtClean="0">
                  <a:latin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/>
                        </a:rPr>
                        <m:t>𝑤h𝑒𝑟𝑒</m:t>
                      </m:r>
                      <m:r>
                        <a:rPr lang="en-AU" sz="1400" b="0" i="1" smtClean="0">
                          <a:latin typeface="Cambria Math"/>
                        </a:rPr>
                        <m:t> </m:t>
                      </m:r>
                      <m:r>
                        <a:rPr lang="en-AU" sz="1400" b="0" i="1" smtClean="0">
                          <a:latin typeface="Cambria Math"/>
                        </a:rPr>
                        <m:t>𝑦</m:t>
                      </m:r>
                      <m:r>
                        <a:rPr lang="en-AU" sz="1400" b="0" i="1" smtClean="0">
                          <a:latin typeface="Cambria Math"/>
                        </a:rPr>
                        <m:t> </m:t>
                      </m:r>
                      <m:r>
                        <a:rPr lang="en-AU" sz="1400" b="0" i="1" smtClean="0">
                          <a:latin typeface="Cambria Math"/>
                        </a:rPr>
                        <m:t>𝑖𝑠</m:t>
                      </m:r>
                      <m:r>
                        <a:rPr lang="en-AU" sz="1400" b="0" i="1" smtClean="0">
                          <a:latin typeface="Cambria Math"/>
                        </a:rPr>
                        <m:t> </m:t>
                      </m:r>
                      <m:r>
                        <a:rPr lang="en-AU" sz="1400" b="0" i="1" smtClean="0">
                          <a:latin typeface="Cambria Math"/>
                        </a:rPr>
                        <m:t>𝑝𝑢𝑡</m:t>
                      </m:r>
                      <m:f>
                        <m:fPr>
                          <m:ctrlPr>
                            <a:rPr lang="en-AU" sz="1400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sz="1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sz="1400" i="1">
                                  <a:latin typeface="Cambria Math"/>
                                </a:rPr>
                                <m:t>7−3</m:t>
                              </m:r>
                              <m:r>
                                <a:rPr lang="en-AU" sz="14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AU" sz="14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861048"/>
                <a:ext cx="2063706" cy="72449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V="1">
            <a:off x="3131840" y="3789040"/>
            <a:ext cx="144016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58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Substitution?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03848" y="2348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387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2003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by Substitution?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16832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Two workers laid 250 bricks.</a:t>
            </a:r>
          </a:p>
          <a:p>
            <a:r>
              <a:rPr lang="en-AU" dirty="0"/>
              <a:t>If Sam had laid twice as many as he </a:t>
            </a:r>
            <a:r>
              <a:rPr lang="en-AU" dirty="0" smtClean="0"/>
              <a:t>did and </a:t>
            </a:r>
            <a:r>
              <a:rPr lang="en-AU" dirty="0" err="1"/>
              <a:t>Peta</a:t>
            </a:r>
            <a:r>
              <a:rPr lang="en-AU" dirty="0"/>
              <a:t> had laid half as many as she did</a:t>
            </a:r>
            <a:r>
              <a:rPr lang="en-AU" dirty="0" smtClean="0"/>
              <a:t>, there </a:t>
            </a:r>
            <a:r>
              <a:rPr lang="en-AU" dirty="0"/>
              <a:t>would have been 50 bricks left over</a:t>
            </a:r>
            <a:r>
              <a:rPr lang="en-AU" dirty="0" smtClean="0"/>
              <a:t>. How </a:t>
            </a:r>
            <a:r>
              <a:rPr lang="en-AU" dirty="0"/>
              <a:t>many bricks did each lay?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503" y="2276872"/>
            <a:ext cx="177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Problem Solving!</a:t>
            </a:r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251520" y="3117161"/>
            <a:ext cx="266429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1503" y="3501008"/>
            <a:ext cx="17918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Sam + Peta = 250</a:t>
            </a:r>
          </a:p>
          <a:p>
            <a:pPr algn="ctr"/>
            <a:r>
              <a:rPr lang="en-AU" dirty="0" smtClean="0"/>
              <a:t>s + p = 250</a:t>
            </a:r>
          </a:p>
          <a:p>
            <a:pPr algn="ctr"/>
            <a:r>
              <a:rPr lang="en-AU" dirty="0" smtClean="0"/>
              <a:t>s = 250 - p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84531" y="4803447"/>
                <a:ext cx="3314049" cy="932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600" dirty="0" smtClean="0"/>
                  <a:t>2 lots of Sam + half of Peta = 250 – 50</a:t>
                </a:r>
              </a:p>
              <a:p>
                <a:pPr algn="ctr"/>
                <a:r>
                  <a:rPr lang="en-AU" sz="1600" dirty="0" smtClean="0"/>
                  <a:t>2s + p/2 = 250 – 50</a:t>
                </a:r>
              </a:p>
              <a:p>
                <a:pPr algn="ctr"/>
                <a:r>
                  <a:rPr lang="en-AU" sz="1600" dirty="0" smtClean="0"/>
                  <a:t>2s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16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16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16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sz="1600" b="0" i="1" smtClean="0">
                        <a:latin typeface="Cambria Math"/>
                      </a:rPr>
                      <m:t>𝑝</m:t>
                    </m:r>
                    <m:r>
                      <a:rPr lang="en-AU" sz="1600" b="0" i="1" smtClean="0">
                        <a:latin typeface="Cambria Math"/>
                      </a:rPr>
                      <m:t>=200</m:t>
                    </m:r>
                  </m:oMath>
                </a14:m>
                <a:endParaRPr lang="en-AU" sz="16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1" y="4803447"/>
                <a:ext cx="3314049" cy="932435"/>
              </a:xfrm>
              <a:prstGeom prst="rect">
                <a:avLst/>
              </a:prstGeom>
              <a:blipFill rotWithShape="1">
                <a:blip r:embed="rId3"/>
                <a:stretch>
                  <a:fillRect l="-919" t="-1961" r="-184" b="-2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>
            <a:off x="2154232" y="2132856"/>
            <a:ext cx="905600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3" idx="1"/>
            <a:endCxn id="17" idx="0"/>
          </p:cNvCxnSpPr>
          <p:nvPr/>
        </p:nvCxnSpPr>
        <p:spPr>
          <a:xfrm flipH="1">
            <a:off x="1841556" y="2516997"/>
            <a:ext cx="1218276" cy="22864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850526" y="3135522"/>
                <a:ext cx="2477409" cy="30835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600" dirty="0" smtClean="0"/>
                  <a:t>2s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1600" i="1">
                            <a:latin typeface="Cambria Math"/>
                          </a:rPr>
                        </m:ctrlPr>
                      </m:fPr>
                      <m:num>
                        <m:r>
                          <a:rPr lang="en-AU" sz="16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16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sz="1600" i="1">
                        <a:latin typeface="Cambria Math"/>
                      </a:rPr>
                      <m:t>𝑝</m:t>
                    </m:r>
                    <m:r>
                      <a:rPr lang="en-AU" sz="1600" i="1">
                        <a:latin typeface="Cambria Math"/>
                      </a:rPr>
                      <m:t>=200</m:t>
                    </m:r>
                  </m:oMath>
                </a14:m>
                <a:endParaRPr lang="en-AU" sz="160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/>
                            </a:rPr>
                            <m:t>250−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a:rPr lang="en-AU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=200</m:t>
                      </m:r>
                    </m:oMath>
                  </m:oMathPara>
                </a14:m>
                <a:endParaRPr lang="en-AU" sz="1600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500−2</m:t>
                      </m:r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=200</m:t>
                      </m:r>
                    </m:oMath>
                  </m:oMathPara>
                </a14:m>
                <a:endParaRPr lang="en-AU" sz="1600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−2</m:t>
                      </m:r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=200−500</m:t>
                      </m:r>
                    </m:oMath>
                  </m:oMathPara>
                </a14:m>
                <a:endParaRPr lang="en-AU" sz="1600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=−300</m:t>
                      </m:r>
                    </m:oMath>
                  </m:oMathPara>
                </a14:m>
                <a:endParaRPr lang="en-AU" sz="1600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AU" sz="16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1600" b="0" i="1" smtClean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1600" b="0" i="1" smtClean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AU" sz="1600" b="0" i="1" smtClean="0">
                          <a:latin typeface="Cambria Math"/>
                        </a:rPr>
                        <m:t>∗</m:t>
                      </m:r>
                      <m:d>
                        <m:d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/>
                            </a:rPr>
                            <m:t>−300</m:t>
                          </m:r>
                        </m:e>
                      </m:d>
                    </m:oMath>
                  </m:oMathPara>
                </a14:m>
                <a:endParaRPr lang="en-AU" sz="1600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𝑝</m:t>
                      </m:r>
                      <m:r>
                        <a:rPr lang="en-AU" sz="1600" b="0" i="1" smtClean="0">
                          <a:latin typeface="Cambria Math"/>
                        </a:rPr>
                        <m:t>=200</m:t>
                      </m:r>
                    </m:oMath>
                  </m:oMathPara>
                </a14:m>
                <a:endParaRPr lang="en-AU" sz="16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526" y="3135522"/>
                <a:ext cx="2477409" cy="3083536"/>
              </a:xfrm>
              <a:prstGeom prst="rect">
                <a:avLst/>
              </a:prstGeom>
              <a:blipFill rotWithShape="1">
                <a:blip r:embed="rId4"/>
                <a:stretch>
                  <a:fillRect l="-1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6907956" y="3962673"/>
                <a:ext cx="1757148" cy="1415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600" i="1" dirty="0" smtClean="0"/>
                  <a:t>Using p = 200</a:t>
                </a:r>
              </a:p>
              <a:p>
                <a:r>
                  <a:rPr lang="en-AU" sz="1600" b="0" i="1" dirty="0" smtClean="0"/>
                  <a:t>Then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𝑠</m:t>
                      </m:r>
                      <m:r>
                        <a:rPr lang="en-AU" b="0" i="1" smtClean="0">
                          <a:latin typeface="Cambria Math"/>
                        </a:rPr>
                        <m:t>=250−</m:t>
                      </m:r>
                      <m:r>
                        <a:rPr lang="en-AU" b="0" i="1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𝑠</m:t>
                      </m:r>
                      <m:r>
                        <a:rPr lang="en-AU" b="0" i="1" smtClean="0">
                          <a:latin typeface="Cambria Math"/>
                        </a:rPr>
                        <m:t>=250−200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𝑠</m:t>
                      </m:r>
                      <m:r>
                        <a:rPr lang="en-AU" b="0" i="1" smtClean="0">
                          <a:latin typeface="Cambria Math"/>
                        </a:rPr>
                        <m:t>=50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956" y="3962673"/>
                <a:ext cx="1757148" cy="1415772"/>
              </a:xfrm>
              <a:prstGeom prst="rect">
                <a:avLst/>
              </a:prstGeom>
              <a:blipFill rotWithShape="1">
                <a:blip r:embed="rId5"/>
                <a:stretch>
                  <a:fillRect l="-1736" t="-12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313338" y="5744064"/>
            <a:ext cx="2435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We have Sam laid 50 bricks and Peta laid 200.</a:t>
            </a:r>
            <a:endParaRPr lang="en-AU" sz="1600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1841556" y="3861048"/>
            <a:ext cx="200897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69554" y="3963169"/>
            <a:ext cx="1580972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Put </a:t>
            </a:r>
            <a:r>
              <a:rPr lang="en-AU" sz="1400" dirty="0"/>
              <a:t>s = 250 </a:t>
            </a:r>
            <a:r>
              <a:rPr lang="en-AU" sz="1400" dirty="0" smtClean="0"/>
              <a:t>– p into  this equation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61387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2.7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730</Words>
  <Application>Microsoft Office PowerPoint</Application>
  <PresentationFormat>On-screen Show (4:3)</PresentationFormat>
  <Paragraphs>142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Linear Equations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121</cp:revision>
  <dcterms:created xsi:type="dcterms:W3CDTF">2014-05-14T02:58:57Z</dcterms:created>
  <dcterms:modified xsi:type="dcterms:W3CDTF">2016-02-23T06:32:46Z</dcterms:modified>
</cp:coreProperties>
</file>
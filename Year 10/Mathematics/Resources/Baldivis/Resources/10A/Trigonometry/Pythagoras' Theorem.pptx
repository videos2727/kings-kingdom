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330" r:id="rId2"/>
    <p:sldId id="328" r:id="rId3"/>
    <p:sldId id="331" r:id="rId4"/>
    <p:sldId id="332" r:id="rId5"/>
    <p:sldId id="333" r:id="rId6"/>
    <p:sldId id="334" r:id="rId7"/>
    <p:sldId id="335" r:id="rId8"/>
    <p:sldId id="336" r:id="rId9"/>
    <p:sldId id="329" r:id="rId10"/>
    <p:sldId id="303" r:id="rId11"/>
    <p:sldId id="321" r:id="rId12"/>
    <p:sldId id="327" r:id="rId13"/>
    <p:sldId id="339" r:id="rId14"/>
    <p:sldId id="337" r:id="rId15"/>
    <p:sldId id="338" r:id="rId16"/>
    <p:sldId id="344" r:id="rId17"/>
    <p:sldId id="340" r:id="rId18"/>
    <p:sldId id="345" r:id="rId19"/>
    <p:sldId id="341" r:id="rId20"/>
    <p:sldId id="342" r:id="rId21"/>
    <p:sldId id="346" r:id="rId22"/>
    <p:sldId id="343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6625" autoAdjust="0"/>
  </p:normalViewPr>
  <p:slideViewPr>
    <p:cSldViewPr>
      <p:cViewPr>
        <p:scale>
          <a:sx n="78" d="100"/>
          <a:sy n="78" d="100"/>
        </p:scale>
        <p:origin x="-1008" y="-23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6" Type="http://schemas.openxmlformats.org/officeDocument/2006/relationships/image" Target="../media/image29.wmf"/><Relationship Id="rId5" Type="http://schemas.openxmlformats.org/officeDocument/2006/relationships/image" Target="../media/image28.wmf"/><Relationship Id="rId4" Type="http://schemas.openxmlformats.org/officeDocument/2006/relationships/image" Target="../media/image27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7" Type="http://schemas.openxmlformats.org/officeDocument/2006/relationships/image" Target="../media/image36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6" Type="http://schemas.openxmlformats.org/officeDocument/2006/relationships/image" Target="../media/image35.wmf"/><Relationship Id="rId5" Type="http://schemas.openxmlformats.org/officeDocument/2006/relationships/image" Target="../media/image34.wmf"/><Relationship Id="rId4" Type="http://schemas.openxmlformats.org/officeDocument/2006/relationships/image" Target="../media/image3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5" Type="http://schemas.openxmlformats.org/officeDocument/2006/relationships/image" Target="../media/image41.wmf"/><Relationship Id="rId4" Type="http://schemas.openxmlformats.org/officeDocument/2006/relationships/image" Target="../media/image40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Relationship Id="rId5" Type="http://schemas.openxmlformats.org/officeDocument/2006/relationships/image" Target="../media/image46.wmf"/><Relationship Id="rId4" Type="http://schemas.openxmlformats.org/officeDocument/2006/relationships/image" Target="../media/image4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16/07/2016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16/07/2016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16/07/2016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16/07/2016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16/07/2016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16/07/2016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16/07/2016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16/07/2016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16/07/2016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16/07/2016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16/07/2016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16/07/2016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16/07/2016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31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13" Type="http://schemas.openxmlformats.org/officeDocument/2006/relationships/image" Target="../media/image28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12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5.wmf"/><Relationship Id="rId11" Type="http://schemas.openxmlformats.org/officeDocument/2006/relationships/image" Target="../media/image23.png"/><Relationship Id="rId5" Type="http://schemas.openxmlformats.org/officeDocument/2006/relationships/oleObject" Target="../embeddings/oleObject4.bin"/><Relationship Id="rId15" Type="http://schemas.openxmlformats.org/officeDocument/2006/relationships/image" Target="../media/image29.wmf"/><Relationship Id="rId10" Type="http://schemas.openxmlformats.org/officeDocument/2006/relationships/image" Target="../media/image27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6.bin"/><Relationship Id="rId14" Type="http://schemas.openxmlformats.org/officeDocument/2006/relationships/oleObject" Target="../embeddings/oleObject8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image" Target="../media/image34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oleObject" Target="../embeddings/oleObject13.bin"/><Relationship Id="rId17" Type="http://schemas.openxmlformats.org/officeDocument/2006/relationships/image" Target="../media/image3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5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31.wmf"/><Relationship Id="rId11" Type="http://schemas.openxmlformats.org/officeDocument/2006/relationships/image" Target="../media/image23.png"/><Relationship Id="rId5" Type="http://schemas.openxmlformats.org/officeDocument/2006/relationships/oleObject" Target="../embeddings/oleObject10.bin"/><Relationship Id="rId15" Type="http://schemas.openxmlformats.org/officeDocument/2006/relationships/image" Target="../media/image35.wmf"/><Relationship Id="rId10" Type="http://schemas.openxmlformats.org/officeDocument/2006/relationships/image" Target="../media/image33.wmf"/><Relationship Id="rId4" Type="http://schemas.openxmlformats.org/officeDocument/2006/relationships/image" Target="../media/image30.wmf"/><Relationship Id="rId9" Type="http://schemas.openxmlformats.org/officeDocument/2006/relationships/oleObject" Target="../embeddings/oleObject12.bin"/><Relationship Id="rId14" Type="http://schemas.openxmlformats.org/officeDocument/2006/relationships/oleObject" Target="../embeddings/oleObject14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13" Type="http://schemas.openxmlformats.org/officeDocument/2006/relationships/image" Target="../media/image41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oleObject" Target="../embeddings/oleObject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8.wmf"/><Relationship Id="rId11" Type="http://schemas.openxmlformats.org/officeDocument/2006/relationships/image" Target="../media/image23.png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40.wmf"/><Relationship Id="rId4" Type="http://schemas.openxmlformats.org/officeDocument/2006/relationships/image" Target="../media/image37.wmf"/><Relationship Id="rId9" Type="http://schemas.openxmlformats.org/officeDocument/2006/relationships/oleObject" Target="../embeddings/oleObject19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13" Type="http://schemas.openxmlformats.org/officeDocument/2006/relationships/image" Target="../media/image46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12" Type="http://schemas.openxmlformats.org/officeDocument/2006/relationships/oleObject" Target="../embeddings/oleObject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43.wmf"/><Relationship Id="rId11" Type="http://schemas.openxmlformats.org/officeDocument/2006/relationships/image" Target="../media/image23.png"/><Relationship Id="rId5" Type="http://schemas.openxmlformats.org/officeDocument/2006/relationships/oleObject" Target="../embeddings/oleObject22.bin"/><Relationship Id="rId10" Type="http://schemas.openxmlformats.org/officeDocument/2006/relationships/image" Target="../media/image45.wmf"/><Relationship Id="rId4" Type="http://schemas.openxmlformats.org/officeDocument/2006/relationships/image" Target="../media/image42.wmf"/><Relationship Id="rId9" Type="http://schemas.openxmlformats.org/officeDocument/2006/relationships/oleObject" Target="../embeddings/oleObject2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2004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Pythagoras Theorem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find the shorter side? 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133028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763000" cy="685800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normAutofit fontScale="90000"/>
          </a:bodyPr>
          <a:lstStyle/>
          <a:p>
            <a:r>
              <a:rPr lang="en-US" altLang="en-US" smtClean="0">
                <a:solidFill>
                  <a:schemeClr val="tx1"/>
                </a:solidFill>
              </a:rPr>
              <a:t>What is a right triangle?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2286000"/>
            <a:ext cx="8991600" cy="3810000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normAutofit lnSpcReduction="10000"/>
          </a:bodyPr>
          <a:lstStyle/>
          <a:p>
            <a:pPr algn="ctr">
              <a:buFontTx/>
              <a:buNone/>
            </a:pPr>
            <a:r>
              <a:rPr lang="en-US" altLang="en-US" sz="4000" smtClean="0"/>
              <a:t>It is a triangle which has an angle that is </a:t>
            </a:r>
            <a:r>
              <a:rPr lang="en-US" altLang="en-US" sz="4000" b="1" smtClean="0">
                <a:solidFill>
                  <a:srgbClr val="00279F"/>
                </a:solidFill>
              </a:rPr>
              <a:t>90</a:t>
            </a:r>
            <a:r>
              <a:rPr lang="en-US" altLang="en-US" sz="4000" smtClean="0"/>
              <a:t> degrees.  </a:t>
            </a:r>
          </a:p>
          <a:p>
            <a:pPr algn="ctr">
              <a:buFontTx/>
              <a:buNone/>
            </a:pPr>
            <a:r>
              <a:rPr lang="en-US" altLang="en-US" sz="4000" smtClean="0"/>
              <a:t>The two sides that make up the right angle are called </a:t>
            </a:r>
            <a:r>
              <a:rPr lang="en-US" altLang="en-US" sz="4000" b="1" u="sng" smtClean="0">
                <a:solidFill>
                  <a:srgbClr val="00279F"/>
                </a:solidFill>
              </a:rPr>
              <a:t>legs</a:t>
            </a:r>
            <a:r>
              <a:rPr lang="en-US" altLang="en-US" sz="4000" smtClean="0"/>
              <a:t>.  </a:t>
            </a:r>
          </a:p>
          <a:p>
            <a:pPr algn="ctr">
              <a:buFontTx/>
              <a:buNone/>
            </a:pPr>
            <a:r>
              <a:rPr lang="en-US" altLang="en-US" sz="4000" smtClean="0"/>
              <a:t>The side opposite the right angle is the </a:t>
            </a:r>
            <a:r>
              <a:rPr lang="en-US" altLang="en-US" sz="4000" b="1" u="sng" smtClean="0">
                <a:solidFill>
                  <a:srgbClr val="00279F"/>
                </a:solidFill>
              </a:rPr>
              <a:t>hypotenuse</a:t>
            </a:r>
            <a:r>
              <a:rPr lang="en-US" altLang="en-US" sz="4000" smtClean="0"/>
              <a:t>.</a:t>
            </a:r>
          </a:p>
        </p:txBody>
      </p:sp>
      <p:sp>
        <p:nvSpPr>
          <p:cNvPr id="3076" name="Freeform 4"/>
          <p:cNvSpPr>
            <a:spLocks/>
          </p:cNvSpPr>
          <p:nvPr/>
        </p:nvSpPr>
        <p:spPr bwMode="auto">
          <a:xfrm>
            <a:off x="3657600" y="609600"/>
            <a:ext cx="1754188" cy="1449388"/>
          </a:xfrm>
          <a:custGeom>
            <a:avLst/>
            <a:gdLst>
              <a:gd name="T0" fmla="*/ 0 w 1105"/>
              <a:gd name="T1" fmla="*/ 0 h 913"/>
              <a:gd name="T2" fmla="*/ 0 w 1105"/>
              <a:gd name="T3" fmla="*/ 1447800 h 913"/>
              <a:gd name="T4" fmla="*/ 1752600 w 1105"/>
              <a:gd name="T5" fmla="*/ 1447800 h 913"/>
              <a:gd name="T6" fmla="*/ 0 w 1105"/>
              <a:gd name="T7" fmla="*/ 0 h 91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105" h="913">
                <a:moveTo>
                  <a:pt x="0" y="0"/>
                </a:moveTo>
                <a:lnTo>
                  <a:pt x="0" y="912"/>
                </a:lnTo>
                <a:lnTo>
                  <a:pt x="1104" y="912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3663950" y="1835150"/>
            <a:ext cx="215900" cy="2159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2957513" y="1052513"/>
            <a:ext cx="55245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altLang="en-US">
                <a:latin typeface="Times New Roman" pitchFamily="18" charset="0"/>
              </a:rPr>
              <a:t>leg</a:t>
            </a:r>
          </a:p>
        </p:txBody>
      </p:sp>
      <p:sp>
        <p:nvSpPr>
          <p:cNvPr id="3079" name="Rectangle 7"/>
          <p:cNvSpPr>
            <a:spLocks noChangeArrowheads="1"/>
          </p:cNvSpPr>
          <p:nvPr/>
        </p:nvSpPr>
        <p:spPr bwMode="auto">
          <a:xfrm>
            <a:off x="4176713" y="2043113"/>
            <a:ext cx="55245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altLang="en-US">
                <a:latin typeface="Times New Roman" pitchFamily="18" charset="0"/>
              </a:rPr>
              <a:t>leg</a:t>
            </a:r>
          </a:p>
        </p:txBody>
      </p:sp>
      <p:sp>
        <p:nvSpPr>
          <p:cNvPr id="3080" name="Rectangle 8"/>
          <p:cNvSpPr>
            <a:spLocks noChangeArrowheads="1"/>
          </p:cNvSpPr>
          <p:nvPr/>
        </p:nvSpPr>
        <p:spPr bwMode="auto">
          <a:xfrm>
            <a:off x="4633913" y="900113"/>
            <a:ext cx="20701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7" tIns="44450" rIns="90487" bIns="44450">
            <a:spAutoFit/>
          </a:bodyPr>
          <a:lstStyle/>
          <a:p>
            <a:r>
              <a:rPr lang="en-US" altLang="en-US">
                <a:latin typeface="Times New Roman" pitchFamily="18" charset="0"/>
              </a:rPr>
              <a:t>hypotenuse</a:t>
            </a:r>
          </a:p>
        </p:txBody>
      </p:sp>
      <p:sp>
        <p:nvSpPr>
          <p:cNvPr id="3081" name="Rectangle 9"/>
          <p:cNvSpPr>
            <a:spLocks noChangeArrowheads="1"/>
          </p:cNvSpPr>
          <p:nvPr/>
        </p:nvSpPr>
        <p:spPr bwMode="auto">
          <a:xfrm>
            <a:off x="1775366" y="1906587"/>
            <a:ext cx="1490662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altLang="en-US" dirty="0">
                <a:latin typeface="Times New Roman" pitchFamily="18" charset="0"/>
              </a:rPr>
              <a:t>right angle</a:t>
            </a:r>
          </a:p>
        </p:txBody>
      </p:sp>
      <p:sp>
        <p:nvSpPr>
          <p:cNvPr id="3082" name="Line 10"/>
          <p:cNvSpPr>
            <a:spLocks noChangeShapeType="1"/>
          </p:cNvSpPr>
          <p:nvPr/>
        </p:nvSpPr>
        <p:spPr bwMode="auto">
          <a:xfrm flipV="1">
            <a:off x="2901950" y="2057400"/>
            <a:ext cx="6731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225348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Line 2"/>
          <p:cNvSpPr>
            <a:spLocks noChangeShapeType="1"/>
          </p:cNvSpPr>
          <p:nvPr/>
        </p:nvSpPr>
        <p:spPr bwMode="auto">
          <a:xfrm rot="16200000" flipV="1">
            <a:off x="4525169" y="4755357"/>
            <a:ext cx="1587" cy="2222500"/>
          </a:xfrm>
          <a:prstGeom prst="line">
            <a:avLst/>
          </a:prstGeom>
          <a:ln>
            <a:headEnd/>
            <a:tailEnd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AU"/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609600" y="228600"/>
            <a:ext cx="8305800" cy="2560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dirty="0">
                <a:solidFill>
                  <a:srgbClr val="000099"/>
                </a:solidFill>
              </a:rPr>
              <a:t>The lengths of the legs are usually called </a:t>
            </a:r>
            <a:r>
              <a:rPr lang="en-US" sz="5400" i="1" dirty="0">
                <a:solidFill>
                  <a:srgbClr val="000099"/>
                </a:solidFill>
              </a:rPr>
              <a:t>a</a:t>
            </a:r>
            <a:r>
              <a:rPr lang="en-US" sz="5400" dirty="0">
                <a:solidFill>
                  <a:srgbClr val="000099"/>
                </a:solidFill>
              </a:rPr>
              <a:t> and </a:t>
            </a:r>
            <a:r>
              <a:rPr lang="en-US" sz="5400" i="1" dirty="0">
                <a:solidFill>
                  <a:srgbClr val="000099"/>
                </a:solidFill>
              </a:rPr>
              <a:t>b</a:t>
            </a:r>
            <a:r>
              <a:rPr lang="en-US" sz="5400" dirty="0">
                <a:solidFill>
                  <a:srgbClr val="000099"/>
                </a:solidFill>
              </a:rPr>
              <a:t>.</a:t>
            </a:r>
            <a:endParaRPr lang="en-US" sz="5400" baseline="40000" dirty="0">
              <a:solidFill>
                <a:srgbClr val="000099"/>
              </a:solidFill>
            </a:endParaRPr>
          </a:p>
          <a:p>
            <a:pPr>
              <a:spcBef>
                <a:spcPct val="50000"/>
              </a:spcBef>
            </a:pPr>
            <a:endParaRPr lang="en-US" sz="5400" baseline="30000" dirty="0"/>
          </a:p>
        </p:txBody>
      </p:sp>
      <p:grpSp>
        <p:nvGrpSpPr>
          <p:cNvPr id="24580" name="Group 4"/>
          <p:cNvGrpSpPr>
            <a:grpSpLocks/>
          </p:cNvGrpSpPr>
          <p:nvPr/>
        </p:nvGrpSpPr>
        <p:grpSpPr bwMode="auto">
          <a:xfrm>
            <a:off x="3429000" y="5486400"/>
            <a:ext cx="381000" cy="381000"/>
            <a:chOff x="1680" y="3120"/>
            <a:chExt cx="240" cy="240"/>
          </a:xfrm>
        </p:grpSpPr>
        <p:sp>
          <p:nvSpPr>
            <p:cNvPr id="24581" name="Line 5"/>
            <p:cNvSpPr>
              <a:spLocks noChangeShapeType="1"/>
            </p:cNvSpPr>
            <p:nvPr/>
          </p:nvSpPr>
          <p:spPr bwMode="auto">
            <a:xfrm>
              <a:off x="1920" y="3120"/>
              <a:ext cx="0" cy="24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  <p:sp>
          <p:nvSpPr>
            <p:cNvPr id="24582" name="Line 6"/>
            <p:cNvSpPr>
              <a:spLocks noChangeShapeType="1"/>
            </p:cNvSpPr>
            <p:nvPr/>
          </p:nvSpPr>
          <p:spPr bwMode="auto">
            <a:xfrm>
              <a:off x="1680" y="3120"/>
              <a:ext cx="240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</p:grpSp>
      <p:grpSp>
        <p:nvGrpSpPr>
          <p:cNvPr id="24583" name="Group 7"/>
          <p:cNvGrpSpPr>
            <a:grpSpLocks/>
          </p:cNvGrpSpPr>
          <p:nvPr/>
        </p:nvGrpSpPr>
        <p:grpSpPr bwMode="auto">
          <a:xfrm rot="5652">
            <a:off x="3429000" y="3657600"/>
            <a:ext cx="381000" cy="2209800"/>
            <a:chOff x="912" y="2352"/>
            <a:chExt cx="240" cy="1392"/>
          </a:xfrm>
        </p:grpSpPr>
        <p:sp>
          <p:nvSpPr>
            <p:cNvPr id="24584" name="Line 8"/>
            <p:cNvSpPr>
              <a:spLocks noChangeShapeType="1"/>
            </p:cNvSpPr>
            <p:nvPr/>
          </p:nvSpPr>
          <p:spPr bwMode="auto">
            <a:xfrm>
              <a:off x="912" y="2352"/>
              <a:ext cx="0" cy="1392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  <p:sp>
          <p:nvSpPr>
            <p:cNvPr id="24585" name="Line 9"/>
            <p:cNvSpPr>
              <a:spLocks noChangeShapeType="1"/>
            </p:cNvSpPr>
            <p:nvPr/>
          </p:nvSpPr>
          <p:spPr bwMode="auto">
            <a:xfrm>
              <a:off x="912" y="3744"/>
              <a:ext cx="240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</p:grpSp>
      <p:sp>
        <p:nvSpPr>
          <p:cNvPr id="24588" name="Text Box 12"/>
          <p:cNvSpPr txBox="1">
            <a:spLocks noChangeArrowheads="1"/>
          </p:cNvSpPr>
          <p:nvPr/>
        </p:nvSpPr>
        <p:spPr bwMode="auto">
          <a:xfrm>
            <a:off x="2667000" y="42672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a</a:t>
            </a:r>
          </a:p>
        </p:txBody>
      </p:sp>
      <p:sp>
        <p:nvSpPr>
          <p:cNvPr id="24589" name="Text Box 13"/>
          <p:cNvSpPr txBox="1">
            <a:spLocks noChangeArrowheads="1"/>
          </p:cNvSpPr>
          <p:nvPr/>
        </p:nvSpPr>
        <p:spPr bwMode="auto">
          <a:xfrm>
            <a:off x="4343400" y="58674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4267584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autoUpdateAnimBg="0"/>
      <p:bldP spid="24588" grpId="0" autoUpdateAnimBg="0"/>
      <p:bldP spid="24589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Line 2"/>
          <p:cNvSpPr>
            <a:spLocks noChangeShapeType="1"/>
          </p:cNvSpPr>
          <p:nvPr/>
        </p:nvSpPr>
        <p:spPr bwMode="auto">
          <a:xfrm rot="16200000" flipV="1">
            <a:off x="4525169" y="4755357"/>
            <a:ext cx="1587" cy="2222500"/>
          </a:xfrm>
          <a:prstGeom prst="line">
            <a:avLst/>
          </a:prstGeom>
          <a:ln>
            <a:headEnd/>
            <a:tailEnd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AU"/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609600" y="228600"/>
            <a:ext cx="8305800" cy="173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>
                <a:solidFill>
                  <a:srgbClr val="000099"/>
                </a:solidFill>
              </a:rPr>
              <a:t>The side across from the right angle </a:t>
            </a:r>
            <a:endParaRPr lang="en-US" sz="5400" baseline="30000"/>
          </a:p>
        </p:txBody>
      </p:sp>
      <p:grpSp>
        <p:nvGrpSpPr>
          <p:cNvPr id="25604" name="Group 4"/>
          <p:cNvGrpSpPr>
            <a:grpSpLocks/>
          </p:cNvGrpSpPr>
          <p:nvPr/>
        </p:nvGrpSpPr>
        <p:grpSpPr bwMode="auto">
          <a:xfrm>
            <a:off x="3429000" y="5486400"/>
            <a:ext cx="381000" cy="381000"/>
            <a:chOff x="1680" y="3120"/>
            <a:chExt cx="240" cy="240"/>
          </a:xfrm>
        </p:grpSpPr>
        <p:sp>
          <p:nvSpPr>
            <p:cNvPr id="25605" name="Line 5"/>
            <p:cNvSpPr>
              <a:spLocks noChangeShapeType="1"/>
            </p:cNvSpPr>
            <p:nvPr/>
          </p:nvSpPr>
          <p:spPr bwMode="auto">
            <a:xfrm>
              <a:off x="1920" y="3120"/>
              <a:ext cx="0" cy="24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  <p:sp>
          <p:nvSpPr>
            <p:cNvPr id="25606" name="Line 6"/>
            <p:cNvSpPr>
              <a:spLocks noChangeShapeType="1"/>
            </p:cNvSpPr>
            <p:nvPr/>
          </p:nvSpPr>
          <p:spPr bwMode="auto">
            <a:xfrm>
              <a:off x="1680" y="3120"/>
              <a:ext cx="240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</p:grpSp>
      <p:grpSp>
        <p:nvGrpSpPr>
          <p:cNvPr id="25607" name="Group 7"/>
          <p:cNvGrpSpPr>
            <a:grpSpLocks/>
          </p:cNvGrpSpPr>
          <p:nvPr/>
        </p:nvGrpSpPr>
        <p:grpSpPr bwMode="auto">
          <a:xfrm rot="5652">
            <a:off x="3429000" y="3657600"/>
            <a:ext cx="381000" cy="2209800"/>
            <a:chOff x="912" y="2352"/>
            <a:chExt cx="240" cy="1392"/>
          </a:xfrm>
        </p:grpSpPr>
        <p:sp>
          <p:nvSpPr>
            <p:cNvPr id="25608" name="Line 8"/>
            <p:cNvSpPr>
              <a:spLocks noChangeShapeType="1"/>
            </p:cNvSpPr>
            <p:nvPr/>
          </p:nvSpPr>
          <p:spPr bwMode="auto">
            <a:xfrm>
              <a:off x="912" y="2352"/>
              <a:ext cx="0" cy="1392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  <p:sp>
          <p:nvSpPr>
            <p:cNvPr id="25609" name="Line 9"/>
            <p:cNvSpPr>
              <a:spLocks noChangeShapeType="1"/>
            </p:cNvSpPr>
            <p:nvPr/>
          </p:nvSpPr>
          <p:spPr bwMode="auto">
            <a:xfrm>
              <a:off x="912" y="3744"/>
              <a:ext cx="240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</p:grpSp>
      <p:sp>
        <p:nvSpPr>
          <p:cNvPr id="25610" name="Text Box 10"/>
          <p:cNvSpPr txBox="1">
            <a:spLocks noChangeArrowheads="1"/>
          </p:cNvSpPr>
          <p:nvPr/>
        </p:nvSpPr>
        <p:spPr bwMode="auto">
          <a:xfrm>
            <a:off x="2667000" y="42672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a</a:t>
            </a:r>
          </a:p>
        </p:txBody>
      </p:sp>
      <p:sp>
        <p:nvSpPr>
          <p:cNvPr id="25611" name="Text Box 11"/>
          <p:cNvSpPr txBox="1">
            <a:spLocks noChangeArrowheads="1"/>
          </p:cNvSpPr>
          <p:nvPr/>
        </p:nvSpPr>
        <p:spPr bwMode="auto">
          <a:xfrm>
            <a:off x="4343400" y="58674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b</a:t>
            </a:r>
          </a:p>
        </p:txBody>
      </p:sp>
      <p:sp>
        <p:nvSpPr>
          <p:cNvPr id="25613" name="Line 13"/>
          <p:cNvSpPr>
            <a:spLocks noChangeShapeType="1"/>
          </p:cNvSpPr>
          <p:nvPr/>
        </p:nvSpPr>
        <p:spPr bwMode="auto">
          <a:xfrm rot="5652">
            <a:off x="3429000" y="3657600"/>
            <a:ext cx="2209800" cy="2209800"/>
          </a:xfrm>
          <a:prstGeom prst="line">
            <a:avLst/>
          </a:prstGeom>
          <a:ln>
            <a:headEnd/>
            <a:tailEnd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AU"/>
          </a:p>
        </p:txBody>
      </p:sp>
      <p:sp>
        <p:nvSpPr>
          <p:cNvPr id="25615" name="Text Box 15"/>
          <p:cNvSpPr txBox="1">
            <a:spLocks noChangeArrowheads="1"/>
          </p:cNvSpPr>
          <p:nvPr/>
        </p:nvSpPr>
        <p:spPr bwMode="auto">
          <a:xfrm>
            <a:off x="3733800" y="1058863"/>
            <a:ext cx="3733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>
                <a:solidFill>
                  <a:srgbClr val="000099"/>
                </a:solidFill>
              </a:rPr>
              <a:t>is called the</a:t>
            </a:r>
            <a:endParaRPr lang="en-US" sz="5400" baseline="30000"/>
          </a:p>
        </p:txBody>
      </p:sp>
      <p:sp>
        <p:nvSpPr>
          <p:cNvPr id="25618" name="WordArt 18"/>
          <p:cNvSpPr>
            <a:spLocks noChangeAspect="1" noChangeArrowheads="1" noChangeShapeType="1" noTextEdit="1"/>
          </p:cNvSpPr>
          <p:nvPr/>
        </p:nvSpPr>
        <p:spPr bwMode="auto">
          <a:xfrm>
            <a:off x="2590800" y="2209800"/>
            <a:ext cx="5237163" cy="11747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7030A0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latin typeface="Arial Black"/>
              </a:rPr>
              <a:t>hypotenuse.</a:t>
            </a:r>
          </a:p>
        </p:txBody>
      </p:sp>
      <p:sp>
        <p:nvSpPr>
          <p:cNvPr id="25619" name="Line 19"/>
          <p:cNvSpPr>
            <a:spLocks noChangeShapeType="1"/>
          </p:cNvSpPr>
          <p:nvPr/>
        </p:nvSpPr>
        <p:spPr bwMode="auto">
          <a:xfrm flipV="1">
            <a:off x="3505200" y="4800600"/>
            <a:ext cx="990600" cy="9906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8055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9" presetClass="entr" presetSubtype="1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0" fill="hold"/>
                                        <p:tgtEl>
                                          <p:spTgt spid="256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0" fill="hold"/>
                                        <p:tgtEl>
                                          <p:spTgt spid="256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5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5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autoUpdateAnimBg="0"/>
      <p:bldP spid="25613" grpId="0" animBg="1"/>
      <p:bldP spid="25615" grpId="0" autoUpdateAnimBg="0"/>
      <p:bldP spid="25618" grpId="0"/>
      <p:bldP spid="256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Line 2"/>
          <p:cNvSpPr>
            <a:spLocks noChangeShapeType="1"/>
          </p:cNvSpPr>
          <p:nvPr/>
        </p:nvSpPr>
        <p:spPr bwMode="auto">
          <a:xfrm rot="16200000" flipV="1">
            <a:off x="4525169" y="4755357"/>
            <a:ext cx="1587" cy="2222500"/>
          </a:xfrm>
          <a:prstGeom prst="line">
            <a:avLst/>
          </a:prstGeom>
          <a:ln>
            <a:headEnd/>
            <a:tailEnd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AU"/>
          </a:p>
        </p:txBody>
      </p:sp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457200" y="228600"/>
            <a:ext cx="713913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5400" dirty="0">
                <a:solidFill>
                  <a:srgbClr val="000099"/>
                </a:solidFill>
              </a:rPr>
              <a:t>And the length of the hypotenuse </a:t>
            </a:r>
            <a:r>
              <a:rPr lang="en-US" sz="5400" dirty="0" smtClean="0">
                <a:solidFill>
                  <a:srgbClr val="000099"/>
                </a:solidFill>
              </a:rPr>
              <a:t>is </a:t>
            </a:r>
            <a:r>
              <a:rPr lang="en-US" sz="5400" dirty="0">
                <a:solidFill>
                  <a:srgbClr val="000099"/>
                </a:solidFill>
              </a:rPr>
              <a:t>usually labeled </a:t>
            </a:r>
            <a:r>
              <a:rPr lang="en-US" sz="5400" i="1" dirty="0">
                <a:solidFill>
                  <a:srgbClr val="000099"/>
                </a:solidFill>
              </a:rPr>
              <a:t>c</a:t>
            </a:r>
            <a:r>
              <a:rPr lang="en-US" sz="5400" dirty="0">
                <a:solidFill>
                  <a:srgbClr val="000099"/>
                </a:solidFill>
              </a:rPr>
              <a:t>.</a:t>
            </a:r>
            <a:endParaRPr lang="en-US" sz="5400" baseline="30000" dirty="0"/>
          </a:p>
        </p:txBody>
      </p:sp>
      <p:grpSp>
        <p:nvGrpSpPr>
          <p:cNvPr id="26628" name="Group 4"/>
          <p:cNvGrpSpPr>
            <a:grpSpLocks/>
          </p:cNvGrpSpPr>
          <p:nvPr/>
        </p:nvGrpSpPr>
        <p:grpSpPr bwMode="auto">
          <a:xfrm>
            <a:off x="3429000" y="5486400"/>
            <a:ext cx="381000" cy="381000"/>
            <a:chOff x="1680" y="3120"/>
            <a:chExt cx="240" cy="240"/>
          </a:xfrm>
        </p:grpSpPr>
        <p:sp>
          <p:nvSpPr>
            <p:cNvPr id="26629" name="Line 5"/>
            <p:cNvSpPr>
              <a:spLocks noChangeShapeType="1"/>
            </p:cNvSpPr>
            <p:nvPr/>
          </p:nvSpPr>
          <p:spPr bwMode="auto">
            <a:xfrm>
              <a:off x="1920" y="3120"/>
              <a:ext cx="0" cy="24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  <p:sp>
          <p:nvSpPr>
            <p:cNvPr id="26630" name="Line 6"/>
            <p:cNvSpPr>
              <a:spLocks noChangeShapeType="1"/>
            </p:cNvSpPr>
            <p:nvPr/>
          </p:nvSpPr>
          <p:spPr bwMode="auto">
            <a:xfrm>
              <a:off x="1680" y="3120"/>
              <a:ext cx="240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</p:grpSp>
      <p:grpSp>
        <p:nvGrpSpPr>
          <p:cNvPr id="26631" name="Group 7"/>
          <p:cNvGrpSpPr>
            <a:grpSpLocks/>
          </p:cNvGrpSpPr>
          <p:nvPr/>
        </p:nvGrpSpPr>
        <p:grpSpPr bwMode="auto">
          <a:xfrm rot="5652">
            <a:off x="3429000" y="3657600"/>
            <a:ext cx="381000" cy="2209800"/>
            <a:chOff x="912" y="2352"/>
            <a:chExt cx="240" cy="1392"/>
          </a:xfrm>
        </p:grpSpPr>
        <p:sp>
          <p:nvSpPr>
            <p:cNvPr id="26632" name="Line 8"/>
            <p:cNvSpPr>
              <a:spLocks noChangeShapeType="1"/>
            </p:cNvSpPr>
            <p:nvPr/>
          </p:nvSpPr>
          <p:spPr bwMode="auto">
            <a:xfrm>
              <a:off x="912" y="2352"/>
              <a:ext cx="0" cy="1392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  <p:sp>
          <p:nvSpPr>
            <p:cNvPr id="26633" name="Line 9"/>
            <p:cNvSpPr>
              <a:spLocks noChangeShapeType="1"/>
            </p:cNvSpPr>
            <p:nvPr/>
          </p:nvSpPr>
          <p:spPr bwMode="auto">
            <a:xfrm>
              <a:off x="912" y="3744"/>
              <a:ext cx="240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</p:grpSp>
      <p:sp>
        <p:nvSpPr>
          <p:cNvPr id="26634" name="Text Box 10"/>
          <p:cNvSpPr txBox="1">
            <a:spLocks noChangeArrowheads="1"/>
          </p:cNvSpPr>
          <p:nvPr/>
        </p:nvSpPr>
        <p:spPr bwMode="auto">
          <a:xfrm>
            <a:off x="2667000" y="42672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a</a:t>
            </a:r>
          </a:p>
        </p:txBody>
      </p:sp>
      <p:sp>
        <p:nvSpPr>
          <p:cNvPr id="26635" name="Text Box 11"/>
          <p:cNvSpPr txBox="1">
            <a:spLocks noChangeArrowheads="1"/>
          </p:cNvSpPr>
          <p:nvPr/>
        </p:nvSpPr>
        <p:spPr bwMode="auto">
          <a:xfrm>
            <a:off x="4343400" y="58674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b</a:t>
            </a:r>
          </a:p>
        </p:txBody>
      </p:sp>
      <p:sp>
        <p:nvSpPr>
          <p:cNvPr id="26636" name="Line 12"/>
          <p:cNvSpPr>
            <a:spLocks noChangeShapeType="1"/>
          </p:cNvSpPr>
          <p:nvPr/>
        </p:nvSpPr>
        <p:spPr bwMode="auto">
          <a:xfrm rot="5652">
            <a:off x="3429000" y="3657600"/>
            <a:ext cx="2209800" cy="2209800"/>
          </a:xfrm>
          <a:prstGeom prst="line">
            <a:avLst/>
          </a:prstGeom>
          <a:ln>
            <a:headEnd/>
            <a:tailEnd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AU"/>
          </a:p>
        </p:txBody>
      </p:sp>
      <p:sp>
        <p:nvSpPr>
          <p:cNvPr id="26639" name="Text Box 15"/>
          <p:cNvSpPr txBox="1">
            <a:spLocks noChangeArrowheads="1"/>
          </p:cNvSpPr>
          <p:nvPr/>
        </p:nvSpPr>
        <p:spPr bwMode="auto">
          <a:xfrm>
            <a:off x="4648200" y="38862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992085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" presetID="15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66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66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6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6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autoUpdateAnimBg="0"/>
      <p:bldP spid="26639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685800" y="717550"/>
            <a:ext cx="8153400" cy="255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>
                <a:solidFill>
                  <a:srgbClr val="000099"/>
                </a:solidFill>
              </a:rPr>
              <a:t>The relationship Pythagorus discovered is now called The Pythagorean Theorem:</a:t>
            </a:r>
            <a:endParaRPr lang="en-US" sz="5400" baseline="30000"/>
          </a:p>
        </p:txBody>
      </p:sp>
      <p:sp>
        <p:nvSpPr>
          <p:cNvPr id="27660" name="Line 12"/>
          <p:cNvSpPr>
            <a:spLocks noChangeShapeType="1"/>
          </p:cNvSpPr>
          <p:nvPr/>
        </p:nvSpPr>
        <p:spPr bwMode="auto">
          <a:xfrm rot="16200000" flipV="1">
            <a:off x="4525169" y="4755357"/>
            <a:ext cx="1587" cy="2222500"/>
          </a:xfrm>
          <a:prstGeom prst="line">
            <a:avLst/>
          </a:prstGeom>
          <a:ln>
            <a:headEnd/>
            <a:tailEnd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AU"/>
          </a:p>
        </p:txBody>
      </p:sp>
      <p:grpSp>
        <p:nvGrpSpPr>
          <p:cNvPr id="27661" name="Group 13"/>
          <p:cNvGrpSpPr>
            <a:grpSpLocks/>
          </p:cNvGrpSpPr>
          <p:nvPr/>
        </p:nvGrpSpPr>
        <p:grpSpPr bwMode="auto">
          <a:xfrm>
            <a:off x="3429000" y="5486400"/>
            <a:ext cx="381000" cy="381000"/>
            <a:chOff x="1680" y="3120"/>
            <a:chExt cx="240" cy="240"/>
          </a:xfrm>
        </p:grpSpPr>
        <p:sp>
          <p:nvSpPr>
            <p:cNvPr id="27662" name="Line 14"/>
            <p:cNvSpPr>
              <a:spLocks noChangeShapeType="1"/>
            </p:cNvSpPr>
            <p:nvPr/>
          </p:nvSpPr>
          <p:spPr bwMode="auto">
            <a:xfrm>
              <a:off x="1920" y="3120"/>
              <a:ext cx="0" cy="24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  <p:sp>
          <p:nvSpPr>
            <p:cNvPr id="27663" name="Line 15"/>
            <p:cNvSpPr>
              <a:spLocks noChangeShapeType="1"/>
            </p:cNvSpPr>
            <p:nvPr/>
          </p:nvSpPr>
          <p:spPr bwMode="auto">
            <a:xfrm>
              <a:off x="1680" y="3120"/>
              <a:ext cx="240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</p:grpSp>
      <p:grpSp>
        <p:nvGrpSpPr>
          <p:cNvPr id="27664" name="Group 16"/>
          <p:cNvGrpSpPr>
            <a:grpSpLocks/>
          </p:cNvGrpSpPr>
          <p:nvPr/>
        </p:nvGrpSpPr>
        <p:grpSpPr bwMode="auto">
          <a:xfrm rot="5652">
            <a:off x="3429000" y="3657600"/>
            <a:ext cx="381000" cy="2209800"/>
            <a:chOff x="912" y="2352"/>
            <a:chExt cx="240" cy="1392"/>
          </a:xfrm>
        </p:grpSpPr>
        <p:sp>
          <p:nvSpPr>
            <p:cNvPr id="27665" name="Line 17"/>
            <p:cNvSpPr>
              <a:spLocks noChangeShapeType="1"/>
            </p:cNvSpPr>
            <p:nvPr/>
          </p:nvSpPr>
          <p:spPr bwMode="auto">
            <a:xfrm>
              <a:off x="912" y="2352"/>
              <a:ext cx="0" cy="1392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  <p:sp>
          <p:nvSpPr>
            <p:cNvPr id="27666" name="Line 18"/>
            <p:cNvSpPr>
              <a:spLocks noChangeShapeType="1"/>
            </p:cNvSpPr>
            <p:nvPr/>
          </p:nvSpPr>
          <p:spPr bwMode="auto">
            <a:xfrm>
              <a:off x="912" y="3744"/>
              <a:ext cx="240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</p:grpSp>
      <p:sp>
        <p:nvSpPr>
          <p:cNvPr id="27667" name="Text Box 19"/>
          <p:cNvSpPr txBox="1">
            <a:spLocks noChangeArrowheads="1"/>
          </p:cNvSpPr>
          <p:nvPr/>
        </p:nvSpPr>
        <p:spPr bwMode="auto">
          <a:xfrm>
            <a:off x="2667000" y="42672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a</a:t>
            </a:r>
          </a:p>
        </p:txBody>
      </p:sp>
      <p:sp>
        <p:nvSpPr>
          <p:cNvPr id="27668" name="Text Box 20"/>
          <p:cNvSpPr txBox="1">
            <a:spLocks noChangeArrowheads="1"/>
          </p:cNvSpPr>
          <p:nvPr/>
        </p:nvSpPr>
        <p:spPr bwMode="auto">
          <a:xfrm>
            <a:off x="4343400" y="58674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b</a:t>
            </a:r>
          </a:p>
        </p:txBody>
      </p:sp>
      <p:sp>
        <p:nvSpPr>
          <p:cNvPr id="27669" name="Line 21"/>
          <p:cNvSpPr>
            <a:spLocks noChangeShapeType="1"/>
          </p:cNvSpPr>
          <p:nvPr/>
        </p:nvSpPr>
        <p:spPr bwMode="auto">
          <a:xfrm rot="5652">
            <a:off x="3429000" y="3657600"/>
            <a:ext cx="2209800" cy="2209800"/>
          </a:xfrm>
          <a:prstGeom prst="line">
            <a:avLst/>
          </a:prstGeom>
          <a:ln>
            <a:headEnd/>
            <a:tailEnd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AU"/>
          </a:p>
        </p:txBody>
      </p:sp>
      <p:sp>
        <p:nvSpPr>
          <p:cNvPr id="27670" name="Text Box 22"/>
          <p:cNvSpPr txBox="1">
            <a:spLocks noChangeArrowheads="1"/>
          </p:cNvSpPr>
          <p:nvPr/>
        </p:nvSpPr>
        <p:spPr bwMode="auto">
          <a:xfrm>
            <a:off x="4648200" y="38862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47194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685800" y="76200"/>
            <a:ext cx="8153400" cy="3381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>
                <a:solidFill>
                  <a:srgbClr val="000099"/>
                </a:solidFill>
              </a:rPr>
              <a:t>The Pythagorean Theorem says, given the right triangle with legs </a:t>
            </a:r>
            <a:r>
              <a:rPr lang="en-US" sz="5400" i="1">
                <a:solidFill>
                  <a:srgbClr val="000099"/>
                </a:solidFill>
              </a:rPr>
              <a:t>a</a:t>
            </a:r>
            <a:r>
              <a:rPr lang="en-US" sz="5400">
                <a:solidFill>
                  <a:srgbClr val="000099"/>
                </a:solidFill>
              </a:rPr>
              <a:t> and </a:t>
            </a:r>
            <a:r>
              <a:rPr lang="en-US" sz="5400" i="1">
                <a:solidFill>
                  <a:srgbClr val="000099"/>
                </a:solidFill>
              </a:rPr>
              <a:t>b</a:t>
            </a:r>
            <a:r>
              <a:rPr lang="en-US" sz="5400">
                <a:solidFill>
                  <a:srgbClr val="000099"/>
                </a:solidFill>
              </a:rPr>
              <a:t> and hypotenuse </a:t>
            </a:r>
            <a:r>
              <a:rPr lang="en-US" sz="5400" i="1">
                <a:solidFill>
                  <a:srgbClr val="000099"/>
                </a:solidFill>
              </a:rPr>
              <a:t>c,</a:t>
            </a:r>
          </a:p>
        </p:txBody>
      </p:sp>
      <p:sp>
        <p:nvSpPr>
          <p:cNvPr id="28675" name="Line 3"/>
          <p:cNvSpPr>
            <a:spLocks noChangeShapeType="1"/>
          </p:cNvSpPr>
          <p:nvPr/>
        </p:nvSpPr>
        <p:spPr bwMode="auto">
          <a:xfrm rot="16200000" flipV="1">
            <a:off x="4525169" y="4755357"/>
            <a:ext cx="1587" cy="2222500"/>
          </a:xfrm>
          <a:prstGeom prst="line">
            <a:avLst/>
          </a:prstGeom>
          <a:ln>
            <a:headEnd/>
            <a:tailEnd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AU"/>
          </a:p>
        </p:txBody>
      </p:sp>
      <p:grpSp>
        <p:nvGrpSpPr>
          <p:cNvPr id="28676" name="Group 4"/>
          <p:cNvGrpSpPr>
            <a:grpSpLocks/>
          </p:cNvGrpSpPr>
          <p:nvPr/>
        </p:nvGrpSpPr>
        <p:grpSpPr bwMode="auto">
          <a:xfrm>
            <a:off x="3429000" y="5486400"/>
            <a:ext cx="381000" cy="381000"/>
            <a:chOff x="1680" y="3120"/>
            <a:chExt cx="240" cy="240"/>
          </a:xfrm>
        </p:grpSpPr>
        <p:sp>
          <p:nvSpPr>
            <p:cNvPr id="28677" name="Line 5"/>
            <p:cNvSpPr>
              <a:spLocks noChangeShapeType="1"/>
            </p:cNvSpPr>
            <p:nvPr/>
          </p:nvSpPr>
          <p:spPr bwMode="auto">
            <a:xfrm>
              <a:off x="1920" y="3120"/>
              <a:ext cx="0" cy="24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  <p:sp>
          <p:nvSpPr>
            <p:cNvPr id="28678" name="Line 6"/>
            <p:cNvSpPr>
              <a:spLocks noChangeShapeType="1"/>
            </p:cNvSpPr>
            <p:nvPr/>
          </p:nvSpPr>
          <p:spPr bwMode="auto">
            <a:xfrm>
              <a:off x="1680" y="3120"/>
              <a:ext cx="240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</p:grpSp>
      <p:grpSp>
        <p:nvGrpSpPr>
          <p:cNvPr id="28679" name="Group 7"/>
          <p:cNvGrpSpPr>
            <a:grpSpLocks/>
          </p:cNvGrpSpPr>
          <p:nvPr/>
        </p:nvGrpSpPr>
        <p:grpSpPr bwMode="auto">
          <a:xfrm rot="5652">
            <a:off x="3429000" y="3657600"/>
            <a:ext cx="381000" cy="2209800"/>
            <a:chOff x="912" y="2352"/>
            <a:chExt cx="240" cy="1392"/>
          </a:xfrm>
        </p:grpSpPr>
        <p:sp>
          <p:nvSpPr>
            <p:cNvPr id="28680" name="Line 8"/>
            <p:cNvSpPr>
              <a:spLocks noChangeShapeType="1"/>
            </p:cNvSpPr>
            <p:nvPr/>
          </p:nvSpPr>
          <p:spPr bwMode="auto">
            <a:xfrm>
              <a:off x="912" y="2352"/>
              <a:ext cx="0" cy="1392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  <p:sp>
          <p:nvSpPr>
            <p:cNvPr id="28681" name="Line 9"/>
            <p:cNvSpPr>
              <a:spLocks noChangeShapeType="1"/>
            </p:cNvSpPr>
            <p:nvPr/>
          </p:nvSpPr>
          <p:spPr bwMode="auto">
            <a:xfrm>
              <a:off x="912" y="3744"/>
              <a:ext cx="240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</p:grpSp>
      <p:sp>
        <p:nvSpPr>
          <p:cNvPr id="28682" name="Text Box 10"/>
          <p:cNvSpPr txBox="1">
            <a:spLocks noChangeArrowheads="1"/>
          </p:cNvSpPr>
          <p:nvPr/>
        </p:nvSpPr>
        <p:spPr bwMode="auto">
          <a:xfrm>
            <a:off x="2667000" y="42672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a</a:t>
            </a:r>
          </a:p>
        </p:txBody>
      </p:sp>
      <p:sp>
        <p:nvSpPr>
          <p:cNvPr id="28683" name="Text Box 11"/>
          <p:cNvSpPr txBox="1">
            <a:spLocks noChangeArrowheads="1"/>
          </p:cNvSpPr>
          <p:nvPr/>
        </p:nvSpPr>
        <p:spPr bwMode="auto">
          <a:xfrm>
            <a:off x="4343400" y="58674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b</a:t>
            </a:r>
          </a:p>
        </p:txBody>
      </p:sp>
      <p:sp>
        <p:nvSpPr>
          <p:cNvPr id="28684" name="Line 12"/>
          <p:cNvSpPr>
            <a:spLocks noChangeShapeType="1"/>
          </p:cNvSpPr>
          <p:nvPr/>
        </p:nvSpPr>
        <p:spPr bwMode="auto">
          <a:xfrm rot="5652">
            <a:off x="3429000" y="3657600"/>
            <a:ext cx="2209800" cy="2209800"/>
          </a:xfrm>
          <a:prstGeom prst="line">
            <a:avLst/>
          </a:prstGeom>
          <a:ln>
            <a:headEnd/>
            <a:tailEnd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AU"/>
          </a:p>
        </p:txBody>
      </p:sp>
      <p:sp>
        <p:nvSpPr>
          <p:cNvPr id="28685" name="Text Box 13"/>
          <p:cNvSpPr txBox="1">
            <a:spLocks noChangeArrowheads="1"/>
          </p:cNvSpPr>
          <p:nvPr/>
        </p:nvSpPr>
        <p:spPr bwMode="auto">
          <a:xfrm>
            <a:off x="4648200" y="38862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678742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1676400" y="914400"/>
            <a:ext cx="8153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>
                <a:solidFill>
                  <a:srgbClr val="000099"/>
                </a:solidFill>
              </a:rPr>
              <a:t>then </a:t>
            </a:r>
            <a:endParaRPr lang="en-US" sz="5400" i="1">
              <a:solidFill>
                <a:srgbClr val="000099"/>
              </a:solidFill>
            </a:endParaRPr>
          </a:p>
        </p:txBody>
      </p:sp>
      <p:sp>
        <p:nvSpPr>
          <p:cNvPr id="29699" name="Line 3"/>
          <p:cNvSpPr>
            <a:spLocks noChangeShapeType="1"/>
          </p:cNvSpPr>
          <p:nvPr/>
        </p:nvSpPr>
        <p:spPr bwMode="auto">
          <a:xfrm rot="16200000" flipV="1">
            <a:off x="4525169" y="4755357"/>
            <a:ext cx="1587" cy="2222500"/>
          </a:xfrm>
          <a:prstGeom prst="line">
            <a:avLst/>
          </a:prstGeom>
          <a:ln>
            <a:headEnd/>
            <a:tailEnd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AU"/>
          </a:p>
        </p:txBody>
      </p:sp>
      <p:grpSp>
        <p:nvGrpSpPr>
          <p:cNvPr id="29700" name="Group 4"/>
          <p:cNvGrpSpPr>
            <a:grpSpLocks/>
          </p:cNvGrpSpPr>
          <p:nvPr/>
        </p:nvGrpSpPr>
        <p:grpSpPr bwMode="auto">
          <a:xfrm>
            <a:off x="3429000" y="5486400"/>
            <a:ext cx="381000" cy="381000"/>
            <a:chOff x="1680" y="3120"/>
            <a:chExt cx="240" cy="240"/>
          </a:xfrm>
        </p:grpSpPr>
        <p:sp>
          <p:nvSpPr>
            <p:cNvPr id="29701" name="Line 5"/>
            <p:cNvSpPr>
              <a:spLocks noChangeShapeType="1"/>
            </p:cNvSpPr>
            <p:nvPr/>
          </p:nvSpPr>
          <p:spPr bwMode="auto">
            <a:xfrm>
              <a:off x="1920" y="3120"/>
              <a:ext cx="0" cy="24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b="1"/>
            </a:p>
          </p:txBody>
        </p:sp>
        <p:sp>
          <p:nvSpPr>
            <p:cNvPr id="29702" name="Line 6"/>
            <p:cNvSpPr>
              <a:spLocks noChangeShapeType="1"/>
            </p:cNvSpPr>
            <p:nvPr/>
          </p:nvSpPr>
          <p:spPr bwMode="auto">
            <a:xfrm>
              <a:off x="1680" y="3120"/>
              <a:ext cx="240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b="1"/>
            </a:p>
          </p:txBody>
        </p:sp>
      </p:grpSp>
      <p:grpSp>
        <p:nvGrpSpPr>
          <p:cNvPr id="29703" name="Group 7"/>
          <p:cNvGrpSpPr>
            <a:grpSpLocks/>
          </p:cNvGrpSpPr>
          <p:nvPr/>
        </p:nvGrpSpPr>
        <p:grpSpPr bwMode="auto">
          <a:xfrm rot="5652">
            <a:off x="3429000" y="3657600"/>
            <a:ext cx="381000" cy="2209800"/>
            <a:chOff x="912" y="2352"/>
            <a:chExt cx="240" cy="1392"/>
          </a:xfrm>
        </p:grpSpPr>
        <p:sp>
          <p:nvSpPr>
            <p:cNvPr id="29704" name="Line 8"/>
            <p:cNvSpPr>
              <a:spLocks noChangeShapeType="1"/>
            </p:cNvSpPr>
            <p:nvPr/>
          </p:nvSpPr>
          <p:spPr bwMode="auto">
            <a:xfrm>
              <a:off x="912" y="2352"/>
              <a:ext cx="0" cy="1392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  <p:sp>
          <p:nvSpPr>
            <p:cNvPr id="29705" name="Line 9"/>
            <p:cNvSpPr>
              <a:spLocks noChangeShapeType="1"/>
            </p:cNvSpPr>
            <p:nvPr/>
          </p:nvSpPr>
          <p:spPr bwMode="auto">
            <a:xfrm>
              <a:off x="912" y="3744"/>
              <a:ext cx="240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</p:grpSp>
      <p:sp>
        <p:nvSpPr>
          <p:cNvPr id="29706" name="Text Box 10"/>
          <p:cNvSpPr txBox="1">
            <a:spLocks noChangeArrowheads="1"/>
          </p:cNvSpPr>
          <p:nvPr/>
        </p:nvSpPr>
        <p:spPr bwMode="auto">
          <a:xfrm>
            <a:off x="2667000" y="42672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a</a:t>
            </a:r>
          </a:p>
        </p:txBody>
      </p:sp>
      <p:sp>
        <p:nvSpPr>
          <p:cNvPr id="29707" name="Text Box 11"/>
          <p:cNvSpPr txBox="1">
            <a:spLocks noChangeArrowheads="1"/>
          </p:cNvSpPr>
          <p:nvPr/>
        </p:nvSpPr>
        <p:spPr bwMode="auto">
          <a:xfrm>
            <a:off x="4343400" y="58674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b</a:t>
            </a:r>
          </a:p>
        </p:txBody>
      </p:sp>
      <p:sp>
        <p:nvSpPr>
          <p:cNvPr id="29708" name="Line 12"/>
          <p:cNvSpPr>
            <a:spLocks noChangeShapeType="1"/>
          </p:cNvSpPr>
          <p:nvPr/>
        </p:nvSpPr>
        <p:spPr bwMode="auto">
          <a:xfrm rot="5652">
            <a:off x="3429000" y="3657600"/>
            <a:ext cx="2209800" cy="2209800"/>
          </a:xfrm>
          <a:prstGeom prst="line">
            <a:avLst/>
          </a:prstGeom>
          <a:ln>
            <a:headEnd/>
            <a:tailEnd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AU"/>
          </a:p>
        </p:txBody>
      </p:sp>
      <p:sp>
        <p:nvSpPr>
          <p:cNvPr id="29709" name="Text Box 13"/>
          <p:cNvSpPr txBox="1">
            <a:spLocks noChangeArrowheads="1"/>
          </p:cNvSpPr>
          <p:nvPr/>
        </p:nvSpPr>
        <p:spPr bwMode="auto">
          <a:xfrm>
            <a:off x="4648200" y="38862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c</a:t>
            </a:r>
          </a:p>
        </p:txBody>
      </p:sp>
      <p:graphicFrame>
        <p:nvGraphicFramePr>
          <p:cNvPr id="29710" name="Object 14"/>
          <p:cNvGraphicFramePr>
            <a:graphicFrameLocks noChangeAspect="1"/>
          </p:cNvGraphicFramePr>
          <p:nvPr/>
        </p:nvGraphicFramePr>
        <p:xfrm>
          <a:off x="3200400" y="850900"/>
          <a:ext cx="37592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Equation" r:id="rId3" imgW="3759120" imgH="825480" progId="Equation.3">
                  <p:embed/>
                </p:oleObj>
              </mc:Choice>
              <mc:Fallback>
                <p:oleObj name="Equation" r:id="rId3" imgW="3759120" imgH="825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850900"/>
                        <a:ext cx="37592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92309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9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473200" y="274638"/>
            <a:ext cx="5930900" cy="1143000"/>
          </a:xfrm>
        </p:spPr>
        <p:txBody>
          <a:bodyPr/>
          <a:lstStyle/>
          <a:p>
            <a:pPr algn="r" eaLnBrk="1" hangingPunct="1">
              <a:defRPr/>
            </a:pPr>
            <a:r>
              <a:rPr lang="en-GB" smtClean="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Pythagoras’s Theorem</a:t>
            </a:r>
          </a:p>
        </p:txBody>
      </p:sp>
      <p:sp>
        <p:nvSpPr>
          <p:cNvPr id="3078" name="Rectangle 3"/>
          <p:cNvSpPr>
            <a:spLocks noChangeArrowheads="1"/>
          </p:cNvSpPr>
          <p:nvPr/>
        </p:nvSpPr>
        <p:spPr bwMode="auto">
          <a:xfrm>
            <a:off x="2133600" y="-1604963"/>
            <a:ext cx="8128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079" name="AutoShape 4"/>
          <p:cNvSpPr>
            <a:spLocks noChangeArrowheads="1"/>
          </p:cNvSpPr>
          <p:nvPr/>
        </p:nvSpPr>
        <p:spPr bwMode="auto">
          <a:xfrm>
            <a:off x="2771775" y="1989138"/>
            <a:ext cx="2808288" cy="3455987"/>
          </a:xfrm>
          <a:prstGeom prst="rtTriangle">
            <a:avLst/>
          </a:prstGeom>
          <a:solidFill>
            <a:srgbClr val="C0C0C0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80" name="Text Box 5"/>
          <p:cNvSpPr txBox="1">
            <a:spLocks noChangeArrowheads="1"/>
          </p:cNvSpPr>
          <p:nvPr/>
        </p:nvSpPr>
        <p:spPr bwMode="auto">
          <a:xfrm>
            <a:off x="3635375" y="5518150"/>
            <a:ext cx="496888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sz="4800"/>
              <a:t>a</a:t>
            </a:r>
          </a:p>
        </p:txBody>
      </p:sp>
      <p:sp>
        <p:nvSpPr>
          <p:cNvPr id="3081" name="Text Box 6"/>
          <p:cNvSpPr txBox="1">
            <a:spLocks noChangeArrowheads="1"/>
          </p:cNvSpPr>
          <p:nvPr/>
        </p:nvSpPr>
        <p:spPr bwMode="auto">
          <a:xfrm>
            <a:off x="2122488" y="3357563"/>
            <a:ext cx="546100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sz="4800"/>
              <a:t>b</a:t>
            </a:r>
          </a:p>
        </p:txBody>
      </p:sp>
      <p:sp>
        <p:nvSpPr>
          <p:cNvPr id="3082" name="Text Box 7"/>
          <p:cNvSpPr txBox="1">
            <a:spLocks noChangeArrowheads="1"/>
          </p:cNvSpPr>
          <p:nvPr/>
        </p:nvSpPr>
        <p:spPr bwMode="auto">
          <a:xfrm>
            <a:off x="4498975" y="2781300"/>
            <a:ext cx="496888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sz="4800"/>
              <a:t>c</a:t>
            </a:r>
          </a:p>
        </p:txBody>
      </p:sp>
      <p:sp>
        <p:nvSpPr>
          <p:cNvPr id="3083" name="AutoShape 8"/>
          <p:cNvSpPr>
            <a:spLocks noChangeArrowheads="1"/>
          </p:cNvSpPr>
          <p:nvPr/>
        </p:nvSpPr>
        <p:spPr bwMode="auto">
          <a:xfrm>
            <a:off x="5436096" y="1900508"/>
            <a:ext cx="3529012" cy="2017712"/>
          </a:xfrm>
          <a:prstGeom prst="cloudCallout">
            <a:avLst>
              <a:gd name="adj1" fmla="val 18375"/>
              <a:gd name="adj2" fmla="val 122148"/>
            </a:avLst>
          </a:prstGeom>
          <a:noFill/>
          <a:ln w="57150">
            <a:solidFill>
              <a:srgbClr val="66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endParaRPr lang="en-US" sz="1800">
              <a:latin typeface="Tahoma" charset="0"/>
            </a:endParaRPr>
          </a:p>
        </p:txBody>
      </p:sp>
      <p:graphicFrame>
        <p:nvGraphicFramePr>
          <p:cNvPr id="307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6792101"/>
              </p:ext>
            </p:extLst>
          </p:nvPr>
        </p:nvGraphicFramePr>
        <p:xfrm>
          <a:off x="5867896" y="2333275"/>
          <a:ext cx="2921000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Equation" r:id="rId3" imgW="799920" imgH="203040" progId="Equation.DSMT4">
                  <p:embed/>
                </p:oleObj>
              </mc:Choice>
              <mc:Fallback>
                <p:oleObj name="Equation" r:id="rId3" imgW="7999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896" y="2333275"/>
                        <a:ext cx="2921000" cy="741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Straight Connector 2"/>
          <p:cNvCxnSpPr/>
          <p:nvPr/>
        </p:nvCxnSpPr>
        <p:spPr>
          <a:xfrm>
            <a:off x="2771775" y="5157192"/>
            <a:ext cx="36006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3131840" y="5157192"/>
            <a:ext cx="0" cy="28793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5569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043608" y="570567"/>
                <a:ext cx="5963519" cy="2893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/>
                  <a:t>Pythagoras Theorem is about right angles triangles</a:t>
                </a:r>
                <a:r>
                  <a:rPr lang="en-AU" dirty="0" smtClean="0"/>
                  <a:t>.</a:t>
                </a:r>
              </a:p>
              <a:p>
                <a:endParaRPr lang="en-AU" dirty="0"/>
              </a:p>
              <a:p>
                <a:endParaRPr lang="en-AU" dirty="0" smtClean="0"/>
              </a:p>
              <a:p>
                <a:r>
                  <a:rPr lang="en-AU" dirty="0" smtClean="0"/>
                  <a:t>                                            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AU" dirty="0" smtClean="0"/>
              </a:p>
              <a:p>
                <a:r>
                  <a:rPr lang="en-AU" dirty="0" smtClean="0"/>
                  <a:t>                    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  <a:p>
                <a:endParaRPr lang="en-AU" dirty="0" smtClean="0"/>
              </a:p>
              <a:p>
                <a:r>
                  <a:rPr lang="en-AU" dirty="0" smtClean="0"/>
                  <a:t>		    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AU" b="0" i="1" dirty="0" smtClean="0">
                  <a:latin typeface="Cambria Math" panose="02040503050406030204" pitchFamily="18" charset="0"/>
                </a:endParaRPr>
              </a:p>
              <a:p>
                <a:endParaRPr lang="en-AU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 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570567"/>
                <a:ext cx="5963519" cy="2893100"/>
              </a:xfrm>
              <a:prstGeom prst="rect">
                <a:avLst/>
              </a:prstGeom>
              <a:blipFill rotWithShape="1">
                <a:blip r:embed="rId2"/>
                <a:stretch>
                  <a:fillRect l="-1022" t="-105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ight Triangle 20"/>
          <p:cNvSpPr/>
          <p:nvPr/>
        </p:nvSpPr>
        <p:spPr>
          <a:xfrm>
            <a:off x="2627784" y="1121930"/>
            <a:ext cx="2016224" cy="1123674"/>
          </a:xfrm>
          <a:prstGeom prst="rtTriangl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233511" y="5702061"/>
                <a:ext cx="2768380" cy="405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	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AU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AU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− </m:t>
                        </m:r>
                        <m:sSup>
                          <m:sSupPr>
                            <m:ctrlPr>
                              <a:rPr lang="en-AU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rad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511" y="5702061"/>
                <a:ext cx="2768380" cy="40549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4325004" y="5730947"/>
                <a:ext cx="1445011" cy="3454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AU" b="0" i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AU" b="0" i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− 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5004" y="5730947"/>
                <a:ext cx="1445011" cy="345416"/>
              </a:xfrm>
              <a:prstGeom prst="rect">
                <a:avLst/>
              </a:prstGeom>
              <a:blipFill rotWithShape="1">
                <a:blip r:embed="rId4"/>
                <a:stretch>
                  <a:fillRect l="-3361" r="-840" b="-526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372200" y="5733256"/>
                <a:ext cx="1446743" cy="3431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2200" y="5733256"/>
                <a:ext cx="1446743" cy="343107"/>
              </a:xfrm>
              <a:prstGeom prst="rect">
                <a:avLst/>
              </a:prstGeom>
              <a:blipFill rotWithShape="1">
                <a:blip r:embed="rId5"/>
                <a:stretch>
                  <a:fillRect l="-1681" r="-840" b="-526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1857842" y="4022416"/>
                <a:ext cx="608763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Therefore to find the shorter sides (legs):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                  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          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7842" y="4022416"/>
                <a:ext cx="6087638" cy="923330"/>
              </a:xfrm>
              <a:prstGeom prst="rect">
                <a:avLst/>
              </a:prstGeom>
              <a:blipFill rotWithShape="1">
                <a:blip r:embed="rId6"/>
                <a:stretch>
                  <a:fillRect l="-902" t="-33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4"/>
          <p:cNvGrpSpPr>
            <a:grpSpLocks/>
          </p:cNvGrpSpPr>
          <p:nvPr/>
        </p:nvGrpSpPr>
        <p:grpSpPr bwMode="auto">
          <a:xfrm>
            <a:off x="2627784" y="2017116"/>
            <a:ext cx="222307" cy="222307"/>
            <a:chOff x="1680" y="3120"/>
            <a:chExt cx="240" cy="240"/>
          </a:xfrm>
        </p:grpSpPr>
        <p:sp>
          <p:nvSpPr>
            <p:cNvPr id="18" name="Line 5"/>
            <p:cNvSpPr>
              <a:spLocks noChangeShapeType="1"/>
            </p:cNvSpPr>
            <p:nvPr/>
          </p:nvSpPr>
          <p:spPr bwMode="auto">
            <a:xfrm>
              <a:off x="1920" y="3120"/>
              <a:ext cx="0" cy="24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b="1"/>
            </a:p>
          </p:txBody>
        </p:sp>
        <p:sp>
          <p:nvSpPr>
            <p:cNvPr id="25" name="Line 6"/>
            <p:cNvSpPr>
              <a:spLocks noChangeShapeType="1"/>
            </p:cNvSpPr>
            <p:nvPr/>
          </p:nvSpPr>
          <p:spPr bwMode="auto">
            <a:xfrm>
              <a:off x="1680" y="3120"/>
              <a:ext cx="240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b="1"/>
            </a:p>
          </p:txBody>
        </p:sp>
      </p:grp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328" y="0"/>
            <a:ext cx="8229600" cy="1143000"/>
          </a:xfrm>
        </p:spPr>
        <p:txBody>
          <a:bodyPr>
            <a:normAutofit/>
          </a:bodyPr>
          <a:lstStyle/>
          <a:p>
            <a:r>
              <a:rPr lang="en-AU" sz="3600" dirty="0" smtClean="0"/>
              <a:t>Examples</a:t>
            </a:r>
            <a:endParaRPr lang="en-AU" sz="3600" dirty="0"/>
          </a:p>
        </p:txBody>
      </p:sp>
      <p:sp>
        <p:nvSpPr>
          <p:cNvPr id="5" name="Right Triangle 4"/>
          <p:cNvSpPr/>
          <p:nvPr/>
        </p:nvSpPr>
        <p:spPr>
          <a:xfrm>
            <a:off x="1331640" y="1412776"/>
            <a:ext cx="2160240" cy="1440160"/>
          </a:xfrm>
          <a:prstGeom prst="rtTriangl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83568" y="1994356"/>
                <a:ext cx="5361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3 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994356"/>
                <a:ext cx="536172" cy="276999"/>
              </a:xfrm>
              <a:prstGeom prst="rect">
                <a:avLst/>
              </a:prstGeom>
              <a:blipFill rotWithShape="0">
                <a:blip r:embed="rId2"/>
                <a:stretch>
                  <a:fillRect l="-9091" r="-5682" b="-65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051720" y="2984212"/>
                <a:ext cx="5361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4 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720" y="2984212"/>
                <a:ext cx="536172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10227" r="-5682"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404572" y="1717357"/>
                <a:ext cx="1833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4572" y="1717357"/>
                <a:ext cx="183320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19355" r="-967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114800" y="2974848"/>
                <a:ext cx="176503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 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+ 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4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 smtClean="0"/>
              </a:p>
              <a:p>
                <a:r>
                  <a:rPr lang="en-AU" dirty="0" smtClean="0"/>
                  <a:t>    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=9+16 </m:t>
                    </m:r>
                  </m:oMath>
                </a14:m>
                <a:endParaRPr lang="en-AU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=25    </m:t>
                      </m:r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2974848"/>
                <a:ext cx="1765035" cy="1200329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283968" y="4006430"/>
                <a:ext cx="1176028" cy="6845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latin typeface="Cambria Math"/>
                            </a:rPr>
                            <m:t>25</m:t>
                          </m:r>
                        </m:e>
                      </m:rad>
                    </m:oMath>
                  </m:oMathPara>
                </a14:m>
                <a:endParaRPr lang="en-AU" dirty="0" smtClean="0"/>
              </a:p>
              <a:p>
                <a:r>
                  <a:rPr lang="en-AU" b="0" dirty="0" smtClean="0"/>
                  <a:t>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=5 </m:t>
                    </m:r>
                    <m:r>
                      <a:rPr lang="en-AU" b="0" i="1" smtClean="0">
                        <a:latin typeface="Cambria Math"/>
                      </a:rPr>
                      <m:t>𝑐𝑚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968" y="4006430"/>
                <a:ext cx="1176028" cy="684546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4"/>
          <p:cNvGrpSpPr>
            <a:grpSpLocks/>
          </p:cNvGrpSpPr>
          <p:nvPr/>
        </p:nvGrpSpPr>
        <p:grpSpPr bwMode="auto">
          <a:xfrm>
            <a:off x="1355959" y="2564904"/>
            <a:ext cx="263713" cy="288032"/>
            <a:chOff x="1680" y="3120"/>
            <a:chExt cx="240" cy="240"/>
          </a:xfrm>
        </p:grpSpPr>
        <p:sp>
          <p:nvSpPr>
            <p:cNvPr id="10" name="Line 5"/>
            <p:cNvSpPr>
              <a:spLocks noChangeShapeType="1"/>
            </p:cNvSpPr>
            <p:nvPr/>
          </p:nvSpPr>
          <p:spPr bwMode="auto">
            <a:xfrm>
              <a:off x="1920" y="3120"/>
              <a:ext cx="0" cy="24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b="1"/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>
              <a:off x="1680" y="3120"/>
              <a:ext cx="240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b="1"/>
            </a:p>
          </p:txBody>
        </p:sp>
      </p:grpSp>
    </p:spTree>
    <p:extLst>
      <p:ext uri="{BB962C8B-B14F-4D97-AF65-F5344CB8AC3E}">
        <p14:creationId xmlns:p14="http://schemas.microsoft.com/office/powerpoint/2010/main" val="1674127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328" y="0"/>
            <a:ext cx="8229600" cy="1143000"/>
          </a:xfrm>
        </p:spPr>
        <p:txBody>
          <a:bodyPr>
            <a:normAutofit/>
          </a:bodyPr>
          <a:lstStyle/>
          <a:p>
            <a:r>
              <a:rPr lang="en-AU" sz="3600" smtClean="0"/>
              <a:t>Examples</a:t>
            </a:r>
            <a:endParaRPr lang="en-AU" sz="3600" dirty="0"/>
          </a:p>
        </p:txBody>
      </p:sp>
      <p:sp>
        <p:nvSpPr>
          <p:cNvPr id="3" name="Right Triangle 2"/>
          <p:cNvSpPr/>
          <p:nvPr/>
        </p:nvSpPr>
        <p:spPr>
          <a:xfrm rot="7484576">
            <a:off x="631406" y="2765332"/>
            <a:ext cx="2664296" cy="1584176"/>
          </a:xfrm>
          <a:prstGeom prst="rtTriangl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055508" y="3582799"/>
                <a:ext cx="8407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0.4 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508" y="3582799"/>
                <a:ext cx="840743" cy="276999"/>
              </a:xfrm>
              <a:prstGeom prst="rect">
                <a:avLst/>
              </a:prstGeom>
              <a:blipFill rotWithShape="1">
                <a:blip r:embed="rId2"/>
                <a:stretch>
                  <a:fillRect l="-5797" r="-4348"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720124" y="2132856"/>
                <a:ext cx="7125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.6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0124" y="2132856"/>
                <a:ext cx="712503" cy="276999"/>
              </a:xfrm>
              <a:prstGeom prst="rect">
                <a:avLst/>
              </a:prstGeom>
              <a:blipFill rotWithShape="1">
                <a:blip r:embed="rId3"/>
                <a:stretch>
                  <a:fillRect l="-6838" r="-5128"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191412" y="2592944"/>
                <a:ext cx="1833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412" y="2592944"/>
                <a:ext cx="183320" cy="276999"/>
              </a:xfrm>
              <a:prstGeom prst="rect">
                <a:avLst/>
              </a:prstGeom>
              <a:blipFill rotWithShape="1">
                <a:blip r:embed="rId4"/>
                <a:stretch>
                  <a:fillRect l="-16129" r="-1290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114800" y="2974848"/>
                <a:ext cx="2577950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 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20.4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− 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9.6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 smtClean="0"/>
              </a:p>
              <a:p>
                <a:r>
                  <a:rPr lang="en-AU" dirty="0" smtClean="0"/>
                  <a:t>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/>
                      </a:rPr>
                      <m:t>  </m:t>
                    </m:r>
                    <m:r>
                      <a:rPr lang="en-AU" b="0" i="1" smtClean="0">
                        <a:latin typeface="Cambria Math"/>
                      </a:rPr>
                      <m:t>=416.16−92.16 </m:t>
                    </m:r>
                  </m:oMath>
                </a14:m>
                <a:endParaRPr lang="en-AU" b="0" i="1" dirty="0" smtClean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=324             </m:t>
                      </m:r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2974848"/>
                <a:ext cx="2577950" cy="1200329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283968" y="4006430"/>
                <a:ext cx="1305101" cy="6789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latin typeface="Cambria Math"/>
                            </a:rPr>
                            <m:t>324</m:t>
                          </m:r>
                        </m:e>
                      </m:rad>
                    </m:oMath>
                  </m:oMathPara>
                </a14:m>
                <a:endParaRPr lang="en-AU" dirty="0" smtClean="0"/>
              </a:p>
              <a:p>
                <a:r>
                  <a:rPr lang="en-AU" b="0" dirty="0" smtClean="0"/>
                  <a:t>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=18 </m:t>
                    </m:r>
                    <m:r>
                      <a:rPr lang="en-AU" b="0" i="1" smtClean="0">
                        <a:latin typeface="Cambria Math"/>
                      </a:rPr>
                      <m:t>𝑐𝑚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968" y="4006430"/>
                <a:ext cx="1305101" cy="678968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4"/>
          <p:cNvGrpSpPr>
            <a:grpSpLocks/>
          </p:cNvGrpSpPr>
          <p:nvPr/>
        </p:nvGrpSpPr>
        <p:grpSpPr bwMode="auto">
          <a:xfrm rot="2013339" flipV="1">
            <a:off x="1947564" y="2087132"/>
            <a:ext cx="322796" cy="293250"/>
            <a:chOff x="1680" y="3120"/>
            <a:chExt cx="240" cy="240"/>
          </a:xfrm>
        </p:grpSpPr>
        <p:sp>
          <p:nvSpPr>
            <p:cNvPr id="18" name="Line 5"/>
            <p:cNvSpPr>
              <a:spLocks noChangeShapeType="1"/>
            </p:cNvSpPr>
            <p:nvPr/>
          </p:nvSpPr>
          <p:spPr bwMode="auto">
            <a:xfrm>
              <a:off x="1920" y="3120"/>
              <a:ext cx="0" cy="24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b="1"/>
            </a:p>
          </p:txBody>
        </p:sp>
        <p:sp>
          <p:nvSpPr>
            <p:cNvPr id="19" name="Line 6"/>
            <p:cNvSpPr>
              <a:spLocks noChangeShapeType="1"/>
            </p:cNvSpPr>
            <p:nvPr/>
          </p:nvSpPr>
          <p:spPr bwMode="auto">
            <a:xfrm>
              <a:off x="1680" y="3120"/>
              <a:ext cx="240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b="1"/>
            </a:p>
          </p:txBody>
        </p:sp>
      </p:grpSp>
    </p:spTree>
    <p:extLst>
      <p:ext uri="{BB962C8B-B14F-4D97-AF65-F5344CB8AC3E}">
        <p14:creationId xmlns:p14="http://schemas.microsoft.com/office/powerpoint/2010/main" val="1330123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328" y="0"/>
            <a:ext cx="8229600" cy="1143000"/>
          </a:xfrm>
        </p:spPr>
        <p:txBody>
          <a:bodyPr>
            <a:normAutofit/>
          </a:bodyPr>
          <a:lstStyle/>
          <a:p>
            <a:r>
              <a:rPr lang="en-AU" sz="3600" dirty="0" smtClean="0"/>
              <a:t>Questions</a:t>
            </a:r>
            <a:endParaRPr lang="en-AU" sz="36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764704"/>
            <a:ext cx="6768752" cy="32218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4005064"/>
            <a:ext cx="7848872" cy="2575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23124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328" y="0"/>
            <a:ext cx="8229600" cy="1143000"/>
          </a:xfrm>
        </p:spPr>
        <p:txBody>
          <a:bodyPr>
            <a:normAutofit/>
          </a:bodyPr>
          <a:lstStyle/>
          <a:p>
            <a:r>
              <a:rPr lang="en-AU" sz="3600" dirty="0" smtClean="0"/>
              <a:t>Questions</a:t>
            </a:r>
            <a:endParaRPr lang="en-AU" sz="36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836711"/>
            <a:ext cx="7416824" cy="51650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76893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328" y="0"/>
            <a:ext cx="8229600" cy="1143000"/>
          </a:xfrm>
        </p:spPr>
        <p:txBody>
          <a:bodyPr>
            <a:normAutofit/>
          </a:bodyPr>
          <a:lstStyle/>
          <a:p>
            <a:r>
              <a:rPr lang="en-AU" sz="3600" dirty="0" smtClean="0"/>
              <a:t>Questions</a:t>
            </a:r>
            <a:endParaRPr lang="en-AU" sz="36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50" y="1366838"/>
            <a:ext cx="9029700" cy="412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5661248"/>
            <a:ext cx="9153525" cy="63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83075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504328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600" dirty="0" smtClean="0"/>
              <a:t>Answers</a:t>
            </a:r>
            <a:endParaRPr lang="en-AU" sz="36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692696"/>
            <a:ext cx="6477011" cy="3024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584" y="5229200"/>
            <a:ext cx="1895611" cy="64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05442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ight Triangle 27"/>
          <p:cNvSpPr/>
          <p:nvPr/>
        </p:nvSpPr>
        <p:spPr>
          <a:xfrm rot="18829116">
            <a:off x="6117431" y="2129632"/>
            <a:ext cx="2020887" cy="2368550"/>
          </a:xfrm>
          <a:prstGeom prst="rtTriangle">
            <a:avLst/>
          </a:prstGeom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0" name="Rectangle 29"/>
          <p:cNvSpPr/>
          <p:nvPr/>
        </p:nvSpPr>
        <p:spPr>
          <a:xfrm rot="18778718">
            <a:off x="7161213" y="4616450"/>
            <a:ext cx="209550" cy="200025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105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38213" y="590550"/>
            <a:ext cx="6762750" cy="677863"/>
          </a:xfrm>
        </p:spPr>
        <p:txBody>
          <a:bodyPr/>
          <a:lstStyle/>
          <a:p>
            <a:pPr algn="ctr" eaLnBrk="1" hangingPunct="1">
              <a:defRPr/>
            </a:pPr>
            <a:r>
              <a:rPr lang="en-GB" sz="3600" dirty="0" smtClean="0">
                <a:latin typeface="Comic Sans MS" pitchFamily="66" charset="0"/>
              </a:rPr>
              <a:t>Solving Real-Life Problems</a:t>
            </a:r>
          </a:p>
        </p:txBody>
      </p:sp>
      <p:sp>
        <p:nvSpPr>
          <p:cNvPr id="15372" name="Rectangle 3"/>
          <p:cNvSpPr>
            <a:spLocks noChangeArrowheads="1"/>
          </p:cNvSpPr>
          <p:nvPr/>
        </p:nvSpPr>
        <p:spPr bwMode="auto">
          <a:xfrm>
            <a:off x="2133600" y="-1604963"/>
            <a:ext cx="8128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5373" name="Rectangle 9"/>
          <p:cNvSpPr>
            <a:spLocks noChangeArrowheads="1"/>
          </p:cNvSpPr>
          <p:nvPr/>
        </p:nvSpPr>
        <p:spPr bwMode="auto">
          <a:xfrm>
            <a:off x="685800" y="1598038"/>
            <a:ext cx="6985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indent="457200"/>
            <a:r>
              <a:rPr lang="en-GB" sz="3200" dirty="0"/>
              <a:t>Problem : Find the length of h.</a:t>
            </a:r>
          </a:p>
        </p:txBody>
      </p:sp>
      <p:pic>
        <p:nvPicPr>
          <p:cNvPr id="15376" name="Picture 25" descr="Office Objects 057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6938" y="238125"/>
            <a:ext cx="1444625" cy="146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Right Triangle 26"/>
          <p:cNvSpPr/>
          <p:nvPr/>
        </p:nvSpPr>
        <p:spPr>
          <a:xfrm>
            <a:off x="5549900" y="3213100"/>
            <a:ext cx="1689100" cy="1638300"/>
          </a:xfrm>
          <a:prstGeom prst="rtTriangle">
            <a:avLst/>
          </a:prstGeom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9" name="Rectangle 28"/>
          <p:cNvSpPr/>
          <p:nvPr/>
        </p:nvSpPr>
        <p:spPr>
          <a:xfrm>
            <a:off x="5562600" y="4622800"/>
            <a:ext cx="228600" cy="215900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5379" name="TextBox 30"/>
          <p:cNvSpPr txBox="1">
            <a:spLocks noChangeArrowheads="1"/>
          </p:cNvSpPr>
          <p:nvPr/>
        </p:nvSpPr>
        <p:spPr bwMode="auto">
          <a:xfrm>
            <a:off x="7035800" y="2844800"/>
            <a:ext cx="3921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dirty="0"/>
              <a:t>h</a:t>
            </a:r>
          </a:p>
        </p:txBody>
      </p:sp>
      <p:sp>
        <p:nvSpPr>
          <p:cNvPr id="15380" name="TextBox 32"/>
          <p:cNvSpPr txBox="1">
            <a:spLocks noChangeArrowheads="1"/>
          </p:cNvSpPr>
          <p:nvPr/>
        </p:nvSpPr>
        <p:spPr bwMode="auto">
          <a:xfrm>
            <a:off x="4894263" y="4700588"/>
            <a:ext cx="447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A</a:t>
            </a:r>
          </a:p>
        </p:txBody>
      </p:sp>
      <p:sp>
        <p:nvSpPr>
          <p:cNvPr id="15381" name="TextBox 33"/>
          <p:cNvSpPr txBox="1">
            <a:spLocks noChangeArrowheads="1"/>
          </p:cNvSpPr>
          <p:nvPr/>
        </p:nvSpPr>
        <p:spPr bwMode="auto">
          <a:xfrm>
            <a:off x="5130800" y="2908300"/>
            <a:ext cx="4111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B</a:t>
            </a:r>
          </a:p>
        </p:txBody>
      </p:sp>
      <p:sp>
        <p:nvSpPr>
          <p:cNvPr id="15382" name="TextBox 34"/>
          <p:cNvSpPr txBox="1">
            <a:spLocks noChangeArrowheads="1"/>
          </p:cNvSpPr>
          <p:nvPr/>
        </p:nvSpPr>
        <p:spPr bwMode="auto">
          <a:xfrm>
            <a:off x="8686800" y="3086100"/>
            <a:ext cx="401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C</a:t>
            </a:r>
          </a:p>
        </p:txBody>
      </p:sp>
      <p:sp>
        <p:nvSpPr>
          <p:cNvPr id="15383" name="TextBox 35"/>
          <p:cNvSpPr txBox="1">
            <a:spLocks noChangeArrowheads="1"/>
          </p:cNvSpPr>
          <p:nvPr/>
        </p:nvSpPr>
        <p:spPr bwMode="auto">
          <a:xfrm>
            <a:off x="7226300" y="4775200"/>
            <a:ext cx="444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D</a:t>
            </a:r>
          </a:p>
        </p:txBody>
      </p:sp>
      <p:sp>
        <p:nvSpPr>
          <p:cNvPr id="15384" name="TextBox 36"/>
          <p:cNvSpPr txBox="1">
            <a:spLocks noChangeArrowheads="1"/>
          </p:cNvSpPr>
          <p:nvPr/>
        </p:nvSpPr>
        <p:spPr bwMode="auto">
          <a:xfrm>
            <a:off x="8051800" y="4013200"/>
            <a:ext cx="5667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12</a:t>
            </a:r>
          </a:p>
        </p:txBody>
      </p:sp>
      <p:sp>
        <p:nvSpPr>
          <p:cNvPr id="15385" name="TextBox 37"/>
          <p:cNvSpPr txBox="1">
            <a:spLocks noChangeArrowheads="1"/>
          </p:cNvSpPr>
          <p:nvPr/>
        </p:nvSpPr>
        <p:spPr bwMode="auto">
          <a:xfrm>
            <a:off x="5969000" y="4876800"/>
            <a:ext cx="5667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13</a:t>
            </a:r>
          </a:p>
        </p:txBody>
      </p:sp>
      <p:sp>
        <p:nvSpPr>
          <p:cNvPr id="15386" name="TextBox 38"/>
          <p:cNvSpPr txBox="1">
            <a:spLocks noChangeArrowheads="1"/>
          </p:cNvSpPr>
          <p:nvPr/>
        </p:nvSpPr>
        <p:spPr bwMode="auto">
          <a:xfrm>
            <a:off x="4889500" y="3708400"/>
            <a:ext cx="5667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798953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ight Triangle 27"/>
          <p:cNvSpPr/>
          <p:nvPr/>
        </p:nvSpPr>
        <p:spPr>
          <a:xfrm rot="18829116">
            <a:off x="6117431" y="2129632"/>
            <a:ext cx="2020887" cy="2368550"/>
          </a:xfrm>
          <a:prstGeom prst="rtTriangle">
            <a:avLst/>
          </a:prstGeom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0" name="Rectangle 29"/>
          <p:cNvSpPr/>
          <p:nvPr/>
        </p:nvSpPr>
        <p:spPr>
          <a:xfrm rot="18778718">
            <a:off x="7161213" y="4616450"/>
            <a:ext cx="209550" cy="200025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105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38213" y="590550"/>
            <a:ext cx="6762750" cy="677863"/>
          </a:xfrm>
        </p:spPr>
        <p:txBody>
          <a:bodyPr/>
          <a:lstStyle/>
          <a:p>
            <a:pPr algn="ctr" eaLnBrk="1" hangingPunct="1">
              <a:defRPr/>
            </a:pPr>
            <a:r>
              <a:rPr lang="en-GB" sz="3600" dirty="0" smtClean="0">
                <a:latin typeface="Comic Sans MS" pitchFamily="66" charset="0"/>
              </a:rPr>
              <a:t>Solving Real-Life Problems</a:t>
            </a:r>
          </a:p>
        </p:txBody>
      </p:sp>
      <p:sp>
        <p:nvSpPr>
          <p:cNvPr id="15372" name="Rectangle 3"/>
          <p:cNvSpPr>
            <a:spLocks noChangeArrowheads="1"/>
          </p:cNvSpPr>
          <p:nvPr/>
        </p:nvSpPr>
        <p:spPr bwMode="auto">
          <a:xfrm>
            <a:off x="2133600" y="-1604963"/>
            <a:ext cx="8128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5373" name="Rectangle 9"/>
          <p:cNvSpPr>
            <a:spLocks noChangeArrowheads="1"/>
          </p:cNvSpPr>
          <p:nvPr/>
        </p:nvSpPr>
        <p:spPr bwMode="auto">
          <a:xfrm>
            <a:off x="685800" y="1598038"/>
            <a:ext cx="6985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indent="457200"/>
            <a:r>
              <a:rPr lang="en-GB" sz="3200" dirty="0"/>
              <a:t>Problem : Find the length of h.</a:t>
            </a:r>
          </a:p>
        </p:txBody>
      </p:sp>
      <p:graphicFrame>
        <p:nvGraphicFramePr>
          <p:cNvPr id="110602" name="Object 10"/>
          <p:cNvGraphicFramePr>
            <a:graphicFrameLocks noChangeAspect="1"/>
          </p:cNvGraphicFramePr>
          <p:nvPr/>
        </p:nvGraphicFramePr>
        <p:xfrm>
          <a:off x="1125538" y="3135313"/>
          <a:ext cx="3343275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" name="Equation" r:id="rId3" imgW="1485720" imgH="228600" progId="Equation.DSMT4">
                  <p:embed/>
                </p:oleObj>
              </mc:Choice>
              <mc:Fallback>
                <p:oleObj name="Equation" r:id="rId3" imgW="14857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5538" y="3135313"/>
                        <a:ext cx="3343275" cy="506412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508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3" name="Object 11"/>
          <p:cNvGraphicFramePr>
            <a:graphicFrameLocks noChangeAspect="1"/>
          </p:cNvGraphicFramePr>
          <p:nvPr/>
        </p:nvGraphicFramePr>
        <p:xfrm>
          <a:off x="1125538" y="3859213"/>
          <a:ext cx="26289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" name="Equation" r:id="rId5" imgW="1168200" imgH="228600" progId="Equation.DSMT4">
                  <p:embed/>
                </p:oleObj>
              </mc:Choice>
              <mc:Fallback>
                <p:oleObj name="Equation" r:id="rId5" imgW="1168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5538" y="3859213"/>
                        <a:ext cx="2628900" cy="5080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508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5" name="Object 13"/>
          <p:cNvGraphicFramePr>
            <a:graphicFrameLocks noChangeAspect="1"/>
          </p:cNvGraphicFramePr>
          <p:nvPr/>
        </p:nvGraphicFramePr>
        <p:xfrm>
          <a:off x="1125538" y="4598988"/>
          <a:ext cx="1690687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8" name="Equation" r:id="rId7" imgW="838080" imgH="228600" progId="Equation.DSMT4">
                  <p:embed/>
                </p:oleObj>
              </mc:Choice>
              <mc:Fallback>
                <p:oleObj name="Equation" r:id="rId7" imgW="8380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5538" y="4598988"/>
                        <a:ext cx="1690687" cy="490537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508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6" name="Object 14"/>
          <p:cNvGraphicFramePr>
            <a:graphicFrameLocks noChangeAspect="1"/>
          </p:cNvGraphicFramePr>
          <p:nvPr/>
        </p:nvGraphicFramePr>
        <p:xfrm>
          <a:off x="1125538" y="5349875"/>
          <a:ext cx="1587500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" name="Equation" r:id="rId9" imgW="787320" imgH="228600" progId="Equation.DSMT4">
                  <p:embed/>
                </p:oleObj>
              </mc:Choice>
              <mc:Fallback>
                <p:oleObj name="Equation" r:id="rId9" imgW="7873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5538" y="5349875"/>
                        <a:ext cx="1587500" cy="490538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508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376" name="Picture 25" descr="Office Objects 057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6938" y="238125"/>
            <a:ext cx="1444625" cy="146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Right Triangle 26"/>
          <p:cNvSpPr/>
          <p:nvPr/>
        </p:nvSpPr>
        <p:spPr>
          <a:xfrm>
            <a:off x="5549900" y="3213100"/>
            <a:ext cx="1689100" cy="1638300"/>
          </a:xfrm>
          <a:prstGeom prst="rtTriangle">
            <a:avLst/>
          </a:prstGeom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9" name="Rectangle 28"/>
          <p:cNvSpPr/>
          <p:nvPr/>
        </p:nvSpPr>
        <p:spPr>
          <a:xfrm>
            <a:off x="5562600" y="4622800"/>
            <a:ext cx="228600" cy="215900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5379" name="TextBox 30"/>
          <p:cNvSpPr txBox="1">
            <a:spLocks noChangeArrowheads="1"/>
          </p:cNvSpPr>
          <p:nvPr/>
        </p:nvSpPr>
        <p:spPr bwMode="auto">
          <a:xfrm>
            <a:off x="7035800" y="2844800"/>
            <a:ext cx="3921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dirty="0"/>
              <a:t>h</a:t>
            </a:r>
          </a:p>
        </p:txBody>
      </p:sp>
      <p:sp>
        <p:nvSpPr>
          <p:cNvPr id="15380" name="TextBox 32"/>
          <p:cNvSpPr txBox="1">
            <a:spLocks noChangeArrowheads="1"/>
          </p:cNvSpPr>
          <p:nvPr/>
        </p:nvSpPr>
        <p:spPr bwMode="auto">
          <a:xfrm>
            <a:off x="4894263" y="4700588"/>
            <a:ext cx="447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A</a:t>
            </a:r>
          </a:p>
        </p:txBody>
      </p:sp>
      <p:sp>
        <p:nvSpPr>
          <p:cNvPr id="15381" name="TextBox 33"/>
          <p:cNvSpPr txBox="1">
            <a:spLocks noChangeArrowheads="1"/>
          </p:cNvSpPr>
          <p:nvPr/>
        </p:nvSpPr>
        <p:spPr bwMode="auto">
          <a:xfrm>
            <a:off x="5130800" y="2908300"/>
            <a:ext cx="4111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B</a:t>
            </a:r>
          </a:p>
        </p:txBody>
      </p:sp>
      <p:sp>
        <p:nvSpPr>
          <p:cNvPr id="15382" name="TextBox 34"/>
          <p:cNvSpPr txBox="1">
            <a:spLocks noChangeArrowheads="1"/>
          </p:cNvSpPr>
          <p:nvPr/>
        </p:nvSpPr>
        <p:spPr bwMode="auto">
          <a:xfrm>
            <a:off x="8686800" y="3086100"/>
            <a:ext cx="401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C</a:t>
            </a:r>
          </a:p>
        </p:txBody>
      </p:sp>
      <p:sp>
        <p:nvSpPr>
          <p:cNvPr id="15383" name="TextBox 35"/>
          <p:cNvSpPr txBox="1">
            <a:spLocks noChangeArrowheads="1"/>
          </p:cNvSpPr>
          <p:nvPr/>
        </p:nvSpPr>
        <p:spPr bwMode="auto">
          <a:xfrm>
            <a:off x="7226300" y="4775200"/>
            <a:ext cx="444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D</a:t>
            </a:r>
          </a:p>
        </p:txBody>
      </p:sp>
      <p:sp>
        <p:nvSpPr>
          <p:cNvPr id="15384" name="TextBox 36"/>
          <p:cNvSpPr txBox="1">
            <a:spLocks noChangeArrowheads="1"/>
          </p:cNvSpPr>
          <p:nvPr/>
        </p:nvSpPr>
        <p:spPr bwMode="auto">
          <a:xfrm>
            <a:off x="8051800" y="4013200"/>
            <a:ext cx="5667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12</a:t>
            </a:r>
          </a:p>
        </p:txBody>
      </p:sp>
      <p:sp>
        <p:nvSpPr>
          <p:cNvPr id="15385" name="TextBox 37"/>
          <p:cNvSpPr txBox="1">
            <a:spLocks noChangeArrowheads="1"/>
          </p:cNvSpPr>
          <p:nvPr/>
        </p:nvSpPr>
        <p:spPr bwMode="auto">
          <a:xfrm>
            <a:off x="5969000" y="4876800"/>
            <a:ext cx="5667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13</a:t>
            </a:r>
          </a:p>
        </p:txBody>
      </p:sp>
      <p:sp>
        <p:nvSpPr>
          <p:cNvPr id="15386" name="TextBox 38"/>
          <p:cNvSpPr txBox="1">
            <a:spLocks noChangeArrowheads="1"/>
          </p:cNvSpPr>
          <p:nvPr/>
        </p:nvSpPr>
        <p:spPr bwMode="auto">
          <a:xfrm>
            <a:off x="4889500" y="3708400"/>
            <a:ext cx="5667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15</a:t>
            </a:r>
          </a:p>
        </p:txBody>
      </p:sp>
      <p:sp>
        <p:nvSpPr>
          <p:cNvPr id="4" name="TextBox 39"/>
          <p:cNvSpPr txBox="1">
            <a:spLocks noChangeArrowheads="1"/>
          </p:cNvSpPr>
          <p:nvPr/>
        </p:nvSpPr>
        <p:spPr bwMode="auto">
          <a:xfrm>
            <a:off x="1015052" y="2249429"/>
            <a:ext cx="307808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sz="2400" dirty="0" smtClean="0"/>
              <a:t>Answer:</a:t>
            </a:r>
          </a:p>
          <a:p>
            <a:pPr eaLnBrk="1" hangingPunct="1"/>
            <a:r>
              <a:rPr lang="en-GB" sz="2400" dirty="0" smtClean="0"/>
              <a:t>Find </a:t>
            </a:r>
            <a:r>
              <a:rPr lang="en-GB" sz="2400" dirty="0"/>
              <a:t>length BD first</a:t>
            </a:r>
          </a:p>
        </p:txBody>
      </p:sp>
      <p:graphicFrame>
        <p:nvGraphicFramePr>
          <p:cNvPr id="3" name="Object 14"/>
          <p:cNvGraphicFramePr>
            <a:graphicFrameLocks noChangeAspect="1"/>
          </p:cNvGraphicFramePr>
          <p:nvPr/>
        </p:nvGraphicFramePr>
        <p:xfrm>
          <a:off x="1125538" y="6067425"/>
          <a:ext cx="1587500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0" name="Equation" r:id="rId12" imgW="787320" imgH="177480" progId="Equation.DSMT4">
                  <p:embed/>
                </p:oleObj>
              </mc:Choice>
              <mc:Fallback>
                <p:oleObj name="Equation" r:id="rId12" imgW="7873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5538" y="6067425"/>
                        <a:ext cx="1587500" cy="382588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508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26"/>
          <p:cNvGraphicFramePr>
            <a:graphicFrameLocks noChangeAspect="1"/>
          </p:cNvGraphicFramePr>
          <p:nvPr/>
        </p:nvGraphicFramePr>
        <p:xfrm>
          <a:off x="6427788" y="3781425"/>
          <a:ext cx="752475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1" name="Equation" r:id="rId14" imgW="419040" imgH="177480" progId="Equation.DSMT4">
                  <p:embed/>
                </p:oleObj>
              </mc:Choice>
              <mc:Fallback>
                <p:oleObj name="Equation" r:id="rId14" imgW="41904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7788" y="3781425"/>
                        <a:ext cx="752475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0800">
                            <a:solidFill>
                              <a:srgbClr val="1C1C1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2" name="Straight Connector 31"/>
          <p:cNvCxnSpPr/>
          <p:nvPr/>
        </p:nvCxnSpPr>
        <p:spPr>
          <a:xfrm flipH="1">
            <a:off x="5556250" y="3170238"/>
            <a:ext cx="0" cy="1679575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rot="10800000" flipH="1" flipV="1">
            <a:off x="5578475" y="3222625"/>
            <a:ext cx="1685925" cy="1639888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rot="16200000" flipH="1">
            <a:off x="6365875" y="4006851"/>
            <a:ext cx="3175" cy="1689100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9013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0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0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10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0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ight Triangle 27"/>
          <p:cNvSpPr/>
          <p:nvPr/>
        </p:nvSpPr>
        <p:spPr>
          <a:xfrm rot="18829116">
            <a:off x="6117431" y="2129632"/>
            <a:ext cx="2020887" cy="2368550"/>
          </a:xfrm>
          <a:prstGeom prst="rtTriangle">
            <a:avLst/>
          </a:prstGeom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7" name="Right Triangle 26"/>
          <p:cNvSpPr/>
          <p:nvPr/>
        </p:nvSpPr>
        <p:spPr>
          <a:xfrm>
            <a:off x="5549900" y="3213100"/>
            <a:ext cx="1689100" cy="1638300"/>
          </a:xfrm>
          <a:prstGeom prst="rtTriangle">
            <a:avLst/>
          </a:prstGeom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105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38213" y="590550"/>
            <a:ext cx="6762750" cy="677863"/>
          </a:xfrm>
        </p:spPr>
        <p:txBody>
          <a:bodyPr/>
          <a:lstStyle/>
          <a:p>
            <a:pPr algn="ctr" eaLnBrk="1" hangingPunct="1">
              <a:defRPr/>
            </a:pPr>
            <a:r>
              <a:rPr lang="en-GB" sz="3600" dirty="0" smtClean="0">
                <a:latin typeface="Comic Sans MS" pitchFamily="66" charset="0"/>
              </a:rPr>
              <a:t>Solving Real-Life Problems</a:t>
            </a:r>
          </a:p>
        </p:txBody>
      </p:sp>
      <p:sp>
        <p:nvSpPr>
          <p:cNvPr id="16397" name="Rectangle 3"/>
          <p:cNvSpPr>
            <a:spLocks noChangeArrowheads="1"/>
          </p:cNvSpPr>
          <p:nvPr/>
        </p:nvSpPr>
        <p:spPr bwMode="auto">
          <a:xfrm>
            <a:off x="2133600" y="-1604963"/>
            <a:ext cx="8128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6398" name="Rectangle 9"/>
          <p:cNvSpPr>
            <a:spLocks noChangeArrowheads="1"/>
          </p:cNvSpPr>
          <p:nvPr/>
        </p:nvSpPr>
        <p:spPr bwMode="auto">
          <a:xfrm>
            <a:off x="683568" y="1414175"/>
            <a:ext cx="6985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indent="457200"/>
            <a:r>
              <a:rPr lang="en-GB" sz="3200" dirty="0"/>
              <a:t>Problem : Find the length of length </a:t>
            </a:r>
            <a:r>
              <a:rPr lang="en-GB" sz="3200" dirty="0" smtClean="0"/>
              <a:t>h.</a:t>
            </a:r>
            <a:endParaRPr lang="en-GB" sz="3200" dirty="0"/>
          </a:p>
        </p:txBody>
      </p:sp>
      <p:graphicFrame>
        <p:nvGraphicFramePr>
          <p:cNvPr id="110602" name="Object 10"/>
          <p:cNvGraphicFramePr>
            <a:graphicFrameLocks noChangeAspect="1"/>
          </p:cNvGraphicFramePr>
          <p:nvPr/>
        </p:nvGraphicFramePr>
        <p:xfrm>
          <a:off x="1268413" y="3082925"/>
          <a:ext cx="33718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9" name="Equation" r:id="rId3" imgW="1498320" imgH="228600" progId="Equation.DSMT4">
                  <p:embed/>
                </p:oleObj>
              </mc:Choice>
              <mc:Fallback>
                <p:oleObj name="Equation" r:id="rId3" imgW="14983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8413" y="3082925"/>
                        <a:ext cx="3371850" cy="5080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3" name="Object 11"/>
          <p:cNvGraphicFramePr>
            <a:graphicFrameLocks noChangeAspect="1"/>
          </p:cNvGraphicFramePr>
          <p:nvPr/>
        </p:nvGraphicFramePr>
        <p:xfrm>
          <a:off x="1268413" y="3649663"/>
          <a:ext cx="2857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0" name="Equation" r:id="rId5" imgW="1269720" imgH="228600" progId="Equation.DSMT4">
                  <p:embed/>
                </p:oleObj>
              </mc:Choice>
              <mc:Fallback>
                <p:oleObj name="Equation" r:id="rId5" imgW="12697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8413" y="3649663"/>
                        <a:ext cx="2857500" cy="5080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5" name="Object 13"/>
          <p:cNvGraphicFramePr>
            <a:graphicFrameLocks noChangeAspect="1"/>
          </p:cNvGraphicFramePr>
          <p:nvPr/>
        </p:nvGraphicFramePr>
        <p:xfrm>
          <a:off x="1268413" y="4214813"/>
          <a:ext cx="274002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1" name="Equation" r:id="rId7" imgW="1358640" imgH="228600" progId="Equation.DSMT4">
                  <p:embed/>
                </p:oleObj>
              </mc:Choice>
              <mc:Fallback>
                <p:oleObj name="Equation" r:id="rId7" imgW="13586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8413" y="4214813"/>
                        <a:ext cx="2740025" cy="48895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6" name="Object 14"/>
          <p:cNvGraphicFramePr>
            <a:graphicFrameLocks noChangeAspect="1"/>
          </p:cNvGraphicFramePr>
          <p:nvPr/>
        </p:nvGraphicFramePr>
        <p:xfrm>
          <a:off x="1268413" y="4762500"/>
          <a:ext cx="2024062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" name="Equation" r:id="rId9" imgW="1002960" imgH="203040" progId="Equation.DSMT4">
                  <p:embed/>
                </p:oleObj>
              </mc:Choice>
              <mc:Fallback>
                <p:oleObj name="Equation" r:id="rId9" imgW="10029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8413" y="4762500"/>
                        <a:ext cx="2024062" cy="43815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401" name="Picture 25" descr="Office Objects 057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6938" y="238125"/>
            <a:ext cx="1444625" cy="146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Rectangle 28"/>
          <p:cNvSpPr/>
          <p:nvPr/>
        </p:nvSpPr>
        <p:spPr>
          <a:xfrm>
            <a:off x="5562600" y="4622800"/>
            <a:ext cx="228600" cy="215900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0" name="Rectangle 29"/>
          <p:cNvSpPr/>
          <p:nvPr/>
        </p:nvSpPr>
        <p:spPr>
          <a:xfrm rot="18778718">
            <a:off x="7161213" y="4630737"/>
            <a:ext cx="209550" cy="200025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6404" name="TextBox 30"/>
          <p:cNvSpPr txBox="1">
            <a:spLocks noChangeArrowheads="1"/>
          </p:cNvSpPr>
          <p:nvPr/>
        </p:nvSpPr>
        <p:spPr bwMode="auto">
          <a:xfrm>
            <a:off x="7035800" y="2789238"/>
            <a:ext cx="3921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h</a:t>
            </a:r>
          </a:p>
        </p:txBody>
      </p:sp>
      <p:sp>
        <p:nvSpPr>
          <p:cNvPr id="16405" name="TextBox 32"/>
          <p:cNvSpPr txBox="1">
            <a:spLocks noChangeArrowheads="1"/>
          </p:cNvSpPr>
          <p:nvPr/>
        </p:nvSpPr>
        <p:spPr bwMode="auto">
          <a:xfrm>
            <a:off x="5170488" y="4673600"/>
            <a:ext cx="447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A</a:t>
            </a:r>
          </a:p>
        </p:txBody>
      </p:sp>
      <p:sp>
        <p:nvSpPr>
          <p:cNvPr id="16406" name="TextBox 33"/>
          <p:cNvSpPr txBox="1">
            <a:spLocks noChangeArrowheads="1"/>
          </p:cNvSpPr>
          <p:nvPr/>
        </p:nvSpPr>
        <p:spPr bwMode="auto">
          <a:xfrm>
            <a:off x="5130800" y="2908300"/>
            <a:ext cx="4111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B</a:t>
            </a:r>
          </a:p>
        </p:txBody>
      </p:sp>
      <p:sp>
        <p:nvSpPr>
          <p:cNvPr id="16407" name="TextBox 34"/>
          <p:cNvSpPr txBox="1">
            <a:spLocks noChangeArrowheads="1"/>
          </p:cNvSpPr>
          <p:nvPr/>
        </p:nvSpPr>
        <p:spPr bwMode="auto">
          <a:xfrm>
            <a:off x="8616950" y="3030538"/>
            <a:ext cx="401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C</a:t>
            </a:r>
          </a:p>
        </p:txBody>
      </p:sp>
      <p:sp>
        <p:nvSpPr>
          <p:cNvPr id="16408" name="TextBox 35"/>
          <p:cNvSpPr txBox="1">
            <a:spLocks noChangeArrowheads="1"/>
          </p:cNvSpPr>
          <p:nvPr/>
        </p:nvSpPr>
        <p:spPr bwMode="auto">
          <a:xfrm>
            <a:off x="7162800" y="4802188"/>
            <a:ext cx="444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D</a:t>
            </a:r>
          </a:p>
        </p:txBody>
      </p:sp>
      <p:sp>
        <p:nvSpPr>
          <p:cNvPr id="16409" name="TextBox 36"/>
          <p:cNvSpPr txBox="1">
            <a:spLocks noChangeArrowheads="1"/>
          </p:cNvSpPr>
          <p:nvPr/>
        </p:nvSpPr>
        <p:spPr bwMode="auto">
          <a:xfrm>
            <a:off x="8051800" y="4013200"/>
            <a:ext cx="5667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12</a:t>
            </a:r>
          </a:p>
        </p:txBody>
      </p:sp>
      <p:sp>
        <p:nvSpPr>
          <p:cNvPr id="16410" name="TextBox 37"/>
          <p:cNvSpPr txBox="1">
            <a:spLocks noChangeArrowheads="1"/>
          </p:cNvSpPr>
          <p:nvPr/>
        </p:nvSpPr>
        <p:spPr bwMode="auto">
          <a:xfrm>
            <a:off x="5969000" y="4876800"/>
            <a:ext cx="5667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13</a:t>
            </a:r>
          </a:p>
        </p:txBody>
      </p:sp>
      <p:sp>
        <p:nvSpPr>
          <p:cNvPr id="16411" name="TextBox 38"/>
          <p:cNvSpPr txBox="1">
            <a:spLocks noChangeArrowheads="1"/>
          </p:cNvSpPr>
          <p:nvPr/>
        </p:nvSpPr>
        <p:spPr bwMode="auto">
          <a:xfrm>
            <a:off x="4889500" y="3708400"/>
            <a:ext cx="5667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15</a:t>
            </a:r>
          </a:p>
        </p:txBody>
      </p:sp>
      <p:sp>
        <p:nvSpPr>
          <p:cNvPr id="5" name="TextBox 39"/>
          <p:cNvSpPr txBox="1">
            <a:spLocks noChangeArrowheads="1"/>
          </p:cNvSpPr>
          <p:nvPr/>
        </p:nvSpPr>
        <p:spPr bwMode="auto">
          <a:xfrm>
            <a:off x="990600" y="2552700"/>
            <a:ext cx="17494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sz="2400" dirty="0"/>
              <a:t>Now find h</a:t>
            </a:r>
          </a:p>
        </p:txBody>
      </p:sp>
      <p:graphicFrame>
        <p:nvGraphicFramePr>
          <p:cNvPr id="2" name="Object 6"/>
          <p:cNvGraphicFramePr>
            <a:graphicFrameLocks noChangeAspect="1"/>
          </p:cNvGraphicFramePr>
          <p:nvPr/>
        </p:nvGraphicFramePr>
        <p:xfrm>
          <a:off x="1268413" y="5257800"/>
          <a:ext cx="1331912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3" name="Equation" r:id="rId12" imgW="660240" imgH="228600" progId="Equation.DSMT4">
                  <p:embed/>
                </p:oleObj>
              </mc:Choice>
              <mc:Fallback>
                <p:oleObj name="Equation" r:id="rId12" imgW="660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8413" y="5257800"/>
                        <a:ext cx="1331912" cy="492125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7"/>
          <p:cNvGraphicFramePr>
            <a:graphicFrameLocks noChangeAspect="1"/>
          </p:cNvGraphicFramePr>
          <p:nvPr/>
        </p:nvGraphicFramePr>
        <p:xfrm>
          <a:off x="1268413" y="5808663"/>
          <a:ext cx="27400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4" name="Equation" r:id="rId14" imgW="1358640" imgH="203040" progId="Equation.DSMT4">
                  <p:embed/>
                </p:oleObj>
              </mc:Choice>
              <mc:Fallback>
                <p:oleObj name="Equation" r:id="rId14" imgW="1358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8413" y="5808663"/>
                        <a:ext cx="2740025" cy="43815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6" name="Straight Connector 35"/>
          <p:cNvCxnSpPr/>
          <p:nvPr/>
        </p:nvCxnSpPr>
        <p:spPr>
          <a:xfrm rot="5400000">
            <a:off x="7220744" y="3404394"/>
            <a:ext cx="1504950" cy="1468438"/>
          </a:xfrm>
          <a:prstGeom prst="line">
            <a:avLst/>
          </a:prstGeom>
          <a:ln w="762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Object 26"/>
          <p:cNvGraphicFramePr>
            <a:graphicFrameLocks noChangeAspect="1"/>
          </p:cNvGraphicFramePr>
          <p:nvPr/>
        </p:nvGraphicFramePr>
        <p:xfrm>
          <a:off x="6515100" y="3811588"/>
          <a:ext cx="666750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5" name="Equation" r:id="rId16" imgW="419040" imgH="228600" progId="Equation.DSMT4">
                  <p:embed/>
                </p:oleObj>
              </mc:Choice>
              <mc:Fallback>
                <p:oleObj name="Equation" r:id="rId16" imgW="419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3811588"/>
                        <a:ext cx="666750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0800">
                            <a:solidFill>
                              <a:srgbClr val="1C1C1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4" name="Straight Connector 63"/>
          <p:cNvCxnSpPr/>
          <p:nvPr/>
        </p:nvCxnSpPr>
        <p:spPr>
          <a:xfrm flipH="1">
            <a:off x="5556250" y="3170238"/>
            <a:ext cx="0" cy="1679575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rot="16200000" flipH="1">
            <a:off x="6365875" y="4006851"/>
            <a:ext cx="3175" cy="1689100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endCxn id="27" idx="0"/>
          </p:cNvCxnSpPr>
          <p:nvPr/>
        </p:nvCxnSpPr>
        <p:spPr>
          <a:xfrm rot="10800000">
            <a:off x="5549900" y="3213100"/>
            <a:ext cx="3132138" cy="201613"/>
          </a:xfrm>
          <a:prstGeom prst="line">
            <a:avLst/>
          </a:prstGeom>
          <a:ln w="762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rot="16200000" flipH="1">
            <a:off x="5584826" y="3182937"/>
            <a:ext cx="1638300" cy="1698625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rot="16200000" flipH="1">
            <a:off x="5587207" y="3171031"/>
            <a:ext cx="1663700" cy="1738313"/>
          </a:xfrm>
          <a:prstGeom prst="line">
            <a:avLst/>
          </a:prstGeom>
          <a:ln w="762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2066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10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0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arallelogram 40"/>
          <p:cNvSpPr/>
          <p:nvPr/>
        </p:nvSpPr>
        <p:spPr>
          <a:xfrm>
            <a:off x="5422900" y="4965700"/>
            <a:ext cx="2743200" cy="558800"/>
          </a:xfrm>
          <a:prstGeom prst="parallelogram">
            <a:avLst>
              <a:gd name="adj" fmla="val 104546"/>
            </a:avLst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105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38213" y="590550"/>
            <a:ext cx="6762750" cy="677863"/>
          </a:xfrm>
        </p:spPr>
        <p:txBody>
          <a:bodyPr/>
          <a:lstStyle/>
          <a:p>
            <a:pPr algn="ctr" eaLnBrk="1" hangingPunct="1">
              <a:defRPr/>
            </a:pPr>
            <a:r>
              <a:rPr lang="en-GB" sz="3600" dirty="0" smtClean="0">
                <a:latin typeface="Comic Sans MS" pitchFamily="66" charset="0"/>
              </a:rPr>
              <a:t>Solving Real-Life Problems</a:t>
            </a:r>
          </a:p>
        </p:txBody>
      </p:sp>
      <p:sp>
        <p:nvSpPr>
          <p:cNvPr id="17420" name="Rectangle 3"/>
          <p:cNvSpPr>
            <a:spLocks noChangeArrowheads="1"/>
          </p:cNvSpPr>
          <p:nvPr/>
        </p:nvSpPr>
        <p:spPr bwMode="auto">
          <a:xfrm>
            <a:off x="2133600" y="-1604963"/>
            <a:ext cx="8128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7421" name="Rectangle 9"/>
          <p:cNvSpPr>
            <a:spLocks noChangeArrowheads="1"/>
          </p:cNvSpPr>
          <p:nvPr/>
        </p:nvSpPr>
        <p:spPr bwMode="auto">
          <a:xfrm>
            <a:off x="-250509" y="1706563"/>
            <a:ext cx="939653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indent="457200"/>
            <a:r>
              <a:rPr lang="en-GB" sz="3200" dirty="0"/>
              <a:t>Problem : Find the diagonal length of the cuboid AG.</a:t>
            </a:r>
          </a:p>
        </p:txBody>
      </p:sp>
      <p:pic>
        <p:nvPicPr>
          <p:cNvPr id="17424" name="Picture 25" descr="Office Objects 057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6938" y="238125"/>
            <a:ext cx="1444625" cy="146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6" name="Straight Connector 45"/>
          <p:cNvCxnSpPr/>
          <p:nvPr/>
        </p:nvCxnSpPr>
        <p:spPr>
          <a:xfrm rot="16200000" flipV="1">
            <a:off x="5149850" y="4095750"/>
            <a:ext cx="1752600" cy="12700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27" name="TextBox 32"/>
          <p:cNvSpPr txBox="1">
            <a:spLocks noChangeArrowheads="1"/>
          </p:cNvSpPr>
          <p:nvPr/>
        </p:nvSpPr>
        <p:spPr bwMode="auto">
          <a:xfrm>
            <a:off x="5003800" y="5397500"/>
            <a:ext cx="447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A</a:t>
            </a:r>
          </a:p>
        </p:txBody>
      </p:sp>
      <p:sp>
        <p:nvSpPr>
          <p:cNvPr id="17428" name="TextBox 33"/>
          <p:cNvSpPr txBox="1">
            <a:spLocks noChangeArrowheads="1"/>
          </p:cNvSpPr>
          <p:nvPr/>
        </p:nvSpPr>
        <p:spPr bwMode="auto">
          <a:xfrm>
            <a:off x="4978400" y="3543300"/>
            <a:ext cx="4111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B</a:t>
            </a:r>
          </a:p>
        </p:txBody>
      </p:sp>
      <p:sp>
        <p:nvSpPr>
          <p:cNvPr id="17429" name="TextBox 34"/>
          <p:cNvSpPr txBox="1">
            <a:spLocks noChangeArrowheads="1"/>
          </p:cNvSpPr>
          <p:nvPr/>
        </p:nvSpPr>
        <p:spPr bwMode="auto">
          <a:xfrm>
            <a:off x="7569200" y="3644900"/>
            <a:ext cx="401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C</a:t>
            </a:r>
          </a:p>
        </p:txBody>
      </p:sp>
      <p:sp>
        <p:nvSpPr>
          <p:cNvPr id="17430" name="TextBox 35"/>
          <p:cNvSpPr txBox="1">
            <a:spLocks noChangeArrowheads="1"/>
          </p:cNvSpPr>
          <p:nvPr/>
        </p:nvSpPr>
        <p:spPr bwMode="auto">
          <a:xfrm>
            <a:off x="7531100" y="5435600"/>
            <a:ext cx="444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D</a:t>
            </a:r>
          </a:p>
        </p:txBody>
      </p:sp>
      <p:sp>
        <p:nvSpPr>
          <p:cNvPr id="17431" name="TextBox 32"/>
          <p:cNvSpPr txBox="1">
            <a:spLocks noChangeArrowheads="1"/>
          </p:cNvSpPr>
          <p:nvPr/>
        </p:nvSpPr>
        <p:spPr bwMode="auto">
          <a:xfrm>
            <a:off x="5600700" y="4584700"/>
            <a:ext cx="4095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E</a:t>
            </a:r>
          </a:p>
        </p:txBody>
      </p:sp>
      <p:sp>
        <p:nvSpPr>
          <p:cNvPr id="17432" name="TextBox 33"/>
          <p:cNvSpPr txBox="1">
            <a:spLocks noChangeArrowheads="1"/>
          </p:cNvSpPr>
          <p:nvPr/>
        </p:nvSpPr>
        <p:spPr bwMode="auto">
          <a:xfrm>
            <a:off x="5600700" y="2832100"/>
            <a:ext cx="403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F</a:t>
            </a:r>
          </a:p>
        </p:txBody>
      </p:sp>
      <p:sp>
        <p:nvSpPr>
          <p:cNvPr id="17433" name="TextBox 34"/>
          <p:cNvSpPr txBox="1">
            <a:spLocks noChangeArrowheads="1"/>
          </p:cNvSpPr>
          <p:nvPr/>
        </p:nvSpPr>
        <p:spPr bwMode="auto">
          <a:xfrm>
            <a:off x="8166100" y="2832100"/>
            <a:ext cx="428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G</a:t>
            </a:r>
          </a:p>
        </p:txBody>
      </p:sp>
      <p:sp>
        <p:nvSpPr>
          <p:cNvPr id="17434" name="TextBox 35"/>
          <p:cNvSpPr txBox="1">
            <a:spLocks noChangeArrowheads="1"/>
          </p:cNvSpPr>
          <p:nvPr/>
        </p:nvSpPr>
        <p:spPr bwMode="auto">
          <a:xfrm>
            <a:off x="8162925" y="4678363"/>
            <a:ext cx="460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H</a:t>
            </a:r>
          </a:p>
        </p:txBody>
      </p:sp>
      <p:sp>
        <p:nvSpPr>
          <p:cNvPr id="17435" name="TextBox 36"/>
          <p:cNvSpPr txBox="1">
            <a:spLocks noChangeArrowheads="1"/>
          </p:cNvSpPr>
          <p:nvPr/>
        </p:nvSpPr>
        <p:spPr bwMode="auto">
          <a:xfrm>
            <a:off x="7937500" y="5118100"/>
            <a:ext cx="866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6cm</a:t>
            </a:r>
          </a:p>
        </p:txBody>
      </p:sp>
      <p:sp>
        <p:nvSpPr>
          <p:cNvPr id="17436" name="TextBox 37"/>
          <p:cNvSpPr txBox="1">
            <a:spLocks noChangeArrowheads="1"/>
          </p:cNvSpPr>
          <p:nvPr/>
        </p:nvSpPr>
        <p:spPr bwMode="auto">
          <a:xfrm>
            <a:off x="6299200" y="5562600"/>
            <a:ext cx="866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8cm</a:t>
            </a:r>
          </a:p>
        </p:txBody>
      </p:sp>
      <p:sp>
        <p:nvSpPr>
          <p:cNvPr id="17437" name="TextBox 37"/>
          <p:cNvSpPr txBox="1">
            <a:spLocks noChangeArrowheads="1"/>
          </p:cNvSpPr>
          <p:nvPr/>
        </p:nvSpPr>
        <p:spPr bwMode="auto">
          <a:xfrm>
            <a:off x="8243888" y="3759200"/>
            <a:ext cx="8683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7cm</a:t>
            </a:r>
          </a:p>
        </p:txBody>
      </p:sp>
      <p:cxnSp>
        <p:nvCxnSpPr>
          <p:cNvPr id="36" name="Straight Connector 35"/>
          <p:cNvCxnSpPr/>
          <p:nvPr/>
        </p:nvCxnSpPr>
        <p:spPr>
          <a:xfrm rot="5400000">
            <a:off x="7261226" y="4079875"/>
            <a:ext cx="1809750" cy="317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5448300" y="3225800"/>
            <a:ext cx="2717800" cy="2260600"/>
          </a:xfrm>
          <a:prstGeom prst="line">
            <a:avLst/>
          </a:prstGeom>
          <a:ln w="5715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V="1">
            <a:off x="5410200" y="4953000"/>
            <a:ext cx="2743200" cy="558800"/>
          </a:xfrm>
          <a:prstGeom prst="line">
            <a:avLst/>
          </a:prstGeom>
          <a:ln w="5715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5435600" y="3771900"/>
            <a:ext cx="2146300" cy="1765300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42" name="Parallelogram 41"/>
          <p:cNvSpPr/>
          <p:nvPr/>
        </p:nvSpPr>
        <p:spPr>
          <a:xfrm>
            <a:off x="5422900" y="3213100"/>
            <a:ext cx="2743200" cy="558800"/>
          </a:xfrm>
          <a:prstGeom prst="parallelogram">
            <a:avLst>
              <a:gd name="adj" fmla="val 107852"/>
            </a:avLst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500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arallelogram 40"/>
          <p:cNvSpPr/>
          <p:nvPr/>
        </p:nvSpPr>
        <p:spPr>
          <a:xfrm>
            <a:off x="5422900" y="4965700"/>
            <a:ext cx="2743200" cy="558800"/>
          </a:xfrm>
          <a:prstGeom prst="parallelogram">
            <a:avLst>
              <a:gd name="adj" fmla="val 104546"/>
            </a:avLst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62" name="Freeform 61"/>
          <p:cNvSpPr/>
          <p:nvPr/>
        </p:nvSpPr>
        <p:spPr>
          <a:xfrm>
            <a:off x="7356475" y="5375275"/>
            <a:ext cx="290513" cy="149225"/>
          </a:xfrm>
          <a:custGeom>
            <a:avLst/>
            <a:gdLst>
              <a:gd name="connsiteX0" fmla="*/ 219075 w 219075"/>
              <a:gd name="connsiteY0" fmla="*/ 4762 h 95250"/>
              <a:gd name="connsiteX1" fmla="*/ 52387 w 219075"/>
              <a:gd name="connsiteY1" fmla="*/ 0 h 95250"/>
              <a:gd name="connsiteX2" fmla="*/ 0 w 219075"/>
              <a:gd name="connsiteY2" fmla="*/ 95250 h 95250"/>
              <a:gd name="connsiteX3" fmla="*/ 161925 w 219075"/>
              <a:gd name="connsiteY3" fmla="*/ 95250 h 95250"/>
              <a:gd name="connsiteX4" fmla="*/ 219075 w 219075"/>
              <a:gd name="connsiteY4" fmla="*/ 4762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075" h="95250">
                <a:moveTo>
                  <a:pt x="219075" y="4762"/>
                </a:moveTo>
                <a:lnTo>
                  <a:pt x="52387" y="0"/>
                </a:lnTo>
                <a:lnTo>
                  <a:pt x="0" y="95250"/>
                </a:lnTo>
                <a:lnTo>
                  <a:pt x="161925" y="95250"/>
                </a:lnTo>
                <a:lnTo>
                  <a:pt x="219075" y="4762"/>
                </a:lnTo>
                <a:close/>
              </a:path>
            </a:pathLst>
          </a:custGeom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63" name="Freeform 62"/>
          <p:cNvSpPr/>
          <p:nvPr/>
        </p:nvSpPr>
        <p:spPr>
          <a:xfrm>
            <a:off x="7966075" y="4738688"/>
            <a:ext cx="204788" cy="238125"/>
          </a:xfrm>
          <a:custGeom>
            <a:avLst/>
            <a:gdLst>
              <a:gd name="connsiteX0" fmla="*/ 145041 w 162661"/>
              <a:gd name="connsiteY0" fmla="*/ 0 h 162030"/>
              <a:gd name="connsiteX1" fmla="*/ 11691 w 162661"/>
              <a:gd name="connsiteY1" fmla="*/ 33337 h 162030"/>
              <a:gd name="connsiteX2" fmla="*/ 16453 w 162661"/>
              <a:gd name="connsiteY2" fmla="*/ 147637 h 162030"/>
              <a:gd name="connsiteX3" fmla="*/ 64078 w 162661"/>
              <a:gd name="connsiteY3" fmla="*/ 142875 h 162030"/>
              <a:gd name="connsiteX4" fmla="*/ 92653 w 162661"/>
              <a:gd name="connsiteY4" fmla="*/ 133350 h 162030"/>
              <a:gd name="connsiteX5" fmla="*/ 106941 w 162661"/>
              <a:gd name="connsiteY5" fmla="*/ 128587 h 162030"/>
              <a:gd name="connsiteX6" fmla="*/ 140278 w 162661"/>
              <a:gd name="connsiteY6" fmla="*/ 128587 h 162030"/>
              <a:gd name="connsiteX7" fmla="*/ 140278 w 162661"/>
              <a:gd name="connsiteY7" fmla="*/ 128587 h 162030"/>
              <a:gd name="connsiteX8" fmla="*/ 145041 w 162661"/>
              <a:gd name="connsiteY8" fmla="*/ 0 h 162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2661" h="162030">
                <a:moveTo>
                  <a:pt x="145041" y="0"/>
                </a:moveTo>
                <a:lnTo>
                  <a:pt x="11691" y="33337"/>
                </a:lnTo>
                <a:cubicBezTo>
                  <a:pt x="13278" y="71437"/>
                  <a:pt x="0" y="113236"/>
                  <a:pt x="16453" y="147637"/>
                </a:cubicBezTo>
                <a:cubicBezTo>
                  <a:pt x="23336" y="162030"/>
                  <a:pt x="48397" y="145815"/>
                  <a:pt x="64078" y="142875"/>
                </a:cubicBezTo>
                <a:cubicBezTo>
                  <a:pt x="73946" y="141025"/>
                  <a:pt x="83128" y="136525"/>
                  <a:pt x="92653" y="133350"/>
                </a:cubicBezTo>
                <a:cubicBezTo>
                  <a:pt x="97416" y="131762"/>
                  <a:pt x="101951" y="129141"/>
                  <a:pt x="106941" y="128587"/>
                </a:cubicBezTo>
                <a:cubicBezTo>
                  <a:pt x="153331" y="123433"/>
                  <a:pt x="162661" y="117397"/>
                  <a:pt x="140278" y="128587"/>
                </a:cubicBezTo>
                <a:lnTo>
                  <a:pt x="140278" y="128587"/>
                </a:lnTo>
                <a:lnTo>
                  <a:pt x="145041" y="0"/>
                </a:lnTo>
                <a:close/>
              </a:path>
            </a:pathLst>
          </a:custGeom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0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8AAB25-DF07-42F0-9138-3CDBEAF21B40}" type="datetime5">
              <a:rPr lang="en-GB"/>
              <a:pPr>
                <a:defRPr/>
              </a:pPr>
              <a:t>16-Jul-16</a:t>
            </a:fld>
            <a:endParaRPr lang="en-GB"/>
          </a:p>
        </p:txBody>
      </p:sp>
      <p:sp>
        <p:nvSpPr>
          <p:cNvPr id="1105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38213" y="590550"/>
            <a:ext cx="6762750" cy="677863"/>
          </a:xfrm>
        </p:spPr>
        <p:txBody>
          <a:bodyPr/>
          <a:lstStyle/>
          <a:p>
            <a:pPr algn="ctr" eaLnBrk="1" hangingPunct="1">
              <a:defRPr/>
            </a:pPr>
            <a:r>
              <a:rPr lang="en-GB" sz="3600" dirty="0" smtClean="0">
                <a:latin typeface="Comic Sans MS" pitchFamily="66" charset="0"/>
              </a:rPr>
              <a:t>Solving Real-Life Problems</a:t>
            </a:r>
          </a:p>
        </p:txBody>
      </p:sp>
      <p:sp>
        <p:nvSpPr>
          <p:cNvPr id="17420" name="Rectangle 3"/>
          <p:cNvSpPr>
            <a:spLocks noChangeArrowheads="1"/>
          </p:cNvSpPr>
          <p:nvPr/>
        </p:nvSpPr>
        <p:spPr bwMode="auto">
          <a:xfrm>
            <a:off x="2133600" y="-1604963"/>
            <a:ext cx="8128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7421" name="Rectangle 9"/>
          <p:cNvSpPr>
            <a:spLocks noChangeArrowheads="1"/>
          </p:cNvSpPr>
          <p:nvPr/>
        </p:nvSpPr>
        <p:spPr bwMode="auto">
          <a:xfrm>
            <a:off x="-250509" y="1556792"/>
            <a:ext cx="939653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indent="457200"/>
            <a:r>
              <a:rPr lang="en-GB" sz="3200" dirty="0"/>
              <a:t>Problem : Find the diagonal length of the cuboid AG.</a:t>
            </a:r>
          </a:p>
        </p:txBody>
      </p:sp>
      <p:graphicFrame>
        <p:nvGraphicFramePr>
          <p:cNvPr id="110602" name="Object 10"/>
          <p:cNvGraphicFramePr>
            <a:graphicFrameLocks noChangeAspect="1"/>
          </p:cNvGraphicFramePr>
          <p:nvPr/>
        </p:nvGraphicFramePr>
        <p:xfrm>
          <a:off x="1055688" y="3084513"/>
          <a:ext cx="342900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" name="Equation" r:id="rId3" imgW="1523880" imgH="228600" progId="Equation.DSMT4">
                  <p:embed/>
                </p:oleObj>
              </mc:Choice>
              <mc:Fallback>
                <p:oleObj name="Equation" r:id="rId3" imgW="1523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688" y="3084513"/>
                        <a:ext cx="3429000" cy="506412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3" name="Object 11"/>
          <p:cNvGraphicFramePr>
            <a:graphicFrameLocks noChangeAspect="1"/>
          </p:cNvGraphicFramePr>
          <p:nvPr/>
        </p:nvGraphicFramePr>
        <p:xfrm>
          <a:off x="1055688" y="3646488"/>
          <a:ext cx="234315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0" name="Equation" r:id="rId5" imgW="1041120" imgH="228600" progId="Equation.DSMT4">
                  <p:embed/>
                </p:oleObj>
              </mc:Choice>
              <mc:Fallback>
                <p:oleObj name="Equation" r:id="rId5" imgW="10411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688" y="3646488"/>
                        <a:ext cx="2343150" cy="506412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5" name="Object 13"/>
          <p:cNvGraphicFramePr>
            <a:graphicFrameLocks noChangeAspect="1"/>
          </p:cNvGraphicFramePr>
          <p:nvPr/>
        </p:nvGraphicFramePr>
        <p:xfrm>
          <a:off x="1055688" y="4208463"/>
          <a:ext cx="220186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1" name="Equation" r:id="rId7" imgW="1091880" imgH="228600" progId="Equation.DSMT4">
                  <p:embed/>
                </p:oleObj>
              </mc:Choice>
              <mc:Fallback>
                <p:oleObj name="Equation" r:id="rId7" imgW="1091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688" y="4208463"/>
                        <a:ext cx="2201862" cy="48895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6" name="Object 14"/>
          <p:cNvGraphicFramePr>
            <a:graphicFrameLocks noChangeAspect="1"/>
          </p:cNvGraphicFramePr>
          <p:nvPr/>
        </p:nvGraphicFramePr>
        <p:xfrm>
          <a:off x="1055688" y="4751388"/>
          <a:ext cx="1614487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" name="Equation" r:id="rId9" imgW="799920" imgH="228600" progId="Equation.DSMT4">
                  <p:embed/>
                </p:oleObj>
              </mc:Choice>
              <mc:Fallback>
                <p:oleObj name="Equation" r:id="rId9" imgW="7999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688" y="4751388"/>
                        <a:ext cx="1614487" cy="493712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424" name="Picture 25" descr="Office Objects 057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6938" y="238125"/>
            <a:ext cx="1444625" cy="146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39"/>
          <p:cNvSpPr txBox="1">
            <a:spLocks noChangeArrowheads="1"/>
          </p:cNvSpPr>
          <p:nvPr/>
        </p:nvSpPr>
        <p:spPr bwMode="auto">
          <a:xfrm>
            <a:off x="927958" y="2252636"/>
            <a:ext cx="212910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sz="2400" dirty="0" smtClean="0"/>
              <a:t>Answer:</a:t>
            </a:r>
          </a:p>
          <a:p>
            <a:pPr eaLnBrk="1" hangingPunct="1"/>
            <a:r>
              <a:rPr lang="en-GB" sz="2400" dirty="0" smtClean="0"/>
              <a:t>Find </a:t>
            </a:r>
            <a:r>
              <a:rPr lang="en-GB" sz="2400" dirty="0"/>
              <a:t>AH first</a:t>
            </a:r>
          </a:p>
        </p:txBody>
      </p:sp>
      <p:graphicFrame>
        <p:nvGraphicFramePr>
          <p:cNvPr id="2" name="Object 6"/>
          <p:cNvGraphicFramePr>
            <a:graphicFrameLocks noChangeAspect="1"/>
          </p:cNvGraphicFramePr>
          <p:nvPr/>
        </p:nvGraphicFramePr>
        <p:xfrm>
          <a:off x="1055688" y="5300663"/>
          <a:ext cx="1612900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3" name="Equation" r:id="rId12" imgW="799920" imgH="177480" progId="Equation.DSMT4">
                  <p:embed/>
                </p:oleObj>
              </mc:Choice>
              <mc:Fallback>
                <p:oleObj name="Equation" r:id="rId12" imgW="7999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688" y="5300663"/>
                        <a:ext cx="1612900" cy="382587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6" name="Straight Connector 45"/>
          <p:cNvCxnSpPr/>
          <p:nvPr/>
        </p:nvCxnSpPr>
        <p:spPr>
          <a:xfrm rot="16200000" flipV="1">
            <a:off x="5149850" y="4095750"/>
            <a:ext cx="1752600" cy="12700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27" name="TextBox 32"/>
          <p:cNvSpPr txBox="1">
            <a:spLocks noChangeArrowheads="1"/>
          </p:cNvSpPr>
          <p:nvPr/>
        </p:nvSpPr>
        <p:spPr bwMode="auto">
          <a:xfrm>
            <a:off x="5003800" y="5397500"/>
            <a:ext cx="447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A</a:t>
            </a:r>
          </a:p>
        </p:txBody>
      </p:sp>
      <p:sp>
        <p:nvSpPr>
          <p:cNvPr id="17428" name="TextBox 33"/>
          <p:cNvSpPr txBox="1">
            <a:spLocks noChangeArrowheads="1"/>
          </p:cNvSpPr>
          <p:nvPr/>
        </p:nvSpPr>
        <p:spPr bwMode="auto">
          <a:xfrm>
            <a:off x="4978400" y="3543300"/>
            <a:ext cx="4111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B</a:t>
            </a:r>
          </a:p>
        </p:txBody>
      </p:sp>
      <p:sp>
        <p:nvSpPr>
          <p:cNvPr id="17429" name="TextBox 34"/>
          <p:cNvSpPr txBox="1">
            <a:spLocks noChangeArrowheads="1"/>
          </p:cNvSpPr>
          <p:nvPr/>
        </p:nvSpPr>
        <p:spPr bwMode="auto">
          <a:xfrm>
            <a:off x="7569200" y="3644900"/>
            <a:ext cx="401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C</a:t>
            </a:r>
          </a:p>
        </p:txBody>
      </p:sp>
      <p:sp>
        <p:nvSpPr>
          <p:cNvPr id="17430" name="TextBox 35"/>
          <p:cNvSpPr txBox="1">
            <a:spLocks noChangeArrowheads="1"/>
          </p:cNvSpPr>
          <p:nvPr/>
        </p:nvSpPr>
        <p:spPr bwMode="auto">
          <a:xfrm>
            <a:off x="7531100" y="5435600"/>
            <a:ext cx="444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D</a:t>
            </a:r>
          </a:p>
        </p:txBody>
      </p:sp>
      <p:sp>
        <p:nvSpPr>
          <p:cNvPr id="17431" name="TextBox 32"/>
          <p:cNvSpPr txBox="1">
            <a:spLocks noChangeArrowheads="1"/>
          </p:cNvSpPr>
          <p:nvPr/>
        </p:nvSpPr>
        <p:spPr bwMode="auto">
          <a:xfrm>
            <a:off x="5600700" y="4584700"/>
            <a:ext cx="4095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E</a:t>
            </a:r>
          </a:p>
        </p:txBody>
      </p:sp>
      <p:sp>
        <p:nvSpPr>
          <p:cNvPr id="17432" name="TextBox 33"/>
          <p:cNvSpPr txBox="1">
            <a:spLocks noChangeArrowheads="1"/>
          </p:cNvSpPr>
          <p:nvPr/>
        </p:nvSpPr>
        <p:spPr bwMode="auto">
          <a:xfrm>
            <a:off x="5600700" y="2832100"/>
            <a:ext cx="403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F</a:t>
            </a:r>
          </a:p>
        </p:txBody>
      </p:sp>
      <p:sp>
        <p:nvSpPr>
          <p:cNvPr id="17433" name="TextBox 34"/>
          <p:cNvSpPr txBox="1">
            <a:spLocks noChangeArrowheads="1"/>
          </p:cNvSpPr>
          <p:nvPr/>
        </p:nvSpPr>
        <p:spPr bwMode="auto">
          <a:xfrm>
            <a:off x="8166100" y="2832100"/>
            <a:ext cx="428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G</a:t>
            </a:r>
          </a:p>
        </p:txBody>
      </p:sp>
      <p:sp>
        <p:nvSpPr>
          <p:cNvPr id="17434" name="TextBox 35"/>
          <p:cNvSpPr txBox="1">
            <a:spLocks noChangeArrowheads="1"/>
          </p:cNvSpPr>
          <p:nvPr/>
        </p:nvSpPr>
        <p:spPr bwMode="auto">
          <a:xfrm>
            <a:off x="8162925" y="4678363"/>
            <a:ext cx="460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H</a:t>
            </a:r>
          </a:p>
        </p:txBody>
      </p:sp>
      <p:sp>
        <p:nvSpPr>
          <p:cNvPr id="17435" name="TextBox 36"/>
          <p:cNvSpPr txBox="1">
            <a:spLocks noChangeArrowheads="1"/>
          </p:cNvSpPr>
          <p:nvPr/>
        </p:nvSpPr>
        <p:spPr bwMode="auto">
          <a:xfrm>
            <a:off x="7937500" y="5118100"/>
            <a:ext cx="866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6cm</a:t>
            </a:r>
          </a:p>
        </p:txBody>
      </p:sp>
      <p:sp>
        <p:nvSpPr>
          <p:cNvPr id="17436" name="TextBox 37"/>
          <p:cNvSpPr txBox="1">
            <a:spLocks noChangeArrowheads="1"/>
          </p:cNvSpPr>
          <p:nvPr/>
        </p:nvSpPr>
        <p:spPr bwMode="auto">
          <a:xfrm>
            <a:off x="6299200" y="5562600"/>
            <a:ext cx="866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8cm</a:t>
            </a:r>
          </a:p>
        </p:txBody>
      </p:sp>
      <p:sp>
        <p:nvSpPr>
          <p:cNvPr id="17437" name="TextBox 37"/>
          <p:cNvSpPr txBox="1">
            <a:spLocks noChangeArrowheads="1"/>
          </p:cNvSpPr>
          <p:nvPr/>
        </p:nvSpPr>
        <p:spPr bwMode="auto">
          <a:xfrm>
            <a:off x="8243888" y="3759200"/>
            <a:ext cx="8683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7cm</a:t>
            </a:r>
          </a:p>
        </p:txBody>
      </p:sp>
      <p:sp>
        <p:nvSpPr>
          <p:cNvPr id="34" name="TextBox 37"/>
          <p:cNvSpPr txBox="1">
            <a:spLocks noChangeArrowheads="1"/>
          </p:cNvSpPr>
          <p:nvPr/>
        </p:nvSpPr>
        <p:spPr bwMode="auto">
          <a:xfrm rot="-682468">
            <a:off x="6680200" y="5118100"/>
            <a:ext cx="787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sz="2000" dirty="0"/>
              <a:t>10cm</a:t>
            </a:r>
          </a:p>
        </p:txBody>
      </p:sp>
      <p:cxnSp>
        <p:nvCxnSpPr>
          <p:cNvPr id="36" name="Straight Connector 35"/>
          <p:cNvCxnSpPr/>
          <p:nvPr/>
        </p:nvCxnSpPr>
        <p:spPr>
          <a:xfrm rot="5400000">
            <a:off x="7261226" y="4079875"/>
            <a:ext cx="1809750" cy="317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5448300" y="3225800"/>
            <a:ext cx="2717800" cy="2260600"/>
          </a:xfrm>
          <a:prstGeom prst="line">
            <a:avLst/>
          </a:prstGeom>
          <a:ln w="5715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V="1">
            <a:off x="5410200" y="4953000"/>
            <a:ext cx="2743200" cy="558800"/>
          </a:xfrm>
          <a:prstGeom prst="line">
            <a:avLst/>
          </a:prstGeom>
          <a:ln w="5715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5435600" y="3771900"/>
            <a:ext cx="2146300" cy="1765300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42" name="Parallelogram 41"/>
          <p:cNvSpPr/>
          <p:nvPr/>
        </p:nvSpPr>
        <p:spPr>
          <a:xfrm>
            <a:off x="5422900" y="3213100"/>
            <a:ext cx="2743200" cy="558800"/>
          </a:xfrm>
          <a:prstGeom prst="parallelogram">
            <a:avLst>
              <a:gd name="adj" fmla="val 107852"/>
            </a:avLst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cxnSp>
        <p:nvCxnSpPr>
          <p:cNvPr id="37" name="Straight Connector 36"/>
          <p:cNvCxnSpPr/>
          <p:nvPr/>
        </p:nvCxnSpPr>
        <p:spPr>
          <a:xfrm>
            <a:off x="5422900" y="5527675"/>
            <a:ext cx="2159000" cy="1588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7567613" y="4953000"/>
            <a:ext cx="604837" cy="590550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V="1">
            <a:off x="5400675" y="4948238"/>
            <a:ext cx="2733675" cy="576262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6526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7" dur="80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" dur="80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80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110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0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8AAB25-DF07-42F0-9138-3CDBEAF21B40}" type="datetime5">
              <a:rPr lang="en-GB"/>
              <a:pPr>
                <a:defRPr/>
              </a:pPr>
              <a:t>16-Jul-16</a:t>
            </a:fld>
            <a:endParaRPr lang="en-GB"/>
          </a:p>
        </p:txBody>
      </p:sp>
      <p:sp>
        <p:nvSpPr>
          <p:cNvPr id="1105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38213" y="590550"/>
            <a:ext cx="6762750" cy="677863"/>
          </a:xfrm>
        </p:spPr>
        <p:txBody>
          <a:bodyPr/>
          <a:lstStyle/>
          <a:p>
            <a:pPr algn="ctr" eaLnBrk="1" hangingPunct="1">
              <a:defRPr/>
            </a:pPr>
            <a:r>
              <a:rPr lang="en-GB" sz="3600" smtClean="0">
                <a:latin typeface="Comic Sans MS" pitchFamily="66" charset="0"/>
              </a:rPr>
              <a:t>Solving Real-Life Problems</a:t>
            </a:r>
          </a:p>
        </p:txBody>
      </p:sp>
      <p:sp>
        <p:nvSpPr>
          <p:cNvPr id="18441" name="Rectangle 3"/>
          <p:cNvSpPr>
            <a:spLocks noChangeArrowheads="1"/>
          </p:cNvSpPr>
          <p:nvPr/>
        </p:nvSpPr>
        <p:spPr bwMode="auto">
          <a:xfrm>
            <a:off x="2133600" y="-1604963"/>
            <a:ext cx="8128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8442" name="Rectangle 9"/>
          <p:cNvSpPr>
            <a:spLocks noChangeArrowheads="1"/>
          </p:cNvSpPr>
          <p:nvPr/>
        </p:nvSpPr>
        <p:spPr bwMode="auto">
          <a:xfrm>
            <a:off x="-371400" y="1567081"/>
            <a:ext cx="95154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indent="457200"/>
            <a:r>
              <a:rPr lang="en-GB" sz="3200" dirty="0"/>
              <a:t>Problem : Find the diagonal length of the cuboid AG.</a:t>
            </a:r>
          </a:p>
        </p:txBody>
      </p:sp>
      <p:graphicFrame>
        <p:nvGraphicFramePr>
          <p:cNvPr id="110602" name="Object 10"/>
          <p:cNvGraphicFramePr>
            <a:graphicFrameLocks noChangeAspect="1"/>
          </p:cNvGraphicFramePr>
          <p:nvPr/>
        </p:nvGraphicFramePr>
        <p:xfrm>
          <a:off x="1100138" y="3082925"/>
          <a:ext cx="345757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1" name="Equation" r:id="rId3" imgW="1536480" imgH="228600" progId="Equation.DSMT4">
                  <p:embed/>
                </p:oleObj>
              </mc:Choice>
              <mc:Fallback>
                <p:oleObj name="Equation" r:id="rId3" imgW="1536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0138" y="3082925"/>
                        <a:ext cx="3457575" cy="5080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3" name="Object 11"/>
          <p:cNvGraphicFramePr>
            <a:graphicFrameLocks noChangeAspect="1"/>
          </p:cNvGraphicFramePr>
          <p:nvPr/>
        </p:nvGraphicFramePr>
        <p:xfrm>
          <a:off x="1100138" y="3632200"/>
          <a:ext cx="2514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2" name="Equation" r:id="rId5" imgW="1117440" imgH="228600" progId="Equation.DSMT4">
                  <p:embed/>
                </p:oleObj>
              </mc:Choice>
              <mc:Fallback>
                <p:oleObj name="Equation" r:id="rId5" imgW="11174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0138" y="3632200"/>
                        <a:ext cx="2514600" cy="5080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5" name="Object 13"/>
          <p:cNvGraphicFramePr>
            <a:graphicFrameLocks noChangeAspect="1"/>
          </p:cNvGraphicFramePr>
          <p:nvPr/>
        </p:nvGraphicFramePr>
        <p:xfrm>
          <a:off x="1100138" y="4179888"/>
          <a:ext cx="235426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3" name="Equation" r:id="rId7" imgW="1168200" imgH="228600" progId="Equation.DSMT4">
                  <p:embed/>
                </p:oleObj>
              </mc:Choice>
              <mc:Fallback>
                <p:oleObj name="Equation" r:id="rId7" imgW="1168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0138" y="4179888"/>
                        <a:ext cx="2354262" cy="48895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6" name="Object 14"/>
          <p:cNvGraphicFramePr>
            <a:graphicFrameLocks noChangeAspect="1"/>
          </p:cNvGraphicFramePr>
          <p:nvPr/>
        </p:nvGraphicFramePr>
        <p:xfrm>
          <a:off x="1100138" y="4710113"/>
          <a:ext cx="1949450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4" name="Equation" r:id="rId9" imgW="965160" imgH="241200" progId="Equation.DSMT4">
                  <p:embed/>
                </p:oleObj>
              </mc:Choice>
              <mc:Fallback>
                <p:oleObj name="Equation" r:id="rId9" imgW="9651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0138" y="4710113"/>
                        <a:ext cx="1949450" cy="522287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445" name="Picture 25" descr="Office Objects 057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6938" y="238125"/>
            <a:ext cx="1444625" cy="146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46" name="TextBox 39"/>
          <p:cNvSpPr txBox="1">
            <a:spLocks noChangeArrowheads="1"/>
          </p:cNvSpPr>
          <p:nvPr/>
        </p:nvSpPr>
        <p:spPr bwMode="auto">
          <a:xfrm>
            <a:off x="1066800" y="2552700"/>
            <a:ext cx="20050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sz="2400"/>
              <a:t>Now find AG</a:t>
            </a:r>
          </a:p>
        </p:txBody>
      </p:sp>
      <p:graphicFrame>
        <p:nvGraphicFramePr>
          <p:cNvPr id="2" name="Object 6"/>
          <p:cNvGraphicFramePr>
            <a:graphicFrameLocks noChangeAspect="1"/>
          </p:cNvGraphicFramePr>
          <p:nvPr/>
        </p:nvGraphicFramePr>
        <p:xfrm>
          <a:off x="1100138" y="5273675"/>
          <a:ext cx="3532187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5" name="Equation" r:id="rId12" imgW="1752480" imgH="203040" progId="Equation.DSMT4">
                  <p:embed/>
                </p:oleObj>
              </mc:Choice>
              <mc:Fallback>
                <p:oleObj name="Equation" r:id="rId12" imgW="1752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0138" y="5273675"/>
                        <a:ext cx="3532187" cy="436563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5400">
                        <a:solidFill>
                          <a:srgbClr val="1C1C1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Parallelogram 36"/>
          <p:cNvSpPr/>
          <p:nvPr/>
        </p:nvSpPr>
        <p:spPr>
          <a:xfrm>
            <a:off x="5422900" y="4965700"/>
            <a:ext cx="2743200" cy="558800"/>
          </a:xfrm>
          <a:prstGeom prst="parallelogram">
            <a:avLst>
              <a:gd name="adj" fmla="val 104546"/>
            </a:avLst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8" name="Freeform 37"/>
          <p:cNvSpPr/>
          <p:nvPr/>
        </p:nvSpPr>
        <p:spPr>
          <a:xfrm>
            <a:off x="7951788" y="4738688"/>
            <a:ext cx="204787" cy="238125"/>
          </a:xfrm>
          <a:custGeom>
            <a:avLst/>
            <a:gdLst>
              <a:gd name="connsiteX0" fmla="*/ 145041 w 162661"/>
              <a:gd name="connsiteY0" fmla="*/ 0 h 162030"/>
              <a:gd name="connsiteX1" fmla="*/ 11691 w 162661"/>
              <a:gd name="connsiteY1" fmla="*/ 33337 h 162030"/>
              <a:gd name="connsiteX2" fmla="*/ 16453 w 162661"/>
              <a:gd name="connsiteY2" fmla="*/ 147637 h 162030"/>
              <a:gd name="connsiteX3" fmla="*/ 64078 w 162661"/>
              <a:gd name="connsiteY3" fmla="*/ 142875 h 162030"/>
              <a:gd name="connsiteX4" fmla="*/ 92653 w 162661"/>
              <a:gd name="connsiteY4" fmla="*/ 133350 h 162030"/>
              <a:gd name="connsiteX5" fmla="*/ 106941 w 162661"/>
              <a:gd name="connsiteY5" fmla="*/ 128587 h 162030"/>
              <a:gd name="connsiteX6" fmla="*/ 140278 w 162661"/>
              <a:gd name="connsiteY6" fmla="*/ 128587 h 162030"/>
              <a:gd name="connsiteX7" fmla="*/ 140278 w 162661"/>
              <a:gd name="connsiteY7" fmla="*/ 128587 h 162030"/>
              <a:gd name="connsiteX8" fmla="*/ 145041 w 162661"/>
              <a:gd name="connsiteY8" fmla="*/ 0 h 162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2661" h="162030">
                <a:moveTo>
                  <a:pt x="145041" y="0"/>
                </a:moveTo>
                <a:lnTo>
                  <a:pt x="11691" y="33337"/>
                </a:lnTo>
                <a:cubicBezTo>
                  <a:pt x="13278" y="71437"/>
                  <a:pt x="0" y="113236"/>
                  <a:pt x="16453" y="147637"/>
                </a:cubicBezTo>
                <a:cubicBezTo>
                  <a:pt x="23336" y="162030"/>
                  <a:pt x="48397" y="145815"/>
                  <a:pt x="64078" y="142875"/>
                </a:cubicBezTo>
                <a:cubicBezTo>
                  <a:pt x="73946" y="141025"/>
                  <a:pt x="83128" y="136525"/>
                  <a:pt x="92653" y="133350"/>
                </a:cubicBezTo>
                <a:cubicBezTo>
                  <a:pt x="97416" y="131762"/>
                  <a:pt x="101951" y="129141"/>
                  <a:pt x="106941" y="128587"/>
                </a:cubicBezTo>
                <a:cubicBezTo>
                  <a:pt x="153331" y="123433"/>
                  <a:pt x="162661" y="117397"/>
                  <a:pt x="140278" y="128587"/>
                </a:cubicBezTo>
                <a:lnTo>
                  <a:pt x="140278" y="128587"/>
                </a:lnTo>
                <a:lnTo>
                  <a:pt x="145041" y="0"/>
                </a:lnTo>
                <a:close/>
              </a:path>
            </a:pathLst>
          </a:custGeom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9" name="Freeform 38"/>
          <p:cNvSpPr/>
          <p:nvPr/>
        </p:nvSpPr>
        <p:spPr>
          <a:xfrm>
            <a:off x="7356475" y="5348288"/>
            <a:ext cx="239713" cy="176212"/>
          </a:xfrm>
          <a:custGeom>
            <a:avLst/>
            <a:gdLst>
              <a:gd name="connsiteX0" fmla="*/ 219075 w 219075"/>
              <a:gd name="connsiteY0" fmla="*/ 4762 h 95250"/>
              <a:gd name="connsiteX1" fmla="*/ 52387 w 219075"/>
              <a:gd name="connsiteY1" fmla="*/ 0 h 95250"/>
              <a:gd name="connsiteX2" fmla="*/ 0 w 219075"/>
              <a:gd name="connsiteY2" fmla="*/ 95250 h 95250"/>
              <a:gd name="connsiteX3" fmla="*/ 161925 w 219075"/>
              <a:gd name="connsiteY3" fmla="*/ 95250 h 95250"/>
              <a:gd name="connsiteX4" fmla="*/ 219075 w 219075"/>
              <a:gd name="connsiteY4" fmla="*/ 4762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075" h="95250">
                <a:moveTo>
                  <a:pt x="219075" y="4762"/>
                </a:moveTo>
                <a:lnTo>
                  <a:pt x="52387" y="0"/>
                </a:lnTo>
                <a:lnTo>
                  <a:pt x="0" y="95250"/>
                </a:lnTo>
                <a:lnTo>
                  <a:pt x="161925" y="95250"/>
                </a:lnTo>
                <a:lnTo>
                  <a:pt x="219075" y="4762"/>
                </a:lnTo>
                <a:close/>
              </a:path>
            </a:pathLst>
          </a:custGeom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cxnSp>
        <p:nvCxnSpPr>
          <p:cNvPr id="40" name="Straight Connector 39"/>
          <p:cNvCxnSpPr/>
          <p:nvPr/>
        </p:nvCxnSpPr>
        <p:spPr>
          <a:xfrm rot="16200000" flipV="1">
            <a:off x="5149850" y="4095750"/>
            <a:ext cx="1752600" cy="12700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52" name="TextBox 32"/>
          <p:cNvSpPr txBox="1">
            <a:spLocks noChangeArrowheads="1"/>
          </p:cNvSpPr>
          <p:nvPr/>
        </p:nvSpPr>
        <p:spPr bwMode="auto">
          <a:xfrm>
            <a:off x="5003800" y="5397500"/>
            <a:ext cx="447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A</a:t>
            </a:r>
          </a:p>
        </p:txBody>
      </p:sp>
      <p:sp>
        <p:nvSpPr>
          <p:cNvPr id="18453" name="TextBox 33"/>
          <p:cNvSpPr txBox="1">
            <a:spLocks noChangeArrowheads="1"/>
          </p:cNvSpPr>
          <p:nvPr/>
        </p:nvSpPr>
        <p:spPr bwMode="auto">
          <a:xfrm>
            <a:off x="4978400" y="3543300"/>
            <a:ext cx="4111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B</a:t>
            </a:r>
          </a:p>
        </p:txBody>
      </p:sp>
      <p:sp>
        <p:nvSpPr>
          <p:cNvPr id="18454" name="TextBox 34"/>
          <p:cNvSpPr txBox="1">
            <a:spLocks noChangeArrowheads="1"/>
          </p:cNvSpPr>
          <p:nvPr/>
        </p:nvSpPr>
        <p:spPr bwMode="auto">
          <a:xfrm>
            <a:off x="7569200" y="3644900"/>
            <a:ext cx="401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C</a:t>
            </a:r>
          </a:p>
        </p:txBody>
      </p:sp>
      <p:sp>
        <p:nvSpPr>
          <p:cNvPr id="18455" name="TextBox 35"/>
          <p:cNvSpPr txBox="1">
            <a:spLocks noChangeArrowheads="1"/>
          </p:cNvSpPr>
          <p:nvPr/>
        </p:nvSpPr>
        <p:spPr bwMode="auto">
          <a:xfrm>
            <a:off x="7531100" y="5435600"/>
            <a:ext cx="444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D</a:t>
            </a:r>
          </a:p>
        </p:txBody>
      </p:sp>
      <p:sp>
        <p:nvSpPr>
          <p:cNvPr id="18456" name="TextBox 32"/>
          <p:cNvSpPr txBox="1">
            <a:spLocks noChangeArrowheads="1"/>
          </p:cNvSpPr>
          <p:nvPr/>
        </p:nvSpPr>
        <p:spPr bwMode="auto">
          <a:xfrm>
            <a:off x="5600700" y="4584700"/>
            <a:ext cx="4095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E</a:t>
            </a:r>
          </a:p>
        </p:txBody>
      </p:sp>
      <p:sp>
        <p:nvSpPr>
          <p:cNvPr id="18457" name="TextBox 33"/>
          <p:cNvSpPr txBox="1">
            <a:spLocks noChangeArrowheads="1"/>
          </p:cNvSpPr>
          <p:nvPr/>
        </p:nvSpPr>
        <p:spPr bwMode="auto">
          <a:xfrm>
            <a:off x="5600700" y="2832100"/>
            <a:ext cx="403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F</a:t>
            </a:r>
          </a:p>
        </p:txBody>
      </p:sp>
      <p:sp>
        <p:nvSpPr>
          <p:cNvPr id="18458" name="TextBox 34"/>
          <p:cNvSpPr txBox="1">
            <a:spLocks noChangeArrowheads="1"/>
          </p:cNvSpPr>
          <p:nvPr/>
        </p:nvSpPr>
        <p:spPr bwMode="auto">
          <a:xfrm>
            <a:off x="8166100" y="2832100"/>
            <a:ext cx="428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G</a:t>
            </a:r>
          </a:p>
        </p:txBody>
      </p:sp>
      <p:sp>
        <p:nvSpPr>
          <p:cNvPr id="18459" name="TextBox 35"/>
          <p:cNvSpPr txBox="1">
            <a:spLocks noChangeArrowheads="1"/>
          </p:cNvSpPr>
          <p:nvPr/>
        </p:nvSpPr>
        <p:spPr bwMode="auto">
          <a:xfrm>
            <a:off x="8177213" y="4664075"/>
            <a:ext cx="460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H</a:t>
            </a:r>
          </a:p>
        </p:txBody>
      </p:sp>
      <p:sp>
        <p:nvSpPr>
          <p:cNvPr id="18460" name="TextBox 36"/>
          <p:cNvSpPr txBox="1">
            <a:spLocks noChangeArrowheads="1"/>
          </p:cNvSpPr>
          <p:nvPr/>
        </p:nvSpPr>
        <p:spPr bwMode="auto">
          <a:xfrm>
            <a:off x="7937500" y="5118100"/>
            <a:ext cx="866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6cm</a:t>
            </a:r>
          </a:p>
        </p:txBody>
      </p:sp>
      <p:sp>
        <p:nvSpPr>
          <p:cNvPr id="18461" name="TextBox 37"/>
          <p:cNvSpPr txBox="1">
            <a:spLocks noChangeArrowheads="1"/>
          </p:cNvSpPr>
          <p:nvPr/>
        </p:nvSpPr>
        <p:spPr bwMode="auto">
          <a:xfrm>
            <a:off x="6299200" y="5562600"/>
            <a:ext cx="866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8cm</a:t>
            </a:r>
          </a:p>
        </p:txBody>
      </p:sp>
      <p:sp>
        <p:nvSpPr>
          <p:cNvPr id="18462" name="TextBox 37"/>
          <p:cNvSpPr txBox="1">
            <a:spLocks noChangeArrowheads="1"/>
          </p:cNvSpPr>
          <p:nvPr/>
        </p:nvSpPr>
        <p:spPr bwMode="auto">
          <a:xfrm>
            <a:off x="8243888" y="3759200"/>
            <a:ext cx="8683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/>
              <a:t>7cm</a:t>
            </a:r>
          </a:p>
        </p:txBody>
      </p:sp>
      <p:sp>
        <p:nvSpPr>
          <p:cNvPr id="18463" name="TextBox 37"/>
          <p:cNvSpPr txBox="1">
            <a:spLocks noChangeArrowheads="1"/>
          </p:cNvSpPr>
          <p:nvPr/>
        </p:nvSpPr>
        <p:spPr bwMode="auto">
          <a:xfrm rot="-682468">
            <a:off x="6680200" y="5118100"/>
            <a:ext cx="787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sz="2000"/>
              <a:t>10cm</a:t>
            </a:r>
          </a:p>
        </p:txBody>
      </p:sp>
      <p:cxnSp>
        <p:nvCxnSpPr>
          <p:cNvPr id="53" name="Straight Connector 52"/>
          <p:cNvCxnSpPr/>
          <p:nvPr/>
        </p:nvCxnSpPr>
        <p:spPr>
          <a:xfrm rot="5400000">
            <a:off x="7261226" y="4079875"/>
            <a:ext cx="1809750" cy="317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V="1">
            <a:off x="5448300" y="3225800"/>
            <a:ext cx="2717800" cy="2260600"/>
          </a:xfrm>
          <a:prstGeom prst="line">
            <a:avLst/>
          </a:prstGeom>
          <a:ln w="5715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V="1">
            <a:off x="5410200" y="4953000"/>
            <a:ext cx="2743200" cy="558800"/>
          </a:xfrm>
          <a:prstGeom prst="line">
            <a:avLst/>
          </a:prstGeom>
          <a:ln w="5715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5435600" y="3771900"/>
            <a:ext cx="2146300" cy="1765300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62" name="Parallelogram 61"/>
          <p:cNvSpPr/>
          <p:nvPr/>
        </p:nvSpPr>
        <p:spPr>
          <a:xfrm>
            <a:off x="5422900" y="3213100"/>
            <a:ext cx="2743200" cy="558800"/>
          </a:xfrm>
          <a:prstGeom prst="parallelogram">
            <a:avLst>
              <a:gd name="adj" fmla="val 101421"/>
            </a:avLst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cxnSp>
        <p:nvCxnSpPr>
          <p:cNvPr id="63" name="Straight Connector 62"/>
          <p:cNvCxnSpPr/>
          <p:nvPr/>
        </p:nvCxnSpPr>
        <p:spPr>
          <a:xfrm>
            <a:off x="5422900" y="5527675"/>
            <a:ext cx="2159000" cy="1588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V="1">
            <a:off x="7567613" y="4953000"/>
            <a:ext cx="604837" cy="590550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V="1">
            <a:off x="5400675" y="4948238"/>
            <a:ext cx="2733675" cy="576262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V="1">
            <a:off x="5456238" y="4924425"/>
            <a:ext cx="2744787" cy="595313"/>
          </a:xfrm>
          <a:prstGeom prst="line">
            <a:avLst/>
          </a:prstGeom>
          <a:ln w="762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 flipV="1">
            <a:off x="5424488" y="3227388"/>
            <a:ext cx="2749550" cy="2287587"/>
          </a:xfrm>
          <a:prstGeom prst="line">
            <a:avLst/>
          </a:prstGeom>
          <a:ln w="762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 rot="5400000" flipH="1" flipV="1">
            <a:off x="7295357" y="4080669"/>
            <a:ext cx="1758950" cy="1587"/>
          </a:xfrm>
          <a:prstGeom prst="line">
            <a:avLst/>
          </a:prstGeom>
          <a:ln w="762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3020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110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0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2178</TotalTime>
  <Words>457</Words>
  <Application>Microsoft Office PowerPoint</Application>
  <PresentationFormat>On-screen Show (4:3)</PresentationFormat>
  <Paragraphs>159</Paragraphs>
  <Slides>22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Office Theme</vt:lpstr>
      <vt:lpstr>Equation</vt:lpstr>
      <vt:lpstr>PowerPoint Presentation</vt:lpstr>
      <vt:lpstr>What is a right triangle?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Pythagoras’s Theorem</vt:lpstr>
      <vt:lpstr>PowerPoint Presentation</vt:lpstr>
      <vt:lpstr>Examples</vt:lpstr>
      <vt:lpstr>Examples</vt:lpstr>
      <vt:lpstr>Questions</vt:lpstr>
      <vt:lpstr>Questions</vt:lpstr>
      <vt:lpstr>Questions</vt:lpstr>
      <vt:lpstr>PowerPoint Presentation</vt:lpstr>
      <vt:lpstr>Solving Real-Life Problems</vt:lpstr>
      <vt:lpstr>Solving Real-Life Problems</vt:lpstr>
      <vt:lpstr>Solving Real-Life Problems</vt:lpstr>
      <vt:lpstr>Solving Real-Life Problems</vt:lpstr>
      <vt:lpstr>Solving Real-Life Problems</vt:lpstr>
      <vt:lpstr>Solving Real-Life Problems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FRASER-JONES Laura</cp:lastModifiedBy>
  <cp:revision>99</cp:revision>
  <dcterms:created xsi:type="dcterms:W3CDTF">2014-05-14T02:58:57Z</dcterms:created>
  <dcterms:modified xsi:type="dcterms:W3CDTF">2016-07-16T02:35:19Z</dcterms:modified>
</cp:coreProperties>
</file>
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259" r:id="rId3"/>
    <p:sldId id="258" r:id="rId4"/>
    <p:sldId id="331" r:id="rId5"/>
    <p:sldId id="332" r:id="rId6"/>
    <p:sldId id="333" r:id="rId7"/>
    <p:sldId id="336" r:id="rId8"/>
    <p:sldId id="329" r:id="rId9"/>
    <p:sldId id="334" r:id="rId10"/>
    <p:sldId id="337" r:id="rId11"/>
    <p:sldId id="338" r:id="rId12"/>
    <p:sldId id="335" r:id="rId13"/>
    <p:sldId id="292" r:id="rId14"/>
    <p:sldId id="291" r:id="rId15"/>
  </p:sldIdLst>
  <p:sldSz cx="9144000" cy="6858000" type="screen4x3"/>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2895" autoAdjust="0"/>
  </p:normalViewPr>
  <p:slideViewPr>
    <p:cSldViewPr>
      <p:cViewPr>
        <p:scale>
          <a:sx n="75" d="100"/>
          <a:sy n="75" d="100"/>
        </p:scale>
        <p:origin x="-804" y="-3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657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48645" y="0"/>
            <a:ext cx="2944283" cy="496570"/>
          </a:xfrm>
          <a:prstGeom prst="rect">
            <a:avLst/>
          </a:prstGeom>
        </p:spPr>
        <p:txBody>
          <a:bodyPr vert="horz" lIns="91440" tIns="45720" rIns="91440" bIns="45720" rtlCol="0"/>
          <a:lstStyle>
            <a:lvl1pPr algn="r">
              <a:defRPr sz="1200"/>
            </a:lvl1pPr>
          </a:lstStyle>
          <a:p>
            <a:fld id="{D75AD73A-AE13-444E-A6A8-7967ABAB8119}" type="datetimeFigureOut">
              <a:rPr lang="en-AU" smtClean="0"/>
              <a:t>20/06/2016</a:t>
            </a:fld>
            <a:endParaRPr lang="en-AU"/>
          </a:p>
        </p:txBody>
      </p:sp>
      <p:sp>
        <p:nvSpPr>
          <p:cNvPr id="4" name="Slide Image Placeholder 3"/>
          <p:cNvSpPr>
            <a:spLocks noGrp="1" noRot="1" noChangeAspect="1"/>
          </p:cNvSpPr>
          <p:nvPr>
            <p:ph type="sldImg" idx="2"/>
          </p:nvPr>
        </p:nvSpPr>
        <p:spPr>
          <a:xfrm>
            <a:off x="914400" y="744538"/>
            <a:ext cx="4965700" cy="37242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450" y="4717415"/>
            <a:ext cx="5435600" cy="446913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9433106"/>
            <a:ext cx="2944283" cy="49657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48645" y="9433106"/>
            <a:ext cx="2944283" cy="49657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t>5</a:t>
            </a:fld>
            <a:endParaRPr lang="en-AU"/>
          </a:p>
        </p:txBody>
      </p:sp>
    </p:spTree>
    <p:extLst>
      <p:ext uri="{BB962C8B-B14F-4D97-AF65-F5344CB8AC3E}">
        <p14:creationId xmlns:p14="http://schemas.microsoft.com/office/powerpoint/2010/main" val="3266457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t>6</a:t>
            </a:fld>
            <a:endParaRPr lang="en-AU"/>
          </a:p>
        </p:txBody>
      </p:sp>
    </p:spTree>
    <p:extLst>
      <p:ext uri="{BB962C8B-B14F-4D97-AF65-F5344CB8AC3E}">
        <p14:creationId xmlns:p14="http://schemas.microsoft.com/office/powerpoint/2010/main" val="3266457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t>7</a:t>
            </a:fld>
            <a:endParaRPr lang="en-AU"/>
          </a:p>
        </p:txBody>
      </p:sp>
    </p:spTree>
    <p:extLst>
      <p:ext uri="{BB962C8B-B14F-4D97-AF65-F5344CB8AC3E}">
        <p14:creationId xmlns:p14="http://schemas.microsoft.com/office/powerpoint/2010/main" val="3266457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t>9</a:t>
            </a:fld>
            <a:endParaRPr lang="en-AU"/>
          </a:p>
        </p:txBody>
      </p:sp>
    </p:spTree>
    <p:extLst>
      <p:ext uri="{BB962C8B-B14F-4D97-AF65-F5344CB8AC3E}">
        <p14:creationId xmlns:p14="http://schemas.microsoft.com/office/powerpoint/2010/main" val="3266457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t>10</a:t>
            </a:fld>
            <a:endParaRPr lang="en-AU"/>
          </a:p>
        </p:txBody>
      </p:sp>
    </p:spTree>
    <p:extLst>
      <p:ext uri="{BB962C8B-B14F-4D97-AF65-F5344CB8AC3E}">
        <p14:creationId xmlns:p14="http://schemas.microsoft.com/office/powerpoint/2010/main" val="3266457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t>11</a:t>
            </a:fld>
            <a:endParaRPr lang="en-AU"/>
          </a:p>
        </p:txBody>
      </p:sp>
    </p:spTree>
    <p:extLst>
      <p:ext uri="{BB962C8B-B14F-4D97-AF65-F5344CB8AC3E}">
        <p14:creationId xmlns:p14="http://schemas.microsoft.com/office/powerpoint/2010/main" val="3266457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20/06/2016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20/06/2016</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mathspace.co/chapters/chapter/62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32656"/>
            <a:ext cx="7772400" cy="1470025"/>
          </a:xfrm>
        </p:spPr>
        <p:txBody>
          <a:bodyPr/>
          <a:lstStyle/>
          <a:p>
            <a:r>
              <a:rPr lang="en-AU" dirty="0"/>
              <a:t>My Algebra </a:t>
            </a:r>
            <a:r>
              <a:rPr lang="en-AU" dirty="0" smtClean="0"/>
              <a:t>– </a:t>
            </a:r>
            <a:r>
              <a:rPr lang="en-AU" dirty="0" smtClean="0"/>
              <a:t>Polynomials Interactive </a:t>
            </a:r>
            <a:r>
              <a:rPr lang="en-AU" dirty="0" smtClean="0"/>
              <a:t>Notebook</a:t>
            </a:r>
            <a:endParaRPr lang="en-AU" dirty="0"/>
          </a:p>
        </p:txBody>
      </p:sp>
      <p:sp>
        <p:nvSpPr>
          <p:cNvPr id="3" name="Subtitle 2"/>
          <p:cNvSpPr>
            <a:spLocks noGrp="1"/>
          </p:cNvSpPr>
          <p:nvPr>
            <p:ph type="subTitle" idx="1"/>
          </p:nvPr>
        </p:nvSpPr>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Term 2 Semester 1</a:t>
            </a:r>
          </a:p>
        </p:txBody>
      </p:sp>
      <mc:AlternateContent xmlns:mc="http://schemas.openxmlformats.org/markup-compatibility/2006" xmlns:a14="http://schemas.microsoft.com/office/drawing/2010/main">
        <mc:Choice Requires="a14">
          <p:sp>
            <p:nvSpPr>
              <p:cNvPr id="4" name="TextBox 3"/>
              <p:cNvSpPr txBox="1"/>
              <p:nvPr/>
            </p:nvSpPr>
            <p:spPr>
              <a:xfrm>
                <a:off x="611560" y="1354967"/>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smtClean="0">
                          <a:solidFill>
                            <a:srgbClr val="7030A0"/>
                          </a:solidFill>
                          <a:latin typeface="Cambria Math"/>
                          <a:ea typeface="Cambria Math"/>
                        </a:rPr>
                        <m:t>×</m:t>
                      </m:r>
                    </m:oMath>
                  </m:oMathPara>
                </a14:m>
                <a:endParaRPr lang="en-AU" sz="8800" dirty="0">
                  <a:solidFill>
                    <a:srgbClr val="7030A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11560" y="1354967"/>
                <a:ext cx="1368152" cy="1446550"/>
              </a:xfrm>
              <a:prstGeom prst="rect">
                <a:avLst/>
              </a:prstGeom>
              <a:blipFill rotWithShape="1">
                <a:blip r:embed="rId2"/>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23728" y="1884135"/>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smtClean="0">
                          <a:solidFill>
                            <a:srgbClr val="00FF00"/>
                          </a:solidFill>
                          <a:latin typeface="Cambria Math"/>
                          <a:ea typeface="Cambria Math"/>
                        </a:rPr>
                        <m:t>÷</m:t>
                      </m:r>
                    </m:oMath>
                  </m:oMathPara>
                </a14:m>
                <a:endParaRPr lang="en-AU" sz="8800" dirty="0">
                  <a:solidFill>
                    <a:srgbClr val="00FF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123728" y="1884135"/>
                <a:ext cx="1368152" cy="1446550"/>
              </a:xfrm>
              <a:prstGeom prst="rect">
                <a:avLst/>
              </a:prstGeom>
              <a:blipFill rotWithShape="1">
                <a:blip r:embed="rId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307644" y="3572848"/>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FF0000"/>
                          </a:solidFill>
                          <a:latin typeface="Cambria Math"/>
                        </a:rPr>
                        <m:t>7</m:t>
                      </m:r>
                    </m:oMath>
                  </m:oMathPara>
                </a14:m>
                <a:endParaRPr lang="en-AU" sz="88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307644" y="3572848"/>
                <a:ext cx="1368152" cy="1446550"/>
              </a:xfrm>
              <a:prstGeom prst="rect">
                <a:avLst/>
              </a:prstGeom>
              <a:blipFill rotWithShape="1">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660232" y="270892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00B050"/>
                          </a:solidFill>
                          <a:latin typeface="Cambria Math"/>
                        </a:rPr>
                        <m:t>−</m:t>
                      </m:r>
                    </m:oMath>
                  </m:oMathPara>
                </a14:m>
                <a:endParaRPr lang="en-AU" sz="8800" dirty="0">
                  <a:solidFill>
                    <a:srgbClr val="00B05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6660232" y="2708920"/>
                <a:ext cx="1368152" cy="1446550"/>
              </a:xfrm>
              <a:prstGeom prst="rect">
                <a:avLst/>
              </a:prstGeom>
              <a:blipFill rotWithShape="1">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307644" y="1902233"/>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0070C0"/>
                          </a:solidFill>
                          <a:latin typeface="Cambria Math"/>
                        </a:rPr>
                        <m:t>+</m:t>
                      </m:r>
                    </m:oMath>
                  </m:oMathPara>
                </a14:m>
                <a:endParaRPr lang="en-AU" sz="8800" dirty="0">
                  <a:solidFill>
                    <a:srgbClr val="0070C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307644" y="1902233"/>
                <a:ext cx="1368152" cy="1446550"/>
              </a:xfrm>
              <a:prstGeom prst="rect">
                <a:avLst/>
              </a:prstGeom>
              <a:blipFill rotWithShape="1">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236296" y="1354967"/>
                <a:ext cx="1368152" cy="19938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6600" i="1" smtClean="0">
                              <a:solidFill>
                                <a:srgbClr val="FFFF00"/>
                              </a:solidFill>
                              <a:latin typeface="Cambria Math"/>
                            </a:rPr>
                          </m:ctrlPr>
                        </m:fPr>
                        <m:num>
                          <m:r>
                            <a:rPr lang="en-AU" sz="6600" b="0" i="1" smtClean="0">
                              <a:solidFill>
                                <a:srgbClr val="FFFF00"/>
                              </a:solidFill>
                              <a:latin typeface="Cambria Math"/>
                            </a:rPr>
                            <m:t>1</m:t>
                          </m:r>
                        </m:num>
                        <m:den>
                          <m:r>
                            <a:rPr lang="en-AU" sz="6600" b="0" i="1" smtClean="0">
                              <a:solidFill>
                                <a:srgbClr val="FFFF00"/>
                              </a:solidFill>
                              <a:latin typeface="Cambria Math"/>
                            </a:rPr>
                            <m:t>2</m:t>
                          </m:r>
                        </m:den>
                      </m:f>
                    </m:oMath>
                  </m:oMathPara>
                </a14:m>
                <a:endParaRPr lang="en-AU" sz="6600" dirty="0"/>
              </a:p>
            </p:txBody>
          </p:sp>
        </mc:Choice>
        <mc:Fallback xmlns="">
          <p:sp>
            <p:nvSpPr>
              <p:cNvPr id="10" name="TextBox 9"/>
              <p:cNvSpPr txBox="1">
                <a:spLocks noRot="1" noChangeAspect="1" noMove="1" noResize="1" noEditPoints="1" noAdjustHandles="1" noChangeArrowheads="1" noChangeShapeType="1" noTextEdit="1"/>
              </p:cNvSpPr>
              <p:nvPr/>
            </p:nvSpPr>
            <p:spPr>
              <a:xfrm>
                <a:off x="7236296" y="1354967"/>
                <a:ext cx="1368152" cy="1993816"/>
              </a:xfrm>
              <a:prstGeom prst="rect">
                <a:avLst/>
              </a:prstGeom>
              <a:blipFill rotWithShape="1">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7504" y="3068960"/>
                <a:ext cx="1368152" cy="19938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6600" i="1" smtClean="0">
                              <a:solidFill>
                                <a:srgbClr val="C00000"/>
                              </a:solidFill>
                              <a:latin typeface="Cambria Math"/>
                            </a:rPr>
                          </m:ctrlPr>
                        </m:fPr>
                        <m:num>
                          <m:r>
                            <a:rPr lang="en-AU" sz="6600" b="0" i="1" smtClean="0">
                              <a:solidFill>
                                <a:srgbClr val="C00000"/>
                              </a:solidFill>
                              <a:latin typeface="Cambria Math"/>
                            </a:rPr>
                            <m:t>3</m:t>
                          </m:r>
                        </m:num>
                        <m:den>
                          <m:r>
                            <a:rPr lang="en-AU" sz="6600" b="0" i="1" smtClean="0">
                              <a:solidFill>
                                <a:srgbClr val="C00000"/>
                              </a:solidFill>
                              <a:latin typeface="Cambria Math"/>
                            </a:rPr>
                            <m:t>5</m:t>
                          </m:r>
                        </m:den>
                      </m:f>
                    </m:oMath>
                  </m:oMathPara>
                </a14:m>
                <a:endParaRPr lang="en-AU" sz="6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07504" y="3068960"/>
                <a:ext cx="1368152" cy="1993816"/>
              </a:xfrm>
              <a:prstGeom prst="rect">
                <a:avLst/>
              </a:prstGeom>
              <a:blipFill rotWithShape="1">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344308" y="390981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6600" i="1" smtClean="0">
                              <a:solidFill>
                                <a:srgbClr val="002060"/>
                              </a:solidFill>
                              <a:latin typeface="Cambria Math"/>
                            </a:rPr>
                          </m:ctrlPr>
                        </m:sSupPr>
                        <m:e>
                          <m:r>
                            <a:rPr lang="en-AU" sz="6600" b="0" i="1" smtClean="0">
                              <a:solidFill>
                                <a:srgbClr val="002060"/>
                              </a:solidFill>
                              <a:latin typeface="Cambria Math"/>
                            </a:rPr>
                            <m:t>5</m:t>
                          </m:r>
                        </m:e>
                        <m:sup>
                          <m:r>
                            <a:rPr lang="en-AU" sz="6600" b="0" i="1" smtClean="0">
                              <a:solidFill>
                                <a:srgbClr val="002060"/>
                              </a:solidFill>
                              <a:latin typeface="Cambria Math"/>
                            </a:rPr>
                            <m:t>2</m:t>
                          </m:r>
                        </m:sup>
                      </m:sSup>
                    </m:oMath>
                  </m:oMathPara>
                </a14:m>
                <a:endParaRPr lang="en-AU" sz="6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7344308" y="3909817"/>
                <a:ext cx="1368152" cy="1107996"/>
              </a:xfrm>
              <a:prstGeom prst="rect">
                <a:avLst/>
              </a:prstGeom>
              <a:blipFill rotWithShape="1">
                <a:blip r:embed="rId9"/>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652120" y="4797152"/>
                <a:ext cx="1368152" cy="12276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AU" sz="6600" i="1" smtClean="0">
                              <a:latin typeface="Cambria Math"/>
                            </a:rPr>
                          </m:ctrlPr>
                        </m:radPr>
                        <m:deg/>
                        <m:e>
                          <m:r>
                            <a:rPr lang="en-AU" sz="6600" b="0" i="1" smtClean="0">
                              <a:latin typeface="Cambria Math"/>
                            </a:rPr>
                            <m:t>9</m:t>
                          </m:r>
                        </m:e>
                      </m:rad>
                    </m:oMath>
                  </m:oMathPara>
                </a14:m>
                <a:endParaRPr lang="en-AU" sz="6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5652120" y="4797152"/>
                <a:ext cx="1368152" cy="1227644"/>
              </a:xfrm>
              <a:prstGeom prst="rect">
                <a:avLst/>
              </a:prstGeom>
              <a:blipFill rotWithShape="1">
                <a:blip r:embed="rId10"/>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val="1515457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6</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val="22165325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2104294" cy="523220"/>
          </a:xfrm>
          <a:prstGeom prst="rect">
            <a:avLst/>
          </a:prstGeom>
          <a:noFill/>
        </p:spPr>
        <p:txBody>
          <a:bodyPr wrap="none" rtlCol="0">
            <a:spAutoFit/>
          </a:bodyPr>
          <a:lstStyle/>
          <a:p>
            <a:r>
              <a:rPr lang="en-AU" sz="2800" dirty="0"/>
              <a:t>Polynomials?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t>
            </a:r>
            <a:r>
              <a:rPr lang="en-AU" sz="2400" dirty="0" smtClean="0"/>
              <a:t>What is a Polynomial – A Function with lots of Terms! </a:t>
            </a:r>
            <a:endParaRPr lang="en-AU" sz="2400" dirty="0"/>
          </a:p>
        </p:txBody>
      </p:sp>
      <mc:AlternateContent xmlns:mc="http://schemas.openxmlformats.org/markup-compatibility/2006">
        <mc:Choice xmlns:a14="http://schemas.microsoft.com/office/drawing/2010/main" Requires="a14">
          <p:sp>
            <p:nvSpPr>
              <p:cNvPr id="3" name="Rectangle 2"/>
              <p:cNvSpPr/>
              <p:nvPr/>
            </p:nvSpPr>
            <p:spPr>
              <a:xfrm>
                <a:off x="1763688" y="1700808"/>
                <a:ext cx="6976248" cy="4916923"/>
              </a:xfrm>
              <a:prstGeom prst="rect">
                <a:avLst/>
              </a:prstGeom>
            </p:spPr>
            <p:txBody>
              <a:bodyPr wrap="square">
                <a:spAutoFit/>
              </a:bodyPr>
              <a:lstStyle/>
              <a:p>
                <a:r>
                  <a:rPr lang="en-AU" b="1" dirty="0" smtClean="0"/>
                  <a:t>What is a polynomial?</a:t>
                </a:r>
              </a:p>
              <a:p>
                <a:r>
                  <a:rPr lang="en-AU" dirty="0"/>
                  <a:t>A polynomial is a mathematical expression with many terms ("poly" means "many" and "</a:t>
                </a:r>
                <a:r>
                  <a:rPr lang="en-AU" dirty="0" err="1"/>
                  <a:t>nomial</a:t>
                </a:r>
                <a:r>
                  <a:rPr lang="en-AU" dirty="0"/>
                  <a:t>" means "names" or "terms").</a:t>
                </a:r>
              </a:p>
              <a:p>
                <a:r>
                  <a:rPr lang="en-AU" dirty="0"/>
                  <a:t>A polynomial can have any combination of operators (addition, subtraction, multiplication or division), constants, variables and exponents, but </a:t>
                </a:r>
                <a:r>
                  <a:rPr lang="en-AU" i="1" dirty="0"/>
                  <a:t>never</a:t>
                </a:r>
                <a:r>
                  <a:rPr lang="en-AU" dirty="0"/>
                  <a:t> division by a variable. Remember, this means that expressions with negative indices can never be polynomials because </a:t>
                </a:r>
                <a:r>
                  <a:rPr lang="en-AU" i="1" dirty="0" smtClean="0"/>
                  <a:t>a</a:t>
                </a:r>
                <a:r>
                  <a:rPr lang="en-AU" baseline="30000" dirty="0"/>
                  <a:t>−</a:t>
                </a:r>
                <a:r>
                  <a:rPr lang="en-AU" i="1" baseline="30000" dirty="0"/>
                  <a:t>x</a:t>
                </a:r>
                <a:r>
                  <a:rPr lang="en-AU" dirty="0"/>
                  <a:t> is the same as </a:t>
                </a:r>
                <a14:m>
                  <m:oMath xmlns:m="http://schemas.openxmlformats.org/officeDocument/2006/math">
                    <m:f>
                      <m:fPr>
                        <m:ctrlPr>
                          <a:rPr lang="en-AU" i="1" smtClean="0">
                            <a:latin typeface="Cambria Math"/>
                          </a:rPr>
                        </m:ctrlPr>
                      </m:fPr>
                      <m:num>
                        <m:r>
                          <a:rPr lang="en-AU" b="0" i="1" smtClean="0">
                            <a:latin typeface="Cambria Math"/>
                          </a:rPr>
                          <m:t>1</m:t>
                        </m:r>
                      </m:num>
                      <m:den>
                        <m:sSup>
                          <m:sSupPr>
                            <m:ctrlPr>
                              <a:rPr lang="en-AU" i="1" smtClean="0">
                                <a:latin typeface="Cambria Math"/>
                              </a:rPr>
                            </m:ctrlPr>
                          </m:sSupPr>
                          <m:e>
                            <m:r>
                              <a:rPr lang="en-AU" b="0" i="1" smtClean="0">
                                <a:latin typeface="Cambria Math"/>
                              </a:rPr>
                              <m:t>𝑎</m:t>
                            </m:r>
                          </m:e>
                          <m:sup>
                            <m:r>
                              <a:rPr lang="en-AU" b="0" i="1" smtClean="0">
                                <a:latin typeface="Cambria Math"/>
                              </a:rPr>
                              <m:t>𝑥</m:t>
                            </m:r>
                          </m:sup>
                        </m:sSup>
                      </m:den>
                    </m:f>
                  </m:oMath>
                </a14:m>
                <a:r>
                  <a:rPr lang="en-AU" dirty="0" smtClean="0"/>
                  <a:t>​ and also it can’t be </a:t>
                </a:r>
                <a14:m>
                  <m:oMath xmlns:m="http://schemas.openxmlformats.org/officeDocument/2006/math">
                    <m:sSup>
                      <m:sSupPr>
                        <m:ctrlPr>
                          <a:rPr lang="en-AU" i="1" smtClean="0">
                            <a:latin typeface="Cambria Math"/>
                          </a:rPr>
                        </m:ctrlPr>
                      </m:sSupPr>
                      <m:e>
                        <m:r>
                          <a:rPr lang="en-AU" b="0" i="1" smtClean="0">
                            <a:latin typeface="Cambria Math"/>
                          </a:rPr>
                          <m:t>𝑥</m:t>
                        </m:r>
                      </m:e>
                      <m:sup>
                        <m:f>
                          <m:fPr>
                            <m:ctrlPr>
                              <a:rPr lang="en-AU" i="1" smtClean="0">
                                <a:latin typeface="Cambria Math"/>
                              </a:rPr>
                            </m:ctrlPr>
                          </m:fPr>
                          <m:num>
                            <m:r>
                              <a:rPr lang="en-AU" b="0" i="1" smtClean="0">
                                <a:latin typeface="Cambria Math"/>
                              </a:rPr>
                              <m:t>1</m:t>
                            </m:r>
                          </m:num>
                          <m:den>
                            <m:r>
                              <a:rPr lang="en-AU" b="0" i="1" smtClean="0">
                                <a:latin typeface="Cambria Math"/>
                              </a:rPr>
                              <m:t>2</m:t>
                            </m:r>
                          </m:den>
                        </m:f>
                      </m:sup>
                    </m:sSup>
                  </m:oMath>
                </a14:m>
                <a:r>
                  <a:rPr lang="en-AU" dirty="0" smtClean="0"/>
                  <a:t> because the power is not a positive integer.</a:t>
                </a:r>
                <a:endParaRPr lang="en-AU" dirty="0"/>
              </a:p>
              <a:p>
                <a:r>
                  <a:rPr lang="en-AU" dirty="0"/>
                  <a:t>Mathematicians like order so polynomials are usually written in descending order, starting with the term with the highest power and ending with the term with the lowest (or no) power. For example, in the polynomial </a:t>
                </a:r>
                <a:r>
                  <a:rPr lang="en-AU" dirty="0" smtClean="0"/>
                  <a:t>8</a:t>
                </a:r>
                <a:r>
                  <a:rPr lang="en-AU" i="1" dirty="0" smtClean="0"/>
                  <a:t>x</a:t>
                </a:r>
                <a:r>
                  <a:rPr lang="en-AU" dirty="0" smtClean="0"/>
                  <a:t>+4</a:t>
                </a:r>
                <a:r>
                  <a:rPr lang="en-AU" i="1" dirty="0" smtClean="0"/>
                  <a:t>x</a:t>
                </a:r>
                <a:r>
                  <a:rPr lang="en-AU" baseline="30000" dirty="0" smtClean="0"/>
                  <a:t>8</a:t>
                </a:r>
                <a:r>
                  <a:rPr lang="en-AU" dirty="0"/>
                  <a:t>−2</a:t>
                </a:r>
                <a:r>
                  <a:rPr lang="en-AU" i="1" dirty="0"/>
                  <a:t>x</a:t>
                </a:r>
                <a:r>
                  <a:rPr lang="en-AU" baseline="30000" dirty="0"/>
                  <a:t>2</a:t>
                </a:r>
                <a:r>
                  <a:rPr lang="en-AU" dirty="0"/>
                  <a:t>+4, the powers are all jumbled. To put it in order, we would rewrite it as </a:t>
                </a:r>
                <a:r>
                  <a:rPr lang="en-AU" dirty="0" smtClean="0"/>
                  <a:t>4</a:t>
                </a:r>
                <a:r>
                  <a:rPr lang="en-AU" i="1" dirty="0" smtClean="0"/>
                  <a:t>x</a:t>
                </a:r>
                <a:r>
                  <a:rPr lang="en-AU" baseline="30000" dirty="0" smtClean="0"/>
                  <a:t>8</a:t>
                </a:r>
                <a:r>
                  <a:rPr lang="en-AU" dirty="0"/>
                  <a:t>−2</a:t>
                </a:r>
                <a:r>
                  <a:rPr lang="en-AU" i="1" dirty="0"/>
                  <a:t>x</a:t>
                </a:r>
                <a:r>
                  <a:rPr lang="en-AU" baseline="30000" dirty="0"/>
                  <a:t>2</a:t>
                </a:r>
                <a:r>
                  <a:rPr lang="en-AU" dirty="0"/>
                  <a:t>+8</a:t>
                </a:r>
                <a:r>
                  <a:rPr lang="en-AU" i="1" dirty="0"/>
                  <a:t>x</a:t>
                </a:r>
                <a:r>
                  <a:rPr lang="en-AU" dirty="0"/>
                  <a:t>+4</a:t>
                </a:r>
                <a:r>
                  <a:rPr lang="en-AU" dirty="0" smtClean="0"/>
                  <a:t>.</a:t>
                </a:r>
              </a:p>
              <a:p>
                <a:r>
                  <a:rPr lang="en-AU" dirty="0" smtClean="0"/>
                  <a:t>REMEMBER</a:t>
                </a:r>
              </a:p>
              <a:p>
                <a:r>
                  <a:rPr lang="en-AU" dirty="0" smtClean="0"/>
                  <a:t>If </a:t>
                </a:r>
                <a:r>
                  <a:rPr lang="en-AU" dirty="0"/>
                  <a:t>an expression contains terms that divide by a variable (i.e. an algebraic term), they are </a:t>
                </a:r>
                <a:r>
                  <a:rPr lang="en-AU" b="1" dirty="0"/>
                  <a:t>NOT</a:t>
                </a:r>
                <a:r>
                  <a:rPr lang="en-AU" dirty="0"/>
                  <a:t> polynomials.</a:t>
                </a:r>
                <a:endParaRPr lang="en-AU" dirty="0">
                  <a:effectLst/>
                </a:endParaRPr>
              </a:p>
            </p:txBody>
          </p:sp>
        </mc:Choice>
        <mc:Fallback>
          <p:sp>
            <p:nvSpPr>
              <p:cNvPr id="3" name="Rectangle 2"/>
              <p:cNvSpPr>
                <a:spLocks noRot="1" noChangeAspect="1" noMove="1" noResize="1" noEditPoints="1" noAdjustHandles="1" noChangeArrowheads="1" noChangeShapeType="1" noTextEdit="1"/>
              </p:cNvSpPr>
              <p:nvPr/>
            </p:nvSpPr>
            <p:spPr>
              <a:xfrm>
                <a:off x="1763688" y="1700808"/>
                <a:ext cx="6976248" cy="4916923"/>
              </a:xfrm>
              <a:prstGeom prst="rect">
                <a:avLst/>
              </a:prstGeom>
              <a:blipFill rotWithShape="1">
                <a:blip r:embed="rId2"/>
                <a:stretch>
                  <a:fillRect l="-699" t="-620" r="-524" b="-991"/>
                </a:stretch>
              </a:blipFill>
            </p:spPr>
            <p:txBody>
              <a:bodyPr/>
              <a:lstStyle/>
              <a:p>
                <a:r>
                  <a:rPr lang="en-AU">
                    <a:noFill/>
                  </a:rPr>
                  <a:t> </a:t>
                </a:r>
              </a:p>
            </p:txBody>
          </p:sp>
        </mc:Fallback>
      </mc:AlternateContent>
      <p:cxnSp>
        <p:nvCxnSpPr>
          <p:cNvPr id="13" name="Straight Connector 12"/>
          <p:cNvCxnSpPr/>
          <p:nvPr/>
        </p:nvCxnSpPr>
        <p:spPr>
          <a:xfrm>
            <a:off x="1691680" y="1525101"/>
            <a:ext cx="0" cy="5332899"/>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907207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2104294" cy="523220"/>
          </a:xfrm>
          <a:prstGeom prst="rect">
            <a:avLst/>
          </a:prstGeom>
          <a:noFill/>
        </p:spPr>
        <p:txBody>
          <a:bodyPr wrap="none" rtlCol="0">
            <a:spAutoFit/>
          </a:bodyPr>
          <a:lstStyle/>
          <a:p>
            <a:r>
              <a:rPr lang="en-AU" sz="2800" dirty="0"/>
              <a:t>Polynomials?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t>
            </a:r>
            <a:r>
              <a:rPr lang="en-AU" sz="2400" dirty="0" smtClean="0"/>
              <a:t>What is a Polynomial – A Function with lots of Terms! </a:t>
            </a:r>
            <a:endParaRPr lang="en-AU" sz="2400" dirty="0"/>
          </a:p>
        </p:txBody>
      </p:sp>
      <p:cxnSp>
        <p:nvCxnSpPr>
          <p:cNvPr id="13" name="Straight Connector 12"/>
          <p:cNvCxnSpPr/>
          <p:nvPr/>
        </p:nvCxnSpPr>
        <p:spPr>
          <a:xfrm>
            <a:off x="1691680" y="1525101"/>
            <a:ext cx="0" cy="5332899"/>
          </a:xfrm>
          <a:prstGeom prst="line">
            <a:avLst/>
          </a:prstGeom>
        </p:spPr>
        <p:style>
          <a:lnRef idx="1">
            <a:schemeClr val="accent2"/>
          </a:lnRef>
          <a:fillRef idx="0">
            <a:schemeClr val="accent2"/>
          </a:fillRef>
          <a:effectRef idx="0">
            <a:schemeClr val="accent2"/>
          </a:effectRef>
          <a:fontRef idx="minor">
            <a:schemeClr val="tx1"/>
          </a:fontRef>
        </p:style>
      </p:cxn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3849" t="69068" r="-98284" b="-52259"/>
          <a:stretch/>
        </p:blipFill>
        <p:spPr bwMode="auto">
          <a:xfrm>
            <a:off x="17170400" y="3251200"/>
            <a:ext cx="16693976" cy="811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805" t="24669" r="69038" b="36529"/>
          <a:stretch/>
        </p:blipFill>
        <p:spPr bwMode="auto">
          <a:xfrm>
            <a:off x="1835696" y="1628800"/>
            <a:ext cx="7035801"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167763" y="5805264"/>
            <a:ext cx="5771836" cy="369332"/>
          </a:xfrm>
          <a:prstGeom prst="rect">
            <a:avLst/>
          </a:prstGeom>
          <a:noFill/>
        </p:spPr>
        <p:txBody>
          <a:bodyPr wrap="none" rtlCol="0">
            <a:spAutoFit/>
          </a:bodyPr>
          <a:lstStyle/>
          <a:p>
            <a:r>
              <a:rPr lang="en-AU" dirty="0" smtClean="0"/>
              <a:t>Why are the left column polynomials and right column not?</a:t>
            </a:r>
            <a:endParaRPr lang="en-AU" dirty="0"/>
          </a:p>
        </p:txBody>
      </p:sp>
    </p:spTree>
    <p:extLst>
      <p:ext uri="{BB962C8B-B14F-4D97-AF65-F5344CB8AC3E}">
        <p14:creationId xmlns:p14="http://schemas.microsoft.com/office/powerpoint/2010/main" val="16638971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2104294" cy="523220"/>
          </a:xfrm>
          <a:prstGeom prst="rect">
            <a:avLst/>
          </a:prstGeom>
          <a:noFill/>
        </p:spPr>
        <p:txBody>
          <a:bodyPr wrap="none" rtlCol="0">
            <a:spAutoFit/>
          </a:bodyPr>
          <a:lstStyle/>
          <a:p>
            <a:r>
              <a:rPr lang="en-AU" sz="2800" dirty="0"/>
              <a:t>Polynomials?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t>
            </a:r>
            <a:r>
              <a:rPr lang="en-AU" sz="2400" dirty="0" smtClean="0"/>
              <a:t>What is a Polynomial – A Function with lots of Terms! </a:t>
            </a:r>
            <a:endParaRPr lang="en-AU" sz="2400" dirty="0"/>
          </a:p>
        </p:txBody>
      </p:sp>
      <p:cxnSp>
        <p:nvCxnSpPr>
          <p:cNvPr id="13" name="Straight Connector 12"/>
          <p:cNvCxnSpPr/>
          <p:nvPr/>
        </p:nvCxnSpPr>
        <p:spPr>
          <a:xfrm>
            <a:off x="1547664" y="1525101"/>
            <a:ext cx="0" cy="5332899"/>
          </a:xfrm>
          <a:prstGeom prst="line">
            <a:avLst/>
          </a:prstGeom>
        </p:spPr>
        <p:style>
          <a:lnRef idx="1">
            <a:schemeClr val="accent2"/>
          </a:lnRef>
          <a:fillRef idx="0">
            <a:schemeClr val="accent2"/>
          </a:fillRef>
          <a:effectRef idx="0">
            <a:schemeClr val="accent2"/>
          </a:effectRef>
          <a:fontRef idx="minor">
            <a:schemeClr val="tx1"/>
          </a:fontRef>
        </p:style>
      </p:cxn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3849" t="69068" r="-98284" b="-52259"/>
          <a:stretch/>
        </p:blipFill>
        <p:spPr bwMode="auto">
          <a:xfrm>
            <a:off x="17170400" y="3251200"/>
            <a:ext cx="16693976" cy="811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3" name="Rectangle 2"/>
              <p:cNvSpPr/>
              <p:nvPr/>
            </p:nvSpPr>
            <p:spPr>
              <a:xfrm>
                <a:off x="1708821" y="1676022"/>
                <a:ext cx="7031116" cy="3925562"/>
              </a:xfrm>
              <a:prstGeom prst="rect">
                <a:avLst/>
              </a:prstGeom>
            </p:spPr>
            <p:txBody>
              <a:bodyPr wrap="square">
                <a:spAutoFit/>
              </a:bodyPr>
              <a:lstStyle/>
              <a:p>
                <a:r>
                  <a:rPr lang="en-AU" b="1" dirty="0" smtClean="0"/>
                  <a:t>Parts of a polynomial</a:t>
                </a:r>
              </a:p>
              <a:p>
                <a:r>
                  <a:rPr lang="en-AU" b="1" dirty="0"/>
                  <a:t>Degree:</a:t>
                </a:r>
                <a:r>
                  <a:rPr lang="en-AU" dirty="0"/>
                  <a:t> The largest exponent (i.e. power) of a variable in a polynomial. e.g. In the polynomial </a:t>
                </a:r>
                <a:r>
                  <a:rPr lang="en-AU" i="1" dirty="0" smtClean="0"/>
                  <a:t>x</a:t>
                </a:r>
                <a:r>
                  <a:rPr lang="en-AU" baseline="30000" dirty="0" smtClean="0"/>
                  <a:t>3</a:t>
                </a:r>
                <a:r>
                  <a:rPr lang="en-AU" dirty="0" smtClean="0"/>
                  <a:t>+4</a:t>
                </a:r>
                <a:r>
                  <a:rPr lang="en-AU" i="1" dirty="0" smtClean="0"/>
                  <a:t>x</a:t>
                </a:r>
                <a:r>
                  <a:rPr lang="en-AU" baseline="30000" dirty="0" smtClean="0"/>
                  <a:t>2</a:t>
                </a:r>
                <a:r>
                  <a:rPr lang="en-AU" dirty="0"/>
                  <a:t>−9, the highest power of </a:t>
                </a:r>
                <a:r>
                  <a:rPr lang="en-AU" i="1" dirty="0" smtClean="0"/>
                  <a:t>x</a:t>
                </a:r>
                <a:r>
                  <a:rPr lang="en-AU" dirty="0" smtClean="0"/>
                  <a:t> </a:t>
                </a:r>
                <a:r>
                  <a:rPr lang="en-AU" dirty="0"/>
                  <a:t>is </a:t>
                </a:r>
                <a:r>
                  <a:rPr lang="en-AU" dirty="0" smtClean="0"/>
                  <a:t>3</a:t>
                </a:r>
                <a:r>
                  <a:rPr lang="en-AU" dirty="0"/>
                  <a:t>, so the degree in this polynomial is </a:t>
                </a:r>
                <a:r>
                  <a:rPr lang="en-AU" dirty="0" smtClean="0"/>
                  <a:t>3</a:t>
                </a:r>
                <a:r>
                  <a:rPr lang="en-AU" dirty="0"/>
                  <a:t>.</a:t>
                </a:r>
              </a:p>
              <a:p>
                <a:r>
                  <a:rPr lang="en-AU" b="1" dirty="0"/>
                  <a:t>Leading coefficient:</a:t>
                </a:r>
                <a:r>
                  <a:rPr lang="en-AU" dirty="0"/>
                  <a:t> When a polynomial is written with its exponents in descending order, the leading coefficient is the number that is written before the first algebraic term. For example, in </a:t>
                </a:r>
                <a:r>
                  <a:rPr lang="en-AU" dirty="0" smtClean="0"/>
                  <a:t>5</a:t>
                </a:r>
                <a:r>
                  <a:rPr lang="en-AU" i="1" dirty="0" smtClean="0"/>
                  <a:t>x</a:t>
                </a:r>
                <a:r>
                  <a:rPr lang="en-AU" dirty="0"/>
                  <a:t>−7, the leading coefficient is </a:t>
                </a:r>
                <a:r>
                  <a:rPr lang="en-AU" dirty="0" smtClean="0"/>
                  <a:t>5</a:t>
                </a:r>
                <a:r>
                  <a:rPr lang="en-AU" dirty="0"/>
                  <a:t>. Sometimes you may need to use your knowledge of algebra to work out the leading coefficient. e.g. In </a:t>
                </a:r>
                <a:r>
                  <a:rPr lang="en-AU" dirty="0" smtClean="0"/>
                  <a:t>−</a:t>
                </a:r>
                <a:r>
                  <a:rPr lang="en-AU" i="1" dirty="0"/>
                  <a:t>x</a:t>
                </a:r>
                <a:r>
                  <a:rPr lang="en-AU" baseline="30000" dirty="0"/>
                  <a:t>5</a:t>
                </a:r>
                <a:r>
                  <a:rPr lang="en-AU" dirty="0"/>
                  <a:t>−2</a:t>
                </a:r>
                <a:r>
                  <a:rPr lang="en-AU" i="1" dirty="0"/>
                  <a:t>x</a:t>
                </a:r>
                <a:r>
                  <a:rPr lang="en-AU" baseline="30000" dirty="0"/>
                  <a:t>4</a:t>
                </a:r>
                <a:r>
                  <a:rPr lang="en-AU" dirty="0"/>
                  <a:t>+4, the leading coefficient is </a:t>
                </a:r>
                <a:r>
                  <a:rPr lang="en-AU" dirty="0" smtClean="0"/>
                  <a:t>−</a:t>
                </a:r>
                <a:r>
                  <a:rPr lang="en-AU" dirty="0"/>
                  <a:t>1.</a:t>
                </a:r>
              </a:p>
              <a:p>
                <a:r>
                  <a:rPr lang="en-AU" b="1" dirty="0"/>
                  <a:t>Constant term:</a:t>
                </a:r>
                <a:r>
                  <a:rPr lang="en-AU" dirty="0"/>
                  <a:t> the term in a polynomial that has no variables (i.e. no algebraic terms). e.g. in the polynomial </a:t>
                </a:r>
                <a:r>
                  <a:rPr lang="en-AU" dirty="0" smtClean="0"/>
                  <a:t>4</a:t>
                </a:r>
                <a:r>
                  <a:rPr lang="en-AU" i="1" dirty="0" smtClean="0"/>
                  <a:t>y</a:t>
                </a:r>
                <a:r>
                  <a:rPr lang="en-AU" baseline="30000" dirty="0" smtClean="0"/>
                  <a:t>8</a:t>
                </a:r>
                <a:r>
                  <a:rPr lang="en-AU" dirty="0" smtClean="0"/>
                  <a:t>+2</a:t>
                </a:r>
                <a:r>
                  <a:rPr lang="en-AU" i="1" dirty="0" smtClean="0"/>
                  <a:t>xy</a:t>
                </a:r>
                <a:r>
                  <a:rPr lang="en-AU" dirty="0"/>
                  <a:t>−4</a:t>
                </a:r>
                <a:r>
                  <a:rPr lang="en-AU" i="1" dirty="0"/>
                  <a:t>x</a:t>
                </a:r>
                <a:r>
                  <a:rPr lang="en-AU" dirty="0" smtClean="0"/>
                  <a:t>−</a:t>
                </a:r>
                <a14:m>
                  <m:oMath xmlns:m="http://schemas.openxmlformats.org/officeDocument/2006/math">
                    <m:f>
                      <m:fPr>
                        <m:ctrlPr>
                          <a:rPr lang="en-AU" i="1" smtClean="0">
                            <a:latin typeface="Cambria Math"/>
                          </a:rPr>
                        </m:ctrlPr>
                      </m:fPr>
                      <m:num>
                        <m:r>
                          <a:rPr lang="en-AU" b="0" i="1" smtClean="0">
                            <a:latin typeface="Cambria Math"/>
                          </a:rPr>
                          <m:t>2</m:t>
                        </m:r>
                      </m:num>
                      <m:den>
                        <m:r>
                          <a:rPr lang="en-AU" b="0" i="1" smtClean="0">
                            <a:latin typeface="Cambria Math"/>
                          </a:rPr>
                          <m:t>3</m:t>
                        </m:r>
                      </m:den>
                    </m:f>
                  </m:oMath>
                </a14:m>
                <a:r>
                  <a:rPr lang="en-AU" dirty="0" smtClean="0"/>
                  <a:t>​</a:t>
                </a:r>
                <a:r>
                  <a:rPr lang="en-AU" dirty="0"/>
                  <a:t>, the constant term is </a:t>
                </a:r>
                <a14:m>
                  <m:oMath xmlns:m="http://schemas.openxmlformats.org/officeDocument/2006/math">
                    <m:r>
                      <a:rPr lang="en-AU" b="0" i="0" smtClean="0">
                        <a:latin typeface="Cambria Math"/>
                      </a:rPr>
                      <m:t>−</m:t>
                    </m:r>
                    <m:f>
                      <m:fPr>
                        <m:ctrlPr>
                          <a:rPr lang="en-AU" i="1">
                            <a:latin typeface="Cambria Math"/>
                          </a:rPr>
                        </m:ctrlPr>
                      </m:fPr>
                      <m:num>
                        <m:r>
                          <a:rPr lang="en-AU" i="1">
                            <a:latin typeface="Cambria Math"/>
                          </a:rPr>
                          <m:t>2</m:t>
                        </m:r>
                      </m:num>
                      <m:den>
                        <m:r>
                          <a:rPr lang="en-AU" i="1">
                            <a:latin typeface="Cambria Math"/>
                          </a:rPr>
                          <m:t>3</m:t>
                        </m:r>
                      </m:den>
                    </m:f>
                    <m:r>
                      <a:rPr lang="en-AU" i="1">
                        <a:latin typeface="Cambria Math"/>
                      </a:rPr>
                      <m:t> </m:t>
                    </m:r>
                  </m:oMath>
                </a14:m>
                <a:r>
                  <a:rPr lang="en-AU" dirty="0" smtClean="0"/>
                  <a:t>​</a:t>
                </a:r>
                <a:r>
                  <a:rPr lang="en-AU" dirty="0"/>
                  <a:t>.</a:t>
                </a:r>
                <a:endParaRPr lang="en-AU" dirty="0">
                  <a:effectLst/>
                </a:endParaRPr>
              </a:p>
            </p:txBody>
          </p:sp>
        </mc:Choice>
        <mc:Fallback>
          <p:sp>
            <p:nvSpPr>
              <p:cNvPr id="3" name="Rectangle 2"/>
              <p:cNvSpPr>
                <a:spLocks noRot="1" noChangeAspect="1" noMove="1" noResize="1" noEditPoints="1" noAdjustHandles="1" noChangeArrowheads="1" noChangeShapeType="1" noTextEdit="1"/>
              </p:cNvSpPr>
              <p:nvPr/>
            </p:nvSpPr>
            <p:spPr>
              <a:xfrm>
                <a:off x="1708821" y="1676022"/>
                <a:ext cx="7031116" cy="3925562"/>
              </a:xfrm>
              <a:prstGeom prst="rect">
                <a:avLst/>
              </a:prstGeom>
              <a:blipFill rotWithShape="1">
                <a:blip r:embed="rId4"/>
                <a:stretch>
                  <a:fillRect l="-693" t="-776" r="-1127" b="-155"/>
                </a:stretch>
              </a:blipFill>
            </p:spPr>
            <p:txBody>
              <a:bodyPr/>
              <a:lstStyle/>
              <a:p>
                <a:r>
                  <a:rPr lang="en-AU">
                    <a:noFill/>
                  </a:rPr>
                  <a:t> </a:t>
                </a:r>
              </a:p>
            </p:txBody>
          </p:sp>
        </mc:Fallback>
      </mc:AlternateContent>
    </p:spTree>
    <p:extLst>
      <p:ext uri="{BB962C8B-B14F-4D97-AF65-F5344CB8AC3E}">
        <p14:creationId xmlns:p14="http://schemas.microsoft.com/office/powerpoint/2010/main" val="42183955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2104294" cy="523220"/>
          </a:xfrm>
          <a:prstGeom prst="rect">
            <a:avLst/>
          </a:prstGeom>
          <a:noFill/>
        </p:spPr>
        <p:txBody>
          <a:bodyPr wrap="none" rtlCol="0">
            <a:spAutoFit/>
          </a:bodyPr>
          <a:lstStyle/>
          <a:p>
            <a:r>
              <a:rPr lang="en-AU" sz="2800" dirty="0"/>
              <a:t>Polynomials?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t>
            </a:r>
            <a:r>
              <a:rPr lang="en-AU" sz="2400" dirty="0" smtClean="0"/>
              <a:t>What is a Polynomial – A Function with lots of Terms! </a:t>
            </a:r>
            <a:endParaRPr lang="en-AU" sz="2400" dirty="0"/>
          </a:p>
        </p:txBody>
      </p:sp>
      <p:cxnSp>
        <p:nvCxnSpPr>
          <p:cNvPr id="13" name="Straight Connector 12"/>
          <p:cNvCxnSpPr/>
          <p:nvPr/>
        </p:nvCxnSpPr>
        <p:spPr>
          <a:xfrm>
            <a:off x="827584" y="1525101"/>
            <a:ext cx="0" cy="5332899"/>
          </a:xfrm>
          <a:prstGeom prst="line">
            <a:avLst/>
          </a:prstGeom>
        </p:spPr>
        <p:style>
          <a:lnRef idx="1">
            <a:schemeClr val="accent2"/>
          </a:lnRef>
          <a:fillRef idx="0">
            <a:schemeClr val="accent2"/>
          </a:fillRef>
          <a:effectRef idx="0">
            <a:schemeClr val="accent2"/>
          </a:effectRef>
          <a:fontRef idx="minor">
            <a:schemeClr val="tx1"/>
          </a:fontRef>
        </p:style>
      </p:cxn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3849" t="69068" r="-98284" b="-52259"/>
          <a:stretch/>
        </p:blipFill>
        <p:spPr bwMode="auto">
          <a:xfrm>
            <a:off x="17170400" y="3251200"/>
            <a:ext cx="16693976" cy="811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115616" y="1772816"/>
            <a:ext cx="7907735" cy="3970318"/>
          </a:xfrm>
          <a:prstGeom prst="rect">
            <a:avLst/>
          </a:prstGeom>
        </p:spPr>
        <p:txBody>
          <a:bodyPr wrap="square">
            <a:spAutoFit/>
          </a:bodyPr>
          <a:lstStyle/>
          <a:p>
            <a:r>
              <a:rPr lang="en-AU" b="1" dirty="0"/>
              <a:t>Describing Polynomials</a:t>
            </a:r>
          </a:p>
          <a:p>
            <a:r>
              <a:rPr lang="en-AU" dirty="0"/>
              <a:t>We may also be asked to </a:t>
            </a:r>
            <a:r>
              <a:rPr lang="en-AU" dirty="0">
                <a:hlinkClick r:id="rId4"/>
              </a:rPr>
              <a:t>describe features of the function</a:t>
            </a:r>
            <a:r>
              <a:rPr lang="en-AU" dirty="0"/>
              <a:t> resulting from the sum or difference of two polynomials, so it's important that we're familiar with the features of functions.</a:t>
            </a:r>
          </a:p>
          <a:p>
            <a:r>
              <a:rPr lang="en-AU" u="sng" dirty="0"/>
              <a:t>Here is a quick summary</a:t>
            </a:r>
            <a:r>
              <a:rPr lang="en-AU" dirty="0"/>
              <a:t>:</a:t>
            </a:r>
          </a:p>
          <a:p>
            <a:r>
              <a:rPr lang="en-AU" dirty="0"/>
              <a:t>A linear polynomial is the equation of a straight line, which can be written in the form </a:t>
            </a:r>
            <a:r>
              <a:rPr lang="en-AU" i="1" dirty="0" smtClean="0"/>
              <a:t>f</a:t>
            </a:r>
            <a:r>
              <a:rPr lang="en-AU" dirty="0" smtClean="0"/>
              <a:t>(</a:t>
            </a:r>
            <a:r>
              <a:rPr lang="en-AU" i="1" dirty="0" smtClean="0"/>
              <a:t>x</a:t>
            </a:r>
            <a:r>
              <a:rPr lang="en-AU" dirty="0"/>
              <a:t>)=</a:t>
            </a:r>
            <a:r>
              <a:rPr lang="en-AU" i="1" dirty="0" err="1"/>
              <a:t>mx</a:t>
            </a:r>
            <a:r>
              <a:rPr lang="en-AU" dirty="0" err="1"/>
              <a:t>+</a:t>
            </a:r>
            <a:r>
              <a:rPr lang="en-AU" i="1" dirty="0" err="1"/>
              <a:t>b</a:t>
            </a:r>
            <a:r>
              <a:rPr lang="en-AU" dirty="0" smtClean="0"/>
              <a:t>.</a:t>
            </a:r>
          </a:p>
          <a:p>
            <a:endParaRPr lang="en-AU" dirty="0"/>
          </a:p>
          <a:p>
            <a:r>
              <a:rPr lang="en-AU" dirty="0"/>
              <a:t>A quadratic polynomial is the equation of a parabola, which can be written in the form </a:t>
            </a:r>
            <a:r>
              <a:rPr lang="en-AU" i="1" dirty="0" smtClean="0"/>
              <a:t>f</a:t>
            </a:r>
            <a:r>
              <a:rPr lang="en-AU" dirty="0" smtClean="0"/>
              <a:t>(</a:t>
            </a:r>
            <a:r>
              <a:rPr lang="en-AU" i="1" dirty="0" smtClean="0"/>
              <a:t>x</a:t>
            </a:r>
            <a:r>
              <a:rPr lang="en-AU" dirty="0"/>
              <a:t>)=</a:t>
            </a:r>
            <a:r>
              <a:rPr lang="en-AU" i="1" dirty="0"/>
              <a:t>ax</a:t>
            </a:r>
            <a:r>
              <a:rPr lang="en-AU" baseline="30000" dirty="0"/>
              <a:t>2</a:t>
            </a:r>
            <a:r>
              <a:rPr lang="en-AU" dirty="0"/>
              <a:t>+</a:t>
            </a:r>
            <a:r>
              <a:rPr lang="en-AU" i="1" dirty="0"/>
              <a:t>bx</a:t>
            </a:r>
            <a:r>
              <a:rPr lang="en-AU" dirty="0"/>
              <a:t>+</a:t>
            </a:r>
            <a:r>
              <a:rPr lang="en-AU" i="1" dirty="0"/>
              <a:t>c</a:t>
            </a:r>
            <a:r>
              <a:rPr lang="en-AU" dirty="0" smtClean="0"/>
              <a:t>.</a:t>
            </a:r>
          </a:p>
          <a:p>
            <a:endParaRPr lang="en-AU" dirty="0"/>
          </a:p>
          <a:p>
            <a:r>
              <a:rPr lang="en-AU" dirty="0"/>
              <a:t>A cubic polynomial, which can be written in the form </a:t>
            </a:r>
            <a:r>
              <a:rPr lang="en-AU" i="1" dirty="0" smtClean="0"/>
              <a:t>f</a:t>
            </a:r>
            <a:r>
              <a:rPr lang="en-AU" dirty="0" smtClean="0"/>
              <a:t>(</a:t>
            </a:r>
            <a:r>
              <a:rPr lang="en-AU" i="1" dirty="0" smtClean="0"/>
              <a:t>x</a:t>
            </a:r>
            <a:r>
              <a:rPr lang="en-AU" dirty="0"/>
              <a:t>)=</a:t>
            </a:r>
            <a:r>
              <a:rPr lang="en-AU" i="1" dirty="0"/>
              <a:t>ax</a:t>
            </a:r>
            <a:r>
              <a:rPr lang="en-AU" baseline="30000" dirty="0"/>
              <a:t>3</a:t>
            </a:r>
            <a:r>
              <a:rPr lang="en-AU" dirty="0"/>
              <a:t>+</a:t>
            </a:r>
            <a:r>
              <a:rPr lang="en-AU" i="1" dirty="0"/>
              <a:t>bx</a:t>
            </a:r>
            <a:r>
              <a:rPr lang="en-AU" baseline="30000" dirty="0"/>
              <a:t>2</a:t>
            </a:r>
            <a:r>
              <a:rPr lang="en-AU" dirty="0"/>
              <a:t>+</a:t>
            </a:r>
            <a:r>
              <a:rPr lang="en-AU" i="1" dirty="0"/>
              <a:t>cx</a:t>
            </a:r>
            <a:r>
              <a:rPr lang="en-AU" dirty="0"/>
              <a:t>+</a:t>
            </a:r>
            <a:r>
              <a:rPr lang="en-AU" i="1" dirty="0"/>
              <a:t>d</a:t>
            </a:r>
            <a:r>
              <a:rPr lang="en-AU" dirty="0" smtClean="0"/>
              <a:t>.</a:t>
            </a:r>
          </a:p>
          <a:p>
            <a:endParaRPr lang="en-AU" dirty="0"/>
          </a:p>
          <a:p>
            <a:r>
              <a:rPr lang="en-AU" dirty="0"/>
              <a:t>A quartic polynomial, which can be written in the form </a:t>
            </a:r>
            <a:r>
              <a:rPr lang="en-AU" i="1" dirty="0" smtClean="0"/>
              <a:t>f</a:t>
            </a:r>
            <a:r>
              <a:rPr lang="en-AU" dirty="0" smtClean="0"/>
              <a:t>(</a:t>
            </a:r>
            <a:r>
              <a:rPr lang="en-AU" i="1" dirty="0" smtClean="0"/>
              <a:t>x</a:t>
            </a:r>
            <a:r>
              <a:rPr lang="en-AU" dirty="0"/>
              <a:t>)=</a:t>
            </a:r>
            <a:r>
              <a:rPr lang="en-AU" i="1" dirty="0"/>
              <a:t>ax</a:t>
            </a:r>
            <a:r>
              <a:rPr lang="en-AU" baseline="30000" dirty="0"/>
              <a:t>4</a:t>
            </a:r>
            <a:r>
              <a:rPr lang="en-AU" dirty="0"/>
              <a:t>+</a:t>
            </a:r>
            <a:r>
              <a:rPr lang="en-AU" i="1" dirty="0"/>
              <a:t>bx</a:t>
            </a:r>
            <a:r>
              <a:rPr lang="en-AU" baseline="30000" dirty="0"/>
              <a:t>3</a:t>
            </a:r>
            <a:r>
              <a:rPr lang="en-AU" dirty="0"/>
              <a:t>+</a:t>
            </a:r>
            <a:r>
              <a:rPr lang="en-AU" i="1" dirty="0"/>
              <a:t>cx</a:t>
            </a:r>
            <a:r>
              <a:rPr lang="en-AU" baseline="30000" dirty="0"/>
              <a:t>2</a:t>
            </a:r>
            <a:r>
              <a:rPr lang="en-AU" dirty="0"/>
              <a:t>+</a:t>
            </a:r>
            <a:r>
              <a:rPr lang="en-AU" i="1" dirty="0"/>
              <a:t>dx</a:t>
            </a:r>
            <a:r>
              <a:rPr lang="en-AU" dirty="0"/>
              <a:t>+</a:t>
            </a:r>
            <a:r>
              <a:rPr lang="en-AU" i="1" dirty="0"/>
              <a:t>e</a:t>
            </a:r>
            <a:r>
              <a:rPr lang="en-AU" dirty="0"/>
              <a:t>.</a:t>
            </a:r>
            <a:endParaRPr lang="en-AU" dirty="0">
              <a:effectLst/>
            </a:endParaRPr>
          </a:p>
        </p:txBody>
      </p:sp>
    </p:spTree>
    <p:extLst>
      <p:ext uri="{BB962C8B-B14F-4D97-AF65-F5344CB8AC3E}">
        <p14:creationId xmlns:p14="http://schemas.microsoft.com/office/powerpoint/2010/main" val="267148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11560" y="764704"/>
            <a:ext cx="7632848" cy="4536504"/>
          </a:xfrm>
        </p:spPr>
        <p:txBody>
          <a:bodyPr>
            <a:normAutofit/>
          </a:bodyPr>
          <a:lstStyle/>
          <a:p>
            <a:r>
              <a:rPr lang="en-AU" b="1" dirty="0" smtClean="0">
                <a:solidFill>
                  <a:schemeClr val="tx1"/>
                </a:solidFill>
              </a:rPr>
              <a:t>Exercises</a:t>
            </a:r>
          </a:p>
          <a:p>
            <a:r>
              <a:rPr lang="en-AU" b="1" dirty="0" smtClean="0">
                <a:solidFill>
                  <a:schemeClr val="tx1"/>
                </a:solidFill>
              </a:rPr>
              <a:t>Exercise 9.1 from </a:t>
            </a:r>
            <a:r>
              <a:rPr lang="en-AU" b="1" dirty="0" smtClean="0">
                <a:solidFill>
                  <a:schemeClr val="tx1"/>
                </a:solidFill>
              </a:rPr>
              <a:t>Dwyer</a:t>
            </a:r>
          </a:p>
          <a:p>
            <a:endParaRPr lang="en-AU" b="1" dirty="0" smtClean="0">
              <a:solidFill>
                <a:schemeClr val="tx1"/>
              </a:solidFill>
            </a:endParaRPr>
          </a:p>
          <a:p>
            <a:endParaRPr lang="en-AU" b="1" dirty="0">
              <a:solidFill>
                <a:schemeClr val="tx1"/>
              </a:solidFill>
            </a:endParaRPr>
          </a:p>
          <a:p>
            <a:r>
              <a:rPr lang="en-AU" b="1" dirty="0" smtClean="0">
                <a:solidFill>
                  <a:schemeClr val="tx2"/>
                </a:solidFill>
              </a:rPr>
              <a:t>All to be done with a smile on your faces.</a:t>
            </a:r>
            <a:endParaRPr lang="en-AU" b="1" dirty="0">
              <a:solidFill>
                <a:schemeClr val="tx2"/>
              </a:solidFill>
            </a:endParaRPr>
          </a:p>
        </p:txBody>
      </p:sp>
    </p:spTree>
    <p:extLst>
      <p:ext uri="{BB962C8B-B14F-4D97-AF65-F5344CB8AC3E}">
        <p14:creationId xmlns:p14="http://schemas.microsoft.com/office/powerpoint/2010/main" val="19333096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2104294" cy="523220"/>
          </a:xfrm>
          <a:prstGeom prst="rect">
            <a:avLst/>
          </a:prstGeom>
          <a:noFill/>
        </p:spPr>
        <p:txBody>
          <a:bodyPr wrap="none" rtlCol="0">
            <a:spAutoFit/>
          </a:bodyPr>
          <a:lstStyle/>
          <a:p>
            <a:r>
              <a:rPr lang="en-AU" sz="2800" dirty="0"/>
              <a:t>Polynomials?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t>
            </a:r>
            <a:r>
              <a:rPr lang="en-AU" sz="2400" dirty="0" smtClean="0"/>
              <a:t>How do we add Polynomials! </a:t>
            </a:r>
            <a:endParaRPr lang="en-AU" sz="2400" dirty="0"/>
          </a:p>
        </p:txBody>
      </p:sp>
      <p:cxnSp>
        <p:nvCxnSpPr>
          <p:cNvPr id="13" name="Straight Connector 12"/>
          <p:cNvCxnSpPr/>
          <p:nvPr/>
        </p:nvCxnSpPr>
        <p:spPr>
          <a:xfrm>
            <a:off x="1547664" y="1525101"/>
            <a:ext cx="0" cy="5332899"/>
          </a:xfrm>
          <a:prstGeom prst="line">
            <a:avLst/>
          </a:prstGeom>
        </p:spPr>
        <p:style>
          <a:lnRef idx="1">
            <a:schemeClr val="accent2"/>
          </a:lnRef>
          <a:fillRef idx="0">
            <a:schemeClr val="accent2"/>
          </a:fillRef>
          <a:effectRef idx="0">
            <a:schemeClr val="accent2"/>
          </a:effectRef>
          <a:fontRef idx="minor">
            <a:schemeClr val="tx1"/>
          </a:fontRef>
        </p:style>
      </p:cxn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3849" t="69068" r="-98284" b="-52259"/>
          <a:stretch/>
        </p:blipFill>
        <p:spPr bwMode="auto">
          <a:xfrm>
            <a:off x="17170400" y="3251200"/>
            <a:ext cx="16693976" cy="811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691679" y="1628800"/>
            <a:ext cx="7056785" cy="3416320"/>
          </a:xfrm>
          <a:prstGeom prst="rect">
            <a:avLst/>
          </a:prstGeom>
        </p:spPr>
        <p:txBody>
          <a:bodyPr wrap="square">
            <a:spAutoFit/>
          </a:bodyPr>
          <a:lstStyle/>
          <a:p>
            <a:r>
              <a:rPr lang="en-AU" b="1" dirty="0"/>
              <a:t>Adding &amp; Subtracting Lots of Terms</a:t>
            </a:r>
          </a:p>
          <a:p>
            <a:r>
              <a:rPr lang="en-AU" dirty="0"/>
              <a:t>Adding and subtracting polynomials may sound complicated but it's just the same process as simplifying algebraic expression and equations</a:t>
            </a:r>
            <a:r>
              <a:rPr lang="en-AU" dirty="0" smtClean="0"/>
              <a:t>.</a:t>
            </a:r>
          </a:p>
          <a:p>
            <a:r>
              <a:rPr lang="en-AU" dirty="0" smtClean="0"/>
              <a:t>REMEMBER</a:t>
            </a:r>
          </a:p>
          <a:p>
            <a:r>
              <a:rPr lang="en-AU" dirty="0" smtClean="0"/>
              <a:t>Just </a:t>
            </a:r>
            <a:r>
              <a:rPr lang="en-AU" dirty="0"/>
              <a:t>like with any algebraic expression, we can only add and subtract like terms</a:t>
            </a:r>
            <a:r>
              <a:rPr lang="en-AU" dirty="0" smtClean="0"/>
              <a:t>.</a:t>
            </a:r>
          </a:p>
          <a:p>
            <a:endParaRPr lang="en-AU" dirty="0" smtClean="0">
              <a:effectLst/>
            </a:endParaRPr>
          </a:p>
          <a:p>
            <a:r>
              <a:rPr lang="en-AU" b="1" dirty="0"/>
              <a:t>The Process</a:t>
            </a:r>
          </a:p>
          <a:p>
            <a:r>
              <a:rPr lang="en-AU" dirty="0" smtClean="0"/>
              <a:t>Let's </a:t>
            </a:r>
            <a:r>
              <a:rPr lang="en-AU" dirty="0"/>
              <a:t>run through the process by looking at an example. Let's say I want to </a:t>
            </a:r>
            <a:r>
              <a:rPr lang="en-AU" dirty="0" smtClean="0"/>
              <a:t>firstly add then find the </a:t>
            </a:r>
            <a:r>
              <a:rPr lang="en-AU" dirty="0"/>
              <a:t>difference </a:t>
            </a:r>
            <a:r>
              <a:rPr lang="en-AU" dirty="0" smtClean="0"/>
              <a:t>between these</a:t>
            </a:r>
            <a:r>
              <a:rPr lang="en-AU" dirty="0"/>
              <a:t> two polynomials: </a:t>
            </a:r>
            <a:r>
              <a:rPr lang="en-AU" i="1" dirty="0" smtClean="0"/>
              <a:t>P</a:t>
            </a:r>
            <a:r>
              <a:rPr lang="en-AU" dirty="0" smtClean="0"/>
              <a:t>(</a:t>
            </a:r>
            <a:r>
              <a:rPr lang="en-AU" i="1" dirty="0" smtClean="0"/>
              <a:t>x</a:t>
            </a:r>
            <a:r>
              <a:rPr lang="en-AU" dirty="0"/>
              <a:t>)=7</a:t>
            </a:r>
            <a:r>
              <a:rPr lang="en-AU" i="1" dirty="0"/>
              <a:t>x</a:t>
            </a:r>
            <a:r>
              <a:rPr lang="en-AU" baseline="30000" dirty="0"/>
              <a:t>3</a:t>
            </a:r>
            <a:r>
              <a:rPr lang="en-AU" dirty="0"/>
              <a:t>+4</a:t>
            </a:r>
            <a:r>
              <a:rPr lang="en-AU" i="1" dirty="0"/>
              <a:t>x</a:t>
            </a:r>
            <a:r>
              <a:rPr lang="en-AU" baseline="30000" dirty="0"/>
              <a:t>2</a:t>
            </a:r>
            <a:r>
              <a:rPr lang="en-AU" dirty="0"/>
              <a:t>−4 and </a:t>
            </a:r>
            <a:r>
              <a:rPr lang="en-AU" i="1" dirty="0" smtClean="0"/>
              <a:t>Q</a:t>
            </a:r>
            <a:r>
              <a:rPr lang="en-AU" dirty="0" smtClean="0"/>
              <a:t>(</a:t>
            </a:r>
            <a:r>
              <a:rPr lang="en-AU" i="1" dirty="0" smtClean="0"/>
              <a:t>x</a:t>
            </a:r>
            <a:r>
              <a:rPr lang="en-AU" dirty="0"/>
              <a:t>)=7</a:t>
            </a:r>
            <a:r>
              <a:rPr lang="en-AU" i="1" dirty="0"/>
              <a:t>x</a:t>
            </a:r>
            <a:r>
              <a:rPr lang="en-AU" baseline="30000" dirty="0"/>
              <a:t>3</a:t>
            </a:r>
            <a:r>
              <a:rPr lang="en-AU" dirty="0"/>
              <a:t>+8</a:t>
            </a:r>
            <a:r>
              <a:rPr lang="en-AU" i="1" dirty="0"/>
              <a:t>x</a:t>
            </a:r>
            <a:r>
              <a:rPr lang="en-AU" baseline="30000" dirty="0"/>
              <a:t>2</a:t>
            </a:r>
            <a:r>
              <a:rPr lang="en-AU" dirty="0"/>
              <a:t>−2</a:t>
            </a:r>
            <a:r>
              <a:rPr lang="en-AU" i="1" dirty="0"/>
              <a:t>x</a:t>
            </a:r>
            <a:r>
              <a:rPr lang="en-AU" dirty="0"/>
              <a:t>−8.</a:t>
            </a:r>
          </a:p>
          <a:p>
            <a:endParaRPr lang="en-AU" dirty="0">
              <a:effectLst/>
            </a:endParaRPr>
          </a:p>
        </p:txBody>
      </p:sp>
    </p:spTree>
    <p:extLst>
      <p:ext uri="{BB962C8B-B14F-4D97-AF65-F5344CB8AC3E}">
        <p14:creationId xmlns:p14="http://schemas.microsoft.com/office/powerpoint/2010/main" val="8580127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2104294" cy="523220"/>
          </a:xfrm>
          <a:prstGeom prst="rect">
            <a:avLst/>
          </a:prstGeom>
          <a:noFill/>
        </p:spPr>
        <p:txBody>
          <a:bodyPr wrap="none" rtlCol="0">
            <a:spAutoFit/>
          </a:bodyPr>
          <a:lstStyle/>
          <a:p>
            <a:r>
              <a:rPr lang="en-AU" sz="2800" dirty="0"/>
              <a:t>Polynomials?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t>
            </a:r>
            <a:r>
              <a:rPr lang="en-AU" sz="2400" dirty="0" smtClean="0"/>
              <a:t>How do we add Polynomials! </a:t>
            </a:r>
            <a:endParaRPr lang="en-AU" sz="2400" dirty="0"/>
          </a:p>
        </p:txBody>
      </p:sp>
      <p:cxnSp>
        <p:nvCxnSpPr>
          <p:cNvPr id="13" name="Straight Connector 12"/>
          <p:cNvCxnSpPr/>
          <p:nvPr/>
        </p:nvCxnSpPr>
        <p:spPr>
          <a:xfrm>
            <a:off x="1259632" y="1525101"/>
            <a:ext cx="0" cy="5332899"/>
          </a:xfrm>
          <a:prstGeom prst="line">
            <a:avLst/>
          </a:prstGeom>
        </p:spPr>
        <p:style>
          <a:lnRef idx="1">
            <a:schemeClr val="accent2"/>
          </a:lnRef>
          <a:fillRef idx="0">
            <a:schemeClr val="accent2"/>
          </a:fillRef>
          <a:effectRef idx="0">
            <a:schemeClr val="accent2"/>
          </a:effectRef>
          <a:fontRef idx="minor">
            <a:schemeClr val="tx1"/>
          </a:fontRef>
        </p:style>
      </p:cxn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3849" t="69068" r="-98284" b="-52259"/>
          <a:stretch/>
        </p:blipFill>
        <p:spPr bwMode="auto">
          <a:xfrm>
            <a:off x="17170400" y="3251200"/>
            <a:ext cx="16693976" cy="811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403649" y="1628800"/>
            <a:ext cx="7344816" cy="4801314"/>
          </a:xfrm>
          <a:prstGeom prst="rect">
            <a:avLst/>
          </a:prstGeom>
        </p:spPr>
        <p:txBody>
          <a:bodyPr wrap="square">
            <a:spAutoFit/>
          </a:bodyPr>
          <a:lstStyle/>
          <a:p>
            <a:r>
              <a:rPr lang="en-AU" i="1" dirty="0" smtClean="0"/>
              <a:t>P</a:t>
            </a:r>
            <a:r>
              <a:rPr lang="en-AU" dirty="0" smtClean="0"/>
              <a:t>(</a:t>
            </a:r>
            <a:r>
              <a:rPr lang="en-AU" i="1" dirty="0" smtClean="0"/>
              <a:t>x</a:t>
            </a:r>
            <a:r>
              <a:rPr lang="en-AU" dirty="0" smtClean="0"/>
              <a:t>) + </a:t>
            </a:r>
            <a:r>
              <a:rPr lang="en-AU" i="1" dirty="0" smtClean="0"/>
              <a:t>Q</a:t>
            </a:r>
            <a:r>
              <a:rPr lang="en-AU" dirty="0" smtClean="0"/>
              <a:t>(</a:t>
            </a:r>
            <a:r>
              <a:rPr lang="en-AU" i="1" dirty="0" smtClean="0"/>
              <a:t>x</a:t>
            </a:r>
            <a:r>
              <a:rPr lang="en-AU" dirty="0" smtClean="0"/>
              <a:t>)=</a:t>
            </a:r>
            <a:r>
              <a:rPr lang="en-AU" dirty="0"/>
              <a:t> 7</a:t>
            </a:r>
            <a:r>
              <a:rPr lang="en-AU" i="1" dirty="0"/>
              <a:t>x</a:t>
            </a:r>
            <a:r>
              <a:rPr lang="en-AU" baseline="30000" dirty="0"/>
              <a:t>3</a:t>
            </a:r>
            <a:r>
              <a:rPr lang="en-AU" dirty="0"/>
              <a:t>+4</a:t>
            </a:r>
            <a:r>
              <a:rPr lang="en-AU" i="1" dirty="0"/>
              <a:t>x</a:t>
            </a:r>
            <a:r>
              <a:rPr lang="en-AU" baseline="30000" dirty="0"/>
              <a:t>2</a:t>
            </a:r>
            <a:r>
              <a:rPr lang="en-AU" dirty="0"/>
              <a:t>−</a:t>
            </a:r>
            <a:r>
              <a:rPr lang="en-AU" dirty="0" smtClean="0"/>
              <a:t>4 + (7</a:t>
            </a:r>
            <a:r>
              <a:rPr lang="en-AU" i="1" dirty="0" smtClean="0"/>
              <a:t>x</a:t>
            </a:r>
            <a:r>
              <a:rPr lang="en-AU" baseline="30000" dirty="0" smtClean="0"/>
              <a:t>3</a:t>
            </a:r>
            <a:r>
              <a:rPr lang="en-AU" dirty="0" smtClean="0"/>
              <a:t>+8</a:t>
            </a:r>
            <a:r>
              <a:rPr lang="en-AU" i="1" dirty="0" smtClean="0"/>
              <a:t>x</a:t>
            </a:r>
            <a:r>
              <a:rPr lang="en-AU" baseline="30000" dirty="0" smtClean="0"/>
              <a:t>2</a:t>
            </a:r>
            <a:r>
              <a:rPr lang="en-AU" dirty="0"/>
              <a:t>−2</a:t>
            </a:r>
            <a:r>
              <a:rPr lang="en-AU" i="1" dirty="0"/>
              <a:t>x</a:t>
            </a:r>
            <a:r>
              <a:rPr lang="en-AU" dirty="0"/>
              <a:t>−</a:t>
            </a:r>
            <a:r>
              <a:rPr lang="en-AU" dirty="0" smtClean="0"/>
              <a:t>8)</a:t>
            </a:r>
            <a:endParaRPr lang="en-AU" dirty="0"/>
          </a:p>
          <a:p>
            <a:endParaRPr lang="en-AU" dirty="0" smtClean="0">
              <a:effectLst/>
            </a:endParaRPr>
          </a:p>
          <a:p>
            <a:r>
              <a:rPr lang="en-AU" dirty="0"/>
              <a:t>Collect the like terms, taking any negative symbols into account. Remember if there is a term with no corresponding term in the other polynomial, you can treat this as a value of zero. For example, </a:t>
            </a:r>
            <a:r>
              <a:rPr lang="en-AU" i="1" dirty="0" smtClean="0"/>
              <a:t>P</a:t>
            </a:r>
            <a:r>
              <a:rPr lang="en-AU" dirty="0" smtClean="0"/>
              <a:t>(</a:t>
            </a:r>
            <a:r>
              <a:rPr lang="en-AU" i="1" dirty="0" smtClean="0"/>
              <a:t>x</a:t>
            </a:r>
            <a:r>
              <a:rPr lang="en-AU" dirty="0"/>
              <a:t>) does not have a value of </a:t>
            </a:r>
            <a:r>
              <a:rPr lang="en-AU" i="1" dirty="0" smtClean="0"/>
              <a:t>x</a:t>
            </a:r>
            <a:r>
              <a:rPr lang="en-AU" baseline="30000" dirty="0" smtClean="0"/>
              <a:t>2</a:t>
            </a:r>
            <a:r>
              <a:rPr lang="en-AU" dirty="0" smtClean="0"/>
              <a:t> </a:t>
            </a:r>
            <a:r>
              <a:rPr lang="en-AU" dirty="0"/>
              <a:t>but </a:t>
            </a:r>
            <a:r>
              <a:rPr lang="en-AU" i="1" dirty="0" smtClean="0"/>
              <a:t>Q</a:t>
            </a:r>
            <a:r>
              <a:rPr lang="en-AU" dirty="0" smtClean="0"/>
              <a:t>(</a:t>
            </a:r>
            <a:r>
              <a:rPr lang="en-AU" i="1" dirty="0" smtClean="0"/>
              <a:t>x</a:t>
            </a:r>
            <a:r>
              <a:rPr lang="en-AU" dirty="0"/>
              <a:t>) does</a:t>
            </a:r>
            <a:r>
              <a:rPr lang="en-AU" dirty="0" smtClean="0"/>
              <a:t>.</a:t>
            </a:r>
          </a:p>
          <a:p>
            <a:r>
              <a:rPr lang="en-AU" dirty="0" smtClean="0">
                <a:effectLst/>
              </a:rPr>
              <a:t>We can do it in the form of a table (see </a:t>
            </a:r>
            <a:r>
              <a:rPr lang="en-AU" dirty="0" err="1" smtClean="0">
                <a:effectLst/>
              </a:rPr>
              <a:t>eg</a:t>
            </a:r>
            <a:r>
              <a:rPr lang="en-AU" dirty="0" smtClean="0">
                <a:effectLst/>
              </a:rPr>
              <a:t> in text) or by collecting like terms</a:t>
            </a:r>
          </a:p>
          <a:p>
            <a:endParaRPr lang="en-AU" dirty="0" smtClean="0">
              <a:effectLst/>
            </a:endParaRPr>
          </a:p>
          <a:p>
            <a:r>
              <a:rPr lang="en-AU" i="1" dirty="0"/>
              <a:t>P</a:t>
            </a:r>
            <a:r>
              <a:rPr lang="en-AU" dirty="0"/>
              <a:t>(</a:t>
            </a:r>
            <a:r>
              <a:rPr lang="en-AU" i="1" dirty="0"/>
              <a:t>x</a:t>
            </a:r>
            <a:r>
              <a:rPr lang="en-AU" dirty="0"/>
              <a:t>) + </a:t>
            </a:r>
            <a:r>
              <a:rPr lang="en-AU" i="1" dirty="0"/>
              <a:t>Q</a:t>
            </a:r>
            <a:r>
              <a:rPr lang="en-AU" dirty="0"/>
              <a:t>(</a:t>
            </a:r>
            <a:r>
              <a:rPr lang="en-AU" i="1" dirty="0"/>
              <a:t>x</a:t>
            </a:r>
            <a:r>
              <a:rPr lang="en-AU" dirty="0"/>
              <a:t>)= </a:t>
            </a:r>
            <a:r>
              <a:rPr lang="en-AU" dirty="0" smtClean="0"/>
              <a:t>7</a:t>
            </a:r>
            <a:r>
              <a:rPr lang="en-AU" i="1" dirty="0" smtClean="0"/>
              <a:t>x</a:t>
            </a:r>
            <a:r>
              <a:rPr lang="en-AU" baseline="30000" dirty="0" smtClean="0"/>
              <a:t>3</a:t>
            </a:r>
            <a:r>
              <a:rPr lang="en-AU" dirty="0" smtClean="0"/>
              <a:t>+7</a:t>
            </a:r>
            <a:r>
              <a:rPr lang="en-AU" i="1" dirty="0" smtClean="0"/>
              <a:t>x</a:t>
            </a:r>
            <a:r>
              <a:rPr lang="en-AU" baseline="30000" dirty="0" smtClean="0"/>
              <a:t>3</a:t>
            </a:r>
            <a:r>
              <a:rPr lang="en-AU" dirty="0" smtClean="0"/>
              <a:t>+4</a:t>
            </a:r>
            <a:r>
              <a:rPr lang="en-AU" i="1" dirty="0" smtClean="0"/>
              <a:t>x</a:t>
            </a:r>
            <a:r>
              <a:rPr lang="en-AU" baseline="30000" dirty="0" smtClean="0"/>
              <a:t>2</a:t>
            </a:r>
            <a:r>
              <a:rPr lang="en-AU" dirty="0" smtClean="0"/>
              <a:t>+8</a:t>
            </a:r>
            <a:r>
              <a:rPr lang="en-AU" i="1" dirty="0" smtClean="0"/>
              <a:t>x</a:t>
            </a:r>
            <a:r>
              <a:rPr lang="en-AU" baseline="30000" dirty="0" smtClean="0"/>
              <a:t>2</a:t>
            </a:r>
            <a:r>
              <a:rPr lang="en-AU" dirty="0" smtClean="0"/>
              <a:t>−2</a:t>
            </a:r>
            <a:r>
              <a:rPr lang="en-AU" i="1" dirty="0" smtClean="0"/>
              <a:t>x-</a:t>
            </a:r>
            <a:r>
              <a:rPr lang="en-AU" dirty="0" smtClean="0"/>
              <a:t>4-8</a:t>
            </a:r>
          </a:p>
          <a:p>
            <a:endParaRPr lang="en-AU" dirty="0" smtClean="0">
              <a:effectLst/>
            </a:endParaRPr>
          </a:p>
          <a:p>
            <a:r>
              <a:rPr lang="en-AU" i="1" dirty="0"/>
              <a:t>P</a:t>
            </a:r>
            <a:r>
              <a:rPr lang="en-AU" dirty="0"/>
              <a:t>(</a:t>
            </a:r>
            <a:r>
              <a:rPr lang="en-AU" i="1" dirty="0"/>
              <a:t>x</a:t>
            </a:r>
            <a:r>
              <a:rPr lang="en-AU" dirty="0"/>
              <a:t>) + </a:t>
            </a:r>
            <a:r>
              <a:rPr lang="en-AU" i="1" dirty="0"/>
              <a:t>Q</a:t>
            </a:r>
            <a:r>
              <a:rPr lang="en-AU" dirty="0"/>
              <a:t>(</a:t>
            </a:r>
            <a:r>
              <a:rPr lang="en-AU" i="1" dirty="0"/>
              <a:t>x</a:t>
            </a:r>
            <a:r>
              <a:rPr lang="en-AU" dirty="0"/>
              <a:t>)= </a:t>
            </a:r>
            <a:r>
              <a:rPr lang="en-AU" dirty="0" smtClean="0"/>
              <a:t>14</a:t>
            </a:r>
            <a:r>
              <a:rPr lang="en-AU" i="1" dirty="0" smtClean="0"/>
              <a:t>x</a:t>
            </a:r>
            <a:r>
              <a:rPr lang="en-AU" baseline="30000" dirty="0" smtClean="0"/>
              <a:t>3</a:t>
            </a:r>
            <a:r>
              <a:rPr lang="en-AU" dirty="0" smtClean="0"/>
              <a:t>+12</a:t>
            </a:r>
            <a:r>
              <a:rPr lang="en-AU" i="1" dirty="0" smtClean="0"/>
              <a:t>x</a:t>
            </a:r>
            <a:r>
              <a:rPr lang="en-AU" baseline="30000" dirty="0" smtClean="0"/>
              <a:t>2</a:t>
            </a:r>
            <a:r>
              <a:rPr lang="en-AU" dirty="0" smtClean="0"/>
              <a:t>−2</a:t>
            </a:r>
            <a:r>
              <a:rPr lang="en-AU" i="1" dirty="0" smtClean="0"/>
              <a:t>x-</a:t>
            </a:r>
            <a:r>
              <a:rPr lang="en-AU" dirty="0" smtClean="0"/>
              <a:t>12</a:t>
            </a:r>
            <a:endParaRPr lang="en-AU" dirty="0"/>
          </a:p>
          <a:p>
            <a:endParaRPr lang="en-AU" dirty="0" smtClean="0">
              <a:effectLst/>
            </a:endParaRPr>
          </a:p>
          <a:p>
            <a:endParaRPr lang="en-AU" dirty="0"/>
          </a:p>
          <a:p>
            <a:r>
              <a:rPr lang="en-AU" i="1" dirty="0"/>
              <a:t>P</a:t>
            </a:r>
            <a:r>
              <a:rPr lang="en-AU" dirty="0"/>
              <a:t>(</a:t>
            </a:r>
            <a:r>
              <a:rPr lang="en-AU" i="1" dirty="0"/>
              <a:t>x</a:t>
            </a:r>
            <a:r>
              <a:rPr lang="en-AU" dirty="0"/>
              <a:t>) + </a:t>
            </a:r>
            <a:r>
              <a:rPr lang="en-AU" i="1" dirty="0"/>
              <a:t>Q</a:t>
            </a:r>
            <a:r>
              <a:rPr lang="en-AU" dirty="0"/>
              <a:t>(</a:t>
            </a:r>
            <a:r>
              <a:rPr lang="en-AU" i="1" dirty="0"/>
              <a:t>x</a:t>
            </a:r>
            <a:r>
              <a:rPr lang="en-AU" dirty="0"/>
              <a:t>)= </a:t>
            </a:r>
            <a:r>
              <a:rPr lang="en-AU" strike="sngStrike" dirty="0"/>
              <a:t>7</a:t>
            </a:r>
            <a:r>
              <a:rPr lang="en-AU" i="1" strike="sngStrike" dirty="0"/>
              <a:t>x</a:t>
            </a:r>
            <a:r>
              <a:rPr lang="en-AU" strike="sngStrike" baseline="30000" dirty="0"/>
              <a:t>3</a:t>
            </a:r>
            <a:r>
              <a:rPr lang="en-AU" dirty="0"/>
              <a:t>+4</a:t>
            </a:r>
            <a:r>
              <a:rPr lang="en-AU" i="1" dirty="0"/>
              <a:t>x</a:t>
            </a:r>
            <a:r>
              <a:rPr lang="en-AU" baseline="30000" dirty="0"/>
              <a:t>2</a:t>
            </a:r>
            <a:r>
              <a:rPr lang="en-AU" dirty="0"/>
              <a:t>−4 + </a:t>
            </a:r>
            <a:r>
              <a:rPr lang="en-AU" strike="sngStrike" dirty="0" smtClean="0"/>
              <a:t>7</a:t>
            </a:r>
            <a:r>
              <a:rPr lang="en-AU" i="1" strike="sngStrike" dirty="0" smtClean="0"/>
              <a:t>x</a:t>
            </a:r>
            <a:r>
              <a:rPr lang="en-AU" strike="sngStrike" baseline="30000" dirty="0" smtClean="0"/>
              <a:t>3</a:t>
            </a:r>
            <a:r>
              <a:rPr lang="en-AU" dirty="0" smtClean="0"/>
              <a:t>+8</a:t>
            </a:r>
            <a:r>
              <a:rPr lang="en-AU" i="1" dirty="0" smtClean="0"/>
              <a:t>x</a:t>
            </a:r>
            <a:r>
              <a:rPr lang="en-AU" baseline="30000" dirty="0" smtClean="0"/>
              <a:t>2</a:t>
            </a:r>
            <a:r>
              <a:rPr lang="en-AU" dirty="0"/>
              <a:t>−2</a:t>
            </a:r>
            <a:r>
              <a:rPr lang="en-AU" i="1" dirty="0"/>
              <a:t>x</a:t>
            </a:r>
            <a:r>
              <a:rPr lang="en-AU" dirty="0"/>
              <a:t>−</a:t>
            </a:r>
            <a:r>
              <a:rPr lang="en-AU" dirty="0" smtClean="0"/>
              <a:t>8</a:t>
            </a:r>
            <a:endParaRPr lang="en-AU" dirty="0"/>
          </a:p>
          <a:p>
            <a:endParaRPr lang="en-AU" dirty="0" smtClean="0">
              <a:effectLst/>
            </a:endParaRPr>
          </a:p>
          <a:p>
            <a:r>
              <a:rPr lang="en-AU" i="1" dirty="0"/>
              <a:t>P</a:t>
            </a:r>
            <a:r>
              <a:rPr lang="en-AU" dirty="0"/>
              <a:t>(</a:t>
            </a:r>
            <a:r>
              <a:rPr lang="en-AU" i="1" dirty="0"/>
              <a:t>x</a:t>
            </a:r>
            <a:r>
              <a:rPr lang="en-AU" dirty="0"/>
              <a:t>) + </a:t>
            </a:r>
            <a:r>
              <a:rPr lang="en-AU" i="1" dirty="0"/>
              <a:t>Q</a:t>
            </a:r>
            <a:r>
              <a:rPr lang="en-AU" dirty="0"/>
              <a:t>(</a:t>
            </a:r>
            <a:r>
              <a:rPr lang="en-AU" i="1" dirty="0"/>
              <a:t>x</a:t>
            </a:r>
            <a:r>
              <a:rPr lang="en-AU" dirty="0"/>
              <a:t>)= 14</a:t>
            </a:r>
            <a:r>
              <a:rPr lang="en-AU" i="1" dirty="0"/>
              <a:t>x</a:t>
            </a:r>
            <a:r>
              <a:rPr lang="en-AU" baseline="30000" dirty="0"/>
              <a:t>3</a:t>
            </a:r>
            <a:r>
              <a:rPr lang="en-AU" dirty="0"/>
              <a:t>+12</a:t>
            </a:r>
            <a:r>
              <a:rPr lang="en-AU" i="1" dirty="0"/>
              <a:t>x</a:t>
            </a:r>
            <a:r>
              <a:rPr lang="en-AU" baseline="30000" dirty="0"/>
              <a:t>2</a:t>
            </a:r>
            <a:r>
              <a:rPr lang="en-AU" dirty="0"/>
              <a:t>−2</a:t>
            </a:r>
            <a:r>
              <a:rPr lang="en-AU" i="1" dirty="0"/>
              <a:t>x-</a:t>
            </a:r>
            <a:r>
              <a:rPr lang="en-AU" dirty="0"/>
              <a:t>12</a:t>
            </a:r>
          </a:p>
          <a:p>
            <a:endParaRPr lang="en-AU" dirty="0">
              <a:effectLst/>
            </a:endParaRPr>
          </a:p>
        </p:txBody>
      </p:sp>
      <p:sp>
        <p:nvSpPr>
          <p:cNvPr id="3" name="TextBox 2"/>
          <p:cNvSpPr txBox="1"/>
          <p:nvPr/>
        </p:nvSpPr>
        <p:spPr>
          <a:xfrm>
            <a:off x="5508104" y="3868384"/>
            <a:ext cx="2520279" cy="646331"/>
          </a:xfrm>
          <a:prstGeom prst="rect">
            <a:avLst/>
          </a:prstGeom>
          <a:noFill/>
          <a:ln>
            <a:solidFill>
              <a:schemeClr val="accent1"/>
            </a:solidFill>
          </a:ln>
        </p:spPr>
        <p:txBody>
          <a:bodyPr wrap="square" rtlCol="0">
            <a:spAutoFit/>
          </a:bodyPr>
          <a:lstStyle/>
          <a:p>
            <a:r>
              <a:rPr lang="en-AU" dirty="0" smtClean="0"/>
              <a:t>Don’t forget the answer starts with </a:t>
            </a:r>
            <a:r>
              <a:rPr lang="en-AU" i="1" dirty="0"/>
              <a:t>P</a:t>
            </a:r>
            <a:r>
              <a:rPr lang="en-AU" dirty="0"/>
              <a:t>(</a:t>
            </a:r>
            <a:r>
              <a:rPr lang="en-AU" i="1" dirty="0"/>
              <a:t>x</a:t>
            </a:r>
            <a:r>
              <a:rPr lang="en-AU" dirty="0"/>
              <a:t>) + </a:t>
            </a:r>
            <a:r>
              <a:rPr lang="en-AU" i="1" dirty="0"/>
              <a:t>Q</a:t>
            </a:r>
            <a:r>
              <a:rPr lang="en-AU" dirty="0"/>
              <a:t>(</a:t>
            </a:r>
            <a:r>
              <a:rPr lang="en-AU" i="1" dirty="0"/>
              <a:t>x</a:t>
            </a:r>
            <a:r>
              <a:rPr lang="en-AU" dirty="0"/>
              <a:t>)= </a:t>
            </a:r>
          </a:p>
        </p:txBody>
      </p:sp>
      <p:cxnSp>
        <p:nvCxnSpPr>
          <p:cNvPr id="9" name="Straight Arrow Connector 8"/>
          <p:cNvCxnSpPr/>
          <p:nvPr/>
        </p:nvCxnSpPr>
        <p:spPr>
          <a:xfrm flipH="1">
            <a:off x="2483768" y="4029457"/>
            <a:ext cx="3024336" cy="335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660503" y="5229200"/>
            <a:ext cx="3231977" cy="1200329"/>
          </a:xfrm>
          <a:prstGeom prst="rect">
            <a:avLst/>
          </a:prstGeom>
          <a:noFill/>
          <a:ln>
            <a:solidFill>
              <a:schemeClr val="accent1"/>
            </a:solidFill>
          </a:ln>
        </p:spPr>
        <p:txBody>
          <a:bodyPr wrap="square" rtlCol="0">
            <a:spAutoFit/>
          </a:bodyPr>
          <a:lstStyle/>
          <a:p>
            <a:r>
              <a:rPr lang="en-AU" dirty="0" smtClean="0"/>
              <a:t>If you want to leave them in the same place you might want to strike through the ones you have added, as you go.</a:t>
            </a:r>
            <a:endParaRPr lang="en-AU" dirty="0"/>
          </a:p>
        </p:txBody>
      </p:sp>
      <p:cxnSp>
        <p:nvCxnSpPr>
          <p:cNvPr id="17" name="Straight Arrow Connector 16"/>
          <p:cNvCxnSpPr/>
          <p:nvPr/>
        </p:nvCxnSpPr>
        <p:spPr>
          <a:xfrm flipH="1" flipV="1">
            <a:off x="3995936" y="5517232"/>
            <a:ext cx="1664567"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2771800" y="5517232"/>
            <a:ext cx="2888703"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2771800" y="6021288"/>
            <a:ext cx="2888703"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19514" y="2060848"/>
            <a:ext cx="845103" cy="369332"/>
          </a:xfrm>
          <a:prstGeom prst="rect">
            <a:avLst/>
          </a:prstGeom>
          <a:noFill/>
        </p:spPr>
        <p:txBody>
          <a:bodyPr wrap="none" rtlCol="0">
            <a:spAutoFit/>
          </a:bodyPr>
          <a:lstStyle/>
          <a:p>
            <a:r>
              <a:rPr lang="en-AU" dirty="0" smtClean="0"/>
              <a:t>Adding</a:t>
            </a:r>
            <a:endParaRPr lang="en-AU" dirty="0"/>
          </a:p>
        </p:txBody>
      </p:sp>
    </p:spTree>
    <p:extLst>
      <p:ext uri="{BB962C8B-B14F-4D97-AF65-F5344CB8AC3E}">
        <p14:creationId xmlns:p14="http://schemas.microsoft.com/office/powerpoint/2010/main" val="3415905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2104294" cy="523220"/>
          </a:xfrm>
          <a:prstGeom prst="rect">
            <a:avLst/>
          </a:prstGeom>
          <a:noFill/>
        </p:spPr>
        <p:txBody>
          <a:bodyPr wrap="none" rtlCol="0">
            <a:spAutoFit/>
          </a:bodyPr>
          <a:lstStyle/>
          <a:p>
            <a:r>
              <a:rPr lang="en-AU" sz="2800" dirty="0"/>
              <a:t>Polynomials?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t>
            </a:r>
            <a:r>
              <a:rPr lang="en-AU" sz="2400" dirty="0" smtClean="0"/>
              <a:t>How do we Subtract Polynomials! </a:t>
            </a:r>
            <a:endParaRPr lang="en-AU" sz="2400" dirty="0"/>
          </a:p>
        </p:txBody>
      </p:sp>
      <p:cxnSp>
        <p:nvCxnSpPr>
          <p:cNvPr id="13" name="Straight Connector 12"/>
          <p:cNvCxnSpPr/>
          <p:nvPr/>
        </p:nvCxnSpPr>
        <p:spPr>
          <a:xfrm>
            <a:off x="1259632" y="1525101"/>
            <a:ext cx="0" cy="5332899"/>
          </a:xfrm>
          <a:prstGeom prst="line">
            <a:avLst/>
          </a:prstGeom>
        </p:spPr>
        <p:style>
          <a:lnRef idx="1">
            <a:schemeClr val="accent2"/>
          </a:lnRef>
          <a:fillRef idx="0">
            <a:schemeClr val="accent2"/>
          </a:fillRef>
          <a:effectRef idx="0">
            <a:schemeClr val="accent2"/>
          </a:effectRef>
          <a:fontRef idx="minor">
            <a:schemeClr val="tx1"/>
          </a:fontRef>
        </p:style>
      </p:cxn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3849" t="69068" r="-98284" b="-52259"/>
          <a:stretch/>
        </p:blipFill>
        <p:spPr bwMode="auto">
          <a:xfrm>
            <a:off x="17170400" y="3251200"/>
            <a:ext cx="16693976" cy="811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403649" y="1628800"/>
            <a:ext cx="7344816" cy="5155257"/>
          </a:xfrm>
          <a:prstGeom prst="rect">
            <a:avLst/>
          </a:prstGeom>
        </p:spPr>
        <p:txBody>
          <a:bodyPr wrap="square">
            <a:spAutoFit/>
          </a:bodyPr>
          <a:lstStyle/>
          <a:p>
            <a:r>
              <a:rPr lang="en-AU" i="1" dirty="0" smtClean="0"/>
              <a:t>P</a:t>
            </a:r>
            <a:r>
              <a:rPr lang="en-AU" dirty="0" smtClean="0"/>
              <a:t>(</a:t>
            </a:r>
            <a:r>
              <a:rPr lang="en-AU" i="1" dirty="0" smtClean="0"/>
              <a:t>x</a:t>
            </a:r>
            <a:r>
              <a:rPr lang="en-AU" dirty="0" smtClean="0"/>
              <a:t>) + </a:t>
            </a:r>
            <a:r>
              <a:rPr lang="en-AU" i="1" dirty="0" smtClean="0"/>
              <a:t>Q</a:t>
            </a:r>
            <a:r>
              <a:rPr lang="en-AU" dirty="0" smtClean="0"/>
              <a:t>(</a:t>
            </a:r>
            <a:r>
              <a:rPr lang="en-AU" i="1" dirty="0" smtClean="0"/>
              <a:t>x</a:t>
            </a:r>
            <a:r>
              <a:rPr lang="en-AU" dirty="0" smtClean="0"/>
              <a:t>)=</a:t>
            </a:r>
            <a:r>
              <a:rPr lang="en-AU" dirty="0"/>
              <a:t> 7</a:t>
            </a:r>
            <a:r>
              <a:rPr lang="en-AU" i="1" dirty="0"/>
              <a:t>x</a:t>
            </a:r>
            <a:r>
              <a:rPr lang="en-AU" baseline="30000" dirty="0"/>
              <a:t>3</a:t>
            </a:r>
            <a:r>
              <a:rPr lang="en-AU" dirty="0"/>
              <a:t>+4</a:t>
            </a:r>
            <a:r>
              <a:rPr lang="en-AU" i="1" dirty="0"/>
              <a:t>x</a:t>
            </a:r>
            <a:r>
              <a:rPr lang="en-AU" baseline="30000" dirty="0"/>
              <a:t>2</a:t>
            </a:r>
            <a:r>
              <a:rPr lang="en-AU" dirty="0"/>
              <a:t>−</a:t>
            </a:r>
            <a:r>
              <a:rPr lang="en-AU" dirty="0" smtClean="0"/>
              <a:t>4 - (7</a:t>
            </a:r>
            <a:r>
              <a:rPr lang="en-AU" i="1" dirty="0" smtClean="0"/>
              <a:t>x</a:t>
            </a:r>
            <a:r>
              <a:rPr lang="en-AU" baseline="30000" dirty="0" smtClean="0"/>
              <a:t>3</a:t>
            </a:r>
            <a:r>
              <a:rPr lang="en-AU" dirty="0" smtClean="0"/>
              <a:t>+8</a:t>
            </a:r>
            <a:r>
              <a:rPr lang="en-AU" i="1" dirty="0" smtClean="0"/>
              <a:t>x</a:t>
            </a:r>
            <a:r>
              <a:rPr lang="en-AU" baseline="30000" dirty="0" smtClean="0"/>
              <a:t>2</a:t>
            </a:r>
            <a:r>
              <a:rPr lang="en-AU" dirty="0"/>
              <a:t>−2</a:t>
            </a:r>
            <a:r>
              <a:rPr lang="en-AU" i="1" dirty="0"/>
              <a:t>x</a:t>
            </a:r>
            <a:r>
              <a:rPr lang="en-AU" dirty="0"/>
              <a:t>−</a:t>
            </a:r>
            <a:r>
              <a:rPr lang="en-AU" dirty="0" smtClean="0"/>
              <a:t>8)</a:t>
            </a:r>
            <a:endParaRPr lang="en-AU" dirty="0"/>
          </a:p>
          <a:p>
            <a:endParaRPr lang="en-AU" dirty="0" smtClean="0">
              <a:effectLst/>
            </a:endParaRPr>
          </a:p>
          <a:p>
            <a:r>
              <a:rPr lang="en-AU" dirty="0"/>
              <a:t>Collect the like terms, taking any negative symbols into account. Remember if there is a term with no corresponding term in the other polynomial, you can treat this as a value of zero. For example, </a:t>
            </a:r>
            <a:r>
              <a:rPr lang="en-AU" i="1" dirty="0" smtClean="0"/>
              <a:t>P</a:t>
            </a:r>
            <a:r>
              <a:rPr lang="en-AU" dirty="0" smtClean="0"/>
              <a:t>(</a:t>
            </a:r>
            <a:r>
              <a:rPr lang="en-AU" i="1" dirty="0" smtClean="0"/>
              <a:t>x</a:t>
            </a:r>
            <a:r>
              <a:rPr lang="en-AU" dirty="0"/>
              <a:t>) does not have a value of </a:t>
            </a:r>
            <a:r>
              <a:rPr lang="en-AU" i="1" dirty="0" smtClean="0"/>
              <a:t>x</a:t>
            </a:r>
            <a:r>
              <a:rPr lang="en-AU" baseline="30000" dirty="0" smtClean="0"/>
              <a:t>2</a:t>
            </a:r>
            <a:r>
              <a:rPr lang="en-AU" dirty="0" smtClean="0"/>
              <a:t> </a:t>
            </a:r>
            <a:r>
              <a:rPr lang="en-AU" dirty="0"/>
              <a:t>but </a:t>
            </a:r>
            <a:r>
              <a:rPr lang="en-AU" i="1" dirty="0" smtClean="0"/>
              <a:t>Q</a:t>
            </a:r>
            <a:r>
              <a:rPr lang="en-AU" dirty="0" smtClean="0"/>
              <a:t>(</a:t>
            </a:r>
            <a:r>
              <a:rPr lang="en-AU" i="1" dirty="0" smtClean="0"/>
              <a:t>x</a:t>
            </a:r>
            <a:r>
              <a:rPr lang="en-AU" dirty="0"/>
              <a:t>) does</a:t>
            </a:r>
            <a:r>
              <a:rPr lang="en-AU" dirty="0" smtClean="0"/>
              <a:t>.</a:t>
            </a:r>
          </a:p>
          <a:p>
            <a:r>
              <a:rPr lang="en-AU" dirty="0" smtClean="0">
                <a:effectLst/>
              </a:rPr>
              <a:t>We can do it in the form of a table (see </a:t>
            </a:r>
            <a:r>
              <a:rPr lang="en-AU" dirty="0" err="1" smtClean="0">
                <a:effectLst/>
              </a:rPr>
              <a:t>eg</a:t>
            </a:r>
            <a:r>
              <a:rPr lang="en-AU" dirty="0" smtClean="0">
                <a:effectLst/>
              </a:rPr>
              <a:t> in text) or by collecting like terms</a:t>
            </a:r>
          </a:p>
          <a:p>
            <a:endParaRPr lang="en-AU" dirty="0" smtClean="0">
              <a:effectLst/>
            </a:endParaRPr>
          </a:p>
          <a:p>
            <a:r>
              <a:rPr lang="en-AU" i="1" dirty="0"/>
              <a:t>P</a:t>
            </a:r>
            <a:r>
              <a:rPr lang="en-AU" dirty="0"/>
              <a:t>(</a:t>
            </a:r>
            <a:r>
              <a:rPr lang="en-AU" i="1" dirty="0"/>
              <a:t>x</a:t>
            </a:r>
            <a:r>
              <a:rPr lang="en-AU" dirty="0"/>
              <a:t>) + </a:t>
            </a:r>
            <a:r>
              <a:rPr lang="en-AU" i="1" dirty="0"/>
              <a:t>Q</a:t>
            </a:r>
            <a:r>
              <a:rPr lang="en-AU" dirty="0"/>
              <a:t>(</a:t>
            </a:r>
            <a:r>
              <a:rPr lang="en-AU" i="1" dirty="0"/>
              <a:t>x</a:t>
            </a:r>
            <a:r>
              <a:rPr lang="en-AU" dirty="0"/>
              <a:t>)= </a:t>
            </a:r>
            <a:r>
              <a:rPr lang="en-AU" dirty="0" smtClean="0"/>
              <a:t>7</a:t>
            </a:r>
            <a:r>
              <a:rPr lang="en-AU" i="1" dirty="0" smtClean="0"/>
              <a:t>x</a:t>
            </a:r>
            <a:r>
              <a:rPr lang="en-AU" baseline="30000" dirty="0" smtClean="0"/>
              <a:t>3</a:t>
            </a:r>
            <a:r>
              <a:rPr lang="en-AU" dirty="0" smtClean="0"/>
              <a:t>-7</a:t>
            </a:r>
            <a:r>
              <a:rPr lang="en-AU" i="1" dirty="0" smtClean="0"/>
              <a:t>x</a:t>
            </a:r>
            <a:r>
              <a:rPr lang="en-AU" baseline="30000" dirty="0" smtClean="0"/>
              <a:t>3</a:t>
            </a:r>
            <a:r>
              <a:rPr lang="en-AU" dirty="0" smtClean="0"/>
              <a:t>+4</a:t>
            </a:r>
            <a:r>
              <a:rPr lang="en-AU" i="1" dirty="0" smtClean="0"/>
              <a:t>x</a:t>
            </a:r>
            <a:r>
              <a:rPr lang="en-AU" baseline="30000" dirty="0" smtClean="0"/>
              <a:t>2</a:t>
            </a:r>
            <a:r>
              <a:rPr lang="en-AU" dirty="0" smtClean="0"/>
              <a:t>-8</a:t>
            </a:r>
            <a:r>
              <a:rPr lang="en-AU" i="1" dirty="0" smtClean="0"/>
              <a:t>x</a:t>
            </a:r>
            <a:r>
              <a:rPr lang="en-AU" baseline="30000" dirty="0" smtClean="0"/>
              <a:t>2</a:t>
            </a:r>
            <a:r>
              <a:rPr lang="en-AU" dirty="0" smtClean="0"/>
              <a:t>+2</a:t>
            </a:r>
            <a:r>
              <a:rPr lang="en-AU" i="1" dirty="0" smtClean="0"/>
              <a:t>x-</a:t>
            </a:r>
            <a:r>
              <a:rPr lang="en-AU" dirty="0" smtClean="0"/>
              <a:t>4+8</a:t>
            </a:r>
          </a:p>
          <a:p>
            <a:endParaRPr lang="en-AU" dirty="0" smtClean="0">
              <a:effectLst/>
            </a:endParaRPr>
          </a:p>
          <a:p>
            <a:r>
              <a:rPr lang="en-AU" i="1" dirty="0"/>
              <a:t>P</a:t>
            </a:r>
            <a:r>
              <a:rPr lang="en-AU" dirty="0"/>
              <a:t>(</a:t>
            </a:r>
            <a:r>
              <a:rPr lang="en-AU" i="1" dirty="0"/>
              <a:t>x</a:t>
            </a:r>
            <a:r>
              <a:rPr lang="en-AU" dirty="0"/>
              <a:t>) + </a:t>
            </a:r>
            <a:r>
              <a:rPr lang="en-AU" i="1" dirty="0"/>
              <a:t>Q</a:t>
            </a:r>
            <a:r>
              <a:rPr lang="en-AU" dirty="0"/>
              <a:t>(</a:t>
            </a:r>
            <a:r>
              <a:rPr lang="en-AU" i="1" dirty="0"/>
              <a:t>x</a:t>
            </a:r>
            <a:r>
              <a:rPr lang="en-AU" dirty="0"/>
              <a:t>)= </a:t>
            </a:r>
            <a:r>
              <a:rPr lang="en-AU" dirty="0" smtClean="0"/>
              <a:t>0</a:t>
            </a:r>
            <a:r>
              <a:rPr lang="en-AU" i="1" dirty="0" smtClean="0"/>
              <a:t>x</a:t>
            </a:r>
            <a:r>
              <a:rPr lang="en-AU" baseline="30000" dirty="0" smtClean="0"/>
              <a:t>3</a:t>
            </a:r>
            <a:r>
              <a:rPr lang="en-AU" dirty="0"/>
              <a:t> </a:t>
            </a:r>
            <a:r>
              <a:rPr lang="en-AU" dirty="0" smtClean="0"/>
              <a:t>- 4</a:t>
            </a:r>
            <a:r>
              <a:rPr lang="en-AU" i="1" dirty="0" smtClean="0"/>
              <a:t>x</a:t>
            </a:r>
            <a:r>
              <a:rPr lang="en-AU" baseline="30000" dirty="0" smtClean="0"/>
              <a:t>2 </a:t>
            </a:r>
            <a:r>
              <a:rPr lang="en-AU" dirty="0" smtClean="0"/>
              <a:t>+ 2</a:t>
            </a:r>
            <a:r>
              <a:rPr lang="en-AU" i="1" dirty="0" smtClean="0"/>
              <a:t>x </a:t>
            </a:r>
            <a:r>
              <a:rPr lang="en-AU" dirty="0" smtClean="0"/>
              <a:t>+ 4</a:t>
            </a:r>
            <a:endParaRPr lang="en-AU" dirty="0"/>
          </a:p>
          <a:p>
            <a:endParaRPr lang="en-AU" dirty="0" smtClean="0">
              <a:effectLst/>
            </a:endParaRPr>
          </a:p>
          <a:p>
            <a:r>
              <a:rPr lang="en-AU" i="1" dirty="0"/>
              <a:t>P</a:t>
            </a:r>
            <a:r>
              <a:rPr lang="en-AU" dirty="0"/>
              <a:t>(</a:t>
            </a:r>
            <a:r>
              <a:rPr lang="en-AU" i="1" dirty="0"/>
              <a:t>x</a:t>
            </a:r>
            <a:r>
              <a:rPr lang="en-AU" dirty="0"/>
              <a:t>) + </a:t>
            </a:r>
            <a:r>
              <a:rPr lang="en-AU" i="1" dirty="0"/>
              <a:t>Q</a:t>
            </a:r>
            <a:r>
              <a:rPr lang="en-AU" dirty="0"/>
              <a:t>(</a:t>
            </a:r>
            <a:r>
              <a:rPr lang="en-AU" i="1" dirty="0"/>
              <a:t>x</a:t>
            </a:r>
            <a:r>
              <a:rPr lang="en-AU" dirty="0"/>
              <a:t>)= </a:t>
            </a:r>
            <a:r>
              <a:rPr lang="en-AU" dirty="0" smtClean="0"/>
              <a:t>- </a:t>
            </a:r>
            <a:r>
              <a:rPr lang="en-AU" dirty="0"/>
              <a:t>4</a:t>
            </a:r>
            <a:r>
              <a:rPr lang="en-AU" i="1" dirty="0"/>
              <a:t>x</a:t>
            </a:r>
            <a:r>
              <a:rPr lang="en-AU" baseline="30000" dirty="0"/>
              <a:t>2 </a:t>
            </a:r>
            <a:r>
              <a:rPr lang="en-AU" dirty="0"/>
              <a:t>+ 2</a:t>
            </a:r>
            <a:r>
              <a:rPr lang="en-AU" i="1" dirty="0"/>
              <a:t>x </a:t>
            </a:r>
            <a:r>
              <a:rPr lang="en-AU" dirty="0"/>
              <a:t>+ 4</a:t>
            </a:r>
          </a:p>
          <a:p>
            <a:endParaRPr lang="en-AU" dirty="0"/>
          </a:p>
          <a:p>
            <a:r>
              <a:rPr lang="en-AU" i="1" dirty="0"/>
              <a:t>P</a:t>
            </a:r>
            <a:r>
              <a:rPr lang="en-AU" dirty="0"/>
              <a:t>(</a:t>
            </a:r>
            <a:r>
              <a:rPr lang="en-AU" i="1" dirty="0"/>
              <a:t>x</a:t>
            </a:r>
            <a:r>
              <a:rPr lang="en-AU" dirty="0"/>
              <a:t>) + </a:t>
            </a:r>
            <a:r>
              <a:rPr lang="en-AU" i="1" dirty="0"/>
              <a:t>Q</a:t>
            </a:r>
            <a:r>
              <a:rPr lang="en-AU" dirty="0"/>
              <a:t>(</a:t>
            </a:r>
            <a:r>
              <a:rPr lang="en-AU" i="1" dirty="0"/>
              <a:t>x</a:t>
            </a:r>
            <a:r>
              <a:rPr lang="en-AU" dirty="0"/>
              <a:t>)= </a:t>
            </a:r>
            <a:r>
              <a:rPr lang="en-AU" strike="sngStrike" dirty="0"/>
              <a:t>7</a:t>
            </a:r>
            <a:r>
              <a:rPr lang="en-AU" i="1" strike="sngStrike" dirty="0"/>
              <a:t>x</a:t>
            </a:r>
            <a:r>
              <a:rPr lang="en-AU" strike="sngStrike" baseline="30000" dirty="0"/>
              <a:t>3</a:t>
            </a:r>
            <a:r>
              <a:rPr lang="en-AU" dirty="0"/>
              <a:t>+4</a:t>
            </a:r>
            <a:r>
              <a:rPr lang="en-AU" i="1" dirty="0"/>
              <a:t>x</a:t>
            </a:r>
            <a:r>
              <a:rPr lang="en-AU" baseline="30000" dirty="0"/>
              <a:t>2</a:t>
            </a:r>
            <a:r>
              <a:rPr lang="en-AU" dirty="0"/>
              <a:t>−4 </a:t>
            </a:r>
            <a:r>
              <a:rPr lang="en-AU" dirty="0" smtClean="0"/>
              <a:t>- </a:t>
            </a:r>
            <a:r>
              <a:rPr lang="en-AU" strike="sngStrike" dirty="0" smtClean="0"/>
              <a:t>7</a:t>
            </a:r>
            <a:r>
              <a:rPr lang="en-AU" i="1" strike="sngStrike" dirty="0" smtClean="0"/>
              <a:t>x</a:t>
            </a:r>
            <a:r>
              <a:rPr lang="en-AU" strike="sngStrike" baseline="30000" dirty="0" smtClean="0"/>
              <a:t>3 </a:t>
            </a:r>
            <a:r>
              <a:rPr lang="en-AU" dirty="0"/>
              <a:t>-</a:t>
            </a:r>
            <a:r>
              <a:rPr lang="en-AU" dirty="0" smtClean="0"/>
              <a:t> 8</a:t>
            </a:r>
            <a:r>
              <a:rPr lang="en-AU" i="1" dirty="0" smtClean="0"/>
              <a:t>x</a:t>
            </a:r>
            <a:r>
              <a:rPr lang="en-AU" baseline="30000" dirty="0" smtClean="0"/>
              <a:t>2 </a:t>
            </a:r>
            <a:r>
              <a:rPr lang="en-AU" dirty="0"/>
              <a:t>+</a:t>
            </a:r>
            <a:r>
              <a:rPr lang="en-AU" dirty="0" smtClean="0"/>
              <a:t> 2</a:t>
            </a:r>
            <a:r>
              <a:rPr lang="en-AU" i="1" dirty="0" smtClean="0"/>
              <a:t>x </a:t>
            </a:r>
            <a:r>
              <a:rPr lang="en-AU" dirty="0" smtClean="0"/>
              <a:t>+</a:t>
            </a:r>
            <a:r>
              <a:rPr lang="en-AU" i="1" dirty="0" smtClean="0"/>
              <a:t> </a:t>
            </a:r>
            <a:r>
              <a:rPr lang="en-AU" dirty="0" smtClean="0"/>
              <a:t>8</a:t>
            </a:r>
            <a:endParaRPr lang="en-AU" dirty="0"/>
          </a:p>
          <a:p>
            <a:endParaRPr lang="en-AU" dirty="0" smtClean="0">
              <a:effectLst/>
            </a:endParaRPr>
          </a:p>
          <a:p>
            <a:r>
              <a:rPr lang="en-AU" i="1" dirty="0"/>
              <a:t>P</a:t>
            </a:r>
            <a:r>
              <a:rPr lang="en-AU" dirty="0"/>
              <a:t>(</a:t>
            </a:r>
            <a:r>
              <a:rPr lang="en-AU" i="1" dirty="0"/>
              <a:t>x</a:t>
            </a:r>
            <a:r>
              <a:rPr lang="en-AU" dirty="0"/>
              <a:t>) + </a:t>
            </a:r>
            <a:r>
              <a:rPr lang="en-AU" i="1" dirty="0"/>
              <a:t>Q</a:t>
            </a:r>
            <a:r>
              <a:rPr lang="en-AU" dirty="0"/>
              <a:t>(</a:t>
            </a:r>
            <a:r>
              <a:rPr lang="en-AU" i="1" dirty="0"/>
              <a:t>x</a:t>
            </a:r>
            <a:r>
              <a:rPr lang="en-AU" dirty="0"/>
              <a:t>)= </a:t>
            </a:r>
            <a:r>
              <a:rPr lang="en-AU" dirty="0" smtClean="0"/>
              <a:t>0</a:t>
            </a:r>
            <a:r>
              <a:rPr lang="en-AU" i="1" dirty="0" smtClean="0"/>
              <a:t>x</a:t>
            </a:r>
            <a:r>
              <a:rPr lang="en-AU" baseline="30000" dirty="0" smtClean="0"/>
              <a:t>3 </a:t>
            </a:r>
            <a:r>
              <a:rPr lang="en-AU" dirty="0" smtClean="0"/>
              <a:t>+ 4</a:t>
            </a:r>
            <a:r>
              <a:rPr lang="en-AU" i="1" dirty="0" smtClean="0"/>
              <a:t>x</a:t>
            </a:r>
            <a:r>
              <a:rPr lang="en-AU" baseline="30000" dirty="0" smtClean="0"/>
              <a:t>2 </a:t>
            </a:r>
            <a:r>
              <a:rPr lang="en-AU" dirty="0" smtClean="0"/>
              <a:t>+ 2</a:t>
            </a:r>
            <a:r>
              <a:rPr lang="en-AU" i="1" dirty="0" smtClean="0"/>
              <a:t>x </a:t>
            </a:r>
            <a:r>
              <a:rPr lang="en-AU" dirty="0" smtClean="0"/>
              <a:t>+ 4</a:t>
            </a:r>
            <a:endParaRPr lang="en-AU" dirty="0"/>
          </a:p>
          <a:p>
            <a:pPr>
              <a:spcBef>
                <a:spcPts val="600"/>
              </a:spcBef>
            </a:pPr>
            <a:r>
              <a:rPr lang="en-AU" i="1" dirty="0"/>
              <a:t>P</a:t>
            </a:r>
            <a:r>
              <a:rPr lang="en-AU" dirty="0"/>
              <a:t>(</a:t>
            </a:r>
            <a:r>
              <a:rPr lang="en-AU" i="1" dirty="0"/>
              <a:t>x</a:t>
            </a:r>
            <a:r>
              <a:rPr lang="en-AU" dirty="0"/>
              <a:t>) + </a:t>
            </a:r>
            <a:r>
              <a:rPr lang="en-AU" i="1" dirty="0"/>
              <a:t>Q</a:t>
            </a:r>
            <a:r>
              <a:rPr lang="en-AU" dirty="0"/>
              <a:t>(</a:t>
            </a:r>
            <a:r>
              <a:rPr lang="en-AU" i="1" dirty="0"/>
              <a:t>x</a:t>
            </a:r>
            <a:r>
              <a:rPr lang="en-AU" dirty="0"/>
              <a:t>)= - 4</a:t>
            </a:r>
            <a:r>
              <a:rPr lang="en-AU" i="1" dirty="0"/>
              <a:t>x</a:t>
            </a:r>
            <a:r>
              <a:rPr lang="en-AU" baseline="30000" dirty="0"/>
              <a:t>2 </a:t>
            </a:r>
            <a:r>
              <a:rPr lang="en-AU" dirty="0"/>
              <a:t>+ 2</a:t>
            </a:r>
            <a:r>
              <a:rPr lang="en-AU" i="1" dirty="0"/>
              <a:t>x </a:t>
            </a:r>
            <a:r>
              <a:rPr lang="en-AU" dirty="0"/>
              <a:t>+ </a:t>
            </a:r>
            <a:r>
              <a:rPr lang="en-AU" dirty="0" smtClean="0"/>
              <a:t>4</a:t>
            </a:r>
            <a:endParaRPr lang="en-AU" dirty="0"/>
          </a:p>
        </p:txBody>
      </p:sp>
      <p:sp>
        <p:nvSpPr>
          <p:cNvPr id="3" name="TextBox 2"/>
          <p:cNvSpPr txBox="1"/>
          <p:nvPr/>
        </p:nvSpPr>
        <p:spPr>
          <a:xfrm>
            <a:off x="5517480" y="3550949"/>
            <a:ext cx="2520279" cy="646331"/>
          </a:xfrm>
          <a:prstGeom prst="rect">
            <a:avLst/>
          </a:prstGeom>
          <a:noFill/>
          <a:ln>
            <a:solidFill>
              <a:schemeClr val="accent1"/>
            </a:solidFill>
          </a:ln>
        </p:spPr>
        <p:txBody>
          <a:bodyPr wrap="square" rtlCol="0">
            <a:spAutoFit/>
          </a:bodyPr>
          <a:lstStyle/>
          <a:p>
            <a:r>
              <a:rPr lang="en-AU" dirty="0" smtClean="0"/>
              <a:t>Don’t forget the answer starts with </a:t>
            </a:r>
            <a:r>
              <a:rPr lang="en-AU" i="1" dirty="0"/>
              <a:t>P</a:t>
            </a:r>
            <a:r>
              <a:rPr lang="en-AU" dirty="0"/>
              <a:t>(</a:t>
            </a:r>
            <a:r>
              <a:rPr lang="en-AU" i="1" dirty="0"/>
              <a:t>x</a:t>
            </a:r>
            <a:r>
              <a:rPr lang="en-AU" dirty="0"/>
              <a:t>) + </a:t>
            </a:r>
            <a:r>
              <a:rPr lang="en-AU" i="1" dirty="0"/>
              <a:t>Q</a:t>
            </a:r>
            <a:r>
              <a:rPr lang="en-AU" dirty="0"/>
              <a:t>(</a:t>
            </a:r>
            <a:r>
              <a:rPr lang="en-AU" i="1" dirty="0"/>
              <a:t>x</a:t>
            </a:r>
            <a:r>
              <a:rPr lang="en-AU" dirty="0"/>
              <a:t>)= </a:t>
            </a:r>
          </a:p>
        </p:txBody>
      </p:sp>
      <p:cxnSp>
        <p:nvCxnSpPr>
          <p:cNvPr id="9" name="Straight Arrow Connector 8"/>
          <p:cNvCxnSpPr/>
          <p:nvPr/>
        </p:nvCxnSpPr>
        <p:spPr>
          <a:xfrm flipH="1">
            <a:off x="2483768" y="4029457"/>
            <a:ext cx="3024336" cy="335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660503" y="5457105"/>
            <a:ext cx="3231977" cy="1200329"/>
          </a:xfrm>
          <a:prstGeom prst="rect">
            <a:avLst/>
          </a:prstGeom>
          <a:noFill/>
          <a:ln>
            <a:solidFill>
              <a:schemeClr val="accent1"/>
            </a:solidFill>
          </a:ln>
        </p:spPr>
        <p:txBody>
          <a:bodyPr wrap="square" rtlCol="0">
            <a:spAutoFit/>
          </a:bodyPr>
          <a:lstStyle/>
          <a:p>
            <a:r>
              <a:rPr lang="en-AU" dirty="0" smtClean="0"/>
              <a:t>If you want to leave them in the same place you might want to strike through the ones you have added, as you go.</a:t>
            </a:r>
            <a:endParaRPr lang="en-AU" dirty="0"/>
          </a:p>
        </p:txBody>
      </p:sp>
      <p:cxnSp>
        <p:nvCxnSpPr>
          <p:cNvPr id="17" name="Straight Arrow Connector 16"/>
          <p:cNvCxnSpPr/>
          <p:nvPr/>
        </p:nvCxnSpPr>
        <p:spPr>
          <a:xfrm flipH="1" flipV="1">
            <a:off x="3995936" y="5710584"/>
            <a:ext cx="1664567"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2771800" y="5732524"/>
            <a:ext cx="2888703"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2771799" y="6309320"/>
            <a:ext cx="2888703"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2279" y="1915964"/>
            <a:ext cx="1254511" cy="369332"/>
          </a:xfrm>
          <a:prstGeom prst="rect">
            <a:avLst/>
          </a:prstGeom>
          <a:noFill/>
        </p:spPr>
        <p:txBody>
          <a:bodyPr wrap="none" rtlCol="0">
            <a:spAutoFit/>
          </a:bodyPr>
          <a:lstStyle/>
          <a:p>
            <a:r>
              <a:rPr lang="en-AU" dirty="0" smtClean="0"/>
              <a:t>Subtracting</a:t>
            </a:r>
            <a:endParaRPr lang="en-AU" dirty="0"/>
          </a:p>
        </p:txBody>
      </p:sp>
      <p:sp>
        <p:nvSpPr>
          <p:cNvPr id="20" name="TextBox 19"/>
          <p:cNvSpPr txBox="1"/>
          <p:nvPr/>
        </p:nvSpPr>
        <p:spPr>
          <a:xfrm>
            <a:off x="5508105" y="4355961"/>
            <a:ext cx="1656184" cy="369332"/>
          </a:xfrm>
          <a:prstGeom prst="rect">
            <a:avLst/>
          </a:prstGeom>
          <a:noFill/>
          <a:ln>
            <a:solidFill>
              <a:schemeClr val="accent1"/>
            </a:solidFill>
          </a:ln>
        </p:spPr>
        <p:txBody>
          <a:bodyPr wrap="square" rtlCol="0">
            <a:spAutoFit/>
          </a:bodyPr>
          <a:lstStyle/>
          <a:p>
            <a:r>
              <a:rPr lang="en-AU" dirty="0" smtClean="0"/>
              <a:t>0</a:t>
            </a:r>
            <a:r>
              <a:rPr lang="en-AU" i="1" dirty="0" smtClean="0"/>
              <a:t>x</a:t>
            </a:r>
            <a:r>
              <a:rPr lang="en-AU" baseline="30000" dirty="0" smtClean="0"/>
              <a:t>3 </a:t>
            </a:r>
            <a:r>
              <a:rPr lang="en-AU" dirty="0" smtClean="0"/>
              <a:t>not needed</a:t>
            </a:r>
            <a:endParaRPr lang="en-AU" dirty="0"/>
          </a:p>
        </p:txBody>
      </p:sp>
    </p:spTree>
    <p:extLst>
      <p:ext uri="{BB962C8B-B14F-4D97-AF65-F5344CB8AC3E}">
        <p14:creationId xmlns:p14="http://schemas.microsoft.com/office/powerpoint/2010/main" val="3233116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11560" y="764704"/>
            <a:ext cx="7632848" cy="4536504"/>
          </a:xfrm>
        </p:spPr>
        <p:txBody>
          <a:bodyPr>
            <a:normAutofit/>
          </a:bodyPr>
          <a:lstStyle/>
          <a:p>
            <a:r>
              <a:rPr lang="en-AU" b="1" dirty="0" smtClean="0">
                <a:solidFill>
                  <a:schemeClr val="tx1"/>
                </a:solidFill>
              </a:rPr>
              <a:t>Exercises</a:t>
            </a:r>
          </a:p>
          <a:p>
            <a:r>
              <a:rPr lang="en-AU" b="1" dirty="0" smtClean="0">
                <a:solidFill>
                  <a:schemeClr val="tx1"/>
                </a:solidFill>
              </a:rPr>
              <a:t>Exercise 9.2 &amp; 9.3 from </a:t>
            </a:r>
            <a:r>
              <a:rPr lang="en-AU" b="1" dirty="0" smtClean="0">
                <a:solidFill>
                  <a:schemeClr val="tx1"/>
                </a:solidFill>
              </a:rPr>
              <a:t>Dwyer</a:t>
            </a:r>
          </a:p>
          <a:p>
            <a:endParaRPr lang="en-AU" b="1" dirty="0" smtClean="0">
              <a:solidFill>
                <a:schemeClr val="tx1"/>
              </a:solidFill>
            </a:endParaRPr>
          </a:p>
          <a:p>
            <a:endParaRPr lang="en-AU" b="1" dirty="0">
              <a:solidFill>
                <a:schemeClr val="tx1"/>
              </a:solidFill>
            </a:endParaRPr>
          </a:p>
          <a:p>
            <a:r>
              <a:rPr lang="en-AU" b="1" dirty="0" smtClean="0">
                <a:solidFill>
                  <a:schemeClr val="tx2"/>
                </a:solidFill>
              </a:rPr>
              <a:t>All to be done with a smile on your faces.</a:t>
            </a:r>
            <a:endParaRPr lang="en-AU" b="1" dirty="0">
              <a:solidFill>
                <a:schemeClr val="tx2"/>
              </a:solidFill>
            </a:endParaRPr>
          </a:p>
        </p:txBody>
      </p:sp>
    </p:spTree>
    <p:extLst>
      <p:ext uri="{BB962C8B-B14F-4D97-AF65-F5344CB8AC3E}">
        <p14:creationId xmlns:p14="http://schemas.microsoft.com/office/powerpoint/2010/main" val="40226764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1315</TotalTime>
  <Words>617</Words>
  <Application>Microsoft Office PowerPoint</Application>
  <PresentationFormat>On-screen Show (4:3)</PresentationFormat>
  <Paragraphs>169</Paragraphs>
  <Slides>14</Slides>
  <Notes>6</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My Algebra – Polynomials Interactive Notebook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MCALLISTER Robert</cp:lastModifiedBy>
  <cp:revision>108</cp:revision>
  <dcterms:created xsi:type="dcterms:W3CDTF">2014-05-14T02:58:57Z</dcterms:created>
  <dcterms:modified xsi:type="dcterms:W3CDTF">2016-06-20T01:37:58Z</dcterms:modified>
</cp:coreProperties>
</file>
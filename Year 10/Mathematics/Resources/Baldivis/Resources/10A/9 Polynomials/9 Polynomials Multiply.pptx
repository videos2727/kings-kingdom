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0" r:id="rId2"/>
    <p:sldId id="259" r:id="rId3"/>
    <p:sldId id="258" r:id="rId4"/>
    <p:sldId id="336" r:id="rId5"/>
    <p:sldId id="337" r:id="rId6"/>
    <p:sldId id="338" r:id="rId7"/>
    <p:sldId id="329" r:id="rId8"/>
    <p:sldId id="292" r:id="rId9"/>
    <p:sldId id="291" r:id="rId10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00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2317" cy="34010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004" y="0"/>
            <a:ext cx="4302317" cy="34010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5E9C4-19E3-4E6B-9F38-39C320518DDF}" type="datetimeFigureOut">
              <a:rPr lang="en-AU" smtClean="0"/>
              <a:t>21/06/2016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456487"/>
            <a:ext cx="4302317" cy="3401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004" y="6456487"/>
            <a:ext cx="4302317" cy="3401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883B7-D6B5-48FE-B818-4E86924B4C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042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800" y="0"/>
            <a:ext cx="43015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21/06/2016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28897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800" y="6456612"/>
            <a:ext cx="43015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6457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6457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6457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space.co/chapters/chapter/624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hyperlink" Target="https://mathspace.co/chapters/chapter/305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Algebra </a:t>
            </a:r>
            <a:r>
              <a:rPr lang="en-AU" dirty="0" smtClean="0"/>
              <a:t>– Polynomials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11560" y="1354967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354967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1354967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1354967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104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Polynomials?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Multiplying – How do we Multiply two Polynomials !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827584" y="1525101"/>
            <a:ext cx="0" cy="53328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23752" y="1958538"/>
            <a:ext cx="728637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Multiplying Lots of Terms</a:t>
            </a:r>
          </a:p>
          <a:p>
            <a:r>
              <a:rPr lang="en-AU" dirty="0"/>
              <a:t>In this </a:t>
            </a:r>
            <a:r>
              <a:rPr lang="en-AU" dirty="0" smtClean="0"/>
              <a:t>section, </a:t>
            </a:r>
            <a:r>
              <a:rPr lang="en-AU" dirty="0"/>
              <a:t>we are going to look at how to multiply </a:t>
            </a:r>
            <a:r>
              <a:rPr lang="en-AU" dirty="0">
                <a:hlinkClick r:id="rId3"/>
              </a:rPr>
              <a:t>polynomials</a:t>
            </a:r>
            <a:r>
              <a:rPr lang="en-AU" dirty="0"/>
              <a:t>. The good news is that we've already started to do this without even knowing it when we learnt how to expand </a:t>
            </a:r>
            <a:r>
              <a:rPr lang="en-AU" dirty="0">
                <a:hlinkClick r:id="rId4"/>
              </a:rPr>
              <a:t>binomials</a:t>
            </a:r>
            <a:r>
              <a:rPr lang="en-AU" dirty="0"/>
              <a:t> using the </a:t>
            </a:r>
            <a:r>
              <a:rPr lang="en-AU" dirty="0">
                <a:hlinkClick r:id="rId4"/>
              </a:rPr>
              <a:t>distributive law</a:t>
            </a:r>
            <a:r>
              <a:rPr lang="en-AU" dirty="0"/>
              <a:t>! Remember, </a:t>
            </a:r>
          </a:p>
          <a:p>
            <a:r>
              <a:rPr lang="en-AU" dirty="0"/>
              <a:t>Not all questions are the same as binomial expansion though. We may be asked to evaluate the product of two polynomials. </a:t>
            </a:r>
          </a:p>
          <a:p>
            <a:r>
              <a:rPr lang="en-AU" dirty="0"/>
              <a:t>For example, if </a:t>
            </a:r>
            <a:r>
              <a:rPr lang="en-AU" i="1" dirty="0" smtClean="0"/>
              <a:t>P</a:t>
            </a:r>
            <a:r>
              <a:rPr lang="en-AU" dirty="0" smtClean="0"/>
              <a:t>(</a:t>
            </a:r>
            <a:r>
              <a:rPr lang="en-AU" i="1" dirty="0" smtClean="0"/>
              <a:t>x</a:t>
            </a:r>
            <a:r>
              <a:rPr lang="en-AU" dirty="0"/>
              <a:t>)=12 and </a:t>
            </a:r>
            <a:r>
              <a:rPr lang="en-AU" dirty="0" smtClean="0"/>
              <a:t>Q(</a:t>
            </a:r>
            <a:r>
              <a:rPr lang="en-AU" i="1" dirty="0" smtClean="0"/>
              <a:t>x</a:t>
            </a:r>
            <a:r>
              <a:rPr lang="en-AU" dirty="0"/>
              <a:t>)=9, the product of these polynomials is </a:t>
            </a:r>
            <a:r>
              <a:rPr lang="en-AU" dirty="0" smtClean="0"/>
              <a:t>12×9</a:t>
            </a:r>
            <a:r>
              <a:rPr lang="en-AU" dirty="0"/>
              <a:t>, which equals </a:t>
            </a:r>
            <a:r>
              <a:rPr lang="en-AU" dirty="0" smtClean="0"/>
              <a:t>108</a:t>
            </a:r>
            <a:r>
              <a:rPr lang="en-AU" dirty="0"/>
              <a:t>. </a:t>
            </a:r>
            <a:endParaRPr lang="en-AU" dirty="0" smtClean="0"/>
          </a:p>
          <a:p>
            <a:r>
              <a:rPr lang="en-AU" dirty="0" err="1" smtClean="0"/>
              <a:t>ie</a:t>
            </a:r>
            <a:r>
              <a:rPr lang="en-AU" dirty="0"/>
              <a:t>. </a:t>
            </a:r>
            <a:r>
              <a:rPr lang="en-AU" i="1" dirty="0" smtClean="0"/>
              <a:t>P</a:t>
            </a:r>
            <a:r>
              <a:rPr lang="en-AU" dirty="0" smtClean="0"/>
              <a:t>(</a:t>
            </a:r>
            <a:r>
              <a:rPr lang="en-AU" i="1" dirty="0" smtClean="0"/>
              <a:t>x</a:t>
            </a:r>
            <a:r>
              <a:rPr lang="en-AU" dirty="0" smtClean="0"/>
              <a:t>)Q(x) = 108.</a:t>
            </a:r>
          </a:p>
          <a:p>
            <a:r>
              <a:rPr lang="en-AU" dirty="0" smtClean="0">
                <a:effectLst/>
              </a:rPr>
              <a:t>REMEMBER</a:t>
            </a:r>
            <a:endParaRPr lang="en-AU" dirty="0">
              <a:effectLst/>
            </a:endParaRPr>
          </a:p>
          <a:p>
            <a:r>
              <a:rPr lang="en-AU" dirty="0"/>
              <a:t>Every term in one pair of brackets has to be multiplied by every other term in all the other pairs of brackets.</a:t>
            </a:r>
            <a:endParaRPr lang="en-AU" dirty="0">
              <a:effectLst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49" t="69068" r="-98284" b="-52259"/>
          <a:stretch/>
        </p:blipFill>
        <p:spPr bwMode="auto">
          <a:xfrm>
            <a:off x="17170400" y="3251200"/>
            <a:ext cx="16693976" cy="8114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148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104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Polynomials?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Multiplying – How do we Multiply two Polynomials !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827584" y="1525101"/>
            <a:ext cx="0" cy="53328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49" t="69068" r="-98284" b="-52259"/>
          <a:stretch/>
        </p:blipFill>
        <p:spPr bwMode="auto">
          <a:xfrm>
            <a:off x="17170400" y="3251200"/>
            <a:ext cx="16693976" cy="8114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259632" y="1844824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 smtClean="0"/>
              <a:t>Example 1: Expand  (</a:t>
            </a:r>
            <a:r>
              <a:rPr lang="en-AU" i="1" dirty="0" smtClean="0"/>
              <a:t>a</a:t>
            </a:r>
            <a:r>
              <a:rPr lang="en-AU" dirty="0" smtClean="0"/>
              <a:t>+2</a:t>
            </a:r>
            <a:r>
              <a:rPr lang="en-AU" dirty="0"/>
              <a:t>)(5</a:t>
            </a:r>
            <a:r>
              <a:rPr lang="en-AU" i="1" dirty="0"/>
              <a:t>a</a:t>
            </a:r>
            <a:r>
              <a:rPr lang="en-AU" baseline="30000" dirty="0"/>
              <a:t>2</a:t>
            </a:r>
            <a:r>
              <a:rPr lang="en-AU" dirty="0"/>
              <a:t>−2</a:t>
            </a:r>
            <a:r>
              <a:rPr lang="en-AU" i="1" dirty="0"/>
              <a:t>a</a:t>
            </a:r>
            <a:r>
              <a:rPr lang="en-AU" dirty="0"/>
              <a:t>+2</a:t>
            </a:r>
            <a:r>
              <a:rPr lang="en-AU" dirty="0" smtClean="0"/>
              <a:t>)</a:t>
            </a:r>
          </a:p>
          <a:p>
            <a:endParaRPr lang="en-AU" dirty="0"/>
          </a:p>
          <a:p>
            <a:r>
              <a:rPr lang="en-AU" dirty="0" smtClean="0"/>
              <a:t>= a(5</a:t>
            </a:r>
            <a:r>
              <a:rPr lang="en-AU" i="1" dirty="0" smtClean="0"/>
              <a:t>a</a:t>
            </a:r>
            <a:r>
              <a:rPr lang="en-AU" baseline="30000" dirty="0" smtClean="0"/>
              <a:t>2</a:t>
            </a:r>
            <a:r>
              <a:rPr lang="en-AU" dirty="0"/>
              <a:t>−2</a:t>
            </a:r>
            <a:r>
              <a:rPr lang="en-AU" i="1" dirty="0"/>
              <a:t>a</a:t>
            </a:r>
            <a:r>
              <a:rPr lang="en-AU" dirty="0"/>
              <a:t>+2</a:t>
            </a:r>
            <a:r>
              <a:rPr lang="en-AU" dirty="0" smtClean="0"/>
              <a:t>) + 2(5</a:t>
            </a:r>
            <a:r>
              <a:rPr lang="en-AU" i="1" dirty="0" smtClean="0"/>
              <a:t>a</a:t>
            </a:r>
            <a:r>
              <a:rPr lang="en-AU" baseline="30000" dirty="0" smtClean="0"/>
              <a:t>2</a:t>
            </a:r>
            <a:r>
              <a:rPr lang="en-AU" dirty="0"/>
              <a:t>−2</a:t>
            </a:r>
            <a:r>
              <a:rPr lang="en-AU" i="1" dirty="0"/>
              <a:t>a</a:t>
            </a:r>
            <a:r>
              <a:rPr lang="en-AU" dirty="0"/>
              <a:t>+2</a:t>
            </a:r>
            <a:r>
              <a:rPr lang="en-AU" dirty="0" smtClean="0"/>
              <a:t>)</a:t>
            </a:r>
          </a:p>
          <a:p>
            <a:endParaRPr lang="en-AU" dirty="0" smtClean="0"/>
          </a:p>
          <a:p>
            <a:r>
              <a:rPr lang="en-AU" dirty="0" smtClean="0"/>
              <a:t>= a*5</a:t>
            </a:r>
            <a:r>
              <a:rPr lang="en-AU" i="1" dirty="0" smtClean="0"/>
              <a:t>a</a:t>
            </a:r>
            <a:r>
              <a:rPr lang="en-AU" baseline="30000" dirty="0" smtClean="0"/>
              <a:t>2 </a:t>
            </a:r>
            <a:r>
              <a:rPr lang="en-AU" dirty="0" smtClean="0"/>
              <a:t> - a*2a + a*2  +  2*</a:t>
            </a:r>
            <a:r>
              <a:rPr lang="en-AU" dirty="0"/>
              <a:t>5</a:t>
            </a:r>
            <a:r>
              <a:rPr lang="en-AU" i="1" dirty="0"/>
              <a:t>a</a:t>
            </a:r>
            <a:r>
              <a:rPr lang="en-AU" baseline="30000" dirty="0"/>
              <a:t>2</a:t>
            </a:r>
            <a:r>
              <a:rPr lang="en-AU" dirty="0" smtClean="0"/>
              <a:t> – 2*2a + 2*2</a:t>
            </a:r>
          </a:p>
          <a:p>
            <a:endParaRPr lang="en-AU" dirty="0" smtClean="0"/>
          </a:p>
          <a:p>
            <a:r>
              <a:rPr lang="en-AU" dirty="0" smtClean="0"/>
              <a:t>= 5</a:t>
            </a:r>
            <a:r>
              <a:rPr lang="en-AU" i="1" dirty="0" smtClean="0"/>
              <a:t>a</a:t>
            </a:r>
            <a:r>
              <a:rPr lang="en-AU" baseline="30000" dirty="0" smtClean="0"/>
              <a:t>3 </a:t>
            </a:r>
            <a:r>
              <a:rPr lang="en-AU" dirty="0" smtClean="0"/>
              <a:t> - 2</a:t>
            </a:r>
            <a:r>
              <a:rPr lang="en-AU" i="1" dirty="0" smtClean="0"/>
              <a:t>a</a:t>
            </a:r>
            <a:r>
              <a:rPr lang="en-AU" baseline="30000" dirty="0" smtClean="0"/>
              <a:t>2</a:t>
            </a:r>
            <a:r>
              <a:rPr lang="en-AU" dirty="0" smtClean="0"/>
              <a:t> + 2a   +   10</a:t>
            </a:r>
            <a:r>
              <a:rPr lang="en-AU" i="1" dirty="0" smtClean="0"/>
              <a:t>a</a:t>
            </a:r>
            <a:r>
              <a:rPr lang="en-AU" baseline="30000" dirty="0" smtClean="0"/>
              <a:t>2</a:t>
            </a:r>
            <a:r>
              <a:rPr lang="en-AU" dirty="0" smtClean="0"/>
              <a:t> </a:t>
            </a:r>
            <a:r>
              <a:rPr lang="en-AU" dirty="0" smtClean="0"/>
              <a:t>- </a:t>
            </a:r>
            <a:r>
              <a:rPr lang="en-AU" dirty="0" smtClean="0"/>
              <a:t>4a </a:t>
            </a:r>
            <a:r>
              <a:rPr lang="en-AU" dirty="0" smtClean="0"/>
              <a:t>+ 4</a:t>
            </a:r>
          </a:p>
          <a:p>
            <a:endParaRPr lang="en-AU" dirty="0" smtClean="0"/>
          </a:p>
          <a:p>
            <a:r>
              <a:rPr lang="en-AU" dirty="0" smtClean="0"/>
              <a:t>= </a:t>
            </a:r>
            <a:r>
              <a:rPr lang="en-AU" dirty="0"/>
              <a:t>5</a:t>
            </a:r>
            <a:r>
              <a:rPr lang="en-AU" i="1" dirty="0"/>
              <a:t>a</a:t>
            </a:r>
            <a:r>
              <a:rPr lang="en-AU" baseline="30000" dirty="0"/>
              <a:t>3 </a:t>
            </a:r>
            <a:r>
              <a:rPr lang="en-AU" dirty="0"/>
              <a:t> </a:t>
            </a:r>
            <a:r>
              <a:rPr lang="en-AU" dirty="0" smtClean="0"/>
              <a:t>+ </a:t>
            </a:r>
            <a:r>
              <a:rPr lang="en-AU" smtClean="0"/>
              <a:t>8</a:t>
            </a:r>
            <a:r>
              <a:rPr lang="en-AU" i="1" smtClean="0"/>
              <a:t>a</a:t>
            </a:r>
            <a:r>
              <a:rPr lang="en-AU" baseline="30000" smtClean="0"/>
              <a:t>2</a:t>
            </a:r>
            <a:r>
              <a:rPr lang="en-AU" smtClean="0"/>
              <a:t> </a:t>
            </a:r>
            <a:r>
              <a:rPr lang="en-AU" smtClean="0"/>
              <a:t>-2a </a:t>
            </a:r>
            <a:r>
              <a:rPr lang="en-AU" dirty="0"/>
              <a:t>+ 4</a:t>
            </a:r>
          </a:p>
          <a:p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5627639" y="2132855"/>
            <a:ext cx="259228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a and the 2 into the other bracket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5831632" y="3573016"/>
            <a:ext cx="238469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Add/subtract like terms</a:t>
            </a:r>
            <a:endParaRPr lang="en-AU" dirty="0"/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4139952" y="2276872"/>
            <a:ext cx="1487687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3779912" y="3757682"/>
            <a:ext cx="2051720" cy="1846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61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104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Polynomials?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Multiplying – How do we Multiply two Polynomials !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827584" y="1525101"/>
            <a:ext cx="0" cy="53328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49" t="69068" r="-98284" b="-52259"/>
          <a:stretch/>
        </p:blipFill>
        <p:spPr bwMode="auto">
          <a:xfrm>
            <a:off x="17170400" y="3251200"/>
            <a:ext cx="16693976" cy="8114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827584" y="1844824"/>
            <a:ext cx="831641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Example 1: Expand  (</a:t>
            </a:r>
            <a:r>
              <a:rPr lang="en-AU" i="1" dirty="0" smtClean="0"/>
              <a:t>-3x</a:t>
            </a:r>
            <a:r>
              <a:rPr lang="en-AU" i="1" baseline="30000" dirty="0" smtClean="0"/>
              <a:t>2</a:t>
            </a:r>
            <a:r>
              <a:rPr lang="en-AU" dirty="0" smtClean="0"/>
              <a:t>+2)(4</a:t>
            </a:r>
            <a:r>
              <a:rPr lang="en-AU" i="1" dirty="0" smtClean="0"/>
              <a:t>x</a:t>
            </a:r>
            <a:r>
              <a:rPr lang="en-AU" baseline="30000" dirty="0" smtClean="0"/>
              <a:t>3 </a:t>
            </a:r>
            <a:r>
              <a:rPr lang="en-AU" dirty="0" smtClean="0"/>
              <a:t> - </a:t>
            </a:r>
            <a:r>
              <a:rPr lang="en-AU" i="1" dirty="0" smtClean="0"/>
              <a:t>7x</a:t>
            </a:r>
            <a:r>
              <a:rPr lang="en-AU" i="1" baseline="30000" dirty="0" smtClean="0"/>
              <a:t>2 </a:t>
            </a:r>
            <a:r>
              <a:rPr lang="en-AU" dirty="0" smtClean="0"/>
              <a:t>−2</a:t>
            </a:r>
            <a:r>
              <a:rPr lang="en-AU" i="1" dirty="0" smtClean="0"/>
              <a:t>x</a:t>
            </a:r>
            <a:r>
              <a:rPr lang="en-AU" dirty="0" smtClean="0"/>
              <a:t>+8)</a:t>
            </a:r>
          </a:p>
          <a:p>
            <a:endParaRPr lang="en-AU" dirty="0"/>
          </a:p>
          <a:p>
            <a:r>
              <a:rPr lang="en-AU" dirty="0" smtClean="0"/>
              <a:t>= </a:t>
            </a:r>
            <a:r>
              <a:rPr lang="en-AU" i="1" dirty="0" smtClean="0"/>
              <a:t>-</a:t>
            </a:r>
            <a:r>
              <a:rPr lang="en-AU" i="1" dirty="0"/>
              <a:t>3x</a:t>
            </a:r>
            <a:r>
              <a:rPr lang="en-AU" i="1" baseline="30000" dirty="0"/>
              <a:t>2 </a:t>
            </a:r>
            <a:r>
              <a:rPr lang="en-AU" dirty="0" smtClean="0"/>
              <a:t>(</a:t>
            </a:r>
            <a:r>
              <a:rPr lang="en-AU" dirty="0"/>
              <a:t>4</a:t>
            </a:r>
            <a:r>
              <a:rPr lang="en-AU" i="1" dirty="0"/>
              <a:t>x</a:t>
            </a:r>
            <a:r>
              <a:rPr lang="en-AU" baseline="30000" dirty="0"/>
              <a:t>3 </a:t>
            </a:r>
            <a:r>
              <a:rPr lang="en-AU" dirty="0"/>
              <a:t> - </a:t>
            </a:r>
            <a:r>
              <a:rPr lang="en-AU" i="1" dirty="0"/>
              <a:t>7x</a:t>
            </a:r>
            <a:r>
              <a:rPr lang="en-AU" i="1" baseline="30000" dirty="0"/>
              <a:t>2 </a:t>
            </a:r>
            <a:r>
              <a:rPr lang="en-AU" dirty="0"/>
              <a:t>−2</a:t>
            </a:r>
            <a:r>
              <a:rPr lang="en-AU" i="1" dirty="0"/>
              <a:t>x</a:t>
            </a:r>
            <a:r>
              <a:rPr lang="en-AU" dirty="0"/>
              <a:t>+8</a:t>
            </a:r>
            <a:r>
              <a:rPr lang="en-AU" dirty="0" smtClean="0"/>
              <a:t>) + 2(4</a:t>
            </a:r>
            <a:r>
              <a:rPr lang="en-AU" i="1" dirty="0" smtClean="0"/>
              <a:t>x</a:t>
            </a:r>
            <a:r>
              <a:rPr lang="en-AU" baseline="30000" dirty="0" smtClean="0"/>
              <a:t>3 </a:t>
            </a:r>
            <a:r>
              <a:rPr lang="en-AU" dirty="0" smtClean="0"/>
              <a:t> </a:t>
            </a:r>
            <a:r>
              <a:rPr lang="en-AU" dirty="0"/>
              <a:t>- </a:t>
            </a:r>
            <a:r>
              <a:rPr lang="en-AU" i="1" dirty="0"/>
              <a:t>7x</a:t>
            </a:r>
            <a:r>
              <a:rPr lang="en-AU" i="1" baseline="30000" dirty="0"/>
              <a:t>2 </a:t>
            </a:r>
            <a:r>
              <a:rPr lang="en-AU" dirty="0"/>
              <a:t>−2</a:t>
            </a:r>
            <a:r>
              <a:rPr lang="en-AU" i="1" dirty="0"/>
              <a:t>x</a:t>
            </a:r>
            <a:r>
              <a:rPr lang="en-AU" dirty="0"/>
              <a:t>+8)</a:t>
            </a:r>
          </a:p>
          <a:p>
            <a:endParaRPr lang="en-AU" dirty="0" smtClean="0"/>
          </a:p>
          <a:p>
            <a:r>
              <a:rPr lang="en-AU" dirty="0" smtClean="0"/>
              <a:t>= (</a:t>
            </a:r>
            <a:r>
              <a:rPr lang="en-AU" i="1" dirty="0" smtClean="0"/>
              <a:t>-</a:t>
            </a:r>
            <a:r>
              <a:rPr lang="en-AU" dirty="0"/>
              <a:t>3x</a:t>
            </a:r>
            <a:r>
              <a:rPr lang="en-AU" baseline="30000" dirty="0"/>
              <a:t>2 </a:t>
            </a:r>
            <a:r>
              <a:rPr lang="en-AU" dirty="0" smtClean="0"/>
              <a:t>)*</a:t>
            </a:r>
            <a:r>
              <a:rPr lang="en-AU" dirty="0"/>
              <a:t>4</a:t>
            </a:r>
            <a:r>
              <a:rPr lang="en-AU" i="1" dirty="0"/>
              <a:t>x</a:t>
            </a:r>
            <a:r>
              <a:rPr lang="en-AU" baseline="30000" dirty="0"/>
              <a:t>3</a:t>
            </a:r>
            <a:r>
              <a:rPr lang="en-AU" dirty="0" smtClean="0"/>
              <a:t> - </a:t>
            </a:r>
            <a:r>
              <a:rPr lang="en-AU" dirty="0"/>
              <a:t>(</a:t>
            </a:r>
            <a:r>
              <a:rPr lang="en-AU" i="1" dirty="0"/>
              <a:t>-</a:t>
            </a:r>
            <a:r>
              <a:rPr lang="en-AU" dirty="0"/>
              <a:t>3x</a:t>
            </a:r>
            <a:r>
              <a:rPr lang="en-AU" baseline="30000" dirty="0"/>
              <a:t>2 </a:t>
            </a:r>
            <a:r>
              <a:rPr lang="en-AU" dirty="0" smtClean="0"/>
              <a:t>)*(</a:t>
            </a:r>
            <a:r>
              <a:rPr lang="en-AU" i="1" dirty="0" smtClean="0"/>
              <a:t>7x</a:t>
            </a:r>
            <a:r>
              <a:rPr lang="en-AU" i="1" baseline="30000" dirty="0" smtClean="0"/>
              <a:t>2</a:t>
            </a:r>
            <a:r>
              <a:rPr lang="en-AU" i="1" dirty="0" smtClean="0"/>
              <a:t>)</a:t>
            </a:r>
            <a:r>
              <a:rPr lang="en-AU" dirty="0" smtClean="0"/>
              <a:t> -</a:t>
            </a:r>
            <a:r>
              <a:rPr lang="en-AU" dirty="0"/>
              <a:t>(</a:t>
            </a:r>
            <a:r>
              <a:rPr lang="en-AU" i="1" dirty="0"/>
              <a:t>-</a:t>
            </a:r>
            <a:r>
              <a:rPr lang="en-AU" dirty="0"/>
              <a:t>3x</a:t>
            </a:r>
            <a:r>
              <a:rPr lang="en-AU" baseline="30000" dirty="0"/>
              <a:t>2 </a:t>
            </a:r>
            <a:r>
              <a:rPr lang="en-AU" dirty="0" smtClean="0"/>
              <a:t>)*(2x) +(</a:t>
            </a:r>
            <a:r>
              <a:rPr lang="en-AU" i="1" dirty="0" smtClean="0"/>
              <a:t>-</a:t>
            </a:r>
            <a:r>
              <a:rPr lang="en-AU" dirty="0"/>
              <a:t>3x</a:t>
            </a:r>
            <a:r>
              <a:rPr lang="en-AU" baseline="30000" dirty="0"/>
              <a:t>2 </a:t>
            </a:r>
            <a:r>
              <a:rPr lang="en-AU" dirty="0" smtClean="0"/>
              <a:t>)*8   +  2*4</a:t>
            </a:r>
            <a:r>
              <a:rPr lang="en-AU" i="1" dirty="0" smtClean="0"/>
              <a:t>x</a:t>
            </a:r>
            <a:r>
              <a:rPr lang="en-AU" baseline="30000" dirty="0" smtClean="0"/>
              <a:t>3</a:t>
            </a:r>
            <a:r>
              <a:rPr lang="en-AU" dirty="0" smtClean="0"/>
              <a:t> -2*(</a:t>
            </a:r>
            <a:r>
              <a:rPr lang="en-AU" i="1" dirty="0" smtClean="0"/>
              <a:t>7x</a:t>
            </a:r>
            <a:r>
              <a:rPr lang="en-AU" i="1" baseline="30000" dirty="0" smtClean="0"/>
              <a:t>2</a:t>
            </a:r>
            <a:r>
              <a:rPr lang="en-AU" i="1" dirty="0" smtClean="0"/>
              <a:t>) – 2</a:t>
            </a:r>
            <a:r>
              <a:rPr lang="en-AU" dirty="0" smtClean="0"/>
              <a:t>*(2x) + 2*8</a:t>
            </a:r>
          </a:p>
          <a:p>
            <a:endParaRPr lang="en-AU" dirty="0" smtClean="0"/>
          </a:p>
          <a:p>
            <a:r>
              <a:rPr lang="en-AU" dirty="0" smtClean="0"/>
              <a:t>= -12x</a:t>
            </a:r>
            <a:r>
              <a:rPr lang="en-AU" baseline="30000" dirty="0" smtClean="0"/>
              <a:t>5</a:t>
            </a:r>
            <a:r>
              <a:rPr lang="en-AU" dirty="0" smtClean="0"/>
              <a:t> + 21x</a:t>
            </a:r>
            <a:r>
              <a:rPr lang="en-AU" baseline="30000" dirty="0" smtClean="0"/>
              <a:t>4</a:t>
            </a:r>
            <a:r>
              <a:rPr lang="en-AU" dirty="0" smtClean="0"/>
              <a:t> + 6x</a:t>
            </a:r>
            <a:r>
              <a:rPr lang="en-AU" baseline="30000" dirty="0" smtClean="0"/>
              <a:t>3</a:t>
            </a:r>
            <a:r>
              <a:rPr lang="en-AU" dirty="0" smtClean="0"/>
              <a:t> – 24x</a:t>
            </a:r>
            <a:r>
              <a:rPr lang="en-AU" baseline="30000" dirty="0" smtClean="0"/>
              <a:t>2</a:t>
            </a:r>
            <a:r>
              <a:rPr lang="en-AU" dirty="0" smtClean="0"/>
              <a:t>   +  8x</a:t>
            </a:r>
            <a:r>
              <a:rPr lang="en-AU" baseline="30000" dirty="0" smtClean="0"/>
              <a:t>3</a:t>
            </a:r>
            <a:r>
              <a:rPr lang="en-AU" dirty="0" smtClean="0"/>
              <a:t> – 14x</a:t>
            </a:r>
            <a:r>
              <a:rPr lang="en-AU" baseline="30000" dirty="0" smtClean="0"/>
              <a:t>2</a:t>
            </a:r>
            <a:r>
              <a:rPr lang="en-AU" dirty="0" smtClean="0"/>
              <a:t> – 4x + 16</a:t>
            </a:r>
          </a:p>
          <a:p>
            <a:endParaRPr lang="en-AU" dirty="0" smtClean="0"/>
          </a:p>
          <a:p>
            <a:r>
              <a:rPr lang="en-AU" dirty="0"/>
              <a:t>= -12x</a:t>
            </a:r>
            <a:r>
              <a:rPr lang="en-AU" baseline="30000" dirty="0"/>
              <a:t>5</a:t>
            </a:r>
            <a:r>
              <a:rPr lang="en-AU" dirty="0"/>
              <a:t> + 21x</a:t>
            </a:r>
            <a:r>
              <a:rPr lang="en-AU" baseline="30000" dirty="0"/>
              <a:t>4</a:t>
            </a:r>
            <a:r>
              <a:rPr lang="en-AU" dirty="0"/>
              <a:t> + </a:t>
            </a:r>
            <a:r>
              <a:rPr lang="en-AU" dirty="0" smtClean="0"/>
              <a:t>14x</a:t>
            </a:r>
            <a:r>
              <a:rPr lang="en-AU" baseline="30000" dirty="0" smtClean="0"/>
              <a:t>3</a:t>
            </a:r>
            <a:r>
              <a:rPr lang="en-AU" dirty="0" smtClean="0"/>
              <a:t> </a:t>
            </a:r>
            <a:r>
              <a:rPr lang="en-AU" dirty="0"/>
              <a:t>– </a:t>
            </a:r>
            <a:r>
              <a:rPr lang="en-AU" dirty="0" smtClean="0"/>
              <a:t>38x</a:t>
            </a:r>
            <a:r>
              <a:rPr lang="en-AU" baseline="30000" dirty="0" smtClean="0"/>
              <a:t>2</a:t>
            </a:r>
            <a:r>
              <a:rPr lang="en-AU" dirty="0" smtClean="0"/>
              <a:t> – </a:t>
            </a:r>
            <a:r>
              <a:rPr lang="en-AU" dirty="0"/>
              <a:t>4x + 16</a:t>
            </a:r>
          </a:p>
          <a:p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5627639" y="2132855"/>
            <a:ext cx="259228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</a:t>
            </a:r>
            <a:r>
              <a:rPr lang="en-AU" i="1" dirty="0"/>
              <a:t>-3x</a:t>
            </a:r>
            <a:r>
              <a:rPr lang="en-AU" i="1" baseline="30000" dirty="0"/>
              <a:t>2</a:t>
            </a:r>
            <a:r>
              <a:rPr lang="en-AU" dirty="0" smtClean="0"/>
              <a:t> and the 2 into the other bracket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5831632" y="3573016"/>
            <a:ext cx="238469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Add/subtract like terms</a:t>
            </a:r>
            <a:endParaRPr lang="en-AU" dirty="0"/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4283968" y="2276872"/>
            <a:ext cx="1343672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3779912" y="3757682"/>
            <a:ext cx="2051720" cy="1846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31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548680"/>
            <a:ext cx="7632848" cy="5544616"/>
          </a:xfrm>
        </p:spPr>
        <p:txBody>
          <a:bodyPr>
            <a:normAutofit lnSpcReduction="10000"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9.4 from Dwyer</a:t>
            </a:r>
          </a:p>
          <a:p>
            <a:endParaRPr lang="en-AU" b="1" dirty="0" smtClean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1"/>
                </a:solidFill>
              </a:rPr>
              <a:t>Also by solve by Long Division</a:t>
            </a:r>
          </a:p>
          <a:p>
            <a:r>
              <a:rPr lang="en-AU" sz="2800" b="1" dirty="0" smtClean="0">
                <a:solidFill>
                  <a:schemeClr val="tx1"/>
                </a:solidFill>
              </a:rPr>
              <a:t>1. 350 </a:t>
            </a:r>
            <a:r>
              <a:rPr lang="en-AU" sz="2800" b="1" dirty="0" smtClean="0">
                <a:solidFill>
                  <a:schemeClr val="tx1"/>
                </a:solidFill>
                <a:ea typeface="Cambria Math"/>
              </a:rPr>
              <a:t>÷14       2. </a:t>
            </a:r>
            <a:r>
              <a:rPr lang="en-AU" sz="2800" b="1" dirty="0">
                <a:solidFill>
                  <a:schemeClr val="tx1"/>
                </a:solidFill>
                <a:ea typeface="Cambria Math"/>
              </a:rPr>
              <a:t>3542 </a:t>
            </a:r>
            <a:r>
              <a:rPr lang="en-AU" sz="2800" b="1" dirty="0" smtClean="0">
                <a:solidFill>
                  <a:schemeClr val="tx1"/>
                </a:solidFill>
                <a:ea typeface="Cambria Math"/>
              </a:rPr>
              <a:t>÷14</a:t>
            </a:r>
            <a:endParaRPr lang="en-AU" sz="2800" b="1" dirty="0" smtClean="0">
              <a:solidFill>
                <a:schemeClr val="tx1"/>
              </a:solidFill>
            </a:endParaRPr>
          </a:p>
          <a:p>
            <a:r>
              <a:rPr lang="en-AU" sz="2800" b="1" dirty="0" smtClean="0">
                <a:solidFill>
                  <a:schemeClr val="tx1"/>
                </a:solidFill>
              </a:rPr>
              <a:t>3. 2852 </a:t>
            </a:r>
            <a:r>
              <a:rPr lang="en-AU" sz="2800" b="1" dirty="0" smtClean="0">
                <a:solidFill>
                  <a:schemeClr val="tx1"/>
                </a:solidFill>
                <a:ea typeface="Cambria Math"/>
              </a:rPr>
              <a:t>÷ 23      4. 3696 ÷16</a:t>
            </a:r>
          </a:p>
          <a:p>
            <a:endParaRPr lang="en-AU" sz="2800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1"/>
                </a:solidFill>
              </a:rPr>
              <a:t>Also have a look at Ex 9.5</a:t>
            </a:r>
          </a:p>
          <a:p>
            <a:endParaRPr lang="en-AU" b="1" dirty="0" smtClean="0">
              <a:solidFill>
                <a:schemeClr val="tx2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1399</TotalTime>
  <Words>389</Words>
  <Application>Microsoft Office PowerPoint</Application>
  <PresentationFormat>On-screen Show (4:3)</PresentationFormat>
  <Paragraphs>104</Paragraphs>
  <Slides>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My Algebra – Polynomials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116</cp:revision>
  <cp:lastPrinted>2016-06-21T03:46:21Z</cp:lastPrinted>
  <dcterms:created xsi:type="dcterms:W3CDTF">2014-05-14T02:58:57Z</dcterms:created>
  <dcterms:modified xsi:type="dcterms:W3CDTF">2016-06-21T04:44:52Z</dcterms:modified>
</cp:coreProperties>
</file>
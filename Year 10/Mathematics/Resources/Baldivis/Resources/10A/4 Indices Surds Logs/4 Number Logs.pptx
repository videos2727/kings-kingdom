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30" r:id="rId6"/>
    <p:sldId id="331" r:id="rId7"/>
    <p:sldId id="332" r:id="rId8"/>
    <p:sldId id="333" r:id="rId9"/>
    <p:sldId id="329" r:id="rId10"/>
    <p:sldId id="292" r:id="rId11"/>
    <p:sldId id="291" r:id="rId12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4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5/04/2016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6184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6184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618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Index, Surd &amp; Log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80312" y="980728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312" y="980728"/>
                <a:ext cx="1368152" cy="122764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23528" y="2492896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492896"/>
                <a:ext cx="1368152" cy="1227644"/>
              </a:xfrm>
              <a:prstGeom prst="rect">
                <a:avLst/>
              </a:prstGeom>
              <a:blipFill rotWithShape="1">
                <a:blip r:embed="rId12"/>
                <a:stretch>
                  <a:fillRect r="-15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or use the log of a number?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377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logs</a:t>
            </a:r>
            <a:endParaRPr lang="en-A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499" y="2168860"/>
            <a:ext cx="7066385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1503" y="5013176"/>
            <a:ext cx="1676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would you multiply numbers?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699792" y="5006310"/>
            <a:ext cx="61926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err="1" smtClean="0"/>
              <a:t>Eg</a:t>
            </a:r>
            <a:r>
              <a:rPr lang="en-AU" dirty="0" smtClean="0"/>
              <a:t>. 6.973 x 4.748 </a:t>
            </a:r>
            <a:r>
              <a:rPr lang="en-AU" dirty="0" smtClean="0">
                <a:ea typeface="Cambria Math"/>
              </a:rPr>
              <a:t>÷ 7.386</a:t>
            </a:r>
          </a:p>
          <a:p>
            <a:r>
              <a:rPr lang="en-AU" dirty="0" smtClean="0">
                <a:ea typeface="Cambria Math"/>
              </a:rPr>
              <a:t>We would find the log of the numbers and then add and subtract these (exactly like indices) and then find the anti-log</a:t>
            </a:r>
          </a:p>
          <a:p>
            <a:r>
              <a:rPr lang="en-AU" dirty="0" smtClean="0">
                <a:ea typeface="Cambria Math"/>
              </a:rPr>
              <a:t>Easy isn’t it.  And no you don’t have to do that for this course, calculators do that for you.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or use the log of a number?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377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logs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13303" y="2276872"/>
            <a:ext cx="1676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But what is a log?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699792" y="2132856"/>
            <a:ext cx="52565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Logarithms</a:t>
            </a:r>
          </a:p>
          <a:p>
            <a:r>
              <a:rPr lang="en-AU" dirty="0"/>
              <a:t>The logarithm to the base b of the number x, where b and x are positive and b </a:t>
            </a:r>
            <a:r>
              <a:rPr lang="en-AU" dirty="0" smtClean="0">
                <a:ea typeface="Cambria Math"/>
              </a:rPr>
              <a:t>≠</a:t>
            </a:r>
            <a:r>
              <a:rPr lang="en-AU" dirty="0" smtClean="0"/>
              <a:t> </a:t>
            </a:r>
            <a:r>
              <a:rPr lang="en-AU" dirty="0"/>
              <a:t>1, is </a:t>
            </a:r>
            <a:r>
              <a:rPr lang="en-AU" dirty="0" smtClean="0"/>
              <a:t>the solution </a:t>
            </a:r>
            <a:r>
              <a:rPr lang="en-AU" dirty="0"/>
              <a:t>of the equation </a:t>
            </a:r>
            <a:r>
              <a:rPr lang="en-AU" dirty="0" smtClean="0"/>
              <a:t>b</a:t>
            </a:r>
            <a:r>
              <a:rPr lang="en-AU" baseline="30000" dirty="0" smtClean="0"/>
              <a:t>y</a:t>
            </a:r>
            <a:r>
              <a:rPr lang="en-AU" dirty="0" smtClean="0"/>
              <a:t> = </a:t>
            </a:r>
            <a:r>
              <a:rPr lang="en-AU" dirty="0"/>
              <a:t>x. It is written as y </a:t>
            </a:r>
            <a:r>
              <a:rPr lang="en-AU" dirty="0" smtClean="0"/>
              <a:t>= </a:t>
            </a:r>
            <a:r>
              <a:rPr lang="en-AU" dirty="0" err="1" smtClean="0"/>
              <a:t>log</a:t>
            </a:r>
            <a:r>
              <a:rPr lang="en-AU" baseline="-25000" dirty="0" err="1" smtClean="0"/>
              <a:t>b</a:t>
            </a:r>
            <a:r>
              <a:rPr lang="en-AU" dirty="0" err="1" smtClean="0"/>
              <a:t>x</a:t>
            </a:r>
            <a:r>
              <a:rPr lang="en-AU" dirty="0" smtClean="0"/>
              <a:t> </a:t>
            </a:r>
            <a:r>
              <a:rPr lang="en-AU" dirty="0"/>
              <a:t>and is the power to which b </a:t>
            </a:r>
            <a:r>
              <a:rPr lang="en-AU" dirty="0" smtClean="0"/>
              <a:t>must be </a:t>
            </a:r>
            <a:r>
              <a:rPr lang="en-AU" dirty="0"/>
              <a:t>raised to produce the number 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01801" y="4110134"/>
                <a:ext cx="4580613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𝑒𝑔</m:t>
                      </m:r>
                      <m:r>
                        <a:rPr lang="en-AU" b="0" i="1" smtClean="0">
                          <a:latin typeface="Cambria Math"/>
                        </a:rPr>
                        <m:t> 100=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        </m:t>
                      </m:r>
                      <m:r>
                        <a:rPr lang="en-AU" b="0" i="1" smtClean="0">
                          <a:latin typeface="Cambria Math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</a:rPr>
                        <m:t>         </m:t>
                      </m:r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/>
                            </a:rPr>
                            <m:t>100=2</m:t>
                          </m:r>
                        </m:e>
                      </m:func>
                    </m:oMath>
                  </m:oMathPara>
                </a14:m>
                <a:endParaRPr lang="en-AU" b="0" dirty="0" smtClean="0"/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/>
                            </a:rPr>
                            <m:t>32=5    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𝑏𝑒𝑐𝑎𝑢𝑠𝑒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=32</m:t>
                          </m:r>
                        </m:e>
                      </m:func>
                    </m:oMath>
                  </m:oMathPara>
                </a14:m>
                <a:endParaRPr lang="en-AU" dirty="0" smtClean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801" y="4110134"/>
                <a:ext cx="4580613" cy="946991"/>
              </a:xfrm>
              <a:prstGeom prst="rect">
                <a:avLst/>
              </a:prstGeom>
              <a:blipFill rotWithShape="1"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771800" y="5620598"/>
            <a:ext cx="118788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Index base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121828" y="5596562"/>
            <a:ext cx="144680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To this power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6031664" y="5781228"/>
            <a:ext cx="1983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Equals this number</a:t>
            </a:r>
            <a:endParaRPr lang="en-AU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959689" y="5057125"/>
            <a:ext cx="324279" cy="5634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716016" y="4941168"/>
            <a:ext cx="371970" cy="6553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4716016" y="4941168"/>
            <a:ext cx="1584176" cy="840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or use the log of a number?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377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logs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5963" y="2564904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Log laws – very similar to log laws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8" t="44165" r="63141" b="40542"/>
          <a:stretch/>
        </p:blipFill>
        <p:spPr bwMode="auto">
          <a:xfrm>
            <a:off x="2051720" y="2087365"/>
            <a:ext cx="6978435" cy="1773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255317" y="3826784"/>
            <a:ext cx="5945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Simplify each of the following expressions.</a:t>
            </a:r>
          </a:p>
          <a:p>
            <a:r>
              <a:rPr lang="en-AU" dirty="0" smtClean="0"/>
              <a:t>a) log</a:t>
            </a:r>
            <a:r>
              <a:rPr lang="en-AU" baseline="-25000" dirty="0" smtClean="0"/>
              <a:t>2</a:t>
            </a:r>
            <a:r>
              <a:rPr lang="en-AU" dirty="0" smtClean="0"/>
              <a:t>5 - log</a:t>
            </a:r>
            <a:r>
              <a:rPr lang="en-AU" baseline="-25000" dirty="0" smtClean="0"/>
              <a:t>2</a:t>
            </a:r>
            <a:r>
              <a:rPr lang="en-AU" dirty="0" smtClean="0"/>
              <a:t>10      b) 2log</a:t>
            </a:r>
            <a:r>
              <a:rPr lang="en-AU" baseline="-25000" dirty="0" smtClean="0"/>
              <a:t>3</a:t>
            </a:r>
            <a:r>
              <a:rPr lang="en-AU" dirty="0" smtClean="0"/>
              <a:t>6 – log</a:t>
            </a:r>
            <a:r>
              <a:rPr lang="en-AU" baseline="-25000" dirty="0" smtClean="0"/>
              <a:t>3</a:t>
            </a:r>
            <a:r>
              <a:rPr lang="en-AU" dirty="0" smtClean="0"/>
              <a:t>4     c) log</a:t>
            </a:r>
            <a:r>
              <a:rPr lang="en-AU" baseline="-25000" dirty="0" smtClean="0"/>
              <a:t>5</a:t>
            </a:r>
            <a:r>
              <a:rPr lang="en-AU" dirty="0" smtClean="0"/>
              <a:t>8 + log</a:t>
            </a:r>
            <a:r>
              <a:rPr lang="en-AU" baseline="-25000" dirty="0" smtClean="0"/>
              <a:t>5</a:t>
            </a:r>
            <a:r>
              <a:rPr lang="en-AU" dirty="0" smtClean="0"/>
              <a:t>3 - log</a:t>
            </a:r>
            <a:r>
              <a:rPr lang="en-AU" baseline="-25000" dirty="0" smtClean="0"/>
              <a:t>5</a:t>
            </a:r>
            <a:r>
              <a:rPr lang="en-AU" dirty="0" smtClean="0"/>
              <a:t>4</a:t>
            </a:r>
            <a:endParaRPr lang="en-AU" dirty="0"/>
          </a:p>
        </p:txBody>
      </p:sp>
      <p:pic>
        <p:nvPicPr>
          <p:cNvPr id="14" name="Picture 13" descr="F:\DCIM\Camera\20160405_124412.jpg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3" t="40740" r="7786" b="14075"/>
          <a:stretch/>
        </p:blipFill>
        <p:spPr bwMode="auto">
          <a:xfrm>
            <a:off x="2482676" y="4653136"/>
            <a:ext cx="5748587" cy="20201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2372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916832"/>
            <a:ext cx="0" cy="2255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or use the log of a number?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377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logs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5963" y="2564904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Log laws – very similar to log laws</a:t>
            </a:r>
          </a:p>
          <a:p>
            <a:r>
              <a:rPr lang="en-AU" dirty="0" smtClean="0"/>
              <a:t>- And if I am using base 10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8" t="44165" r="63141" b="40542"/>
          <a:stretch/>
        </p:blipFill>
        <p:spPr bwMode="auto">
          <a:xfrm>
            <a:off x="2051720" y="2087365"/>
            <a:ext cx="6978435" cy="1773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34387" y="4191900"/>
            <a:ext cx="8223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Simplify each of the following expressions.</a:t>
            </a:r>
          </a:p>
          <a:p>
            <a:r>
              <a:rPr lang="en-AU" dirty="0" smtClean="0"/>
              <a:t>a) log</a:t>
            </a:r>
            <a:r>
              <a:rPr lang="en-AU" baseline="-25000" dirty="0" smtClean="0"/>
              <a:t>10</a:t>
            </a:r>
            <a:r>
              <a:rPr lang="en-AU" dirty="0" smtClean="0"/>
              <a:t>100 – log</a:t>
            </a:r>
            <a:r>
              <a:rPr lang="en-AU" baseline="-25000" dirty="0" smtClean="0"/>
              <a:t>10</a:t>
            </a:r>
            <a:r>
              <a:rPr lang="en-AU" dirty="0" smtClean="0"/>
              <a:t>10        b) log</a:t>
            </a:r>
            <a:r>
              <a:rPr lang="en-AU" baseline="-25000" dirty="0" smtClean="0"/>
              <a:t>10</a:t>
            </a:r>
            <a:r>
              <a:rPr lang="en-AU" dirty="0" smtClean="0"/>
              <a:t>10000 + log</a:t>
            </a:r>
            <a:r>
              <a:rPr lang="en-AU" baseline="-25000" dirty="0" smtClean="0"/>
              <a:t>10</a:t>
            </a:r>
            <a:r>
              <a:rPr lang="en-AU" dirty="0" smtClean="0"/>
              <a:t>100       c) 4log</a:t>
            </a:r>
            <a:r>
              <a:rPr lang="en-AU" baseline="-25000" dirty="0" smtClean="0"/>
              <a:t>10</a:t>
            </a:r>
            <a:r>
              <a:rPr lang="en-AU" dirty="0" smtClean="0"/>
              <a:t>10 + log</a:t>
            </a:r>
            <a:r>
              <a:rPr lang="en-AU" baseline="-25000" dirty="0" smtClean="0"/>
              <a:t>10</a:t>
            </a:r>
            <a:r>
              <a:rPr lang="en-AU" dirty="0" smtClean="0"/>
              <a:t>100 – 3log</a:t>
            </a:r>
            <a:r>
              <a:rPr lang="en-AU" baseline="-25000" dirty="0" smtClean="0"/>
              <a:t>10</a:t>
            </a:r>
            <a:r>
              <a:rPr lang="en-AU" dirty="0" smtClean="0"/>
              <a:t>10</a:t>
            </a:r>
            <a:endParaRPr lang="en-AU" dirty="0"/>
          </a:p>
        </p:txBody>
      </p:sp>
      <p:pic>
        <p:nvPicPr>
          <p:cNvPr id="14" name="Picture 13" descr="F:\DCIM\Camera\20160405_125134.jpg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t="20001" r="149" b="27654"/>
          <a:stretch/>
        </p:blipFill>
        <p:spPr bwMode="auto">
          <a:xfrm>
            <a:off x="1938171" y="4842546"/>
            <a:ext cx="5730173" cy="18307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8154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916832"/>
            <a:ext cx="30467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or use the log of a number?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3972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surds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5963" y="2564904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Log laws – very similar to log laws</a:t>
            </a:r>
          </a:p>
          <a:p>
            <a:r>
              <a:rPr lang="en-AU" dirty="0" smtClean="0"/>
              <a:t>- And if I am using any base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8" t="44165" r="63141" b="40542"/>
          <a:stretch/>
        </p:blipFill>
        <p:spPr bwMode="auto">
          <a:xfrm>
            <a:off x="2051720" y="2087365"/>
            <a:ext cx="6978435" cy="1773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160923" y="4191900"/>
            <a:ext cx="4822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Simplify each of the following expressions.</a:t>
            </a:r>
          </a:p>
          <a:p>
            <a:r>
              <a:rPr lang="en-AU" dirty="0" smtClean="0"/>
              <a:t>d) log</a:t>
            </a:r>
            <a:r>
              <a:rPr lang="en-AU" baseline="-25000" dirty="0" smtClean="0"/>
              <a:t>3</a:t>
            </a:r>
            <a:r>
              <a:rPr lang="en-AU" dirty="0" smtClean="0"/>
              <a:t>81 + log</a:t>
            </a:r>
            <a:r>
              <a:rPr lang="en-AU" baseline="-25000" dirty="0" smtClean="0"/>
              <a:t>3</a:t>
            </a:r>
            <a:r>
              <a:rPr lang="en-AU" dirty="0" smtClean="0"/>
              <a:t>15 – log</a:t>
            </a:r>
            <a:r>
              <a:rPr lang="en-AU" baseline="-25000" dirty="0" smtClean="0"/>
              <a:t>3</a:t>
            </a:r>
            <a:r>
              <a:rPr lang="en-AU" dirty="0" smtClean="0"/>
              <a:t>45        b) log</a:t>
            </a:r>
            <a:r>
              <a:rPr lang="en-AU" baseline="-25000" dirty="0" smtClean="0"/>
              <a:t>4</a:t>
            </a:r>
            <a:r>
              <a:rPr lang="en-AU" dirty="0" smtClean="0"/>
              <a:t>112 - log</a:t>
            </a:r>
            <a:r>
              <a:rPr lang="en-AU" baseline="-25000" dirty="0" smtClean="0"/>
              <a:t>4</a:t>
            </a:r>
            <a:r>
              <a:rPr lang="en-AU" dirty="0" smtClean="0"/>
              <a:t>7</a:t>
            </a:r>
            <a:endParaRPr lang="en-AU" dirty="0"/>
          </a:p>
        </p:txBody>
      </p:sp>
      <p:pic>
        <p:nvPicPr>
          <p:cNvPr id="14" name="Picture 13" descr="F:\DCIM\Camera\20160405_125817.jpg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0" t="32099" r="11258" b="23704"/>
          <a:stretch/>
        </p:blipFill>
        <p:spPr bwMode="auto">
          <a:xfrm>
            <a:off x="2160923" y="4838231"/>
            <a:ext cx="5278252" cy="18351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1969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4.11  and 4.12 from Dwyer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Pages 54 &amp; 55</a:t>
            </a:r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508</Words>
  <Application>Microsoft Office PowerPoint</Application>
  <PresentationFormat>On-screen Show (4:3)</PresentationFormat>
  <Paragraphs>111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Index, Surd &amp; Log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83</cp:revision>
  <dcterms:created xsi:type="dcterms:W3CDTF">2014-05-14T02:58:57Z</dcterms:created>
  <dcterms:modified xsi:type="dcterms:W3CDTF">2016-04-05T05:13:17Z</dcterms:modified>
</cp:coreProperties>
</file>
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0" r:id="rId2"/>
    <p:sldId id="259" r:id="rId3"/>
    <p:sldId id="258" r:id="rId4"/>
    <p:sldId id="303" r:id="rId5"/>
    <p:sldId id="330" r:id="rId6"/>
    <p:sldId id="331" r:id="rId7"/>
    <p:sldId id="332" r:id="rId8"/>
    <p:sldId id="329" r:id="rId9"/>
    <p:sldId id="292" r:id="rId10"/>
    <p:sldId id="291" r:id="rId11"/>
  </p:sldIdLst>
  <p:sldSz cx="9144000" cy="6858000" type="screen4x3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84" y="7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21/03/2016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21/03/2016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21/03/2016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21/03/2016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21/03/2016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21/03/2016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21/03/2016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21/03/2016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21/03/2016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12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6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Index, Surd &amp; Log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dirty="0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𝜋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380312" y="980728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0312" y="980728"/>
                <a:ext cx="1368152" cy="1227644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23528" y="2492896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11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2492896"/>
                <a:ext cx="1368152" cy="1227644"/>
              </a:xfrm>
              <a:prstGeom prst="rect">
                <a:avLst/>
              </a:prstGeom>
              <a:blipFill rotWithShape="1">
                <a:blip r:embed="rId12"/>
                <a:stretch>
                  <a:fillRect r="-151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79512" y="1063436"/>
                <a:ext cx="8620422" cy="4891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EQ – How do I find the 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/>
                        <a:ea typeface="Cambria Math"/>
                      </a:rPr>
                      <m:t>√</m:t>
                    </m:r>
                  </m:oMath>
                </a14:m>
                <a:r>
                  <a:rPr lang="en-AU" sz="2400" dirty="0" smtClean="0"/>
                  <a:t> of a non standard number Exactly?  </a:t>
                </a:r>
                <a:endParaRPr lang="en-AU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063436"/>
                <a:ext cx="8620422" cy="489173"/>
              </a:xfrm>
              <a:prstGeom prst="rect">
                <a:avLst/>
              </a:prstGeom>
              <a:blipFill rotWithShape="1">
                <a:blip r:embed="rId2"/>
                <a:stretch>
                  <a:fillRect l="-1060" t="-3704" b="-271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115616" y="404664"/>
            <a:ext cx="39723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system and surds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79512" y="1063436"/>
                <a:ext cx="8620422" cy="4891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EQ – How do I find the 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/>
                        <a:ea typeface="Cambria Math"/>
                      </a:rPr>
                      <m:t>√</m:t>
                    </m:r>
                  </m:oMath>
                </a14:m>
                <a:r>
                  <a:rPr lang="en-AU" sz="2400" dirty="0" smtClean="0"/>
                  <a:t> of a non standard number Exactly?  </a:t>
                </a:r>
                <a:endParaRPr lang="en-AU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063436"/>
                <a:ext cx="8620422" cy="489173"/>
              </a:xfrm>
              <a:prstGeom prst="rect">
                <a:avLst/>
              </a:prstGeom>
              <a:blipFill rotWithShape="1">
                <a:blip r:embed="rId2"/>
                <a:stretch>
                  <a:fillRect l="-1060" t="-3704" b="-271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115616" y="404664"/>
            <a:ext cx="39723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system and surds</a:t>
            </a:r>
            <a:endParaRPr lang="en-A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379519" y="2160726"/>
            <a:ext cx="23523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Real, unreal, rational</a:t>
            </a:r>
          </a:p>
          <a:p>
            <a:r>
              <a:rPr lang="en-AU" dirty="0" smtClean="0"/>
              <a:t>And irrational numbers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95" t="9935" r="53849" b="16263"/>
          <a:stretch/>
        </p:blipFill>
        <p:spPr bwMode="auto">
          <a:xfrm>
            <a:off x="3603451" y="2363765"/>
            <a:ext cx="4508872" cy="4326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419872" y="1976060"/>
            <a:ext cx="4667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Just as a starter lets look at our number system!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81866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79512" y="1063436"/>
                <a:ext cx="8620422" cy="4891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EQ – How do I find the 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/>
                        <a:ea typeface="Cambria Math"/>
                      </a:rPr>
                      <m:t>√</m:t>
                    </m:r>
                  </m:oMath>
                </a14:m>
                <a:r>
                  <a:rPr lang="en-AU" sz="2400" dirty="0" smtClean="0"/>
                  <a:t> of a non standard number Exactly?  </a:t>
                </a:r>
                <a:endParaRPr lang="en-AU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063436"/>
                <a:ext cx="8620422" cy="489173"/>
              </a:xfrm>
              <a:prstGeom prst="rect">
                <a:avLst/>
              </a:prstGeom>
              <a:blipFill rotWithShape="1">
                <a:blip r:embed="rId2"/>
                <a:stretch>
                  <a:fillRect l="-1060" t="-3704" b="-271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115616" y="404664"/>
            <a:ext cx="39723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system and surds</a:t>
            </a:r>
            <a:endParaRPr lang="en-A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379519" y="2160726"/>
            <a:ext cx="23523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Real, unreal, rational</a:t>
            </a:r>
          </a:p>
          <a:p>
            <a:r>
              <a:rPr lang="en-AU" dirty="0" smtClean="0"/>
              <a:t>And irrational numbers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419872" y="1976060"/>
                <a:ext cx="5603479" cy="1247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Surds are numbers that are left in radical (</a:t>
                </a:r>
                <a:r>
                  <a:rPr lang="en-AU" dirty="0" err="1" smtClean="0"/>
                  <a:t>sq</a:t>
                </a:r>
                <a:r>
                  <a:rPr lang="en-AU" dirty="0" smtClean="0"/>
                  <a:t> root ) form</a:t>
                </a:r>
              </a:p>
              <a:p>
                <a:r>
                  <a:rPr lang="en-AU" dirty="0" err="1" smtClean="0"/>
                  <a:t>eg</a:t>
                </a:r>
                <a:r>
                  <a:rPr lang="en-AU" dirty="0" smtClean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𝑜𝑟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AU" dirty="0" smtClean="0"/>
                  <a:t> these and others are NON repeating decimals, they are left in radical  (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/>
                        <a:ea typeface="Cambria Math"/>
                      </a:rPr>
                      <m:t>√</m:t>
                    </m:r>
                  </m:oMath>
                </a14:m>
                <a:r>
                  <a:rPr lang="en-AU" dirty="0" smtClean="0"/>
                  <a:t>) or symbol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n-AU" i="1" smtClean="0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AU" dirty="0" smtClean="0"/>
                  <a:t> form as exact answers or part of exact answers. </a:t>
                </a:r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872" y="1976060"/>
                <a:ext cx="5603479" cy="1247970"/>
              </a:xfrm>
              <a:prstGeom prst="rect">
                <a:avLst/>
              </a:prstGeom>
              <a:blipFill rotWithShape="1">
                <a:blip r:embed="rId3"/>
                <a:stretch>
                  <a:fillRect l="-871" t="-2439" r="-979" b="-682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543705" y="3347700"/>
                <a:ext cx="2524794" cy="30796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Simplify these surds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latin typeface="Cambria Math"/>
                        </a:rPr>
                        <m:t>) 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8</m:t>
                          </m:r>
                        </m:e>
                      </m:rad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4</m:t>
                          </m:r>
                        </m:e>
                      </m:rad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e>
                      </m:rad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            =2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r>
                  <a:rPr lang="en-AU" b="0" dirty="0" smtClean="0">
                    <a:ea typeface="Cambria Math"/>
                  </a:rPr>
                  <a:t/>
                </a:r>
                <a:br>
                  <a:rPr lang="en-AU" b="0" dirty="0" smtClean="0">
                    <a:ea typeface="Cambria Math"/>
                  </a:rPr>
                </a:br>
                <a:r>
                  <a:rPr lang="en-AU" b="0" dirty="0" smtClean="0">
                    <a:ea typeface="Cambria Math"/>
                  </a:rPr>
                  <a:t/>
                </a:r>
                <a:br>
                  <a:rPr lang="en-AU" b="0" dirty="0" smtClean="0">
                    <a:ea typeface="Cambria Math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𝑏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)4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45</m:t>
                          </m:r>
                        </m:e>
                      </m:rad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=4×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9</m:t>
                          </m:r>
                        </m:e>
                      </m:rad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5</m:t>
                          </m:r>
                        </m:e>
                      </m:rad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                =4×3×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r>
                  <a:rPr lang="en-AU" b="0" i="1" dirty="0" smtClean="0">
                    <a:latin typeface="Cambria Math"/>
                    <a:ea typeface="Cambria Math"/>
                  </a:rPr>
                  <a:t/>
                </a:r>
                <a:br>
                  <a:rPr lang="en-AU" b="0" i="1" dirty="0" smtClean="0">
                    <a:latin typeface="Cambria Math"/>
                    <a:ea typeface="Cambria Math"/>
                  </a:rPr>
                </a:br>
                <a:r>
                  <a:rPr lang="en-AU" b="0" i="1" dirty="0" smtClean="0">
                    <a:latin typeface="Cambria Math"/>
                    <a:ea typeface="Cambria Math"/>
                  </a:rPr>
                  <a:t>         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  <a:ea typeface="Cambria Math"/>
                      </a:rPr>
                      <m:t>=12</m:t>
                    </m:r>
                    <m:rad>
                      <m:radPr>
                        <m:degHide m:val="on"/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5</m:t>
                        </m:r>
                      </m:e>
                    </m:rad>
                  </m:oMath>
                </a14:m>
                <a:r>
                  <a:rPr lang="en-AU" b="0" i="1" dirty="0" smtClean="0">
                    <a:latin typeface="Cambria Math"/>
                    <a:ea typeface="Cambria Math"/>
                  </a:rPr>
                  <a:t/>
                </a:r>
                <a:br>
                  <a:rPr lang="en-AU" b="0" i="1" dirty="0" smtClean="0">
                    <a:latin typeface="Cambria Math"/>
                    <a:ea typeface="Cambria Math"/>
                  </a:rPr>
                </a:br>
                <a:r>
                  <a:rPr lang="en-AU" b="0" i="1" dirty="0" smtClean="0">
                    <a:latin typeface="Cambria Math"/>
                    <a:ea typeface="Cambria Math"/>
                  </a:rPr>
                  <a:t/>
                </a:r>
                <a:br>
                  <a:rPr lang="en-AU" b="0" i="1" dirty="0" smtClean="0">
                    <a:latin typeface="Cambria Math"/>
                    <a:ea typeface="Cambria Math"/>
                  </a:rPr>
                </a:br>
                <a:r>
                  <a:rPr lang="en-AU" b="0" i="1" dirty="0" smtClean="0">
                    <a:latin typeface="Cambria Math"/>
                    <a:ea typeface="Cambria Math"/>
                  </a:rPr>
                  <a:t>c)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108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36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</m:rad>
                  </m:oMath>
                </a14:m>
                <a:r>
                  <a:rPr lang="en-AU" b="0" i="1" dirty="0" smtClean="0">
                    <a:latin typeface="Cambria Math"/>
                    <a:ea typeface="Cambria Math"/>
                  </a:rPr>
                  <a:t/>
                </a:r>
                <a:br>
                  <a:rPr lang="en-AU" b="0" i="1" dirty="0" smtClean="0">
                    <a:latin typeface="Cambria Math"/>
                    <a:ea typeface="Cambria Math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                =6√3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3705" y="3347700"/>
                <a:ext cx="2524794" cy="3079626"/>
              </a:xfrm>
              <a:prstGeom prst="rect">
                <a:avLst/>
              </a:prstGeom>
              <a:blipFill rotWithShape="1">
                <a:blip r:embed="rId4"/>
                <a:stretch>
                  <a:fillRect l="-1932" t="-9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907704" y="3157934"/>
            <a:ext cx="700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Surds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6372200" y="4604392"/>
            <a:ext cx="2520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These are all now exact answers, if you remember we talked a little about this last year.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61241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79512" y="1063436"/>
                <a:ext cx="8620422" cy="4891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EQ – How do I find the 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/>
                        <a:ea typeface="Cambria Math"/>
                      </a:rPr>
                      <m:t>√</m:t>
                    </m:r>
                  </m:oMath>
                </a14:m>
                <a:r>
                  <a:rPr lang="en-AU" sz="2400" dirty="0" smtClean="0"/>
                  <a:t> of a non standard number Exactly?  </a:t>
                </a:r>
                <a:endParaRPr lang="en-AU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063436"/>
                <a:ext cx="8620422" cy="489173"/>
              </a:xfrm>
              <a:prstGeom prst="rect">
                <a:avLst/>
              </a:prstGeom>
              <a:blipFill rotWithShape="1">
                <a:blip r:embed="rId2"/>
                <a:stretch>
                  <a:fillRect l="-1060" t="-3704" b="-271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1115616" y="404664"/>
            <a:ext cx="39723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system and surds</a:t>
            </a:r>
            <a:endParaRPr lang="en-A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379519" y="2160726"/>
            <a:ext cx="23523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Real, unreal, rational</a:t>
            </a:r>
          </a:p>
          <a:p>
            <a:r>
              <a:rPr lang="en-AU" dirty="0" smtClean="0"/>
              <a:t>And irrational numbers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419872" y="1976060"/>
                <a:ext cx="5603479" cy="1247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Surds are numbers that are left in radical (</a:t>
                </a:r>
                <a:r>
                  <a:rPr lang="en-AU" dirty="0" err="1" smtClean="0"/>
                  <a:t>sq</a:t>
                </a:r>
                <a:r>
                  <a:rPr lang="en-AU" dirty="0" smtClean="0"/>
                  <a:t> root ) form</a:t>
                </a:r>
              </a:p>
              <a:p>
                <a:r>
                  <a:rPr lang="en-AU" dirty="0" err="1" smtClean="0"/>
                  <a:t>eg</a:t>
                </a:r>
                <a:r>
                  <a:rPr lang="en-AU" dirty="0" smtClean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e>
                    </m:rad>
                    <m:r>
                      <a:rPr lang="en-AU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𝑜𝑟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𝜋</m:t>
                    </m:r>
                  </m:oMath>
                </a14:m>
                <a:r>
                  <a:rPr lang="en-AU" dirty="0" smtClean="0"/>
                  <a:t> these and others are NON repeating decimals, they are left in radical  (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/>
                        <a:ea typeface="Cambria Math"/>
                      </a:rPr>
                      <m:t>√</m:t>
                    </m:r>
                  </m:oMath>
                </a14:m>
                <a:r>
                  <a:rPr lang="en-AU" dirty="0" smtClean="0"/>
                  <a:t>) or symbol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n-AU" i="1" smtClean="0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AU" dirty="0" smtClean="0"/>
                  <a:t> form as exact answers or part of exact answers. </a:t>
                </a:r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872" y="1976060"/>
                <a:ext cx="5603479" cy="1247970"/>
              </a:xfrm>
              <a:prstGeom prst="rect">
                <a:avLst/>
              </a:prstGeom>
              <a:blipFill rotWithShape="1">
                <a:blip r:embed="rId3"/>
                <a:stretch>
                  <a:fillRect l="-871" t="-2439" r="-979" b="-682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464595" y="3171157"/>
                <a:ext cx="3621248" cy="35706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Simplify these surds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𝑎</m:t>
                      </m:r>
                      <m:r>
                        <a:rPr lang="en-AU" b="0" i="1" smtClean="0">
                          <a:latin typeface="Cambria Math"/>
                        </a:rPr>
                        <m:t>) 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3</m:t>
                          </m:r>
                        </m:e>
                      </m:rad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×√11= 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33</m:t>
                          </m:r>
                        </m:e>
                      </m:rad>
                    </m:oMath>
                  </m:oMathPara>
                </a14:m>
                <a:r>
                  <a:rPr lang="en-AU" b="0" dirty="0" smtClean="0">
                    <a:ea typeface="Cambria Math"/>
                  </a:rPr>
                  <a:t/>
                </a:r>
                <a:br>
                  <a:rPr lang="en-AU" b="0" dirty="0" smtClean="0">
                    <a:ea typeface="Cambria Math"/>
                  </a:rPr>
                </a:br>
                <a:r>
                  <a:rPr lang="en-AU" b="0" dirty="0" smtClean="0">
                    <a:ea typeface="Cambria Math"/>
                  </a:rPr>
                  <a:t/>
                </a:r>
                <a:br>
                  <a:rPr lang="en-AU" b="0" dirty="0" smtClean="0">
                    <a:ea typeface="Cambria Math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𝑏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)4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5</m:t>
                          </m:r>
                        </m:e>
                      </m:rad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×√15=4×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5</m:t>
                          </m:r>
                        </m:e>
                      </m:rad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5</m:t>
                          </m:r>
                        </m:e>
                      </m:rad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×√3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                =4×5×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r>
                  <a:rPr lang="en-AU" b="0" i="1" dirty="0" smtClean="0">
                    <a:latin typeface="Cambria Math"/>
                    <a:ea typeface="Cambria Math"/>
                  </a:rPr>
                  <a:t/>
                </a:r>
                <a:br>
                  <a:rPr lang="en-AU" b="0" i="1" dirty="0" smtClean="0">
                    <a:latin typeface="Cambria Math"/>
                    <a:ea typeface="Cambria Math"/>
                  </a:rPr>
                </a:br>
                <a:r>
                  <a:rPr lang="en-AU" b="0" i="1" dirty="0" smtClean="0">
                    <a:latin typeface="Cambria Math"/>
                    <a:ea typeface="Cambria Math"/>
                  </a:rPr>
                  <a:t>         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  <a:ea typeface="Cambria Math"/>
                      </a:rPr>
                      <m:t>=20</m:t>
                    </m:r>
                    <m:rad>
                      <m:radPr>
                        <m:degHide m:val="on"/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3</m:t>
                        </m:r>
                      </m:e>
                    </m:rad>
                  </m:oMath>
                </a14:m>
                <a:r>
                  <a:rPr lang="en-AU" b="0" i="1" dirty="0" smtClean="0">
                    <a:latin typeface="Cambria Math"/>
                    <a:ea typeface="Cambria Math"/>
                  </a:rPr>
                  <a:t/>
                </a:r>
                <a:br>
                  <a:rPr lang="en-AU" b="0" i="1" dirty="0" smtClean="0">
                    <a:latin typeface="Cambria Math"/>
                    <a:ea typeface="Cambria Math"/>
                  </a:rPr>
                </a:br>
                <a:r>
                  <a:rPr lang="en-AU" b="0" i="1" dirty="0" smtClean="0">
                    <a:latin typeface="Cambria Math"/>
                    <a:ea typeface="Cambria Math"/>
                  </a:rPr>
                  <a:t/>
                </a:r>
                <a:br>
                  <a:rPr lang="en-AU" b="0" i="1" dirty="0" smtClean="0">
                    <a:latin typeface="Cambria Math"/>
                    <a:ea typeface="Cambria Math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𝑐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)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4√45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8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√5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 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4×√9×√5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8×√5</m:t>
                          </m:r>
                        </m:den>
                      </m:f>
                    </m:oMath>
                  </m:oMathPara>
                </a14:m>
                <a:r>
                  <a:rPr lang="en-AU" b="0" i="1" dirty="0" smtClean="0">
                    <a:latin typeface="Cambria Math"/>
                    <a:ea typeface="Cambria Math"/>
                  </a:rPr>
                  <a:t/>
                </a:r>
                <a:br>
                  <a:rPr lang="en-AU" b="0" i="1" dirty="0" smtClean="0">
                    <a:latin typeface="Cambria Math"/>
                    <a:ea typeface="Cambria Math"/>
                  </a:rPr>
                </a:br>
                <a:r>
                  <a:rPr lang="en-AU" b="0" i="1" dirty="0" smtClean="0">
                    <a:latin typeface="Cambria Math"/>
                    <a:ea typeface="Cambria Math"/>
                  </a:rPr>
                  <a:t/>
                </a:r>
                <a:br>
                  <a:rPr lang="en-AU" b="0" i="1" dirty="0" smtClean="0">
                    <a:latin typeface="Cambria Math"/>
                    <a:ea typeface="Cambria Math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                =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𝑜𝑟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1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4595" y="3171157"/>
                <a:ext cx="3621248" cy="3570657"/>
              </a:xfrm>
              <a:prstGeom prst="rect">
                <a:avLst/>
              </a:prstGeom>
              <a:blipFill rotWithShape="1">
                <a:blip r:embed="rId4"/>
                <a:stretch>
                  <a:fillRect l="-1347" t="-85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907704" y="3157934"/>
            <a:ext cx="700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Surds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11550" y="4585984"/>
            <a:ext cx="2520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These are all now exact answers, if you remember we talked a little about this last year.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6358322" y="5486330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Cancel</a:t>
            </a:r>
            <a:endParaRPr lang="en-AU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5724128" y="5422497"/>
            <a:ext cx="288032" cy="300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436096" y="5796301"/>
            <a:ext cx="288032" cy="300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4716016" y="5446541"/>
            <a:ext cx="288032" cy="300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977356" y="5796301"/>
            <a:ext cx="288032" cy="3001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736642" y="568465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2</a:t>
            </a:r>
            <a:endParaRPr lang="en-AU" sz="1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868144" y="5138764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1</a:t>
            </a:r>
            <a:endParaRPr lang="en-AU" sz="1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593769" y="5685267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1</a:t>
            </a:r>
            <a:endParaRPr lang="en-AU" sz="1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04086" y="5140335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1</a:t>
            </a:r>
            <a:endParaRPr lang="en-AU" sz="1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337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764704"/>
            <a:ext cx="7632848" cy="4536504"/>
          </a:xfrm>
        </p:spPr>
        <p:txBody>
          <a:bodyPr>
            <a:normAutofit/>
          </a:bodyPr>
          <a:lstStyle/>
          <a:p>
            <a:r>
              <a:rPr lang="en-AU" b="1" dirty="0" smtClean="0">
                <a:solidFill>
                  <a:schemeClr val="tx1"/>
                </a:solidFill>
              </a:rPr>
              <a:t>Exercises</a:t>
            </a:r>
          </a:p>
          <a:p>
            <a:r>
              <a:rPr lang="en-AU" b="1" dirty="0" smtClean="0">
                <a:solidFill>
                  <a:schemeClr val="tx1"/>
                </a:solidFill>
              </a:rPr>
              <a:t>Exercise 4.1  and 2.2 from Dwyer</a:t>
            </a:r>
          </a:p>
          <a:p>
            <a:endParaRPr lang="en-AU" b="1" dirty="0">
              <a:solidFill>
                <a:schemeClr val="tx1"/>
              </a:solidFill>
            </a:endParaRPr>
          </a:p>
          <a:p>
            <a:endParaRPr lang="en-AU" b="1" dirty="0">
              <a:solidFill>
                <a:schemeClr val="tx1"/>
              </a:solidFill>
            </a:endParaRPr>
          </a:p>
          <a:p>
            <a:r>
              <a:rPr lang="en-AU" b="1" dirty="0" smtClean="0">
                <a:solidFill>
                  <a:schemeClr val="tx2"/>
                </a:solidFill>
              </a:rPr>
              <a:t>All to be done with a smile on your faces.</a:t>
            </a:r>
            <a:endParaRPr lang="en-AU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309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997</TotalTime>
  <Words>421</Words>
  <Application>Microsoft Office PowerPoint</Application>
  <PresentationFormat>On-screen Show (4:3)</PresentationFormat>
  <Paragraphs>101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My Index, Surd &amp; Log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76</cp:revision>
  <dcterms:created xsi:type="dcterms:W3CDTF">2014-05-14T02:58:57Z</dcterms:created>
  <dcterms:modified xsi:type="dcterms:W3CDTF">2016-03-21T02:24:18Z</dcterms:modified>
</cp:coreProperties>
</file>
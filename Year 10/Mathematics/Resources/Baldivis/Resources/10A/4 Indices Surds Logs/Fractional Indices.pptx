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312" r:id="rId2"/>
    <p:sldId id="313" r:id="rId3"/>
    <p:sldId id="309" r:id="rId4"/>
    <p:sldId id="304" r:id="rId5"/>
    <p:sldId id="303" r:id="rId6"/>
    <p:sldId id="306" r:id="rId7"/>
    <p:sldId id="307" r:id="rId8"/>
    <p:sldId id="308" r:id="rId9"/>
    <p:sldId id="310" r:id="rId10"/>
    <p:sldId id="305" r:id="rId11"/>
    <p:sldId id="311" r:id="rId1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294" autoAdjust="0"/>
    <p:restoredTop sz="94660"/>
  </p:normalViewPr>
  <p:slideViewPr>
    <p:cSldViewPr snapToGrid="0">
      <p:cViewPr>
        <p:scale>
          <a:sx n="60" d="100"/>
          <a:sy n="60" d="100"/>
        </p:scale>
        <p:origin x="-678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1957C9-F4D4-4D1F-B8B1-25B11346A1E5}" type="datetimeFigureOut">
              <a:rPr lang="en-AU" smtClean="0"/>
              <a:t>30/03/2016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07FC-2D1D-4D04-B72F-1D7E3D42DF1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0320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8D271-75C6-4A7B-981E-95489D89B893}" type="datetimeFigureOut">
              <a:rPr lang="en-AU" smtClean="0"/>
              <a:t>30/03/2016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55BE75-6727-4F64-82F8-DA94106C053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6076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55BE75-6727-4F64-82F8-DA94106C0530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2015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3503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812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8364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65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036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908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175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9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629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9438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648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3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30/03/2016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9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AU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0465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0.png"/><Relationship Id="rId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80.png"/><Relationship Id="rId7" Type="http://schemas.openxmlformats.org/officeDocument/2006/relationships/image" Target="../media/image1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0.png"/><Relationship Id="rId4" Type="http://schemas.openxmlformats.org/officeDocument/2006/relationships/image" Target="../media/image9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98" t="58836" r="22694" b="19829"/>
          <a:stretch/>
        </p:blipFill>
        <p:spPr bwMode="auto">
          <a:xfrm>
            <a:off x="1103592" y="220717"/>
            <a:ext cx="3358050" cy="206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867390" y="2333481"/>
                <a:ext cx="7480574" cy="17512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(2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 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)(3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6</m:t>
                        </m:r>
                      </m:e>
                    </m:rad>
                  </m:oMath>
                </a14:m>
                <a:r>
                  <a:rPr lang="en-AU" sz="2000" dirty="0" smtClean="0"/>
                  <a:t> - 5)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</m:t>
                    </m:r>
                    <m:r>
                      <a:rPr lang="en-AU" sz="2000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sz="2000" i="1">
                        <a:latin typeface="Cambria Math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6</m:t>
                        </m:r>
                      </m:e>
                    </m:rad>
                  </m:oMath>
                </a14:m>
                <a:r>
                  <a:rPr lang="en-AU" sz="2000" dirty="0" smtClean="0"/>
                  <a:t> +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sz="2000" dirty="0" smtClean="0"/>
                  <a:t> x -5 +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x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6</m:t>
                        </m:r>
                      </m:e>
                    </m:rad>
                  </m:oMath>
                </a14:m>
                <a:r>
                  <a:rPr lang="en-AU" sz="2000" dirty="0" smtClean="0"/>
                  <a:t> +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x -5 </a:t>
                </a:r>
              </a:p>
              <a:p>
                <a:r>
                  <a:rPr lang="en-AU" sz="2000" dirty="0"/>
                  <a:t> </a:t>
                </a:r>
                <a:r>
                  <a:rPr lang="en-AU" sz="2000" dirty="0" smtClean="0"/>
                  <a:t>                                       =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18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−10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+3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</a:t>
                </a:r>
              </a:p>
              <a:p>
                <a:r>
                  <a:rPr lang="en-AU" sz="2000" b="0" dirty="0" smtClean="0"/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=18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−10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+6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 </m:t>
                    </m:r>
                  </m:oMath>
                </a14:m>
                <a:endParaRPr lang="en-AU" sz="2000" b="0" i="1" dirty="0" smtClean="0">
                  <a:latin typeface="Cambria Math"/>
                </a:endParaRPr>
              </a:p>
              <a:p>
                <a:r>
                  <a:rPr lang="en-AU" sz="2000" dirty="0" smtClean="0"/>
                  <a:t>                                        =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13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−4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3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</m:t>
                    </m:r>
                  </m:oMath>
                </a14:m>
                <a:endParaRPr lang="en-AU" sz="2000" dirty="0"/>
              </a:p>
              <a:p>
                <a:endParaRPr lang="en-AU" sz="2000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90" y="2333481"/>
                <a:ext cx="7480574" cy="1751249"/>
              </a:xfrm>
              <a:prstGeom prst="rect">
                <a:avLst/>
              </a:prstGeom>
              <a:blipFill rotWithShape="1">
                <a:blip r:embed="rId3"/>
                <a:stretch>
                  <a:fillRect l="-326" r="-8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799902" y="4079869"/>
                <a:ext cx="7323480" cy="17645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(2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 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)(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r>
                  <a:rPr lang="en-AU" sz="2000" dirty="0" smtClean="0"/>
                  <a:t> - 1)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</m:t>
                    </m:r>
                    <m:r>
                      <a:rPr lang="en-AU" sz="2000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</m:t>
                    </m:r>
                    <m:r>
                      <a:rPr lang="en-AU" sz="2000" b="0" i="1" smtClean="0">
                        <a:latin typeface="Cambria Math"/>
                        <a:ea typeface="Cambria Math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r>
                  <a:rPr lang="en-AU" sz="2000" dirty="0" smtClean="0"/>
                  <a:t> +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sz="2000" dirty="0" smtClean="0"/>
                  <a:t> x -1 </a:t>
                </a:r>
                <a:r>
                  <a:rPr lang="en-AU" sz="2000" dirty="0"/>
                  <a:t>-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x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10</m:t>
                        </m:r>
                      </m:e>
                    </m:rad>
                  </m:oMath>
                </a14:m>
                <a:r>
                  <a:rPr lang="en-AU" sz="2000" dirty="0" smtClean="0"/>
                  <a:t> -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x -1 </a:t>
                </a:r>
              </a:p>
              <a:p>
                <a:r>
                  <a:rPr lang="en-AU" sz="2000" dirty="0"/>
                  <a:t> </a:t>
                </a:r>
                <a:r>
                  <a:rPr lang="en-AU" sz="2000" dirty="0" smtClean="0"/>
                  <a:t>                                       = </a:t>
                </a:r>
                <a14:m>
                  <m:oMath xmlns:m="http://schemas.openxmlformats.org/officeDocument/2006/math">
                    <m:r>
                      <a:rPr lang="en-AU" sz="2000" i="1">
                        <a:latin typeface="Cambria Math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50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50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sz="2000" dirty="0" smtClean="0"/>
                  <a:t> </a:t>
                </a:r>
              </a:p>
              <a:p>
                <a:r>
                  <a:rPr lang="en-AU" sz="2000" b="0" dirty="0" smtClean="0"/>
                  <a:t>                                        </a:t>
                </a:r>
                <a14:m>
                  <m:oMath xmlns:m="http://schemas.openxmlformats.org/officeDocument/2006/math">
                    <m:r>
                      <a:rPr lang="en-AU" sz="2000" b="0" i="1" smtClean="0">
                        <a:latin typeface="Cambria Math"/>
                      </a:rPr>
                      <m:t>=25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−2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−5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AU" sz="2000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b="0" i="1" smtClean="0">
                        <a:latin typeface="Cambria Math"/>
                      </a:rPr>
                      <m:t>  </m:t>
                    </m:r>
                  </m:oMath>
                </a14:m>
                <a:endParaRPr lang="en-AU" sz="2000" b="0" i="1" dirty="0" smtClean="0">
                  <a:latin typeface="Cambria Math"/>
                </a:endParaRPr>
              </a:p>
              <a:p>
                <a:r>
                  <a:rPr lang="en-AU" sz="2000" dirty="0" smtClean="0"/>
                  <a:t>                                        = </a:t>
                </a:r>
                <a14:m>
                  <m:oMath xmlns:m="http://schemas.openxmlformats.org/officeDocument/2006/math">
                    <m:r>
                      <a:rPr lang="en-AU" sz="2000" i="1" dirty="0" smtClean="0">
                        <a:latin typeface="Cambria Math"/>
                      </a:rPr>
                      <m:t>2</m:t>
                    </m:r>
                    <m:r>
                      <a:rPr lang="en-AU" sz="2000" b="0" i="1" dirty="0" smtClean="0">
                        <a:latin typeface="Cambria Math"/>
                      </a:rPr>
                      <m:t>1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i="1"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−</m:t>
                    </m:r>
                    <m:r>
                      <a:rPr lang="en-AU" sz="2000" b="0" i="1" smtClean="0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sz="2000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sz="2000" b="0" i="1" smtClean="0">
                            <a:latin typeface="Cambria Math"/>
                          </a:rPr>
                          <m:t>5</m:t>
                        </m:r>
                      </m:e>
                    </m:rad>
                    <m:r>
                      <a:rPr lang="en-AU" sz="2000" i="1">
                        <a:latin typeface="Cambria Math"/>
                      </a:rPr>
                      <m:t> </m:t>
                    </m:r>
                  </m:oMath>
                </a14:m>
                <a:endParaRPr lang="en-AU" sz="2000" dirty="0"/>
              </a:p>
              <a:p>
                <a:endParaRPr lang="en-AU" sz="20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02" y="4079869"/>
                <a:ext cx="7323480" cy="1764522"/>
              </a:xfrm>
              <a:prstGeom prst="rect">
                <a:avLst/>
              </a:prstGeom>
              <a:blipFill rotWithShape="1">
                <a:blip r:embed="rId4"/>
                <a:stretch>
                  <a:fillRect l="-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86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315311" y="331076"/>
                <a:ext cx="4445876" cy="632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12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4 </m:t>
                          </m:r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×3</m:t>
                          </m:r>
                        </m:e>
                      </m:rad>
                      <m:r>
                        <a:rPr lang="en-AU" b="0" i="1" smtClean="0">
                          <a:latin typeface="Cambria Math"/>
                        </a:rPr>
                        <m:t>=2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Write the following as a single surd:</a:t>
                </a:r>
              </a:p>
              <a:p>
                <a:endParaRPr lang="en-AU" dirty="0" smtClean="0"/>
              </a:p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e>
                    </m:rad>
                  </m:oMath>
                </a14:m>
                <a:r>
                  <a:rPr lang="en-AU" dirty="0" smtClean="0"/>
                  <a:t> = </a:t>
                </a:r>
              </a:p>
              <a:p>
                <a:endParaRPr lang="en-AU" b="0" i="0" dirty="0">
                  <a:latin typeface="Cambria Math"/>
                </a:endParaRPr>
              </a:p>
              <a:p>
                <a:endParaRPr lang="en-AU" dirty="0" smtClean="0"/>
              </a:p>
              <a:p>
                <a:endParaRPr lang="en-AU" dirty="0" smtClean="0"/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en-AU" dirty="0"/>
                  <a:t> = </a:t>
                </a:r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AU" dirty="0"/>
                  <a:t> = </a:t>
                </a:r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AU" i="1">
                            <a:latin typeface="Cambria Math"/>
                          </a:rPr>
                        </m:ctrlPr>
                      </m:radPr>
                      <m:deg/>
                      <m:e>
                        <m:r>
                          <a:rPr lang="en-AU" b="0" i="1" smtClean="0">
                            <a:latin typeface="Cambria Math"/>
                          </a:rPr>
                          <m:t>11</m:t>
                        </m:r>
                      </m:e>
                    </m:rad>
                  </m:oMath>
                </a14:m>
                <a:r>
                  <a:rPr lang="en-AU" dirty="0"/>
                  <a:t> = </a:t>
                </a:r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311" y="331076"/>
                <a:ext cx="4445876" cy="6327886"/>
              </a:xfrm>
              <a:prstGeom prst="rect">
                <a:avLst/>
              </a:prstGeom>
              <a:blipFill rotWithShape="1">
                <a:blip r:embed="rId2"/>
                <a:stretch>
                  <a:fillRect l="-12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4126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26860" y="1954655"/>
            <a:ext cx="87155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>
                <a:solidFill>
                  <a:prstClr val="black"/>
                </a:solidFill>
              </a:rPr>
              <a:t>Notes:</a:t>
            </a:r>
          </a:p>
          <a:p>
            <a:endParaRPr lang="en-AU" sz="2400" dirty="0">
              <a:solidFill>
                <a:prstClr val="black"/>
              </a:solidFill>
            </a:endParaRPr>
          </a:p>
          <a:p>
            <a:r>
              <a:rPr lang="en-AU" sz="2400" b="1" dirty="0" smtClean="0"/>
              <a:t>Fractional </a:t>
            </a:r>
            <a:r>
              <a:rPr lang="en-AU" sz="2400" b="1" dirty="0"/>
              <a:t>exponents</a:t>
            </a:r>
            <a:r>
              <a:rPr lang="en-AU" sz="2400" dirty="0"/>
              <a:t> can be used instead of using the </a:t>
            </a:r>
            <a:r>
              <a:rPr lang="en-AU" sz="2400" dirty="0" smtClean="0"/>
              <a:t>surds sign </a:t>
            </a:r>
            <a:r>
              <a:rPr lang="en-AU" sz="2400" dirty="0"/>
              <a:t>(√). </a:t>
            </a:r>
            <a:endParaRPr lang="en-AU" sz="2400" dirty="0" smtClean="0"/>
          </a:p>
          <a:p>
            <a:endParaRPr lang="en-AU" sz="2400" dirty="0"/>
          </a:p>
          <a:p>
            <a:r>
              <a:rPr lang="en-AU" sz="2400" dirty="0" smtClean="0">
                <a:solidFill>
                  <a:srgbClr val="7030A0"/>
                </a:solidFill>
              </a:rPr>
              <a:t>We </a:t>
            </a:r>
            <a:r>
              <a:rPr lang="en-AU" sz="2400" dirty="0">
                <a:solidFill>
                  <a:srgbClr val="7030A0"/>
                </a:solidFill>
              </a:rPr>
              <a:t>use fractional exponents because often they are more convenient, and it can make algebraic operations easier to follow.</a:t>
            </a:r>
            <a:r>
              <a:rPr lang="en-AU" sz="2400" dirty="0" smtClean="0">
                <a:solidFill>
                  <a:srgbClr val="7030A0"/>
                </a:solidFill>
              </a:rPr>
              <a:t>	</a:t>
            </a:r>
            <a:r>
              <a:rPr lang="en-AU" sz="2400" dirty="0" smtClean="0">
                <a:solidFill>
                  <a:prstClr val="black"/>
                </a:solidFill>
              </a:rPr>
              <a:t>					</a:t>
            </a:r>
            <a:endParaRPr lang="en-AU" sz="4400" dirty="0" smtClean="0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67901" y="4844955"/>
                <a:ext cx="8433507" cy="1152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The </a:t>
                </a:r>
                <a:r>
                  <a:rPr lang="en-AU" sz="2400" b="1" i="1" dirty="0"/>
                  <a:t>n</a:t>
                </a:r>
                <a:r>
                  <a:rPr lang="en-AU" sz="2400" b="1" dirty="0"/>
                  <a:t>-</a:t>
                </a:r>
                <a:r>
                  <a:rPr lang="en-AU" sz="2400" b="1" dirty="0" err="1"/>
                  <a:t>th</a:t>
                </a:r>
                <a:r>
                  <a:rPr lang="en-AU" sz="2400" b="1" dirty="0"/>
                  <a:t> root</a:t>
                </a:r>
                <a:r>
                  <a:rPr lang="en-AU" sz="2400" dirty="0"/>
                  <a:t> of a number can be written using the </a:t>
                </a:r>
                <a:r>
                  <a:rPr lang="en-AU" sz="2400" dirty="0" smtClean="0"/>
                  <a:t>power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AU" sz="2400" b="0" dirty="0" smtClean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ctrlPr>
                            <a:rPr lang="en-AU" sz="2400" i="1" smtClean="0"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latin typeface="Cambria Math"/>
                            </a:rPr>
                            <m:t>𝑛</m:t>
                          </m:r>
                        </m:deg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00" y="4844955"/>
                <a:ext cx="8433507" cy="1152880"/>
              </a:xfrm>
              <a:prstGeom prst="rect">
                <a:avLst/>
              </a:prstGeom>
              <a:blipFill rotWithShape="1">
                <a:blip r:embed="rId3"/>
                <a:stretch>
                  <a:fillRect l="-108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540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70227" y="2037746"/>
                <a:ext cx="1809164" cy="99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226" y="2037738"/>
                <a:ext cx="1809164" cy="998543"/>
              </a:xfrm>
              <a:prstGeom prst="rect">
                <a:avLst/>
              </a:prstGeom>
              <a:blipFill rotWithShape="1">
                <a:blip r:embed="rId3"/>
                <a:stretch>
                  <a:fillRect l="-5387" t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300793" y="3418530"/>
                <a:ext cx="1324603" cy="865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ad>
                      <m:radPr>
                        <m:ctrlPr>
                          <a:rPr lang="en-AU" sz="240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4</m:t>
                        </m:r>
                      </m:deg>
                      <m:e>
                        <m:r>
                          <a:rPr lang="en-AU" sz="24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16 </m:t>
                        </m:r>
                      </m:e>
                    </m:rad>
                    <m:r>
                      <a:rPr lang="en-AU" sz="2400" b="0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AU" sz="2400" dirty="0" smtClean="0">
                    <a:solidFill>
                      <a:prstClr val="black"/>
                    </a:solidFill>
                  </a:rPr>
                  <a:t>	</a:t>
                </a:r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790" y="3418530"/>
                <a:ext cx="1324603" cy="865814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40185" y="2531085"/>
                <a:ext cx="120527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8 </m:t>
                          </m:r>
                        </m:e>
                      </m:rad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82" y="2531077"/>
                <a:ext cx="1205275" cy="50520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5179393" y="2525945"/>
            <a:ext cx="1205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rgbClr val="CC00CC"/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99955" y="3294109"/>
                <a:ext cx="1000836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9954" y="3294102"/>
                <a:ext cx="1000836" cy="64889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5331789" y="3386134"/>
            <a:ext cx="1205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>
                <a:solidFill>
                  <a:srgbClr val="CC00CC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86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21269" r="27624" b="45015"/>
          <a:stretch/>
        </p:blipFill>
        <p:spPr bwMode="auto">
          <a:xfrm>
            <a:off x="1089470" y="1119360"/>
            <a:ext cx="10147129" cy="4461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9809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" y="1879018"/>
            <a:ext cx="2915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Question</a:t>
            </a:r>
            <a:r>
              <a:rPr lang="en-AU" sz="2400" dirty="0" smtClean="0">
                <a:solidFill>
                  <a:prstClr val="black"/>
                </a:solidFill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392017" y="2340675"/>
                <a:ext cx="8433507" cy="1995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When the exponent is negative:</a:t>
                </a:r>
              </a:p>
              <a:p>
                <a:endParaRPr lang="en-AU" sz="2400" b="0" dirty="0"/>
              </a:p>
              <a:p>
                <a:endParaRPr lang="en-AU" sz="2400" b="0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AU" sz="2400" i="1"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latin typeface="Cambria Math"/>
                                </a:rPr>
                                <m:t>𝑛</m:t>
                              </m:r>
                            </m:deg>
                            <m:e>
                              <m:r>
                                <a:rPr lang="en-AU" sz="2400" i="1">
                                  <a:latin typeface="Cambria Math"/>
                                </a:rPr>
                                <m:t>𝑎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014" y="2340675"/>
                <a:ext cx="8433507" cy="1995162"/>
              </a:xfrm>
              <a:prstGeom prst="rect">
                <a:avLst/>
              </a:prstGeom>
              <a:blipFill rotWithShape="1">
                <a:blip r:embed="rId3"/>
                <a:stretch>
                  <a:fillRect l="-1084" t="-2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623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86875" y="2286222"/>
                <a:ext cx="1809164" cy="99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8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74" y="2286214"/>
                <a:ext cx="1809164" cy="998543"/>
              </a:xfrm>
              <a:prstGeom prst="rect">
                <a:avLst/>
              </a:prstGeom>
              <a:blipFill rotWithShape="1">
                <a:blip r:embed="rId3"/>
                <a:stretch>
                  <a:fillRect l="-5405" t="-487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4457425" y="4135067"/>
                <a:ext cx="1324603" cy="1175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80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sz="2800" b="0" i="1" smtClean="0">
                            <a:solidFill>
                              <a:srgbClr val="7030A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ad>
                          <m:radPr>
                            <m:ctrlP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4</m:t>
                            </m:r>
                          </m:deg>
                          <m:e>
                            <m:r>
                              <a:rPr lang="en-AU" sz="2800" i="1">
                                <a:solidFill>
                                  <a:srgbClr val="7030A0"/>
                                </a:solidFill>
                                <a:latin typeface="Cambria Math"/>
                              </a:rPr>
                              <m:t>16 </m:t>
                            </m:r>
                          </m:e>
                        </m:rad>
                      </m:den>
                    </m:f>
                    <m:r>
                      <a:rPr lang="en-AU" sz="2800" b="0" i="0" smtClean="0">
                        <a:solidFill>
                          <a:srgbClr val="7030A0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AU" sz="2800" dirty="0" smtClean="0">
                    <a:solidFill>
                      <a:prstClr val="black"/>
                    </a:solidFill>
                  </a:rPr>
                  <a:t>	</a:t>
                </a:r>
                <a:endParaRPr lang="en-AU" sz="48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423" y="4135059"/>
                <a:ext cx="1324603" cy="117596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240185" y="2531085"/>
                <a:ext cx="1205275" cy="8552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ctrlP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AU" sz="2400" i="1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8 </m:t>
                              </m:r>
                            </m:e>
                          </m:rad>
                        </m:den>
                      </m:f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0182" y="2531077"/>
                <a:ext cx="1205275" cy="855299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179393" y="2525945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9390" y="2525945"/>
                <a:ext cx="1205275" cy="78380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30576" y="4146608"/>
                <a:ext cx="1391739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rgbClr val="7030A0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−1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576" y="4146600"/>
                <a:ext cx="1391739" cy="627351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94501" y="4068373"/>
                <a:ext cx="1205275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solidFill>
                                <a:srgbClr val="CC00CC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4498" y="4068373"/>
                <a:ext cx="1205275" cy="78380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088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5" grpId="0"/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65" t="55137" r="27624" b="13805"/>
          <a:stretch/>
        </p:blipFill>
        <p:spPr bwMode="auto">
          <a:xfrm>
            <a:off x="916045" y="772517"/>
            <a:ext cx="10587155" cy="4288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75512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0" y="1035897"/>
            <a:ext cx="12192000" cy="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121920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223150" y="1916832"/>
            <a:ext cx="7431" cy="4941168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752184" y="0"/>
            <a:ext cx="0" cy="980728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386875" y="2286222"/>
                <a:ext cx="1809164" cy="10320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b="1" dirty="0" smtClean="0"/>
                  <a:t>Examples: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9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875" y="2286222"/>
                <a:ext cx="1809164" cy="1032014"/>
              </a:xfrm>
              <a:prstGeom prst="rect">
                <a:avLst/>
              </a:prstGeom>
              <a:blipFill rotWithShape="1">
                <a:blip r:embed="rId3"/>
                <a:stretch>
                  <a:fillRect l="-5405" t="-47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467725" y="85028"/>
            <a:ext cx="8640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prstClr val="black"/>
                </a:solidFill>
              </a:rPr>
              <a:t>24</a:t>
            </a:r>
          </a:p>
          <a:p>
            <a:r>
              <a:rPr lang="en-AU" dirty="0">
                <a:solidFill>
                  <a:prstClr val="black"/>
                </a:solidFill>
              </a:rPr>
              <a:t>7</a:t>
            </a:r>
          </a:p>
          <a:p>
            <a:r>
              <a:rPr lang="en-AU" dirty="0">
                <a:solidFill>
                  <a:prstClr val="black"/>
                </a:solidFill>
              </a:rPr>
              <a:t>30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1565229" y="6400804"/>
            <a:ext cx="520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mtClean="0"/>
              <a:t>17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4101522" y="2764000"/>
                <a:ext cx="1205275" cy="505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b="0" i="1" smtClean="0">
                          <a:solidFill>
                            <a:prstClr val="black"/>
                          </a:solidFill>
                          <a:latin typeface="Cambria Math"/>
                        </a:rPr>
                        <m:t>(</m:t>
                      </m:r>
                      <m:rad>
                        <m:rad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2</m:t>
                          </m:r>
                        </m:deg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9</m:t>
                          </m:r>
                        </m:e>
                      </m:rad>
                      <m:sSup>
                        <m:sSupPr>
                          <m:ctrlP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)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522" y="2764000"/>
                <a:ext cx="1205275" cy="50520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019601" y="2783686"/>
                <a:ext cx="1205275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 </m:t>
                      </m:r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5</m:t>
                          </m:r>
                        </m:sup>
                      </m:sSup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9601" y="2783686"/>
                <a:ext cx="1205275" cy="465833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/>
          <p:cNvSpPr txBox="1"/>
          <p:nvPr/>
        </p:nvSpPr>
        <p:spPr>
          <a:xfrm>
            <a:off x="-19048" y="517265"/>
            <a:ext cx="74391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</a:rPr>
              <a:t>Title</a:t>
            </a:r>
            <a:r>
              <a:rPr lang="en-AU" sz="2800" dirty="0" smtClean="0">
                <a:solidFill>
                  <a:prstClr val="black"/>
                </a:solidFill>
              </a:rPr>
              <a:t>: Fractional Exponents</a:t>
            </a:r>
            <a:endParaRPr lang="en-AU" sz="2800" dirty="0">
              <a:solidFill>
                <a:prstClr val="black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884" y="1065333"/>
            <a:ext cx="120729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</a:rPr>
              <a:t>EQ </a:t>
            </a:r>
            <a:r>
              <a:rPr lang="en-AU" sz="2400" dirty="0" smtClean="0">
                <a:solidFill>
                  <a:prstClr val="black"/>
                </a:solidFill>
              </a:rPr>
              <a:t>: How do I express a fractional exponent as a surd?</a:t>
            </a:r>
            <a:endParaRPr lang="en-AU" sz="24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865087" y="2764000"/>
                <a:ext cx="1205275" cy="4658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sz="240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AU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243</m:t>
                      </m:r>
                    </m:oMath>
                  </m:oMathPara>
                </a14:m>
                <a:endParaRPr lang="en-AU" sz="2400" dirty="0" smtClean="0">
                  <a:solidFill>
                    <a:srgbClr val="CC00CC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5087" y="2764000"/>
                <a:ext cx="1205275" cy="465833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077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01785" y="1301727"/>
                <a:ext cx="1809164" cy="647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27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785" y="1301727"/>
                <a:ext cx="1809164" cy="64780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654185" y="2596417"/>
                <a:ext cx="1809164" cy="647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5" y="2596417"/>
                <a:ext cx="1809164" cy="647806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654185" y="3939489"/>
                <a:ext cx="1809164" cy="647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16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4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185" y="3939489"/>
                <a:ext cx="1809164" cy="64780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89104" y="5458568"/>
                <a:ext cx="1809164" cy="6478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25</m:t>
                          </m:r>
                        </m:e>
                        <m:sup>
                          <m:f>
                            <m:fPr>
                              <m:ctrlP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AU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AU" sz="2400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=</m:t>
                      </m:r>
                    </m:oMath>
                  </m:oMathPara>
                </a14:m>
                <a:endParaRPr lang="en-AU" sz="4400" dirty="0" smtClean="0">
                  <a:solidFill>
                    <a:prstClr val="black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104" y="5458568"/>
                <a:ext cx="1809164" cy="647806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685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79603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5772</TotalTime>
  <Words>563</Words>
  <Application>Microsoft Office PowerPoint</Application>
  <PresentationFormat>Custom</PresentationFormat>
  <Paragraphs>102</Paragraphs>
  <Slides>11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Homework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Bianca Riksman</dc:creator>
  <cp:lastModifiedBy>PURCELL Laura</cp:lastModifiedBy>
  <cp:revision>144</cp:revision>
  <cp:lastPrinted>2016-03-17T02:47:32Z</cp:lastPrinted>
  <dcterms:created xsi:type="dcterms:W3CDTF">2015-04-20T06:02:45Z</dcterms:created>
  <dcterms:modified xsi:type="dcterms:W3CDTF">2016-03-30T04:17:32Z</dcterms:modified>
</cp:coreProperties>
</file>
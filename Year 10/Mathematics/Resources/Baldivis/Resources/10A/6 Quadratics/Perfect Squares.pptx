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0"/>
  </p:notesMasterIdLst>
  <p:sldIdLst>
    <p:sldId id="288" r:id="rId2"/>
    <p:sldId id="275" r:id="rId3"/>
    <p:sldId id="276" r:id="rId4"/>
    <p:sldId id="277" r:id="rId5"/>
    <p:sldId id="279" r:id="rId6"/>
    <p:sldId id="280" r:id="rId7"/>
    <p:sldId id="281" r:id="rId8"/>
    <p:sldId id="282" r:id="rId9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709" autoAdjust="0"/>
  </p:normalViewPr>
  <p:slideViewPr>
    <p:cSldViewPr>
      <p:cViewPr>
        <p:scale>
          <a:sx n="60" d="100"/>
          <a:sy n="60" d="100"/>
        </p:scale>
        <p:origin x="-1644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C08E6B6C-1C59-4E53-B82E-AE0B3ED7C4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3754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016DBA16-ABA0-4232-B6FB-1289889962F0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endParaRPr lang="en-US" altLang="en-US" smtClean="0"/>
          </a:p>
        </p:txBody>
      </p:sp>
      <p:sp>
        <p:nvSpPr>
          <p:cNvPr id="3584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80067-536C-412F-B955-AF672466E3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045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F369B-CEA5-400D-B8A8-6D1889897A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22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08100-C827-4023-903F-48A7E33D45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95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81219-B4B8-4498-93A3-36A69B79C3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640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B36B1-F27E-41D5-81F3-6AE949AAB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72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8F1B3-0E71-4127-9CE1-A092000DA4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77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04E15-3682-476E-8BAB-7B86D7C7E4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128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8F1DD-6C2E-46D1-B70F-2F048FE6DA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22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4217D-37B1-494E-9BF3-955418BB63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62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81A916-F6A4-4866-88FC-236A1EBFCA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089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105EF0-2124-4A6F-B935-EBAD1FCB1E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03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fld id="{DEFAF7B9-EF56-48AF-BA05-A551C0DD2D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4"/>
          <p:cNvSpPr>
            <a:spLocks noChangeArrowheads="1"/>
          </p:cNvSpPr>
          <p:nvPr/>
        </p:nvSpPr>
        <p:spPr bwMode="auto">
          <a:xfrm>
            <a:off x="576263" y="1905000"/>
            <a:ext cx="8077200" cy="3140075"/>
          </a:xfrm>
          <a:prstGeom prst="wedgeRoundRectCallout">
            <a:avLst>
              <a:gd name="adj1" fmla="val -25750"/>
              <a:gd name="adj2" fmla="val -5006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 sz="4800" b="1">
                <a:solidFill>
                  <a:srgbClr val="000099"/>
                </a:solidFill>
              </a:rPr>
              <a:t>Perfect Square Trinomials</a:t>
            </a:r>
          </a:p>
          <a:p>
            <a:pPr algn="ctr" eaLnBrk="0" hangingPunct="0"/>
            <a:r>
              <a:rPr lang="en-US" altLang="en-US" sz="4800" b="1">
                <a:solidFill>
                  <a:srgbClr val="000099"/>
                </a:solidFill>
              </a:rPr>
              <a:t>(a + b)</a:t>
            </a:r>
            <a:r>
              <a:rPr lang="en-US" altLang="en-US" sz="4800" b="1" baseline="30000">
                <a:solidFill>
                  <a:srgbClr val="000099"/>
                </a:solidFill>
              </a:rPr>
              <a:t>2</a:t>
            </a:r>
            <a:r>
              <a:rPr lang="en-US" altLang="en-US" sz="4800" b="1">
                <a:solidFill>
                  <a:srgbClr val="000099"/>
                </a:solidFill>
              </a:rPr>
              <a:t> = a</a:t>
            </a:r>
            <a:r>
              <a:rPr lang="en-US" altLang="en-US" sz="4800" b="1" baseline="30000">
                <a:solidFill>
                  <a:srgbClr val="000099"/>
                </a:solidFill>
              </a:rPr>
              <a:t>2</a:t>
            </a:r>
            <a:r>
              <a:rPr lang="en-US" altLang="en-US" sz="4800" b="1">
                <a:solidFill>
                  <a:srgbClr val="000099"/>
                </a:solidFill>
              </a:rPr>
              <a:t> + 2ab + b</a:t>
            </a:r>
            <a:r>
              <a:rPr lang="en-US" altLang="en-US" sz="4800" b="1" baseline="30000">
                <a:solidFill>
                  <a:srgbClr val="000099"/>
                </a:solidFill>
              </a:rPr>
              <a:t>2</a:t>
            </a:r>
            <a:r>
              <a:rPr lang="en-US" altLang="en-US" sz="4800" b="1">
                <a:solidFill>
                  <a:srgbClr val="000099"/>
                </a:solidFill>
              </a:rPr>
              <a:t/>
            </a:r>
            <a:br>
              <a:rPr lang="en-US" altLang="en-US" sz="4800" b="1">
                <a:solidFill>
                  <a:srgbClr val="000099"/>
                </a:solidFill>
              </a:rPr>
            </a:br>
            <a:r>
              <a:rPr lang="en-US" altLang="en-US" sz="4800" b="1">
                <a:solidFill>
                  <a:srgbClr val="000099"/>
                </a:solidFill>
              </a:rPr>
              <a:t> (a - b)</a:t>
            </a:r>
            <a:r>
              <a:rPr lang="en-US" altLang="en-US" sz="4800" b="1" baseline="30000">
                <a:solidFill>
                  <a:srgbClr val="000099"/>
                </a:solidFill>
              </a:rPr>
              <a:t>2</a:t>
            </a:r>
            <a:r>
              <a:rPr lang="en-US" altLang="en-US" sz="4800" b="1">
                <a:solidFill>
                  <a:srgbClr val="000099"/>
                </a:solidFill>
              </a:rPr>
              <a:t> = a</a:t>
            </a:r>
            <a:r>
              <a:rPr lang="en-US" altLang="en-US" sz="4800" b="1" baseline="30000">
                <a:solidFill>
                  <a:srgbClr val="000099"/>
                </a:solidFill>
              </a:rPr>
              <a:t>2</a:t>
            </a:r>
            <a:r>
              <a:rPr lang="en-US" altLang="en-US" sz="4800" b="1">
                <a:solidFill>
                  <a:srgbClr val="000099"/>
                </a:solidFill>
              </a:rPr>
              <a:t> – 2ab + b</a:t>
            </a:r>
            <a:r>
              <a:rPr lang="en-US" altLang="en-US" sz="4800" b="1" baseline="30000">
                <a:solidFill>
                  <a:srgbClr val="000099"/>
                </a:solidFill>
              </a:rPr>
              <a:t>2</a:t>
            </a:r>
            <a:endParaRPr lang="en-US" sz="4800" b="1" baseline="3000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81000" y="2514600"/>
            <a:ext cx="403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en-US" sz="3600"/>
              <a:t>First terms: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en-US" sz="3600"/>
              <a:t>Outer terms: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en-US" sz="3600"/>
              <a:t>Inner terms: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en-US" sz="3600"/>
              <a:t>Last terms: 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en-US" sz="3600"/>
              <a:t>Combine like terms.</a:t>
            </a:r>
          </a:p>
          <a:p>
            <a:pPr marL="342900" indent="-342900" algn="ctr" eaLnBrk="0" hangingPunct="0">
              <a:spcBef>
                <a:spcPct val="20000"/>
              </a:spcBef>
            </a:pPr>
            <a:r>
              <a:rPr lang="en-US" altLang="en-US" sz="3600" b="1">
                <a:solidFill>
                  <a:schemeClr val="hlink"/>
                </a:solidFill>
              </a:rPr>
              <a:t>y</a:t>
            </a:r>
            <a:r>
              <a:rPr lang="en-US" altLang="en-US" sz="3600" b="1" baseline="30000">
                <a:solidFill>
                  <a:schemeClr val="hlink"/>
                </a:solidFill>
              </a:rPr>
              <a:t>2</a:t>
            </a:r>
            <a:r>
              <a:rPr lang="en-US" altLang="en-US" sz="3600" b="1">
                <a:solidFill>
                  <a:schemeClr val="hlink"/>
                </a:solidFill>
              </a:rPr>
              <a:t> + 4y + 4</a:t>
            </a:r>
          </a:p>
        </p:txBody>
      </p:sp>
      <p:sp>
        <p:nvSpPr>
          <p:cNvPr id="6176" name="Arc 32"/>
          <p:cNvSpPr>
            <a:spLocks/>
          </p:cNvSpPr>
          <p:nvPr/>
        </p:nvSpPr>
        <p:spPr bwMode="auto">
          <a:xfrm flipH="1">
            <a:off x="914400" y="1328738"/>
            <a:ext cx="1557338" cy="271462"/>
          </a:xfrm>
          <a:custGeom>
            <a:avLst/>
            <a:gdLst>
              <a:gd name="T0" fmla="*/ 105402 w 43173"/>
              <a:gd name="T1" fmla="*/ 3139956 h 23469"/>
              <a:gd name="T2" fmla="*/ 56176352 w 43173"/>
              <a:gd name="T3" fmla="*/ 2744335 h 23469"/>
              <a:gd name="T4" fmla="*/ 28105743 w 43173"/>
              <a:gd name="T5" fmla="*/ 2889904 h 234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73" h="23469" fill="none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</a:path>
              <a:path w="43173" h="23469" stroke="0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  <a:lnTo>
                  <a:pt x="21600" y="21600"/>
                </a:lnTo>
                <a:lnTo>
                  <a:pt x="81" y="23468"/>
                </a:lnTo>
                <a:close/>
              </a:path>
            </a:pathLst>
          </a:custGeom>
          <a:noFill/>
          <a:ln w="635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77" name="Arc 33"/>
          <p:cNvSpPr>
            <a:spLocks/>
          </p:cNvSpPr>
          <p:nvPr/>
        </p:nvSpPr>
        <p:spPr bwMode="auto">
          <a:xfrm flipH="1">
            <a:off x="914400" y="1219200"/>
            <a:ext cx="2438400" cy="381000"/>
          </a:xfrm>
          <a:custGeom>
            <a:avLst/>
            <a:gdLst>
              <a:gd name="T0" fmla="*/ 258395 w 43173"/>
              <a:gd name="T1" fmla="*/ 6185223 h 23469"/>
              <a:gd name="T2" fmla="*/ 137720208 w 43173"/>
              <a:gd name="T3" fmla="*/ 5405917 h 23469"/>
              <a:gd name="T4" fmla="*/ 68903142 w 43173"/>
              <a:gd name="T5" fmla="*/ 5692646 h 234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73" h="23469" fill="none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</a:path>
              <a:path w="43173" h="23469" stroke="0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  <a:lnTo>
                  <a:pt x="21600" y="21600"/>
                </a:lnTo>
                <a:lnTo>
                  <a:pt x="81" y="23468"/>
                </a:lnTo>
                <a:close/>
              </a:path>
            </a:pathLst>
          </a:custGeom>
          <a:noFill/>
          <a:ln w="635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78" name="Arc 34"/>
          <p:cNvSpPr>
            <a:spLocks/>
          </p:cNvSpPr>
          <p:nvPr/>
        </p:nvSpPr>
        <p:spPr bwMode="auto">
          <a:xfrm flipH="1" flipV="1">
            <a:off x="1752600" y="2057400"/>
            <a:ext cx="768350" cy="152400"/>
          </a:xfrm>
          <a:custGeom>
            <a:avLst/>
            <a:gdLst>
              <a:gd name="T0" fmla="*/ 25663 w 43173"/>
              <a:gd name="T1" fmla="*/ 989636 h 23469"/>
              <a:gd name="T2" fmla="*/ 13674327 w 43173"/>
              <a:gd name="T3" fmla="*/ 864944 h 23469"/>
              <a:gd name="T4" fmla="*/ 6841435 w 43173"/>
              <a:gd name="T5" fmla="*/ 910822 h 234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73" h="23469" fill="none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</a:path>
              <a:path w="43173" h="23469" stroke="0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  <a:lnTo>
                  <a:pt x="21600" y="21600"/>
                </a:lnTo>
                <a:lnTo>
                  <a:pt x="81" y="23468"/>
                </a:lnTo>
                <a:close/>
              </a:path>
            </a:pathLst>
          </a:custGeom>
          <a:noFill/>
          <a:ln w="635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79" name="Arc 35"/>
          <p:cNvSpPr>
            <a:spLocks/>
          </p:cNvSpPr>
          <p:nvPr/>
        </p:nvSpPr>
        <p:spPr bwMode="auto">
          <a:xfrm flipH="1" flipV="1">
            <a:off x="1752600" y="2057400"/>
            <a:ext cx="1600200" cy="228600"/>
          </a:xfrm>
          <a:custGeom>
            <a:avLst/>
            <a:gdLst>
              <a:gd name="T0" fmla="*/ 111269 w 43173"/>
              <a:gd name="T1" fmla="*/ 2226680 h 23469"/>
              <a:gd name="T2" fmla="*/ 59311144 w 43173"/>
              <a:gd name="T3" fmla="*/ 1946124 h 23469"/>
              <a:gd name="T4" fmla="*/ 29674105 w 43173"/>
              <a:gd name="T5" fmla="*/ 2049354 h 234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73" h="23469" fill="none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</a:path>
              <a:path w="43173" h="23469" stroke="0" extrusionOk="0">
                <a:moveTo>
                  <a:pt x="81" y="23468"/>
                </a:moveTo>
                <a:cubicBezTo>
                  <a:pt x="27" y="22847"/>
                  <a:pt x="0" y="2222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106" y="-1"/>
                  <a:pt x="42593" y="9020"/>
                  <a:pt x="43172" y="20512"/>
                </a:cubicBezTo>
                <a:lnTo>
                  <a:pt x="21600" y="21600"/>
                </a:lnTo>
                <a:lnTo>
                  <a:pt x="81" y="23468"/>
                </a:lnTo>
                <a:close/>
              </a:path>
            </a:pathLst>
          </a:custGeom>
          <a:noFill/>
          <a:ln w="635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80" name="Text Box 36"/>
          <p:cNvSpPr txBox="1">
            <a:spLocks noChangeArrowheads="1"/>
          </p:cNvSpPr>
          <p:nvPr/>
        </p:nvSpPr>
        <p:spPr bwMode="auto">
          <a:xfrm>
            <a:off x="2889250" y="2454275"/>
            <a:ext cx="1149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sz="4000"/>
              <a:t>y</a:t>
            </a:r>
            <a:r>
              <a:rPr lang="en-US" sz="4000" baseline="30000"/>
              <a:t>2</a:t>
            </a:r>
          </a:p>
        </p:txBody>
      </p:sp>
      <p:sp>
        <p:nvSpPr>
          <p:cNvPr id="6181" name="Rectangle 37"/>
          <p:cNvSpPr>
            <a:spLocks noChangeArrowheads="1"/>
          </p:cNvSpPr>
          <p:nvPr/>
        </p:nvSpPr>
        <p:spPr bwMode="auto">
          <a:xfrm>
            <a:off x="2895600" y="3200400"/>
            <a:ext cx="1143000" cy="1295400"/>
          </a:xfrm>
          <a:prstGeom prst="rect">
            <a:avLst/>
          </a:prstGeom>
          <a:solidFill>
            <a:srgbClr val="C2D3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6182" name="Text Box 38"/>
          <p:cNvSpPr txBox="1">
            <a:spLocks noChangeArrowheads="1"/>
          </p:cNvSpPr>
          <p:nvPr/>
        </p:nvSpPr>
        <p:spPr bwMode="auto">
          <a:xfrm>
            <a:off x="2889250" y="3124200"/>
            <a:ext cx="1149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sz="4000"/>
              <a:t>+2y</a:t>
            </a:r>
            <a:endParaRPr lang="en-US" sz="4000" baseline="30000"/>
          </a:p>
        </p:txBody>
      </p:sp>
      <p:sp>
        <p:nvSpPr>
          <p:cNvPr id="6183" name="Text Box 39"/>
          <p:cNvSpPr txBox="1">
            <a:spLocks noChangeArrowheads="1"/>
          </p:cNvSpPr>
          <p:nvPr/>
        </p:nvSpPr>
        <p:spPr bwMode="auto">
          <a:xfrm>
            <a:off x="2889250" y="3779838"/>
            <a:ext cx="111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sz="4000"/>
              <a:t>+2y</a:t>
            </a:r>
            <a:endParaRPr lang="en-US" sz="4000" baseline="30000"/>
          </a:p>
        </p:txBody>
      </p:sp>
      <p:sp>
        <p:nvSpPr>
          <p:cNvPr id="6184" name="Text Box 40"/>
          <p:cNvSpPr txBox="1">
            <a:spLocks noChangeArrowheads="1"/>
          </p:cNvSpPr>
          <p:nvPr/>
        </p:nvSpPr>
        <p:spPr bwMode="auto">
          <a:xfrm>
            <a:off x="2889250" y="4448175"/>
            <a:ext cx="88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sz="4000"/>
              <a:t>+4</a:t>
            </a:r>
            <a:endParaRPr lang="en-US" sz="4000" baseline="30000"/>
          </a:p>
        </p:txBody>
      </p:sp>
      <p:sp>
        <p:nvSpPr>
          <p:cNvPr id="16396" name="Rectangle 43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1219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 algn="l"/>
            <a:r>
              <a:rPr lang="en-US" altLang="en-US" smtClean="0"/>
              <a:t>Review: Multiply (y + 2)</a:t>
            </a:r>
            <a:r>
              <a:rPr lang="en-US" altLang="en-US" baseline="30000" smtClean="0"/>
              <a:t>2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(y + 2)(y + 2)</a:t>
            </a:r>
          </a:p>
        </p:txBody>
      </p:sp>
      <p:sp>
        <p:nvSpPr>
          <p:cNvPr id="6189" name="AutoShape 45"/>
          <p:cNvSpPr>
            <a:spLocks noChangeArrowheads="1"/>
          </p:cNvSpPr>
          <p:nvPr/>
        </p:nvSpPr>
        <p:spPr bwMode="auto">
          <a:xfrm>
            <a:off x="5257800" y="1066800"/>
            <a:ext cx="3505200" cy="1295400"/>
          </a:xfrm>
          <a:prstGeom prst="wedgeRoundRectCallout">
            <a:avLst>
              <a:gd name="adj1" fmla="val -40352"/>
              <a:gd name="adj2" fmla="val -7843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</a:rPr>
              <a:t>Do you remember these?</a:t>
            </a:r>
          </a:p>
          <a:p>
            <a:pPr algn="ctr" eaLnBrk="0" hangingPunct="0"/>
            <a:r>
              <a:rPr lang="en-US" altLang="en-US">
                <a:solidFill>
                  <a:srgbClr val="000099"/>
                </a:solidFill>
              </a:rPr>
              <a:t>(a + b)</a:t>
            </a:r>
            <a:r>
              <a:rPr lang="en-US" altLang="en-US" baseline="30000">
                <a:solidFill>
                  <a:srgbClr val="000099"/>
                </a:solidFill>
              </a:rPr>
              <a:t>2</a:t>
            </a:r>
            <a:r>
              <a:rPr lang="en-US" altLang="en-US">
                <a:solidFill>
                  <a:srgbClr val="000099"/>
                </a:solidFill>
              </a:rPr>
              <a:t> = a</a:t>
            </a:r>
            <a:r>
              <a:rPr lang="en-US" altLang="en-US" baseline="30000">
                <a:solidFill>
                  <a:srgbClr val="000099"/>
                </a:solidFill>
              </a:rPr>
              <a:t>2</a:t>
            </a:r>
            <a:r>
              <a:rPr lang="en-US" altLang="en-US">
                <a:solidFill>
                  <a:srgbClr val="000099"/>
                </a:solidFill>
              </a:rPr>
              <a:t> + 2ab + b</a:t>
            </a:r>
            <a:r>
              <a:rPr lang="en-US" altLang="en-US" baseline="30000">
                <a:solidFill>
                  <a:srgbClr val="000099"/>
                </a:solidFill>
              </a:rPr>
              <a:t>2</a:t>
            </a:r>
            <a:r>
              <a:rPr lang="en-US" altLang="en-US">
                <a:solidFill>
                  <a:srgbClr val="000099"/>
                </a:solidFill>
              </a:rPr>
              <a:t/>
            </a:r>
            <a:br>
              <a:rPr lang="en-US" altLang="en-US">
                <a:solidFill>
                  <a:srgbClr val="000099"/>
                </a:solidFill>
              </a:rPr>
            </a:br>
            <a:r>
              <a:rPr lang="en-US" altLang="en-US">
                <a:solidFill>
                  <a:srgbClr val="000099"/>
                </a:solidFill>
              </a:rPr>
              <a:t> (a - b)</a:t>
            </a:r>
            <a:r>
              <a:rPr lang="en-US" altLang="en-US" baseline="30000">
                <a:solidFill>
                  <a:srgbClr val="000099"/>
                </a:solidFill>
              </a:rPr>
              <a:t>2</a:t>
            </a:r>
            <a:r>
              <a:rPr lang="en-US" altLang="en-US">
                <a:solidFill>
                  <a:srgbClr val="000099"/>
                </a:solidFill>
              </a:rPr>
              <a:t> = a</a:t>
            </a:r>
            <a:r>
              <a:rPr lang="en-US" altLang="en-US" baseline="30000">
                <a:solidFill>
                  <a:srgbClr val="000099"/>
                </a:solidFill>
              </a:rPr>
              <a:t>2</a:t>
            </a:r>
            <a:r>
              <a:rPr lang="en-US" altLang="en-US">
                <a:solidFill>
                  <a:srgbClr val="000099"/>
                </a:solidFill>
              </a:rPr>
              <a:t> – 2ab + b</a:t>
            </a:r>
            <a:r>
              <a:rPr lang="en-US" altLang="en-US" baseline="30000">
                <a:solidFill>
                  <a:srgbClr val="000099"/>
                </a:solidFill>
              </a:rPr>
              <a:t>2</a:t>
            </a:r>
            <a:endParaRPr lang="en-US" baseline="30000">
              <a:solidFill>
                <a:srgbClr val="000099"/>
              </a:solidFill>
            </a:endParaRPr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4038600" y="2819400"/>
            <a:ext cx="51054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3200"/>
              <a:t>Using the formula, </a:t>
            </a:r>
          </a:p>
          <a:p>
            <a:pPr algn="ctr" eaLnBrk="0" hangingPunct="0"/>
            <a:r>
              <a:rPr lang="en-US" altLang="en-US" sz="3200"/>
              <a:t>(y + 2)</a:t>
            </a:r>
            <a:r>
              <a:rPr lang="en-US" altLang="en-US" sz="3200" baseline="30000"/>
              <a:t>2</a:t>
            </a:r>
            <a:r>
              <a:rPr lang="en-US" altLang="en-US" sz="3200"/>
              <a:t> = (y)</a:t>
            </a:r>
            <a:r>
              <a:rPr lang="en-US" altLang="en-US" sz="3200" baseline="30000"/>
              <a:t>2</a:t>
            </a:r>
            <a:r>
              <a:rPr lang="en-US" altLang="en-US" sz="3200"/>
              <a:t> + 2(y)(2) + (2)</a:t>
            </a:r>
            <a:r>
              <a:rPr lang="en-US" altLang="en-US" sz="3200" baseline="30000"/>
              <a:t>2</a:t>
            </a:r>
            <a:endParaRPr lang="en-US" altLang="en-US" sz="3200"/>
          </a:p>
          <a:p>
            <a:pPr algn="ctr" eaLnBrk="0" hangingPunct="0"/>
            <a:r>
              <a:rPr lang="en-US" altLang="en-US" sz="3200"/>
              <a:t>(y + 2)</a:t>
            </a:r>
            <a:r>
              <a:rPr lang="en-US" altLang="en-US" sz="3200" baseline="30000"/>
              <a:t>2</a:t>
            </a:r>
            <a:r>
              <a:rPr lang="en-US" altLang="en-US" sz="3200"/>
              <a:t> = </a:t>
            </a:r>
            <a:r>
              <a:rPr lang="en-US" altLang="en-US" sz="3200" b="1">
                <a:solidFill>
                  <a:schemeClr val="hlink"/>
                </a:solidFill>
              </a:rPr>
              <a:t>y</a:t>
            </a:r>
            <a:r>
              <a:rPr lang="en-US" altLang="en-US" sz="3200" b="1" baseline="30000">
                <a:solidFill>
                  <a:schemeClr val="hlink"/>
                </a:solidFill>
              </a:rPr>
              <a:t>2</a:t>
            </a:r>
            <a:r>
              <a:rPr lang="en-US" altLang="en-US" sz="3200" b="1">
                <a:solidFill>
                  <a:schemeClr val="hlink"/>
                </a:solidFill>
              </a:rPr>
              <a:t> + 4y + 4</a:t>
            </a:r>
          </a:p>
          <a:p>
            <a:pPr algn="ctr" eaLnBrk="0" hangingPunct="0"/>
            <a:endParaRPr lang="en-US" sz="3200"/>
          </a:p>
          <a:p>
            <a:pPr algn="ctr" eaLnBrk="0" hangingPunct="0"/>
            <a:r>
              <a:rPr lang="en-US" sz="3200"/>
              <a:t>Which one is quicker?</a:t>
            </a:r>
          </a:p>
        </p:txBody>
      </p:sp>
    </p:spTree>
    <p:custDataLst>
      <p:tags r:id="rId1"/>
    </p:custData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build="p" autoUpdateAnimBg="0"/>
      <p:bldP spid="6176" grpId="0" animBg="1"/>
      <p:bldP spid="6177" grpId="0" animBg="1"/>
      <p:bldP spid="6178" grpId="0" animBg="1"/>
      <p:bldP spid="6179" grpId="0" animBg="1"/>
      <p:bldP spid="6180" grpId="0"/>
      <p:bldP spid="6181" grpId="0" animBg="1"/>
      <p:bldP spid="6183" grpId="0"/>
      <p:bldP spid="6184" grpId="0"/>
      <p:bldP spid="618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 marL="838200" indent="-838200"/>
            <a:r>
              <a:rPr lang="en-US" altLang="en-US" sz="4000" smtClean="0"/>
              <a:t>1) Factor x</a:t>
            </a:r>
            <a:r>
              <a:rPr lang="en-US" altLang="en-US" sz="4000" baseline="30000" smtClean="0"/>
              <a:t>2</a:t>
            </a:r>
            <a:r>
              <a:rPr lang="en-US" altLang="en-US" sz="4000" smtClean="0"/>
              <a:t> + 6x + 9</a:t>
            </a:r>
            <a:endParaRPr lang="en-US" altLang="en-US" sz="4000" smtClean="0">
              <a:solidFill>
                <a:schemeClr val="tx1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5486400" cy="5486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mtClean="0"/>
              <a:t>Does this fit the form of our perfect square trinomial?</a:t>
            </a:r>
          </a:p>
          <a:p>
            <a:pPr marL="609600" indent="-609600">
              <a:lnSpc>
                <a:spcPct val="90000"/>
              </a:lnSpc>
              <a:buFontTx/>
              <a:buAutoNum type="arabicParenR"/>
            </a:pPr>
            <a:r>
              <a:rPr lang="en-US" altLang="en-US" smtClean="0"/>
              <a:t>Is the first term a perfect square?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hlink"/>
                </a:solidFill>
              </a:rPr>
              <a:t>Yes, a = x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mtClean="0"/>
              <a:t>2)	Is the last term a perfect square?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hlink"/>
                </a:solidFill>
              </a:rPr>
              <a:t>Yes, b = 3</a:t>
            </a:r>
          </a:p>
          <a:p>
            <a:pPr marL="609600" indent="-609600">
              <a:lnSpc>
                <a:spcPct val="90000"/>
              </a:lnSpc>
              <a:buFontTx/>
              <a:buAutoNum type="arabicParenR" startAt="3"/>
            </a:pPr>
            <a:r>
              <a:rPr lang="en-US" altLang="en-US" smtClean="0"/>
              <a:t>Is the middle term twice the product of the a and b?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hlink"/>
                </a:solidFill>
              </a:rPr>
              <a:t>Yes, 2ab = 2(x)(3) = 6x</a:t>
            </a:r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5124450" y="1219200"/>
            <a:ext cx="3943350" cy="1295400"/>
          </a:xfrm>
          <a:prstGeom prst="wedgeRoundRectCallout">
            <a:avLst>
              <a:gd name="adj1" fmla="val -25481"/>
              <a:gd name="adj2" fmla="val -7843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Perfect Square Trinomials</a:t>
            </a:r>
          </a:p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(a +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+ 2ab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/>
            </a:r>
            <a:br>
              <a:rPr lang="en-US" altLang="en-US" b="1">
                <a:solidFill>
                  <a:srgbClr val="000099"/>
                </a:solidFill>
              </a:rPr>
            </a:br>
            <a:r>
              <a:rPr lang="en-US" altLang="en-US" b="1">
                <a:solidFill>
                  <a:srgbClr val="000099"/>
                </a:solidFill>
              </a:rPr>
              <a:t> (a -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–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endParaRPr lang="en-US" b="1" baseline="30000">
              <a:solidFill>
                <a:srgbClr val="000099"/>
              </a:solidFill>
            </a:endParaRPr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4876800" y="3032125"/>
            <a:ext cx="4038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3200"/>
              <a:t>Since all three are true, write your answer!</a:t>
            </a:r>
          </a:p>
          <a:p>
            <a:pPr algn="ctr" eaLnBrk="0" hangingPunct="0"/>
            <a:r>
              <a:rPr lang="en-US" sz="3600">
                <a:solidFill>
                  <a:schemeClr val="hlink"/>
                </a:solidFill>
              </a:rPr>
              <a:t>(x + 3)</a:t>
            </a:r>
            <a:r>
              <a:rPr lang="en-US" sz="3600" baseline="30000">
                <a:solidFill>
                  <a:schemeClr val="hlink"/>
                </a:solidFill>
              </a:rPr>
              <a:t>2</a:t>
            </a:r>
            <a:endParaRPr lang="en-US" sz="3600">
              <a:solidFill>
                <a:schemeClr val="hlink"/>
              </a:solidFill>
            </a:endParaRPr>
          </a:p>
        </p:txBody>
      </p:sp>
      <p:sp>
        <p:nvSpPr>
          <p:cNvPr id="7184" name="AutoShape 16"/>
          <p:cNvSpPr>
            <a:spLocks noChangeArrowheads="1"/>
          </p:cNvSpPr>
          <p:nvPr/>
        </p:nvSpPr>
        <p:spPr bwMode="auto">
          <a:xfrm>
            <a:off x="5867400" y="5334000"/>
            <a:ext cx="2895600" cy="1219200"/>
          </a:xfrm>
          <a:prstGeom prst="wedgeRectCallout">
            <a:avLst>
              <a:gd name="adj1" fmla="val -12500"/>
              <a:gd name="adj2" fmla="val -10781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b="1">
                <a:solidFill>
                  <a:srgbClr val="000066"/>
                </a:solidFill>
              </a:rPr>
              <a:t>You can still </a:t>
            </a:r>
            <a:br>
              <a:rPr lang="en-US" b="1">
                <a:solidFill>
                  <a:srgbClr val="000066"/>
                </a:solidFill>
              </a:rPr>
            </a:br>
            <a:r>
              <a:rPr lang="en-US" b="1">
                <a:solidFill>
                  <a:srgbClr val="000066"/>
                </a:solidFill>
              </a:rPr>
              <a:t>factor the other way but this is quicker!</a:t>
            </a:r>
          </a:p>
        </p:txBody>
      </p:sp>
    </p:spTree>
    <p:custDataLst>
      <p:tags r:id="rId1"/>
    </p:custData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  <p:bldP spid="7182" grpId="0" animBg="1"/>
      <p:bldP spid="71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 marL="838200" indent="-838200"/>
            <a:r>
              <a:rPr lang="en-US" altLang="en-US" sz="4000" smtClean="0"/>
              <a:t>2) Factor </a:t>
            </a:r>
            <a:r>
              <a:rPr lang="en-US" altLang="en-US" sz="4000" smtClean="0">
                <a:solidFill>
                  <a:schemeClr val="tx1"/>
                </a:solidFill>
              </a:rPr>
              <a:t>y</a:t>
            </a:r>
            <a:r>
              <a:rPr lang="en-US" altLang="en-US" sz="4000" baseline="30000" smtClean="0">
                <a:solidFill>
                  <a:schemeClr val="tx1"/>
                </a:solidFill>
              </a:rPr>
              <a:t>2</a:t>
            </a:r>
            <a:r>
              <a:rPr lang="en-US" altLang="en-US" sz="4000" smtClean="0">
                <a:solidFill>
                  <a:schemeClr val="tx1"/>
                </a:solidFill>
              </a:rPr>
              <a:t> – 16y + 64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5486400" cy="5486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mtClean="0"/>
              <a:t>Does this fit the form of our perfect square trinomial?</a:t>
            </a:r>
          </a:p>
          <a:p>
            <a:pPr marL="609600" indent="-609600">
              <a:lnSpc>
                <a:spcPct val="90000"/>
              </a:lnSpc>
              <a:buFontTx/>
              <a:buAutoNum type="arabicParenR"/>
            </a:pPr>
            <a:r>
              <a:rPr lang="en-US" altLang="en-US" smtClean="0"/>
              <a:t>Is the first term a perfect square?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hlink"/>
                </a:solidFill>
              </a:rPr>
              <a:t>Yes, a = y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altLang="en-US" smtClean="0"/>
              <a:t>2)	Is the last term a perfect square?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hlink"/>
                </a:solidFill>
              </a:rPr>
              <a:t>Yes, b = 8</a:t>
            </a:r>
          </a:p>
          <a:p>
            <a:pPr marL="609600" indent="-609600">
              <a:lnSpc>
                <a:spcPct val="90000"/>
              </a:lnSpc>
              <a:buFontTx/>
              <a:buAutoNum type="arabicParenR" startAt="3"/>
            </a:pPr>
            <a:r>
              <a:rPr lang="en-US" altLang="en-US" smtClean="0"/>
              <a:t>Is the middle term twice the product of the a and b?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US" altLang="en-US" smtClean="0">
                <a:solidFill>
                  <a:schemeClr val="hlink"/>
                </a:solidFill>
              </a:rPr>
              <a:t>Yes, 2ab = 2(y)(8) = 16y</a:t>
            </a:r>
          </a:p>
        </p:txBody>
      </p:sp>
      <p:sp>
        <p:nvSpPr>
          <p:cNvPr id="38916" name="AutoShape 4"/>
          <p:cNvSpPr>
            <a:spLocks noChangeArrowheads="1"/>
          </p:cNvSpPr>
          <p:nvPr/>
        </p:nvSpPr>
        <p:spPr bwMode="auto">
          <a:xfrm>
            <a:off x="5124450" y="1219200"/>
            <a:ext cx="3943350" cy="1295400"/>
          </a:xfrm>
          <a:prstGeom prst="wedgeRoundRectCallout">
            <a:avLst>
              <a:gd name="adj1" fmla="val -25481"/>
              <a:gd name="adj2" fmla="val -7843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Perfect Square Trinomials</a:t>
            </a:r>
          </a:p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(a +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+ 2ab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/>
            </a:r>
            <a:br>
              <a:rPr lang="en-US" altLang="en-US" b="1">
                <a:solidFill>
                  <a:srgbClr val="000099"/>
                </a:solidFill>
              </a:rPr>
            </a:br>
            <a:r>
              <a:rPr lang="en-US" altLang="en-US" b="1">
                <a:solidFill>
                  <a:srgbClr val="000099"/>
                </a:solidFill>
              </a:rPr>
              <a:t> (a -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–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endParaRPr lang="en-US" b="1" baseline="30000">
              <a:solidFill>
                <a:srgbClr val="000099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4876800" y="3032125"/>
            <a:ext cx="4038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3200"/>
              <a:t>Since all three are true, write your answer!</a:t>
            </a:r>
          </a:p>
          <a:p>
            <a:pPr algn="ctr" eaLnBrk="0" hangingPunct="0"/>
            <a:r>
              <a:rPr lang="en-US" sz="3600">
                <a:solidFill>
                  <a:schemeClr val="hlink"/>
                </a:solidFill>
              </a:rPr>
              <a:t>(y – 8)</a:t>
            </a:r>
            <a:r>
              <a:rPr lang="en-US" sz="3600" baseline="30000">
                <a:solidFill>
                  <a:schemeClr val="hlink"/>
                </a:solidFill>
              </a:rPr>
              <a:t>2</a:t>
            </a:r>
            <a:endParaRPr lang="en-US" sz="3600">
              <a:solidFill>
                <a:schemeClr val="hlink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  <p:bldP spid="389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 marL="838200" indent="-838200"/>
            <a:r>
              <a:rPr lang="en-US" altLang="en-US" sz="4000" dirty="0" smtClean="0"/>
              <a:t>3) Factor </a:t>
            </a:r>
            <a:r>
              <a:rPr lang="en-US" altLang="en-US" sz="4000" dirty="0" smtClean="0">
                <a:solidFill>
                  <a:schemeClr val="tx1"/>
                </a:solidFill>
              </a:rPr>
              <a:t>4p</a:t>
            </a:r>
            <a:r>
              <a:rPr lang="en-US" altLang="en-US" sz="4000" baseline="30000" dirty="0" smtClean="0">
                <a:solidFill>
                  <a:schemeClr val="tx1"/>
                </a:solidFill>
              </a:rPr>
              <a:t>2</a:t>
            </a:r>
            <a:r>
              <a:rPr lang="en-US" altLang="en-US" sz="4000" dirty="0" smtClean="0">
                <a:solidFill>
                  <a:schemeClr val="tx1"/>
                </a:solidFill>
              </a:rPr>
              <a:t> + 4p + 1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066800"/>
                <a:ext cx="5486400" cy="5486400"/>
              </a:xfrm>
              <a:extLs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7" tIns="44450" rIns="90487" bIns="44450"/>
              <a:lstStyle/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r>
                  <a:rPr lang="en-US" altLang="en-US" dirty="0" smtClean="0"/>
                  <a:t>Does this fit the form of our perfect square trinomial?</a:t>
                </a:r>
              </a:p>
              <a:p>
                <a:pPr marL="609600" indent="-609600">
                  <a:lnSpc>
                    <a:spcPct val="90000"/>
                  </a:lnSpc>
                  <a:buFontTx/>
                  <a:buAutoNum type="arabicParenR"/>
                </a:pPr>
                <a:r>
                  <a:rPr lang="en-US" altLang="en-US" dirty="0" smtClean="0"/>
                  <a:t>Is the first term a perfect square?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dirty="0" smtClean="0">
                    <a:solidFill>
                      <a:schemeClr val="hlink"/>
                    </a:solidFill>
                  </a:rPr>
                  <a:t>Yes,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 smtClean="0">
                            <a:solidFill>
                              <a:schemeClr val="hlink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solidFill>
                              <a:schemeClr val="hlink"/>
                            </a:solidFill>
                            <a:latin typeface="Cambria Math"/>
                          </a:rPr>
                          <m:t>4</m:t>
                        </m:r>
                      </m:e>
                    </m:rad>
                    <m:r>
                      <a:rPr lang="en-AU" altLang="en-US" b="0" i="1" smtClean="0">
                        <a:solidFill>
                          <a:schemeClr val="hlink"/>
                        </a:solidFill>
                        <a:latin typeface="Cambria Math"/>
                      </a:rPr>
                      <m:t>=2 </m:t>
                    </m:r>
                  </m:oMath>
                </a14:m>
                <a:r>
                  <a:rPr lang="en-US" altLang="en-US" dirty="0" smtClean="0">
                    <a:solidFill>
                      <a:schemeClr val="hlink"/>
                    </a:solidFill>
                    <a:sym typeface="Symbol"/>
                  </a:rPr>
                  <a:t></a:t>
                </a:r>
                <a:r>
                  <a:rPr lang="en-US" altLang="en-US" dirty="0" smtClean="0">
                    <a:solidFill>
                      <a:schemeClr val="hlink"/>
                    </a:solidFill>
                  </a:rPr>
                  <a:t> a = 2p</a:t>
                </a:r>
                <a:endParaRPr lang="en-US" altLang="en-US" i="1" dirty="0" smtClean="0">
                  <a:solidFill>
                    <a:schemeClr val="hlink"/>
                  </a:solidFill>
                </a:endParaRPr>
              </a:p>
              <a:p>
                <a:pPr marL="609600" indent="-609600">
                  <a:lnSpc>
                    <a:spcPct val="90000"/>
                  </a:lnSpc>
                  <a:buFontTx/>
                  <a:buNone/>
                </a:pPr>
                <a:r>
                  <a:rPr lang="en-US" altLang="en-US" dirty="0" smtClean="0"/>
                  <a:t>2)	Is the last term a perfect square?</a:t>
                </a: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r>
                  <a:rPr lang="en-US" altLang="en-US" dirty="0" smtClean="0">
                    <a:solidFill>
                      <a:schemeClr val="hlink"/>
                    </a:solidFill>
                  </a:rPr>
                  <a:t>Yes, b = 1</a:t>
                </a:r>
              </a:p>
              <a:p>
                <a:pPr marL="609600" indent="-609600">
                  <a:lnSpc>
                    <a:spcPct val="90000"/>
                  </a:lnSpc>
                  <a:buFontTx/>
                  <a:buAutoNum type="arabicParenR" startAt="3"/>
                </a:pPr>
                <a:r>
                  <a:rPr lang="en-US" altLang="en-US" dirty="0" smtClean="0"/>
                  <a:t>Is the middle term twice the product of the a and b?</a:t>
                </a:r>
              </a:p>
              <a:p>
                <a:pPr marL="609600" indent="-609600" algn="ctr">
                  <a:lnSpc>
                    <a:spcPct val="90000"/>
                  </a:lnSpc>
                  <a:buFontTx/>
                  <a:buNone/>
                </a:pPr>
                <a:r>
                  <a:rPr lang="en-US" altLang="en-US" dirty="0" smtClean="0">
                    <a:solidFill>
                      <a:schemeClr val="hlink"/>
                    </a:solidFill>
                  </a:rPr>
                  <a:t>Yes, 2ab = 2(2p)(1) = 4p</a:t>
                </a: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066800"/>
                <a:ext cx="5486400" cy="5486400"/>
              </a:xfrm>
              <a:blipFill rotWithShape="1">
                <a:blip r:embed="rId3"/>
                <a:stretch>
                  <a:fillRect l="-2889" t="-2444" r="-2000" b="-4889"/>
                </a:stretch>
              </a:blipFill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4" name="AutoShape 4"/>
          <p:cNvSpPr>
            <a:spLocks noChangeArrowheads="1"/>
          </p:cNvSpPr>
          <p:nvPr/>
        </p:nvSpPr>
        <p:spPr bwMode="auto">
          <a:xfrm>
            <a:off x="5124450" y="1219200"/>
            <a:ext cx="3943350" cy="1295400"/>
          </a:xfrm>
          <a:prstGeom prst="wedgeRoundRectCallout">
            <a:avLst>
              <a:gd name="adj1" fmla="val -25481"/>
              <a:gd name="adj2" fmla="val -7843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Perfect Square Trinomials</a:t>
            </a:r>
          </a:p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(a +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+ 2ab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/>
            </a:r>
            <a:br>
              <a:rPr lang="en-US" altLang="en-US" b="1">
                <a:solidFill>
                  <a:srgbClr val="000099"/>
                </a:solidFill>
              </a:rPr>
            </a:br>
            <a:r>
              <a:rPr lang="en-US" altLang="en-US" b="1">
                <a:solidFill>
                  <a:srgbClr val="000099"/>
                </a:solidFill>
              </a:rPr>
              <a:t> (a -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–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endParaRPr lang="en-US" b="1" baseline="30000">
              <a:solidFill>
                <a:srgbClr val="000099"/>
              </a:solidFill>
            </a:endParaRP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4876800" y="3032125"/>
            <a:ext cx="4038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3200"/>
              <a:t>Since all three are true, write your answer!</a:t>
            </a:r>
          </a:p>
          <a:p>
            <a:pPr algn="ctr" eaLnBrk="0" hangingPunct="0"/>
            <a:r>
              <a:rPr lang="en-US" sz="3600">
                <a:solidFill>
                  <a:schemeClr val="hlink"/>
                </a:solidFill>
              </a:rPr>
              <a:t>(2p + 1)</a:t>
            </a:r>
            <a:r>
              <a:rPr lang="en-US" sz="3600" baseline="30000">
                <a:solidFill>
                  <a:schemeClr val="hlink"/>
                </a:solidFill>
              </a:rPr>
              <a:t>2</a:t>
            </a:r>
            <a:endParaRPr lang="en-US" sz="3600">
              <a:solidFill>
                <a:schemeClr val="hlink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  <p:bldP spid="4096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76200" y="990600"/>
            <a:ext cx="5410200" cy="5638800"/>
          </a:xfrm>
        </p:spPr>
        <p:txBody>
          <a:bodyPr/>
          <a:lstStyle/>
          <a:p>
            <a:pPr marL="533400" indent="-533400" algn="l">
              <a:lnSpc>
                <a:spcPct val="90000"/>
              </a:lnSpc>
            </a:pPr>
            <a:r>
              <a:rPr lang="en-US" altLang="en-US" dirty="0" smtClean="0"/>
              <a:t>Does this fit the form of our perfect square trinomial?</a:t>
            </a:r>
          </a:p>
          <a:p>
            <a:pPr marL="533400" indent="-533400" algn="l">
              <a:lnSpc>
                <a:spcPct val="90000"/>
              </a:lnSpc>
              <a:buFontTx/>
              <a:buAutoNum type="arabicParenR"/>
            </a:pPr>
            <a:r>
              <a:rPr lang="en-US" altLang="en-US" dirty="0" smtClean="0"/>
              <a:t>Is the first term a perfect square?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dirty="0" smtClean="0">
                <a:solidFill>
                  <a:schemeClr val="hlink"/>
                </a:solidFill>
              </a:rPr>
              <a:t>Yes, a = 5x</a:t>
            </a:r>
          </a:p>
          <a:p>
            <a:pPr marL="533400" indent="-533400" algn="l">
              <a:lnSpc>
                <a:spcPct val="90000"/>
              </a:lnSpc>
              <a:buFontTx/>
              <a:buAutoNum type="arabicParenR" startAt="2"/>
            </a:pPr>
            <a:r>
              <a:rPr lang="en-US" altLang="en-US" dirty="0" smtClean="0"/>
              <a:t>Is the last term a perfect square?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dirty="0" smtClean="0">
                <a:solidFill>
                  <a:schemeClr val="hlink"/>
                </a:solidFill>
              </a:rPr>
              <a:t>Yes, b = 11y</a:t>
            </a:r>
          </a:p>
          <a:p>
            <a:pPr marL="533400" indent="-533400" algn="l">
              <a:lnSpc>
                <a:spcPct val="90000"/>
              </a:lnSpc>
              <a:buFontTx/>
              <a:buAutoNum type="arabicParenR" startAt="3"/>
            </a:pPr>
            <a:r>
              <a:rPr lang="en-US" altLang="en-US" dirty="0" smtClean="0"/>
              <a:t>Is the middle term twice the product of the a and b?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dirty="0" smtClean="0">
                <a:solidFill>
                  <a:schemeClr val="hlink"/>
                </a:solidFill>
              </a:rPr>
              <a:t>Yes, 2ab = 2(5x)(11y) = 110xy</a:t>
            </a:r>
            <a:endParaRPr lang="en-US" dirty="0" smtClean="0"/>
          </a:p>
        </p:txBody>
      </p:sp>
      <p:sp>
        <p:nvSpPr>
          <p:cNvPr id="21507" name="Rectangle 21"/>
          <p:cNvSpPr>
            <a:spLocks noGrp="1" noChangeArrowheads="1"/>
          </p:cNvSpPr>
          <p:nvPr>
            <p:ph type="ctrTitle"/>
          </p:nvPr>
        </p:nvSpPr>
        <p:spPr>
          <a:xfrm>
            <a:off x="381000" y="0"/>
            <a:ext cx="7772400" cy="990600"/>
          </a:xfrm>
        </p:spPr>
        <p:txBody>
          <a:bodyPr/>
          <a:lstStyle/>
          <a:p>
            <a:r>
              <a:rPr lang="en-US" altLang="en-US" sz="4000" smtClean="0"/>
              <a:t>4) Factor </a:t>
            </a:r>
            <a:r>
              <a:rPr lang="en-US" altLang="en-US" sz="4000" smtClean="0">
                <a:solidFill>
                  <a:schemeClr val="tx1"/>
                </a:solidFill>
              </a:rPr>
              <a:t>25x</a:t>
            </a:r>
            <a:r>
              <a:rPr lang="en-US" altLang="en-US" sz="4000" baseline="30000" smtClean="0">
                <a:solidFill>
                  <a:schemeClr val="tx1"/>
                </a:solidFill>
              </a:rPr>
              <a:t>2</a:t>
            </a:r>
            <a:r>
              <a:rPr lang="en-US" altLang="en-US" sz="4000" smtClean="0">
                <a:solidFill>
                  <a:schemeClr val="tx1"/>
                </a:solidFill>
              </a:rPr>
              <a:t> – 110xy + 121y</a:t>
            </a:r>
            <a:r>
              <a:rPr lang="en-US" altLang="en-US" sz="4000" baseline="30000" smtClean="0">
                <a:solidFill>
                  <a:schemeClr val="tx1"/>
                </a:solidFill>
              </a:rPr>
              <a:t>2</a:t>
            </a:r>
            <a:endParaRPr lang="en-US" sz="4000" smtClean="0">
              <a:solidFill>
                <a:schemeClr val="tx1"/>
              </a:solidFill>
            </a:endParaRPr>
          </a:p>
        </p:txBody>
      </p:sp>
      <p:sp>
        <p:nvSpPr>
          <p:cNvPr id="21508" name="Rectangle 2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 anchor="ctr"/>
          <a:lstStyle/>
          <a:p>
            <a:pPr marL="838200" indent="-838200" algn="ctr" eaLnBrk="0" hangingPunct="0"/>
            <a:endParaRPr lang="en-US" altLang="en-US" sz="4000"/>
          </a:p>
        </p:txBody>
      </p:sp>
      <p:sp>
        <p:nvSpPr>
          <p:cNvPr id="21528" name="AutoShape 24"/>
          <p:cNvSpPr>
            <a:spLocks noChangeArrowheads="1"/>
          </p:cNvSpPr>
          <p:nvPr/>
        </p:nvSpPr>
        <p:spPr bwMode="auto">
          <a:xfrm>
            <a:off x="5124450" y="1219200"/>
            <a:ext cx="3943350" cy="1295400"/>
          </a:xfrm>
          <a:prstGeom prst="wedgeRoundRectCallout">
            <a:avLst>
              <a:gd name="adj1" fmla="val -25481"/>
              <a:gd name="adj2" fmla="val -7843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Perfect Square Trinomials</a:t>
            </a:r>
          </a:p>
          <a:p>
            <a:pPr algn="ctr" eaLnBrk="0" hangingPunct="0"/>
            <a:r>
              <a:rPr lang="en-US" altLang="en-US" b="1">
                <a:solidFill>
                  <a:srgbClr val="000099"/>
                </a:solidFill>
              </a:rPr>
              <a:t>(a +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+ 2ab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/>
            </a:r>
            <a:br>
              <a:rPr lang="en-US" altLang="en-US" b="1">
                <a:solidFill>
                  <a:srgbClr val="000099"/>
                </a:solidFill>
              </a:rPr>
            </a:br>
            <a:r>
              <a:rPr lang="en-US" altLang="en-US" b="1">
                <a:solidFill>
                  <a:srgbClr val="000099"/>
                </a:solidFill>
              </a:rPr>
              <a:t> (a - b)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= a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r>
              <a:rPr lang="en-US" altLang="en-US" b="1">
                <a:solidFill>
                  <a:srgbClr val="000099"/>
                </a:solidFill>
              </a:rPr>
              <a:t> – 2ab + b</a:t>
            </a:r>
            <a:r>
              <a:rPr lang="en-US" altLang="en-US" b="1" baseline="30000">
                <a:solidFill>
                  <a:srgbClr val="000099"/>
                </a:solidFill>
              </a:rPr>
              <a:t>2</a:t>
            </a:r>
            <a:endParaRPr lang="en-US" b="1" baseline="30000">
              <a:solidFill>
                <a:srgbClr val="000099"/>
              </a:solidFill>
            </a:endParaRP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4876800" y="3032125"/>
            <a:ext cx="4038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3200"/>
              <a:t>Since all three are true, write your answer!</a:t>
            </a:r>
          </a:p>
          <a:p>
            <a:pPr algn="ctr" eaLnBrk="0" hangingPunct="0"/>
            <a:r>
              <a:rPr lang="en-US" sz="3600">
                <a:solidFill>
                  <a:schemeClr val="hlink"/>
                </a:solidFill>
              </a:rPr>
              <a:t>(5x – 11y)</a:t>
            </a:r>
            <a:r>
              <a:rPr lang="en-US" sz="3600" baseline="30000">
                <a:solidFill>
                  <a:schemeClr val="hlink"/>
                </a:solidFill>
              </a:rPr>
              <a:t>2</a:t>
            </a:r>
            <a:endParaRPr lang="en-US" sz="3600">
              <a:solidFill>
                <a:schemeClr val="hlink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PQuestion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smtClean="0"/>
              <a:t>Factor 9k</a:t>
            </a:r>
            <a:r>
              <a:rPr lang="en-US" baseline="30000" smtClean="0"/>
              <a:t>2</a:t>
            </a:r>
            <a:r>
              <a:rPr lang="en-US" smtClean="0"/>
              <a:t> + 12k + 4</a:t>
            </a:r>
          </a:p>
        </p:txBody>
      </p:sp>
      <p:sp>
        <p:nvSpPr>
          <p:cNvPr id="42057" name="CorShape1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10800000">
            <a:off x="223838" y="1743075"/>
            <a:ext cx="292100" cy="292100"/>
          </a:xfrm>
          <a:custGeom>
            <a:avLst/>
            <a:gdLst>
              <a:gd name="T0" fmla="*/ 75545884 w 960"/>
              <a:gd name="T1" fmla="*/ 47042917 h 1104"/>
              <a:gd name="T2" fmla="*/ 88877510 w 960"/>
              <a:gd name="T3" fmla="*/ 23521458 h 1104"/>
              <a:gd name="T4" fmla="*/ 53326506 w 960"/>
              <a:gd name="T5" fmla="*/ 0 h 1104"/>
              <a:gd name="T6" fmla="*/ 0 w 960"/>
              <a:gd name="T7" fmla="*/ 63843958 h 1104"/>
              <a:gd name="T8" fmla="*/ 0 w 960"/>
              <a:gd name="T9" fmla="*/ 77284792 h 1104"/>
              <a:gd name="T10" fmla="*/ 57770382 w 960"/>
              <a:gd name="T11" fmla="*/ 23521458 h 1104"/>
              <a:gd name="T12" fmla="*/ 75545884 w 960"/>
              <a:gd name="T13" fmla="*/ 47042917 h 1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0" h="1104">
                <a:moveTo>
                  <a:pt x="816" y="672"/>
                </a:moveTo>
                <a:lnTo>
                  <a:pt x="960" y="336"/>
                </a:lnTo>
                <a:lnTo>
                  <a:pt x="576" y="0"/>
                </a:lnTo>
                <a:lnTo>
                  <a:pt x="0" y="912"/>
                </a:lnTo>
                <a:lnTo>
                  <a:pt x="0" y="1104"/>
                </a:lnTo>
                <a:lnTo>
                  <a:pt x="624" y="336"/>
                </a:lnTo>
                <a:lnTo>
                  <a:pt x="816" y="672"/>
                </a:lnTo>
                <a:close/>
              </a:path>
            </a:pathLst>
          </a:custGeom>
          <a:solidFill>
            <a:srgbClr val="00C8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2532" name="TPAnswers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00" y="1600200"/>
            <a:ext cx="4114800" cy="41148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mtClean="0"/>
              <a:t>(3k + 2)</a:t>
            </a:r>
            <a:r>
              <a:rPr lang="en-US" baseline="30000" smtClean="0"/>
              <a:t>2</a:t>
            </a:r>
            <a:endParaRPr lang="en-US" smtClean="0"/>
          </a:p>
          <a:p>
            <a:pPr marL="609600" indent="-609600">
              <a:buFontTx/>
              <a:buAutoNum type="arabicPeriod"/>
            </a:pPr>
            <a:r>
              <a:rPr lang="en-US" smtClean="0"/>
              <a:t>(3k – 2)</a:t>
            </a:r>
            <a:r>
              <a:rPr lang="en-US" baseline="30000" smtClean="0"/>
              <a:t>2</a:t>
            </a:r>
            <a:endParaRPr lang="en-US" smtClean="0"/>
          </a:p>
          <a:p>
            <a:pPr marL="609600" indent="-609600">
              <a:buFontTx/>
              <a:buAutoNum type="arabicPeriod"/>
            </a:pPr>
            <a:r>
              <a:rPr lang="en-US" smtClean="0"/>
              <a:t>(3k + 2)(3k – 2)</a:t>
            </a:r>
          </a:p>
          <a:p>
            <a:pPr marL="609600" indent="-609600">
              <a:buFontTx/>
              <a:buAutoNum type="arabicPeriod"/>
            </a:pPr>
            <a:r>
              <a:rPr lang="en-US" smtClean="0"/>
              <a:t>I’ve got no clue…I’m lost!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PQuestion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smtClean="0"/>
              <a:t>Factor 2r</a:t>
            </a:r>
            <a:r>
              <a:rPr lang="en-US" baseline="30000" smtClean="0"/>
              <a:t>2</a:t>
            </a:r>
            <a:r>
              <a:rPr lang="en-US" smtClean="0"/>
              <a:t> + 12r + 18</a:t>
            </a:r>
          </a:p>
        </p:txBody>
      </p:sp>
      <p:sp>
        <p:nvSpPr>
          <p:cNvPr id="23555" name="TPAnswer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4114800" cy="41148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mtClean="0"/>
              <a:t>prime</a:t>
            </a:r>
          </a:p>
          <a:p>
            <a:pPr marL="609600" indent="-609600">
              <a:buFontTx/>
              <a:buAutoNum type="arabicPeriod"/>
            </a:pPr>
            <a:r>
              <a:rPr lang="en-US" smtClean="0"/>
              <a:t>2(r</a:t>
            </a:r>
            <a:r>
              <a:rPr lang="en-US" baseline="30000" smtClean="0"/>
              <a:t>2</a:t>
            </a:r>
            <a:r>
              <a:rPr lang="en-US" smtClean="0"/>
              <a:t> + 6r + 9)</a:t>
            </a:r>
          </a:p>
          <a:p>
            <a:pPr marL="609600" indent="-609600">
              <a:buFontTx/>
              <a:buAutoNum type="arabicPeriod"/>
            </a:pPr>
            <a:r>
              <a:rPr lang="en-US" smtClean="0"/>
              <a:t>2(r – 3)</a:t>
            </a:r>
            <a:r>
              <a:rPr lang="en-US" baseline="30000" smtClean="0"/>
              <a:t>2</a:t>
            </a:r>
            <a:endParaRPr lang="en-US" smtClean="0"/>
          </a:p>
          <a:p>
            <a:pPr marL="609600" indent="-609600">
              <a:buFontTx/>
              <a:buAutoNum type="arabicPeriod"/>
            </a:pPr>
            <a:r>
              <a:rPr lang="en-US" smtClean="0"/>
              <a:t>2(r + 3)</a:t>
            </a:r>
            <a:r>
              <a:rPr lang="en-US" baseline="30000" smtClean="0"/>
              <a:t>2</a:t>
            </a:r>
            <a:endParaRPr lang="en-US" smtClean="0"/>
          </a:p>
          <a:p>
            <a:pPr marL="609600" indent="-609600">
              <a:buFontTx/>
              <a:buAutoNum type="arabicPeriod"/>
            </a:pPr>
            <a:r>
              <a:rPr lang="en-US" smtClean="0"/>
              <a:t>2(r – 3)(r + 3)</a:t>
            </a:r>
          </a:p>
        </p:txBody>
      </p:sp>
      <p:sp>
        <p:nvSpPr>
          <p:cNvPr id="43086" name="CorShape1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10800000">
            <a:off x="223838" y="3495675"/>
            <a:ext cx="292100" cy="292100"/>
          </a:xfrm>
          <a:custGeom>
            <a:avLst/>
            <a:gdLst>
              <a:gd name="T0" fmla="*/ 75545884 w 960"/>
              <a:gd name="T1" fmla="*/ 47042917 h 1104"/>
              <a:gd name="T2" fmla="*/ 88877510 w 960"/>
              <a:gd name="T3" fmla="*/ 23521458 h 1104"/>
              <a:gd name="T4" fmla="*/ 53326506 w 960"/>
              <a:gd name="T5" fmla="*/ 0 h 1104"/>
              <a:gd name="T6" fmla="*/ 0 w 960"/>
              <a:gd name="T7" fmla="*/ 63843958 h 1104"/>
              <a:gd name="T8" fmla="*/ 0 w 960"/>
              <a:gd name="T9" fmla="*/ 77284792 h 1104"/>
              <a:gd name="T10" fmla="*/ 57770382 w 960"/>
              <a:gd name="T11" fmla="*/ 23521458 h 1104"/>
              <a:gd name="T12" fmla="*/ 75545884 w 960"/>
              <a:gd name="T13" fmla="*/ 47042917 h 1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0" h="1104">
                <a:moveTo>
                  <a:pt x="816" y="672"/>
                </a:moveTo>
                <a:lnTo>
                  <a:pt x="960" y="336"/>
                </a:lnTo>
                <a:lnTo>
                  <a:pt x="576" y="0"/>
                </a:lnTo>
                <a:lnTo>
                  <a:pt x="0" y="912"/>
                </a:lnTo>
                <a:lnTo>
                  <a:pt x="0" y="1104"/>
                </a:lnTo>
                <a:lnTo>
                  <a:pt x="624" y="336"/>
                </a:lnTo>
                <a:lnTo>
                  <a:pt x="816" y="672"/>
                </a:lnTo>
                <a:close/>
              </a:path>
            </a:pathLst>
          </a:custGeom>
          <a:solidFill>
            <a:srgbClr val="00C8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3087" name="AutoShape 79"/>
          <p:cNvSpPr>
            <a:spLocks noChangeArrowheads="1"/>
          </p:cNvSpPr>
          <p:nvPr/>
        </p:nvSpPr>
        <p:spPr bwMode="auto">
          <a:xfrm>
            <a:off x="4648200" y="2581275"/>
            <a:ext cx="3276600" cy="914400"/>
          </a:xfrm>
          <a:prstGeom prst="wedgeRectCallout">
            <a:avLst>
              <a:gd name="adj1" fmla="val -6542"/>
              <a:gd name="adj2" fmla="val -50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/>
              <a:t>Don’t forget to factor the GCF first!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8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200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0C216D916B83482C86AB694C5ACCE7F4"/>
  <p:tag name="SLIDETYPE" val="Q"/>
  <p:tag name="DEMOGRAPHIC" val="False"/>
  <p:tag name="SPEEDSCORING" val="False"/>
  <p:tag name="SLIDEORDER" val="2"/>
  <p:tag name="SLIDEGUID" val="BB3C0030A1294AFC8D6EDCBDDF9EF637"/>
  <p:tag name="VALUES" val="Correct¤Incorrect¤Incorrect¤Incorrect"/>
  <p:tag name="QUESTIONALIAS" val="Factor 9k2 + 12k + 4"/>
  <p:tag name="ANSWERSALIAS" val="(3k + 2)2¤(3k – 2)2¤(3k + 2)(3k – 2)¤I’ve got no clue…I’m lost!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SHAPE" val="True"/>
  <p:tag name="SHAPETYPE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66"/>
  <p:tag name="FONTSIZE" val="32"/>
  <p:tag name="BULLETTYPE" val="ppBulletArabicPeriod"/>
  <p:tag name="ANSWERTEXT" val="(3k + 2)2&#10;(3k – 2)2&#10;(3k + 2)(3k – 2)&#10;I’ve got no clue…I’m lost!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0C216D916B83482C86AB694C5ACCE7F4"/>
  <p:tag name="SLIDETYPE" val="Q"/>
  <p:tag name="DEMOGRAPHIC" val="False"/>
  <p:tag name="SPEEDSCORING" val="False"/>
  <p:tag name="SLIDEORDER" val="3"/>
  <p:tag name="SLIDEGUID" val="15801958C66442688514FDD15AE38312"/>
  <p:tag name="VALUES" val="Incorrect¤Incorrect¤Incorrect¤Correct¤Incorrect"/>
  <p:tag name="QUESTIONALIAS" val="Factor 2r2 + 12r + 18"/>
  <p:tag name="ANSWERSALIAS" val="prime¤2(r2 + 6r + 9)¤2(r – 3)2¤2(r + 3)2¤2(r – 3)(r + 3)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60"/>
  <p:tag name="FONTSIZE" val="32"/>
  <p:tag name="BULLETTYPE" val="ppBulletArabicPeriod"/>
  <p:tag name="ANSWERTEXT" val="prime&#10;2(r2 + 6r + 9)&#10;2(r – 3)2&#10;2(r + 3)2&#10;2(r – 3)(r + 3)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SHAPE" val="True"/>
  <p:tag name="SHAPETYPE" val="2"/>
</p:tagLst>
</file>

<file path=ppt/theme/theme1.xml><?xml version="1.0" encoding="utf-8"?>
<a:theme xmlns:a="http://schemas.openxmlformats.org/drawingml/2006/main" name="Blank Presentation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Tradeshow</Template>
  <TotalTime>1436</TotalTime>
  <Words>448</Words>
  <Application>Microsoft Office PowerPoint</Application>
  <PresentationFormat>On-screen Show (4:3)</PresentationFormat>
  <Paragraphs>82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Blank Presentation</vt:lpstr>
      <vt:lpstr>PowerPoint Presentation</vt:lpstr>
      <vt:lpstr>Review: Multiply (y + 2)2  (y + 2)(y + 2)</vt:lpstr>
      <vt:lpstr>1) Factor x2 + 6x + 9</vt:lpstr>
      <vt:lpstr>2) Factor y2 – 16y + 64</vt:lpstr>
      <vt:lpstr>3) Factor 4p2 + 4p + 1</vt:lpstr>
      <vt:lpstr>4) Factor 25x2 – 110xy + 121y2</vt:lpstr>
      <vt:lpstr>Factor 9k2 + 12k + 4</vt:lpstr>
      <vt:lpstr>Factor 2r2 + 12r + 18</vt:lpstr>
    </vt:vector>
  </TitlesOfParts>
  <Company>HCPS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 Difference of Squares</dc:title>
  <dc:creator>Skip Tyler</dc:creator>
  <cp:lastModifiedBy>PURCELL Laura</cp:lastModifiedBy>
  <cp:revision>35</cp:revision>
  <dcterms:created xsi:type="dcterms:W3CDTF">2002-02-28T14:21:16Z</dcterms:created>
  <dcterms:modified xsi:type="dcterms:W3CDTF">2016-05-09T05:15:21Z</dcterms:modified>
</cp:coreProperties>
</file>
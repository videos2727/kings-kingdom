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37" r:id="rId5"/>
    <p:sldId id="303" r:id="rId6"/>
    <p:sldId id="331" r:id="rId7"/>
    <p:sldId id="333" r:id="rId8"/>
    <p:sldId id="332" r:id="rId9"/>
    <p:sldId id="334" r:id="rId10"/>
    <p:sldId id="335" r:id="rId11"/>
    <p:sldId id="336" r:id="rId12"/>
    <p:sldId id="329" r:id="rId13"/>
    <p:sldId id="292" r:id="rId14"/>
    <p:sldId id="291" r:id="rId15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4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8/05/2016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space.co/chapters/chapter/447/" TargetMode="External"/><Relationship Id="rId2" Type="http://schemas.openxmlformats.org/officeDocument/2006/relationships/hyperlink" Target="https://mathspace.co/chapters/chapter/311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thspace.co/chapters/chapter/448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1967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a perfect square?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91680" y="1958008"/>
            <a:ext cx="736772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Binomial Squares</a:t>
            </a:r>
          </a:p>
          <a:p>
            <a:r>
              <a:rPr lang="en-AU" dirty="0"/>
              <a:t>Another type of binomial expression we can use to help factorise is </a:t>
            </a:r>
            <a:r>
              <a:rPr lang="en-AU" b="1" dirty="0"/>
              <a:t>perfect squares</a:t>
            </a:r>
            <a:r>
              <a:rPr lang="en-AU" dirty="0"/>
              <a:t>. We've </a:t>
            </a:r>
            <a:r>
              <a:rPr lang="en-AU" dirty="0">
                <a:hlinkClick r:id="rId2"/>
              </a:rPr>
              <a:t>already come across some of these</a:t>
            </a:r>
            <a:r>
              <a:rPr lang="en-AU" dirty="0"/>
              <a:t> and know how to expand them:</a:t>
            </a:r>
          </a:p>
          <a:p>
            <a:r>
              <a:rPr lang="en-AU" sz="2400" dirty="0" smtClean="0"/>
              <a:t>	(</a:t>
            </a:r>
            <a:r>
              <a:rPr lang="en-AU" sz="2400" i="1" dirty="0" err="1" smtClean="0"/>
              <a:t>a</a:t>
            </a:r>
            <a:r>
              <a:rPr lang="en-AU" sz="2400" dirty="0" err="1" smtClean="0"/>
              <a:t>+</a:t>
            </a:r>
            <a:r>
              <a:rPr lang="en-AU" sz="2400" i="1" dirty="0" err="1" smtClean="0"/>
              <a:t>b</a:t>
            </a:r>
            <a:r>
              <a:rPr lang="en-AU" sz="2400" dirty="0" smtClean="0"/>
              <a:t>)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=</a:t>
            </a:r>
            <a:r>
              <a:rPr lang="en-AU" sz="2400" i="1" dirty="0" smtClean="0"/>
              <a:t>a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+2</a:t>
            </a:r>
            <a:r>
              <a:rPr lang="en-AU" sz="2400" i="1" dirty="0" smtClean="0"/>
              <a:t>ab</a:t>
            </a:r>
            <a:r>
              <a:rPr lang="en-AU" sz="2400" dirty="0" smtClean="0"/>
              <a:t>+</a:t>
            </a:r>
            <a:r>
              <a:rPr lang="en-AU" sz="2400" i="1" dirty="0" smtClean="0"/>
              <a:t>b</a:t>
            </a:r>
            <a:r>
              <a:rPr lang="en-AU" sz="2400" baseline="30000" dirty="0" smtClean="0"/>
              <a:t>2</a:t>
            </a:r>
            <a:endParaRPr lang="en-AU" sz="2400" baseline="30000" dirty="0"/>
          </a:p>
          <a:p>
            <a:r>
              <a:rPr lang="en-AU" sz="2400" dirty="0" smtClean="0"/>
              <a:t>			(</a:t>
            </a:r>
            <a:r>
              <a:rPr lang="en-AU" sz="2400" i="1" dirty="0"/>
              <a:t>a</a:t>
            </a:r>
            <a:r>
              <a:rPr lang="en-AU" sz="2400" dirty="0"/>
              <a:t>−</a:t>
            </a:r>
            <a:r>
              <a:rPr lang="en-AU" sz="2400" i="1" dirty="0"/>
              <a:t>b</a:t>
            </a:r>
            <a:r>
              <a:rPr lang="en-AU" sz="2400" dirty="0"/>
              <a:t>)</a:t>
            </a:r>
            <a:r>
              <a:rPr lang="en-AU" sz="2400" baseline="30000" dirty="0"/>
              <a:t>2</a:t>
            </a:r>
            <a:r>
              <a:rPr lang="en-AU" sz="2400" dirty="0"/>
              <a:t>=</a:t>
            </a:r>
            <a:r>
              <a:rPr lang="en-AU" sz="2400" i="1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−2</a:t>
            </a:r>
            <a:r>
              <a:rPr lang="en-AU" sz="2400" i="1" dirty="0"/>
              <a:t>ab</a:t>
            </a:r>
            <a:r>
              <a:rPr lang="en-AU" sz="2400" dirty="0"/>
              <a:t>+</a:t>
            </a:r>
            <a:r>
              <a:rPr lang="en-AU" sz="2400" i="1" dirty="0"/>
              <a:t>b</a:t>
            </a:r>
            <a:r>
              <a:rPr lang="en-AU" sz="2400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835696" y="4191263"/>
            <a:ext cx="66247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To factorise the expressions on the right of those equal signs back into </a:t>
            </a:r>
            <a:r>
              <a:rPr lang="en-AU" dirty="0" smtClean="0"/>
              <a:t>(</a:t>
            </a:r>
            <a:r>
              <a:rPr lang="en-AU" i="1" dirty="0" err="1"/>
              <a:t>a</a:t>
            </a:r>
            <a:r>
              <a:rPr lang="en-AU" dirty="0" err="1"/>
              <a:t>+</a:t>
            </a:r>
            <a:r>
              <a:rPr lang="en-AU" i="1" dirty="0" err="1"/>
              <a:t>b</a:t>
            </a:r>
            <a:r>
              <a:rPr lang="en-AU" dirty="0"/>
              <a:t>)</a:t>
            </a:r>
            <a:r>
              <a:rPr lang="en-AU" baseline="30000" dirty="0"/>
              <a:t>2</a:t>
            </a:r>
            <a:r>
              <a:rPr lang="en-AU" dirty="0"/>
              <a:t> or </a:t>
            </a:r>
            <a:r>
              <a:rPr lang="en-AU" dirty="0" smtClean="0"/>
              <a:t>(</a:t>
            </a:r>
            <a:r>
              <a:rPr lang="en-AU" i="1" dirty="0"/>
              <a:t>a</a:t>
            </a:r>
            <a:r>
              <a:rPr lang="en-AU" dirty="0"/>
              <a:t>−</a:t>
            </a:r>
            <a:r>
              <a:rPr lang="en-AU" i="1" dirty="0"/>
              <a:t>b</a:t>
            </a:r>
            <a:r>
              <a:rPr lang="en-AU" dirty="0"/>
              <a:t>)</a:t>
            </a:r>
            <a:r>
              <a:rPr lang="en-AU" baseline="30000" dirty="0"/>
              <a:t>2</a:t>
            </a:r>
            <a:r>
              <a:rPr lang="en-AU" dirty="0"/>
              <a:t>, we need to think about this from another point of view. Just like with </a:t>
            </a:r>
            <a:r>
              <a:rPr lang="en-AU" dirty="0">
                <a:hlinkClick r:id="rId3"/>
              </a:rPr>
              <a:t>differences of two squares</a:t>
            </a:r>
            <a:r>
              <a:rPr lang="en-AU" dirty="0"/>
              <a:t>, we'll need to utilise square roots to find out what our </a:t>
            </a:r>
            <a:r>
              <a:rPr lang="en-AU" i="1" dirty="0" smtClean="0"/>
              <a:t>a</a:t>
            </a:r>
            <a:r>
              <a:rPr lang="en-AU" dirty="0" smtClean="0"/>
              <a:t>'s </a:t>
            </a:r>
            <a:r>
              <a:rPr lang="en-AU" dirty="0"/>
              <a:t>and </a:t>
            </a:r>
            <a:r>
              <a:rPr lang="en-AU" i="1" dirty="0" smtClean="0"/>
              <a:t>b</a:t>
            </a:r>
            <a:r>
              <a:rPr lang="en-AU" dirty="0" smtClean="0"/>
              <a:t>'s </a:t>
            </a:r>
            <a:r>
              <a:rPr lang="en-AU" dirty="0"/>
              <a:t>are. </a:t>
            </a:r>
          </a:p>
        </p:txBody>
      </p:sp>
    </p:spTree>
    <p:extLst>
      <p:ext uri="{BB962C8B-B14F-4D97-AF65-F5344CB8AC3E}">
        <p14:creationId xmlns:p14="http://schemas.microsoft.com/office/powerpoint/2010/main" val="111524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a perfect square?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2255664" y="2060848"/>
            <a:ext cx="6276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1.  Factorise </a:t>
            </a:r>
            <a:r>
              <a:rPr lang="en-AU" dirty="0"/>
              <a:t>the expression </a:t>
            </a:r>
            <a:r>
              <a:rPr lang="en-AU" sz="2000" dirty="0" smtClean="0"/>
              <a:t>36</a:t>
            </a:r>
            <a:r>
              <a:rPr lang="en-AU" sz="2000" i="1" dirty="0" smtClean="0"/>
              <a:t>y</a:t>
            </a:r>
            <a:r>
              <a:rPr lang="en-AU" sz="2000" baseline="30000" dirty="0" smtClean="0"/>
              <a:t>2 </a:t>
            </a:r>
            <a:r>
              <a:rPr lang="en-AU" sz="2000" dirty="0" smtClean="0"/>
              <a:t>− 12</a:t>
            </a:r>
            <a:r>
              <a:rPr lang="en-AU" sz="2000" i="1" dirty="0" smtClean="0"/>
              <a:t>yz </a:t>
            </a:r>
            <a:r>
              <a:rPr lang="en-AU" sz="2000" dirty="0" smtClean="0"/>
              <a:t>+ </a:t>
            </a:r>
            <a:r>
              <a:rPr lang="en-AU" sz="2000" i="1" dirty="0" smtClean="0"/>
              <a:t>z</a:t>
            </a:r>
            <a:r>
              <a:rPr lang="en-AU" sz="2000" baseline="30000" dirty="0" smtClean="0"/>
              <a:t>2</a:t>
            </a:r>
            <a:endParaRPr lang="en-AU" sz="2000" baseline="30000" dirty="0"/>
          </a:p>
          <a:p>
            <a:r>
              <a:rPr lang="en-AU" b="1" dirty="0"/>
              <a:t>Think </a:t>
            </a:r>
            <a:r>
              <a:rPr lang="en-AU" dirty="0"/>
              <a:t>about how to attain our </a:t>
            </a:r>
            <a:r>
              <a:rPr lang="en-AU" i="1" dirty="0" smtClean="0"/>
              <a:t>a</a:t>
            </a:r>
            <a:r>
              <a:rPr lang="en-AU" dirty="0" smtClean="0"/>
              <a:t>'s </a:t>
            </a:r>
            <a:r>
              <a:rPr lang="en-AU" dirty="0"/>
              <a:t>and </a:t>
            </a:r>
            <a:r>
              <a:rPr lang="en-AU" i="1" dirty="0" smtClean="0"/>
              <a:t>b</a:t>
            </a:r>
            <a:r>
              <a:rPr lang="en-AU" dirty="0" smtClean="0"/>
              <a:t>'s</a:t>
            </a:r>
            <a:r>
              <a:rPr lang="en-AU" dirty="0"/>
              <a:t>, and how to check if this really is a perfect square expression</a:t>
            </a:r>
            <a:endParaRPr lang="en-AU" dirty="0">
              <a:effectLst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992483"/>
              </p:ext>
            </p:extLst>
          </p:nvPr>
        </p:nvGraphicFramePr>
        <p:xfrm>
          <a:off x="2575484" y="3024758"/>
          <a:ext cx="5990244" cy="3648576"/>
        </p:xfrm>
        <a:graphic>
          <a:graphicData uri="http://schemas.openxmlformats.org/drawingml/2006/table">
            <a:tbl>
              <a:tblPr/>
              <a:tblGrid>
                <a:gridCol w="1996748"/>
                <a:gridCol w="1473669"/>
                <a:gridCol w="523079"/>
                <a:gridCol w="1996748"/>
              </a:tblGrid>
              <a:tr h="0">
                <a:tc>
                  <a:txBody>
                    <a:bodyPr/>
                    <a:lstStyle/>
                    <a:p>
                      <a:r>
                        <a:rPr lang="en-AU" sz="1700" dirty="0" smtClean="0">
                          <a:effectLst/>
                        </a:rPr>
                        <a:t>√(</a:t>
                      </a:r>
                      <a:r>
                        <a:rPr lang="en-AU" sz="1700" dirty="0" smtClean="0"/>
                        <a:t>36y</a:t>
                      </a:r>
                      <a:r>
                        <a:rPr lang="en-AU" sz="1700" baseline="30000" dirty="0" smtClean="0"/>
                        <a:t>2</a:t>
                      </a:r>
                      <a:r>
                        <a:rPr lang="en-AU" sz="1700" dirty="0" smtClean="0"/>
                        <a:t>)</a:t>
                      </a:r>
                      <a:endParaRPr lang="en-AU" sz="1700" baseline="300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=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 dirty="0" smtClean="0">
                          <a:effectLst/>
                        </a:rPr>
                        <a:t>√</a:t>
                      </a:r>
                      <a:r>
                        <a:rPr lang="en-AU" sz="1700" dirty="0"/>
                        <a:t>36</a:t>
                      </a:r>
                      <a:r>
                        <a:rPr lang="en-AU" sz="1700" dirty="0">
                          <a:effectLst/>
                        </a:rPr>
                        <a:t>√</a:t>
                      </a:r>
                      <a:r>
                        <a:rPr lang="en-AU" sz="1700" i="1" dirty="0"/>
                        <a:t>y</a:t>
                      </a:r>
                      <a:r>
                        <a:rPr lang="en-AU" sz="1700" baseline="30000" dirty="0"/>
                        <a:t>2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 dirty="0"/>
                        <a:t> 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=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 dirty="0" smtClean="0"/>
                        <a:t>6</a:t>
                      </a:r>
                      <a:r>
                        <a:rPr lang="en-AU" sz="1700" i="1" dirty="0" smtClean="0"/>
                        <a:t>y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 dirty="0" smtClean="0">
                          <a:effectLst/>
                        </a:rPr>
                        <a:t>√</a:t>
                      </a:r>
                      <a:r>
                        <a:rPr lang="en-AU" sz="1700" i="1" dirty="0"/>
                        <a:t>z</a:t>
                      </a:r>
                      <a:r>
                        <a:rPr lang="en-AU" sz="1700" baseline="30000" dirty="0"/>
                        <a:t>2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=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 i="1" dirty="0" smtClean="0"/>
                        <a:t>z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/>
                        <a:t>Therefore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 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700" dirty="0"/>
                        <a:t> </a:t>
                      </a:r>
                      <a:r>
                        <a:rPr lang="en-AU" sz="1700" i="1" dirty="0" smtClean="0"/>
                        <a:t>a</a:t>
                      </a:r>
                      <a:r>
                        <a:rPr lang="en-AU" sz="1700" dirty="0" smtClean="0"/>
                        <a:t> is 6</a:t>
                      </a:r>
                      <a:r>
                        <a:rPr lang="en-AU" sz="1700" i="1" dirty="0" smtClean="0"/>
                        <a:t>y</a:t>
                      </a:r>
                      <a:r>
                        <a:rPr lang="en-AU" sz="1700" dirty="0" smtClean="0"/>
                        <a:t> and our </a:t>
                      </a:r>
                      <a:r>
                        <a:rPr lang="en-AU" sz="1700" i="1" dirty="0" smtClean="0"/>
                        <a:t>b</a:t>
                      </a:r>
                      <a:r>
                        <a:rPr lang="en-AU" sz="1700" dirty="0" smtClean="0"/>
                        <a:t> is </a:t>
                      </a:r>
                      <a:r>
                        <a:rPr lang="en-AU" sz="1700" i="1" dirty="0" smtClean="0"/>
                        <a:t>z</a:t>
                      </a:r>
                      <a:r>
                        <a:rPr lang="en-AU" sz="1700" dirty="0" smtClean="0"/>
                        <a:t>.</a:t>
                      </a:r>
                    </a:p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2×</a:t>
                      </a:r>
                      <a:r>
                        <a:rPr lang="en-AU" sz="1700" i="1" dirty="0" smtClean="0"/>
                        <a:t>a</a:t>
                      </a:r>
                      <a:r>
                        <a:rPr lang="en-AU" sz="1700" dirty="0" smtClean="0"/>
                        <a:t>×</a:t>
                      </a:r>
                      <a:r>
                        <a:rPr lang="en-AU" sz="1700" i="1" dirty="0" smtClean="0"/>
                        <a:t>b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=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 dirty="0" smtClean="0"/>
                        <a:t>2×6</a:t>
                      </a:r>
                      <a:r>
                        <a:rPr lang="en-AU" sz="1700" i="1" dirty="0" smtClean="0"/>
                        <a:t>y</a:t>
                      </a:r>
                      <a:r>
                        <a:rPr lang="en-AU" sz="1700" dirty="0" smtClean="0"/>
                        <a:t>×(-</a:t>
                      </a:r>
                      <a:r>
                        <a:rPr lang="en-AU" sz="1700" i="1" dirty="0" smtClean="0"/>
                        <a:t>z)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/>
                        <a:t> 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=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 dirty="0" smtClean="0"/>
                        <a:t>-12</a:t>
                      </a:r>
                      <a:r>
                        <a:rPr lang="en-AU" sz="1700" i="1" dirty="0" smtClean="0"/>
                        <a:t>yz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r>
                        <a:rPr lang="en-AU" sz="1700" dirty="0"/>
                        <a:t>which is the same as the middle term so this is a perfect square expression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/>
                        <a:t>So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/>
                        <a:t> 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 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AU" sz="1700" dirty="0" smtClean="0"/>
                        <a:t>36</a:t>
                      </a:r>
                      <a:r>
                        <a:rPr lang="en-AU" sz="1700" i="1" dirty="0" smtClean="0"/>
                        <a:t>y</a:t>
                      </a:r>
                      <a:r>
                        <a:rPr lang="en-AU" sz="1700" baseline="30000" dirty="0" smtClean="0"/>
                        <a:t>2</a:t>
                      </a:r>
                      <a:r>
                        <a:rPr lang="en-AU" sz="1700" dirty="0"/>
                        <a:t>−12</a:t>
                      </a:r>
                      <a:r>
                        <a:rPr lang="en-AU" sz="1700" i="1" dirty="0"/>
                        <a:t>yz</a:t>
                      </a:r>
                      <a:r>
                        <a:rPr lang="en-AU" sz="1700" dirty="0"/>
                        <a:t>+</a:t>
                      </a:r>
                      <a:r>
                        <a:rPr lang="en-AU" sz="1700" i="1" dirty="0"/>
                        <a:t>z</a:t>
                      </a:r>
                      <a:r>
                        <a:rPr lang="en-AU" sz="1700" baseline="30000" dirty="0"/>
                        <a:t>2</a:t>
                      </a:r>
                      <a:r>
                        <a:rPr lang="en-AU" sz="1700" dirty="0"/>
                        <a:t> 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U" sz="1700" dirty="0" smtClean="0"/>
                        <a:t>=</a:t>
                      </a:r>
                      <a:endParaRPr lang="en-AU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 smtClean="0">
                          <a:effectLst/>
                        </a:rPr>
                        <a:t>(</a:t>
                      </a:r>
                      <a:r>
                        <a:rPr lang="en-AU" sz="1700" dirty="0"/>
                        <a:t>6</a:t>
                      </a:r>
                      <a:r>
                        <a:rPr lang="en-AU" sz="1700" i="1" dirty="0"/>
                        <a:t>y</a:t>
                      </a:r>
                      <a:r>
                        <a:rPr lang="en-AU" sz="1700" dirty="0"/>
                        <a:t>−</a:t>
                      </a:r>
                      <a:r>
                        <a:rPr lang="en-AU" sz="1700" i="1" dirty="0"/>
                        <a:t>z</a:t>
                      </a:r>
                      <a:r>
                        <a:rPr lang="en-AU" sz="1700" dirty="0">
                          <a:effectLst/>
                        </a:rPr>
                        <a:t>)</a:t>
                      </a:r>
                      <a:r>
                        <a:rPr lang="en-AU" sz="1700" baseline="30000" dirty="0"/>
                        <a:t>2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71600" y="1525101"/>
            <a:ext cx="0" cy="55077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a perfect square?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1280045" y="1625798"/>
            <a:ext cx="7475687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Factorise the following expression completely: </a:t>
            </a:r>
            <a:r>
              <a:rPr lang="en-AU" sz="2400" dirty="0" smtClean="0"/>
              <a:t>3</a:t>
            </a:r>
            <a:r>
              <a:rPr lang="en-AU" sz="2400" i="1" dirty="0" smtClean="0"/>
              <a:t>p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+12</a:t>
            </a:r>
            <a:r>
              <a:rPr lang="en-AU" sz="2400" i="1" dirty="0" smtClean="0"/>
              <a:t>p</a:t>
            </a:r>
            <a:r>
              <a:rPr lang="en-AU" sz="2400" dirty="0" smtClean="0"/>
              <a:t>+12</a:t>
            </a:r>
            <a:endParaRPr lang="en-AU" sz="2400" dirty="0"/>
          </a:p>
          <a:p>
            <a:r>
              <a:rPr lang="en-AU" b="1" dirty="0"/>
              <a:t>Think </a:t>
            </a:r>
            <a:r>
              <a:rPr lang="en-AU" dirty="0"/>
              <a:t>about how to make this a perfect square expression by first factorising all the coefficients</a:t>
            </a:r>
          </a:p>
          <a:p>
            <a:r>
              <a:rPr lang="en-AU" b="1" dirty="0"/>
              <a:t>Do: </a:t>
            </a:r>
            <a:r>
              <a:rPr lang="en-AU" dirty="0"/>
              <a:t>We can see here that </a:t>
            </a:r>
            <a:r>
              <a:rPr lang="en-AU" sz="2400" dirty="0" smtClean="0"/>
              <a:t>3</a:t>
            </a:r>
            <a:r>
              <a:rPr lang="en-AU" sz="2400" i="1" dirty="0" smtClean="0"/>
              <a:t>p</a:t>
            </a:r>
            <a:r>
              <a:rPr lang="en-AU" sz="2400" baseline="30000" dirty="0" smtClean="0"/>
              <a:t>2</a:t>
            </a:r>
            <a:r>
              <a:rPr lang="en-AU" dirty="0" smtClean="0"/>
              <a:t> </a:t>
            </a:r>
            <a:r>
              <a:rPr lang="en-AU" dirty="0"/>
              <a:t>and </a:t>
            </a:r>
            <a:r>
              <a:rPr lang="en-AU" sz="2400" dirty="0" smtClean="0"/>
              <a:t>12</a:t>
            </a:r>
            <a:r>
              <a:rPr lang="en-AU" dirty="0" smtClean="0"/>
              <a:t> </a:t>
            </a:r>
            <a:r>
              <a:rPr lang="en-AU" dirty="0"/>
              <a:t>are not even perfect squares! So how can we find </a:t>
            </a:r>
            <a:r>
              <a:rPr lang="en-AU" i="1" dirty="0" smtClean="0"/>
              <a:t>a</a:t>
            </a:r>
            <a:r>
              <a:rPr lang="en-AU" dirty="0" smtClean="0"/>
              <a:t> </a:t>
            </a:r>
            <a:r>
              <a:rPr lang="en-AU" dirty="0"/>
              <a:t>and </a:t>
            </a:r>
            <a:r>
              <a:rPr lang="en-AU" i="1" dirty="0" smtClean="0"/>
              <a:t>b</a:t>
            </a:r>
            <a:r>
              <a:rPr lang="en-AU" dirty="0" smtClean="0"/>
              <a:t>?</a:t>
            </a:r>
          </a:p>
          <a:p>
            <a:endParaRPr lang="en-AU" dirty="0"/>
          </a:p>
          <a:p>
            <a:r>
              <a:rPr lang="en-AU" dirty="0"/>
              <a:t>If we look at this another way we can see that the coefficients of all three terms have an HCF of </a:t>
            </a:r>
            <a:r>
              <a:rPr lang="en-AU" dirty="0" smtClean="0"/>
              <a:t>3</a:t>
            </a:r>
            <a:r>
              <a:rPr lang="en-AU" dirty="0"/>
              <a:t>, so let's factorise that out first.</a:t>
            </a:r>
          </a:p>
          <a:p>
            <a:r>
              <a:rPr lang="en-AU" sz="2400" dirty="0" smtClean="0"/>
              <a:t>3</a:t>
            </a:r>
            <a:r>
              <a:rPr lang="en-AU" sz="2400" i="1" dirty="0" smtClean="0"/>
              <a:t>p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+12</a:t>
            </a:r>
            <a:r>
              <a:rPr lang="en-AU" sz="2400" i="1" dirty="0" smtClean="0"/>
              <a:t>p</a:t>
            </a:r>
            <a:r>
              <a:rPr lang="en-AU" sz="2400" dirty="0" smtClean="0"/>
              <a:t>+12=3(</a:t>
            </a:r>
            <a:r>
              <a:rPr lang="en-AU" sz="2400" i="1" dirty="0" smtClean="0"/>
              <a:t>p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+4</a:t>
            </a:r>
            <a:r>
              <a:rPr lang="en-AU" sz="2400" i="1" dirty="0" smtClean="0"/>
              <a:t>p</a:t>
            </a:r>
            <a:r>
              <a:rPr lang="en-AU" sz="2400" dirty="0" smtClean="0"/>
              <a:t>+4</a:t>
            </a:r>
            <a:r>
              <a:rPr lang="en-AU" sz="2400" dirty="0"/>
              <a:t>)</a:t>
            </a:r>
          </a:p>
          <a:p>
            <a:r>
              <a:rPr lang="en-AU" dirty="0"/>
              <a:t>Now the expression in the brackets is a perfect square expression where </a:t>
            </a:r>
            <a:r>
              <a:rPr lang="en-AU" sz="2400" dirty="0" smtClean="0"/>
              <a:t>√</a:t>
            </a:r>
            <a:r>
              <a:rPr lang="en-AU" sz="2400" i="1" dirty="0"/>
              <a:t>p</a:t>
            </a:r>
            <a:r>
              <a:rPr lang="en-AU" sz="2400" baseline="30000" dirty="0"/>
              <a:t>2</a:t>
            </a:r>
            <a:r>
              <a:rPr lang="en-AU" sz="2400" dirty="0"/>
              <a:t>=</a:t>
            </a:r>
            <a:r>
              <a:rPr lang="en-AU" sz="2400" i="1" dirty="0"/>
              <a:t>p</a:t>
            </a:r>
            <a:r>
              <a:rPr lang="en-AU" sz="2400" dirty="0"/>
              <a:t> </a:t>
            </a:r>
            <a:r>
              <a:rPr lang="en-AU" dirty="0"/>
              <a:t>and </a:t>
            </a:r>
            <a:r>
              <a:rPr lang="en-AU" sz="2400" dirty="0" smtClean="0"/>
              <a:t>√</a:t>
            </a:r>
            <a:r>
              <a:rPr lang="en-AU" sz="2400" dirty="0"/>
              <a:t>4=2</a:t>
            </a:r>
            <a:r>
              <a:rPr lang="en-AU" dirty="0"/>
              <a:t>.</a:t>
            </a:r>
          </a:p>
          <a:p>
            <a:endParaRPr lang="en-AU" dirty="0" smtClean="0"/>
          </a:p>
          <a:p>
            <a:r>
              <a:rPr lang="en-AU" dirty="0" smtClean="0"/>
              <a:t>Therefore </a:t>
            </a:r>
            <a:r>
              <a:rPr lang="en-AU" sz="2400" dirty="0" smtClean="0"/>
              <a:t>3(</a:t>
            </a:r>
            <a:r>
              <a:rPr lang="en-AU" sz="2400" i="1" dirty="0" smtClean="0"/>
              <a:t>p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+4</a:t>
            </a:r>
            <a:r>
              <a:rPr lang="en-AU" sz="2400" i="1" dirty="0" smtClean="0"/>
              <a:t>p</a:t>
            </a:r>
            <a:r>
              <a:rPr lang="en-AU" sz="2400" dirty="0" smtClean="0"/>
              <a:t>+4</a:t>
            </a:r>
            <a:r>
              <a:rPr lang="en-AU" sz="2400" dirty="0"/>
              <a:t>)=</a:t>
            </a:r>
            <a:r>
              <a:rPr lang="en-AU" sz="2400" dirty="0" smtClean="0"/>
              <a:t>3(</a:t>
            </a:r>
            <a:r>
              <a:rPr lang="en-AU" sz="2400" i="1" dirty="0" smtClean="0"/>
              <a:t>p</a:t>
            </a:r>
            <a:r>
              <a:rPr lang="en-AU" sz="2400" dirty="0" smtClean="0"/>
              <a:t>+2)</a:t>
            </a:r>
            <a:r>
              <a:rPr lang="en-AU" sz="2400" baseline="30000" dirty="0" smtClean="0"/>
              <a:t>2</a:t>
            </a:r>
          </a:p>
          <a:p>
            <a:endParaRPr lang="en-AU" sz="2400" baseline="30000" dirty="0">
              <a:effectLst/>
            </a:endParaRPr>
          </a:p>
          <a:p>
            <a:r>
              <a:rPr lang="en-AU" dirty="0"/>
              <a:t>Always see if you can factorise expressions using the most basic method of </a:t>
            </a:r>
            <a:r>
              <a:rPr lang="en-AU" sz="2400" i="1" dirty="0" smtClean="0"/>
              <a:t>AB</a:t>
            </a:r>
            <a:r>
              <a:rPr lang="en-AU" sz="2400" dirty="0" smtClean="0"/>
              <a:t>+</a:t>
            </a:r>
            <a:r>
              <a:rPr lang="en-AU" sz="2400" i="1" dirty="0" smtClean="0"/>
              <a:t>AC</a:t>
            </a:r>
            <a:r>
              <a:rPr lang="en-AU" sz="2400" dirty="0" smtClean="0"/>
              <a:t>=</a:t>
            </a:r>
            <a:r>
              <a:rPr lang="en-AU" sz="2400" i="1" dirty="0" smtClean="0"/>
              <a:t>A</a:t>
            </a:r>
            <a:r>
              <a:rPr lang="en-AU" sz="2400" dirty="0" smtClean="0"/>
              <a:t>(</a:t>
            </a:r>
            <a:r>
              <a:rPr lang="en-AU" sz="2400" i="1" dirty="0" smtClean="0"/>
              <a:t>B</a:t>
            </a:r>
            <a:r>
              <a:rPr lang="en-AU" sz="2400" dirty="0" smtClean="0"/>
              <a:t>+</a:t>
            </a:r>
            <a:r>
              <a:rPr lang="en-AU" sz="2400" i="1" dirty="0" smtClean="0"/>
              <a:t>C</a:t>
            </a:r>
            <a:r>
              <a:rPr lang="en-AU" sz="2400" dirty="0"/>
              <a:t>) </a:t>
            </a:r>
            <a:r>
              <a:rPr lang="en-AU" dirty="0"/>
              <a:t>first if you can. It'll make things a lot easier later on!</a:t>
            </a:r>
            <a:endParaRPr lang="en-AU" baseline="30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633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6.8  and 6.9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82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1547663" y="1988840"/>
            <a:ext cx="74756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Be There or Be Square</a:t>
            </a:r>
          </a:p>
          <a:p>
            <a:r>
              <a:rPr lang="en-AU" dirty="0"/>
              <a:t>Sometimes we come across quadratics that are impossible to factorise with what we know so far, but we can use our knowledge of </a:t>
            </a:r>
            <a:r>
              <a:rPr lang="en-AU" dirty="0">
                <a:hlinkClick r:id="rId2"/>
              </a:rPr>
              <a:t>binomial squares</a:t>
            </a:r>
            <a:r>
              <a:rPr lang="en-AU" dirty="0"/>
              <a:t> to factorise part of them and simplify the expression. This technique is called </a:t>
            </a:r>
            <a:r>
              <a:rPr lang="en-AU" b="1" dirty="0"/>
              <a:t>completing the square</a:t>
            </a:r>
            <a:r>
              <a:rPr lang="en-AU" dirty="0"/>
              <a:t>. </a:t>
            </a:r>
            <a:endParaRPr lang="en-AU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91680" y="4077072"/>
            <a:ext cx="70567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So to review, we already know that binomial squares follow the expansion formula </a:t>
            </a:r>
            <a:r>
              <a:rPr lang="en-AU" sz="2400" dirty="0" smtClean="0"/>
              <a:t>(</a:t>
            </a:r>
            <a:r>
              <a:rPr lang="en-AU" sz="2400" i="1" dirty="0" err="1"/>
              <a:t>a</a:t>
            </a:r>
            <a:r>
              <a:rPr lang="en-AU" sz="2400" dirty="0" err="1"/>
              <a:t>+</a:t>
            </a:r>
            <a:r>
              <a:rPr lang="en-AU" sz="2400" i="1" dirty="0" err="1"/>
              <a:t>b</a:t>
            </a:r>
            <a:r>
              <a:rPr lang="en-AU" sz="2400" dirty="0"/>
              <a:t>)</a:t>
            </a:r>
            <a:r>
              <a:rPr lang="en-AU" sz="2400" baseline="30000" dirty="0"/>
              <a:t>2</a:t>
            </a:r>
            <a:r>
              <a:rPr lang="en-AU" sz="2400" dirty="0"/>
              <a:t>=</a:t>
            </a:r>
            <a:r>
              <a:rPr lang="en-AU" sz="2400" i="1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+2</a:t>
            </a:r>
            <a:r>
              <a:rPr lang="en-AU" sz="2400" i="1" dirty="0"/>
              <a:t>ab</a:t>
            </a:r>
            <a:r>
              <a:rPr lang="en-AU" sz="2400" dirty="0"/>
              <a:t>+</a:t>
            </a:r>
            <a:r>
              <a:rPr lang="en-AU" sz="2400" i="1" dirty="0"/>
              <a:t>b</a:t>
            </a:r>
            <a:r>
              <a:rPr lang="en-AU" sz="2400" baseline="30000" dirty="0"/>
              <a:t>2</a:t>
            </a:r>
            <a:r>
              <a:rPr lang="en-AU" dirty="0"/>
              <a:t>. We're going to be looking at factorisation examples of the form:</a:t>
            </a:r>
          </a:p>
          <a:p>
            <a:r>
              <a:rPr lang="en-AU" i="1" dirty="0" smtClean="0"/>
              <a:t>	</a:t>
            </a:r>
            <a:r>
              <a:rPr lang="en-AU" sz="2400" i="1" dirty="0" smtClean="0"/>
              <a:t>x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+2</a:t>
            </a:r>
            <a:r>
              <a:rPr lang="en-AU" sz="2400" i="1" dirty="0" smtClean="0"/>
              <a:t>ax</a:t>
            </a:r>
            <a:r>
              <a:rPr lang="en-AU" sz="2400" dirty="0" smtClean="0"/>
              <a:t>+</a:t>
            </a:r>
            <a:r>
              <a:rPr lang="en-AU" sz="2400" i="1" dirty="0" smtClean="0"/>
              <a:t>a</a:t>
            </a:r>
            <a:r>
              <a:rPr lang="en-AU" sz="2400" baseline="30000" dirty="0" smtClean="0"/>
              <a:t>2</a:t>
            </a:r>
            <a:r>
              <a:rPr lang="en-AU" sz="2400" dirty="0"/>
              <a:t>=(</a:t>
            </a:r>
            <a:r>
              <a:rPr lang="en-AU" sz="2400" i="1" dirty="0" err="1"/>
              <a:t>x</a:t>
            </a:r>
            <a:r>
              <a:rPr lang="en-AU" sz="2400" dirty="0" err="1"/>
              <a:t>+</a:t>
            </a:r>
            <a:r>
              <a:rPr lang="en-AU" sz="2400" i="1" dirty="0" err="1"/>
              <a:t>a</a:t>
            </a:r>
            <a:r>
              <a:rPr lang="en-AU" sz="2400" dirty="0"/>
              <a:t>)</a:t>
            </a:r>
            <a:r>
              <a:rPr lang="en-AU" sz="2400" baseline="30000" dirty="0"/>
              <a:t>2</a:t>
            </a:r>
            <a:endParaRPr lang="en-AU" sz="2400" baseline="30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616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251520" y="1553702"/>
            <a:ext cx="8771831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The key is to note that in the original quadratic, the third term is always the square of half the coefficient of </a:t>
            </a:r>
            <a:r>
              <a:rPr lang="en-AU" i="1" dirty="0" smtClean="0"/>
              <a:t>x</a:t>
            </a:r>
            <a:r>
              <a:rPr lang="en-AU" dirty="0"/>
              <a:t>. The coefficient halved also helps give us the factorised form. For example in the perfect square </a:t>
            </a:r>
            <a:r>
              <a:rPr lang="en-AU" sz="2000" i="1" dirty="0" smtClean="0"/>
              <a:t>x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+6</a:t>
            </a:r>
            <a:r>
              <a:rPr lang="en-AU" sz="2000" i="1" dirty="0" smtClean="0"/>
              <a:t>x</a:t>
            </a:r>
            <a:r>
              <a:rPr lang="en-AU" sz="2000" dirty="0" smtClean="0"/>
              <a:t>+9</a:t>
            </a:r>
            <a:r>
              <a:rPr lang="en-AU" dirty="0"/>
              <a:t>, halving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coefficient </a:t>
            </a:r>
            <a:r>
              <a:rPr lang="en-AU" dirty="0" smtClean="0"/>
              <a:t>6 gives </a:t>
            </a:r>
            <a:r>
              <a:rPr lang="en-AU" dirty="0"/>
              <a:t>us </a:t>
            </a:r>
            <a:r>
              <a:rPr lang="en-AU" dirty="0" smtClean="0"/>
              <a:t>3</a:t>
            </a:r>
            <a:r>
              <a:rPr lang="en-AU" dirty="0"/>
              <a:t>, which gives us the third term </a:t>
            </a:r>
            <a:r>
              <a:rPr lang="en-AU" dirty="0" smtClean="0"/>
              <a:t>9 </a:t>
            </a:r>
            <a:r>
              <a:rPr lang="en-AU" dirty="0"/>
              <a:t>when squared. That means we can factorise the quadratic to </a:t>
            </a:r>
            <a:r>
              <a:rPr lang="en-AU" dirty="0" smtClean="0"/>
              <a:t>(</a:t>
            </a:r>
            <a:r>
              <a:rPr lang="en-AU" i="1" dirty="0"/>
              <a:t>x</a:t>
            </a:r>
            <a:r>
              <a:rPr lang="en-AU" dirty="0"/>
              <a:t>+3)</a:t>
            </a:r>
            <a:r>
              <a:rPr lang="en-AU" baseline="30000" dirty="0"/>
              <a:t>2</a:t>
            </a:r>
            <a:r>
              <a:rPr lang="en-AU" dirty="0"/>
              <a:t>. This is another way to look at the relationship shown with a drawn square in the video. We can use this knowledge to factorise irregular </a:t>
            </a:r>
            <a:r>
              <a:rPr lang="en-AU" dirty="0" err="1"/>
              <a:t>monic</a:t>
            </a:r>
            <a:r>
              <a:rPr lang="en-AU" dirty="0"/>
              <a:t> quadratics into the form </a:t>
            </a:r>
            <a:r>
              <a:rPr lang="en-AU" sz="2000" dirty="0" smtClean="0"/>
              <a:t>(</a:t>
            </a:r>
            <a:r>
              <a:rPr lang="en-AU" sz="2000" i="1" dirty="0" err="1"/>
              <a:t>x</a:t>
            </a:r>
            <a:r>
              <a:rPr lang="en-AU" sz="2000" dirty="0" err="1"/>
              <a:t>+</a:t>
            </a:r>
            <a:r>
              <a:rPr lang="en-AU" sz="2000" i="1" dirty="0" err="1"/>
              <a:t>a</a:t>
            </a:r>
            <a:r>
              <a:rPr lang="en-AU" sz="2000" dirty="0"/>
              <a:t>)</a:t>
            </a:r>
            <a:r>
              <a:rPr lang="en-AU" sz="2000" baseline="30000" dirty="0"/>
              <a:t>2</a:t>
            </a:r>
            <a:r>
              <a:rPr lang="en-AU" sz="2000" dirty="0"/>
              <a:t>+</a:t>
            </a:r>
            <a:r>
              <a:rPr lang="en-AU" sz="2000" i="1" dirty="0"/>
              <a:t>b</a:t>
            </a:r>
            <a:r>
              <a:rPr lang="en-AU" dirty="0"/>
              <a:t>, where a and b are any numbers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r>
              <a:rPr lang="en-AU" dirty="0"/>
              <a:t>For example, </a:t>
            </a:r>
            <a:r>
              <a:rPr lang="en-AU" sz="2000" i="1" dirty="0" smtClean="0"/>
              <a:t>x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+8</a:t>
            </a:r>
            <a:r>
              <a:rPr lang="en-AU" sz="2000" i="1" dirty="0" smtClean="0"/>
              <a:t>x</a:t>
            </a:r>
            <a:r>
              <a:rPr lang="en-AU" sz="2000" dirty="0" smtClean="0"/>
              <a:t>+10</a:t>
            </a:r>
            <a:r>
              <a:rPr lang="en-AU" dirty="0" smtClean="0"/>
              <a:t> </a:t>
            </a:r>
            <a:r>
              <a:rPr lang="en-AU" dirty="0"/>
              <a:t>is not a perfect square, but we can use part of it to form one. Looking at just the first two terms we have </a:t>
            </a:r>
            <a:r>
              <a:rPr lang="en-AU" sz="2000" i="1" dirty="0" smtClean="0"/>
              <a:t>x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+8</a:t>
            </a:r>
            <a:r>
              <a:rPr lang="en-AU" sz="2000" i="1" dirty="0" smtClean="0"/>
              <a:t>x</a:t>
            </a:r>
            <a:r>
              <a:rPr lang="en-AU" dirty="0"/>
              <a:t>. If this was part of a perfect square what would be the third term</a:t>
            </a:r>
            <a:r>
              <a:rPr lang="en-AU" dirty="0" smtClean="0"/>
              <a:t>?</a:t>
            </a:r>
          </a:p>
          <a:p>
            <a:r>
              <a:rPr lang="en-AU" dirty="0"/>
              <a:t>Let's follow our previous technique by halving and then squaring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coefficient. </a:t>
            </a:r>
            <a:r>
              <a:rPr lang="en-AU" sz="2000" dirty="0" smtClean="0"/>
              <a:t>(</a:t>
            </a:r>
            <a:r>
              <a:rPr lang="en-AU" sz="2000" dirty="0"/>
              <a:t>8÷2)</a:t>
            </a:r>
            <a:r>
              <a:rPr lang="en-AU" sz="2000" baseline="30000" dirty="0"/>
              <a:t>2</a:t>
            </a:r>
            <a:r>
              <a:rPr lang="en-AU" sz="2000" dirty="0"/>
              <a:t>=4</a:t>
            </a:r>
            <a:r>
              <a:rPr lang="en-AU" sz="2000" baseline="30000" dirty="0"/>
              <a:t>2</a:t>
            </a:r>
            <a:r>
              <a:rPr lang="en-AU" sz="2000" dirty="0"/>
              <a:t> </a:t>
            </a:r>
            <a:r>
              <a:rPr lang="en-AU" sz="2000" dirty="0" smtClean="0"/>
              <a:t>=</a:t>
            </a:r>
            <a:r>
              <a:rPr lang="en-AU" sz="2000" dirty="0"/>
              <a:t> </a:t>
            </a:r>
            <a:r>
              <a:rPr lang="en-AU" sz="2000" dirty="0" smtClean="0"/>
              <a:t>16</a:t>
            </a:r>
            <a:r>
              <a:rPr lang="en-AU" dirty="0"/>
              <a:t>, which should be the third term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sz="2000" i="1" dirty="0"/>
              <a:t>x</a:t>
            </a:r>
            <a:r>
              <a:rPr lang="en-AU" sz="2000" baseline="30000" dirty="0"/>
              <a:t>2</a:t>
            </a:r>
            <a:r>
              <a:rPr lang="en-AU" sz="2000" dirty="0"/>
              <a:t>​+</a:t>
            </a:r>
            <a:r>
              <a:rPr lang="en-AU" sz="2000" dirty="0" smtClean="0"/>
              <a:t>8</a:t>
            </a:r>
            <a:r>
              <a:rPr lang="en-AU" sz="2000" i="1" dirty="0" smtClean="0"/>
              <a:t>x</a:t>
            </a:r>
            <a:r>
              <a:rPr lang="en-AU" sz="2000" dirty="0" smtClean="0"/>
              <a:t>+10	=	(</a:t>
            </a:r>
            <a:r>
              <a:rPr lang="en-AU" sz="2000" i="1" dirty="0"/>
              <a:t>x</a:t>
            </a:r>
            <a:r>
              <a:rPr lang="en-AU" sz="2000" baseline="30000" dirty="0"/>
              <a:t>2</a:t>
            </a:r>
            <a:r>
              <a:rPr lang="en-AU" sz="2000" dirty="0"/>
              <a:t>​+8</a:t>
            </a:r>
            <a:r>
              <a:rPr lang="en-AU" sz="2000" i="1" dirty="0"/>
              <a:t>x</a:t>
            </a:r>
            <a:r>
              <a:rPr lang="en-AU" sz="2000" dirty="0"/>
              <a:t>+16)+10−16</a:t>
            </a:r>
          </a:p>
          <a:p>
            <a:r>
              <a:rPr lang="en-AU" sz="2000" dirty="0" smtClean="0"/>
              <a:t>		=	(</a:t>
            </a:r>
            <a:r>
              <a:rPr lang="en-AU" sz="2000" i="1" dirty="0"/>
              <a:t>x</a:t>
            </a:r>
            <a:r>
              <a:rPr lang="en-AU" sz="2000" dirty="0"/>
              <a:t>+4)</a:t>
            </a:r>
            <a:r>
              <a:rPr lang="en-AU" sz="2000" baseline="30000" dirty="0"/>
              <a:t>2</a:t>
            </a:r>
            <a:r>
              <a:rPr lang="en-AU" sz="2000" dirty="0"/>
              <a:t>+10−16</a:t>
            </a:r>
          </a:p>
          <a:p>
            <a:r>
              <a:rPr lang="en-AU" sz="2000" dirty="0" smtClean="0"/>
              <a:t>		=	(</a:t>
            </a:r>
            <a:r>
              <a:rPr lang="en-AU" sz="2000" i="1" dirty="0" smtClean="0"/>
              <a:t>x</a:t>
            </a:r>
            <a:r>
              <a:rPr lang="en-AU" sz="2000" dirty="0" smtClean="0"/>
              <a:t>+4)</a:t>
            </a:r>
            <a:r>
              <a:rPr lang="en-AU" sz="2000" baseline="30000" dirty="0" smtClean="0"/>
              <a:t>2</a:t>
            </a:r>
            <a:r>
              <a:rPr lang="en-AU" sz="2000" dirty="0"/>
              <a:t>−6</a:t>
            </a:r>
            <a:r>
              <a:rPr lang="en-AU" sz="2000" dirty="0" smtClean="0"/>
              <a:t>		</a:t>
            </a:r>
            <a:r>
              <a:rPr lang="en-AU" dirty="0" smtClean="0"/>
              <a:t>That’s done or partly factorised!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97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1666031" y="2132856"/>
            <a:ext cx="73316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What now if I have to solve this quadratic like the one on the previous page</a:t>
            </a:r>
          </a:p>
          <a:p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r>
              <a:rPr lang="en-AU" dirty="0"/>
              <a:t>​+8</a:t>
            </a:r>
            <a:r>
              <a:rPr lang="en-AU" i="1" dirty="0"/>
              <a:t>x</a:t>
            </a:r>
            <a:r>
              <a:rPr lang="en-AU" dirty="0"/>
              <a:t>+10	</a:t>
            </a:r>
            <a:r>
              <a:rPr lang="en-AU" dirty="0" smtClean="0"/>
              <a:t>=0	</a:t>
            </a:r>
            <a:r>
              <a:rPr lang="en-AU" dirty="0">
                <a:sym typeface="Symbol"/>
              </a:rPr>
              <a:t> </a:t>
            </a:r>
            <a:r>
              <a:rPr lang="en-AU" dirty="0" smtClean="0">
                <a:sym typeface="Symbol"/>
              </a:rPr>
              <a:t>	</a:t>
            </a:r>
            <a:r>
              <a:rPr lang="en-AU" i="1" dirty="0"/>
              <a:t> x</a:t>
            </a:r>
            <a:r>
              <a:rPr lang="en-AU" baseline="30000" dirty="0"/>
              <a:t>2</a:t>
            </a:r>
            <a:r>
              <a:rPr lang="en-AU" dirty="0"/>
              <a:t>​+</a:t>
            </a:r>
            <a:r>
              <a:rPr lang="en-AU" dirty="0" smtClean="0"/>
              <a:t>8</a:t>
            </a:r>
            <a:r>
              <a:rPr lang="en-AU" i="1" dirty="0" smtClean="0"/>
              <a:t>x</a:t>
            </a:r>
            <a:r>
              <a:rPr lang="en-AU" dirty="0" smtClean="0"/>
              <a:t>+10-10=-10</a:t>
            </a:r>
          </a:p>
          <a:p>
            <a:r>
              <a:rPr lang="en-AU" dirty="0">
                <a:sym typeface="Symbol"/>
              </a:rPr>
              <a:t>	</a:t>
            </a:r>
            <a:r>
              <a:rPr lang="en-AU" dirty="0" smtClean="0">
                <a:sym typeface="Symbol"/>
              </a:rPr>
              <a:t>	</a:t>
            </a:r>
            <a:r>
              <a:rPr lang="en-AU" dirty="0"/>
              <a:t>	(</a:t>
            </a:r>
            <a:r>
              <a:rPr lang="en-AU" i="1" dirty="0"/>
              <a:t>x</a:t>
            </a:r>
            <a:r>
              <a:rPr lang="en-AU" baseline="30000" dirty="0"/>
              <a:t>2</a:t>
            </a:r>
            <a:r>
              <a:rPr lang="en-AU" dirty="0"/>
              <a:t>​+</a:t>
            </a:r>
            <a:r>
              <a:rPr lang="en-AU" dirty="0" smtClean="0"/>
              <a:t>8</a:t>
            </a:r>
            <a:r>
              <a:rPr lang="en-AU" i="1" dirty="0" smtClean="0"/>
              <a:t>x</a:t>
            </a:r>
            <a:r>
              <a:rPr lang="en-AU" dirty="0" smtClean="0"/>
              <a:t>+16) = -10+16</a:t>
            </a:r>
            <a:endParaRPr lang="en-AU" dirty="0"/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+4)</a:t>
            </a:r>
            <a:r>
              <a:rPr lang="en-AU" baseline="30000" dirty="0" smtClean="0"/>
              <a:t>2</a:t>
            </a:r>
            <a:r>
              <a:rPr lang="en-AU" dirty="0"/>
              <a:t> </a:t>
            </a:r>
            <a:r>
              <a:rPr lang="en-AU" dirty="0" smtClean="0"/>
              <a:t>= 6</a:t>
            </a:r>
            <a:endParaRPr lang="en-AU" dirty="0"/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+4)</a:t>
            </a:r>
            <a:r>
              <a:rPr lang="en-AU" baseline="30000" dirty="0" smtClean="0"/>
              <a:t>2</a:t>
            </a:r>
            <a:r>
              <a:rPr lang="en-AU" dirty="0"/>
              <a:t> </a:t>
            </a:r>
            <a:r>
              <a:rPr lang="en-AU" dirty="0" smtClean="0"/>
              <a:t>= </a:t>
            </a:r>
            <a:r>
              <a:rPr lang="en-AU" dirty="0" smtClean="0">
                <a:latin typeface="Calibri"/>
                <a:cs typeface="Calibri"/>
              </a:rPr>
              <a:t>±√6</a:t>
            </a:r>
          </a:p>
          <a:p>
            <a:r>
              <a:rPr lang="en-AU" dirty="0">
                <a:latin typeface="Calibri"/>
                <a:cs typeface="Calibri"/>
              </a:rPr>
              <a:t>	</a:t>
            </a:r>
            <a:r>
              <a:rPr lang="en-AU" dirty="0" smtClean="0">
                <a:latin typeface="Calibri"/>
                <a:cs typeface="Calibri"/>
              </a:rPr>
              <a:t>	</a:t>
            </a:r>
            <a:r>
              <a:rPr lang="en-AU" dirty="0">
                <a:sym typeface="Symbol"/>
              </a:rPr>
              <a:t>  </a:t>
            </a:r>
            <a:r>
              <a:rPr lang="en-AU" dirty="0" smtClean="0">
                <a:sym typeface="Symbol"/>
              </a:rPr>
              <a:t>	x         = -4</a:t>
            </a:r>
            <a:r>
              <a:rPr lang="en-AU" dirty="0" smtClean="0">
                <a:cs typeface="Calibri"/>
              </a:rPr>
              <a:t>±</a:t>
            </a:r>
            <a:r>
              <a:rPr lang="en-AU" dirty="0">
                <a:cs typeface="Calibri"/>
              </a:rPr>
              <a:t>√6 </a:t>
            </a:r>
            <a:r>
              <a:rPr lang="en-AU" dirty="0" smtClean="0">
                <a:cs typeface="Calibri"/>
              </a:rPr>
              <a:t/>
            </a:r>
            <a:br>
              <a:rPr lang="en-AU" dirty="0" smtClean="0">
                <a:cs typeface="Calibri"/>
              </a:rPr>
            </a:br>
            <a:r>
              <a:rPr lang="en-AU" dirty="0" smtClean="0">
                <a:cs typeface="Calibri"/>
              </a:rPr>
              <a:t>	</a:t>
            </a:r>
            <a:r>
              <a:rPr lang="en-AU" dirty="0" smtClean="0">
                <a:latin typeface="+mj-lt"/>
                <a:cs typeface="Calibri"/>
              </a:rPr>
              <a:t>x ≅ -1.55	    or	</a:t>
            </a:r>
            <a:r>
              <a:rPr lang="en-AU" dirty="0">
                <a:latin typeface="+mj-lt"/>
                <a:cs typeface="Calibri"/>
              </a:rPr>
              <a:t> x ≅ </a:t>
            </a:r>
            <a:r>
              <a:rPr lang="en-AU" dirty="0" smtClean="0">
                <a:latin typeface="+mj-lt"/>
                <a:cs typeface="Calibri"/>
              </a:rPr>
              <a:t>-6.45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2990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1666031" y="2132856"/>
            <a:ext cx="7331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Let’s now try to solve this quadratic equation!</a:t>
            </a:r>
          </a:p>
          <a:p>
            <a:endParaRPr lang="en-AU" dirty="0" smtClean="0"/>
          </a:p>
          <a:p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r>
              <a:rPr lang="en-AU" dirty="0" smtClean="0"/>
              <a:t>​-14</a:t>
            </a:r>
            <a:r>
              <a:rPr lang="en-AU" i="1" dirty="0" smtClean="0"/>
              <a:t>x</a:t>
            </a:r>
            <a:r>
              <a:rPr lang="en-AU" dirty="0" smtClean="0"/>
              <a:t>-21 =0	</a:t>
            </a:r>
            <a:r>
              <a:rPr lang="en-AU" dirty="0">
                <a:sym typeface="Symbol"/>
              </a:rPr>
              <a:t> </a:t>
            </a:r>
            <a:r>
              <a:rPr lang="en-AU" dirty="0" smtClean="0">
                <a:sym typeface="Symbol"/>
              </a:rPr>
              <a:t>	</a:t>
            </a:r>
            <a:r>
              <a:rPr lang="en-AU" i="1" dirty="0"/>
              <a:t> x</a:t>
            </a:r>
            <a:r>
              <a:rPr lang="en-AU" baseline="30000" dirty="0"/>
              <a:t>2</a:t>
            </a:r>
            <a:r>
              <a:rPr lang="en-AU" dirty="0" smtClean="0"/>
              <a:t>​-14</a:t>
            </a:r>
            <a:r>
              <a:rPr lang="en-AU" i="1" dirty="0" smtClean="0"/>
              <a:t>x</a:t>
            </a:r>
            <a:r>
              <a:rPr lang="en-AU" dirty="0" smtClean="0"/>
              <a:t>-21+21= 21</a:t>
            </a:r>
          </a:p>
          <a:p>
            <a:r>
              <a:rPr lang="en-AU" dirty="0">
                <a:sym typeface="Symbol"/>
              </a:rPr>
              <a:t>	</a:t>
            </a:r>
            <a:r>
              <a:rPr lang="en-AU" dirty="0" smtClean="0">
                <a:sym typeface="Symbol"/>
              </a:rPr>
              <a:t>	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r>
              <a:rPr lang="en-AU" dirty="0" smtClean="0"/>
              <a:t>-8</a:t>
            </a:r>
            <a:r>
              <a:rPr lang="en-AU" i="1" dirty="0" smtClean="0"/>
              <a:t>x</a:t>
            </a:r>
            <a:r>
              <a:rPr lang="en-AU" dirty="0" smtClean="0"/>
              <a:t>+49) = 21+49</a:t>
            </a:r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-7)</a:t>
            </a:r>
            <a:r>
              <a:rPr lang="en-AU" baseline="30000" dirty="0" smtClean="0"/>
              <a:t>2</a:t>
            </a:r>
            <a:r>
              <a:rPr lang="en-AU" dirty="0" smtClean="0"/>
              <a:t> = 70</a:t>
            </a:r>
            <a:endParaRPr lang="en-AU" dirty="0"/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-7)</a:t>
            </a:r>
            <a:r>
              <a:rPr lang="en-AU" baseline="30000" dirty="0" smtClean="0"/>
              <a:t>2</a:t>
            </a:r>
            <a:r>
              <a:rPr lang="en-AU" dirty="0" smtClean="0"/>
              <a:t> = </a:t>
            </a:r>
            <a:r>
              <a:rPr lang="en-AU" dirty="0" smtClean="0">
                <a:latin typeface="Calibri"/>
                <a:cs typeface="Calibri"/>
              </a:rPr>
              <a:t>±√70</a:t>
            </a:r>
          </a:p>
          <a:p>
            <a:r>
              <a:rPr lang="en-AU" dirty="0">
                <a:latin typeface="Calibri"/>
                <a:cs typeface="Calibri"/>
              </a:rPr>
              <a:t>	</a:t>
            </a:r>
            <a:r>
              <a:rPr lang="en-AU" dirty="0" smtClean="0">
                <a:latin typeface="Calibri"/>
                <a:cs typeface="Calibri"/>
              </a:rPr>
              <a:t>	</a:t>
            </a:r>
            <a:r>
              <a:rPr lang="en-AU" dirty="0">
                <a:sym typeface="Symbol"/>
              </a:rPr>
              <a:t>  </a:t>
            </a:r>
            <a:r>
              <a:rPr lang="en-AU" dirty="0" smtClean="0">
                <a:sym typeface="Symbol"/>
              </a:rPr>
              <a:t>	x         = 7</a:t>
            </a:r>
            <a:r>
              <a:rPr lang="en-AU" dirty="0" smtClean="0">
                <a:cs typeface="Calibri"/>
              </a:rPr>
              <a:t>±√70 </a:t>
            </a:r>
            <a:br>
              <a:rPr lang="en-AU" dirty="0" smtClean="0">
                <a:cs typeface="Calibri"/>
              </a:rPr>
            </a:br>
            <a:r>
              <a:rPr lang="en-AU" dirty="0" smtClean="0">
                <a:cs typeface="Calibri"/>
              </a:rPr>
              <a:t>	</a:t>
            </a:r>
            <a:r>
              <a:rPr lang="en-AU" dirty="0" smtClean="0">
                <a:latin typeface="+mj-lt"/>
                <a:cs typeface="Calibri"/>
              </a:rPr>
              <a:t>x ≅ 15.37	    or	</a:t>
            </a:r>
            <a:r>
              <a:rPr lang="en-AU" dirty="0">
                <a:latin typeface="+mj-lt"/>
                <a:cs typeface="Calibri"/>
              </a:rPr>
              <a:t> x ≅ </a:t>
            </a:r>
            <a:r>
              <a:rPr lang="en-AU" dirty="0" smtClean="0">
                <a:latin typeface="+mj-lt"/>
                <a:cs typeface="Calibri"/>
              </a:rPr>
              <a:t>-1.37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0257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424936" cy="5400600"/>
          </a:xfrm>
        </p:spPr>
        <p:txBody>
          <a:bodyPr>
            <a:normAutofit fontScale="92500" lnSpcReduction="2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6.11 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Plus there is some work on </a:t>
            </a:r>
            <a:r>
              <a:rPr lang="en-AU" b="1" dirty="0" err="1" smtClean="0">
                <a:solidFill>
                  <a:schemeClr val="tx1"/>
                </a:solidFill>
              </a:rPr>
              <a:t>Mathspace</a:t>
            </a:r>
            <a:r>
              <a:rPr lang="en-AU" b="1" dirty="0" smtClean="0">
                <a:solidFill>
                  <a:schemeClr val="tx1"/>
                </a:solidFill>
              </a:rPr>
              <a:t> to do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When doing these Quadratic Equation you will need to put the final answer (2 solutions) </a:t>
            </a:r>
            <a:br>
              <a:rPr lang="en-AU" b="1" dirty="0" smtClean="0">
                <a:solidFill>
                  <a:schemeClr val="tx1"/>
                </a:solidFill>
              </a:rPr>
            </a:br>
            <a:r>
              <a:rPr lang="en-AU" b="1" dirty="0" err="1" smtClean="0">
                <a:solidFill>
                  <a:schemeClr val="tx1"/>
                </a:solidFill>
              </a:rPr>
              <a:t>eg</a:t>
            </a:r>
            <a:r>
              <a:rPr lang="en-AU" b="1" dirty="0" smtClean="0">
                <a:solidFill>
                  <a:schemeClr val="tx1"/>
                </a:solidFill>
              </a:rPr>
              <a:t> For x</a:t>
            </a:r>
            <a:r>
              <a:rPr lang="en-AU" b="1" baseline="30000" dirty="0" smtClean="0">
                <a:solidFill>
                  <a:schemeClr val="tx1"/>
                </a:solidFill>
              </a:rPr>
              <a:t>2</a:t>
            </a:r>
            <a:r>
              <a:rPr lang="en-AU" b="1" dirty="0" smtClean="0">
                <a:solidFill>
                  <a:schemeClr val="tx1"/>
                </a:solidFill>
              </a:rPr>
              <a:t>-2x-15=0 answer like </a:t>
            </a:r>
            <a:r>
              <a:rPr lang="en-AU" sz="4800" b="1" dirty="0" smtClean="0">
                <a:solidFill>
                  <a:srgbClr val="FF0000"/>
                </a:solidFill>
              </a:rPr>
              <a:t>x=3</a:t>
            </a:r>
            <a:r>
              <a:rPr lang="en-AU" sz="4800" b="1" smtClean="0">
                <a:solidFill>
                  <a:srgbClr val="FF0000"/>
                </a:solidFill>
              </a:rPr>
              <a:t>,-5</a:t>
            </a:r>
          </a:p>
          <a:p>
            <a:endParaRPr lang="en-AU" sz="1900" b="1" dirty="0">
              <a:solidFill>
                <a:srgbClr val="FF0000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In order do Solving by Factorising, Perfect Squares then Solve by Complete Square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560</Words>
  <Application>Microsoft Office PowerPoint</Application>
  <PresentationFormat>On-screen Show (4:3)</PresentationFormat>
  <Paragraphs>172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Algebra - Quadratics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90</cp:revision>
  <dcterms:created xsi:type="dcterms:W3CDTF">2014-05-14T02:58:57Z</dcterms:created>
  <dcterms:modified xsi:type="dcterms:W3CDTF">2016-05-08T08:31:48Z</dcterms:modified>
</cp:coreProperties>
</file>
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0" r:id="rId2"/>
    <p:sldId id="259" r:id="rId3"/>
    <p:sldId id="258" r:id="rId4"/>
    <p:sldId id="332" r:id="rId5"/>
    <p:sldId id="333" r:id="rId6"/>
    <p:sldId id="334" r:id="rId7"/>
    <p:sldId id="292" r:id="rId8"/>
    <p:sldId id="29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6625" autoAdjust="0"/>
  </p:normalViewPr>
  <p:slideViewPr>
    <p:cSldViewPr>
      <p:cViewPr>
        <p:scale>
          <a:sx n="75" d="100"/>
          <a:sy n="75" d="100"/>
        </p:scale>
        <p:origin x="-1002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9/03/2016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9/03/2016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9/03/2016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9/03/2016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9/03/2016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9/03/2016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9/03/2016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9/03/2016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Measurement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4221088"/>
            <a:ext cx="1800200" cy="1752600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</a:t>
            </a:r>
          </a:p>
          <a:p>
            <a:pPr algn="l"/>
            <a:r>
              <a:rPr lang="en-AU" dirty="0" smtClean="0"/>
              <a:t>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27650" name="Picture 2" descr="http://passyworldofmathematics.com/Images/pwmImagesFour/ConvertMetricTwo550x392JP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36096" y="1772816"/>
            <a:ext cx="3181262" cy="2267372"/>
          </a:xfrm>
          <a:prstGeom prst="rect">
            <a:avLst/>
          </a:prstGeom>
          <a:noFill/>
        </p:spPr>
      </p:pic>
      <p:pic>
        <p:nvPicPr>
          <p:cNvPr id="27652" name="Picture 4" descr="http://passyworldofmathematics.com/Images/pwmImagesFour/ConvertMetricOne550x407JP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700808"/>
            <a:ext cx="2976265" cy="2202437"/>
          </a:xfrm>
          <a:prstGeom prst="rect">
            <a:avLst/>
          </a:prstGeom>
          <a:noFill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13" t="25936" r="22941" b="30488"/>
          <a:stretch/>
        </p:blipFill>
        <p:spPr bwMode="auto">
          <a:xfrm>
            <a:off x="2843808" y="4296580"/>
            <a:ext cx="5390480" cy="2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7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763688" y="1945680"/>
            <a:ext cx="0" cy="49411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7396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Total Surface Area and Volume Composite Shapes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to find the Total Surface Area &amp; Volume of different composite shapes.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48"/>
            <a:ext cx="17636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find the volume and TSA of 3 dimensional shapes?</a:t>
            </a:r>
            <a:endParaRPr lang="en-AU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31" t="34123" r="28246" b="31118"/>
          <a:stretch/>
        </p:blipFill>
        <p:spPr bwMode="auto">
          <a:xfrm>
            <a:off x="1979712" y="2592011"/>
            <a:ext cx="2952328" cy="2401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483768" y="1945680"/>
            <a:ext cx="619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Find the Volume of this shape and we need to paint it so you will also need to find the total surface area as well?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4716016" y="2852936"/>
            <a:ext cx="4307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Volume – find the volume of the main block and take the shape out </a:t>
            </a:r>
            <a:r>
              <a:rPr lang="en-AU" dirty="0" err="1" smtClean="0"/>
              <a:t>ie</a:t>
            </a:r>
            <a:r>
              <a:rPr lang="en-AU" dirty="0" smtClean="0"/>
              <a:t>. half cylinder.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4771628" y="3616396"/>
            <a:ext cx="1333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Vol of Block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156176" y="3620158"/>
                <a:ext cx="192392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latin typeface="Cambria Math"/>
                        </a:rPr>
                        <m:t>𝑙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𝑤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h𝑡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=4.7×2.3×5.2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=56.21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𝑚</m:t>
                      </m:r>
                      <m:r>
                        <a:rPr lang="en-AU" b="0" i="1" baseline="30000" smtClean="0">
                          <a:latin typeface="Cambria Math"/>
                          <a:ea typeface="Cambria Math"/>
                        </a:rPr>
                        <m:t>3</m:t>
                      </m:r>
                    </m:oMath>
                  </m:oMathPara>
                </a14:m>
                <a:endParaRPr lang="en-AU" baseline="30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6176" y="3620158"/>
                <a:ext cx="1923924" cy="92333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4932572" y="4609038"/>
            <a:ext cx="3007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Vol of half cylinder to take out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6372200" y="4993651"/>
                <a:ext cx="2292744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𝑟</m:t>
                      </m:r>
                      <m:r>
                        <a:rPr lang="en-AU" b="0" i="1" baseline="30000" smtClean="0">
                          <a:latin typeface="Cambria Math"/>
                          <a:ea typeface="Cambria Math"/>
                        </a:rPr>
                        <m:t>2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h𝑡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÷2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×0.92×4.7÷2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=5.98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𝑚</m:t>
                      </m:r>
                      <m:r>
                        <a:rPr lang="en-AU" b="0" i="1" baseline="30000" smtClean="0">
                          <a:latin typeface="Cambria Math"/>
                          <a:ea typeface="Cambria Math"/>
                        </a:rPr>
                        <m:t>3</m:t>
                      </m:r>
                    </m:oMath>
                  </m:oMathPara>
                </a14:m>
                <a:endParaRPr lang="en-AU" baseline="300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00" y="4993651"/>
                <a:ext cx="2292744" cy="92333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989796" y="5565338"/>
                <a:ext cx="321658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Total Vol   = Block – half Cylinder</a:t>
                </a:r>
              </a:p>
              <a:p>
                <a:r>
                  <a:rPr lang="en-AU" dirty="0"/>
                  <a:t>	 </a:t>
                </a:r>
                <a:r>
                  <a:rPr lang="en-AU" dirty="0" smtClean="0"/>
                  <a:t>= 56.21 – 5.98</a:t>
                </a:r>
              </a:p>
              <a:p>
                <a:r>
                  <a:rPr lang="en-AU" dirty="0"/>
                  <a:t>	</a:t>
                </a:r>
                <a:r>
                  <a:rPr lang="en-AU" dirty="0" smtClean="0"/>
                  <a:t> = 50.23m</a:t>
                </a:r>
                <a14:m>
                  <m:oMath xmlns:m="http://schemas.openxmlformats.org/officeDocument/2006/math">
                    <m:r>
                      <a:rPr lang="en-AU" i="1" baseline="30000">
                        <a:latin typeface="Cambria Math"/>
                        <a:ea typeface="Cambria Math"/>
                      </a:rPr>
                      <m:t>3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9796" y="5565338"/>
                <a:ext cx="3216586" cy="923330"/>
              </a:xfrm>
              <a:prstGeom prst="rect">
                <a:avLst/>
              </a:prstGeom>
              <a:blipFill rotWithShape="1">
                <a:blip r:embed="rId5"/>
                <a:stretch>
                  <a:fillRect l="-1515" t="-3311" r="-947" b="-9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763688" y="1945680"/>
            <a:ext cx="0" cy="312384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7396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Total Surface Area and Volume Composite Shapes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to find the Total Surface Area &amp; Volume of different composite shapes. 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2060848"/>
            <a:ext cx="17636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find the volume and TSA of 3 dimensional shapes?</a:t>
            </a:r>
            <a:endParaRPr lang="en-AU" sz="16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31" t="34123" r="28246" b="31118"/>
          <a:stretch/>
        </p:blipFill>
        <p:spPr bwMode="auto">
          <a:xfrm>
            <a:off x="1979712" y="2592011"/>
            <a:ext cx="2952328" cy="2401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483768" y="1945680"/>
            <a:ext cx="61926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Find the Volume of this shape and we need to paint it so you will also need to find the total surface area as well?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4619600" y="2537901"/>
            <a:ext cx="43073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Volume – find the Total Surface Area.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4887096" y="2882152"/>
            <a:ext cx="2224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Surface Area of Block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778993" y="3207481"/>
                <a:ext cx="4329904" cy="8253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=</m:t>
                      </m:r>
                      <m:r>
                        <a:rPr lang="en-AU" sz="1600" b="0" i="1" smtClean="0">
                          <a:latin typeface="Cambria Math"/>
                        </a:rPr>
                        <m:t>𝑙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𝑤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×2+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𝑤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h𝑡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×2+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𝑙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h𝑡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×2</m:t>
                      </m:r>
                    </m:oMath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=4.7×2.3×2+2.3×5.2×2+4.7×5.2×2</m:t>
                      </m:r>
                    </m:oMath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=94.42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𝑚</m:t>
                      </m:r>
                      <m:r>
                        <a:rPr lang="en-AU" sz="1600" b="0" i="1" baseline="30000" smtClean="0">
                          <a:latin typeface="Cambria Math"/>
                          <a:ea typeface="Cambria Math"/>
                        </a:rPr>
                        <m:t>2</m:t>
                      </m:r>
                    </m:oMath>
                  </m:oMathPara>
                </a14:m>
                <a:endParaRPr lang="en-AU" sz="1600" baseline="30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8993" y="3207481"/>
                <a:ext cx="4329904" cy="82535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5274756" y="4032835"/>
            <a:ext cx="3401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Area of </a:t>
            </a:r>
            <a:r>
              <a:rPr lang="en-AU" dirty="0" err="1" smtClean="0"/>
              <a:t>Rect</a:t>
            </a:r>
            <a:r>
              <a:rPr lang="en-AU" dirty="0" smtClean="0"/>
              <a:t> made by half cylinder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890180" y="4249808"/>
                <a:ext cx="2392257" cy="8197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=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𝑤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AU" sz="1600" b="0" i="1" smtClean="0">
                              <a:latin typeface="Cambria Math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AU" sz="1600" b="0" i="1" smtClean="0">
                              <a:latin typeface="Cambria Math"/>
                              <a:ea typeface="Cambria Math"/>
                            </a:rPr>
                            <m:t>𝑜𝑟</m:t>
                          </m:r>
                          <m:r>
                            <a:rPr lang="en-AU" sz="1600" b="0" i="1" smtClean="0">
                              <a:latin typeface="Cambria Math"/>
                              <a:ea typeface="Cambria Math"/>
                            </a:rPr>
                            <m:t> </m:t>
                          </m:r>
                          <m:r>
                            <a:rPr lang="en-AU" sz="1600" b="0" i="1" smtClean="0">
                              <a:latin typeface="Cambria Math"/>
                              <a:ea typeface="Cambria Math"/>
                            </a:rPr>
                            <m:t>𝐷𝑖𝑎𝑚𝑒𝑡𝑒𝑟</m:t>
                          </m:r>
                        </m:e>
                      </m:d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h𝑡</m:t>
                      </m:r>
                    </m:oMath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=1.8×4.7</m:t>
                      </m:r>
                    </m:oMath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=8.46</m:t>
                      </m:r>
                      <m:r>
                        <a:rPr lang="en-AU" sz="1600" b="0" i="1" smtClean="0">
                          <a:latin typeface="Cambria Math"/>
                        </a:rPr>
                        <m:t>𝑚</m:t>
                      </m:r>
                      <m:r>
                        <a:rPr lang="en-AU" sz="1600" b="0" i="1" baseline="30000" smtClean="0">
                          <a:latin typeface="Cambria Math"/>
                        </a:rPr>
                        <m:t>2</m:t>
                      </m:r>
                    </m:oMath>
                  </m:oMathPara>
                </a14:m>
                <a:endParaRPr lang="en-AU" sz="1600" baseline="300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0180" y="4249808"/>
                <a:ext cx="2392257" cy="81971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2281256" y="6053377"/>
            <a:ext cx="46794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Total Surface area 	= 94.42 – 8.46 – 2.54 </a:t>
            </a:r>
            <a:r>
              <a:rPr lang="en-AU" dirty="0" smtClean="0"/>
              <a:t>+13.23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		= </a:t>
            </a:r>
            <a:r>
              <a:rPr lang="en-AU" dirty="0" smtClean="0"/>
              <a:t>96.65m</a:t>
            </a:r>
            <a:r>
              <a:rPr lang="en-AU" baseline="30000" dirty="0" smtClean="0"/>
              <a:t>2</a:t>
            </a:r>
            <a:endParaRPr lang="en-AU" baseline="30000" dirty="0"/>
          </a:p>
        </p:txBody>
      </p:sp>
      <p:sp>
        <p:nvSpPr>
          <p:cNvPr id="19" name="TextBox 18"/>
          <p:cNvSpPr txBox="1"/>
          <p:nvPr/>
        </p:nvSpPr>
        <p:spPr>
          <a:xfrm>
            <a:off x="5110877" y="5013286"/>
            <a:ext cx="36997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Area of 2 half circles made by half cylinder</a:t>
            </a:r>
            <a:endParaRPr lang="en-AU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011636" y="5187995"/>
                <a:ext cx="189821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=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𝑟</m:t>
                      </m:r>
                      <m:r>
                        <a:rPr lang="en-AU" sz="1600" b="0" i="1" baseline="30000" smtClean="0">
                          <a:latin typeface="Cambria Math"/>
                          <a:ea typeface="Cambria Math"/>
                        </a:rPr>
                        <m:t>2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×2÷2</m:t>
                      </m:r>
                    </m:oMath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×0.92×2÷2</m:t>
                      </m:r>
                    </m:oMath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=2.54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𝑚</m:t>
                      </m:r>
                      <m:r>
                        <a:rPr lang="en-AU" sz="1600" b="0" i="1" baseline="30000" smtClean="0">
                          <a:latin typeface="Cambria Math"/>
                          <a:ea typeface="Cambria Math"/>
                        </a:rPr>
                        <m:t>2</m:t>
                      </m:r>
                    </m:oMath>
                  </m:oMathPara>
                </a14:m>
                <a:endParaRPr lang="en-AU" sz="1600" baseline="300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1636" y="5187995"/>
                <a:ext cx="1898212" cy="830997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876683" y="5040906"/>
            <a:ext cx="36729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Area curved surface made by half cylinder</a:t>
            </a:r>
            <a:endParaRPr lang="en-AU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1594177" y="5228023"/>
                <a:ext cx="1810624" cy="8253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</a:rPr>
                        <m:t>=2</m:t>
                      </m:r>
                      <m:r>
                        <a:rPr lang="en-AU" sz="1600" i="1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𝑟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×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h𝑡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÷2</m:t>
                      </m:r>
                    </m:oMath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=2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𝜋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0.9×4.7÷2</m:t>
                      </m:r>
                    </m:oMath>
                    <m:oMath xmlns:m="http://schemas.openxmlformats.org/officeDocument/2006/math"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=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13.23</m:t>
                      </m:r>
                      <m:r>
                        <a:rPr lang="en-AU" sz="1600" b="0" i="1" smtClean="0">
                          <a:latin typeface="Cambria Math"/>
                          <a:ea typeface="Cambria Math"/>
                        </a:rPr>
                        <m:t>𝑚</m:t>
                      </m:r>
                      <m:r>
                        <a:rPr lang="en-AU" sz="1600" b="0" i="1" baseline="30000" smtClean="0">
                          <a:latin typeface="Cambria Math"/>
                          <a:ea typeface="Cambria Math"/>
                        </a:rPr>
                        <m:t>2</m:t>
                      </m:r>
                    </m:oMath>
                  </m:oMathPara>
                </a14:m>
                <a:endParaRPr lang="en-AU" sz="1600" baseline="30000" dirty="0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4177" y="5228023"/>
                <a:ext cx="1810624" cy="825354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4402524" y="4028240"/>
            <a:ext cx="986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Subtract</a:t>
            </a:r>
            <a:endParaRPr lang="en-AU" b="1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393787" y="4856240"/>
            <a:ext cx="986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Subtract</a:t>
            </a:r>
            <a:endParaRPr lang="en-AU" b="1" dirty="0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99413" y="4856240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Add</a:t>
            </a:r>
            <a:endParaRPr lang="en-A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8462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3419872" y="2276872"/>
            <a:ext cx="4825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Do exercise 3.3 and 3.4 page 36 &amp; 37 Dwyer book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115616" y="404664"/>
            <a:ext cx="7396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Total Surface Area and Volume Composite Shapes</a:t>
            </a:r>
            <a:endParaRPr lang="en-AU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Describe how to find the Total Surface Area &amp; Volume of different composite shapes.  </a:t>
            </a:r>
            <a:endParaRPr lang="en-AU" sz="2400" dirty="0"/>
          </a:p>
        </p:txBody>
      </p:sp>
      <p:sp>
        <p:nvSpPr>
          <p:cNvPr id="17" name="TextBox 16"/>
          <p:cNvSpPr txBox="1"/>
          <p:nvPr/>
        </p:nvSpPr>
        <p:spPr>
          <a:xfrm>
            <a:off x="125512" y="2060848"/>
            <a:ext cx="2771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How do we find the volume and TSA of 3 dimensional shapes?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3498989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1707</TotalTime>
  <Words>389</Words>
  <Application>Microsoft Office PowerPoint</Application>
  <PresentationFormat>On-screen Show (4:3)</PresentationFormat>
  <Paragraphs>80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My Measurement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90</cp:revision>
  <dcterms:created xsi:type="dcterms:W3CDTF">2014-05-14T02:58:57Z</dcterms:created>
  <dcterms:modified xsi:type="dcterms:W3CDTF">2016-03-09T06:23:22Z</dcterms:modified>
</cp:coreProperties>
</file>
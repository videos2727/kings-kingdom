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259" r:id="rId3"/>
    <p:sldId id="258" r:id="rId4"/>
    <p:sldId id="332" r:id="rId5"/>
    <p:sldId id="335" r:id="rId6"/>
    <p:sldId id="334" r:id="rId7"/>
    <p:sldId id="292" r:id="rId8"/>
    <p:sldId id="29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6625" autoAdjust="0"/>
  </p:normalViewPr>
  <p:slideViewPr>
    <p:cSldViewPr>
      <p:cViewPr>
        <p:scale>
          <a:sx n="75" d="100"/>
          <a:sy n="75" d="100"/>
        </p:scale>
        <p:origin x="-1002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11/03/2016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11/03/2016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11/03/2016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11/03/2016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11/03/2016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11/03/2016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11/03/2016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11/03/2016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11/03/2016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11/03/2016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11/03/2016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11/03/2016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11/03/2016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hyperlink" Target="http://www.google.com.au/url?sa=i&amp;rct=j&amp;q=&amp;esrc=s&amp;source=images&amp;cd=&amp;cad=rja&amp;uact=8&amp;ved=0ahUKEwjSyqLj2rLLAhVkXaYKHQMMD8cQjRwIBw&amp;url=http://www.math-mate.com/chapter32_2.shtml&amp;bvm=bv.116274245,d.cGc&amp;psig=AFQjCNHgO-8YqN49F4_ILaLNlBxR_05lgQ&amp;ust=1457582137228286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hyperlink" Target="http://www.google.com.au/url?sa=i&amp;rct=j&amp;q=&amp;esrc=s&amp;source=images&amp;cd=&amp;cad=rja&amp;uact=8&amp;ved=0ahUKEwjSyqLj2rLLAhVkXaYKHQMMD8cQjRwIBw&amp;url=http://www.math-mate.com/chapter32_2.shtml&amp;bvm=bv.116274245,d.cGc&amp;psig=AFQjCNHgO-8YqN49F4_ILaLNlBxR_05lgQ&amp;ust=1457582137228286" TargetMode="Externa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Measurement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4221088"/>
            <a:ext cx="18002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</a:t>
            </a:r>
          </a:p>
          <a:p>
            <a:pPr algn="l"/>
            <a:r>
              <a:rPr lang="en-AU" dirty="0" smtClean="0"/>
              <a:t>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27650" name="Picture 2" descr="http://passyworldofmathematics.com/Images/pwmImagesFour/ConvertMetricTwo550x392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36096" y="1772816"/>
            <a:ext cx="3181262" cy="2267372"/>
          </a:xfrm>
          <a:prstGeom prst="rect">
            <a:avLst/>
          </a:prstGeom>
          <a:noFill/>
        </p:spPr>
      </p:pic>
      <p:pic>
        <p:nvPicPr>
          <p:cNvPr id="27652" name="Picture 4" descr="http://passyworldofmathematics.com/Images/pwmImagesFour/ConvertMetricOne550x407JP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700808"/>
            <a:ext cx="2976265" cy="2202437"/>
          </a:xfrm>
          <a:prstGeom prst="rect">
            <a:avLst/>
          </a:prstGeom>
          <a:noFill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3" t="25936" r="22941" b="30488"/>
          <a:stretch/>
        </p:blipFill>
        <p:spPr bwMode="auto">
          <a:xfrm>
            <a:off x="2843808" y="4296580"/>
            <a:ext cx="5390480" cy="2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7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763688" y="1945680"/>
            <a:ext cx="0" cy="241314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7396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Total Surface Area and Volume Composite Shapes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to find the Total Surface Area &amp; Volume of different composite shapes.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176368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volume and TSA of 3 dimensional shapes?  This time for a cone or pyramid and a sphere.</a:t>
            </a:r>
            <a:endParaRPr lang="en-AU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1972408" y="2149960"/>
            <a:ext cx="3672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Find the Volume of this shape and again we need to paint it so you will also need to find the total surface area as well?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867557" y="3476620"/>
            <a:ext cx="4307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Volume – find the volume of the cone.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195735" y="3804824"/>
            <a:ext cx="1409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Vol of </a:t>
            </a:r>
            <a:r>
              <a:rPr lang="en-AU" dirty="0" smtClean="0"/>
              <a:t>cone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347864" y="3690372"/>
                <a:ext cx="1808444" cy="1258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16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16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1600" i="1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sz="160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1600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sz="160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en-AU" sz="1600" b="0" i="1" baseline="30000" smtClean="0">
                          <a:latin typeface="Cambria Math"/>
                          <a:ea typeface="Cambria Math"/>
                        </a:rPr>
                        <m:t>2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h𝑡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sz="16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16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1600" i="1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sz="1600" i="1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1600" i="1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sz="1600" i="1">
                          <a:latin typeface="Cambria Math"/>
                          <a:ea typeface="Cambria Math"/>
                        </a:rPr>
                        <m:t>×32×10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=94.25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𝑐𝑚</m:t>
                      </m:r>
                      <m:r>
                        <a:rPr lang="en-AU" sz="1600" b="0" i="1" baseline="30000" smtClean="0">
                          <a:latin typeface="Cambria Math"/>
                          <a:ea typeface="Cambria Math"/>
                        </a:rPr>
                        <m:t>3</m:t>
                      </m:r>
                    </m:oMath>
                  </m:oMathPara>
                </a14:m>
                <a:endParaRPr lang="en-AU" sz="1600" baseline="300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3690372"/>
                <a:ext cx="1808444" cy="125816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5504783" y="4784791"/>
            <a:ext cx="1681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Vol of </a:t>
            </a:r>
            <a:r>
              <a:rPr lang="en-AU" dirty="0" smtClean="0">
                <a:latin typeface="Arial"/>
                <a:cs typeface="Arial"/>
              </a:rPr>
              <a:t>½</a:t>
            </a:r>
            <a:r>
              <a:rPr lang="en-AU" dirty="0" smtClean="0"/>
              <a:t> Sphere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012807" y="4669025"/>
                <a:ext cx="1499770" cy="12563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en-AU" sz="1600" b="0" i="1" baseline="30000" smtClean="0">
                          <a:latin typeface="Cambria Math"/>
                          <a:ea typeface="Cambria Math"/>
                        </a:rPr>
                        <m:t>3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÷2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sz="16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1600" i="1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sz="1600" i="1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sz="1600" i="1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sz="1600" i="1">
                          <a:latin typeface="Cambria Math"/>
                          <a:ea typeface="Cambria Math"/>
                        </a:rPr>
                        <m:t>×33÷2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=56.49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𝑐𝑚</m:t>
                      </m:r>
                      <m:r>
                        <a:rPr lang="en-AU" sz="1600" b="0" i="1" baseline="30000" smtClean="0">
                          <a:latin typeface="Cambria Math"/>
                          <a:ea typeface="Cambria Math"/>
                        </a:rPr>
                        <m:t>3</m:t>
                      </m:r>
                    </m:oMath>
                  </m:oMathPara>
                </a14:m>
                <a:endParaRPr lang="en-AU" sz="1600" baseline="300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2807" y="4669025"/>
                <a:ext cx="1499770" cy="125637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29197" y="5733256"/>
                <a:ext cx="308212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Total Vol   = Cone + half Sphere</a:t>
                </a:r>
              </a:p>
              <a:p>
                <a:r>
                  <a:rPr lang="en-AU" dirty="0"/>
                  <a:t>	 </a:t>
                </a:r>
                <a:r>
                  <a:rPr lang="en-AU" dirty="0" smtClean="0"/>
                  <a:t>= 94.25+56.49</a:t>
                </a:r>
              </a:p>
              <a:p>
                <a:r>
                  <a:rPr lang="en-AU" dirty="0"/>
                  <a:t>	</a:t>
                </a:r>
                <a:r>
                  <a:rPr lang="en-AU" dirty="0" smtClean="0"/>
                  <a:t> = 160.74cm</a:t>
                </a:r>
                <a14:m>
                  <m:oMath xmlns:m="http://schemas.openxmlformats.org/officeDocument/2006/math">
                    <m:r>
                      <a:rPr lang="en-AU" i="1" baseline="30000">
                        <a:latin typeface="Cambria Math"/>
                        <a:ea typeface="Cambria Math"/>
                      </a:rPr>
                      <m:t>3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197" y="5733256"/>
                <a:ext cx="3082126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1581" t="-3289" r="-988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s://encrypted-tbn0.gstatic.com/images?q=tbn:ANd9GcQvbbBE-Zsbw-O86j17-GMn2naesQFxUR2rAqvfTmoYGmc49rBZVA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783" y="1917352"/>
            <a:ext cx="1945957" cy="2517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19514" y="4416264"/>
                <a:ext cx="3038589" cy="15091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𝑉𝑜𝑙𝑢𝑚𝑒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𝑜𝑓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𝑅𝑡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𝑝𝑦𝑟𝑎𝑚𝑖𝑑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𝑜𝑟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𝑐𝑜𝑛𝑒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sz="1600" b="0" i="1" smtClean="0">
                          <a:latin typeface="Cambria Math"/>
                        </a:rPr>
                        <m:t>𝐴𝑟𝑒𝑎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𝑜𝑓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𝐵𝑎𝑠𝑒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h𝑡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𝑉𝑜𝑙𝑢𝑚𝑒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𝑜𝑓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𝑆𝑝h𝑒𝑟𝑒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en-AU" sz="1600" b="0" i="1" baseline="30000" smtClean="0">
                          <a:latin typeface="Cambria Math"/>
                          <a:ea typeface="Cambria Math"/>
                        </a:rPr>
                        <m:t>3</m:t>
                      </m:r>
                    </m:oMath>
                  </m:oMathPara>
                </a14:m>
                <a:endParaRPr lang="en-AU" sz="1600" baseline="30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14" y="4416264"/>
                <a:ext cx="3038589" cy="150913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763688" y="1945680"/>
            <a:ext cx="0" cy="241314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7396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Total Surface Area and Volume Composite Shapes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to find the Total Surface Area &amp; Volume of different composite shapes.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176368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volume and TSA of 3 dimensional shapes?  This time for a cone or pyramid and a sphere.</a:t>
            </a:r>
            <a:endParaRPr lang="en-AU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1972408" y="2149960"/>
            <a:ext cx="3672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Find the Volume of this shape and again we need to paint it so you will also need to find the total surface area as well?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867557" y="3476620"/>
            <a:ext cx="3280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SA – find the Total Surface Area.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267743" y="3804824"/>
            <a:ext cx="1337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SA of cone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347864" y="3690372"/>
                <a:ext cx="1651542" cy="8253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=</m:t>
                      </m:r>
                      <m:r>
                        <a:rPr lang="en-AU" sz="1600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sz="160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𝐿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sz="1600" i="1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sz="1600" i="1">
                          <a:latin typeface="Cambria Math"/>
                          <a:ea typeface="Cambria Math"/>
                        </a:rPr>
                        <m:t>×3×10.44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=98.39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𝑐𝑚</m:t>
                      </m:r>
                      <m:r>
                        <a:rPr lang="en-AU" sz="1600" b="0" i="1" baseline="30000" smtClean="0">
                          <a:latin typeface="Cambria Math"/>
                          <a:ea typeface="Cambria Math"/>
                        </a:rPr>
                        <m:t>2</m:t>
                      </m:r>
                    </m:oMath>
                  </m:oMathPara>
                </a14:m>
                <a:endParaRPr lang="en-AU" sz="1600" baseline="30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3690372"/>
                <a:ext cx="1651542" cy="82535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5504783" y="4669025"/>
            <a:ext cx="1622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SA of </a:t>
            </a:r>
            <a:r>
              <a:rPr lang="en-AU" dirty="0" smtClean="0">
                <a:latin typeface="Arial"/>
                <a:cs typeface="Arial"/>
              </a:rPr>
              <a:t>½</a:t>
            </a:r>
            <a:r>
              <a:rPr lang="en-AU" dirty="0" smtClean="0"/>
              <a:t> Sphere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7012807" y="4669025"/>
                <a:ext cx="1731500" cy="8253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=4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en-AU" sz="1600" b="0" i="1" baseline="30000" smtClean="0">
                          <a:latin typeface="Cambria Math"/>
                          <a:ea typeface="Cambria Math"/>
                        </a:rPr>
                        <m:t>2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÷2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=</m:t>
                      </m:r>
                      <m:r>
                        <a:rPr lang="en-AU" sz="1600" i="1">
                          <a:latin typeface="Cambria Math"/>
                        </a:rPr>
                        <m:t>4</m:t>
                      </m:r>
                      <m:r>
                        <a:rPr lang="en-AU" sz="1600" i="1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1600" i="1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sz="1600" i="1">
                          <a:latin typeface="Cambria Math"/>
                          <a:ea typeface="Cambria Math"/>
                        </a:rPr>
                        <m:t>×32÷2 </m:t>
                      </m:r>
                    </m:oMath>
                    <m:oMath xmlns:m="http://schemas.openxmlformats.org/officeDocument/2006/math">
                      <m:r>
                        <a:rPr lang="en-AU" sz="1600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56.55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𝑐𝑚</m:t>
                      </m:r>
                      <m:r>
                        <a:rPr lang="en-AU" sz="1600" b="0" i="1" baseline="30000" smtClean="0">
                          <a:latin typeface="Cambria Math"/>
                          <a:ea typeface="Cambria Math"/>
                        </a:rPr>
                        <m:t>2</m:t>
                      </m:r>
                    </m:oMath>
                  </m:oMathPara>
                </a14:m>
                <a:endParaRPr lang="en-AU" sz="1600" baseline="300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2807" y="4669025"/>
                <a:ext cx="1731500" cy="82535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801304" y="5726112"/>
                <a:ext cx="308212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Total Vol   = Cone + half Sphere</a:t>
                </a:r>
              </a:p>
              <a:p>
                <a:r>
                  <a:rPr lang="en-AU" dirty="0"/>
                  <a:t>	 </a:t>
                </a:r>
                <a:r>
                  <a:rPr lang="en-AU" dirty="0" smtClean="0"/>
                  <a:t>= 98.39+56.55</a:t>
                </a:r>
              </a:p>
              <a:p>
                <a:r>
                  <a:rPr lang="en-AU" dirty="0"/>
                  <a:t>	</a:t>
                </a:r>
                <a:r>
                  <a:rPr lang="en-AU" dirty="0" smtClean="0"/>
                  <a:t> = 154.94cm</a:t>
                </a:r>
                <a14:m>
                  <m:oMath xmlns:m="http://schemas.openxmlformats.org/officeDocument/2006/math">
                    <m:r>
                      <a:rPr lang="en-AU" b="0" i="1" baseline="30000" smtClean="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304" y="5726112"/>
                <a:ext cx="3082126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1782" t="-3289" r="-990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s://encrypted-tbn0.gstatic.com/images?q=tbn:ANd9GcQvbbBE-Zsbw-O86j17-GMn2naesQFxUR2rAqvfTmoYGmc49rBZVA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2963" y="1950008"/>
            <a:ext cx="1945957" cy="2517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19514" y="4416264"/>
                <a:ext cx="3038589" cy="15091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𝑉𝑜𝑙𝑢𝑚𝑒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𝑜𝑓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𝑅𝑡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𝑝𝑦𝑟𝑎𝑚𝑖𝑑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𝑜𝑟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𝑐𝑜𝑛𝑒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sz="1600" b="0" i="1" smtClean="0">
                          <a:latin typeface="Cambria Math"/>
                        </a:rPr>
                        <m:t>𝐴𝑟𝑒𝑎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𝑜𝑓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𝐵𝑎𝑠𝑒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h𝑡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𝑉𝑜𝑙𝑢𝑚𝑒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𝑜𝑓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𝑆𝑝h𝑒𝑟𝑒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en-AU" sz="1600" b="0" i="1" baseline="30000" smtClean="0">
                          <a:latin typeface="Cambria Math"/>
                          <a:ea typeface="Cambria Math"/>
                        </a:rPr>
                        <m:t>3</m:t>
                      </m:r>
                    </m:oMath>
                  </m:oMathPara>
                </a14:m>
                <a:endParaRPr lang="en-AU" sz="1600" baseline="30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14" y="4416264"/>
                <a:ext cx="3038589" cy="150913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5670960" y="2608082"/>
            <a:ext cx="1224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Pythagoras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5644816" y="2866182"/>
                <a:ext cx="1420581" cy="11062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𝐿</m:t>
                      </m:r>
                      <m:r>
                        <a:rPr lang="en-AU" sz="1600" b="0" i="1" baseline="30000" smtClean="0">
                          <a:latin typeface="Cambria Math"/>
                        </a:rPr>
                        <m:t>2</m:t>
                      </m:r>
                      <m:r>
                        <a:rPr lang="en-AU" sz="1600" b="0" i="1" smtClean="0">
                          <a:latin typeface="Cambria Math"/>
                        </a:rPr>
                        <m:t>=10</m:t>
                      </m:r>
                      <m:r>
                        <a:rPr lang="en-AU" sz="1600" b="0" i="1" baseline="30000" smtClean="0">
                          <a:latin typeface="Cambria Math"/>
                        </a:rPr>
                        <m:t>2</m:t>
                      </m:r>
                      <m:r>
                        <a:rPr lang="en-AU" sz="1600" b="0" i="1" smtClean="0">
                          <a:latin typeface="Cambria Math"/>
                        </a:rPr>
                        <m:t>+3</m:t>
                      </m:r>
                      <m:r>
                        <a:rPr lang="en-AU" sz="1600" b="0" i="1" baseline="30000" smtClean="0">
                          <a:latin typeface="Cambria Math"/>
                        </a:rPr>
                        <m:t>2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𝐿</m:t>
                      </m:r>
                      <m:r>
                        <a:rPr lang="en-AU" sz="1600" b="0" i="1" baseline="30000" smtClean="0">
                          <a:latin typeface="Cambria Math"/>
                        </a:rPr>
                        <m:t>2</m:t>
                      </m:r>
                      <m:r>
                        <a:rPr lang="en-AU" sz="1600" b="0" i="1" smtClean="0">
                          <a:latin typeface="Cambria Math"/>
                        </a:rPr>
                        <m:t>=109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𝐿</m:t>
                      </m:r>
                      <m:r>
                        <a:rPr lang="en-AU" sz="1600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sz="16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1600" b="0" i="1" smtClean="0">
                              <a:latin typeface="Cambria Math"/>
                              <a:ea typeface="Cambria Math"/>
                            </a:rPr>
                            <m:t>109</m:t>
                          </m:r>
                        </m:e>
                      </m:rad>
                    </m:oMath>
                  </m:oMathPara>
                </a14:m>
                <a:r>
                  <a:rPr lang="en-AU" sz="1600" b="0" i="1" dirty="0" smtClean="0">
                    <a:latin typeface="Cambria Math"/>
                    <a:ea typeface="Cambria Math"/>
                  </a:rPr>
                  <a:t/>
                </a:r>
                <a:br>
                  <a:rPr lang="en-AU" sz="1600" b="0" i="1" dirty="0" smtClean="0">
                    <a:latin typeface="Cambria Math"/>
                    <a:ea typeface="Cambria Math"/>
                  </a:rPr>
                </a:br>
                <a14:m>
                  <m:oMath xmlns:m="http://schemas.openxmlformats.org/officeDocument/2006/math">
                    <m:r>
                      <a:rPr lang="en-AU" sz="1600" b="0" i="1" smtClean="0">
                        <a:latin typeface="Cambria Math"/>
                        <a:ea typeface="Cambria Math"/>
                      </a:rPr>
                      <m:t>𝐿</m:t>
                    </m:r>
                    <m:r>
                      <a:rPr lang="en-AU" sz="1600" b="0" i="1" smtClean="0">
                        <a:latin typeface="Cambria Math"/>
                        <a:ea typeface="Cambria Math"/>
                      </a:rPr>
                      <m:t>=10.44</m:t>
                    </m:r>
                  </m:oMath>
                </a14:m>
                <a:r>
                  <a:rPr lang="en-AU" sz="1600" dirty="0" smtClean="0"/>
                  <a:t>cm</a:t>
                </a:r>
                <a:endParaRPr lang="en-AU" sz="16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816" y="2866182"/>
                <a:ext cx="1420581" cy="1106265"/>
              </a:xfrm>
              <a:prstGeom prst="rect">
                <a:avLst/>
              </a:prstGeom>
              <a:blipFill rotWithShape="1">
                <a:blip r:embed="rId8"/>
                <a:stretch>
                  <a:fillRect b="-54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7210682" y="3152251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74641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249943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3419872" y="2276872"/>
            <a:ext cx="4825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Do exercise 3.5 and 3.6 page 38 &amp; 39 Dwyer book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115616" y="404664"/>
            <a:ext cx="7396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Total Surface Area and Volume Composite Shapes</a:t>
            </a:r>
            <a:endParaRPr lang="en-AU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to find the Total Surface Area &amp; Volume of different composite shapes.  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81503" y="2076996"/>
            <a:ext cx="176368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volume and TSA of 3 dimensional shapes?  This time for a cone or pyramid and a sphere.</a:t>
            </a:r>
            <a:endParaRPr lang="en-AU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19514" y="4416264"/>
                <a:ext cx="3038589" cy="15091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𝑉𝑜𝑙𝑢𝑚𝑒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𝑜𝑓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𝑅𝑡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𝑝𝑦𝑟𝑎𝑚𝑖𝑑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𝑜𝑟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𝑐𝑜𝑛𝑒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sz="1600" b="0" i="1" smtClean="0">
                          <a:latin typeface="Cambria Math"/>
                        </a:rPr>
                        <m:t>𝐴𝑟𝑒𝑎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𝑜𝑓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𝐵𝑎𝑠𝑒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h𝑡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𝑉𝑜𝑙𝑢𝑚𝑒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𝑜𝑓</m:t>
                      </m:r>
                      <m:r>
                        <a:rPr lang="en-AU" sz="1600" b="0" i="1" smtClean="0">
                          <a:latin typeface="Cambria Math"/>
                        </a:rPr>
                        <m:t> </m:t>
                      </m:r>
                      <m:r>
                        <a:rPr lang="en-AU" sz="1600" b="0" i="1" smtClean="0">
                          <a:latin typeface="Cambria Math"/>
                        </a:rPr>
                        <m:t>𝑆𝑝h𝑒𝑟𝑒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en-AU" sz="1600" b="0" i="1" baseline="30000" smtClean="0">
                          <a:latin typeface="Cambria Math"/>
                          <a:ea typeface="Cambria Math"/>
                        </a:rPr>
                        <m:t>3</m:t>
                      </m:r>
                    </m:oMath>
                  </m:oMathPara>
                </a14:m>
                <a:endParaRPr lang="en-AU" sz="1600" baseline="300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14" y="4416264"/>
                <a:ext cx="3038589" cy="150913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8989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1745</TotalTime>
  <Words>390</Words>
  <Application>Microsoft Office PowerPoint</Application>
  <PresentationFormat>On-screen Show (4:3)</PresentationFormat>
  <Paragraphs>81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My Measurement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96</cp:revision>
  <dcterms:created xsi:type="dcterms:W3CDTF">2014-05-14T02:58:57Z</dcterms:created>
  <dcterms:modified xsi:type="dcterms:W3CDTF">2016-03-11T01:20:56Z</dcterms:modified>
</cp:coreProperties>
</file>
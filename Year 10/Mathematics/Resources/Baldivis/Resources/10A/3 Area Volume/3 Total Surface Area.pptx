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0" r:id="rId2"/>
    <p:sldId id="259" r:id="rId3"/>
    <p:sldId id="258" r:id="rId4"/>
    <p:sldId id="328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32" r:id="rId19"/>
    <p:sldId id="292" r:id="rId20"/>
    <p:sldId id="291" r:id="rId21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804" y="-4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49573-F1CC-4B20-B982-F1E489F75B6E}" type="datetimeFigureOut">
              <a:rPr lang="en-AU" smtClean="0"/>
              <a:t>8/03/2016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5A300-7EE0-49DE-A382-C886CC03E0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4797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8/03/2016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8/03/2016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4221088"/>
            <a:ext cx="18002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</a:t>
            </a:r>
          </a:p>
          <a:p>
            <a:pPr algn="l"/>
            <a:r>
              <a:rPr lang="en-AU" dirty="0" smtClean="0"/>
              <a:t>Term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772816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00808"/>
            <a:ext cx="2976265" cy="2202437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3" t="25936" r="22941" b="30488"/>
          <a:stretch/>
        </p:blipFill>
        <p:spPr bwMode="auto">
          <a:xfrm>
            <a:off x="2843808" y="4296580"/>
            <a:ext cx="5390480" cy="2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976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83768" y="1732166"/>
            <a:ext cx="0" cy="51258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Total Surface Area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700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</a:t>
            </a:r>
            <a:r>
              <a:rPr lang="en-AU" sz="2400" dirty="0" smtClean="0"/>
              <a:t>Total Surface Area </a:t>
            </a:r>
            <a:r>
              <a:rPr lang="en-AU" sz="2400" dirty="0" smtClean="0"/>
              <a:t>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</a:t>
            </a:r>
            <a:r>
              <a:rPr lang="en-AU" sz="1600" dirty="0" smtClean="0"/>
              <a:t>of 3 dimensional shapes?</a:t>
            </a:r>
            <a:endParaRPr lang="en-AU" sz="1600" dirty="0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491880" y="1732166"/>
            <a:ext cx="3672408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/>
              <a:t>Summary of formulae in this section</a:t>
            </a:r>
          </a:p>
        </p:txBody>
      </p:sp>
      <p:graphicFrame>
        <p:nvGraphicFramePr>
          <p:cNvPr id="16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45957"/>
              </p:ext>
            </p:extLst>
          </p:nvPr>
        </p:nvGraphicFramePr>
        <p:xfrm>
          <a:off x="2635944" y="2303226"/>
          <a:ext cx="6096000" cy="3827862"/>
        </p:xfrm>
        <a:graphic>
          <a:graphicData uri="http://schemas.openxmlformats.org/drawingml/2006/table">
            <a:tbl>
              <a:tblPr/>
              <a:tblGrid>
                <a:gridCol w="1860005"/>
                <a:gridCol w="4235995"/>
              </a:tblGrid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TSA  </a:t>
                      </a:r>
                      <a:r>
                        <a:rPr kumimoji="0" lang="en-A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Formula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Prisms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TSA = total area of all faces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Rectangular Prism: 6 faces (if closed)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Triangular Prism: 5 faces (if closed)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+mn-lt"/>
                        </a:rPr>
                        <a:t>Cylinders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+mn-lt"/>
                        </a:rPr>
                        <a:t>TSA = 2 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 r h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(for the curved wall)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+  r</a:t>
                      </a:r>
                      <a:r>
                        <a:rPr kumimoji="0" lang="en-AU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2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for each circular end if there is one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55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+mn-lt"/>
                        </a:rPr>
                        <a:t>Spheres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+mn-lt"/>
                        </a:rPr>
                        <a:t>TSA = 4 </a:t>
                      </a: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 r</a:t>
                      </a:r>
                      <a:r>
                        <a:rPr kumimoji="0" lang="en-AU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2</a:t>
                      </a:r>
                      <a:endParaRPr kumimoji="0" lang="en-A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12EA"/>
                        </a:solidFill>
                        <a:effectLst/>
                        <a:latin typeface="+mn-lt"/>
                        <a:sym typeface="Symbol" pitchFamily="18" charset="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21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Cones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TSA = </a:t>
                      </a: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 r L</a:t>
                      </a: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(for the curved wall)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+  r</a:t>
                      </a:r>
                      <a:r>
                        <a:rPr kumimoji="0" lang="en-AU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2</a:t>
                      </a: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for the circular base if there is one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Pyramids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TSA = Base area + area of the triangular </a:t>
                      </a:r>
                      <a:r>
                        <a:rPr kumimoji="0" lang="en-AU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sides.</a:t>
                      </a:r>
                      <a:r>
                        <a:rPr kumimoji="0" lang="en-AU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These</a:t>
                      </a: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 can be tricky – you may need </a:t>
                      </a:r>
                      <a:r>
                        <a:rPr kumimoji="0" lang="en-AU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Pythag</a:t>
                      </a:r>
                      <a:r>
                        <a:rPr kumimoji="0" lang="en-A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 to work out height of sloping faces!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Text Box 43"/>
          <p:cNvSpPr txBox="1">
            <a:spLocks noChangeArrowheads="1"/>
          </p:cNvSpPr>
          <p:nvPr/>
        </p:nvSpPr>
        <p:spPr bwMode="auto">
          <a:xfrm>
            <a:off x="2712085" y="6131088"/>
            <a:ext cx="5976391" cy="73866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All </a:t>
            </a:r>
            <a:r>
              <a:rPr lang="en-AU" sz="2400" dirty="0" smtClean="0"/>
              <a:t>Areas </a:t>
            </a:r>
            <a:r>
              <a:rPr lang="en-AU" sz="2400" dirty="0"/>
              <a:t>are in </a:t>
            </a:r>
            <a:r>
              <a:rPr lang="en-AU" sz="2400" u="sng" dirty="0" smtClean="0"/>
              <a:t>Square</a:t>
            </a:r>
            <a:r>
              <a:rPr lang="en-AU" sz="2400" dirty="0" smtClean="0"/>
              <a:t> </a:t>
            </a:r>
            <a:r>
              <a:rPr lang="en-AU" sz="2400" dirty="0"/>
              <a:t>units – </a:t>
            </a:r>
            <a:r>
              <a:rPr lang="en-AU" sz="2400" i="1" dirty="0" smtClean="0"/>
              <a:t>m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. </a:t>
            </a:r>
            <a:r>
              <a:rPr lang="en-AU" sz="2400" i="1" dirty="0" smtClean="0"/>
              <a:t>cm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, </a:t>
            </a:r>
            <a:r>
              <a:rPr lang="en-AU" sz="2400" i="1" dirty="0" smtClean="0"/>
              <a:t>mm</a:t>
            </a:r>
            <a:r>
              <a:rPr lang="en-AU" sz="2400" baseline="30000" dirty="0" smtClean="0"/>
              <a:t>2</a:t>
            </a:r>
            <a:endParaRPr lang="en-AU" sz="2400" baseline="30000" dirty="0"/>
          </a:p>
          <a:p>
            <a:pPr algn="ctr"/>
            <a:r>
              <a:rPr lang="en-AU" sz="1800" dirty="0">
                <a:solidFill>
                  <a:srgbClr val="ED0F0F"/>
                </a:solidFill>
              </a:rPr>
              <a:t>Because Volume is </a:t>
            </a:r>
            <a:r>
              <a:rPr lang="en-AU" sz="1800" dirty="0" smtClean="0">
                <a:solidFill>
                  <a:srgbClr val="ED0F0F"/>
                </a:solidFill>
              </a:rPr>
              <a:t>2 </a:t>
            </a:r>
            <a:r>
              <a:rPr lang="en-AU" sz="1800" dirty="0">
                <a:solidFill>
                  <a:srgbClr val="ED0F0F"/>
                </a:solidFill>
              </a:rPr>
              <a:t>– DIMENSIONAL!</a:t>
            </a:r>
          </a:p>
        </p:txBody>
      </p:sp>
      <p:sp>
        <p:nvSpPr>
          <p:cNvPr id="14" name="Text Box 40"/>
          <p:cNvSpPr txBox="1">
            <a:spLocks noChangeArrowheads="1"/>
          </p:cNvSpPr>
          <p:nvPr/>
        </p:nvSpPr>
        <p:spPr bwMode="auto">
          <a:xfrm>
            <a:off x="7564264" y="4833788"/>
            <a:ext cx="12242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dirty="0">
                <a:solidFill>
                  <a:srgbClr val="ED0F0F"/>
                </a:solidFill>
                <a:latin typeface="+mn-lt"/>
              </a:rPr>
              <a:t>May need </a:t>
            </a:r>
            <a:r>
              <a:rPr lang="en-US" sz="1200" dirty="0" err="1">
                <a:solidFill>
                  <a:srgbClr val="ED0F0F"/>
                </a:solidFill>
                <a:latin typeface="+mn-lt"/>
              </a:rPr>
              <a:t>Pythag</a:t>
            </a:r>
            <a:r>
              <a:rPr lang="en-US" sz="1200" dirty="0">
                <a:solidFill>
                  <a:srgbClr val="ED0F0F"/>
                </a:solidFill>
                <a:latin typeface="+mn-lt"/>
              </a:rPr>
              <a:t> to find L</a:t>
            </a:r>
            <a:endParaRPr lang="en-AU" sz="1200" dirty="0">
              <a:solidFill>
                <a:srgbClr val="ED0F0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848618" y="213582"/>
            <a:ext cx="48471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latin typeface="+mn-lt"/>
              </a:rPr>
              <a:t>2.1: TSA of a rectangular prism or cube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705087" y="1148191"/>
            <a:ext cx="1904256" cy="6096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99CC"/>
            </a:extrusionClr>
          </a:sp3d>
        </p:spPr>
        <p:txBody>
          <a:bodyPr wrap="none" anchor="ctr">
            <a:flatTx/>
          </a:bodyPr>
          <a:lstStyle/>
          <a:p>
            <a:endParaRPr lang="en-AU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97543" y="1770491"/>
            <a:ext cx="5193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AU" sz="1400" dirty="0">
                <a:latin typeface="Times New Roman" pitchFamily="18" charset="0"/>
              </a:rPr>
              <a:t>8m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012544" y="1450014"/>
            <a:ext cx="5193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AU" sz="1400" dirty="0">
                <a:latin typeface="Times New Roman" pitchFamily="18" charset="0"/>
              </a:rPr>
              <a:t>7m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330035" y="675315"/>
            <a:ext cx="5193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AU" sz="1400" dirty="0">
                <a:latin typeface="Times New Roman" pitchFamily="18" charset="0"/>
              </a:rPr>
              <a:t>6m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499110" y="2102601"/>
            <a:ext cx="31489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latin typeface="+mn-lt"/>
              </a:rPr>
              <a:t>Cut the box up into its 6 faces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476625" y="2325523"/>
            <a:ext cx="19335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latin typeface="+mn-lt"/>
              </a:rPr>
              <a:t>Front &amp; Back.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619500" y="2717620"/>
            <a:ext cx="2154555" cy="671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AU" sz="1400" dirty="0">
                <a:latin typeface="+mn-lt"/>
              </a:rPr>
              <a:t>2 of these, so SA </a:t>
            </a:r>
          </a:p>
          <a:p>
            <a:pPr eaLnBrk="1" hangingPunct="1">
              <a:spcBef>
                <a:spcPct val="50000"/>
              </a:spcBef>
            </a:pPr>
            <a:r>
              <a:rPr lang="en-AU" sz="1400" dirty="0">
                <a:latin typeface="+mn-lt"/>
              </a:rPr>
              <a:t>= 2 </a:t>
            </a:r>
            <a:r>
              <a:rPr lang="en-AU" sz="1400" dirty="0">
                <a:latin typeface="+mn-lt"/>
                <a:sym typeface="Symbol" pitchFamily="18" charset="2"/>
              </a:rPr>
              <a:t> 8  6 = </a:t>
            </a:r>
            <a:r>
              <a:rPr lang="en-AU" sz="1400" dirty="0">
                <a:solidFill>
                  <a:srgbClr val="D60093"/>
                </a:solidFill>
                <a:latin typeface="+mn-lt"/>
                <a:sym typeface="Symbol" pitchFamily="18" charset="2"/>
              </a:rPr>
              <a:t>96 m</a:t>
            </a:r>
            <a:r>
              <a:rPr lang="en-AU" sz="1400" baseline="30000" dirty="0">
                <a:solidFill>
                  <a:srgbClr val="D60093"/>
                </a:solidFill>
                <a:latin typeface="+mn-lt"/>
                <a:sym typeface="Symbol" pitchFamily="18" charset="2"/>
              </a:rPr>
              <a:t>2</a:t>
            </a:r>
            <a:endParaRPr lang="en-AU" sz="1400" dirty="0">
              <a:solidFill>
                <a:srgbClr val="D60093"/>
              </a:solidFill>
              <a:latin typeface="+mn-lt"/>
            </a:endParaRPr>
          </a:p>
        </p:txBody>
      </p: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3619124" y="2465176"/>
            <a:ext cx="2857501" cy="588434"/>
            <a:chOff x="1296" y="2928"/>
            <a:chExt cx="1632" cy="672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2496" y="3120"/>
              <a:ext cx="432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AU" sz="1400" dirty="0">
                  <a:latin typeface="+mn-lt"/>
                </a:rPr>
                <a:t>6m</a:t>
              </a: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1296" y="3024"/>
              <a:ext cx="1200" cy="57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1728" y="2928"/>
              <a:ext cx="432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AU" sz="1400" dirty="0">
                  <a:latin typeface="+mn-lt"/>
                </a:rPr>
                <a:t>8m</a:t>
              </a:r>
            </a:p>
          </p:txBody>
        </p:sp>
      </p:grpSp>
      <p:grpSp>
        <p:nvGrpSpPr>
          <p:cNvPr id="14" name="Group 23"/>
          <p:cNvGrpSpPr>
            <a:grpSpLocks/>
          </p:cNvGrpSpPr>
          <p:nvPr/>
        </p:nvGrpSpPr>
        <p:grpSpPr bwMode="auto">
          <a:xfrm>
            <a:off x="3324288" y="3657600"/>
            <a:ext cx="2602424" cy="644098"/>
            <a:chOff x="1200" y="1968"/>
            <a:chExt cx="1968" cy="816"/>
          </a:xfrm>
        </p:grpSpPr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200" y="2064"/>
              <a:ext cx="1728" cy="720"/>
            </a:xfrm>
            <a:prstGeom prst="rect">
              <a:avLst/>
            </a:prstGeom>
            <a:solidFill>
              <a:srgbClr val="F5F6FD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1776" y="1968"/>
              <a:ext cx="480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400" dirty="0">
                  <a:latin typeface="+mn-lt"/>
                </a:rPr>
                <a:t>8m</a:t>
              </a: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2688" y="2304"/>
              <a:ext cx="480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400" dirty="0">
                  <a:latin typeface="+mn-lt"/>
                </a:rPr>
                <a:t>7m</a:t>
              </a:r>
            </a:p>
          </p:txBody>
        </p:sp>
      </p:grp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6272212" y="3722762"/>
            <a:ext cx="193357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"/>
              </a:spcBef>
            </a:pPr>
            <a:r>
              <a:rPr lang="en-AU" sz="1400" dirty="0">
                <a:latin typeface="+mn-lt"/>
              </a:rPr>
              <a:t>Top &amp; Bottom.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6263640" y="4120879"/>
            <a:ext cx="2375535" cy="36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AU" sz="1400" dirty="0">
                <a:latin typeface="+mn-lt"/>
              </a:rPr>
              <a:t>2 of these, so SA </a:t>
            </a:r>
          </a:p>
          <a:p>
            <a:pPr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AU" sz="1400" dirty="0">
                <a:latin typeface="+mn-lt"/>
              </a:rPr>
              <a:t>= 2 </a:t>
            </a:r>
            <a:r>
              <a:rPr lang="en-AU" sz="1400" dirty="0">
                <a:latin typeface="+mn-lt"/>
                <a:sym typeface="Symbol" pitchFamily="18" charset="2"/>
              </a:rPr>
              <a:t> 8  7 = </a:t>
            </a:r>
            <a:r>
              <a:rPr lang="en-AU" sz="1400" dirty="0">
                <a:solidFill>
                  <a:srgbClr val="D60093"/>
                </a:solidFill>
                <a:latin typeface="+mn-lt"/>
                <a:sym typeface="Symbol" pitchFamily="18" charset="2"/>
              </a:rPr>
              <a:t>112 m</a:t>
            </a:r>
            <a:r>
              <a:rPr lang="en-AU" sz="1400" baseline="30000" dirty="0">
                <a:solidFill>
                  <a:srgbClr val="D60093"/>
                </a:solidFill>
                <a:latin typeface="+mn-lt"/>
                <a:sym typeface="Symbol" pitchFamily="18" charset="2"/>
              </a:rPr>
              <a:t>2</a:t>
            </a:r>
          </a:p>
        </p:txBody>
      </p:sp>
      <p:grpSp>
        <p:nvGrpSpPr>
          <p:cNvPr id="20" name="Group 22"/>
          <p:cNvGrpSpPr>
            <a:grpSpLocks/>
          </p:cNvGrpSpPr>
          <p:nvPr/>
        </p:nvGrpSpPr>
        <p:grpSpPr bwMode="auto">
          <a:xfrm>
            <a:off x="3406069" y="4876800"/>
            <a:ext cx="2866143" cy="712440"/>
            <a:chOff x="1200" y="3072"/>
            <a:chExt cx="1920" cy="864"/>
          </a:xfrm>
        </p:grpSpPr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1200" y="3312"/>
              <a:ext cx="1440" cy="624"/>
            </a:xfrm>
            <a:prstGeom prst="rect">
              <a:avLst/>
            </a:prstGeom>
            <a:solidFill>
              <a:srgbClr val="F36D5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AU" sz="2400">
                <a:solidFill>
                  <a:srgbClr val="F36D5F"/>
                </a:solidFill>
                <a:latin typeface="Times New Roman" pitchFamily="18" charset="0"/>
              </a:endParaRP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1728" y="3072"/>
              <a:ext cx="480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400" dirty="0">
                  <a:latin typeface="+mn-lt"/>
                </a:rPr>
                <a:t>7m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/>
          </p:nvSpPr>
          <p:spPr bwMode="auto">
            <a:xfrm>
              <a:off x="2640" y="3408"/>
              <a:ext cx="480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400" dirty="0">
                  <a:latin typeface="+mn-lt"/>
                </a:rPr>
                <a:t>6m</a:t>
              </a:r>
            </a:p>
          </p:txBody>
        </p:sp>
      </p:grp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6600824" y="5105400"/>
            <a:ext cx="193357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0000"/>
              </a:spcBef>
            </a:pPr>
            <a:r>
              <a:rPr lang="en-AU" sz="1400" dirty="0">
                <a:latin typeface="+mn-lt"/>
              </a:rPr>
              <a:t>Left &amp; right.</a:t>
            </a: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6490334" y="5486401"/>
            <a:ext cx="20440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0000"/>
              </a:spcBef>
            </a:pPr>
            <a:r>
              <a:rPr lang="en-AU" sz="1400" dirty="0">
                <a:latin typeface="+mn-lt"/>
              </a:rPr>
              <a:t>2 of these, so SA</a:t>
            </a:r>
          </a:p>
          <a:p>
            <a:pPr eaLnBrk="1" hangingPunct="1">
              <a:spcBef>
                <a:spcPct val="50000"/>
              </a:spcBef>
            </a:pPr>
            <a:r>
              <a:rPr lang="en-AU" sz="1400" dirty="0">
                <a:latin typeface="+mn-lt"/>
              </a:rPr>
              <a:t>= 2 </a:t>
            </a:r>
            <a:r>
              <a:rPr lang="en-AU" sz="1400" dirty="0">
                <a:latin typeface="+mn-lt"/>
                <a:sym typeface="Symbol" pitchFamily="18" charset="2"/>
              </a:rPr>
              <a:t> 6  7 = </a:t>
            </a:r>
            <a:r>
              <a:rPr lang="en-AU" sz="1400" dirty="0">
                <a:solidFill>
                  <a:srgbClr val="D60093"/>
                </a:solidFill>
                <a:latin typeface="+mn-lt"/>
                <a:sym typeface="Symbol" pitchFamily="18" charset="2"/>
              </a:rPr>
              <a:t>84m</a:t>
            </a:r>
            <a:r>
              <a:rPr lang="en-AU" sz="1400" baseline="30000" dirty="0">
                <a:solidFill>
                  <a:srgbClr val="D60093"/>
                </a:solidFill>
                <a:latin typeface="+mn-lt"/>
                <a:sym typeface="Symbol" pitchFamily="18" charset="2"/>
              </a:rPr>
              <a:t>2</a:t>
            </a:r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>
            <a:off x="3528744" y="3573016"/>
            <a:ext cx="530352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3611880" y="4800600"/>
            <a:ext cx="530352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4255770" y="6400800"/>
            <a:ext cx="29832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 dirty="0">
                <a:solidFill>
                  <a:srgbClr val="0000FF"/>
                </a:solidFill>
                <a:latin typeface="+mn-lt"/>
              </a:rPr>
              <a:t>TSA = 96 + 112 + 84 = 292m</a:t>
            </a:r>
            <a:r>
              <a:rPr lang="en-AU" sz="1600" baseline="30000" dirty="0">
                <a:solidFill>
                  <a:srgbClr val="0000FF"/>
                </a:solidFill>
                <a:latin typeface="+mn-lt"/>
              </a:rPr>
              <a:t>2</a:t>
            </a:r>
            <a:endParaRPr lang="en-AU" sz="16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2771800" y="-32491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rectangular prism or cube?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426735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cylinder?</a:t>
            </a:r>
            <a:endParaRPr lang="en-AU" sz="1600" dirty="0"/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1828800" y="184150"/>
            <a:ext cx="3657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dirty="0" smtClean="0">
                <a:latin typeface="+mn-lt"/>
              </a:rPr>
              <a:t>TSA </a:t>
            </a:r>
            <a:r>
              <a:rPr lang="en-AU" dirty="0">
                <a:latin typeface="+mn-lt"/>
              </a:rPr>
              <a:t>of a Cylinder</a:t>
            </a:r>
          </a:p>
        </p:txBody>
      </p:sp>
      <p:sp>
        <p:nvSpPr>
          <p:cNvPr id="33" name="Text Box 19"/>
          <p:cNvSpPr txBox="1">
            <a:spLocks noChangeArrowheads="1"/>
          </p:cNvSpPr>
          <p:nvPr/>
        </p:nvSpPr>
        <p:spPr bwMode="auto">
          <a:xfrm>
            <a:off x="2209800" y="4038600"/>
            <a:ext cx="19050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Closed both ends – </a:t>
            </a:r>
          </a:p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0000FF"/>
                </a:solidFill>
                <a:latin typeface="+mn-lt"/>
              </a:rPr>
              <a:t>3 surfaces</a:t>
            </a:r>
          </a:p>
        </p:txBody>
      </p:sp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4419600" y="4038600"/>
            <a:ext cx="19050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>
                <a:latin typeface="+mn-lt"/>
              </a:rPr>
              <a:t>Closed one end – </a:t>
            </a:r>
          </a:p>
          <a:p>
            <a:pPr eaLnBrk="1" hangingPunct="1">
              <a:spcBef>
                <a:spcPct val="50000"/>
              </a:spcBef>
            </a:pPr>
            <a:r>
              <a:rPr lang="en-AU" sz="2400" dirty="0">
                <a:solidFill>
                  <a:srgbClr val="0000FF"/>
                </a:solidFill>
                <a:latin typeface="+mn-lt"/>
              </a:rPr>
              <a:t>2 surfaces</a:t>
            </a:r>
          </a:p>
        </p:txBody>
      </p:sp>
      <p:sp>
        <p:nvSpPr>
          <p:cNvPr id="35" name="Text Box 21"/>
          <p:cNvSpPr txBox="1">
            <a:spLocks noChangeArrowheads="1"/>
          </p:cNvSpPr>
          <p:nvPr/>
        </p:nvSpPr>
        <p:spPr bwMode="auto">
          <a:xfrm>
            <a:off x="6705600" y="3962400"/>
            <a:ext cx="19050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Open both ends – </a:t>
            </a:r>
          </a:p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0000FF"/>
                </a:solidFill>
                <a:latin typeface="+mn-lt"/>
              </a:rPr>
              <a:t>1 surface</a:t>
            </a:r>
          </a:p>
        </p:txBody>
      </p:sp>
      <p:sp>
        <p:nvSpPr>
          <p:cNvPr id="36" name="Text Box 22"/>
          <p:cNvSpPr txBox="1">
            <a:spLocks noChangeArrowheads="1"/>
          </p:cNvSpPr>
          <p:nvPr/>
        </p:nvSpPr>
        <p:spPr bwMode="auto">
          <a:xfrm>
            <a:off x="2286000" y="5562600"/>
            <a:ext cx="1752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CC0099"/>
                </a:solidFill>
                <a:latin typeface="+mn-lt"/>
              </a:rPr>
              <a:t>1 curved wall</a:t>
            </a:r>
          </a:p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CC0099"/>
                </a:solidFill>
                <a:latin typeface="+mn-lt"/>
              </a:rPr>
              <a:t>2 circles</a:t>
            </a:r>
          </a:p>
        </p:txBody>
      </p:sp>
      <p:sp>
        <p:nvSpPr>
          <p:cNvPr id="37" name="Text Box 23"/>
          <p:cNvSpPr txBox="1">
            <a:spLocks noChangeArrowheads="1"/>
          </p:cNvSpPr>
          <p:nvPr/>
        </p:nvSpPr>
        <p:spPr bwMode="auto">
          <a:xfrm>
            <a:off x="6705600" y="5562600"/>
            <a:ext cx="1752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CC0099"/>
                </a:solidFill>
                <a:latin typeface="+mn-lt"/>
              </a:rPr>
              <a:t>The curved wall only</a:t>
            </a:r>
          </a:p>
          <a:p>
            <a:pPr eaLnBrk="1" hangingPunct="1">
              <a:spcBef>
                <a:spcPct val="50000"/>
              </a:spcBef>
            </a:pPr>
            <a:endParaRPr lang="en-AU">
              <a:solidFill>
                <a:srgbClr val="CC0099"/>
              </a:solidFill>
              <a:latin typeface="+mn-lt"/>
            </a:endParaRPr>
          </a:p>
        </p:txBody>
      </p:sp>
      <p:sp>
        <p:nvSpPr>
          <p:cNvPr id="38" name="Text Box 24"/>
          <p:cNvSpPr txBox="1">
            <a:spLocks noChangeArrowheads="1"/>
          </p:cNvSpPr>
          <p:nvPr/>
        </p:nvSpPr>
        <p:spPr bwMode="auto">
          <a:xfrm>
            <a:off x="4343400" y="5562600"/>
            <a:ext cx="1752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CC0099"/>
                </a:solidFill>
                <a:latin typeface="+mn-lt"/>
              </a:rPr>
              <a:t>1 curved wall</a:t>
            </a:r>
          </a:p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CC0099"/>
                </a:solidFill>
                <a:latin typeface="+mn-lt"/>
              </a:rPr>
              <a:t>1 circle</a:t>
            </a:r>
          </a:p>
        </p:txBody>
      </p:sp>
      <p:sp>
        <p:nvSpPr>
          <p:cNvPr id="39" name="Line 25"/>
          <p:cNvSpPr>
            <a:spLocks noChangeShapeType="1"/>
          </p:cNvSpPr>
          <p:nvPr/>
        </p:nvSpPr>
        <p:spPr bwMode="auto">
          <a:xfrm>
            <a:off x="4038600" y="1143000"/>
            <a:ext cx="0" cy="5410200"/>
          </a:xfrm>
          <a:prstGeom prst="line">
            <a:avLst/>
          </a:prstGeom>
          <a:noFill/>
          <a:ln w="57150">
            <a:solidFill>
              <a:srgbClr val="ED0F0F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40" name="Line 26"/>
          <p:cNvSpPr>
            <a:spLocks noChangeShapeType="1"/>
          </p:cNvSpPr>
          <p:nvPr/>
        </p:nvSpPr>
        <p:spPr bwMode="auto">
          <a:xfrm>
            <a:off x="6324600" y="1219200"/>
            <a:ext cx="0" cy="5410200"/>
          </a:xfrm>
          <a:prstGeom prst="line">
            <a:avLst/>
          </a:prstGeom>
          <a:noFill/>
          <a:ln w="57150">
            <a:solidFill>
              <a:srgbClr val="ED0F0F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grpSp>
        <p:nvGrpSpPr>
          <p:cNvPr id="41" name="Group 41"/>
          <p:cNvGrpSpPr>
            <a:grpSpLocks/>
          </p:cNvGrpSpPr>
          <p:nvPr/>
        </p:nvGrpSpPr>
        <p:grpSpPr bwMode="auto">
          <a:xfrm>
            <a:off x="6629400" y="1266825"/>
            <a:ext cx="2286000" cy="2238375"/>
            <a:chOff x="4176" y="798"/>
            <a:chExt cx="1440" cy="1410"/>
          </a:xfrm>
        </p:grpSpPr>
        <p:sp>
          <p:nvSpPr>
            <p:cNvPr id="42" name="Line 14"/>
            <p:cNvSpPr>
              <a:spLocks noChangeShapeType="1"/>
            </p:cNvSpPr>
            <p:nvPr/>
          </p:nvSpPr>
          <p:spPr bwMode="auto">
            <a:xfrm>
              <a:off x="5184" y="960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43" name="Text Box 29"/>
            <p:cNvSpPr txBox="1">
              <a:spLocks noChangeArrowheads="1"/>
            </p:cNvSpPr>
            <p:nvPr/>
          </p:nvSpPr>
          <p:spPr bwMode="auto">
            <a:xfrm>
              <a:off x="4512" y="139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latin typeface="+mn-lt"/>
                </a:rPr>
                <a:t>N</a:t>
              </a:r>
              <a:r>
                <a:rPr lang="en-AU" sz="2400" baseline="30000">
                  <a:latin typeface="+mn-lt"/>
                </a:rPr>
                <a:t>o </a:t>
              </a:r>
              <a:r>
                <a:rPr lang="en-AU" sz="2400">
                  <a:latin typeface="+mn-lt"/>
                </a:rPr>
                <a:t>3</a:t>
              </a:r>
            </a:p>
          </p:txBody>
        </p:sp>
        <p:sp>
          <p:nvSpPr>
            <p:cNvPr id="44" name="Oval 11"/>
            <p:cNvSpPr>
              <a:spLocks noChangeArrowheads="1"/>
            </p:cNvSpPr>
            <p:nvPr/>
          </p:nvSpPr>
          <p:spPr bwMode="auto">
            <a:xfrm>
              <a:off x="4176" y="912"/>
              <a:ext cx="1008" cy="144"/>
            </a:xfrm>
            <a:prstGeom prst="ellips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" name="Oval 12"/>
            <p:cNvSpPr>
              <a:spLocks noChangeArrowheads="1"/>
            </p:cNvSpPr>
            <p:nvPr/>
          </p:nvSpPr>
          <p:spPr bwMode="auto">
            <a:xfrm>
              <a:off x="4176" y="2064"/>
              <a:ext cx="1008" cy="144"/>
            </a:xfrm>
            <a:prstGeom prst="ellips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6" name="Line 13"/>
            <p:cNvSpPr>
              <a:spLocks noChangeShapeType="1"/>
            </p:cNvSpPr>
            <p:nvPr/>
          </p:nvSpPr>
          <p:spPr bwMode="auto">
            <a:xfrm>
              <a:off x="4176" y="960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47" name="Text Box 30"/>
            <p:cNvSpPr txBox="1">
              <a:spLocks noChangeArrowheads="1"/>
            </p:cNvSpPr>
            <p:nvPr/>
          </p:nvSpPr>
          <p:spPr bwMode="auto">
            <a:xfrm>
              <a:off x="5232" y="139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h</a:t>
              </a:r>
            </a:p>
          </p:txBody>
        </p:sp>
        <p:sp>
          <p:nvSpPr>
            <p:cNvPr id="48" name="Line 31"/>
            <p:cNvSpPr>
              <a:spLocks noChangeShapeType="1"/>
            </p:cNvSpPr>
            <p:nvPr/>
          </p:nvSpPr>
          <p:spPr bwMode="auto">
            <a:xfrm>
              <a:off x="5280" y="960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49" name="Text Box 32"/>
            <p:cNvSpPr txBox="1">
              <a:spLocks noChangeArrowheads="1"/>
            </p:cNvSpPr>
            <p:nvPr/>
          </p:nvSpPr>
          <p:spPr bwMode="auto">
            <a:xfrm>
              <a:off x="4842" y="79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r</a:t>
              </a:r>
            </a:p>
          </p:txBody>
        </p:sp>
        <p:sp>
          <p:nvSpPr>
            <p:cNvPr id="50" name="Line 33"/>
            <p:cNvSpPr>
              <a:spLocks noChangeShapeType="1"/>
            </p:cNvSpPr>
            <p:nvPr/>
          </p:nvSpPr>
          <p:spPr bwMode="auto">
            <a:xfrm>
              <a:off x="4704" y="86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51" name="Group 17"/>
          <p:cNvGrpSpPr>
            <a:grpSpLocks/>
          </p:cNvGrpSpPr>
          <p:nvPr/>
        </p:nvGrpSpPr>
        <p:grpSpPr bwMode="auto">
          <a:xfrm>
            <a:off x="4419600" y="1447800"/>
            <a:ext cx="1600200" cy="2133600"/>
            <a:chOff x="2784" y="912"/>
            <a:chExt cx="1008" cy="1344"/>
          </a:xfrm>
        </p:grpSpPr>
        <p:sp>
          <p:nvSpPr>
            <p:cNvPr id="52" name="Oval 7"/>
            <p:cNvSpPr>
              <a:spLocks noChangeArrowheads="1"/>
            </p:cNvSpPr>
            <p:nvPr/>
          </p:nvSpPr>
          <p:spPr bwMode="auto">
            <a:xfrm>
              <a:off x="2784" y="2016"/>
              <a:ext cx="1008" cy="240"/>
            </a:xfrm>
            <a:prstGeom prst="ellipse">
              <a:avLst/>
            </a:prstGeom>
            <a:solidFill>
              <a:schemeClr val="accent1"/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53" name="Line 8"/>
            <p:cNvSpPr>
              <a:spLocks noChangeShapeType="1"/>
            </p:cNvSpPr>
            <p:nvPr/>
          </p:nvSpPr>
          <p:spPr bwMode="auto">
            <a:xfrm>
              <a:off x="2784" y="960"/>
              <a:ext cx="0" cy="115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54" name="Line 9"/>
            <p:cNvSpPr>
              <a:spLocks noChangeShapeType="1"/>
            </p:cNvSpPr>
            <p:nvPr/>
          </p:nvSpPr>
          <p:spPr bwMode="auto">
            <a:xfrm>
              <a:off x="3792" y="960"/>
              <a:ext cx="0" cy="115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55" name="Oval 10"/>
            <p:cNvSpPr>
              <a:spLocks noChangeArrowheads="1"/>
            </p:cNvSpPr>
            <p:nvPr/>
          </p:nvSpPr>
          <p:spPr bwMode="auto">
            <a:xfrm>
              <a:off x="2784" y="912"/>
              <a:ext cx="1008" cy="144"/>
            </a:xfrm>
            <a:prstGeom prst="ellips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56" name="Text Box 28"/>
          <p:cNvSpPr txBox="1">
            <a:spLocks noChangeArrowheads="1"/>
          </p:cNvSpPr>
          <p:nvPr/>
        </p:nvSpPr>
        <p:spPr bwMode="auto">
          <a:xfrm>
            <a:off x="5029200" y="2286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>
                <a:latin typeface="+mn-lt"/>
              </a:rPr>
              <a:t>N</a:t>
            </a:r>
            <a:r>
              <a:rPr lang="en-AU" sz="2400" baseline="30000" dirty="0">
                <a:latin typeface="+mn-lt"/>
              </a:rPr>
              <a:t>o </a:t>
            </a:r>
            <a:r>
              <a:rPr lang="en-AU" sz="2400" dirty="0">
                <a:latin typeface="+mn-lt"/>
              </a:rPr>
              <a:t>2</a:t>
            </a:r>
          </a:p>
        </p:txBody>
      </p:sp>
      <p:grpSp>
        <p:nvGrpSpPr>
          <p:cNvPr id="57" name="Group 38"/>
          <p:cNvGrpSpPr>
            <a:grpSpLocks/>
          </p:cNvGrpSpPr>
          <p:nvPr/>
        </p:nvGrpSpPr>
        <p:grpSpPr bwMode="auto">
          <a:xfrm>
            <a:off x="1828800" y="1447800"/>
            <a:ext cx="1981200" cy="2133600"/>
            <a:chOff x="1152" y="912"/>
            <a:chExt cx="1248" cy="1344"/>
          </a:xfrm>
        </p:grpSpPr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776" y="144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latin typeface="+mn-lt"/>
                </a:rPr>
                <a:t>N</a:t>
              </a:r>
              <a:r>
                <a:rPr lang="en-AU" sz="2400" baseline="30000">
                  <a:latin typeface="+mn-lt"/>
                </a:rPr>
                <a:t>o </a:t>
              </a:r>
              <a:r>
                <a:rPr lang="en-AU" sz="2400">
                  <a:latin typeface="+mn-lt"/>
                </a:rPr>
                <a:t>1</a:t>
              </a:r>
            </a:p>
          </p:txBody>
        </p:sp>
        <p:grpSp>
          <p:nvGrpSpPr>
            <p:cNvPr id="59" name="Group 16"/>
            <p:cNvGrpSpPr>
              <a:grpSpLocks/>
            </p:cNvGrpSpPr>
            <p:nvPr/>
          </p:nvGrpSpPr>
          <p:grpSpPr bwMode="auto">
            <a:xfrm>
              <a:off x="1488" y="912"/>
              <a:ext cx="912" cy="1344"/>
              <a:chOff x="1488" y="912"/>
              <a:chExt cx="912" cy="1344"/>
            </a:xfrm>
          </p:grpSpPr>
          <p:sp>
            <p:nvSpPr>
              <p:cNvPr id="62" name="Oval 3"/>
              <p:cNvSpPr>
                <a:spLocks noChangeArrowheads="1"/>
              </p:cNvSpPr>
              <p:nvPr/>
            </p:nvSpPr>
            <p:spPr bwMode="auto">
              <a:xfrm>
                <a:off x="1488" y="2064"/>
                <a:ext cx="912" cy="192"/>
              </a:xfrm>
              <a:prstGeom prst="ellipse">
                <a:avLst/>
              </a:prstGeom>
              <a:solidFill>
                <a:schemeClr val="accent1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63" name="Oval 4"/>
              <p:cNvSpPr>
                <a:spLocks noChangeArrowheads="1"/>
              </p:cNvSpPr>
              <p:nvPr/>
            </p:nvSpPr>
            <p:spPr bwMode="auto">
              <a:xfrm>
                <a:off x="1488" y="912"/>
                <a:ext cx="912" cy="192"/>
              </a:xfrm>
              <a:prstGeom prst="ellipse">
                <a:avLst/>
              </a:prstGeom>
              <a:solidFill>
                <a:schemeClr val="accent1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64" name="Line 5"/>
              <p:cNvSpPr>
                <a:spLocks noChangeShapeType="1"/>
              </p:cNvSpPr>
              <p:nvPr/>
            </p:nvSpPr>
            <p:spPr bwMode="auto">
              <a:xfrm>
                <a:off x="1488" y="1008"/>
                <a:ext cx="0" cy="120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65" name="Line 6"/>
              <p:cNvSpPr>
                <a:spLocks noChangeShapeType="1"/>
              </p:cNvSpPr>
              <p:nvPr/>
            </p:nvSpPr>
            <p:spPr bwMode="auto">
              <a:xfrm>
                <a:off x="2400" y="1008"/>
                <a:ext cx="0" cy="1152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60" name="Text Box 35"/>
            <p:cNvSpPr txBox="1">
              <a:spLocks noChangeArrowheads="1"/>
            </p:cNvSpPr>
            <p:nvPr/>
          </p:nvSpPr>
          <p:spPr bwMode="auto">
            <a:xfrm>
              <a:off x="1152" y="144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h</a:t>
              </a:r>
            </a:p>
          </p:txBody>
        </p:sp>
        <p:sp>
          <p:nvSpPr>
            <p:cNvPr id="61" name="Line 36"/>
            <p:cNvSpPr>
              <a:spLocks noChangeShapeType="1"/>
            </p:cNvSpPr>
            <p:nvPr/>
          </p:nvSpPr>
          <p:spPr bwMode="auto">
            <a:xfrm>
              <a:off x="1344" y="1056"/>
              <a:ext cx="0" cy="115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66" name="Text Box 42"/>
          <p:cNvSpPr txBox="1">
            <a:spLocks noChangeArrowheads="1"/>
          </p:cNvSpPr>
          <p:nvPr/>
        </p:nvSpPr>
        <p:spPr bwMode="auto">
          <a:xfrm>
            <a:off x="5029200" y="450850"/>
            <a:ext cx="216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>
                <a:solidFill>
                  <a:srgbClr val="006600"/>
                </a:solidFill>
                <a:latin typeface="+mn-lt"/>
              </a:rPr>
              <a:t>3 types</a:t>
            </a:r>
          </a:p>
        </p:txBody>
      </p:sp>
    </p:spTree>
    <p:extLst>
      <p:ext uri="{BB962C8B-B14F-4D97-AF65-F5344CB8AC3E}">
        <p14:creationId xmlns:p14="http://schemas.microsoft.com/office/powerpoint/2010/main" val="126836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cylinder?</a:t>
            </a:r>
            <a:endParaRPr lang="en-AU" sz="1600" dirty="0"/>
          </a:p>
        </p:txBody>
      </p:sp>
      <p:sp>
        <p:nvSpPr>
          <p:cNvPr id="67" name="Text Box 2"/>
          <p:cNvSpPr txBox="1">
            <a:spLocks noChangeArrowheads="1"/>
          </p:cNvSpPr>
          <p:nvPr/>
        </p:nvSpPr>
        <p:spPr bwMode="auto">
          <a:xfrm>
            <a:off x="1892300" y="228600"/>
            <a:ext cx="5638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>
                <a:latin typeface="+mn-lt"/>
              </a:rPr>
              <a:t>Finding the formula for the area of curved wall</a:t>
            </a:r>
          </a:p>
        </p:txBody>
      </p:sp>
      <p:grpSp>
        <p:nvGrpSpPr>
          <p:cNvPr id="68" name="Group 48"/>
          <p:cNvGrpSpPr>
            <a:grpSpLocks/>
          </p:cNvGrpSpPr>
          <p:nvPr/>
        </p:nvGrpSpPr>
        <p:grpSpPr bwMode="auto">
          <a:xfrm>
            <a:off x="2349500" y="1752600"/>
            <a:ext cx="2286000" cy="2314575"/>
            <a:chOff x="1344" y="1104"/>
            <a:chExt cx="1440" cy="1458"/>
          </a:xfrm>
        </p:grpSpPr>
        <p:sp>
          <p:nvSpPr>
            <p:cNvPr id="69" name="Oval 5"/>
            <p:cNvSpPr>
              <a:spLocks noChangeArrowheads="1"/>
            </p:cNvSpPr>
            <p:nvPr/>
          </p:nvSpPr>
          <p:spPr bwMode="auto">
            <a:xfrm>
              <a:off x="1344" y="1266"/>
              <a:ext cx="1008" cy="144"/>
            </a:xfrm>
            <a:prstGeom prst="ellipse">
              <a:avLst/>
            </a:prstGeom>
            <a:noFill/>
            <a:ln w="38100" cap="sq">
              <a:solidFill>
                <a:srgbClr val="ED0F0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70" name="Oval 6"/>
            <p:cNvSpPr>
              <a:spLocks noChangeArrowheads="1"/>
            </p:cNvSpPr>
            <p:nvPr/>
          </p:nvSpPr>
          <p:spPr bwMode="auto">
            <a:xfrm>
              <a:off x="1344" y="2418"/>
              <a:ext cx="1008" cy="14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>
              <a:off x="1344" y="1314"/>
              <a:ext cx="0" cy="1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72" name="Line 8"/>
            <p:cNvSpPr>
              <a:spLocks noChangeShapeType="1"/>
            </p:cNvSpPr>
            <p:nvPr/>
          </p:nvSpPr>
          <p:spPr bwMode="auto">
            <a:xfrm>
              <a:off x="2352" y="1314"/>
              <a:ext cx="0" cy="1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2400" y="174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h</a:t>
              </a:r>
            </a:p>
          </p:txBody>
        </p:sp>
        <p:sp>
          <p:nvSpPr>
            <p:cNvPr id="74" name="Line 10"/>
            <p:cNvSpPr>
              <a:spLocks noChangeShapeType="1"/>
            </p:cNvSpPr>
            <p:nvPr/>
          </p:nvSpPr>
          <p:spPr bwMode="auto">
            <a:xfrm>
              <a:off x="2448" y="1314"/>
              <a:ext cx="0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75" name="Text Box 11"/>
            <p:cNvSpPr txBox="1">
              <a:spLocks noChangeArrowheads="1"/>
            </p:cNvSpPr>
            <p:nvPr/>
          </p:nvSpPr>
          <p:spPr bwMode="auto">
            <a:xfrm>
              <a:off x="1488" y="110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r</a:t>
              </a:r>
            </a:p>
          </p:txBody>
        </p:sp>
        <p:sp>
          <p:nvSpPr>
            <p:cNvPr id="76" name="Line 12"/>
            <p:cNvSpPr>
              <a:spLocks noChangeShapeType="1"/>
            </p:cNvSpPr>
            <p:nvPr/>
          </p:nvSpPr>
          <p:spPr bwMode="auto">
            <a:xfrm>
              <a:off x="1344" y="120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77" name="Text Box 14"/>
          <p:cNvSpPr txBox="1">
            <a:spLocks noChangeArrowheads="1"/>
          </p:cNvSpPr>
          <p:nvPr/>
        </p:nvSpPr>
        <p:spPr bwMode="auto">
          <a:xfrm>
            <a:off x="2044700" y="4191000"/>
            <a:ext cx="2743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200">
                <a:latin typeface="+mn-lt"/>
              </a:rPr>
              <a:t>Begin with an open-ended  cylinder</a:t>
            </a:r>
          </a:p>
        </p:txBody>
      </p:sp>
      <p:sp>
        <p:nvSpPr>
          <p:cNvPr id="78" name="Line 15"/>
          <p:cNvSpPr>
            <a:spLocks noChangeShapeType="1"/>
          </p:cNvSpPr>
          <p:nvPr/>
        </p:nvSpPr>
        <p:spPr bwMode="auto">
          <a:xfrm flipV="1">
            <a:off x="4787900" y="2209800"/>
            <a:ext cx="685800" cy="685800"/>
          </a:xfrm>
          <a:prstGeom prst="line">
            <a:avLst/>
          </a:prstGeom>
          <a:noFill/>
          <a:ln w="7620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grpSp>
        <p:nvGrpSpPr>
          <p:cNvPr id="79" name="Group 17"/>
          <p:cNvGrpSpPr>
            <a:grpSpLocks/>
          </p:cNvGrpSpPr>
          <p:nvPr/>
        </p:nvGrpSpPr>
        <p:grpSpPr bwMode="auto">
          <a:xfrm>
            <a:off x="5778500" y="914400"/>
            <a:ext cx="2286000" cy="2238375"/>
            <a:chOff x="1344" y="1152"/>
            <a:chExt cx="1440" cy="1410"/>
          </a:xfrm>
        </p:grpSpPr>
        <p:sp>
          <p:nvSpPr>
            <p:cNvPr id="80" name="Oval 18"/>
            <p:cNvSpPr>
              <a:spLocks noChangeArrowheads="1"/>
            </p:cNvSpPr>
            <p:nvPr/>
          </p:nvSpPr>
          <p:spPr bwMode="auto">
            <a:xfrm>
              <a:off x="1344" y="1266"/>
              <a:ext cx="1008" cy="144"/>
            </a:xfrm>
            <a:prstGeom prst="ellipse">
              <a:avLst/>
            </a:prstGeom>
            <a:noFill/>
            <a:ln w="38100" cap="sq">
              <a:solidFill>
                <a:srgbClr val="ED0F0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81" name="Oval 19"/>
            <p:cNvSpPr>
              <a:spLocks noChangeArrowheads="1"/>
            </p:cNvSpPr>
            <p:nvPr/>
          </p:nvSpPr>
          <p:spPr bwMode="auto">
            <a:xfrm>
              <a:off x="1344" y="2418"/>
              <a:ext cx="1008" cy="14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82" name="Line 20"/>
            <p:cNvSpPr>
              <a:spLocks noChangeShapeType="1"/>
            </p:cNvSpPr>
            <p:nvPr/>
          </p:nvSpPr>
          <p:spPr bwMode="auto">
            <a:xfrm>
              <a:off x="1344" y="1314"/>
              <a:ext cx="0" cy="1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83" name="Line 21"/>
            <p:cNvSpPr>
              <a:spLocks noChangeShapeType="1"/>
            </p:cNvSpPr>
            <p:nvPr/>
          </p:nvSpPr>
          <p:spPr bwMode="auto">
            <a:xfrm>
              <a:off x="2352" y="1314"/>
              <a:ext cx="0" cy="1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84" name="Text Box 22"/>
            <p:cNvSpPr txBox="1">
              <a:spLocks noChangeArrowheads="1"/>
            </p:cNvSpPr>
            <p:nvPr/>
          </p:nvSpPr>
          <p:spPr bwMode="auto">
            <a:xfrm>
              <a:off x="2400" y="174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h</a:t>
              </a:r>
            </a:p>
          </p:txBody>
        </p:sp>
        <p:sp>
          <p:nvSpPr>
            <p:cNvPr id="85" name="Line 23"/>
            <p:cNvSpPr>
              <a:spLocks noChangeShapeType="1"/>
            </p:cNvSpPr>
            <p:nvPr/>
          </p:nvSpPr>
          <p:spPr bwMode="auto">
            <a:xfrm>
              <a:off x="2448" y="1314"/>
              <a:ext cx="0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86" name="Text Box 24"/>
            <p:cNvSpPr txBox="1">
              <a:spLocks noChangeArrowheads="1"/>
            </p:cNvSpPr>
            <p:nvPr/>
          </p:nvSpPr>
          <p:spPr bwMode="auto">
            <a:xfrm>
              <a:off x="2010" y="115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r</a:t>
              </a:r>
            </a:p>
          </p:txBody>
        </p:sp>
        <p:sp>
          <p:nvSpPr>
            <p:cNvPr id="87" name="Line 25"/>
            <p:cNvSpPr>
              <a:spLocks noChangeShapeType="1"/>
            </p:cNvSpPr>
            <p:nvPr/>
          </p:nvSpPr>
          <p:spPr bwMode="auto">
            <a:xfrm>
              <a:off x="1872" y="121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88" name="Text Box 27"/>
          <p:cNvSpPr txBox="1">
            <a:spLocks noChangeArrowheads="1"/>
          </p:cNvSpPr>
          <p:nvPr/>
        </p:nvSpPr>
        <p:spPr bwMode="auto">
          <a:xfrm>
            <a:off x="5854700" y="3429000"/>
            <a:ext cx="3733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+mn-lt"/>
              </a:rPr>
              <a:t>Cut it up the side. The red circumference (2</a:t>
            </a:r>
            <a:r>
              <a:rPr lang="en-AU">
                <a:latin typeface="+mn-lt"/>
                <a:sym typeface="Symbol" pitchFamily="18" charset="2"/>
              </a:rPr>
              <a:t>r) </a:t>
            </a:r>
            <a:r>
              <a:rPr lang="en-AU">
                <a:latin typeface="+mn-lt"/>
              </a:rPr>
              <a:t>above becomes the red length below </a:t>
            </a:r>
          </a:p>
        </p:txBody>
      </p:sp>
      <p:grpSp>
        <p:nvGrpSpPr>
          <p:cNvPr id="89" name="Group 31"/>
          <p:cNvGrpSpPr>
            <a:grpSpLocks/>
          </p:cNvGrpSpPr>
          <p:nvPr/>
        </p:nvGrpSpPr>
        <p:grpSpPr bwMode="auto">
          <a:xfrm>
            <a:off x="6273800" y="1371600"/>
            <a:ext cx="457200" cy="2247900"/>
            <a:chOff x="3816" y="864"/>
            <a:chExt cx="288" cy="1416"/>
          </a:xfrm>
        </p:grpSpPr>
        <p:sp>
          <p:nvSpPr>
            <p:cNvPr id="90" name="Line 29"/>
            <p:cNvSpPr>
              <a:spLocks noChangeShapeType="1"/>
            </p:cNvSpPr>
            <p:nvPr/>
          </p:nvSpPr>
          <p:spPr bwMode="auto">
            <a:xfrm>
              <a:off x="3936" y="864"/>
              <a:ext cx="0" cy="1104"/>
            </a:xfrm>
            <a:prstGeom prst="line">
              <a:avLst/>
            </a:prstGeom>
            <a:noFill/>
            <a:ln w="76200">
              <a:solidFill>
                <a:srgbClr val="0066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91" name="Text Box 30"/>
            <p:cNvSpPr txBox="1">
              <a:spLocks noChangeArrowheads="1"/>
            </p:cNvSpPr>
            <p:nvPr/>
          </p:nvSpPr>
          <p:spPr bwMode="auto">
            <a:xfrm rot="-5620778">
              <a:off x="3792" y="19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solidFill>
                    <a:srgbClr val="660066"/>
                  </a:solidFill>
                  <a:latin typeface="+mn-lt"/>
                  <a:sym typeface="Wingdings" pitchFamily="2" charset="2"/>
                </a:rPr>
                <a:t></a:t>
              </a:r>
              <a:endParaRPr lang="en-AU" sz="2400">
                <a:solidFill>
                  <a:srgbClr val="660066"/>
                </a:solidFill>
                <a:latin typeface="+mn-lt"/>
              </a:endParaRPr>
            </a:p>
          </p:txBody>
        </p:sp>
      </p:grpSp>
      <p:grpSp>
        <p:nvGrpSpPr>
          <p:cNvPr id="92" name="Group 51"/>
          <p:cNvGrpSpPr>
            <a:grpSpLocks/>
          </p:cNvGrpSpPr>
          <p:nvPr/>
        </p:nvGrpSpPr>
        <p:grpSpPr bwMode="auto">
          <a:xfrm>
            <a:off x="5321300" y="4724400"/>
            <a:ext cx="3657600" cy="1447800"/>
            <a:chOff x="3216" y="2976"/>
            <a:chExt cx="2304" cy="912"/>
          </a:xfrm>
        </p:grpSpPr>
        <p:grpSp>
          <p:nvGrpSpPr>
            <p:cNvPr id="93" name="Group 50"/>
            <p:cNvGrpSpPr>
              <a:grpSpLocks/>
            </p:cNvGrpSpPr>
            <p:nvPr/>
          </p:nvGrpSpPr>
          <p:grpSpPr bwMode="auto">
            <a:xfrm>
              <a:off x="3264" y="2976"/>
              <a:ext cx="2256" cy="912"/>
              <a:chOff x="3216" y="2928"/>
              <a:chExt cx="2256" cy="912"/>
            </a:xfrm>
          </p:grpSpPr>
          <p:sp>
            <p:nvSpPr>
              <p:cNvPr id="95" name="Rectangle 34"/>
              <p:cNvSpPr>
                <a:spLocks noChangeArrowheads="1"/>
              </p:cNvSpPr>
              <p:nvPr/>
            </p:nvSpPr>
            <p:spPr bwMode="auto">
              <a:xfrm>
                <a:off x="3216" y="2928"/>
                <a:ext cx="1872" cy="912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6" name="Line 35"/>
              <p:cNvSpPr>
                <a:spLocks noChangeShapeType="1"/>
              </p:cNvSpPr>
              <p:nvPr/>
            </p:nvSpPr>
            <p:spPr bwMode="auto">
              <a:xfrm>
                <a:off x="3216" y="2928"/>
                <a:ext cx="1872" cy="0"/>
              </a:xfrm>
              <a:prstGeom prst="line">
                <a:avLst/>
              </a:prstGeom>
              <a:noFill/>
              <a:ln w="57150" cap="sq">
                <a:solidFill>
                  <a:srgbClr val="ED0F0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97" name="Text Box 36"/>
              <p:cNvSpPr txBox="1">
                <a:spLocks noChangeArrowheads="1"/>
              </p:cNvSpPr>
              <p:nvPr/>
            </p:nvSpPr>
            <p:spPr bwMode="auto">
              <a:xfrm>
                <a:off x="5136" y="316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AU" sz="2400" i="1">
                    <a:latin typeface="+mn-lt"/>
                  </a:rPr>
                  <a:t>h</a:t>
                </a:r>
              </a:p>
            </p:txBody>
          </p:sp>
          <p:sp>
            <p:nvSpPr>
              <p:cNvPr id="98" name="Text Box 37"/>
              <p:cNvSpPr txBox="1">
                <a:spLocks noChangeArrowheads="1"/>
              </p:cNvSpPr>
              <p:nvPr/>
            </p:nvSpPr>
            <p:spPr bwMode="auto">
              <a:xfrm>
                <a:off x="3936" y="297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AU" sz="2400">
                    <a:latin typeface="+mn-lt"/>
                  </a:rPr>
                  <a:t>2</a:t>
                </a:r>
                <a:r>
                  <a:rPr lang="en-AU" sz="2400">
                    <a:latin typeface="+mn-lt"/>
                    <a:sym typeface="Symbol" pitchFamily="18" charset="2"/>
                  </a:rPr>
                  <a:t>r</a:t>
                </a:r>
                <a:endParaRPr lang="en-AU" sz="2400">
                  <a:latin typeface="+mn-lt"/>
                </a:endParaRPr>
              </a:p>
            </p:txBody>
          </p:sp>
          <p:sp>
            <p:nvSpPr>
              <p:cNvPr id="99" name="Line 38"/>
              <p:cNvSpPr>
                <a:spLocks noChangeShapeType="1"/>
              </p:cNvSpPr>
              <p:nvPr/>
            </p:nvSpPr>
            <p:spPr bwMode="auto">
              <a:xfrm>
                <a:off x="4368" y="3120"/>
                <a:ext cx="72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prstDash val="sysDot"/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94" name="Line 39"/>
            <p:cNvSpPr>
              <a:spLocks noChangeShapeType="1"/>
            </p:cNvSpPr>
            <p:nvPr/>
          </p:nvSpPr>
          <p:spPr bwMode="auto">
            <a:xfrm flipH="1">
              <a:off x="3216" y="3168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100" name="Line 40"/>
          <p:cNvSpPr>
            <a:spLocks noChangeShapeType="1"/>
          </p:cNvSpPr>
          <p:nvPr/>
        </p:nvSpPr>
        <p:spPr bwMode="auto">
          <a:xfrm flipH="1">
            <a:off x="4635500" y="5486400"/>
            <a:ext cx="609600" cy="0"/>
          </a:xfrm>
          <a:prstGeom prst="line">
            <a:avLst/>
          </a:prstGeom>
          <a:noFill/>
          <a:ln w="7620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01" name="Line 42"/>
          <p:cNvSpPr>
            <a:spLocks noChangeShapeType="1"/>
          </p:cNvSpPr>
          <p:nvPr/>
        </p:nvSpPr>
        <p:spPr bwMode="auto">
          <a:xfrm>
            <a:off x="5778500" y="3124200"/>
            <a:ext cx="0" cy="1219200"/>
          </a:xfrm>
          <a:prstGeom prst="line">
            <a:avLst/>
          </a:prstGeom>
          <a:noFill/>
          <a:ln w="5715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grpSp>
        <p:nvGrpSpPr>
          <p:cNvPr id="102" name="Group 52"/>
          <p:cNvGrpSpPr>
            <a:grpSpLocks/>
          </p:cNvGrpSpPr>
          <p:nvPr/>
        </p:nvGrpSpPr>
        <p:grpSpPr bwMode="auto">
          <a:xfrm>
            <a:off x="3492500" y="1219200"/>
            <a:ext cx="2286000" cy="762000"/>
            <a:chOff x="2064" y="768"/>
            <a:chExt cx="1440" cy="480"/>
          </a:xfrm>
        </p:grpSpPr>
        <p:sp>
          <p:nvSpPr>
            <p:cNvPr id="103" name="Text Box 43"/>
            <p:cNvSpPr txBox="1">
              <a:spLocks noChangeArrowheads="1"/>
            </p:cNvSpPr>
            <p:nvPr/>
          </p:nvSpPr>
          <p:spPr bwMode="auto">
            <a:xfrm>
              <a:off x="2400" y="816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solidFill>
                    <a:srgbClr val="ED0F0F"/>
                  </a:solidFill>
                  <a:latin typeface="+mn-lt"/>
                </a:rPr>
                <a:t>C=2</a:t>
              </a:r>
              <a:r>
                <a:rPr lang="en-AU" sz="2400">
                  <a:solidFill>
                    <a:srgbClr val="ED0F0F"/>
                  </a:solidFill>
                  <a:latin typeface="+mn-lt"/>
                  <a:sym typeface="Symbol" pitchFamily="18" charset="2"/>
                </a:rPr>
                <a:t>r</a:t>
              </a:r>
            </a:p>
          </p:txBody>
        </p:sp>
        <p:sp>
          <p:nvSpPr>
            <p:cNvPr id="104" name="Line 45"/>
            <p:cNvSpPr>
              <a:spLocks noChangeShapeType="1"/>
            </p:cNvSpPr>
            <p:nvPr/>
          </p:nvSpPr>
          <p:spPr bwMode="auto">
            <a:xfrm flipV="1">
              <a:off x="3072" y="768"/>
              <a:ext cx="432" cy="96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05" name="Line 47"/>
            <p:cNvSpPr>
              <a:spLocks noChangeShapeType="1"/>
            </p:cNvSpPr>
            <p:nvPr/>
          </p:nvSpPr>
          <p:spPr bwMode="auto">
            <a:xfrm flipH="1">
              <a:off x="2064" y="1056"/>
              <a:ext cx="384" cy="192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106" name="Group 53"/>
          <p:cNvGrpSpPr>
            <a:grpSpLocks/>
          </p:cNvGrpSpPr>
          <p:nvPr/>
        </p:nvGrpSpPr>
        <p:grpSpPr bwMode="auto">
          <a:xfrm>
            <a:off x="1892300" y="5410200"/>
            <a:ext cx="2590800" cy="685800"/>
            <a:chOff x="1056" y="3408"/>
            <a:chExt cx="1632" cy="432"/>
          </a:xfrm>
        </p:grpSpPr>
        <p:sp>
          <p:nvSpPr>
            <p:cNvPr id="107" name="Text Box 41"/>
            <p:cNvSpPr txBox="1">
              <a:spLocks noChangeArrowheads="1"/>
            </p:cNvSpPr>
            <p:nvPr/>
          </p:nvSpPr>
          <p:spPr bwMode="auto">
            <a:xfrm>
              <a:off x="1104" y="3408"/>
              <a:ext cx="15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3200">
                  <a:solidFill>
                    <a:srgbClr val="660066"/>
                  </a:solidFill>
                  <a:latin typeface="+mn-lt"/>
                </a:rPr>
                <a:t>Area = 2</a:t>
              </a:r>
              <a:r>
                <a:rPr lang="en-AU" sz="3200">
                  <a:solidFill>
                    <a:srgbClr val="660066"/>
                  </a:solidFill>
                  <a:latin typeface="+mn-lt"/>
                  <a:sym typeface="Symbol" pitchFamily="18" charset="2"/>
                </a:rPr>
                <a:t>rh</a:t>
              </a:r>
            </a:p>
          </p:txBody>
        </p:sp>
        <p:sp>
          <p:nvSpPr>
            <p:cNvPr id="108" name="Rectangle 49"/>
            <p:cNvSpPr>
              <a:spLocks noChangeArrowheads="1"/>
            </p:cNvSpPr>
            <p:nvPr/>
          </p:nvSpPr>
          <p:spPr bwMode="auto">
            <a:xfrm>
              <a:off x="1056" y="3408"/>
              <a:ext cx="1584" cy="432"/>
            </a:xfrm>
            <a:prstGeom prst="rect">
              <a:avLst/>
            </a:prstGeom>
            <a:noFill/>
            <a:ln w="50800" cap="sq">
              <a:solidFill>
                <a:srgbClr val="FFFF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80009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cylinder?</a:t>
            </a:r>
            <a:endParaRPr lang="en-AU" sz="1600" dirty="0"/>
          </a:p>
        </p:txBody>
      </p:sp>
      <p:sp>
        <p:nvSpPr>
          <p:cNvPr id="46" name="Text Box 2"/>
          <p:cNvSpPr txBox="1">
            <a:spLocks noChangeArrowheads="1"/>
          </p:cNvSpPr>
          <p:nvPr/>
        </p:nvSpPr>
        <p:spPr bwMode="auto">
          <a:xfrm>
            <a:off x="1866900" y="546100"/>
            <a:ext cx="533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Example – find the surface area of this cylinder closed at one end....</a:t>
            </a:r>
          </a:p>
        </p:txBody>
      </p:sp>
      <p:grpSp>
        <p:nvGrpSpPr>
          <p:cNvPr id="47" name="Group 24"/>
          <p:cNvGrpSpPr>
            <a:grpSpLocks/>
          </p:cNvGrpSpPr>
          <p:nvPr/>
        </p:nvGrpSpPr>
        <p:grpSpPr bwMode="auto">
          <a:xfrm>
            <a:off x="2552700" y="1841500"/>
            <a:ext cx="2590800" cy="2209800"/>
            <a:chOff x="1344" y="1152"/>
            <a:chExt cx="1632" cy="1392"/>
          </a:xfrm>
        </p:grpSpPr>
        <p:sp>
          <p:nvSpPr>
            <p:cNvPr id="48" name="Oval 4"/>
            <p:cNvSpPr>
              <a:spLocks noChangeArrowheads="1"/>
            </p:cNvSpPr>
            <p:nvPr/>
          </p:nvSpPr>
          <p:spPr bwMode="auto">
            <a:xfrm>
              <a:off x="1344" y="1266"/>
              <a:ext cx="1008" cy="144"/>
            </a:xfrm>
            <a:prstGeom prst="ellips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9" name="Oval 5"/>
            <p:cNvSpPr>
              <a:spLocks noChangeArrowheads="1"/>
            </p:cNvSpPr>
            <p:nvPr/>
          </p:nvSpPr>
          <p:spPr bwMode="auto">
            <a:xfrm>
              <a:off x="1344" y="2418"/>
              <a:ext cx="1008" cy="126"/>
            </a:xfrm>
            <a:prstGeom prst="ellipse">
              <a:avLst/>
            </a:prstGeom>
            <a:solidFill>
              <a:srgbClr val="993366"/>
            </a:solidFill>
            <a:ln w="28575" cap="sq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50" name="Line 6"/>
            <p:cNvSpPr>
              <a:spLocks noChangeShapeType="1"/>
            </p:cNvSpPr>
            <p:nvPr/>
          </p:nvSpPr>
          <p:spPr bwMode="auto">
            <a:xfrm>
              <a:off x="1344" y="1314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51" name="Line 7"/>
            <p:cNvSpPr>
              <a:spLocks noChangeShapeType="1"/>
            </p:cNvSpPr>
            <p:nvPr/>
          </p:nvSpPr>
          <p:spPr bwMode="auto">
            <a:xfrm>
              <a:off x="2352" y="1314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52" name="Text Box 8"/>
            <p:cNvSpPr txBox="1">
              <a:spLocks noChangeArrowheads="1"/>
            </p:cNvSpPr>
            <p:nvPr/>
          </p:nvSpPr>
          <p:spPr bwMode="auto">
            <a:xfrm>
              <a:off x="2400" y="1746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latin typeface="+mn-lt"/>
                </a:rPr>
                <a:t>8 </a:t>
              </a:r>
              <a:r>
                <a:rPr lang="en-AU" sz="2400" i="1">
                  <a:latin typeface="+mn-lt"/>
                </a:rPr>
                <a:t>cm</a:t>
              </a:r>
            </a:p>
          </p:txBody>
        </p:sp>
        <p:sp>
          <p:nvSpPr>
            <p:cNvPr id="53" name="Line 9"/>
            <p:cNvSpPr>
              <a:spLocks noChangeShapeType="1"/>
            </p:cNvSpPr>
            <p:nvPr/>
          </p:nvSpPr>
          <p:spPr bwMode="auto">
            <a:xfrm>
              <a:off x="2448" y="1314"/>
              <a:ext cx="0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54" name="Text Box 10"/>
            <p:cNvSpPr txBox="1">
              <a:spLocks noChangeArrowheads="1"/>
            </p:cNvSpPr>
            <p:nvPr/>
          </p:nvSpPr>
          <p:spPr bwMode="auto">
            <a:xfrm>
              <a:off x="1392" y="115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latin typeface="+mn-lt"/>
                </a:rPr>
                <a:t>3 </a:t>
              </a:r>
              <a:r>
                <a:rPr lang="en-AU" sz="2400" i="1">
                  <a:latin typeface="+mn-lt"/>
                </a:rPr>
                <a:t>cm</a:t>
              </a:r>
              <a:endParaRPr lang="en-AU" sz="2400">
                <a:latin typeface="+mn-lt"/>
              </a:endParaRPr>
            </a:p>
          </p:txBody>
        </p:sp>
        <p:sp>
          <p:nvSpPr>
            <p:cNvPr id="55" name="Line 11"/>
            <p:cNvSpPr>
              <a:spLocks noChangeShapeType="1"/>
            </p:cNvSpPr>
            <p:nvPr/>
          </p:nvSpPr>
          <p:spPr bwMode="auto">
            <a:xfrm>
              <a:off x="1344" y="120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56" name="Text Box 13"/>
          <p:cNvSpPr txBox="1">
            <a:spLocks noChangeArrowheads="1"/>
          </p:cNvSpPr>
          <p:nvPr/>
        </p:nvSpPr>
        <p:spPr bwMode="auto">
          <a:xfrm>
            <a:off x="5524500" y="21463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We have two areas...</a:t>
            </a:r>
          </a:p>
        </p:txBody>
      </p:sp>
      <p:sp>
        <p:nvSpPr>
          <p:cNvPr id="57" name="Text Box 14"/>
          <p:cNvSpPr txBox="1">
            <a:spLocks noChangeArrowheads="1"/>
          </p:cNvSpPr>
          <p:nvPr/>
        </p:nvSpPr>
        <p:spPr bwMode="auto">
          <a:xfrm>
            <a:off x="5219700" y="30607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Base</a:t>
            </a:r>
          </a:p>
        </p:txBody>
      </p:sp>
      <p:sp>
        <p:nvSpPr>
          <p:cNvPr id="58" name="Text Box 15"/>
          <p:cNvSpPr txBox="1">
            <a:spLocks noChangeArrowheads="1"/>
          </p:cNvSpPr>
          <p:nvPr/>
        </p:nvSpPr>
        <p:spPr bwMode="auto">
          <a:xfrm>
            <a:off x="6667500" y="30607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Curved wall</a:t>
            </a:r>
          </a:p>
        </p:txBody>
      </p:sp>
      <p:sp>
        <p:nvSpPr>
          <p:cNvPr id="59" name="Line 16"/>
          <p:cNvSpPr>
            <a:spLocks noChangeShapeType="1"/>
          </p:cNvSpPr>
          <p:nvPr/>
        </p:nvSpPr>
        <p:spPr bwMode="auto">
          <a:xfrm>
            <a:off x="6515100" y="3213100"/>
            <a:ext cx="0" cy="2057400"/>
          </a:xfrm>
          <a:prstGeom prst="line">
            <a:avLst/>
          </a:prstGeom>
          <a:noFill/>
          <a:ln w="57150">
            <a:solidFill>
              <a:srgbClr val="D6009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60" name="Text Box 17"/>
          <p:cNvSpPr txBox="1">
            <a:spLocks noChangeArrowheads="1"/>
          </p:cNvSpPr>
          <p:nvPr/>
        </p:nvSpPr>
        <p:spPr bwMode="auto">
          <a:xfrm>
            <a:off x="4991100" y="38227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u="sng">
                <a:latin typeface="+mn-lt"/>
              </a:rPr>
              <a:t>A = </a:t>
            </a:r>
            <a:r>
              <a:rPr lang="en-AU" sz="2400" u="sng">
                <a:latin typeface="+mn-lt"/>
                <a:sym typeface="Symbol" pitchFamily="18" charset="2"/>
              </a:rPr>
              <a:t> </a:t>
            </a:r>
            <a:r>
              <a:rPr lang="en-AU" sz="2400" i="1" u="sng">
                <a:latin typeface="+mn-lt"/>
                <a:sym typeface="Symbol" pitchFamily="18" charset="2"/>
              </a:rPr>
              <a:t>r</a:t>
            </a:r>
            <a:r>
              <a:rPr lang="en-AU" sz="2400" u="sng" baseline="30000">
                <a:latin typeface="+mn-lt"/>
                <a:sym typeface="Symbol" pitchFamily="18" charset="2"/>
              </a:rPr>
              <a:t>2</a:t>
            </a:r>
            <a:endParaRPr lang="en-AU" sz="2400" u="sng">
              <a:latin typeface="+mn-lt"/>
            </a:endParaRPr>
          </a:p>
        </p:txBody>
      </p:sp>
      <p:sp>
        <p:nvSpPr>
          <p:cNvPr id="61" name="Text Box 18"/>
          <p:cNvSpPr txBox="1">
            <a:spLocks noChangeArrowheads="1"/>
          </p:cNvSpPr>
          <p:nvPr/>
        </p:nvSpPr>
        <p:spPr bwMode="auto">
          <a:xfrm>
            <a:off x="4686300" y="43561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= </a:t>
            </a:r>
            <a:r>
              <a:rPr lang="en-AU" sz="2400">
                <a:latin typeface="+mn-lt"/>
                <a:sym typeface="Symbol" pitchFamily="18" charset="2"/>
              </a:rPr>
              <a:t>  3</a:t>
            </a:r>
            <a:r>
              <a:rPr lang="en-AU" sz="2400" baseline="30000">
                <a:latin typeface="+mn-lt"/>
                <a:sym typeface="Symbol" pitchFamily="18" charset="2"/>
              </a:rPr>
              <a:t>2</a:t>
            </a:r>
          </a:p>
        </p:txBody>
      </p:sp>
      <p:sp>
        <p:nvSpPr>
          <p:cNvPr id="62" name="Text Box 19"/>
          <p:cNvSpPr txBox="1">
            <a:spLocks noChangeArrowheads="1"/>
          </p:cNvSpPr>
          <p:nvPr/>
        </p:nvSpPr>
        <p:spPr bwMode="auto">
          <a:xfrm>
            <a:off x="4533900" y="49657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 = </a:t>
            </a:r>
            <a:r>
              <a:rPr lang="en-AU" sz="2400">
                <a:solidFill>
                  <a:srgbClr val="0000FF"/>
                </a:solidFill>
                <a:latin typeface="+mn-lt"/>
              </a:rPr>
              <a:t>28.27 </a:t>
            </a:r>
            <a:r>
              <a:rPr lang="en-AU" sz="2400" i="1">
                <a:solidFill>
                  <a:srgbClr val="0000FF"/>
                </a:solidFill>
                <a:latin typeface="+mn-lt"/>
              </a:rPr>
              <a:t>cm</a:t>
            </a:r>
            <a:r>
              <a:rPr lang="en-AU" sz="2400" baseline="30000">
                <a:solidFill>
                  <a:srgbClr val="0000FF"/>
                </a:solidFill>
                <a:latin typeface="+mn-lt"/>
              </a:rPr>
              <a:t>2</a:t>
            </a:r>
            <a:endParaRPr lang="en-AU" sz="240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6591300" y="38227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u="sng">
                <a:latin typeface="+mn-lt"/>
              </a:rPr>
              <a:t>A = 2</a:t>
            </a:r>
            <a:r>
              <a:rPr lang="en-AU" sz="2400" u="sng">
                <a:latin typeface="+mn-lt"/>
                <a:sym typeface="Symbol" pitchFamily="18" charset="2"/>
              </a:rPr>
              <a:t></a:t>
            </a:r>
            <a:r>
              <a:rPr lang="en-AU" sz="2400" i="1" u="sng">
                <a:latin typeface="+mn-lt"/>
                <a:sym typeface="Symbol" pitchFamily="18" charset="2"/>
              </a:rPr>
              <a:t>rh</a:t>
            </a:r>
            <a:endParaRPr lang="en-AU" sz="2400" i="1" u="sng">
              <a:latin typeface="+mn-lt"/>
            </a:endParaRPr>
          </a:p>
        </p:txBody>
      </p:sp>
      <p:sp>
        <p:nvSpPr>
          <p:cNvPr id="64" name="Text Box 21"/>
          <p:cNvSpPr txBox="1">
            <a:spLocks noChangeArrowheads="1"/>
          </p:cNvSpPr>
          <p:nvPr/>
        </p:nvSpPr>
        <p:spPr bwMode="auto">
          <a:xfrm>
            <a:off x="6819900" y="42799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= 2</a:t>
            </a:r>
            <a:r>
              <a:rPr lang="en-AU" sz="2400">
                <a:latin typeface="+mn-lt"/>
                <a:sym typeface="Symbol" pitchFamily="18" charset="2"/>
              </a:rPr>
              <a:t>  3   8</a:t>
            </a:r>
          </a:p>
        </p:txBody>
      </p:sp>
      <p:sp>
        <p:nvSpPr>
          <p:cNvPr id="65" name="Text Box 22"/>
          <p:cNvSpPr txBox="1">
            <a:spLocks noChangeArrowheads="1"/>
          </p:cNvSpPr>
          <p:nvPr/>
        </p:nvSpPr>
        <p:spPr bwMode="auto">
          <a:xfrm>
            <a:off x="6743700" y="47371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 = </a:t>
            </a:r>
            <a:r>
              <a:rPr lang="en-AU" sz="2400">
                <a:solidFill>
                  <a:srgbClr val="0000FF"/>
                </a:solidFill>
                <a:latin typeface="+mn-lt"/>
              </a:rPr>
              <a:t>150.80 </a:t>
            </a:r>
            <a:r>
              <a:rPr lang="en-AU" sz="2400" i="1">
                <a:solidFill>
                  <a:srgbClr val="0000FF"/>
                </a:solidFill>
                <a:latin typeface="+mn-lt"/>
              </a:rPr>
              <a:t>cm</a:t>
            </a:r>
            <a:r>
              <a:rPr lang="en-AU" sz="2400" baseline="30000">
                <a:solidFill>
                  <a:srgbClr val="0000FF"/>
                </a:solidFill>
                <a:latin typeface="+mn-lt"/>
              </a:rPr>
              <a:t>2</a:t>
            </a:r>
            <a:endParaRPr lang="en-AU" sz="240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66" name="Text Box 23"/>
          <p:cNvSpPr txBox="1">
            <a:spLocks noChangeArrowheads="1"/>
          </p:cNvSpPr>
          <p:nvPr/>
        </p:nvSpPr>
        <p:spPr bwMode="auto">
          <a:xfrm>
            <a:off x="1714500" y="5575300"/>
            <a:ext cx="7620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4000" dirty="0">
                <a:latin typeface="+mn-lt"/>
              </a:rPr>
              <a:t>Total = 28.27 + 150.80 = </a:t>
            </a:r>
            <a:r>
              <a:rPr lang="en-AU" sz="4000" dirty="0">
                <a:solidFill>
                  <a:srgbClr val="ED0F0F"/>
                </a:solidFill>
                <a:latin typeface="+mn-lt"/>
              </a:rPr>
              <a:t>179.07</a:t>
            </a:r>
            <a:r>
              <a:rPr lang="en-AU" sz="3000" dirty="0">
                <a:solidFill>
                  <a:srgbClr val="ED0F0F"/>
                </a:solidFill>
                <a:latin typeface="+mn-lt"/>
              </a:rPr>
              <a:t>cm</a:t>
            </a:r>
            <a:r>
              <a:rPr lang="en-AU" sz="3000" baseline="30000" dirty="0">
                <a:solidFill>
                  <a:srgbClr val="ED0F0F"/>
                </a:solidFill>
                <a:latin typeface="+mn-lt"/>
              </a:rPr>
              <a:t>2</a:t>
            </a:r>
            <a:endParaRPr lang="en-AU" sz="4000" dirty="0">
              <a:solidFill>
                <a:srgbClr val="ED0F0F"/>
              </a:solidFill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7848" y="4737100"/>
            <a:ext cx="307808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If you have closed at both ends just double the base</a:t>
            </a:r>
            <a:endParaRPr lang="en-AU" dirty="0"/>
          </a:p>
        </p:txBody>
      </p:sp>
      <p:cxnSp>
        <p:nvCxnSpPr>
          <p:cNvPr id="4" name="Straight Arrow Connector 3"/>
          <p:cNvCxnSpPr>
            <a:stCxn id="2" idx="3"/>
            <a:endCxn id="62" idx="1"/>
          </p:cNvCxnSpPr>
          <p:nvPr/>
        </p:nvCxnSpPr>
        <p:spPr>
          <a:xfrm>
            <a:off x="3995936" y="5060266"/>
            <a:ext cx="537964" cy="13403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42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cone?</a:t>
            </a:r>
            <a:endParaRPr lang="en-AU" sz="1600" dirty="0"/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1676400" y="533400"/>
            <a:ext cx="296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 smtClean="0">
                <a:latin typeface="+mn-lt"/>
              </a:rPr>
              <a:t>TSA </a:t>
            </a:r>
            <a:r>
              <a:rPr lang="en-AU" sz="2400" dirty="0">
                <a:latin typeface="+mn-lt"/>
              </a:rPr>
              <a:t>of a Cone</a:t>
            </a:r>
          </a:p>
        </p:txBody>
      </p:sp>
      <p:grpSp>
        <p:nvGrpSpPr>
          <p:cNvPr id="28" name="Group 6"/>
          <p:cNvGrpSpPr>
            <a:grpSpLocks/>
          </p:cNvGrpSpPr>
          <p:nvPr/>
        </p:nvGrpSpPr>
        <p:grpSpPr bwMode="auto">
          <a:xfrm>
            <a:off x="2057400" y="1676400"/>
            <a:ext cx="1981200" cy="1828800"/>
            <a:chOff x="1200" y="720"/>
            <a:chExt cx="1248" cy="1152"/>
          </a:xfrm>
        </p:grpSpPr>
        <p:sp>
          <p:nvSpPr>
            <p:cNvPr id="30" name="Oval 3"/>
            <p:cNvSpPr>
              <a:spLocks noChangeArrowheads="1"/>
            </p:cNvSpPr>
            <p:nvPr/>
          </p:nvSpPr>
          <p:spPr bwMode="auto">
            <a:xfrm>
              <a:off x="1200" y="1632"/>
              <a:ext cx="1248" cy="240"/>
            </a:xfrm>
            <a:prstGeom prst="ellipse">
              <a:avLst/>
            </a:prstGeom>
            <a:solidFill>
              <a:schemeClr val="accent1"/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32" name="Line 4"/>
            <p:cNvSpPr>
              <a:spLocks noChangeShapeType="1"/>
            </p:cNvSpPr>
            <p:nvPr/>
          </p:nvSpPr>
          <p:spPr bwMode="auto">
            <a:xfrm flipH="1">
              <a:off x="1200" y="720"/>
              <a:ext cx="624" cy="10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33" name="Line 5"/>
            <p:cNvSpPr>
              <a:spLocks noChangeShapeType="1"/>
            </p:cNvSpPr>
            <p:nvPr/>
          </p:nvSpPr>
          <p:spPr bwMode="auto">
            <a:xfrm>
              <a:off x="1824" y="720"/>
              <a:ext cx="624" cy="100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2057400" y="3810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Closed cone</a:t>
            </a: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2057400" y="4343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2 surfaces</a:t>
            </a:r>
          </a:p>
        </p:txBody>
      </p:sp>
      <p:grpSp>
        <p:nvGrpSpPr>
          <p:cNvPr id="36" name="Group 12"/>
          <p:cNvGrpSpPr>
            <a:grpSpLocks/>
          </p:cNvGrpSpPr>
          <p:nvPr/>
        </p:nvGrpSpPr>
        <p:grpSpPr bwMode="auto">
          <a:xfrm>
            <a:off x="5943600" y="1524000"/>
            <a:ext cx="1905000" cy="1981200"/>
            <a:chOff x="3792" y="1056"/>
            <a:chExt cx="1200" cy="1248"/>
          </a:xfrm>
        </p:grpSpPr>
        <p:sp>
          <p:nvSpPr>
            <p:cNvPr id="37" name="Oval 9"/>
            <p:cNvSpPr>
              <a:spLocks noChangeArrowheads="1"/>
            </p:cNvSpPr>
            <p:nvPr/>
          </p:nvSpPr>
          <p:spPr bwMode="auto">
            <a:xfrm>
              <a:off x="3792" y="2016"/>
              <a:ext cx="1200" cy="288"/>
            </a:xfrm>
            <a:prstGeom prst="ellips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 flipH="1">
              <a:off x="3792" y="1056"/>
              <a:ext cx="576" cy="110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>
              <a:off x="4368" y="1056"/>
              <a:ext cx="624" cy="110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40" name="Text Box 13"/>
          <p:cNvSpPr txBox="1">
            <a:spLocks noChangeArrowheads="1"/>
          </p:cNvSpPr>
          <p:nvPr/>
        </p:nvSpPr>
        <p:spPr bwMode="auto">
          <a:xfrm>
            <a:off x="5867400" y="38100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Open cone</a:t>
            </a:r>
          </a:p>
        </p:txBody>
      </p:sp>
      <p:sp>
        <p:nvSpPr>
          <p:cNvPr id="41" name="Text Box 14"/>
          <p:cNvSpPr txBox="1">
            <a:spLocks noChangeArrowheads="1"/>
          </p:cNvSpPr>
          <p:nvPr/>
        </p:nvSpPr>
        <p:spPr bwMode="auto">
          <a:xfrm>
            <a:off x="5867400" y="4343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1 surface</a:t>
            </a:r>
          </a:p>
        </p:txBody>
      </p:sp>
      <p:sp>
        <p:nvSpPr>
          <p:cNvPr id="42" name="Text Box 15"/>
          <p:cNvSpPr txBox="1">
            <a:spLocks noChangeArrowheads="1"/>
          </p:cNvSpPr>
          <p:nvPr/>
        </p:nvSpPr>
        <p:spPr bwMode="auto">
          <a:xfrm>
            <a:off x="2133600" y="4876800"/>
            <a:ext cx="2057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ED0F0F"/>
                </a:solidFill>
                <a:latin typeface="+mn-lt"/>
              </a:rPr>
              <a:t>Curved wall +</a:t>
            </a:r>
          </a:p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ED0F0F"/>
                </a:solidFill>
                <a:latin typeface="+mn-lt"/>
              </a:rPr>
              <a:t>Base</a:t>
            </a: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5791200" y="4953000"/>
            <a:ext cx="2057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ED0F0F"/>
                </a:solidFill>
                <a:latin typeface="+mn-lt"/>
              </a:rPr>
              <a:t>Curved wall </a:t>
            </a:r>
          </a:p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ED0F0F"/>
                </a:solidFill>
                <a:latin typeface="+mn-lt"/>
              </a:rPr>
              <a:t>Only</a:t>
            </a:r>
          </a:p>
        </p:txBody>
      </p:sp>
      <p:sp>
        <p:nvSpPr>
          <p:cNvPr id="44" name="Text Box 17"/>
          <p:cNvSpPr txBox="1">
            <a:spLocks noChangeArrowheads="1"/>
          </p:cNvSpPr>
          <p:nvPr/>
        </p:nvSpPr>
        <p:spPr bwMode="auto">
          <a:xfrm>
            <a:off x="5148263" y="523875"/>
            <a:ext cx="216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006600"/>
                </a:solidFill>
                <a:latin typeface="+mn-lt"/>
              </a:rPr>
              <a:t>2 types</a:t>
            </a:r>
          </a:p>
        </p:txBody>
      </p:sp>
    </p:spTree>
    <p:extLst>
      <p:ext uri="{BB962C8B-B14F-4D97-AF65-F5344CB8AC3E}">
        <p14:creationId xmlns:p14="http://schemas.microsoft.com/office/powerpoint/2010/main" val="35913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cone?</a:t>
            </a:r>
            <a:endParaRPr lang="en-AU" sz="1600" dirty="0"/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2019300" y="4826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Cones - formulae</a:t>
            </a:r>
          </a:p>
        </p:txBody>
      </p:sp>
      <p:grpSp>
        <p:nvGrpSpPr>
          <p:cNvPr id="21" name="Group 13"/>
          <p:cNvGrpSpPr>
            <a:grpSpLocks/>
          </p:cNvGrpSpPr>
          <p:nvPr/>
        </p:nvGrpSpPr>
        <p:grpSpPr bwMode="auto">
          <a:xfrm>
            <a:off x="4762500" y="1366838"/>
            <a:ext cx="2514600" cy="2057400"/>
            <a:chOff x="2640" y="1296"/>
            <a:chExt cx="1584" cy="1296"/>
          </a:xfrm>
        </p:grpSpPr>
        <p:grpSp>
          <p:nvGrpSpPr>
            <p:cNvPr id="22" name="Group 4"/>
            <p:cNvGrpSpPr>
              <a:grpSpLocks/>
            </p:cNvGrpSpPr>
            <p:nvPr/>
          </p:nvGrpSpPr>
          <p:grpSpPr bwMode="auto">
            <a:xfrm>
              <a:off x="2640" y="1344"/>
              <a:ext cx="1200" cy="1248"/>
              <a:chOff x="3792" y="1056"/>
              <a:chExt cx="1200" cy="1248"/>
            </a:xfrm>
          </p:grpSpPr>
          <p:sp>
            <p:nvSpPr>
              <p:cNvPr id="45" name="Oval 5"/>
              <p:cNvSpPr>
                <a:spLocks noChangeArrowheads="1"/>
              </p:cNvSpPr>
              <p:nvPr/>
            </p:nvSpPr>
            <p:spPr bwMode="auto">
              <a:xfrm>
                <a:off x="3792" y="2016"/>
                <a:ext cx="1200" cy="288"/>
              </a:xfrm>
              <a:prstGeom prst="ellips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6" name="Line 6"/>
              <p:cNvSpPr>
                <a:spLocks noChangeShapeType="1"/>
              </p:cNvSpPr>
              <p:nvPr/>
            </p:nvSpPr>
            <p:spPr bwMode="auto">
              <a:xfrm flipH="1">
                <a:off x="3792" y="1056"/>
                <a:ext cx="576" cy="110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47" name="Line 7"/>
              <p:cNvSpPr>
                <a:spLocks noChangeShapeType="1"/>
              </p:cNvSpPr>
              <p:nvPr/>
            </p:nvSpPr>
            <p:spPr bwMode="auto">
              <a:xfrm>
                <a:off x="4368" y="1056"/>
                <a:ext cx="624" cy="110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23" name="Text Box 8"/>
            <p:cNvSpPr txBox="1">
              <a:spLocks noChangeArrowheads="1"/>
            </p:cNvSpPr>
            <p:nvPr/>
          </p:nvSpPr>
          <p:spPr bwMode="auto">
            <a:xfrm>
              <a:off x="3408" y="22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r</a:t>
              </a:r>
            </a:p>
          </p:txBody>
        </p:sp>
        <p:sp>
          <p:nvSpPr>
            <p:cNvPr id="24" name="Line 9"/>
            <p:cNvSpPr>
              <a:spLocks noChangeShapeType="1"/>
            </p:cNvSpPr>
            <p:nvPr/>
          </p:nvSpPr>
          <p:spPr bwMode="auto">
            <a:xfrm>
              <a:off x="3264" y="2448"/>
              <a:ext cx="576" cy="0"/>
            </a:xfrm>
            <a:prstGeom prst="line">
              <a:avLst/>
            </a:prstGeom>
            <a:noFill/>
            <a:ln w="38100">
              <a:solidFill>
                <a:srgbClr val="ED0F0F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5" name="Text Box 10"/>
            <p:cNvSpPr txBox="1">
              <a:spLocks noChangeArrowheads="1"/>
            </p:cNvSpPr>
            <p:nvPr/>
          </p:nvSpPr>
          <p:spPr bwMode="auto">
            <a:xfrm>
              <a:off x="3648" y="158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L</a:t>
              </a:r>
            </a:p>
          </p:txBody>
        </p:sp>
        <p:sp>
          <p:nvSpPr>
            <p:cNvPr id="26" name="Line 11"/>
            <p:cNvSpPr>
              <a:spLocks noChangeShapeType="1"/>
            </p:cNvSpPr>
            <p:nvPr/>
          </p:nvSpPr>
          <p:spPr bwMode="auto">
            <a:xfrm>
              <a:off x="3360" y="1296"/>
              <a:ext cx="624" cy="1104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48" name="Text Box 12"/>
          <p:cNvSpPr txBox="1">
            <a:spLocks noChangeArrowheads="1"/>
          </p:cNvSpPr>
          <p:nvPr/>
        </p:nvSpPr>
        <p:spPr bwMode="auto">
          <a:xfrm>
            <a:off x="3162300" y="4797425"/>
            <a:ext cx="556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L </a:t>
            </a:r>
            <a:r>
              <a:rPr lang="en-AU" sz="2400">
                <a:latin typeface="+mn-lt"/>
              </a:rPr>
              <a:t>is called “slant height”</a:t>
            </a:r>
            <a:endParaRPr lang="en-AU" sz="2400" i="1">
              <a:latin typeface="+mn-lt"/>
            </a:endParaRPr>
          </a:p>
        </p:txBody>
      </p:sp>
      <p:grpSp>
        <p:nvGrpSpPr>
          <p:cNvPr id="49" name="Group 15"/>
          <p:cNvGrpSpPr>
            <a:grpSpLocks/>
          </p:cNvGrpSpPr>
          <p:nvPr/>
        </p:nvGrpSpPr>
        <p:grpSpPr bwMode="auto">
          <a:xfrm>
            <a:off x="2767013" y="3860800"/>
            <a:ext cx="6121400" cy="673100"/>
            <a:chOff x="1474" y="709"/>
            <a:chExt cx="2767" cy="424"/>
          </a:xfrm>
        </p:grpSpPr>
        <p:sp>
          <p:nvSpPr>
            <p:cNvPr id="50" name="Text Box 3"/>
            <p:cNvSpPr txBox="1">
              <a:spLocks noChangeArrowheads="1"/>
            </p:cNvSpPr>
            <p:nvPr/>
          </p:nvSpPr>
          <p:spPr bwMode="auto">
            <a:xfrm>
              <a:off x="1536" y="768"/>
              <a:ext cx="26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3200">
                  <a:latin typeface="+mn-lt"/>
                </a:rPr>
                <a:t>Area of the curved wall = </a:t>
              </a:r>
              <a:r>
                <a:rPr lang="en-AU" sz="3200">
                  <a:latin typeface="+mn-lt"/>
                  <a:sym typeface="Symbol" pitchFamily="18" charset="2"/>
                </a:rPr>
                <a:t> </a:t>
              </a:r>
              <a:r>
                <a:rPr lang="en-AU" sz="3200" i="1">
                  <a:latin typeface="+mn-lt"/>
                  <a:sym typeface="Symbol" pitchFamily="18" charset="2"/>
                </a:rPr>
                <a:t>r L</a:t>
              </a:r>
              <a:endParaRPr lang="en-AU" sz="3200" i="1">
                <a:latin typeface="+mn-lt"/>
              </a:endParaRPr>
            </a:p>
          </p:txBody>
        </p:sp>
        <p:sp>
          <p:nvSpPr>
            <p:cNvPr id="51" name="Rectangle 14"/>
            <p:cNvSpPr>
              <a:spLocks noChangeArrowheads="1"/>
            </p:cNvSpPr>
            <p:nvPr/>
          </p:nvSpPr>
          <p:spPr bwMode="auto">
            <a:xfrm>
              <a:off x="1474" y="709"/>
              <a:ext cx="2767" cy="408"/>
            </a:xfrm>
            <a:prstGeom prst="rect">
              <a:avLst/>
            </a:prstGeom>
            <a:noFill/>
            <a:ln w="76200" cap="sq">
              <a:solidFill>
                <a:srgbClr val="D6009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43089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cone?</a:t>
            </a:r>
            <a:endParaRPr lang="en-AU" sz="1600" dirty="0"/>
          </a:p>
        </p:txBody>
      </p:sp>
      <p:grpSp>
        <p:nvGrpSpPr>
          <p:cNvPr id="18" name="Group 27"/>
          <p:cNvGrpSpPr>
            <a:grpSpLocks/>
          </p:cNvGrpSpPr>
          <p:nvPr/>
        </p:nvGrpSpPr>
        <p:grpSpPr bwMode="auto">
          <a:xfrm>
            <a:off x="5486400" y="990600"/>
            <a:ext cx="2514600" cy="2362200"/>
            <a:chOff x="3456" y="624"/>
            <a:chExt cx="1584" cy="1488"/>
          </a:xfrm>
        </p:grpSpPr>
        <p:grpSp>
          <p:nvGrpSpPr>
            <p:cNvPr id="19" name="Group 3"/>
            <p:cNvGrpSpPr>
              <a:grpSpLocks/>
            </p:cNvGrpSpPr>
            <p:nvPr/>
          </p:nvGrpSpPr>
          <p:grpSpPr bwMode="auto">
            <a:xfrm>
              <a:off x="3456" y="672"/>
              <a:ext cx="1200" cy="1248"/>
              <a:chOff x="3792" y="1056"/>
              <a:chExt cx="1200" cy="1248"/>
            </a:xfrm>
          </p:grpSpPr>
          <p:sp>
            <p:nvSpPr>
              <p:cNvPr id="33" name="Oval 4"/>
              <p:cNvSpPr>
                <a:spLocks noChangeArrowheads="1"/>
              </p:cNvSpPr>
              <p:nvPr/>
            </p:nvSpPr>
            <p:spPr bwMode="auto">
              <a:xfrm>
                <a:off x="3792" y="2016"/>
                <a:ext cx="1200" cy="288"/>
              </a:xfrm>
              <a:prstGeom prst="ellipse">
                <a:avLst/>
              </a:prstGeom>
              <a:solidFill>
                <a:srgbClr val="F5F6FD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34" name="Line 5"/>
              <p:cNvSpPr>
                <a:spLocks noChangeShapeType="1"/>
              </p:cNvSpPr>
              <p:nvPr/>
            </p:nvSpPr>
            <p:spPr bwMode="auto">
              <a:xfrm flipH="1">
                <a:off x="3792" y="1056"/>
                <a:ext cx="576" cy="110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35" name="Line 6"/>
              <p:cNvSpPr>
                <a:spLocks noChangeShapeType="1"/>
              </p:cNvSpPr>
              <p:nvPr/>
            </p:nvSpPr>
            <p:spPr bwMode="auto">
              <a:xfrm>
                <a:off x="4368" y="1056"/>
                <a:ext cx="624" cy="110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4176" y="182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latin typeface="+mn-lt"/>
                </a:rPr>
                <a:t>4</a:t>
              </a:r>
              <a:r>
                <a:rPr lang="en-AU" sz="2400" i="1">
                  <a:latin typeface="+mn-lt"/>
                </a:rPr>
                <a:t>cm</a:t>
              </a:r>
              <a:endParaRPr lang="en-AU" sz="2400">
                <a:latin typeface="+mn-lt"/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4080" y="1776"/>
              <a:ext cx="576" cy="0"/>
            </a:xfrm>
            <a:prstGeom prst="line">
              <a:avLst/>
            </a:prstGeom>
            <a:noFill/>
            <a:ln w="38100">
              <a:solidFill>
                <a:srgbClr val="ED0F0F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4464" y="91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>
                  <a:latin typeface="+mn-lt"/>
                </a:rPr>
                <a:t>9 </a:t>
              </a:r>
              <a:r>
                <a:rPr lang="en-AU" sz="2400" i="1">
                  <a:latin typeface="+mn-lt"/>
                </a:rPr>
                <a:t>cm</a:t>
              </a:r>
              <a:endParaRPr lang="en-AU" sz="2400">
                <a:latin typeface="+mn-lt"/>
              </a:endParaRPr>
            </a:p>
          </p:txBody>
        </p:sp>
        <p:sp>
          <p:nvSpPr>
            <p:cNvPr id="32" name="Line 10"/>
            <p:cNvSpPr>
              <a:spLocks noChangeShapeType="1"/>
            </p:cNvSpPr>
            <p:nvPr/>
          </p:nvSpPr>
          <p:spPr bwMode="auto">
            <a:xfrm>
              <a:off x="4176" y="624"/>
              <a:ext cx="624" cy="1104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1886496" y="609600"/>
            <a:ext cx="3886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>
                <a:latin typeface="+mn-lt"/>
              </a:rPr>
              <a:t>Example – find the surface area of this </a:t>
            </a:r>
            <a:r>
              <a:rPr lang="en-AU" sz="2400" u="sng" dirty="0">
                <a:latin typeface="+mn-lt"/>
              </a:rPr>
              <a:t>closed cone</a:t>
            </a:r>
          </a:p>
        </p:txBody>
      </p:sp>
      <p:sp>
        <p:nvSpPr>
          <p:cNvPr id="37" name="Text Box 13"/>
          <p:cNvSpPr txBox="1">
            <a:spLocks noChangeArrowheads="1"/>
          </p:cNvSpPr>
          <p:nvPr/>
        </p:nvSpPr>
        <p:spPr bwMode="auto">
          <a:xfrm>
            <a:off x="1905000" y="2133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Two areas:</a:t>
            </a:r>
          </a:p>
        </p:txBody>
      </p:sp>
      <p:sp>
        <p:nvSpPr>
          <p:cNvPr id="38" name="Line 14"/>
          <p:cNvSpPr>
            <a:spLocks noChangeShapeType="1"/>
          </p:cNvSpPr>
          <p:nvPr/>
        </p:nvSpPr>
        <p:spPr bwMode="auto">
          <a:xfrm>
            <a:off x="4724400" y="3505200"/>
            <a:ext cx="0" cy="2209800"/>
          </a:xfrm>
          <a:prstGeom prst="line">
            <a:avLst/>
          </a:prstGeom>
          <a:noFill/>
          <a:ln w="57150" cap="sq">
            <a:solidFill>
              <a:srgbClr val="6600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39" name="Text Box 15"/>
          <p:cNvSpPr txBox="1">
            <a:spLocks noChangeArrowheads="1"/>
          </p:cNvSpPr>
          <p:nvPr/>
        </p:nvSpPr>
        <p:spPr bwMode="auto">
          <a:xfrm>
            <a:off x="2057400" y="3505200"/>
            <a:ext cx="2438400" cy="461665"/>
          </a:xfrm>
          <a:prstGeom prst="rect">
            <a:avLst/>
          </a:prstGeom>
          <a:noFill/>
          <a:ln w="38100" cap="sq">
            <a:solidFill>
              <a:srgbClr val="00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Circular base</a:t>
            </a:r>
          </a:p>
        </p:txBody>
      </p:sp>
      <p:sp>
        <p:nvSpPr>
          <p:cNvPr id="40" name="Text Box 16"/>
          <p:cNvSpPr txBox="1">
            <a:spLocks noChangeArrowheads="1"/>
          </p:cNvSpPr>
          <p:nvPr/>
        </p:nvSpPr>
        <p:spPr bwMode="auto">
          <a:xfrm>
            <a:off x="5105400" y="3505200"/>
            <a:ext cx="2438400" cy="461665"/>
          </a:xfrm>
          <a:prstGeom prst="rect">
            <a:avLst/>
          </a:prstGeom>
          <a:noFill/>
          <a:ln w="38100" cap="sq">
            <a:solidFill>
              <a:srgbClr val="0066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Curved wall</a:t>
            </a:r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2133600" y="4191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A = </a:t>
            </a:r>
            <a:r>
              <a:rPr lang="en-AU" sz="2400">
                <a:latin typeface="+mn-lt"/>
                <a:sym typeface="Symbol" pitchFamily="18" charset="2"/>
              </a:rPr>
              <a:t> </a:t>
            </a:r>
            <a:r>
              <a:rPr lang="en-AU" sz="2400" i="1">
                <a:latin typeface="+mn-lt"/>
                <a:sym typeface="Symbol" pitchFamily="18" charset="2"/>
              </a:rPr>
              <a:t>r</a:t>
            </a:r>
            <a:r>
              <a:rPr lang="en-AU" sz="2400" baseline="30000">
                <a:latin typeface="+mn-lt"/>
                <a:sym typeface="Symbol" pitchFamily="18" charset="2"/>
              </a:rPr>
              <a:t>2</a:t>
            </a:r>
            <a:r>
              <a:rPr lang="en-AU" sz="2400">
                <a:latin typeface="+mn-lt"/>
              </a:rPr>
              <a:t> </a:t>
            </a: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2514600" y="47244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= </a:t>
            </a:r>
            <a:r>
              <a:rPr lang="en-AU" sz="2400">
                <a:latin typeface="+mn-lt"/>
                <a:sym typeface="Symbol" pitchFamily="18" charset="2"/>
              </a:rPr>
              <a:t>  4</a:t>
            </a:r>
            <a:r>
              <a:rPr lang="en-AU" sz="2400" baseline="30000">
                <a:latin typeface="+mn-lt"/>
                <a:sym typeface="Symbol" pitchFamily="18" charset="2"/>
              </a:rPr>
              <a:t>2</a:t>
            </a:r>
            <a:endParaRPr lang="en-AU" sz="2400">
              <a:latin typeface="+mn-lt"/>
              <a:sym typeface="Symbol" pitchFamily="18" charset="2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2438400" y="5257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 = 50.265 </a:t>
            </a:r>
            <a:r>
              <a:rPr lang="en-AU" sz="2400" i="1">
                <a:latin typeface="+mn-lt"/>
              </a:rPr>
              <a:t>cm</a:t>
            </a:r>
            <a:r>
              <a:rPr lang="en-AU" sz="2400" baseline="30000">
                <a:latin typeface="+mn-lt"/>
              </a:rPr>
              <a:t>2</a:t>
            </a:r>
            <a:endParaRPr lang="en-AU" sz="2400">
              <a:latin typeface="+mn-lt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5105400" y="4191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A = </a:t>
            </a:r>
            <a:r>
              <a:rPr lang="en-AU" sz="2400">
                <a:latin typeface="+mn-lt"/>
                <a:sym typeface="Symbol" pitchFamily="18" charset="2"/>
              </a:rPr>
              <a:t> </a:t>
            </a:r>
            <a:r>
              <a:rPr lang="en-AU" sz="2400" i="1">
                <a:latin typeface="+mn-lt"/>
                <a:sym typeface="Symbol" pitchFamily="18" charset="2"/>
              </a:rPr>
              <a:t>r L</a:t>
            </a:r>
            <a:endParaRPr lang="en-AU" sz="2400">
              <a:latin typeface="+mn-lt"/>
              <a:sym typeface="Symbol" pitchFamily="18" charset="2"/>
            </a:endParaRPr>
          </a:p>
        </p:txBody>
      </p: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5410200" y="47244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= </a:t>
            </a:r>
            <a:r>
              <a:rPr lang="en-AU" sz="2400">
                <a:latin typeface="+mn-lt"/>
                <a:sym typeface="Symbol" pitchFamily="18" charset="2"/>
              </a:rPr>
              <a:t>  4  9</a:t>
            </a:r>
          </a:p>
        </p:txBody>
      </p:sp>
      <p:sp>
        <p:nvSpPr>
          <p:cNvPr id="53" name="Text Box 23"/>
          <p:cNvSpPr txBox="1">
            <a:spLocks noChangeArrowheads="1"/>
          </p:cNvSpPr>
          <p:nvPr/>
        </p:nvSpPr>
        <p:spPr bwMode="auto">
          <a:xfrm>
            <a:off x="5334000" y="51816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 = 113.097 </a:t>
            </a:r>
            <a:r>
              <a:rPr lang="en-AU" sz="2400" i="1">
                <a:latin typeface="+mn-lt"/>
              </a:rPr>
              <a:t>cm</a:t>
            </a:r>
            <a:r>
              <a:rPr lang="en-AU" sz="2400" baseline="30000">
                <a:latin typeface="+mn-lt"/>
              </a:rPr>
              <a:t>2</a:t>
            </a:r>
            <a:endParaRPr lang="en-AU" sz="2400">
              <a:latin typeface="+mn-lt"/>
            </a:endParaRPr>
          </a:p>
        </p:txBody>
      </p: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2133600" y="5715000"/>
            <a:ext cx="6324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660066"/>
                </a:solidFill>
                <a:latin typeface="+mn-lt"/>
              </a:rPr>
              <a:t>TSA = 50.265 + 113.097 = </a:t>
            </a:r>
            <a:r>
              <a:rPr lang="en-AU" sz="4000">
                <a:solidFill>
                  <a:srgbClr val="ED0F0F"/>
                </a:solidFill>
                <a:latin typeface="+mn-lt"/>
              </a:rPr>
              <a:t>163.362 </a:t>
            </a:r>
            <a:r>
              <a:rPr lang="en-AU" sz="4000" i="1">
                <a:solidFill>
                  <a:srgbClr val="ED0F0F"/>
                </a:solidFill>
                <a:latin typeface="+mn-lt"/>
              </a:rPr>
              <a:t>cm</a:t>
            </a:r>
            <a:r>
              <a:rPr lang="en-AU" sz="4000" baseline="30000">
                <a:solidFill>
                  <a:srgbClr val="ED0F0F"/>
                </a:solidFill>
                <a:latin typeface="+mn-lt"/>
              </a:rPr>
              <a:t>2</a:t>
            </a:r>
            <a:endParaRPr lang="en-AU" sz="4000">
              <a:solidFill>
                <a:srgbClr val="ED0F0F"/>
              </a:solidFill>
              <a:latin typeface="+mn-lt"/>
            </a:endParaRPr>
          </a:p>
        </p:txBody>
      </p:sp>
      <p:sp>
        <p:nvSpPr>
          <p:cNvPr id="55" name="Line 26"/>
          <p:cNvSpPr>
            <a:spLocks noChangeShapeType="1"/>
          </p:cNvSpPr>
          <p:nvPr/>
        </p:nvSpPr>
        <p:spPr bwMode="auto">
          <a:xfrm>
            <a:off x="2209800" y="5791200"/>
            <a:ext cx="6019800" cy="0"/>
          </a:xfrm>
          <a:prstGeom prst="line">
            <a:avLst/>
          </a:prstGeom>
          <a:noFill/>
          <a:ln w="57150" cap="sq">
            <a:solidFill>
              <a:srgbClr val="6600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81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cone?</a:t>
            </a:r>
            <a:endParaRPr lang="en-AU" sz="1600" dirty="0"/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2019846" y="304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Refresher – Pythagoras’s Rule</a:t>
            </a:r>
          </a:p>
        </p:txBody>
      </p:sp>
      <p:grpSp>
        <p:nvGrpSpPr>
          <p:cNvPr id="45" name="Group 6"/>
          <p:cNvGrpSpPr>
            <a:grpSpLocks/>
          </p:cNvGrpSpPr>
          <p:nvPr/>
        </p:nvGrpSpPr>
        <p:grpSpPr bwMode="auto">
          <a:xfrm>
            <a:off x="2477046" y="1143000"/>
            <a:ext cx="2362200" cy="1447800"/>
            <a:chOff x="1296" y="720"/>
            <a:chExt cx="1488" cy="912"/>
          </a:xfrm>
        </p:grpSpPr>
        <p:sp>
          <p:nvSpPr>
            <p:cNvPr id="46" name="AutoShape 3"/>
            <p:cNvSpPr>
              <a:spLocks noChangeArrowheads="1"/>
            </p:cNvSpPr>
            <p:nvPr/>
          </p:nvSpPr>
          <p:spPr bwMode="auto">
            <a:xfrm>
              <a:off x="1296" y="720"/>
              <a:ext cx="1488" cy="912"/>
            </a:xfrm>
            <a:prstGeom prst="rtTriangl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7" name="Line 4"/>
            <p:cNvSpPr>
              <a:spLocks noChangeShapeType="1"/>
            </p:cNvSpPr>
            <p:nvPr/>
          </p:nvSpPr>
          <p:spPr bwMode="auto">
            <a:xfrm>
              <a:off x="1296" y="1488"/>
              <a:ext cx="1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48" name="Line 5"/>
            <p:cNvSpPr>
              <a:spLocks noChangeShapeType="1"/>
            </p:cNvSpPr>
            <p:nvPr/>
          </p:nvSpPr>
          <p:spPr bwMode="auto">
            <a:xfrm>
              <a:off x="1440" y="1488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2096046" y="1600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a</a:t>
            </a:r>
          </a:p>
        </p:txBody>
      </p:sp>
      <p:sp>
        <p:nvSpPr>
          <p:cNvPr id="50" name="Text Box 8"/>
          <p:cNvSpPr txBox="1">
            <a:spLocks noChangeArrowheads="1"/>
          </p:cNvSpPr>
          <p:nvPr/>
        </p:nvSpPr>
        <p:spPr bwMode="auto">
          <a:xfrm>
            <a:off x="3543846" y="1371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c</a:t>
            </a:r>
          </a:p>
        </p:txBody>
      </p:sp>
      <p:sp>
        <p:nvSpPr>
          <p:cNvPr id="51" name="Text Box 9"/>
          <p:cNvSpPr txBox="1">
            <a:spLocks noChangeArrowheads="1"/>
          </p:cNvSpPr>
          <p:nvPr/>
        </p:nvSpPr>
        <p:spPr bwMode="auto">
          <a:xfrm>
            <a:off x="3239046" y="259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b</a:t>
            </a:r>
          </a:p>
        </p:txBody>
      </p:sp>
      <p:sp>
        <p:nvSpPr>
          <p:cNvPr id="56" name="Text Box 10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4763046" y="1143000"/>
            <a:ext cx="3810000" cy="830997"/>
          </a:xfrm>
          <a:prstGeom prst="rect">
            <a:avLst/>
          </a:prstGeom>
          <a:noFill/>
          <a:ln w="53975" cap="sq">
            <a:solidFill>
              <a:srgbClr val="993366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400" i="1">
                <a:solidFill>
                  <a:srgbClr val="ED0F0F"/>
                </a:solidFill>
                <a:latin typeface="+mn-lt"/>
              </a:rPr>
              <a:t>c</a:t>
            </a:r>
            <a:r>
              <a:rPr lang="en-AU" sz="2400" baseline="30000">
                <a:solidFill>
                  <a:srgbClr val="ED0F0F"/>
                </a:solidFill>
                <a:latin typeface="+mn-lt"/>
              </a:rPr>
              <a:t>2</a:t>
            </a:r>
            <a:r>
              <a:rPr lang="en-AU" sz="2400">
                <a:solidFill>
                  <a:srgbClr val="ED0F0F"/>
                </a:solidFill>
                <a:latin typeface="+mn-lt"/>
              </a:rPr>
              <a:t> = </a:t>
            </a:r>
            <a:r>
              <a:rPr lang="en-AU" sz="2400" i="1">
                <a:solidFill>
                  <a:srgbClr val="ED0F0F"/>
                </a:solidFill>
                <a:latin typeface="+mn-lt"/>
              </a:rPr>
              <a:t>a</a:t>
            </a:r>
            <a:r>
              <a:rPr lang="en-AU" sz="2400" baseline="30000">
                <a:solidFill>
                  <a:srgbClr val="ED0F0F"/>
                </a:solidFill>
                <a:latin typeface="+mn-lt"/>
              </a:rPr>
              <a:t>2</a:t>
            </a:r>
            <a:r>
              <a:rPr lang="en-AU" sz="2400">
                <a:solidFill>
                  <a:srgbClr val="ED0F0F"/>
                </a:solidFill>
                <a:latin typeface="+mn-lt"/>
              </a:rPr>
              <a:t> + </a:t>
            </a:r>
            <a:r>
              <a:rPr lang="en-AU" sz="2400" i="1">
                <a:solidFill>
                  <a:srgbClr val="ED0F0F"/>
                </a:solidFill>
                <a:latin typeface="+mn-lt"/>
              </a:rPr>
              <a:t>b</a:t>
            </a:r>
            <a:r>
              <a:rPr lang="en-AU" sz="2400" baseline="30000">
                <a:solidFill>
                  <a:srgbClr val="ED0F0F"/>
                </a:solidFill>
                <a:latin typeface="+mn-lt"/>
              </a:rPr>
              <a:t>2</a:t>
            </a:r>
            <a:r>
              <a:rPr lang="en-AU" sz="2400" baseline="30000">
                <a:latin typeface="+mn-lt"/>
              </a:rPr>
              <a:t> </a:t>
            </a:r>
            <a:r>
              <a:rPr lang="en-AU" sz="2400">
                <a:latin typeface="+mn-lt"/>
              </a:rPr>
              <a:t>if you want the longest side</a:t>
            </a:r>
            <a:endParaRPr lang="en-AU" sz="2400" i="1">
              <a:latin typeface="+mn-lt"/>
            </a:endParaRPr>
          </a:p>
        </p:txBody>
      </p:sp>
      <p:sp>
        <p:nvSpPr>
          <p:cNvPr id="57" name="Text Box 11"/>
          <p:cNvSpPr txBox="1">
            <a:spLocks noChangeArrowheads="1"/>
          </p:cNvSpPr>
          <p:nvPr/>
        </p:nvSpPr>
        <p:spPr bwMode="auto">
          <a:xfrm>
            <a:off x="5982246" y="2057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OR...</a:t>
            </a:r>
          </a:p>
        </p:txBody>
      </p:sp>
      <p:sp>
        <p:nvSpPr>
          <p:cNvPr id="58" name="Text Box 12"/>
          <p:cNvSpPr txBox="1">
            <a:spLocks noChangeArrowheads="1"/>
          </p:cNvSpPr>
          <p:nvPr/>
        </p:nvSpPr>
        <p:spPr bwMode="auto">
          <a:xfrm>
            <a:off x="4991646" y="2667000"/>
            <a:ext cx="3810000" cy="830997"/>
          </a:xfrm>
          <a:prstGeom prst="rect">
            <a:avLst/>
          </a:prstGeom>
          <a:noFill/>
          <a:ln w="50800" cap="sq">
            <a:solidFill>
              <a:srgbClr val="660066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solidFill>
                  <a:srgbClr val="ED0F0F"/>
                </a:solidFill>
                <a:latin typeface="+mn-lt"/>
              </a:rPr>
              <a:t>b</a:t>
            </a:r>
            <a:r>
              <a:rPr lang="en-AU" sz="2400" baseline="30000">
                <a:solidFill>
                  <a:srgbClr val="ED0F0F"/>
                </a:solidFill>
                <a:latin typeface="+mn-lt"/>
              </a:rPr>
              <a:t>2</a:t>
            </a:r>
            <a:r>
              <a:rPr lang="en-AU" sz="2400">
                <a:solidFill>
                  <a:srgbClr val="ED0F0F"/>
                </a:solidFill>
                <a:latin typeface="+mn-lt"/>
              </a:rPr>
              <a:t> = c</a:t>
            </a:r>
            <a:r>
              <a:rPr lang="en-AU" sz="2400" baseline="30000">
                <a:solidFill>
                  <a:srgbClr val="ED0F0F"/>
                </a:solidFill>
                <a:latin typeface="+mn-lt"/>
              </a:rPr>
              <a:t>2</a:t>
            </a:r>
            <a:r>
              <a:rPr lang="en-AU" sz="2400">
                <a:solidFill>
                  <a:srgbClr val="ED0F0F"/>
                </a:solidFill>
                <a:latin typeface="+mn-lt"/>
              </a:rPr>
              <a:t> – </a:t>
            </a:r>
            <a:r>
              <a:rPr lang="en-AU" sz="2400" i="1">
                <a:solidFill>
                  <a:srgbClr val="ED0F0F"/>
                </a:solidFill>
                <a:latin typeface="+mn-lt"/>
              </a:rPr>
              <a:t>a</a:t>
            </a:r>
            <a:r>
              <a:rPr lang="en-AU" sz="2400" baseline="30000">
                <a:solidFill>
                  <a:srgbClr val="ED0F0F"/>
                </a:solidFill>
                <a:latin typeface="+mn-lt"/>
              </a:rPr>
              <a:t>2</a:t>
            </a:r>
            <a:r>
              <a:rPr lang="en-AU" sz="2400" baseline="30000">
                <a:latin typeface="+mn-lt"/>
              </a:rPr>
              <a:t> </a:t>
            </a:r>
            <a:r>
              <a:rPr lang="en-AU" sz="2400">
                <a:latin typeface="+mn-lt"/>
              </a:rPr>
              <a:t>if you want one of the two shorter sides</a:t>
            </a:r>
            <a:endParaRPr lang="en-AU" sz="2400" i="1">
              <a:latin typeface="+mn-lt"/>
            </a:endParaRPr>
          </a:p>
        </p:txBody>
      </p:sp>
      <p:grpSp>
        <p:nvGrpSpPr>
          <p:cNvPr id="59" name="Group 13"/>
          <p:cNvGrpSpPr>
            <a:grpSpLocks/>
          </p:cNvGrpSpPr>
          <p:nvPr/>
        </p:nvGrpSpPr>
        <p:grpSpPr bwMode="auto">
          <a:xfrm rot="10800000">
            <a:off x="2324646" y="4495800"/>
            <a:ext cx="2362200" cy="1447800"/>
            <a:chOff x="1296" y="720"/>
            <a:chExt cx="1488" cy="912"/>
          </a:xfrm>
        </p:grpSpPr>
        <p:sp>
          <p:nvSpPr>
            <p:cNvPr id="60" name="AutoShape 14"/>
            <p:cNvSpPr>
              <a:spLocks noChangeArrowheads="1"/>
            </p:cNvSpPr>
            <p:nvPr/>
          </p:nvSpPr>
          <p:spPr bwMode="auto">
            <a:xfrm>
              <a:off x="1296" y="720"/>
              <a:ext cx="1488" cy="912"/>
            </a:xfrm>
            <a:prstGeom prst="rtTriangl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" name="Line 15"/>
            <p:cNvSpPr>
              <a:spLocks noChangeShapeType="1"/>
            </p:cNvSpPr>
            <p:nvPr/>
          </p:nvSpPr>
          <p:spPr bwMode="auto">
            <a:xfrm>
              <a:off x="1296" y="1488"/>
              <a:ext cx="1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62" name="Line 16"/>
            <p:cNvSpPr>
              <a:spLocks noChangeShapeType="1"/>
            </p:cNvSpPr>
            <p:nvPr/>
          </p:nvSpPr>
          <p:spPr bwMode="auto">
            <a:xfrm>
              <a:off x="1440" y="1488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63" name="Line 17"/>
          <p:cNvSpPr>
            <a:spLocks noChangeShapeType="1"/>
          </p:cNvSpPr>
          <p:nvPr/>
        </p:nvSpPr>
        <p:spPr bwMode="auto">
          <a:xfrm>
            <a:off x="1791246" y="3657600"/>
            <a:ext cx="7772400" cy="0"/>
          </a:xfrm>
          <a:prstGeom prst="line">
            <a:avLst/>
          </a:prstGeom>
          <a:noFill/>
          <a:ln w="76200" cap="sq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64" name="Text Box 18"/>
          <p:cNvSpPr txBox="1">
            <a:spLocks noChangeArrowheads="1"/>
          </p:cNvSpPr>
          <p:nvPr/>
        </p:nvSpPr>
        <p:spPr bwMode="auto">
          <a:xfrm>
            <a:off x="3162846" y="4114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4 m</a:t>
            </a:r>
          </a:p>
        </p:txBody>
      </p:sp>
      <p:sp>
        <p:nvSpPr>
          <p:cNvPr id="65" name="Text Box 19"/>
          <p:cNvSpPr txBox="1">
            <a:spLocks noChangeArrowheads="1"/>
          </p:cNvSpPr>
          <p:nvPr/>
        </p:nvSpPr>
        <p:spPr bwMode="auto">
          <a:xfrm>
            <a:off x="4610646" y="4876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3 m</a:t>
            </a:r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2934246" y="50292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x</a:t>
            </a:r>
            <a:r>
              <a:rPr lang="en-AU" sz="2400">
                <a:latin typeface="+mn-lt"/>
              </a:rPr>
              <a:t> m</a:t>
            </a:r>
          </a:p>
        </p:txBody>
      </p:sp>
      <p:sp>
        <p:nvSpPr>
          <p:cNvPr id="67" name="Text Box 21"/>
          <p:cNvSpPr txBox="1">
            <a:spLocks noChangeArrowheads="1"/>
          </p:cNvSpPr>
          <p:nvPr/>
        </p:nvSpPr>
        <p:spPr bwMode="auto">
          <a:xfrm>
            <a:off x="5525046" y="4038600"/>
            <a:ext cx="3352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Finding the longest side so use the top formula</a:t>
            </a:r>
          </a:p>
        </p:txBody>
      </p:sp>
      <p:sp>
        <p:nvSpPr>
          <p:cNvPr id="68" name="Rectangle 22"/>
          <p:cNvSpPr>
            <a:spLocks noChangeArrowheads="1"/>
          </p:cNvSpPr>
          <p:nvPr/>
        </p:nvSpPr>
        <p:spPr bwMode="auto">
          <a:xfrm>
            <a:off x="6210846" y="4953000"/>
            <a:ext cx="1524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AU" sz="2400" i="1">
                <a:solidFill>
                  <a:srgbClr val="ED0F0F"/>
                </a:solidFill>
              </a:rPr>
              <a:t>x</a:t>
            </a:r>
            <a:r>
              <a:rPr lang="en-AU" sz="2400" baseline="30000">
                <a:solidFill>
                  <a:srgbClr val="ED0F0F"/>
                </a:solidFill>
              </a:rPr>
              <a:t>2</a:t>
            </a:r>
            <a:r>
              <a:rPr lang="en-AU" sz="2400">
                <a:solidFill>
                  <a:srgbClr val="ED0F0F"/>
                </a:solidFill>
              </a:rPr>
              <a:t> = 3</a:t>
            </a:r>
            <a:r>
              <a:rPr lang="en-AU" sz="2400" baseline="30000">
                <a:solidFill>
                  <a:srgbClr val="ED0F0F"/>
                </a:solidFill>
              </a:rPr>
              <a:t>2</a:t>
            </a:r>
            <a:r>
              <a:rPr lang="en-AU" sz="2400">
                <a:solidFill>
                  <a:srgbClr val="ED0F0F"/>
                </a:solidFill>
              </a:rPr>
              <a:t> + 4</a:t>
            </a:r>
            <a:r>
              <a:rPr lang="en-AU" sz="2400" baseline="30000">
                <a:solidFill>
                  <a:srgbClr val="ED0F0F"/>
                </a:solidFill>
              </a:rPr>
              <a:t>2</a:t>
            </a:r>
          </a:p>
        </p:txBody>
      </p:sp>
      <p:sp>
        <p:nvSpPr>
          <p:cNvPr id="69" name="Text Box 23"/>
          <p:cNvSpPr txBox="1">
            <a:spLocks noChangeArrowheads="1"/>
          </p:cNvSpPr>
          <p:nvPr/>
        </p:nvSpPr>
        <p:spPr bwMode="auto">
          <a:xfrm>
            <a:off x="6134646" y="53340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x</a:t>
            </a:r>
            <a:r>
              <a:rPr lang="en-AU" sz="2400" baseline="30000">
                <a:latin typeface="+mn-lt"/>
              </a:rPr>
              <a:t>2</a:t>
            </a:r>
            <a:r>
              <a:rPr lang="en-AU" sz="2400">
                <a:latin typeface="+mn-lt"/>
              </a:rPr>
              <a:t> = 25</a:t>
            </a:r>
            <a:endParaRPr lang="en-AU" sz="2400" i="1">
              <a:latin typeface="+mn-lt"/>
            </a:endParaRPr>
          </a:p>
        </p:txBody>
      </p:sp>
      <p:sp>
        <p:nvSpPr>
          <p:cNvPr id="70" name="Text Box 24"/>
          <p:cNvSpPr txBox="1">
            <a:spLocks noChangeArrowheads="1"/>
          </p:cNvSpPr>
          <p:nvPr/>
        </p:nvSpPr>
        <p:spPr bwMode="auto">
          <a:xfrm>
            <a:off x="6210846" y="5867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x</a:t>
            </a:r>
            <a:r>
              <a:rPr lang="en-AU" sz="2400">
                <a:latin typeface="+mn-lt"/>
              </a:rPr>
              <a:t> = 5</a:t>
            </a:r>
            <a:endParaRPr lang="en-AU" sz="2400" i="1">
              <a:latin typeface="+mn-lt"/>
            </a:endParaRPr>
          </a:p>
        </p:txBody>
      </p:sp>
      <p:sp>
        <p:nvSpPr>
          <p:cNvPr id="71" name="Text Box 25"/>
          <p:cNvSpPr txBox="1">
            <a:spLocks noChangeArrowheads="1"/>
          </p:cNvSpPr>
          <p:nvPr/>
        </p:nvSpPr>
        <p:spPr bwMode="auto">
          <a:xfrm>
            <a:off x="1822996" y="3789363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solidFill>
                  <a:srgbClr val="006600"/>
                </a:solidFill>
                <a:latin typeface="+mn-lt"/>
              </a:rPr>
              <a:t>Example…..</a:t>
            </a:r>
          </a:p>
        </p:txBody>
      </p:sp>
    </p:spTree>
    <p:extLst>
      <p:ext uri="{BB962C8B-B14F-4D97-AF65-F5344CB8AC3E}">
        <p14:creationId xmlns:p14="http://schemas.microsoft.com/office/powerpoint/2010/main" val="226523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cone?</a:t>
            </a:r>
            <a:endParaRPr lang="en-AU" sz="1600" dirty="0"/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1738288" y="168275"/>
            <a:ext cx="4724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>
                <a:latin typeface="+mn-lt"/>
              </a:rPr>
              <a:t>Another cone example. Find the TSA of this open cone</a:t>
            </a:r>
          </a:p>
        </p:txBody>
      </p:sp>
      <p:grpSp>
        <p:nvGrpSpPr>
          <p:cNvPr id="30" name="Group 13"/>
          <p:cNvGrpSpPr>
            <a:grpSpLocks/>
          </p:cNvGrpSpPr>
          <p:nvPr/>
        </p:nvGrpSpPr>
        <p:grpSpPr bwMode="auto">
          <a:xfrm>
            <a:off x="2271688" y="1158875"/>
            <a:ext cx="1905000" cy="2301875"/>
            <a:chOff x="1296" y="624"/>
            <a:chExt cx="1200" cy="1450"/>
          </a:xfrm>
        </p:grpSpPr>
        <p:grpSp>
          <p:nvGrpSpPr>
            <p:cNvPr id="32" name="Group 3"/>
            <p:cNvGrpSpPr>
              <a:grpSpLocks/>
            </p:cNvGrpSpPr>
            <p:nvPr/>
          </p:nvGrpSpPr>
          <p:grpSpPr bwMode="auto">
            <a:xfrm>
              <a:off x="1296" y="624"/>
              <a:ext cx="1200" cy="1248"/>
              <a:chOff x="3792" y="1056"/>
              <a:chExt cx="1200" cy="1248"/>
            </a:xfrm>
          </p:grpSpPr>
          <p:sp>
            <p:nvSpPr>
              <p:cNvPr id="37" name="Oval 4"/>
              <p:cNvSpPr>
                <a:spLocks noChangeArrowheads="1"/>
              </p:cNvSpPr>
              <p:nvPr/>
            </p:nvSpPr>
            <p:spPr bwMode="auto">
              <a:xfrm>
                <a:off x="3792" y="2016"/>
                <a:ext cx="1200" cy="288"/>
              </a:xfrm>
              <a:prstGeom prst="ellipse">
                <a:avLst/>
              </a:prstGeom>
              <a:solidFill>
                <a:srgbClr val="F5F6FD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38" name="Line 5"/>
              <p:cNvSpPr>
                <a:spLocks noChangeShapeType="1"/>
              </p:cNvSpPr>
              <p:nvPr/>
            </p:nvSpPr>
            <p:spPr bwMode="auto">
              <a:xfrm flipH="1">
                <a:off x="3792" y="1056"/>
                <a:ext cx="576" cy="110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39" name="Line 6"/>
              <p:cNvSpPr>
                <a:spLocks noChangeShapeType="1"/>
              </p:cNvSpPr>
              <p:nvPr/>
            </p:nvSpPr>
            <p:spPr bwMode="auto">
              <a:xfrm>
                <a:off x="4368" y="1056"/>
                <a:ext cx="624" cy="110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33" name="Text Box 7"/>
            <p:cNvSpPr txBox="1">
              <a:spLocks noChangeArrowheads="1"/>
            </p:cNvSpPr>
            <p:nvPr/>
          </p:nvSpPr>
          <p:spPr bwMode="auto">
            <a:xfrm>
              <a:off x="2016" y="1824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>
                  <a:latin typeface="+mn-lt"/>
                </a:rPr>
                <a:t>5cm</a:t>
              </a:r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1872" y="1728"/>
              <a:ext cx="624" cy="0"/>
            </a:xfrm>
            <a:prstGeom prst="line">
              <a:avLst/>
            </a:prstGeom>
            <a:noFill/>
            <a:ln w="5715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35" name="Line 11"/>
            <p:cNvSpPr>
              <a:spLocks noChangeShapeType="1"/>
            </p:cNvSpPr>
            <p:nvPr/>
          </p:nvSpPr>
          <p:spPr bwMode="auto">
            <a:xfrm>
              <a:off x="1872" y="624"/>
              <a:ext cx="0" cy="1104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36" name="Text Box 12"/>
            <p:cNvSpPr txBox="1">
              <a:spLocks noChangeArrowheads="1"/>
            </p:cNvSpPr>
            <p:nvPr/>
          </p:nvSpPr>
          <p:spPr bwMode="auto">
            <a:xfrm>
              <a:off x="1632" y="1104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>
                  <a:latin typeface="+mn-lt"/>
                </a:rPr>
                <a:t>12cm</a:t>
              </a:r>
            </a:p>
          </p:txBody>
        </p:sp>
      </p:grpSp>
      <p:sp>
        <p:nvSpPr>
          <p:cNvPr id="40" name="Text Box 14"/>
          <p:cNvSpPr txBox="1">
            <a:spLocks noChangeArrowheads="1"/>
          </p:cNvSpPr>
          <p:nvPr/>
        </p:nvSpPr>
        <p:spPr bwMode="auto">
          <a:xfrm>
            <a:off x="4862488" y="1365250"/>
            <a:ext cx="449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Note – we have a problem as we don’t know the slant height </a:t>
            </a:r>
            <a:r>
              <a:rPr lang="en-AU" sz="2400" i="1">
                <a:latin typeface="+mn-lt"/>
              </a:rPr>
              <a:t>L</a:t>
            </a:r>
            <a:endParaRPr lang="en-AU" sz="2400">
              <a:latin typeface="+mn-lt"/>
            </a:endParaRPr>
          </a:p>
        </p:txBody>
      </p:sp>
      <p:grpSp>
        <p:nvGrpSpPr>
          <p:cNvPr id="41" name="Group 17"/>
          <p:cNvGrpSpPr>
            <a:grpSpLocks/>
          </p:cNvGrpSpPr>
          <p:nvPr/>
        </p:nvGrpSpPr>
        <p:grpSpPr bwMode="auto">
          <a:xfrm>
            <a:off x="3338488" y="1082675"/>
            <a:ext cx="1143000" cy="1752600"/>
            <a:chOff x="1968" y="576"/>
            <a:chExt cx="720" cy="1104"/>
          </a:xfrm>
        </p:grpSpPr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2256" y="96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latin typeface="+mn-lt"/>
                </a:rPr>
                <a:t>L</a:t>
              </a:r>
            </a:p>
          </p:txBody>
        </p:sp>
        <p:sp>
          <p:nvSpPr>
            <p:cNvPr id="43" name="Line 16"/>
            <p:cNvSpPr>
              <a:spLocks noChangeShapeType="1"/>
            </p:cNvSpPr>
            <p:nvPr/>
          </p:nvSpPr>
          <p:spPr bwMode="auto">
            <a:xfrm>
              <a:off x="1968" y="576"/>
              <a:ext cx="624" cy="1104"/>
            </a:xfrm>
            <a:prstGeom prst="line">
              <a:avLst/>
            </a:prstGeom>
            <a:noFill/>
            <a:ln w="57150">
              <a:solidFill>
                <a:srgbClr val="ED0F0F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4862488" y="2378075"/>
            <a:ext cx="3733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But we </a:t>
            </a:r>
            <a:r>
              <a:rPr lang="en-AU" sz="2400">
                <a:solidFill>
                  <a:srgbClr val="ED0F0F"/>
                </a:solidFill>
                <a:latin typeface="+mn-lt"/>
              </a:rPr>
              <a:t>DO </a:t>
            </a:r>
            <a:r>
              <a:rPr lang="en-AU" sz="2400">
                <a:latin typeface="+mn-lt"/>
              </a:rPr>
              <a:t>have a right angled triangle made by </a:t>
            </a:r>
            <a:r>
              <a:rPr lang="en-AU" sz="2400" i="1">
                <a:latin typeface="+mn-lt"/>
              </a:rPr>
              <a:t>L, </a:t>
            </a:r>
            <a:r>
              <a:rPr lang="en-AU" sz="2400">
                <a:latin typeface="+mn-lt"/>
              </a:rPr>
              <a:t>5 and 12!!</a:t>
            </a:r>
          </a:p>
        </p:txBody>
      </p:sp>
      <p:sp>
        <p:nvSpPr>
          <p:cNvPr id="52" name="Text Box 19"/>
          <p:cNvSpPr txBox="1">
            <a:spLocks noChangeArrowheads="1"/>
          </p:cNvSpPr>
          <p:nvPr/>
        </p:nvSpPr>
        <p:spPr bwMode="auto">
          <a:xfrm>
            <a:off x="5929288" y="3749675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AU" sz="2400">
              <a:latin typeface="+mn-lt"/>
            </a:endParaRPr>
          </a:p>
        </p:txBody>
      </p:sp>
      <p:pic>
        <p:nvPicPr>
          <p:cNvPr id="53" name="Picture 20" descr="BD06221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288" y="3521075"/>
            <a:ext cx="1339850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AutoShape 21"/>
          <p:cNvSpPr>
            <a:spLocks noChangeArrowheads="1"/>
          </p:cNvSpPr>
          <p:nvPr/>
        </p:nvSpPr>
        <p:spPr bwMode="auto">
          <a:xfrm>
            <a:off x="7300888" y="3444875"/>
            <a:ext cx="1676400" cy="990600"/>
          </a:xfrm>
          <a:prstGeom prst="wedgeEllipseCallout">
            <a:avLst>
              <a:gd name="adj1" fmla="val -64204"/>
              <a:gd name="adj2" fmla="val 52722"/>
            </a:avLst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AU" sz="2400"/>
              <a:t>Pythag!</a:t>
            </a:r>
          </a:p>
        </p:txBody>
      </p:sp>
      <p:sp>
        <p:nvSpPr>
          <p:cNvPr id="55" name="Text Box 22"/>
          <p:cNvSpPr txBox="1">
            <a:spLocks noChangeArrowheads="1"/>
          </p:cNvSpPr>
          <p:nvPr/>
        </p:nvSpPr>
        <p:spPr bwMode="auto">
          <a:xfrm>
            <a:off x="2576488" y="4130675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L</a:t>
            </a:r>
            <a:r>
              <a:rPr lang="en-AU" sz="2400" baseline="30000">
                <a:latin typeface="+mn-lt"/>
              </a:rPr>
              <a:t>2</a:t>
            </a:r>
            <a:r>
              <a:rPr lang="en-AU" sz="2400">
                <a:latin typeface="+mn-lt"/>
              </a:rPr>
              <a:t> = 5</a:t>
            </a:r>
            <a:r>
              <a:rPr lang="en-AU" sz="2400" baseline="30000">
                <a:latin typeface="+mn-lt"/>
              </a:rPr>
              <a:t>2</a:t>
            </a:r>
            <a:r>
              <a:rPr lang="en-AU" sz="2400">
                <a:latin typeface="+mn-lt"/>
              </a:rPr>
              <a:t> + 12</a:t>
            </a:r>
            <a:r>
              <a:rPr lang="en-AU" sz="2400" baseline="30000">
                <a:latin typeface="+mn-lt"/>
              </a:rPr>
              <a:t>2</a:t>
            </a:r>
            <a:endParaRPr lang="en-AU" sz="2400" i="1">
              <a:latin typeface="+mn-lt"/>
            </a:endParaRPr>
          </a:p>
        </p:txBody>
      </p:sp>
      <p:sp>
        <p:nvSpPr>
          <p:cNvPr id="72" name="Line 23"/>
          <p:cNvSpPr>
            <a:spLocks noChangeShapeType="1"/>
          </p:cNvSpPr>
          <p:nvPr/>
        </p:nvSpPr>
        <p:spPr bwMode="auto">
          <a:xfrm flipH="1">
            <a:off x="4481488" y="4206875"/>
            <a:ext cx="1295400" cy="0"/>
          </a:xfrm>
          <a:prstGeom prst="line">
            <a:avLst/>
          </a:prstGeom>
          <a:noFill/>
          <a:ln w="76200" cap="sq">
            <a:solidFill>
              <a:srgbClr val="D60093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73" name="Text Box 24"/>
          <p:cNvSpPr txBox="1">
            <a:spLocks noChangeArrowheads="1"/>
          </p:cNvSpPr>
          <p:nvPr/>
        </p:nvSpPr>
        <p:spPr bwMode="auto">
          <a:xfrm>
            <a:off x="2576488" y="4664075"/>
            <a:ext cx="192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AU" sz="2400" i="1">
                <a:latin typeface="+mn-lt"/>
              </a:rPr>
              <a:t>L</a:t>
            </a:r>
            <a:r>
              <a:rPr lang="en-AU" sz="2400" i="1" baseline="30000">
                <a:latin typeface="+mn-lt"/>
              </a:rPr>
              <a:t>2</a:t>
            </a:r>
            <a:r>
              <a:rPr lang="en-AU" sz="2400" i="1">
                <a:latin typeface="+mn-lt"/>
              </a:rPr>
              <a:t>  </a:t>
            </a:r>
            <a:r>
              <a:rPr lang="en-AU" sz="2400">
                <a:latin typeface="+mn-lt"/>
              </a:rPr>
              <a:t>= 169</a:t>
            </a:r>
          </a:p>
        </p:txBody>
      </p:sp>
      <p:sp>
        <p:nvSpPr>
          <p:cNvPr id="74" name="Text Box 25"/>
          <p:cNvSpPr txBox="1">
            <a:spLocks noChangeArrowheads="1"/>
          </p:cNvSpPr>
          <p:nvPr/>
        </p:nvSpPr>
        <p:spPr bwMode="auto">
          <a:xfrm>
            <a:off x="2728888" y="5121275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i="1">
                <a:latin typeface="+mn-lt"/>
              </a:rPr>
              <a:t>L = </a:t>
            </a:r>
            <a:r>
              <a:rPr lang="en-AU" sz="2400">
                <a:latin typeface="+mn-lt"/>
              </a:rPr>
              <a:t>13 </a:t>
            </a:r>
            <a:r>
              <a:rPr lang="en-AU" sz="2400" i="1">
                <a:latin typeface="+mn-lt"/>
              </a:rPr>
              <a:t>cm</a:t>
            </a:r>
            <a:endParaRPr lang="en-AU" sz="2400">
              <a:latin typeface="+mn-lt"/>
            </a:endParaRPr>
          </a:p>
        </p:txBody>
      </p:sp>
      <p:sp>
        <p:nvSpPr>
          <p:cNvPr id="75" name="Text Box 26"/>
          <p:cNvSpPr txBox="1">
            <a:spLocks noChangeArrowheads="1"/>
          </p:cNvSpPr>
          <p:nvPr/>
        </p:nvSpPr>
        <p:spPr bwMode="auto">
          <a:xfrm>
            <a:off x="2043088" y="5730875"/>
            <a:ext cx="69342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500">
                <a:latin typeface="+mn-lt"/>
              </a:rPr>
              <a:t>TSA = </a:t>
            </a:r>
            <a:r>
              <a:rPr lang="en-AU" sz="3500">
                <a:latin typeface="+mn-lt"/>
                <a:sym typeface="Symbol" pitchFamily="18" charset="2"/>
              </a:rPr>
              <a:t> </a:t>
            </a:r>
            <a:r>
              <a:rPr lang="en-AU" sz="3500" i="1">
                <a:latin typeface="+mn-lt"/>
                <a:sym typeface="Symbol" pitchFamily="18" charset="2"/>
              </a:rPr>
              <a:t>r</a:t>
            </a:r>
            <a:r>
              <a:rPr lang="en-AU" sz="3500">
                <a:latin typeface="+mn-lt"/>
                <a:sym typeface="Symbol" pitchFamily="18" charset="2"/>
              </a:rPr>
              <a:t> </a:t>
            </a:r>
            <a:r>
              <a:rPr lang="en-AU" sz="3500" i="1">
                <a:latin typeface="+mn-lt"/>
                <a:sym typeface="Symbol" pitchFamily="18" charset="2"/>
              </a:rPr>
              <a:t>L </a:t>
            </a:r>
            <a:r>
              <a:rPr lang="en-AU" sz="3500">
                <a:latin typeface="+mn-lt"/>
                <a:sym typeface="Symbol" pitchFamily="18" charset="2"/>
              </a:rPr>
              <a:t>=  </a:t>
            </a:r>
            <a:r>
              <a:rPr lang="en-AU" sz="2400">
                <a:latin typeface="+mn-lt"/>
                <a:sym typeface="Symbol" pitchFamily="18" charset="2"/>
              </a:rPr>
              <a:t> </a:t>
            </a:r>
            <a:r>
              <a:rPr lang="en-AU" sz="3500">
                <a:latin typeface="+mn-lt"/>
                <a:sym typeface="Symbol" pitchFamily="18" charset="2"/>
              </a:rPr>
              <a:t>5</a:t>
            </a:r>
            <a:r>
              <a:rPr lang="en-AU" sz="2400">
                <a:latin typeface="+mn-lt"/>
                <a:sym typeface="Symbol" pitchFamily="18" charset="2"/>
              </a:rPr>
              <a:t>   </a:t>
            </a:r>
            <a:r>
              <a:rPr lang="en-AU" sz="3500">
                <a:latin typeface="+mn-lt"/>
                <a:sym typeface="Symbol" pitchFamily="18" charset="2"/>
              </a:rPr>
              <a:t>13 = </a:t>
            </a:r>
            <a:r>
              <a:rPr lang="en-AU" sz="3500">
                <a:solidFill>
                  <a:srgbClr val="006600"/>
                </a:solidFill>
                <a:latin typeface="+mn-lt"/>
                <a:sym typeface="Symbol" pitchFamily="18" charset="2"/>
              </a:rPr>
              <a:t>204.2 </a:t>
            </a:r>
            <a:r>
              <a:rPr lang="en-AU" sz="3500" i="1">
                <a:solidFill>
                  <a:srgbClr val="006600"/>
                </a:solidFill>
                <a:latin typeface="+mn-lt"/>
                <a:sym typeface="Symbol" pitchFamily="18" charset="2"/>
              </a:rPr>
              <a:t>cm</a:t>
            </a:r>
            <a:r>
              <a:rPr lang="en-AU" sz="3500" baseline="30000">
                <a:solidFill>
                  <a:srgbClr val="006600"/>
                </a:solidFill>
                <a:latin typeface="+mn-lt"/>
                <a:sym typeface="Symbol" pitchFamily="18" charset="2"/>
              </a:rPr>
              <a:t>2</a:t>
            </a:r>
            <a:endParaRPr lang="en-AU" sz="2400">
              <a:solidFill>
                <a:srgbClr val="0066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76" name="Text Box 27"/>
          <p:cNvSpPr txBox="1">
            <a:spLocks noChangeArrowheads="1"/>
          </p:cNvSpPr>
          <p:nvPr/>
        </p:nvSpPr>
        <p:spPr bwMode="auto">
          <a:xfrm>
            <a:off x="3994126" y="1652588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ED0F0F"/>
                </a:solidFill>
                <a:latin typeface="+mn-lt"/>
              </a:rPr>
              <a:t>=13</a:t>
            </a:r>
          </a:p>
        </p:txBody>
      </p:sp>
      <p:sp>
        <p:nvSpPr>
          <p:cNvPr id="77" name="Text Box 28"/>
          <p:cNvSpPr txBox="1">
            <a:spLocks noChangeArrowheads="1"/>
          </p:cNvSpPr>
          <p:nvPr/>
        </p:nvSpPr>
        <p:spPr bwMode="auto">
          <a:xfrm>
            <a:off x="5146651" y="644525"/>
            <a:ext cx="3455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4000">
                <a:solidFill>
                  <a:srgbClr val="660033"/>
                </a:solidFill>
                <a:latin typeface="+mn-lt"/>
              </a:rPr>
              <a:t>TSA = </a:t>
            </a:r>
            <a:r>
              <a:rPr lang="en-AU" sz="4000">
                <a:solidFill>
                  <a:srgbClr val="660033"/>
                </a:solidFill>
                <a:latin typeface="+mn-lt"/>
                <a:sym typeface="Symbol" pitchFamily="18" charset="2"/>
              </a:rPr>
              <a:t> r L</a:t>
            </a:r>
          </a:p>
        </p:txBody>
      </p:sp>
    </p:spTree>
    <p:extLst>
      <p:ext uri="{BB962C8B-B14F-4D97-AF65-F5344CB8AC3E}">
        <p14:creationId xmlns:p14="http://schemas.microsoft.com/office/powerpoint/2010/main" val="33636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Sphere?</a:t>
            </a:r>
            <a:endParaRPr lang="en-AU" sz="1600" dirty="0"/>
          </a:p>
        </p:txBody>
      </p:sp>
      <p:sp>
        <p:nvSpPr>
          <p:cNvPr id="45" name="Text Box 2"/>
          <p:cNvSpPr txBox="1">
            <a:spLocks noChangeArrowheads="1"/>
          </p:cNvSpPr>
          <p:nvPr/>
        </p:nvSpPr>
        <p:spPr bwMode="auto">
          <a:xfrm>
            <a:off x="1996852" y="249238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2.4: TSA of a Sphere</a:t>
            </a:r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2438400" y="3089276"/>
            <a:ext cx="571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4000">
                <a:latin typeface="+mn-lt"/>
              </a:rPr>
              <a:t>TSA = 4 </a:t>
            </a:r>
            <a:r>
              <a:rPr lang="en-AU" sz="4000">
                <a:latin typeface="+mn-lt"/>
                <a:sym typeface="Symbol" pitchFamily="18" charset="2"/>
              </a:rPr>
              <a:t> </a:t>
            </a:r>
            <a:r>
              <a:rPr lang="en-AU" sz="4000" i="1">
                <a:latin typeface="+mn-lt"/>
                <a:sym typeface="Symbol" pitchFamily="18" charset="2"/>
              </a:rPr>
              <a:t>r</a:t>
            </a:r>
            <a:r>
              <a:rPr lang="en-AU" sz="4000" baseline="30000">
                <a:latin typeface="+mn-lt"/>
                <a:sym typeface="Symbol" pitchFamily="18" charset="2"/>
              </a:rPr>
              <a:t>2</a:t>
            </a:r>
            <a:endParaRPr lang="en-AU" sz="4000">
              <a:latin typeface="+mn-lt"/>
            </a:endParaRPr>
          </a:p>
        </p:txBody>
      </p:sp>
      <p:grpSp>
        <p:nvGrpSpPr>
          <p:cNvPr id="47" name="Group 7"/>
          <p:cNvGrpSpPr>
            <a:grpSpLocks/>
          </p:cNvGrpSpPr>
          <p:nvPr/>
        </p:nvGrpSpPr>
        <p:grpSpPr bwMode="auto">
          <a:xfrm>
            <a:off x="3276600" y="935038"/>
            <a:ext cx="2133600" cy="2133600"/>
            <a:chOff x="1920" y="576"/>
            <a:chExt cx="1344" cy="1344"/>
          </a:xfrm>
        </p:grpSpPr>
        <p:sp>
          <p:nvSpPr>
            <p:cNvPr id="48" name="Oval 3"/>
            <p:cNvSpPr>
              <a:spLocks noChangeArrowheads="1"/>
            </p:cNvSpPr>
            <p:nvPr/>
          </p:nvSpPr>
          <p:spPr bwMode="auto">
            <a:xfrm rot="3236420">
              <a:off x="1920" y="576"/>
              <a:ext cx="1344" cy="1344"/>
            </a:xfrm>
            <a:prstGeom prst="ellipse">
              <a:avLst/>
            </a:prstGeom>
            <a:gradFill rotWithShape="0">
              <a:gsLst>
                <a:gs pos="0">
                  <a:srgbClr val="F5F6FD"/>
                </a:gs>
                <a:gs pos="100000">
                  <a:srgbClr val="717275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9" name="Text Box 5"/>
            <p:cNvSpPr txBox="1">
              <a:spLocks noChangeArrowheads="1"/>
            </p:cNvSpPr>
            <p:nvPr/>
          </p:nvSpPr>
          <p:spPr bwMode="auto">
            <a:xfrm>
              <a:off x="2832" y="10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400" i="1">
                  <a:solidFill>
                    <a:srgbClr val="ED0F0F"/>
                  </a:solidFill>
                  <a:latin typeface="+mn-lt"/>
                </a:rPr>
                <a:t>r</a:t>
              </a:r>
            </a:p>
          </p:txBody>
        </p:sp>
        <p:sp>
          <p:nvSpPr>
            <p:cNvPr id="50" name="Line 6"/>
            <p:cNvSpPr>
              <a:spLocks noChangeShapeType="1"/>
            </p:cNvSpPr>
            <p:nvPr/>
          </p:nvSpPr>
          <p:spPr bwMode="auto">
            <a:xfrm>
              <a:off x="2592" y="1248"/>
              <a:ext cx="672" cy="0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51" name="Group 18"/>
          <p:cNvGrpSpPr>
            <a:grpSpLocks/>
          </p:cNvGrpSpPr>
          <p:nvPr/>
        </p:nvGrpSpPr>
        <p:grpSpPr bwMode="auto">
          <a:xfrm>
            <a:off x="3144838" y="4457701"/>
            <a:ext cx="2016125" cy="1800225"/>
            <a:chOff x="1837" y="2795"/>
            <a:chExt cx="1270" cy="1134"/>
          </a:xfrm>
        </p:grpSpPr>
        <p:sp>
          <p:nvSpPr>
            <p:cNvPr id="56" name="Oval 9"/>
            <p:cNvSpPr>
              <a:spLocks noChangeArrowheads="1"/>
            </p:cNvSpPr>
            <p:nvPr/>
          </p:nvSpPr>
          <p:spPr bwMode="auto">
            <a:xfrm rot="5302015">
              <a:off x="1905" y="2727"/>
              <a:ext cx="1134" cy="1270"/>
            </a:xfrm>
            <a:prstGeom prst="ellipse">
              <a:avLst/>
            </a:prstGeom>
            <a:gradFill rotWithShape="0">
              <a:gsLst>
                <a:gs pos="0">
                  <a:srgbClr val="F5F6FD"/>
                </a:gs>
                <a:gs pos="100000">
                  <a:srgbClr val="717275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57" name="Text Box 10"/>
            <p:cNvSpPr txBox="1">
              <a:spLocks noChangeArrowheads="1"/>
            </p:cNvSpPr>
            <p:nvPr/>
          </p:nvSpPr>
          <p:spPr bwMode="auto">
            <a:xfrm rot="2065594">
              <a:off x="2336" y="3158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2200">
                  <a:solidFill>
                    <a:srgbClr val="ED0F0F"/>
                  </a:solidFill>
                  <a:latin typeface="+mn-lt"/>
                </a:rPr>
                <a:t>10cm</a:t>
              </a:r>
            </a:p>
          </p:txBody>
        </p:sp>
        <p:sp>
          <p:nvSpPr>
            <p:cNvPr id="58" name="Line 11"/>
            <p:cNvSpPr>
              <a:spLocks noChangeShapeType="1"/>
            </p:cNvSpPr>
            <p:nvPr/>
          </p:nvSpPr>
          <p:spPr bwMode="auto">
            <a:xfrm rot="2065594">
              <a:off x="1893" y="3358"/>
              <a:ext cx="1214" cy="20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59" name="Text Box 12"/>
          <p:cNvSpPr txBox="1">
            <a:spLocks noChangeArrowheads="1"/>
          </p:cNvSpPr>
          <p:nvPr/>
        </p:nvSpPr>
        <p:spPr bwMode="auto">
          <a:xfrm>
            <a:off x="1973519" y="4241801"/>
            <a:ext cx="1439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>
                <a:latin typeface="+mn-lt"/>
              </a:rPr>
              <a:t>Example</a:t>
            </a:r>
          </a:p>
        </p:txBody>
      </p:sp>
      <p:sp>
        <p:nvSpPr>
          <p:cNvPr id="60" name="Line 13"/>
          <p:cNvSpPr>
            <a:spLocks noChangeShapeType="1"/>
          </p:cNvSpPr>
          <p:nvPr/>
        </p:nvSpPr>
        <p:spPr bwMode="auto">
          <a:xfrm>
            <a:off x="1763688" y="3954463"/>
            <a:ext cx="7213625" cy="0"/>
          </a:xfrm>
          <a:prstGeom prst="line">
            <a:avLst/>
          </a:prstGeom>
          <a:noFill/>
          <a:ln w="76200" cap="sq">
            <a:solidFill>
              <a:srgbClr val="66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61" name="Text Box 14"/>
          <p:cNvSpPr txBox="1">
            <a:spLocks noChangeArrowheads="1"/>
          </p:cNvSpPr>
          <p:nvPr/>
        </p:nvSpPr>
        <p:spPr bwMode="auto">
          <a:xfrm>
            <a:off x="5448300" y="4170363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TSA = 4</a:t>
            </a:r>
            <a:r>
              <a:rPr lang="en-AU" sz="2400">
                <a:latin typeface="+mn-lt"/>
                <a:sym typeface="Symbol" pitchFamily="18" charset="2"/>
              </a:rPr>
              <a:t>r</a:t>
            </a:r>
            <a:r>
              <a:rPr lang="en-AU" sz="2400" baseline="30000">
                <a:latin typeface="+mn-lt"/>
                <a:sym typeface="Symbol" pitchFamily="18" charset="2"/>
              </a:rPr>
              <a:t>2</a:t>
            </a:r>
            <a:endParaRPr lang="en-AU" sz="2400">
              <a:latin typeface="+mn-lt"/>
              <a:sym typeface="Symbol" pitchFamily="18" charset="2"/>
            </a:endParaRPr>
          </a:p>
        </p:txBody>
      </p:sp>
      <p:sp>
        <p:nvSpPr>
          <p:cNvPr id="62" name="Text Box 15"/>
          <p:cNvSpPr txBox="1">
            <a:spLocks noChangeArrowheads="1"/>
          </p:cNvSpPr>
          <p:nvPr/>
        </p:nvSpPr>
        <p:spPr bwMode="auto">
          <a:xfrm>
            <a:off x="7537450" y="4170363"/>
            <a:ext cx="1655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800">
                <a:solidFill>
                  <a:srgbClr val="ED0F0F"/>
                </a:solidFill>
                <a:latin typeface="+mn-lt"/>
              </a:rPr>
              <a:t>Note r = 5</a:t>
            </a:r>
          </a:p>
        </p:txBody>
      </p:sp>
      <p:sp>
        <p:nvSpPr>
          <p:cNvPr id="63" name="Text Box 16"/>
          <p:cNvSpPr txBox="1">
            <a:spLocks noChangeArrowheads="1"/>
          </p:cNvSpPr>
          <p:nvPr/>
        </p:nvSpPr>
        <p:spPr bwMode="auto">
          <a:xfrm>
            <a:off x="5448300" y="4576763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         = 4</a:t>
            </a:r>
            <a:r>
              <a:rPr lang="en-AU" sz="2400">
                <a:latin typeface="+mn-lt"/>
                <a:sym typeface="Symbol" pitchFamily="18" charset="2"/>
              </a:rPr>
              <a:t> </a:t>
            </a:r>
            <a:r>
              <a:rPr lang="en-US" sz="2400">
                <a:latin typeface="+mn-lt"/>
                <a:cs typeface="Times New Roman" pitchFamily="18" charset="0"/>
                <a:sym typeface="Symbol" pitchFamily="18" charset="2"/>
              </a:rPr>
              <a:t>× 5</a:t>
            </a:r>
            <a:r>
              <a:rPr lang="en-AU" sz="2400" baseline="30000">
                <a:latin typeface="+mn-lt"/>
                <a:sym typeface="Symbol" pitchFamily="18" charset="2"/>
              </a:rPr>
              <a:t>2</a:t>
            </a:r>
            <a:endParaRPr lang="en-AU" sz="2400">
              <a:latin typeface="+mn-lt"/>
              <a:sym typeface="Symbol" pitchFamily="18" charset="2"/>
            </a:endParaRPr>
          </a:p>
        </p:txBody>
      </p:sp>
      <p:sp>
        <p:nvSpPr>
          <p:cNvPr id="64" name="Text Box 17"/>
          <p:cNvSpPr txBox="1">
            <a:spLocks noChangeArrowheads="1"/>
          </p:cNvSpPr>
          <p:nvPr/>
        </p:nvSpPr>
        <p:spPr bwMode="auto">
          <a:xfrm>
            <a:off x="5448300" y="5008563"/>
            <a:ext cx="280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         = 314.16 cm</a:t>
            </a:r>
            <a:r>
              <a:rPr lang="en-AU" sz="2400" baseline="30000">
                <a:latin typeface="+mn-lt"/>
              </a:rPr>
              <a:t>2</a:t>
            </a:r>
            <a:endParaRPr lang="en-AU" sz="2400">
              <a:latin typeface="+mn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5865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Pyramid?</a:t>
            </a:r>
            <a:endParaRPr lang="en-AU" sz="1600" dirty="0"/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2324100" y="379636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 smtClean="0">
                <a:latin typeface="+mn-lt"/>
              </a:rPr>
              <a:t>TSA </a:t>
            </a:r>
            <a:r>
              <a:rPr lang="en-AU" sz="2400" dirty="0">
                <a:latin typeface="+mn-lt"/>
              </a:rPr>
              <a:t>of a Pyramid</a:t>
            </a:r>
          </a:p>
        </p:txBody>
      </p:sp>
      <p:grpSp>
        <p:nvGrpSpPr>
          <p:cNvPr id="21" name="Group 8"/>
          <p:cNvGrpSpPr>
            <a:grpSpLocks/>
          </p:cNvGrpSpPr>
          <p:nvPr/>
        </p:nvGrpSpPr>
        <p:grpSpPr bwMode="auto">
          <a:xfrm>
            <a:off x="4076700" y="303436"/>
            <a:ext cx="3124200" cy="2438400"/>
            <a:chOff x="2064" y="192"/>
            <a:chExt cx="1968" cy="1536"/>
          </a:xfrm>
        </p:grpSpPr>
        <p:sp>
          <p:nvSpPr>
            <p:cNvPr id="22" name="AutoShape 3"/>
            <p:cNvSpPr>
              <a:spLocks noChangeArrowheads="1"/>
            </p:cNvSpPr>
            <p:nvPr/>
          </p:nvSpPr>
          <p:spPr bwMode="auto">
            <a:xfrm>
              <a:off x="2064" y="1392"/>
              <a:ext cx="1968" cy="336"/>
            </a:xfrm>
            <a:prstGeom prst="parallelogram">
              <a:avLst>
                <a:gd name="adj" fmla="val 146429"/>
              </a:avLst>
            </a:prstGeom>
            <a:solidFill>
              <a:srgbClr val="00FF00"/>
            </a:solidFill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23" name="Line 4"/>
            <p:cNvSpPr>
              <a:spLocks noChangeShapeType="1"/>
            </p:cNvSpPr>
            <p:nvPr/>
          </p:nvSpPr>
          <p:spPr bwMode="auto">
            <a:xfrm flipH="1">
              <a:off x="2064" y="192"/>
              <a:ext cx="960" cy="15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" name="Line 5"/>
            <p:cNvSpPr>
              <a:spLocks noChangeShapeType="1"/>
            </p:cNvSpPr>
            <p:nvPr/>
          </p:nvSpPr>
          <p:spPr bwMode="auto">
            <a:xfrm>
              <a:off x="3024" y="192"/>
              <a:ext cx="528" cy="15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5" name="Line 6"/>
            <p:cNvSpPr>
              <a:spLocks noChangeShapeType="1"/>
            </p:cNvSpPr>
            <p:nvPr/>
          </p:nvSpPr>
          <p:spPr bwMode="auto">
            <a:xfrm>
              <a:off x="3024" y="192"/>
              <a:ext cx="1008" cy="12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auto">
            <a:xfrm flipH="1">
              <a:off x="2544" y="192"/>
              <a:ext cx="48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2857500" y="2894236"/>
            <a:ext cx="556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Rectangular-based pyramids (closed) have five faces: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3695700" y="3656236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(1) a base – only one of these!</a:t>
            </a: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3695700" y="4189636"/>
            <a:ext cx="4876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(2) a front &amp; back triangular side (same size)</a:t>
            </a: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3695700" y="4951636"/>
            <a:ext cx="4419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(3) a left &amp; right triangular side (same size)</a:t>
            </a:r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2628900" y="5789836"/>
            <a:ext cx="6019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rgbClr val="2112EA"/>
                </a:solidFill>
                <a:latin typeface="+mn-lt"/>
              </a:rPr>
              <a:t>If it’s a </a:t>
            </a:r>
            <a:r>
              <a:rPr lang="en-AU" sz="2400" u="sng">
                <a:solidFill>
                  <a:srgbClr val="2112EA"/>
                </a:solidFill>
                <a:latin typeface="+mn-lt"/>
              </a:rPr>
              <a:t>square</a:t>
            </a:r>
            <a:r>
              <a:rPr lang="en-AU" sz="2400">
                <a:solidFill>
                  <a:srgbClr val="2112EA"/>
                </a:solidFill>
                <a:latin typeface="+mn-lt"/>
              </a:rPr>
              <a:t> based pyramid, all 4 sides are the same size!</a:t>
            </a:r>
          </a:p>
        </p:txBody>
      </p:sp>
    </p:spTree>
    <p:extLst>
      <p:ext uri="{BB962C8B-B14F-4D97-AF65-F5344CB8AC3E}">
        <p14:creationId xmlns:p14="http://schemas.microsoft.com/office/powerpoint/2010/main" val="57997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Pyramid?</a:t>
            </a:r>
            <a:endParaRPr lang="en-AU" sz="1600" dirty="0"/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2051050" y="404813"/>
            <a:ext cx="676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 dirty="0" smtClean="0">
                <a:latin typeface="+mn-lt"/>
              </a:rPr>
              <a:t>Find </a:t>
            </a:r>
            <a:r>
              <a:rPr lang="en-AU" sz="2400" dirty="0">
                <a:latin typeface="+mn-lt"/>
              </a:rPr>
              <a:t>TSA of this closed pyramid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4932363" y="1125538"/>
            <a:ext cx="4032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800" b="0">
                <a:latin typeface="+mn-lt"/>
              </a:rPr>
              <a:t>Perp ht from centre of base is </a:t>
            </a:r>
            <a:r>
              <a:rPr lang="en-AU" sz="1800" b="0">
                <a:solidFill>
                  <a:srgbClr val="ED0F0F"/>
                </a:solidFill>
                <a:latin typeface="+mn-lt"/>
              </a:rPr>
              <a:t>12cm</a:t>
            </a: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4932363" y="1549400"/>
            <a:ext cx="4032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800" b="0">
                <a:latin typeface="+mn-lt"/>
              </a:rPr>
              <a:t>Square base of side 10cm</a:t>
            </a: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4932363" y="1982788"/>
            <a:ext cx="403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800" b="0">
                <a:latin typeface="+mn-lt"/>
              </a:rPr>
              <a:t>Perp ht. of each of the 4 sloping triangles is </a:t>
            </a:r>
            <a:r>
              <a:rPr lang="en-AU" sz="1800" b="0">
                <a:solidFill>
                  <a:srgbClr val="2112EA"/>
                </a:solidFill>
                <a:latin typeface="+mn-lt"/>
              </a:rPr>
              <a:t>13cm (this is actually a sloping length)</a:t>
            </a:r>
          </a:p>
        </p:txBody>
      </p:sp>
      <p:sp>
        <p:nvSpPr>
          <p:cNvPr id="34" name="Text Box 22"/>
          <p:cNvSpPr txBox="1">
            <a:spLocks noChangeArrowheads="1"/>
          </p:cNvSpPr>
          <p:nvPr/>
        </p:nvSpPr>
        <p:spPr bwMode="auto">
          <a:xfrm>
            <a:off x="2339975" y="4149725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BASE:</a:t>
            </a:r>
          </a:p>
        </p:txBody>
      </p:sp>
      <p:sp>
        <p:nvSpPr>
          <p:cNvPr id="35" name="Text Box 23"/>
          <p:cNvSpPr txBox="1">
            <a:spLocks noChangeArrowheads="1"/>
          </p:cNvSpPr>
          <p:nvPr/>
        </p:nvSpPr>
        <p:spPr bwMode="auto">
          <a:xfrm>
            <a:off x="3708400" y="4149725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10 </a:t>
            </a:r>
            <a:r>
              <a:rPr lang="en-US" sz="2400">
                <a:latin typeface="+mn-lt"/>
                <a:cs typeface="Times New Roman" pitchFamily="18" charset="0"/>
              </a:rPr>
              <a:t>× 10 = </a:t>
            </a:r>
            <a:r>
              <a:rPr lang="en-US" sz="2400">
                <a:solidFill>
                  <a:srgbClr val="ED0F0F"/>
                </a:solidFill>
                <a:latin typeface="+mn-lt"/>
                <a:cs typeface="Times New Roman" pitchFamily="18" charset="0"/>
              </a:rPr>
              <a:t>100 cm</a:t>
            </a:r>
            <a:r>
              <a:rPr lang="en-US" sz="2400" baseline="30000">
                <a:solidFill>
                  <a:srgbClr val="ED0F0F"/>
                </a:solidFill>
                <a:latin typeface="+mn-lt"/>
                <a:cs typeface="Times New Roman" pitchFamily="18" charset="0"/>
              </a:rPr>
              <a:t>2</a:t>
            </a:r>
            <a:endParaRPr lang="en-US" sz="2400">
              <a:latin typeface="+mn-lt"/>
              <a:cs typeface="Times New Roman" pitchFamily="18" charset="0"/>
            </a:endParaRPr>
          </a:p>
        </p:txBody>
      </p:sp>
      <p:sp>
        <p:nvSpPr>
          <p:cNvPr id="36" name="Text Box 24"/>
          <p:cNvSpPr txBox="1">
            <a:spLocks noChangeArrowheads="1"/>
          </p:cNvSpPr>
          <p:nvPr/>
        </p:nvSpPr>
        <p:spPr bwMode="auto">
          <a:xfrm>
            <a:off x="2339975" y="4627563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EACH </a:t>
            </a:r>
            <a:r>
              <a:rPr lang="en-AU" sz="2400">
                <a:latin typeface="+mn-lt"/>
                <a:sym typeface="Symbol" pitchFamily="18" charset="2"/>
              </a:rPr>
              <a:t></a:t>
            </a:r>
            <a:r>
              <a:rPr lang="en-AU" sz="2400">
                <a:latin typeface="+mn-lt"/>
              </a:rPr>
              <a:t>:</a:t>
            </a: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3779838" y="4627563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½ 10 </a:t>
            </a:r>
            <a:r>
              <a:rPr lang="en-US" sz="2400">
                <a:latin typeface="+mn-lt"/>
                <a:cs typeface="Times New Roman" pitchFamily="18" charset="0"/>
              </a:rPr>
              <a:t>× 13 = </a:t>
            </a:r>
            <a:r>
              <a:rPr lang="en-US" sz="2400">
                <a:solidFill>
                  <a:srgbClr val="ED0F0F"/>
                </a:solidFill>
                <a:latin typeface="+mn-lt"/>
                <a:cs typeface="Times New Roman" pitchFamily="18" charset="0"/>
              </a:rPr>
              <a:t> 65 cm</a:t>
            </a:r>
            <a:r>
              <a:rPr lang="en-US" sz="2400" baseline="30000">
                <a:solidFill>
                  <a:srgbClr val="ED0F0F"/>
                </a:solidFill>
                <a:latin typeface="+mn-lt"/>
                <a:cs typeface="Times New Roman" pitchFamily="18" charset="0"/>
              </a:rPr>
              <a:t>2 </a:t>
            </a:r>
            <a:r>
              <a:rPr lang="en-US" sz="1800" b="0">
                <a:solidFill>
                  <a:srgbClr val="000000"/>
                </a:solidFill>
                <a:latin typeface="+mn-lt"/>
                <a:cs typeface="Times New Roman" pitchFamily="18" charset="0"/>
              </a:rPr>
              <a:t>(4 of these remember)</a:t>
            </a:r>
            <a:endParaRPr lang="en-US" sz="1800" b="0">
              <a:latin typeface="+mn-lt"/>
              <a:cs typeface="Times New Roman" pitchFamily="18" charset="0"/>
            </a:endParaRPr>
          </a:p>
        </p:txBody>
      </p:sp>
      <p:sp>
        <p:nvSpPr>
          <p:cNvPr id="38" name="Text Box 26"/>
          <p:cNvSpPr txBox="1">
            <a:spLocks noChangeArrowheads="1"/>
          </p:cNvSpPr>
          <p:nvPr/>
        </p:nvSpPr>
        <p:spPr bwMode="auto">
          <a:xfrm>
            <a:off x="2339975" y="5203825"/>
            <a:ext cx="1511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+mn-lt"/>
              </a:rPr>
              <a:t>TSA:</a:t>
            </a:r>
          </a:p>
        </p:txBody>
      </p:sp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3563938" y="5154613"/>
            <a:ext cx="38877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ED0F0F"/>
                </a:solidFill>
                <a:latin typeface="+mn-lt"/>
                <a:cs typeface="Times New Roman" pitchFamily="18" charset="0"/>
              </a:rPr>
              <a:t>100 + (4 × 65) = </a:t>
            </a:r>
            <a:r>
              <a:rPr lang="en-US" sz="3200">
                <a:solidFill>
                  <a:srgbClr val="D60093"/>
                </a:solidFill>
                <a:latin typeface="+mn-lt"/>
                <a:cs typeface="Times New Roman" pitchFamily="18" charset="0"/>
              </a:rPr>
              <a:t>360 cm</a:t>
            </a:r>
            <a:r>
              <a:rPr lang="en-US" sz="3200" baseline="30000">
                <a:solidFill>
                  <a:srgbClr val="D60093"/>
                </a:solidFill>
                <a:latin typeface="+mn-lt"/>
                <a:cs typeface="Times New Roman" pitchFamily="18" charset="0"/>
              </a:rPr>
              <a:t>2</a:t>
            </a:r>
            <a:endParaRPr lang="en-US" sz="3200">
              <a:solidFill>
                <a:srgbClr val="D60093"/>
              </a:solidFill>
              <a:latin typeface="+mn-lt"/>
              <a:cs typeface="Times New Roman" pitchFamily="18" charset="0"/>
            </a:endParaRPr>
          </a:p>
        </p:txBody>
      </p:sp>
      <p:grpSp>
        <p:nvGrpSpPr>
          <p:cNvPr id="40" name="Group 28"/>
          <p:cNvGrpSpPr>
            <a:grpSpLocks/>
          </p:cNvGrpSpPr>
          <p:nvPr/>
        </p:nvGrpSpPr>
        <p:grpSpPr bwMode="auto">
          <a:xfrm>
            <a:off x="2051050" y="1190625"/>
            <a:ext cx="3600450" cy="2743200"/>
            <a:chOff x="1020" y="754"/>
            <a:chExt cx="2268" cy="1728"/>
          </a:xfrm>
        </p:grpSpPr>
        <p:grpSp>
          <p:nvGrpSpPr>
            <p:cNvPr id="41" name="Group 5"/>
            <p:cNvGrpSpPr>
              <a:grpSpLocks/>
            </p:cNvGrpSpPr>
            <p:nvPr/>
          </p:nvGrpSpPr>
          <p:grpSpPr bwMode="auto">
            <a:xfrm>
              <a:off x="1020" y="760"/>
              <a:ext cx="1968" cy="1536"/>
              <a:chOff x="2064" y="192"/>
              <a:chExt cx="1968" cy="1536"/>
            </a:xfrm>
          </p:grpSpPr>
          <p:sp>
            <p:nvSpPr>
              <p:cNvPr id="48" name="AutoShape 6"/>
              <p:cNvSpPr>
                <a:spLocks noChangeArrowheads="1"/>
              </p:cNvSpPr>
              <p:nvPr/>
            </p:nvSpPr>
            <p:spPr bwMode="auto">
              <a:xfrm>
                <a:off x="2064" y="1392"/>
                <a:ext cx="1968" cy="336"/>
              </a:xfrm>
              <a:prstGeom prst="parallelogram">
                <a:avLst>
                  <a:gd name="adj" fmla="val 146429"/>
                </a:avLst>
              </a:prstGeom>
              <a:solidFill>
                <a:srgbClr val="00FF00"/>
              </a:solidFill>
              <a:ln w="381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9" name="Line 7"/>
              <p:cNvSpPr>
                <a:spLocks noChangeShapeType="1"/>
              </p:cNvSpPr>
              <p:nvPr/>
            </p:nvSpPr>
            <p:spPr bwMode="auto">
              <a:xfrm flipH="1">
                <a:off x="2064" y="192"/>
                <a:ext cx="960" cy="1536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50" name="Line 8"/>
              <p:cNvSpPr>
                <a:spLocks noChangeShapeType="1"/>
              </p:cNvSpPr>
              <p:nvPr/>
            </p:nvSpPr>
            <p:spPr bwMode="auto">
              <a:xfrm>
                <a:off x="3024" y="192"/>
                <a:ext cx="528" cy="1536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51" name="Line 9"/>
              <p:cNvSpPr>
                <a:spLocks noChangeShapeType="1"/>
              </p:cNvSpPr>
              <p:nvPr/>
            </p:nvSpPr>
            <p:spPr bwMode="auto">
              <a:xfrm>
                <a:off x="3024" y="192"/>
                <a:ext cx="1008" cy="120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52" name="Line 10"/>
              <p:cNvSpPr>
                <a:spLocks noChangeShapeType="1"/>
              </p:cNvSpPr>
              <p:nvPr/>
            </p:nvSpPr>
            <p:spPr bwMode="auto">
              <a:xfrm flipH="1">
                <a:off x="2544" y="192"/>
                <a:ext cx="48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42" name="Text Box 11"/>
            <p:cNvSpPr txBox="1">
              <a:spLocks noChangeArrowheads="1"/>
            </p:cNvSpPr>
            <p:nvPr/>
          </p:nvSpPr>
          <p:spPr bwMode="auto">
            <a:xfrm>
              <a:off x="1656" y="2251"/>
              <a:ext cx="58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800" b="0">
                  <a:latin typeface="+mn-lt"/>
                </a:rPr>
                <a:t>10cm</a:t>
              </a:r>
            </a:p>
          </p:txBody>
        </p:sp>
        <p:sp>
          <p:nvSpPr>
            <p:cNvPr id="43" name="Text Box 12"/>
            <p:cNvSpPr txBox="1">
              <a:spLocks noChangeArrowheads="1"/>
            </p:cNvSpPr>
            <p:nvPr/>
          </p:nvSpPr>
          <p:spPr bwMode="auto">
            <a:xfrm>
              <a:off x="2699" y="2065"/>
              <a:ext cx="58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800" b="0">
                  <a:latin typeface="+mn-lt"/>
                </a:rPr>
                <a:t>10cm</a:t>
              </a:r>
            </a:p>
          </p:txBody>
        </p:sp>
        <p:sp>
          <p:nvSpPr>
            <p:cNvPr id="44" name="Line 13"/>
            <p:cNvSpPr>
              <a:spLocks noChangeShapeType="1"/>
            </p:cNvSpPr>
            <p:nvPr/>
          </p:nvSpPr>
          <p:spPr bwMode="auto">
            <a:xfrm>
              <a:off x="1973" y="754"/>
              <a:ext cx="0" cy="1361"/>
            </a:xfrm>
            <a:prstGeom prst="line">
              <a:avLst/>
            </a:prstGeom>
            <a:noFill/>
            <a:ln w="38100" cap="rnd">
              <a:solidFill>
                <a:srgbClr val="ED0F0F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45" name="Text Box 15"/>
            <p:cNvSpPr txBox="1">
              <a:spLocks noChangeArrowheads="1"/>
            </p:cNvSpPr>
            <p:nvPr/>
          </p:nvSpPr>
          <p:spPr bwMode="auto">
            <a:xfrm>
              <a:off x="1791" y="1385"/>
              <a:ext cx="58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800" b="0">
                  <a:solidFill>
                    <a:srgbClr val="ED0F0F"/>
                  </a:solidFill>
                  <a:latin typeface="+mn-lt"/>
                </a:rPr>
                <a:t>12cm</a:t>
              </a:r>
            </a:p>
          </p:txBody>
        </p:sp>
        <p:sp>
          <p:nvSpPr>
            <p:cNvPr id="46" name="Line 16"/>
            <p:cNvSpPr>
              <a:spLocks noChangeShapeType="1"/>
            </p:cNvSpPr>
            <p:nvPr/>
          </p:nvSpPr>
          <p:spPr bwMode="auto">
            <a:xfrm>
              <a:off x="1973" y="754"/>
              <a:ext cx="771" cy="1361"/>
            </a:xfrm>
            <a:prstGeom prst="line">
              <a:avLst/>
            </a:prstGeom>
            <a:noFill/>
            <a:ln w="9525" cap="rnd">
              <a:solidFill>
                <a:srgbClr val="2112EA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47" name="Text Box 17"/>
            <p:cNvSpPr txBox="1">
              <a:spLocks noChangeArrowheads="1"/>
            </p:cNvSpPr>
            <p:nvPr/>
          </p:nvSpPr>
          <p:spPr bwMode="auto">
            <a:xfrm>
              <a:off x="2245" y="1385"/>
              <a:ext cx="5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>
                  <a:solidFill>
                    <a:srgbClr val="2112EA"/>
                  </a:solidFill>
                  <a:latin typeface="+mn-lt"/>
                </a:rPr>
                <a:t>13cm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002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1763688" y="-130413"/>
            <a:ext cx="0" cy="7029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060848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Pyramid?</a:t>
            </a:r>
            <a:endParaRPr lang="en-AU" sz="1600" dirty="0"/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2362201" y="5367338"/>
            <a:ext cx="6477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0" dirty="0">
                <a:latin typeface="+mn-lt"/>
              </a:rPr>
              <a:t>First let’s work out the area of triangle ADC (which will be the same as the one opposite it – ABE). We know its base is 6, but its perp. Height AG we have to </a:t>
            </a:r>
            <a:r>
              <a:rPr lang="en-US" b="0" dirty="0" smtClean="0">
                <a:latin typeface="+mn-lt"/>
              </a:rPr>
              <a:t>find – you will have to use </a:t>
            </a:r>
            <a:r>
              <a:rPr lang="en-US" b="0" dirty="0" err="1" smtClean="0">
                <a:latin typeface="+mn-lt"/>
              </a:rPr>
              <a:t>pythag</a:t>
            </a:r>
            <a:r>
              <a:rPr lang="en-US" b="0" dirty="0" smtClean="0">
                <a:latin typeface="+mn-lt"/>
              </a:rPr>
              <a:t>!!  And similarly with sides 4 &amp; 5 !</a:t>
            </a:r>
            <a:endParaRPr lang="en-US" b="0" dirty="0">
              <a:latin typeface="+mn-lt"/>
            </a:endParaRPr>
          </a:p>
        </p:txBody>
      </p:sp>
      <p:grpSp>
        <p:nvGrpSpPr>
          <p:cNvPr id="28" name="Group 28"/>
          <p:cNvGrpSpPr>
            <a:grpSpLocks/>
          </p:cNvGrpSpPr>
          <p:nvPr/>
        </p:nvGrpSpPr>
        <p:grpSpPr bwMode="auto">
          <a:xfrm>
            <a:off x="2501901" y="542925"/>
            <a:ext cx="5029200" cy="3124200"/>
            <a:chOff x="1392" y="384"/>
            <a:chExt cx="3168" cy="1968"/>
          </a:xfrm>
        </p:grpSpPr>
        <p:grpSp>
          <p:nvGrpSpPr>
            <p:cNvPr id="30" name="Group 2"/>
            <p:cNvGrpSpPr>
              <a:grpSpLocks/>
            </p:cNvGrpSpPr>
            <p:nvPr/>
          </p:nvGrpSpPr>
          <p:grpSpPr bwMode="auto">
            <a:xfrm>
              <a:off x="1392" y="384"/>
              <a:ext cx="3168" cy="1968"/>
              <a:chOff x="1392" y="384"/>
              <a:chExt cx="3168" cy="1968"/>
            </a:xfrm>
          </p:grpSpPr>
          <p:grpSp>
            <p:nvGrpSpPr>
              <p:cNvPr id="55" name="Group 3"/>
              <p:cNvGrpSpPr>
                <a:grpSpLocks/>
              </p:cNvGrpSpPr>
              <p:nvPr/>
            </p:nvGrpSpPr>
            <p:grpSpPr bwMode="auto">
              <a:xfrm>
                <a:off x="1584" y="576"/>
                <a:ext cx="2688" cy="1536"/>
                <a:chOff x="1920" y="720"/>
                <a:chExt cx="2688" cy="1536"/>
              </a:xfrm>
            </p:grpSpPr>
            <p:sp>
              <p:nvSpPr>
                <p:cNvPr id="61" name="AutoShape 4"/>
                <p:cNvSpPr>
                  <a:spLocks noChangeArrowheads="1"/>
                </p:cNvSpPr>
                <p:nvPr/>
              </p:nvSpPr>
              <p:spPr bwMode="auto">
                <a:xfrm>
                  <a:off x="1920" y="1920"/>
                  <a:ext cx="2688" cy="336"/>
                </a:xfrm>
                <a:prstGeom prst="parallelogram">
                  <a:avLst>
                    <a:gd name="adj" fmla="val 200000"/>
                  </a:avLst>
                </a:prstGeom>
                <a:solidFill>
                  <a:srgbClr val="FCA4F4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  <p:sp>
              <p:nvSpPr>
                <p:cNvPr id="62" name="Line 5"/>
                <p:cNvSpPr>
                  <a:spLocks noChangeShapeType="1"/>
                </p:cNvSpPr>
                <p:nvPr/>
              </p:nvSpPr>
              <p:spPr bwMode="auto">
                <a:xfrm flipH="1">
                  <a:off x="2592" y="720"/>
                  <a:ext cx="672" cy="12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AU"/>
                </a:p>
              </p:txBody>
            </p:sp>
            <p:sp>
              <p:nvSpPr>
                <p:cNvPr id="63" name="Line 6"/>
                <p:cNvSpPr>
                  <a:spLocks noChangeShapeType="1"/>
                </p:cNvSpPr>
                <p:nvPr/>
              </p:nvSpPr>
              <p:spPr bwMode="auto">
                <a:xfrm flipH="1">
                  <a:off x="1968" y="720"/>
                  <a:ext cx="1296" cy="148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AU"/>
                </a:p>
              </p:txBody>
            </p:sp>
            <p:sp>
              <p:nvSpPr>
                <p:cNvPr id="64" name="Line 7"/>
                <p:cNvSpPr>
                  <a:spLocks noChangeShapeType="1"/>
                </p:cNvSpPr>
                <p:nvPr/>
              </p:nvSpPr>
              <p:spPr bwMode="auto">
                <a:xfrm>
                  <a:off x="3264" y="720"/>
                  <a:ext cx="672" cy="1536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AU"/>
                </a:p>
              </p:txBody>
            </p:sp>
            <p:sp>
              <p:nvSpPr>
                <p:cNvPr id="65" name="Line 8"/>
                <p:cNvSpPr>
                  <a:spLocks noChangeShapeType="1"/>
                </p:cNvSpPr>
                <p:nvPr/>
              </p:nvSpPr>
              <p:spPr bwMode="auto">
                <a:xfrm>
                  <a:off x="3264" y="720"/>
                  <a:ext cx="1344" cy="120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AU"/>
                </a:p>
              </p:txBody>
            </p:sp>
          </p:grpSp>
          <p:sp>
            <p:nvSpPr>
              <p:cNvPr id="56" name="Text Box 9"/>
              <p:cNvSpPr txBox="1">
                <a:spLocks noChangeArrowheads="1"/>
              </p:cNvSpPr>
              <p:nvPr/>
            </p:nvSpPr>
            <p:spPr bwMode="auto">
              <a:xfrm>
                <a:off x="1392" y="201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400" b="0">
                    <a:latin typeface="+mn-lt"/>
                  </a:rPr>
                  <a:t>E</a:t>
                </a:r>
              </a:p>
            </p:txBody>
          </p:sp>
          <p:sp>
            <p:nvSpPr>
              <p:cNvPr id="57" name="Text Box 10"/>
              <p:cNvSpPr txBox="1">
                <a:spLocks noChangeArrowheads="1"/>
              </p:cNvSpPr>
              <p:nvPr/>
            </p:nvSpPr>
            <p:spPr bwMode="auto">
              <a:xfrm>
                <a:off x="2880" y="38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400" b="0">
                    <a:latin typeface="+mn-lt"/>
                  </a:rPr>
                  <a:t>A</a:t>
                </a:r>
              </a:p>
            </p:txBody>
          </p:sp>
          <p:sp>
            <p:nvSpPr>
              <p:cNvPr id="58" name="Text Box 11"/>
              <p:cNvSpPr txBox="1">
                <a:spLocks noChangeArrowheads="1"/>
              </p:cNvSpPr>
              <p:nvPr/>
            </p:nvSpPr>
            <p:spPr bwMode="auto">
              <a:xfrm>
                <a:off x="3600" y="206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400" b="0">
                    <a:latin typeface="+mn-lt"/>
                  </a:rPr>
                  <a:t>D</a:t>
                </a:r>
              </a:p>
            </p:txBody>
          </p:sp>
          <p:sp>
            <p:nvSpPr>
              <p:cNvPr id="59" name="Text Box 12"/>
              <p:cNvSpPr txBox="1">
                <a:spLocks noChangeArrowheads="1"/>
              </p:cNvSpPr>
              <p:nvPr/>
            </p:nvSpPr>
            <p:spPr bwMode="auto">
              <a:xfrm>
                <a:off x="4224" y="163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400" b="0">
                    <a:latin typeface="+mn-lt"/>
                  </a:rPr>
                  <a:t>C</a:t>
                </a:r>
              </a:p>
            </p:txBody>
          </p:sp>
          <p:sp>
            <p:nvSpPr>
              <p:cNvPr id="60" name="Text Box 13"/>
              <p:cNvSpPr txBox="1">
                <a:spLocks noChangeArrowheads="1"/>
              </p:cNvSpPr>
              <p:nvPr/>
            </p:nvSpPr>
            <p:spPr bwMode="auto">
              <a:xfrm>
                <a:off x="2256" y="15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400" b="0">
                    <a:latin typeface="+mn-lt"/>
                  </a:rPr>
                  <a:t>B</a:t>
                </a:r>
              </a:p>
            </p:txBody>
          </p:sp>
        </p:grpSp>
        <p:sp>
          <p:nvSpPr>
            <p:cNvPr id="32" name="Text Box 18"/>
            <p:cNvSpPr txBox="1">
              <a:spLocks noChangeArrowheads="1"/>
            </p:cNvSpPr>
            <p:nvPr/>
          </p:nvSpPr>
          <p:spPr bwMode="auto">
            <a:xfrm>
              <a:off x="2496" y="206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+mn-lt"/>
                </a:rPr>
                <a:t>8</a:t>
              </a:r>
            </a:p>
          </p:txBody>
        </p:sp>
        <p:sp>
          <p:nvSpPr>
            <p:cNvPr id="33" name="Text Box 19"/>
            <p:cNvSpPr txBox="1">
              <a:spLocks noChangeArrowheads="1"/>
            </p:cNvSpPr>
            <p:nvPr/>
          </p:nvSpPr>
          <p:spPr bwMode="auto">
            <a:xfrm>
              <a:off x="3888" y="187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+mn-lt"/>
                </a:rPr>
                <a:t>6</a:t>
              </a:r>
            </a:p>
          </p:txBody>
        </p:sp>
        <p:sp>
          <p:nvSpPr>
            <p:cNvPr id="53" name="Line 20"/>
            <p:cNvSpPr>
              <a:spLocks noChangeShapeType="1"/>
            </p:cNvSpPr>
            <p:nvPr/>
          </p:nvSpPr>
          <p:spPr bwMode="auto">
            <a:xfrm>
              <a:off x="2928" y="576"/>
              <a:ext cx="0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54" name="Text Box 21"/>
            <p:cNvSpPr txBox="1">
              <a:spLocks noChangeArrowheads="1"/>
            </p:cNvSpPr>
            <p:nvPr/>
          </p:nvSpPr>
          <p:spPr bwMode="auto">
            <a:xfrm>
              <a:off x="2736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+mn-lt"/>
                </a:rPr>
                <a:t>3</a:t>
              </a:r>
            </a:p>
          </p:txBody>
        </p:sp>
      </p:grpSp>
      <p:grpSp>
        <p:nvGrpSpPr>
          <p:cNvPr id="66" name="Group 29"/>
          <p:cNvGrpSpPr>
            <a:grpSpLocks/>
          </p:cNvGrpSpPr>
          <p:nvPr/>
        </p:nvGrpSpPr>
        <p:grpSpPr bwMode="auto">
          <a:xfrm>
            <a:off x="4954588" y="908050"/>
            <a:ext cx="1600200" cy="2271713"/>
            <a:chOff x="2928" y="576"/>
            <a:chExt cx="1008" cy="1431"/>
          </a:xfrm>
        </p:grpSpPr>
        <p:sp>
          <p:nvSpPr>
            <p:cNvPr id="67" name="Line 23"/>
            <p:cNvSpPr>
              <a:spLocks noChangeShapeType="1"/>
            </p:cNvSpPr>
            <p:nvPr/>
          </p:nvSpPr>
          <p:spPr bwMode="auto">
            <a:xfrm>
              <a:off x="2928" y="576"/>
              <a:ext cx="1008" cy="1344"/>
            </a:xfrm>
            <a:prstGeom prst="line">
              <a:avLst/>
            </a:prstGeom>
            <a:noFill/>
            <a:ln w="76200" cap="sq">
              <a:solidFill>
                <a:srgbClr val="33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68" name="Text Box 24"/>
            <p:cNvSpPr txBox="1">
              <a:spLocks noChangeArrowheads="1"/>
            </p:cNvSpPr>
            <p:nvPr/>
          </p:nvSpPr>
          <p:spPr bwMode="auto">
            <a:xfrm>
              <a:off x="3696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0">
                  <a:latin typeface="+mn-lt"/>
                </a:rPr>
                <a:t>G</a:t>
              </a:r>
            </a:p>
          </p:txBody>
        </p:sp>
      </p:grpSp>
      <p:sp>
        <p:nvSpPr>
          <p:cNvPr id="69" name="Text Box 27"/>
          <p:cNvSpPr txBox="1">
            <a:spLocks noChangeArrowheads="1"/>
          </p:cNvSpPr>
          <p:nvPr/>
        </p:nvSpPr>
        <p:spPr bwMode="auto">
          <a:xfrm>
            <a:off x="1998663" y="254000"/>
            <a:ext cx="61198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latin typeface="+mn-lt"/>
              </a:rPr>
              <a:t>Example 2  – (Extension). Find the TSA of this pyramid</a:t>
            </a:r>
          </a:p>
        </p:txBody>
      </p:sp>
      <p:grpSp>
        <p:nvGrpSpPr>
          <p:cNvPr id="70" name="Group 26"/>
          <p:cNvGrpSpPr>
            <a:grpSpLocks/>
          </p:cNvGrpSpPr>
          <p:nvPr/>
        </p:nvGrpSpPr>
        <p:grpSpPr bwMode="auto">
          <a:xfrm>
            <a:off x="4954588" y="908050"/>
            <a:ext cx="2133600" cy="2438400"/>
            <a:chOff x="2928" y="576"/>
            <a:chExt cx="1344" cy="1536"/>
          </a:xfrm>
        </p:grpSpPr>
        <p:sp>
          <p:nvSpPr>
            <p:cNvPr id="71" name="Line 15"/>
            <p:cNvSpPr>
              <a:spLocks noChangeShapeType="1"/>
            </p:cNvSpPr>
            <p:nvPr/>
          </p:nvSpPr>
          <p:spPr bwMode="auto">
            <a:xfrm>
              <a:off x="2928" y="576"/>
              <a:ext cx="1344" cy="1200"/>
            </a:xfrm>
            <a:prstGeom prst="line">
              <a:avLst/>
            </a:prstGeom>
            <a:noFill/>
            <a:ln w="762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>
              <a:off x="2928" y="576"/>
              <a:ext cx="672" cy="1536"/>
            </a:xfrm>
            <a:prstGeom prst="line">
              <a:avLst/>
            </a:prstGeom>
            <a:noFill/>
            <a:ln w="762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73" name="Line 17"/>
            <p:cNvSpPr>
              <a:spLocks noChangeShapeType="1"/>
            </p:cNvSpPr>
            <p:nvPr/>
          </p:nvSpPr>
          <p:spPr bwMode="auto">
            <a:xfrm flipH="1">
              <a:off x="3600" y="1776"/>
              <a:ext cx="624" cy="336"/>
            </a:xfrm>
            <a:prstGeom prst="line">
              <a:avLst/>
            </a:prstGeom>
            <a:noFill/>
            <a:ln w="762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74" name="Text Box 30"/>
          <p:cNvSpPr txBox="1">
            <a:spLocks noChangeArrowheads="1"/>
          </p:cNvSpPr>
          <p:nvPr/>
        </p:nvSpPr>
        <p:spPr bwMode="auto">
          <a:xfrm>
            <a:off x="2357438" y="3638550"/>
            <a:ext cx="187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+mn-lt"/>
              </a:rPr>
              <a:t>5 surfaces: </a:t>
            </a:r>
          </a:p>
        </p:txBody>
      </p:sp>
      <p:sp>
        <p:nvSpPr>
          <p:cNvPr id="75" name="Text Box 31"/>
          <p:cNvSpPr txBox="1">
            <a:spLocks noChangeArrowheads="1"/>
          </p:cNvSpPr>
          <p:nvPr/>
        </p:nvSpPr>
        <p:spPr bwMode="auto">
          <a:xfrm>
            <a:off x="4014788" y="3638550"/>
            <a:ext cx="4464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+mn-lt"/>
              </a:rPr>
              <a:t>(1) : Floor is 8 x 6 = 48 (easy!)</a:t>
            </a:r>
          </a:p>
        </p:txBody>
      </p:sp>
      <p:sp>
        <p:nvSpPr>
          <p:cNvPr id="76" name="Text Box 32"/>
          <p:cNvSpPr txBox="1">
            <a:spLocks noChangeArrowheads="1"/>
          </p:cNvSpPr>
          <p:nvPr/>
        </p:nvSpPr>
        <p:spPr bwMode="auto">
          <a:xfrm>
            <a:off x="3079751" y="4249738"/>
            <a:ext cx="5975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+mn-lt"/>
              </a:rPr>
              <a:t>(2 &amp; 3) : Right and left </a:t>
            </a:r>
            <a:r>
              <a:rPr lang="en-AU">
                <a:latin typeface="+mn-lt"/>
                <a:sym typeface="Symbol" pitchFamily="18" charset="2"/>
              </a:rPr>
              <a:t></a:t>
            </a:r>
            <a:r>
              <a:rPr lang="en-AU">
                <a:latin typeface="+mn-lt"/>
              </a:rPr>
              <a:t>s ADC and ABE. </a:t>
            </a:r>
          </a:p>
        </p:txBody>
      </p:sp>
      <p:sp>
        <p:nvSpPr>
          <p:cNvPr id="77" name="Text Box 34"/>
          <p:cNvSpPr txBox="1">
            <a:spLocks noChangeArrowheads="1"/>
          </p:cNvSpPr>
          <p:nvPr/>
        </p:nvSpPr>
        <p:spPr bwMode="auto">
          <a:xfrm>
            <a:off x="3078163" y="4737100"/>
            <a:ext cx="583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+mn-lt"/>
              </a:rPr>
              <a:t>(4 &amp; 5) : Front and back </a:t>
            </a:r>
            <a:r>
              <a:rPr lang="en-AU">
                <a:latin typeface="+mn-lt"/>
                <a:sym typeface="Symbol" pitchFamily="18" charset="2"/>
              </a:rPr>
              <a:t></a:t>
            </a:r>
            <a:r>
              <a:rPr lang="en-AU">
                <a:latin typeface="+mn-lt"/>
              </a:rPr>
              <a:t>s ADE and ACB. </a:t>
            </a:r>
          </a:p>
        </p:txBody>
      </p:sp>
    </p:spTree>
    <p:extLst>
      <p:ext uri="{BB962C8B-B14F-4D97-AF65-F5344CB8AC3E}">
        <p14:creationId xmlns:p14="http://schemas.microsoft.com/office/powerpoint/2010/main" val="133394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8376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419872" y="2276872"/>
            <a:ext cx="3977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Do exercise </a:t>
            </a:r>
            <a:r>
              <a:rPr lang="en-AU" dirty="0" smtClean="0"/>
              <a:t>3.2 TSA </a:t>
            </a:r>
            <a:r>
              <a:rPr lang="en-AU" dirty="0" smtClean="0"/>
              <a:t>page 35 Dwyer book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Total Surface Area</a:t>
            </a:r>
            <a:endParaRPr lang="en-AU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700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</a:t>
            </a:r>
            <a:r>
              <a:rPr lang="en-AU" sz="2400" dirty="0" smtClean="0"/>
              <a:t>Total Surface Area </a:t>
            </a:r>
            <a:r>
              <a:rPr lang="en-AU" sz="2400" dirty="0" smtClean="0"/>
              <a:t>of different shapes.  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2060848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</a:t>
            </a:r>
            <a:r>
              <a:rPr lang="en-AU" sz="1600" dirty="0" smtClean="0"/>
              <a:t>Total Surface Area (TSA) of a rectangular prism or cube?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1290</Words>
  <Application>Microsoft Office PowerPoint</Application>
  <PresentationFormat>On-screen Show (4:3)</PresentationFormat>
  <Paragraphs>246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90</cp:revision>
  <cp:lastPrinted>2016-03-08T03:37:38Z</cp:lastPrinted>
  <dcterms:created xsi:type="dcterms:W3CDTF">2014-05-14T02:58:57Z</dcterms:created>
  <dcterms:modified xsi:type="dcterms:W3CDTF">2016-03-08T03:46:55Z</dcterms:modified>
</cp:coreProperties>
</file>
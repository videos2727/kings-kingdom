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60" r:id="rId2"/>
    <p:sldId id="259" r:id="rId3"/>
    <p:sldId id="258" r:id="rId4"/>
    <p:sldId id="303" r:id="rId5"/>
    <p:sldId id="321" r:id="rId6"/>
    <p:sldId id="327" r:id="rId7"/>
    <p:sldId id="325" r:id="rId8"/>
    <p:sldId id="331" r:id="rId9"/>
    <p:sldId id="328" r:id="rId10"/>
    <p:sldId id="329" r:id="rId11"/>
    <p:sldId id="330" r:id="rId12"/>
    <p:sldId id="332" r:id="rId13"/>
    <p:sldId id="292" r:id="rId14"/>
    <p:sldId id="291" r:id="rId1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735" autoAdjust="0"/>
    <p:restoredTop sz="96625" autoAdjust="0"/>
  </p:normalViewPr>
  <p:slideViewPr>
    <p:cSldViewPr>
      <p:cViewPr>
        <p:scale>
          <a:sx n="75" d="100"/>
          <a:sy n="75" d="100"/>
        </p:scale>
        <p:origin x="-456" y="-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5AD73A-AE13-444E-A6A8-7967ABAB8119}" type="datetimeFigureOut">
              <a:rPr lang="en-AU" smtClean="0"/>
              <a:pPr/>
              <a:t>4/03/2016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16DE00-3598-450D-9FD4-B3F4D33F029B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759409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4/03/2016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432648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4/03/2016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35548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4/03/2016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80491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4/03/2016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42595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4/03/2016</a:t>
            </a:fld>
            <a:endParaRPr lang="en-A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07182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4/03/2016</a:t>
            </a:fld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77235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4/03/2016</a:t>
            </a:fld>
            <a:endParaRPr lang="en-A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1991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4/03/2016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18502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4/03/2016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83982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4/03/2016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96369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4/03/2016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80215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3B91B3-E50F-4EFF-8D5F-21DA810ECD9F}" type="datetimeFigureOut">
              <a:rPr lang="en-AU" smtClean="0"/>
              <a:pPr/>
              <a:t>4/03/2016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28666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8.wmf"/><Relationship Id="rId4" Type="http://schemas.openxmlformats.org/officeDocument/2006/relationships/oleObject" Target="../embeddings/oleObject1.bin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1560" y="332656"/>
            <a:ext cx="7772400" cy="1470025"/>
          </a:xfrm>
        </p:spPr>
        <p:txBody>
          <a:bodyPr/>
          <a:lstStyle/>
          <a:p>
            <a:r>
              <a:rPr lang="en-AU" dirty="0" smtClean="0"/>
              <a:t>My Measurement</a:t>
            </a:r>
            <a:br>
              <a:rPr lang="en-AU" dirty="0" smtClean="0"/>
            </a:br>
            <a:r>
              <a:rPr lang="en-AU" dirty="0" smtClean="0"/>
              <a:t>Interactive Notebook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39552" y="4221088"/>
            <a:ext cx="1800200" cy="1752600"/>
          </a:xfrm>
        </p:spPr>
        <p:txBody>
          <a:bodyPr>
            <a:normAutofit fontScale="85000" lnSpcReduction="20000"/>
          </a:bodyPr>
          <a:lstStyle/>
          <a:p>
            <a:pPr algn="l"/>
            <a:r>
              <a:rPr lang="en-AU" dirty="0" smtClean="0"/>
              <a:t>Name </a:t>
            </a:r>
          </a:p>
          <a:p>
            <a:pPr algn="l"/>
            <a:r>
              <a:rPr lang="en-AU" dirty="0" smtClean="0"/>
              <a:t>Class </a:t>
            </a:r>
          </a:p>
          <a:p>
            <a:pPr algn="l"/>
            <a:r>
              <a:rPr lang="en-AU" dirty="0" smtClean="0"/>
              <a:t>Teacher</a:t>
            </a:r>
          </a:p>
          <a:p>
            <a:pPr algn="l"/>
            <a:r>
              <a:rPr lang="en-AU" dirty="0" smtClean="0"/>
              <a:t>Term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</a:t>
            </a:r>
          </a:p>
        </p:txBody>
      </p:sp>
      <p:pic>
        <p:nvPicPr>
          <p:cNvPr id="27650" name="Picture 2" descr="http://passyworldofmathematics.com/Images/pwmImagesFour/ConvertMetricTwo550x392JPG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436096" y="1772816"/>
            <a:ext cx="3181262" cy="2267372"/>
          </a:xfrm>
          <a:prstGeom prst="rect">
            <a:avLst/>
          </a:prstGeom>
          <a:noFill/>
        </p:spPr>
      </p:pic>
      <p:pic>
        <p:nvPicPr>
          <p:cNvPr id="27652" name="Picture 4" descr="http://passyworldofmathematics.com/Images/pwmImagesFour/ConvertMetricOne550x407JPG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1700808"/>
            <a:ext cx="2976265" cy="2202437"/>
          </a:xfrm>
          <a:prstGeom prst="rect">
            <a:avLst/>
          </a:prstGeom>
          <a:noFill/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813" t="25936" r="22941" b="30488"/>
          <a:stretch/>
        </p:blipFill>
        <p:spPr bwMode="auto">
          <a:xfrm>
            <a:off x="2843808" y="4296580"/>
            <a:ext cx="5390480" cy="2192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250627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2</a:t>
            </a:r>
            <a:endParaRPr lang="en-AU" dirty="0"/>
          </a:p>
        </p:txBody>
      </p:sp>
      <p:sp>
        <p:nvSpPr>
          <p:cNvPr id="7" name="TextBox 6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3</a:t>
            </a:r>
            <a:endParaRPr lang="en-AU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-143838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115616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77648" y="5803"/>
            <a:ext cx="9320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Contents</a:t>
            </a:r>
            <a:endParaRPr lang="en-AU" sz="1600" dirty="0"/>
          </a:p>
        </p:txBody>
      </p:sp>
      <p:sp>
        <p:nvSpPr>
          <p:cNvPr id="23" name="TextBox 22"/>
          <p:cNvSpPr txBox="1"/>
          <p:nvPr/>
        </p:nvSpPr>
        <p:spPr>
          <a:xfrm>
            <a:off x="223224" y="374467"/>
            <a:ext cx="5808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Page</a:t>
            </a:r>
            <a:endParaRPr lang="en-AU" sz="1600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143810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403646" y="344357"/>
            <a:ext cx="5765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Date</a:t>
            </a:r>
            <a:endParaRPr lang="en-AU" sz="1600" dirty="0"/>
          </a:p>
        </p:txBody>
      </p:sp>
      <p:sp>
        <p:nvSpPr>
          <p:cNvPr id="18" name="TextBox 17"/>
          <p:cNvSpPr txBox="1"/>
          <p:nvPr/>
        </p:nvSpPr>
        <p:spPr>
          <a:xfrm>
            <a:off x="2555776" y="344357"/>
            <a:ext cx="13988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Description</a:t>
            </a:r>
            <a:endParaRPr lang="en-AU" sz="1600" dirty="0"/>
          </a:p>
        </p:txBody>
      </p:sp>
      <p:sp>
        <p:nvSpPr>
          <p:cNvPr id="21" name="TextBox 20"/>
          <p:cNvSpPr txBox="1"/>
          <p:nvPr/>
        </p:nvSpPr>
        <p:spPr>
          <a:xfrm>
            <a:off x="5796136" y="66504"/>
            <a:ext cx="25922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Glossary or Formula Page</a:t>
            </a:r>
            <a:endParaRPr lang="en-AU" sz="1600" dirty="0"/>
          </a:p>
        </p:txBody>
      </p:sp>
    </p:spTree>
    <p:extLst>
      <p:ext uri="{BB962C8B-B14F-4D97-AF65-F5344CB8AC3E}">
        <p14:creationId xmlns:p14="http://schemas.microsoft.com/office/powerpoint/2010/main" val="1515457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48463" y="652552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7</a:t>
            </a:r>
            <a:endParaRPr lang="en-AU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4500081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4500081" y="1196752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572089" y="5373216"/>
            <a:ext cx="472615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5868144" y="1196752"/>
            <a:ext cx="0" cy="417646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533261" y="66690"/>
            <a:ext cx="43195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 smtClean="0"/>
              <a:t>24</a:t>
            </a:r>
          </a:p>
          <a:p>
            <a:r>
              <a:rPr lang="en-AU" sz="1000" dirty="0" smtClean="0"/>
              <a:t>7</a:t>
            </a:r>
          </a:p>
          <a:p>
            <a:r>
              <a:rPr lang="en-AU" sz="1000" dirty="0" smtClean="0"/>
              <a:t>30</a:t>
            </a:r>
            <a:endParaRPr lang="en-AU" sz="1000" dirty="0"/>
          </a:p>
        </p:txBody>
      </p:sp>
      <p:sp>
        <p:nvSpPr>
          <p:cNvPr id="20" name="TextBox 19"/>
          <p:cNvSpPr txBox="1"/>
          <p:nvPr/>
        </p:nvSpPr>
        <p:spPr>
          <a:xfrm>
            <a:off x="4572089" y="601548"/>
            <a:ext cx="114326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Essential Question</a:t>
            </a:r>
            <a:endParaRPr lang="en-AU" sz="1000" dirty="0"/>
          </a:p>
        </p:txBody>
      </p:sp>
      <p:sp>
        <p:nvSpPr>
          <p:cNvPr id="22" name="TextBox 21"/>
          <p:cNvSpPr txBox="1"/>
          <p:nvPr/>
        </p:nvSpPr>
        <p:spPr>
          <a:xfrm>
            <a:off x="5867750" y="1196751"/>
            <a:ext cx="4924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Notes</a:t>
            </a:r>
            <a:endParaRPr lang="en-AU" sz="1000" dirty="0"/>
          </a:p>
        </p:txBody>
      </p:sp>
      <p:sp>
        <p:nvSpPr>
          <p:cNvPr id="23" name="TextBox 22"/>
          <p:cNvSpPr txBox="1"/>
          <p:nvPr/>
        </p:nvSpPr>
        <p:spPr>
          <a:xfrm>
            <a:off x="4521850" y="1196752"/>
            <a:ext cx="70884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Questions</a:t>
            </a:r>
            <a:endParaRPr lang="en-AU" sz="1000" dirty="0"/>
          </a:p>
        </p:txBody>
      </p:sp>
      <p:sp>
        <p:nvSpPr>
          <p:cNvPr id="24" name="TextBox 23"/>
          <p:cNvSpPr txBox="1"/>
          <p:nvPr/>
        </p:nvSpPr>
        <p:spPr>
          <a:xfrm>
            <a:off x="4572089" y="5373216"/>
            <a:ext cx="6799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Summary</a:t>
            </a:r>
            <a:endParaRPr lang="en-AU" sz="1000" dirty="0"/>
          </a:p>
        </p:txBody>
      </p:sp>
      <p:sp>
        <p:nvSpPr>
          <p:cNvPr id="25" name="TextBox 24"/>
          <p:cNvSpPr txBox="1"/>
          <p:nvPr/>
        </p:nvSpPr>
        <p:spPr>
          <a:xfrm>
            <a:off x="151246" y="142494"/>
            <a:ext cx="6710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Tasks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216532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47398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Area and then Volume Revision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Describe how to find the area of different shapes.  </a:t>
            </a:r>
            <a:endParaRPr lang="en-AU" sz="2400" dirty="0"/>
          </a:p>
        </p:txBody>
      </p:sp>
      <p:sp>
        <p:nvSpPr>
          <p:cNvPr id="13" name="TextBox 12"/>
          <p:cNvSpPr txBox="1"/>
          <p:nvPr/>
        </p:nvSpPr>
        <p:spPr>
          <a:xfrm>
            <a:off x="0" y="2060848"/>
            <a:ext cx="28438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How do we find the area of 2 dimensional shapes?</a:t>
            </a:r>
            <a:endParaRPr lang="en-AU" sz="16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155483" y="1950169"/>
            <a:ext cx="5988517" cy="49078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6709025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4328" y="0"/>
            <a:ext cx="8229600" cy="1143000"/>
          </a:xfrm>
        </p:spPr>
        <p:txBody>
          <a:bodyPr>
            <a:normAutofit/>
          </a:bodyPr>
          <a:lstStyle/>
          <a:p>
            <a:r>
              <a:rPr lang="en-AU" sz="3600" dirty="0" smtClean="0"/>
              <a:t>Questions</a:t>
            </a:r>
            <a:endParaRPr lang="en-AU" sz="36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99592" y="908720"/>
            <a:ext cx="6600602" cy="54248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6741279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4328" y="0"/>
            <a:ext cx="8229600" cy="1143000"/>
          </a:xfrm>
        </p:spPr>
        <p:txBody>
          <a:bodyPr>
            <a:normAutofit/>
          </a:bodyPr>
          <a:lstStyle/>
          <a:p>
            <a:r>
              <a:rPr lang="en-AU" sz="3600" dirty="0" smtClean="0"/>
              <a:t>Questions</a:t>
            </a:r>
            <a:endParaRPr lang="en-AU" sz="3600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9552" y="1052735"/>
            <a:ext cx="7920880" cy="49384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6741279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 txBox="1">
            <a:spLocks/>
          </p:cNvSpPr>
          <p:nvPr/>
        </p:nvSpPr>
        <p:spPr>
          <a:xfrm>
            <a:off x="504328" y="0"/>
            <a:ext cx="8229600" cy="1143000"/>
          </a:xfrm>
          <a:prstGeom prst="rect">
            <a:avLst/>
          </a:prstGeom>
        </p:spPr>
        <p:txBody>
          <a:bodyPr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AU" sz="3600" dirty="0" smtClean="0"/>
              <a:t>Answers</a:t>
            </a:r>
            <a:endParaRPr lang="en-AU" sz="3600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1520" y="188640"/>
            <a:ext cx="8696325" cy="6343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3439011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47398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Area and then Volume Revision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Describe how to find the area of different shapes.  </a:t>
            </a:r>
            <a:endParaRPr lang="en-AU" sz="2400" dirty="0"/>
          </a:p>
        </p:txBody>
      </p:sp>
      <p:sp>
        <p:nvSpPr>
          <p:cNvPr id="13" name="TextBox 12"/>
          <p:cNvSpPr txBox="1"/>
          <p:nvPr/>
        </p:nvSpPr>
        <p:spPr>
          <a:xfrm>
            <a:off x="0" y="2060848"/>
            <a:ext cx="28438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How do we find the area of 2 dimensional shapes?</a:t>
            </a:r>
            <a:endParaRPr lang="en-AU" sz="1600" dirty="0"/>
          </a:p>
        </p:txBody>
      </p:sp>
      <p:sp>
        <p:nvSpPr>
          <p:cNvPr id="14" name="TextBox 13"/>
          <p:cNvSpPr txBox="1"/>
          <p:nvPr/>
        </p:nvSpPr>
        <p:spPr>
          <a:xfrm>
            <a:off x="3419872" y="2276872"/>
            <a:ext cx="35763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Do exercise 3.1 page 34 Dwyer book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6709025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483768" y="1916832"/>
            <a:ext cx="0" cy="49411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469673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Area and now Volume Revision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Describe how to find the Volume of different shapes.  </a:t>
            </a:r>
            <a:endParaRPr lang="en-AU" sz="2400" dirty="0"/>
          </a:p>
        </p:txBody>
      </p:sp>
      <p:sp>
        <p:nvSpPr>
          <p:cNvPr id="13" name="TextBox 12"/>
          <p:cNvSpPr txBox="1"/>
          <p:nvPr/>
        </p:nvSpPr>
        <p:spPr>
          <a:xfrm>
            <a:off x="0" y="2060848"/>
            <a:ext cx="248376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How do we find the volume of 3 dimensional shapes?</a:t>
            </a:r>
            <a:endParaRPr lang="en-AU" sz="1600" dirty="0"/>
          </a:p>
        </p:txBody>
      </p:sp>
      <p:sp>
        <p:nvSpPr>
          <p:cNvPr id="15" name="Text Box 4"/>
          <p:cNvSpPr txBox="1">
            <a:spLocks noChangeArrowheads="1"/>
          </p:cNvSpPr>
          <p:nvPr/>
        </p:nvSpPr>
        <p:spPr bwMode="auto">
          <a:xfrm>
            <a:off x="2843808" y="2060848"/>
            <a:ext cx="3672408" cy="369332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AU" dirty="0"/>
              <a:t>Summary of formulae in this section</a:t>
            </a:r>
          </a:p>
        </p:txBody>
      </p:sp>
      <p:graphicFrame>
        <p:nvGraphicFramePr>
          <p:cNvPr id="16" name="Group 4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2844145"/>
              </p:ext>
            </p:extLst>
          </p:nvPr>
        </p:nvGraphicFramePr>
        <p:xfrm>
          <a:off x="2699792" y="2564904"/>
          <a:ext cx="6096000" cy="2850071"/>
        </p:xfrm>
        <a:graphic>
          <a:graphicData uri="http://schemas.openxmlformats.org/drawingml/2006/table">
            <a:tbl>
              <a:tblPr/>
              <a:tblGrid>
                <a:gridCol w="2305050"/>
                <a:gridCol w="3790950"/>
              </a:tblGrid>
              <a:tr h="5762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Shape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Volume Formula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0891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ED0F0F"/>
                          </a:solidFill>
                          <a:effectLst/>
                          <a:latin typeface="+mn-lt"/>
                        </a:rPr>
                        <a:t>All prisms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Rectangular Prism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Triangular Prism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Trapezoidal prism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Cylinder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Cube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AU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ED0F0F"/>
                          </a:solidFill>
                          <a:effectLst/>
                          <a:latin typeface="+mn-lt"/>
                        </a:rPr>
                        <a:t>Volume = 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ED0F0F"/>
                          </a:solidFill>
                          <a:effectLst/>
                          <a:latin typeface="+mn-lt"/>
                        </a:rPr>
                        <a:t>Area of Base </a:t>
                      </a: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ED0F0F"/>
                          </a:solidFill>
                          <a:effectLst/>
                          <a:latin typeface="+mn-lt"/>
                          <a:cs typeface="Times New Roman" pitchFamily="18" charset="0"/>
                        </a:rPr>
                        <a:t>× Perp </a:t>
                      </a:r>
                      <a:r>
                        <a:rPr kumimoji="0" lang="en-US" sz="20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ED0F0F"/>
                          </a:solidFill>
                          <a:effectLst/>
                          <a:latin typeface="+mn-lt"/>
                          <a:cs typeface="Times New Roman" pitchFamily="18" charset="0"/>
                        </a:rPr>
                        <a:t>Ht</a:t>
                      </a: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ED0F0F"/>
                          </a:solidFill>
                          <a:effectLst/>
                          <a:latin typeface="+mn-lt"/>
                          <a:cs typeface="Times New Roman" pitchFamily="18" charset="0"/>
                        </a:rPr>
                        <a:t> (or Depth)</a:t>
                      </a:r>
                      <a:endPara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ED0F0F"/>
                        </a:solidFill>
                        <a:effectLst/>
                        <a:latin typeface="+mn-lt"/>
                        <a:cs typeface="Times New Roman" pitchFamily="18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itchFamily="18" charset="0"/>
                        </a:rPr>
                        <a:t>For a rectangular prism, V = LBH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itchFamily="18" charset="0"/>
                        </a:rPr>
                        <a:t>For a cube, V = S</a:t>
                      </a:r>
                      <a:r>
                        <a:rPr kumimoji="0" lang="en-US" sz="1600" b="0" i="0" u="none" strike="noStrike" cap="none" normalizeH="0" baseline="30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itchFamily="18" charset="0"/>
                        </a:rPr>
                        <a:t>3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itchFamily="18" charset="0"/>
                        </a:rPr>
                        <a:t>For a triangular prism, V = ½ B </a:t>
                      </a:r>
                      <a:r>
                        <a:rPr kumimoji="0" lang="en-US" sz="16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itchFamily="18" charset="0"/>
                        </a:rPr>
                        <a:t>ht</a:t>
                      </a: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itchFamily="18" charset="0"/>
                        </a:rPr>
                        <a:t> Depth</a:t>
                      </a:r>
                      <a:endParaRPr kumimoji="0" 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Times New Roman" pitchFamily="18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itchFamily="18" charset="0"/>
                        </a:rPr>
                        <a:t>For a cylinder, V = </a:t>
                      </a: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itchFamily="18" charset="0"/>
                          <a:sym typeface="Symbol" pitchFamily="18" charset="2"/>
                        </a:rPr>
                        <a:t>r</a:t>
                      </a:r>
                      <a:r>
                        <a:rPr kumimoji="0" lang="en-US" sz="1600" b="0" i="0" u="none" strike="noStrike" cap="none" normalizeH="0" baseline="30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itchFamily="18" charset="0"/>
                          <a:sym typeface="Symbol" pitchFamily="18" charset="2"/>
                        </a:rPr>
                        <a:t>2</a:t>
                      </a: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itchFamily="18" charset="0"/>
                          <a:sym typeface="Symbol" pitchFamily="18" charset="2"/>
                        </a:rPr>
                        <a:t>h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7" name="Text Box 43"/>
          <p:cNvSpPr txBox="1">
            <a:spLocks noChangeArrowheads="1"/>
          </p:cNvSpPr>
          <p:nvPr/>
        </p:nvSpPr>
        <p:spPr bwMode="auto">
          <a:xfrm>
            <a:off x="2699792" y="5661248"/>
            <a:ext cx="5976391" cy="877163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AU" sz="2400" dirty="0"/>
              <a:t>All volumes are in </a:t>
            </a:r>
            <a:r>
              <a:rPr lang="en-AU" sz="2400" u="sng" dirty="0"/>
              <a:t>cubic</a:t>
            </a:r>
            <a:r>
              <a:rPr lang="en-AU" sz="2400" dirty="0"/>
              <a:t> units – </a:t>
            </a:r>
            <a:r>
              <a:rPr lang="en-AU" sz="2400" i="1" dirty="0"/>
              <a:t>m</a:t>
            </a:r>
            <a:r>
              <a:rPr lang="en-AU" sz="2400" baseline="30000" dirty="0"/>
              <a:t>3</a:t>
            </a:r>
            <a:r>
              <a:rPr lang="en-AU" sz="2400" dirty="0"/>
              <a:t>. </a:t>
            </a:r>
            <a:r>
              <a:rPr lang="en-AU" sz="2400" i="1" dirty="0"/>
              <a:t>cm</a:t>
            </a:r>
            <a:r>
              <a:rPr lang="en-AU" sz="2400" baseline="30000" dirty="0"/>
              <a:t>3</a:t>
            </a:r>
            <a:r>
              <a:rPr lang="en-AU" sz="2400" dirty="0"/>
              <a:t>, </a:t>
            </a:r>
            <a:r>
              <a:rPr lang="en-AU" sz="2400" i="1" dirty="0"/>
              <a:t>mm</a:t>
            </a:r>
            <a:r>
              <a:rPr lang="en-AU" sz="2400" baseline="30000" dirty="0"/>
              <a:t>3</a:t>
            </a:r>
          </a:p>
          <a:p>
            <a:pPr algn="ctr">
              <a:spcBef>
                <a:spcPct val="50000"/>
              </a:spcBef>
            </a:pPr>
            <a:r>
              <a:rPr lang="en-AU" sz="1800" dirty="0">
                <a:solidFill>
                  <a:srgbClr val="ED0F0F"/>
                </a:solidFill>
              </a:rPr>
              <a:t>Because Volume is 3 – DIMENSIONAL!</a:t>
            </a:r>
          </a:p>
        </p:txBody>
      </p:sp>
    </p:spTree>
    <p:extLst>
      <p:ext uri="{BB962C8B-B14F-4D97-AF65-F5344CB8AC3E}">
        <p14:creationId xmlns:p14="http://schemas.microsoft.com/office/powerpoint/2010/main" val="16709025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483768" y="1916832"/>
            <a:ext cx="0" cy="49411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469673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Area and now Volume Revision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Describe how to find the Volume of different shapes.  </a:t>
            </a:r>
            <a:endParaRPr lang="en-AU" sz="2400" dirty="0"/>
          </a:p>
        </p:txBody>
      </p:sp>
      <p:sp>
        <p:nvSpPr>
          <p:cNvPr id="13" name="TextBox 12"/>
          <p:cNvSpPr txBox="1"/>
          <p:nvPr/>
        </p:nvSpPr>
        <p:spPr>
          <a:xfrm>
            <a:off x="0" y="2060848"/>
            <a:ext cx="248376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How do we find the volume of 3 dimensional shapes?</a:t>
            </a:r>
            <a:endParaRPr lang="en-AU" sz="1600" dirty="0"/>
          </a:p>
        </p:txBody>
      </p:sp>
      <p:grpSp>
        <p:nvGrpSpPr>
          <p:cNvPr id="14" name="Group 40"/>
          <p:cNvGrpSpPr>
            <a:grpSpLocks/>
          </p:cNvGrpSpPr>
          <p:nvPr/>
        </p:nvGrpSpPr>
        <p:grpSpPr bwMode="auto">
          <a:xfrm>
            <a:off x="3707904" y="2708920"/>
            <a:ext cx="4248472" cy="3528392"/>
            <a:chOff x="1338" y="1343"/>
            <a:chExt cx="3038" cy="2530"/>
          </a:xfrm>
        </p:grpSpPr>
        <p:sp>
          <p:nvSpPr>
            <p:cNvPr id="18" name="Arc 27"/>
            <p:cNvSpPr>
              <a:spLocks/>
            </p:cNvSpPr>
            <p:nvPr/>
          </p:nvSpPr>
          <p:spPr bwMode="auto">
            <a:xfrm rot="5400000">
              <a:off x="2722" y="3476"/>
              <a:ext cx="340" cy="454"/>
            </a:xfrm>
            <a:custGeom>
              <a:avLst/>
              <a:gdLst>
                <a:gd name="T0" fmla="*/ 0 w 23143"/>
                <a:gd name="T1" fmla="*/ 0 h 43200"/>
                <a:gd name="T2" fmla="*/ 0 w 23143"/>
                <a:gd name="T3" fmla="*/ 0 h 43200"/>
                <a:gd name="T4" fmla="*/ 0 w 23143"/>
                <a:gd name="T5" fmla="*/ 0 h 43200"/>
                <a:gd name="T6" fmla="*/ 0 60000 65536"/>
                <a:gd name="T7" fmla="*/ 0 60000 65536"/>
                <a:gd name="T8" fmla="*/ 0 60000 65536"/>
                <a:gd name="T9" fmla="*/ 0 w 23143"/>
                <a:gd name="T10" fmla="*/ 0 h 43200"/>
                <a:gd name="T11" fmla="*/ 23143 w 23143"/>
                <a:gd name="T12" fmla="*/ 43200 h 432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3143" h="43200" fill="none" extrusionOk="0">
                  <a:moveTo>
                    <a:pt x="1542" y="0"/>
                  </a:moveTo>
                  <a:cubicBezTo>
                    <a:pt x="13472" y="0"/>
                    <a:pt x="23143" y="9670"/>
                    <a:pt x="23143" y="21600"/>
                  </a:cubicBezTo>
                  <a:cubicBezTo>
                    <a:pt x="23143" y="33529"/>
                    <a:pt x="13472" y="43200"/>
                    <a:pt x="1543" y="43200"/>
                  </a:cubicBezTo>
                  <a:cubicBezTo>
                    <a:pt x="1028" y="43200"/>
                    <a:pt x="513" y="43181"/>
                    <a:pt x="0" y="43144"/>
                  </a:cubicBezTo>
                </a:path>
                <a:path w="23143" h="43200" stroke="0" extrusionOk="0">
                  <a:moveTo>
                    <a:pt x="1542" y="0"/>
                  </a:moveTo>
                  <a:cubicBezTo>
                    <a:pt x="13472" y="0"/>
                    <a:pt x="23143" y="9670"/>
                    <a:pt x="23143" y="21600"/>
                  </a:cubicBezTo>
                  <a:cubicBezTo>
                    <a:pt x="23143" y="33529"/>
                    <a:pt x="13472" y="43200"/>
                    <a:pt x="1543" y="43200"/>
                  </a:cubicBezTo>
                  <a:cubicBezTo>
                    <a:pt x="1028" y="43200"/>
                    <a:pt x="513" y="43181"/>
                    <a:pt x="0" y="43144"/>
                  </a:cubicBezTo>
                  <a:lnTo>
                    <a:pt x="1543" y="21600"/>
                  </a:lnTo>
                  <a:close/>
                </a:path>
              </a:pathLst>
            </a:custGeom>
            <a:noFill/>
            <a:ln w="38100" cap="sq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AU"/>
            </a:p>
          </p:txBody>
        </p:sp>
        <p:grpSp>
          <p:nvGrpSpPr>
            <p:cNvPr id="19" name="Group 37"/>
            <p:cNvGrpSpPr>
              <a:grpSpLocks/>
            </p:cNvGrpSpPr>
            <p:nvPr/>
          </p:nvGrpSpPr>
          <p:grpSpPr bwMode="auto">
            <a:xfrm>
              <a:off x="1338" y="1343"/>
              <a:ext cx="3038" cy="2511"/>
              <a:chOff x="1338" y="1343"/>
              <a:chExt cx="3038" cy="2511"/>
            </a:xfrm>
          </p:grpSpPr>
          <p:sp>
            <p:nvSpPr>
              <p:cNvPr id="20" name="Rectangle 4"/>
              <p:cNvSpPr>
                <a:spLocks noChangeArrowheads="1"/>
              </p:cNvSpPr>
              <p:nvPr/>
            </p:nvSpPr>
            <p:spPr bwMode="auto">
              <a:xfrm>
                <a:off x="3787" y="1479"/>
                <a:ext cx="589" cy="318"/>
              </a:xfrm>
              <a:prstGeom prst="rect">
                <a:avLst/>
              </a:prstGeom>
              <a:solidFill>
                <a:srgbClr val="F3F75B"/>
              </a:solidFill>
              <a:ln w="9525">
                <a:miter lim="800000"/>
                <a:headEnd/>
                <a:tailEnd/>
              </a:ln>
              <a:scene3d>
                <a:camera prst="legacyObliqueTopRight"/>
                <a:lightRig rig="legacyFlat3" dir="b"/>
              </a:scene3d>
              <a:sp3d extrusionH="887400" prstMaterial="legacyMatte">
                <a:bevelT w="13500" h="13500" prst="angle"/>
                <a:bevelB w="13500" h="13500" prst="angle"/>
                <a:extrusionClr>
                  <a:srgbClr val="F3F75B"/>
                </a:extrusionClr>
              </a:sp3d>
            </p:spPr>
            <p:txBody>
              <a:bodyPr wrap="none" anchor="ctr">
                <a:flatTx/>
              </a:bodyPr>
              <a:lstStyle/>
              <a:p>
                <a:endParaRPr lang="en-AU"/>
              </a:p>
            </p:txBody>
          </p:sp>
          <p:sp>
            <p:nvSpPr>
              <p:cNvPr id="21" name="AutoShape 5"/>
              <p:cNvSpPr>
                <a:spLocks noChangeArrowheads="1"/>
              </p:cNvSpPr>
              <p:nvPr/>
            </p:nvSpPr>
            <p:spPr bwMode="auto">
              <a:xfrm>
                <a:off x="1383" y="1343"/>
                <a:ext cx="681" cy="499"/>
              </a:xfrm>
              <a:prstGeom prst="rtTriangle">
                <a:avLst/>
              </a:prstGeom>
              <a:solidFill>
                <a:srgbClr val="62E9F0"/>
              </a:solidFill>
              <a:ln w="9525">
                <a:miter lim="800000"/>
                <a:headEnd/>
                <a:tailEnd/>
              </a:ln>
              <a:scene3d>
                <a:camera prst="legacyPerspectiveFront">
                  <a:rot lat="1500000" lon="1500000" rev="0"/>
                </a:camera>
                <a:lightRig rig="legacyFlat2" dir="b"/>
              </a:scene3d>
              <a:sp3d extrusionH="887400" prstMaterial="legacyMatte">
                <a:bevelT w="13500" h="13500" prst="angle"/>
                <a:bevelB w="13500" h="13500" prst="angle"/>
                <a:extrusionClr>
                  <a:srgbClr val="62E9F0"/>
                </a:extrusionClr>
              </a:sp3d>
            </p:spPr>
            <p:txBody>
              <a:bodyPr wrap="none" anchor="ctr">
                <a:flatTx/>
              </a:bodyPr>
              <a:lstStyle/>
              <a:p>
                <a:endParaRPr lang="en-AU"/>
              </a:p>
            </p:txBody>
          </p:sp>
          <p:sp>
            <p:nvSpPr>
              <p:cNvPr id="22" name="Oval 6"/>
              <p:cNvSpPr>
                <a:spLocks noChangeArrowheads="1"/>
              </p:cNvSpPr>
              <p:nvPr/>
            </p:nvSpPr>
            <p:spPr bwMode="auto">
              <a:xfrm>
                <a:off x="2608" y="1389"/>
                <a:ext cx="454" cy="408"/>
              </a:xfrm>
              <a:prstGeom prst="ellipse">
                <a:avLst/>
              </a:prstGeom>
              <a:solidFill>
                <a:srgbClr val="F36D5F"/>
              </a:solidFill>
              <a:ln w="9525">
                <a:round/>
                <a:headEnd/>
                <a:tailEnd/>
              </a:ln>
              <a:scene3d>
                <a:camera prst="legacyPerspectiveFront">
                  <a:rot lat="1500000" lon="1500000" rev="0"/>
                </a:camera>
                <a:lightRig rig="legacyFlat2" dir="b"/>
              </a:scene3d>
              <a:sp3d extrusionH="887400" prstMaterial="legacyMatte">
                <a:bevelT w="13500" h="13500" prst="angle"/>
                <a:bevelB w="13500" h="13500" prst="angle"/>
                <a:extrusionClr>
                  <a:srgbClr val="F36D5F"/>
                </a:extrusionClr>
              </a:sp3d>
            </p:spPr>
            <p:txBody>
              <a:bodyPr wrap="none" anchor="ctr">
                <a:flatTx/>
              </a:bodyPr>
              <a:lstStyle/>
              <a:p>
                <a:endParaRPr lang="en-AU"/>
              </a:p>
            </p:txBody>
          </p:sp>
          <p:grpSp>
            <p:nvGrpSpPr>
              <p:cNvPr id="23" name="Group 21"/>
              <p:cNvGrpSpPr>
                <a:grpSpLocks/>
              </p:cNvGrpSpPr>
              <p:nvPr/>
            </p:nvGrpSpPr>
            <p:grpSpPr bwMode="auto">
              <a:xfrm>
                <a:off x="1338" y="2704"/>
                <a:ext cx="726" cy="953"/>
                <a:chOff x="1338" y="2704"/>
                <a:chExt cx="726" cy="953"/>
              </a:xfrm>
            </p:grpSpPr>
            <p:sp>
              <p:nvSpPr>
                <p:cNvPr id="31" name="Oval 17"/>
                <p:cNvSpPr>
                  <a:spLocks noChangeArrowheads="1"/>
                </p:cNvSpPr>
                <p:nvPr/>
              </p:nvSpPr>
              <p:spPr bwMode="auto">
                <a:xfrm>
                  <a:off x="1338" y="2704"/>
                  <a:ext cx="726" cy="182"/>
                </a:xfrm>
                <a:prstGeom prst="ellipse">
                  <a:avLst/>
                </a:prstGeom>
                <a:solidFill>
                  <a:srgbClr val="F36D5F"/>
                </a:solidFill>
                <a:ln w="12700" cap="sq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 wrap="none" anchor="ctr"/>
                <a:lstStyle/>
                <a:p>
                  <a:endParaRPr lang="en-AU"/>
                </a:p>
              </p:txBody>
            </p:sp>
            <p:sp>
              <p:nvSpPr>
                <p:cNvPr id="32" name="Oval 18"/>
                <p:cNvSpPr>
                  <a:spLocks noChangeArrowheads="1"/>
                </p:cNvSpPr>
                <p:nvPr/>
              </p:nvSpPr>
              <p:spPr bwMode="auto">
                <a:xfrm>
                  <a:off x="1338" y="3475"/>
                  <a:ext cx="726" cy="182"/>
                </a:xfrm>
                <a:prstGeom prst="ellipse">
                  <a:avLst/>
                </a:prstGeom>
                <a:solidFill>
                  <a:srgbClr val="F36D5F"/>
                </a:solidFill>
                <a:ln w="12700" cap="sq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 wrap="none" anchor="ctr"/>
                <a:lstStyle/>
                <a:p>
                  <a:endParaRPr lang="en-AU"/>
                </a:p>
              </p:txBody>
            </p:sp>
            <p:sp>
              <p:nvSpPr>
                <p:cNvPr id="33" name="Line 19"/>
                <p:cNvSpPr>
                  <a:spLocks noChangeShapeType="1"/>
                </p:cNvSpPr>
                <p:nvPr/>
              </p:nvSpPr>
              <p:spPr bwMode="auto">
                <a:xfrm>
                  <a:off x="1338" y="2795"/>
                  <a:ext cx="0" cy="771"/>
                </a:xfrm>
                <a:prstGeom prst="line">
                  <a:avLst/>
                </a:prstGeom>
                <a:noFill/>
                <a:ln w="12700" cap="sq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 wrap="none"/>
                <a:lstStyle/>
                <a:p>
                  <a:endParaRPr lang="en-AU"/>
                </a:p>
              </p:txBody>
            </p:sp>
            <p:sp>
              <p:nvSpPr>
                <p:cNvPr id="34" name="Line 20"/>
                <p:cNvSpPr>
                  <a:spLocks noChangeShapeType="1"/>
                </p:cNvSpPr>
                <p:nvPr/>
              </p:nvSpPr>
              <p:spPr bwMode="auto">
                <a:xfrm>
                  <a:off x="2064" y="2795"/>
                  <a:ext cx="0" cy="771"/>
                </a:xfrm>
                <a:prstGeom prst="line">
                  <a:avLst/>
                </a:prstGeom>
                <a:noFill/>
                <a:ln w="12700" cap="sq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 wrap="none"/>
                <a:lstStyle/>
                <a:p>
                  <a:endParaRPr lang="en-AU"/>
                </a:p>
              </p:txBody>
            </p:sp>
          </p:grpSp>
          <p:grpSp>
            <p:nvGrpSpPr>
              <p:cNvPr id="24" name="Group 36"/>
              <p:cNvGrpSpPr>
                <a:grpSpLocks/>
              </p:cNvGrpSpPr>
              <p:nvPr/>
            </p:nvGrpSpPr>
            <p:grpSpPr bwMode="auto">
              <a:xfrm>
                <a:off x="2653" y="2931"/>
                <a:ext cx="1237" cy="923"/>
                <a:chOff x="2653" y="2931"/>
                <a:chExt cx="1237" cy="923"/>
              </a:xfrm>
            </p:grpSpPr>
            <p:sp>
              <p:nvSpPr>
                <p:cNvPr id="25" name="Arc 28"/>
                <p:cNvSpPr>
                  <a:spLocks/>
                </p:cNvSpPr>
                <p:nvPr/>
              </p:nvSpPr>
              <p:spPr bwMode="auto">
                <a:xfrm rot="5400000">
                  <a:off x="3493" y="2886"/>
                  <a:ext cx="340" cy="454"/>
                </a:xfrm>
                <a:custGeom>
                  <a:avLst/>
                  <a:gdLst>
                    <a:gd name="T0" fmla="*/ 0 w 23143"/>
                    <a:gd name="T1" fmla="*/ 0 h 43200"/>
                    <a:gd name="T2" fmla="*/ 0 w 23143"/>
                    <a:gd name="T3" fmla="*/ 0 h 43200"/>
                    <a:gd name="T4" fmla="*/ 0 w 23143"/>
                    <a:gd name="T5" fmla="*/ 0 h 43200"/>
                    <a:gd name="T6" fmla="*/ 0 60000 65536"/>
                    <a:gd name="T7" fmla="*/ 0 60000 65536"/>
                    <a:gd name="T8" fmla="*/ 0 60000 65536"/>
                    <a:gd name="T9" fmla="*/ 0 w 23143"/>
                    <a:gd name="T10" fmla="*/ 0 h 43200"/>
                    <a:gd name="T11" fmla="*/ 23143 w 23143"/>
                    <a:gd name="T12" fmla="*/ 43200 h 432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3143" h="43200" fill="none" extrusionOk="0">
                      <a:moveTo>
                        <a:pt x="1542" y="0"/>
                      </a:moveTo>
                      <a:cubicBezTo>
                        <a:pt x="13472" y="0"/>
                        <a:pt x="23143" y="9670"/>
                        <a:pt x="23143" y="21600"/>
                      </a:cubicBezTo>
                      <a:cubicBezTo>
                        <a:pt x="23143" y="33529"/>
                        <a:pt x="13472" y="43200"/>
                        <a:pt x="1543" y="43200"/>
                      </a:cubicBezTo>
                      <a:cubicBezTo>
                        <a:pt x="1028" y="43200"/>
                        <a:pt x="513" y="43181"/>
                        <a:pt x="0" y="43144"/>
                      </a:cubicBezTo>
                    </a:path>
                    <a:path w="23143" h="43200" stroke="0" extrusionOk="0">
                      <a:moveTo>
                        <a:pt x="1542" y="0"/>
                      </a:moveTo>
                      <a:cubicBezTo>
                        <a:pt x="13472" y="0"/>
                        <a:pt x="23143" y="9670"/>
                        <a:pt x="23143" y="21600"/>
                      </a:cubicBezTo>
                      <a:cubicBezTo>
                        <a:pt x="23143" y="33529"/>
                        <a:pt x="13472" y="43200"/>
                        <a:pt x="1543" y="43200"/>
                      </a:cubicBezTo>
                      <a:cubicBezTo>
                        <a:pt x="1028" y="43200"/>
                        <a:pt x="513" y="43181"/>
                        <a:pt x="0" y="43144"/>
                      </a:cubicBezTo>
                      <a:lnTo>
                        <a:pt x="1543" y="21600"/>
                      </a:lnTo>
                      <a:close/>
                    </a:path>
                  </a:pathLst>
                </a:custGeom>
                <a:noFill/>
                <a:ln w="38100">
                  <a:solidFill>
                    <a:schemeClr val="tx1"/>
                  </a:solidFill>
                  <a:prstDash val="lgDashDotDot"/>
                  <a:round/>
                  <a:headEnd type="none" w="sm" len="sm"/>
                  <a:tailEnd type="none" w="sm" len="sm"/>
                </a:ln>
              </p:spPr>
              <p:txBody>
                <a:bodyPr wrap="none" anchor="ctr"/>
                <a:lstStyle/>
                <a:p>
                  <a:endParaRPr lang="en-AU"/>
                </a:p>
              </p:txBody>
            </p:sp>
            <p:sp>
              <p:nvSpPr>
                <p:cNvPr id="26" name="Line 29"/>
                <p:cNvSpPr>
                  <a:spLocks noChangeShapeType="1"/>
                </p:cNvSpPr>
                <p:nvPr/>
              </p:nvSpPr>
              <p:spPr bwMode="auto">
                <a:xfrm flipH="1">
                  <a:off x="3107" y="2931"/>
                  <a:ext cx="771" cy="635"/>
                </a:xfrm>
                <a:prstGeom prst="line">
                  <a:avLst/>
                </a:prstGeom>
                <a:noFill/>
                <a:ln w="38100" cap="sq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 wrap="none"/>
                <a:lstStyle/>
                <a:p>
                  <a:endParaRPr lang="en-AU"/>
                </a:p>
              </p:txBody>
            </p:sp>
            <p:sp>
              <p:nvSpPr>
                <p:cNvPr id="27" name="Line 30"/>
                <p:cNvSpPr>
                  <a:spLocks noChangeShapeType="1"/>
                </p:cNvSpPr>
                <p:nvPr/>
              </p:nvSpPr>
              <p:spPr bwMode="auto">
                <a:xfrm flipH="1">
                  <a:off x="2653" y="2931"/>
                  <a:ext cx="771" cy="590"/>
                </a:xfrm>
                <a:prstGeom prst="line">
                  <a:avLst/>
                </a:prstGeom>
                <a:noFill/>
                <a:ln w="38100" cap="sq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 wrap="none"/>
                <a:lstStyle/>
                <a:p>
                  <a:endParaRPr lang="en-AU"/>
                </a:p>
              </p:txBody>
            </p:sp>
            <p:sp>
              <p:nvSpPr>
                <p:cNvPr id="28" name="Line 31"/>
                <p:cNvSpPr>
                  <a:spLocks noChangeShapeType="1"/>
                </p:cNvSpPr>
                <p:nvPr/>
              </p:nvSpPr>
              <p:spPr bwMode="auto">
                <a:xfrm flipH="1">
                  <a:off x="2980" y="3249"/>
                  <a:ext cx="807" cy="605"/>
                </a:xfrm>
                <a:prstGeom prst="line">
                  <a:avLst/>
                </a:prstGeom>
                <a:noFill/>
                <a:ln w="38100" cap="sq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 wrap="none"/>
                <a:lstStyle/>
                <a:p>
                  <a:endParaRPr lang="en-AU"/>
                </a:p>
              </p:txBody>
            </p:sp>
            <p:sp>
              <p:nvSpPr>
                <p:cNvPr id="29" name="Line 32"/>
                <p:cNvSpPr>
                  <a:spLocks noChangeShapeType="1"/>
                </p:cNvSpPr>
                <p:nvPr/>
              </p:nvSpPr>
              <p:spPr bwMode="auto">
                <a:xfrm>
                  <a:off x="3424" y="2931"/>
                  <a:ext cx="454" cy="0"/>
                </a:xfrm>
                <a:prstGeom prst="line">
                  <a:avLst/>
                </a:prstGeom>
                <a:noFill/>
                <a:ln w="28575" cap="sq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 wrap="none"/>
                <a:lstStyle/>
                <a:p>
                  <a:endParaRPr lang="en-AU"/>
                </a:p>
              </p:txBody>
            </p:sp>
            <p:sp>
              <p:nvSpPr>
                <p:cNvPr id="30" name="Line 33"/>
                <p:cNvSpPr>
                  <a:spLocks noChangeShapeType="1"/>
                </p:cNvSpPr>
                <p:nvPr/>
              </p:nvSpPr>
              <p:spPr bwMode="auto">
                <a:xfrm>
                  <a:off x="2653" y="3521"/>
                  <a:ext cx="454" cy="0"/>
                </a:xfrm>
                <a:prstGeom prst="line">
                  <a:avLst/>
                </a:prstGeom>
                <a:noFill/>
                <a:ln w="38100" cap="sq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 wrap="none"/>
                <a:lstStyle/>
                <a:p>
                  <a:endParaRPr lang="en-AU"/>
                </a:p>
              </p:txBody>
            </p:sp>
          </p:grpSp>
        </p:grpSp>
      </p:grpSp>
      <p:sp>
        <p:nvSpPr>
          <p:cNvPr id="53" name="Text Box 14"/>
          <p:cNvSpPr txBox="1">
            <a:spLocks noChangeArrowheads="1"/>
          </p:cNvSpPr>
          <p:nvPr/>
        </p:nvSpPr>
        <p:spPr bwMode="auto">
          <a:xfrm rot="19431703">
            <a:off x="3304206" y="2128210"/>
            <a:ext cx="837353" cy="369332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AU" b="0" dirty="0"/>
              <a:t>Height</a:t>
            </a:r>
          </a:p>
        </p:txBody>
      </p:sp>
      <p:sp>
        <p:nvSpPr>
          <p:cNvPr id="54" name="Text Box 14"/>
          <p:cNvSpPr txBox="1">
            <a:spLocks noChangeArrowheads="1"/>
          </p:cNvSpPr>
          <p:nvPr/>
        </p:nvSpPr>
        <p:spPr bwMode="auto">
          <a:xfrm rot="19431703">
            <a:off x="5032397" y="2272226"/>
            <a:ext cx="837353" cy="369332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AU" b="0" dirty="0"/>
              <a:t>Height</a:t>
            </a:r>
          </a:p>
        </p:txBody>
      </p:sp>
      <p:sp>
        <p:nvSpPr>
          <p:cNvPr id="55" name="Text Box 14"/>
          <p:cNvSpPr txBox="1">
            <a:spLocks noChangeArrowheads="1"/>
          </p:cNvSpPr>
          <p:nvPr/>
        </p:nvSpPr>
        <p:spPr bwMode="auto">
          <a:xfrm rot="19431703">
            <a:off x="6472558" y="5728610"/>
            <a:ext cx="837353" cy="369332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AU" b="0" dirty="0"/>
              <a:t>Height</a:t>
            </a:r>
          </a:p>
        </p:txBody>
      </p:sp>
      <p:sp>
        <p:nvSpPr>
          <p:cNvPr id="56" name="Text Box 11"/>
          <p:cNvSpPr txBox="1">
            <a:spLocks noChangeArrowheads="1"/>
          </p:cNvSpPr>
          <p:nvPr/>
        </p:nvSpPr>
        <p:spPr bwMode="auto">
          <a:xfrm>
            <a:off x="6876256" y="3429000"/>
            <a:ext cx="1368152" cy="646331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AU" b="0" dirty="0"/>
              <a:t>Base can be any face.</a:t>
            </a:r>
          </a:p>
        </p:txBody>
      </p:sp>
      <p:sp>
        <p:nvSpPr>
          <p:cNvPr id="57" name="Text Box 12"/>
          <p:cNvSpPr txBox="1">
            <a:spLocks noChangeArrowheads="1"/>
          </p:cNvSpPr>
          <p:nvPr/>
        </p:nvSpPr>
        <p:spPr bwMode="auto">
          <a:xfrm>
            <a:off x="5292080" y="3933056"/>
            <a:ext cx="648717" cy="369332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AU" b="0" dirty="0"/>
              <a:t>Base</a:t>
            </a:r>
          </a:p>
        </p:txBody>
      </p:sp>
      <p:sp>
        <p:nvSpPr>
          <p:cNvPr id="58" name="Text Box 12"/>
          <p:cNvSpPr txBox="1">
            <a:spLocks noChangeArrowheads="1"/>
          </p:cNvSpPr>
          <p:nvPr/>
        </p:nvSpPr>
        <p:spPr bwMode="auto">
          <a:xfrm>
            <a:off x="2987824" y="3789040"/>
            <a:ext cx="648717" cy="369332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AU" b="0" dirty="0"/>
              <a:t>Base</a:t>
            </a:r>
          </a:p>
        </p:txBody>
      </p:sp>
      <p:cxnSp>
        <p:nvCxnSpPr>
          <p:cNvPr id="60" name="Straight Arrow Connector 59"/>
          <p:cNvCxnSpPr>
            <a:stCxn id="58" idx="0"/>
          </p:cNvCxnSpPr>
          <p:nvPr/>
        </p:nvCxnSpPr>
        <p:spPr>
          <a:xfrm flipV="1">
            <a:off x="3312183" y="3212976"/>
            <a:ext cx="683753" cy="57606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/>
          <p:cNvCxnSpPr>
            <a:stCxn id="58" idx="2"/>
          </p:cNvCxnSpPr>
          <p:nvPr/>
        </p:nvCxnSpPr>
        <p:spPr>
          <a:xfrm>
            <a:off x="3312183" y="4158372"/>
            <a:ext cx="755761" cy="49476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/>
          <p:cNvCxnSpPr>
            <a:stCxn id="57" idx="0"/>
          </p:cNvCxnSpPr>
          <p:nvPr/>
        </p:nvCxnSpPr>
        <p:spPr>
          <a:xfrm flipV="1">
            <a:off x="5616439" y="3212976"/>
            <a:ext cx="179697" cy="72008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/>
          <p:cNvCxnSpPr>
            <a:stCxn id="57" idx="2"/>
          </p:cNvCxnSpPr>
          <p:nvPr/>
        </p:nvCxnSpPr>
        <p:spPr>
          <a:xfrm>
            <a:off x="5616439" y="4302388"/>
            <a:ext cx="179697" cy="157488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Text Box 7"/>
          <p:cNvSpPr txBox="1">
            <a:spLocks noChangeArrowheads="1"/>
          </p:cNvSpPr>
          <p:nvPr/>
        </p:nvSpPr>
        <p:spPr bwMode="auto">
          <a:xfrm>
            <a:off x="611560" y="3429000"/>
            <a:ext cx="1800200" cy="1800493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AU" sz="2400" dirty="0">
                <a:solidFill>
                  <a:srgbClr val="0066FF"/>
                </a:solidFill>
              </a:rPr>
              <a:t>These are all prisms…..</a:t>
            </a:r>
          </a:p>
          <a:p>
            <a:pPr>
              <a:spcBef>
                <a:spcPct val="50000"/>
              </a:spcBef>
            </a:pPr>
            <a:r>
              <a:rPr lang="en-AU" dirty="0" smtClean="0">
                <a:solidFill>
                  <a:srgbClr val="0066FF"/>
                </a:solidFill>
              </a:rPr>
              <a:t>Check out the </a:t>
            </a:r>
            <a:r>
              <a:rPr lang="en-AU" dirty="0">
                <a:solidFill>
                  <a:srgbClr val="0066FF"/>
                </a:solidFill>
              </a:rPr>
              <a:t>base and </a:t>
            </a:r>
            <a:r>
              <a:rPr lang="en-AU" dirty="0" smtClean="0">
                <a:solidFill>
                  <a:srgbClr val="0066FF"/>
                </a:solidFill>
              </a:rPr>
              <a:t>height of each.</a:t>
            </a:r>
            <a:endParaRPr lang="en-AU" dirty="0">
              <a:solidFill>
                <a:srgbClr val="0066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709025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628800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979712" y="1628800"/>
            <a:ext cx="0" cy="522920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469673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Area and now Volume Revision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Describe how to find the Volume of different shapes.  </a:t>
            </a:r>
            <a:endParaRPr lang="en-AU" sz="2400" dirty="0"/>
          </a:p>
        </p:txBody>
      </p:sp>
      <p:sp>
        <p:nvSpPr>
          <p:cNvPr id="13" name="TextBox 12"/>
          <p:cNvSpPr txBox="1"/>
          <p:nvPr/>
        </p:nvSpPr>
        <p:spPr>
          <a:xfrm>
            <a:off x="0" y="2060848"/>
            <a:ext cx="190770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How do we find the volume of 3 dimensional shapes?</a:t>
            </a:r>
            <a:endParaRPr lang="en-AU" sz="1600" dirty="0"/>
          </a:p>
        </p:txBody>
      </p:sp>
      <p:grpSp>
        <p:nvGrpSpPr>
          <p:cNvPr id="40" name="Group 21"/>
          <p:cNvGrpSpPr>
            <a:grpSpLocks/>
          </p:cNvGrpSpPr>
          <p:nvPr/>
        </p:nvGrpSpPr>
        <p:grpSpPr bwMode="auto">
          <a:xfrm>
            <a:off x="2195736" y="1772816"/>
            <a:ext cx="1870075" cy="1014412"/>
            <a:chOff x="1066" y="255"/>
            <a:chExt cx="1178" cy="639"/>
          </a:xfrm>
        </p:grpSpPr>
        <p:sp>
          <p:nvSpPr>
            <p:cNvPr id="41" name="Rectangle 8" descr="Pink tissue paper"/>
            <p:cNvSpPr>
              <a:spLocks noChangeArrowheads="1"/>
            </p:cNvSpPr>
            <p:nvPr/>
          </p:nvSpPr>
          <p:spPr bwMode="auto">
            <a:xfrm>
              <a:off x="1066" y="391"/>
              <a:ext cx="725" cy="318"/>
            </a:xfrm>
            <a:prstGeom prst="rect">
              <a:avLst/>
            </a:prstGeom>
            <a:blipFill dpi="0" rotWithShape="1">
              <a:blip r:embed="rId3" cstate="print"/>
              <a:srcRect/>
              <a:tile tx="0" ty="0" sx="100000" sy="100000" flip="none" algn="tl"/>
            </a:blipFill>
            <a:ln w="9525">
              <a:miter lim="800000"/>
              <a:headEnd/>
              <a:tailEnd/>
            </a:ln>
            <a:scene3d>
              <a:camera prst="legacyObliqueTopRight"/>
              <a:lightRig rig="legacyFlat3" dir="b"/>
            </a:scene3d>
            <a:sp3d extrusionH="887400" prstMaterial="legacyMatte">
              <a:bevelT w="13500" h="13500" prst="angle"/>
              <a:bevelB w="13500" h="13500" prst="angle"/>
              <a:extrusionClr>
                <a:srgbClr val="FFCCCC"/>
              </a:extrusionClr>
            </a:sp3d>
          </p:spPr>
          <p:txBody>
            <a:bodyPr wrap="none" anchor="ctr">
              <a:flatTx/>
            </a:bodyPr>
            <a:lstStyle/>
            <a:p>
              <a:endParaRPr lang="en-AU"/>
            </a:p>
          </p:txBody>
        </p:sp>
        <p:sp>
          <p:nvSpPr>
            <p:cNvPr id="42" name="Text Box 9"/>
            <p:cNvSpPr txBox="1">
              <a:spLocks noChangeArrowheads="1"/>
            </p:cNvSpPr>
            <p:nvPr/>
          </p:nvSpPr>
          <p:spPr bwMode="auto">
            <a:xfrm>
              <a:off x="1837" y="527"/>
              <a:ext cx="317" cy="231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AU" sz="1800" b="0">
                  <a:latin typeface="Times New Roman" pitchFamily="18" charset="0"/>
                </a:rPr>
                <a:t>4m</a:t>
              </a:r>
            </a:p>
          </p:txBody>
        </p:sp>
        <p:sp>
          <p:nvSpPr>
            <p:cNvPr id="43" name="Text Box 10"/>
            <p:cNvSpPr txBox="1">
              <a:spLocks noChangeArrowheads="1"/>
            </p:cNvSpPr>
            <p:nvPr/>
          </p:nvSpPr>
          <p:spPr bwMode="auto">
            <a:xfrm>
              <a:off x="1927" y="255"/>
              <a:ext cx="317" cy="231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AU" sz="1800" b="0">
                  <a:latin typeface="Times New Roman" pitchFamily="18" charset="0"/>
                </a:rPr>
                <a:t>3m</a:t>
              </a:r>
            </a:p>
          </p:txBody>
        </p:sp>
        <p:sp>
          <p:nvSpPr>
            <p:cNvPr id="44" name="Text Box 11"/>
            <p:cNvSpPr txBox="1">
              <a:spLocks noChangeArrowheads="1"/>
            </p:cNvSpPr>
            <p:nvPr/>
          </p:nvSpPr>
          <p:spPr bwMode="auto">
            <a:xfrm>
              <a:off x="1338" y="663"/>
              <a:ext cx="317" cy="231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AU" sz="1800" b="0">
                  <a:latin typeface="Times New Roman" pitchFamily="18" charset="0"/>
                </a:rPr>
                <a:t>5m</a:t>
              </a:r>
            </a:p>
          </p:txBody>
        </p:sp>
      </p:grpSp>
      <p:sp>
        <p:nvSpPr>
          <p:cNvPr id="45" name="Text Box 12"/>
          <p:cNvSpPr txBox="1">
            <a:spLocks noChangeArrowheads="1"/>
          </p:cNvSpPr>
          <p:nvPr/>
        </p:nvSpPr>
        <p:spPr bwMode="auto">
          <a:xfrm>
            <a:off x="1979712" y="2708920"/>
            <a:ext cx="2304256" cy="830997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r>
              <a:rPr lang="en-AU" sz="1600" dirty="0"/>
              <a:t>Vol = Base Area </a:t>
            </a:r>
            <a:r>
              <a:rPr lang="en-US" sz="1600" dirty="0">
                <a:cs typeface="Times New Roman" pitchFamily="18" charset="0"/>
              </a:rPr>
              <a:t>× </a:t>
            </a:r>
            <a:r>
              <a:rPr lang="en-US" sz="1600" dirty="0" err="1">
                <a:cs typeface="Times New Roman" pitchFamily="18" charset="0"/>
              </a:rPr>
              <a:t>Perp</a:t>
            </a:r>
            <a:r>
              <a:rPr lang="en-US" sz="1600" dirty="0">
                <a:cs typeface="Times New Roman" pitchFamily="18" charset="0"/>
              </a:rPr>
              <a:t> </a:t>
            </a:r>
            <a:r>
              <a:rPr lang="en-US" sz="1600" dirty="0" smtClean="0">
                <a:cs typeface="Times New Roman" pitchFamily="18" charset="0"/>
              </a:rPr>
              <a:t>Ht</a:t>
            </a:r>
          </a:p>
          <a:p>
            <a:r>
              <a:rPr lang="en-AU" sz="1600" dirty="0" smtClean="0"/>
              <a:t>       = 5 x 4 x 3</a:t>
            </a:r>
          </a:p>
          <a:p>
            <a:r>
              <a:rPr lang="en-AU" sz="1600" dirty="0" smtClean="0"/>
              <a:t>       = 60 m</a:t>
            </a:r>
            <a:r>
              <a:rPr lang="en-AU" sz="1600" baseline="30000" dirty="0" smtClean="0"/>
              <a:t>3</a:t>
            </a:r>
            <a:endParaRPr lang="en-AU" sz="1600" baseline="30000" dirty="0"/>
          </a:p>
        </p:txBody>
      </p:sp>
      <p:grpSp>
        <p:nvGrpSpPr>
          <p:cNvPr id="47" name="Group 48"/>
          <p:cNvGrpSpPr>
            <a:grpSpLocks/>
          </p:cNvGrpSpPr>
          <p:nvPr/>
        </p:nvGrpSpPr>
        <p:grpSpPr bwMode="auto">
          <a:xfrm>
            <a:off x="5652120" y="1772816"/>
            <a:ext cx="2519363" cy="1150938"/>
            <a:chOff x="3334" y="346"/>
            <a:chExt cx="1587" cy="725"/>
          </a:xfrm>
        </p:grpSpPr>
        <p:sp>
          <p:nvSpPr>
            <p:cNvPr id="48" name="AutoShape 15"/>
            <p:cNvSpPr>
              <a:spLocks noChangeArrowheads="1"/>
            </p:cNvSpPr>
            <p:nvPr/>
          </p:nvSpPr>
          <p:spPr bwMode="auto">
            <a:xfrm>
              <a:off x="3334" y="346"/>
              <a:ext cx="1088" cy="544"/>
            </a:xfrm>
            <a:prstGeom prst="triangle">
              <a:avLst>
                <a:gd name="adj" fmla="val 78551"/>
              </a:avLst>
            </a:prstGeom>
            <a:gradFill rotWithShape="1">
              <a:gsLst>
                <a:gs pos="0">
                  <a:srgbClr val="630044"/>
                </a:gs>
                <a:gs pos="50000">
                  <a:srgbClr val="D60093"/>
                </a:gs>
                <a:gs pos="100000">
                  <a:srgbClr val="630044"/>
                </a:gs>
              </a:gsLst>
              <a:lin ang="5400000" scaled="1"/>
            </a:gradFill>
            <a:ln w="9525">
              <a:miter lim="800000"/>
              <a:headEnd/>
              <a:tailEnd/>
            </a:ln>
            <a:scene3d>
              <a:camera prst="legacyObliqueTopRight"/>
              <a:lightRig rig="legacyFlat2" dir="t"/>
            </a:scene3d>
            <a:sp3d extrusionH="887400" prstMaterial="legacyMatte">
              <a:bevelT w="13500" h="13500" prst="angle"/>
              <a:bevelB w="13500" h="13500" prst="angle"/>
              <a:extrusionClr>
                <a:srgbClr val="D60093"/>
              </a:extrusionClr>
            </a:sp3d>
          </p:spPr>
          <p:txBody>
            <a:bodyPr wrap="none" anchor="ctr">
              <a:flatTx/>
            </a:bodyPr>
            <a:lstStyle/>
            <a:p>
              <a:endParaRPr lang="en-AU"/>
            </a:p>
          </p:txBody>
        </p:sp>
        <p:sp>
          <p:nvSpPr>
            <p:cNvPr id="49" name="Text Box 16"/>
            <p:cNvSpPr txBox="1">
              <a:spLocks noChangeArrowheads="1"/>
            </p:cNvSpPr>
            <p:nvPr/>
          </p:nvSpPr>
          <p:spPr bwMode="auto">
            <a:xfrm>
              <a:off x="3742" y="840"/>
              <a:ext cx="453" cy="231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AU" sz="1800" b="0" dirty="0">
                  <a:latin typeface="Times New Roman" pitchFamily="18" charset="0"/>
                </a:rPr>
                <a:t>12m</a:t>
              </a:r>
            </a:p>
          </p:txBody>
        </p:sp>
        <p:sp>
          <p:nvSpPr>
            <p:cNvPr id="50" name="Text Box 17"/>
            <p:cNvSpPr txBox="1">
              <a:spLocks noChangeArrowheads="1"/>
            </p:cNvSpPr>
            <p:nvPr/>
          </p:nvSpPr>
          <p:spPr bwMode="auto">
            <a:xfrm>
              <a:off x="4468" y="709"/>
              <a:ext cx="453" cy="231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AU" sz="1800" b="0" dirty="0">
                  <a:latin typeface="Times New Roman" pitchFamily="18" charset="0"/>
                </a:rPr>
                <a:t>7m</a:t>
              </a:r>
            </a:p>
          </p:txBody>
        </p:sp>
        <p:sp>
          <p:nvSpPr>
            <p:cNvPr id="51" name="Line 18"/>
            <p:cNvSpPr>
              <a:spLocks noChangeShapeType="1"/>
            </p:cNvSpPr>
            <p:nvPr/>
          </p:nvSpPr>
          <p:spPr bwMode="auto">
            <a:xfrm flipV="1">
              <a:off x="4195" y="346"/>
              <a:ext cx="0" cy="181"/>
            </a:xfrm>
            <a:prstGeom prst="line">
              <a:avLst/>
            </a:prstGeom>
            <a:noFill/>
            <a:ln w="38100" cap="sq">
              <a:solidFill>
                <a:srgbClr val="F5F6FD"/>
              </a:solidFill>
              <a:round/>
              <a:headEnd type="none" w="sm" len="sm"/>
              <a:tailEnd type="triangle" w="med" len="med"/>
            </a:ln>
          </p:spPr>
          <p:txBody>
            <a:bodyPr wrap="none"/>
            <a:lstStyle/>
            <a:p>
              <a:endParaRPr lang="en-AU"/>
            </a:p>
          </p:txBody>
        </p:sp>
        <p:sp>
          <p:nvSpPr>
            <p:cNvPr id="52" name="Line 19"/>
            <p:cNvSpPr>
              <a:spLocks noChangeShapeType="1"/>
            </p:cNvSpPr>
            <p:nvPr/>
          </p:nvSpPr>
          <p:spPr bwMode="auto">
            <a:xfrm>
              <a:off x="4195" y="754"/>
              <a:ext cx="0" cy="136"/>
            </a:xfrm>
            <a:prstGeom prst="line">
              <a:avLst/>
            </a:prstGeom>
            <a:noFill/>
            <a:ln w="38100" cap="sq">
              <a:solidFill>
                <a:srgbClr val="F5F6FD"/>
              </a:solidFill>
              <a:round/>
              <a:headEnd type="none" w="sm" len="sm"/>
              <a:tailEnd type="triangle" w="med" len="med"/>
            </a:ln>
          </p:spPr>
          <p:txBody>
            <a:bodyPr wrap="none"/>
            <a:lstStyle/>
            <a:p>
              <a:endParaRPr lang="en-AU"/>
            </a:p>
          </p:txBody>
        </p:sp>
        <p:sp>
          <p:nvSpPr>
            <p:cNvPr id="59" name="Text Box 20"/>
            <p:cNvSpPr txBox="1">
              <a:spLocks noChangeArrowheads="1"/>
            </p:cNvSpPr>
            <p:nvPr/>
          </p:nvSpPr>
          <p:spPr bwMode="auto">
            <a:xfrm>
              <a:off x="4059" y="527"/>
              <a:ext cx="453" cy="231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AU" sz="1800" b="0" dirty="0">
                  <a:solidFill>
                    <a:srgbClr val="F5F6FD"/>
                  </a:solidFill>
                  <a:latin typeface="Times New Roman" pitchFamily="18" charset="0"/>
                </a:rPr>
                <a:t>5m</a:t>
              </a:r>
            </a:p>
          </p:txBody>
        </p:sp>
      </p:grpSp>
      <p:sp>
        <p:nvSpPr>
          <p:cNvPr id="61" name="Text Box 23"/>
          <p:cNvSpPr txBox="1">
            <a:spLocks noChangeArrowheads="1"/>
          </p:cNvSpPr>
          <p:nvPr/>
        </p:nvSpPr>
        <p:spPr bwMode="auto">
          <a:xfrm>
            <a:off x="4679504" y="2780928"/>
            <a:ext cx="4464496" cy="369332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AU" sz="1800" i="1" dirty="0">
                <a:solidFill>
                  <a:srgbClr val="ED0F0F"/>
                </a:solidFill>
              </a:rPr>
              <a:t>NOTE!!  </a:t>
            </a:r>
            <a:r>
              <a:rPr lang="en-AU" sz="1800" dirty="0">
                <a:solidFill>
                  <a:srgbClr val="ED0F0F"/>
                </a:solidFill>
              </a:rPr>
              <a:t>The base is the </a:t>
            </a:r>
            <a:r>
              <a:rPr lang="en-AU" sz="1800" dirty="0">
                <a:solidFill>
                  <a:srgbClr val="ED0F0F"/>
                </a:solidFill>
                <a:sym typeface="Symbol" pitchFamily="18" charset="2"/>
              </a:rPr>
              <a:t> front and height is 7</a:t>
            </a:r>
          </a:p>
        </p:txBody>
      </p:sp>
      <p:sp>
        <p:nvSpPr>
          <p:cNvPr id="63" name="Text Box 22"/>
          <p:cNvSpPr txBox="1">
            <a:spLocks noChangeArrowheads="1"/>
          </p:cNvSpPr>
          <p:nvPr/>
        </p:nvSpPr>
        <p:spPr bwMode="auto">
          <a:xfrm>
            <a:off x="5220072" y="3068960"/>
            <a:ext cx="2881312" cy="830997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r>
              <a:rPr lang="en-AU" sz="1600" dirty="0"/>
              <a:t>Vol = Base Area </a:t>
            </a:r>
            <a:r>
              <a:rPr lang="en-US" sz="1600" dirty="0">
                <a:cs typeface="Times New Roman" pitchFamily="18" charset="0"/>
              </a:rPr>
              <a:t>× </a:t>
            </a:r>
            <a:r>
              <a:rPr lang="en-US" sz="1600" dirty="0" err="1">
                <a:cs typeface="Times New Roman" pitchFamily="18" charset="0"/>
              </a:rPr>
              <a:t>Perp</a:t>
            </a:r>
            <a:r>
              <a:rPr lang="en-US" sz="1600" dirty="0">
                <a:cs typeface="Times New Roman" pitchFamily="18" charset="0"/>
              </a:rPr>
              <a:t> </a:t>
            </a:r>
            <a:r>
              <a:rPr lang="en-US" sz="1600" dirty="0" smtClean="0">
                <a:cs typeface="Times New Roman" pitchFamily="18" charset="0"/>
              </a:rPr>
              <a:t>Ht</a:t>
            </a:r>
          </a:p>
          <a:p>
            <a:r>
              <a:rPr lang="en-US" sz="1600" dirty="0" smtClean="0">
                <a:cs typeface="Times New Roman" pitchFamily="18" charset="0"/>
              </a:rPr>
              <a:t>       </a:t>
            </a:r>
            <a:r>
              <a:rPr lang="en-AU" sz="1600" dirty="0" smtClean="0"/>
              <a:t>= (½  </a:t>
            </a:r>
            <a:r>
              <a:rPr lang="en-US" sz="1600" dirty="0" smtClean="0">
                <a:cs typeface="Times New Roman" pitchFamily="18" charset="0"/>
              </a:rPr>
              <a:t>× 12 </a:t>
            </a:r>
            <a:r>
              <a:rPr lang="en-US" sz="1600" dirty="0" smtClean="0"/>
              <a:t>× 5) × 7</a:t>
            </a:r>
          </a:p>
          <a:p>
            <a:r>
              <a:rPr lang="en-AU" sz="1600" dirty="0" smtClean="0"/>
              <a:t>        = 210 m</a:t>
            </a:r>
            <a:r>
              <a:rPr lang="en-AU" sz="1600" baseline="30000" dirty="0" smtClean="0"/>
              <a:t>3</a:t>
            </a:r>
            <a:endParaRPr lang="en-AU" sz="1600" baseline="30000" dirty="0"/>
          </a:p>
        </p:txBody>
      </p:sp>
      <p:grpSp>
        <p:nvGrpSpPr>
          <p:cNvPr id="65" name="Group 49"/>
          <p:cNvGrpSpPr>
            <a:grpSpLocks/>
          </p:cNvGrpSpPr>
          <p:nvPr/>
        </p:nvGrpSpPr>
        <p:grpSpPr bwMode="auto">
          <a:xfrm>
            <a:off x="2195736" y="3645024"/>
            <a:ext cx="1439887" cy="1872556"/>
            <a:chOff x="839" y="2296"/>
            <a:chExt cx="1043" cy="1225"/>
          </a:xfrm>
        </p:grpSpPr>
        <p:grpSp>
          <p:nvGrpSpPr>
            <p:cNvPr id="68" name="Group 30"/>
            <p:cNvGrpSpPr>
              <a:grpSpLocks/>
            </p:cNvGrpSpPr>
            <p:nvPr/>
          </p:nvGrpSpPr>
          <p:grpSpPr bwMode="auto">
            <a:xfrm>
              <a:off x="839" y="2296"/>
              <a:ext cx="635" cy="907"/>
              <a:chOff x="839" y="2296"/>
              <a:chExt cx="635" cy="907"/>
            </a:xfrm>
          </p:grpSpPr>
          <p:sp>
            <p:nvSpPr>
              <p:cNvPr id="72" name="Oval 26"/>
              <p:cNvSpPr>
                <a:spLocks noChangeArrowheads="1"/>
              </p:cNvSpPr>
              <p:nvPr/>
            </p:nvSpPr>
            <p:spPr bwMode="auto">
              <a:xfrm>
                <a:off x="839" y="2296"/>
                <a:ext cx="635" cy="182"/>
              </a:xfrm>
              <a:prstGeom prst="ellipse">
                <a:avLst/>
              </a:prstGeom>
              <a:solidFill>
                <a:schemeClr val="accent1"/>
              </a:solidFill>
              <a:ln w="3810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AU"/>
              </a:p>
            </p:txBody>
          </p:sp>
          <p:sp>
            <p:nvSpPr>
              <p:cNvPr id="73" name="Oval 27"/>
              <p:cNvSpPr>
                <a:spLocks noChangeArrowheads="1"/>
              </p:cNvSpPr>
              <p:nvPr/>
            </p:nvSpPr>
            <p:spPr bwMode="auto">
              <a:xfrm>
                <a:off x="839" y="3021"/>
                <a:ext cx="635" cy="182"/>
              </a:xfrm>
              <a:prstGeom prst="ellipse">
                <a:avLst/>
              </a:prstGeom>
              <a:solidFill>
                <a:schemeClr val="accent1"/>
              </a:solidFill>
              <a:ln w="3810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AU"/>
              </a:p>
            </p:txBody>
          </p:sp>
          <p:sp>
            <p:nvSpPr>
              <p:cNvPr id="74" name="Line 28"/>
              <p:cNvSpPr>
                <a:spLocks noChangeShapeType="1"/>
              </p:cNvSpPr>
              <p:nvPr/>
            </p:nvSpPr>
            <p:spPr bwMode="auto">
              <a:xfrm>
                <a:off x="839" y="2387"/>
                <a:ext cx="0" cy="726"/>
              </a:xfrm>
              <a:prstGeom prst="line">
                <a:avLst/>
              </a:prstGeom>
              <a:noFill/>
              <a:ln w="3810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/>
              <a:lstStyle/>
              <a:p>
                <a:endParaRPr lang="en-AU"/>
              </a:p>
            </p:txBody>
          </p:sp>
          <p:sp>
            <p:nvSpPr>
              <p:cNvPr id="75" name="Line 29"/>
              <p:cNvSpPr>
                <a:spLocks noChangeShapeType="1"/>
              </p:cNvSpPr>
              <p:nvPr/>
            </p:nvSpPr>
            <p:spPr bwMode="auto">
              <a:xfrm>
                <a:off x="1474" y="2387"/>
                <a:ext cx="0" cy="771"/>
              </a:xfrm>
              <a:prstGeom prst="line">
                <a:avLst/>
              </a:prstGeom>
              <a:noFill/>
              <a:ln w="3810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/>
              <a:lstStyle/>
              <a:p>
                <a:endParaRPr lang="en-AU"/>
              </a:p>
            </p:txBody>
          </p:sp>
        </p:grpSp>
        <p:sp>
          <p:nvSpPr>
            <p:cNvPr id="69" name="Text Box 31"/>
            <p:cNvSpPr txBox="1">
              <a:spLocks noChangeArrowheads="1"/>
            </p:cNvSpPr>
            <p:nvPr/>
          </p:nvSpPr>
          <p:spPr bwMode="auto">
            <a:xfrm>
              <a:off x="1429" y="2614"/>
              <a:ext cx="453" cy="231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AU" sz="1800" b="0">
                  <a:latin typeface="Times New Roman" pitchFamily="18" charset="0"/>
                </a:rPr>
                <a:t>5cm</a:t>
              </a:r>
            </a:p>
          </p:txBody>
        </p:sp>
        <p:sp>
          <p:nvSpPr>
            <p:cNvPr id="70" name="Text Box 32"/>
            <p:cNvSpPr txBox="1">
              <a:spLocks noChangeArrowheads="1"/>
            </p:cNvSpPr>
            <p:nvPr/>
          </p:nvSpPr>
          <p:spPr bwMode="auto">
            <a:xfrm>
              <a:off x="975" y="3290"/>
              <a:ext cx="453" cy="231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AU" sz="1800" b="0">
                  <a:latin typeface="Times New Roman" pitchFamily="18" charset="0"/>
                </a:rPr>
                <a:t>4cm</a:t>
              </a:r>
            </a:p>
          </p:txBody>
        </p:sp>
        <p:sp>
          <p:nvSpPr>
            <p:cNvPr id="71" name="Line 33"/>
            <p:cNvSpPr>
              <a:spLocks noChangeShapeType="1"/>
            </p:cNvSpPr>
            <p:nvPr/>
          </p:nvSpPr>
          <p:spPr bwMode="auto">
            <a:xfrm>
              <a:off x="839" y="3294"/>
              <a:ext cx="635" cy="0"/>
            </a:xfrm>
            <a:prstGeom prst="line">
              <a:avLst/>
            </a:prstGeom>
            <a:noFill/>
            <a:ln w="38100" cap="sq">
              <a:solidFill>
                <a:schemeClr val="tx1"/>
              </a:solidFill>
              <a:round/>
              <a:headEnd type="triangle" w="med" len="med"/>
              <a:tailEnd type="triangle" w="med" len="med"/>
            </a:ln>
          </p:spPr>
          <p:txBody>
            <a:bodyPr wrap="none"/>
            <a:lstStyle/>
            <a:p>
              <a:endParaRPr lang="en-AU"/>
            </a:p>
          </p:txBody>
        </p:sp>
      </p:grpSp>
      <p:sp>
        <p:nvSpPr>
          <p:cNvPr id="76" name="Text Box 36"/>
          <p:cNvSpPr txBox="1">
            <a:spLocks noChangeArrowheads="1"/>
          </p:cNvSpPr>
          <p:nvPr/>
        </p:nvSpPr>
        <p:spPr bwMode="auto">
          <a:xfrm>
            <a:off x="3131840" y="4437112"/>
            <a:ext cx="1584176" cy="369332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AU" i="1" dirty="0">
                <a:solidFill>
                  <a:srgbClr val="ED0F0F"/>
                </a:solidFill>
              </a:rPr>
              <a:t>Note! r </a:t>
            </a:r>
            <a:r>
              <a:rPr lang="en-AU" dirty="0">
                <a:solidFill>
                  <a:srgbClr val="ED0F0F"/>
                </a:solidFill>
              </a:rPr>
              <a:t>= </a:t>
            </a:r>
            <a:r>
              <a:rPr lang="en-AU" dirty="0" smtClean="0">
                <a:solidFill>
                  <a:srgbClr val="ED0F0F"/>
                </a:solidFill>
              </a:rPr>
              <a:t>2cm</a:t>
            </a:r>
            <a:endParaRPr lang="en-AU" dirty="0">
              <a:solidFill>
                <a:srgbClr val="ED0F0F"/>
              </a:solidFill>
            </a:endParaRPr>
          </a:p>
        </p:txBody>
      </p:sp>
      <p:sp>
        <p:nvSpPr>
          <p:cNvPr id="77" name="Text Box 34"/>
          <p:cNvSpPr txBox="1">
            <a:spLocks noChangeArrowheads="1"/>
          </p:cNvSpPr>
          <p:nvPr/>
        </p:nvSpPr>
        <p:spPr bwMode="auto">
          <a:xfrm>
            <a:off x="2051721" y="5517232"/>
            <a:ext cx="2304256" cy="830997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r>
              <a:rPr lang="en-AU" sz="1600" dirty="0"/>
              <a:t>Vol = Base Area </a:t>
            </a:r>
            <a:r>
              <a:rPr lang="en-US" sz="1600" dirty="0">
                <a:cs typeface="Times New Roman" pitchFamily="18" charset="0"/>
              </a:rPr>
              <a:t>× </a:t>
            </a:r>
            <a:r>
              <a:rPr lang="en-US" sz="1600" dirty="0" err="1">
                <a:cs typeface="Times New Roman" pitchFamily="18" charset="0"/>
              </a:rPr>
              <a:t>Perp</a:t>
            </a:r>
            <a:r>
              <a:rPr lang="en-US" sz="1600" dirty="0">
                <a:cs typeface="Times New Roman" pitchFamily="18" charset="0"/>
              </a:rPr>
              <a:t> </a:t>
            </a:r>
            <a:r>
              <a:rPr lang="en-US" sz="1600" dirty="0" smtClean="0">
                <a:cs typeface="Times New Roman" pitchFamily="18" charset="0"/>
              </a:rPr>
              <a:t>Ht</a:t>
            </a:r>
          </a:p>
          <a:p>
            <a:r>
              <a:rPr lang="en-US" sz="1600" dirty="0" smtClean="0">
                <a:cs typeface="Times New Roman" pitchFamily="18" charset="0"/>
              </a:rPr>
              <a:t>      </a:t>
            </a:r>
            <a:r>
              <a:rPr lang="en-AU" sz="1600" dirty="0" smtClean="0"/>
              <a:t>= </a:t>
            </a:r>
            <a:r>
              <a:rPr lang="en-AU" sz="1600" dirty="0" smtClean="0">
                <a:sym typeface="Symbol" pitchFamily="18" charset="2"/>
              </a:rPr>
              <a:t></a:t>
            </a:r>
            <a:r>
              <a:rPr lang="en-AU" sz="1600" dirty="0" smtClean="0"/>
              <a:t> </a:t>
            </a:r>
            <a:r>
              <a:rPr lang="en-US" sz="1600" dirty="0" smtClean="0">
                <a:cs typeface="Times New Roman" pitchFamily="18" charset="0"/>
              </a:rPr>
              <a:t>× 2</a:t>
            </a:r>
            <a:r>
              <a:rPr lang="en-US" sz="1600" baseline="30000" dirty="0" smtClean="0">
                <a:cs typeface="Times New Roman" pitchFamily="18" charset="0"/>
              </a:rPr>
              <a:t>2</a:t>
            </a:r>
            <a:r>
              <a:rPr lang="en-US" sz="1600" dirty="0" smtClean="0">
                <a:cs typeface="Times New Roman" pitchFamily="18" charset="0"/>
              </a:rPr>
              <a:t> </a:t>
            </a:r>
            <a:r>
              <a:rPr lang="en-US" sz="1600" dirty="0" smtClean="0"/>
              <a:t>× 5</a:t>
            </a:r>
            <a:r>
              <a:rPr lang="en-AU" sz="1600" dirty="0" smtClean="0"/>
              <a:t> </a:t>
            </a:r>
          </a:p>
          <a:p>
            <a:r>
              <a:rPr lang="en-AU" sz="1600" dirty="0" smtClean="0"/>
              <a:t>       = 62.83 cm</a:t>
            </a:r>
            <a:r>
              <a:rPr lang="en-AU" sz="1600" baseline="30000" dirty="0" smtClean="0"/>
              <a:t>3</a:t>
            </a:r>
            <a:endParaRPr lang="en-AU" sz="1600" baseline="30000" dirty="0"/>
          </a:p>
        </p:txBody>
      </p:sp>
      <p:grpSp>
        <p:nvGrpSpPr>
          <p:cNvPr id="78" name="Group 50"/>
          <p:cNvGrpSpPr>
            <a:grpSpLocks/>
          </p:cNvGrpSpPr>
          <p:nvPr/>
        </p:nvGrpSpPr>
        <p:grpSpPr bwMode="auto">
          <a:xfrm>
            <a:off x="5004048" y="4005064"/>
            <a:ext cx="2521025" cy="1224856"/>
            <a:chOff x="3288" y="2160"/>
            <a:chExt cx="1679" cy="953"/>
          </a:xfrm>
        </p:grpSpPr>
        <p:sp>
          <p:nvSpPr>
            <p:cNvPr id="79" name="AutoShape 40"/>
            <p:cNvSpPr>
              <a:spLocks noChangeArrowheads="1"/>
            </p:cNvSpPr>
            <p:nvPr/>
          </p:nvSpPr>
          <p:spPr bwMode="auto">
            <a:xfrm>
              <a:off x="3288" y="2568"/>
              <a:ext cx="771" cy="499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3950 w 21600"/>
                <a:gd name="T13" fmla="*/ 3939 h 21600"/>
                <a:gd name="T14" fmla="*/ 17650 w 21600"/>
                <a:gd name="T15" fmla="*/ 17661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4286" y="21600"/>
                  </a:lnTo>
                  <a:lnTo>
                    <a:pt x="17314" y="21600"/>
                  </a:lnTo>
                  <a:lnTo>
                    <a:pt x="21600" y="0"/>
                  </a:lnTo>
                  <a:close/>
                </a:path>
              </a:pathLst>
            </a:custGeom>
            <a:gradFill rotWithShape="1">
              <a:gsLst>
                <a:gs pos="0">
                  <a:srgbClr val="F3F75B"/>
                </a:gs>
                <a:gs pos="100000">
                  <a:srgbClr val="70722A"/>
                </a:gs>
              </a:gsLst>
              <a:lin ang="5400000" scaled="1"/>
            </a:gradFill>
            <a:ln w="9525">
              <a:round/>
              <a:headEnd/>
              <a:tailEnd/>
            </a:ln>
            <a:scene3d>
              <a:camera prst="legacyObliqueTopRight"/>
              <a:lightRig rig="legacyFlat3" dir="b"/>
            </a:scene3d>
            <a:sp3d extrusionH="1801800" prstMaterial="legacyMatte">
              <a:bevelT w="13500" h="13500" prst="angle"/>
              <a:bevelB w="13500" h="13500" prst="angle"/>
              <a:extrusionClr>
                <a:srgbClr val="F3F75B"/>
              </a:extrusionClr>
            </a:sp3d>
          </p:spPr>
          <p:txBody>
            <a:bodyPr wrap="none" anchor="ctr">
              <a:flatTx/>
            </a:bodyPr>
            <a:lstStyle/>
            <a:p>
              <a:endParaRPr lang="en-AU"/>
            </a:p>
          </p:txBody>
        </p:sp>
        <p:sp>
          <p:nvSpPr>
            <p:cNvPr id="80" name="Text Box 41"/>
            <p:cNvSpPr txBox="1">
              <a:spLocks noChangeArrowheads="1"/>
            </p:cNvSpPr>
            <p:nvPr/>
          </p:nvSpPr>
          <p:spPr bwMode="auto">
            <a:xfrm>
              <a:off x="3470" y="2882"/>
              <a:ext cx="453" cy="231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AU" sz="1800" b="0">
                  <a:latin typeface="Times New Roman" pitchFamily="18" charset="0"/>
                </a:rPr>
                <a:t>5cm</a:t>
              </a:r>
            </a:p>
          </p:txBody>
        </p:sp>
        <p:sp>
          <p:nvSpPr>
            <p:cNvPr id="81" name="Text Box 42"/>
            <p:cNvSpPr txBox="1">
              <a:spLocks noChangeArrowheads="1"/>
            </p:cNvSpPr>
            <p:nvPr/>
          </p:nvSpPr>
          <p:spPr bwMode="auto">
            <a:xfrm>
              <a:off x="3515" y="2387"/>
              <a:ext cx="453" cy="231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AU" sz="1800" b="0">
                  <a:latin typeface="Times New Roman" pitchFamily="18" charset="0"/>
                </a:rPr>
                <a:t>9cm</a:t>
              </a:r>
            </a:p>
          </p:txBody>
        </p:sp>
        <p:sp>
          <p:nvSpPr>
            <p:cNvPr id="82" name="Text Box 43"/>
            <p:cNvSpPr txBox="1">
              <a:spLocks noChangeArrowheads="1"/>
            </p:cNvSpPr>
            <p:nvPr/>
          </p:nvSpPr>
          <p:spPr bwMode="auto">
            <a:xfrm>
              <a:off x="4060" y="2750"/>
              <a:ext cx="523" cy="287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AU" sz="1800" b="0" dirty="0">
                  <a:latin typeface="Times New Roman" pitchFamily="18" charset="0"/>
                </a:rPr>
                <a:t>12cm</a:t>
              </a:r>
            </a:p>
          </p:txBody>
        </p:sp>
        <p:sp>
          <p:nvSpPr>
            <p:cNvPr id="83" name="Text Box 44"/>
            <p:cNvSpPr txBox="1">
              <a:spLocks noChangeArrowheads="1"/>
            </p:cNvSpPr>
            <p:nvPr/>
          </p:nvSpPr>
          <p:spPr bwMode="auto">
            <a:xfrm>
              <a:off x="4514" y="2296"/>
              <a:ext cx="453" cy="231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AU" sz="1800" b="0">
                  <a:latin typeface="Times New Roman" pitchFamily="18" charset="0"/>
                </a:rPr>
                <a:t>8cm</a:t>
              </a:r>
            </a:p>
          </p:txBody>
        </p:sp>
        <p:sp>
          <p:nvSpPr>
            <p:cNvPr id="84" name="Line 45"/>
            <p:cNvSpPr>
              <a:spLocks noChangeShapeType="1"/>
            </p:cNvSpPr>
            <p:nvPr/>
          </p:nvSpPr>
          <p:spPr bwMode="auto">
            <a:xfrm>
              <a:off x="4513" y="2160"/>
              <a:ext cx="0" cy="499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prstDash val="sysDot"/>
              <a:round/>
              <a:headEnd type="triangle" w="med" len="med"/>
              <a:tailEnd type="triangle" w="med" len="med"/>
            </a:ln>
          </p:spPr>
          <p:txBody>
            <a:bodyPr wrap="none"/>
            <a:lstStyle/>
            <a:p>
              <a:endParaRPr lang="en-AU"/>
            </a:p>
          </p:txBody>
        </p:sp>
        <p:sp>
          <p:nvSpPr>
            <p:cNvPr id="85" name="Line 46"/>
            <p:cNvSpPr>
              <a:spLocks noChangeShapeType="1"/>
            </p:cNvSpPr>
            <p:nvPr/>
          </p:nvSpPr>
          <p:spPr bwMode="auto">
            <a:xfrm>
              <a:off x="4332" y="2659"/>
              <a:ext cx="40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Dot"/>
              <a:round/>
              <a:headEnd type="none" w="sm" len="sm"/>
              <a:tailEnd type="none" w="sm" len="sm"/>
            </a:ln>
          </p:spPr>
          <p:txBody>
            <a:bodyPr wrap="none"/>
            <a:lstStyle/>
            <a:p>
              <a:endParaRPr lang="en-AU"/>
            </a:p>
          </p:txBody>
        </p:sp>
        <p:sp>
          <p:nvSpPr>
            <p:cNvPr id="86" name="Line 47"/>
            <p:cNvSpPr>
              <a:spLocks noChangeShapeType="1"/>
            </p:cNvSpPr>
            <p:nvPr/>
          </p:nvSpPr>
          <p:spPr bwMode="auto">
            <a:xfrm>
              <a:off x="4422" y="2160"/>
              <a:ext cx="40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Dot"/>
              <a:round/>
              <a:headEnd type="none" w="sm" len="sm"/>
              <a:tailEnd type="none" w="sm" len="sm"/>
            </a:ln>
          </p:spPr>
          <p:txBody>
            <a:bodyPr wrap="none"/>
            <a:lstStyle/>
            <a:p>
              <a:endParaRPr lang="en-AU"/>
            </a:p>
          </p:txBody>
        </p:sp>
      </p:grpSp>
      <p:sp>
        <p:nvSpPr>
          <p:cNvPr id="87" name="Text Box 53"/>
          <p:cNvSpPr txBox="1">
            <a:spLocks noChangeArrowheads="1"/>
          </p:cNvSpPr>
          <p:nvPr/>
        </p:nvSpPr>
        <p:spPr bwMode="auto">
          <a:xfrm>
            <a:off x="6588224" y="5085184"/>
            <a:ext cx="2232247" cy="615553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AU" sz="1800" i="1" dirty="0">
                <a:solidFill>
                  <a:srgbClr val="ED0F0F"/>
                </a:solidFill>
              </a:rPr>
              <a:t>Note! </a:t>
            </a:r>
            <a:r>
              <a:rPr lang="en-AU" sz="1600" i="1" dirty="0">
                <a:solidFill>
                  <a:srgbClr val="ED0F0F"/>
                </a:solidFill>
              </a:rPr>
              <a:t>Base is front trapezium &amp; height is 12</a:t>
            </a:r>
          </a:p>
        </p:txBody>
      </p:sp>
      <p:sp>
        <p:nvSpPr>
          <p:cNvPr id="88" name="Text Box 34"/>
          <p:cNvSpPr txBox="1">
            <a:spLocks noChangeArrowheads="1"/>
          </p:cNvSpPr>
          <p:nvPr/>
        </p:nvSpPr>
        <p:spPr bwMode="auto">
          <a:xfrm>
            <a:off x="5364088" y="5661248"/>
            <a:ext cx="2304256" cy="1077218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r>
              <a:rPr lang="en-AU" sz="1600" dirty="0"/>
              <a:t>Vol = Base Area </a:t>
            </a:r>
            <a:r>
              <a:rPr lang="en-US" sz="1600" dirty="0">
                <a:cs typeface="Times New Roman" pitchFamily="18" charset="0"/>
              </a:rPr>
              <a:t>× </a:t>
            </a:r>
            <a:r>
              <a:rPr lang="en-US" sz="1600" dirty="0" err="1">
                <a:cs typeface="Times New Roman" pitchFamily="18" charset="0"/>
              </a:rPr>
              <a:t>Perp</a:t>
            </a:r>
            <a:r>
              <a:rPr lang="en-US" sz="1600" dirty="0">
                <a:cs typeface="Times New Roman" pitchFamily="18" charset="0"/>
              </a:rPr>
              <a:t> </a:t>
            </a:r>
            <a:r>
              <a:rPr lang="en-US" sz="1600" dirty="0" smtClean="0">
                <a:cs typeface="Times New Roman" pitchFamily="18" charset="0"/>
              </a:rPr>
              <a:t>Ht</a:t>
            </a:r>
          </a:p>
          <a:p>
            <a:r>
              <a:rPr lang="en-US" sz="1600" dirty="0" smtClean="0">
                <a:cs typeface="Times New Roman" pitchFamily="18" charset="0"/>
              </a:rPr>
              <a:t>      </a:t>
            </a:r>
          </a:p>
          <a:p>
            <a:endParaRPr lang="en-AU" sz="1600" dirty="0" smtClean="0"/>
          </a:p>
          <a:p>
            <a:r>
              <a:rPr lang="en-AU" sz="1600" dirty="0" smtClean="0"/>
              <a:t>       = 672 cm</a:t>
            </a:r>
            <a:r>
              <a:rPr lang="en-AU" sz="1600" baseline="30000" dirty="0" smtClean="0"/>
              <a:t>3</a:t>
            </a:r>
            <a:endParaRPr lang="en-AU" sz="1600" baseline="30000" dirty="0"/>
          </a:p>
        </p:txBody>
      </p:sp>
      <p:graphicFrame>
        <p:nvGraphicFramePr>
          <p:cNvPr id="3074" name="Object 52"/>
          <p:cNvGraphicFramePr>
            <a:graphicFrameLocks noChangeAspect="1"/>
          </p:cNvGraphicFramePr>
          <p:nvPr/>
        </p:nvGraphicFramePr>
        <p:xfrm>
          <a:off x="5796136" y="5877272"/>
          <a:ext cx="1428750" cy="585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9" name="Equation" r:id="rId4" imgW="1054080" imgH="431640" progId="Equation.3">
                  <p:embed/>
                </p:oleObj>
              </mc:Choice>
              <mc:Fallback>
                <p:oleObj name="Equation" r:id="rId4" imgW="1054080" imgH="431640" progId="Equation.3">
                  <p:embed/>
                  <p:pic>
                    <p:nvPicPr>
                      <p:cNvPr id="0" name="Object 5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96136" y="5877272"/>
                        <a:ext cx="1428750" cy="5857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6709025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483768" y="1916832"/>
            <a:ext cx="0" cy="49411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469673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Area and now Volume Revision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Describe how to find the Volume of different shapes.  </a:t>
            </a:r>
            <a:endParaRPr lang="en-AU" sz="2400" dirty="0"/>
          </a:p>
        </p:txBody>
      </p:sp>
      <p:sp>
        <p:nvSpPr>
          <p:cNvPr id="13" name="TextBox 12"/>
          <p:cNvSpPr txBox="1"/>
          <p:nvPr/>
        </p:nvSpPr>
        <p:spPr>
          <a:xfrm>
            <a:off x="0" y="2060848"/>
            <a:ext cx="248376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How do we find the volume of 3 dimensional shapes?</a:t>
            </a:r>
            <a:endParaRPr lang="en-AU" sz="1600" dirty="0"/>
          </a:p>
        </p:txBody>
      </p:sp>
      <p:sp>
        <p:nvSpPr>
          <p:cNvPr id="14" name="TextBox 13"/>
          <p:cNvSpPr txBox="1"/>
          <p:nvPr/>
        </p:nvSpPr>
        <p:spPr>
          <a:xfrm>
            <a:off x="3419872" y="2276872"/>
            <a:ext cx="35763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Do exercise 3.2 page 35 Dwyer book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6709025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Notes Review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AU" dirty="0" smtClean="0"/>
              <a:t>24, 7 ,30</a:t>
            </a:r>
          </a:p>
          <a:p>
            <a:r>
              <a:rPr lang="en-AU" dirty="0" smtClean="0"/>
              <a:t>Date</a:t>
            </a:r>
          </a:p>
          <a:p>
            <a:r>
              <a:rPr lang="en-AU" dirty="0" smtClean="0"/>
              <a:t>Title</a:t>
            </a:r>
          </a:p>
          <a:p>
            <a:r>
              <a:rPr lang="en-AU" dirty="0" smtClean="0"/>
              <a:t>Essential question</a:t>
            </a:r>
          </a:p>
          <a:p>
            <a:r>
              <a:rPr lang="en-AU" dirty="0" smtClean="0"/>
              <a:t>Notes complete </a:t>
            </a:r>
          </a:p>
          <a:p>
            <a:r>
              <a:rPr lang="en-AU" dirty="0" smtClean="0"/>
              <a:t>Notes complete with colour and diagrams</a:t>
            </a:r>
          </a:p>
          <a:p>
            <a:r>
              <a:rPr lang="en-AU" dirty="0" smtClean="0"/>
              <a:t>Questions completed</a:t>
            </a:r>
          </a:p>
          <a:p>
            <a:r>
              <a:rPr lang="en-AU" dirty="0" smtClean="0"/>
              <a:t>Contents page filed in</a:t>
            </a:r>
          </a:p>
          <a:p>
            <a:r>
              <a:rPr lang="en-AU" dirty="0" smtClean="0"/>
              <a:t>Formula page filled in</a:t>
            </a:r>
          </a:p>
          <a:p>
            <a:pPr marL="0" indent="0">
              <a:buNone/>
            </a:pPr>
            <a:endParaRPr lang="en-AU" dirty="0" smtClean="0"/>
          </a:p>
          <a:p>
            <a:endParaRPr lang="en-AU" dirty="0" smtClean="0"/>
          </a:p>
        </p:txBody>
      </p:sp>
    </p:spTree>
    <p:extLst>
      <p:ext uri="{BB962C8B-B14F-4D97-AF65-F5344CB8AC3E}">
        <p14:creationId xmlns:p14="http://schemas.microsoft.com/office/powerpoint/2010/main" val="30699218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Homework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Review your notes and write a summary answering the essential question.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763422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1608</TotalTime>
  <Words>508</Words>
  <Application>Microsoft Office PowerPoint</Application>
  <PresentationFormat>On-screen Show (4:3)</PresentationFormat>
  <Paragraphs>141</Paragraphs>
  <Slides>14</Slides>
  <Notes>0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6" baseType="lpstr">
      <vt:lpstr>Office Theme</vt:lpstr>
      <vt:lpstr>Equation</vt:lpstr>
      <vt:lpstr>My Measurement Interactive Notebook</vt:lpstr>
      <vt:lpstr>PowerPoint Presentation</vt:lpstr>
      <vt:lpstr>PowerPoint Presentation</vt:lpstr>
      <vt:lpstr>PowerPoint Presentation</vt:lpstr>
      <vt:lpstr>Questions</vt:lpstr>
      <vt:lpstr>Questions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Notes Review</vt:lpstr>
      <vt:lpstr>Homework</vt:lpstr>
    </vt:vector>
  </TitlesOfParts>
  <Company>The Department of Education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Using Venn Diagrams</dc:title>
  <dc:creator>RUST Joanne</dc:creator>
  <cp:lastModifiedBy>MCALLISTER Robert</cp:lastModifiedBy>
  <cp:revision>82</cp:revision>
  <dcterms:created xsi:type="dcterms:W3CDTF">2014-05-14T02:58:57Z</dcterms:created>
  <dcterms:modified xsi:type="dcterms:W3CDTF">2016-03-04T02:02:54Z</dcterms:modified>
</cp:coreProperties>
</file>
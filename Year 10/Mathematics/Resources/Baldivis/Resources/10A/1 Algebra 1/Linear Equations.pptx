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2" r:id="rId2"/>
    <p:sldId id="336" r:id="rId3"/>
    <p:sldId id="334" r:id="rId4"/>
    <p:sldId id="337" r:id="rId5"/>
    <p:sldId id="338" r:id="rId6"/>
    <p:sldId id="292" r:id="rId7"/>
    <p:sldId id="291" r:id="rId8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67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14/02/2016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linear equations? </a:t>
            </a:r>
            <a:endParaRPr lang="en-AU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2599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Equations</a:t>
            </a:r>
            <a:endParaRPr lang="en-A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1187624" y="2132856"/>
            <a:ext cx="7553048" cy="4114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An equation </a:t>
            </a:r>
            <a:r>
              <a:rPr lang="en-AU" dirty="0" smtClean="0"/>
              <a:t>is a mathematical sentence. It </a:t>
            </a:r>
            <a:r>
              <a:rPr lang="en-AU" b="1" dirty="0" smtClean="0"/>
              <a:t>has an equals sign with expressions on both sides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dirty="0" smtClean="0"/>
              <a:t>The simplest algebraic equations are </a:t>
            </a:r>
            <a:r>
              <a:rPr lang="en-AU" b="1" dirty="0" smtClean="0"/>
              <a:t>linear equations with one variable</a:t>
            </a:r>
            <a:r>
              <a:rPr lang="en-AU" dirty="0" smtClean="0"/>
              <a:t>. When plotted for different values of the variable, </a:t>
            </a:r>
            <a:r>
              <a:rPr lang="en-AU" b="1" dirty="0" smtClean="0"/>
              <a:t>a linear equation produces a straight line.</a:t>
            </a:r>
          </a:p>
          <a:p>
            <a:endParaRPr lang="en-AU" dirty="0"/>
          </a:p>
          <a:p>
            <a:r>
              <a:rPr lang="en-AU" dirty="0" smtClean="0"/>
              <a:t>A solution of an algebraic equation is a value of the variable that makes the equation true.</a:t>
            </a:r>
          </a:p>
          <a:p>
            <a:endParaRPr lang="en-AU" dirty="0"/>
          </a:p>
          <a:p>
            <a:r>
              <a:rPr lang="en-AU" dirty="0" smtClean="0"/>
              <a:t>The process of finding the solution to an equation is called solving an equation. We say that a solution satisfies the equation.</a:t>
            </a:r>
          </a:p>
          <a:p>
            <a:endParaRPr lang="en-AU" dirty="0"/>
          </a:p>
          <a:p>
            <a:r>
              <a:rPr lang="en-AU" dirty="0"/>
              <a:t>Formal solution of equations is done by using inverse operations.</a:t>
            </a:r>
          </a:p>
        </p:txBody>
      </p:sp>
    </p:spTree>
    <p:extLst>
      <p:ext uri="{BB962C8B-B14F-4D97-AF65-F5344CB8AC3E}">
        <p14:creationId xmlns:p14="http://schemas.microsoft.com/office/powerpoint/2010/main" val="358583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531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8" name="Rectangle 17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linear equations? </a:t>
            </a:r>
            <a:endParaRPr lang="en-AU" sz="2200" dirty="0"/>
          </a:p>
        </p:txBody>
      </p:sp>
      <p:sp>
        <p:nvSpPr>
          <p:cNvPr id="19" name="TextBox 18"/>
          <p:cNvSpPr txBox="1"/>
          <p:nvPr/>
        </p:nvSpPr>
        <p:spPr>
          <a:xfrm>
            <a:off x="981577" y="298231"/>
            <a:ext cx="2599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Equations</a:t>
            </a:r>
            <a:endParaRPr lang="en-A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20266" r="27691" b="24949"/>
          <a:stretch/>
        </p:blipFill>
        <p:spPr bwMode="auto">
          <a:xfrm>
            <a:off x="827584" y="2348880"/>
            <a:ext cx="7997954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4822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6915" y="16276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39552" y="1627639"/>
            <a:ext cx="0" cy="514470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085829" y="1971078"/>
                <a:ext cx="3826371" cy="3636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0" dirty="0" smtClean="0"/>
                  <a:t>Examples:</a:t>
                </a:r>
              </a:p>
              <a:p>
                <a:r>
                  <a:rPr lang="en-AU" dirty="0" smtClean="0"/>
                  <a:t>Solve the following:</a:t>
                </a:r>
              </a:p>
              <a:p>
                <a:endParaRPr lang="en-AU" b="0" dirty="0" smtClean="0"/>
              </a:p>
              <a:p>
                <a:r>
                  <a:rPr lang="en-AU" b="0" dirty="0" smtClean="0"/>
                  <a:t>         4</a:t>
                </a:r>
                <a:r>
                  <a:rPr lang="en-AU" b="0" i="1" dirty="0" smtClean="0"/>
                  <a:t>a</a:t>
                </a:r>
                <a:r>
                  <a:rPr lang="en-AU" b="0" dirty="0" smtClean="0"/>
                  <a:t> + 17 = </a:t>
                </a:r>
                <a:r>
                  <a:rPr lang="en-AU" b="0" dirty="0" smtClean="0"/>
                  <a:t>25</a:t>
                </a:r>
              </a:p>
              <a:p>
                <a:endParaRPr lang="en-AU" b="0" dirty="0" smtClean="0"/>
              </a:p>
              <a:p>
                <a:r>
                  <a:rPr lang="en-AU" dirty="0" smtClean="0"/>
                  <a:t>4a + 17 – 17 = 25 – </a:t>
                </a:r>
                <a:r>
                  <a:rPr lang="en-AU" dirty="0" smtClean="0"/>
                  <a:t>17</a:t>
                </a:r>
              </a:p>
              <a:p>
                <a:endParaRPr lang="en-AU" dirty="0" smtClean="0"/>
              </a:p>
              <a:p>
                <a:r>
                  <a:rPr lang="en-AU" b="0" dirty="0"/>
                  <a:t> </a:t>
                </a:r>
                <a:r>
                  <a:rPr lang="en-AU" b="0" dirty="0" smtClean="0"/>
                  <a:t>                  4a = </a:t>
                </a:r>
                <a:r>
                  <a:rPr lang="en-AU" b="0" dirty="0" smtClean="0"/>
                  <a:t>8</a:t>
                </a:r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                 </m:t>
                    </m:r>
                    <m:f>
                      <m:fPr>
                        <m:ctrlPr>
                          <a:rPr lang="en-AU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/>
                          </a:rPr>
                          <m:t>4</m:t>
                        </m:r>
                        <m:r>
                          <a:rPr lang="en-AU" sz="2000" b="0" i="1" smtClean="0">
                            <a:latin typeface="Cambria Math"/>
                          </a:rPr>
                          <m:t>𝑎</m:t>
                        </m:r>
                      </m:num>
                      <m:den>
                        <m:r>
                          <a:rPr lang="en-AU" sz="2000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000" b="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sz="2000" i="1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000" dirty="0"/>
                  <a:t> </a:t>
                </a:r>
                <a:endParaRPr lang="en-AU" sz="2000" dirty="0" smtClean="0"/>
              </a:p>
              <a:p>
                <a:endParaRPr lang="en-AU" sz="2000" dirty="0" smtClean="0"/>
              </a:p>
              <a:p>
                <a:r>
                  <a:rPr lang="en-AU" sz="2000" dirty="0"/>
                  <a:t> </a:t>
                </a:r>
                <a:r>
                  <a:rPr lang="en-AU" sz="2000" dirty="0" smtClean="0"/>
                  <a:t>                  </a:t>
                </a:r>
                <a:r>
                  <a:rPr lang="en-AU" dirty="0" smtClean="0"/>
                  <a:t>a = 2</a:t>
                </a:r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829" y="1971078"/>
                <a:ext cx="3826371" cy="3636124"/>
              </a:xfrm>
              <a:prstGeom prst="rect">
                <a:avLst/>
              </a:prstGeom>
              <a:blipFill rotWithShape="1">
                <a:blip r:embed="rId2"/>
                <a:stretch>
                  <a:fillRect l="-1274" t="-838" b="-15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linear equations? </a:t>
            </a:r>
            <a:endParaRPr lang="en-AU" sz="2200" dirty="0"/>
          </a:p>
        </p:txBody>
      </p:sp>
      <p:sp>
        <p:nvSpPr>
          <p:cNvPr id="26" name="TextBox 25"/>
          <p:cNvSpPr txBox="1"/>
          <p:nvPr/>
        </p:nvSpPr>
        <p:spPr>
          <a:xfrm>
            <a:off x="981577" y="298231"/>
            <a:ext cx="2599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Equations</a:t>
            </a:r>
            <a:endParaRPr lang="en-AU" sz="2800" dirty="0"/>
          </a:p>
        </p:txBody>
      </p:sp>
      <p:sp>
        <p:nvSpPr>
          <p:cNvPr id="27" name="TextBox 26"/>
          <p:cNvSpPr txBox="1"/>
          <p:nvPr/>
        </p:nvSpPr>
        <p:spPr>
          <a:xfrm>
            <a:off x="1036893" y="2673538"/>
            <a:ext cx="304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0" dirty="0" smtClean="0"/>
              <a:t>Side with variable has </a:t>
            </a:r>
            <a:r>
              <a:rPr lang="en-AU" b="0" dirty="0" smtClean="0">
                <a:sym typeface="Symbol"/>
              </a:rPr>
              <a:t> and +. Undo the + first.</a:t>
            </a:r>
            <a:endParaRPr lang="en-AU" b="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6432132" y="3319870"/>
            <a:ext cx="100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b="0" dirty="0" smtClean="0"/>
              <a:t>implify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7826" y="3910070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0" dirty="0" smtClean="0"/>
              <a:t>Now undo the </a:t>
            </a:r>
            <a:r>
              <a:rPr lang="en-AU" dirty="0">
                <a:sym typeface="Symbol"/>
              </a:rPr>
              <a:t></a:t>
            </a:r>
            <a:endParaRPr lang="en-AU" b="0" dirty="0" smtClean="0"/>
          </a:p>
        </p:txBody>
      </p:sp>
      <p:sp>
        <p:nvSpPr>
          <p:cNvPr id="31" name="TextBox 30"/>
          <p:cNvSpPr txBox="1"/>
          <p:nvPr/>
        </p:nvSpPr>
        <p:spPr>
          <a:xfrm>
            <a:off x="6012159" y="4509120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</a:t>
            </a:r>
            <a:r>
              <a:rPr lang="en-AU" b="0" dirty="0" smtClean="0"/>
              <a:t>implify to get the answer</a:t>
            </a:r>
          </a:p>
        </p:txBody>
      </p:sp>
    </p:spTree>
    <p:extLst>
      <p:ext uri="{BB962C8B-B14F-4D97-AF65-F5344CB8AC3E}">
        <p14:creationId xmlns:p14="http://schemas.microsoft.com/office/powerpoint/2010/main" val="392654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6915" y="16276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39552" y="1627639"/>
            <a:ext cx="0" cy="514470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527027" y="1774357"/>
                <a:ext cx="3912148" cy="4640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0" dirty="0" smtClean="0"/>
                  <a:t>Examples:</a:t>
                </a:r>
              </a:p>
              <a:p>
                <a:r>
                  <a:rPr lang="en-AU" dirty="0" smtClean="0"/>
                  <a:t>Solve the following:</a:t>
                </a:r>
              </a:p>
              <a:p>
                <a:endParaRPr lang="en-AU" b="0" dirty="0" smtClean="0"/>
              </a:p>
              <a:p>
                <a:r>
                  <a:rPr lang="en-AU" b="0" dirty="0" smtClean="0"/>
                  <a:t>           7t + 10 = -3t + </a:t>
                </a:r>
                <a:r>
                  <a:rPr lang="en-AU" b="0" dirty="0" smtClean="0"/>
                  <a:t>20</a:t>
                </a:r>
              </a:p>
              <a:p>
                <a:endParaRPr lang="en-AU" b="0" dirty="0" smtClean="0"/>
              </a:p>
              <a:p>
                <a:r>
                  <a:rPr lang="en-AU" dirty="0" smtClean="0"/>
                  <a:t>    7t +10 + 3t = -3t + 20 + </a:t>
                </a:r>
                <a:r>
                  <a:rPr lang="en-AU" dirty="0" smtClean="0"/>
                  <a:t>3t</a:t>
                </a:r>
              </a:p>
              <a:p>
                <a:endParaRPr lang="en-AU" dirty="0" smtClean="0"/>
              </a:p>
              <a:p>
                <a:r>
                  <a:rPr lang="en-AU" b="0" dirty="0"/>
                  <a:t> </a:t>
                </a:r>
                <a:r>
                  <a:rPr lang="en-AU" b="0" dirty="0" smtClean="0"/>
                  <a:t>        10t + 10 = </a:t>
                </a:r>
                <a:r>
                  <a:rPr lang="en-AU" b="0" dirty="0" smtClean="0"/>
                  <a:t>20</a:t>
                </a:r>
              </a:p>
              <a:p>
                <a:endParaRPr lang="en-AU" b="0" dirty="0" smtClean="0"/>
              </a:p>
              <a:p>
                <a:r>
                  <a:rPr lang="en-AU" dirty="0" smtClean="0"/>
                  <a:t>10t + 10 – 10 = 20 – </a:t>
                </a:r>
                <a:r>
                  <a:rPr lang="en-AU" dirty="0" smtClean="0"/>
                  <a:t>10</a:t>
                </a:r>
              </a:p>
              <a:p>
                <a:endParaRPr lang="en-AU" dirty="0" smtClean="0"/>
              </a:p>
              <a:p>
                <a:r>
                  <a:rPr lang="en-AU" b="0" dirty="0"/>
                  <a:t> </a:t>
                </a:r>
                <a:r>
                  <a:rPr lang="en-AU" b="0" dirty="0" smtClean="0"/>
                  <a:t>             </a:t>
                </a:r>
                <a:r>
                  <a:rPr lang="en-AU" b="0" dirty="0" smtClean="0"/>
                  <a:t>    </a:t>
                </a:r>
                <a:r>
                  <a:rPr lang="en-AU" b="0" dirty="0" smtClean="0"/>
                  <a:t>10t = </a:t>
                </a:r>
                <a:r>
                  <a:rPr lang="en-AU" b="0" dirty="0" smtClean="0"/>
                  <a:t>10</a:t>
                </a:r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             </m:t>
                    </m:r>
                    <m:r>
                      <a:rPr lang="en-AU" sz="2000" b="0" i="1" smtClean="0">
                        <a:latin typeface="Cambria Math"/>
                      </a:rPr>
                      <m:t>  </m:t>
                    </m:r>
                    <m:f>
                      <m:fPr>
                        <m:ctrlPr>
                          <a:rPr lang="en-AU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  <m:r>
                          <a:rPr lang="en-AU" sz="2000" b="0" i="1" smtClean="0">
                            <a:latin typeface="Cambria Math"/>
                          </a:rPr>
                          <m:t>𝑡</m:t>
                        </m:r>
                      </m:num>
                      <m:den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000" b="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num>
                      <m:den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000" dirty="0"/>
                  <a:t> </a:t>
                </a:r>
                <a:endParaRPr lang="en-AU" sz="2000" dirty="0" smtClean="0"/>
              </a:p>
              <a:p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         </a:t>
                </a:r>
                <a:r>
                  <a:rPr lang="en-AU" dirty="0" smtClean="0"/>
                  <a:t>    </a:t>
                </a:r>
                <a:r>
                  <a:rPr lang="en-AU" dirty="0" smtClean="0"/>
                  <a:t>t = 1</a:t>
                </a:r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027" y="1774357"/>
                <a:ext cx="3912148" cy="4640758"/>
              </a:xfrm>
              <a:prstGeom prst="rect">
                <a:avLst/>
              </a:prstGeom>
              <a:blipFill rotWithShape="1">
                <a:blip r:embed="rId2"/>
                <a:stretch>
                  <a:fillRect l="-1404" t="-657" b="-21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linear equations? </a:t>
            </a:r>
            <a:endParaRPr lang="en-AU" sz="2200" dirty="0"/>
          </a:p>
        </p:txBody>
      </p:sp>
      <p:sp>
        <p:nvSpPr>
          <p:cNvPr id="26" name="TextBox 25"/>
          <p:cNvSpPr txBox="1"/>
          <p:nvPr/>
        </p:nvSpPr>
        <p:spPr>
          <a:xfrm>
            <a:off x="981577" y="298231"/>
            <a:ext cx="2599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Equations</a:t>
            </a:r>
            <a:endParaRPr lang="en-AU" sz="2800" dirty="0"/>
          </a:p>
        </p:txBody>
      </p:sp>
      <p:sp>
        <p:nvSpPr>
          <p:cNvPr id="27" name="TextBox 26"/>
          <p:cNvSpPr txBox="1"/>
          <p:nvPr/>
        </p:nvSpPr>
        <p:spPr>
          <a:xfrm>
            <a:off x="668791" y="2564904"/>
            <a:ext cx="302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0" dirty="0" smtClean="0"/>
              <a:t>Get the variables on one side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0232" y="3177924"/>
            <a:ext cx="100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b="0" dirty="0" smtClean="0"/>
              <a:t>implify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825" y="3725404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0" dirty="0" smtClean="0"/>
              <a:t>Now undo the 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1234" y="4201234"/>
            <a:ext cx="1237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</a:t>
            </a:r>
            <a:r>
              <a:rPr lang="en-AU" b="0" dirty="0" smtClean="0"/>
              <a:t>implify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826" y="4725144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0" dirty="0" smtClean="0"/>
              <a:t>Now undo the </a:t>
            </a:r>
            <a:r>
              <a:rPr lang="en-AU" b="0" dirty="0" smtClean="0">
                <a:sym typeface="Symbol"/>
              </a:rPr>
              <a:t></a:t>
            </a:r>
            <a:endParaRPr lang="en-AU" b="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6548378" y="5445224"/>
            <a:ext cx="2610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</a:t>
            </a:r>
            <a:r>
              <a:rPr lang="en-AU" b="0" dirty="0" smtClean="0"/>
              <a:t>implify to get the answer</a:t>
            </a:r>
          </a:p>
        </p:txBody>
      </p:sp>
    </p:spTree>
    <p:extLst>
      <p:ext uri="{BB962C8B-B14F-4D97-AF65-F5344CB8AC3E}">
        <p14:creationId xmlns:p14="http://schemas.microsoft.com/office/powerpoint/2010/main" val="338931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6915" y="16276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39552" y="1627639"/>
            <a:ext cx="0" cy="514470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5" name="Rectangle 24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linear equations? </a:t>
            </a:r>
            <a:endParaRPr lang="en-AU" sz="2200" dirty="0"/>
          </a:p>
        </p:txBody>
      </p:sp>
      <p:sp>
        <p:nvSpPr>
          <p:cNvPr id="26" name="TextBox 25"/>
          <p:cNvSpPr txBox="1"/>
          <p:nvPr/>
        </p:nvSpPr>
        <p:spPr>
          <a:xfrm>
            <a:off x="981577" y="298231"/>
            <a:ext cx="2599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Equations</a:t>
            </a: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770446" y="1971080"/>
                <a:ext cx="3224729" cy="33491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i="1" dirty="0" smtClean="0">
                    <a:latin typeface="Cambria Math"/>
                  </a:rPr>
                  <a:t>Solve: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   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6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−6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=6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×2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endParaRPr lang="en-AU" b="0" dirty="0" smtClean="0"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−3 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=12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endParaRPr lang="en-AU" b="0" dirty="0" smtClean="0"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   4</m:t>
                      </m:r>
                      <m:r>
                        <a:rPr lang="en-AU" b="0" i="1" smtClean="0">
                          <a:latin typeface="Cambria Math"/>
                        </a:rPr>
                        <m:t>𝑚</m:t>
                      </m:r>
                      <m:r>
                        <a:rPr lang="en-AU" b="0" i="1" smtClean="0">
                          <a:latin typeface="Cambria Math"/>
                        </a:rPr>
                        <m:t> −3</m:t>
                      </m:r>
                      <m:r>
                        <a:rPr lang="en-AU" b="0" i="1" smtClean="0">
                          <a:latin typeface="Cambria Math"/>
                        </a:rPr>
                        <m:t>𝑚</m:t>
                      </m:r>
                      <m:r>
                        <a:rPr lang="en-AU" b="0" i="1" smtClean="0"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                  </m:t>
                      </m:r>
                      <m:r>
                        <a:rPr lang="en-AU" b="0" i="1" smtClean="0">
                          <a:latin typeface="Cambria Math"/>
                        </a:rPr>
                        <m:t>𝑚</m:t>
                      </m:r>
                      <m:r>
                        <a:rPr lang="en-AU" b="0" i="1" smtClean="0"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446" y="1971080"/>
                <a:ext cx="3224729" cy="3349122"/>
              </a:xfrm>
              <a:prstGeom prst="rect">
                <a:avLst/>
              </a:prstGeom>
              <a:blipFill rotWithShape="1">
                <a:blip r:embed="rId2"/>
                <a:stretch>
                  <a:fillRect l="-1512" t="-10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860032" y="2132856"/>
            <a:ext cx="3672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Multiply each term by the lowest</a:t>
            </a:r>
          </a:p>
          <a:p>
            <a:r>
              <a:rPr lang="en-AU" dirty="0"/>
              <a:t>common denominator, 6.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4984115" y="3101538"/>
            <a:ext cx="3981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Simplify by cancelling the denominators.</a:t>
            </a:r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4995175" y="3830658"/>
            <a:ext cx="1994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Simplify each term.</a:t>
            </a:r>
            <a:endParaRPr lang="en-AU" dirty="0"/>
          </a:p>
        </p:txBody>
      </p:sp>
      <p:sp>
        <p:nvSpPr>
          <p:cNvPr id="12" name="Rectangle 11"/>
          <p:cNvSpPr/>
          <p:nvPr/>
        </p:nvSpPr>
        <p:spPr>
          <a:xfrm>
            <a:off x="4995175" y="4365104"/>
            <a:ext cx="2243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Simplify the variables.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350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448</Words>
  <Application>Microsoft Office PowerPoint</Application>
  <PresentationFormat>On-screen Show (4:3)</PresentationFormat>
  <Paragraphs>104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PURCELL Laura</cp:lastModifiedBy>
  <cp:revision>112</cp:revision>
  <dcterms:created xsi:type="dcterms:W3CDTF">2014-05-14T02:58:57Z</dcterms:created>
  <dcterms:modified xsi:type="dcterms:W3CDTF">2016-02-14T11:43:24Z</dcterms:modified>
</cp:coreProperties>
</file>
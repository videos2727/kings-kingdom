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31" r:id="rId5"/>
    <p:sldId id="332" r:id="rId6"/>
    <p:sldId id="334" r:id="rId7"/>
    <p:sldId id="333" r:id="rId8"/>
    <p:sldId id="303" r:id="rId9"/>
    <p:sldId id="330" r:id="rId10"/>
    <p:sldId id="329" r:id="rId11"/>
    <p:sldId id="292" r:id="rId12"/>
    <p:sldId id="291" r:id="rId13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9/02/2016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7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Adding &amp; Subtracting Algebraic Fractions?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981577" y="298231"/>
            <a:ext cx="5106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 - Subtract Algebraic Fractions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2638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81577" y="222284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2632" y="2139664"/>
                <a:ext cx="2520280" cy="113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  <m:r>
                      <a:rPr lang="en-AU" sz="2400" b="0" i="1" smtClean="0">
                        <a:latin typeface="Cambria Math"/>
                        <a:ea typeface="Cambria Math" pitchFamily="18" charset="0"/>
                      </a:rPr>
                      <m:t>+ </m:t>
                    </m:r>
                    <m:f>
                      <m:fPr>
                        <m:ctrlP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b="0" dirty="0" smtClean="0">
                    <a:ea typeface="Cambria Math" pitchFamily="18" charset="0"/>
                  </a:rPr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+4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b="0" dirty="0" smtClean="0">
                  <a:latin typeface="Cambria Math" pitchFamily="18" charset="0"/>
                  <a:ea typeface="Cambria Math" pitchFamily="18" charset="0"/>
                </a:endParaRPr>
              </a:p>
              <a:p>
                <a:r>
                  <a:rPr lang="en-AU" sz="2400" dirty="0">
                    <a:latin typeface="Cambria Math" pitchFamily="18" charset="0"/>
                    <a:ea typeface="Cambria Math" pitchFamily="18" charset="0"/>
                  </a:rPr>
                  <a:t>	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7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b="0" dirty="0" smtClean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632" y="2139664"/>
                <a:ext cx="2520280" cy="1139479"/>
              </a:xfrm>
              <a:prstGeom prst="rect">
                <a:avLst/>
              </a:prstGeom>
              <a:blipFill rotWithShape="1">
                <a:blip r:embed="rId2"/>
                <a:stretch>
                  <a:fillRect b="-37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6012161" y="2145899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Don’t forget you must have a common denominator, then add the top line.</a:t>
            </a:r>
          </a:p>
          <a:p>
            <a:r>
              <a:rPr lang="en-AU" sz="1400" b="1" dirty="0" smtClean="0"/>
              <a:t>Note: don’t make it a mixed numeral</a:t>
            </a:r>
            <a:endParaRPr lang="en-AU" sz="1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69535" y="3573016"/>
            <a:ext cx="1078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Subtract?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55776" y="4522154"/>
                <a:ext cx="2979412" cy="1124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400" dirty="0" smtClean="0"/>
                  <a:t>Must be over a common denominator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sz="1400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sz="1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sz="14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1400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sz="1400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den>
                      </m:f>
                      <m:r>
                        <a:rPr lang="en-AU" sz="1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sz="1400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1400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1400" dirty="0">
                          <a:latin typeface="Cambria Math"/>
                          <a:ea typeface="Cambria Math"/>
                        </a:rPr>
                        <m:t>∴</m:t>
                      </m:r>
                      <m:f>
                        <m:fPr>
                          <m:ctrlPr>
                            <a:rPr lang="en-AU" sz="1400" i="1" dirty="0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9</m:t>
                          </m:r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den>
                      </m:f>
                      <m:r>
                        <a:rPr lang="en-AU" sz="1400" b="0" i="1" dirty="0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5</m:t>
                          </m:r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den>
                      </m:f>
                      <m:r>
                        <a:rPr lang="en-AU" sz="14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9</m:t>
                          </m:r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+5</m:t>
                          </m:r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sz="1400" b="0" i="1" dirty="0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4522154"/>
                <a:ext cx="2979412" cy="1124539"/>
              </a:xfrm>
              <a:prstGeom prst="rect">
                <a:avLst/>
              </a:prstGeom>
              <a:blipFill rotWithShape="1">
                <a:blip r:embed="rId3"/>
                <a:stretch>
                  <a:fillRect l="-409" t="-5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Simplify when Adding &amp; Subtracting Algebraic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347864" y="3375718"/>
                <a:ext cx="2547364" cy="11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−6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375718"/>
                <a:ext cx="2547364" cy="113325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009457" y="3392734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Similar to Addition don’t forget you must have a common denominator, then subtract the the top 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5106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 - Subtract Algebraic Fractions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02000" y="4532145"/>
                <a:ext cx="2122119" cy="1670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00" y="4532145"/>
                <a:ext cx="2122119" cy="167013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07904" y="5779217"/>
                <a:ext cx="2761653" cy="846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14</m:t>
                        </m:r>
                        <m:r>
                          <a:rPr lang="en-AU" b="0" i="1" smtClean="0">
                            <a:latin typeface="Cambria Math"/>
                          </a:rPr>
                          <m:t>𝑏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dirty="0" smtClean="0"/>
                  <a:t> </a:t>
                </a:r>
                <a:r>
                  <a:rPr lang="en-AU" sz="1600" dirty="0" smtClean="0"/>
                  <a:t>will cancel to</a:t>
                </a:r>
              </a:p>
              <a:p>
                <a:r>
                  <a:rPr lang="en-AU" sz="16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16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1600" b="0" i="1" smtClean="0">
                            <a:latin typeface="Cambria Math"/>
                          </a:rPr>
                          <m:t>7</m:t>
                        </m:r>
                        <m:r>
                          <a:rPr lang="en-AU" sz="1600" b="0" i="1" smtClean="0">
                            <a:latin typeface="Cambria Math"/>
                          </a:rPr>
                          <m:t>𝑏</m:t>
                        </m:r>
                      </m:num>
                      <m:den>
                        <m:r>
                          <a:rPr lang="en-AU" sz="16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1600" dirty="0" smtClean="0"/>
                  <a:t>  divide top and bottom by 2</a:t>
                </a:r>
                <a:endParaRPr lang="en-AU" sz="1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5779217"/>
                <a:ext cx="2761653" cy="846129"/>
              </a:xfrm>
              <a:prstGeom prst="rect">
                <a:avLst/>
              </a:prstGeom>
              <a:blipFill rotWithShape="1">
                <a:blip r:embed="rId6"/>
                <a:stretch>
                  <a:fillRect r="-221" b="-21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4621546" y="4941168"/>
            <a:ext cx="1480454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5535188" y="5517232"/>
            <a:ext cx="1269060" cy="685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7358" y="4545322"/>
            <a:ext cx="1517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Common </a:t>
            </a:r>
          </a:p>
          <a:p>
            <a:r>
              <a:rPr lang="en-AU" dirty="0" smtClean="0"/>
              <a:t>denominator?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583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Adding &amp; Subtracting Algebraic Fractions?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981577" y="298231"/>
            <a:ext cx="5106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 - Subtract Algebraic Fractions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81503" y="2276872"/>
            <a:ext cx="178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Harder example?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534808" y="2461538"/>
                <a:ext cx="4392741" cy="16764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/>
                            </a:rPr>
                            <m:t>−3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7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+4</m:t>
                              </m:r>
                            </m:e>
                          </m:d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−15−21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−27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808" y="2461538"/>
                <a:ext cx="4392741" cy="16764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930564" y="3768627"/>
            <a:ext cx="1993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Doesn’t matter + or -  it must </a:t>
            </a:r>
            <a:r>
              <a:rPr lang="en-AU" sz="1400" dirty="0" smtClean="0"/>
              <a:t>have a common </a:t>
            </a:r>
            <a:r>
              <a:rPr lang="en-AU" sz="1400" dirty="0" smtClean="0"/>
              <a:t>denominator</a:t>
            </a:r>
            <a:r>
              <a:rPr lang="en-AU" sz="1400" dirty="0"/>
              <a:t>.</a:t>
            </a:r>
            <a:endParaRPr lang="en-AU" sz="1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275856" y="4473116"/>
            <a:ext cx="1993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Then multiply out the top line and of course simplify!! Easy isn’t it </a:t>
            </a:r>
            <a:r>
              <a:rPr lang="en-AU" sz="1400" dirty="0" err="1" smtClean="0"/>
              <a:t>lol</a:t>
            </a:r>
            <a:r>
              <a:rPr lang="en-AU" sz="1400" dirty="0" smtClean="0"/>
              <a:t>.</a:t>
            </a:r>
            <a:endParaRPr lang="en-AU" sz="1400" b="1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7308304" y="2924944"/>
            <a:ext cx="216024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995936" y="3573017"/>
            <a:ext cx="1152128" cy="7920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4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1.7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Multiplying &amp; Dividing Algebraic Fractions? </a:t>
            </a:r>
            <a:endParaRPr lang="en-AU"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981577" y="298231"/>
            <a:ext cx="5492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 – Divide Algebraic Fractions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2808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81577" y="2222843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Multiply?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6012161" y="2145899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The 3 on the bottom will cancel with the 6 on the top and then multiply the top line then the bottom line.</a:t>
            </a:r>
            <a:endParaRPr lang="en-AU" sz="1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69535" y="357301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Divide?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5997016" y="3388350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Similar to Multiplication but you must first invert (tip upside down) the divisor then cancel.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5492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 – Divide Algebraic Fractions</a:t>
            </a:r>
            <a:endParaRPr lang="en-AU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Multiplying &amp; Dividing Algebraic Fractions? 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222843"/>
                <a:ext cx="2174506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22843"/>
                <a:ext cx="2174506" cy="64819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77817" y="3341253"/>
                <a:ext cx="2798010" cy="120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÷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12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21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21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12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817" y="3341253"/>
                <a:ext cx="2798010" cy="120218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72754" y="4625985"/>
                <a:ext cx="3838935" cy="1175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(5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+3)(2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−7)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4×5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10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−29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−21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4" y="4625985"/>
                <a:ext cx="3838935" cy="117577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942036" y="4543442"/>
                <a:ext cx="3661965" cy="172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÷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4</m:t>
                          </m:r>
                          <m:r>
                            <a:rPr lang="en-AU" i="1">
                              <a:latin typeface="Cambria Math"/>
                            </a:rPr>
                            <m:t>𝑐</m:t>
                          </m:r>
                          <m:r>
                            <a:rPr lang="en-AU" i="1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3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−7</m:t>
                          </m:r>
                        </m:den>
                      </m:f>
                    </m:oMath>
                  </m:oMathPara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3(4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+5)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2(3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−7)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+15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−14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036" y="4543442"/>
                <a:ext cx="3661965" cy="17211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48712" y="5801756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There is nothing to cancel so multiply top line together and bottom line together</a:t>
            </a:r>
            <a:endParaRPr lang="en-AU" sz="14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4187122" y="5393817"/>
            <a:ext cx="19690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Invert the </a:t>
            </a:r>
            <a:r>
              <a:rPr lang="en-AU" sz="1400" dirty="0" smtClean="0"/>
              <a:t>divisor </a:t>
            </a:r>
            <a:r>
              <a:rPr lang="en-AU" sz="1400" dirty="0" smtClean="0"/>
              <a:t>cancel the 18 and 12, then multiply.</a:t>
            </a:r>
            <a:endParaRPr lang="en-AU" sz="1400" dirty="0" smtClean="0"/>
          </a:p>
        </p:txBody>
      </p:sp>
    </p:spTree>
    <p:extLst>
      <p:ext uri="{BB962C8B-B14F-4D97-AF65-F5344CB8AC3E}">
        <p14:creationId xmlns:p14="http://schemas.microsoft.com/office/powerpoint/2010/main" val="333210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1.8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752</Words>
  <Application>Microsoft Office PowerPoint</Application>
  <PresentationFormat>On-screen Show (4:3)</PresentationFormat>
  <Paragraphs>126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96</cp:revision>
  <dcterms:created xsi:type="dcterms:W3CDTF">2014-05-14T02:58:57Z</dcterms:created>
  <dcterms:modified xsi:type="dcterms:W3CDTF">2016-02-09T02:38:35Z</dcterms:modified>
</cp:coreProperties>
</file>
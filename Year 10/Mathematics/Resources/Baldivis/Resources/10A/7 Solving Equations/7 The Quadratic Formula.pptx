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0" r:id="rId2"/>
    <p:sldId id="259" r:id="rId3"/>
    <p:sldId id="258" r:id="rId4"/>
    <p:sldId id="303" r:id="rId5"/>
    <p:sldId id="330" r:id="rId6"/>
    <p:sldId id="331" r:id="rId7"/>
    <p:sldId id="332" r:id="rId8"/>
    <p:sldId id="329" r:id="rId9"/>
    <p:sldId id="292" r:id="rId10"/>
    <p:sldId id="291" r:id="rId11"/>
  </p:sldIdLst>
  <p:sldSz cx="9144000" cy="6858000" type="screen4x3"/>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2895" autoAdjust="0"/>
  </p:normalViewPr>
  <p:slideViewPr>
    <p:cSldViewPr>
      <p:cViewPr>
        <p:scale>
          <a:sx n="75" d="100"/>
          <a:sy n="75" d="100"/>
        </p:scale>
        <p:origin x="-1002" y="3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657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6570"/>
          </a:xfrm>
          <a:prstGeom prst="rect">
            <a:avLst/>
          </a:prstGeom>
        </p:spPr>
        <p:txBody>
          <a:bodyPr vert="horz" lIns="91440" tIns="45720" rIns="91440" bIns="45720" rtlCol="0"/>
          <a:lstStyle>
            <a:lvl1pPr algn="r">
              <a:defRPr sz="1200"/>
            </a:lvl1pPr>
          </a:lstStyle>
          <a:p>
            <a:fld id="{D75AD73A-AE13-444E-A6A8-7967ABAB8119}" type="datetimeFigureOut">
              <a:rPr lang="en-AU" smtClean="0"/>
              <a:t>14/06/2016</a:t>
            </a:fld>
            <a:endParaRPr lang="en-AU"/>
          </a:p>
        </p:txBody>
      </p:sp>
      <p:sp>
        <p:nvSpPr>
          <p:cNvPr id="4" name="Slide Image Placeholder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17415"/>
            <a:ext cx="5435600" cy="446913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433106"/>
            <a:ext cx="2944283" cy="49657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6"/>
            <a:ext cx="2944283" cy="49657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14/06/2016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14/06/2016</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32656"/>
            <a:ext cx="7772400" cy="1470025"/>
          </a:xfrm>
        </p:spPr>
        <p:txBody>
          <a:bodyPr/>
          <a:lstStyle/>
          <a:p>
            <a:r>
              <a:rPr lang="en-AU" dirty="0"/>
              <a:t>My Algebra </a:t>
            </a:r>
            <a:r>
              <a:rPr lang="en-AU" dirty="0" smtClean="0"/>
              <a:t>– Solving Equations 2 </a:t>
            </a:r>
            <a:r>
              <a:rPr lang="en-AU" dirty="0"/>
              <a:t>Interactive </a:t>
            </a:r>
            <a:r>
              <a:rPr lang="en-AU" dirty="0" smtClean="0"/>
              <a:t>Notebook</a:t>
            </a:r>
            <a:endParaRPr lang="en-AU" dirty="0"/>
          </a:p>
        </p:txBody>
      </p:sp>
      <p:sp>
        <p:nvSpPr>
          <p:cNvPr id="3" name="Subtitle 2"/>
          <p:cNvSpPr>
            <a:spLocks noGrp="1"/>
          </p:cNvSpPr>
          <p:nvPr>
            <p:ph type="subTitle" idx="1"/>
          </p:nvPr>
        </p:nvSpPr>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2 Semester 1</a:t>
            </a:r>
          </a:p>
        </p:txBody>
      </p:sp>
      <mc:AlternateContent xmlns:mc="http://schemas.openxmlformats.org/markup-compatibility/2006" xmlns:a14="http://schemas.microsoft.com/office/drawing/2010/main">
        <mc:Choice Requires="a14">
          <p:sp>
            <p:nvSpPr>
              <p:cNvPr id="4" name="TextBox 3"/>
              <p:cNvSpPr txBox="1"/>
              <p:nvPr/>
            </p:nvSpPr>
            <p:spPr>
              <a:xfrm>
                <a:off x="611560" y="1354967"/>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smtClean="0">
                          <a:solidFill>
                            <a:srgbClr val="7030A0"/>
                          </a:solidFill>
                          <a:latin typeface="Cambria Math"/>
                          <a:ea typeface="Cambria Math"/>
                        </a:rPr>
                        <m:t>×</m:t>
                      </m:r>
                    </m:oMath>
                  </m:oMathPara>
                </a14:m>
                <a:endParaRPr lang="en-AU" sz="8800" dirty="0">
                  <a:solidFill>
                    <a:srgbClr val="7030A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11560" y="1354967"/>
                <a:ext cx="1368152" cy="1446550"/>
              </a:xfrm>
              <a:prstGeom prst="rect">
                <a:avLst/>
              </a:prstGeom>
              <a:blipFill rotWithShape="1">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23728" y="1884135"/>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smtClean="0">
                          <a:solidFill>
                            <a:srgbClr val="00FF00"/>
                          </a:solidFill>
                          <a:latin typeface="Cambria Math"/>
                          <a:ea typeface="Cambria Math"/>
                        </a:rPr>
                        <m:t>÷</m:t>
                      </m:r>
                    </m:oMath>
                  </m:oMathPara>
                </a14:m>
                <a:endParaRPr lang="en-AU" sz="8800" dirty="0">
                  <a:solidFill>
                    <a:srgbClr val="00FF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123728" y="1884135"/>
                <a:ext cx="1368152" cy="1446550"/>
              </a:xfrm>
              <a:prstGeom prst="rect">
                <a:avLst/>
              </a:prstGeom>
              <a:blipFill rotWithShape="1">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307644" y="3572848"/>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FF0000"/>
                          </a:solidFill>
                          <a:latin typeface="Cambria Math"/>
                        </a:rPr>
                        <m:t>7</m:t>
                      </m:r>
                    </m:oMath>
                  </m:oMathPara>
                </a14:m>
                <a:endParaRPr lang="en-AU" sz="88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307644" y="3572848"/>
                <a:ext cx="1368152" cy="1446550"/>
              </a:xfrm>
              <a:prstGeom prst="rect">
                <a:avLst/>
              </a:prstGeom>
              <a:blipFill rotWithShape="1">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660232" y="270892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00B050"/>
                          </a:solidFill>
                          <a:latin typeface="Cambria Math"/>
                        </a:rPr>
                        <m:t>−</m:t>
                      </m:r>
                    </m:oMath>
                  </m:oMathPara>
                </a14:m>
                <a:endParaRPr lang="en-AU" sz="8800" dirty="0">
                  <a:solidFill>
                    <a:srgbClr val="00B05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660232" y="2708920"/>
                <a:ext cx="1368152" cy="1446550"/>
              </a:xfrm>
              <a:prstGeom prst="rect">
                <a:avLst/>
              </a:prstGeom>
              <a:blipFill rotWithShape="1">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307644" y="1902233"/>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b="0" i="1" smtClean="0">
                          <a:solidFill>
                            <a:srgbClr val="0070C0"/>
                          </a:solidFill>
                          <a:latin typeface="Cambria Math"/>
                        </a:rPr>
                        <m:t>+</m:t>
                      </m:r>
                    </m:oMath>
                  </m:oMathPara>
                </a14:m>
                <a:endParaRPr lang="en-AU" sz="8800" dirty="0">
                  <a:solidFill>
                    <a:srgbClr val="0070C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307644" y="1902233"/>
                <a:ext cx="1368152" cy="1446550"/>
              </a:xfrm>
              <a:prstGeom prst="rect">
                <a:avLst/>
              </a:prstGeom>
              <a:blipFill rotWithShape="1">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236296" y="1354967"/>
                <a:ext cx="1368152" cy="1993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6600" i="1" smtClean="0">
                              <a:solidFill>
                                <a:srgbClr val="FFFF00"/>
                              </a:solidFill>
                              <a:latin typeface="Cambria Math"/>
                            </a:rPr>
                          </m:ctrlPr>
                        </m:fPr>
                        <m:num>
                          <m:r>
                            <a:rPr lang="en-AU" sz="6600" b="0" i="1" smtClean="0">
                              <a:solidFill>
                                <a:srgbClr val="FFFF00"/>
                              </a:solidFill>
                              <a:latin typeface="Cambria Math"/>
                            </a:rPr>
                            <m:t>1</m:t>
                          </m:r>
                        </m:num>
                        <m:den>
                          <m:r>
                            <a:rPr lang="en-AU" sz="6600" b="0" i="1" smtClean="0">
                              <a:solidFill>
                                <a:srgbClr val="FFFF00"/>
                              </a:solidFill>
                              <a:latin typeface="Cambria Math"/>
                            </a:rPr>
                            <m:t>2</m:t>
                          </m:r>
                        </m:den>
                      </m:f>
                    </m:oMath>
                  </m:oMathPara>
                </a14:m>
                <a:endParaRPr lang="en-AU" sz="6600" dirty="0"/>
              </a:p>
            </p:txBody>
          </p:sp>
        </mc:Choice>
        <mc:Fallback xmlns="">
          <p:sp>
            <p:nvSpPr>
              <p:cNvPr id="10" name="TextBox 9"/>
              <p:cNvSpPr txBox="1">
                <a:spLocks noRot="1" noChangeAspect="1" noMove="1" noResize="1" noEditPoints="1" noAdjustHandles="1" noChangeArrowheads="1" noChangeShapeType="1" noTextEdit="1"/>
              </p:cNvSpPr>
              <p:nvPr/>
            </p:nvSpPr>
            <p:spPr>
              <a:xfrm>
                <a:off x="7236296" y="1354967"/>
                <a:ext cx="1368152" cy="1993816"/>
              </a:xfrm>
              <a:prstGeom prst="rect">
                <a:avLst/>
              </a:prstGeom>
              <a:blipFill rotWithShape="1">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7504" y="3068960"/>
                <a:ext cx="1368152" cy="19938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6600" i="1" smtClean="0">
                              <a:solidFill>
                                <a:srgbClr val="C00000"/>
                              </a:solidFill>
                              <a:latin typeface="Cambria Math"/>
                            </a:rPr>
                          </m:ctrlPr>
                        </m:fPr>
                        <m:num>
                          <m:r>
                            <a:rPr lang="en-AU" sz="6600" b="0" i="1" smtClean="0">
                              <a:solidFill>
                                <a:srgbClr val="C00000"/>
                              </a:solidFill>
                              <a:latin typeface="Cambria Math"/>
                            </a:rPr>
                            <m:t>3</m:t>
                          </m:r>
                        </m:num>
                        <m:den>
                          <m:r>
                            <a:rPr lang="en-AU" sz="6600" b="0" i="1" smtClean="0">
                              <a:solidFill>
                                <a:srgbClr val="C00000"/>
                              </a:solidFill>
                              <a:latin typeface="Cambria Math"/>
                            </a:rPr>
                            <m:t>5</m:t>
                          </m:r>
                        </m:den>
                      </m:f>
                    </m:oMath>
                  </m:oMathPara>
                </a14:m>
                <a:endParaRPr lang="en-AU" sz="6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07504" y="3068960"/>
                <a:ext cx="1368152" cy="1993816"/>
              </a:xfrm>
              <a:prstGeom prst="rect">
                <a:avLst/>
              </a:prstGeom>
              <a:blipFill rotWithShape="1">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344308" y="390981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6600" i="1" smtClean="0">
                              <a:solidFill>
                                <a:srgbClr val="002060"/>
                              </a:solidFill>
                              <a:latin typeface="Cambria Math"/>
                            </a:rPr>
                          </m:ctrlPr>
                        </m:sSupPr>
                        <m:e>
                          <m:r>
                            <a:rPr lang="en-AU" sz="6600" b="0" i="1" smtClean="0">
                              <a:solidFill>
                                <a:srgbClr val="002060"/>
                              </a:solidFill>
                              <a:latin typeface="Cambria Math"/>
                            </a:rPr>
                            <m:t>5</m:t>
                          </m:r>
                        </m:e>
                        <m:sup>
                          <m:r>
                            <a:rPr lang="en-AU" sz="6600" b="0" i="1" smtClean="0">
                              <a:solidFill>
                                <a:srgbClr val="002060"/>
                              </a:solidFill>
                              <a:latin typeface="Cambria Math"/>
                            </a:rPr>
                            <m:t>2</m:t>
                          </m:r>
                        </m:sup>
                      </m:sSup>
                    </m:oMath>
                  </m:oMathPara>
                </a14:m>
                <a:endParaRPr lang="en-AU" sz="6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7344308" y="3909817"/>
                <a:ext cx="1368152" cy="1107996"/>
              </a:xfrm>
              <a:prstGeom prst="rect">
                <a:avLst/>
              </a:prstGeom>
              <a:blipFill rotWithShape="1">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652120" y="4797152"/>
                <a:ext cx="1368152" cy="12276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AU" sz="6600" i="1" smtClean="0">
                              <a:latin typeface="Cambria Math"/>
                            </a:rPr>
                          </m:ctrlPr>
                        </m:radPr>
                        <m:deg/>
                        <m:e>
                          <m:r>
                            <a:rPr lang="en-AU" sz="6600" b="0" i="1" smtClean="0">
                              <a:latin typeface="Cambria Math"/>
                            </a:rPr>
                            <m:t>9</m:t>
                          </m:r>
                        </m:e>
                      </m:rad>
                    </m:oMath>
                  </m:oMathPara>
                </a14:m>
                <a:endParaRPr lang="en-AU" sz="6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652120" y="4797152"/>
                <a:ext cx="1368152" cy="1227644"/>
              </a:xfrm>
              <a:prstGeom prst="rect">
                <a:avLst/>
              </a:prstGeom>
              <a:blipFill rotWithShape="1">
                <a:blip r:embed="rId10"/>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6</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sp>
        <p:nvSpPr>
          <p:cNvPr id="10" name="TextBox 9"/>
          <p:cNvSpPr txBox="1"/>
          <p:nvPr/>
        </p:nvSpPr>
        <p:spPr>
          <a:xfrm>
            <a:off x="1115616" y="404664"/>
            <a:ext cx="2907591" cy="523220"/>
          </a:xfrm>
          <a:prstGeom prst="rect">
            <a:avLst/>
          </a:prstGeom>
          <a:noFill/>
        </p:spPr>
        <p:txBody>
          <a:bodyPr wrap="none" rtlCol="0">
            <a:spAutoFit/>
          </a:bodyPr>
          <a:lstStyle/>
          <a:p>
            <a:r>
              <a:rPr lang="en-AU" sz="2800" dirty="0" smtClean="0"/>
              <a:t>Solving Equations?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1" y="1039137"/>
            <a:ext cx="8620422" cy="461665"/>
          </a:xfrm>
          <a:prstGeom prst="rect">
            <a:avLst/>
          </a:prstGeom>
          <a:noFill/>
        </p:spPr>
        <p:txBody>
          <a:bodyPr wrap="square" rtlCol="0">
            <a:spAutoFit/>
          </a:bodyPr>
          <a:lstStyle/>
          <a:p>
            <a:r>
              <a:rPr lang="en-AU" sz="2400" dirty="0"/>
              <a:t>EQ – </a:t>
            </a:r>
            <a:r>
              <a:rPr lang="en-AU" sz="2400" dirty="0" smtClean="0"/>
              <a:t>A special Formula – The Quadratic Formula! </a:t>
            </a:r>
            <a:endParaRPr lang="en-AU" sz="2400" dirty="0"/>
          </a:p>
        </p:txBody>
      </p:sp>
      <mc:AlternateContent xmlns:mc="http://schemas.openxmlformats.org/markup-compatibility/2006" xmlns:a14="http://schemas.microsoft.com/office/drawing/2010/main">
        <mc:Choice Requires="a14">
          <p:sp>
            <p:nvSpPr>
              <p:cNvPr id="3" name="Rectangle 2"/>
              <p:cNvSpPr/>
              <p:nvPr/>
            </p:nvSpPr>
            <p:spPr>
              <a:xfrm>
                <a:off x="119515" y="1700808"/>
                <a:ext cx="8903836" cy="4031809"/>
              </a:xfrm>
              <a:prstGeom prst="rect">
                <a:avLst/>
              </a:prstGeom>
            </p:spPr>
            <p:txBody>
              <a:bodyPr wrap="square">
                <a:spAutoFit/>
              </a:bodyPr>
              <a:lstStyle/>
              <a:p>
                <a:r>
                  <a:rPr lang="en-AU" b="1" dirty="0" smtClean="0"/>
                  <a:t>The Quadratic Formula</a:t>
                </a:r>
              </a:p>
              <a:p>
                <a:r>
                  <a:rPr lang="en-AU" dirty="0"/>
                  <a:t>There are four ways to solve a quadratic equation (i.e. an equation of the form </a:t>
                </a:r>
                <a:r>
                  <a:rPr lang="en-AU" dirty="0" smtClean="0"/>
                  <a:t>ax</a:t>
                </a:r>
                <a:r>
                  <a:rPr lang="en-AU" baseline="30000" dirty="0" smtClean="0"/>
                  <a:t>2</a:t>
                </a:r>
                <a:r>
                  <a:rPr lang="en-AU" dirty="0" smtClean="0"/>
                  <a:t>+bx+c=0):</a:t>
                </a:r>
                <a:r>
                  <a:rPr lang="en-AU" dirty="0"/>
                  <a:t> </a:t>
                </a:r>
              </a:p>
              <a:p>
                <a:pPr marL="285750" indent="-285750">
                  <a:buFont typeface="Arial" pitchFamily="34" charset="0"/>
                  <a:buChar char="•"/>
                </a:pPr>
                <a:r>
                  <a:rPr lang="en-AU" dirty="0"/>
                  <a:t>by basic algebra,</a:t>
                </a:r>
              </a:p>
              <a:p>
                <a:pPr marL="285750" indent="-285750">
                  <a:buFont typeface="Arial" pitchFamily="34" charset="0"/>
                  <a:buChar char="•"/>
                </a:pPr>
                <a:r>
                  <a:rPr lang="en-AU" dirty="0"/>
                  <a:t>by factoring,</a:t>
                </a:r>
              </a:p>
              <a:p>
                <a:pPr marL="285750" indent="-285750">
                  <a:buFont typeface="Arial" pitchFamily="34" charset="0"/>
                  <a:buChar char="•"/>
                </a:pPr>
                <a:r>
                  <a:rPr lang="en-AU" dirty="0"/>
                  <a:t>completing the square, or</a:t>
                </a:r>
              </a:p>
              <a:p>
                <a:pPr marL="285750" indent="-285750">
                  <a:buFont typeface="Arial" pitchFamily="34" charset="0"/>
                  <a:buChar char="•"/>
                </a:pPr>
                <a:r>
                  <a:rPr lang="en-AU" dirty="0"/>
                  <a:t>using the </a:t>
                </a:r>
                <a:r>
                  <a:rPr lang="en-AU" b="1" dirty="0"/>
                  <a:t>quadratic formula</a:t>
                </a:r>
                <a:r>
                  <a:rPr lang="en-AU" dirty="0" smtClean="0"/>
                  <a:t>.</a:t>
                </a:r>
              </a:p>
              <a:p>
                <a:r>
                  <a:rPr lang="en-AU" dirty="0" smtClean="0">
                    <a:effectLst/>
                  </a:rPr>
                  <a:t>If </a:t>
                </a:r>
                <a:r>
                  <a:rPr lang="en-AU" dirty="0" smtClean="0"/>
                  <a:t>ax</a:t>
                </a:r>
                <a:r>
                  <a:rPr lang="en-AU" baseline="30000" dirty="0" smtClean="0"/>
                  <a:t>2</a:t>
                </a:r>
                <a:r>
                  <a:rPr lang="en-AU" dirty="0" smtClean="0"/>
                  <a:t>+bx+c=0, then</a:t>
                </a:r>
              </a:p>
              <a:p>
                <a:r>
                  <a:rPr lang="en-AU" dirty="0">
                    <a:effectLst/>
                  </a:rPr>
                  <a:t>	</a:t>
                </a:r>
                <a14:m>
                  <m:oMath xmlns:m="http://schemas.openxmlformats.org/officeDocument/2006/math">
                    <m:r>
                      <a:rPr lang="en-AU" sz="2400" b="0" i="1" smtClean="0">
                        <a:effectLst/>
                        <a:latin typeface="Cambria Math"/>
                      </a:rPr>
                      <m:t>𝑥</m:t>
                    </m:r>
                    <m:r>
                      <a:rPr lang="en-AU" sz="2400" b="0" i="1" smtClean="0">
                        <a:effectLst/>
                        <a:latin typeface="Cambria Math"/>
                      </a:rPr>
                      <m:t>=</m:t>
                    </m:r>
                    <m:f>
                      <m:fPr>
                        <m:ctrlPr>
                          <a:rPr lang="en-AU" sz="2400" b="0" i="1" smtClean="0">
                            <a:effectLst/>
                            <a:latin typeface="Cambria Math"/>
                          </a:rPr>
                        </m:ctrlPr>
                      </m:fPr>
                      <m:num>
                        <m:r>
                          <a:rPr lang="en-AU" sz="2400" b="0" i="1" smtClean="0">
                            <a:effectLst/>
                            <a:latin typeface="Cambria Math"/>
                          </a:rPr>
                          <m:t>−</m:t>
                        </m:r>
                        <m:r>
                          <a:rPr lang="en-AU" sz="2400" b="0" i="1" smtClean="0">
                            <a:effectLst/>
                            <a:latin typeface="Cambria Math"/>
                          </a:rPr>
                          <m:t>𝑏</m:t>
                        </m:r>
                        <m:r>
                          <a:rPr lang="en-AU" sz="2400" b="0" i="1" smtClean="0">
                            <a:effectLst/>
                            <a:latin typeface="Cambria Math"/>
                            <a:ea typeface="Cambria Math"/>
                          </a:rPr>
                          <m:t>±</m:t>
                        </m:r>
                        <m:rad>
                          <m:radPr>
                            <m:degHide m:val="on"/>
                            <m:ctrlPr>
                              <a:rPr lang="en-AU" sz="2400" b="0" i="1" smtClean="0">
                                <a:effectLst/>
                                <a:latin typeface="Cambria Math"/>
                                <a:ea typeface="Cambria Math"/>
                              </a:rPr>
                            </m:ctrlPr>
                          </m:radPr>
                          <m:deg/>
                          <m:e>
                            <m:sSup>
                              <m:sSupPr>
                                <m:ctrlPr>
                                  <a:rPr lang="en-AU" sz="2400" b="0" i="1" smtClean="0">
                                    <a:effectLst/>
                                    <a:latin typeface="Cambria Math"/>
                                    <a:ea typeface="Cambria Math"/>
                                  </a:rPr>
                                </m:ctrlPr>
                              </m:sSupPr>
                              <m:e>
                                <m:r>
                                  <a:rPr lang="en-AU" sz="2400" b="0" i="1" smtClean="0">
                                    <a:effectLst/>
                                    <a:latin typeface="Cambria Math"/>
                                    <a:ea typeface="Cambria Math"/>
                                  </a:rPr>
                                  <m:t>(</m:t>
                                </m:r>
                                <m:r>
                                  <a:rPr lang="en-AU" sz="2400" b="0" i="1" smtClean="0">
                                    <a:effectLst/>
                                    <a:latin typeface="Cambria Math"/>
                                    <a:ea typeface="Cambria Math"/>
                                  </a:rPr>
                                  <m:t>𝑏</m:t>
                                </m:r>
                              </m:e>
                              <m:sup>
                                <m:r>
                                  <a:rPr lang="en-AU" sz="2400" b="0" i="1" smtClean="0">
                                    <a:effectLst/>
                                    <a:latin typeface="Cambria Math"/>
                                    <a:ea typeface="Cambria Math"/>
                                  </a:rPr>
                                  <m:t>2</m:t>
                                </m:r>
                              </m:sup>
                            </m:sSup>
                          </m:e>
                        </m:rad>
                        <m:r>
                          <a:rPr lang="en-AU" sz="2400" b="0" i="1" smtClean="0">
                            <a:effectLst/>
                            <a:latin typeface="Cambria Math"/>
                            <a:ea typeface="Cambria Math"/>
                          </a:rPr>
                          <m:t>−4</m:t>
                        </m:r>
                        <m:r>
                          <a:rPr lang="en-AU" sz="2400" b="0" i="1" smtClean="0">
                            <a:effectLst/>
                            <a:latin typeface="Cambria Math"/>
                            <a:ea typeface="Cambria Math"/>
                          </a:rPr>
                          <m:t>𝑎𝑐</m:t>
                        </m:r>
                        <m:r>
                          <a:rPr lang="en-AU" sz="2400" b="0" i="1" smtClean="0">
                            <a:effectLst/>
                            <a:latin typeface="Cambria Math"/>
                            <a:ea typeface="Cambria Math"/>
                          </a:rPr>
                          <m:t>)</m:t>
                        </m:r>
                      </m:num>
                      <m:den>
                        <m:r>
                          <a:rPr lang="en-AU" sz="2400" b="0" i="1" smtClean="0">
                            <a:effectLst/>
                            <a:latin typeface="Cambria Math"/>
                          </a:rPr>
                          <m:t>2</m:t>
                        </m:r>
                        <m:r>
                          <a:rPr lang="en-AU" sz="2400" b="0" i="1" smtClean="0">
                            <a:effectLst/>
                            <a:latin typeface="Cambria Math"/>
                          </a:rPr>
                          <m:t>𝑎</m:t>
                        </m:r>
                      </m:den>
                    </m:f>
                  </m:oMath>
                </a14:m>
                <a:endParaRPr lang="en-AU" sz="2400" dirty="0" smtClean="0">
                  <a:effectLst/>
                </a:endParaRPr>
              </a:p>
              <a:p>
                <a:r>
                  <a:rPr lang="en-AU" dirty="0"/>
                  <a:t>The advantage of using the quadratic formula is that it always works (unlike factoring) and it always follows the exact same process. The only downside to using it is that it gives no insight into the problem you are trying to solve, hence why teachers don't often encourage you to use it when solving quadratic equations (it can't tell you the x-intercepts of a parabola for example). </a:t>
                </a:r>
                <a:endParaRPr lang="en-AU" dirty="0">
                  <a:effectLst/>
                </a:endParaRPr>
              </a:p>
            </p:txBody>
          </p:sp>
        </mc:Choice>
        <mc:Fallback xmlns="">
          <p:sp>
            <p:nvSpPr>
              <p:cNvPr id="3" name="Rectangle 2"/>
              <p:cNvSpPr>
                <a:spLocks noRot="1" noChangeAspect="1" noMove="1" noResize="1" noEditPoints="1" noAdjustHandles="1" noChangeArrowheads="1" noChangeShapeType="1" noTextEdit="1"/>
              </p:cNvSpPr>
              <p:nvPr/>
            </p:nvSpPr>
            <p:spPr>
              <a:xfrm>
                <a:off x="119515" y="1700808"/>
                <a:ext cx="8903836" cy="4031809"/>
              </a:xfrm>
              <a:prstGeom prst="rect">
                <a:avLst/>
              </a:prstGeom>
              <a:blipFill rotWithShape="1">
                <a:blip r:embed="rId2"/>
                <a:stretch>
                  <a:fillRect l="-616" t="-756" r="-479" b="-1513"/>
                </a:stretch>
              </a:blipFill>
            </p:spPr>
            <p:txBody>
              <a:bodyPr/>
              <a:lstStyle/>
              <a:p>
                <a:r>
                  <a:rPr lang="en-AU">
                    <a:noFill/>
                  </a:rPr>
                  <a:t> </a:t>
                </a:r>
              </a:p>
            </p:txBody>
          </p:sp>
        </mc:Fallback>
      </mc:AlternateContent>
    </p:spTree>
    <p:extLst>
      <p:ext uri="{BB962C8B-B14F-4D97-AF65-F5344CB8AC3E}">
        <p14:creationId xmlns:p14="http://schemas.microsoft.com/office/powerpoint/2010/main" val="16709025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979712" y="1525100"/>
            <a:ext cx="0" cy="5332899"/>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21339" cy="523220"/>
          </a:xfrm>
          <a:prstGeom prst="rect">
            <a:avLst/>
          </a:prstGeom>
          <a:noFill/>
        </p:spPr>
        <p:txBody>
          <a:bodyPr wrap="none" rtlCol="0">
            <a:spAutoFit/>
          </a:bodyPr>
          <a:lstStyle/>
          <a:p>
            <a:r>
              <a:rPr lang="en-AU" sz="2800" dirty="0" smtClean="0"/>
              <a:t>Solving Quadratic Equations?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 special Formula – The Quadratic Formula! </a:t>
            </a:r>
          </a:p>
        </p:txBody>
      </p:sp>
      <p:sp>
        <p:nvSpPr>
          <p:cNvPr id="5" name="TextBox 4"/>
          <p:cNvSpPr txBox="1"/>
          <p:nvPr/>
        </p:nvSpPr>
        <p:spPr>
          <a:xfrm>
            <a:off x="119514" y="1753830"/>
            <a:ext cx="1598209" cy="923330"/>
          </a:xfrm>
          <a:prstGeom prst="rect">
            <a:avLst/>
          </a:prstGeom>
          <a:noFill/>
        </p:spPr>
        <p:txBody>
          <a:bodyPr wrap="square" rtlCol="0">
            <a:spAutoFit/>
          </a:bodyPr>
          <a:lstStyle/>
          <a:p>
            <a:r>
              <a:rPr lang="en-AU" dirty="0" smtClean="0"/>
              <a:t>Lets try it make our equation = 0!</a:t>
            </a:r>
            <a:endParaRPr lang="en-AU" dirty="0"/>
          </a:p>
        </p:txBody>
      </p:sp>
      <mc:AlternateContent xmlns:mc="http://schemas.openxmlformats.org/markup-compatibility/2006" xmlns:a14="http://schemas.microsoft.com/office/drawing/2010/main">
        <mc:Choice Requires="a14">
          <p:sp>
            <p:nvSpPr>
              <p:cNvPr id="13" name="Rectangle 12"/>
              <p:cNvSpPr/>
              <p:nvPr/>
            </p:nvSpPr>
            <p:spPr>
              <a:xfrm>
                <a:off x="2143724" y="1762065"/>
                <a:ext cx="6748755" cy="4085349"/>
              </a:xfrm>
              <a:prstGeom prst="rect">
                <a:avLst/>
              </a:prstGeom>
            </p:spPr>
            <p:txBody>
              <a:bodyPr wrap="square">
                <a:spAutoFit/>
              </a:bodyPr>
              <a:lstStyle/>
              <a:p>
                <a:r>
                  <a:rPr lang="en-AU" dirty="0" smtClean="0"/>
                  <a:t>Solve the equation </a:t>
                </a:r>
                <a:r>
                  <a:rPr lang="en-AU" i="1" dirty="0" smtClean="0"/>
                  <a:t>x</a:t>
                </a:r>
                <a:r>
                  <a:rPr lang="en-AU" baseline="30000" dirty="0" smtClean="0"/>
                  <a:t>2</a:t>
                </a:r>
                <a:r>
                  <a:rPr lang="en-AU" dirty="0" smtClean="0"/>
                  <a:t>+11</a:t>
                </a:r>
                <a:r>
                  <a:rPr lang="en-AU" i="1" dirty="0" smtClean="0"/>
                  <a:t>x</a:t>
                </a:r>
                <a:r>
                  <a:rPr lang="en-AU" dirty="0" smtClean="0"/>
                  <a:t>+28=0 </a:t>
                </a:r>
                <a:r>
                  <a:rPr lang="en-AU" dirty="0"/>
                  <a:t>by using the quadratic formula</a:t>
                </a:r>
                <a:r>
                  <a:rPr lang="en-AU" dirty="0" smtClean="0"/>
                  <a:t>:</a:t>
                </a:r>
              </a:p>
              <a:p>
                <a:r>
                  <a:rPr lang="en-AU" dirty="0" smtClean="0"/>
                  <a:t>ax</a:t>
                </a:r>
                <a:r>
                  <a:rPr lang="en-AU" baseline="30000" dirty="0" smtClean="0"/>
                  <a:t>2</a:t>
                </a:r>
                <a:r>
                  <a:rPr lang="en-AU" dirty="0" smtClean="0"/>
                  <a:t>+bx+c=0 therefor a = 1, b = 11 and c = 28</a:t>
                </a:r>
              </a:p>
              <a:p>
                <a:r>
                  <a:rPr lang="en-AU" dirty="0" smtClean="0"/>
                  <a:t>Put them into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i="1">
                            <a:latin typeface="Cambria Math"/>
                          </a:rPr>
                          <m:t>𝑏</m:t>
                        </m:r>
                        <m:r>
                          <a:rPr lang="en-AU" i="1">
                            <a:latin typeface="Cambria Math"/>
                            <a:ea typeface="Cambria Math"/>
                          </a:rPr>
                          <m:t>±</m:t>
                        </m:r>
                        <m:rad>
                          <m:radPr>
                            <m:degHide m:val="on"/>
                            <m:ctrlPr>
                              <a:rPr lang="en-AU" i="1">
                                <a:latin typeface="Cambria Math"/>
                                <a:ea typeface="Cambria Math"/>
                              </a:rPr>
                            </m:ctrlPr>
                          </m:radPr>
                          <m:deg/>
                          <m:e>
                            <m:sSup>
                              <m:sSupPr>
                                <m:ctrlPr>
                                  <a:rPr lang="en-AU" i="1">
                                    <a:latin typeface="Cambria Math"/>
                                    <a:ea typeface="Cambria Math"/>
                                  </a:rPr>
                                </m:ctrlPr>
                              </m:sSupPr>
                              <m:e>
                                <m:r>
                                  <a:rPr lang="en-AU" i="1">
                                    <a:latin typeface="Cambria Math"/>
                                    <a:ea typeface="Cambria Math"/>
                                  </a:rPr>
                                  <m:t>(</m:t>
                                </m:r>
                                <m:r>
                                  <a:rPr lang="en-AU" i="1">
                                    <a:latin typeface="Cambria Math"/>
                                    <a:ea typeface="Cambria Math"/>
                                  </a:rPr>
                                  <m:t>𝑏</m:t>
                                </m:r>
                              </m:e>
                              <m:sup>
                                <m:r>
                                  <a:rPr lang="en-AU" i="1">
                                    <a:latin typeface="Cambria Math"/>
                                    <a:ea typeface="Cambria Math"/>
                                  </a:rPr>
                                  <m:t>2</m:t>
                                </m:r>
                              </m:sup>
                            </m:sSup>
                          </m:e>
                        </m:rad>
                        <m:r>
                          <a:rPr lang="en-AU" i="1">
                            <a:latin typeface="Cambria Math"/>
                            <a:ea typeface="Cambria Math"/>
                          </a:rPr>
                          <m:t>−4</m:t>
                        </m:r>
                        <m:r>
                          <a:rPr lang="en-AU" i="1">
                            <a:latin typeface="Cambria Math"/>
                            <a:ea typeface="Cambria Math"/>
                          </a:rPr>
                          <m:t>𝑎𝑐</m:t>
                        </m:r>
                        <m:r>
                          <a:rPr lang="en-AU" i="1">
                            <a:latin typeface="Cambria Math"/>
                            <a:ea typeface="Cambria Math"/>
                          </a:rPr>
                          <m:t>)</m:t>
                        </m:r>
                      </m:num>
                      <m:den>
                        <m:r>
                          <a:rPr lang="en-AU" i="1">
                            <a:latin typeface="Cambria Math"/>
                          </a:rPr>
                          <m:t>2</m:t>
                        </m:r>
                        <m:r>
                          <a:rPr lang="en-AU" i="1">
                            <a:latin typeface="Cambria Math"/>
                          </a:rPr>
                          <m:t>𝑎</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b="0" i="1" smtClean="0">
                            <a:latin typeface="Cambria Math"/>
                          </a:rPr>
                          <m:t>11</m:t>
                        </m:r>
                        <m:r>
                          <a:rPr lang="en-AU" i="1">
                            <a:latin typeface="Cambria Math"/>
                            <a:ea typeface="Cambria Math"/>
                          </a:rPr>
                          <m:t>±</m:t>
                        </m:r>
                        <m:rad>
                          <m:radPr>
                            <m:degHide m:val="on"/>
                            <m:ctrlPr>
                              <a:rPr lang="en-AU" i="1">
                                <a:latin typeface="Cambria Math"/>
                                <a:ea typeface="Cambria Math"/>
                              </a:rPr>
                            </m:ctrlPr>
                          </m:radPr>
                          <m:deg/>
                          <m:e>
                            <m:sSup>
                              <m:sSupPr>
                                <m:ctrlPr>
                                  <a:rPr lang="en-AU" i="1">
                                    <a:latin typeface="Cambria Math"/>
                                    <a:ea typeface="Cambria Math"/>
                                  </a:rPr>
                                </m:ctrlPr>
                              </m:sSupPr>
                              <m:e>
                                <m:r>
                                  <a:rPr lang="en-AU" i="1">
                                    <a:latin typeface="Cambria Math"/>
                                    <a:ea typeface="Cambria Math"/>
                                  </a:rPr>
                                  <m:t>(</m:t>
                                </m:r>
                                <m:r>
                                  <a:rPr lang="en-AU" b="0" i="1" smtClean="0">
                                    <a:latin typeface="Cambria Math"/>
                                    <a:ea typeface="Cambria Math"/>
                                  </a:rPr>
                                  <m:t>11</m:t>
                                </m:r>
                              </m:e>
                              <m:sup>
                                <m:r>
                                  <a:rPr lang="en-AU" i="1">
                                    <a:latin typeface="Cambria Math"/>
                                    <a:ea typeface="Cambria Math"/>
                                  </a:rPr>
                                  <m:t>2</m:t>
                                </m:r>
                              </m:sup>
                            </m:sSup>
                          </m:e>
                        </m:rad>
                        <m:r>
                          <a:rPr lang="en-AU" i="1">
                            <a:latin typeface="Cambria Math"/>
                            <a:ea typeface="Cambria Math"/>
                          </a:rPr>
                          <m:t>−4</m:t>
                        </m:r>
                        <m:r>
                          <a:rPr lang="en-AU" i="1" smtClean="0">
                            <a:latin typeface="Cambria Math"/>
                            <a:ea typeface="Cambria Math"/>
                          </a:rPr>
                          <m:t>×</m:t>
                        </m:r>
                        <m:r>
                          <a:rPr lang="en-AU" b="0" i="1" smtClean="0">
                            <a:latin typeface="Cambria Math"/>
                            <a:ea typeface="Cambria Math"/>
                          </a:rPr>
                          <m:t>1×28</m:t>
                        </m:r>
                        <m:r>
                          <a:rPr lang="en-AU" i="1">
                            <a:latin typeface="Cambria Math"/>
                            <a:ea typeface="Cambria Math"/>
                          </a:rPr>
                          <m:t>)</m:t>
                        </m:r>
                      </m:num>
                      <m:den>
                        <m:r>
                          <a:rPr lang="en-AU" i="1">
                            <a:latin typeface="Cambria Math"/>
                          </a:rPr>
                          <m:t>2</m:t>
                        </m:r>
                        <m:r>
                          <a:rPr lang="en-AU" i="1" smtClean="0">
                            <a:latin typeface="Cambria Math"/>
                            <a:ea typeface="Cambria Math"/>
                          </a:rPr>
                          <m:t>×</m:t>
                        </m:r>
                        <m:r>
                          <a:rPr lang="en-AU" b="0" i="1" smtClean="0">
                            <a:latin typeface="Cambria Math"/>
                            <a:ea typeface="Cambria Math"/>
                          </a:rPr>
                          <m:t>1</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b="0" i="1" smtClean="0">
                            <a:latin typeface="Cambria Math"/>
                          </a:rPr>
                          <m:t>11</m:t>
                        </m:r>
                        <m:r>
                          <a:rPr lang="en-AU" i="1">
                            <a:latin typeface="Cambria Math"/>
                            <a:ea typeface="Cambria Math"/>
                          </a:rPr>
                          <m:t>±</m:t>
                        </m:r>
                        <m:rad>
                          <m:radPr>
                            <m:degHide m:val="on"/>
                            <m:ctrlPr>
                              <a:rPr lang="en-AU" i="1">
                                <a:latin typeface="Cambria Math"/>
                                <a:ea typeface="Cambria Math"/>
                              </a:rPr>
                            </m:ctrlPr>
                          </m:radPr>
                          <m:deg/>
                          <m:e>
                            <m:r>
                              <a:rPr lang="en-AU" b="0" i="1" smtClean="0">
                                <a:latin typeface="Cambria Math"/>
                                <a:ea typeface="Cambria Math"/>
                              </a:rPr>
                              <m:t>(121</m:t>
                            </m:r>
                          </m:e>
                        </m:rad>
                        <m:r>
                          <a:rPr lang="en-AU" i="1">
                            <a:latin typeface="Cambria Math"/>
                            <a:ea typeface="Cambria Math"/>
                          </a:rPr>
                          <m:t>−</m:t>
                        </m:r>
                        <m:r>
                          <a:rPr lang="en-AU" b="0" i="1" smtClean="0">
                            <a:latin typeface="Cambria Math"/>
                            <a:ea typeface="Cambria Math"/>
                          </a:rPr>
                          <m:t>112</m:t>
                        </m:r>
                        <m:r>
                          <a:rPr lang="en-AU" i="1">
                            <a:latin typeface="Cambria Math"/>
                            <a:ea typeface="Cambria Math"/>
                          </a:rPr>
                          <m:t>)</m:t>
                        </m:r>
                      </m:num>
                      <m:den>
                        <m:r>
                          <a:rPr lang="en-AU" i="1">
                            <a:latin typeface="Cambria Math"/>
                          </a:rPr>
                          <m:t>2</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−11</m:t>
                        </m:r>
                        <m:r>
                          <a:rPr lang="en-AU" i="1">
                            <a:latin typeface="Cambria Math"/>
                            <a:ea typeface="Cambria Math"/>
                          </a:rPr>
                          <m:t>±</m:t>
                        </m:r>
                        <m:r>
                          <a:rPr lang="en-AU" i="1" smtClean="0">
                            <a:latin typeface="Cambria Math"/>
                            <a:ea typeface="Cambria Math"/>
                          </a:rPr>
                          <m:t>√</m:t>
                        </m:r>
                        <m:r>
                          <a:rPr lang="en-AU" b="0" i="1" smtClean="0">
                            <a:latin typeface="Cambria Math"/>
                            <a:ea typeface="Cambria Math"/>
                          </a:rPr>
                          <m:t>9</m:t>
                        </m:r>
                      </m:num>
                      <m:den>
                        <m:r>
                          <a:rPr lang="en-AU" i="1">
                            <a:latin typeface="Cambria Math"/>
                          </a:rPr>
                          <m:t>2</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−11</m:t>
                        </m:r>
                        <m:r>
                          <a:rPr lang="en-AU" i="1">
                            <a:latin typeface="Cambria Math"/>
                            <a:ea typeface="Cambria Math"/>
                          </a:rPr>
                          <m:t>±</m:t>
                        </m:r>
                        <m:r>
                          <a:rPr lang="en-AU" b="0" i="1" smtClean="0">
                            <a:latin typeface="Cambria Math"/>
                            <a:ea typeface="Cambria Math"/>
                          </a:rPr>
                          <m:t>3</m:t>
                        </m:r>
                      </m:num>
                      <m:den>
                        <m:r>
                          <a:rPr lang="en-AU" i="1">
                            <a:latin typeface="Cambria Math"/>
                          </a:rPr>
                          <m:t>2</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b="0" i="1" smtClean="0">
                            <a:latin typeface="Cambria Math"/>
                          </a:rPr>
                          <m:t>−14</m:t>
                        </m:r>
                      </m:num>
                      <m:den>
                        <m:r>
                          <a:rPr lang="en-AU" i="1">
                            <a:latin typeface="Cambria Math"/>
                          </a:rPr>
                          <m:t>2</m:t>
                        </m:r>
                      </m:den>
                    </m:f>
                    <m:r>
                      <a:rPr lang="en-AU" b="0" i="1" smtClean="0">
                        <a:latin typeface="Cambria Math"/>
                      </a:rPr>
                      <m:t>  </m:t>
                    </m:r>
                    <m:r>
                      <a:rPr lang="en-AU" b="0" i="1" smtClean="0">
                        <a:latin typeface="Cambria Math"/>
                      </a:rPr>
                      <m:t>𝑜𝑟</m:t>
                    </m:r>
                    <m:r>
                      <a:rPr lang="en-AU" b="0" i="1" smtClean="0">
                        <a:latin typeface="Cambria Math"/>
                      </a:rPr>
                      <m:t>  </m:t>
                    </m:r>
                    <m:f>
                      <m:fPr>
                        <m:ctrlPr>
                          <a:rPr lang="en-AU" b="0" i="1" smtClean="0">
                            <a:latin typeface="Cambria Math"/>
                          </a:rPr>
                        </m:ctrlPr>
                      </m:fPr>
                      <m:num>
                        <m:r>
                          <a:rPr lang="en-AU" b="0" i="1" smtClean="0">
                            <a:latin typeface="Cambria Math"/>
                          </a:rPr>
                          <m:t>−8</m:t>
                        </m:r>
                      </m:num>
                      <m:den>
                        <m:r>
                          <a:rPr lang="en-AU" b="0" i="1" smtClean="0">
                            <a:latin typeface="Cambria Math"/>
                          </a:rPr>
                          <m:t>2</m:t>
                        </m:r>
                      </m:den>
                    </m:f>
                  </m:oMath>
                </a14:m>
                <a:endParaRPr lang="en-AU" dirty="0" smtClean="0"/>
              </a:p>
              <a:p>
                <a:r>
                  <a:rPr lang="en-AU" dirty="0"/>
                  <a:t>	</a:t>
                </a:r>
                <a:r>
                  <a:rPr lang="en-AU" dirty="0" smtClean="0"/>
                  <a:t>	</a:t>
                </a:r>
                <a14:m>
                  <m:oMath xmlns:m="http://schemas.openxmlformats.org/officeDocument/2006/math">
                    <m:r>
                      <a:rPr lang="en-AU" b="0" i="1" smtClean="0">
                        <a:latin typeface="Cambria Math"/>
                      </a:rPr>
                      <m:t>𝑥</m:t>
                    </m:r>
                    <m:r>
                      <a:rPr lang="en-AU" b="0" i="1" smtClean="0">
                        <a:latin typeface="Cambria Math"/>
                      </a:rPr>
                      <m:t>=−7  </m:t>
                    </m:r>
                    <m:r>
                      <a:rPr lang="en-AU" b="0" i="1" smtClean="0">
                        <a:latin typeface="Cambria Math"/>
                      </a:rPr>
                      <m:t>𝑜𝑟</m:t>
                    </m:r>
                    <m:r>
                      <a:rPr lang="en-AU" b="0" i="1" smtClean="0">
                        <a:latin typeface="Cambria Math"/>
                      </a:rPr>
                      <m:t>  −4</m:t>
                    </m:r>
                  </m:oMath>
                </a14:m>
                <a:r>
                  <a:rPr lang="en-AU" b="0" dirty="0" smtClean="0"/>
                  <a:t/>
                </a:r>
                <a:br>
                  <a:rPr lang="en-AU" b="0" dirty="0" smtClean="0"/>
                </a:br>
                <a:endParaRPr lang="en-AU" b="0" dirty="0" smtClean="0"/>
              </a:p>
              <a:p>
                <a:r>
                  <a:rPr lang="en-AU" dirty="0" smtClean="0"/>
                  <a:t>This one has been done using an equation that does factorise easily!</a:t>
                </a:r>
                <a:endParaRPr lang="en-AU" dirty="0"/>
              </a:p>
            </p:txBody>
          </p:sp>
        </mc:Choice>
        <mc:Fallback xmlns="">
          <p:sp>
            <p:nvSpPr>
              <p:cNvPr id="13" name="Rectangle 12"/>
              <p:cNvSpPr>
                <a:spLocks noRot="1" noChangeAspect="1" noMove="1" noResize="1" noEditPoints="1" noAdjustHandles="1" noChangeArrowheads="1" noChangeShapeType="1" noTextEdit="1"/>
              </p:cNvSpPr>
              <p:nvPr/>
            </p:nvSpPr>
            <p:spPr>
              <a:xfrm>
                <a:off x="2143724" y="1762065"/>
                <a:ext cx="6748755" cy="4085349"/>
              </a:xfrm>
              <a:prstGeom prst="rect">
                <a:avLst/>
              </a:prstGeom>
              <a:blipFill rotWithShape="1">
                <a:blip r:embed="rId2"/>
                <a:stretch>
                  <a:fillRect l="-813" t="-746" b="-1493"/>
                </a:stretch>
              </a:blipFill>
            </p:spPr>
            <p:txBody>
              <a:bodyPr/>
              <a:lstStyle/>
              <a:p>
                <a:r>
                  <a:rPr lang="en-AU">
                    <a:noFill/>
                  </a:rPr>
                  <a:t> </a:t>
                </a:r>
              </a:p>
            </p:txBody>
          </p:sp>
        </mc:Fallback>
      </mc:AlternateContent>
    </p:spTree>
    <p:extLst>
      <p:ext uri="{BB962C8B-B14F-4D97-AF65-F5344CB8AC3E}">
        <p14:creationId xmlns:p14="http://schemas.microsoft.com/office/powerpoint/2010/main" val="40329841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979712" y="1525100"/>
            <a:ext cx="0" cy="5332899"/>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21339" cy="523220"/>
          </a:xfrm>
          <a:prstGeom prst="rect">
            <a:avLst/>
          </a:prstGeom>
          <a:noFill/>
        </p:spPr>
        <p:txBody>
          <a:bodyPr wrap="none" rtlCol="0">
            <a:spAutoFit/>
          </a:bodyPr>
          <a:lstStyle/>
          <a:p>
            <a:r>
              <a:rPr lang="en-AU" sz="2800" dirty="0" smtClean="0"/>
              <a:t>Solving Quadratic Equations?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 special Formula – The Quadratic Formula! </a:t>
            </a:r>
          </a:p>
        </p:txBody>
      </p:sp>
      <p:sp>
        <p:nvSpPr>
          <p:cNvPr id="5" name="TextBox 4"/>
          <p:cNvSpPr txBox="1"/>
          <p:nvPr/>
        </p:nvSpPr>
        <p:spPr>
          <a:xfrm>
            <a:off x="119514" y="1753830"/>
            <a:ext cx="1598209" cy="646331"/>
          </a:xfrm>
          <a:prstGeom prst="rect">
            <a:avLst/>
          </a:prstGeom>
          <a:noFill/>
        </p:spPr>
        <p:txBody>
          <a:bodyPr wrap="square" rtlCol="0">
            <a:spAutoFit/>
          </a:bodyPr>
          <a:lstStyle/>
          <a:p>
            <a:r>
              <a:rPr lang="en-AU" dirty="0" smtClean="0"/>
              <a:t>Lets have another try!</a:t>
            </a:r>
            <a:endParaRPr lang="en-AU" dirty="0"/>
          </a:p>
        </p:txBody>
      </p:sp>
      <mc:AlternateContent xmlns:mc="http://schemas.openxmlformats.org/markup-compatibility/2006">
        <mc:Choice xmlns:a14="http://schemas.microsoft.com/office/drawing/2010/main" Requires="a14">
          <p:sp>
            <p:nvSpPr>
              <p:cNvPr id="13" name="Rectangle 12"/>
              <p:cNvSpPr/>
              <p:nvPr/>
            </p:nvSpPr>
            <p:spPr>
              <a:xfrm>
                <a:off x="2143724" y="1762065"/>
                <a:ext cx="6748755" cy="3736023"/>
              </a:xfrm>
              <a:prstGeom prst="rect">
                <a:avLst/>
              </a:prstGeom>
            </p:spPr>
            <p:txBody>
              <a:bodyPr wrap="square">
                <a:spAutoFit/>
              </a:bodyPr>
              <a:lstStyle/>
              <a:p>
                <a:r>
                  <a:rPr lang="en-AU" dirty="0" smtClean="0"/>
                  <a:t>Solve the equation -3</a:t>
                </a:r>
                <a:r>
                  <a:rPr lang="en-AU" i="1" dirty="0" smtClean="0"/>
                  <a:t>x</a:t>
                </a:r>
                <a:r>
                  <a:rPr lang="en-AU" baseline="30000" dirty="0" smtClean="0"/>
                  <a:t>2</a:t>
                </a:r>
                <a:r>
                  <a:rPr lang="en-AU" dirty="0" smtClean="0"/>
                  <a:t>+8</a:t>
                </a:r>
                <a:r>
                  <a:rPr lang="en-AU" i="1" dirty="0" smtClean="0"/>
                  <a:t>x</a:t>
                </a:r>
                <a:r>
                  <a:rPr lang="en-AU" dirty="0" smtClean="0"/>
                  <a:t>+2=0 </a:t>
                </a:r>
                <a:r>
                  <a:rPr lang="en-AU" dirty="0"/>
                  <a:t>by using the quadratic formula</a:t>
                </a:r>
                <a:r>
                  <a:rPr lang="en-AU" dirty="0" smtClean="0"/>
                  <a:t>:</a:t>
                </a:r>
              </a:p>
              <a:p>
                <a:r>
                  <a:rPr lang="en-AU" dirty="0" smtClean="0"/>
                  <a:t>ax</a:t>
                </a:r>
                <a:r>
                  <a:rPr lang="en-AU" baseline="30000" dirty="0" smtClean="0"/>
                  <a:t>2</a:t>
                </a:r>
                <a:r>
                  <a:rPr lang="en-AU" dirty="0" smtClean="0"/>
                  <a:t>+bx+c=0 therefor a = -3, b = 8 and c = 2</a:t>
                </a:r>
              </a:p>
              <a:p>
                <a:r>
                  <a:rPr lang="en-AU" dirty="0" smtClean="0"/>
                  <a:t>Put them into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i="1">
                            <a:latin typeface="Cambria Math"/>
                          </a:rPr>
                          <m:t>𝑏</m:t>
                        </m:r>
                        <m:r>
                          <a:rPr lang="en-AU" i="1">
                            <a:latin typeface="Cambria Math"/>
                            <a:ea typeface="Cambria Math"/>
                          </a:rPr>
                          <m:t>±</m:t>
                        </m:r>
                        <m:rad>
                          <m:radPr>
                            <m:degHide m:val="on"/>
                            <m:ctrlPr>
                              <a:rPr lang="en-AU" i="1">
                                <a:latin typeface="Cambria Math"/>
                                <a:ea typeface="Cambria Math"/>
                              </a:rPr>
                            </m:ctrlPr>
                          </m:radPr>
                          <m:deg/>
                          <m:e>
                            <m:sSup>
                              <m:sSupPr>
                                <m:ctrlPr>
                                  <a:rPr lang="en-AU" i="1">
                                    <a:latin typeface="Cambria Math"/>
                                    <a:ea typeface="Cambria Math"/>
                                  </a:rPr>
                                </m:ctrlPr>
                              </m:sSupPr>
                              <m:e>
                                <m:r>
                                  <a:rPr lang="en-AU" i="1">
                                    <a:latin typeface="Cambria Math"/>
                                    <a:ea typeface="Cambria Math"/>
                                  </a:rPr>
                                  <m:t>(</m:t>
                                </m:r>
                                <m:r>
                                  <a:rPr lang="en-AU" i="1">
                                    <a:latin typeface="Cambria Math"/>
                                    <a:ea typeface="Cambria Math"/>
                                  </a:rPr>
                                  <m:t>𝑏</m:t>
                                </m:r>
                              </m:e>
                              <m:sup>
                                <m:r>
                                  <a:rPr lang="en-AU" i="1">
                                    <a:latin typeface="Cambria Math"/>
                                    <a:ea typeface="Cambria Math"/>
                                  </a:rPr>
                                  <m:t>2</m:t>
                                </m:r>
                              </m:sup>
                            </m:sSup>
                          </m:e>
                        </m:rad>
                        <m:r>
                          <a:rPr lang="en-AU" i="1">
                            <a:latin typeface="Cambria Math"/>
                            <a:ea typeface="Cambria Math"/>
                          </a:rPr>
                          <m:t>−4</m:t>
                        </m:r>
                        <m:r>
                          <a:rPr lang="en-AU" i="1">
                            <a:latin typeface="Cambria Math"/>
                            <a:ea typeface="Cambria Math"/>
                          </a:rPr>
                          <m:t>𝑎𝑐</m:t>
                        </m:r>
                        <m:r>
                          <a:rPr lang="en-AU" i="1">
                            <a:latin typeface="Cambria Math"/>
                            <a:ea typeface="Cambria Math"/>
                          </a:rPr>
                          <m:t>)</m:t>
                        </m:r>
                      </m:num>
                      <m:den>
                        <m:r>
                          <a:rPr lang="en-AU" i="1">
                            <a:latin typeface="Cambria Math"/>
                          </a:rPr>
                          <m:t>2</m:t>
                        </m:r>
                        <m:r>
                          <a:rPr lang="en-AU" i="1">
                            <a:latin typeface="Cambria Math"/>
                          </a:rPr>
                          <m:t>𝑎</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b="0" i="1" smtClean="0">
                            <a:latin typeface="Cambria Math"/>
                          </a:rPr>
                          <m:t>8</m:t>
                        </m:r>
                        <m:r>
                          <a:rPr lang="en-AU" i="1">
                            <a:latin typeface="Cambria Math"/>
                            <a:ea typeface="Cambria Math"/>
                          </a:rPr>
                          <m:t>±</m:t>
                        </m:r>
                        <m:rad>
                          <m:radPr>
                            <m:degHide m:val="on"/>
                            <m:ctrlPr>
                              <a:rPr lang="en-AU" i="1">
                                <a:latin typeface="Cambria Math"/>
                                <a:ea typeface="Cambria Math"/>
                              </a:rPr>
                            </m:ctrlPr>
                          </m:radPr>
                          <m:deg/>
                          <m:e>
                            <m:sSup>
                              <m:sSupPr>
                                <m:ctrlPr>
                                  <a:rPr lang="en-AU" i="1">
                                    <a:latin typeface="Cambria Math"/>
                                    <a:ea typeface="Cambria Math"/>
                                  </a:rPr>
                                </m:ctrlPr>
                              </m:sSupPr>
                              <m:e>
                                <m:r>
                                  <a:rPr lang="en-AU" i="1">
                                    <a:latin typeface="Cambria Math"/>
                                    <a:ea typeface="Cambria Math"/>
                                  </a:rPr>
                                  <m:t>(</m:t>
                                </m:r>
                                <m:r>
                                  <a:rPr lang="en-AU" b="0" i="1" smtClean="0">
                                    <a:latin typeface="Cambria Math"/>
                                    <a:ea typeface="Cambria Math"/>
                                  </a:rPr>
                                  <m:t>8</m:t>
                                </m:r>
                              </m:e>
                              <m:sup>
                                <m:r>
                                  <a:rPr lang="en-AU" i="1">
                                    <a:latin typeface="Cambria Math"/>
                                    <a:ea typeface="Cambria Math"/>
                                  </a:rPr>
                                  <m:t>2</m:t>
                                </m:r>
                              </m:sup>
                            </m:sSup>
                          </m:e>
                        </m:rad>
                        <m:r>
                          <a:rPr lang="en-AU" i="1">
                            <a:latin typeface="Cambria Math"/>
                            <a:ea typeface="Cambria Math"/>
                          </a:rPr>
                          <m:t>−4</m:t>
                        </m:r>
                        <m:r>
                          <a:rPr lang="en-AU" i="1" smtClean="0">
                            <a:latin typeface="Cambria Math"/>
                            <a:ea typeface="Cambria Math"/>
                          </a:rPr>
                          <m:t>×</m:t>
                        </m:r>
                        <m:r>
                          <a:rPr lang="en-AU" b="0" i="1" smtClean="0">
                            <a:latin typeface="Cambria Math"/>
                            <a:ea typeface="Cambria Math"/>
                          </a:rPr>
                          <m:t>(−3)×2</m:t>
                        </m:r>
                        <m:r>
                          <a:rPr lang="en-AU" i="1">
                            <a:latin typeface="Cambria Math"/>
                            <a:ea typeface="Cambria Math"/>
                          </a:rPr>
                          <m:t>)</m:t>
                        </m:r>
                      </m:num>
                      <m:den>
                        <m:r>
                          <a:rPr lang="en-AU" i="1">
                            <a:latin typeface="Cambria Math"/>
                          </a:rPr>
                          <m:t>2</m:t>
                        </m:r>
                        <m:r>
                          <a:rPr lang="en-AU" i="1" smtClean="0">
                            <a:latin typeface="Cambria Math"/>
                            <a:ea typeface="Cambria Math"/>
                          </a:rPr>
                          <m:t>×</m:t>
                        </m:r>
                        <m:r>
                          <a:rPr lang="en-AU" b="0" i="1" smtClean="0">
                            <a:latin typeface="Cambria Math"/>
                            <a:ea typeface="Cambria Math"/>
                          </a:rPr>
                          <m:t>(−3)</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b="0" i="1" smtClean="0">
                            <a:latin typeface="Cambria Math"/>
                          </a:rPr>
                          <m:t>−8</m:t>
                        </m:r>
                        <m:r>
                          <a:rPr lang="en-AU" i="1">
                            <a:latin typeface="Cambria Math"/>
                            <a:ea typeface="Cambria Math"/>
                          </a:rPr>
                          <m:t>±</m:t>
                        </m:r>
                        <m:rad>
                          <m:radPr>
                            <m:degHide m:val="on"/>
                            <m:ctrlPr>
                              <a:rPr lang="en-AU" i="1">
                                <a:latin typeface="Cambria Math"/>
                                <a:ea typeface="Cambria Math"/>
                              </a:rPr>
                            </m:ctrlPr>
                          </m:radPr>
                          <m:deg/>
                          <m:e>
                            <m:r>
                              <a:rPr lang="en-AU" b="0" i="1" smtClean="0">
                                <a:latin typeface="Cambria Math"/>
                                <a:ea typeface="Cambria Math"/>
                              </a:rPr>
                              <m:t>(64</m:t>
                            </m:r>
                          </m:e>
                        </m:rad>
                        <m:r>
                          <a:rPr lang="en-AU" b="0" i="1" smtClean="0">
                            <a:latin typeface="Cambria Math"/>
                            <a:ea typeface="Cambria Math"/>
                          </a:rPr>
                          <m:t>+24</m:t>
                        </m:r>
                        <m:r>
                          <a:rPr lang="en-AU" i="1">
                            <a:latin typeface="Cambria Math"/>
                            <a:ea typeface="Cambria Math"/>
                          </a:rPr>
                          <m:t>)</m:t>
                        </m:r>
                      </m:num>
                      <m:den>
                        <m:r>
                          <a:rPr lang="en-AU" b="0" i="1" smtClean="0">
                            <a:latin typeface="Cambria Math"/>
                          </a:rPr>
                          <m:t>−6</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b="0" i="1" smtClean="0">
                            <a:latin typeface="Cambria Math"/>
                          </a:rPr>
                          <m:t>−8</m:t>
                        </m:r>
                        <m:r>
                          <a:rPr lang="en-AU" i="1">
                            <a:latin typeface="Cambria Math"/>
                            <a:ea typeface="Cambria Math"/>
                          </a:rPr>
                          <m:t>±</m:t>
                        </m:r>
                        <m:r>
                          <a:rPr lang="en-AU" i="1" smtClean="0">
                            <a:latin typeface="Cambria Math"/>
                            <a:ea typeface="Cambria Math"/>
                          </a:rPr>
                          <m:t>√</m:t>
                        </m:r>
                        <m:r>
                          <a:rPr lang="en-AU" b="0" i="1" smtClean="0">
                            <a:latin typeface="Cambria Math"/>
                            <a:ea typeface="Cambria Math"/>
                          </a:rPr>
                          <m:t>88</m:t>
                        </m:r>
                      </m:num>
                      <m:den>
                        <m:r>
                          <a:rPr lang="en-AU" b="0" i="1" smtClean="0">
                            <a:latin typeface="Cambria Math"/>
                          </a:rPr>
                          <m:t>−6</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smtClean="0">
                        <a:latin typeface="Cambria Math"/>
                        <a:ea typeface="Cambria Math"/>
                      </a:rPr>
                      <m:t>≈</m:t>
                    </m:r>
                    <m:f>
                      <m:fPr>
                        <m:ctrlPr>
                          <a:rPr lang="en-AU" i="1">
                            <a:latin typeface="Cambria Math"/>
                          </a:rPr>
                        </m:ctrlPr>
                      </m:fPr>
                      <m:num>
                        <m:r>
                          <a:rPr lang="en-AU" b="0" i="1" smtClean="0">
                            <a:latin typeface="Cambria Math"/>
                          </a:rPr>
                          <m:t>−8</m:t>
                        </m:r>
                        <m:r>
                          <a:rPr lang="en-AU" i="1">
                            <a:latin typeface="Cambria Math"/>
                            <a:ea typeface="Cambria Math"/>
                          </a:rPr>
                          <m:t>±</m:t>
                        </m:r>
                        <m:r>
                          <a:rPr lang="en-AU" b="0" i="1" smtClean="0">
                            <a:latin typeface="Cambria Math"/>
                            <a:ea typeface="Cambria Math"/>
                          </a:rPr>
                          <m:t>9.3808</m:t>
                        </m:r>
                      </m:num>
                      <m:den>
                        <m:r>
                          <a:rPr lang="en-AU" b="0" i="1" smtClean="0">
                            <a:latin typeface="Cambria Math"/>
                          </a:rPr>
                          <m:t>−6</m:t>
                        </m:r>
                      </m:den>
                    </m:f>
                  </m:oMath>
                </a14:m>
                <a:endParaRPr lang="en-AU" dirty="0" smtClean="0"/>
              </a:p>
              <a:p>
                <a:r>
                  <a:rPr lang="en-AU" dirty="0"/>
                  <a:t>	</a:t>
                </a:r>
                <a:r>
                  <a:rPr lang="en-AU" dirty="0" smtClean="0"/>
                  <a:t>	</a:t>
                </a:r>
                <a14:m>
                  <m:oMath xmlns:m="http://schemas.openxmlformats.org/officeDocument/2006/math">
                    <m:r>
                      <a:rPr lang="en-AU" b="0" i="1" smtClean="0">
                        <a:latin typeface="Cambria Math"/>
                      </a:rPr>
                      <m:t>𝑥</m:t>
                    </m:r>
                    <m:r>
                      <a:rPr lang="en-AU" b="0" i="1" smtClean="0">
                        <a:latin typeface="Cambria Math"/>
                        <a:ea typeface="Cambria Math"/>
                      </a:rPr>
                      <m:t>≈2.89    </m:t>
                    </m:r>
                    <m:r>
                      <a:rPr lang="en-AU" b="0" i="1" smtClean="0">
                        <a:latin typeface="Cambria Math"/>
                      </a:rPr>
                      <m:t>𝑜𝑟</m:t>
                    </m:r>
                    <m:r>
                      <a:rPr lang="en-AU" b="0" i="1" smtClean="0">
                        <a:latin typeface="Cambria Math"/>
                      </a:rPr>
                      <m:t>  −0.23  </m:t>
                    </m:r>
                    <m:r>
                      <a:rPr lang="en-AU" b="0" i="1" smtClean="0">
                        <a:latin typeface="Cambria Math"/>
                      </a:rPr>
                      <m:t>𝑡𝑜</m:t>
                    </m:r>
                    <m:r>
                      <a:rPr lang="en-AU" b="0" i="1" smtClean="0">
                        <a:latin typeface="Cambria Math"/>
                      </a:rPr>
                      <m:t> 2</m:t>
                    </m:r>
                    <m:r>
                      <a:rPr lang="en-AU" b="0" i="1" smtClean="0">
                        <a:latin typeface="Cambria Math"/>
                      </a:rPr>
                      <m:t>𝑑𝑝</m:t>
                    </m:r>
                  </m:oMath>
                </a14:m>
                <a:r>
                  <a:rPr lang="en-AU" b="0" dirty="0" smtClean="0"/>
                  <a:t/>
                </a:r>
                <a:br>
                  <a:rPr lang="en-AU" b="0" dirty="0" smtClean="0"/>
                </a:br>
                <a:endParaRPr lang="en-AU" b="0" dirty="0" smtClean="0"/>
              </a:p>
              <a:p>
                <a:r>
                  <a:rPr lang="en-AU" dirty="0" smtClean="0"/>
                  <a:t>This one has been done – approximating to 2dp!</a:t>
                </a:r>
                <a:endParaRPr lang="en-AU" dirty="0"/>
              </a:p>
            </p:txBody>
          </p:sp>
        </mc:Choice>
        <mc:Fallback>
          <p:sp>
            <p:nvSpPr>
              <p:cNvPr id="13" name="Rectangle 12"/>
              <p:cNvSpPr>
                <a:spLocks noRot="1" noChangeAspect="1" noMove="1" noResize="1" noEditPoints="1" noAdjustHandles="1" noChangeArrowheads="1" noChangeShapeType="1" noTextEdit="1"/>
              </p:cNvSpPr>
              <p:nvPr/>
            </p:nvSpPr>
            <p:spPr>
              <a:xfrm>
                <a:off x="2143724" y="1762065"/>
                <a:ext cx="6748755" cy="3736023"/>
              </a:xfrm>
              <a:prstGeom prst="rect">
                <a:avLst/>
              </a:prstGeom>
              <a:blipFill rotWithShape="1">
                <a:blip r:embed="rId2"/>
                <a:stretch>
                  <a:fillRect l="-813" t="-816" b="-1631"/>
                </a:stretch>
              </a:blipFill>
            </p:spPr>
            <p:txBody>
              <a:bodyPr/>
              <a:lstStyle/>
              <a:p>
                <a:r>
                  <a:rPr lang="en-AU">
                    <a:noFill/>
                  </a:rPr>
                  <a:t> </a:t>
                </a:r>
              </a:p>
            </p:txBody>
          </p:sp>
        </mc:Fallback>
      </mc:AlternateContent>
    </p:spTree>
    <p:extLst>
      <p:ext uri="{BB962C8B-B14F-4D97-AF65-F5344CB8AC3E}">
        <p14:creationId xmlns:p14="http://schemas.microsoft.com/office/powerpoint/2010/main" val="29653025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endParaRPr lang="en-AU" dirty="0"/>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52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1979712" y="1525100"/>
            <a:ext cx="0" cy="5332899"/>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4421339" cy="523220"/>
          </a:xfrm>
          <a:prstGeom prst="rect">
            <a:avLst/>
          </a:prstGeom>
          <a:noFill/>
        </p:spPr>
        <p:txBody>
          <a:bodyPr wrap="none" rtlCol="0">
            <a:spAutoFit/>
          </a:bodyPr>
          <a:lstStyle/>
          <a:p>
            <a:r>
              <a:rPr lang="en-AU" sz="2800" dirty="0" smtClean="0"/>
              <a:t>Solving Quadratic Equations?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 A special Formula – The Quadratic Formula! </a:t>
            </a:r>
          </a:p>
        </p:txBody>
      </p:sp>
      <p:sp>
        <p:nvSpPr>
          <p:cNvPr id="5" name="TextBox 4"/>
          <p:cNvSpPr txBox="1"/>
          <p:nvPr/>
        </p:nvSpPr>
        <p:spPr>
          <a:xfrm>
            <a:off x="119514" y="1753830"/>
            <a:ext cx="1598209" cy="646331"/>
          </a:xfrm>
          <a:prstGeom prst="rect">
            <a:avLst/>
          </a:prstGeom>
          <a:noFill/>
        </p:spPr>
        <p:txBody>
          <a:bodyPr wrap="square" rtlCol="0">
            <a:spAutoFit/>
          </a:bodyPr>
          <a:lstStyle/>
          <a:p>
            <a:r>
              <a:rPr lang="en-AU" dirty="0" smtClean="0"/>
              <a:t>Lets have another try!</a:t>
            </a:r>
            <a:endParaRPr lang="en-AU" dirty="0"/>
          </a:p>
        </p:txBody>
      </p:sp>
      <mc:AlternateContent xmlns:mc="http://schemas.openxmlformats.org/markup-compatibility/2006" xmlns:a14="http://schemas.microsoft.com/office/drawing/2010/main">
        <mc:Choice Requires="a14">
          <p:sp>
            <p:nvSpPr>
              <p:cNvPr id="13" name="Rectangle 12"/>
              <p:cNvSpPr/>
              <p:nvPr/>
            </p:nvSpPr>
            <p:spPr>
              <a:xfrm>
                <a:off x="2143724" y="1762065"/>
                <a:ext cx="6748755" cy="3302571"/>
              </a:xfrm>
              <a:prstGeom prst="rect">
                <a:avLst/>
              </a:prstGeom>
            </p:spPr>
            <p:txBody>
              <a:bodyPr wrap="square">
                <a:spAutoFit/>
              </a:bodyPr>
              <a:lstStyle/>
              <a:p>
                <a:r>
                  <a:rPr lang="en-AU" dirty="0" smtClean="0"/>
                  <a:t>Solve the equation 3</a:t>
                </a:r>
                <a:r>
                  <a:rPr lang="en-AU" i="1" dirty="0" smtClean="0"/>
                  <a:t>x</a:t>
                </a:r>
                <a:r>
                  <a:rPr lang="en-AU" baseline="30000" dirty="0" smtClean="0"/>
                  <a:t>2</a:t>
                </a:r>
                <a:r>
                  <a:rPr lang="en-AU" dirty="0" smtClean="0"/>
                  <a:t>+4</a:t>
                </a:r>
                <a:r>
                  <a:rPr lang="en-AU" i="1" dirty="0" smtClean="0"/>
                  <a:t>x</a:t>
                </a:r>
                <a:r>
                  <a:rPr lang="en-AU" dirty="0" smtClean="0"/>
                  <a:t>+6=0 </a:t>
                </a:r>
                <a:r>
                  <a:rPr lang="en-AU" dirty="0"/>
                  <a:t>by using the quadratic formula</a:t>
                </a:r>
                <a:r>
                  <a:rPr lang="en-AU" dirty="0" smtClean="0"/>
                  <a:t>:</a:t>
                </a:r>
              </a:p>
              <a:p>
                <a:r>
                  <a:rPr lang="en-AU" dirty="0" smtClean="0"/>
                  <a:t>ax</a:t>
                </a:r>
                <a:r>
                  <a:rPr lang="en-AU" baseline="30000" dirty="0" smtClean="0"/>
                  <a:t>2</a:t>
                </a:r>
                <a:r>
                  <a:rPr lang="en-AU" dirty="0" smtClean="0"/>
                  <a:t>+bx+c=0 therefor a = 3, b = 4 and c = 6</a:t>
                </a:r>
              </a:p>
              <a:p>
                <a:r>
                  <a:rPr lang="en-AU" dirty="0" smtClean="0"/>
                  <a:t>Put them into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i="1">
                            <a:latin typeface="Cambria Math"/>
                          </a:rPr>
                          <m:t>𝑏</m:t>
                        </m:r>
                        <m:r>
                          <a:rPr lang="en-AU" i="1">
                            <a:latin typeface="Cambria Math"/>
                            <a:ea typeface="Cambria Math"/>
                          </a:rPr>
                          <m:t>±</m:t>
                        </m:r>
                        <m:rad>
                          <m:radPr>
                            <m:degHide m:val="on"/>
                            <m:ctrlPr>
                              <a:rPr lang="en-AU" i="1">
                                <a:latin typeface="Cambria Math"/>
                                <a:ea typeface="Cambria Math"/>
                              </a:rPr>
                            </m:ctrlPr>
                          </m:radPr>
                          <m:deg/>
                          <m:e>
                            <m:sSup>
                              <m:sSupPr>
                                <m:ctrlPr>
                                  <a:rPr lang="en-AU" i="1">
                                    <a:latin typeface="Cambria Math"/>
                                    <a:ea typeface="Cambria Math"/>
                                  </a:rPr>
                                </m:ctrlPr>
                              </m:sSupPr>
                              <m:e>
                                <m:r>
                                  <a:rPr lang="en-AU" i="1">
                                    <a:latin typeface="Cambria Math"/>
                                    <a:ea typeface="Cambria Math"/>
                                  </a:rPr>
                                  <m:t>(</m:t>
                                </m:r>
                                <m:r>
                                  <a:rPr lang="en-AU" i="1">
                                    <a:latin typeface="Cambria Math"/>
                                    <a:ea typeface="Cambria Math"/>
                                  </a:rPr>
                                  <m:t>𝑏</m:t>
                                </m:r>
                              </m:e>
                              <m:sup>
                                <m:r>
                                  <a:rPr lang="en-AU" i="1">
                                    <a:latin typeface="Cambria Math"/>
                                    <a:ea typeface="Cambria Math"/>
                                  </a:rPr>
                                  <m:t>2</m:t>
                                </m:r>
                              </m:sup>
                            </m:sSup>
                          </m:e>
                        </m:rad>
                        <m:r>
                          <a:rPr lang="en-AU" i="1">
                            <a:latin typeface="Cambria Math"/>
                            <a:ea typeface="Cambria Math"/>
                          </a:rPr>
                          <m:t>−4</m:t>
                        </m:r>
                        <m:r>
                          <a:rPr lang="en-AU" i="1">
                            <a:latin typeface="Cambria Math"/>
                            <a:ea typeface="Cambria Math"/>
                          </a:rPr>
                          <m:t>𝑎𝑐</m:t>
                        </m:r>
                        <m:r>
                          <a:rPr lang="en-AU" i="1">
                            <a:latin typeface="Cambria Math"/>
                            <a:ea typeface="Cambria Math"/>
                          </a:rPr>
                          <m:t>)</m:t>
                        </m:r>
                      </m:num>
                      <m:den>
                        <m:r>
                          <a:rPr lang="en-AU" i="1">
                            <a:latin typeface="Cambria Math"/>
                          </a:rPr>
                          <m:t>2</m:t>
                        </m:r>
                        <m:r>
                          <a:rPr lang="en-AU" i="1">
                            <a:latin typeface="Cambria Math"/>
                          </a:rPr>
                          <m:t>𝑎</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i="1">
                            <a:latin typeface="Cambria Math"/>
                          </a:rPr>
                          <m:t>−</m:t>
                        </m:r>
                        <m:r>
                          <a:rPr lang="en-AU" b="0" i="1" smtClean="0">
                            <a:latin typeface="Cambria Math"/>
                          </a:rPr>
                          <m:t>4</m:t>
                        </m:r>
                        <m:r>
                          <a:rPr lang="en-AU" i="1">
                            <a:latin typeface="Cambria Math"/>
                            <a:ea typeface="Cambria Math"/>
                          </a:rPr>
                          <m:t>±</m:t>
                        </m:r>
                        <m:rad>
                          <m:radPr>
                            <m:degHide m:val="on"/>
                            <m:ctrlPr>
                              <a:rPr lang="en-AU" i="1">
                                <a:latin typeface="Cambria Math"/>
                                <a:ea typeface="Cambria Math"/>
                              </a:rPr>
                            </m:ctrlPr>
                          </m:radPr>
                          <m:deg/>
                          <m:e>
                            <m:sSup>
                              <m:sSupPr>
                                <m:ctrlPr>
                                  <a:rPr lang="en-AU" i="1">
                                    <a:latin typeface="Cambria Math"/>
                                    <a:ea typeface="Cambria Math"/>
                                  </a:rPr>
                                </m:ctrlPr>
                              </m:sSupPr>
                              <m:e>
                                <m:r>
                                  <a:rPr lang="en-AU" i="1">
                                    <a:latin typeface="Cambria Math"/>
                                    <a:ea typeface="Cambria Math"/>
                                  </a:rPr>
                                  <m:t>(</m:t>
                                </m:r>
                                <m:r>
                                  <a:rPr lang="en-AU" b="0" i="1" smtClean="0">
                                    <a:latin typeface="Cambria Math"/>
                                    <a:ea typeface="Cambria Math"/>
                                  </a:rPr>
                                  <m:t>4</m:t>
                                </m:r>
                              </m:e>
                              <m:sup>
                                <m:r>
                                  <a:rPr lang="en-AU" i="1">
                                    <a:latin typeface="Cambria Math"/>
                                    <a:ea typeface="Cambria Math"/>
                                  </a:rPr>
                                  <m:t>2</m:t>
                                </m:r>
                              </m:sup>
                            </m:sSup>
                          </m:e>
                        </m:rad>
                        <m:r>
                          <a:rPr lang="en-AU" i="1">
                            <a:latin typeface="Cambria Math"/>
                            <a:ea typeface="Cambria Math"/>
                          </a:rPr>
                          <m:t>−4</m:t>
                        </m:r>
                        <m:r>
                          <a:rPr lang="en-AU" i="1" smtClean="0">
                            <a:latin typeface="Cambria Math"/>
                            <a:ea typeface="Cambria Math"/>
                          </a:rPr>
                          <m:t>×</m:t>
                        </m:r>
                        <m:r>
                          <a:rPr lang="en-AU" b="0" i="1" smtClean="0">
                            <a:latin typeface="Cambria Math"/>
                            <a:ea typeface="Cambria Math"/>
                          </a:rPr>
                          <m:t>3×6</m:t>
                        </m:r>
                        <m:r>
                          <a:rPr lang="en-AU" i="1">
                            <a:latin typeface="Cambria Math"/>
                            <a:ea typeface="Cambria Math"/>
                          </a:rPr>
                          <m:t>)</m:t>
                        </m:r>
                      </m:num>
                      <m:den>
                        <m:r>
                          <a:rPr lang="en-AU" i="1">
                            <a:latin typeface="Cambria Math"/>
                          </a:rPr>
                          <m:t>2</m:t>
                        </m:r>
                        <m:r>
                          <a:rPr lang="en-AU" i="1" smtClean="0">
                            <a:latin typeface="Cambria Math"/>
                            <a:ea typeface="Cambria Math"/>
                          </a:rPr>
                          <m:t>×</m:t>
                        </m:r>
                        <m:r>
                          <a:rPr lang="en-AU" b="0" i="1" smtClean="0">
                            <a:latin typeface="Cambria Math"/>
                            <a:ea typeface="Cambria Math"/>
                          </a:rPr>
                          <m:t>3</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b="0" i="1" smtClean="0">
                            <a:latin typeface="Cambria Math"/>
                          </a:rPr>
                          <m:t>4</m:t>
                        </m:r>
                        <m:r>
                          <a:rPr lang="en-AU" i="1">
                            <a:latin typeface="Cambria Math"/>
                            <a:ea typeface="Cambria Math"/>
                          </a:rPr>
                          <m:t>±</m:t>
                        </m:r>
                        <m:rad>
                          <m:radPr>
                            <m:degHide m:val="on"/>
                            <m:ctrlPr>
                              <a:rPr lang="en-AU" i="1">
                                <a:latin typeface="Cambria Math"/>
                                <a:ea typeface="Cambria Math"/>
                              </a:rPr>
                            </m:ctrlPr>
                          </m:radPr>
                          <m:deg/>
                          <m:e>
                            <m:r>
                              <a:rPr lang="en-AU" b="0" i="1" smtClean="0">
                                <a:latin typeface="Cambria Math"/>
                                <a:ea typeface="Cambria Math"/>
                              </a:rPr>
                              <m:t>(16</m:t>
                            </m:r>
                          </m:e>
                        </m:rad>
                        <m:r>
                          <a:rPr lang="en-AU" b="0" i="1" smtClean="0">
                            <a:latin typeface="Cambria Math"/>
                            <a:ea typeface="Cambria Math"/>
                          </a:rPr>
                          <m:t>−72</m:t>
                        </m:r>
                        <m:r>
                          <a:rPr lang="en-AU" i="1">
                            <a:latin typeface="Cambria Math"/>
                            <a:ea typeface="Cambria Math"/>
                          </a:rPr>
                          <m:t>)</m:t>
                        </m:r>
                      </m:num>
                      <m:den>
                        <m:r>
                          <a:rPr lang="en-AU" b="0" i="1" smtClean="0">
                            <a:latin typeface="Cambria Math"/>
                          </a:rPr>
                          <m:t>6</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i="1">
                        <a:latin typeface="Cambria Math"/>
                      </a:rPr>
                      <m:t>=</m:t>
                    </m:r>
                    <m:f>
                      <m:fPr>
                        <m:ctrlPr>
                          <a:rPr lang="en-AU" i="1">
                            <a:latin typeface="Cambria Math"/>
                          </a:rPr>
                        </m:ctrlPr>
                      </m:fPr>
                      <m:num>
                        <m:r>
                          <a:rPr lang="en-AU" b="0" i="1" smtClean="0">
                            <a:latin typeface="Cambria Math"/>
                          </a:rPr>
                          <m:t>4</m:t>
                        </m:r>
                        <m:r>
                          <a:rPr lang="en-AU" i="1">
                            <a:latin typeface="Cambria Math"/>
                            <a:ea typeface="Cambria Math"/>
                          </a:rPr>
                          <m:t>±</m:t>
                        </m:r>
                        <m:r>
                          <a:rPr lang="en-AU" i="1" smtClean="0">
                            <a:latin typeface="Cambria Math"/>
                            <a:ea typeface="Cambria Math"/>
                          </a:rPr>
                          <m:t>√</m:t>
                        </m:r>
                        <m:r>
                          <a:rPr lang="en-AU" b="0" i="1" smtClean="0">
                            <a:latin typeface="Cambria Math"/>
                            <a:ea typeface="Cambria Math"/>
                          </a:rPr>
                          <m:t>(−56)</m:t>
                        </m:r>
                      </m:num>
                      <m:den>
                        <m:r>
                          <a:rPr lang="en-AU" b="0" i="1" smtClean="0">
                            <a:latin typeface="Cambria Math"/>
                          </a:rPr>
                          <m:t>6</m:t>
                        </m:r>
                      </m:den>
                    </m:f>
                  </m:oMath>
                </a14:m>
                <a:endParaRPr lang="en-AU" dirty="0" smtClean="0"/>
              </a:p>
              <a:p>
                <a:r>
                  <a:rPr lang="en-AU" dirty="0"/>
                  <a:t>	</a:t>
                </a:r>
                <a:r>
                  <a:rPr lang="en-AU" dirty="0" smtClean="0"/>
                  <a:t>	</a:t>
                </a:r>
                <a:r>
                  <a:rPr lang="en-AU" dirty="0"/>
                  <a:t> </a:t>
                </a:r>
                <a14:m>
                  <m:oMath xmlns:m="http://schemas.openxmlformats.org/officeDocument/2006/math">
                    <m:r>
                      <a:rPr lang="en-AU" i="1">
                        <a:latin typeface="Cambria Math"/>
                      </a:rPr>
                      <m:t>𝑥</m:t>
                    </m:r>
                    <m:r>
                      <a:rPr lang="en-AU" b="0" i="1" smtClean="0">
                        <a:latin typeface="Cambria Math"/>
                        <a:ea typeface="Cambria Math"/>
                      </a:rPr>
                      <m:t>=</m:t>
                    </m:r>
                    <m:d>
                      <m:dPr>
                        <m:begChr m:val="{"/>
                        <m:endChr m:val="}"/>
                        <m:ctrlPr>
                          <a:rPr lang="en-AU" b="0" i="1" smtClean="0">
                            <a:latin typeface="Cambria Math"/>
                            <a:ea typeface="Cambria Math"/>
                          </a:rPr>
                        </m:ctrlPr>
                      </m:dPr>
                      <m:e>
                        <m:r>
                          <a:rPr lang="en-AU" b="0" i="1" smtClean="0">
                            <a:latin typeface="Cambria Math"/>
                            <a:ea typeface="Cambria Math"/>
                          </a:rPr>
                          <m:t>  </m:t>
                        </m:r>
                      </m:e>
                    </m:d>
                  </m:oMath>
                </a14:m>
                <a:r>
                  <a:rPr lang="en-AU" dirty="0" smtClean="0"/>
                  <a:t>  undefined</a:t>
                </a:r>
              </a:p>
              <a:p>
                <a:r>
                  <a:rPr lang="en-AU" dirty="0"/>
                  <a:t>	</a:t>
                </a:r>
                <a:r>
                  <a:rPr lang="en-AU" dirty="0" smtClean="0"/>
                  <a:t>	</a:t>
                </a:r>
                <a:endParaRPr lang="en-AU" b="0" dirty="0" smtClean="0"/>
              </a:p>
              <a:p>
                <a:r>
                  <a:rPr lang="en-AU" dirty="0" smtClean="0"/>
                  <a:t>This one has been can’t be done.</a:t>
                </a:r>
                <a:endParaRPr lang="en-AU" dirty="0"/>
              </a:p>
            </p:txBody>
          </p:sp>
        </mc:Choice>
        <mc:Fallback xmlns="">
          <p:sp>
            <p:nvSpPr>
              <p:cNvPr id="13" name="Rectangle 12"/>
              <p:cNvSpPr>
                <a:spLocks noRot="1" noChangeAspect="1" noMove="1" noResize="1" noEditPoints="1" noAdjustHandles="1" noChangeArrowheads="1" noChangeShapeType="1" noTextEdit="1"/>
              </p:cNvSpPr>
              <p:nvPr/>
            </p:nvSpPr>
            <p:spPr>
              <a:xfrm>
                <a:off x="2143724" y="1762065"/>
                <a:ext cx="6748755" cy="3302571"/>
              </a:xfrm>
              <a:prstGeom prst="rect">
                <a:avLst/>
              </a:prstGeom>
              <a:blipFill rotWithShape="1">
                <a:blip r:embed="rId2"/>
                <a:stretch>
                  <a:fillRect l="-813" t="-923" b="-2030"/>
                </a:stretch>
              </a:blipFill>
            </p:spPr>
            <p:txBody>
              <a:bodyPr/>
              <a:lstStyle/>
              <a:p>
                <a:r>
                  <a:rPr lang="en-AU">
                    <a:noFill/>
                  </a:rPr>
                  <a:t> </a:t>
                </a:r>
              </a:p>
            </p:txBody>
          </p:sp>
        </mc:Fallback>
      </mc:AlternateContent>
      <p:sp>
        <p:nvSpPr>
          <p:cNvPr id="3" name="TextBox 2"/>
          <p:cNvSpPr txBox="1"/>
          <p:nvPr/>
        </p:nvSpPr>
        <p:spPr>
          <a:xfrm>
            <a:off x="6623868" y="2708920"/>
            <a:ext cx="2304255" cy="1477328"/>
          </a:xfrm>
          <a:prstGeom prst="rect">
            <a:avLst/>
          </a:prstGeom>
          <a:noFill/>
          <a:ln w="38100">
            <a:solidFill>
              <a:srgbClr val="FF0000"/>
            </a:solidFill>
          </a:ln>
        </p:spPr>
        <p:txBody>
          <a:bodyPr wrap="square" rtlCol="0">
            <a:spAutoFit/>
          </a:bodyPr>
          <a:lstStyle/>
          <a:p>
            <a:r>
              <a:rPr lang="en-AU" dirty="0" smtClean="0"/>
              <a:t>We can’t find the square root of a negative number so this equation can’t be solved.</a:t>
            </a:r>
            <a:endParaRPr lang="en-AU" dirty="0"/>
          </a:p>
        </p:txBody>
      </p:sp>
      <p:cxnSp>
        <p:nvCxnSpPr>
          <p:cNvPr id="14" name="Straight Arrow Connector 13"/>
          <p:cNvCxnSpPr/>
          <p:nvPr/>
        </p:nvCxnSpPr>
        <p:spPr>
          <a:xfrm flipH="1">
            <a:off x="5518101" y="3717032"/>
            <a:ext cx="1105767" cy="14401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4741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11560" y="764704"/>
            <a:ext cx="7632848" cy="4536504"/>
          </a:xfrm>
        </p:spPr>
        <p:txBody>
          <a:bodyPr>
            <a:normAutofit/>
          </a:bodyPr>
          <a:lstStyle/>
          <a:p>
            <a:r>
              <a:rPr lang="en-AU" b="1" dirty="0" smtClean="0">
                <a:solidFill>
                  <a:schemeClr val="tx1"/>
                </a:solidFill>
              </a:rPr>
              <a:t>Exercises</a:t>
            </a:r>
          </a:p>
          <a:p>
            <a:r>
              <a:rPr lang="en-AU" b="1" dirty="0" smtClean="0">
                <a:solidFill>
                  <a:schemeClr val="tx1"/>
                </a:solidFill>
              </a:rPr>
              <a:t>Exercises 7.6 &amp; </a:t>
            </a:r>
            <a:r>
              <a:rPr lang="en-AU" b="1" dirty="0" smtClean="0">
                <a:solidFill>
                  <a:schemeClr val="tx1"/>
                </a:solidFill>
              </a:rPr>
              <a:t>7.7 </a:t>
            </a:r>
            <a:r>
              <a:rPr lang="en-AU" b="1" dirty="0" smtClean="0">
                <a:solidFill>
                  <a:schemeClr val="tx1"/>
                </a:solidFill>
              </a:rPr>
              <a:t>from Dwyer</a:t>
            </a:r>
          </a:p>
          <a:p>
            <a:endParaRPr lang="en-AU" b="1" dirty="0" smtClean="0">
              <a:solidFill>
                <a:schemeClr val="tx1"/>
              </a:solidFill>
            </a:endParaRPr>
          </a:p>
          <a:p>
            <a:endParaRPr lang="en-AU" b="1" dirty="0">
              <a:solidFill>
                <a:schemeClr val="tx1"/>
              </a:solidFill>
            </a:endParaRPr>
          </a:p>
          <a:p>
            <a:r>
              <a:rPr lang="en-AU" b="1" dirty="0" smtClean="0">
                <a:solidFill>
                  <a:schemeClr val="tx2"/>
                </a:solidFill>
              </a:rPr>
              <a:t>All to be done with a smile on your faces.</a:t>
            </a:r>
            <a:endParaRPr lang="en-AU" b="1" dirty="0">
              <a:solidFill>
                <a:schemeClr val="tx2"/>
              </a:solidFill>
            </a:endParaRPr>
          </a:p>
        </p:txBody>
      </p:sp>
    </p:spTree>
    <p:extLst>
      <p:ext uri="{BB962C8B-B14F-4D97-AF65-F5344CB8AC3E}">
        <p14:creationId xmlns:p14="http://schemas.microsoft.com/office/powerpoint/2010/main" val="19333096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1244</TotalTime>
  <Words>266</Words>
  <Application>Microsoft Office PowerPoint</Application>
  <PresentationFormat>On-screen Show (4:3)</PresentationFormat>
  <Paragraphs>115</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My Algebra – Solving Equations 2 Interactive Notebook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MCALLISTER Robert</cp:lastModifiedBy>
  <cp:revision>99</cp:revision>
  <dcterms:created xsi:type="dcterms:W3CDTF">2014-05-14T02:58:57Z</dcterms:created>
  <dcterms:modified xsi:type="dcterms:W3CDTF">2016-06-14T04:48:34Z</dcterms:modified>
</cp:coreProperties>
</file>
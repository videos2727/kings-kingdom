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0" r:id="rId2"/>
    <p:sldId id="259" r:id="rId3"/>
    <p:sldId id="258" r:id="rId4"/>
    <p:sldId id="303" r:id="rId5"/>
    <p:sldId id="330" r:id="rId6"/>
    <p:sldId id="331" r:id="rId7"/>
    <p:sldId id="332" r:id="rId8"/>
    <p:sldId id="333" r:id="rId9"/>
    <p:sldId id="334" r:id="rId10"/>
    <p:sldId id="329" r:id="rId11"/>
    <p:sldId id="292" r:id="rId12"/>
    <p:sldId id="291" r:id="rId13"/>
  </p:sldIdLst>
  <p:sldSz cx="9144000" cy="6858000" type="screen4x3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2895" autoAdjust="0"/>
  </p:normalViewPr>
  <p:slideViewPr>
    <p:cSldViewPr>
      <p:cViewPr>
        <p:scale>
          <a:sx n="75" d="100"/>
          <a:sy n="75" d="100"/>
        </p:scale>
        <p:origin x="-804" y="-42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10/06/2016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10/06/2016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10/06/2016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10/06/2016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10/06/2016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10/06/2016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10/06/2016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10/06/2016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10/06/2016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10/06/2016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10/06/2016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10/06/2016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10/06/2016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/>
              <a:t>My Algebra </a:t>
            </a:r>
            <a:r>
              <a:rPr lang="en-AU" dirty="0" smtClean="0"/>
              <a:t>– Solving Equations 2 </a:t>
            </a:r>
            <a:r>
              <a:rPr lang="en-AU" dirty="0"/>
              <a:t>Interactive </a:t>
            </a:r>
            <a:r>
              <a:rPr lang="en-AU" dirty="0" smtClean="0"/>
              <a:t>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2 Semester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11560" y="1354967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560" y="1354967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1354967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1354967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6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52510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979712" y="1525100"/>
            <a:ext cx="0" cy="533289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075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Solving Equations?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</a:t>
            </a:r>
            <a:r>
              <a:rPr lang="en-AU" sz="2400" dirty="0" smtClean="0"/>
              <a:t>does “= 0” help? 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19514" y="1753830"/>
            <a:ext cx="1598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Lets make our equation = 0!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148559" y="1628800"/>
                <a:ext cx="6775188" cy="45243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𝑆𝑜𝑙𝑣𝑒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𝑓𝑜𝑟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−3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−10=0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𝑓𝑎𝑐𝑡𝑜𝑟𝑖𝑠𝑒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𝑓𝑖𝑟𝑠𝑡</m:t>
                      </m:r>
                    </m:oMath>
                    <m:oMath xmlns:m="http://schemas.openxmlformats.org/officeDocument/2006/math"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−5</m:t>
                          </m:r>
                        </m:e>
                      </m:d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+2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𝑇h𝑖𝑠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𝑚𝑒𝑎𝑛𝑠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𝑒𝑖𝑡h𝑒𝑟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−5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𝑜𝑟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𝑡h𝑒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𝑜𝑡h𝑒𝑟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𝑜𝑛𝑒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+2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𝑎𝑟𝑒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𝑒𝑞𝑢𝑎𝑙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𝑡𝑜</m:t>
                      </m:r>
                      <m:r>
                        <a:rPr lang="en-AU" b="0" i="1" smtClean="0">
                          <a:latin typeface="Cambria Math"/>
                        </a:rPr>
                        <m:t> 0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𝑏𝑒𝑐𝑎𝑢𝑠𝑒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𝑤𝑒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𝑘𝑛𝑜𝑤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𝑡h𝑎𝑡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𝑎𝑛𝑦𝑡h𝑖𝑛𝑔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𝑚𝑢𝑙𝑡𝑖𝑝𝑙𝑖𝑒𝑑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𝑏𝑦</m:t>
                      </m:r>
                      <m:r>
                        <a:rPr lang="en-AU" b="0" i="1" smtClean="0">
                          <a:latin typeface="Cambria Math"/>
                        </a:rPr>
                        <m:t> 0 </m:t>
                      </m:r>
                      <m:r>
                        <a:rPr lang="en-AU" b="0" i="1" smtClean="0">
                          <a:latin typeface="Cambria Math"/>
                        </a:rPr>
                        <m:t>𝑤𝑖𝑙𝑙</m:t>
                      </m:r>
                      <m:r>
                        <a:rPr lang="en-AU" b="0" i="1" smtClean="0">
                          <a:latin typeface="Cambria Math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sym typeface="Symbol"/>
                        </a:rPr>
                        <m:t>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−5=0           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𝑜𝑟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     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+2=0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sym typeface="Symbol"/>
                        </a:rPr>
                        <m:t>𝑡h𝑖𝑠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𝑔𝑖𝑣𝑒𝑠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sym typeface="Symbol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=5   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𝑜𝑟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 −2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sym typeface="Symbol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=5,−2</m:t>
                      </m:r>
                    </m:oMath>
                  </m:oMathPara>
                </a14:m>
                <a:endParaRPr lang="en-AU" b="0" dirty="0" smtClean="0">
                  <a:sym typeface="Symbol"/>
                </a:endParaRPr>
              </a:p>
              <a:p>
                <a:pPr/>
                <a:r>
                  <a:rPr lang="en-AU" b="0" dirty="0" smtClean="0">
                    <a:sym typeface="Symbol"/>
                  </a:rPr>
                  <a:t/>
                </a:r>
                <a:br>
                  <a:rPr lang="en-AU" b="0" dirty="0" smtClean="0">
                    <a:sym typeface="Symbol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/>
                              <a:sym typeface="Symbol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/>
                                  <a:sym typeface="Symbol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/>
                                  <a:sym typeface="Symbol"/>
                                </a:rPr>
                                <m:t>5</m:t>
                              </m:r>
                            </m:e>
                          </m:d>
                        </m:e>
                        <m:sup>
                          <m:r>
                            <a:rPr lang="en-AU" b="0" i="1" smtClean="0">
                              <a:latin typeface="Cambria Math"/>
                              <a:sym typeface="Symbol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  <a:sym typeface="Symbol"/>
                        </a:rPr>
                        <m:t>−3∗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  <a:sym typeface="Symbol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  <a:sym typeface="Symbol"/>
                            </a:rPr>
                            <m:t>5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  <a:sym typeface="Symbol"/>
                        </a:rPr>
                        <m:t>−10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sym typeface="Symbol"/>
                        </a:rPr>
                        <m:t>25−15−10=0    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𝑇𝑟𝑢𝑒</m:t>
                      </m:r>
                    </m:oMath>
                  </m:oMathPara>
                </a14:m>
                <a:r>
                  <a:rPr lang="en-AU" b="0" dirty="0" smtClean="0">
                    <a:sym typeface="Symbol"/>
                  </a:rPr>
                  <a:t/>
                </a:r>
                <a:br>
                  <a:rPr lang="en-AU" b="0" dirty="0" smtClean="0">
                    <a:sym typeface="Symbol"/>
                  </a:rPr>
                </a:br>
                <a:r>
                  <a:rPr lang="en-AU" b="0" dirty="0" smtClean="0">
                    <a:sym typeface="Symbol"/>
                  </a:rPr>
                  <a:t/>
                </a:r>
                <a:br>
                  <a:rPr lang="en-AU" b="0" dirty="0" smtClean="0">
                    <a:sym typeface="Symbol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/>
                              <a:sym typeface="Symbol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AU" b="0" i="1" smtClean="0">
                                  <a:latin typeface="Cambria Math"/>
                                  <a:sym typeface="Symbol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/>
                                  <a:sym typeface="Symbol"/>
                                </a:rPr>
                                <m:t>−2</m:t>
                              </m:r>
                            </m:e>
                          </m:d>
                        </m:e>
                        <m:sup>
                          <m:r>
                            <a:rPr lang="en-AU" b="0" i="1" smtClean="0">
                              <a:latin typeface="Cambria Math"/>
                              <a:sym typeface="Symbol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  <a:sym typeface="Symbol"/>
                        </a:rPr>
                        <m:t>+7∗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  <a:sym typeface="Symbol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  <a:sym typeface="Symbol"/>
                            </a:rPr>
                            <m:t>−2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  <a:sym typeface="Symbol"/>
                        </a:rPr>
                        <m:t>+10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sym typeface="Symbol"/>
                        </a:rPr>
                        <m:t>4−14+10=0       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𝑇𝑟𝑢𝑒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8559" y="1628800"/>
                <a:ext cx="6775188" cy="4524315"/>
              </a:xfrm>
              <a:prstGeom prst="rect">
                <a:avLst/>
              </a:prstGeom>
              <a:blipFill rotWithShape="1">
                <a:blip r:embed="rId2"/>
                <a:stretch>
                  <a:fillRect l="-18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ular Callout 12"/>
          <p:cNvSpPr/>
          <p:nvPr/>
        </p:nvSpPr>
        <p:spPr>
          <a:xfrm>
            <a:off x="5292080" y="1628800"/>
            <a:ext cx="3096344" cy="612648"/>
          </a:xfrm>
          <a:prstGeom prst="wedgeRectCallout">
            <a:avLst>
              <a:gd name="adj1" fmla="val -103365"/>
              <a:gd name="adj2" fmla="val 95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dirty="0" smtClean="0">
                <a:solidFill>
                  <a:schemeClr val="tx1"/>
                </a:solidFill>
              </a:rPr>
              <a:t>We must have either of these two brackets equalling zero</a:t>
            </a:r>
            <a:endParaRPr lang="en-AU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52510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979712" y="1525100"/>
            <a:ext cx="0" cy="533289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4213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Solving Quadratic Equations?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</a:t>
            </a:r>
            <a:r>
              <a:rPr lang="en-AU" sz="2400" dirty="0" smtClean="0"/>
              <a:t>does “= 0” help? 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19514" y="1753830"/>
            <a:ext cx="1598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Lets make our equation = 0!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2148559" y="1561465"/>
                <a:ext cx="6903428" cy="49610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𝑆𝑜𝑙𝑣𝑒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𝑓𝑜𝑟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+9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−5=0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𝑓𝑎𝑐𝑡𝑜𝑟𝑖𝑠𝑒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𝑓𝑖𝑟𝑠𝑡</m:t>
                      </m:r>
                    </m:oMath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AU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2</m:t>
                              </m:r>
                              <m:r>
                                <a:rPr lang="en-AU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AU" i="1">
                                  <a:latin typeface="Cambria Math"/>
                                </a:rPr>
                                <m:t>+10</m:t>
                              </m:r>
                            </m:e>
                          </m:d>
                          <m:d>
                            <m:dPr>
                              <m:ctrlPr>
                                <a:rPr lang="en-AU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2</m:t>
                              </m:r>
                              <m:r>
                                <a:rPr lang="en-AU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AU" i="1">
                                  <a:latin typeface="Cambria Math"/>
                                </a:rPr>
                                <m:t>−1</m:t>
                              </m:r>
                            </m:e>
                          </m:d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AU" b="0" i="1" dirty="0" smtClean="0">
                  <a:latin typeface="Cambria Math"/>
                </a:endParaRPr>
              </a:p>
              <a:p>
                <a:endParaRPr lang="en-AU" b="0" i="1" dirty="0" smtClean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b="0" i="1" strike="sngStrike" smtClean="0">
                              <a:latin typeface="Cambria Math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(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+5)(2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−1)</m:t>
                          </m:r>
                        </m:num>
                        <m:den>
                          <m:r>
                            <a:rPr lang="en-AU" b="0" i="1" strike="sngStrike" smtClean="0"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AU" b="0" i="1" dirty="0" smtClean="0">
                  <a:latin typeface="Cambria Math"/>
                </a:endParaRPr>
              </a:p>
              <a:p>
                <a:endParaRPr lang="en-AU" b="0" i="1" dirty="0" smtClean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+5</m:t>
                          </m:r>
                        </m:e>
                      </m:d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𝑇h𝑖𝑠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𝑚𝑒𝑎𝑛𝑠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𝑒𝑖𝑡h𝑒𝑟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+5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𝑜𝑟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𝑡h𝑒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𝑜𝑡h𝑒𝑟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𝑜𝑛𝑒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−1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𝑎𝑟𝑒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𝑒𝑞𝑢𝑎𝑙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𝑡𝑜</m:t>
                      </m:r>
                      <m:r>
                        <a:rPr lang="en-AU" b="0" i="1" smtClean="0">
                          <a:latin typeface="Cambria Math"/>
                        </a:rPr>
                        <m:t> 0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𝑏𝑒𝑐𝑎𝑢𝑠𝑒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𝑤𝑒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𝑘𝑛𝑜𝑤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𝑡h𝑎𝑡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𝑎𝑛𝑦𝑡h𝑖𝑛𝑔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𝑚𝑢𝑙𝑡𝑖𝑝𝑙𝑖𝑒𝑑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𝑏𝑦</m:t>
                      </m:r>
                      <m:r>
                        <a:rPr lang="en-AU" b="0" i="1" smtClean="0">
                          <a:latin typeface="Cambria Math"/>
                        </a:rPr>
                        <m:t> 0 </m:t>
                      </m:r>
                      <m:r>
                        <a:rPr lang="en-AU" b="0" i="1" smtClean="0">
                          <a:latin typeface="Cambria Math"/>
                        </a:rPr>
                        <m:t>𝑤𝑖𝑙𝑙</m:t>
                      </m:r>
                      <m:r>
                        <a:rPr lang="en-AU" b="0" i="1" smtClean="0">
                          <a:latin typeface="Cambria Math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sym typeface="Symbol"/>
                        </a:rPr>
                        <m:t>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+5=0           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𝑜𝑟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      2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−1=0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sym typeface="Symbol"/>
                        </a:rPr>
                        <m:t>𝑡h𝑖𝑠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𝑔𝑖𝑣𝑒𝑠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sym typeface="Symbol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=−5   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𝑜𝑟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  <a:sym typeface="Symbol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  <a:sym typeface="Symbol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  <a:sym typeface="Symbol"/>
                            </a:rPr>
                            <m:t>2</m:t>
                          </m:r>
                        </m:den>
                      </m:f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sym typeface="Symbol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=−5, 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  <a:sym typeface="Symbol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  <a:sym typeface="Symbol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  <a:sym typeface="Symbol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b="0" dirty="0" smtClean="0">
                  <a:sym typeface="Symbol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8559" y="1561465"/>
                <a:ext cx="6903428" cy="4961038"/>
              </a:xfrm>
              <a:prstGeom prst="rect">
                <a:avLst/>
              </a:prstGeom>
              <a:blipFill rotWithShape="1">
                <a:blip r:embed="rId2"/>
                <a:stretch>
                  <a:fillRect l="-17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716016" y="1561465"/>
                <a:ext cx="4307335" cy="923330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/>
                      </a:rPr>
                      <m:t>2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b="0" i="1" smtClean="0">
                        <a:latin typeface="Cambria Math"/>
                      </a:rPr>
                      <m:t>−5=−10</m:t>
                    </m:r>
                  </m:oMath>
                </a14:m>
                <a:r>
                  <a:rPr lang="en-AU" dirty="0" smtClean="0"/>
                  <a:t> therefore we are looking for two numbers that multiply to give -10 and have a difference of 9 → 10 and -1.</a:t>
                </a: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16016" y="1561465"/>
                <a:ext cx="4307335" cy="923330"/>
              </a:xfrm>
              <a:prstGeom prst="rect">
                <a:avLst/>
              </a:prstGeom>
              <a:blipFill rotWithShape="1">
                <a:blip r:embed="rId3"/>
                <a:stretch>
                  <a:fillRect l="-1130" t="-2597" r="-989" b="-8442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/>
          <p:nvPr/>
        </p:nvCxnSpPr>
        <p:spPr>
          <a:xfrm flipH="1">
            <a:off x="2339752" y="1561465"/>
            <a:ext cx="2376264" cy="35536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 flipH="1">
            <a:off x="3527884" y="1561465"/>
            <a:ext cx="1188132" cy="35536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2984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52510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979712" y="1525100"/>
            <a:ext cx="0" cy="533289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44213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Solving Quadratic Equations?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</a:t>
            </a:r>
            <a:r>
              <a:rPr lang="en-AU" sz="2400" dirty="0" smtClean="0"/>
              <a:t>does “= 0” help? </a:t>
            </a:r>
            <a:endParaRPr lang="en-AU" sz="2400" dirty="0"/>
          </a:p>
        </p:txBody>
      </p:sp>
      <p:sp>
        <p:nvSpPr>
          <p:cNvPr id="5" name="TextBox 4"/>
          <p:cNvSpPr txBox="1"/>
          <p:nvPr/>
        </p:nvSpPr>
        <p:spPr>
          <a:xfrm>
            <a:off x="119514" y="1753830"/>
            <a:ext cx="15982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Lets make our equation = 0!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2148559" y="1561465"/>
                <a:ext cx="7031669" cy="497456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𝑆𝑜𝑙𝑣𝑒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𝑓𝑜𝑟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</m:oMath>
                    <m:oMath xmlns:m="http://schemas.openxmlformats.org/officeDocument/2006/math">
                      <m:sSup>
                        <m:sSup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AU" b="0" i="1" smtClean="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AU" b="0" i="1" smtClean="0">
                          <a:latin typeface="Cambria Math"/>
                        </a:rPr>
                        <m:t>−5</m:t>
                      </m:r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</a:rPr>
                        <m:t>−2=0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𝑓𝑎𝑐𝑡𝑜𝑟𝑖𝑠𝑒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𝑓𝑖𝑟𝑠𝑡</m:t>
                      </m:r>
                    </m:oMath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AU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3</m:t>
                              </m:r>
                              <m:r>
                                <a:rPr lang="en-AU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AU" i="1">
                                  <a:latin typeface="Cambria Math"/>
                                </a:rPr>
                                <m:t>+1</m:t>
                              </m:r>
                            </m:e>
                          </m:d>
                          <m:d>
                            <m:dPr>
                              <m:ctrlPr>
                                <a:rPr lang="en-AU" i="1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3</m:t>
                              </m:r>
                              <m:r>
                                <a:rPr lang="en-AU" i="1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AU" i="1">
                                  <a:latin typeface="Cambria Math"/>
                                </a:rPr>
                                <m:t>−2</m:t>
                              </m:r>
                            </m:e>
                          </m:d>
                        </m:num>
                        <m:den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AU" b="0" i="1" dirty="0" smtClean="0">
                  <a:latin typeface="Cambria Math"/>
                </a:endParaRPr>
              </a:p>
              <a:p>
                <a:endParaRPr lang="en-AU" b="0" i="1" dirty="0" smtClean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3</m:t>
                              </m:r>
                              <m:r>
                                <a:rPr lang="en-AU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AU" b="0" i="1" smtClean="0">
                                  <a:latin typeface="Cambria Math"/>
                                </a:rPr>
                                <m:t>+1</m:t>
                              </m:r>
                            </m:e>
                          </m:d>
                          <m:d>
                            <m:dPr>
                              <m:ctrlPr>
                                <a:rPr lang="en-AU" b="0" i="1" smtClean="0"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AU" b="0" i="1" smtClean="0">
                                  <a:latin typeface="Cambria Math"/>
                                </a:rPr>
                                <m:t>𝑥</m:t>
                              </m:r>
                              <m:r>
                                <a:rPr lang="en-AU" b="0" i="1" smtClean="0">
                                  <a:latin typeface="Cambria Math"/>
                                </a:rPr>
                                <m:t>−2</m:t>
                              </m:r>
                            </m:e>
                          </m:d>
                          <m:r>
                            <a:rPr lang="en-AU" b="0" i="1" strike="sngStrike" smtClean="0"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b="0" i="1" strike="sngStrike" smtClean="0">
                              <a:latin typeface="Cambria Math"/>
                            </a:rPr>
                            <m:t>3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</a:rPr>
                        <m:t>=0</m:t>
                      </m:r>
                    </m:oMath>
                  </m:oMathPara>
                </a14:m>
                <a:endParaRPr lang="en-AU" b="0" i="1" dirty="0" smtClean="0">
                  <a:latin typeface="Cambria Math"/>
                </a:endParaRPr>
              </a:p>
              <a:p>
                <a:endParaRPr lang="en-AU" b="0" i="1" dirty="0" smtClean="0">
                  <a:latin typeface="Cambria Math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+1</m:t>
                          </m:r>
                        </m:e>
                      </m:d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−2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𝑇h𝑖𝑠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𝑚𝑒𝑎𝑛𝑠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𝑒𝑖𝑡h𝑒𝑟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3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+1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𝑜𝑟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𝑡h𝑒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𝑜𝑡h𝑒𝑟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𝑜𝑛𝑒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d>
                        <m:dPr>
                          <m:ctrlPr>
                            <a:rPr lang="en-AU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AU" b="0" i="1" smtClean="0">
                              <a:latin typeface="Cambria Math"/>
                            </a:rPr>
                            <m:t>𝑥</m:t>
                          </m:r>
                          <m:r>
                            <a:rPr lang="en-AU" b="0" i="1" smtClean="0">
                              <a:latin typeface="Cambria Math"/>
                            </a:rPr>
                            <m:t>−2</m:t>
                          </m:r>
                        </m:e>
                      </m:d>
                      <m:r>
                        <a:rPr lang="en-AU" b="0" i="1" smtClean="0">
                          <a:latin typeface="Cambria Math"/>
                        </a:rPr>
                        <m:t>𝑎𝑟𝑒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𝑒𝑞𝑢𝑎𝑙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𝑡𝑜</m:t>
                      </m:r>
                      <m:r>
                        <a:rPr lang="en-AU" b="0" i="1" smtClean="0">
                          <a:latin typeface="Cambria Math"/>
                        </a:rPr>
                        <m:t> 0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𝑏𝑒𝑐𝑎𝑢𝑠𝑒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𝑤𝑒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𝑘𝑛𝑜𝑤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𝑡h𝑎𝑡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𝑎𝑛𝑦𝑡h𝑖𝑛𝑔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𝑚𝑢𝑙𝑡𝑖𝑝𝑙𝑖𝑒𝑑</m:t>
                      </m:r>
                      <m:r>
                        <a:rPr lang="en-AU" b="0" i="1" smtClean="0">
                          <a:latin typeface="Cambria Math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</a:rPr>
                        <m:t>𝑏𝑦</m:t>
                      </m:r>
                      <m:r>
                        <a:rPr lang="en-AU" b="0" i="1" smtClean="0">
                          <a:latin typeface="Cambria Math"/>
                        </a:rPr>
                        <m:t> 0 </m:t>
                      </m:r>
                      <m:r>
                        <a:rPr lang="en-AU" b="0" i="1" smtClean="0">
                          <a:latin typeface="Cambria Math"/>
                        </a:rPr>
                        <m:t>𝑤𝑖𝑙𝑙</m:t>
                      </m:r>
                      <m:r>
                        <a:rPr lang="en-AU" b="0" i="1" smtClean="0">
                          <a:latin typeface="Cambria Math"/>
                        </a:rPr>
                        <m:t>=0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sym typeface="Symbol"/>
                        </a:rPr>
                        <m:t>3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+1=0           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𝑜𝑟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     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−2=0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sym typeface="Symbol"/>
                        </a:rPr>
                        <m:t>𝑡h𝑖𝑠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𝑔𝑖𝑣𝑒𝑠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 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sym typeface="Symbol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=−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  <a:sym typeface="Symbol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  <a:sym typeface="Symbol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  <a:sym typeface="Symbol"/>
                            </a:rPr>
                            <m:t>3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  <a:sym typeface="Symbol"/>
                        </a:rPr>
                        <m:t>    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𝑜𝑟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 2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  <a:sym typeface="Symbol"/>
                        </a:rPr>
                        <m:t>𝑥</m:t>
                      </m:r>
                      <m:r>
                        <a:rPr lang="en-AU" b="0" i="1" smtClean="0">
                          <a:latin typeface="Cambria Math"/>
                          <a:sym typeface="Symbol"/>
                        </a:rPr>
                        <m:t>=−</m:t>
                      </m:r>
                      <m:f>
                        <m:fPr>
                          <m:ctrlPr>
                            <a:rPr lang="en-AU" b="0" i="1" smtClean="0">
                              <a:latin typeface="Cambria Math"/>
                              <a:sym typeface="Symbol"/>
                            </a:rPr>
                          </m:ctrlPr>
                        </m:fPr>
                        <m:num>
                          <m:r>
                            <a:rPr lang="en-AU" b="0" i="1" smtClean="0">
                              <a:latin typeface="Cambria Math"/>
                              <a:sym typeface="Symbol"/>
                            </a:rPr>
                            <m:t>1</m:t>
                          </m:r>
                        </m:num>
                        <m:den>
                          <m:r>
                            <a:rPr lang="en-AU" b="0" i="1" smtClean="0">
                              <a:latin typeface="Cambria Math"/>
                              <a:sym typeface="Symbol"/>
                            </a:rPr>
                            <m:t>3</m:t>
                          </m:r>
                        </m:den>
                      </m:f>
                      <m:r>
                        <a:rPr lang="en-AU" b="0" i="1" smtClean="0">
                          <a:latin typeface="Cambria Math"/>
                          <a:sym typeface="Symbol"/>
                        </a:rPr>
                        <m:t>,2</m:t>
                      </m:r>
                    </m:oMath>
                  </m:oMathPara>
                </a14:m>
                <a:endParaRPr lang="en-AU" b="0" dirty="0" smtClean="0">
                  <a:sym typeface="Symbol"/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8559" y="1561465"/>
                <a:ext cx="7031669" cy="4974567"/>
              </a:xfrm>
              <a:prstGeom prst="rect">
                <a:avLst/>
              </a:prstGeom>
              <a:blipFill rotWithShape="1">
                <a:blip r:embed="rId2"/>
                <a:stretch>
                  <a:fillRect l="-17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50015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-40428" y="141277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1115616" y="404664"/>
            <a:ext cx="79879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Perfect Squares and solving by completing the Square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 smtClean="0"/>
              <a:t>What is completing the square? </a:t>
            </a:r>
            <a:endParaRPr lang="en-AU" sz="2400" dirty="0"/>
          </a:p>
        </p:txBody>
      </p:sp>
      <p:sp>
        <p:nvSpPr>
          <p:cNvPr id="8" name="Rectangle 7"/>
          <p:cNvSpPr/>
          <p:nvPr/>
        </p:nvSpPr>
        <p:spPr>
          <a:xfrm>
            <a:off x="251520" y="1553702"/>
            <a:ext cx="8771831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The key is to note that in the original quadratic, the third term is always the square of half the coefficient of </a:t>
            </a:r>
            <a:r>
              <a:rPr lang="en-AU" i="1" dirty="0" smtClean="0"/>
              <a:t>x</a:t>
            </a:r>
            <a:r>
              <a:rPr lang="en-AU" dirty="0"/>
              <a:t>. The coefficient halved also helps give us the factorised form. For example in the perfect square </a:t>
            </a:r>
            <a:r>
              <a:rPr lang="en-AU" sz="2000" i="1" dirty="0" smtClean="0"/>
              <a:t>x</a:t>
            </a:r>
            <a:r>
              <a:rPr lang="en-AU" sz="2000" baseline="30000" dirty="0" smtClean="0"/>
              <a:t>2</a:t>
            </a:r>
            <a:r>
              <a:rPr lang="en-AU" sz="2000" dirty="0" smtClean="0"/>
              <a:t>+6</a:t>
            </a:r>
            <a:r>
              <a:rPr lang="en-AU" sz="2000" i="1" dirty="0" smtClean="0"/>
              <a:t>x</a:t>
            </a:r>
            <a:r>
              <a:rPr lang="en-AU" sz="2000" dirty="0" smtClean="0"/>
              <a:t>+9</a:t>
            </a:r>
            <a:r>
              <a:rPr lang="en-AU" dirty="0"/>
              <a:t>, halving the </a:t>
            </a:r>
            <a:r>
              <a:rPr lang="en-AU" i="1" dirty="0" smtClean="0"/>
              <a:t>x</a:t>
            </a:r>
            <a:r>
              <a:rPr lang="en-AU" dirty="0" smtClean="0"/>
              <a:t> </a:t>
            </a:r>
            <a:r>
              <a:rPr lang="en-AU" dirty="0"/>
              <a:t>coefficient </a:t>
            </a:r>
            <a:r>
              <a:rPr lang="en-AU" dirty="0" smtClean="0"/>
              <a:t>6 gives </a:t>
            </a:r>
            <a:r>
              <a:rPr lang="en-AU" dirty="0"/>
              <a:t>us </a:t>
            </a:r>
            <a:r>
              <a:rPr lang="en-AU" dirty="0" smtClean="0"/>
              <a:t>3</a:t>
            </a:r>
            <a:r>
              <a:rPr lang="en-AU" dirty="0"/>
              <a:t>, which gives us the third term </a:t>
            </a:r>
            <a:r>
              <a:rPr lang="en-AU" dirty="0" smtClean="0"/>
              <a:t>9 </a:t>
            </a:r>
            <a:r>
              <a:rPr lang="en-AU" dirty="0"/>
              <a:t>when squared. That means we can factorise the quadratic to </a:t>
            </a:r>
            <a:r>
              <a:rPr lang="en-AU" dirty="0" smtClean="0"/>
              <a:t>(</a:t>
            </a:r>
            <a:r>
              <a:rPr lang="en-AU" i="1" dirty="0"/>
              <a:t>x</a:t>
            </a:r>
            <a:r>
              <a:rPr lang="en-AU" dirty="0"/>
              <a:t>+3)</a:t>
            </a:r>
            <a:r>
              <a:rPr lang="en-AU" baseline="30000" dirty="0"/>
              <a:t>2</a:t>
            </a:r>
            <a:r>
              <a:rPr lang="en-AU" dirty="0"/>
              <a:t>. This is another way to look at the relationship shown with a drawn square in the video. We can use this knowledge to factorise irregular </a:t>
            </a:r>
            <a:r>
              <a:rPr lang="en-AU" dirty="0" err="1"/>
              <a:t>monic</a:t>
            </a:r>
            <a:r>
              <a:rPr lang="en-AU" dirty="0"/>
              <a:t> quadratics into the form </a:t>
            </a:r>
            <a:r>
              <a:rPr lang="en-AU" sz="2000" dirty="0" smtClean="0"/>
              <a:t>(</a:t>
            </a:r>
            <a:r>
              <a:rPr lang="en-AU" sz="2000" i="1" dirty="0" err="1"/>
              <a:t>x</a:t>
            </a:r>
            <a:r>
              <a:rPr lang="en-AU" sz="2000" dirty="0" err="1"/>
              <a:t>+</a:t>
            </a:r>
            <a:r>
              <a:rPr lang="en-AU" sz="2000" i="1" dirty="0" err="1"/>
              <a:t>a</a:t>
            </a:r>
            <a:r>
              <a:rPr lang="en-AU" sz="2000" dirty="0"/>
              <a:t>)</a:t>
            </a:r>
            <a:r>
              <a:rPr lang="en-AU" sz="2000" baseline="30000" dirty="0"/>
              <a:t>2</a:t>
            </a:r>
            <a:r>
              <a:rPr lang="en-AU" sz="2000" dirty="0"/>
              <a:t>+</a:t>
            </a:r>
            <a:r>
              <a:rPr lang="en-AU" sz="2000" i="1" dirty="0"/>
              <a:t>b</a:t>
            </a:r>
            <a:r>
              <a:rPr lang="en-AU" dirty="0"/>
              <a:t>, where a and b are any numbers</a:t>
            </a:r>
            <a:r>
              <a:rPr lang="en-AU" dirty="0" smtClean="0"/>
              <a:t>.</a:t>
            </a:r>
          </a:p>
          <a:p>
            <a:endParaRPr lang="en-AU" dirty="0" smtClean="0"/>
          </a:p>
          <a:p>
            <a:endParaRPr lang="en-AU" dirty="0"/>
          </a:p>
          <a:p>
            <a:r>
              <a:rPr lang="en-AU" dirty="0"/>
              <a:t>For example, </a:t>
            </a:r>
            <a:r>
              <a:rPr lang="en-AU" sz="2000" i="1" dirty="0" smtClean="0"/>
              <a:t>x</a:t>
            </a:r>
            <a:r>
              <a:rPr lang="en-AU" sz="2000" baseline="30000" dirty="0" smtClean="0"/>
              <a:t>2</a:t>
            </a:r>
            <a:r>
              <a:rPr lang="en-AU" sz="2000" dirty="0" smtClean="0"/>
              <a:t>-8</a:t>
            </a:r>
            <a:r>
              <a:rPr lang="en-AU" sz="2000" i="1" dirty="0" smtClean="0"/>
              <a:t>x</a:t>
            </a:r>
            <a:r>
              <a:rPr lang="en-AU" sz="2000" dirty="0" smtClean="0"/>
              <a:t>+5</a:t>
            </a:r>
            <a:r>
              <a:rPr lang="en-AU" dirty="0" smtClean="0"/>
              <a:t> </a:t>
            </a:r>
            <a:r>
              <a:rPr lang="en-AU" dirty="0"/>
              <a:t>is not a perfect square, but we can use part of it to form one. Looking at just the first two terms we have </a:t>
            </a:r>
            <a:r>
              <a:rPr lang="en-AU" sz="2000" i="1" dirty="0" smtClean="0"/>
              <a:t>x</a:t>
            </a:r>
            <a:r>
              <a:rPr lang="en-AU" sz="2000" baseline="30000" dirty="0" smtClean="0"/>
              <a:t>2</a:t>
            </a:r>
            <a:r>
              <a:rPr lang="en-AU" sz="2000" dirty="0" smtClean="0"/>
              <a:t>-8</a:t>
            </a:r>
            <a:r>
              <a:rPr lang="en-AU" sz="2000" i="1" dirty="0" smtClean="0"/>
              <a:t>x</a:t>
            </a:r>
            <a:r>
              <a:rPr lang="en-AU" dirty="0"/>
              <a:t>. If this was part of a perfect square what would be the third term</a:t>
            </a:r>
            <a:r>
              <a:rPr lang="en-AU" dirty="0" smtClean="0"/>
              <a:t>?</a:t>
            </a:r>
          </a:p>
          <a:p>
            <a:r>
              <a:rPr lang="en-AU" dirty="0"/>
              <a:t>Let's follow our previous technique by halving and then squaring the </a:t>
            </a:r>
            <a:r>
              <a:rPr lang="en-AU" i="1" dirty="0" smtClean="0"/>
              <a:t>x</a:t>
            </a:r>
            <a:r>
              <a:rPr lang="en-AU" dirty="0" smtClean="0"/>
              <a:t> </a:t>
            </a:r>
            <a:r>
              <a:rPr lang="en-AU" dirty="0"/>
              <a:t>coefficient. </a:t>
            </a:r>
            <a:r>
              <a:rPr lang="en-AU" sz="2000" dirty="0" smtClean="0"/>
              <a:t>(-8÷2)</a:t>
            </a:r>
            <a:r>
              <a:rPr lang="en-AU" sz="2000" baseline="30000" dirty="0" smtClean="0"/>
              <a:t>2</a:t>
            </a:r>
            <a:r>
              <a:rPr lang="en-AU" sz="2000" dirty="0" smtClean="0"/>
              <a:t>=(-4)</a:t>
            </a:r>
            <a:r>
              <a:rPr lang="en-AU" sz="2000" baseline="30000" dirty="0" smtClean="0"/>
              <a:t>2</a:t>
            </a:r>
            <a:r>
              <a:rPr lang="en-AU" sz="2000" dirty="0"/>
              <a:t> </a:t>
            </a:r>
            <a:r>
              <a:rPr lang="en-AU" sz="2000" dirty="0" smtClean="0"/>
              <a:t>=</a:t>
            </a:r>
            <a:r>
              <a:rPr lang="en-AU" sz="2000" dirty="0"/>
              <a:t> </a:t>
            </a:r>
            <a:r>
              <a:rPr lang="en-AU" sz="2000" dirty="0" smtClean="0"/>
              <a:t>16</a:t>
            </a:r>
            <a:r>
              <a:rPr lang="en-AU" dirty="0"/>
              <a:t>, which should be the third term</a:t>
            </a:r>
            <a:r>
              <a:rPr lang="en-AU" dirty="0" smtClean="0"/>
              <a:t>.</a:t>
            </a:r>
          </a:p>
          <a:p>
            <a:endParaRPr lang="en-AU" dirty="0" smtClean="0"/>
          </a:p>
          <a:p>
            <a:r>
              <a:rPr lang="en-AU" sz="2000" i="1" dirty="0"/>
              <a:t>x</a:t>
            </a:r>
            <a:r>
              <a:rPr lang="en-AU" sz="2000" baseline="30000" dirty="0"/>
              <a:t>2</a:t>
            </a:r>
            <a:r>
              <a:rPr lang="en-AU" sz="2000" dirty="0" smtClean="0"/>
              <a:t>​-8</a:t>
            </a:r>
            <a:r>
              <a:rPr lang="en-AU" sz="2000" i="1" dirty="0" smtClean="0"/>
              <a:t>x</a:t>
            </a:r>
            <a:r>
              <a:rPr lang="en-AU" sz="2000" dirty="0" smtClean="0"/>
              <a:t>+5</a:t>
            </a:r>
            <a:r>
              <a:rPr lang="en-AU" sz="2000" dirty="0" smtClean="0"/>
              <a:t>	=	(</a:t>
            </a:r>
            <a:r>
              <a:rPr lang="en-AU" sz="2000" i="1" dirty="0"/>
              <a:t>x</a:t>
            </a:r>
            <a:r>
              <a:rPr lang="en-AU" sz="2000" baseline="30000" dirty="0"/>
              <a:t>2</a:t>
            </a:r>
            <a:r>
              <a:rPr lang="en-AU" sz="2000" dirty="0" smtClean="0"/>
              <a:t>​-8</a:t>
            </a:r>
            <a:r>
              <a:rPr lang="en-AU" sz="2000" i="1" dirty="0" smtClean="0"/>
              <a:t>x</a:t>
            </a:r>
            <a:r>
              <a:rPr lang="en-AU" sz="2000" dirty="0" smtClean="0"/>
              <a:t>+16)+5−</a:t>
            </a:r>
            <a:r>
              <a:rPr lang="en-AU" sz="2000" dirty="0"/>
              <a:t>16</a:t>
            </a:r>
          </a:p>
          <a:p>
            <a:r>
              <a:rPr lang="en-AU" sz="2000" dirty="0" smtClean="0"/>
              <a:t>		=	(</a:t>
            </a:r>
            <a:r>
              <a:rPr lang="en-AU" sz="2000" i="1" dirty="0" smtClean="0"/>
              <a:t>x</a:t>
            </a:r>
            <a:r>
              <a:rPr lang="en-AU" sz="2000" dirty="0" smtClean="0"/>
              <a:t>+4)</a:t>
            </a:r>
            <a:r>
              <a:rPr lang="en-AU" sz="2000" baseline="30000" dirty="0" smtClean="0"/>
              <a:t>2</a:t>
            </a:r>
            <a:r>
              <a:rPr lang="en-AU" sz="2000" dirty="0" smtClean="0"/>
              <a:t>+5−</a:t>
            </a:r>
            <a:r>
              <a:rPr lang="en-AU" sz="2000" dirty="0"/>
              <a:t>16</a:t>
            </a:r>
          </a:p>
          <a:p>
            <a:r>
              <a:rPr lang="en-AU" sz="2000" dirty="0" smtClean="0"/>
              <a:t>		=	(</a:t>
            </a:r>
            <a:r>
              <a:rPr lang="en-AU" sz="2000" i="1" dirty="0" smtClean="0"/>
              <a:t>x</a:t>
            </a:r>
            <a:r>
              <a:rPr lang="en-AU" sz="2000" dirty="0" smtClean="0"/>
              <a:t>+4)</a:t>
            </a:r>
            <a:r>
              <a:rPr lang="en-AU" sz="2000" baseline="30000" dirty="0" smtClean="0"/>
              <a:t>2</a:t>
            </a:r>
            <a:r>
              <a:rPr lang="en-AU" sz="2000" dirty="0" smtClean="0"/>
              <a:t>−11</a:t>
            </a:r>
            <a:r>
              <a:rPr lang="en-AU" sz="2000" dirty="0" smtClean="0"/>
              <a:t>	</a:t>
            </a:r>
            <a:r>
              <a:rPr lang="en-AU" dirty="0" smtClean="0"/>
              <a:t>That’s </a:t>
            </a:r>
            <a:r>
              <a:rPr lang="en-AU" dirty="0" smtClean="0"/>
              <a:t>done or partly factorised!</a:t>
            </a:r>
            <a:endParaRPr lang="en-AU" dirty="0"/>
          </a:p>
        </p:txBody>
      </p:sp>
      <p:sp>
        <p:nvSpPr>
          <p:cNvPr id="3" name="TextBox 2"/>
          <p:cNvSpPr txBox="1"/>
          <p:nvPr/>
        </p:nvSpPr>
        <p:spPr>
          <a:xfrm>
            <a:off x="3059832" y="3356992"/>
            <a:ext cx="4104456" cy="646331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AU" b="1" dirty="0" smtClean="0">
                <a:solidFill>
                  <a:srgbClr val="FF0000"/>
                </a:solidFill>
              </a:rPr>
              <a:t>Note these notes are the same as from Chapter 6 but using different examples</a:t>
            </a:r>
            <a:endParaRPr lang="en-AU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68198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403648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79879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Perfect Squares and solving by completing the Square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 smtClean="0"/>
              <a:t>What is completing the square? </a:t>
            </a:r>
            <a:endParaRPr lang="en-AU" sz="2400" dirty="0"/>
          </a:p>
        </p:txBody>
      </p:sp>
      <p:sp>
        <p:nvSpPr>
          <p:cNvPr id="3" name="Rectangle 2"/>
          <p:cNvSpPr/>
          <p:nvPr/>
        </p:nvSpPr>
        <p:spPr>
          <a:xfrm>
            <a:off x="1666031" y="2132856"/>
            <a:ext cx="733167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What now if I have to solve this quadratic like the one on the previous page</a:t>
            </a:r>
          </a:p>
          <a:p>
            <a:r>
              <a:rPr lang="en-AU" i="1" dirty="0" smtClean="0"/>
              <a:t>X</a:t>
            </a:r>
            <a:r>
              <a:rPr lang="en-AU" baseline="30000" dirty="0" smtClean="0"/>
              <a:t>2</a:t>
            </a:r>
            <a:r>
              <a:rPr lang="en-AU" dirty="0" smtClean="0"/>
              <a:t>-8</a:t>
            </a:r>
            <a:r>
              <a:rPr lang="en-AU" i="1" dirty="0" smtClean="0"/>
              <a:t>x</a:t>
            </a:r>
            <a:r>
              <a:rPr lang="en-AU" dirty="0" smtClean="0"/>
              <a:t>+5</a:t>
            </a:r>
            <a:r>
              <a:rPr lang="en-AU" dirty="0"/>
              <a:t>	</a:t>
            </a:r>
            <a:r>
              <a:rPr lang="en-AU" dirty="0" smtClean="0"/>
              <a:t>=0	</a:t>
            </a:r>
            <a:r>
              <a:rPr lang="en-AU" dirty="0">
                <a:sym typeface="Symbol"/>
              </a:rPr>
              <a:t> </a:t>
            </a:r>
            <a:r>
              <a:rPr lang="en-AU" dirty="0" smtClean="0">
                <a:sym typeface="Symbol"/>
              </a:rPr>
              <a:t>	</a:t>
            </a:r>
            <a:r>
              <a:rPr lang="en-AU" i="1" dirty="0"/>
              <a:t> x</a:t>
            </a:r>
            <a:r>
              <a:rPr lang="en-AU" baseline="30000" dirty="0"/>
              <a:t>2</a:t>
            </a:r>
            <a:r>
              <a:rPr lang="en-AU" dirty="0" smtClean="0"/>
              <a:t>​-8</a:t>
            </a:r>
            <a:r>
              <a:rPr lang="en-AU" i="1" dirty="0" smtClean="0"/>
              <a:t>x</a:t>
            </a:r>
            <a:r>
              <a:rPr lang="en-AU" dirty="0" smtClean="0"/>
              <a:t>+5+11=11</a:t>
            </a:r>
          </a:p>
          <a:p>
            <a:r>
              <a:rPr lang="en-AU" dirty="0" smtClean="0">
                <a:sym typeface="Symbol"/>
              </a:rPr>
              <a:t>	</a:t>
            </a:r>
            <a:r>
              <a:rPr lang="en-AU" dirty="0"/>
              <a:t>	</a:t>
            </a:r>
            <a:r>
              <a:rPr lang="en-AU" dirty="0">
                <a:sym typeface="Symbol"/>
              </a:rPr>
              <a:t>  </a:t>
            </a:r>
            <a:r>
              <a:rPr lang="en-AU" dirty="0"/>
              <a:t>	(</a:t>
            </a:r>
            <a:r>
              <a:rPr lang="en-AU" i="1" dirty="0" smtClean="0"/>
              <a:t>x</a:t>
            </a:r>
            <a:r>
              <a:rPr lang="en-AU" dirty="0" smtClean="0"/>
              <a:t>-4)</a:t>
            </a:r>
            <a:r>
              <a:rPr lang="en-AU" baseline="30000" dirty="0" smtClean="0"/>
              <a:t>2</a:t>
            </a:r>
            <a:r>
              <a:rPr lang="en-AU" dirty="0" smtClean="0"/>
              <a:t> </a:t>
            </a:r>
            <a:r>
              <a:rPr lang="en-AU" dirty="0" smtClean="0"/>
              <a:t>= </a:t>
            </a:r>
            <a:r>
              <a:rPr lang="en-AU" dirty="0" smtClean="0"/>
              <a:t>1</a:t>
            </a:r>
            <a:endParaRPr lang="en-AU" dirty="0"/>
          </a:p>
          <a:p>
            <a:r>
              <a:rPr lang="en-AU" dirty="0"/>
              <a:t>		</a:t>
            </a:r>
            <a:r>
              <a:rPr lang="en-AU" dirty="0">
                <a:sym typeface="Symbol"/>
              </a:rPr>
              <a:t>  </a:t>
            </a:r>
            <a:r>
              <a:rPr lang="en-AU" dirty="0"/>
              <a:t>	(</a:t>
            </a:r>
            <a:r>
              <a:rPr lang="en-AU" i="1" dirty="0" smtClean="0"/>
              <a:t>x</a:t>
            </a:r>
            <a:r>
              <a:rPr lang="en-AU" dirty="0" smtClean="0"/>
              <a:t>-4)</a:t>
            </a:r>
            <a:r>
              <a:rPr lang="en-AU" baseline="30000" dirty="0" smtClean="0"/>
              <a:t>2</a:t>
            </a:r>
            <a:r>
              <a:rPr lang="en-AU" dirty="0" smtClean="0"/>
              <a:t> </a:t>
            </a:r>
            <a:r>
              <a:rPr lang="en-AU" dirty="0" smtClean="0"/>
              <a:t>= </a:t>
            </a:r>
            <a:r>
              <a:rPr lang="en-AU" dirty="0" smtClean="0">
                <a:latin typeface="Calibri"/>
                <a:cs typeface="Calibri"/>
              </a:rPr>
              <a:t>±</a:t>
            </a:r>
            <a:r>
              <a:rPr lang="en-AU" dirty="0" smtClean="0">
                <a:latin typeface="Calibri"/>
                <a:cs typeface="Calibri"/>
              </a:rPr>
              <a:t>√11</a:t>
            </a:r>
            <a:endParaRPr lang="en-AU" dirty="0" smtClean="0">
              <a:latin typeface="Calibri"/>
              <a:cs typeface="Calibri"/>
            </a:endParaRPr>
          </a:p>
          <a:p>
            <a:r>
              <a:rPr lang="en-AU" dirty="0">
                <a:latin typeface="Calibri"/>
                <a:cs typeface="Calibri"/>
              </a:rPr>
              <a:t>	</a:t>
            </a:r>
            <a:r>
              <a:rPr lang="en-AU" dirty="0" smtClean="0">
                <a:latin typeface="Calibri"/>
                <a:cs typeface="Calibri"/>
              </a:rPr>
              <a:t>	</a:t>
            </a:r>
            <a:r>
              <a:rPr lang="en-AU" dirty="0">
                <a:sym typeface="Symbol"/>
              </a:rPr>
              <a:t>  </a:t>
            </a:r>
            <a:r>
              <a:rPr lang="en-AU" dirty="0" smtClean="0">
                <a:sym typeface="Symbol"/>
              </a:rPr>
              <a:t>	x         = </a:t>
            </a:r>
            <a:r>
              <a:rPr lang="en-AU" dirty="0" smtClean="0">
                <a:sym typeface="Symbol"/>
              </a:rPr>
              <a:t>4</a:t>
            </a:r>
            <a:r>
              <a:rPr lang="en-AU" dirty="0" smtClean="0">
                <a:cs typeface="Calibri"/>
              </a:rPr>
              <a:t>±</a:t>
            </a:r>
            <a:r>
              <a:rPr lang="en-AU" dirty="0" smtClean="0">
                <a:cs typeface="Calibri"/>
              </a:rPr>
              <a:t>√11 </a:t>
            </a:r>
            <a:r>
              <a:rPr lang="en-AU" dirty="0" smtClean="0">
                <a:cs typeface="Calibri"/>
              </a:rPr>
              <a:t/>
            </a:r>
            <a:br>
              <a:rPr lang="en-AU" dirty="0" smtClean="0">
                <a:cs typeface="Calibri"/>
              </a:rPr>
            </a:br>
            <a:r>
              <a:rPr lang="en-AU" dirty="0" smtClean="0">
                <a:cs typeface="Calibri"/>
              </a:rPr>
              <a:t>	</a:t>
            </a:r>
            <a:r>
              <a:rPr lang="en-AU" dirty="0" smtClean="0">
                <a:latin typeface="+mj-lt"/>
                <a:cs typeface="Calibri"/>
              </a:rPr>
              <a:t>x ≅ </a:t>
            </a:r>
            <a:r>
              <a:rPr lang="en-AU" dirty="0" smtClean="0">
                <a:latin typeface="+mj-lt"/>
                <a:cs typeface="Calibri"/>
              </a:rPr>
              <a:t>0.68</a:t>
            </a:r>
            <a:r>
              <a:rPr lang="en-AU" dirty="0" smtClean="0">
                <a:latin typeface="+mj-lt"/>
                <a:cs typeface="Calibri"/>
              </a:rPr>
              <a:t>	    or	</a:t>
            </a:r>
            <a:r>
              <a:rPr lang="en-AU" dirty="0">
                <a:latin typeface="+mj-lt"/>
                <a:cs typeface="Calibri"/>
              </a:rPr>
              <a:t> x ≅ </a:t>
            </a:r>
            <a:r>
              <a:rPr lang="en-AU" dirty="0" smtClean="0">
                <a:latin typeface="+mj-lt"/>
                <a:cs typeface="Calibri"/>
              </a:rPr>
              <a:t>7.32</a:t>
            </a:r>
            <a:r>
              <a:rPr lang="en-AU" dirty="0"/>
              <a:t>	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3648" y="4473116"/>
            <a:ext cx="1872208" cy="92333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AU" b="1" dirty="0" smtClean="0">
                <a:solidFill>
                  <a:srgbClr val="FF0000"/>
                </a:solidFill>
              </a:rPr>
              <a:t>Need to make this 16 so add 11 to both sides.</a:t>
            </a:r>
            <a:endParaRPr lang="en-AU" b="1" dirty="0">
              <a:solidFill>
                <a:srgbClr val="FF0000"/>
              </a:solidFill>
            </a:endParaRPr>
          </a:p>
        </p:txBody>
      </p:sp>
      <p:cxnSp>
        <p:nvCxnSpPr>
          <p:cNvPr id="13" name="Straight Arrow Connector 12"/>
          <p:cNvCxnSpPr/>
          <p:nvPr/>
        </p:nvCxnSpPr>
        <p:spPr>
          <a:xfrm flipV="1">
            <a:off x="1666031" y="2708920"/>
            <a:ext cx="745729" cy="176419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2004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403648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798795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Perfect Squares and solving by completing the Square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 smtClean="0"/>
              <a:t>What is completing the square? </a:t>
            </a:r>
            <a:endParaRPr lang="en-AU" sz="2400" dirty="0"/>
          </a:p>
        </p:txBody>
      </p:sp>
      <p:sp>
        <p:nvSpPr>
          <p:cNvPr id="13" name="Rectangle 12"/>
          <p:cNvSpPr/>
          <p:nvPr/>
        </p:nvSpPr>
        <p:spPr>
          <a:xfrm>
            <a:off x="1666031" y="2132856"/>
            <a:ext cx="733167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 smtClean="0"/>
              <a:t>Let’s now try to solve this quadratic equation!</a:t>
            </a:r>
          </a:p>
          <a:p>
            <a:endParaRPr lang="en-AU" dirty="0" smtClean="0"/>
          </a:p>
          <a:p>
            <a:r>
              <a:rPr lang="en-AU" i="1" dirty="0" smtClean="0"/>
              <a:t>x</a:t>
            </a:r>
            <a:r>
              <a:rPr lang="en-AU" baseline="30000" dirty="0" smtClean="0"/>
              <a:t>2</a:t>
            </a:r>
            <a:r>
              <a:rPr lang="en-AU" dirty="0" smtClean="0"/>
              <a:t>​+7</a:t>
            </a:r>
            <a:r>
              <a:rPr lang="en-AU" i="1" dirty="0" smtClean="0"/>
              <a:t>x</a:t>
            </a:r>
            <a:r>
              <a:rPr lang="en-AU" dirty="0" smtClean="0"/>
              <a:t>-5 </a:t>
            </a:r>
            <a:r>
              <a:rPr lang="en-AU" dirty="0" smtClean="0"/>
              <a:t>=0	</a:t>
            </a:r>
            <a:r>
              <a:rPr lang="en-AU" dirty="0">
                <a:sym typeface="Symbol"/>
              </a:rPr>
              <a:t> </a:t>
            </a:r>
            <a:r>
              <a:rPr lang="en-AU" dirty="0" smtClean="0">
                <a:sym typeface="Symbol"/>
              </a:rPr>
              <a:t>	</a:t>
            </a:r>
            <a:r>
              <a:rPr lang="en-AU" i="1" dirty="0"/>
              <a:t> x</a:t>
            </a:r>
            <a:r>
              <a:rPr lang="en-AU" baseline="30000" dirty="0"/>
              <a:t>2</a:t>
            </a:r>
            <a:r>
              <a:rPr lang="en-AU" dirty="0" smtClean="0"/>
              <a:t>​</a:t>
            </a:r>
            <a:r>
              <a:rPr lang="en-AU" dirty="0" smtClean="0"/>
              <a:t>+7</a:t>
            </a:r>
            <a:r>
              <a:rPr lang="en-AU" i="1" dirty="0" smtClean="0"/>
              <a:t>x</a:t>
            </a:r>
            <a:r>
              <a:rPr lang="en-AU" dirty="0" smtClean="0"/>
              <a:t>-5+17.25 </a:t>
            </a:r>
            <a:r>
              <a:rPr lang="en-AU" dirty="0" smtClean="0"/>
              <a:t>= 17.25</a:t>
            </a:r>
            <a:endParaRPr lang="en-AU" dirty="0" smtClean="0"/>
          </a:p>
          <a:p>
            <a:r>
              <a:rPr lang="en-AU" dirty="0">
                <a:sym typeface="Symbol"/>
              </a:rPr>
              <a:t>	</a:t>
            </a:r>
            <a:r>
              <a:rPr lang="en-AU" dirty="0" smtClean="0">
                <a:sym typeface="Symbol"/>
              </a:rPr>
              <a:t>	</a:t>
            </a:r>
            <a:r>
              <a:rPr lang="en-AU" dirty="0"/>
              <a:t>	(</a:t>
            </a:r>
            <a:r>
              <a:rPr lang="en-AU" i="1" dirty="0" smtClean="0"/>
              <a:t>x</a:t>
            </a:r>
            <a:r>
              <a:rPr lang="en-AU" baseline="30000" dirty="0" smtClean="0"/>
              <a:t>2</a:t>
            </a:r>
            <a:r>
              <a:rPr lang="en-AU" i="1" dirty="0" smtClean="0"/>
              <a:t>+7x</a:t>
            </a:r>
            <a:r>
              <a:rPr lang="en-AU" dirty="0" smtClean="0"/>
              <a:t>+12.25) </a:t>
            </a:r>
            <a:r>
              <a:rPr lang="en-AU" dirty="0" smtClean="0"/>
              <a:t>= </a:t>
            </a:r>
            <a:r>
              <a:rPr lang="en-AU" dirty="0" smtClean="0"/>
              <a:t>17.25</a:t>
            </a:r>
            <a:endParaRPr lang="en-AU" dirty="0" smtClean="0"/>
          </a:p>
          <a:p>
            <a:r>
              <a:rPr lang="en-AU" dirty="0"/>
              <a:t>		</a:t>
            </a:r>
            <a:r>
              <a:rPr lang="en-AU" dirty="0">
                <a:sym typeface="Symbol"/>
              </a:rPr>
              <a:t>  </a:t>
            </a:r>
            <a:r>
              <a:rPr lang="en-AU" dirty="0"/>
              <a:t>	(</a:t>
            </a:r>
            <a:r>
              <a:rPr lang="en-AU" i="1" dirty="0" smtClean="0"/>
              <a:t>x</a:t>
            </a:r>
            <a:r>
              <a:rPr lang="en-AU" dirty="0" smtClean="0"/>
              <a:t>+3.5)</a:t>
            </a:r>
            <a:r>
              <a:rPr lang="en-AU" baseline="30000" dirty="0" smtClean="0"/>
              <a:t>2</a:t>
            </a:r>
            <a:r>
              <a:rPr lang="en-AU" dirty="0" smtClean="0"/>
              <a:t> </a:t>
            </a:r>
            <a:r>
              <a:rPr lang="en-AU" dirty="0" smtClean="0"/>
              <a:t>= </a:t>
            </a:r>
            <a:r>
              <a:rPr lang="en-AU" dirty="0" smtClean="0"/>
              <a:t>17.25</a:t>
            </a:r>
            <a:endParaRPr lang="en-AU" dirty="0"/>
          </a:p>
          <a:p>
            <a:r>
              <a:rPr lang="en-AU" dirty="0"/>
              <a:t>		</a:t>
            </a:r>
            <a:r>
              <a:rPr lang="en-AU" dirty="0">
                <a:sym typeface="Symbol"/>
              </a:rPr>
              <a:t>  </a:t>
            </a:r>
            <a:r>
              <a:rPr lang="en-AU" dirty="0"/>
              <a:t>	</a:t>
            </a:r>
            <a:r>
              <a:rPr lang="en-AU" i="1" dirty="0" smtClean="0"/>
              <a:t>x</a:t>
            </a:r>
            <a:r>
              <a:rPr lang="en-AU" dirty="0" smtClean="0"/>
              <a:t>+3.5   </a:t>
            </a:r>
            <a:r>
              <a:rPr lang="en-AU" dirty="0" smtClean="0"/>
              <a:t>= </a:t>
            </a:r>
            <a:r>
              <a:rPr lang="en-AU" dirty="0" smtClean="0">
                <a:latin typeface="Calibri"/>
                <a:cs typeface="Calibri"/>
              </a:rPr>
              <a:t>±</a:t>
            </a:r>
            <a:r>
              <a:rPr lang="en-AU" dirty="0" smtClean="0">
                <a:latin typeface="Calibri"/>
                <a:cs typeface="Calibri"/>
              </a:rPr>
              <a:t>√17.25</a:t>
            </a:r>
            <a:endParaRPr lang="en-AU" dirty="0" smtClean="0">
              <a:latin typeface="Calibri"/>
              <a:cs typeface="Calibri"/>
            </a:endParaRPr>
          </a:p>
          <a:p>
            <a:r>
              <a:rPr lang="en-AU" dirty="0">
                <a:latin typeface="Calibri"/>
                <a:cs typeface="Calibri"/>
              </a:rPr>
              <a:t>	</a:t>
            </a:r>
            <a:r>
              <a:rPr lang="en-AU" dirty="0" smtClean="0">
                <a:latin typeface="Calibri"/>
                <a:cs typeface="Calibri"/>
              </a:rPr>
              <a:t>	</a:t>
            </a:r>
            <a:r>
              <a:rPr lang="en-AU" dirty="0">
                <a:sym typeface="Symbol"/>
              </a:rPr>
              <a:t>  </a:t>
            </a:r>
            <a:r>
              <a:rPr lang="en-AU" dirty="0" smtClean="0">
                <a:sym typeface="Symbol"/>
              </a:rPr>
              <a:t>	x         = </a:t>
            </a:r>
            <a:r>
              <a:rPr lang="en-AU" dirty="0" smtClean="0">
                <a:sym typeface="Symbol"/>
              </a:rPr>
              <a:t>-3.5</a:t>
            </a:r>
            <a:r>
              <a:rPr lang="en-AU" dirty="0" smtClean="0">
                <a:cs typeface="Calibri"/>
              </a:rPr>
              <a:t>±√17.25 </a:t>
            </a:r>
            <a:r>
              <a:rPr lang="en-AU" dirty="0" smtClean="0">
                <a:cs typeface="Calibri"/>
              </a:rPr>
              <a:t/>
            </a:r>
            <a:br>
              <a:rPr lang="en-AU" dirty="0" smtClean="0">
                <a:cs typeface="Calibri"/>
              </a:rPr>
            </a:br>
            <a:r>
              <a:rPr lang="en-AU" dirty="0" smtClean="0">
                <a:cs typeface="Calibri"/>
              </a:rPr>
              <a:t>	</a:t>
            </a:r>
            <a:r>
              <a:rPr lang="en-AU" dirty="0" smtClean="0">
                <a:latin typeface="+mj-lt"/>
                <a:cs typeface="Calibri"/>
              </a:rPr>
              <a:t>x ≅ </a:t>
            </a:r>
            <a:r>
              <a:rPr lang="en-AU" dirty="0" smtClean="0">
                <a:latin typeface="+mj-lt"/>
                <a:cs typeface="Calibri"/>
              </a:rPr>
              <a:t>-7.65</a:t>
            </a:r>
            <a:r>
              <a:rPr lang="en-AU" dirty="0" smtClean="0">
                <a:latin typeface="+mj-lt"/>
                <a:cs typeface="Calibri"/>
              </a:rPr>
              <a:t>	    or	</a:t>
            </a:r>
            <a:r>
              <a:rPr lang="en-AU" dirty="0">
                <a:latin typeface="+mj-lt"/>
                <a:cs typeface="Calibri"/>
              </a:rPr>
              <a:t> x ≅ </a:t>
            </a:r>
            <a:r>
              <a:rPr lang="en-AU" dirty="0" smtClean="0">
                <a:latin typeface="+mj-lt"/>
                <a:cs typeface="Calibri"/>
              </a:rPr>
              <a:t>0.65</a:t>
            </a:r>
            <a:r>
              <a:rPr lang="en-AU" dirty="0"/>
              <a:t>	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5616" y="4581128"/>
            <a:ext cx="2448272" cy="1477328"/>
          </a:xfrm>
          <a:prstGeom prst="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AU" b="1" dirty="0" smtClean="0">
                <a:solidFill>
                  <a:srgbClr val="FF0000"/>
                </a:solidFill>
              </a:rPr>
              <a:t>7</a:t>
            </a:r>
            <a:r>
              <a:rPr lang="en-AU" b="1" dirty="0" smtClean="0">
                <a:solidFill>
                  <a:srgbClr val="FF0000"/>
                </a:solidFill>
                <a:ea typeface="Cambria Math"/>
              </a:rPr>
              <a:t>÷2 = 3.5 </a:t>
            </a:r>
          </a:p>
          <a:p>
            <a:r>
              <a:rPr lang="en-AU" b="1" dirty="0" smtClean="0">
                <a:solidFill>
                  <a:srgbClr val="FF0000"/>
                </a:solidFill>
                <a:ea typeface="Cambria Math"/>
              </a:rPr>
              <a:t>3.5</a:t>
            </a:r>
            <a:r>
              <a:rPr lang="en-AU" b="1" baseline="30000" dirty="0" smtClean="0">
                <a:solidFill>
                  <a:srgbClr val="FF0000"/>
                </a:solidFill>
                <a:ea typeface="Cambria Math"/>
              </a:rPr>
              <a:t>2</a:t>
            </a:r>
            <a:r>
              <a:rPr lang="en-AU" b="1" dirty="0" smtClean="0">
                <a:solidFill>
                  <a:srgbClr val="FF0000"/>
                </a:solidFill>
                <a:ea typeface="Cambria Math"/>
              </a:rPr>
              <a:t> = 12.25</a:t>
            </a:r>
          </a:p>
          <a:p>
            <a:r>
              <a:rPr lang="en-AU" b="1" dirty="0" smtClean="0">
                <a:solidFill>
                  <a:srgbClr val="FF0000"/>
                </a:solidFill>
                <a:ea typeface="Cambria Math"/>
                <a:sym typeface="Symbol"/>
              </a:rPr>
              <a:t> Need to make -5 a 12.25 so we need to add 17.25.</a:t>
            </a:r>
            <a:endParaRPr lang="en-AU" b="1" dirty="0">
              <a:solidFill>
                <a:srgbClr val="FF0000"/>
              </a:solidFill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 flipV="1">
            <a:off x="1666031" y="3068960"/>
            <a:ext cx="385689" cy="15121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 flipV="1">
            <a:off x="2411760" y="3068960"/>
            <a:ext cx="72008" cy="21602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02741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1560" y="764704"/>
            <a:ext cx="7632848" cy="4536504"/>
          </a:xfrm>
        </p:spPr>
        <p:txBody>
          <a:bodyPr>
            <a:normAutofit/>
          </a:bodyPr>
          <a:lstStyle/>
          <a:p>
            <a:r>
              <a:rPr lang="en-AU" b="1" dirty="0" smtClean="0">
                <a:solidFill>
                  <a:schemeClr val="tx1"/>
                </a:solidFill>
              </a:rPr>
              <a:t>Exercises</a:t>
            </a:r>
          </a:p>
          <a:p>
            <a:r>
              <a:rPr lang="en-AU" b="1" dirty="0" smtClean="0">
                <a:solidFill>
                  <a:schemeClr val="tx1"/>
                </a:solidFill>
              </a:rPr>
              <a:t>Exercise </a:t>
            </a:r>
            <a:r>
              <a:rPr lang="en-AU" b="1" dirty="0" smtClean="0">
                <a:solidFill>
                  <a:schemeClr val="tx1"/>
                </a:solidFill>
              </a:rPr>
              <a:t>7.4 &amp; 7.5 </a:t>
            </a:r>
            <a:r>
              <a:rPr lang="en-AU" b="1" dirty="0" smtClean="0">
                <a:solidFill>
                  <a:schemeClr val="tx1"/>
                </a:solidFill>
              </a:rPr>
              <a:t>from Dwyer</a:t>
            </a:r>
          </a:p>
          <a:p>
            <a:endParaRPr lang="en-AU" b="1" dirty="0" smtClean="0">
              <a:solidFill>
                <a:schemeClr val="tx1"/>
              </a:solidFill>
            </a:endParaRPr>
          </a:p>
          <a:p>
            <a:r>
              <a:rPr lang="en-AU" b="1" dirty="0" smtClean="0">
                <a:solidFill>
                  <a:schemeClr val="tx1"/>
                </a:solidFill>
              </a:rPr>
              <a:t>And the </a:t>
            </a:r>
            <a:r>
              <a:rPr lang="en-AU" b="1" dirty="0" err="1" smtClean="0">
                <a:solidFill>
                  <a:schemeClr val="tx1"/>
                </a:solidFill>
              </a:rPr>
              <a:t>Yr</a:t>
            </a:r>
            <a:r>
              <a:rPr lang="en-AU" b="1" dirty="0" smtClean="0">
                <a:solidFill>
                  <a:schemeClr val="tx1"/>
                </a:solidFill>
              </a:rPr>
              <a:t> 10A Completing the Square from </a:t>
            </a:r>
            <a:r>
              <a:rPr lang="en-AU" b="1" smtClean="0">
                <a:solidFill>
                  <a:schemeClr val="tx1"/>
                </a:solidFill>
              </a:rPr>
              <a:t>Mathspace</a:t>
            </a:r>
            <a:endParaRPr lang="en-AU" b="1" dirty="0">
              <a:solidFill>
                <a:schemeClr val="tx1"/>
              </a:solidFill>
            </a:endParaRPr>
          </a:p>
          <a:p>
            <a:endParaRPr lang="en-AU" b="1" dirty="0">
              <a:solidFill>
                <a:schemeClr val="tx1"/>
              </a:solidFill>
            </a:endParaRPr>
          </a:p>
          <a:p>
            <a:r>
              <a:rPr lang="en-AU" b="1" dirty="0" smtClean="0">
                <a:solidFill>
                  <a:schemeClr val="tx2"/>
                </a:solidFill>
              </a:rPr>
              <a:t>All to be done with a smile on your faces.</a:t>
            </a:r>
            <a:endParaRPr lang="en-AU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33096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1150</TotalTime>
  <Words>412</Words>
  <Application>Microsoft Office PowerPoint</Application>
  <PresentationFormat>On-screen Show (4:3)</PresentationFormat>
  <Paragraphs>132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My Algebra – Solving Equations 2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MCALLISTER Robert</cp:lastModifiedBy>
  <cp:revision>91</cp:revision>
  <dcterms:created xsi:type="dcterms:W3CDTF">2014-05-14T02:58:57Z</dcterms:created>
  <dcterms:modified xsi:type="dcterms:W3CDTF">2016-06-10T00:28:01Z</dcterms:modified>
</cp:coreProperties>
</file>
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0" r:id="rId2"/>
    <p:sldId id="259" r:id="rId3"/>
    <p:sldId id="258" r:id="rId4"/>
    <p:sldId id="303" r:id="rId5"/>
    <p:sldId id="330" r:id="rId6"/>
    <p:sldId id="332" r:id="rId7"/>
    <p:sldId id="333" r:id="rId8"/>
    <p:sldId id="331" r:id="rId9"/>
    <p:sldId id="334" r:id="rId10"/>
    <p:sldId id="329" r:id="rId11"/>
    <p:sldId id="292" r:id="rId12"/>
    <p:sldId id="291" r:id="rId13"/>
  </p:sldIdLst>
  <p:sldSz cx="9144000" cy="6858000" type="screen4x3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1218" y="17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26/04/2016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26/04/2016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26/04/2016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26/04/2016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26/04/2016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26/04/2016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26/04/2016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26/04/2016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26/04/2016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26/04/2016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26/04/2016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26/04/2016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26/04/2016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9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/>
              <a:t>My Algebra - Quadratics Interactive </a:t>
            </a:r>
            <a:r>
              <a:rPr lang="en-AU" dirty="0" smtClean="0"/>
              <a:t>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2 Semester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1210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Distributive </a:t>
            </a:r>
            <a:r>
              <a:rPr lang="en-AU" sz="2800" dirty="0" smtClean="0"/>
              <a:t>Law and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</a:t>
            </a:r>
            <a:r>
              <a:rPr lang="en-AU" sz="2400" dirty="0" smtClean="0"/>
              <a:t>Multiply or Factorise </a:t>
            </a:r>
            <a:r>
              <a:rPr lang="en-AU" sz="2400" dirty="0"/>
              <a:t>Across Brackets? </a:t>
            </a:r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001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Brackets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distributive law to expand expressions with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53045" y="1961233"/>
            <a:ext cx="2862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distributive law?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491880" y="2330565"/>
                <a:ext cx="36724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𝑏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𝑐</m:t>
                      </m:r>
                    </m:oMath>
                  </m:oMathPara>
                </a14:m>
                <a:endParaRPr lang="en-AU" dirty="0" smtClean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2330565"/>
                <a:ext cx="3672408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76667" y="3203684"/>
            <a:ext cx="2709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expand Brackets?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040822"/>
                  </p:ext>
                </p:extLst>
              </p:nvPr>
            </p:nvGraphicFramePr>
            <p:xfrm>
              <a:off x="3779912" y="3789040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+2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413095"/>
                  </p:ext>
                </p:extLst>
              </p:nvPr>
            </p:nvGraphicFramePr>
            <p:xfrm>
              <a:off x="3779912" y="3789040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8333" r="-20113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8333" r="-100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108333" r="-1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+2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92605" y="3211160"/>
                <a:ext cx="27434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  <m:r>
                          <a:rPr lang="en-AU" b="0" i="1" smtClean="0">
                            <a:latin typeface="Cambria Math"/>
                          </a:rPr>
                          <m:t>+1</m:t>
                        </m:r>
                      </m:e>
                    </m:d>
                    <m:r>
                      <a:rPr lang="en-AU" b="0" i="1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+2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605" y="3211160"/>
                <a:ext cx="2743443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778"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385404" y="4972526"/>
                <a:ext cx="38853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  <m:r>
                          <a:rPr lang="en-AU" b="0" i="1" smtClean="0">
                            <a:latin typeface="Cambria Math"/>
                          </a:rPr>
                          <m:t>+1</m:t>
                        </m:r>
                      </m:e>
                    </m:d>
                    <m:r>
                      <a:rPr lang="en-AU" b="0" i="1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+2×1=2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+2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5404" y="4972526"/>
                <a:ext cx="3885359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254"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092605" y="5537865"/>
                <a:ext cx="35011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3</m:t>
                    </m:r>
                    <m:r>
                      <a:rPr lang="en-AU" b="0" i="1" smtClean="0"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  <m:r>
                          <a:rPr lang="en-AU" b="0" i="1" smtClean="0">
                            <a:latin typeface="Cambria Math"/>
                          </a:rPr>
                          <m:t>𝑝</m:t>
                        </m:r>
                        <m:r>
                          <a:rPr lang="en-AU" b="0" i="1" smtClean="0">
                            <a:latin typeface="Cambria Math"/>
                          </a:rPr>
                          <m:t>−7</m:t>
                        </m:r>
                      </m:e>
                    </m:d>
                    <m:r>
                      <a:rPr lang="en-AU" b="0" i="1" smtClean="0">
                        <a:latin typeface="Cambria Math"/>
                      </a:rPr>
                      <m:t>=15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𝑝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−21</m:t>
                    </m:r>
                    <m:r>
                      <a:rPr lang="en-AU" b="0" i="1" smtClean="0">
                        <a:latin typeface="Cambria Math"/>
                      </a:rPr>
                      <m:t>𝑝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605" y="5537865"/>
                <a:ext cx="3501151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1391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2109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001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Brackets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distributive law to expand expressions with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53045" y="1961233"/>
            <a:ext cx="2862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distributive law?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491880" y="2126964"/>
                <a:ext cx="36724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𝑏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𝑐</m:t>
                      </m:r>
                    </m:oMath>
                  </m:oMathPara>
                </a14:m>
                <a:endParaRPr lang="en-AU" dirty="0" smtClean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2126964"/>
                <a:ext cx="3672408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76667" y="3203684"/>
            <a:ext cx="2709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expand Brackets?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3361893"/>
                  </p:ext>
                </p:extLst>
              </p:nvPr>
            </p:nvGraphicFramePr>
            <p:xfrm>
              <a:off x="3779912" y="3789040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+2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413095"/>
                  </p:ext>
                </p:extLst>
              </p:nvPr>
            </p:nvGraphicFramePr>
            <p:xfrm>
              <a:off x="3779912" y="3789040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8333" r="-20113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8333" r="-100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108333" r="-1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+2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92605" y="3211160"/>
                <a:ext cx="27434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  <m:r>
                          <a:rPr lang="en-AU" b="0" i="1" smtClean="0">
                            <a:latin typeface="Cambria Math"/>
                          </a:rPr>
                          <m:t>+1</m:t>
                        </m:r>
                      </m:e>
                    </m:d>
                    <m:r>
                      <a:rPr lang="en-AU" b="0" i="1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+2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605" y="3211160"/>
                <a:ext cx="2743443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778"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385404" y="4972526"/>
                <a:ext cx="38853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  <m:r>
                          <a:rPr lang="en-AU" b="0" i="1" smtClean="0">
                            <a:latin typeface="Cambria Math"/>
                          </a:rPr>
                          <m:t>+1</m:t>
                        </m:r>
                      </m:e>
                    </m:d>
                    <m:r>
                      <a:rPr lang="en-AU" b="0" i="1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+2×1=2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+2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5404" y="4972526"/>
                <a:ext cx="3885359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254"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092605" y="5537865"/>
                <a:ext cx="35011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3</m:t>
                    </m:r>
                    <m:r>
                      <a:rPr lang="en-AU" b="0" i="1" smtClean="0"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  <m:r>
                          <a:rPr lang="en-AU" b="0" i="1" smtClean="0">
                            <a:latin typeface="Cambria Math"/>
                          </a:rPr>
                          <m:t>𝑝</m:t>
                        </m:r>
                        <m:r>
                          <a:rPr lang="en-AU" b="0" i="1" smtClean="0">
                            <a:latin typeface="Cambria Math"/>
                          </a:rPr>
                          <m:t>−7</m:t>
                        </m:r>
                      </m:e>
                    </m:d>
                    <m:r>
                      <a:rPr lang="en-AU" b="0" i="1" smtClean="0">
                        <a:latin typeface="Cambria Math"/>
                      </a:rPr>
                      <m:t>=15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𝑝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−21</m:t>
                    </m:r>
                    <m:r>
                      <a:rPr lang="en-AU" b="0" i="1" smtClean="0">
                        <a:latin typeface="Cambria Math"/>
                      </a:rPr>
                      <m:t>𝑝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605" y="5537865"/>
                <a:ext cx="3501151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1391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955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83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Binomial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expand two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2051556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use the table method?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059832" y="2060848"/>
                <a:ext cx="26352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(2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+3)(3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−2)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2635209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2083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2840142"/>
                  </p:ext>
                </p:extLst>
              </p:nvPr>
            </p:nvGraphicFramePr>
            <p:xfrm>
              <a:off x="3203848" y="2697887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  <m:sSup>
                                  <m:sSupPr>
                                    <m:ctrlP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+9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−4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−6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0674641"/>
                  </p:ext>
                </p:extLst>
              </p:nvPr>
            </p:nvGraphicFramePr>
            <p:xfrm>
              <a:off x="3203848" y="2697887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8333" r="-200568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8333" r="-9943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108333" r="-20056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108333" r="-9943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1136" t="-108333" b="-100000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208333" r="-2005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208333" r="-99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1136" t="-20833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814" y="3933056"/>
                <a:ext cx="2209707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6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+9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−4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−6</m:t>
                      </m:r>
                    </m:oMath>
                  </m:oMathPara>
                </a14:m>
                <a:endParaRPr lang="en-AU" b="0" dirty="0" smtClean="0"/>
              </a:p>
              <a:p>
                <a:r>
                  <a:rPr lang="en-AU" dirty="0" smtClean="0"/>
                  <a:t>=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/>
                      </a:rPr>
                      <m:t> </m:t>
                    </m:r>
                    <m:r>
                      <a:rPr lang="en-AU" i="1">
                        <a:latin typeface="Cambria Math"/>
                      </a:rPr>
                      <m:t>6</m:t>
                    </m:r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5</m:t>
                    </m:r>
                    <m:r>
                      <a:rPr lang="en-AU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AU" i="1">
                        <a:latin typeface="Cambria Math"/>
                      </a:rPr>
                      <m:t>−6</m:t>
                    </m:r>
                  </m:oMath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814" y="3933056"/>
                <a:ext cx="2209707" cy="923330"/>
              </a:xfrm>
              <a:prstGeom prst="rect">
                <a:avLst/>
              </a:prstGeom>
              <a:blipFill rotWithShape="1">
                <a:blip r:embed="rId4"/>
                <a:stretch>
                  <a:fillRect l="-24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64091" y="4671720"/>
            <a:ext cx="2707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use the FOIL method?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59832" y="4697563"/>
            <a:ext cx="9156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F</a:t>
            </a:r>
            <a:r>
              <a:rPr lang="en-AU" dirty="0" smtClean="0"/>
              <a:t>irst</a:t>
            </a:r>
            <a:r>
              <a:rPr lang="en-AU" dirty="0" smtClean="0">
                <a:solidFill>
                  <a:srgbClr val="0070C0"/>
                </a:solidFill>
              </a:rPr>
              <a:t> 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O</a:t>
            </a:r>
            <a:r>
              <a:rPr lang="en-AU" dirty="0" smtClean="0"/>
              <a:t>utside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I</a:t>
            </a:r>
            <a:r>
              <a:rPr lang="en-AU" dirty="0" smtClean="0"/>
              <a:t>nner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L</a:t>
            </a:r>
            <a:r>
              <a:rPr lang="en-AU" dirty="0" smtClean="0"/>
              <a:t>ast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168916" y="4687311"/>
                <a:ext cx="2633670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>
                    <a:solidFill>
                      <a:schemeClr val="tx1"/>
                    </a:solidFill>
                  </a:rPr>
                  <a:t>Expand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AU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AU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AU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+3</m:t>
                        </m:r>
                      </m:e>
                    </m:d>
                    <m:d>
                      <m:dPr>
                        <m:ctrlPr>
                          <a:rPr lang="en-AU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AU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3</m:t>
                        </m:r>
                        <m:r>
                          <a:rPr lang="en-AU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AU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−2</m:t>
                        </m:r>
                      </m:e>
                    </m:d>
                  </m:oMath>
                </a14:m>
                <a:endParaRPr lang="en-AU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=6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0" smtClean="0">
                          <a:latin typeface="Cambria Math"/>
                        </a:rPr>
                        <m:t>−4</m:t>
                      </m:r>
                      <m:r>
                        <a:rPr lang="en-AU" i="1">
                          <a:latin typeface="Cambria Math"/>
                        </a:rPr>
                        <m:t>𝑥</m:t>
                      </m:r>
                      <m:r>
                        <a:rPr lang="en-AU" b="0" i="0" smtClean="0">
                          <a:latin typeface="Cambria Math"/>
                        </a:rPr>
                        <m:t>+9</m:t>
                      </m:r>
                      <m:r>
                        <a:rPr lang="en-AU" i="1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−6</m:t>
                      </m:r>
                    </m:oMath>
                  </m:oMathPara>
                </a14:m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=6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+5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−6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dirty="0"/>
              </a:p>
              <a:p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916" y="4687311"/>
                <a:ext cx="2633670" cy="1477328"/>
              </a:xfrm>
              <a:prstGeom prst="rect">
                <a:avLst/>
              </a:prstGeom>
              <a:blipFill rotWithShape="1">
                <a:blip r:embed="rId5"/>
                <a:stretch>
                  <a:fillRect l="-2083" t="-206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9133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621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Factorising Expressions 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HCF to factorise expressions?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3948270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dirty="0" smtClean="0">
                              <a:solidFill>
                                <a:srgbClr val="0070C0"/>
                              </a:solidFill>
                            </a:rPr>
                            <a:t>+5</a:t>
                          </a:r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8932142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8333" r="-20113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99435" t="-8333" r="-100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dirty="0" smtClean="0">
                              <a:solidFill>
                                <a:srgbClr val="0070C0"/>
                              </a:solidFill>
                            </a:rPr>
                            <a:t>+5</a:t>
                          </a:r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99435" t="-108333" r="-1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" name="TextBox 1"/>
          <p:cNvSpPr txBox="1"/>
          <p:nvPr/>
        </p:nvSpPr>
        <p:spPr>
          <a:xfrm>
            <a:off x="93471" y="1943799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HCF?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71268" y="1943799"/>
            <a:ext cx="3001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HCF – Highest Common factor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2492896"/>
            <a:ext cx="1991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factorise?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Factorise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𝑝</m:t>
                    </m:r>
                    <m:r>
                      <a:rPr lang="en-AU" b="0" i="1" smtClean="0">
                        <a:latin typeface="Cambria Math"/>
                      </a:rPr>
                      <m:t>+10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932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169931" y="3140968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Find the HCF of both terms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72200" y="2677562"/>
            <a:ext cx="207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Divide terms by HCF</a:t>
            </a:r>
            <a:endParaRPr lang="en-AU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071268" y="3856873"/>
                <a:ext cx="3512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Write the expression using brackets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AU" b="0" i="1" smtClean="0">
                          <a:latin typeface="Cambria Math"/>
                        </a:rPr>
                        <m:t>(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𝑝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+5)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268" y="3856873"/>
                <a:ext cx="3512244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1563" t="-4717" r="-694" b="-6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1205022"/>
                  </p:ext>
                </p:extLst>
              </p:nvPr>
            </p:nvGraphicFramePr>
            <p:xfrm>
              <a:off x="3976750" y="5373216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+3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10</m:t>
                                </m:r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+15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5658192"/>
                  </p:ext>
                </p:extLst>
              </p:nvPr>
            </p:nvGraphicFramePr>
            <p:xfrm>
              <a:off x="3976750" y="5373216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r="-201136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99435" r="-100000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568" r="-568" b="-101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100000" r="-201136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99435" t="-100000" r="-100000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568" t="-100000" r="-568" b="-1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171927" y="4870104"/>
                <a:ext cx="22427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Factorise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10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+15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1927" y="4870104"/>
                <a:ext cx="2242793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2174"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3200139" y="6237312"/>
                <a:ext cx="317206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/>
                        </a:rPr>
                        <m:t>10</m:t>
                      </m:r>
                      <m:sSup>
                        <m:sSupPr>
                          <m:ctrlPr>
                            <a:rPr lang="en-AU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latin typeface="Cambria Math"/>
                        </a:rPr>
                        <m:t>+15</m:t>
                      </m:r>
                      <m:r>
                        <a:rPr lang="en-AU" i="1">
                          <a:latin typeface="Cambria Math"/>
                        </a:rPr>
                        <m:t>𝑥</m:t>
                      </m:r>
                      <m:r>
                        <a:rPr lang="en-AU" b="0" i="0" smtClean="0">
                          <a:latin typeface="Cambria Math"/>
                        </a:rPr>
                        <m:t>=</m:t>
                      </m:r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5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i="1">
                          <a:latin typeface="Cambria Math"/>
                        </a:rPr>
                        <m:t>(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2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i="1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3</m:t>
                      </m:r>
                      <m:r>
                        <a:rPr lang="en-AU" i="1">
                          <a:solidFill>
                            <a:srgbClr val="0070C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139" y="6237312"/>
                <a:ext cx="3172061" cy="369332"/>
              </a:xfrm>
              <a:prstGeom prst="rect">
                <a:avLst/>
              </a:prstGeom>
              <a:blipFill rotWithShape="1">
                <a:blip r:embed="rId7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1811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54053" r="25416"/>
          <a:stretch/>
        </p:blipFill>
        <p:spPr bwMode="auto">
          <a:xfrm>
            <a:off x="1043608" y="4365104"/>
            <a:ext cx="6705236" cy="1998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02" t="32293" r="53228" b="55494"/>
          <a:stretch/>
        </p:blipFill>
        <p:spPr bwMode="auto">
          <a:xfrm>
            <a:off x="899592" y="567060"/>
            <a:ext cx="4711314" cy="1061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02" t="52130" r="52378" b="37627"/>
          <a:stretch/>
        </p:blipFill>
        <p:spPr bwMode="auto">
          <a:xfrm>
            <a:off x="1030412" y="1812702"/>
            <a:ext cx="5265594" cy="968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6" t="40058" r="48536" b="49068"/>
          <a:stretch/>
        </p:blipFill>
        <p:spPr bwMode="auto">
          <a:xfrm>
            <a:off x="1069007" y="2915320"/>
            <a:ext cx="5929603" cy="1017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6264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764704"/>
            <a:ext cx="7632848" cy="4536504"/>
          </a:xfrm>
        </p:spPr>
        <p:txBody>
          <a:bodyPr>
            <a:normAutofit/>
          </a:bodyPr>
          <a:lstStyle/>
          <a:p>
            <a:r>
              <a:rPr lang="en-AU" b="1" dirty="0" smtClean="0">
                <a:solidFill>
                  <a:schemeClr val="tx1"/>
                </a:solidFill>
              </a:rPr>
              <a:t>Exercises</a:t>
            </a:r>
          </a:p>
          <a:p>
            <a:r>
              <a:rPr lang="en-AU" b="1" dirty="0" smtClean="0">
                <a:solidFill>
                  <a:schemeClr val="tx1"/>
                </a:solidFill>
              </a:rPr>
              <a:t>Exercise 6.1  and 6.2 from Dwyer</a:t>
            </a:r>
          </a:p>
          <a:p>
            <a:endParaRPr lang="en-AU" b="1" dirty="0">
              <a:solidFill>
                <a:schemeClr val="tx1"/>
              </a:solidFill>
            </a:endParaRPr>
          </a:p>
          <a:p>
            <a:endParaRPr lang="en-AU" b="1" dirty="0">
              <a:solidFill>
                <a:schemeClr val="tx1"/>
              </a:solidFill>
            </a:endParaRPr>
          </a:p>
          <a:p>
            <a:r>
              <a:rPr lang="en-AU" b="1" dirty="0" smtClean="0">
                <a:solidFill>
                  <a:schemeClr val="tx2"/>
                </a:solidFill>
              </a:rPr>
              <a:t>All to be done with a smile on your faces.</a:t>
            </a:r>
            <a:endParaRPr lang="en-AU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309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1018</TotalTime>
  <Words>581</Words>
  <Application>Microsoft Office PowerPoint</Application>
  <PresentationFormat>On-screen Show (4:3)</PresentationFormat>
  <Paragraphs>146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My Algebra - Quadratics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79</cp:revision>
  <dcterms:created xsi:type="dcterms:W3CDTF">2014-05-14T02:58:57Z</dcterms:created>
  <dcterms:modified xsi:type="dcterms:W3CDTF">2016-04-26T04:52:10Z</dcterms:modified>
</cp:coreProperties>
</file>
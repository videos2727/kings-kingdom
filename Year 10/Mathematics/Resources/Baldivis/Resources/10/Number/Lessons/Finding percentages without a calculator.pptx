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0" r:id="rId2"/>
    <p:sldId id="259" r:id="rId3"/>
    <p:sldId id="258" r:id="rId4"/>
    <p:sldId id="303" r:id="rId5"/>
    <p:sldId id="304" r:id="rId6"/>
    <p:sldId id="306" r:id="rId7"/>
    <p:sldId id="307" r:id="rId8"/>
    <p:sldId id="308" r:id="rId9"/>
    <p:sldId id="305" r:id="rId10"/>
    <p:sldId id="309" r:id="rId11"/>
    <p:sldId id="310" r:id="rId12"/>
    <p:sldId id="311" r:id="rId13"/>
    <p:sldId id="312" r:id="rId14"/>
    <p:sldId id="313" r:id="rId15"/>
    <p:sldId id="314" r:id="rId16"/>
    <p:sldId id="292" r:id="rId17"/>
    <p:sldId id="29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1230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15/02/2015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calculate percentages of amounts without a calculator?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1972846"/>
            <a:ext cx="227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percentage?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calculate percentages of amounts without a calculator?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1972846"/>
            <a:ext cx="227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percentage?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30587" y="1984058"/>
            <a:ext cx="2598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 smtClean="0"/>
              <a:t>Percent</a:t>
            </a:r>
            <a:r>
              <a:rPr lang="en-AU" dirty="0" smtClean="0"/>
              <a:t> means out of 100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72693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Copy and Complete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541222"/>
              </p:ext>
            </p:extLst>
          </p:nvPr>
        </p:nvGraphicFramePr>
        <p:xfrm>
          <a:off x="1549400" y="1651000"/>
          <a:ext cx="6108700" cy="4652433"/>
        </p:xfrm>
        <a:graphic>
          <a:graphicData uri="http://schemas.openxmlformats.org/drawingml/2006/table">
            <a:tbl>
              <a:tblPr/>
              <a:tblGrid>
                <a:gridCol w="2036233"/>
                <a:gridCol w="2036234"/>
                <a:gridCol w="2036233"/>
              </a:tblGrid>
              <a:tr h="664633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smtClean="0"/>
                        <a:t>Percentage</a:t>
                      </a:r>
                      <a:r>
                        <a:rPr lang="en-AU" sz="2800" baseline="0" dirty="0" smtClean="0"/>
                        <a:t> </a:t>
                      </a:r>
                      <a:endParaRPr lang="en-AU" sz="28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smtClean="0"/>
                        <a:t>Fraction</a:t>
                      </a:r>
                      <a:r>
                        <a:rPr lang="en-AU" sz="2800" baseline="0" dirty="0" smtClean="0"/>
                        <a:t> </a:t>
                      </a:r>
                      <a:endParaRPr lang="en-A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smtClean="0"/>
                        <a:t>Decimal</a:t>
                      </a:r>
                      <a:endParaRPr lang="en-A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463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smtClean="0"/>
                        <a:t>1%</a:t>
                      </a:r>
                      <a:endParaRPr lang="en-A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4633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smtClean="0"/>
                        <a:t>10%</a:t>
                      </a:r>
                      <a:endParaRPr lang="en-A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4633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smtClean="0"/>
                        <a:t>25%</a:t>
                      </a:r>
                      <a:endParaRPr lang="en-A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463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smtClean="0"/>
                        <a:t>50%</a:t>
                      </a:r>
                      <a:endParaRPr lang="en-A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4633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smtClean="0"/>
                        <a:t>75%</a:t>
                      </a:r>
                      <a:endParaRPr lang="en-A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4633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smtClean="0"/>
                        <a:t>100%</a:t>
                      </a:r>
                      <a:endParaRPr lang="en-AU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Copy and Complete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5723705"/>
                  </p:ext>
                </p:extLst>
              </p:nvPr>
            </p:nvGraphicFramePr>
            <p:xfrm>
              <a:off x="1549400" y="1651000"/>
              <a:ext cx="6108700" cy="4652433"/>
            </p:xfrm>
            <a:graphic>
              <a:graphicData uri="http://schemas.openxmlformats.org/drawingml/2006/table">
                <a:tbl>
                  <a:tblPr/>
                  <a:tblGrid>
                    <a:gridCol w="2036233"/>
                    <a:gridCol w="2036234"/>
                    <a:gridCol w="2036233"/>
                  </a:tblGrid>
                  <a:tr h="664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Percentage</a:t>
                          </a:r>
                          <a:r>
                            <a:rPr lang="en-AU" sz="2800" baseline="0" dirty="0" smtClean="0"/>
                            <a:t> </a:t>
                          </a:r>
                          <a:endParaRPr lang="en-AU" sz="2800" dirty="0"/>
                        </a:p>
                      </a:txBody>
                      <a:tcPr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Fraction</a:t>
                          </a:r>
                          <a:r>
                            <a:rPr lang="en-AU" sz="2800" baseline="0" dirty="0" smtClean="0"/>
                            <a:t> 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Decimal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10%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100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25%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25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100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50%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50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100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75%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75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100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100%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100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100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5723705"/>
                  </p:ext>
                </p:extLst>
              </p:nvPr>
            </p:nvGraphicFramePr>
            <p:xfrm>
              <a:off x="1549400" y="1651000"/>
              <a:ext cx="6108700" cy="4652433"/>
            </p:xfrm>
            <a:graphic>
              <a:graphicData uri="http://schemas.openxmlformats.org/drawingml/2006/table">
                <a:tbl>
                  <a:tblPr/>
                  <a:tblGrid>
                    <a:gridCol w="2036233"/>
                    <a:gridCol w="2036234"/>
                    <a:gridCol w="2036233"/>
                  </a:tblGrid>
                  <a:tr h="664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Percentage</a:t>
                          </a:r>
                          <a:r>
                            <a:rPr lang="en-AU" sz="2800" baseline="0" dirty="0" smtClean="0"/>
                            <a:t> </a:t>
                          </a:r>
                          <a:endParaRPr lang="en-AU" sz="2800" dirty="0"/>
                        </a:p>
                      </a:txBody>
                      <a:tcPr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Fraction</a:t>
                          </a:r>
                          <a:r>
                            <a:rPr lang="en-AU" sz="2800" baseline="0" dirty="0" smtClean="0"/>
                            <a:t> 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Decimal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000" t="-108257" r="-100299" b="-504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10%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000" t="-208257" r="-100299" b="-404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25%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000" t="-308257" r="-100299" b="-304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50%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000" t="-408257" r="-100299" b="-204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75%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000" t="-508257" r="-100299" b="-104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100%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000" t="-608257" r="-100299" b="-4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5205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Copy and Complete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6406409"/>
                  </p:ext>
                </p:extLst>
              </p:nvPr>
            </p:nvGraphicFramePr>
            <p:xfrm>
              <a:off x="1549400" y="1651000"/>
              <a:ext cx="6108700" cy="4652433"/>
            </p:xfrm>
            <a:graphic>
              <a:graphicData uri="http://schemas.openxmlformats.org/drawingml/2006/table">
                <a:tbl>
                  <a:tblPr/>
                  <a:tblGrid>
                    <a:gridCol w="2036233"/>
                    <a:gridCol w="2036234"/>
                    <a:gridCol w="2036233"/>
                  </a:tblGrid>
                  <a:tr h="664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Percentage</a:t>
                          </a:r>
                          <a:r>
                            <a:rPr lang="en-AU" sz="2800" baseline="0" dirty="0" smtClean="0"/>
                            <a:t> </a:t>
                          </a:r>
                          <a:endParaRPr lang="en-AU" sz="2800" dirty="0"/>
                        </a:p>
                      </a:txBody>
                      <a:tcPr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Fraction</a:t>
                          </a:r>
                          <a:r>
                            <a:rPr lang="en-AU" sz="2800" baseline="0" dirty="0" smtClean="0"/>
                            <a:t> 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Decimal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0.01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10%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100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0.1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25%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25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100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0.25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50%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50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100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0.5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75%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75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100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0.75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100%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100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100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6406409"/>
                  </p:ext>
                </p:extLst>
              </p:nvPr>
            </p:nvGraphicFramePr>
            <p:xfrm>
              <a:off x="1549400" y="1651000"/>
              <a:ext cx="6108700" cy="4652433"/>
            </p:xfrm>
            <a:graphic>
              <a:graphicData uri="http://schemas.openxmlformats.org/drawingml/2006/table">
                <a:tbl>
                  <a:tblPr/>
                  <a:tblGrid>
                    <a:gridCol w="2036233"/>
                    <a:gridCol w="2036234"/>
                    <a:gridCol w="2036233"/>
                  </a:tblGrid>
                  <a:tr h="664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Percentage</a:t>
                          </a:r>
                          <a:r>
                            <a:rPr lang="en-AU" sz="2800" baseline="0" dirty="0" smtClean="0"/>
                            <a:t> </a:t>
                          </a:r>
                          <a:endParaRPr lang="en-AU" sz="2800" dirty="0"/>
                        </a:p>
                      </a:txBody>
                      <a:tcPr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Fraction</a:t>
                          </a:r>
                          <a:r>
                            <a:rPr lang="en-AU" sz="2800" baseline="0" dirty="0" smtClean="0"/>
                            <a:t> 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Decimal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000" t="-108257" r="-100299" b="-504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0.01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10%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000" t="-208257" r="-100299" b="-404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0.1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25%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000" t="-308257" r="-100299" b="-304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0.25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50%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000" t="-408257" r="-100299" b="-204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0.5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75%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000" t="-508257" r="-100299" b="-104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0.75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6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100%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000" t="-608257" r="-100299" b="-4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1</a:t>
                          </a:r>
                          <a:endParaRPr lang="en-AU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2698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calculate percentages of amounts without a calculator?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1972846"/>
            <a:ext cx="227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percentage?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30587" y="1984058"/>
            <a:ext cx="2598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 smtClean="0"/>
              <a:t>Percent</a:t>
            </a:r>
            <a:r>
              <a:rPr lang="en-AU" dirty="0" smtClean="0"/>
              <a:t> means out of 100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1487" y="2492896"/>
            <a:ext cx="2172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you find 1%?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255498" y="2492896"/>
                <a:ext cx="4004943" cy="485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1%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dirty="0" smtClean="0"/>
                  <a:t>  so to find 1% you divide by 100</a:t>
                </a:r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498" y="2492896"/>
                <a:ext cx="4004943" cy="485197"/>
              </a:xfrm>
              <a:prstGeom prst="rect">
                <a:avLst/>
              </a:prstGeom>
              <a:blipFill rotWithShape="1">
                <a:blip r:embed="rId2"/>
                <a:stretch>
                  <a:fillRect l="-1218" r="-457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4447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calculate percentages of amounts without a calculator?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1972846"/>
            <a:ext cx="227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percentage?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30587" y="1984058"/>
            <a:ext cx="2598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 smtClean="0"/>
              <a:t>Percent</a:t>
            </a:r>
            <a:r>
              <a:rPr lang="en-AU" dirty="0" smtClean="0"/>
              <a:t> means out of 100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1487" y="2492896"/>
            <a:ext cx="2172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you find 1%?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130587" y="2492896"/>
                <a:ext cx="4004943" cy="485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1%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dirty="0" smtClean="0"/>
                  <a:t>  so to find 1% you divide by 100</a:t>
                </a:r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587" y="2492896"/>
                <a:ext cx="4004943" cy="485197"/>
              </a:xfrm>
              <a:prstGeom prst="rect">
                <a:avLst/>
              </a:prstGeom>
              <a:blipFill rotWithShape="1">
                <a:blip r:embed="rId2"/>
                <a:stretch>
                  <a:fillRect l="-1370" r="-30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19514" y="3140968"/>
            <a:ext cx="1884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2%?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134531" y="3325634"/>
            <a:ext cx="4382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2% is double 1% so find 1% and then double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3747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calculate percentages of amounts without a calculator?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93471" y="1972846"/>
            <a:ext cx="227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percentage?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30587" y="1984058"/>
            <a:ext cx="2598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 smtClean="0"/>
              <a:t>Percent</a:t>
            </a:r>
            <a:r>
              <a:rPr lang="en-AU" dirty="0" smtClean="0"/>
              <a:t> means out of 100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1487" y="2492896"/>
            <a:ext cx="2172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you find 1%?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130587" y="2492896"/>
                <a:ext cx="4004943" cy="485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1%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dirty="0" smtClean="0"/>
                  <a:t>  so to find 1% you divide by 100</a:t>
                </a:r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587" y="2492896"/>
                <a:ext cx="4004943" cy="485197"/>
              </a:xfrm>
              <a:prstGeom prst="rect">
                <a:avLst/>
              </a:prstGeom>
              <a:blipFill rotWithShape="1">
                <a:blip r:embed="rId2"/>
                <a:stretch>
                  <a:fillRect l="-1370" r="-304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19514" y="3140968"/>
            <a:ext cx="1884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2%?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134531" y="3325634"/>
            <a:ext cx="4382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2% is double 1% so find 1% and then double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3476952"/>
                  </p:ext>
                </p:extLst>
              </p:nvPr>
            </p:nvGraphicFramePr>
            <p:xfrm>
              <a:off x="3064547" y="4097054"/>
              <a:ext cx="3583658" cy="2391614"/>
            </p:xfrm>
            <a:graphic>
              <a:graphicData uri="http://schemas.openxmlformats.org/drawingml/2006/table">
                <a:tbl>
                  <a:tblPr/>
                  <a:tblGrid>
                    <a:gridCol w="1791829"/>
                    <a:gridCol w="1791829"/>
                  </a:tblGrid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Percentage</a:t>
                          </a:r>
                          <a:r>
                            <a:rPr lang="en-AU" sz="1800" baseline="0" dirty="0" smtClean="0"/>
                            <a:t> </a:t>
                          </a:r>
                          <a:endParaRPr lang="en-AU" sz="1800" dirty="0"/>
                        </a:p>
                      </a:txBody>
                      <a:tcPr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Fraction</a:t>
                          </a:r>
                          <a:r>
                            <a:rPr lang="en-AU" sz="1800" baseline="0" dirty="0" smtClean="0"/>
                            <a:t> 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1%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10%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25%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50%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3476952"/>
                  </p:ext>
                </p:extLst>
              </p:nvPr>
            </p:nvGraphicFramePr>
            <p:xfrm>
              <a:off x="3064547" y="4097054"/>
              <a:ext cx="3583658" cy="2391614"/>
            </p:xfrm>
            <a:graphic>
              <a:graphicData uri="http://schemas.openxmlformats.org/drawingml/2006/table">
                <a:tbl>
                  <a:tblPr/>
                  <a:tblGrid>
                    <a:gridCol w="1791829"/>
                    <a:gridCol w="1791829"/>
                  </a:tblGrid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Percentage</a:t>
                          </a:r>
                          <a:r>
                            <a:rPr lang="en-AU" sz="1800" baseline="0" dirty="0" smtClean="0"/>
                            <a:t> </a:t>
                          </a:r>
                          <a:endParaRPr lang="en-AU" sz="1800" dirty="0"/>
                        </a:p>
                      </a:txBody>
                      <a:tcPr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Fraction</a:t>
                          </a:r>
                          <a:r>
                            <a:rPr lang="en-AU" sz="1800" baseline="0" dirty="0" smtClean="0"/>
                            <a:t> 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922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1%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340" t="-93750" b="-305000"/>
                          </a:stretch>
                        </a:blipFill>
                      </a:tcPr>
                    </a:tc>
                  </a:tr>
                  <a:tr h="4922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10%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340" t="-191358" b="-201235"/>
                          </a:stretch>
                        </a:blipFill>
                      </a:tcPr>
                    </a:tc>
                  </a:tr>
                  <a:tr h="4908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25%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340" t="-291358" b="-101235"/>
                          </a:stretch>
                        </a:blipFill>
                      </a:tcPr>
                    </a:tc>
                  </a:tr>
                  <a:tr h="4908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50%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340" t="-396250" b="-25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7" name="TextBox 16"/>
          <p:cNvSpPr txBox="1"/>
          <p:nvPr/>
        </p:nvSpPr>
        <p:spPr>
          <a:xfrm>
            <a:off x="119515" y="3707740"/>
            <a:ext cx="2796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any percentage?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011172" y="3707740"/>
            <a:ext cx="431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Use the fraction to calculate the following %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71370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37084" y="5970796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calculate percentages of amounts without a calculator?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51322" y="1933228"/>
            <a:ext cx="2172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you find 1%?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019207" y="1975024"/>
                <a:ext cx="4004943" cy="4851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1%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dirty="0" smtClean="0"/>
                  <a:t>  so to find 1% you divide by 100</a:t>
                </a:r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207" y="1975024"/>
                <a:ext cx="4004943" cy="485197"/>
              </a:xfrm>
              <a:prstGeom prst="rect">
                <a:avLst/>
              </a:prstGeom>
              <a:blipFill rotWithShape="1">
                <a:blip r:embed="rId2"/>
                <a:stretch>
                  <a:fillRect l="-1218" r="-457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79349" y="2581300"/>
            <a:ext cx="1884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How do I find 2%?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023151" y="2807762"/>
            <a:ext cx="4382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2% is double 1% so find 1% and then double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8623863"/>
                  </p:ext>
                </p:extLst>
              </p:nvPr>
            </p:nvGraphicFramePr>
            <p:xfrm>
              <a:off x="2953167" y="3579182"/>
              <a:ext cx="3583658" cy="2391614"/>
            </p:xfrm>
            <a:graphic>
              <a:graphicData uri="http://schemas.openxmlformats.org/drawingml/2006/table">
                <a:tbl>
                  <a:tblPr/>
                  <a:tblGrid>
                    <a:gridCol w="1791829"/>
                    <a:gridCol w="1791829"/>
                  </a:tblGrid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Percentage</a:t>
                          </a:r>
                          <a:r>
                            <a:rPr lang="en-AU" sz="1800" baseline="0" dirty="0" smtClean="0"/>
                            <a:t> </a:t>
                          </a:r>
                          <a:endParaRPr lang="en-AU" sz="1800" dirty="0"/>
                        </a:p>
                      </a:txBody>
                      <a:tcPr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Fraction</a:t>
                          </a:r>
                          <a:r>
                            <a:rPr lang="en-AU" sz="1800" baseline="0" dirty="0" smtClean="0"/>
                            <a:t> 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1%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10%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25%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50%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8623863"/>
                  </p:ext>
                </p:extLst>
              </p:nvPr>
            </p:nvGraphicFramePr>
            <p:xfrm>
              <a:off x="2953167" y="3579182"/>
              <a:ext cx="3583658" cy="2391614"/>
            </p:xfrm>
            <a:graphic>
              <a:graphicData uri="http://schemas.openxmlformats.org/drawingml/2006/table">
                <a:tbl>
                  <a:tblPr/>
                  <a:tblGrid>
                    <a:gridCol w="1791829"/>
                    <a:gridCol w="1791829"/>
                  </a:tblGrid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Percentage</a:t>
                          </a:r>
                          <a:r>
                            <a:rPr lang="en-AU" sz="1800" baseline="0" dirty="0" smtClean="0"/>
                            <a:t> </a:t>
                          </a:r>
                          <a:endParaRPr lang="en-AU" sz="1800" dirty="0"/>
                        </a:p>
                      </a:txBody>
                      <a:tcPr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Fraction</a:t>
                          </a:r>
                          <a:r>
                            <a:rPr lang="en-AU" sz="1800" baseline="0" dirty="0" smtClean="0"/>
                            <a:t> 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922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1%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93750" r="-340" b="-305000"/>
                          </a:stretch>
                        </a:blipFill>
                      </a:tcPr>
                    </a:tc>
                  </a:tr>
                  <a:tr h="4922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10%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191358" r="-340" b="-201235"/>
                          </a:stretch>
                        </a:blipFill>
                      </a:tcPr>
                    </a:tc>
                  </a:tr>
                  <a:tr h="4908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25%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291358" r="-340" b="-101235"/>
                          </a:stretch>
                        </a:blipFill>
                      </a:tcPr>
                    </a:tc>
                  </a:tr>
                  <a:tr h="4908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50%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0000" t="-396250" r="-340" b="-25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7" name="TextBox 16"/>
          <p:cNvSpPr txBox="1"/>
          <p:nvPr/>
        </p:nvSpPr>
        <p:spPr>
          <a:xfrm>
            <a:off x="179350" y="3148072"/>
            <a:ext cx="2796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any percentage?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899792" y="3189868"/>
            <a:ext cx="431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Use the fraction to calculate the following %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23151" y="6155462"/>
            <a:ext cx="4420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Use the answers to find the given percentage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5111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17050" y="4841776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calculate percentages of amounts without a calculator?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5047160"/>
                  </p:ext>
                </p:extLst>
              </p:nvPr>
            </p:nvGraphicFramePr>
            <p:xfrm>
              <a:off x="2933133" y="2450162"/>
              <a:ext cx="3583658" cy="2391614"/>
            </p:xfrm>
            <a:graphic>
              <a:graphicData uri="http://schemas.openxmlformats.org/drawingml/2006/table">
                <a:tbl>
                  <a:tblPr/>
                  <a:tblGrid>
                    <a:gridCol w="1791829"/>
                    <a:gridCol w="1791829"/>
                  </a:tblGrid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Percentage</a:t>
                          </a:r>
                          <a:r>
                            <a:rPr lang="en-AU" sz="1800" baseline="0" dirty="0" smtClean="0"/>
                            <a:t> </a:t>
                          </a:r>
                          <a:endParaRPr lang="en-AU" sz="1800" dirty="0"/>
                        </a:p>
                      </a:txBody>
                      <a:tcPr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Fraction</a:t>
                          </a:r>
                          <a:r>
                            <a:rPr lang="en-AU" sz="1800" baseline="0" dirty="0" smtClean="0"/>
                            <a:t> 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1%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10%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25%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50%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5047160"/>
                  </p:ext>
                </p:extLst>
              </p:nvPr>
            </p:nvGraphicFramePr>
            <p:xfrm>
              <a:off x="2933133" y="2450162"/>
              <a:ext cx="3583658" cy="2391614"/>
            </p:xfrm>
            <a:graphic>
              <a:graphicData uri="http://schemas.openxmlformats.org/drawingml/2006/table">
                <a:tbl>
                  <a:tblPr/>
                  <a:tblGrid>
                    <a:gridCol w="1791829"/>
                    <a:gridCol w="1791829"/>
                  </a:tblGrid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Percentage</a:t>
                          </a:r>
                          <a:r>
                            <a:rPr lang="en-AU" sz="1800" baseline="0" dirty="0" smtClean="0"/>
                            <a:t> </a:t>
                          </a:r>
                          <a:endParaRPr lang="en-AU" sz="1800" dirty="0"/>
                        </a:p>
                      </a:txBody>
                      <a:tcPr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Fraction</a:t>
                          </a:r>
                          <a:r>
                            <a:rPr lang="en-AU" sz="1800" baseline="0" dirty="0" smtClean="0"/>
                            <a:t> 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922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1%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000" t="-93750" r="-340" b="-305000"/>
                          </a:stretch>
                        </a:blipFill>
                      </a:tcPr>
                    </a:tc>
                  </a:tr>
                  <a:tr h="4922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10%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000" t="-191358" r="-340" b="-201235"/>
                          </a:stretch>
                        </a:blipFill>
                      </a:tcPr>
                    </a:tc>
                  </a:tr>
                  <a:tr h="4908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25%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000" t="-291358" r="-340" b="-101235"/>
                          </a:stretch>
                        </a:blipFill>
                      </a:tcPr>
                    </a:tc>
                  </a:tr>
                  <a:tr h="4908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50%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000" t="-396250" r="-340" b="-25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7" name="TextBox 16"/>
          <p:cNvSpPr txBox="1"/>
          <p:nvPr/>
        </p:nvSpPr>
        <p:spPr>
          <a:xfrm>
            <a:off x="159316" y="2019052"/>
            <a:ext cx="2796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any percentage?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879758" y="2060848"/>
            <a:ext cx="431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Use the fraction to calculate the following %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03117" y="5026442"/>
            <a:ext cx="4420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Use the answers to find the given percentage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55799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898731" y="5292049"/>
                <a:ext cx="295465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0070C0"/>
                    </a:solidFill>
                  </a:rPr>
                  <a:t>Find 57% of $864</a:t>
                </a:r>
              </a:p>
              <a:p>
                <a:r>
                  <a:rPr lang="en-AU" dirty="0" smtClean="0">
                    <a:solidFill>
                      <a:srgbClr val="0070C0"/>
                    </a:solidFill>
                  </a:rPr>
                  <a:t>50% = 864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÷2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=$432</m:t>
                    </m:r>
                  </m:oMath>
                </a14:m>
                <a:endParaRPr lang="en-AU" b="0" dirty="0" smtClean="0">
                  <a:solidFill>
                    <a:srgbClr val="0070C0"/>
                  </a:solidFill>
                </a:endParaRPr>
              </a:p>
              <a:p>
                <a:r>
                  <a:rPr lang="en-AU" dirty="0" smtClean="0">
                    <a:solidFill>
                      <a:srgbClr val="0070C0"/>
                    </a:solidFill>
                  </a:rPr>
                  <a:t>10% = 864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10=$86.4 </m:t>
                    </m:r>
                  </m:oMath>
                </a14:m>
                <a:r>
                  <a:rPr lang="en-AU" b="0" dirty="0" smtClean="0">
                    <a:solidFill>
                      <a:srgbClr val="0070C0"/>
                    </a:solidFill>
                    <a:ea typeface="Cambria Math"/>
                  </a:rPr>
                  <a:t>	</a:t>
                </a:r>
              </a:p>
              <a:p>
                <a:r>
                  <a:rPr lang="en-AU" dirty="0" smtClean="0">
                    <a:solidFill>
                      <a:srgbClr val="0070C0"/>
                    </a:solidFill>
                  </a:rPr>
                  <a:t>1% = 864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100=$8.64</m:t>
                    </m:r>
                  </m:oMath>
                </a14:m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8731" y="5292049"/>
                <a:ext cx="2954655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1860" t="-2538" b="-7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7811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17050" y="4841776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calculate percentages of amounts without a calculator?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45656"/>
                  </p:ext>
                </p:extLst>
              </p:nvPr>
            </p:nvGraphicFramePr>
            <p:xfrm>
              <a:off x="2933133" y="2450162"/>
              <a:ext cx="3583658" cy="2391614"/>
            </p:xfrm>
            <a:graphic>
              <a:graphicData uri="http://schemas.openxmlformats.org/drawingml/2006/table">
                <a:tbl>
                  <a:tblPr/>
                  <a:tblGrid>
                    <a:gridCol w="1791829"/>
                    <a:gridCol w="1791829"/>
                  </a:tblGrid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Percentage</a:t>
                          </a:r>
                          <a:r>
                            <a:rPr lang="en-AU" sz="1800" baseline="0" dirty="0" smtClean="0"/>
                            <a:t> </a:t>
                          </a:r>
                          <a:endParaRPr lang="en-AU" sz="1800" dirty="0"/>
                        </a:p>
                      </a:txBody>
                      <a:tcPr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Fraction</a:t>
                          </a:r>
                          <a:r>
                            <a:rPr lang="en-AU" sz="1800" baseline="0" dirty="0" smtClean="0"/>
                            <a:t> 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1%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10%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25%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50%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4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45656"/>
                  </p:ext>
                </p:extLst>
              </p:nvPr>
            </p:nvGraphicFramePr>
            <p:xfrm>
              <a:off x="2933133" y="2450162"/>
              <a:ext cx="3583658" cy="2391614"/>
            </p:xfrm>
            <a:graphic>
              <a:graphicData uri="http://schemas.openxmlformats.org/drawingml/2006/table">
                <a:tbl>
                  <a:tblPr/>
                  <a:tblGrid>
                    <a:gridCol w="1791829"/>
                    <a:gridCol w="1791829"/>
                  </a:tblGrid>
                  <a:tr h="425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Percentage</a:t>
                          </a:r>
                          <a:r>
                            <a:rPr lang="en-AU" sz="1800" baseline="0" dirty="0" smtClean="0"/>
                            <a:t> </a:t>
                          </a:r>
                          <a:endParaRPr lang="en-AU" sz="1800" dirty="0"/>
                        </a:p>
                      </a:txBody>
                      <a:tcPr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Fraction</a:t>
                          </a:r>
                          <a:r>
                            <a:rPr lang="en-AU" sz="1800" baseline="0" dirty="0" smtClean="0"/>
                            <a:t> 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922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1%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000" t="-93750" r="-340" b="-305000"/>
                          </a:stretch>
                        </a:blipFill>
                      </a:tcPr>
                    </a:tc>
                  </a:tr>
                  <a:tr h="4922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10%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000" t="-191358" r="-340" b="-201235"/>
                          </a:stretch>
                        </a:blipFill>
                      </a:tcPr>
                    </a:tc>
                  </a:tr>
                  <a:tr h="4908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25%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000" t="-291358" r="-340" b="-101235"/>
                          </a:stretch>
                        </a:blipFill>
                      </a:tcPr>
                    </a:tc>
                  </a:tr>
                  <a:tr h="4908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800" dirty="0" smtClean="0"/>
                            <a:t>50%</a:t>
                          </a:r>
                          <a:endParaRPr lang="en-AU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000" t="-396250" r="-340" b="-25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7" name="TextBox 16"/>
          <p:cNvSpPr txBox="1"/>
          <p:nvPr/>
        </p:nvSpPr>
        <p:spPr>
          <a:xfrm>
            <a:off x="159316" y="2019052"/>
            <a:ext cx="2796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any percentage?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879758" y="2060848"/>
            <a:ext cx="431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Use the fraction to calculate the following %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03117" y="5026442"/>
            <a:ext cx="4420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Use the answers to find the given percentage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55799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898731" y="5292049"/>
                <a:ext cx="6308137" cy="1314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0070C0"/>
                    </a:solidFill>
                  </a:rPr>
                  <a:t>Find 57% of $864</a:t>
                </a:r>
              </a:p>
              <a:p>
                <a:r>
                  <a:rPr lang="en-AU" dirty="0" smtClean="0">
                    <a:solidFill>
                      <a:srgbClr val="0070C0"/>
                    </a:solidFill>
                  </a:rPr>
                  <a:t>50% = 864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÷2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=$432</m:t>
                    </m:r>
                  </m:oMath>
                </a14:m>
                <a:endParaRPr lang="en-AU" b="0" dirty="0" smtClean="0">
                  <a:solidFill>
                    <a:srgbClr val="0070C0"/>
                  </a:solidFill>
                </a:endParaRPr>
              </a:p>
              <a:p>
                <a:r>
                  <a:rPr lang="en-AU" dirty="0" smtClean="0">
                    <a:solidFill>
                      <a:srgbClr val="0070C0"/>
                    </a:solidFill>
                  </a:rPr>
                  <a:t>10% = 864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10=$86.4 </m:t>
                    </m:r>
                  </m:oMath>
                </a14:m>
                <a:r>
                  <a:rPr lang="en-AU" b="0" dirty="0" smtClean="0">
                    <a:solidFill>
                      <a:srgbClr val="0070C0"/>
                    </a:solidFill>
                    <a:ea typeface="Cambria Math"/>
                  </a:rPr>
                  <a:t>	5%=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𝑜𝑓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 10%= 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𝑜𝑓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 86.4=43.2</m:t>
                    </m:r>
                  </m:oMath>
                </a14:m>
                <a:endParaRPr lang="en-AU" b="0" dirty="0" smtClean="0">
                  <a:solidFill>
                    <a:srgbClr val="0070C0"/>
                  </a:solidFill>
                  <a:ea typeface="Cambria Math"/>
                </a:endParaRPr>
              </a:p>
              <a:p>
                <a:r>
                  <a:rPr lang="en-AU" dirty="0" smtClean="0">
                    <a:solidFill>
                      <a:srgbClr val="0070C0"/>
                    </a:solidFill>
                  </a:rPr>
                  <a:t>1% = 864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100=$8.64</m:t>
                    </m:r>
                  </m:oMath>
                </a14:m>
                <a:r>
                  <a:rPr lang="en-AU" dirty="0" smtClean="0">
                    <a:solidFill>
                      <a:srgbClr val="0070C0"/>
                    </a:solidFill>
                  </a:rPr>
                  <a:t>         2% = 2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1%=2×8.64=$17.28</m:t>
                    </m:r>
                  </m:oMath>
                </a14:m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8731" y="5292049"/>
                <a:ext cx="6308137" cy="1314462"/>
              </a:xfrm>
              <a:prstGeom prst="rect">
                <a:avLst/>
              </a:prstGeom>
              <a:blipFill rotWithShape="1">
                <a:blip r:embed="rId3"/>
                <a:stretch>
                  <a:fillRect l="-870" t="-2315" b="-64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0311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78365" y="147395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 calculate percentages of amounts without a calculator?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4786" y="2212123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60046" y="1924224"/>
                <a:ext cx="6308137" cy="29764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>
                    <a:solidFill>
                      <a:srgbClr val="0070C0"/>
                    </a:solidFill>
                  </a:rPr>
                  <a:t>Find 57% of $864</a:t>
                </a:r>
              </a:p>
              <a:p>
                <a:r>
                  <a:rPr lang="en-AU" dirty="0" smtClean="0">
                    <a:solidFill>
                      <a:srgbClr val="0070C0"/>
                    </a:solidFill>
                  </a:rPr>
                  <a:t>50% = 864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÷2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</a:rPr>
                      <m:t>=$432</m:t>
                    </m:r>
                  </m:oMath>
                </a14:m>
                <a:endParaRPr lang="en-AU" b="0" dirty="0" smtClean="0">
                  <a:solidFill>
                    <a:srgbClr val="0070C0"/>
                  </a:solidFill>
                </a:endParaRPr>
              </a:p>
              <a:p>
                <a:r>
                  <a:rPr lang="en-AU" dirty="0" smtClean="0">
                    <a:solidFill>
                      <a:srgbClr val="0070C0"/>
                    </a:solidFill>
                  </a:rPr>
                  <a:t>10% = 864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10=$86.4 </m:t>
                    </m:r>
                  </m:oMath>
                </a14:m>
                <a:r>
                  <a:rPr lang="en-AU" b="0" dirty="0" smtClean="0">
                    <a:solidFill>
                      <a:srgbClr val="0070C0"/>
                    </a:solidFill>
                    <a:ea typeface="Cambria Math"/>
                  </a:rPr>
                  <a:t>	5%=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𝑜𝑓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 10%= 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𝑜𝑓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 86.4=43.2</m:t>
                    </m:r>
                  </m:oMath>
                </a14:m>
                <a:endParaRPr lang="en-AU" b="0" dirty="0" smtClean="0">
                  <a:solidFill>
                    <a:srgbClr val="0070C0"/>
                  </a:solidFill>
                  <a:ea typeface="Cambria Math"/>
                </a:endParaRPr>
              </a:p>
              <a:p>
                <a:r>
                  <a:rPr lang="en-AU" dirty="0" smtClean="0">
                    <a:solidFill>
                      <a:srgbClr val="0070C0"/>
                    </a:solidFill>
                  </a:rPr>
                  <a:t>1% = 864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100=$8.64</m:t>
                    </m:r>
                  </m:oMath>
                </a14:m>
                <a:r>
                  <a:rPr lang="en-AU" dirty="0" smtClean="0">
                    <a:solidFill>
                      <a:srgbClr val="0070C0"/>
                    </a:solidFill>
                  </a:rPr>
                  <a:t>         2% = 2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1%=2×8.64=$17.28</m:t>
                    </m:r>
                  </m:oMath>
                </a14:m>
                <a:endParaRPr lang="en-AU" b="0" dirty="0" smtClean="0">
                  <a:solidFill>
                    <a:srgbClr val="0070C0"/>
                  </a:solidFill>
                  <a:ea typeface="Cambria Math"/>
                </a:endParaRPr>
              </a:p>
              <a:p>
                <a:endParaRPr lang="en-AU" dirty="0" smtClean="0">
                  <a:solidFill>
                    <a:srgbClr val="0070C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∴</m:t>
                      </m:r>
                    </m:oMath>
                  </m:oMathPara>
                </a14:m>
                <a:endParaRPr lang="en-AU" b="0" dirty="0" smtClean="0">
                  <a:solidFill>
                    <a:srgbClr val="0070C0"/>
                  </a:solidFill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  50%=432</m:t>
                      </m:r>
                    </m:oMath>
                  </m:oMathPara>
                </a14:m>
                <a:endParaRPr lang="en-AU" b="0" dirty="0" smtClean="0">
                  <a:solidFill>
                    <a:srgbClr val="0070C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  +5%=  43.2</m:t>
                      </m:r>
                    </m:oMath>
                  </m:oMathPara>
                </a14:m>
                <a:endParaRPr lang="en-AU" b="0" dirty="0" smtClean="0">
                  <a:solidFill>
                    <a:srgbClr val="0070C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u="sng" smtClean="0">
                          <a:solidFill>
                            <a:srgbClr val="0070C0"/>
                          </a:solidFill>
                          <a:latin typeface="Cambria Math"/>
                        </a:rPr>
                        <m:t>  + 2%= 17.28</m:t>
                      </m:r>
                    </m:oMath>
                  </m:oMathPara>
                </a14:m>
                <a:endParaRPr lang="en-AU" b="0" u="sng" dirty="0" smtClean="0">
                  <a:solidFill>
                    <a:srgbClr val="0070C0"/>
                  </a:solidFill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r>
                  <a:rPr lang="en-AU" dirty="0" smtClean="0">
                    <a:solidFill>
                      <a:srgbClr val="0070C0"/>
                    </a:solidFill>
                  </a:rPr>
                  <a:t> 57% = $492.48</a:t>
                </a:r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046" y="1924224"/>
                <a:ext cx="6308137" cy="2976456"/>
              </a:xfrm>
              <a:prstGeom prst="rect">
                <a:avLst/>
              </a:prstGeom>
              <a:blipFill rotWithShape="1">
                <a:blip r:embed="rId2"/>
                <a:stretch>
                  <a:fillRect l="-870" t="-1025" b="-24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382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1293</TotalTime>
  <Words>874</Words>
  <Application>Microsoft Office PowerPoint</Application>
  <PresentationFormat>On-screen Show (4:3)</PresentationFormat>
  <Paragraphs>248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Copy and Complete</vt:lpstr>
      <vt:lpstr>Copy and Complete</vt:lpstr>
      <vt:lpstr>Copy and Complete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80</cp:revision>
  <dcterms:created xsi:type="dcterms:W3CDTF">2014-05-14T02:58:57Z</dcterms:created>
  <dcterms:modified xsi:type="dcterms:W3CDTF">2015-02-15T13:52:22Z</dcterms:modified>
</cp:coreProperties>
</file>
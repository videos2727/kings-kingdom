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60" r:id="rId2"/>
    <p:sldId id="259" r:id="rId3"/>
    <p:sldId id="258" r:id="rId4"/>
    <p:sldId id="303" r:id="rId5"/>
    <p:sldId id="304" r:id="rId6"/>
    <p:sldId id="305" r:id="rId7"/>
    <p:sldId id="306" r:id="rId8"/>
    <p:sldId id="307" r:id="rId9"/>
    <p:sldId id="308" r:id="rId10"/>
    <p:sldId id="309" r:id="rId11"/>
    <p:sldId id="310" r:id="rId12"/>
    <p:sldId id="311" r:id="rId13"/>
    <p:sldId id="312" r:id="rId14"/>
    <p:sldId id="313" r:id="rId15"/>
    <p:sldId id="314" r:id="rId16"/>
    <p:sldId id="315" r:id="rId17"/>
    <p:sldId id="316" r:id="rId18"/>
    <p:sldId id="317" r:id="rId19"/>
    <p:sldId id="318" r:id="rId20"/>
    <p:sldId id="319" r:id="rId21"/>
    <p:sldId id="320" r:id="rId22"/>
    <p:sldId id="323" r:id="rId23"/>
    <p:sldId id="324" r:id="rId24"/>
    <p:sldId id="321" r:id="rId25"/>
    <p:sldId id="325" r:id="rId26"/>
    <p:sldId id="292" r:id="rId27"/>
    <p:sldId id="291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5" autoAdjust="0"/>
    <p:restoredTop sz="96625" autoAdjust="0"/>
  </p:normalViewPr>
  <p:slideViewPr>
    <p:cSldViewPr>
      <p:cViewPr>
        <p:scale>
          <a:sx n="75" d="100"/>
          <a:sy n="75" d="100"/>
        </p:scale>
        <p:origin x="-1218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5/02/2015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5/02/2015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2.png"/><Relationship Id="rId7" Type="http://schemas.openxmlformats.org/officeDocument/2006/relationships/image" Target="../media/image31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30.png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2.png"/><Relationship Id="rId7" Type="http://schemas.openxmlformats.org/officeDocument/2006/relationships/image" Target="../media/image31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30.png"/><Relationship Id="rId4" Type="http://schemas.openxmlformats.org/officeDocument/2006/relationships/image" Target="../media/image25.png"/><Relationship Id="rId9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2.png"/><Relationship Id="rId7" Type="http://schemas.openxmlformats.org/officeDocument/2006/relationships/image" Target="../media/image31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5.png"/><Relationship Id="rId9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Number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6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7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7766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</a:t>
            </a:r>
            <a:r>
              <a:rPr lang="en-AU" sz="2800" dirty="0" smtClean="0"/>
              <a:t>Laws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Describe how the index laws can be used to simplif</a:t>
            </a:r>
            <a:r>
              <a:rPr lang="en-AU" sz="2400" dirty="0" smtClean="0"/>
              <a:t>y expressions with indices.</a:t>
            </a:r>
            <a:r>
              <a:rPr lang="en-AU" sz="2400" dirty="0" smtClean="0"/>
              <a:t> 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 –Expand the following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4</m:t>
                        </m:r>
                      </m:sup>
                    </m:sSup>
                    <m:r>
                      <a:rPr lang="en-AU" i="1" smtClean="0">
                        <a:latin typeface="Cambria Math"/>
                        <a:ea typeface="Cambria Math"/>
                      </a:rPr>
                      <m:t>×</m:t>
                    </m:r>
                    <m:sSup>
                      <m:sSupPr>
                        <m:ctrlPr>
                          <a:rPr lang="en-AU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AU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/>
                              </a:rPr>
                              <m:t>3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/>
                              </a:rPr>
                              <m:t>7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AU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/>
                              </a:rPr>
                              <m:t>3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endParaRPr lang="en-AU" dirty="0" smtClean="0"/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AU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i="1">
                                <a:latin typeface="Cambria Math"/>
                              </a:rPr>
                              <m:t>(3</m:t>
                            </m:r>
                          </m:e>
                          <m:sup>
                            <m:r>
                              <a:rPr lang="en-AU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en-AU" i="1">
                            <a:latin typeface="Cambria Math"/>
                          </a:rPr>
                          <m:t>)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4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(4</m:t>
                        </m:r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×3)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3738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 –Expand the following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4</m:t>
                        </m:r>
                      </m:sup>
                    </m:sSup>
                    <m:r>
                      <a:rPr lang="en-AU" i="1" smtClean="0">
                        <a:latin typeface="Cambria Math"/>
                        <a:ea typeface="Cambria Math"/>
                      </a:rPr>
                      <m:t>×</m:t>
                    </m:r>
                    <m:sSup>
                      <m:sSupPr>
                        <m:ctrlPr>
                          <a:rPr lang="en-AU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AU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/>
                              </a:rPr>
                              <m:t>3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/>
                              </a:rPr>
                              <m:t>7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AU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/>
                              </a:rPr>
                              <m:t>3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endParaRPr lang="en-AU" dirty="0" smtClean="0"/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AU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i="1">
                                <a:latin typeface="Cambria Math"/>
                              </a:rPr>
                              <m:t>(3</m:t>
                            </m:r>
                          </m:e>
                          <m:sup>
                            <m:r>
                              <a:rPr lang="en-AU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en-AU" i="1">
                            <a:latin typeface="Cambria Math"/>
                          </a:rPr>
                          <m:t>)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4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(4</m:t>
                        </m:r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×3)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680138" y="4522787"/>
            <a:ext cx="36023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Now simplify your answers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221296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 –Expand the following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4</m:t>
                        </m:r>
                      </m:sup>
                    </m:sSup>
                    <m:r>
                      <a:rPr lang="en-AU" i="1" smtClean="0">
                        <a:latin typeface="Cambria Math"/>
                        <a:ea typeface="Cambria Math"/>
                      </a:rPr>
                      <m:t>×</m:t>
                    </m:r>
                    <m:sSup>
                      <m:sSupPr>
                        <m:ctrlPr>
                          <a:rPr lang="en-AU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  <a:ea typeface="Cambria Math"/>
                      </a:rPr>
                      <m:t>=3×3×3×3×3×3</m:t>
                    </m:r>
                  </m:oMath>
                </a14:m>
                <a:endParaRPr lang="en-AU" dirty="0" smtClean="0"/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AU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/>
                              </a:rPr>
                              <m:t>3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/>
                              </a:rPr>
                              <m:t>7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AU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/>
                              </a:rPr>
                              <m:t>3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endParaRPr lang="en-AU" dirty="0" smtClean="0"/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AU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i="1">
                                <a:latin typeface="Cambria Math"/>
                              </a:rPr>
                              <m:t>(3</m:t>
                            </m:r>
                          </m:e>
                          <m:sup>
                            <m:r>
                              <a:rPr lang="en-AU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en-AU" i="1">
                            <a:latin typeface="Cambria Math"/>
                          </a:rPr>
                          <m:t>)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4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(4</m:t>
                        </m:r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×3)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680138" y="4522787"/>
            <a:ext cx="36023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Now simplify your answers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311584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 –Expand the following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4</m:t>
                        </m:r>
                      </m:sup>
                    </m:sSup>
                    <m:r>
                      <a:rPr lang="en-AU" i="1" smtClean="0">
                        <a:latin typeface="Cambria Math"/>
                        <a:ea typeface="Cambria Math"/>
                      </a:rPr>
                      <m:t>×</m:t>
                    </m:r>
                    <m:sSup>
                      <m:sSupPr>
                        <m:ctrlPr>
                          <a:rPr lang="en-AU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  <a:ea typeface="Cambria Math"/>
                      </a:rPr>
                      <m:t>=3×3×3×3×3×3=</m:t>
                    </m:r>
                    <m:sSup>
                      <m:sSupPr>
                        <m:ctrlPr>
                          <a:rPr lang="en-AU" b="0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6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AU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/>
                              </a:rPr>
                              <m:t>3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/>
                              </a:rPr>
                              <m:t>7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AU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/>
                              </a:rPr>
                              <m:t>3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a:rPr lang="en-AU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×3×3×3×3×3×3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×3×3×3</m:t>
                        </m:r>
                      </m:den>
                    </m:f>
                  </m:oMath>
                </a14:m>
                <a:endParaRPr lang="en-AU" dirty="0" smtClean="0"/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AU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i="1">
                                <a:latin typeface="Cambria Math"/>
                              </a:rPr>
                              <m:t>(3</m:t>
                            </m:r>
                          </m:e>
                          <m:sup>
                            <m:r>
                              <a:rPr lang="en-AU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en-AU" i="1">
                            <a:latin typeface="Cambria Math"/>
                          </a:rPr>
                          <m:t>)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4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(4</m:t>
                        </m:r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×3)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680138" y="4522787"/>
            <a:ext cx="36023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Now simplify your answers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151767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 –Expand the following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4</m:t>
                        </m:r>
                      </m:sup>
                    </m:sSup>
                    <m:r>
                      <a:rPr lang="en-AU" i="1" smtClean="0">
                        <a:latin typeface="Cambria Math"/>
                        <a:ea typeface="Cambria Math"/>
                      </a:rPr>
                      <m:t>×</m:t>
                    </m:r>
                    <m:sSup>
                      <m:sSupPr>
                        <m:ctrlPr>
                          <a:rPr lang="en-AU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  <a:ea typeface="Cambria Math"/>
                      </a:rPr>
                      <m:t>=3×3×3×3×3×3=</m:t>
                    </m:r>
                    <m:sSup>
                      <m:sSupPr>
                        <m:ctrlPr>
                          <a:rPr lang="en-AU" b="0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6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AU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/>
                              </a:rPr>
                              <m:t>3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/>
                              </a:rPr>
                              <m:t>7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AU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/>
                              </a:rPr>
                              <m:t>3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a:rPr lang="en-AU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×3×3×</m:t>
                        </m:r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3</m:t>
                        </m:r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×</m:t>
                        </m:r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3</m:t>
                        </m:r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×</m:t>
                        </m:r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3</m:t>
                        </m:r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×</m:t>
                        </m:r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3</m:t>
                        </m:r>
                      </m:num>
                      <m:den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3</m:t>
                        </m:r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×</m:t>
                        </m:r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3</m:t>
                        </m:r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×</m:t>
                        </m:r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3</m:t>
                        </m:r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×</m:t>
                        </m:r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3</m:t>
                        </m:r>
                      </m:den>
                    </m:f>
                  </m:oMath>
                </a14:m>
                <a:endParaRPr lang="en-AU" dirty="0" smtClean="0"/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AU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i="1">
                                <a:latin typeface="Cambria Math"/>
                              </a:rPr>
                              <m:t>(3</m:t>
                            </m:r>
                          </m:e>
                          <m:sup>
                            <m:r>
                              <a:rPr lang="en-AU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en-AU" i="1">
                            <a:latin typeface="Cambria Math"/>
                          </a:rPr>
                          <m:t>)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4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(4</m:t>
                        </m:r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×3)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680138" y="4522787"/>
            <a:ext cx="36023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Now simplify your answers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905680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 –Expand the following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4</m:t>
                        </m:r>
                      </m:sup>
                    </m:sSup>
                    <m:r>
                      <a:rPr lang="en-AU" i="1" smtClean="0">
                        <a:latin typeface="Cambria Math"/>
                        <a:ea typeface="Cambria Math"/>
                      </a:rPr>
                      <m:t>×</m:t>
                    </m:r>
                    <m:sSup>
                      <m:sSupPr>
                        <m:ctrlPr>
                          <a:rPr lang="en-AU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  <a:ea typeface="Cambria Math"/>
                      </a:rPr>
                      <m:t>=3×3×3×3×3×3=</m:t>
                    </m:r>
                    <m:sSup>
                      <m:sSupPr>
                        <m:ctrlPr>
                          <a:rPr lang="en-AU" b="0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6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AU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/>
                              </a:rPr>
                              <m:t>3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/>
                              </a:rPr>
                              <m:t>7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AU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/>
                              </a:rPr>
                              <m:t>3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a:rPr lang="en-AU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×3×3×</m:t>
                        </m:r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3</m:t>
                        </m:r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×</m:t>
                        </m:r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3</m:t>
                        </m:r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×</m:t>
                        </m:r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3</m:t>
                        </m:r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×</m:t>
                        </m:r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3</m:t>
                        </m:r>
                      </m:num>
                      <m:den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3</m:t>
                        </m:r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×</m:t>
                        </m:r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3</m:t>
                        </m:r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×</m:t>
                        </m:r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3</m:t>
                        </m:r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×</m:t>
                        </m:r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3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=3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×3×3=</m:t>
                    </m:r>
                    <m:sSup>
                      <m:sSupPr>
                        <m:ctrlPr>
                          <a:rPr lang="en-AU" b="0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AU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i="1">
                                <a:latin typeface="Cambria Math"/>
                              </a:rPr>
                              <m:t>(3</m:t>
                            </m:r>
                          </m:e>
                          <m:sup>
                            <m:r>
                              <a:rPr lang="en-AU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en-AU" i="1">
                            <a:latin typeface="Cambria Math"/>
                          </a:rPr>
                          <m:t>)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4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(4</m:t>
                        </m:r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×3)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680138" y="4522787"/>
            <a:ext cx="36023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Now simplify your answers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436356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 –Expand the following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4</m:t>
                        </m:r>
                      </m:sup>
                    </m:sSup>
                    <m:r>
                      <a:rPr lang="en-AU" i="1" smtClean="0">
                        <a:latin typeface="Cambria Math"/>
                        <a:ea typeface="Cambria Math"/>
                      </a:rPr>
                      <m:t>×</m:t>
                    </m:r>
                    <m:sSup>
                      <m:sSupPr>
                        <m:ctrlPr>
                          <a:rPr lang="en-AU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  <a:ea typeface="Cambria Math"/>
                      </a:rPr>
                      <m:t>=3×3×3×3×3×3=</m:t>
                    </m:r>
                    <m:sSup>
                      <m:sSupPr>
                        <m:ctrlPr>
                          <a:rPr lang="en-AU" b="0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6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AU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/>
                              </a:rPr>
                              <m:t>3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/>
                              </a:rPr>
                              <m:t>7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AU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/>
                              </a:rPr>
                              <m:t>3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a:rPr lang="en-AU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×3×3×</m:t>
                        </m:r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3</m:t>
                        </m:r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×</m:t>
                        </m:r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3</m:t>
                        </m:r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×</m:t>
                        </m:r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3</m:t>
                        </m:r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×</m:t>
                        </m:r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3</m:t>
                        </m:r>
                      </m:num>
                      <m:den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3</m:t>
                        </m:r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×</m:t>
                        </m:r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3</m:t>
                        </m:r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×</m:t>
                        </m:r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3</m:t>
                        </m:r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×</m:t>
                        </m:r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3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=3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×3×3=</m:t>
                    </m:r>
                    <m:sSup>
                      <m:sSupPr>
                        <m:ctrlPr>
                          <a:rPr lang="en-AU" b="0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AU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i="1">
                                <a:latin typeface="Cambria Math"/>
                              </a:rPr>
                              <m:t>(3</m:t>
                            </m:r>
                          </m:e>
                          <m:sup>
                            <m:r>
                              <a:rPr lang="en-AU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en-AU" i="1">
                            <a:latin typeface="Cambria Math"/>
                          </a:rPr>
                          <m:t>)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4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AU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  <a:ea typeface="Cambria Math"/>
                      </a:rPr>
                      <m:t>×</m:t>
                    </m:r>
                    <m:sSup>
                      <m:sSupPr>
                        <m:ctrlPr>
                          <a:rPr lang="en-AU" b="0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  <a:ea typeface="Cambria Math"/>
                      </a:rPr>
                      <m:t>×</m:t>
                    </m:r>
                    <m:sSup>
                      <m:sSupPr>
                        <m:ctrlPr>
                          <a:rPr lang="en-AU" b="0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  <a:ea typeface="Cambria Math"/>
                      </a:rPr>
                      <m:t>×</m:t>
                    </m:r>
                    <m:sSup>
                      <m:sSupPr>
                        <m:ctrlPr>
                          <a:rPr lang="en-AU" b="0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b="0" i="1" dirty="0" smtClean="0">
                  <a:latin typeface="Cambria Math"/>
                  <a:ea typeface="Cambria Math"/>
                </a:endParaRPr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(4</m:t>
                        </m:r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×3)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680138" y="4522787"/>
            <a:ext cx="36023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Now simplify your answers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631446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 –Expand the following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4</m:t>
                        </m:r>
                      </m:sup>
                    </m:sSup>
                    <m:r>
                      <a:rPr lang="en-AU" i="1" smtClean="0">
                        <a:latin typeface="Cambria Math"/>
                        <a:ea typeface="Cambria Math"/>
                      </a:rPr>
                      <m:t>×</m:t>
                    </m:r>
                    <m:sSup>
                      <m:sSupPr>
                        <m:ctrlPr>
                          <a:rPr lang="en-AU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  <a:ea typeface="Cambria Math"/>
                      </a:rPr>
                      <m:t>=3×3×3×3×3×3=</m:t>
                    </m:r>
                    <m:sSup>
                      <m:sSupPr>
                        <m:ctrlPr>
                          <a:rPr lang="en-AU" b="0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6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AU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/>
                              </a:rPr>
                              <m:t>3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/>
                              </a:rPr>
                              <m:t>7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AU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/>
                              </a:rPr>
                              <m:t>3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a:rPr lang="en-AU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×3×3×</m:t>
                        </m:r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3</m:t>
                        </m:r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×</m:t>
                        </m:r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3</m:t>
                        </m:r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×</m:t>
                        </m:r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3</m:t>
                        </m:r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×</m:t>
                        </m:r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3</m:t>
                        </m:r>
                      </m:num>
                      <m:den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3</m:t>
                        </m:r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×</m:t>
                        </m:r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3</m:t>
                        </m:r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×</m:t>
                        </m:r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3</m:t>
                        </m:r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×</m:t>
                        </m:r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3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=3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×3×3=</m:t>
                    </m:r>
                    <m:sSup>
                      <m:sSupPr>
                        <m:ctrlPr>
                          <a:rPr lang="en-AU" b="0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AU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i="1">
                                <a:latin typeface="Cambria Math"/>
                              </a:rPr>
                              <m:t>(3</m:t>
                            </m:r>
                          </m:e>
                          <m:sup>
                            <m:r>
                              <a:rPr lang="en-AU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en-AU" i="1">
                            <a:latin typeface="Cambria Math"/>
                          </a:rPr>
                          <m:t>)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4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AU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  <a:ea typeface="Cambria Math"/>
                      </a:rPr>
                      <m:t>×</m:t>
                    </m:r>
                    <m:sSup>
                      <m:sSupPr>
                        <m:ctrlPr>
                          <a:rPr lang="en-AU" b="0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  <a:ea typeface="Cambria Math"/>
                      </a:rPr>
                      <m:t>×</m:t>
                    </m:r>
                    <m:sSup>
                      <m:sSupPr>
                        <m:ctrlPr>
                          <a:rPr lang="en-AU" b="0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  <a:ea typeface="Cambria Math"/>
                      </a:rPr>
                      <m:t>×</m:t>
                    </m:r>
                    <m:sSup>
                      <m:sSupPr>
                        <m:ctrlPr>
                          <a:rPr lang="en-AU" b="0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b="0" i="1" dirty="0" smtClean="0">
                  <a:latin typeface="Cambria Math"/>
                  <a:ea typeface="Cambria Math"/>
                </a:endParaRPr>
              </a:p>
              <a:p>
                <a:pPr marL="0" indent="0">
                  <a:buNone/>
                </a:pPr>
                <a:r>
                  <a:rPr lang="en-AU" b="0" dirty="0" smtClean="0">
                    <a:ea typeface="Cambria Math"/>
                  </a:rPr>
                  <a:t>    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  <a:ea typeface="Cambria Math"/>
                      </a:rPr>
                      <m:t>3×3×3×3×3×3×3×3</m:t>
                    </m:r>
                    <m:r>
                      <a:rPr lang="en-AU" b="0" i="0" smtClean="0">
                        <a:latin typeface="Cambria Math"/>
                        <a:ea typeface="Cambria Math"/>
                      </a:rPr>
                      <m:t>=</m:t>
                    </m:r>
                    <m:sSup>
                      <m:sSupPr>
                        <m:ctrlPr>
                          <a:rPr lang="en-AU" b="0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8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:pPr marL="514350" indent="-514350">
                  <a:buFont typeface="+mj-lt"/>
                  <a:buAutoNum type="arabicParenR" startAt="4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(4</m:t>
                        </m:r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×3)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7749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 –Expand the following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4</m:t>
                        </m:r>
                      </m:sup>
                    </m:sSup>
                    <m:r>
                      <a:rPr lang="en-AU" i="1" smtClean="0">
                        <a:latin typeface="Cambria Math"/>
                        <a:ea typeface="Cambria Math"/>
                      </a:rPr>
                      <m:t>×</m:t>
                    </m:r>
                    <m:sSup>
                      <m:sSupPr>
                        <m:ctrlPr>
                          <a:rPr lang="en-AU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  <a:ea typeface="Cambria Math"/>
                      </a:rPr>
                      <m:t>=3×3×3×3×3×3=</m:t>
                    </m:r>
                    <m:sSup>
                      <m:sSupPr>
                        <m:ctrlPr>
                          <a:rPr lang="en-AU" b="0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6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AU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/>
                              </a:rPr>
                              <m:t>3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/>
                              </a:rPr>
                              <m:t>7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AU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/>
                              </a:rPr>
                              <m:t>3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a:rPr lang="en-AU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×3×3×</m:t>
                        </m:r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3</m:t>
                        </m:r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×</m:t>
                        </m:r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3</m:t>
                        </m:r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×</m:t>
                        </m:r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3</m:t>
                        </m:r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×</m:t>
                        </m:r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3</m:t>
                        </m:r>
                      </m:num>
                      <m:den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3</m:t>
                        </m:r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×</m:t>
                        </m:r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3</m:t>
                        </m:r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×</m:t>
                        </m:r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3</m:t>
                        </m:r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×</m:t>
                        </m:r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3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=3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×3×3=</m:t>
                    </m:r>
                    <m:sSup>
                      <m:sSupPr>
                        <m:ctrlPr>
                          <a:rPr lang="en-AU" b="0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AU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i="1">
                                <a:latin typeface="Cambria Math"/>
                              </a:rPr>
                              <m:t>(3</m:t>
                            </m:r>
                          </m:e>
                          <m:sup>
                            <m:r>
                              <a:rPr lang="en-AU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en-AU" i="1">
                            <a:latin typeface="Cambria Math"/>
                          </a:rPr>
                          <m:t>)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4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AU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  <a:ea typeface="Cambria Math"/>
                      </a:rPr>
                      <m:t>×</m:t>
                    </m:r>
                    <m:sSup>
                      <m:sSupPr>
                        <m:ctrlPr>
                          <a:rPr lang="en-AU" b="0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  <a:ea typeface="Cambria Math"/>
                      </a:rPr>
                      <m:t>×</m:t>
                    </m:r>
                    <m:sSup>
                      <m:sSupPr>
                        <m:ctrlPr>
                          <a:rPr lang="en-AU" b="0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  <a:ea typeface="Cambria Math"/>
                      </a:rPr>
                      <m:t>×</m:t>
                    </m:r>
                    <m:sSup>
                      <m:sSupPr>
                        <m:ctrlPr>
                          <a:rPr lang="en-AU" b="0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b="0" i="1" dirty="0" smtClean="0">
                  <a:latin typeface="Cambria Math"/>
                  <a:ea typeface="Cambria Math"/>
                </a:endParaRPr>
              </a:p>
              <a:p>
                <a:pPr marL="0" indent="0">
                  <a:buNone/>
                </a:pPr>
                <a:r>
                  <a:rPr lang="en-AU" b="0" dirty="0" smtClean="0">
                    <a:ea typeface="Cambria Math"/>
                  </a:rPr>
                  <a:t>    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  <a:ea typeface="Cambria Math"/>
                      </a:rPr>
                      <m:t>3×3×3×3×3×3×3×3</m:t>
                    </m:r>
                    <m:r>
                      <a:rPr lang="en-AU" b="0" i="0" smtClean="0">
                        <a:latin typeface="Cambria Math"/>
                        <a:ea typeface="Cambria Math"/>
                      </a:rPr>
                      <m:t>=</m:t>
                    </m:r>
                    <m:sSup>
                      <m:sSupPr>
                        <m:ctrlPr>
                          <a:rPr lang="en-AU" b="0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8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:pPr marL="514350" indent="-514350">
                  <a:buFont typeface="+mj-lt"/>
                  <a:buAutoNum type="arabicParenR" startAt="4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(4</m:t>
                        </m:r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×3)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AU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/>
                          </a:rPr>
                          <m:t>4</m:t>
                        </m:r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×3</m:t>
                        </m:r>
                      </m:e>
                    </m:d>
                    <m:r>
                      <a:rPr lang="en-AU" b="0" i="1" smtClean="0">
                        <a:latin typeface="Cambria Math"/>
                        <a:ea typeface="Cambria Math"/>
                      </a:rPr>
                      <m:t>×</m:t>
                    </m:r>
                    <m:d>
                      <m:dPr>
                        <m:ctrlPr>
                          <a:rPr lang="en-AU" b="0" i="1" smtClean="0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4×3</m:t>
                        </m:r>
                      </m:e>
                    </m:d>
                    <m:r>
                      <a:rPr lang="en-AU" b="0" i="1" smtClean="0">
                        <a:latin typeface="Cambria Math"/>
                        <a:ea typeface="Cambria Math"/>
                      </a:rPr>
                      <m:t>×</m:t>
                    </m:r>
                    <m:d>
                      <m:dPr>
                        <m:ctrlPr>
                          <a:rPr lang="en-AU" b="0" i="1" smtClean="0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4×3</m:t>
                        </m:r>
                      </m:e>
                    </m:d>
                  </m:oMath>
                </a14:m>
                <a:endParaRPr lang="en-AU" b="0" i="1" dirty="0" smtClean="0">
                  <a:latin typeface="Cambria Math"/>
                  <a:ea typeface="Cambria Math"/>
                </a:endParaRPr>
              </a:p>
              <a:p>
                <a:pPr marL="0" indent="0">
                  <a:buNone/>
                </a:pPr>
                <a:endParaRPr lang="en-AU" b="0" dirty="0" smtClean="0">
                  <a:ea typeface="Cambria Math"/>
                </a:endParaRPr>
              </a:p>
              <a:p>
                <a:pPr marL="0" indent="0">
                  <a:buNone/>
                </a:pPr>
                <a:endParaRPr lang="en-AU" b="0" dirty="0" smtClean="0">
                  <a:ea typeface="Cambria Math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7320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 –Expand the following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4</m:t>
                        </m:r>
                      </m:sup>
                    </m:sSup>
                    <m:r>
                      <a:rPr lang="en-AU" i="1" smtClean="0">
                        <a:latin typeface="Cambria Math"/>
                        <a:ea typeface="Cambria Math"/>
                      </a:rPr>
                      <m:t>×</m:t>
                    </m:r>
                    <m:sSup>
                      <m:sSupPr>
                        <m:ctrlPr>
                          <a:rPr lang="en-AU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  <a:ea typeface="Cambria Math"/>
                      </a:rPr>
                      <m:t>=3×3×3×3×3×3=</m:t>
                    </m:r>
                    <m:sSup>
                      <m:sSupPr>
                        <m:ctrlPr>
                          <a:rPr lang="en-AU" b="0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6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AU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/>
                              </a:rPr>
                              <m:t>3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/>
                              </a:rPr>
                              <m:t>7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AU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/>
                              </a:rPr>
                              <m:t>3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a:rPr lang="en-AU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×3×3×</m:t>
                        </m:r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3</m:t>
                        </m:r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×</m:t>
                        </m:r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3</m:t>
                        </m:r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×</m:t>
                        </m:r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3</m:t>
                        </m:r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×</m:t>
                        </m:r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3</m:t>
                        </m:r>
                      </m:num>
                      <m:den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3</m:t>
                        </m:r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×</m:t>
                        </m:r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3</m:t>
                        </m:r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×</m:t>
                        </m:r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3</m:t>
                        </m:r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×</m:t>
                        </m:r>
                        <m:r>
                          <a:rPr lang="en-AU" b="0" i="1" strike="sngStrike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3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=3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×3×3=</m:t>
                    </m:r>
                    <m:sSup>
                      <m:sSupPr>
                        <m:ctrlPr>
                          <a:rPr lang="en-AU" b="0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AU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i="1">
                                <a:latin typeface="Cambria Math"/>
                              </a:rPr>
                              <m:t>(3</m:t>
                            </m:r>
                          </m:e>
                          <m:sup>
                            <m:r>
                              <a:rPr lang="en-AU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en-AU" i="1">
                            <a:latin typeface="Cambria Math"/>
                          </a:rPr>
                          <m:t>)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4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AU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  <a:ea typeface="Cambria Math"/>
                      </a:rPr>
                      <m:t>×</m:t>
                    </m:r>
                    <m:sSup>
                      <m:sSupPr>
                        <m:ctrlPr>
                          <a:rPr lang="en-AU" b="0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  <a:ea typeface="Cambria Math"/>
                      </a:rPr>
                      <m:t>×</m:t>
                    </m:r>
                    <m:sSup>
                      <m:sSupPr>
                        <m:ctrlPr>
                          <a:rPr lang="en-AU" b="0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  <a:ea typeface="Cambria Math"/>
                      </a:rPr>
                      <m:t>×</m:t>
                    </m:r>
                    <m:sSup>
                      <m:sSupPr>
                        <m:ctrlPr>
                          <a:rPr lang="en-AU" b="0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b="0" i="1" dirty="0" smtClean="0">
                  <a:latin typeface="Cambria Math"/>
                  <a:ea typeface="Cambria Math"/>
                </a:endParaRPr>
              </a:p>
              <a:p>
                <a:pPr marL="0" indent="0">
                  <a:buNone/>
                </a:pPr>
                <a:r>
                  <a:rPr lang="en-AU" b="0" dirty="0" smtClean="0">
                    <a:ea typeface="Cambria Math"/>
                  </a:rPr>
                  <a:t>    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  <a:ea typeface="Cambria Math"/>
                      </a:rPr>
                      <m:t>3×3×3×3×3×3×3×3</m:t>
                    </m:r>
                    <m:r>
                      <a:rPr lang="en-AU" b="0" i="0" smtClean="0">
                        <a:latin typeface="Cambria Math"/>
                        <a:ea typeface="Cambria Math"/>
                      </a:rPr>
                      <m:t>=</m:t>
                    </m:r>
                    <m:sSup>
                      <m:sSupPr>
                        <m:ctrlPr>
                          <a:rPr lang="en-AU" b="0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8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:pPr marL="514350" indent="-514350">
                  <a:buFont typeface="+mj-lt"/>
                  <a:buAutoNum type="arabicParenR" startAt="4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(4</m:t>
                        </m:r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×3)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AU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/>
                          </a:rPr>
                          <m:t>4</m:t>
                        </m:r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×3</m:t>
                        </m:r>
                      </m:e>
                    </m:d>
                    <m:r>
                      <a:rPr lang="en-AU" b="0" i="1" smtClean="0">
                        <a:latin typeface="Cambria Math"/>
                        <a:ea typeface="Cambria Math"/>
                      </a:rPr>
                      <m:t>×</m:t>
                    </m:r>
                    <m:d>
                      <m:dPr>
                        <m:ctrlPr>
                          <a:rPr lang="en-AU" b="0" i="1" smtClean="0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4×3</m:t>
                        </m:r>
                      </m:e>
                    </m:d>
                    <m:r>
                      <a:rPr lang="en-AU" b="0" i="1" smtClean="0">
                        <a:latin typeface="Cambria Math"/>
                        <a:ea typeface="Cambria Math"/>
                      </a:rPr>
                      <m:t>×</m:t>
                    </m:r>
                    <m:d>
                      <m:dPr>
                        <m:ctrlPr>
                          <a:rPr lang="en-AU" b="0" i="1" smtClean="0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4×3</m:t>
                        </m:r>
                      </m:e>
                    </m:d>
                  </m:oMath>
                </a14:m>
                <a:endParaRPr lang="en-AU" b="0" i="1" dirty="0" smtClean="0">
                  <a:latin typeface="Cambria Math"/>
                  <a:ea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0" smtClean="0">
                          <a:latin typeface="Cambria Math"/>
                          <a:ea typeface="Cambria Math"/>
                        </a:rPr>
                        <m:t>=4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×4×4×3×3×3=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4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3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3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AU" b="0" dirty="0" smtClean="0">
                  <a:ea typeface="Cambria Math"/>
                </a:endParaRPr>
              </a:p>
              <a:p>
                <a:pPr marL="0" indent="0">
                  <a:buNone/>
                </a:pPr>
                <a:endParaRPr lang="en-AU" b="0" dirty="0" smtClean="0">
                  <a:ea typeface="Cambria Math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0369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7766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</a:t>
            </a:r>
            <a:r>
              <a:rPr lang="en-AU" sz="2800" dirty="0" smtClean="0"/>
              <a:t>Laws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Describe how the index laws can be used to simplif</a:t>
            </a:r>
            <a:r>
              <a:rPr lang="en-AU" sz="2400" dirty="0" smtClean="0"/>
              <a:t>y expressions with indices.</a:t>
            </a:r>
            <a:r>
              <a:rPr lang="en-AU" sz="2400" dirty="0" smtClean="0"/>
              <a:t>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3471" y="1972846"/>
            <a:ext cx="2556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are the index laws?</a:t>
            </a:r>
            <a:endParaRPr lang="en-AU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6084168" y="2157512"/>
            <a:ext cx="0" cy="43311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711848" y="2003624"/>
            <a:ext cx="1122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Index Law</a:t>
            </a:r>
            <a:endParaRPr lang="en-AU" u="sng" dirty="0"/>
          </a:p>
        </p:txBody>
      </p:sp>
      <p:sp>
        <p:nvSpPr>
          <p:cNvPr id="16" name="TextBox 15"/>
          <p:cNvSpPr txBox="1"/>
          <p:nvPr/>
        </p:nvSpPr>
        <p:spPr>
          <a:xfrm>
            <a:off x="7098256" y="2038748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Example</a:t>
            </a:r>
            <a:endParaRPr lang="en-AU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2999301" y="2636912"/>
                <a:ext cx="286084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</a:rPr>
                            <m:t>𝑚</m:t>
                          </m:r>
                        </m:sup>
                      </m:sSup>
                      <m:r>
                        <a:rPr lang="en-AU" sz="280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sz="280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  <m:r>
                        <a:rPr lang="en-AU" sz="2800" b="0" i="0" smtClean="0"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800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𝑚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+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AU" sz="2800" dirty="0"/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9301" y="2636912"/>
                <a:ext cx="2860848" cy="52322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3849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7766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</a:t>
            </a:r>
            <a:r>
              <a:rPr lang="en-AU" sz="2800" dirty="0" smtClean="0"/>
              <a:t>Laws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Describe how the index laws can be used to simplif</a:t>
            </a:r>
            <a:r>
              <a:rPr lang="en-AU" sz="2400" dirty="0" smtClean="0"/>
              <a:t>y expressions with indices.</a:t>
            </a:r>
            <a:r>
              <a:rPr lang="en-AU" sz="2400" dirty="0" smtClean="0"/>
              <a:t>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3471" y="1972846"/>
            <a:ext cx="2556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are the index laws?</a:t>
            </a:r>
            <a:endParaRPr lang="en-AU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5724128" y="2089092"/>
            <a:ext cx="0" cy="43311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711848" y="2003624"/>
            <a:ext cx="1122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Index Law</a:t>
            </a:r>
            <a:endParaRPr lang="en-AU" u="sng" dirty="0"/>
          </a:p>
        </p:txBody>
      </p:sp>
      <p:sp>
        <p:nvSpPr>
          <p:cNvPr id="16" name="TextBox 15"/>
          <p:cNvSpPr txBox="1"/>
          <p:nvPr/>
        </p:nvSpPr>
        <p:spPr>
          <a:xfrm>
            <a:off x="7098256" y="2038748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Example</a:t>
            </a:r>
            <a:endParaRPr lang="en-AU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2999301" y="2636912"/>
                <a:ext cx="286084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</a:rPr>
                            <m:t>𝑚</m:t>
                          </m:r>
                        </m:sup>
                      </m:sSup>
                      <m:r>
                        <a:rPr lang="en-AU" sz="280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sz="280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  <m:r>
                        <a:rPr lang="en-AU" sz="2800" b="0" i="0" smtClean="0"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800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𝑚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+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AU" sz="2800" dirty="0"/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9301" y="2636912"/>
                <a:ext cx="2860848" cy="52322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5860149" y="2509292"/>
                <a:ext cx="311861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7</m:t>
                          </m:r>
                        </m:sup>
                      </m:sSup>
                      <m:r>
                        <a:rPr lang="en-AU" sz="24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4</m:t>
                          </m:r>
                        </m:sup>
                      </m:sSup>
                      <m:r>
                        <a:rPr lang="en-AU" sz="2400" b="0" i="0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7+4</m:t>
                          </m:r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11</m:t>
                          </m:r>
                        </m:sup>
                      </m:sSup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0149" y="2509292"/>
                <a:ext cx="3118610" cy="46166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4454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7766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</a:t>
            </a:r>
            <a:r>
              <a:rPr lang="en-AU" sz="2800" dirty="0" smtClean="0"/>
              <a:t>Laws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Describe how the index laws can be used to simplif</a:t>
            </a:r>
            <a:r>
              <a:rPr lang="en-AU" sz="2400" dirty="0" smtClean="0"/>
              <a:t>y expressions with indices.</a:t>
            </a:r>
            <a:r>
              <a:rPr lang="en-AU" sz="2400" dirty="0" smtClean="0"/>
              <a:t>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3471" y="1972846"/>
            <a:ext cx="2556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are the index laws?</a:t>
            </a:r>
            <a:endParaRPr lang="en-AU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5940152" y="2089092"/>
            <a:ext cx="0" cy="43311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711848" y="2003624"/>
            <a:ext cx="1122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Index Law</a:t>
            </a:r>
            <a:endParaRPr lang="en-AU" u="sng" dirty="0"/>
          </a:p>
        </p:txBody>
      </p:sp>
      <p:sp>
        <p:nvSpPr>
          <p:cNvPr id="16" name="TextBox 15"/>
          <p:cNvSpPr txBox="1"/>
          <p:nvPr/>
        </p:nvSpPr>
        <p:spPr>
          <a:xfrm>
            <a:off x="7098256" y="2038748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Example</a:t>
            </a:r>
            <a:endParaRPr lang="en-AU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2965021" y="2636912"/>
                <a:ext cx="286084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</a:rPr>
                            <m:t>𝑚</m:t>
                          </m:r>
                        </m:sup>
                      </m:sSup>
                      <m:r>
                        <a:rPr lang="en-AU" sz="280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sz="280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  <m:r>
                        <a:rPr lang="en-AU" sz="2800" b="0" i="0" smtClean="0"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800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𝑚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+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AU" sz="2800" dirty="0"/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5021" y="2636912"/>
                <a:ext cx="2860848" cy="52322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5954216" y="2596206"/>
                <a:ext cx="311861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7</m:t>
                          </m:r>
                        </m:sup>
                      </m:sSup>
                      <m:r>
                        <a:rPr lang="en-AU" sz="24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4</m:t>
                          </m:r>
                        </m:sup>
                      </m:sSup>
                      <m:r>
                        <a:rPr lang="en-AU" sz="2400" b="0" i="0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7+4</m:t>
                          </m:r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11</m:t>
                          </m:r>
                        </m:sup>
                      </m:sSup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4216" y="2596206"/>
                <a:ext cx="3118610" cy="46166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2965021" y="3283600"/>
                <a:ext cx="287206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</a:rPr>
                            <m:t>𝑚</m:t>
                          </m:r>
                        </m:sup>
                      </m:sSup>
                      <m:r>
                        <a:rPr lang="en-AU" sz="2800" i="1">
                          <a:latin typeface="Cambria Math"/>
                          <a:ea typeface="Cambria Math"/>
                        </a:rPr>
                        <m:t>÷</m:t>
                      </m:r>
                      <m:sSup>
                        <m:sSupPr>
                          <m:ctrlPr>
                            <a:rPr lang="en-AU" sz="280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  <m:r>
                        <a:rPr lang="en-AU" sz="2800" b="0" i="0" smtClean="0"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800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𝑚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−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AU" sz="2800" dirty="0"/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5021" y="3283600"/>
                <a:ext cx="2872068" cy="52322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4883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7766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</a:t>
            </a:r>
            <a:r>
              <a:rPr lang="en-AU" sz="2800" dirty="0" smtClean="0"/>
              <a:t>Laws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Describe how the index laws can be used to simplif</a:t>
            </a:r>
            <a:r>
              <a:rPr lang="en-AU" sz="2400" dirty="0" smtClean="0"/>
              <a:t>y expressions with indices.</a:t>
            </a:r>
            <a:r>
              <a:rPr lang="en-AU" sz="2400" dirty="0" smtClean="0"/>
              <a:t>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3471" y="1972846"/>
            <a:ext cx="2556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are the index laws?</a:t>
            </a:r>
            <a:endParaRPr lang="en-AU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5940152" y="2089092"/>
            <a:ext cx="0" cy="43311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711848" y="2003624"/>
            <a:ext cx="1122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Index Law</a:t>
            </a:r>
            <a:endParaRPr lang="en-AU" u="sng" dirty="0"/>
          </a:p>
        </p:txBody>
      </p:sp>
      <p:sp>
        <p:nvSpPr>
          <p:cNvPr id="16" name="TextBox 15"/>
          <p:cNvSpPr txBox="1"/>
          <p:nvPr/>
        </p:nvSpPr>
        <p:spPr>
          <a:xfrm>
            <a:off x="7098256" y="2038748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Example</a:t>
            </a:r>
            <a:endParaRPr lang="en-AU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2965021" y="2636912"/>
                <a:ext cx="286084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</a:rPr>
                            <m:t>𝑚</m:t>
                          </m:r>
                        </m:sup>
                      </m:sSup>
                      <m:r>
                        <a:rPr lang="en-AU" sz="280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sz="280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  <m:r>
                        <a:rPr lang="en-AU" sz="2800" b="0" i="0" smtClean="0"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800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𝑚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+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AU" sz="2800" dirty="0"/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5021" y="2636912"/>
                <a:ext cx="2860848" cy="52322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5954216" y="2596206"/>
                <a:ext cx="311861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7</m:t>
                          </m:r>
                        </m:sup>
                      </m:sSup>
                      <m:r>
                        <a:rPr lang="en-AU" sz="24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4</m:t>
                          </m:r>
                        </m:sup>
                      </m:sSup>
                      <m:r>
                        <a:rPr lang="en-AU" sz="2400" b="0" i="0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7+4</m:t>
                          </m:r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11</m:t>
                          </m:r>
                        </m:sup>
                      </m:sSup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4216" y="2596206"/>
                <a:ext cx="3118610" cy="46166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2965021" y="3283600"/>
                <a:ext cx="287206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</a:rPr>
                            <m:t>𝑚</m:t>
                          </m:r>
                        </m:sup>
                      </m:sSup>
                      <m:r>
                        <a:rPr lang="en-AU" sz="2800" i="1">
                          <a:latin typeface="Cambria Math"/>
                          <a:ea typeface="Cambria Math"/>
                        </a:rPr>
                        <m:t>÷</m:t>
                      </m:r>
                      <m:sSup>
                        <m:sSupPr>
                          <m:ctrlPr>
                            <a:rPr lang="en-AU" sz="280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  <m:r>
                        <a:rPr lang="en-AU" sz="2800" b="0" i="0" smtClean="0"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800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𝑚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−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AU" sz="2800" dirty="0"/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5021" y="3283600"/>
                <a:ext cx="2872068" cy="52322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6025390" y="3283600"/>
                <a:ext cx="300499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7</m:t>
                          </m:r>
                        </m:sup>
                      </m:sSup>
                      <m:r>
                        <a:rPr lang="en-AU" sz="2400" i="1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  <m:sSup>
                        <m:sSup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4</m:t>
                          </m:r>
                        </m:sup>
                      </m:sSup>
                      <m:r>
                        <a:rPr lang="en-AU" sz="2400" b="0" i="0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7−4</m:t>
                          </m:r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5390" y="3283600"/>
                <a:ext cx="3004990" cy="46166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8958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7766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</a:t>
            </a:r>
            <a:r>
              <a:rPr lang="en-AU" sz="2800" dirty="0" smtClean="0"/>
              <a:t>Laws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Describe how the index laws can be used to simplif</a:t>
            </a:r>
            <a:r>
              <a:rPr lang="en-AU" sz="2400" dirty="0" smtClean="0"/>
              <a:t>y expressions with indices.</a:t>
            </a:r>
            <a:r>
              <a:rPr lang="en-AU" sz="2400" dirty="0" smtClean="0"/>
              <a:t>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3471" y="1972846"/>
            <a:ext cx="2556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are the index laws?</a:t>
            </a:r>
            <a:endParaRPr lang="en-AU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5940152" y="2089092"/>
            <a:ext cx="0" cy="43311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711848" y="2003624"/>
            <a:ext cx="1122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Index Law</a:t>
            </a:r>
            <a:endParaRPr lang="en-AU" u="sng" dirty="0"/>
          </a:p>
        </p:txBody>
      </p:sp>
      <p:sp>
        <p:nvSpPr>
          <p:cNvPr id="16" name="TextBox 15"/>
          <p:cNvSpPr txBox="1"/>
          <p:nvPr/>
        </p:nvSpPr>
        <p:spPr>
          <a:xfrm>
            <a:off x="7098256" y="2038748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Example</a:t>
            </a:r>
            <a:endParaRPr lang="en-AU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2965021" y="2636912"/>
                <a:ext cx="286084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</a:rPr>
                            <m:t>𝑚</m:t>
                          </m:r>
                        </m:sup>
                      </m:sSup>
                      <m:r>
                        <a:rPr lang="en-AU" sz="280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sz="280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  <m:r>
                        <a:rPr lang="en-AU" sz="2800" b="0" i="0" smtClean="0"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800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𝑚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+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AU" sz="2800" dirty="0"/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5021" y="2636912"/>
                <a:ext cx="2860848" cy="52322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5954216" y="2596206"/>
                <a:ext cx="311861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7</m:t>
                          </m:r>
                        </m:sup>
                      </m:sSup>
                      <m:r>
                        <a:rPr lang="en-AU" sz="24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4</m:t>
                          </m:r>
                        </m:sup>
                      </m:sSup>
                      <m:r>
                        <a:rPr lang="en-AU" sz="2400" b="0" i="0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7+4</m:t>
                          </m:r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11</m:t>
                          </m:r>
                        </m:sup>
                      </m:sSup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4216" y="2596206"/>
                <a:ext cx="3118610" cy="46166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2965021" y="3283600"/>
                <a:ext cx="3024739" cy="11755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</a:rPr>
                            <m:t>𝑚</m:t>
                          </m:r>
                        </m:sup>
                      </m:sSup>
                      <m:r>
                        <a:rPr lang="en-AU" sz="2800" i="1">
                          <a:latin typeface="Cambria Math"/>
                          <a:ea typeface="Cambria Math"/>
                        </a:rPr>
                        <m:t>÷</m:t>
                      </m:r>
                      <m:sSup>
                        <m:sSupPr>
                          <m:ctrlPr>
                            <a:rPr lang="en-AU" sz="280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  <m:r>
                        <a:rPr lang="en-AU" sz="2800" b="0" i="0" smtClean="0"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800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𝑚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−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AU" sz="2800" dirty="0" smtClean="0"/>
              </a:p>
              <a:p>
                <a:r>
                  <a:rPr lang="en-AU" sz="2800" dirty="0" smtClean="0"/>
                  <a:t>or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 smtClean="0">
                            <a:latin typeface="Cambria Math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AU" sz="280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sz="2800" b="0" i="1" smtClean="0">
                                <a:latin typeface="Cambria Math"/>
                              </a:rPr>
                              <m:t>𝑎</m:t>
                            </m:r>
                          </m:e>
                          <m:sup>
                            <m:r>
                              <a:rPr lang="en-AU" sz="2800" b="0" i="1" smtClean="0">
                                <a:latin typeface="Cambria Math"/>
                              </a:rPr>
                              <m:t>𝑚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AU" sz="280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sz="2800" b="0" i="1" smtClean="0">
                                <a:latin typeface="Cambria Math"/>
                              </a:rPr>
                              <m:t>𝑎</m:t>
                            </m:r>
                          </m:e>
                          <m:sup>
                            <m:r>
                              <a:rPr lang="en-AU" sz="2800" b="0" i="1" smtClean="0">
                                <a:latin typeface="Cambria Math"/>
                              </a:rPr>
                              <m:t>𝑛</m:t>
                            </m:r>
                          </m:sup>
                        </m:sSup>
                      </m:den>
                    </m:f>
                    <m:r>
                      <a:rPr lang="en-AU" sz="2800" b="0" i="1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AU" sz="2800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𝑎</m:t>
                        </m:r>
                      </m:e>
                      <m:sup>
                        <m:r>
                          <a:rPr lang="en-AU" sz="2800" b="0" i="1" smtClean="0">
                            <a:latin typeface="Cambria Math"/>
                          </a:rPr>
                          <m:t>𝑚</m:t>
                        </m:r>
                        <m:r>
                          <a:rPr lang="en-AU" sz="2800" b="0" i="1" smtClean="0">
                            <a:latin typeface="Cambria Math"/>
                          </a:rPr>
                          <m:t>−</m:t>
                        </m:r>
                        <m:r>
                          <a:rPr lang="en-AU" sz="2800" b="0" i="1" smtClean="0">
                            <a:latin typeface="Cambria Math"/>
                          </a:rPr>
                          <m:t>𝑛</m:t>
                        </m:r>
                      </m:sup>
                    </m:sSup>
                  </m:oMath>
                </a14:m>
                <a:endParaRPr lang="en-AU" sz="2800" dirty="0"/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5021" y="3283600"/>
                <a:ext cx="3024739" cy="1175515"/>
              </a:xfrm>
              <a:prstGeom prst="rect">
                <a:avLst/>
              </a:prstGeom>
              <a:blipFill rotWithShape="1">
                <a:blip r:embed="rId4"/>
                <a:stretch>
                  <a:fillRect l="-4024" b="-677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6025390" y="3290600"/>
                <a:ext cx="300499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7</m:t>
                          </m:r>
                        </m:sup>
                      </m:sSup>
                      <m:r>
                        <a:rPr lang="en-AU" sz="2400" i="1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  <m:sSup>
                        <m:sSup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4</m:t>
                          </m:r>
                        </m:sup>
                      </m:sSup>
                      <m:r>
                        <a:rPr lang="en-AU" sz="2400" b="0" i="0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7−4</m:t>
                          </m:r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5390" y="3290600"/>
                <a:ext cx="3004990" cy="46166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6084356" y="3832405"/>
                <a:ext cx="2392963" cy="8538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AU" sz="240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7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AU" sz="240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4</m:t>
                              </m:r>
                            </m:sup>
                          </m:sSup>
                        </m:den>
                      </m:f>
                      <m:r>
                        <a:rPr lang="en-AU" sz="2400" b="0" i="0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7−4</m:t>
                          </m:r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4356" y="3832405"/>
                <a:ext cx="2392963" cy="853823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8017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7766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</a:t>
            </a:r>
            <a:r>
              <a:rPr lang="en-AU" sz="2800" dirty="0" smtClean="0"/>
              <a:t>Laws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Describe how the index laws can be used to simplif</a:t>
            </a:r>
            <a:r>
              <a:rPr lang="en-AU" sz="2400" dirty="0" smtClean="0"/>
              <a:t>y expressions with indices.</a:t>
            </a:r>
            <a:r>
              <a:rPr lang="en-AU" sz="2400" dirty="0" smtClean="0"/>
              <a:t>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3471" y="1972846"/>
            <a:ext cx="2556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are the index laws?</a:t>
            </a:r>
            <a:endParaRPr lang="en-AU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5940152" y="2089092"/>
            <a:ext cx="0" cy="43311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711848" y="2003624"/>
            <a:ext cx="1122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Index Law</a:t>
            </a:r>
            <a:endParaRPr lang="en-AU" u="sng" dirty="0"/>
          </a:p>
        </p:txBody>
      </p:sp>
      <p:sp>
        <p:nvSpPr>
          <p:cNvPr id="16" name="TextBox 15"/>
          <p:cNvSpPr txBox="1"/>
          <p:nvPr/>
        </p:nvSpPr>
        <p:spPr>
          <a:xfrm>
            <a:off x="7098256" y="2038748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Example</a:t>
            </a:r>
            <a:endParaRPr lang="en-AU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2973157" y="2636912"/>
                <a:ext cx="286084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</a:rPr>
                            <m:t>𝑚</m:t>
                          </m:r>
                        </m:sup>
                      </m:sSup>
                      <m:r>
                        <a:rPr lang="en-AU" sz="280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sz="280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  <m:r>
                        <a:rPr lang="en-AU" sz="2800" b="0" i="0" smtClean="0"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800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𝑚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+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AU" sz="2800" dirty="0"/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3157" y="2636912"/>
                <a:ext cx="2860848" cy="52322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5954216" y="2596206"/>
                <a:ext cx="311861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7</m:t>
                          </m:r>
                        </m:sup>
                      </m:sSup>
                      <m:r>
                        <a:rPr lang="en-AU" sz="24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4</m:t>
                          </m:r>
                        </m:sup>
                      </m:sSup>
                      <m:r>
                        <a:rPr lang="en-AU" sz="2400" b="0" i="0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7+4</m:t>
                          </m:r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11</m:t>
                          </m:r>
                        </m:sup>
                      </m:sSup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4216" y="2596206"/>
                <a:ext cx="3118610" cy="46166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2965021" y="3283600"/>
                <a:ext cx="3024739" cy="11755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</a:rPr>
                            <m:t>𝑚</m:t>
                          </m:r>
                        </m:sup>
                      </m:sSup>
                      <m:r>
                        <a:rPr lang="en-AU" sz="2800" i="1">
                          <a:latin typeface="Cambria Math"/>
                          <a:ea typeface="Cambria Math"/>
                        </a:rPr>
                        <m:t>÷</m:t>
                      </m:r>
                      <m:sSup>
                        <m:sSupPr>
                          <m:ctrlPr>
                            <a:rPr lang="en-AU" sz="280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  <m:r>
                        <a:rPr lang="en-AU" sz="2800" b="0" i="0" smtClean="0"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800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𝑚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−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AU" sz="2800" dirty="0" smtClean="0"/>
              </a:p>
              <a:p>
                <a:r>
                  <a:rPr lang="en-AU" sz="2800" dirty="0" smtClean="0"/>
                  <a:t>or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 smtClean="0">
                            <a:latin typeface="Cambria Math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AU" sz="280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sz="2800" b="0" i="1" smtClean="0">
                                <a:latin typeface="Cambria Math"/>
                              </a:rPr>
                              <m:t>𝑎</m:t>
                            </m:r>
                          </m:e>
                          <m:sup>
                            <m:r>
                              <a:rPr lang="en-AU" sz="2800" b="0" i="1" smtClean="0">
                                <a:latin typeface="Cambria Math"/>
                              </a:rPr>
                              <m:t>𝑚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AU" sz="280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sz="2800" b="0" i="1" smtClean="0">
                                <a:latin typeface="Cambria Math"/>
                              </a:rPr>
                              <m:t>𝑎</m:t>
                            </m:r>
                          </m:e>
                          <m:sup>
                            <m:r>
                              <a:rPr lang="en-AU" sz="2800" b="0" i="1" smtClean="0">
                                <a:latin typeface="Cambria Math"/>
                              </a:rPr>
                              <m:t>𝑛</m:t>
                            </m:r>
                          </m:sup>
                        </m:sSup>
                      </m:den>
                    </m:f>
                    <m:r>
                      <a:rPr lang="en-AU" sz="2800" b="0" i="1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AU" sz="2800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𝑎</m:t>
                        </m:r>
                      </m:e>
                      <m:sup>
                        <m:r>
                          <a:rPr lang="en-AU" sz="2800" b="0" i="1" smtClean="0">
                            <a:latin typeface="Cambria Math"/>
                          </a:rPr>
                          <m:t>𝑚</m:t>
                        </m:r>
                        <m:r>
                          <a:rPr lang="en-AU" sz="2800" b="0" i="1" smtClean="0">
                            <a:latin typeface="Cambria Math"/>
                          </a:rPr>
                          <m:t>−</m:t>
                        </m:r>
                        <m:r>
                          <a:rPr lang="en-AU" sz="2800" b="0" i="1" smtClean="0">
                            <a:latin typeface="Cambria Math"/>
                          </a:rPr>
                          <m:t>𝑛</m:t>
                        </m:r>
                      </m:sup>
                    </m:sSup>
                  </m:oMath>
                </a14:m>
                <a:endParaRPr lang="en-AU" sz="2800" dirty="0"/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5021" y="3283600"/>
                <a:ext cx="3024739" cy="1175515"/>
              </a:xfrm>
              <a:prstGeom prst="rect">
                <a:avLst/>
              </a:prstGeom>
              <a:blipFill rotWithShape="1">
                <a:blip r:embed="rId4"/>
                <a:stretch>
                  <a:fillRect l="-4024" b="-677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6025390" y="3290600"/>
                <a:ext cx="300499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7</m:t>
                          </m:r>
                        </m:sup>
                      </m:sSup>
                      <m:r>
                        <a:rPr lang="en-AU" sz="2400" i="1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  <m:sSup>
                        <m:sSup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4</m:t>
                          </m:r>
                        </m:sup>
                      </m:sSup>
                      <m:r>
                        <a:rPr lang="en-AU" sz="2400" b="0" i="0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7−4</m:t>
                          </m:r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5390" y="3290600"/>
                <a:ext cx="3004990" cy="46166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6084356" y="3832405"/>
                <a:ext cx="2392963" cy="8538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AU" sz="240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7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AU" sz="240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4</m:t>
                              </m:r>
                            </m:sup>
                          </m:sSup>
                        </m:den>
                      </m:f>
                      <m:r>
                        <a:rPr lang="en-AU" sz="2400" b="0" i="0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7−4</m:t>
                          </m:r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4356" y="3832405"/>
                <a:ext cx="2392963" cy="853823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2999301" y="4869160"/>
                <a:ext cx="233858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AU" sz="2800" i="1" smtClean="0">
                              <a:latin typeface="Cambria Math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AU" sz="280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sz="2800" i="1">
                                  <a:latin typeface="Cambria Math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AU" sz="2800" i="1">
                                  <a:latin typeface="Cambria Math"/>
                                </a:rPr>
                                <m:t>𝑚</m:t>
                              </m:r>
                            </m:sup>
                          </m:sSup>
                          <m:r>
                            <a:rPr lang="en-AU" sz="2800" b="0" i="1" smtClean="0"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</a:rPr>
                            <m:t>𝑛</m:t>
                          </m:r>
                        </m:sup>
                      </m:sSup>
                      <m:r>
                        <a:rPr lang="en-AU" sz="2800" b="0" i="0" smtClean="0"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800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𝑚𝑛</m:t>
                          </m:r>
                        </m:sup>
                      </m:sSup>
                    </m:oMath>
                  </m:oMathPara>
                </a14:m>
                <a:endParaRPr lang="en-AU" sz="2800" dirty="0"/>
              </a:p>
            </p:txBody>
          </p:sp>
        </mc:Choice>
        <mc:Fallback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9301" y="4869160"/>
                <a:ext cx="2338589" cy="523220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2966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7766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</a:t>
            </a:r>
            <a:r>
              <a:rPr lang="en-AU" sz="2800" dirty="0" smtClean="0"/>
              <a:t>Laws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Describe how the index laws can be used to simplif</a:t>
            </a:r>
            <a:r>
              <a:rPr lang="en-AU" sz="2400" dirty="0" smtClean="0"/>
              <a:t>y expressions with indices.</a:t>
            </a:r>
            <a:r>
              <a:rPr lang="en-AU" sz="2400" dirty="0" smtClean="0"/>
              <a:t>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3471" y="1972846"/>
            <a:ext cx="2556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are the index laws?</a:t>
            </a:r>
            <a:endParaRPr lang="en-AU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5940152" y="2089092"/>
            <a:ext cx="0" cy="43311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711848" y="2003624"/>
            <a:ext cx="1122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Index Law</a:t>
            </a:r>
            <a:endParaRPr lang="en-AU" u="sng" dirty="0"/>
          </a:p>
        </p:txBody>
      </p:sp>
      <p:sp>
        <p:nvSpPr>
          <p:cNvPr id="16" name="TextBox 15"/>
          <p:cNvSpPr txBox="1"/>
          <p:nvPr/>
        </p:nvSpPr>
        <p:spPr>
          <a:xfrm>
            <a:off x="7098256" y="2038748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Example</a:t>
            </a:r>
            <a:endParaRPr lang="en-AU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2973157" y="2636912"/>
                <a:ext cx="286084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</a:rPr>
                            <m:t>𝑚</m:t>
                          </m:r>
                        </m:sup>
                      </m:sSup>
                      <m:r>
                        <a:rPr lang="en-AU" sz="280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sz="280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  <m:r>
                        <a:rPr lang="en-AU" sz="2800" b="0" i="0" smtClean="0"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800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𝑚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+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AU" sz="2800" dirty="0"/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3157" y="2636912"/>
                <a:ext cx="2860848" cy="52322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5954216" y="2596206"/>
                <a:ext cx="311861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7</m:t>
                          </m:r>
                        </m:sup>
                      </m:sSup>
                      <m:r>
                        <a:rPr lang="en-AU" sz="24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4</m:t>
                          </m:r>
                        </m:sup>
                      </m:sSup>
                      <m:r>
                        <a:rPr lang="en-AU" sz="2400" b="0" i="0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7+4</m:t>
                          </m:r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11</m:t>
                          </m:r>
                        </m:sup>
                      </m:sSup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4216" y="2596206"/>
                <a:ext cx="3118610" cy="46166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2965021" y="3283600"/>
                <a:ext cx="3024739" cy="11755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</a:rPr>
                            <m:t>𝑚</m:t>
                          </m:r>
                        </m:sup>
                      </m:sSup>
                      <m:r>
                        <a:rPr lang="en-AU" sz="2800" i="1">
                          <a:latin typeface="Cambria Math"/>
                          <a:ea typeface="Cambria Math"/>
                        </a:rPr>
                        <m:t>÷</m:t>
                      </m:r>
                      <m:sSup>
                        <m:sSupPr>
                          <m:ctrlPr>
                            <a:rPr lang="en-AU" sz="280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  <m:r>
                        <a:rPr lang="en-AU" sz="2800" b="0" i="0" smtClean="0"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800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𝑚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−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AU" sz="2800" dirty="0" smtClean="0"/>
              </a:p>
              <a:p>
                <a:r>
                  <a:rPr lang="en-AU" sz="2800" dirty="0" smtClean="0"/>
                  <a:t>or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 smtClean="0">
                            <a:latin typeface="Cambria Math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AU" sz="280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sz="2800" b="0" i="1" smtClean="0">
                                <a:latin typeface="Cambria Math"/>
                              </a:rPr>
                              <m:t>𝑎</m:t>
                            </m:r>
                          </m:e>
                          <m:sup>
                            <m:r>
                              <a:rPr lang="en-AU" sz="2800" b="0" i="1" smtClean="0">
                                <a:latin typeface="Cambria Math"/>
                              </a:rPr>
                              <m:t>𝑚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AU" sz="280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sz="2800" b="0" i="1" smtClean="0">
                                <a:latin typeface="Cambria Math"/>
                              </a:rPr>
                              <m:t>𝑎</m:t>
                            </m:r>
                          </m:e>
                          <m:sup>
                            <m:r>
                              <a:rPr lang="en-AU" sz="2800" b="0" i="1" smtClean="0">
                                <a:latin typeface="Cambria Math"/>
                              </a:rPr>
                              <m:t>𝑛</m:t>
                            </m:r>
                          </m:sup>
                        </m:sSup>
                      </m:den>
                    </m:f>
                    <m:r>
                      <a:rPr lang="en-AU" sz="2800" b="0" i="1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AU" sz="2800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𝑎</m:t>
                        </m:r>
                      </m:e>
                      <m:sup>
                        <m:r>
                          <a:rPr lang="en-AU" sz="2800" b="0" i="1" smtClean="0">
                            <a:latin typeface="Cambria Math"/>
                          </a:rPr>
                          <m:t>𝑚</m:t>
                        </m:r>
                        <m:r>
                          <a:rPr lang="en-AU" sz="2800" b="0" i="1" smtClean="0">
                            <a:latin typeface="Cambria Math"/>
                          </a:rPr>
                          <m:t>−</m:t>
                        </m:r>
                        <m:r>
                          <a:rPr lang="en-AU" sz="2800" b="0" i="1" smtClean="0">
                            <a:latin typeface="Cambria Math"/>
                          </a:rPr>
                          <m:t>𝑛</m:t>
                        </m:r>
                      </m:sup>
                    </m:sSup>
                  </m:oMath>
                </a14:m>
                <a:endParaRPr lang="en-AU" sz="2800" dirty="0"/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5021" y="3283600"/>
                <a:ext cx="3024739" cy="1175515"/>
              </a:xfrm>
              <a:prstGeom prst="rect">
                <a:avLst/>
              </a:prstGeom>
              <a:blipFill rotWithShape="1">
                <a:blip r:embed="rId4"/>
                <a:stretch>
                  <a:fillRect l="-4024" b="-677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6025390" y="3348400"/>
                <a:ext cx="300499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7</m:t>
                          </m:r>
                        </m:sup>
                      </m:sSup>
                      <m:r>
                        <a:rPr lang="en-AU" sz="2400" i="1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  <m:sSup>
                        <m:sSup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4</m:t>
                          </m:r>
                        </m:sup>
                      </m:sSup>
                      <m:r>
                        <a:rPr lang="en-AU" sz="2400" b="0" i="0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7−4</m:t>
                          </m:r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5390" y="3348400"/>
                <a:ext cx="3004990" cy="46166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6084356" y="3832405"/>
                <a:ext cx="2392963" cy="8538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AU" sz="240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7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AU" sz="240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4</m:t>
                              </m:r>
                            </m:sup>
                          </m:sSup>
                        </m:den>
                      </m:f>
                      <m:r>
                        <a:rPr lang="en-AU" sz="2400" b="0" i="0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7−4</m:t>
                          </m:r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4356" y="3832405"/>
                <a:ext cx="2392963" cy="853823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3011257" y="4902446"/>
                <a:ext cx="233858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AU" sz="2800" i="1" smtClean="0">
                              <a:latin typeface="Cambria Math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AU" sz="280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sz="2800" i="1">
                                  <a:latin typeface="Cambria Math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AU" sz="2800" i="1">
                                  <a:latin typeface="Cambria Math"/>
                                </a:rPr>
                                <m:t>𝑚</m:t>
                              </m:r>
                            </m:sup>
                          </m:sSup>
                          <m:r>
                            <a:rPr lang="en-AU" sz="2800" b="0" i="1" smtClean="0"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</a:rPr>
                            <m:t>𝑛</m:t>
                          </m:r>
                        </m:sup>
                      </m:sSup>
                      <m:r>
                        <a:rPr lang="en-AU" sz="2800" b="0" i="0" smtClean="0"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800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𝑚𝑛</m:t>
                          </m:r>
                        </m:sup>
                      </m:sSup>
                    </m:oMath>
                  </m:oMathPara>
                </a14:m>
                <a:endParaRPr lang="en-AU" sz="2800" dirty="0"/>
              </a:p>
            </p:txBody>
          </p:sp>
        </mc:Choice>
        <mc:Fallback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1257" y="4902446"/>
                <a:ext cx="2338589" cy="523220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6084356" y="4879626"/>
                <a:ext cx="27562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(</m:t>
                          </m:r>
                          <m:sSup>
                            <m:sSupPr>
                              <m:ctrlP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</a:rPr>
                                <m:t>7</m:t>
                              </m:r>
                            </m:sup>
                          </m:s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)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4</m:t>
                          </m:r>
                        </m:sup>
                      </m:sSup>
                      <m:r>
                        <a:rPr lang="en-AU" sz="2400" b="0" i="0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7×4</m:t>
                          </m:r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28</m:t>
                          </m:r>
                        </m:sup>
                      </m:sSup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4356" y="4879626"/>
                <a:ext cx="2756267" cy="461665"/>
              </a:xfrm>
              <a:prstGeom prst="rect">
                <a:avLst/>
              </a:prstGeom>
              <a:blipFill rotWithShape="1">
                <a:blip r:embed="rId8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9484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7766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</a:t>
            </a:r>
            <a:r>
              <a:rPr lang="en-AU" sz="2800" dirty="0" smtClean="0"/>
              <a:t>Laws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Describe how the index laws can be used to simplif</a:t>
            </a:r>
            <a:r>
              <a:rPr lang="en-AU" sz="2400" dirty="0" smtClean="0"/>
              <a:t>y expressions with indices.</a:t>
            </a:r>
            <a:r>
              <a:rPr lang="en-AU" sz="2400" dirty="0" smtClean="0"/>
              <a:t>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3471" y="1972846"/>
            <a:ext cx="2556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are the index laws?</a:t>
            </a:r>
            <a:endParaRPr lang="en-AU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5940152" y="2089092"/>
            <a:ext cx="0" cy="43311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711848" y="2003624"/>
            <a:ext cx="1122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Index Law</a:t>
            </a:r>
            <a:endParaRPr lang="en-AU" u="sng" dirty="0"/>
          </a:p>
        </p:txBody>
      </p:sp>
      <p:sp>
        <p:nvSpPr>
          <p:cNvPr id="16" name="TextBox 15"/>
          <p:cNvSpPr txBox="1"/>
          <p:nvPr/>
        </p:nvSpPr>
        <p:spPr>
          <a:xfrm>
            <a:off x="7098256" y="2038748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Example</a:t>
            </a:r>
            <a:endParaRPr lang="en-AU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2973157" y="2636912"/>
                <a:ext cx="286084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</a:rPr>
                            <m:t>𝑚</m:t>
                          </m:r>
                        </m:sup>
                      </m:sSup>
                      <m:r>
                        <a:rPr lang="en-AU" sz="280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sz="280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  <m:r>
                        <a:rPr lang="en-AU" sz="2800" b="0" i="0" smtClean="0"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800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𝑚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+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AU" sz="2800" dirty="0"/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3157" y="2636912"/>
                <a:ext cx="2860848" cy="52322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5954216" y="2596206"/>
                <a:ext cx="311861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7</m:t>
                          </m:r>
                        </m:sup>
                      </m:sSup>
                      <m:r>
                        <a:rPr lang="en-AU" sz="24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4</m:t>
                          </m:r>
                        </m:sup>
                      </m:sSup>
                      <m:r>
                        <a:rPr lang="en-AU" sz="2400" b="0" i="0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7+4</m:t>
                          </m:r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11</m:t>
                          </m:r>
                        </m:sup>
                      </m:sSup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4216" y="2596206"/>
                <a:ext cx="3118610" cy="46166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2965021" y="3283600"/>
                <a:ext cx="3024739" cy="11755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</a:rPr>
                            <m:t>𝑚</m:t>
                          </m:r>
                        </m:sup>
                      </m:sSup>
                      <m:r>
                        <a:rPr lang="en-AU" sz="2800" i="1">
                          <a:latin typeface="Cambria Math"/>
                          <a:ea typeface="Cambria Math"/>
                        </a:rPr>
                        <m:t>÷</m:t>
                      </m:r>
                      <m:sSup>
                        <m:sSupPr>
                          <m:ctrlPr>
                            <a:rPr lang="en-AU" sz="280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  <m:r>
                        <a:rPr lang="en-AU" sz="2800" b="0" i="0" smtClean="0"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800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𝑚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−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AU" sz="2800" dirty="0" smtClean="0"/>
              </a:p>
              <a:p>
                <a:r>
                  <a:rPr lang="en-AU" sz="2800" dirty="0" smtClean="0"/>
                  <a:t>or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 smtClean="0">
                            <a:latin typeface="Cambria Math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AU" sz="280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sz="2800" b="0" i="1" smtClean="0">
                                <a:latin typeface="Cambria Math"/>
                              </a:rPr>
                              <m:t>𝑎</m:t>
                            </m:r>
                          </m:e>
                          <m:sup>
                            <m:r>
                              <a:rPr lang="en-AU" sz="2800" b="0" i="1" smtClean="0">
                                <a:latin typeface="Cambria Math"/>
                              </a:rPr>
                              <m:t>𝑚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AU" sz="280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sz="2800" b="0" i="1" smtClean="0">
                                <a:latin typeface="Cambria Math"/>
                              </a:rPr>
                              <m:t>𝑎</m:t>
                            </m:r>
                          </m:e>
                          <m:sup>
                            <m:r>
                              <a:rPr lang="en-AU" sz="2800" b="0" i="1" smtClean="0">
                                <a:latin typeface="Cambria Math"/>
                              </a:rPr>
                              <m:t>𝑛</m:t>
                            </m:r>
                          </m:sup>
                        </m:sSup>
                      </m:den>
                    </m:f>
                    <m:r>
                      <a:rPr lang="en-AU" sz="2800" b="0" i="1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AU" sz="2800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𝑎</m:t>
                        </m:r>
                      </m:e>
                      <m:sup>
                        <m:r>
                          <a:rPr lang="en-AU" sz="2800" b="0" i="1" smtClean="0">
                            <a:latin typeface="Cambria Math"/>
                          </a:rPr>
                          <m:t>𝑚</m:t>
                        </m:r>
                        <m:r>
                          <a:rPr lang="en-AU" sz="2800" b="0" i="1" smtClean="0">
                            <a:latin typeface="Cambria Math"/>
                          </a:rPr>
                          <m:t>−</m:t>
                        </m:r>
                        <m:r>
                          <a:rPr lang="en-AU" sz="2800" b="0" i="1" smtClean="0">
                            <a:latin typeface="Cambria Math"/>
                          </a:rPr>
                          <m:t>𝑛</m:t>
                        </m:r>
                      </m:sup>
                    </m:sSup>
                  </m:oMath>
                </a14:m>
                <a:endParaRPr lang="en-AU" sz="2800" dirty="0"/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5021" y="3283600"/>
                <a:ext cx="3024739" cy="1175515"/>
              </a:xfrm>
              <a:prstGeom prst="rect">
                <a:avLst/>
              </a:prstGeom>
              <a:blipFill rotWithShape="1">
                <a:blip r:embed="rId4"/>
                <a:stretch>
                  <a:fillRect l="-4024" b="-677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6025390" y="3348400"/>
                <a:ext cx="300499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7</m:t>
                          </m:r>
                        </m:sup>
                      </m:sSup>
                      <m:r>
                        <a:rPr lang="en-AU" sz="2400" i="1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  <m:sSup>
                        <m:sSup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4</m:t>
                          </m:r>
                        </m:sup>
                      </m:sSup>
                      <m:r>
                        <a:rPr lang="en-AU" sz="2400" b="0" i="0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7−4</m:t>
                          </m:r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5390" y="3348400"/>
                <a:ext cx="3004990" cy="46166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6084356" y="3832405"/>
                <a:ext cx="2392963" cy="8538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AU" sz="240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7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AU" sz="240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4</m:t>
                              </m:r>
                            </m:sup>
                          </m:sSup>
                        </m:den>
                      </m:f>
                      <m:r>
                        <a:rPr lang="en-AU" sz="2400" b="0" i="0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7−4</m:t>
                          </m:r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4356" y="3832405"/>
                <a:ext cx="2392963" cy="853823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3011257" y="4902446"/>
                <a:ext cx="233858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AU" sz="2800" i="1" smtClean="0">
                              <a:latin typeface="Cambria Math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AU" sz="280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sz="2800" i="1">
                                  <a:latin typeface="Cambria Math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AU" sz="2800" i="1">
                                  <a:latin typeface="Cambria Math"/>
                                </a:rPr>
                                <m:t>𝑚</m:t>
                              </m:r>
                            </m:sup>
                          </m:sSup>
                          <m:r>
                            <a:rPr lang="en-AU" sz="2800" b="0" i="1" smtClean="0"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</a:rPr>
                            <m:t>𝑛</m:t>
                          </m:r>
                        </m:sup>
                      </m:sSup>
                      <m:r>
                        <a:rPr lang="en-AU" sz="2800" b="0" i="0" smtClean="0"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800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𝑚𝑛</m:t>
                          </m:r>
                        </m:sup>
                      </m:sSup>
                    </m:oMath>
                  </m:oMathPara>
                </a14:m>
                <a:endParaRPr lang="en-AU" sz="2800" dirty="0"/>
              </a:p>
            </p:txBody>
          </p:sp>
        </mc:Choice>
        <mc:Fallback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1257" y="4902446"/>
                <a:ext cx="2338589" cy="523220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6084356" y="4879626"/>
                <a:ext cx="27562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(</m:t>
                          </m:r>
                          <m:sSup>
                            <m:sSupPr>
                              <m:ctrlP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</a:rPr>
                                <m:t>7</m:t>
                              </m:r>
                            </m:sup>
                          </m:s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)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4</m:t>
                          </m:r>
                        </m:sup>
                      </m:sSup>
                      <m:r>
                        <a:rPr lang="en-AU" sz="2400" b="0" i="0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7×4</m:t>
                          </m:r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28</m:t>
                          </m:r>
                        </m:sup>
                      </m:sSup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4356" y="4879626"/>
                <a:ext cx="2756267" cy="461665"/>
              </a:xfrm>
              <a:prstGeom prst="rect">
                <a:avLst/>
              </a:prstGeom>
              <a:blipFill rotWithShape="1">
                <a:blip r:embed="rId8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/>
              <p:cNvSpPr txBox="1"/>
              <p:nvPr/>
            </p:nvSpPr>
            <p:spPr>
              <a:xfrm>
                <a:off x="3061169" y="5733256"/>
                <a:ext cx="283244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AU" sz="280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</a:rPr>
                            <m:t>𝑎𝑏</m:t>
                          </m:r>
                          <m:r>
                            <a:rPr lang="en-AU" sz="2800" b="0" i="1" smtClean="0"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</a:rPr>
                            <m:t>𝑛</m:t>
                          </m:r>
                        </m:sup>
                      </m:sSup>
                      <m:r>
                        <a:rPr lang="en-AU" sz="2800" b="0" i="0" smtClean="0"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800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  <m:r>
                        <a:rPr lang="en-AU" sz="2800" b="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sz="2800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𝑏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AU" sz="2800" dirty="0"/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1169" y="5733256"/>
                <a:ext cx="2832442" cy="523220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598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7766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</a:t>
            </a:r>
            <a:r>
              <a:rPr lang="en-AU" sz="2800" dirty="0" smtClean="0"/>
              <a:t>Laws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Describe how the index laws can be used to simplif</a:t>
            </a:r>
            <a:r>
              <a:rPr lang="en-AU" sz="2400" dirty="0" smtClean="0"/>
              <a:t>y expressions with indices.</a:t>
            </a:r>
            <a:r>
              <a:rPr lang="en-AU" sz="2400" dirty="0" smtClean="0"/>
              <a:t>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3471" y="1972846"/>
            <a:ext cx="2556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are the index laws?</a:t>
            </a:r>
            <a:endParaRPr lang="en-AU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5940152" y="2089092"/>
            <a:ext cx="0" cy="43311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711848" y="2003624"/>
            <a:ext cx="1122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Index Law</a:t>
            </a:r>
            <a:endParaRPr lang="en-AU" u="sng" dirty="0"/>
          </a:p>
        </p:txBody>
      </p:sp>
      <p:sp>
        <p:nvSpPr>
          <p:cNvPr id="16" name="TextBox 15"/>
          <p:cNvSpPr txBox="1"/>
          <p:nvPr/>
        </p:nvSpPr>
        <p:spPr>
          <a:xfrm>
            <a:off x="7098256" y="2038748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Example</a:t>
            </a:r>
            <a:endParaRPr lang="en-AU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2973157" y="2636912"/>
                <a:ext cx="286084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</a:rPr>
                            <m:t>𝑚</m:t>
                          </m:r>
                        </m:sup>
                      </m:sSup>
                      <m:r>
                        <a:rPr lang="en-AU" sz="280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sz="280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  <m:r>
                        <a:rPr lang="en-AU" sz="2800" b="0" i="0" smtClean="0"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800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𝑚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+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AU" sz="2800" dirty="0"/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3157" y="2636912"/>
                <a:ext cx="2860848" cy="52322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5954216" y="2596206"/>
                <a:ext cx="311861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7</m:t>
                          </m:r>
                        </m:sup>
                      </m:sSup>
                      <m:r>
                        <a:rPr lang="en-AU" sz="24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4</m:t>
                          </m:r>
                        </m:sup>
                      </m:sSup>
                      <m:r>
                        <a:rPr lang="en-AU" sz="2400" b="0" i="0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7+4</m:t>
                          </m:r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11</m:t>
                          </m:r>
                        </m:sup>
                      </m:sSup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4216" y="2596206"/>
                <a:ext cx="3118610" cy="46166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2965021" y="3283600"/>
                <a:ext cx="3024739" cy="11755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</a:rPr>
                            <m:t>𝑚</m:t>
                          </m:r>
                        </m:sup>
                      </m:sSup>
                      <m:r>
                        <a:rPr lang="en-AU" sz="2800" i="1">
                          <a:latin typeface="Cambria Math"/>
                          <a:ea typeface="Cambria Math"/>
                        </a:rPr>
                        <m:t>÷</m:t>
                      </m:r>
                      <m:sSup>
                        <m:sSupPr>
                          <m:ctrlPr>
                            <a:rPr lang="en-AU" sz="280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  <m:r>
                        <a:rPr lang="en-AU" sz="2800" b="0" i="0" smtClean="0"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800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𝑚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−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AU" sz="2800" dirty="0" smtClean="0"/>
              </a:p>
              <a:p>
                <a:r>
                  <a:rPr lang="en-AU" sz="2800" dirty="0" smtClean="0"/>
                  <a:t>or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 smtClean="0">
                            <a:latin typeface="Cambria Math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AU" sz="280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sz="2800" b="0" i="1" smtClean="0">
                                <a:latin typeface="Cambria Math"/>
                              </a:rPr>
                              <m:t>𝑎</m:t>
                            </m:r>
                          </m:e>
                          <m:sup>
                            <m:r>
                              <a:rPr lang="en-AU" sz="2800" b="0" i="1" smtClean="0">
                                <a:latin typeface="Cambria Math"/>
                              </a:rPr>
                              <m:t>𝑚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AU" sz="280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sz="2800" b="0" i="1" smtClean="0">
                                <a:latin typeface="Cambria Math"/>
                              </a:rPr>
                              <m:t>𝑎</m:t>
                            </m:r>
                          </m:e>
                          <m:sup>
                            <m:r>
                              <a:rPr lang="en-AU" sz="2800" b="0" i="1" smtClean="0">
                                <a:latin typeface="Cambria Math"/>
                              </a:rPr>
                              <m:t>𝑛</m:t>
                            </m:r>
                          </m:sup>
                        </m:sSup>
                      </m:den>
                    </m:f>
                    <m:r>
                      <a:rPr lang="en-AU" sz="2800" b="0" i="1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AU" sz="2800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𝑎</m:t>
                        </m:r>
                      </m:e>
                      <m:sup>
                        <m:r>
                          <a:rPr lang="en-AU" sz="2800" b="0" i="1" smtClean="0">
                            <a:latin typeface="Cambria Math"/>
                          </a:rPr>
                          <m:t>𝑚</m:t>
                        </m:r>
                        <m:r>
                          <a:rPr lang="en-AU" sz="2800" b="0" i="1" smtClean="0">
                            <a:latin typeface="Cambria Math"/>
                          </a:rPr>
                          <m:t>−</m:t>
                        </m:r>
                        <m:r>
                          <a:rPr lang="en-AU" sz="2800" b="0" i="1" smtClean="0">
                            <a:latin typeface="Cambria Math"/>
                          </a:rPr>
                          <m:t>𝑛</m:t>
                        </m:r>
                      </m:sup>
                    </m:sSup>
                  </m:oMath>
                </a14:m>
                <a:endParaRPr lang="en-AU" sz="2800" dirty="0"/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5021" y="3283600"/>
                <a:ext cx="3024739" cy="1175515"/>
              </a:xfrm>
              <a:prstGeom prst="rect">
                <a:avLst/>
              </a:prstGeom>
              <a:blipFill rotWithShape="1">
                <a:blip r:embed="rId4"/>
                <a:stretch>
                  <a:fillRect l="-4024" b="-677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6025390" y="3348400"/>
                <a:ext cx="300499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7</m:t>
                          </m:r>
                        </m:sup>
                      </m:sSup>
                      <m:r>
                        <a:rPr lang="en-AU" sz="2400" i="1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  <m:sSup>
                        <m:sSup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4</m:t>
                          </m:r>
                        </m:sup>
                      </m:sSup>
                      <m:r>
                        <a:rPr lang="en-AU" sz="2400" b="0" i="0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7−4</m:t>
                          </m:r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5390" y="3348400"/>
                <a:ext cx="3004990" cy="46166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6084356" y="3832405"/>
                <a:ext cx="2392963" cy="8538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AU" sz="240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7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AU" sz="240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4</m:t>
                              </m:r>
                            </m:sup>
                          </m:sSup>
                        </m:den>
                      </m:f>
                      <m:r>
                        <a:rPr lang="en-AU" sz="2400" b="0" i="0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7−4</m:t>
                          </m:r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4356" y="3832405"/>
                <a:ext cx="2392963" cy="853823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3011257" y="4902446"/>
                <a:ext cx="233858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AU" sz="2800" i="1" smtClean="0">
                              <a:latin typeface="Cambria Math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AU" sz="280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sz="2800" i="1">
                                  <a:latin typeface="Cambria Math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AU" sz="2800" i="1">
                                  <a:latin typeface="Cambria Math"/>
                                </a:rPr>
                                <m:t>𝑚</m:t>
                              </m:r>
                            </m:sup>
                          </m:sSup>
                          <m:r>
                            <a:rPr lang="en-AU" sz="2800" b="0" i="1" smtClean="0"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</a:rPr>
                            <m:t>𝑛</m:t>
                          </m:r>
                        </m:sup>
                      </m:sSup>
                      <m:r>
                        <a:rPr lang="en-AU" sz="2800" b="0" i="0" smtClean="0"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800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𝑚𝑛</m:t>
                          </m:r>
                        </m:sup>
                      </m:sSup>
                    </m:oMath>
                  </m:oMathPara>
                </a14:m>
                <a:endParaRPr lang="en-AU" sz="2800" dirty="0"/>
              </a:p>
            </p:txBody>
          </p:sp>
        </mc:Choice>
        <mc:Fallback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1257" y="4902446"/>
                <a:ext cx="2338589" cy="523220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6084356" y="4905272"/>
                <a:ext cx="27562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(</m:t>
                          </m:r>
                          <m:sSup>
                            <m:sSupPr>
                              <m:ctrlP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</a:rPr>
                                <m:t>7</m:t>
                              </m:r>
                            </m:sup>
                          </m:s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)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4</m:t>
                          </m:r>
                        </m:sup>
                      </m:sSup>
                      <m:r>
                        <a:rPr lang="en-AU" sz="2400" b="0" i="0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7×4</m:t>
                          </m:r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28</m:t>
                          </m:r>
                        </m:sup>
                      </m:sSup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4356" y="4905272"/>
                <a:ext cx="2756267" cy="461665"/>
              </a:xfrm>
              <a:prstGeom prst="rect">
                <a:avLst/>
              </a:prstGeom>
              <a:blipFill rotWithShape="1">
                <a:blip r:embed="rId8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/>
              <p:cNvSpPr txBox="1"/>
              <p:nvPr/>
            </p:nvSpPr>
            <p:spPr>
              <a:xfrm>
                <a:off x="3061169" y="5733256"/>
                <a:ext cx="283244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AU" sz="280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</a:rPr>
                            <m:t>𝑎𝑏</m:t>
                          </m:r>
                          <m:r>
                            <a:rPr lang="en-AU" sz="2800" b="0" i="1" smtClean="0"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</a:rPr>
                            <m:t>𝑛</m:t>
                          </m:r>
                        </m:sup>
                      </m:sSup>
                      <m:r>
                        <a:rPr lang="en-AU" sz="2800" b="0" i="0" smtClean="0"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800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  <m:r>
                        <a:rPr lang="en-AU" sz="2800" b="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sz="2800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𝑏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AU" sz="2800" dirty="0"/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1169" y="5733256"/>
                <a:ext cx="2832442" cy="523220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/>
              <p:cNvSpPr txBox="1"/>
              <p:nvPr/>
            </p:nvSpPr>
            <p:spPr>
              <a:xfrm>
                <a:off x="6096012" y="5723628"/>
                <a:ext cx="264514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(6×3</m:t>
                          </m:r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)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4</m:t>
                          </m:r>
                        </m:sup>
                      </m:sSup>
                      <m:r>
                        <a:rPr lang="en-AU" sz="2400" b="0" i="0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6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4</m:t>
                          </m:r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3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12" y="5723628"/>
                <a:ext cx="2645147" cy="461665"/>
              </a:xfrm>
              <a:prstGeom prst="rect">
                <a:avLst/>
              </a:prstGeom>
              <a:blipFill rotWithShape="1">
                <a:blip r:embed="rId10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1812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04" y="1042274"/>
            <a:ext cx="9067649" cy="58157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328" y="0"/>
            <a:ext cx="8229600" cy="1143000"/>
          </a:xfrm>
        </p:spPr>
        <p:txBody>
          <a:bodyPr>
            <a:normAutofit/>
          </a:bodyPr>
          <a:lstStyle/>
          <a:p>
            <a:r>
              <a:rPr lang="en-AU" sz="3600" dirty="0" smtClean="0"/>
              <a:t>Questions</a:t>
            </a:r>
            <a:endParaRPr lang="en-AU" sz="3600" dirty="0"/>
          </a:p>
        </p:txBody>
      </p:sp>
    </p:spTree>
    <p:extLst>
      <p:ext uri="{BB962C8B-B14F-4D97-AF65-F5344CB8AC3E}">
        <p14:creationId xmlns:p14="http://schemas.microsoft.com/office/powerpoint/2010/main" val="1674127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611" y="1124744"/>
            <a:ext cx="6941863" cy="55089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504328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3600" dirty="0" smtClean="0"/>
              <a:t>Answers</a:t>
            </a:r>
            <a:endParaRPr lang="en-AU" sz="3600" dirty="0"/>
          </a:p>
        </p:txBody>
      </p:sp>
    </p:spTree>
    <p:extLst>
      <p:ext uri="{BB962C8B-B14F-4D97-AF65-F5344CB8AC3E}">
        <p14:creationId xmlns:p14="http://schemas.microsoft.com/office/powerpoint/2010/main" val="1343901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1497</TotalTime>
  <Words>1795</Words>
  <Application>Microsoft Office PowerPoint</Application>
  <PresentationFormat>On-screen Show (4:3)</PresentationFormat>
  <Paragraphs>253</Paragraphs>
  <Slides>27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Office Theme</vt:lpstr>
      <vt:lpstr>My Number Interactive Notebook</vt:lpstr>
      <vt:lpstr>PowerPoint Presentation</vt:lpstr>
      <vt:lpstr>PowerPoint Presentation</vt:lpstr>
      <vt:lpstr>PowerPoint Presentation</vt:lpstr>
      <vt:lpstr>Task –Expand the following</vt:lpstr>
      <vt:lpstr>Task –Expand the following</vt:lpstr>
      <vt:lpstr>Task –Expand the following</vt:lpstr>
      <vt:lpstr>Task –Expand the following</vt:lpstr>
      <vt:lpstr>Task –Expand the following</vt:lpstr>
      <vt:lpstr>Task –Expand the following</vt:lpstr>
      <vt:lpstr>Task –Expand the following</vt:lpstr>
      <vt:lpstr>Task –Expand the following</vt:lpstr>
      <vt:lpstr>Task –Expand the following</vt:lpstr>
      <vt:lpstr>Task –Expand the following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Questions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RUST Joanne</cp:lastModifiedBy>
  <cp:revision>68</cp:revision>
  <dcterms:created xsi:type="dcterms:W3CDTF">2014-05-14T02:58:57Z</dcterms:created>
  <dcterms:modified xsi:type="dcterms:W3CDTF">2015-02-05T13:35:59Z</dcterms:modified>
</cp:coreProperties>
</file>
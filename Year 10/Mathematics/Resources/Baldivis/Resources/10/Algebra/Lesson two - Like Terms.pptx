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35" r:id="rId5"/>
    <p:sldId id="338" r:id="rId6"/>
    <p:sldId id="339" r:id="rId7"/>
    <p:sldId id="334" r:id="rId8"/>
    <p:sldId id="336" r:id="rId9"/>
    <p:sldId id="340" r:id="rId10"/>
    <p:sldId id="324" r:id="rId11"/>
    <p:sldId id="337" r:id="rId12"/>
    <p:sldId id="341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16/04/2015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02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Like Terms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an expression and how do we write them?</a:t>
            </a:r>
            <a:endParaRPr lang="en-AU" sz="2400" dirty="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915816" y="1988840"/>
            <a:ext cx="67691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Calibri" pitchFamily="34" charset="0"/>
              </a:rPr>
              <a:t>We know that </a:t>
            </a:r>
            <a:r>
              <a:rPr lang="en-US" altLang="en-US" b="1" i="1" dirty="0" err="1">
                <a:solidFill>
                  <a:srgbClr val="FF0000"/>
                </a:solidFill>
                <a:latin typeface="Calibri" pitchFamily="34" charset="0"/>
              </a:rPr>
              <a:t>ab</a:t>
            </a:r>
            <a:r>
              <a:rPr lang="en-US" altLang="en-US" i="1" dirty="0">
                <a:latin typeface="Calibri" pitchFamily="34" charset="0"/>
              </a:rPr>
              <a:t> </a:t>
            </a:r>
            <a:r>
              <a:rPr lang="en-US" altLang="en-US" dirty="0">
                <a:latin typeface="Calibri" pitchFamily="34" charset="0"/>
              </a:rPr>
              <a:t>and </a:t>
            </a:r>
            <a:r>
              <a:rPr lang="en-US" altLang="en-US" b="1" i="1" dirty="0" err="1">
                <a:solidFill>
                  <a:srgbClr val="FF0000"/>
                </a:solidFill>
                <a:latin typeface="Calibri" pitchFamily="34" charset="0"/>
              </a:rPr>
              <a:t>ba</a:t>
            </a:r>
            <a:r>
              <a:rPr lang="en-US" altLang="en-US" dirty="0">
                <a:latin typeface="Calibri" pitchFamily="34" charset="0"/>
              </a:rPr>
              <a:t> are the same thing, so we can do </a:t>
            </a:r>
            <a:r>
              <a:rPr lang="en-US" altLang="en-US" dirty="0" smtClean="0">
                <a:latin typeface="Calibri" pitchFamily="34" charset="0"/>
              </a:rPr>
              <a:t>sums</a:t>
            </a:r>
          </a:p>
          <a:p>
            <a:r>
              <a:rPr lang="en-US" altLang="en-US" dirty="0" smtClean="0">
                <a:latin typeface="Calibri" pitchFamily="34" charset="0"/>
              </a:rPr>
              <a:t>like</a:t>
            </a:r>
            <a:endParaRPr lang="en-US" altLang="en-US" dirty="0">
              <a:latin typeface="Calibri" pitchFamily="34" charset="0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347864" y="2564904"/>
            <a:ext cx="20875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Calibri" pitchFamily="34" charset="0"/>
              </a:rPr>
              <a:t>4</a:t>
            </a:r>
            <a:r>
              <a:rPr lang="en-US" altLang="en-US" i="1" dirty="0">
                <a:latin typeface="Calibri" pitchFamily="34" charset="0"/>
              </a:rPr>
              <a:t>ab</a:t>
            </a:r>
            <a:r>
              <a:rPr lang="en-US" altLang="en-US" dirty="0">
                <a:latin typeface="Calibri" pitchFamily="34" charset="0"/>
              </a:rPr>
              <a:t> + 5</a:t>
            </a:r>
            <a:r>
              <a:rPr lang="en-US" altLang="en-US" i="1" dirty="0">
                <a:latin typeface="Calibri" pitchFamily="34" charset="0"/>
              </a:rPr>
              <a:t>ba</a:t>
            </a:r>
            <a:r>
              <a:rPr lang="en-US" altLang="en-US" dirty="0">
                <a:latin typeface="Calibri" pitchFamily="34" charset="0"/>
              </a:rPr>
              <a:t> =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499992" y="2564904"/>
            <a:ext cx="863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  <a:latin typeface="Calibri" pitchFamily="34" charset="0"/>
              </a:rPr>
              <a:t>9</a:t>
            </a:r>
            <a:r>
              <a:rPr lang="en-US" altLang="en-US" b="1" i="1" dirty="0">
                <a:solidFill>
                  <a:srgbClr val="0000FF"/>
                </a:solidFill>
                <a:latin typeface="Calibri" pitchFamily="34" charset="0"/>
              </a:rPr>
              <a:t>ab</a:t>
            </a:r>
            <a:endParaRPr lang="en-US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275856" y="2924944"/>
            <a:ext cx="20875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Calibri" pitchFamily="34" charset="0"/>
              </a:rPr>
              <a:t>7</a:t>
            </a:r>
            <a:r>
              <a:rPr lang="en-US" altLang="en-US" i="1" dirty="0">
                <a:latin typeface="Calibri" pitchFamily="34" charset="0"/>
              </a:rPr>
              <a:t>xy</a:t>
            </a:r>
            <a:r>
              <a:rPr lang="en-US" altLang="en-US" dirty="0">
                <a:latin typeface="Calibri" pitchFamily="34" charset="0"/>
              </a:rPr>
              <a:t> + 9</a:t>
            </a:r>
            <a:r>
              <a:rPr lang="en-US" altLang="en-US" i="1" dirty="0">
                <a:latin typeface="Calibri" pitchFamily="34" charset="0"/>
              </a:rPr>
              <a:t>yx</a:t>
            </a:r>
            <a:r>
              <a:rPr lang="en-US" altLang="en-US" dirty="0">
                <a:latin typeface="Calibri" pitchFamily="34" charset="0"/>
              </a:rPr>
              <a:t> =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283968" y="2924944"/>
            <a:ext cx="15827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  <a:latin typeface="Calibri" pitchFamily="34" charset="0"/>
              </a:rPr>
              <a:t>16</a:t>
            </a:r>
            <a:r>
              <a:rPr lang="en-US" altLang="en-US" b="1" i="1" dirty="0">
                <a:solidFill>
                  <a:srgbClr val="0000FF"/>
                </a:solidFill>
                <a:latin typeface="Calibri" pitchFamily="34" charset="0"/>
              </a:rPr>
              <a:t>xy</a:t>
            </a:r>
            <a:endParaRPr lang="en-US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131840" y="3284984"/>
            <a:ext cx="4464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Calibri" pitchFamily="34" charset="0"/>
              </a:rPr>
              <a:t>3</a:t>
            </a:r>
            <a:r>
              <a:rPr lang="en-US" altLang="en-US" i="1" dirty="0">
                <a:latin typeface="Calibri" pitchFamily="34" charset="0"/>
              </a:rPr>
              <a:t>abc</a:t>
            </a:r>
            <a:r>
              <a:rPr lang="en-US" altLang="en-US" dirty="0">
                <a:latin typeface="Calibri" pitchFamily="34" charset="0"/>
              </a:rPr>
              <a:t> – 2</a:t>
            </a:r>
            <a:r>
              <a:rPr lang="en-US" altLang="en-US" i="1" dirty="0">
                <a:latin typeface="Calibri" pitchFamily="34" charset="0"/>
              </a:rPr>
              <a:t>bca</a:t>
            </a:r>
            <a:r>
              <a:rPr lang="en-US" altLang="en-US" dirty="0">
                <a:latin typeface="Calibri" pitchFamily="34" charset="0"/>
              </a:rPr>
              <a:t>  + 8</a:t>
            </a:r>
            <a:r>
              <a:rPr lang="en-US" altLang="en-US" i="1" dirty="0">
                <a:latin typeface="Calibri" pitchFamily="34" charset="0"/>
              </a:rPr>
              <a:t>cab </a:t>
            </a:r>
            <a:r>
              <a:rPr lang="en-US" altLang="en-US" dirty="0">
                <a:latin typeface="Calibri" pitchFamily="34" charset="0"/>
              </a:rPr>
              <a:t>=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220072" y="3284984"/>
            <a:ext cx="1584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  <a:latin typeface="Calibri" pitchFamily="34" charset="0"/>
              </a:rPr>
              <a:t>9</a:t>
            </a:r>
            <a:r>
              <a:rPr lang="en-US" altLang="en-US" b="1" i="1" dirty="0">
                <a:solidFill>
                  <a:srgbClr val="0000FF"/>
                </a:solidFill>
                <a:latin typeface="Calibri" pitchFamily="34" charset="0"/>
              </a:rPr>
              <a:t>abc</a:t>
            </a:r>
            <a:endParaRPr lang="en-US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3059832" y="3645024"/>
            <a:ext cx="23762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i="1" dirty="0" err="1">
                <a:latin typeface="Calibri" pitchFamily="34" charset="0"/>
              </a:rPr>
              <a:t>mnp</a:t>
            </a:r>
            <a:r>
              <a:rPr lang="en-US" altLang="en-US" dirty="0">
                <a:latin typeface="Calibri" pitchFamily="34" charset="0"/>
              </a:rPr>
              <a:t> – 2</a:t>
            </a:r>
            <a:r>
              <a:rPr lang="en-US" altLang="en-US" i="1" dirty="0">
                <a:latin typeface="Calibri" pitchFamily="34" charset="0"/>
              </a:rPr>
              <a:t>mpn</a:t>
            </a:r>
            <a:r>
              <a:rPr lang="en-US" altLang="en-US" dirty="0">
                <a:latin typeface="Calibri" pitchFamily="34" charset="0"/>
              </a:rPr>
              <a:t>  – 7</a:t>
            </a:r>
            <a:r>
              <a:rPr lang="en-US" altLang="en-US" i="1" dirty="0">
                <a:latin typeface="Calibri" pitchFamily="34" charset="0"/>
              </a:rPr>
              <a:t>pmn </a:t>
            </a:r>
            <a:r>
              <a:rPr lang="en-US" altLang="en-US" dirty="0">
                <a:latin typeface="Calibri" pitchFamily="34" charset="0"/>
              </a:rPr>
              <a:t>=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292080" y="3645024"/>
            <a:ext cx="1584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  <a:latin typeface="Calibri" pitchFamily="34" charset="0"/>
              </a:rPr>
              <a:t>– 8</a:t>
            </a:r>
            <a:r>
              <a:rPr lang="en-US" altLang="en-US" b="1" i="1" dirty="0">
                <a:solidFill>
                  <a:srgbClr val="0000FF"/>
                </a:solidFill>
                <a:latin typeface="Calibri" pitchFamily="34" charset="0"/>
              </a:rPr>
              <a:t>mnp</a:t>
            </a:r>
            <a:endParaRPr lang="en-US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059832" y="4077072"/>
            <a:ext cx="5400600" cy="120032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008000"/>
                </a:solidFill>
              </a:rPr>
              <a:t>Note that in each case, </a:t>
            </a:r>
          </a:p>
          <a:p>
            <a:pPr>
              <a:buFont typeface="Arial" charset="0"/>
              <a:buChar char="•"/>
            </a:pPr>
            <a:r>
              <a:rPr lang="en-US" altLang="en-US" b="1" dirty="0">
                <a:solidFill>
                  <a:srgbClr val="008000"/>
                </a:solidFill>
              </a:rPr>
              <a:t>  the number goes first</a:t>
            </a:r>
          </a:p>
          <a:p>
            <a:pPr>
              <a:buFont typeface="Arial" charset="0"/>
              <a:buChar char="•"/>
            </a:pPr>
            <a:r>
              <a:rPr lang="en-US" altLang="en-US" b="1" dirty="0">
                <a:solidFill>
                  <a:srgbClr val="008000"/>
                </a:solidFill>
              </a:rPr>
              <a:t>  alphabetical order is used for the answer (though it </a:t>
            </a:r>
            <a:endParaRPr lang="en-US" altLang="en-US" b="1" dirty="0" smtClean="0">
              <a:solidFill>
                <a:srgbClr val="008000"/>
              </a:solidFill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</a:rPr>
              <a:t> </a:t>
            </a:r>
            <a:r>
              <a:rPr lang="en-US" altLang="en-US" b="1" dirty="0" smtClean="0">
                <a:solidFill>
                  <a:srgbClr val="008000"/>
                </a:solidFill>
              </a:rPr>
              <a:t>   is  still </a:t>
            </a:r>
            <a:r>
              <a:rPr lang="en-US" altLang="en-US" b="1" dirty="0">
                <a:solidFill>
                  <a:srgbClr val="008000"/>
                </a:solidFill>
              </a:rPr>
              <a:t>correct to write 9</a:t>
            </a:r>
            <a:r>
              <a:rPr lang="en-US" altLang="en-US" b="1" i="1" dirty="0">
                <a:solidFill>
                  <a:srgbClr val="008000"/>
                </a:solidFill>
              </a:rPr>
              <a:t>ba</a:t>
            </a:r>
            <a:r>
              <a:rPr lang="en-US" altLang="en-US" b="1" dirty="0">
                <a:solidFill>
                  <a:srgbClr val="008000"/>
                </a:solidFill>
              </a:rPr>
              <a:t>, 16</a:t>
            </a:r>
            <a:r>
              <a:rPr lang="en-US" altLang="en-US" b="1" i="1" dirty="0">
                <a:solidFill>
                  <a:srgbClr val="008000"/>
                </a:solidFill>
              </a:rPr>
              <a:t>yx</a:t>
            </a:r>
            <a:r>
              <a:rPr lang="en-US" altLang="en-US" b="1" dirty="0">
                <a:solidFill>
                  <a:srgbClr val="008000"/>
                </a:solidFill>
              </a:rPr>
              <a:t> etc…)</a:t>
            </a:r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02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Like Terms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an expression and how do we write them?</a:t>
            </a:r>
            <a:endParaRPr lang="en-AU" sz="2400" dirty="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915816" y="1988840"/>
            <a:ext cx="67691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Calibri" pitchFamily="34" charset="0"/>
              </a:rPr>
              <a:t>We know that </a:t>
            </a:r>
            <a:r>
              <a:rPr lang="en-US" altLang="en-US" b="1" i="1" dirty="0" err="1">
                <a:solidFill>
                  <a:srgbClr val="FF0000"/>
                </a:solidFill>
                <a:latin typeface="Calibri" pitchFamily="34" charset="0"/>
              </a:rPr>
              <a:t>ab</a:t>
            </a:r>
            <a:r>
              <a:rPr lang="en-US" altLang="en-US" i="1" dirty="0">
                <a:latin typeface="Calibri" pitchFamily="34" charset="0"/>
              </a:rPr>
              <a:t> </a:t>
            </a:r>
            <a:r>
              <a:rPr lang="en-US" altLang="en-US" dirty="0">
                <a:latin typeface="Calibri" pitchFamily="34" charset="0"/>
              </a:rPr>
              <a:t>and </a:t>
            </a:r>
            <a:r>
              <a:rPr lang="en-US" altLang="en-US" b="1" i="1" dirty="0" err="1">
                <a:solidFill>
                  <a:srgbClr val="FF0000"/>
                </a:solidFill>
                <a:latin typeface="Calibri" pitchFamily="34" charset="0"/>
              </a:rPr>
              <a:t>ba</a:t>
            </a:r>
            <a:r>
              <a:rPr lang="en-US" altLang="en-US" dirty="0">
                <a:latin typeface="Calibri" pitchFamily="34" charset="0"/>
              </a:rPr>
              <a:t> are the same thing, so we can do </a:t>
            </a:r>
            <a:r>
              <a:rPr lang="en-US" altLang="en-US" dirty="0" smtClean="0">
                <a:latin typeface="Calibri" pitchFamily="34" charset="0"/>
              </a:rPr>
              <a:t>sums</a:t>
            </a:r>
          </a:p>
          <a:p>
            <a:r>
              <a:rPr lang="en-US" altLang="en-US" dirty="0" smtClean="0">
                <a:latin typeface="Calibri" pitchFamily="34" charset="0"/>
              </a:rPr>
              <a:t>like</a:t>
            </a:r>
            <a:endParaRPr lang="en-US" altLang="en-US" dirty="0">
              <a:latin typeface="Calibri" pitchFamily="34" charset="0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347864" y="2564904"/>
            <a:ext cx="20875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Calibri" pitchFamily="34" charset="0"/>
              </a:rPr>
              <a:t>4</a:t>
            </a:r>
            <a:r>
              <a:rPr lang="en-US" altLang="en-US" i="1" dirty="0">
                <a:latin typeface="Calibri" pitchFamily="34" charset="0"/>
              </a:rPr>
              <a:t>ab</a:t>
            </a:r>
            <a:r>
              <a:rPr lang="en-US" altLang="en-US" dirty="0">
                <a:latin typeface="Calibri" pitchFamily="34" charset="0"/>
              </a:rPr>
              <a:t> + 5</a:t>
            </a:r>
            <a:r>
              <a:rPr lang="en-US" altLang="en-US" i="1" dirty="0">
                <a:latin typeface="Calibri" pitchFamily="34" charset="0"/>
              </a:rPr>
              <a:t>ba</a:t>
            </a:r>
            <a:r>
              <a:rPr lang="en-US" altLang="en-US" dirty="0">
                <a:latin typeface="Calibri" pitchFamily="34" charset="0"/>
              </a:rPr>
              <a:t> =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499992" y="2564904"/>
            <a:ext cx="863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  <a:latin typeface="Calibri" pitchFamily="34" charset="0"/>
              </a:rPr>
              <a:t>9</a:t>
            </a:r>
            <a:r>
              <a:rPr lang="en-US" altLang="en-US" b="1" i="1" dirty="0">
                <a:solidFill>
                  <a:srgbClr val="0000FF"/>
                </a:solidFill>
                <a:latin typeface="Calibri" pitchFamily="34" charset="0"/>
              </a:rPr>
              <a:t>ab</a:t>
            </a:r>
            <a:endParaRPr lang="en-US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275856" y="2924944"/>
            <a:ext cx="20875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Calibri" pitchFamily="34" charset="0"/>
              </a:rPr>
              <a:t>7</a:t>
            </a:r>
            <a:r>
              <a:rPr lang="en-US" altLang="en-US" i="1" dirty="0">
                <a:latin typeface="Calibri" pitchFamily="34" charset="0"/>
              </a:rPr>
              <a:t>xy</a:t>
            </a:r>
            <a:r>
              <a:rPr lang="en-US" altLang="en-US" dirty="0">
                <a:latin typeface="Calibri" pitchFamily="34" charset="0"/>
              </a:rPr>
              <a:t> + 9</a:t>
            </a:r>
            <a:r>
              <a:rPr lang="en-US" altLang="en-US" i="1" dirty="0">
                <a:latin typeface="Calibri" pitchFamily="34" charset="0"/>
              </a:rPr>
              <a:t>yx</a:t>
            </a:r>
            <a:r>
              <a:rPr lang="en-US" altLang="en-US" dirty="0">
                <a:latin typeface="Calibri" pitchFamily="34" charset="0"/>
              </a:rPr>
              <a:t> =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283968" y="2924944"/>
            <a:ext cx="15827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  <a:latin typeface="Calibri" pitchFamily="34" charset="0"/>
              </a:rPr>
              <a:t>16</a:t>
            </a:r>
            <a:r>
              <a:rPr lang="en-US" altLang="en-US" b="1" i="1" dirty="0">
                <a:solidFill>
                  <a:srgbClr val="0000FF"/>
                </a:solidFill>
                <a:latin typeface="Calibri" pitchFamily="34" charset="0"/>
              </a:rPr>
              <a:t>xy</a:t>
            </a:r>
            <a:endParaRPr lang="en-US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131840" y="3284984"/>
            <a:ext cx="4464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Calibri" pitchFamily="34" charset="0"/>
              </a:rPr>
              <a:t>3</a:t>
            </a:r>
            <a:r>
              <a:rPr lang="en-US" altLang="en-US" i="1" dirty="0">
                <a:latin typeface="Calibri" pitchFamily="34" charset="0"/>
              </a:rPr>
              <a:t>abc</a:t>
            </a:r>
            <a:r>
              <a:rPr lang="en-US" altLang="en-US" dirty="0">
                <a:latin typeface="Calibri" pitchFamily="34" charset="0"/>
              </a:rPr>
              <a:t> – 2</a:t>
            </a:r>
            <a:r>
              <a:rPr lang="en-US" altLang="en-US" i="1" dirty="0">
                <a:latin typeface="Calibri" pitchFamily="34" charset="0"/>
              </a:rPr>
              <a:t>bca</a:t>
            </a:r>
            <a:r>
              <a:rPr lang="en-US" altLang="en-US" dirty="0">
                <a:latin typeface="Calibri" pitchFamily="34" charset="0"/>
              </a:rPr>
              <a:t>  + 8</a:t>
            </a:r>
            <a:r>
              <a:rPr lang="en-US" altLang="en-US" i="1" dirty="0">
                <a:latin typeface="Calibri" pitchFamily="34" charset="0"/>
              </a:rPr>
              <a:t>cab </a:t>
            </a:r>
            <a:r>
              <a:rPr lang="en-US" altLang="en-US" dirty="0">
                <a:latin typeface="Calibri" pitchFamily="34" charset="0"/>
              </a:rPr>
              <a:t>=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220072" y="3284984"/>
            <a:ext cx="1584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  <a:latin typeface="Calibri" pitchFamily="34" charset="0"/>
              </a:rPr>
              <a:t>9</a:t>
            </a:r>
            <a:r>
              <a:rPr lang="en-US" altLang="en-US" b="1" i="1" dirty="0">
                <a:solidFill>
                  <a:srgbClr val="0000FF"/>
                </a:solidFill>
                <a:latin typeface="Calibri" pitchFamily="34" charset="0"/>
              </a:rPr>
              <a:t>abc</a:t>
            </a:r>
            <a:endParaRPr lang="en-US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3059832" y="3645024"/>
            <a:ext cx="23762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i="1" dirty="0" err="1">
                <a:latin typeface="Calibri" pitchFamily="34" charset="0"/>
              </a:rPr>
              <a:t>mnp</a:t>
            </a:r>
            <a:r>
              <a:rPr lang="en-US" altLang="en-US" dirty="0">
                <a:latin typeface="Calibri" pitchFamily="34" charset="0"/>
              </a:rPr>
              <a:t> – 2</a:t>
            </a:r>
            <a:r>
              <a:rPr lang="en-US" altLang="en-US" i="1" dirty="0">
                <a:latin typeface="Calibri" pitchFamily="34" charset="0"/>
              </a:rPr>
              <a:t>mpn</a:t>
            </a:r>
            <a:r>
              <a:rPr lang="en-US" altLang="en-US" dirty="0">
                <a:latin typeface="Calibri" pitchFamily="34" charset="0"/>
              </a:rPr>
              <a:t>  – 7</a:t>
            </a:r>
            <a:r>
              <a:rPr lang="en-US" altLang="en-US" i="1" dirty="0">
                <a:latin typeface="Calibri" pitchFamily="34" charset="0"/>
              </a:rPr>
              <a:t>pmn </a:t>
            </a:r>
            <a:r>
              <a:rPr lang="en-US" altLang="en-US" dirty="0">
                <a:latin typeface="Calibri" pitchFamily="34" charset="0"/>
              </a:rPr>
              <a:t>=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292080" y="3645024"/>
            <a:ext cx="1584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  <a:latin typeface="Calibri" pitchFamily="34" charset="0"/>
              </a:rPr>
              <a:t>– 8</a:t>
            </a:r>
            <a:r>
              <a:rPr lang="en-US" altLang="en-US" b="1" i="1" dirty="0">
                <a:solidFill>
                  <a:srgbClr val="0000FF"/>
                </a:solidFill>
                <a:latin typeface="Calibri" pitchFamily="34" charset="0"/>
              </a:rPr>
              <a:t>mnp</a:t>
            </a:r>
            <a:endParaRPr lang="en-US" altLang="en-US" b="1" dirty="0">
              <a:solidFill>
                <a:srgbClr val="0000FF"/>
              </a:solidFill>
              <a:latin typeface="Calibri" pitchFamily="34" charset="0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059832" y="4077072"/>
            <a:ext cx="5400600" cy="120032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008000"/>
                </a:solidFill>
              </a:rPr>
              <a:t>Note that in each case, </a:t>
            </a:r>
          </a:p>
          <a:p>
            <a:pPr>
              <a:buFont typeface="Arial" charset="0"/>
              <a:buChar char="•"/>
            </a:pPr>
            <a:r>
              <a:rPr lang="en-US" altLang="en-US" b="1" dirty="0">
                <a:solidFill>
                  <a:srgbClr val="008000"/>
                </a:solidFill>
              </a:rPr>
              <a:t>  the number goes first</a:t>
            </a:r>
          </a:p>
          <a:p>
            <a:pPr>
              <a:buFont typeface="Arial" charset="0"/>
              <a:buChar char="•"/>
            </a:pPr>
            <a:r>
              <a:rPr lang="en-US" altLang="en-US" b="1" dirty="0">
                <a:solidFill>
                  <a:srgbClr val="008000"/>
                </a:solidFill>
              </a:rPr>
              <a:t>  alphabetical order is used for the answer (though it </a:t>
            </a:r>
            <a:endParaRPr lang="en-US" altLang="en-US" b="1" dirty="0" smtClean="0">
              <a:solidFill>
                <a:srgbClr val="008000"/>
              </a:solidFill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</a:rPr>
              <a:t> </a:t>
            </a:r>
            <a:r>
              <a:rPr lang="en-US" altLang="en-US" b="1" dirty="0" smtClean="0">
                <a:solidFill>
                  <a:srgbClr val="008000"/>
                </a:solidFill>
              </a:rPr>
              <a:t>   is  still </a:t>
            </a:r>
            <a:r>
              <a:rPr lang="en-US" altLang="en-US" b="1" dirty="0">
                <a:solidFill>
                  <a:srgbClr val="008000"/>
                </a:solidFill>
              </a:rPr>
              <a:t>correct to write 9</a:t>
            </a:r>
            <a:r>
              <a:rPr lang="en-US" altLang="en-US" b="1" i="1" dirty="0">
                <a:solidFill>
                  <a:srgbClr val="008000"/>
                </a:solidFill>
              </a:rPr>
              <a:t>ba</a:t>
            </a:r>
            <a:r>
              <a:rPr lang="en-US" altLang="en-US" b="1" dirty="0">
                <a:solidFill>
                  <a:srgbClr val="008000"/>
                </a:solidFill>
              </a:rPr>
              <a:t>, 16</a:t>
            </a:r>
            <a:r>
              <a:rPr lang="en-US" altLang="en-US" b="1" i="1" dirty="0">
                <a:solidFill>
                  <a:srgbClr val="008000"/>
                </a:solidFill>
              </a:rPr>
              <a:t>yx</a:t>
            </a:r>
            <a:r>
              <a:rPr lang="en-US" altLang="en-US" b="1" dirty="0">
                <a:solidFill>
                  <a:srgbClr val="008000"/>
                </a:solidFill>
              </a:rPr>
              <a:t> etc…)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445224"/>
            <a:ext cx="2915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difference between Like and Unlike Terms?</a:t>
            </a:r>
            <a:endParaRPr lang="en-AU" dirty="0"/>
          </a:p>
        </p:txBody>
      </p:sp>
      <p:sp>
        <p:nvSpPr>
          <p:cNvPr id="27" name="TextBox 1"/>
          <p:cNvSpPr txBox="1">
            <a:spLocks noChangeArrowheads="1"/>
          </p:cNvSpPr>
          <p:nvPr/>
        </p:nvSpPr>
        <p:spPr bwMode="auto">
          <a:xfrm>
            <a:off x="3131840" y="5445224"/>
            <a:ext cx="37451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8000"/>
                </a:solidFill>
                <a:latin typeface="Calibri" pitchFamily="34" charset="0"/>
              </a:rPr>
              <a:t>6</a:t>
            </a:r>
            <a:r>
              <a:rPr lang="en-US" altLang="en-US" i="1" dirty="0">
                <a:solidFill>
                  <a:srgbClr val="008000"/>
                </a:solidFill>
                <a:latin typeface="Calibri" pitchFamily="34" charset="0"/>
              </a:rPr>
              <a:t>a</a:t>
            </a:r>
            <a:r>
              <a:rPr lang="en-US" altLang="en-US" dirty="0">
                <a:solidFill>
                  <a:srgbClr val="008000"/>
                </a:solidFill>
                <a:latin typeface="Calibri" pitchFamily="34" charset="0"/>
              </a:rPr>
              <a:t>  + 7</a:t>
            </a:r>
            <a:r>
              <a:rPr lang="en-US" altLang="en-US" i="1" dirty="0">
                <a:solidFill>
                  <a:srgbClr val="008000"/>
                </a:solidFill>
                <a:latin typeface="Calibri" pitchFamily="34" charset="0"/>
              </a:rPr>
              <a:t>a</a:t>
            </a:r>
            <a:r>
              <a:rPr lang="en-US" altLang="en-US" dirty="0">
                <a:solidFill>
                  <a:srgbClr val="008000"/>
                </a:solidFill>
                <a:latin typeface="Calibri" pitchFamily="34" charset="0"/>
              </a:rPr>
              <a:t> is an example of </a:t>
            </a:r>
            <a:r>
              <a:rPr lang="en-US" altLang="en-US" b="1" dirty="0">
                <a:solidFill>
                  <a:srgbClr val="008000"/>
                </a:solidFill>
                <a:latin typeface="Calibri" pitchFamily="34" charset="0"/>
              </a:rPr>
              <a:t>LIKE TERMS.</a:t>
            </a:r>
            <a:r>
              <a:rPr lang="en-US" altLang="en-US" dirty="0">
                <a:solidFill>
                  <a:srgbClr val="008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8" name="TextBox 2"/>
          <p:cNvSpPr txBox="1">
            <a:spLocks noChangeArrowheads="1"/>
          </p:cNvSpPr>
          <p:nvPr/>
        </p:nvSpPr>
        <p:spPr bwMode="auto">
          <a:xfrm>
            <a:off x="2987824" y="5733256"/>
            <a:ext cx="597693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8000"/>
                </a:solidFill>
              </a:rPr>
              <a:t>Like terms can be added or subtracted to get a simpler answer (13</a:t>
            </a:r>
            <a:r>
              <a:rPr lang="en-US" altLang="en-US" b="1" i="1" dirty="0">
                <a:solidFill>
                  <a:srgbClr val="008000"/>
                </a:solidFill>
              </a:rPr>
              <a:t>a</a:t>
            </a:r>
            <a:r>
              <a:rPr lang="en-US" altLang="en-US" b="1" dirty="0">
                <a:solidFill>
                  <a:srgbClr val="008000"/>
                </a:solidFill>
              </a:rPr>
              <a:t> in this case)</a:t>
            </a:r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02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Like Terms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an expression and how do we write them?</a:t>
            </a:r>
            <a:endParaRPr lang="en-A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0" y="1916832"/>
            <a:ext cx="2915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difference between Like and Unlike Terms?</a:t>
            </a:r>
            <a:endParaRPr lang="en-AU" dirty="0"/>
          </a:p>
        </p:txBody>
      </p:sp>
      <p:sp>
        <p:nvSpPr>
          <p:cNvPr id="27" name="TextBox 1"/>
          <p:cNvSpPr txBox="1">
            <a:spLocks noChangeArrowheads="1"/>
          </p:cNvSpPr>
          <p:nvPr/>
        </p:nvSpPr>
        <p:spPr bwMode="auto">
          <a:xfrm>
            <a:off x="2987824" y="1916832"/>
            <a:ext cx="37451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8000"/>
                </a:solidFill>
                <a:latin typeface="Calibri" pitchFamily="34" charset="0"/>
              </a:rPr>
              <a:t>6</a:t>
            </a:r>
            <a:r>
              <a:rPr lang="en-US" altLang="en-US" i="1" dirty="0">
                <a:solidFill>
                  <a:srgbClr val="008000"/>
                </a:solidFill>
                <a:latin typeface="Calibri" pitchFamily="34" charset="0"/>
              </a:rPr>
              <a:t>a</a:t>
            </a:r>
            <a:r>
              <a:rPr lang="en-US" altLang="en-US" dirty="0">
                <a:solidFill>
                  <a:srgbClr val="008000"/>
                </a:solidFill>
                <a:latin typeface="Calibri" pitchFamily="34" charset="0"/>
              </a:rPr>
              <a:t>  + 7</a:t>
            </a:r>
            <a:r>
              <a:rPr lang="en-US" altLang="en-US" i="1" dirty="0">
                <a:solidFill>
                  <a:srgbClr val="008000"/>
                </a:solidFill>
                <a:latin typeface="Calibri" pitchFamily="34" charset="0"/>
              </a:rPr>
              <a:t>a</a:t>
            </a:r>
            <a:r>
              <a:rPr lang="en-US" altLang="en-US" dirty="0">
                <a:solidFill>
                  <a:srgbClr val="008000"/>
                </a:solidFill>
                <a:latin typeface="Calibri" pitchFamily="34" charset="0"/>
              </a:rPr>
              <a:t> is an example of </a:t>
            </a:r>
            <a:r>
              <a:rPr lang="en-US" altLang="en-US" b="1" dirty="0">
                <a:solidFill>
                  <a:srgbClr val="008000"/>
                </a:solidFill>
                <a:latin typeface="Calibri" pitchFamily="34" charset="0"/>
              </a:rPr>
              <a:t>LIKE TERMS.</a:t>
            </a:r>
            <a:r>
              <a:rPr lang="en-US" altLang="en-US" dirty="0">
                <a:solidFill>
                  <a:srgbClr val="008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8" name="TextBox 2"/>
          <p:cNvSpPr txBox="1">
            <a:spLocks noChangeArrowheads="1"/>
          </p:cNvSpPr>
          <p:nvPr/>
        </p:nvSpPr>
        <p:spPr bwMode="auto">
          <a:xfrm>
            <a:off x="2987824" y="2204864"/>
            <a:ext cx="597693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8000"/>
                </a:solidFill>
              </a:rPr>
              <a:t>Like terms can be added or subtracted to get a simpler answer (13</a:t>
            </a:r>
            <a:r>
              <a:rPr lang="en-US" altLang="en-US" b="1" i="1" dirty="0">
                <a:solidFill>
                  <a:srgbClr val="008000"/>
                </a:solidFill>
              </a:rPr>
              <a:t>a</a:t>
            </a:r>
            <a:r>
              <a:rPr lang="en-US" altLang="en-US" b="1" dirty="0">
                <a:solidFill>
                  <a:srgbClr val="008000"/>
                </a:solidFill>
              </a:rPr>
              <a:t> in this case)</a:t>
            </a:r>
          </a:p>
        </p:txBody>
      </p:sp>
      <p:sp>
        <p:nvSpPr>
          <p:cNvPr id="29" name="TextBox 3"/>
          <p:cNvSpPr txBox="1">
            <a:spLocks noChangeArrowheads="1"/>
          </p:cNvSpPr>
          <p:nvPr/>
        </p:nvSpPr>
        <p:spPr bwMode="auto">
          <a:xfrm>
            <a:off x="2987824" y="2924944"/>
            <a:ext cx="40331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</a:t>
            </a:r>
            <a:r>
              <a:rPr lang="en-US" altLang="en-US" i="1" dirty="0">
                <a:solidFill>
                  <a:srgbClr val="FF0000"/>
                </a:solidFill>
                <a:latin typeface="Calibri" pitchFamily="34" charset="0"/>
              </a:rPr>
              <a:t>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+ 7</a:t>
            </a:r>
            <a:r>
              <a:rPr lang="en-US" altLang="en-US" i="1" dirty="0">
                <a:solidFill>
                  <a:srgbClr val="FF0000"/>
                </a:solidFill>
                <a:latin typeface="Calibri" pitchFamily="34" charset="0"/>
              </a:rPr>
              <a:t>b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is an example of </a:t>
            </a:r>
            <a:r>
              <a:rPr lang="en-US" altLang="en-US" b="1" dirty="0">
                <a:solidFill>
                  <a:srgbClr val="FF0000"/>
                </a:solidFill>
                <a:latin typeface="Calibri" pitchFamily="34" charset="0"/>
              </a:rPr>
              <a:t>UNLIKE TERMS.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30" name="TextBox 4"/>
          <p:cNvSpPr txBox="1">
            <a:spLocks noChangeArrowheads="1"/>
          </p:cNvSpPr>
          <p:nvPr/>
        </p:nvSpPr>
        <p:spPr bwMode="auto">
          <a:xfrm>
            <a:off x="3059832" y="3284984"/>
            <a:ext cx="44641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Calibri" pitchFamily="34" charset="0"/>
              </a:rPr>
              <a:t>Unlike terms cannot be added or subtracted.</a:t>
            </a:r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764703"/>
            <a:ext cx="6840760" cy="57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620688"/>
            <a:ext cx="5118702" cy="623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052736"/>
            <a:ext cx="8820472" cy="3935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764704"/>
            <a:ext cx="5256584" cy="13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2049438"/>
            <a:ext cx="5219476" cy="480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4608512" cy="668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276872"/>
            <a:ext cx="4950500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052736"/>
            <a:ext cx="6619875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383</Words>
  <Application>Microsoft Office PowerPoint</Application>
  <PresentationFormat>On-screen Show (4:3)</PresentationFormat>
  <Paragraphs>96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Algebra Interactive Notebook</vt:lpstr>
      <vt:lpstr>Slide 2</vt:lpstr>
      <vt:lpstr>Slide 3</vt:lpstr>
      <vt:lpstr>Slide 4</vt:lpstr>
      <vt:lpstr>Slide 5</vt:lpstr>
      <vt:lpstr>Slide 6</vt:lpstr>
      <vt:lpstr>Task</vt:lpstr>
      <vt:lpstr>Task</vt:lpstr>
      <vt:lpstr>Task</vt:lpstr>
      <vt:lpstr>Answers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114</cp:revision>
  <dcterms:created xsi:type="dcterms:W3CDTF">2014-05-14T02:58:57Z</dcterms:created>
  <dcterms:modified xsi:type="dcterms:W3CDTF">2015-04-16T07:15:16Z</dcterms:modified>
</cp:coreProperties>
</file>
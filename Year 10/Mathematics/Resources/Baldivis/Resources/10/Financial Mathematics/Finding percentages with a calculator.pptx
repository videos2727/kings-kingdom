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5"/>
  </p:notesMasterIdLst>
  <p:sldIdLst>
    <p:sldId id="260" r:id="rId2"/>
    <p:sldId id="259" r:id="rId3"/>
    <p:sldId id="258" r:id="rId4"/>
    <p:sldId id="303" r:id="rId5"/>
    <p:sldId id="306" r:id="rId6"/>
    <p:sldId id="315" r:id="rId7"/>
    <p:sldId id="316" r:id="rId8"/>
    <p:sldId id="317" r:id="rId9"/>
    <p:sldId id="318" r:id="rId10"/>
    <p:sldId id="319" r:id="rId11"/>
    <p:sldId id="320" r:id="rId12"/>
    <p:sldId id="292" r:id="rId13"/>
    <p:sldId id="291" r:id="rId14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FF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34" autoAdjust="0"/>
    <p:restoredTop sz="89165" autoAdjust="0"/>
  </p:normalViewPr>
  <p:slideViewPr>
    <p:cSldViewPr>
      <p:cViewPr>
        <p:scale>
          <a:sx n="75" d="100"/>
          <a:sy n="75" d="100"/>
        </p:scale>
        <p:origin x="-1230" y="-186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75AD73A-AE13-444E-A6A8-7967ABAB8119}" type="datetimeFigureOut">
              <a:rPr lang="en-AU" smtClean="0"/>
              <a:t>18/07/2016</a:t>
            </a:fld>
            <a:endParaRPr lang="en-AU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AU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A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6DE00-3598-450D-9FD4-B3F4D33F029B}" type="slidenum">
              <a:rPr lang="en-AU" smtClean="0"/>
              <a:t>‹#›</a:t>
            </a:fld>
            <a:endParaRPr lang="en-AU"/>
          </a:p>
        </p:txBody>
      </p:sp>
    </p:spTree>
    <p:extLst>
      <p:ext uri="{BB962C8B-B14F-4D97-AF65-F5344CB8AC3E}">
        <p14:creationId xmlns:p14="http://schemas.microsoft.com/office/powerpoint/2010/main" val="57594097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3264843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8355484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1804912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7425957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18/07/2016</a:t>
            </a:fld>
            <a:endParaRPr lang="en-AU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0071826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18/07/2016</a:t>
            </a:fld>
            <a:endParaRPr lang="en-AU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5772354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18/07/2016</a:t>
            </a:fld>
            <a:endParaRPr lang="en-AU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91991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8185026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AU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18/07/2016</a:t>
            </a:fld>
            <a:endParaRPr lang="en-AU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38398257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40963694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03B91B3-E50F-4EFF-8D5F-21DA810ECD9F}" type="datetimeFigureOut">
              <a:rPr lang="en-AU" smtClean="0"/>
              <a:t>18/07/2016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8021574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AU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AU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03B91B3-E50F-4EFF-8D5F-21DA810ECD9F}" type="datetimeFigureOut">
              <a:rPr lang="en-AU" smtClean="0"/>
              <a:t>18/07/2016</a:t>
            </a:fld>
            <a:endParaRPr lang="en-AU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AU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D937BE4-3242-4672-8D3A-460DCD9877AE}" type="slidenum">
              <a:rPr lang="en-AU" smtClean="0"/>
              <a:t>‹#›</a:t>
            </a:fld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42866648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10" Type="http://schemas.openxmlformats.org/officeDocument/2006/relationships/image" Target="../media/image18.png"/><Relationship Id="rId4" Type="http://schemas.openxmlformats.org/officeDocument/2006/relationships/image" Target="../media/image12.png"/><Relationship Id="rId9" Type="http://schemas.openxmlformats.org/officeDocument/2006/relationships/image" Target="../media/image17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11560" y="332656"/>
            <a:ext cx="7772400" cy="1470025"/>
          </a:xfrm>
        </p:spPr>
        <p:txBody>
          <a:bodyPr/>
          <a:lstStyle/>
          <a:p>
            <a:r>
              <a:rPr lang="en-AU" dirty="0" smtClean="0"/>
              <a:t>My Number</a:t>
            </a:r>
            <a:br>
              <a:rPr lang="en-AU" dirty="0" smtClean="0"/>
            </a:br>
            <a:r>
              <a:rPr lang="en-AU" dirty="0" smtClean="0"/>
              <a:t>Interactive Notebook</a:t>
            </a:r>
            <a:endParaRPr lang="en-AU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 fontScale="85000" lnSpcReduction="20000"/>
          </a:bodyPr>
          <a:lstStyle/>
          <a:p>
            <a:pPr algn="l"/>
            <a:r>
              <a:rPr lang="en-AU" dirty="0" smtClean="0"/>
              <a:t>Name </a:t>
            </a:r>
          </a:p>
          <a:p>
            <a:pPr algn="l"/>
            <a:r>
              <a:rPr lang="en-AU" dirty="0" smtClean="0"/>
              <a:t>Class </a:t>
            </a:r>
          </a:p>
          <a:p>
            <a:pPr algn="l"/>
            <a:r>
              <a:rPr lang="en-AU" dirty="0" smtClean="0"/>
              <a:t>Teacher </a:t>
            </a:r>
          </a:p>
          <a:p>
            <a:pPr algn="l"/>
            <a:r>
              <a:rPr lang="en-AU" dirty="0" smtClean="0"/>
              <a:t>Term 1 Semester 1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/>
              <a:t>1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7030A0"/>
                          </a:solidFill>
                          <a:latin typeface="Cambria Math"/>
                          <a:ea typeface="Cambria Math"/>
                        </a:rPr>
                        <m:t>×</m:t>
                      </m:r>
                    </m:oMath>
                  </m:oMathPara>
                </a14:m>
                <a:endParaRPr lang="en-AU" sz="8800" dirty="0">
                  <a:solidFill>
                    <a:srgbClr val="7030A0"/>
                  </a:solidFill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84796" y="548680"/>
                <a:ext cx="1368152" cy="1446550"/>
              </a:xfrm>
              <a:prstGeom prst="rect">
                <a:avLst/>
              </a:prstGeom>
              <a:blipFill rotWithShape="1">
                <a:blip r:embed="rId2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/>
              <p:cNvSpPr txBox="1"/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i="1" smtClean="0">
                          <a:solidFill>
                            <a:srgbClr val="00FF00"/>
                          </a:solidFill>
                          <a:latin typeface="Cambria Math"/>
                          <a:ea typeface="Cambria Math"/>
                        </a:rPr>
                        <m:t>÷</m:t>
                      </m:r>
                    </m:oMath>
                  </m:oMathPara>
                </a14:m>
                <a:endParaRPr lang="en-AU" sz="8800" dirty="0">
                  <a:solidFill>
                    <a:srgbClr val="00FF00"/>
                  </a:solidFill>
                </a:endParaRPr>
              </a:p>
            </p:txBody>
          </p:sp>
        </mc:Choice>
        <mc:Fallback xmlns="">
          <p:sp>
            <p:nvSpPr>
              <p:cNvPr id="6" name="TextBox 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23728" y="1884135"/>
                <a:ext cx="1368152" cy="1446550"/>
              </a:xfrm>
              <a:prstGeom prst="rect">
                <a:avLst/>
              </a:prstGeom>
              <a:blipFill rotWithShape="1"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FF0000"/>
                          </a:solidFill>
                          <a:latin typeface="Cambria Math"/>
                        </a:rPr>
                        <m:t>7</m:t>
                      </m:r>
                    </m:oMath>
                  </m:oMathPara>
                </a14:m>
                <a:endParaRPr lang="en-AU" sz="8800" dirty="0">
                  <a:solidFill>
                    <a:srgbClr val="FF0000"/>
                  </a:solidFill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3572848"/>
                <a:ext cx="1368152" cy="1446550"/>
              </a:xfrm>
              <a:prstGeom prst="rect">
                <a:avLst/>
              </a:prstGeom>
              <a:blipFill rotWithShape="1"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/>
              <p:cNvSpPr txBox="1"/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−</m:t>
                      </m:r>
                    </m:oMath>
                  </m:oMathPara>
                </a14:m>
                <a:endParaRPr lang="en-AU" sz="8800" dirty="0">
                  <a:solidFill>
                    <a:srgbClr val="00B050"/>
                  </a:solidFill>
                </a:endParaRPr>
              </a:p>
            </p:txBody>
          </p:sp>
        </mc:Choice>
        <mc:Fallback xmlns="">
          <p:sp>
            <p:nvSpPr>
              <p:cNvPr id="8" name="TextBox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660232" y="2708920"/>
                <a:ext cx="1368152" cy="1446550"/>
              </a:xfrm>
              <a:prstGeom prst="rect">
                <a:avLst/>
              </a:prstGeom>
              <a:blipFill rotWithShape="1"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TextBox 8"/>
              <p:cNvSpPr txBox="1"/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sz="8800" b="0" i="1" smtClean="0">
                          <a:solidFill>
                            <a:srgbClr val="0070C0"/>
                          </a:solidFill>
                          <a:latin typeface="Cambria Math"/>
                        </a:rPr>
                        <m:t>+</m:t>
                      </m:r>
                    </m:oMath>
                  </m:oMathPara>
                </a14:m>
                <a:endParaRPr lang="en-AU" sz="8800" dirty="0">
                  <a:solidFill>
                    <a:srgbClr val="0070C0"/>
                  </a:solidFill>
                </a:endParaRPr>
              </a:p>
            </p:txBody>
          </p:sp>
        </mc:Choice>
        <mc:Fallback xmlns="">
          <p:sp>
            <p:nvSpPr>
              <p:cNvPr id="9" name="TextBox 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307644" y="1902233"/>
                <a:ext cx="1368152" cy="1446550"/>
              </a:xfrm>
              <a:prstGeom prst="rect">
                <a:avLst/>
              </a:prstGeom>
              <a:blipFill rotWithShape="1"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TextBox 9"/>
              <p:cNvSpPr txBox="1"/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1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FFFF00"/>
                              </a:solidFill>
                              <a:latin typeface="Cambria Math"/>
                            </a:rPr>
                            <m:t>2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0" name="TextBox 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236296" y="437585"/>
                <a:ext cx="1368152" cy="1993816"/>
              </a:xfrm>
              <a:prstGeom prst="rect">
                <a:avLst/>
              </a:prstGeom>
              <a:blipFill rotWithShape="1"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AU" sz="660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</m:ctrlPr>
                        </m:fPr>
                        <m:num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3</m:t>
                          </m:r>
                        </m:num>
                        <m:den>
                          <m:r>
                            <a:rPr lang="en-AU" sz="6600" b="0" i="1" smtClean="0">
                              <a:solidFill>
                                <a:srgbClr val="C00000"/>
                              </a:solidFill>
                              <a:latin typeface="Cambria Math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07504" y="3068960"/>
                <a:ext cx="1368152" cy="1993816"/>
              </a:xfrm>
              <a:prstGeom prst="rect">
                <a:avLst/>
              </a:prstGeom>
              <a:blipFill rotWithShape="1">
                <a:blip r:embed="rId8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AU" sz="660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</m:ctrlPr>
                        </m:sSupPr>
                        <m:e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5</m:t>
                          </m:r>
                        </m:e>
                        <m:sup>
                          <m:r>
                            <a:rPr lang="en-AU" sz="6600" b="0" i="1" smtClean="0">
                              <a:solidFill>
                                <a:srgbClr val="002060"/>
                              </a:solidFill>
                              <a:latin typeface="Cambria Math"/>
                            </a:rPr>
                            <m:t>2</m:t>
                          </m:r>
                        </m:sup>
                      </m:sSup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344308" y="3909817"/>
                <a:ext cx="1368152" cy="1107996"/>
              </a:xfrm>
              <a:prstGeom prst="rect">
                <a:avLst/>
              </a:prstGeom>
              <a:blipFill rotWithShape="1"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TextBox 13"/>
              <p:cNvSpPr txBox="1"/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ad>
                        <m:radPr>
                          <m:degHide m:val="on"/>
                          <m:ctrlPr>
                            <a:rPr lang="en-AU" sz="6600" i="1" smtClean="0">
                              <a:latin typeface="Cambria Math"/>
                            </a:rPr>
                          </m:ctrlPr>
                        </m:radPr>
                        <m:deg/>
                        <m:e>
                          <m:r>
                            <a:rPr lang="en-AU" sz="6600" b="0" i="1" smtClean="0">
                              <a:latin typeface="Cambria Math"/>
                            </a:rPr>
                            <m:t>9</m:t>
                          </m:r>
                        </m:e>
                      </m:rad>
                    </m:oMath>
                  </m:oMathPara>
                </a14:m>
                <a:endParaRPr lang="en-AU" sz="6600" dirty="0"/>
              </a:p>
            </p:txBody>
          </p:sp>
        </mc:Choice>
        <mc:Fallback xmlns="">
          <p:sp>
            <p:nvSpPr>
              <p:cNvPr id="14" name="TextBox 1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652120" y="4797152"/>
                <a:ext cx="1368152" cy="1227644"/>
              </a:xfrm>
              <a:prstGeom prst="rect">
                <a:avLst/>
              </a:prstGeom>
              <a:blipFill rotWithShape="1">
                <a:blip r:embed="rId10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12506273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403" y="6474667"/>
            <a:ext cx="30168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2</a:t>
            </a:r>
            <a:endParaRPr lang="en-AU" dirty="0"/>
          </a:p>
        </p:txBody>
      </p:sp>
      <p:sp>
        <p:nvSpPr>
          <p:cNvPr id="7" name="TextBox 6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3</a:t>
            </a:r>
            <a:endParaRPr lang="en-AU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-143838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1115616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20" name="TextBox 19"/>
          <p:cNvSpPr txBox="1"/>
          <p:nvPr/>
        </p:nvSpPr>
        <p:spPr>
          <a:xfrm>
            <a:off x="577648" y="5803"/>
            <a:ext cx="93205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Contents</a:t>
            </a:r>
            <a:endParaRPr lang="en-AU" sz="1600" dirty="0"/>
          </a:p>
        </p:txBody>
      </p:sp>
      <p:sp>
        <p:nvSpPr>
          <p:cNvPr id="23" name="TextBox 22"/>
          <p:cNvSpPr txBox="1"/>
          <p:nvPr/>
        </p:nvSpPr>
        <p:spPr>
          <a:xfrm>
            <a:off x="223224" y="374467"/>
            <a:ext cx="58086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Page</a:t>
            </a:r>
            <a:endParaRPr lang="en-AU" sz="1600" dirty="0"/>
          </a:p>
        </p:txBody>
      </p:sp>
      <p:cxnSp>
        <p:nvCxnSpPr>
          <p:cNvPr id="16" name="Straight Connector 15"/>
          <p:cNvCxnSpPr/>
          <p:nvPr/>
        </p:nvCxnSpPr>
        <p:spPr>
          <a:xfrm>
            <a:off x="2143810" y="404664"/>
            <a:ext cx="0" cy="586798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1403646" y="344357"/>
            <a:ext cx="5765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600" dirty="0" smtClean="0"/>
              <a:t>Date</a:t>
            </a:r>
            <a:endParaRPr lang="en-AU" sz="1600" dirty="0"/>
          </a:p>
        </p:txBody>
      </p:sp>
      <p:sp>
        <p:nvSpPr>
          <p:cNvPr id="18" name="TextBox 17"/>
          <p:cNvSpPr txBox="1"/>
          <p:nvPr/>
        </p:nvSpPr>
        <p:spPr>
          <a:xfrm>
            <a:off x="2555776" y="344357"/>
            <a:ext cx="13988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Description</a:t>
            </a:r>
            <a:endParaRPr lang="en-AU" sz="1600" dirty="0"/>
          </a:p>
        </p:txBody>
      </p:sp>
      <p:sp>
        <p:nvSpPr>
          <p:cNvPr id="21" name="TextBox 20"/>
          <p:cNvSpPr txBox="1"/>
          <p:nvPr/>
        </p:nvSpPr>
        <p:spPr>
          <a:xfrm>
            <a:off x="5796136" y="66504"/>
            <a:ext cx="2592288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Glossary or Formula Page</a:t>
            </a:r>
            <a:endParaRPr lang="en-AU" sz="1600" dirty="0"/>
          </a:p>
        </p:txBody>
      </p:sp>
    </p:spTree>
    <p:extLst>
      <p:ext uri="{BB962C8B-B14F-4D97-AF65-F5344CB8AC3E}">
        <p14:creationId xmlns:p14="http://schemas.microsoft.com/office/powerpoint/2010/main" val="15154573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" name="Straight Connector 4"/>
          <p:cNvCxnSpPr/>
          <p:nvPr/>
        </p:nvCxnSpPr>
        <p:spPr>
          <a:xfrm>
            <a:off x="4500081" y="0"/>
            <a:ext cx="72008" cy="6957392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Straight Connector 8"/>
          <p:cNvCxnSpPr/>
          <p:nvPr/>
        </p:nvCxnSpPr>
        <p:spPr>
          <a:xfrm>
            <a:off x="4500081" y="620688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4500081" y="1196752"/>
            <a:ext cx="4643919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3" name="Straight Connector 12"/>
          <p:cNvCxnSpPr/>
          <p:nvPr/>
        </p:nvCxnSpPr>
        <p:spPr>
          <a:xfrm>
            <a:off x="4572089" y="5373216"/>
            <a:ext cx="472615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15" name="Straight Connector 14"/>
          <p:cNvCxnSpPr/>
          <p:nvPr/>
        </p:nvCxnSpPr>
        <p:spPr>
          <a:xfrm>
            <a:off x="5868144" y="1196752"/>
            <a:ext cx="0" cy="4176464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4533261" y="66690"/>
            <a:ext cx="431959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000" dirty="0" smtClean="0"/>
              <a:t>24</a:t>
            </a:r>
          </a:p>
          <a:p>
            <a:r>
              <a:rPr lang="en-AU" sz="1000" dirty="0" smtClean="0"/>
              <a:t>7</a:t>
            </a:r>
          </a:p>
          <a:p>
            <a:r>
              <a:rPr lang="en-AU" sz="1000" dirty="0" smtClean="0"/>
              <a:t>30</a:t>
            </a:r>
            <a:endParaRPr lang="en-AU" sz="1000" dirty="0"/>
          </a:p>
        </p:txBody>
      </p:sp>
      <p:sp>
        <p:nvSpPr>
          <p:cNvPr id="20" name="TextBox 19"/>
          <p:cNvSpPr txBox="1"/>
          <p:nvPr/>
        </p:nvSpPr>
        <p:spPr>
          <a:xfrm>
            <a:off x="4572089" y="601548"/>
            <a:ext cx="1143262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Essential Question</a:t>
            </a:r>
            <a:endParaRPr lang="en-AU" sz="1000" dirty="0"/>
          </a:p>
        </p:txBody>
      </p:sp>
      <p:sp>
        <p:nvSpPr>
          <p:cNvPr id="22" name="TextBox 21"/>
          <p:cNvSpPr txBox="1"/>
          <p:nvPr/>
        </p:nvSpPr>
        <p:spPr>
          <a:xfrm>
            <a:off x="5867750" y="1196751"/>
            <a:ext cx="492443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Notes</a:t>
            </a:r>
            <a:endParaRPr lang="en-AU" sz="1000" dirty="0"/>
          </a:p>
        </p:txBody>
      </p:sp>
      <p:sp>
        <p:nvSpPr>
          <p:cNvPr id="23" name="TextBox 22"/>
          <p:cNvSpPr txBox="1"/>
          <p:nvPr/>
        </p:nvSpPr>
        <p:spPr>
          <a:xfrm>
            <a:off x="4521850" y="1196752"/>
            <a:ext cx="70884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Questions</a:t>
            </a:r>
            <a:endParaRPr lang="en-AU" sz="1000" dirty="0"/>
          </a:p>
        </p:txBody>
      </p:sp>
      <p:sp>
        <p:nvSpPr>
          <p:cNvPr id="24" name="TextBox 23"/>
          <p:cNvSpPr txBox="1"/>
          <p:nvPr/>
        </p:nvSpPr>
        <p:spPr>
          <a:xfrm>
            <a:off x="4572089" y="5373216"/>
            <a:ext cx="679994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1000" dirty="0" smtClean="0"/>
              <a:t>Summary</a:t>
            </a:r>
            <a:endParaRPr lang="en-AU" sz="1000" dirty="0"/>
          </a:p>
        </p:txBody>
      </p:sp>
      <p:sp>
        <p:nvSpPr>
          <p:cNvPr id="25" name="TextBox 24"/>
          <p:cNvSpPr txBox="1"/>
          <p:nvPr/>
        </p:nvSpPr>
        <p:spPr>
          <a:xfrm>
            <a:off x="151246" y="142494"/>
            <a:ext cx="671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Tasks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22165325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percentages of amounts with a calculator?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39482" y="1988840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convert a percentage to a decimal?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64547" y="2081173"/>
            <a:ext cx="4091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err="1" smtClean="0"/>
              <a:t>Percentge</a:t>
            </a:r>
            <a:r>
              <a:rPr lang="en-AU" dirty="0" smtClean="0"/>
              <a:t> </a:t>
            </a:r>
            <a:r>
              <a:rPr lang="en-AU" dirty="0" smtClean="0">
                <a:sym typeface="Symbol"/>
              </a:rPr>
              <a:t> Decimal  - divide by 100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670902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- Copy and Complete</a:t>
            </a: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395780709"/>
              </p:ext>
            </p:extLst>
          </p:nvPr>
        </p:nvGraphicFramePr>
        <p:xfrm>
          <a:off x="1549400" y="1556791"/>
          <a:ext cx="6046936" cy="4023360"/>
        </p:xfrm>
        <a:graphic>
          <a:graphicData uri="http://schemas.openxmlformats.org/drawingml/2006/table">
            <a:tbl>
              <a:tblPr/>
              <a:tblGrid>
                <a:gridCol w="3023468"/>
                <a:gridCol w="3023468"/>
              </a:tblGrid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Percentage</a:t>
                      </a:r>
                      <a:r>
                        <a:rPr lang="en-AU" sz="1800" baseline="0" dirty="0" smtClean="0"/>
                        <a:t> </a:t>
                      </a:r>
                      <a:endParaRPr lang="en-AU" sz="18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Decimal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12%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33%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68%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83%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20%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6%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130%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12.5%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156%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0.5%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671448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- Copy and Complete</a:t>
            </a: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96756286"/>
              </p:ext>
            </p:extLst>
          </p:nvPr>
        </p:nvGraphicFramePr>
        <p:xfrm>
          <a:off x="1549400" y="1556791"/>
          <a:ext cx="6046936" cy="4023360"/>
        </p:xfrm>
        <a:graphic>
          <a:graphicData uri="http://schemas.openxmlformats.org/drawingml/2006/table">
            <a:tbl>
              <a:tblPr/>
              <a:tblGrid>
                <a:gridCol w="3023468"/>
                <a:gridCol w="3023468"/>
              </a:tblGrid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Percentage</a:t>
                      </a:r>
                      <a:r>
                        <a:rPr lang="en-AU" sz="1800" baseline="0" dirty="0" smtClean="0"/>
                        <a:t> </a:t>
                      </a:r>
                      <a:endParaRPr lang="en-AU" sz="18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Decimal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12%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0.12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33%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0.33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68%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0.68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83%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0.83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20%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0.2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6%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0.06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130%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1.3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12.5%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0.125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156%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1.56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0.5%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0.005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3402415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percentages of amounts with a calculator?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39482" y="1988840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convert a percentage to a decimal?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64547" y="2081173"/>
            <a:ext cx="4091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err="1" smtClean="0"/>
              <a:t>Percentge</a:t>
            </a:r>
            <a:r>
              <a:rPr lang="en-AU" dirty="0" smtClean="0"/>
              <a:t> </a:t>
            </a:r>
            <a:r>
              <a:rPr lang="en-AU" dirty="0" smtClean="0">
                <a:sym typeface="Symbol"/>
              </a:rPr>
              <a:t> Decimal  - divide by 100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84863" y="3212976"/>
            <a:ext cx="23538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</a:t>
            </a:r>
            <a:r>
              <a:rPr lang="en-AU" dirty="0" err="1" smtClean="0"/>
              <a:t>calulate</a:t>
            </a:r>
            <a:r>
              <a:rPr lang="en-AU" dirty="0" smtClean="0"/>
              <a:t> the percentage of an amount?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18352021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percentages of amounts with a calculator?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39482" y="1988840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convert a percentage to a decimal?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64547" y="2081173"/>
            <a:ext cx="4091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Percentage </a:t>
            </a:r>
            <a:r>
              <a:rPr lang="en-AU" dirty="0" smtClean="0">
                <a:sym typeface="Symbol"/>
              </a:rPr>
              <a:t> Decimal  - divide by 100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84863" y="3212976"/>
            <a:ext cx="23538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calculate the percentage of an amount?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00072" y="3212852"/>
            <a:ext cx="3496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Write the percentage as a decimal. </a:t>
            </a:r>
          </a:p>
          <a:p>
            <a:r>
              <a:rPr lang="en-AU" dirty="0" smtClean="0"/>
              <a:t>The multiply this by the amount.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93441797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percentages of amounts with a calculator?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39482" y="1988840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convert a percentage to a decimal?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64547" y="2081173"/>
            <a:ext cx="4091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Percentage </a:t>
            </a:r>
            <a:r>
              <a:rPr lang="en-AU" dirty="0" smtClean="0">
                <a:sym typeface="Symbol"/>
              </a:rPr>
              <a:t> Decimal  - divide by 100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84863" y="3212976"/>
            <a:ext cx="23538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calculate the percentage of an amount?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100072" y="3212852"/>
            <a:ext cx="3496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Write the percentage as a decimal. </a:t>
            </a:r>
          </a:p>
          <a:p>
            <a:r>
              <a:rPr lang="en-AU" dirty="0" smtClean="0"/>
              <a:t>The multiply this by the amount.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33997" y="4134689"/>
                <a:ext cx="2351093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AU" dirty="0" smtClean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Find 32% of 762</a:t>
                </a:r>
              </a:p>
              <a:p>
                <a:endParaRPr lang="en-AU" dirty="0" smtClean="0">
                  <a:solidFill>
                    <a:srgbClr val="00B050"/>
                  </a:solidFill>
                </a:endParaRP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32% = 0.32 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0.32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×762=243.84</m:t>
                      </m:r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997" y="4134689"/>
                <a:ext cx="2351093" cy="2031325"/>
              </a:xfrm>
              <a:prstGeom prst="rect">
                <a:avLst/>
              </a:prstGeom>
              <a:blipFill rotWithShape="1">
                <a:blip r:embed="rId2"/>
                <a:stretch>
                  <a:fillRect l="-23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246379" y="4288450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348393612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8748464" y="6488668"/>
            <a:ext cx="54977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 </a:t>
            </a:r>
            <a:endParaRPr lang="en-AU" dirty="0"/>
          </a:p>
        </p:txBody>
      </p:sp>
      <p:cxnSp>
        <p:nvCxnSpPr>
          <p:cNvPr id="4" name="Straight Connector 3"/>
          <p:cNvCxnSpPr/>
          <p:nvPr/>
        </p:nvCxnSpPr>
        <p:spPr>
          <a:xfrm>
            <a:off x="0" y="980728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cxnSp>
        <p:nvCxnSpPr>
          <p:cNvPr id="6" name="Straight Connector 5"/>
          <p:cNvCxnSpPr/>
          <p:nvPr/>
        </p:nvCxnSpPr>
        <p:spPr>
          <a:xfrm>
            <a:off x="0" y="1916832"/>
            <a:ext cx="9144000" cy="0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7" name="TextBox 6"/>
          <p:cNvSpPr txBox="1"/>
          <p:nvPr/>
        </p:nvSpPr>
        <p:spPr>
          <a:xfrm>
            <a:off x="93471" y="149731"/>
            <a:ext cx="57606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1600" dirty="0" smtClean="0"/>
              <a:t>24</a:t>
            </a:r>
          </a:p>
          <a:p>
            <a:r>
              <a:rPr lang="en-AU" sz="1600" dirty="0" smtClean="0"/>
              <a:t>7</a:t>
            </a:r>
          </a:p>
          <a:p>
            <a:r>
              <a:rPr lang="en-AU" sz="1600" dirty="0" smtClean="0"/>
              <a:t>30</a:t>
            </a:r>
            <a:endParaRPr lang="en-AU" sz="1600" dirty="0"/>
          </a:p>
        </p:txBody>
      </p:sp>
      <p:cxnSp>
        <p:nvCxnSpPr>
          <p:cNvPr id="9" name="Straight Connector 8"/>
          <p:cNvCxnSpPr/>
          <p:nvPr/>
        </p:nvCxnSpPr>
        <p:spPr>
          <a:xfrm>
            <a:off x="2915816" y="1916832"/>
            <a:ext cx="0" cy="5112568"/>
          </a:xfrm>
          <a:prstGeom prst="line">
            <a:avLst/>
          </a:prstGeom>
        </p:spPr>
        <p:style>
          <a:lnRef idx="1">
            <a:schemeClr val="accent2"/>
          </a:lnRef>
          <a:fillRef idx="0">
            <a:schemeClr val="accent2"/>
          </a:fillRef>
          <a:effectRef idx="0">
            <a:schemeClr val="accent2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1115616" y="404664"/>
            <a:ext cx="194893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sz="2800" dirty="0" smtClean="0"/>
              <a:t>Percentages</a:t>
            </a:r>
            <a:endParaRPr lang="en-AU" sz="2800" dirty="0"/>
          </a:p>
        </p:txBody>
      </p:sp>
      <p:sp>
        <p:nvSpPr>
          <p:cNvPr id="11" name="TextBox 10"/>
          <p:cNvSpPr txBox="1"/>
          <p:nvPr/>
        </p:nvSpPr>
        <p:spPr>
          <a:xfrm>
            <a:off x="7439175" y="106354"/>
            <a:ext cx="158417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Date</a:t>
            </a:r>
            <a:endParaRPr lang="en-AU" sz="2400" dirty="0"/>
          </a:p>
        </p:txBody>
      </p:sp>
      <p:sp>
        <p:nvSpPr>
          <p:cNvPr id="12" name="TextBox 11"/>
          <p:cNvSpPr txBox="1"/>
          <p:nvPr/>
        </p:nvSpPr>
        <p:spPr>
          <a:xfrm>
            <a:off x="119514" y="1075004"/>
            <a:ext cx="862042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sz="2400" dirty="0" smtClean="0"/>
              <a:t>EQ – How do I calculate percentages of amounts with a calculator?</a:t>
            </a:r>
            <a:endParaRPr lang="en-AU" sz="2400" dirty="0"/>
          </a:p>
        </p:txBody>
      </p:sp>
      <p:sp>
        <p:nvSpPr>
          <p:cNvPr id="3" name="TextBox 2"/>
          <p:cNvSpPr txBox="1"/>
          <p:nvPr/>
        </p:nvSpPr>
        <p:spPr>
          <a:xfrm>
            <a:off x="139482" y="1988840"/>
            <a:ext cx="252028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convert a percentage to a decimal?</a:t>
            </a:r>
            <a:endParaRPr lang="en-AU" dirty="0"/>
          </a:p>
        </p:txBody>
      </p:sp>
      <p:sp>
        <p:nvSpPr>
          <p:cNvPr id="8" name="TextBox 7"/>
          <p:cNvSpPr txBox="1"/>
          <p:nvPr/>
        </p:nvSpPr>
        <p:spPr>
          <a:xfrm>
            <a:off x="3064547" y="2081173"/>
            <a:ext cx="409131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Percentage </a:t>
            </a:r>
            <a:r>
              <a:rPr lang="en-AU" dirty="0" smtClean="0">
                <a:sym typeface="Symbol"/>
              </a:rPr>
              <a:t> Decimal  - divide by 100</a:t>
            </a:r>
            <a:endParaRPr lang="en-AU" dirty="0"/>
          </a:p>
        </p:txBody>
      </p:sp>
      <p:sp>
        <p:nvSpPr>
          <p:cNvPr id="5" name="TextBox 4"/>
          <p:cNvSpPr txBox="1"/>
          <p:nvPr/>
        </p:nvSpPr>
        <p:spPr>
          <a:xfrm>
            <a:off x="184863" y="3212976"/>
            <a:ext cx="235388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AU" dirty="0" smtClean="0"/>
              <a:t>How do I calculate the percentage of an amount?</a:t>
            </a:r>
            <a:endParaRPr lang="en-AU" dirty="0"/>
          </a:p>
        </p:txBody>
      </p:sp>
      <p:sp>
        <p:nvSpPr>
          <p:cNvPr id="14" name="TextBox 13"/>
          <p:cNvSpPr txBox="1"/>
          <p:nvPr/>
        </p:nvSpPr>
        <p:spPr>
          <a:xfrm>
            <a:off x="3064547" y="3226951"/>
            <a:ext cx="349621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Write the percentage as a decimal. </a:t>
            </a:r>
          </a:p>
          <a:p>
            <a:r>
              <a:rPr lang="en-AU" dirty="0" smtClean="0"/>
              <a:t>The multiply this by the amount. 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3" name="TextBox 12"/>
              <p:cNvSpPr txBox="1"/>
              <p:nvPr/>
            </p:nvSpPr>
            <p:spPr>
              <a:xfrm>
                <a:off x="3033997" y="4134689"/>
                <a:ext cx="2351093" cy="2031325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endParaRPr lang="en-AU" dirty="0" smtClean="0"/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Find 32% of 762</a:t>
                </a:r>
              </a:p>
              <a:p>
                <a:endParaRPr lang="en-AU" dirty="0" smtClean="0">
                  <a:solidFill>
                    <a:srgbClr val="00B050"/>
                  </a:solidFill>
                </a:endParaRPr>
              </a:p>
              <a:p>
                <a:r>
                  <a:rPr lang="en-AU" dirty="0" smtClean="0">
                    <a:solidFill>
                      <a:srgbClr val="00B050"/>
                    </a:solidFill>
                  </a:rPr>
                  <a:t>32% = 0.32 </a:t>
                </a:r>
              </a:p>
              <a:p>
                <a:endParaRPr lang="en-AU" dirty="0">
                  <a:solidFill>
                    <a:srgbClr val="00B050"/>
                  </a:solidFill>
                </a:endParaRP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</a:rPr>
                        <m:t>0.32</m:t>
                      </m:r>
                      <m:r>
                        <a:rPr lang="en-AU" b="0" i="1" smtClean="0">
                          <a:solidFill>
                            <a:srgbClr val="00B050"/>
                          </a:solidFill>
                          <a:latin typeface="Cambria Math"/>
                          <a:ea typeface="Cambria Math"/>
                        </a:rPr>
                        <m:t>×762=243.84</m:t>
                      </m:r>
                    </m:oMath>
                  </m:oMathPara>
                </a14:m>
                <a:endParaRPr lang="en-AU" dirty="0">
                  <a:solidFill>
                    <a:srgbClr val="00B050"/>
                  </a:solidFill>
                </a:endParaRPr>
              </a:p>
              <a:p>
                <a:endParaRPr lang="en-AU" dirty="0"/>
              </a:p>
            </p:txBody>
          </p:sp>
        </mc:Choice>
        <mc:Fallback xmlns="">
          <p:sp>
            <p:nvSpPr>
              <p:cNvPr id="13" name="TextBox 1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3997" y="4134689"/>
                <a:ext cx="2351093" cy="2031325"/>
              </a:xfrm>
              <a:prstGeom prst="rect">
                <a:avLst/>
              </a:prstGeom>
              <a:blipFill rotWithShape="1">
                <a:blip r:embed="rId2"/>
                <a:stretch>
                  <a:fillRect l="-2338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5" name="TextBox 14"/>
          <p:cNvSpPr txBox="1"/>
          <p:nvPr/>
        </p:nvSpPr>
        <p:spPr>
          <a:xfrm>
            <a:off x="246379" y="4288450"/>
            <a:ext cx="97719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AU" dirty="0" smtClean="0"/>
              <a:t>Example</a:t>
            </a:r>
            <a:endParaRPr lang="en-AU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6" name="TextBox 15"/>
              <p:cNvSpPr txBox="1"/>
              <p:nvPr/>
            </p:nvSpPr>
            <p:spPr>
              <a:xfrm>
                <a:off x="5564289" y="5399732"/>
                <a:ext cx="2693366" cy="485774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AU" dirty="0"/>
                  <a:t>o</a:t>
                </a:r>
                <a:r>
                  <a:rPr lang="en-AU" dirty="0" smtClean="0"/>
                  <a:t>r     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AU" i="1" smtClean="0">
                            <a:latin typeface="Cambria Math"/>
                          </a:rPr>
                        </m:ctrlPr>
                      </m:fPr>
                      <m:num>
                        <m:r>
                          <a:rPr lang="en-AU" b="0" i="1" smtClean="0">
                            <a:latin typeface="Cambria Math"/>
                          </a:rPr>
                          <m:t>32</m:t>
                        </m:r>
                      </m:num>
                      <m:den>
                        <m:r>
                          <a:rPr lang="en-AU" b="0" i="1" smtClean="0">
                            <a:latin typeface="Cambria Math"/>
                          </a:rPr>
                          <m:t>100</m:t>
                        </m:r>
                      </m:den>
                    </m:f>
                    <m:r>
                      <a:rPr lang="en-AU" i="1" smtClean="0">
                        <a:latin typeface="Cambria Math"/>
                        <a:ea typeface="Cambria Math"/>
                      </a:rPr>
                      <m:t>×</m:t>
                    </m:r>
                    <m:r>
                      <a:rPr lang="en-AU" b="0" i="1" smtClean="0">
                        <a:latin typeface="Cambria Math"/>
                        <a:ea typeface="Cambria Math"/>
                      </a:rPr>
                      <m:t>762=243.84</m:t>
                    </m:r>
                  </m:oMath>
                </a14:m>
                <a:r>
                  <a:rPr lang="en-AU" dirty="0" smtClean="0"/>
                  <a:t> </a:t>
                </a:r>
                <a:endParaRPr lang="en-AU" dirty="0"/>
              </a:p>
            </p:txBody>
          </p:sp>
        </mc:Choice>
        <mc:Fallback xmlns="">
          <p:sp>
            <p:nvSpPr>
              <p:cNvPr id="16" name="TextBox 1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564289" y="5399732"/>
                <a:ext cx="2693366" cy="485774"/>
              </a:xfrm>
              <a:prstGeom prst="rect">
                <a:avLst/>
              </a:prstGeom>
              <a:blipFill rotWithShape="1">
                <a:blip r:embed="rId3"/>
                <a:stretch>
                  <a:fillRect l="-2036" b="-8861"/>
                </a:stretch>
              </a:blipFill>
            </p:spPr>
            <p:txBody>
              <a:bodyPr/>
              <a:lstStyle/>
              <a:p>
                <a:r>
                  <a:rPr lang="en-AU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0100670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Task - Copy and Complete</a:t>
            </a:r>
            <a:endParaRPr lang="en-AU" dirty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099401341"/>
              </p:ext>
            </p:extLst>
          </p:nvPr>
        </p:nvGraphicFramePr>
        <p:xfrm>
          <a:off x="1549400" y="1556791"/>
          <a:ext cx="6046935" cy="4023360"/>
        </p:xfrm>
        <a:graphic>
          <a:graphicData uri="http://schemas.openxmlformats.org/drawingml/2006/table">
            <a:tbl>
              <a:tblPr/>
              <a:tblGrid>
                <a:gridCol w="2015645"/>
                <a:gridCol w="2015645"/>
                <a:gridCol w="2015645"/>
              </a:tblGrid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baseline="0" dirty="0" smtClean="0"/>
                        <a:t>Question </a:t>
                      </a:r>
                      <a:endParaRPr lang="en-AU" sz="1800" dirty="0"/>
                    </a:p>
                  </a:txBody>
                  <a:tcPr>
                    <a:lnL w="12700" cmpd="sng">
                      <a:solidFill>
                        <a:schemeClr val="tx1"/>
                      </a:solidFill>
                      <a:prstDash val="soli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solidFill>
                        <a:schemeClr val="tx1"/>
                      </a:solidFill>
                      <a:prstDash val="soli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Working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Answer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solidFill>
                        <a:schemeClr val="tx1"/>
                      </a:solidFill>
                      <a:prstDash val="soli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12</a:t>
                      </a:r>
                      <a:r>
                        <a:rPr lang="en-AU" sz="1800" dirty="0" smtClean="0"/>
                        <a:t>% of 1460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33</a:t>
                      </a:r>
                      <a:r>
                        <a:rPr lang="en-AU" sz="1800" dirty="0" smtClean="0"/>
                        <a:t>% of 952</a:t>
                      </a:r>
                      <a:endParaRPr lang="en-AU" sz="18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68</a:t>
                      </a:r>
                      <a:r>
                        <a:rPr lang="en-AU" sz="1800" dirty="0" smtClean="0"/>
                        <a:t>% of 84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83</a:t>
                      </a:r>
                      <a:r>
                        <a:rPr lang="en-AU" sz="1800" dirty="0" smtClean="0"/>
                        <a:t>% of 166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20</a:t>
                      </a:r>
                      <a:r>
                        <a:rPr lang="en-AU" sz="1800" dirty="0" smtClean="0"/>
                        <a:t>% of 820kg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6</a:t>
                      </a:r>
                      <a:r>
                        <a:rPr lang="en-AU" sz="1800" dirty="0" smtClean="0"/>
                        <a:t>% of $24</a:t>
                      </a:r>
                      <a:endParaRPr lang="en-AU" sz="18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130</a:t>
                      </a:r>
                      <a:r>
                        <a:rPr lang="en-AU" sz="1800" dirty="0" smtClean="0"/>
                        <a:t>% of $45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12.5</a:t>
                      </a:r>
                      <a:r>
                        <a:rPr lang="en-AU" sz="1800" dirty="0" smtClean="0"/>
                        <a:t>% of</a:t>
                      </a:r>
                      <a:r>
                        <a:rPr lang="en-AU" sz="1800" baseline="0" dirty="0" smtClean="0"/>
                        <a:t> 56ml</a:t>
                      </a:r>
                      <a:endParaRPr lang="en-AU" sz="1800" dirty="0" smtClean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dirty="0" smtClean="0"/>
                        <a:t>156</a:t>
                      </a:r>
                      <a:r>
                        <a:rPr lang="en-AU" sz="1800" dirty="0" smtClean="0"/>
                        <a:t>% of $92.50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106">
                <a:tc>
                  <a:txBody>
                    <a:bodyPr/>
                    <a:lstStyle/>
                    <a:p>
                      <a:pPr algn="ctr"/>
                      <a:r>
                        <a:rPr lang="en-AU" sz="1800" smtClean="0"/>
                        <a:t>0.5</a:t>
                      </a:r>
                      <a:r>
                        <a:rPr lang="en-AU" sz="1800" smtClean="0"/>
                        <a:t>% of 720g</a:t>
                      </a:r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en-AU" sz="1800" dirty="0"/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92807715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Notes Review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AU" dirty="0" smtClean="0"/>
              <a:t>24, 7 ,30</a:t>
            </a:r>
          </a:p>
          <a:p>
            <a:r>
              <a:rPr lang="en-AU" dirty="0" smtClean="0"/>
              <a:t>Date</a:t>
            </a:r>
          </a:p>
          <a:p>
            <a:r>
              <a:rPr lang="en-AU" dirty="0" smtClean="0"/>
              <a:t>Title</a:t>
            </a:r>
          </a:p>
          <a:p>
            <a:r>
              <a:rPr lang="en-AU" dirty="0" smtClean="0"/>
              <a:t>Essential question</a:t>
            </a:r>
          </a:p>
          <a:p>
            <a:r>
              <a:rPr lang="en-AU" dirty="0" smtClean="0"/>
              <a:t>Notes complete </a:t>
            </a:r>
          </a:p>
          <a:p>
            <a:r>
              <a:rPr lang="en-AU" dirty="0" smtClean="0"/>
              <a:t>Notes complete with colour and diagrams</a:t>
            </a:r>
          </a:p>
          <a:p>
            <a:r>
              <a:rPr lang="en-AU" dirty="0" smtClean="0"/>
              <a:t>Questions completed</a:t>
            </a:r>
          </a:p>
          <a:p>
            <a:r>
              <a:rPr lang="en-AU" dirty="0" smtClean="0"/>
              <a:t>Contents page filed in</a:t>
            </a:r>
          </a:p>
          <a:p>
            <a:r>
              <a:rPr lang="en-AU" dirty="0" smtClean="0"/>
              <a:t>Formula page filled in</a:t>
            </a:r>
          </a:p>
          <a:p>
            <a:pPr marL="0" indent="0">
              <a:buNone/>
            </a:pPr>
            <a:endParaRPr lang="en-AU" dirty="0" smtClean="0"/>
          </a:p>
          <a:p>
            <a:endParaRPr lang="en-AU" dirty="0" smtClean="0"/>
          </a:p>
        </p:txBody>
      </p:sp>
    </p:spTree>
    <p:extLst>
      <p:ext uri="{BB962C8B-B14F-4D97-AF65-F5344CB8AC3E}">
        <p14:creationId xmlns:p14="http://schemas.microsoft.com/office/powerpoint/2010/main" val="30699218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AU" dirty="0" smtClean="0"/>
              <a:t>Homework</a:t>
            </a:r>
            <a:endParaRPr lang="en-AU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AU" dirty="0" smtClean="0"/>
              <a:t>Review your notes and write a summary answering the essential question. </a:t>
            </a:r>
            <a:endParaRPr lang="en-AU" dirty="0"/>
          </a:p>
        </p:txBody>
      </p:sp>
    </p:spTree>
    <p:extLst>
      <p:ext uri="{BB962C8B-B14F-4D97-AF65-F5344CB8AC3E}">
        <p14:creationId xmlns:p14="http://schemas.microsoft.com/office/powerpoint/2010/main" val="7634225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1318</TotalTime>
  <Words>500</Words>
  <Application>Microsoft Office PowerPoint</Application>
  <PresentationFormat>On-screen Show (4:3)</PresentationFormat>
  <Paragraphs>162</Paragraphs>
  <Slides>13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4" baseType="lpstr">
      <vt:lpstr>Office Theme</vt:lpstr>
      <vt:lpstr>My Number Interactive Notebook</vt:lpstr>
      <vt:lpstr>PowerPoint Presentation</vt:lpstr>
      <vt:lpstr>PowerPoint Presentation</vt:lpstr>
      <vt:lpstr>PowerPoint Presentation</vt:lpstr>
      <vt:lpstr>Task - Copy and Complete</vt:lpstr>
      <vt:lpstr>Task - Copy and Complete</vt:lpstr>
      <vt:lpstr>PowerPoint Presentation</vt:lpstr>
      <vt:lpstr>PowerPoint Presentation</vt:lpstr>
      <vt:lpstr>PowerPoint Presentation</vt:lpstr>
      <vt:lpstr>PowerPoint Presentation</vt:lpstr>
      <vt:lpstr>Task - Copy and Complete</vt:lpstr>
      <vt:lpstr>Notes Review</vt:lpstr>
      <vt:lpstr>Homework</vt:lpstr>
    </vt:vector>
  </TitlesOfParts>
  <Company>The Department of Education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Using Venn Diagrams</dc:title>
  <dc:creator>RUST Joanne</dc:creator>
  <cp:lastModifiedBy>RUST Joanne</cp:lastModifiedBy>
  <cp:revision>83</cp:revision>
  <dcterms:created xsi:type="dcterms:W3CDTF">2014-05-14T02:58:57Z</dcterms:created>
  <dcterms:modified xsi:type="dcterms:W3CDTF">2016-07-18T12:30:12Z</dcterms:modified>
</cp:coreProperties>
</file>
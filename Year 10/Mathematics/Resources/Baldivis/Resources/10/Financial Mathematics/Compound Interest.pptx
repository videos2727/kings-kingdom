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324" r:id="rId3"/>
    <p:sldId id="325" r:id="rId4"/>
    <p:sldId id="326" r:id="rId5"/>
    <p:sldId id="327" r:id="rId6"/>
    <p:sldId id="259" r:id="rId7"/>
    <p:sldId id="258" r:id="rId8"/>
    <p:sldId id="303" r:id="rId9"/>
    <p:sldId id="328" r:id="rId10"/>
    <p:sldId id="329" r:id="rId11"/>
    <p:sldId id="292" r:id="rId12"/>
    <p:sldId id="29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4" autoAdjust="0"/>
    <p:restoredTop sz="89165" autoAdjust="0"/>
  </p:normalViewPr>
  <p:slideViewPr>
    <p:cSldViewPr>
      <p:cViewPr>
        <p:scale>
          <a:sx n="75" d="100"/>
          <a:sy n="75" d="100"/>
        </p:scale>
        <p:origin x="-1230" y="-1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26/07/2016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26/07/2016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26/07/2016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26/07/2016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26/07/2016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26/07/2016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26/07/2016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26/07/2016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404664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AU" dirty="0" smtClean="0"/>
              <a:t>If $300 is invested at 10%per annum. What is the balance after 5 years if interest is added to the amount at the end of each year?  </a:t>
            </a:r>
          </a:p>
          <a:p>
            <a:pPr marL="0" indent="0">
              <a:buNone/>
            </a:pPr>
            <a:r>
              <a:rPr lang="en-AU" dirty="0" smtClean="0"/>
              <a:t> Copy and complete the table below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442504"/>
              </p:ext>
            </p:extLst>
          </p:nvPr>
        </p:nvGraphicFramePr>
        <p:xfrm>
          <a:off x="611560" y="2924944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Time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Amount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Interest 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New Amount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One</a:t>
                      </a:r>
                      <a:r>
                        <a:rPr lang="en-AU" baseline="0" dirty="0" smtClean="0"/>
                        <a:t> year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$300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Two years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Three years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Four</a:t>
                      </a:r>
                      <a:r>
                        <a:rPr lang="en-AU" baseline="0" dirty="0" smtClean="0"/>
                        <a:t> years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Five years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8373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404664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AU" dirty="0" smtClean="0"/>
              <a:t>If $300 is invested at 10%per annum. What is the balance after 5 years if interest is added to the amount at the end of each year?  </a:t>
            </a:r>
          </a:p>
          <a:p>
            <a:pPr marL="0" indent="0">
              <a:buNone/>
            </a:pPr>
            <a:r>
              <a:rPr lang="en-AU" dirty="0" smtClean="0"/>
              <a:t> Copy and complete the table below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966795"/>
              </p:ext>
            </p:extLst>
          </p:nvPr>
        </p:nvGraphicFramePr>
        <p:xfrm>
          <a:off x="611560" y="2924944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Time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Amount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Interest 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New Amount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One</a:t>
                      </a:r>
                      <a:r>
                        <a:rPr lang="en-AU" baseline="0" dirty="0" smtClean="0"/>
                        <a:t> year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$300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$30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$330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Two years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Three years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Four</a:t>
                      </a:r>
                      <a:r>
                        <a:rPr lang="en-AU" baseline="0" dirty="0" smtClean="0"/>
                        <a:t> years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Five years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0558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404664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AU" dirty="0" smtClean="0"/>
              <a:t>If $300 is invested at 10%per annum. What is the balance after 5 years if interest is added to the amount at the end of each year?  </a:t>
            </a:r>
          </a:p>
          <a:p>
            <a:pPr marL="0" indent="0">
              <a:buNone/>
            </a:pPr>
            <a:r>
              <a:rPr lang="en-AU" dirty="0" smtClean="0"/>
              <a:t> Copy and complete the table below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675454"/>
              </p:ext>
            </p:extLst>
          </p:nvPr>
        </p:nvGraphicFramePr>
        <p:xfrm>
          <a:off x="611560" y="2924944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Time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Amount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Interest 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New Amount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One</a:t>
                      </a:r>
                      <a:r>
                        <a:rPr lang="en-AU" baseline="0" dirty="0" smtClean="0"/>
                        <a:t> year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$300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$30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$330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Two years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$330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$33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$363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Three years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Four</a:t>
                      </a:r>
                      <a:r>
                        <a:rPr lang="en-AU" baseline="0" dirty="0" smtClean="0"/>
                        <a:t> years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Five years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222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404664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AU" dirty="0" smtClean="0"/>
              <a:t>If $300 is invested at 10%per annum. What is the balance after 5 years if interest is added to the amount at the end of each year?  </a:t>
            </a:r>
          </a:p>
          <a:p>
            <a:pPr marL="0" indent="0">
              <a:buNone/>
            </a:pPr>
            <a:r>
              <a:rPr lang="en-AU" dirty="0" smtClean="0"/>
              <a:t> Copy and complete the table below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244692"/>
              </p:ext>
            </p:extLst>
          </p:nvPr>
        </p:nvGraphicFramePr>
        <p:xfrm>
          <a:off x="611560" y="2924944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Time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Amount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Interest 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New Amount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One</a:t>
                      </a:r>
                      <a:r>
                        <a:rPr lang="en-AU" baseline="0" dirty="0" smtClean="0"/>
                        <a:t> year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$300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$30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$330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Two years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$330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$33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$363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Three years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$363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$36.30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$399.30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Four</a:t>
                      </a:r>
                      <a:r>
                        <a:rPr lang="en-AU" baseline="0" dirty="0" smtClean="0"/>
                        <a:t> years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$399.30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$39.93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$439.23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Five years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$439.23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$43.92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$483.15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80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267744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861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Compound  Interest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does compound interest differ from simple interest?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339752" y="1991628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Compounding is when the interest is paid on interest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483768" y="2356272"/>
                <a:ext cx="2827505" cy="8436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>
                    <a:solidFill>
                      <a:schemeClr val="tx2"/>
                    </a:solidFill>
                  </a:rPr>
                  <a:t>Compound Interest Formula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𝐴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𝑃</m:t>
                      </m:r>
                      <m:sSup>
                        <m:sSupPr>
                          <m:ctrlPr>
                            <a:rPr lang="en-AU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i="1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(1+</m:t>
                          </m:r>
                          <m:f>
                            <m:fPr>
                              <m:ctrlPr>
                                <a:rPr lang="en-AU" i="1">
                                  <a:solidFill>
                                    <a:schemeClr val="tx2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i="1">
                                  <a:solidFill>
                                    <a:schemeClr val="tx2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num>
                            <m:den>
                              <m:r>
                                <a:rPr lang="en-AU" i="1">
                                  <a:solidFill>
                                    <a:schemeClr val="tx2"/>
                                  </a:solidFill>
                                  <a:latin typeface="Cambria Math"/>
                                </a:rPr>
                                <m:t>100</m:t>
                              </m:r>
                            </m:den>
                          </m:f>
                          <m:r>
                            <a:rPr lang="en-AU" i="1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2356272"/>
                <a:ext cx="2827505" cy="843693"/>
              </a:xfrm>
              <a:prstGeom prst="rect">
                <a:avLst/>
              </a:prstGeom>
              <a:blipFill rotWithShape="1">
                <a:blip r:embed="rId2"/>
                <a:stretch>
                  <a:fillRect l="-1724" t="-3623" r="-10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577468" y="2536175"/>
                <a:ext cx="317099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𝐴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𝑓𝑖𝑛𝑎𝑙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𝑎𝑚𝑜𝑢𝑛𝑡</m:t>
                      </m:r>
                    </m:oMath>
                  </m:oMathPara>
                </a14:m>
                <a:endParaRPr lang="en-AU" b="0" i="1" dirty="0" smtClean="0">
                  <a:solidFill>
                    <a:schemeClr val="tx2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𝑃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𝑝𝑟𝑖𝑛𝑐𝑖𝑝𝑎𝑙</m:t>
                      </m:r>
                    </m:oMath>
                  </m:oMathPara>
                </a14:m>
                <a:endParaRPr lang="en-AU" b="0" dirty="0" smtClean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𝑟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𝑟𝑎𝑡𝑒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𝑎𝑠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𝑝𝑒𝑟𝑐𝑒𝑛𝑡𝑎𝑔𝑒</m:t>
                      </m:r>
                    </m:oMath>
                  </m:oMathPara>
                </a14:m>
                <a:endParaRPr lang="en-AU" b="0" dirty="0" smtClean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𝑛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𝑛𝑢𝑚𝑏𝑒𝑟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𝑜𝑓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𝑡𝑖𝑚𝑒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𝑝𝑒𝑟𝑖𝑜𝑑𝑠</m:t>
                      </m:r>
                    </m:oMath>
                  </m:oMathPara>
                </a14:m>
                <a:endParaRPr lang="en-AU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468" y="2536175"/>
                <a:ext cx="3170996" cy="1200329"/>
              </a:xfrm>
              <a:prstGeom prst="rect">
                <a:avLst/>
              </a:prstGeom>
              <a:blipFill rotWithShape="1">
                <a:blip r:embed="rId3"/>
                <a:stretch>
                  <a:fillRect b="-3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339752" y="3753768"/>
                <a:ext cx="49104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𝐼𝑛𝑡𝑒𝑟𝑒𝑠𝑡</m:t>
                      </m:r>
                      <m:r>
                        <a:rPr lang="en-AU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 = </m:t>
                      </m:r>
                      <m:r>
                        <a:rPr lang="en-AU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𝑓𝑖𝑛𝑎𝑙</m:t>
                      </m:r>
                      <m:r>
                        <a:rPr lang="en-AU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 </m:t>
                      </m:r>
                      <m:r>
                        <a:rPr lang="en-AU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𝑎𝑚𝑜𝑢𝑛𝑡</m:t>
                      </m:r>
                      <m:r>
                        <a:rPr lang="en-AU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 (</m:t>
                      </m:r>
                      <m:r>
                        <a:rPr lang="en-AU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𝐴</m:t>
                      </m:r>
                      <m:r>
                        <a:rPr lang="en-AU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) – </m:t>
                      </m:r>
                      <m:r>
                        <a:rPr lang="en-AU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𝑃𝑟𝑖𝑛𝑐𝑖𝑝𝑎𝑙</m:t>
                      </m:r>
                      <m:r>
                        <a:rPr lang="en-AU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 (</m:t>
                      </m:r>
                      <m:r>
                        <a:rPr lang="en-AU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𝑃</m:t>
                      </m:r>
                      <m:r>
                        <a:rPr lang="en-AU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AU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3753768"/>
                <a:ext cx="4910447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77206" y="1916832"/>
            <a:ext cx="1944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compound interest? 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42197" y="2599800"/>
            <a:ext cx="2341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calculate compound interest?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152185" y="4375445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267744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861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Compound  Interest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does compound interest differ from simple interest?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339752" y="1991628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Compounding is when the interest is paid on interest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483768" y="2356272"/>
                <a:ext cx="2827505" cy="8436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>
                    <a:solidFill>
                      <a:schemeClr val="tx2"/>
                    </a:solidFill>
                  </a:rPr>
                  <a:t>Compound Interest Formula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𝐴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𝑃</m:t>
                      </m:r>
                      <m:sSup>
                        <m:sSupPr>
                          <m:ctrlPr>
                            <a:rPr lang="en-AU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i="1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(1+</m:t>
                          </m:r>
                          <m:f>
                            <m:fPr>
                              <m:ctrlPr>
                                <a:rPr lang="en-AU" i="1">
                                  <a:solidFill>
                                    <a:schemeClr val="tx2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i="1">
                                  <a:solidFill>
                                    <a:schemeClr val="tx2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num>
                            <m:den>
                              <m:r>
                                <a:rPr lang="en-AU" i="1">
                                  <a:solidFill>
                                    <a:schemeClr val="tx2"/>
                                  </a:solidFill>
                                  <a:latin typeface="Cambria Math"/>
                                </a:rPr>
                                <m:t>100</m:t>
                              </m:r>
                            </m:den>
                          </m:f>
                          <m:r>
                            <a:rPr lang="en-AU" i="1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2356272"/>
                <a:ext cx="2827505" cy="843693"/>
              </a:xfrm>
              <a:prstGeom prst="rect">
                <a:avLst/>
              </a:prstGeom>
              <a:blipFill rotWithShape="1">
                <a:blip r:embed="rId2"/>
                <a:stretch>
                  <a:fillRect l="-1724" t="-3623" r="-10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577468" y="2536175"/>
                <a:ext cx="317099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𝐴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𝑓𝑖𝑛𝑎𝑙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𝑎𝑚𝑜𝑢𝑛𝑡</m:t>
                      </m:r>
                    </m:oMath>
                  </m:oMathPara>
                </a14:m>
                <a:endParaRPr lang="en-AU" b="0" i="1" dirty="0" smtClean="0">
                  <a:solidFill>
                    <a:schemeClr val="tx2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𝑃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𝑝𝑟𝑖𝑛𝑐𝑖𝑝𝑎𝑙</m:t>
                      </m:r>
                    </m:oMath>
                  </m:oMathPara>
                </a14:m>
                <a:endParaRPr lang="en-AU" b="0" dirty="0" smtClean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𝑟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𝑟𝑎𝑡𝑒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𝑎𝑠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𝑝𝑒𝑟𝑐𝑒𝑛𝑡𝑎𝑔𝑒</m:t>
                      </m:r>
                    </m:oMath>
                  </m:oMathPara>
                </a14:m>
                <a:endParaRPr lang="en-AU" b="0" dirty="0" smtClean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𝑛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𝑛𝑢𝑚𝑏𝑒𝑟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𝑜𝑓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𝑡𝑖𝑚𝑒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𝑝𝑒𝑟𝑖𝑜𝑑𝑠</m:t>
                      </m:r>
                    </m:oMath>
                  </m:oMathPara>
                </a14:m>
                <a:endParaRPr lang="en-AU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468" y="2536175"/>
                <a:ext cx="3170996" cy="1200329"/>
              </a:xfrm>
              <a:prstGeom prst="rect">
                <a:avLst/>
              </a:prstGeom>
              <a:blipFill rotWithShape="1">
                <a:blip r:embed="rId3"/>
                <a:stretch>
                  <a:fillRect b="-3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339752" y="3753768"/>
                <a:ext cx="49104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𝐼𝑛𝑡𝑒𝑟𝑒𝑠𝑡</m:t>
                      </m:r>
                      <m:r>
                        <a:rPr lang="en-AU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 = </m:t>
                      </m:r>
                      <m:r>
                        <a:rPr lang="en-AU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𝑓𝑖𝑛𝑎𝑙</m:t>
                      </m:r>
                      <m:r>
                        <a:rPr lang="en-AU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 </m:t>
                      </m:r>
                      <m:r>
                        <a:rPr lang="en-AU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𝑎𝑚𝑜𝑢𝑛𝑡</m:t>
                      </m:r>
                      <m:r>
                        <a:rPr lang="en-AU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 (</m:t>
                      </m:r>
                      <m:r>
                        <a:rPr lang="en-AU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𝐴</m:t>
                      </m:r>
                      <m:r>
                        <a:rPr lang="en-AU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) – </m:t>
                      </m:r>
                      <m:r>
                        <a:rPr lang="en-AU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𝑃𝑟𝑖𝑛𝑐𝑖𝑝𝑎𝑙</m:t>
                      </m:r>
                      <m:r>
                        <a:rPr lang="en-AU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 (</m:t>
                      </m:r>
                      <m:r>
                        <a:rPr lang="en-AU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𝑃</m:t>
                      </m:r>
                      <m:r>
                        <a:rPr lang="en-AU" i="1" dirty="0" smtClean="0">
                          <a:solidFill>
                            <a:schemeClr val="tx2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AU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3753768"/>
                <a:ext cx="4910447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2343448" y="4293096"/>
            <a:ext cx="61889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If $300 is invested at 10%per annum. What is the balance after 5 years if interest is added to the amount at the end of each year?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06" y="1916832"/>
            <a:ext cx="1944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compound interest? 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42197" y="2599800"/>
            <a:ext cx="2341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calculate compound interest?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152185" y="4375445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394424" y="4915227"/>
                <a:ext cx="2681632" cy="14468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  <m:r>
                        <a:rPr lang="en-AU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=300×</m:t>
                      </m:r>
                      <m:sSup>
                        <m:sSupPr>
                          <m:ctrlPr>
                            <a:rPr lang="en-AU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(1+</m:t>
                          </m:r>
                          <m:f>
                            <m:fPr>
                              <m:ctrlPr>
                                <a:rPr lang="en-AU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AU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100</m:t>
                              </m:r>
                            </m:den>
                          </m:f>
                          <m:r>
                            <a:rPr lang="en-AU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AU" i="1" dirty="0" smtClean="0">
                  <a:solidFill>
                    <a:schemeClr val="tx1"/>
                  </a:solidFill>
                  <a:latin typeface="Cambria Math"/>
                </a:endParaRPr>
              </a:p>
              <a:p>
                <a:r>
                  <a:rPr lang="en-AU" b="0" dirty="0" smtClean="0">
                    <a:solidFill>
                      <a:schemeClr val="tx1"/>
                    </a:solidFill>
                  </a:rPr>
                  <a:t>      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=300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1.1</m:t>
                        </m:r>
                      </m:e>
                      <m:sup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5</m:t>
                        </m:r>
                      </m:sup>
                    </m:sSup>
                  </m:oMath>
                </a14:m>
                <a:endParaRPr lang="en-AU" b="0" i="1" dirty="0" smtClean="0">
                  <a:solidFill>
                    <a:schemeClr val="tx1"/>
                  </a:solidFill>
                  <a:latin typeface="Cambria Math"/>
                  <a:ea typeface="Cambria Math"/>
                </a:endParaRPr>
              </a:p>
              <a:p>
                <a:r>
                  <a:rPr lang="en-AU" b="0" dirty="0" smtClean="0">
                    <a:solidFill>
                      <a:schemeClr val="tx1"/>
                    </a:solidFill>
                    <a:ea typeface="Cambria Math"/>
                  </a:rPr>
                  <a:t>      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=$483.15</m:t>
                    </m:r>
                  </m:oMath>
                </a14:m>
                <a:endParaRPr lang="en-AU" dirty="0" smtClean="0">
                  <a:solidFill>
                    <a:schemeClr val="tx1"/>
                  </a:solidFill>
                </a:endParaRPr>
              </a:p>
              <a:p>
                <a:endParaRPr lang="en-A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4424" y="4915227"/>
                <a:ext cx="2681632" cy="144680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595721" y="6189400"/>
                <a:ext cx="39525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/>
                        </a:rPr>
                        <m:t>𝐼𝑛𝑡𝑒𝑟𝑒𝑠𝑡</m:t>
                      </m:r>
                      <m:r>
                        <a:rPr lang="en-AU" i="1" dirty="0" smtClean="0">
                          <a:latin typeface="Cambria Math"/>
                        </a:rPr>
                        <m:t> = 483.15−300=$186.15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721" y="6189400"/>
                <a:ext cx="3952557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8815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04664"/>
            <a:ext cx="5040560" cy="1899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204864"/>
            <a:ext cx="7917880" cy="1872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1475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1389</TotalTime>
  <Words>584</Words>
  <Application>Microsoft Office PowerPoint</Application>
  <PresentationFormat>On-screen Show (4:3)</PresentationFormat>
  <Paragraphs>152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91</cp:revision>
  <dcterms:created xsi:type="dcterms:W3CDTF">2014-05-14T02:58:57Z</dcterms:created>
  <dcterms:modified xsi:type="dcterms:W3CDTF">2016-07-26T11:45:03Z</dcterms:modified>
</cp:coreProperties>
</file>
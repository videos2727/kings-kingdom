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304" r:id="rId3"/>
    <p:sldId id="259" r:id="rId4"/>
    <p:sldId id="258" r:id="rId5"/>
    <p:sldId id="320" r:id="rId6"/>
    <p:sldId id="335" r:id="rId7"/>
    <p:sldId id="336" r:id="rId8"/>
    <p:sldId id="337" r:id="rId9"/>
    <p:sldId id="338" r:id="rId10"/>
    <p:sldId id="339" r:id="rId11"/>
    <p:sldId id="313" r:id="rId12"/>
    <p:sldId id="319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21/06/2015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21/06/2015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21/06/2015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21/06/2015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21/06/2015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7" Type="http://schemas.openxmlformats.org/officeDocument/2006/relationships/image" Target="../media/image9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gif"/><Relationship Id="rId4" Type="http://schemas.openxmlformats.org/officeDocument/2006/relationships/image" Target="../media/image9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e4047095\AppData\Local\Microsoft\Windows\Temporary Internet Files\Content.IE5\4I30O3QX\euro_coin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5" y="260648"/>
            <a:ext cx="1919259" cy="183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Mr Evans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52440" y="184482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79119"/>
            <a:ext cx="3199160" cy="272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6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Venn </a:t>
            </a:r>
            <a:r>
              <a:rPr lang="en-AU" sz="2800" dirty="0" smtClean="0"/>
              <a:t>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set notation </a:t>
            </a:r>
            <a:r>
              <a:rPr lang="en-AU" sz="2400" dirty="0" smtClean="0"/>
              <a:t>we use </a:t>
            </a:r>
            <a:r>
              <a:rPr lang="en-AU" sz="2400" dirty="0" smtClean="0"/>
              <a:t>with </a:t>
            </a:r>
            <a:r>
              <a:rPr lang="en-AU" sz="2400" dirty="0" smtClean="0"/>
              <a:t>Venn</a:t>
            </a:r>
            <a:r>
              <a:rPr lang="en-AU" sz="2400" dirty="0" smtClean="0"/>
              <a:t> </a:t>
            </a:r>
            <a:r>
              <a:rPr lang="en-AU" sz="2400" dirty="0" smtClean="0"/>
              <a:t>Diagrams?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What is set notation?</a:t>
            </a:r>
            <a:endParaRPr lang="en-A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2483768" y="1988840"/>
            <a:ext cx="64807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 smtClean="0"/>
              <a:t>Sets </a:t>
            </a:r>
            <a:r>
              <a:rPr lang="en-AU" sz="1600" dirty="0" smtClean="0"/>
              <a:t>are simply collections of items.  A set may contain your </a:t>
            </a:r>
            <a:r>
              <a:rPr lang="en-AU" sz="1600" dirty="0" err="1" smtClean="0"/>
              <a:t>favorite</a:t>
            </a:r>
            <a:r>
              <a:rPr lang="en-AU" sz="1600" dirty="0" smtClean="0"/>
              <a:t> even numbers, the days of the week, or the names of your brothers and sisters.  The items contained within a set are called </a:t>
            </a:r>
            <a:r>
              <a:rPr lang="en-AU" sz="1600" b="1" dirty="0" smtClean="0"/>
              <a:t>elements, </a:t>
            </a:r>
            <a:r>
              <a:rPr lang="en-AU" sz="1600" dirty="0" smtClean="0"/>
              <a:t>and elements in a set do not "repeat".  </a:t>
            </a:r>
            <a:br>
              <a:rPr lang="en-AU" sz="1600" dirty="0" smtClean="0"/>
            </a:br>
            <a:r>
              <a:rPr lang="en-AU" sz="1600" dirty="0" smtClean="0"/>
              <a:t>The elements of a set are often listed by </a:t>
            </a:r>
            <a:r>
              <a:rPr lang="en-AU" sz="1600" b="1" dirty="0" smtClean="0"/>
              <a:t>roster</a:t>
            </a:r>
            <a:r>
              <a:rPr lang="en-AU" sz="1600" dirty="0" smtClean="0"/>
              <a:t>.  </a:t>
            </a:r>
            <a:br>
              <a:rPr lang="en-AU" sz="1600" dirty="0" smtClean="0"/>
            </a:br>
            <a:r>
              <a:rPr lang="en-AU" sz="1600" dirty="0" smtClean="0"/>
              <a:t>A </a:t>
            </a:r>
            <a:r>
              <a:rPr lang="en-AU" sz="1600" b="1" dirty="0" smtClean="0"/>
              <a:t>roster </a:t>
            </a:r>
            <a:r>
              <a:rPr lang="en-AU" sz="1600" dirty="0" smtClean="0"/>
              <a:t>is a list of the elements in a set, separated by commas and surrounded by French curly braces. 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Venn </a:t>
            </a:r>
            <a:r>
              <a:rPr lang="en-AU" sz="2800" dirty="0" smtClean="0"/>
              <a:t>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set notation </a:t>
            </a:r>
            <a:r>
              <a:rPr lang="en-AU" sz="2400" dirty="0" smtClean="0"/>
              <a:t>we use </a:t>
            </a:r>
            <a:r>
              <a:rPr lang="en-AU" sz="2400" dirty="0" smtClean="0"/>
              <a:t>with </a:t>
            </a:r>
            <a:r>
              <a:rPr lang="en-AU" sz="2400" dirty="0" smtClean="0"/>
              <a:t>Venn</a:t>
            </a:r>
            <a:r>
              <a:rPr lang="en-AU" sz="2400" dirty="0" smtClean="0"/>
              <a:t> </a:t>
            </a:r>
            <a:r>
              <a:rPr lang="en-AU" sz="2400" dirty="0" smtClean="0"/>
              <a:t>Diagrams?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What is set notation?</a:t>
            </a:r>
            <a:endParaRPr lang="en-A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2483768" y="1988840"/>
            <a:ext cx="64807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 smtClean="0"/>
              <a:t>Sets </a:t>
            </a:r>
            <a:r>
              <a:rPr lang="en-AU" sz="1600" dirty="0" smtClean="0"/>
              <a:t>are simply collections of items.  A set may contain your </a:t>
            </a:r>
            <a:r>
              <a:rPr lang="en-AU" sz="1600" dirty="0" err="1" smtClean="0"/>
              <a:t>favorite</a:t>
            </a:r>
            <a:r>
              <a:rPr lang="en-AU" sz="1600" dirty="0" smtClean="0"/>
              <a:t> even numbers, the days of the week, or the names of your brothers and sisters.  The items contained within a set are called </a:t>
            </a:r>
            <a:r>
              <a:rPr lang="en-AU" sz="1600" b="1" dirty="0" smtClean="0"/>
              <a:t>elements, </a:t>
            </a:r>
            <a:r>
              <a:rPr lang="en-AU" sz="1600" dirty="0" smtClean="0"/>
              <a:t>and elements in a set do not "repeat".  </a:t>
            </a:r>
            <a:br>
              <a:rPr lang="en-AU" sz="1600" dirty="0" smtClean="0"/>
            </a:br>
            <a:r>
              <a:rPr lang="en-AU" sz="1600" dirty="0" smtClean="0"/>
              <a:t>The elements of a set are often listed by </a:t>
            </a:r>
            <a:r>
              <a:rPr lang="en-AU" sz="1600" b="1" dirty="0" smtClean="0"/>
              <a:t>roster</a:t>
            </a:r>
            <a:r>
              <a:rPr lang="en-AU" sz="1600" dirty="0" smtClean="0"/>
              <a:t>.  </a:t>
            </a:r>
            <a:br>
              <a:rPr lang="en-AU" sz="1600" dirty="0" smtClean="0"/>
            </a:br>
            <a:r>
              <a:rPr lang="en-AU" sz="1600" dirty="0" smtClean="0"/>
              <a:t>A </a:t>
            </a:r>
            <a:r>
              <a:rPr lang="en-AU" sz="1600" b="1" dirty="0" smtClean="0"/>
              <a:t>roster </a:t>
            </a:r>
            <a:r>
              <a:rPr lang="en-AU" sz="1600" dirty="0" smtClean="0"/>
              <a:t>is a list of the elements in a set, separated by commas and surrounded by French curly braces. </a:t>
            </a:r>
            <a:endParaRPr lang="en-AU" sz="1600" dirty="0"/>
          </a:p>
        </p:txBody>
      </p:sp>
      <p:pic>
        <p:nvPicPr>
          <p:cNvPr id="2050" name="Picture 2" descr="http://www.regentsprep.org/regents/math/algebra/AP2/LVenn.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4221088"/>
            <a:ext cx="371475" cy="161926"/>
          </a:xfrm>
          <a:prstGeom prst="rect">
            <a:avLst/>
          </a:prstGeom>
          <a:noFill/>
        </p:spPr>
      </p:pic>
      <p:pic>
        <p:nvPicPr>
          <p:cNvPr id="2051" name="Picture 3" descr="http://www.regentsprep.org/regents/math/algebra/AP2/LVenn.2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4437112"/>
            <a:ext cx="2857500" cy="200025"/>
          </a:xfrm>
          <a:prstGeom prst="rect">
            <a:avLst/>
          </a:prstGeom>
          <a:noFill/>
        </p:spPr>
      </p:pic>
      <p:pic>
        <p:nvPicPr>
          <p:cNvPr id="2052" name="Picture 4" descr="http://www.regentsprep.org/regents/math/algebra/AP2/LVenn.3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51920" y="4653136"/>
            <a:ext cx="381000" cy="161925"/>
          </a:xfrm>
          <a:prstGeom prst="rect">
            <a:avLst/>
          </a:prstGeom>
          <a:noFill/>
        </p:spPr>
      </p:pic>
      <p:sp>
        <p:nvSpPr>
          <p:cNvPr id="17" name="Rectangle 16"/>
          <p:cNvSpPr/>
          <p:nvPr/>
        </p:nvSpPr>
        <p:spPr>
          <a:xfrm>
            <a:off x="2555776" y="3717032"/>
            <a:ext cx="532859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Let set </a:t>
            </a:r>
            <a:r>
              <a:rPr lang="en-US" sz="14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 be the numbers 3, 6, 9.</a:t>
            </a:r>
            <a:b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 = {3, 6, 9} </a:t>
            </a:r>
            <a: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(in roster notation)</a:t>
            </a: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2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2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(5 is not in set A)</a:t>
            </a:r>
            <a:r>
              <a:rPr lang="en-US" sz="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1400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555776" y="4869160"/>
            <a:ext cx="1944216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Venn </a:t>
            </a:r>
            <a:r>
              <a:rPr lang="en-AU" sz="2800" dirty="0" smtClean="0"/>
              <a:t>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set notation </a:t>
            </a:r>
            <a:r>
              <a:rPr lang="en-AU" sz="2400" dirty="0" smtClean="0"/>
              <a:t>we use </a:t>
            </a:r>
            <a:r>
              <a:rPr lang="en-AU" sz="2400" dirty="0" smtClean="0"/>
              <a:t>with </a:t>
            </a:r>
            <a:r>
              <a:rPr lang="en-AU" sz="2400" dirty="0" smtClean="0"/>
              <a:t>Venn</a:t>
            </a:r>
            <a:r>
              <a:rPr lang="en-AU" sz="2400" dirty="0" smtClean="0"/>
              <a:t> </a:t>
            </a:r>
            <a:r>
              <a:rPr lang="en-AU" sz="2400" dirty="0" smtClean="0"/>
              <a:t>Diagrams?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What is set notation?</a:t>
            </a:r>
            <a:endParaRPr lang="en-A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2483768" y="1988840"/>
            <a:ext cx="64807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 smtClean="0"/>
              <a:t>Sets </a:t>
            </a:r>
            <a:r>
              <a:rPr lang="en-AU" sz="1600" dirty="0" smtClean="0"/>
              <a:t>are simply collections of items.  A set may contain your </a:t>
            </a:r>
            <a:r>
              <a:rPr lang="en-AU" sz="1600" dirty="0" err="1" smtClean="0"/>
              <a:t>favorite</a:t>
            </a:r>
            <a:r>
              <a:rPr lang="en-AU" sz="1600" dirty="0" smtClean="0"/>
              <a:t> even numbers, the days of the week, or the names of your brothers and sisters.  The items contained within a set are called </a:t>
            </a:r>
            <a:r>
              <a:rPr lang="en-AU" sz="1600" b="1" dirty="0" smtClean="0"/>
              <a:t>elements, </a:t>
            </a:r>
            <a:r>
              <a:rPr lang="en-AU" sz="1600" dirty="0" smtClean="0"/>
              <a:t>and elements in a set do not "repeat".  </a:t>
            </a:r>
            <a:br>
              <a:rPr lang="en-AU" sz="1600" dirty="0" smtClean="0"/>
            </a:br>
            <a:r>
              <a:rPr lang="en-AU" sz="1600" dirty="0" smtClean="0"/>
              <a:t>The elements of a set are often listed by </a:t>
            </a:r>
            <a:r>
              <a:rPr lang="en-AU" sz="1600" b="1" dirty="0" smtClean="0"/>
              <a:t>roster</a:t>
            </a:r>
            <a:r>
              <a:rPr lang="en-AU" sz="1600" dirty="0" smtClean="0"/>
              <a:t>.  </a:t>
            </a:r>
            <a:br>
              <a:rPr lang="en-AU" sz="1600" dirty="0" smtClean="0"/>
            </a:br>
            <a:r>
              <a:rPr lang="en-AU" sz="1600" dirty="0" smtClean="0"/>
              <a:t>A </a:t>
            </a:r>
            <a:r>
              <a:rPr lang="en-AU" sz="1600" b="1" dirty="0" smtClean="0"/>
              <a:t>roster </a:t>
            </a:r>
            <a:r>
              <a:rPr lang="en-AU" sz="1600" dirty="0" smtClean="0"/>
              <a:t>is a list of the elements in a set, separated by commas and surrounded by French curly braces. </a:t>
            </a:r>
            <a:endParaRPr lang="en-AU" sz="1600" dirty="0"/>
          </a:p>
        </p:txBody>
      </p:sp>
      <p:pic>
        <p:nvPicPr>
          <p:cNvPr id="2050" name="Picture 2" descr="http://www.regentsprep.org/regents/math/algebra/AP2/LVenn.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4221088"/>
            <a:ext cx="371475" cy="161926"/>
          </a:xfrm>
          <a:prstGeom prst="rect">
            <a:avLst/>
          </a:prstGeom>
          <a:noFill/>
        </p:spPr>
      </p:pic>
      <p:pic>
        <p:nvPicPr>
          <p:cNvPr id="2051" name="Picture 3" descr="http://www.regentsprep.org/regents/math/algebra/AP2/LVenn.2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4437112"/>
            <a:ext cx="2857500" cy="200025"/>
          </a:xfrm>
          <a:prstGeom prst="rect">
            <a:avLst/>
          </a:prstGeom>
          <a:noFill/>
        </p:spPr>
      </p:pic>
      <p:pic>
        <p:nvPicPr>
          <p:cNvPr id="2052" name="Picture 4" descr="http://www.regentsprep.org/regents/math/algebra/AP2/LVenn.3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51920" y="4653136"/>
            <a:ext cx="381000" cy="161925"/>
          </a:xfrm>
          <a:prstGeom prst="rect">
            <a:avLst/>
          </a:prstGeom>
          <a:noFill/>
        </p:spPr>
      </p:pic>
      <p:sp>
        <p:nvSpPr>
          <p:cNvPr id="17" name="Rectangle 16"/>
          <p:cNvSpPr/>
          <p:nvPr/>
        </p:nvSpPr>
        <p:spPr>
          <a:xfrm>
            <a:off x="2555776" y="3717032"/>
            <a:ext cx="532859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Let set </a:t>
            </a:r>
            <a:r>
              <a:rPr lang="en-US" sz="14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 be the numbers 3, 6, 9.</a:t>
            </a:r>
            <a:b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 = {3, 6, 9} </a:t>
            </a:r>
            <a: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(in roster notation)</a:t>
            </a: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2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2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(5 is not in set A)</a:t>
            </a:r>
            <a:r>
              <a:rPr lang="en-US" sz="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1400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6" name="Picture 2" descr="http://www.regentsprep.org/regents/math/algebra/AP2/UniversalSet2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83768" y="4941168"/>
            <a:ext cx="1924050" cy="1181101"/>
          </a:xfrm>
          <a:prstGeom prst="rect">
            <a:avLst/>
          </a:prstGeom>
          <a:noFill/>
        </p:spPr>
      </p:pic>
      <p:pic>
        <p:nvPicPr>
          <p:cNvPr id="26628" name="Picture 4" descr="http://www.regentsprep.org/regents/math/algebra/AP2/LVenn.4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519025" y="-334963"/>
            <a:ext cx="514350" cy="219075"/>
          </a:xfrm>
          <a:prstGeom prst="rect">
            <a:avLst/>
          </a:prstGeom>
          <a:noFill/>
        </p:spPr>
      </p:pic>
      <p:sp>
        <p:nvSpPr>
          <p:cNvPr id="20" name="Rectangle 19"/>
          <p:cNvSpPr/>
          <p:nvPr/>
        </p:nvSpPr>
        <p:spPr>
          <a:xfrm>
            <a:off x="4932040" y="4797152"/>
            <a:ext cx="410445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Venn diagram at the left shows two sets </a:t>
            </a:r>
            <a:r>
              <a:rPr lang="en-US" sz="12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sz="12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 </a:t>
            </a:r>
            <a:r>
              <a:rPr lang="en-US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that overlap.  The universal set is </a:t>
            </a:r>
            <a:r>
              <a:rPr lang="en-US" sz="12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  Values that belong to both set </a:t>
            </a:r>
            <a:r>
              <a:rPr lang="en-US" sz="12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 set </a:t>
            </a:r>
            <a:r>
              <a:rPr lang="en-US" sz="12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are located in the center region labeled</a:t>
            </a:r>
            <a:r>
              <a:rPr lang="en-US" sz="1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where the circles overlap.  This region is called the "</a:t>
            </a:r>
            <a:r>
              <a:rPr lang="en-US" sz="12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intersection</a:t>
            </a:r>
            <a:r>
              <a:rPr lang="en-US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" of the two sets.</a:t>
            </a:r>
            <a:br>
              <a:rPr lang="en-US" sz="12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0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(Intersection, is only where the two sets intersect, </a:t>
            </a:r>
            <a:r>
              <a:rPr lang="en-US" sz="10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or overlap</a:t>
            </a:r>
            <a:r>
              <a:rPr lang="en-US" sz="10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.)</a:t>
            </a:r>
            <a:r>
              <a:rPr lang="en-US" sz="1000" dirty="0" smtClean="0">
                <a:latin typeface="Arial" pitchFamily="34" charset="0"/>
                <a:cs typeface="Arial" pitchFamily="34" charset="0"/>
              </a:rPr>
              <a:t> </a:t>
            </a:r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555776" y="3212976"/>
            <a:ext cx="1944216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Venn </a:t>
            </a:r>
            <a:r>
              <a:rPr lang="en-AU" sz="2800" dirty="0" smtClean="0"/>
              <a:t>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set notation </a:t>
            </a:r>
            <a:r>
              <a:rPr lang="en-AU" sz="2400" dirty="0" smtClean="0"/>
              <a:t>we use </a:t>
            </a:r>
            <a:r>
              <a:rPr lang="en-AU" sz="2400" dirty="0" smtClean="0"/>
              <a:t>with </a:t>
            </a:r>
            <a:r>
              <a:rPr lang="en-AU" sz="2400" dirty="0" smtClean="0"/>
              <a:t>Venn</a:t>
            </a:r>
            <a:r>
              <a:rPr lang="en-AU" sz="2400" dirty="0" smtClean="0"/>
              <a:t> </a:t>
            </a:r>
            <a:r>
              <a:rPr lang="en-AU" sz="2400" dirty="0" smtClean="0"/>
              <a:t>Diagrams?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What is set notation?</a:t>
            </a:r>
            <a:endParaRPr lang="en-AU" sz="1600" dirty="0"/>
          </a:p>
        </p:txBody>
      </p:sp>
      <p:pic>
        <p:nvPicPr>
          <p:cNvPr id="2050" name="Picture 2" descr="http://www.regentsprep.org/regents/math/algebra/AP2/LVenn.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2492896"/>
            <a:ext cx="371475" cy="161926"/>
          </a:xfrm>
          <a:prstGeom prst="rect">
            <a:avLst/>
          </a:prstGeom>
          <a:noFill/>
        </p:spPr>
      </p:pic>
      <p:pic>
        <p:nvPicPr>
          <p:cNvPr id="2051" name="Picture 3" descr="http://www.regentsprep.org/regents/math/algebra/AP2/LVenn.2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55776" y="2708920"/>
            <a:ext cx="2857500" cy="200025"/>
          </a:xfrm>
          <a:prstGeom prst="rect">
            <a:avLst/>
          </a:prstGeom>
          <a:noFill/>
        </p:spPr>
      </p:pic>
      <p:pic>
        <p:nvPicPr>
          <p:cNvPr id="2052" name="Picture 4" descr="http://www.regentsprep.org/regents/math/algebra/AP2/LVenn.3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07904" y="2924944"/>
            <a:ext cx="381000" cy="161925"/>
          </a:xfrm>
          <a:prstGeom prst="rect">
            <a:avLst/>
          </a:prstGeom>
          <a:noFill/>
        </p:spPr>
      </p:pic>
      <p:sp>
        <p:nvSpPr>
          <p:cNvPr id="17" name="Rectangle 16"/>
          <p:cNvSpPr/>
          <p:nvPr/>
        </p:nvSpPr>
        <p:spPr>
          <a:xfrm>
            <a:off x="2483768" y="1988840"/>
            <a:ext cx="532859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Let set </a:t>
            </a:r>
            <a:r>
              <a:rPr lang="en-US" sz="14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 be the numbers 3, 6, 9.</a:t>
            </a:r>
            <a:b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i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 = {3, 6, 9} </a:t>
            </a:r>
            <a: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(in roster notation)</a:t>
            </a: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2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2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4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(5 is not in set A)</a:t>
            </a:r>
            <a:r>
              <a:rPr lang="en-US" sz="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1400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6" name="Picture 2" descr="http://www.regentsprep.org/regents/math/algebra/AP2/UniversalSet2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55776" y="3356992"/>
            <a:ext cx="1924050" cy="1181101"/>
          </a:xfrm>
          <a:prstGeom prst="rect">
            <a:avLst/>
          </a:prstGeom>
          <a:noFill/>
        </p:spPr>
      </p:pic>
      <p:pic>
        <p:nvPicPr>
          <p:cNvPr id="26628" name="Picture 4" descr="http://www.regentsprep.org/regents/math/algebra/AP2/LVenn.4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519025" y="-334963"/>
            <a:ext cx="514350" cy="219075"/>
          </a:xfrm>
          <a:prstGeom prst="rect">
            <a:avLst/>
          </a:prstGeom>
          <a:noFill/>
        </p:spPr>
      </p:pic>
      <p:sp>
        <p:nvSpPr>
          <p:cNvPr id="20" name="Rectangle 19"/>
          <p:cNvSpPr/>
          <p:nvPr/>
        </p:nvSpPr>
        <p:spPr>
          <a:xfrm>
            <a:off x="4716016" y="3140968"/>
            <a:ext cx="410445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Venn diagram at the left shows two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sets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sz="1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 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that overlap.  The universal set is </a:t>
            </a:r>
            <a:r>
              <a:rPr lang="en-US" sz="1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  Values that belong to both set </a:t>
            </a:r>
            <a:r>
              <a:rPr lang="en-US" sz="1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 set </a:t>
            </a:r>
            <a:r>
              <a:rPr lang="en-US" sz="1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are located in the center region labeled</a:t>
            </a:r>
            <a:r>
              <a:rPr lang="en-US" sz="1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where the circles overlap.  This region is called the "</a:t>
            </a:r>
            <a:r>
              <a:rPr lang="en-US" sz="1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intersection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" of the two sets.</a:t>
            </a:r>
            <a:b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(Intersection, is only where the two sets intersect, </a:t>
            </a:r>
            <a:r>
              <a:rPr lang="en-US" sz="14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or overlap</a:t>
            </a:r>
            <a:r>
              <a:rPr lang="en-US" sz="14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.)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</a:t>
            </a:r>
            <a:endParaRPr lang="en-AU" sz="1400" dirty="0"/>
          </a:p>
        </p:txBody>
      </p:sp>
      <p:pic>
        <p:nvPicPr>
          <p:cNvPr id="27650" name="Picture 2" descr="http://www.regentsprep.org/regents/math/algebra/AP2/LVenn.5.gi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779912" y="4941168"/>
            <a:ext cx="514350" cy="219075"/>
          </a:xfrm>
          <a:prstGeom prst="rect">
            <a:avLst/>
          </a:prstGeom>
          <a:noFill/>
        </p:spPr>
      </p:pic>
      <p:sp>
        <p:nvSpPr>
          <p:cNvPr id="23" name="Rectangle 22"/>
          <p:cNvSpPr/>
          <p:nvPr/>
        </p:nvSpPr>
        <p:spPr>
          <a:xfrm>
            <a:off x="2771800" y="4865440"/>
            <a:ext cx="6120680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notation </a:t>
            </a:r>
            <a:r>
              <a:rPr lang="en-US" sz="1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3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3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represents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entire region covered by both sets </a:t>
            </a:r>
            <a:r>
              <a:rPr lang="en-US" sz="16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sz="16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(and the section where they overlap).  This region is called the "</a:t>
            </a:r>
            <a:r>
              <a:rPr lang="en-US" sz="1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union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" of the two sets.</a:t>
            </a:r>
            <a:b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AU" dirty="0"/>
          </a:p>
        </p:txBody>
      </p:sp>
      <p:sp>
        <p:nvSpPr>
          <p:cNvPr id="24" name="Rectangle 23"/>
          <p:cNvSpPr/>
          <p:nvPr/>
        </p:nvSpPr>
        <p:spPr>
          <a:xfrm>
            <a:off x="4788024" y="5445224"/>
            <a:ext cx="35489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(Union, like marriage, brings all of both sets together.)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483768" y="1988840"/>
            <a:ext cx="1944216" cy="15121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Venn </a:t>
            </a:r>
            <a:r>
              <a:rPr lang="en-AU" sz="2800" dirty="0" smtClean="0"/>
              <a:t>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set notation </a:t>
            </a:r>
            <a:r>
              <a:rPr lang="en-AU" sz="2400" dirty="0" smtClean="0"/>
              <a:t>we use </a:t>
            </a:r>
            <a:r>
              <a:rPr lang="en-AU" sz="2400" dirty="0" smtClean="0"/>
              <a:t>with </a:t>
            </a:r>
            <a:r>
              <a:rPr lang="en-AU" sz="2400" dirty="0" smtClean="0"/>
              <a:t>Venn</a:t>
            </a:r>
            <a:r>
              <a:rPr lang="en-AU" sz="2400" dirty="0" smtClean="0"/>
              <a:t> </a:t>
            </a:r>
            <a:r>
              <a:rPr lang="en-AU" sz="2400" dirty="0" smtClean="0"/>
              <a:t>Diagrams?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What is set notation?</a:t>
            </a:r>
            <a:endParaRPr lang="en-AU" sz="1600" dirty="0"/>
          </a:p>
        </p:txBody>
      </p:sp>
      <p:pic>
        <p:nvPicPr>
          <p:cNvPr id="26626" name="Picture 2" descr="http://www.regentsprep.org/regents/math/algebra/AP2/UniversalSet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2132856"/>
            <a:ext cx="1924050" cy="1181101"/>
          </a:xfrm>
          <a:prstGeom prst="rect">
            <a:avLst/>
          </a:prstGeom>
          <a:noFill/>
        </p:spPr>
      </p:pic>
      <p:pic>
        <p:nvPicPr>
          <p:cNvPr id="26628" name="Picture 4" descr="http://www.regentsprep.org/regents/math/algebra/AP2/LVenn.4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19025" y="-334963"/>
            <a:ext cx="514350" cy="219075"/>
          </a:xfrm>
          <a:prstGeom prst="rect">
            <a:avLst/>
          </a:prstGeom>
          <a:noFill/>
        </p:spPr>
      </p:pic>
      <p:sp>
        <p:nvSpPr>
          <p:cNvPr id="20" name="Rectangle 19"/>
          <p:cNvSpPr/>
          <p:nvPr/>
        </p:nvSpPr>
        <p:spPr>
          <a:xfrm>
            <a:off x="4644008" y="2060848"/>
            <a:ext cx="410445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Venn diagram at the left shows two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sets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sz="1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 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that overlap.  The universal set is </a:t>
            </a:r>
            <a:r>
              <a:rPr lang="en-US" sz="1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  Values that belong to both set </a:t>
            </a:r>
            <a:r>
              <a:rPr lang="en-US" sz="1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 set </a:t>
            </a:r>
            <a:r>
              <a:rPr lang="en-US" sz="1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are located in the center region labeled</a:t>
            </a:r>
            <a:r>
              <a:rPr lang="en-US" sz="1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where the circles overlap.  This region is called the "</a:t>
            </a:r>
            <a:r>
              <a:rPr lang="en-US" sz="1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intersection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" of the two sets.</a:t>
            </a:r>
            <a:b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(Intersection, is only where the two sets intersect, </a:t>
            </a:r>
            <a:r>
              <a:rPr lang="en-US" sz="14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or overlap</a:t>
            </a:r>
            <a:r>
              <a:rPr lang="en-US" sz="14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.)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</a:t>
            </a:r>
            <a:endParaRPr lang="en-AU" sz="1400" dirty="0"/>
          </a:p>
        </p:txBody>
      </p:sp>
      <p:pic>
        <p:nvPicPr>
          <p:cNvPr id="27650" name="Picture 2" descr="http://www.regentsprep.org/regents/math/algebra/AP2/LVenn.5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35896" y="3933056"/>
            <a:ext cx="514350" cy="219075"/>
          </a:xfrm>
          <a:prstGeom prst="rect">
            <a:avLst/>
          </a:prstGeom>
          <a:noFill/>
        </p:spPr>
      </p:pic>
      <p:sp>
        <p:nvSpPr>
          <p:cNvPr id="23" name="Rectangle 22"/>
          <p:cNvSpPr/>
          <p:nvPr/>
        </p:nvSpPr>
        <p:spPr>
          <a:xfrm>
            <a:off x="2555776" y="3861048"/>
            <a:ext cx="61206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notation </a:t>
            </a:r>
            <a:r>
              <a:rPr lang="en-US" sz="1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represents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entire region covered by both sets </a:t>
            </a:r>
            <a:r>
              <a:rPr lang="en-US" sz="1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sz="14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(and the section where they overlap).  This region is called the "</a:t>
            </a:r>
            <a:r>
              <a:rPr lang="en-US" sz="1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union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" of the two sets.</a:t>
            </a:r>
            <a:b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AU" sz="1400" dirty="0"/>
          </a:p>
        </p:txBody>
      </p:sp>
      <p:sp>
        <p:nvSpPr>
          <p:cNvPr id="24" name="Rectangle 23"/>
          <p:cNvSpPr/>
          <p:nvPr/>
        </p:nvSpPr>
        <p:spPr>
          <a:xfrm>
            <a:off x="4427984" y="4293096"/>
            <a:ext cx="35489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(Union, like marriage, brings all of both sets together.)</a:t>
            </a:r>
            <a:endParaRPr lang="en-AU" sz="1200" dirty="0"/>
          </a:p>
        </p:txBody>
      </p:sp>
      <p:pic>
        <p:nvPicPr>
          <p:cNvPr id="28674" name="Picture 2" descr="http://www.regentsprep.org/regents/math/algebra/AP2/LVenn.13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5013176"/>
            <a:ext cx="857250" cy="314325"/>
          </a:xfrm>
          <a:prstGeom prst="rect">
            <a:avLst/>
          </a:prstGeom>
          <a:noFill/>
        </p:spPr>
      </p:pic>
      <p:sp>
        <p:nvSpPr>
          <p:cNvPr id="25" name="Rectangle 24"/>
          <p:cNvSpPr/>
          <p:nvPr/>
        </p:nvSpPr>
        <p:spPr>
          <a:xfrm>
            <a:off x="2627784" y="4725144"/>
            <a:ext cx="6264696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If we cut out sets </a:t>
            </a:r>
            <a:r>
              <a:rPr lang="en-US" sz="16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sz="16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 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from the picture above, the remaining region in </a:t>
            </a:r>
            <a:r>
              <a:rPr lang="en-US" sz="16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the universal set, is labeled ,   </a:t>
            </a:r>
            <a:r>
              <a:rPr lang="en-US" sz="19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9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is called the </a:t>
            </a:r>
            <a:r>
              <a:rPr lang="en-US" sz="14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complement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of the union of sets </a:t>
            </a:r>
            <a:r>
              <a:rPr lang="en-US" sz="16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sz="1600" b="1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complement of a set is all of the elements (in the universe) that are NOT in the set.</a:t>
            </a:r>
            <a:r>
              <a:rPr lang="en-US" sz="6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Venn </a:t>
            </a:r>
            <a:r>
              <a:rPr lang="en-AU" sz="2800" dirty="0" smtClean="0"/>
              <a:t>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is set notation </a:t>
            </a:r>
            <a:r>
              <a:rPr lang="en-AU" sz="2400" dirty="0" smtClean="0"/>
              <a:t>we use </a:t>
            </a:r>
            <a:r>
              <a:rPr lang="en-AU" sz="2400" dirty="0" smtClean="0"/>
              <a:t>with </a:t>
            </a:r>
            <a:r>
              <a:rPr lang="en-AU" sz="2400" dirty="0" smtClean="0"/>
              <a:t>Venn</a:t>
            </a:r>
            <a:r>
              <a:rPr lang="en-AU" sz="2400" dirty="0" smtClean="0"/>
              <a:t> </a:t>
            </a:r>
            <a:r>
              <a:rPr lang="en-AU" sz="2400" dirty="0" smtClean="0"/>
              <a:t>Diagrams?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What is set notation?</a:t>
            </a:r>
            <a:endParaRPr lang="en-AU" sz="1600" dirty="0"/>
          </a:p>
        </p:txBody>
      </p:sp>
      <p:pic>
        <p:nvPicPr>
          <p:cNvPr id="26628" name="Picture 4" descr="http://www.regentsprep.org/regents/math/algebra/AP2/LVenn.4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19025" y="-334963"/>
            <a:ext cx="514350" cy="219075"/>
          </a:xfrm>
          <a:prstGeom prst="rect">
            <a:avLst/>
          </a:prstGeom>
          <a:noFill/>
        </p:spPr>
      </p:pic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808" y="1988840"/>
            <a:ext cx="5610225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124743"/>
            <a:ext cx="7704856" cy="5686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79512" y="112474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1.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179512" y="278092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980729"/>
            <a:ext cx="4248472" cy="2301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23528" y="10527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1.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251520" y="335699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2.</a:t>
            </a:r>
            <a:endParaRPr lang="en-AU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3356992"/>
            <a:ext cx="3389274" cy="3501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333</Words>
  <Application>Microsoft Office PowerPoint</Application>
  <PresentationFormat>On-screen Show (4:3)</PresentationFormat>
  <Paragraphs>111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Probability Interactive Notebook</vt:lpstr>
      <vt:lpstr>Create your own front page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Task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97</cp:revision>
  <dcterms:created xsi:type="dcterms:W3CDTF">2014-05-14T02:58:57Z</dcterms:created>
  <dcterms:modified xsi:type="dcterms:W3CDTF">2015-06-21T11:32:56Z</dcterms:modified>
</cp:coreProperties>
</file>
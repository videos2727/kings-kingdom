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0" r:id="rId2"/>
    <p:sldId id="304" r:id="rId3"/>
    <p:sldId id="259" r:id="rId4"/>
    <p:sldId id="258" r:id="rId5"/>
    <p:sldId id="320" r:id="rId6"/>
    <p:sldId id="338" r:id="rId7"/>
    <p:sldId id="339" r:id="rId8"/>
    <p:sldId id="340" r:id="rId9"/>
    <p:sldId id="341" r:id="rId10"/>
    <p:sldId id="342" r:id="rId11"/>
    <p:sldId id="343" r:id="rId12"/>
    <p:sldId id="313" r:id="rId13"/>
    <p:sldId id="292" r:id="rId14"/>
    <p:sldId id="291"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FF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2895" autoAdjust="0"/>
  </p:normalViewPr>
  <p:slideViewPr>
    <p:cSldViewPr>
      <p:cViewPr varScale="1">
        <p:scale>
          <a:sx n="108" d="100"/>
          <a:sy n="108" d="100"/>
        </p:scale>
        <p:origin x="-1704" y="-8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pPr/>
              <a:t>21/06/2015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pPr/>
              <a:t>‹#›</a:t>
            </a:fld>
            <a:endParaRPr lang="en-AU"/>
          </a:p>
        </p:txBody>
      </p:sp>
    </p:spTree>
    <p:extLst>
      <p:ext uri="{BB962C8B-B14F-4D97-AF65-F5344CB8AC3E}">
        <p14:creationId xmlns:p14="http://schemas.microsoft.com/office/powerpoint/2010/main" xmlns=""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5"/>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2"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1" y="273052"/>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21/06/2015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pPr/>
              <a:t>21/06/2015</a:t>
            </a:fld>
            <a:endParaRPr lang="en-AU" dirty="0"/>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pPr/>
              <a:t>‹#›</a:t>
            </a:fld>
            <a:endParaRPr lang="en-AU" dirty="0"/>
          </a:p>
        </p:txBody>
      </p:sp>
    </p:spTree>
    <p:extLst>
      <p:ext uri="{BB962C8B-B14F-4D97-AF65-F5344CB8AC3E}">
        <p14:creationId xmlns:p14="http://schemas.microsoft.com/office/powerpoint/2010/main" xmlns=""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wyzant.com/resources/lessons/math/statistics_and_probability/probability"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www.wyzant.com/resources/lessons/math/statistics_and_probability/probability"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www.wyzant.com/resources/lessons/math/statistics_and_probability/probability"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e4047095\AppData\Local\Microsoft\Windows\Temporary Internet Files\Content.IE5\4I30O3QX\euro_coins[1].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5" y="260648"/>
            <a:ext cx="1919259" cy="1830630"/>
          </a:xfrm>
          <a:prstGeom prst="rect">
            <a:avLst/>
          </a:prstGeom>
          <a:noFill/>
          <a:extLst>
            <a:ext uri="{909E8E84-426E-40DD-AFC4-6F175D3DCCD1}">
              <a14:hiddenFill xmlns:a14="http://schemas.microsoft.com/office/drawing/2010/main" xmlns="">
                <a:solidFill>
                  <a:srgbClr val="FFFFFF"/>
                </a:solidFill>
              </a14:hiddenFill>
            </a:ext>
          </a:extLst>
        </p:spPr>
      </p:pic>
      <p:sp>
        <p:nvSpPr>
          <p:cNvPr id="2" name="Title 1"/>
          <p:cNvSpPr>
            <a:spLocks noGrp="1"/>
          </p:cNvSpPr>
          <p:nvPr>
            <p:ph type="ctrTitle"/>
          </p:nvPr>
        </p:nvSpPr>
        <p:spPr>
          <a:xfrm>
            <a:off x="611560" y="332658"/>
            <a:ext cx="7772400" cy="1470025"/>
          </a:xfrm>
        </p:spPr>
        <p:txBody>
          <a:bodyPr/>
          <a:lstStyle/>
          <a:p>
            <a:r>
              <a:rPr lang="en-AU" dirty="0" smtClean="0"/>
              <a:t>My Probability</a:t>
            </a:r>
            <a:br>
              <a:rPr lang="en-AU" dirty="0" smtClean="0"/>
            </a:br>
            <a:r>
              <a:rPr lang="en-AU" dirty="0" smtClean="0"/>
              <a:t>Interactive Notebook</a:t>
            </a:r>
            <a:endParaRPr lang="en-AU" dirty="0"/>
          </a:p>
        </p:txBody>
      </p:sp>
      <p:sp>
        <p:nvSpPr>
          <p:cNvPr id="3" name="Subtitle 2"/>
          <p:cNvSpPr>
            <a:spLocks noGrp="1"/>
          </p:cNvSpPr>
          <p:nvPr>
            <p:ph type="subTitle" idx="1"/>
          </p:nvPr>
        </p:nvSpPr>
        <p:spPr>
          <a:xfrm>
            <a:off x="683568" y="4509120"/>
            <a:ext cx="6400800" cy="1752600"/>
          </a:xfrm>
        </p:spPr>
        <p:txBody>
          <a:bodyPr>
            <a:normAutofit fontScale="85000" lnSpcReduction="20000"/>
          </a:bodyPr>
          <a:lstStyle/>
          <a:p>
            <a:pPr algn="l"/>
            <a:r>
              <a:rPr lang="en-AU" dirty="0" smtClean="0"/>
              <a:t>Name </a:t>
            </a:r>
          </a:p>
          <a:p>
            <a:pPr algn="l"/>
            <a:r>
              <a:rPr lang="en-AU" dirty="0" smtClean="0"/>
              <a:t>Class </a:t>
            </a:r>
          </a:p>
          <a:p>
            <a:pPr algn="l"/>
            <a:r>
              <a:rPr lang="en-AU" dirty="0" smtClean="0"/>
              <a:t>Teacher Mr Evans</a:t>
            </a:r>
          </a:p>
          <a:p>
            <a:pPr algn="l"/>
            <a:r>
              <a:rPr lang="en-AU" dirty="0" smtClean="0"/>
              <a:t>Term 2 Semester 1</a:t>
            </a:r>
          </a:p>
        </p:txBody>
      </p:sp>
      <p:sp>
        <p:nvSpPr>
          <p:cNvPr id="13" name="TextBox 12"/>
          <p:cNvSpPr txBox="1"/>
          <p:nvPr/>
        </p:nvSpPr>
        <p:spPr>
          <a:xfrm>
            <a:off x="8748467" y="6488668"/>
            <a:ext cx="549775" cy="369332"/>
          </a:xfrm>
          <a:prstGeom prst="rect">
            <a:avLst/>
          </a:prstGeom>
          <a:noFill/>
        </p:spPr>
        <p:txBody>
          <a:bodyPr wrap="square" rtlCol="0">
            <a:spAutoFit/>
          </a:bodyPr>
          <a:lstStyle/>
          <a:p>
            <a:r>
              <a:rPr lang="en-AU" dirty="0"/>
              <a:t>1</a:t>
            </a:r>
          </a:p>
        </p:txBody>
      </p:sp>
      <p:pic>
        <p:nvPicPr>
          <p:cNvPr id="1026" name="Picture 2" descr="C:\Users\e4047095\AppData\Local\Microsoft\Windows\Temporary Internet Files\Content.IE5\4I30O3QX\373269258_560c1d534d_z[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452440" y="1844824"/>
            <a:ext cx="2438400" cy="2438400"/>
          </a:xfrm>
          <a:prstGeom prst="rect">
            <a:avLst/>
          </a:prstGeom>
          <a:noFill/>
          <a:extLst>
            <a:ext uri="{909E8E84-426E-40DD-AFC4-6F175D3DCCD1}">
              <a14:hiddenFill xmlns:a14="http://schemas.microsoft.com/office/drawing/2010/main" xmlns="">
                <a:solidFill>
                  <a:srgbClr val="FFFFFF"/>
                </a:solidFill>
              </a14:hiddenFill>
            </a:ext>
          </a:extLst>
        </p:spPr>
      </p:pic>
      <p:pic>
        <p:nvPicPr>
          <p:cNvPr id="1029" name="Picture 5" descr="C:\Users\e4047095\AppData\Local\Microsoft\Windows\Temporary Internet Files\Content.IE5\4I30O3QX\Playing_Cards[1].jp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436096" y="3079119"/>
            <a:ext cx="3199160" cy="272528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12506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smtClean="0"/>
              <a:t>Create your own front page</a:t>
            </a:r>
            <a:endParaRPr lang="en-AU" dirty="0"/>
          </a:p>
        </p:txBody>
      </p:sp>
      <p:sp>
        <p:nvSpPr>
          <p:cNvPr id="4" name="Content Placeholder 3"/>
          <p:cNvSpPr>
            <a:spLocks noGrp="1"/>
          </p:cNvSpPr>
          <p:nvPr>
            <p:ph idx="1"/>
          </p:nvPr>
        </p:nvSpPr>
        <p:spPr/>
        <p:txBody>
          <a:bodyPr>
            <a:normAutofit/>
          </a:bodyPr>
          <a:lstStyle/>
          <a:p>
            <a:pPr marL="0" indent="0">
              <a:buNone/>
            </a:pPr>
            <a:r>
              <a:rPr lang="en-AU" dirty="0" smtClean="0"/>
              <a:t>It needs to contain the following –</a:t>
            </a:r>
          </a:p>
          <a:p>
            <a:pPr>
              <a:buFontTx/>
              <a:buChar char="-"/>
            </a:pPr>
            <a:r>
              <a:rPr lang="en-AU" dirty="0" smtClean="0"/>
              <a:t>My number interactive notebook</a:t>
            </a:r>
          </a:p>
          <a:p>
            <a:pPr>
              <a:buFontTx/>
              <a:buChar char="-"/>
            </a:pPr>
            <a:r>
              <a:rPr lang="en-AU" dirty="0" smtClean="0"/>
              <a:t>Name </a:t>
            </a:r>
          </a:p>
          <a:p>
            <a:pPr>
              <a:buFontTx/>
              <a:buChar char="-"/>
            </a:pPr>
            <a:r>
              <a:rPr lang="en-AU" dirty="0" smtClean="0"/>
              <a:t>Class</a:t>
            </a:r>
          </a:p>
          <a:p>
            <a:pPr>
              <a:buFontTx/>
              <a:buChar char="-"/>
            </a:pPr>
            <a:r>
              <a:rPr lang="en-AU" dirty="0" smtClean="0"/>
              <a:t>Teachers Name</a:t>
            </a:r>
          </a:p>
          <a:p>
            <a:pPr>
              <a:buFontTx/>
              <a:buChar char="-"/>
            </a:pPr>
            <a:r>
              <a:rPr lang="en-AU" dirty="0" smtClean="0"/>
              <a:t>Semester 1 Term 1</a:t>
            </a:r>
          </a:p>
          <a:p>
            <a:pPr>
              <a:buFontTx/>
              <a:buChar char="-"/>
            </a:pPr>
            <a:r>
              <a:rPr lang="en-AU" dirty="0" smtClean="0"/>
              <a:t>Page number 1</a:t>
            </a:r>
            <a:endParaRPr lang="en-AU" dirty="0"/>
          </a:p>
        </p:txBody>
      </p:sp>
    </p:spTree>
    <p:extLst>
      <p:ext uri="{BB962C8B-B14F-4D97-AF65-F5344CB8AC3E}">
        <p14:creationId xmlns:p14="http://schemas.microsoft.com/office/powerpoint/2010/main" xmlns="" val="828699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1"/>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sp>
        <p:nvSpPr>
          <p:cNvPr id="7" name="TextBox 6"/>
          <p:cNvSpPr txBox="1"/>
          <p:nvPr/>
        </p:nvSpPr>
        <p:spPr>
          <a:xfrm>
            <a:off x="8748467" y="6488668"/>
            <a:ext cx="549775" cy="369332"/>
          </a:xfrm>
          <a:prstGeom prst="rect">
            <a:avLst/>
          </a:prstGeom>
          <a:noFill/>
        </p:spPr>
        <p:txBody>
          <a:bodyPr wrap="square" rtlCol="0">
            <a:spAutoFit/>
          </a:bodyPr>
          <a:lstStyle/>
          <a:p>
            <a:r>
              <a:rPr lang="en-AU" dirty="0" smtClean="0"/>
              <a:t>3</a:t>
            </a:r>
            <a:endParaRPr lang="en-AU" dirty="0"/>
          </a:p>
        </p:txBody>
      </p:sp>
      <p:cxnSp>
        <p:nvCxnSpPr>
          <p:cNvPr id="9" name="Straight Connector 8"/>
          <p:cNvCxnSpPr/>
          <p:nvPr/>
        </p:nvCxnSpPr>
        <p:spPr>
          <a:xfrm>
            <a:off x="-143836"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6"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1"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7"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9"/>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6"/>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p14="http://schemas.microsoft.com/office/powerpoint/2010/main" xmlns="" val="15154573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1"/>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6"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3"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3"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91" y="5373216"/>
            <a:ext cx="4726151"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3"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90" y="601550"/>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3" y="1196753"/>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1" y="1196754"/>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8"/>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9"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p14="http://schemas.microsoft.com/office/powerpoint/2010/main" xmlns="" val="22165325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7"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3"/>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411760"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433410" cy="523220"/>
          </a:xfrm>
          <a:prstGeom prst="rect">
            <a:avLst/>
          </a:prstGeom>
          <a:noFill/>
        </p:spPr>
        <p:txBody>
          <a:bodyPr wrap="none" rtlCol="0">
            <a:spAutoFit/>
          </a:bodyPr>
          <a:lstStyle/>
          <a:p>
            <a:r>
              <a:rPr lang="en-AU" sz="2800" dirty="0" smtClean="0"/>
              <a:t>Dependent and Independent Events</a:t>
            </a:r>
            <a:endParaRPr lang="en-AU" sz="2800" dirty="0"/>
          </a:p>
        </p:txBody>
      </p:sp>
      <p:sp>
        <p:nvSpPr>
          <p:cNvPr id="11" name="TextBox 10"/>
          <p:cNvSpPr txBox="1"/>
          <p:nvPr/>
        </p:nvSpPr>
        <p:spPr>
          <a:xfrm>
            <a:off x="7439175" y="106356"/>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3" y="1078504"/>
            <a:ext cx="8620423" cy="461665"/>
          </a:xfrm>
          <a:prstGeom prst="rect">
            <a:avLst/>
          </a:prstGeom>
          <a:noFill/>
        </p:spPr>
        <p:txBody>
          <a:bodyPr wrap="square" rtlCol="0">
            <a:spAutoFit/>
          </a:bodyPr>
          <a:lstStyle/>
          <a:p>
            <a:r>
              <a:rPr lang="en-AU" sz="2400" dirty="0" smtClean="0"/>
              <a:t>EQ – What </a:t>
            </a:r>
            <a:r>
              <a:rPr lang="en-AU" sz="2400" dirty="0" smtClean="0"/>
              <a:t>are dependent and independent events</a:t>
            </a:r>
            <a:r>
              <a:rPr lang="en-AU" sz="2400" dirty="0" smtClean="0"/>
              <a:t>? </a:t>
            </a:r>
            <a:endParaRPr lang="en-AU" sz="2400" dirty="0"/>
          </a:p>
        </p:txBody>
      </p:sp>
      <p:sp>
        <p:nvSpPr>
          <p:cNvPr id="14" name="TextBox 13"/>
          <p:cNvSpPr txBox="1"/>
          <p:nvPr/>
        </p:nvSpPr>
        <p:spPr>
          <a:xfrm>
            <a:off x="2483768" y="1916832"/>
            <a:ext cx="6336704" cy="1077218"/>
          </a:xfrm>
          <a:prstGeom prst="rect">
            <a:avLst/>
          </a:prstGeom>
          <a:noFill/>
        </p:spPr>
        <p:txBody>
          <a:bodyPr wrap="square" rtlCol="0">
            <a:spAutoFit/>
          </a:bodyPr>
          <a:lstStyle/>
          <a:p>
            <a:r>
              <a:rPr lang="en-AU" sz="1600" dirty="0" smtClean="0"/>
              <a:t>The study of </a:t>
            </a:r>
            <a:r>
              <a:rPr lang="en-AU" sz="1600" dirty="0" smtClean="0">
                <a:hlinkClick r:id="rId2" tooltip="Probability Help"/>
              </a:rPr>
              <a:t>probability</a:t>
            </a:r>
            <a:r>
              <a:rPr lang="en-AU" sz="1600" dirty="0" smtClean="0"/>
              <a:t> mostly deals with combining different events and studying these events alongside each other. How these different events relate to each other determines the methods and rules to follow when we're studying their probabilities.</a:t>
            </a:r>
            <a:endParaRPr lang="en-AU" sz="1600" dirty="0"/>
          </a:p>
        </p:txBody>
      </p:sp>
    </p:spTree>
    <p:extLst>
      <p:ext uri="{BB962C8B-B14F-4D97-AF65-F5344CB8AC3E}">
        <p14:creationId xmlns:p14="http://schemas.microsoft.com/office/powerpoint/2010/main" xmlns="" val="16709025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7"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3"/>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411760"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433410" cy="523220"/>
          </a:xfrm>
          <a:prstGeom prst="rect">
            <a:avLst/>
          </a:prstGeom>
          <a:noFill/>
        </p:spPr>
        <p:txBody>
          <a:bodyPr wrap="none" rtlCol="0">
            <a:spAutoFit/>
          </a:bodyPr>
          <a:lstStyle/>
          <a:p>
            <a:r>
              <a:rPr lang="en-AU" sz="2800" dirty="0" smtClean="0"/>
              <a:t>Dependent and Independent Events</a:t>
            </a:r>
            <a:endParaRPr lang="en-AU" sz="2800" dirty="0"/>
          </a:p>
        </p:txBody>
      </p:sp>
      <p:sp>
        <p:nvSpPr>
          <p:cNvPr id="11" name="TextBox 10"/>
          <p:cNvSpPr txBox="1"/>
          <p:nvPr/>
        </p:nvSpPr>
        <p:spPr>
          <a:xfrm>
            <a:off x="7439175" y="106356"/>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3" y="1078504"/>
            <a:ext cx="8620423" cy="461665"/>
          </a:xfrm>
          <a:prstGeom prst="rect">
            <a:avLst/>
          </a:prstGeom>
          <a:noFill/>
        </p:spPr>
        <p:txBody>
          <a:bodyPr wrap="square" rtlCol="0">
            <a:spAutoFit/>
          </a:bodyPr>
          <a:lstStyle/>
          <a:p>
            <a:r>
              <a:rPr lang="en-AU" sz="2400" dirty="0" smtClean="0"/>
              <a:t>EQ – What </a:t>
            </a:r>
            <a:r>
              <a:rPr lang="en-AU" sz="2400" dirty="0" smtClean="0"/>
              <a:t>are dependent and independent events</a:t>
            </a:r>
            <a:r>
              <a:rPr lang="en-AU" sz="2400" dirty="0" smtClean="0"/>
              <a:t>? </a:t>
            </a:r>
            <a:endParaRPr lang="en-AU" sz="2400" dirty="0"/>
          </a:p>
        </p:txBody>
      </p:sp>
      <p:sp>
        <p:nvSpPr>
          <p:cNvPr id="14" name="TextBox 13"/>
          <p:cNvSpPr txBox="1"/>
          <p:nvPr/>
        </p:nvSpPr>
        <p:spPr>
          <a:xfrm>
            <a:off x="2483768" y="1916832"/>
            <a:ext cx="6336704" cy="1077218"/>
          </a:xfrm>
          <a:prstGeom prst="rect">
            <a:avLst/>
          </a:prstGeom>
          <a:noFill/>
        </p:spPr>
        <p:txBody>
          <a:bodyPr wrap="square" rtlCol="0">
            <a:spAutoFit/>
          </a:bodyPr>
          <a:lstStyle/>
          <a:p>
            <a:r>
              <a:rPr lang="en-AU" sz="1600" dirty="0" smtClean="0"/>
              <a:t>The study of </a:t>
            </a:r>
            <a:r>
              <a:rPr lang="en-AU" sz="1600" dirty="0" smtClean="0">
                <a:hlinkClick r:id="rId2" tooltip="Probability Help"/>
              </a:rPr>
              <a:t>probability</a:t>
            </a:r>
            <a:r>
              <a:rPr lang="en-AU" sz="1600" dirty="0" smtClean="0"/>
              <a:t> mostly deals with combining different events and studying these events alongside each other. How these different events relate to each other determines the methods and rules to follow when we're studying their probabilities.</a:t>
            </a:r>
            <a:endParaRPr lang="en-AU" sz="1600" dirty="0"/>
          </a:p>
        </p:txBody>
      </p:sp>
      <p:sp>
        <p:nvSpPr>
          <p:cNvPr id="15" name="TextBox 14"/>
          <p:cNvSpPr txBox="1"/>
          <p:nvPr/>
        </p:nvSpPr>
        <p:spPr>
          <a:xfrm>
            <a:off x="2483768" y="3068960"/>
            <a:ext cx="6552728" cy="584775"/>
          </a:xfrm>
          <a:prstGeom prst="rect">
            <a:avLst/>
          </a:prstGeom>
          <a:noFill/>
        </p:spPr>
        <p:txBody>
          <a:bodyPr wrap="square" rtlCol="0">
            <a:spAutoFit/>
          </a:bodyPr>
          <a:lstStyle/>
          <a:p>
            <a:r>
              <a:rPr lang="en-AU" sz="1600" dirty="0" smtClean="0"/>
              <a:t>Events can be </a:t>
            </a:r>
            <a:r>
              <a:rPr lang="en-AU" sz="1600" dirty="0" smtClean="0"/>
              <a:t>placed </a:t>
            </a:r>
            <a:r>
              <a:rPr lang="en-AU" sz="1600" dirty="0" smtClean="0"/>
              <a:t>into two major </a:t>
            </a:r>
            <a:r>
              <a:rPr lang="en-AU" sz="1600" dirty="0" smtClean="0"/>
              <a:t>categories, </a:t>
            </a:r>
            <a:r>
              <a:rPr lang="en-AU" sz="1600" dirty="0" smtClean="0"/>
              <a:t>dependent or Independent events.</a:t>
            </a:r>
            <a:endParaRPr lang="en-AU" sz="1600" dirty="0"/>
          </a:p>
        </p:txBody>
      </p:sp>
    </p:spTree>
    <p:extLst>
      <p:ext uri="{BB962C8B-B14F-4D97-AF65-F5344CB8AC3E}">
        <p14:creationId xmlns:p14="http://schemas.microsoft.com/office/powerpoint/2010/main" xmlns="" val="16709025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7"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3"/>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411760"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433410" cy="523220"/>
          </a:xfrm>
          <a:prstGeom prst="rect">
            <a:avLst/>
          </a:prstGeom>
          <a:noFill/>
        </p:spPr>
        <p:txBody>
          <a:bodyPr wrap="none" rtlCol="0">
            <a:spAutoFit/>
          </a:bodyPr>
          <a:lstStyle/>
          <a:p>
            <a:r>
              <a:rPr lang="en-AU" sz="2800" dirty="0" smtClean="0"/>
              <a:t>Dependent and Independent Events</a:t>
            </a:r>
            <a:endParaRPr lang="en-AU" sz="2800" dirty="0"/>
          </a:p>
        </p:txBody>
      </p:sp>
      <p:sp>
        <p:nvSpPr>
          <p:cNvPr id="11" name="TextBox 10"/>
          <p:cNvSpPr txBox="1"/>
          <p:nvPr/>
        </p:nvSpPr>
        <p:spPr>
          <a:xfrm>
            <a:off x="7439175" y="106356"/>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3" y="1078504"/>
            <a:ext cx="8620423" cy="461665"/>
          </a:xfrm>
          <a:prstGeom prst="rect">
            <a:avLst/>
          </a:prstGeom>
          <a:noFill/>
        </p:spPr>
        <p:txBody>
          <a:bodyPr wrap="square" rtlCol="0">
            <a:spAutoFit/>
          </a:bodyPr>
          <a:lstStyle/>
          <a:p>
            <a:r>
              <a:rPr lang="en-AU" sz="2400" dirty="0" smtClean="0"/>
              <a:t>EQ – What </a:t>
            </a:r>
            <a:r>
              <a:rPr lang="en-AU" sz="2400" dirty="0" smtClean="0"/>
              <a:t>are dependent and independent events</a:t>
            </a:r>
            <a:r>
              <a:rPr lang="en-AU" sz="2400" dirty="0" smtClean="0"/>
              <a:t>? </a:t>
            </a:r>
            <a:endParaRPr lang="en-AU" sz="2400" dirty="0"/>
          </a:p>
        </p:txBody>
      </p:sp>
      <p:sp>
        <p:nvSpPr>
          <p:cNvPr id="13" name="TextBox 12"/>
          <p:cNvSpPr txBox="1"/>
          <p:nvPr/>
        </p:nvSpPr>
        <p:spPr>
          <a:xfrm>
            <a:off x="107504" y="3645024"/>
            <a:ext cx="2267744" cy="584775"/>
          </a:xfrm>
          <a:prstGeom prst="rect">
            <a:avLst/>
          </a:prstGeom>
          <a:noFill/>
        </p:spPr>
        <p:txBody>
          <a:bodyPr wrap="square" rtlCol="0">
            <a:spAutoFit/>
          </a:bodyPr>
          <a:lstStyle/>
          <a:p>
            <a:r>
              <a:rPr lang="en-AU" sz="1600" dirty="0" smtClean="0"/>
              <a:t>What is an Independent event</a:t>
            </a:r>
            <a:r>
              <a:rPr lang="en-AU" sz="1600" dirty="0" smtClean="0"/>
              <a:t>?</a:t>
            </a:r>
            <a:endParaRPr lang="en-AU" sz="1600" dirty="0"/>
          </a:p>
        </p:txBody>
      </p:sp>
      <p:sp>
        <p:nvSpPr>
          <p:cNvPr id="14" name="TextBox 13"/>
          <p:cNvSpPr txBox="1"/>
          <p:nvPr/>
        </p:nvSpPr>
        <p:spPr>
          <a:xfrm>
            <a:off x="2483768" y="1916832"/>
            <a:ext cx="6336704" cy="1077218"/>
          </a:xfrm>
          <a:prstGeom prst="rect">
            <a:avLst/>
          </a:prstGeom>
          <a:noFill/>
        </p:spPr>
        <p:txBody>
          <a:bodyPr wrap="square" rtlCol="0">
            <a:spAutoFit/>
          </a:bodyPr>
          <a:lstStyle/>
          <a:p>
            <a:r>
              <a:rPr lang="en-AU" sz="1600" dirty="0" smtClean="0"/>
              <a:t>The study of </a:t>
            </a:r>
            <a:r>
              <a:rPr lang="en-AU" sz="1600" dirty="0" smtClean="0">
                <a:hlinkClick r:id="rId2" tooltip="Probability Help"/>
              </a:rPr>
              <a:t>probability</a:t>
            </a:r>
            <a:r>
              <a:rPr lang="en-AU" sz="1600" dirty="0" smtClean="0"/>
              <a:t> mostly deals with combining different events and studying these events alongside each other. How these different events relate to each other determines the methods and rules to follow when we're studying their probabilities.</a:t>
            </a:r>
            <a:endParaRPr lang="en-AU" sz="1600" dirty="0"/>
          </a:p>
        </p:txBody>
      </p:sp>
      <p:sp>
        <p:nvSpPr>
          <p:cNvPr id="15" name="TextBox 14"/>
          <p:cNvSpPr txBox="1"/>
          <p:nvPr/>
        </p:nvSpPr>
        <p:spPr>
          <a:xfrm>
            <a:off x="2483768" y="3068960"/>
            <a:ext cx="6552728" cy="584775"/>
          </a:xfrm>
          <a:prstGeom prst="rect">
            <a:avLst/>
          </a:prstGeom>
          <a:noFill/>
        </p:spPr>
        <p:txBody>
          <a:bodyPr wrap="square" rtlCol="0">
            <a:spAutoFit/>
          </a:bodyPr>
          <a:lstStyle/>
          <a:p>
            <a:r>
              <a:rPr lang="en-AU" sz="1600" dirty="0" smtClean="0"/>
              <a:t>Events can be </a:t>
            </a:r>
            <a:r>
              <a:rPr lang="en-AU" sz="1600" dirty="0" smtClean="0"/>
              <a:t>placed </a:t>
            </a:r>
            <a:r>
              <a:rPr lang="en-AU" sz="1600" dirty="0" smtClean="0"/>
              <a:t>into two major </a:t>
            </a:r>
            <a:r>
              <a:rPr lang="en-AU" sz="1600" dirty="0" smtClean="0"/>
              <a:t>categories, </a:t>
            </a:r>
            <a:r>
              <a:rPr lang="en-AU" sz="1600" dirty="0" smtClean="0"/>
              <a:t>dependent or Independent events.</a:t>
            </a:r>
            <a:endParaRPr lang="en-AU" sz="1600" dirty="0"/>
          </a:p>
        </p:txBody>
      </p:sp>
      <p:sp>
        <p:nvSpPr>
          <p:cNvPr id="16" name="TextBox 15"/>
          <p:cNvSpPr txBox="1"/>
          <p:nvPr/>
        </p:nvSpPr>
        <p:spPr>
          <a:xfrm>
            <a:off x="2483768" y="3717032"/>
            <a:ext cx="6552728" cy="1815882"/>
          </a:xfrm>
          <a:prstGeom prst="rect">
            <a:avLst/>
          </a:prstGeom>
          <a:noFill/>
        </p:spPr>
        <p:txBody>
          <a:bodyPr wrap="square" rtlCol="0">
            <a:spAutoFit/>
          </a:bodyPr>
          <a:lstStyle/>
          <a:p>
            <a:r>
              <a:rPr lang="en-AU" sz="1600" dirty="0" smtClean="0"/>
              <a:t>Independent Events</a:t>
            </a:r>
          </a:p>
          <a:p>
            <a:r>
              <a:rPr lang="en-AU" sz="1600" dirty="0" smtClean="0"/>
              <a:t>When two events are said to be independent of each other, what this means is that the probability that one event occurs in no way affects the probability of the other event occurring. An example of two independent events is as follows; say you rolled a die and flipped a coin. The probability of getting any number face on the die in no way influences the probability of getting a head or a tail on the coin.</a:t>
            </a:r>
            <a:endParaRPr lang="en-AU" sz="1600" dirty="0"/>
          </a:p>
        </p:txBody>
      </p:sp>
    </p:spTree>
    <p:extLst>
      <p:ext uri="{BB962C8B-B14F-4D97-AF65-F5344CB8AC3E}">
        <p14:creationId xmlns:p14="http://schemas.microsoft.com/office/powerpoint/2010/main" xmlns="" val="16709025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7"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3"/>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411760"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433410" cy="523220"/>
          </a:xfrm>
          <a:prstGeom prst="rect">
            <a:avLst/>
          </a:prstGeom>
          <a:noFill/>
        </p:spPr>
        <p:txBody>
          <a:bodyPr wrap="none" rtlCol="0">
            <a:spAutoFit/>
          </a:bodyPr>
          <a:lstStyle/>
          <a:p>
            <a:r>
              <a:rPr lang="en-AU" sz="2800" dirty="0" smtClean="0"/>
              <a:t>Dependent and Independent Events</a:t>
            </a:r>
            <a:endParaRPr lang="en-AU" sz="2800" dirty="0"/>
          </a:p>
        </p:txBody>
      </p:sp>
      <p:sp>
        <p:nvSpPr>
          <p:cNvPr id="11" name="TextBox 10"/>
          <p:cNvSpPr txBox="1"/>
          <p:nvPr/>
        </p:nvSpPr>
        <p:spPr>
          <a:xfrm>
            <a:off x="7439175" y="106356"/>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3" y="1078504"/>
            <a:ext cx="8620423" cy="461665"/>
          </a:xfrm>
          <a:prstGeom prst="rect">
            <a:avLst/>
          </a:prstGeom>
          <a:noFill/>
        </p:spPr>
        <p:txBody>
          <a:bodyPr wrap="square" rtlCol="0">
            <a:spAutoFit/>
          </a:bodyPr>
          <a:lstStyle/>
          <a:p>
            <a:r>
              <a:rPr lang="en-AU" sz="2400" dirty="0" smtClean="0"/>
              <a:t>EQ – What </a:t>
            </a:r>
            <a:r>
              <a:rPr lang="en-AU" sz="2400" dirty="0" smtClean="0"/>
              <a:t>are dependent and independent events</a:t>
            </a:r>
            <a:r>
              <a:rPr lang="en-AU" sz="2400" dirty="0" smtClean="0"/>
              <a:t>? </a:t>
            </a:r>
            <a:endParaRPr lang="en-AU" sz="2400" dirty="0"/>
          </a:p>
        </p:txBody>
      </p:sp>
      <p:sp>
        <p:nvSpPr>
          <p:cNvPr id="13" name="TextBox 12"/>
          <p:cNvSpPr txBox="1"/>
          <p:nvPr/>
        </p:nvSpPr>
        <p:spPr>
          <a:xfrm>
            <a:off x="107504" y="1988840"/>
            <a:ext cx="2267744" cy="584775"/>
          </a:xfrm>
          <a:prstGeom prst="rect">
            <a:avLst/>
          </a:prstGeom>
          <a:noFill/>
        </p:spPr>
        <p:txBody>
          <a:bodyPr wrap="square" rtlCol="0">
            <a:spAutoFit/>
          </a:bodyPr>
          <a:lstStyle/>
          <a:p>
            <a:r>
              <a:rPr lang="en-AU" sz="1600" dirty="0" smtClean="0"/>
              <a:t>What is an Independent event</a:t>
            </a:r>
            <a:r>
              <a:rPr lang="en-AU" sz="1600" dirty="0" smtClean="0"/>
              <a:t>?</a:t>
            </a:r>
            <a:endParaRPr lang="en-AU" sz="1600" dirty="0"/>
          </a:p>
        </p:txBody>
      </p:sp>
      <p:sp>
        <p:nvSpPr>
          <p:cNvPr id="16" name="TextBox 15"/>
          <p:cNvSpPr txBox="1"/>
          <p:nvPr/>
        </p:nvSpPr>
        <p:spPr>
          <a:xfrm>
            <a:off x="2483768" y="1988840"/>
            <a:ext cx="6552728" cy="1815882"/>
          </a:xfrm>
          <a:prstGeom prst="rect">
            <a:avLst/>
          </a:prstGeom>
          <a:noFill/>
        </p:spPr>
        <p:txBody>
          <a:bodyPr wrap="square" rtlCol="0">
            <a:spAutoFit/>
          </a:bodyPr>
          <a:lstStyle/>
          <a:p>
            <a:r>
              <a:rPr lang="en-AU" sz="1600" dirty="0" smtClean="0"/>
              <a:t>Independent Events</a:t>
            </a:r>
          </a:p>
          <a:p>
            <a:r>
              <a:rPr lang="en-AU" sz="1600" dirty="0" smtClean="0"/>
              <a:t>When two events are said to be independent of each other, what this means is that the probability that one event occurs in no way affects the probability of the other event occurring. An example of two independent events is as follows; say you rolled a die and flipped a coin. The probability of getting any number face on the die in no way influences the probability of getting a head or a tail on the coin.</a:t>
            </a:r>
            <a:endParaRPr lang="en-AU" sz="1600" dirty="0"/>
          </a:p>
        </p:txBody>
      </p:sp>
      <p:sp>
        <p:nvSpPr>
          <p:cNvPr id="17" name="TextBox 16"/>
          <p:cNvSpPr txBox="1"/>
          <p:nvPr/>
        </p:nvSpPr>
        <p:spPr>
          <a:xfrm>
            <a:off x="0" y="3789040"/>
            <a:ext cx="2411760" cy="584775"/>
          </a:xfrm>
          <a:prstGeom prst="rect">
            <a:avLst/>
          </a:prstGeom>
          <a:noFill/>
        </p:spPr>
        <p:txBody>
          <a:bodyPr wrap="square" rtlCol="0">
            <a:spAutoFit/>
          </a:bodyPr>
          <a:lstStyle/>
          <a:p>
            <a:r>
              <a:rPr lang="en-AU" sz="1600" dirty="0" smtClean="0"/>
              <a:t>What is a dependent event?</a:t>
            </a:r>
            <a:endParaRPr lang="en-AU" sz="1600" dirty="0"/>
          </a:p>
        </p:txBody>
      </p:sp>
      <p:sp>
        <p:nvSpPr>
          <p:cNvPr id="18" name="TextBox 17"/>
          <p:cNvSpPr txBox="1"/>
          <p:nvPr/>
        </p:nvSpPr>
        <p:spPr>
          <a:xfrm>
            <a:off x="2483768" y="3861048"/>
            <a:ext cx="6480720" cy="2062103"/>
          </a:xfrm>
          <a:prstGeom prst="rect">
            <a:avLst/>
          </a:prstGeom>
          <a:noFill/>
        </p:spPr>
        <p:txBody>
          <a:bodyPr wrap="square" rtlCol="0">
            <a:spAutoFit/>
          </a:bodyPr>
          <a:lstStyle/>
          <a:p>
            <a:r>
              <a:rPr lang="en-AU" sz="1600" dirty="0" smtClean="0"/>
              <a:t>Dependent Events</a:t>
            </a:r>
          </a:p>
          <a:p>
            <a:r>
              <a:rPr lang="en-AU" sz="1600" dirty="0" smtClean="0"/>
              <a:t>When two events are said to be dependent, the probability of one event occurring influences the likelihood of the other event.</a:t>
            </a:r>
          </a:p>
          <a:p>
            <a:r>
              <a:rPr lang="en-AU" sz="1600" dirty="0" smtClean="0"/>
              <a:t>For example, if you were to draw a two cards from a deck of 52 cards. If on your first draw you had an ace and you put that aside, the probability of drawing an ace on the second draw is greatly changed because you drew an ace the first time. Let's calculate these different probabilities to see what's going on.</a:t>
            </a:r>
            <a:endParaRPr lang="en-AU" sz="1600" dirty="0"/>
          </a:p>
        </p:txBody>
      </p:sp>
    </p:spTree>
    <p:extLst>
      <p:ext uri="{BB962C8B-B14F-4D97-AF65-F5344CB8AC3E}">
        <p14:creationId xmlns:p14="http://schemas.microsoft.com/office/powerpoint/2010/main" xmlns="" val="16709025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7"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3"/>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411760"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433410" cy="523220"/>
          </a:xfrm>
          <a:prstGeom prst="rect">
            <a:avLst/>
          </a:prstGeom>
          <a:noFill/>
        </p:spPr>
        <p:txBody>
          <a:bodyPr wrap="none" rtlCol="0">
            <a:spAutoFit/>
          </a:bodyPr>
          <a:lstStyle/>
          <a:p>
            <a:r>
              <a:rPr lang="en-AU" sz="2800" dirty="0" smtClean="0"/>
              <a:t>Dependent and Independent Events</a:t>
            </a:r>
            <a:endParaRPr lang="en-AU" sz="2800" dirty="0"/>
          </a:p>
        </p:txBody>
      </p:sp>
      <p:sp>
        <p:nvSpPr>
          <p:cNvPr id="11" name="TextBox 10"/>
          <p:cNvSpPr txBox="1"/>
          <p:nvPr/>
        </p:nvSpPr>
        <p:spPr>
          <a:xfrm>
            <a:off x="7439175" y="106356"/>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3" y="1078504"/>
            <a:ext cx="8620423" cy="461665"/>
          </a:xfrm>
          <a:prstGeom prst="rect">
            <a:avLst/>
          </a:prstGeom>
          <a:noFill/>
        </p:spPr>
        <p:txBody>
          <a:bodyPr wrap="square" rtlCol="0">
            <a:spAutoFit/>
          </a:bodyPr>
          <a:lstStyle/>
          <a:p>
            <a:r>
              <a:rPr lang="en-AU" sz="2400" dirty="0" smtClean="0"/>
              <a:t>EQ – What </a:t>
            </a:r>
            <a:r>
              <a:rPr lang="en-AU" sz="2400" dirty="0" smtClean="0"/>
              <a:t>are dependent and independent events</a:t>
            </a:r>
            <a:r>
              <a:rPr lang="en-AU" sz="2400" dirty="0" smtClean="0"/>
              <a:t>? </a:t>
            </a:r>
            <a:endParaRPr lang="en-AU" sz="2400" dirty="0"/>
          </a:p>
        </p:txBody>
      </p:sp>
      <p:sp>
        <p:nvSpPr>
          <p:cNvPr id="13" name="TextBox 12"/>
          <p:cNvSpPr txBox="1"/>
          <p:nvPr/>
        </p:nvSpPr>
        <p:spPr>
          <a:xfrm>
            <a:off x="107504" y="1988840"/>
            <a:ext cx="2267744" cy="830997"/>
          </a:xfrm>
          <a:prstGeom prst="rect">
            <a:avLst/>
          </a:prstGeom>
          <a:noFill/>
        </p:spPr>
        <p:txBody>
          <a:bodyPr wrap="square" rtlCol="0">
            <a:spAutoFit/>
          </a:bodyPr>
          <a:lstStyle/>
          <a:p>
            <a:r>
              <a:rPr lang="en-AU" sz="1600" dirty="0" smtClean="0"/>
              <a:t>How do we find the probability of two independent events</a:t>
            </a:r>
            <a:r>
              <a:rPr lang="en-AU" sz="1600" dirty="0" smtClean="0"/>
              <a:t>?</a:t>
            </a:r>
            <a:endParaRPr lang="en-AU" sz="1600" dirty="0"/>
          </a:p>
        </p:txBody>
      </p:sp>
      <p:sp>
        <p:nvSpPr>
          <p:cNvPr id="14" name="TextBox 13"/>
          <p:cNvSpPr txBox="1"/>
          <p:nvPr/>
        </p:nvSpPr>
        <p:spPr>
          <a:xfrm>
            <a:off x="2411760" y="1988840"/>
            <a:ext cx="6552728" cy="1077218"/>
          </a:xfrm>
          <a:prstGeom prst="rect">
            <a:avLst/>
          </a:prstGeom>
          <a:noFill/>
        </p:spPr>
        <p:txBody>
          <a:bodyPr wrap="square" rtlCol="0">
            <a:spAutoFit/>
          </a:bodyPr>
          <a:lstStyle/>
          <a:p>
            <a:r>
              <a:rPr lang="en-AU" sz="1600" dirty="0" smtClean="0"/>
              <a:t>Probability of a combination of independent events</a:t>
            </a:r>
          </a:p>
          <a:p>
            <a:r>
              <a:rPr lang="en-AU" sz="1600" dirty="0" smtClean="0"/>
              <a:t>The probability of two independent events A and B both occurring is the product of </a:t>
            </a:r>
            <a:r>
              <a:rPr lang="en-AU" sz="1600" dirty="0" smtClean="0"/>
              <a:t>their individual </a:t>
            </a:r>
            <a:r>
              <a:rPr lang="en-AU" sz="1600" dirty="0" smtClean="0"/>
              <a:t>probabilities.</a:t>
            </a:r>
          </a:p>
          <a:p>
            <a:r>
              <a:rPr lang="en-AU" sz="1600" dirty="0" smtClean="0"/>
              <a:t>For independent events A and B, P(A and B) </a:t>
            </a:r>
            <a:r>
              <a:rPr lang="en-AU" sz="1600" dirty="0" smtClean="0"/>
              <a:t>= </a:t>
            </a:r>
            <a:r>
              <a:rPr lang="en-AU" sz="1600" dirty="0" smtClean="0"/>
              <a:t>P(A) </a:t>
            </a:r>
            <a:r>
              <a:rPr lang="en-AU" sz="1600" dirty="0" smtClean="0"/>
              <a:t>X </a:t>
            </a:r>
            <a:r>
              <a:rPr lang="en-AU" sz="1600" dirty="0" smtClean="0"/>
              <a:t>P(B).</a:t>
            </a:r>
            <a:endParaRPr lang="en-AU" sz="1600" dirty="0"/>
          </a:p>
        </p:txBody>
      </p:sp>
      <p:sp>
        <p:nvSpPr>
          <p:cNvPr id="15" name="TextBox 14"/>
          <p:cNvSpPr txBox="1"/>
          <p:nvPr/>
        </p:nvSpPr>
        <p:spPr>
          <a:xfrm>
            <a:off x="2555776" y="3140968"/>
            <a:ext cx="3384376" cy="338554"/>
          </a:xfrm>
          <a:prstGeom prst="rect">
            <a:avLst/>
          </a:prstGeom>
          <a:noFill/>
        </p:spPr>
        <p:txBody>
          <a:bodyPr wrap="square" rtlCol="0">
            <a:spAutoFit/>
          </a:bodyPr>
          <a:lstStyle/>
          <a:p>
            <a:r>
              <a:rPr lang="en-AU" sz="1600" dirty="0" smtClean="0"/>
              <a:t>Example</a:t>
            </a:r>
            <a:endParaRPr lang="en-AU" sz="1600" dirty="0"/>
          </a:p>
        </p:txBody>
      </p:sp>
      <p:pic>
        <p:nvPicPr>
          <p:cNvPr id="1026" name="Picture 2"/>
          <p:cNvPicPr>
            <a:picLocks noChangeAspect="1" noChangeArrowheads="1"/>
          </p:cNvPicPr>
          <p:nvPr/>
        </p:nvPicPr>
        <p:blipFill>
          <a:blip r:embed="rId2" cstate="print"/>
          <a:srcRect/>
          <a:stretch>
            <a:fillRect/>
          </a:stretch>
        </p:blipFill>
        <p:spPr bwMode="auto">
          <a:xfrm>
            <a:off x="2483768" y="3429000"/>
            <a:ext cx="6216179" cy="1961180"/>
          </a:xfrm>
          <a:prstGeom prst="rect">
            <a:avLst/>
          </a:prstGeom>
          <a:noFill/>
          <a:ln w="9525">
            <a:noFill/>
            <a:miter lim="800000"/>
            <a:headEnd/>
            <a:tailEnd/>
          </a:ln>
        </p:spPr>
      </p:pic>
    </p:spTree>
    <p:extLst>
      <p:ext uri="{BB962C8B-B14F-4D97-AF65-F5344CB8AC3E}">
        <p14:creationId xmlns:p14="http://schemas.microsoft.com/office/powerpoint/2010/main" xmlns="" val="16709025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7"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3"/>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411760"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433410" cy="523220"/>
          </a:xfrm>
          <a:prstGeom prst="rect">
            <a:avLst/>
          </a:prstGeom>
          <a:noFill/>
        </p:spPr>
        <p:txBody>
          <a:bodyPr wrap="none" rtlCol="0">
            <a:spAutoFit/>
          </a:bodyPr>
          <a:lstStyle/>
          <a:p>
            <a:r>
              <a:rPr lang="en-AU" sz="2800" dirty="0" smtClean="0"/>
              <a:t>Dependent and Independent Events</a:t>
            </a:r>
            <a:endParaRPr lang="en-AU" sz="2800" dirty="0"/>
          </a:p>
        </p:txBody>
      </p:sp>
      <p:sp>
        <p:nvSpPr>
          <p:cNvPr id="11" name="TextBox 10"/>
          <p:cNvSpPr txBox="1"/>
          <p:nvPr/>
        </p:nvSpPr>
        <p:spPr>
          <a:xfrm>
            <a:off x="7439175" y="106356"/>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3" y="1078504"/>
            <a:ext cx="8620423" cy="461665"/>
          </a:xfrm>
          <a:prstGeom prst="rect">
            <a:avLst/>
          </a:prstGeom>
          <a:noFill/>
        </p:spPr>
        <p:txBody>
          <a:bodyPr wrap="square" rtlCol="0">
            <a:spAutoFit/>
          </a:bodyPr>
          <a:lstStyle/>
          <a:p>
            <a:r>
              <a:rPr lang="en-AU" sz="2400" dirty="0" smtClean="0"/>
              <a:t>EQ – What </a:t>
            </a:r>
            <a:r>
              <a:rPr lang="en-AU" sz="2400" dirty="0" smtClean="0"/>
              <a:t>are dependent and independent events</a:t>
            </a:r>
            <a:r>
              <a:rPr lang="en-AU" sz="2400" dirty="0" smtClean="0"/>
              <a:t>? </a:t>
            </a:r>
            <a:endParaRPr lang="en-AU" sz="2400" dirty="0"/>
          </a:p>
        </p:txBody>
      </p:sp>
      <p:sp>
        <p:nvSpPr>
          <p:cNvPr id="13" name="TextBox 12"/>
          <p:cNvSpPr txBox="1"/>
          <p:nvPr/>
        </p:nvSpPr>
        <p:spPr>
          <a:xfrm>
            <a:off x="107504" y="1988840"/>
            <a:ext cx="2267744" cy="830997"/>
          </a:xfrm>
          <a:prstGeom prst="rect">
            <a:avLst/>
          </a:prstGeom>
          <a:noFill/>
        </p:spPr>
        <p:txBody>
          <a:bodyPr wrap="square" rtlCol="0">
            <a:spAutoFit/>
          </a:bodyPr>
          <a:lstStyle/>
          <a:p>
            <a:r>
              <a:rPr lang="en-AU" sz="1600" dirty="0" smtClean="0"/>
              <a:t>How do we find the probability of dependent events</a:t>
            </a:r>
            <a:r>
              <a:rPr lang="en-AU" sz="1600" dirty="0" smtClean="0"/>
              <a:t>?</a:t>
            </a:r>
            <a:endParaRPr lang="en-AU" sz="1600" dirty="0"/>
          </a:p>
        </p:txBody>
      </p:sp>
      <p:sp>
        <p:nvSpPr>
          <p:cNvPr id="15" name="TextBox 14"/>
          <p:cNvSpPr txBox="1"/>
          <p:nvPr/>
        </p:nvSpPr>
        <p:spPr>
          <a:xfrm>
            <a:off x="2699792" y="4077072"/>
            <a:ext cx="3384376" cy="338554"/>
          </a:xfrm>
          <a:prstGeom prst="rect">
            <a:avLst/>
          </a:prstGeom>
          <a:noFill/>
        </p:spPr>
        <p:txBody>
          <a:bodyPr wrap="square" rtlCol="0">
            <a:spAutoFit/>
          </a:bodyPr>
          <a:lstStyle/>
          <a:p>
            <a:r>
              <a:rPr lang="en-AU" sz="1600" dirty="0" smtClean="0"/>
              <a:t>Example</a:t>
            </a:r>
            <a:endParaRPr lang="en-AU" sz="1600" dirty="0"/>
          </a:p>
        </p:txBody>
      </p:sp>
      <p:pic>
        <p:nvPicPr>
          <p:cNvPr id="28674" name="Picture 2"/>
          <p:cNvPicPr>
            <a:picLocks noChangeAspect="1" noChangeArrowheads="1"/>
          </p:cNvPicPr>
          <p:nvPr/>
        </p:nvPicPr>
        <p:blipFill>
          <a:blip r:embed="rId2" cstate="print"/>
          <a:srcRect/>
          <a:stretch>
            <a:fillRect/>
          </a:stretch>
        </p:blipFill>
        <p:spPr bwMode="auto">
          <a:xfrm>
            <a:off x="2483768" y="1988840"/>
            <a:ext cx="6392788" cy="2071072"/>
          </a:xfrm>
          <a:prstGeom prst="rect">
            <a:avLst/>
          </a:prstGeom>
          <a:noFill/>
          <a:ln w="9525">
            <a:noFill/>
            <a:miter lim="800000"/>
            <a:headEnd/>
            <a:tailEnd/>
          </a:ln>
        </p:spPr>
      </p:pic>
    </p:spTree>
    <p:extLst>
      <p:ext uri="{BB962C8B-B14F-4D97-AF65-F5344CB8AC3E}">
        <p14:creationId xmlns:p14="http://schemas.microsoft.com/office/powerpoint/2010/main" xmlns="" val="16709025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7"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3"/>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411760"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5433410" cy="523220"/>
          </a:xfrm>
          <a:prstGeom prst="rect">
            <a:avLst/>
          </a:prstGeom>
          <a:noFill/>
        </p:spPr>
        <p:txBody>
          <a:bodyPr wrap="none" rtlCol="0">
            <a:spAutoFit/>
          </a:bodyPr>
          <a:lstStyle/>
          <a:p>
            <a:r>
              <a:rPr lang="en-AU" sz="2800" dirty="0" smtClean="0"/>
              <a:t>Dependent and Independent Events</a:t>
            </a:r>
            <a:endParaRPr lang="en-AU" sz="2800" dirty="0"/>
          </a:p>
        </p:txBody>
      </p:sp>
      <p:sp>
        <p:nvSpPr>
          <p:cNvPr id="11" name="TextBox 10"/>
          <p:cNvSpPr txBox="1"/>
          <p:nvPr/>
        </p:nvSpPr>
        <p:spPr>
          <a:xfrm>
            <a:off x="7439175" y="106356"/>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93473" y="1078504"/>
            <a:ext cx="8620423" cy="461665"/>
          </a:xfrm>
          <a:prstGeom prst="rect">
            <a:avLst/>
          </a:prstGeom>
          <a:noFill/>
        </p:spPr>
        <p:txBody>
          <a:bodyPr wrap="square" rtlCol="0">
            <a:spAutoFit/>
          </a:bodyPr>
          <a:lstStyle/>
          <a:p>
            <a:r>
              <a:rPr lang="en-AU" sz="2400" dirty="0" smtClean="0"/>
              <a:t>EQ – What </a:t>
            </a:r>
            <a:r>
              <a:rPr lang="en-AU" sz="2400" dirty="0" smtClean="0"/>
              <a:t>are dependent and independent events</a:t>
            </a:r>
            <a:r>
              <a:rPr lang="en-AU" sz="2400" dirty="0" smtClean="0"/>
              <a:t>? </a:t>
            </a:r>
            <a:endParaRPr lang="en-AU" sz="2400" dirty="0"/>
          </a:p>
        </p:txBody>
      </p:sp>
      <p:sp>
        <p:nvSpPr>
          <p:cNvPr id="13" name="TextBox 12"/>
          <p:cNvSpPr txBox="1"/>
          <p:nvPr/>
        </p:nvSpPr>
        <p:spPr>
          <a:xfrm>
            <a:off x="107504" y="1988840"/>
            <a:ext cx="2267744" cy="830997"/>
          </a:xfrm>
          <a:prstGeom prst="rect">
            <a:avLst/>
          </a:prstGeom>
          <a:noFill/>
        </p:spPr>
        <p:txBody>
          <a:bodyPr wrap="square" rtlCol="0">
            <a:spAutoFit/>
          </a:bodyPr>
          <a:lstStyle/>
          <a:p>
            <a:r>
              <a:rPr lang="en-AU" sz="1600" dirty="0" smtClean="0"/>
              <a:t>How do we find the probability of dependent events</a:t>
            </a:r>
            <a:r>
              <a:rPr lang="en-AU" sz="1600" dirty="0" smtClean="0"/>
              <a:t>?</a:t>
            </a:r>
            <a:endParaRPr lang="en-AU" sz="1600" dirty="0"/>
          </a:p>
        </p:txBody>
      </p:sp>
      <p:sp>
        <p:nvSpPr>
          <p:cNvPr id="15" name="TextBox 14"/>
          <p:cNvSpPr txBox="1"/>
          <p:nvPr/>
        </p:nvSpPr>
        <p:spPr>
          <a:xfrm>
            <a:off x="2483768" y="1988840"/>
            <a:ext cx="3384376" cy="338554"/>
          </a:xfrm>
          <a:prstGeom prst="rect">
            <a:avLst/>
          </a:prstGeom>
          <a:noFill/>
        </p:spPr>
        <p:txBody>
          <a:bodyPr wrap="square" rtlCol="0">
            <a:spAutoFit/>
          </a:bodyPr>
          <a:lstStyle/>
          <a:p>
            <a:r>
              <a:rPr lang="en-AU" sz="1600" dirty="0" smtClean="0"/>
              <a:t>Example</a:t>
            </a:r>
            <a:endParaRPr lang="en-AU" sz="1600" dirty="0"/>
          </a:p>
        </p:txBody>
      </p:sp>
      <p:pic>
        <p:nvPicPr>
          <p:cNvPr id="29698" name="Picture 2"/>
          <p:cNvPicPr>
            <a:picLocks noChangeAspect="1" noChangeArrowheads="1"/>
          </p:cNvPicPr>
          <p:nvPr/>
        </p:nvPicPr>
        <p:blipFill>
          <a:blip r:embed="rId2" cstate="print"/>
          <a:srcRect/>
          <a:stretch>
            <a:fillRect/>
          </a:stretch>
        </p:blipFill>
        <p:spPr bwMode="auto">
          <a:xfrm>
            <a:off x="2699792" y="2348880"/>
            <a:ext cx="5171281" cy="4303674"/>
          </a:xfrm>
          <a:prstGeom prst="rect">
            <a:avLst/>
          </a:prstGeom>
          <a:noFill/>
          <a:ln w="9525">
            <a:noFill/>
            <a:miter lim="800000"/>
            <a:headEnd/>
            <a:tailEnd/>
          </a:ln>
        </p:spPr>
      </p:pic>
    </p:spTree>
    <p:extLst>
      <p:ext uri="{BB962C8B-B14F-4D97-AF65-F5344CB8AC3E}">
        <p14:creationId xmlns:p14="http://schemas.microsoft.com/office/powerpoint/2010/main" xmlns="" val="16709025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Task</a:t>
            </a:r>
            <a:endParaRPr lang="en-AU" dirty="0"/>
          </a:p>
        </p:txBody>
      </p:sp>
      <p:sp>
        <p:nvSpPr>
          <p:cNvPr id="11" name="TextBox 10"/>
          <p:cNvSpPr txBox="1"/>
          <p:nvPr/>
        </p:nvSpPr>
        <p:spPr>
          <a:xfrm>
            <a:off x="755576" y="1412776"/>
            <a:ext cx="7560840" cy="369332"/>
          </a:xfrm>
          <a:prstGeom prst="rect">
            <a:avLst/>
          </a:prstGeom>
          <a:noFill/>
        </p:spPr>
        <p:txBody>
          <a:bodyPr wrap="square" rtlCol="0">
            <a:spAutoFit/>
          </a:bodyPr>
          <a:lstStyle/>
          <a:p>
            <a:r>
              <a:rPr lang="en-AU" dirty="0" smtClean="0"/>
              <a:t>Complete the worksheet provided.</a:t>
            </a:r>
            <a:endParaRPr lang="en-AU" dirty="0"/>
          </a:p>
        </p:txBody>
      </p:sp>
    </p:spTree>
    <p:extLst>
      <p:ext uri="{BB962C8B-B14F-4D97-AF65-F5344CB8AC3E}">
        <p14:creationId xmlns:p14="http://schemas.microsoft.com/office/powerpoint/2010/main" xmlns="" val="15670495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p14="http://schemas.microsoft.com/office/powerpoint/2010/main" xmlns="" val="30699218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p14="http://schemas.microsoft.com/office/powerpoint/2010/main" xmlns=""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1045</TotalTime>
  <Words>632</Words>
  <Application>Microsoft Office PowerPoint</Application>
  <PresentationFormat>On-screen Show (4:3)</PresentationFormat>
  <Paragraphs>118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My Probability Interactive Notebook</vt:lpstr>
      <vt:lpstr>Create your own front page</vt:lpstr>
      <vt:lpstr>Slide 3</vt:lpstr>
      <vt:lpstr>Slide 4</vt:lpstr>
      <vt:lpstr>Slide 5</vt:lpstr>
      <vt:lpstr>Slide 6</vt:lpstr>
      <vt:lpstr>Slide 7</vt:lpstr>
      <vt:lpstr>Slide 8</vt:lpstr>
      <vt:lpstr>Slide 9</vt:lpstr>
      <vt:lpstr>Slide 10</vt:lpstr>
      <vt:lpstr>Slide 11</vt:lpstr>
      <vt:lpstr>Task</vt:lpstr>
      <vt:lpstr>Notes Review</vt:lpstr>
      <vt:lpstr>Homework</vt:lpstr>
    </vt:vector>
  </TitlesOfParts>
  <Company>The Department of Education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Clem</cp:lastModifiedBy>
  <cp:revision>95</cp:revision>
  <dcterms:created xsi:type="dcterms:W3CDTF">2014-05-14T02:58:57Z</dcterms:created>
  <dcterms:modified xsi:type="dcterms:W3CDTF">2015-06-21T10:27:11Z</dcterms:modified>
</cp:coreProperties>
</file>
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304" r:id="rId3"/>
    <p:sldId id="259" r:id="rId4"/>
    <p:sldId id="258" r:id="rId5"/>
    <p:sldId id="303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5" r:id="rId15"/>
    <p:sldId id="316" r:id="rId16"/>
    <p:sldId id="317" r:id="rId17"/>
    <p:sldId id="313" r:id="rId18"/>
    <p:sldId id="318" r:id="rId19"/>
    <p:sldId id="319" r:id="rId20"/>
    <p:sldId id="314" r:id="rId21"/>
    <p:sldId id="292" r:id="rId22"/>
    <p:sldId id="29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7/06/2015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7/06/2015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7/06/2015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7/06/2015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7/06/2015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7/06/2015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ymathsonline.com.au/gold/playyourcards/playcards.sw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1919258" cy="183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  <a:r>
              <a:rPr lang="en-AU" dirty="0" smtClean="0"/>
              <a:t>Mr Evans</a:t>
            </a:r>
            <a:endParaRPr lang="en-AU" dirty="0" smtClean="0"/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2 </a:t>
            </a:r>
            <a:r>
              <a:rPr lang="en-AU" dirty="0" smtClean="0"/>
              <a:t>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even happening.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even happening.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945868" y="2092206"/>
            <a:ext cx="54380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Probability describes the chance of an event happening.</a:t>
            </a:r>
          </a:p>
          <a:p>
            <a:endParaRPr lang="en-AU" dirty="0"/>
          </a:p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966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07748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Probability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077483" cy="2031325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802" t="-1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22150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pPr/>
                <a:endParaRPr lang="en-AU" dirty="0"/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2862322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768" t="-106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48558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4545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If all events are equally likely then </a:t>
                </a:r>
              </a:p>
              <a:p>
                <a:pPr/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/>
                <a:endParaRPr lang="en-AU" b="1" dirty="0"/>
              </a:p>
              <a:p>
                <a:pPr/>
                <a:endParaRPr lang="en-AU" b="1" dirty="0" smtClean="0"/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4545475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768" t="-67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429014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48224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If all events are equally likely then </a:t>
                </a:r>
              </a:p>
              <a:p>
                <a:pPr/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/>
                <a:endParaRPr lang="en-AU" b="1" dirty="0"/>
              </a:p>
              <a:p>
                <a:pPr/>
                <a:r>
                  <a:rPr lang="en-AU" dirty="0" smtClean="0">
                    <a:solidFill>
                      <a:schemeClr val="accent1"/>
                    </a:solidFill>
                  </a:rPr>
                  <a:t>Example – Find the probability of rolling a 2 in a standard six sided die</a:t>
                </a:r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4822474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768" t="-632" r="-10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196192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5364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endParaRPr lang="en-AU" dirty="0"/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If all events are equally likely then </a:t>
                </a:r>
              </a:p>
              <a:p>
                <a:pPr/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/>
                <a:endParaRPr lang="en-AU" b="1" dirty="0"/>
              </a:p>
              <a:p>
                <a:pPr/>
                <a:r>
                  <a:rPr lang="en-AU" dirty="0" smtClean="0">
                    <a:solidFill>
                      <a:schemeClr val="accent1"/>
                    </a:solidFill>
                  </a:rPr>
                  <a:t>Example – Find the probability of rolling a 2 in a standard six sided die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 smtClean="0">
                  <a:solidFill>
                    <a:schemeClr val="accent1"/>
                  </a:solidFill>
                </a:endParaRPr>
              </a:p>
              <a:p>
                <a:endParaRPr lang="en-AU" dirty="0"/>
              </a:p>
              <a:p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536493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768" t="-568" r="-10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407662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2945868" y="2092206"/>
                <a:ext cx="6352371" cy="4511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b="1" dirty="0" smtClean="0"/>
                  <a:t>Probability</a:t>
                </a:r>
                <a:r>
                  <a:rPr lang="en-AU" dirty="0" smtClean="0"/>
                  <a:t> describes the chance of an event happening.</a:t>
                </a:r>
              </a:p>
              <a:p>
                <a:r>
                  <a:rPr lang="en-AU" dirty="0" smtClean="0"/>
                  <a:t>For all events, probability is between 0 and 1, and written as a fraction decimal or percentage.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pPr/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pPr/>
                <a:r>
                  <a:rPr lang="en-AU" dirty="0" smtClean="0"/>
                  <a:t>If all events are equally likely then </a:t>
                </a:r>
              </a:p>
              <a:p>
                <a:pPr/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/>
                <a:endParaRPr lang="en-AU" b="1" dirty="0"/>
              </a:p>
              <a:p>
                <a:pPr/>
                <a:r>
                  <a:rPr lang="en-AU" dirty="0" smtClean="0">
                    <a:solidFill>
                      <a:schemeClr val="accent1"/>
                    </a:solidFill>
                  </a:rPr>
                  <a:t>Example – Find the probability of rolling a 2 in a standard six sided die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 smtClean="0">
                  <a:solidFill>
                    <a:schemeClr val="accent1"/>
                  </a:solidFill>
                </a:endParaRPr>
              </a:p>
              <a:p>
                <a:r>
                  <a:rPr lang="en-AU" dirty="0" smtClean="0"/>
                  <a:t> The </a:t>
                </a:r>
                <a:r>
                  <a:rPr lang="en-AU" b="1" dirty="0" smtClean="0"/>
                  <a:t>complement</a:t>
                </a:r>
                <a:r>
                  <a:rPr lang="en-AU" dirty="0" smtClean="0"/>
                  <a:t> of an event A is the event not A</a:t>
                </a:r>
              </a:p>
              <a:p>
                <a:pPr algn="ctr"/>
                <a:r>
                  <a:rPr lang="en-AU" dirty="0" err="1" smtClean="0"/>
                  <a:t>Pr</a:t>
                </a:r>
                <a:r>
                  <a:rPr lang="en-AU" dirty="0" smtClean="0"/>
                  <a:t>(not A) = 1 – </a:t>
                </a:r>
                <a:r>
                  <a:rPr lang="en-AU" dirty="0" err="1" smtClean="0"/>
                  <a:t>Pr</a:t>
                </a:r>
                <a:r>
                  <a:rPr lang="en-AU" dirty="0" smtClean="0"/>
                  <a:t>(A)</a:t>
                </a:r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868" y="2092206"/>
                <a:ext cx="6352371" cy="4511876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768" t="-676" r="-1056" b="-12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35268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even happening.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2915816" y="1916832"/>
                <a:ext cx="6352371" cy="5032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/>
                          <a:ea typeface="Cambria Math"/>
                        </a:rPr>
                        <m:t>Pr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⁡(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𝐸𝑣𝑒𝑛𝑡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)≤1</m:t>
                      </m:r>
                    </m:oMath>
                  </m:oMathPara>
                </a14:m>
                <a:endParaRPr lang="en-AU" dirty="0" smtClean="0"/>
              </a:p>
              <a:p>
                <a:pPr/>
                <a:r>
                  <a:rPr lang="en-AU" dirty="0" smtClean="0"/>
                  <a:t>A </a:t>
                </a:r>
                <a:r>
                  <a:rPr lang="en-AU" b="1" dirty="0" smtClean="0"/>
                  <a:t>sample space </a:t>
                </a:r>
                <a:r>
                  <a:rPr lang="en-AU" dirty="0" smtClean="0"/>
                  <a:t>lists all possible outcomes of an experiment.</a:t>
                </a:r>
              </a:p>
              <a:p>
                <a:pPr/>
                <a:r>
                  <a:rPr lang="en-AU" dirty="0" smtClean="0"/>
                  <a:t>If all events are equally likely then </a:t>
                </a:r>
              </a:p>
              <a:p>
                <a:pPr/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𝑝𝑟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𝐸𝑣𝑒𝑛𝑡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𝑤h𝑒𝑟𝑒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𝑜𝑐𝑐𝑢𝑟𝑠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𝑇𝑜𝑡𝑎𝑙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/>
                <a:endParaRPr lang="en-AU" b="1" dirty="0"/>
              </a:p>
              <a:p>
                <a:pPr/>
                <a:r>
                  <a:rPr lang="en-AU" dirty="0" smtClean="0">
                    <a:solidFill>
                      <a:schemeClr val="accent1"/>
                    </a:solidFill>
                  </a:rPr>
                  <a:t>Example – Find the probability of rolling a 2 in a standard six sided die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 smtClean="0">
                  <a:solidFill>
                    <a:schemeClr val="accent1"/>
                  </a:solidFill>
                </a:endParaRPr>
              </a:p>
              <a:p>
                <a:r>
                  <a:rPr lang="en-AU" dirty="0" smtClean="0"/>
                  <a:t> The </a:t>
                </a:r>
                <a:r>
                  <a:rPr lang="en-AU" b="1" dirty="0" smtClean="0"/>
                  <a:t>complement</a:t>
                </a:r>
                <a:r>
                  <a:rPr lang="en-AU" dirty="0" smtClean="0"/>
                  <a:t> of an event A is the event not A</a:t>
                </a:r>
              </a:p>
              <a:p>
                <a:pPr algn="ctr"/>
                <a:r>
                  <a:rPr lang="en-AU" dirty="0" err="1" smtClean="0"/>
                  <a:t>Pr</a:t>
                </a:r>
                <a:r>
                  <a:rPr lang="en-AU" dirty="0" smtClean="0"/>
                  <a:t>(not A) = 1 – </a:t>
                </a:r>
                <a:r>
                  <a:rPr lang="en-AU" dirty="0" err="1" smtClean="0"/>
                  <a:t>Pr</a:t>
                </a:r>
                <a:r>
                  <a:rPr lang="en-AU" dirty="0" smtClean="0"/>
                  <a:t>(A)</a:t>
                </a:r>
              </a:p>
              <a:p>
                <a:pPr algn="ctr"/>
                <a:r>
                  <a:rPr lang="en-AU" dirty="0">
                    <a:solidFill>
                      <a:schemeClr val="accent1"/>
                    </a:solidFill>
                  </a:rPr>
                  <a:t>Example – Find the probability </a:t>
                </a:r>
                <a:r>
                  <a:rPr lang="en-AU" dirty="0" smtClean="0">
                    <a:solidFill>
                      <a:schemeClr val="accent1"/>
                    </a:solidFill>
                  </a:rPr>
                  <a:t>of </a:t>
                </a:r>
                <a:r>
                  <a:rPr lang="en-AU" b="1" dirty="0" smtClean="0">
                    <a:solidFill>
                      <a:schemeClr val="accent1"/>
                    </a:solidFill>
                  </a:rPr>
                  <a:t>NOT</a:t>
                </a:r>
                <a:r>
                  <a:rPr lang="en-AU" dirty="0" smtClean="0">
                    <a:solidFill>
                      <a:schemeClr val="accent1"/>
                    </a:solidFill>
                  </a:rPr>
                  <a:t> </a:t>
                </a:r>
                <a:r>
                  <a:rPr lang="en-AU" dirty="0">
                    <a:solidFill>
                      <a:schemeClr val="accent1"/>
                    </a:solidFill>
                  </a:rPr>
                  <a:t>rolling a 2 in a standard six sided </a:t>
                </a:r>
                <a:r>
                  <a:rPr lang="en-AU" dirty="0" smtClean="0">
                    <a:solidFill>
                      <a:schemeClr val="accent1"/>
                    </a:solidFill>
                  </a:rPr>
                  <a:t>die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𝑁𝑜𝑡</m:t>
                              </m:r>
                              <m:r>
                                <a:rPr lang="en-AU" b="0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 2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=1−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dirty="0">
                  <a:solidFill>
                    <a:schemeClr val="accent1"/>
                  </a:solidFill>
                </a:endParaRPr>
              </a:p>
              <a:p>
                <a:pPr algn="ctr"/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916832"/>
                <a:ext cx="6352371" cy="5032275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768" r="-10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27049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even happening.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987824" y="2060848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Example.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2348880"/>
            <a:ext cx="5502002" cy="1083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3501008"/>
            <a:ext cx="5388843" cy="73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27049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even happening.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987824" y="1916832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Example.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2204864"/>
            <a:ext cx="5502002" cy="1083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3284984"/>
            <a:ext cx="5388843" cy="73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3131840" y="3933056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Solution.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3848" y="4293096"/>
            <a:ext cx="4373686" cy="245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27049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4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Probability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calculate the probability of an even happening.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987824" y="1916832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Example.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59832" y="3429000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Solution.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2204864"/>
            <a:ext cx="5890617" cy="471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2636912"/>
            <a:ext cx="5080421" cy="763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9831" y="3789040"/>
            <a:ext cx="6127739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27049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196752"/>
            <a:ext cx="5847556" cy="5423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556792"/>
            <a:ext cx="7153275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340768"/>
            <a:ext cx="459105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653136"/>
            <a:ext cx="4724400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Plenary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http://</a:t>
            </a:r>
            <a:r>
              <a:rPr lang="en-AU" dirty="0" smtClean="0">
                <a:hlinkClick r:id="rId2"/>
              </a:rPr>
              <a:t>www.mymathsonline.com.au/gold/playyourcards/playcards.swf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5024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441</Words>
  <Application>Microsoft Office PowerPoint</Application>
  <PresentationFormat>On-screen Show (4:3)</PresentationFormat>
  <Paragraphs>147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My Probability Interactive Notebook</vt:lpstr>
      <vt:lpstr>Create your own front page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Task</vt:lpstr>
      <vt:lpstr>Task</vt:lpstr>
      <vt:lpstr>Answers</vt:lpstr>
      <vt:lpstr>Plenary 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78</cp:revision>
  <dcterms:created xsi:type="dcterms:W3CDTF">2014-05-14T02:58:57Z</dcterms:created>
  <dcterms:modified xsi:type="dcterms:W3CDTF">2015-06-07T09:20:35Z</dcterms:modified>
</cp:coreProperties>
</file>
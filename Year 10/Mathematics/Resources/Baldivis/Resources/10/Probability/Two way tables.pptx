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0" r:id="rId2"/>
    <p:sldId id="304" r:id="rId3"/>
    <p:sldId id="259" r:id="rId4"/>
    <p:sldId id="258" r:id="rId5"/>
    <p:sldId id="320" r:id="rId6"/>
    <p:sldId id="321" r:id="rId7"/>
    <p:sldId id="322" r:id="rId8"/>
    <p:sldId id="323" r:id="rId9"/>
    <p:sldId id="324" r:id="rId10"/>
    <p:sldId id="325" r:id="rId11"/>
    <p:sldId id="326" r:id="rId12"/>
    <p:sldId id="313" r:id="rId13"/>
    <p:sldId id="318" r:id="rId14"/>
    <p:sldId id="329" r:id="rId15"/>
    <p:sldId id="330" r:id="rId16"/>
    <p:sldId id="319" r:id="rId17"/>
    <p:sldId id="292" r:id="rId18"/>
    <p:sldId id="29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14/06/2015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14/06/2015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5" y="260648"/>
            <a:ext cx="1919259" cy="183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Mr Evans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6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91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Two Way Tables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When and why do we use 2 way tables?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is it appropriate to use a 2 way table?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555776" y="2132858"/>
            <a:ext cx="6336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Two way tables are useful for situations  that have two dimensions or two variables.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627784" y="1556792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Revision: Not for Notes.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91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Two Way Tables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When and why do we use 2 way tables?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is it appropriate to use a 2 way table?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555776" y="2132858"/>
            <a:ext cx="6336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Two way tables are useful for situations  that have two dimensions or two variables.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627784" y="2924944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17" name="Rectangle 16"/>
          <p:cNvSpPr/>
          <p:nvPr/>
        </p:nvSpPr>
        <p:spPr>
          <a:xfrm>
            <a:off x="2483768" y="3212979"/>
            <a:ext cx="62646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Emma has collected information about the cats and dogs that children in her class have as pets.</a:t>
            </a:r>
            <a:r>
              <a:rPr lang="en-US" sz="1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1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There are 30 pupils. For each pupil, there are four possible responses they could make:</a:t>
            </a:r>
            <a:endParaRPr lang="en-US" sz="14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pupil has a cat and a dog.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pupil has a cat but not a dog.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pupil has a dog but not a cat.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pupil does not have a cat or a dog.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This information can be represented in the table below.</a:t>
            </a:r>
            <a:endParaRPr lang="en-US" sz="14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27784" y="1628800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Revision: Not for Notes.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91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Two Way Tables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When and why do we use 2 way tables?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is it appropriate to use a 2 way table?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555776" y="1916832"/>
            <a:ext cx="6336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Two way tables are useful for situations  that have two dimensions or two variables.</a:t>
            </a:r>
            <a:endParaRPr lang="en-AU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2627784" y="2420888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699792" y="4823460"/>
          <a:ext cx="6096000" cy="20345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32000"/>
                <a:gridCol w="2032000"/>
                <a:gridCol w="2032000"/>
              </a:tblGrid>
              <a:tr h="556260">
                <a:tc>
                  <a:txBody>
                    <a:bodyPr/>
                    <a:lstStyle/>
                    <a:p>
                      <a:r>
                        <a:rPr lang="en-AU" sz="1200" dirty="0"/>
                        <a:t> 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Has a dog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Does not have a dog</a:t>
                      </a:r>
                    </a:p>
                  </a:txBody>
                  <a:tcPr marL="95251" marR="95251" marT="95250" marB="95250" anchor="ctr"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lang="en-AU" sz="1200" dirty="0"/>
                        <a:t>Has a cat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These pupils have both a cat and a dog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200"/>
                        <a:t>These pupils have a cat but not a dog</a:t>
                      </a:r>
                    </a:p>
                  </a:txBody>
                  <a:tcPr marL="95251" marR="95251" marT="95250" marB="95250" anchor="ctr"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lang="en-AU" sz="1200"/>
                        <a:t>Does not have a cat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These pupils have a dog but not a cat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These pupils do not have a cat or a dog</a:t>
                      </a:r>
                    </a:p>
                  </a:txBody>
                  <a:tcPr marL="95251" marR="95251" marT="95250" marB="95250" anchor="ctr"/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2483768" y="2708920"/>
            <a:ext cx="62646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Emma has collected information about the cats and dogs that children in her class have as pets.</a:t>
            </a:r>
            <a:r>
              <a:rPr lang="en-US" sz="1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14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There are 30 pupils. For each pupil, there are four possible responses they could make:</a:t>
            </a:r>
            <a:endParaRPr lang="en-US" sz="14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pupil has a cat and a dog.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pupil has a cat but not a dog.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pupil has a dog but not a cat.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pupil does not have a cat or a dog.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This information can be represented in the table below.</a:t>
            </a:r>
            <a:endParaRPr lang="en-US" sz="1400" dirty="0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27784" y="1556792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Revision: Not for Notes.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91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Two Way Tables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When and why do we use 2 way tables?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is it appropriate to use a 2 way table?</a:t>
            </a:r>
            <a:endParaRPr lang="en-AU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483768" y="2420888"/>
          <a:ext cx="6096000" cy="19431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32000"/>
                <a:gridCol w="2032000"/>
                <a:gridCol w="2032000"/>
              </a:tblGrid>
              <a:tr h="739140">
                <a:tc>
                  <a:txBody>
                    <a:bodyPr/>
                    <a:lstStyle/>
                    <a:p>
                      <a:r>
                        <a:rPr lang="en-AU" sz="1800" dirty="0"/>
                        <a:t> 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Has a dog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800"/>
                        <a:t>Does not have a dog</a:t>
                      </a:r>
                    </a:p>
                  </a:txBody>
                  <a:tcPr marL="95251" marR="95251" marT="95250" marB="95250" anchor="ctr"/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lang="en-AU" sz="1800"/>
                        <a:t>Has a cat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8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4</a:t>
                      </a:r>
                    </a:p>
                  </a:txBody>
                  <a:tcPr marL="95251" marR="95251" marT="95250" marB="95250" anchor="ctr"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lang="en-AU" sz="1800"/>
                        <a:t>Does not have a cat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800"/>
                        <a:t>12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 </a:t>
                      </a:r>
                    </a:p>
                  </a:txBody>
                  <a:tcPr marL="95251" marR="95251" marT="95250" marB="95250" anchor="ctr"/>
                </a:tc>
              </a:tr>
            </a:tbl>
          </a:graphicData>
        </a:graphic>
      </p:graphicFrame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2483768" y="4365104"/>
            <a:ext cx="6480720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Emma has missed out one of the numbers, but we know that there are 30 pupils in her class.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83768" y="1988842"/>
            <a:ext cx="648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When Emma has entered some of her data, the table looks like this: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7784" y="1556792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Revision: Not for Notes.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91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Two Way Tables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When and why do we use 2 way tables?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50"/>
            <a:ext cx="226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When is it appropriate to use a 2 way table?</a:t>
            </a:r>
            <a:endParaRPr lang="en-AU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483768" y="2420888"/>
          <a:ext cx="6096000" cy="19431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32000"/>
                <a:gridCol w="2032000"/>
                <a:gridCol w="2032000"/>
              </a:tblGrid>
              <a:tr h="739140">
                <a:tc>
                  <a:txBody>
                    <a:bodyPr/>
                    <a:lstStyle/>
                    <a:p>
                      <a:r>
                        <a:rPr lang="en-AU" sz="1800" dirty="0"/>
                        <a:t> 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Has a dog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800"/>
                        <a:t>Does not have a dog</a:t>
                      </a:r>
                    </a:p>
                  </a:txBody>
                  <a:tcPr marL="95251" marR="95251" marT="95250" marB="95250" anchor="ctr"/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lang="en-AU" sz="1800"/>
                        <a:t>Has a cat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8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4</a:t>
                      </a:r>
                    </a:p>
                  </a:txBody>
                  <a:tcPr marL="95251" marR="95251" marT="95250" marB="95250" anchor="ctr"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lang="en-AU" sz="1800"/>
                        <a:t>Does not have a cat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800"/>
                        <a:t>12</a:t>
                      </a:r>
                    </a:p>
                  </a:txBody>
                  <a:tcPr marL="95251" marR="95251" marT="95250" marB="95250" anchor="ctr"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 </a:t>
                      </a:r>
                    </a:p>
                  </a:txBody>
                  <a:tcPr marL="95251" marR="95251" marT="95250" marB="95250" anchor="ctr"/>
                </a:tc>
              </a:tr>
            </a:tbl>
          </a:graphicData>
        </a:graphic>
      </p:graphicFrame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2483768" y="4365104"/>
            <a:ext cx="6480720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Emma has missed out one of the numbers, but we know that there are 30 pupils in her class.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83768" y="1988842"/>
            <a:ext cx="6480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When Emma has entered some of her data, the table looks like this: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3768" y="5445224"/>
            <a:ext cx="64807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AU" sz="1600" dirty="0" smtClean="0">
                <a:solidFill>
                  <a:schemeClr val="tx2"/>
                </a:solidFill>
              </a:rPr>
              <a:t>How many pupils do not have a cat or a dog?</a:t>
            </a:r>
          </a:p>
          <a:p>
            <a:pPr marL="342900" indent="-342900">
              <a:buAutoNum type="alphaLcParenR"/>
            </a:pPr>
            <a:r>
              <a:rPr lang="en-AU" sz="1600" dirty="0" smtClean="0">
                <a:solidFill>
                  <a:schemeClr val="tx2"/>
                </a:solidFill>
              </a:rPr>
              <a:t>How many pupils have a dog?</a:t>
            </a:r>
          </a:p>
          <a:p>
            <a:pPr marL="342900" indent="-342900">
              <a:buAutoNum type="alphaLcParenR"/>
            </a:pPr>
            <a:r>
              <a:rPr lang="en-AU" sz="1600" dirty="0" smtClean="0">
                <a:solidFill>
                  <a:schemeClr val="tx2"/>
                </a:solidFill>
              </a:rPr>
              <a:t>How many pupils have a cat?</a:t>
            </a:r>
          </a:p>
          <a:p>
            <a:pPr marL="342900" indent="-342900">
              <a:buAutoNum type="alphaLcParenR"/>
            </a:pPr>
            <a:r>
              <a:rPr lang="en-AU" sz="1600" dirty="0" smtClean="0">
                <a:solidFill>
                  <a:schemeClr val="tx2"/>
                </a:solidFill>
              </a:rPr>
              <a:t>How many pupils have at least one of these pets?</a:t>
            </a:r>
            <a:endParaRPr lang="en-AU" sz="1600" dirty="0">
              <a:solidFill>
                <a:schemeClr val="tx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55776" y="1556792"/>
            <a:ext cx="51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Revision: Not for Notes.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91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Two Way Tables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When and why do we use 2 way tables?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267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probability from a two way table?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483768" y="1988842"/>
            <a:ext cx="6192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The information below measures reaction times and the time (in hours) students said they spent watching </a:t>
            </a:r>
            <a:r>
              <a:rPr lang="en-AU" sz="1600" dirty="0" err="1" smtClean="0"/>
              <a:t>tv</a:t>
            </a:r>
            <a:r>
              <a:rPr lang="en-AU" sz="1600" dirty="0" smtClean="0"/>
              <a:t> on school nights.</a:t>
            </a:r>
            <a:endParaRPr lang="en-AU" sz="1600" dirty="0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7" y="2564905"/>
            <a:ext cx="4104455" cy="147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70" y="4149080"/>
            <a:ext cx="6187033" cy="1714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491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Two Way Tables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3" y="1078504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When and why do we use 2 way tables?</a:t>
            </a:r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2267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probability from a two way table?</a:t>
            </a:r>
            <a:endParaRPr lang="en-AU" dirty="0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43810" y="1988842"/>
            <a:ext cx="4104455" cy="147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6" y="3633957"/>
            <a:ext cx="5850807" cy="3224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4" y="1124746"/>
            <a:ext cx="5821089" cy="5347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176" y="1619250"/>
            <a:ext cx="8629651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19607" y="461690"/>
            <a:ext cx="7242917" cy="1305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64600" y="242400"/>
            <a:ext cx="83529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1. The </a:t>
            </a:r>
            <a:r>
              <a:rPr lang="en-GB" sz="1600" dirty="0">
                <a:solidFill>
                  <a:prstClr val="black"/>
                </a:solidFill>
              </a:rPr>
              <a:t>two way table shows the distribution of members of the audience at a play. </a:t>
            </a:r>
            <a:endParaRPr lang="en-GB" sz="1600" dirty="0"/>
          </a:p>
        </p:txBody>
      </p:sp>
      <p:sp>
        <p:nvSpPr>
          <p:cNvPr id="6" name="Rectangle 5"/>
          <p:cNvSpPr/>
          <p:nvPr/>
        </p:nvSpPr>
        <p:spPr>
          <a:xfrm>
            <a:off x="2479234" y="-3182"/>
            <a:ext cx="290637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b="1" u="sng" dirty="0" smtClean="0">
                <a:solidFill>
                  <a:prstClr val="black"/>
                </a:solidFill>
              </a:rPr>
              <a:t>Probability from two way tables</a:t>
            </a:r>
            <a:endParaRPr lang="en-GB" sz="1600" b="1" u="sng" dirty="0"/>
          </a:p>
        </p:txBody>
      </p:sp>
      <p:sp>
        <p:nvSpPr>
          <p:cNvPr id="7" name="Rectangle 6"/>
          <p:cNvSpPr/>
          <p:nvPr/>
        </p:nvSpPr>
        <p:spPr>
          <a:xfrm>
            <a:off x="390497" y="1838437"/>
            <a:ext cx="2801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(a) Complete the two way table</a:t>
            </a:r>
            <a:endParaRPr lang="en-GB" sz="1600" dirty="0"/>
          </a:p>
        </p:txBody>
      </p:sp>
      <p:sp>
        <p:nvSpPr>
          <p:cNvPr id="8" name="Rectangle 7"/>
          <p:cNvSpPr/>
          <p:nvPr/>
        </p:nvSpPr>
        <p:spPr>
          <a:xfrm>
            <a:off x="378580" y="2140723"/>
            <a:ext cx="82418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(b) What is the probability that a randomly chosen audience member is an adult and is seated on the balcony?</a:t>
            </a:r>
            <a:endParaRPr lang="en-GB" sz="16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148065" y="2733695"/>
            <a:ext cx="34723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8578" y="2847995"/>
            <a:ext cx="824180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(c) What is the probability that a randomly chosen audience member is a child seated in the circle?</a:t>
            </a:r>
            <a:endParaRPr lang="en-GB" sz="16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148064" y="3440967"/>
            <a:ext cx="34723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90500" y="3552183"/>
            <a:ext cx="82418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(d) What is the probability that a randomly chosen audience member is an adult?</a:t>
            </a:r>
            <a:endParaRPr lang="en-GB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5159985" y="4145155"/>
            <a:ext cx="34723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90500" y="4255708"/>
            <a:ext cx="82418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(e) What is the probability that a randomly chosen audience member is sat on the balcony?</a:t>
            </a:r>
            <a:endParaRPr lang="en-GB" sz="1600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5159985" y="4848680"/>
            <a:ext cx="34723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34341" y="5055954"/>
            <a:ext cx="82418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(f) What is the probability that a randomly chosen audience member is seated in the stalls?</a:t>
            </a:r>
            <a:endParaRPr lang="en-GB" sz="1600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5203825" y="5648926"/>
            <a:ext cx="34723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34341" y="5759479"/>
            <a:ext cx="82418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(e) What is the probability that a randomly chosen audience member is a child?</a:t>
            </a:r>
            <a:endParaRPr lang="en-GB" sz="16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5203825" y="6352451"/>
            <a:ext cx="34723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324870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16684" y="228629"/>
            <a:ext cx="6500555" cy="1396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0497" y="0"/>
            <a:ext cx="83529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prstClr val="black"/>
                </a:solidFill>
              </a:rPr>
              <a:t>2</a:t>
            </a:r>
            <a:r>
              <a:rPr lang="en-GB" sz="1600" dirty="0" smtClean="0">
                <a:solidFill>
                  <a:prstClr val="black"/>
                </a:solidFill>
              </a:rPr>
              <a:t>. The </a:t>
            </a:r>
            <a:r>
              <a:rPr lang="en-GB" sz="1600" dirty="0">
                <a:solidFill>
                  <a:prstClr val="black"/>
                </a:solidFill>
              </a:rPr>
              <a:t>two way table shows </a:t>
            </a:r>
            <a:r>
              <a:rPr lang="en-GB" sz="1600" dirty="0" smtClean="0">
                <a:solidFill>
                  <a:prstClr val="black"/>
                </a:solidFill>
              </a:rPr>
              <a:t>which science some students prefer.</a:t>
            </a:r>
            <a:endParaRPr lang="en-GB" sz="1600" dirty="0"/>
          </a:p>
        </p:txBody>
      </p:sp>
      <p:sp>
        <p:nvSpPr>
          <p:cNvPr id="7" name="Rectangle 6"/>
          <p:cNvSpPr/>
          <p:nvPr/>
        </p:nvSpPr>
        <p:spPr>
          <a:xfrm>
            <a:off x="316395" y="1596038"/>
            <a:ext cx="28014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(a) Complete the two way table</a:t>
            </a:r>
            <a:endParaRPr lang="en-GB" sz="1600" dirty="0"/>
          </a:p>
        </p:txBody>
      </p:sp>
      <p:sp>
        <p:nvSpPr>
          <p:cNvPr id="8" name="Rectangle 7"/>
          <p:cNvSpPr/>
          <p:nvPr/>
        </p:nvSpPr>
        <p:spPr>
          <a:xfrm>
            <a:off x="304476" y="1898323"/>
            <a:ext cx="82418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(b) What is the probability that a randomly chosen student is a girl who prefers biology?</a:t>
            </a:r>
            <a:endParaRPr lang="en-GB" sz="16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073961" y="2491295"/>
            <a:ext cx="34723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04474" y="2605595"/>
            <a:ext cx="82418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(c) What is the probability that a randomly chosen student is a boy who prefers physics?</a:t>
            </a:r>
            <a:endParaRPr lang="en-GB" sz="1600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073960" y="3198568"/>
            <a:ext cx="34723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16396" y="3309783"/>
            <a:ext cx="82418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(d) What is the probability that a randomly chosen student is a boy who prefers biology?</a:t>
            </a:r>
            <a:endParaRPr lang="en-GB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5085881" y="3902756"/>
            <a:ext cx="34723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16396" y="4013307"/>
            <a:ext cx="82418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(e) What is the probability that a randomly chosen student is a boy?</a:t>
            </a:r>
            <a:endParaRPr lang="en-GB" sz="1600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5085881" y="4606280"/>
            <a:ext cx="34723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60237" y="4813554"/>
            <a:ext cx="82418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(f) What is the probability that a randomly chosen student prefers biology?</a:t>
            </a:r>
            <a:endParaRPr lang="en-GB" sz="1600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5129723" y="5406527"/>
            <a:ext cx="34723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0237" y="5517079"/>
            <a:ext cx="82418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(e) What is the probability that a randomly chosen student prefers physics?</a:t>
            </a:r>
            <a:endParaRPr lang="en-GB" sz="1600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5129723" y="6110051"/>
            <a:ext cx="3472323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27640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4365104"/>
            <a:ext cx="3816424" cy="2232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1268760"/>
            <a:ext cx="5554663" cy="2868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56704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</TotalTime>
  <Words>936</Words>
  <Application>Microsoft Office PowerPoint</Application>
  <PresentationFormat>On-screen Show (4:3)</PresentationFormat>
  <Paragraphs>177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My Probability Interactive Notebook</vt:lpstr>
      <vt:lpstr>Create your own front page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Task</vt:lpstr>
      <vt:lpstr>Task</vt:lpstr>
      <vt:lpstr>Slide 14</vt:lpstr>
      <vt:lpstr>Slide 15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84</cp:revision>
  <dcterms:created xsi:type="dcterms:W3CDTF">2014-05-14T02:58:57Z</dcterms:created>
  <dcterms:modified xsi:type="dcterms:W3CDTF">2015-06-14T05:02:28Z</dcterms:modified>
</cp:coreProperties>
</file>
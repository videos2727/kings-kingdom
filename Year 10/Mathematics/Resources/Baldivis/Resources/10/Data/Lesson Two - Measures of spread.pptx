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304" r:id="rId3"/>
    <p:sldId id="259" r:id="rId4"/>
    <p:sldId id="258" r:id="rId5"/>
    <p:sldId id="303" r:id="rId6"/>
    <p:sldId id="305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24" r:id="rId18"/>
    <p:sldId id="335" r:id="rId19"/>
    <p:sldId id="301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2664" y="-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AU"/>
  <c:chart>
    <c:plotArea>
      <c:layout/>
      <c:barChart>
        <c:barDir val="col"/>
        <c:grouping val="clustered"/>
        <c:ser>
          <c:idx val="0"/>
          <c:order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73484544"/>
        <c:axId val="74072832"/>
      </c:barChart>
      <c:catAx>
        <c:axId val="73484544"/>
        <c:scaling>
          <c:orientation val="minMax"/>
        </c:scaling>
        <c:axPos val="b"/>
        <c:tickLblPos val="nextTo"/>
        <c:crossAx val="74072832"/>
        <c:crosses val="autoZero"/>
        <c:auto val="1"/>
        <c:lblAlgn val="ctr"/>
        <c:lblOffset val="100"/>
      </c:catAx>
      <c:valAx>
        <c:axId val="74072832"/>
        <c:scaling>
          <c:orientation val="minMax"/>
        </c:scaling>
        <c:axPos val="l"/>
        <c:majorGridlines/>
        <c:numFmt formatCode="General" sourceLinked="1"/>
        <c:tickLblPos val="nextTo"/>
        <c:crossAx val="73484544"/>
        <c:crosses val="autoZero"/>
        <c:crossBetween val="between"/>
      </c:valAx>
    </c:plotArea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</c:plotArea>
    <c:plotVisOnly val="1"/>
    <c:dispBlanksAs val="zero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7/03/2015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840" y="2204864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is the distance between the largest and smallest values.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840" y="2204864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is the distance between the largest and smallest values.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512" y="342900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range calculated?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840" y="2204864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is the distance between the largest and smallest values.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292494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range calculated?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203848" y="2924944"/>
            <a:ext cx="504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= Maximum – Minimum.</a:t>
            </a:r>
          </a:p>
          <a:p>
            <a:endParaRPr lang="en-AU" dirty="0" smtClean="0"/>
          </a:p>
          <a:p>
            <a:r>
              <a:rPr lang="en-AU" dirty="0" smtClean="0"/>
              <a:t>Example:</a:t>
            </a:r>
          </a:p>
          <a:p>
            <a:r>
              <a:rPr lang="en-AU" dirty="0" smtClean="0"/>
              <a:t>2,4,5,5,7,8,9,11,15,17,19,21</a:t>
            </a:r>
          </a:p>
          <a:p>
            <a:endParaRPr lang="en-AU" dirty="0" smtClean="0"/>
          </a:p>
          <a:p>
            <a:r>
              <a:rPr lang="en-AU" dirty="0" smtClean="0"/>
              <a:t>Range = 21 – 2</a:t>
            </a:r>
          </a:p>
          <a:p>
            <a:r>
              <a:rPr lang="en-AU" dirty="0" smtClean="0"/>
              <a:t>             = 19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840" y="2204864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is the distance between the largest and smallest values.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292494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range calculated?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203848" y="2924944"/>
            <a:ext cx="504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= Maximum – Minimum.</a:t>
            </a:r>
          </a:p>
          <a:p>
            <a:endParaRPr lang="en-AU" dirty="0" smtClean="0"/>
          </a:p>
          <a:p>
            <a:r>
              <a:rPr lang="en-AU" dirty="0" smtClean="0"/>
              <a:t>Example:</a:t>
            </a:r>
          </a:p>
          <a:p>
            <a:r>
              <a:rPr lang="en-AU" dirty="0" smtClean="0"/>
              <a:t>2,4,5,5,7,8,9,11,15,17,19,21</a:t>
            </a:r>
          </a:p>
          <a:p>
            <a:endParaRPr lang="en-AU" dirty="0" smtClean="0"/>
          </a:p>
          <a:p>
            <a:r>
              <a:rPr lang="en-AU" dirty="0" smtClean="0"/>
              <a:t>Range = 21 – 2</a:t>
            </a:r>
          </a:p>
          <a:p>
            <a:r>
              <a:rPr lang="en-AU" dirty="0" smtClean="0"/>
              <a:t>             = 19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51520" y="522920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inter-quartile range?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840" y="2204864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is the distance between the largest and smallest values.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292494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range calculated?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203848" y="2924944"/>
            <a:ext cx="504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= Maximum – Minimum.</a:t>
            </a:r>
          </a:p>
          <a:p>
            <a:endParaRPr lang="en-AU" dirty="0" smtClean="0"/>
          </a:p>
          <a:p>
            <a:r>
              <a:rPr lang="en-AU" dirty="0" smtClean="0"/>
              <a:t>Example:</a:t>
            </a:r>
          </a:p>
          <a:p>
            <a:r>
              <a:rPr lang="en-AU" dirty="0" smtClean="0"/>
              <a:t>2,4,5,5,7,8,9,11,15,17,19,21</a:t>
            </a:r>
          </a:p>
          <a:p>
            <a:endParaRPr lang="en-AU" dirty="0" smtClean="0"/>
          </a:p>
          <a:p>
            <a:r>
              <a:rPr lang="en-AU" dirty="0" smtClean="0"/>
              <a:t>Range = 21 – 2</a:t>
            </a:r>
          </a:p>
          <a:p>
            <a:r>
              <a:rPr lang="en-AU" dirty="0" smtClean="0"/>
              <a:t>             = 19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51520" y="5013176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inter-quartile range?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9832" y="5013176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 </a:t>
            </a:r>
            <a:r>
              <a:rPr lang="en-AU" b="1" dirty="0" smtClean="0"/>
              <a:t>inter-quartile </a:t>
            </a:r>
            <a:r>
              <a:rPr lang="en-AU" b="1" dirty="0" smtClean="0"/>
              <a:t>range</a:t>
            </a:r>
            <a:r>
              <a:rPr lang="en-AU" dirty="0" smtClean="0"/>
              <a:t> (IQR) is a measure of variability, based on dividing a data set into quartiles.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79512" y="213285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Range?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1840" y="2204864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is the distance between the largest and smallest values.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292494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is range calculated?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203848" y="2924944"/>
            <a:ext cx="5040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Range = Maximum – Minimum.</a:t>
            </a:r>
          </a:p>
          <a:p>
            <a:endParaRPr lang="en-AU" dirty="0" smtClean="0"/>
          </a:p>
          <a:p>
            <a:r>
              <a:rPr lang="en-AU" dirty="0" smtClean="0"/>
              <a:t>Example:</a:t>
            </a:r>
          </a:p>
          <a:p>
            <a:r>
              <a:rPr lang="en-AU" dirty="0" smtClean="0"/>
              <a:t>2,4,5,5,7,8,9,11,15,17,19,21</a:t>
            </a:r>
          </a:p>
          <a:p>
            <a:endParaRPr lang="en-AU" dirty="0" smtClean="0"/>
          </a:p>
          <a:p>
            <a:r>
              <a:rPr lang="en-AU" dirty="0" smtClean="0"/>
              <a:t>Range = 21 – 2</a:t>
            </a:r>
          </a:p>
          <a:p>
            <a:r>
              <a:rPr lang="en-AU" dirty="0" smtClean="0"/>
              <a:t>             = 19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51520" y="5013176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inter-quartile range?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9832" y="5013176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 </a:t>
            </a:r>
            <a:r>
              <a:rPr lang="en-AU" b="1" dirty="0" smtClean="0"/>
              <a:t>inter-quartile </a:t>
            </a:r>
            <a:r>
              <a:rPr lang="en-AU" b="1" dirty="0" smtClean="0"/>
              <a:t>range</a:t>
            </a:r>
            <a:r>
              <a:rPr lang="en-AU" dirty="0" smtClean="0"/>
              <a:t> (IQR) is a measure of variability, based on dividing a data set into quartiles.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51520" y="602128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quartile?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8" y="198884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inter-quartile range?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9832" y="198884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 </a:t>
            </a:r>
            <a:r>
              <a:rPr lang="en-AU" b="1" dirty="0" smtClean="0"/>
              <a:t>inter-quartile </a:t>
            </a:r>
            <a:r>
              <a:rPr lang="en-AU" b="1" dirty="0" smtClean="0"/>
              <a:t>range</a:t>
            </a:r>
            <a:r>
              <a:rPr lang="en-AU" dirty="0" smtClean="0"/>
              <a:t> (IQR) is a measure of variability, based on dividing a data set into quartiles.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23528" y="278092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quartile?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87824" y="2708920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Quartiles divide a rank-ordered data set into four equal parts. The values that divide each part are called the first, second, and third quartiles; and they are denoted by Q1, Q2, and Q3, respectively</a:t>
            </a:r>
            <a:r>
              <a:rPr lang="en-AU" dirty="0" smtClean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8" y="198884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inter-quartile range?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9832" y="198884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 </a:t>
            </a:r>
            <a:r>
              <a:rPr lang="en-AU" b="1" dirty="0" smtClean="0"/>
              <a:t>inter-quartile </a:t>
            </a:r>
            <a:r>
              <a:rPr lang="en-AU" b="1" dirty="0" smtClean="0"/>
              <a:t>range</a:t>
            </a:r>
            <a:r>
              <a:rPr lang="en-AU" dirty="0" smtClean="0"/>
              <a:t> (IQR) is a measure of variability, based on dividing a data set into quartiles.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23528" y="278092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quartile?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87824" y="2708920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Quartiles divide a rank-ordered data set into four equal parts. The values that divide each part are called the first, second, and third quartiles; and they are denoted by Q1, Q2, and Q3, respectively</a:t>
            </a:r>
            <a:r>
              <a:rPr lang="en-AU" dirty="0" smtClean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512" y="4005064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inter-quartile range of a set of data?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</a:t>
            </a:r>
            <a:r>
              <a:rPr lang="en-AU" sz="2800" dirty="0" smtClean="0"/>
              <a:t>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Explain why range and inter-quartile range are useful tools in measuring spread and how they are calculated. 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8" y="198884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inter-quartile range?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59832" y="198884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 </a:t>
            </a:r>
            <a:r>
              <a:rPr lang="en-AU" b="1" dirty="0" smtClean="0"/>
              <a:t>inter-quartile </a:t>
            </a:r>
            <a:r>
              <a:rPr lang="en-AU" b="1" dirty="0" smtClean="0"/>
              <a:t>range</a:t>
            </a:r>
            <a:r>
              <a:rPr lang="en-AU" dirty="0" smtClean="0"/>
              <a:t> (IQR) is a measure of variability, based on dividing a data set into quartiles.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23528" y="278092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quartile?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87824" y="2708920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Quartiles divide a rank-ordered data set into four equal parts. The values that divide each part are called the first, second, and third quartiles; and they are denoted by Q1, Q2, and Q3, respectively</a:t>
            </a:r>
            <a:r>
              <a:rPr lang="en-AU" dirty="0" smtClean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512" y="4005064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inter-quartile range of a set of data?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059832" y="4221088"/>
            <a:ext cx="5904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dirty="0" smtClean="0"/>
              <a:t>Find the median of the data set.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Find the median of both halves of data. The lower median is the 1</a:t>
            </a:r>
            <a:r>
              <a:rPr lang="en-AU" baseline="30000" dirty="0" smtClean="0"/>
              <a:t>st</a:t>
            </a:r>
            <a:r>
              <a:rPr lang="en-AU" dirty="0" smtClean="0"/>
              <a:t> quartile. The upper median is the 3</a:t>
            </a:r>
            <a:r>
              <a:rPr lang="en-AU" baseline="30000" dirty="0" smtClean="0"/>
              <a:t>rd</a:t>
            </a:r>
            <a:r>
              <a:rPr lang="en-AU" dirty="0" smtClean="0"/>
              <a:t> quartile.</a:t>
            </a:r>
          </a:p>
          <a:p>
            <a:pPr marL="342900" indent="-342900">
              <a:buFont typeface="+mj-lt"/>
              <a:buAutoNum type="arabicPeriod"/>
            </a:pPr>
            <a:r>
              <a:rPr lang="en-AU" dirty="0" smtClean="0"/>
              <a:t>Subtract the two quartile scores.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880" y="5687690"/>
            <a:ext cx="3712840" cy="1170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b="1" dirty="0" smtClean="0"/>
              <a:t>Work </a:t>
            </a:r>
            <a:r>
              <a:rPr lang="en-GB" b="1" dirty="0" smtClean="0"/>
              <a:t>out the median and </a:t>
            </a:r>
            <a:r>
              <a:rPr lang="en-GB" b="1" dirty="0" smtClean="0"/>
              <a:t>inter-quartile </a:t>
            </a:r>
            <a:r>
              <a:rPr lang="en-GB" b="1" dirty="0" smtClean="0"/>
              <a:t>range of each of the following sets of data showing clearly all the steps in your working.  </a:t>
            </a:r>
            <a:endParaRPr lang="en-AU" dirty="0" smtClean="0"/>
          </a:p>
          <a:p>
            <a:pPr>
              <a:buNone/>
            </a:pPr>
            <a:r>
              <a:rPr lang="en-GB" b="1" dirty="0" smtClean="0"/>
              <a:t>	</a:t>
            </a:r>
            <a:r>
              <a:rPr lang="en-GB" b="1" i="1" dirty="0" smtClean="0"/>
              <a:t>Calculators allowed</a:t>
            </a:r>
            <a:endParaRPr lang="en-AU" dirty="0" smtClean="0"/>
          </a:p>
          <a:p>
            <a:pPr>
              <a:buNone/>
            </a:pPr>
            <a:r>
              <a:rPr lang="en-GB" b="1" dirty="0" smtClean="0"/>
              <a:t> </a:t>
            </a:r>
            <a:endParaRPr lang="en-AU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b="1" dirty="0" smtClean="0"/>
              <a:t>3,9,12,15,16,18,21</a:t>
            </a:r>
            <a:endParaRPr lang="en-AU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b="1" dirty="0" smtClean="0"/>
              <a:t>152, 167, 159, 162, 140, 157, 163, 160, 155, 141, 158</a:t>
            </a:r>
            <a:endParaRPr lang="en-AU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b="1" dirty="0" smtClean="0"/>
              <a:t>1.4, 2.7, 0.2, 3.5, 4.1, 2.3, 1.9, 2.2, 1.6, 2.0, 1.6, </a:t>
            </a:r>
            <a:r>
              <a:rPr lang="en-GB" b="1" dirty="0" smtClean="0"/>
              <a:t>2.6, </a:t>
            </a:r>
            <a:r>
              <a:rPr lang="en-GB" b="1" dirty="0" smtClean="0"/>
              <a:t>2.2 ,1.8, 2.9, 3.0 </a:t>
            </a:r>
            <a:endParaRPr lang="en-AU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b="1" dirty="0" smtClean="0"/>
              <a:t>5, 9, 11, 13, 16, 16, 19, 21</a:t>
            </a:r>
            <a:endParaRPr lang="en-AU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b="1" dirty="0" smtClean="0"/>
              <a:t>62,51,48,55,56,43,59,48,57,60,47,55</a:t>
            </a:r>
            <a:endParaRPr lang="en-AU" dirty="0" smtClean="0"/>
          </a:p>
          <a:p>
            <a:pPr>
              <a:buNone/>
            </a:pPr>
            <a:r>
              <a:rPr lang="en-GB" b="1" dirty="0" smtClean="0"/>
              <a:t> </a:t>
            </a:r>
            <a:endParaRPr lang="en-AU" dirty="0" smtClean="0"/>
          </a:p>
          <a:p>
            <a:pPr>
              <a:buNone/>
            </a:pPr>
            <a:endParaRPr lang="en-AU" b="1" dirty="0" smtClean="0"/>
          </a:p>
          <a:p>
            <a:pPr>
              <a:buNone/>
            </a:pP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845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Complete Numbers </a:t>
            </a:r>
            <a:r>
              <a:rPr lang="en-AU" dirty="0" smtClean="0"/>
              <a:t>4 &amp; 5</a:t>
            </a:r>
            <a:r>
              <a:rPr lang="en-AU" dirty="0" smtClean="0"/>
              <a:t> </a:t>
            </a:r>
            <a:r>
              <a:rPr lang="en-AU" dirty="0" smtClean="0"/>
              <a:t>on Page </a:t>
            </a:r>
            <a:r>
              <a:rPr lang="en-AU" dirty="0" smtClean="0"/>
              <a:t>41 </a:t>
            </a:r>
            <a:r>
              <a:rPr lang="en-AU" dirty="0" smtClean="0"/>
              <a:t>of the text.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845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901</Words>
  <Application>Microsoft Office PowerPoint</Application>
  <PresentationFormat>On-screen Show (4:3)</PresentationFormat>
  <Paragraphs>221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 Statistics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Task</vt:lpstr>
      <vt:lpstr>Task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77</cp:revision>
  <dcterms:created xsi:type="dcterms:W3CDTF">2014-05-14T02:58:57Z</dcterms:created>
  <dcterms:modified xsi:type="dcterms:W3CDTF">2015-03-07T03:51:03Z</dcterms:modified>
</cp:coreProperties>
</file>
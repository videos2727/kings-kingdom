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drawings/drawing1.xml" ContentType="application/vnd.openxmlformats-officedocument.drawingml.chartshapes+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xlsx" ContentType="application/vnd.openxmlformats-officedocument.spreadsheetml.sheet"/>
  <Override PartName="/ppt/charts/chart3.xml" ContentType="application/vnd.openxmlformats-officedocument.drawingml.char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60" r:id="rId2"/>
    <p:sldId id="304" r:id="rId3"/>
    <p:sldId id="259" r:id="rId4"/>
    <p:sldId id="258" r:id="rId5"/>
    <p:sldId id="303" r:id="rId6"/>
    <p:sldId id="308" r:id="rId7"/>
    <p:sldId id="322" r:id="rId8"/>
    <p:sldId id="323" r:id="rId9"/>
    <p:sldId id="321" r:id="rId10"/>
    <p:sldId id="306" r:id="rId11"/>
    <p:sldId id="292" r:id="rId12"/>
    <p:sldId id="291"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00FF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35" autoAdjust="0"/>
    <p:restoredTop sz="98401" autoAdjust="0"/>
  </p:normalViewPr>
  <p:slideViewPr>
    <p:cSldViewPr>
      <p:cViewPr>
        <p:scale>
          <a:sx n="75" d="100"/>
          <a:sy n="75" d="100"/>
        </p:scale>
        <p:origin x="-2664" y="-948"/>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Office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Office_Excel_Worksheet2.xlsx"/></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C:\Users\Clem\Documents\2014\Murdoch\Sem2\MAS180\Assignments\Assignment%201\Assignment%201%20Q3.xlsm" TargetMode="External"/></Relationships>
</file>

<file path=ppt/charts/chart1.xml><?xml version="1.0" encoding="utf-8"?>
<c:chartSpace xmlns:c="http://schemas.openxmlformats.org/drawingml/2006/chart" xmlns:a="http://schemas.openxmlformats.org/drawingml/2006/main" xmlns:r="http://schemas.openxmlformats.org/officeDocument/2006/relationships">
  <c:lang val="en-AU"/>
  <c:chart>
    <c:plotArea>
      <c:layout/>
      <c:barChart>
        <c:barDir val="col"/>
        <c:grouping val="clustered"/>
        <c:ser>
          <c:idx val="0"/>
          <c:order val="0"/>
          <c:cat>
            <c:strRef>
              <c:f>Sheet1!$A$2:$A$6</c:f>
              <c:strCache>
                <c:ptCount val="5"/>
                <c:pt idx="0">
                  <c:v>a</c:v>
                </c:pt>
                <c:pt idx="1">
                  <c:v>b</c:v>
                </c:pt>
                <c:pt idx="2">
                  <c:v>c</c:v>
                </c:pt>
                <c:pt idx="3">
                  <c:v>d</c:v>
                </c:pt>
                <c:pt idx="4">
                  <c:v>e</c:v>
                </c:pt>
              </c:strCache>
            </c:strRef>
          </c:cat>
          <c:val>
            <c:numRef>
              <c:f>Sheet1!$B$2:$B$6</c:f>
              <c:numCache>
                <c:formatCode>General</c:formatCode>
                <c:ptCount val="5"/>
                <c:pt idx="0">
                  <c:v>2</c:v>
                </c:pt>
                <c:pt idx="1">
                  <c:v>5</c:v>
                </c:pt>
                <c:pt idx="2">
                  <c:v>6</c:v>
                </c:pt>
                <c:pt idx="3">
                  <c:v>3</c:v>
                </c:pt>
                <c:pt idx="4">
                  <c:v>1</c:v>
                </c:pt>
              </c:numCache>
            </c:numRef>
          </c:val>
        </c:ser>
        <c:axId val="76167808"/>
        <c:axId val="76325248"/>
      </c:barChart>
      <c:catAx>
        <c:axId val="76167808"/>
        <c:scaling>
          <c:orientation val="minMax"/>
        </c:scaling>
        <c:axPos val="b"/>
        <c:tickLblPos val="nextTo"/>
        <c:crossAx val="76325248"/>
        <c:crosses val="autoZero"/>
        <c:auto val="1"/>
        <c:lblAlgn val="ctr"/>
        <c:lblOffset val="100"/>
      </c:catAx>
      <c:valAx>
        <c:axId val="76325248"/>
        <c:scaling>
          <c:orientation val="minMax"/>
        </c:scaling>
        <c:axPos val="l"/>
        <c:majorGridlines/>
        <c:numFmt formatCode="General" sourceLinked="1"/>
        <c:tickLblPos val="nextTo"/>
        <c:crossAx val="76167808"/>
        <c:crosses val="autoZero"/>
        <c:crossBetween val="between"/>
      </c:valAx>
    </c:plotArea>
    <c:plotVisOnly val="1"/>
    <c:dispBlanksAs val="gap"/>
  </c:chart>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AU"/>
  <c:chart>
    <c:title>
      <c:layout/>
    </c:title>
    <c:plotArea>
      <c:layout/>
      <c:pieChart>
        <c:varyColors val="1"/>
        <c:ser>
          <c:idx val="0"/>
          <c:order val="0"/>
          <c:tx>
            <c:strRef>
              <c:f>Sheet1!$B$1</c:f>
              <c:strCache>
                <c:ptCount val="1"/>
              </c:strCache>
            </c:strRef>
          </c:tx>
          <c:cat>
            <c:strRef>
              <c:f>Sheet1!$A$2:$A$6</c:f>
              <c:strCache>
                <c:ptCount val="5"/>
                <c:pt idx="0">
                  <c:v>a</c:v>
                </c:pt>
                <c:pt idx="1">
                  <c:v>b</c:v>
                </c:pt>
                <c:pt idx="2">
                  <c:v>c</c:v>
                </c:pt>
                <c:pt idx="3">
                  <c:v>d</c:v>
                </c:pt>
                <c:pt idx="4">
                  <c:v>e</c:v>
                </c:pt>
              </c:strCache>
            </c:strRef>
          </c:cat>
          <c:val>
            <c:numRef>
              <c:f>Sheet1!$B$2:$B$6</c:f>
              <c:numCache>
                <c:formatCode>General</c:formatCode>
                <c:ptCount val="5"/>
                <c:pt idx="0">
                  <c:v>2</c:v>
                </c:pt>
                <c:pt idx="1">
                  <c:v>5</c:v>
                </c:pt>
                <c:pt idx="2">
                  <c:v>6</c:v>
                </c:pt>
                <c:pt idx="3">
                  <c:v>3</c:v>
                </c:pt>
                <c:pt idx="4">
                  <c:v>1</c:v>
                </c:pt>
              </c:numCache>
            </c:numRef>
          </c:val>
        </c:ser>
        <c:firstSliceAng val="0"/>
      </c:pieChart>
    </c:plotArea>
    <c:plotVisOnly val="1"/>
    <c:dispBlanksAs val="zero"/>
  </c:chart>
  <c:externalData r:id="rId1"/>
</c:chartSpace>
</file>

<file path=ppt/charts/chart3.xml><?xml version="1.0" encoding="utf-8"?>
<c:chartSpace xmlns:c="http://schemas.openxmlformats.org/drawingml/2006/chart" xmlns:a="http://schemas.openxmlformats.org/drawingml/2006/main" xmlns:r="http://schemas.openxmlformats.org/officeDocument/2006/relationships">
  <c:lang val="en-AU"/>
  <c:chart>
    <c:title>
      <c:tx>
        <c:rich>
          <a:bodyPr/>
          <a:lstStyle/>
          <a:p>
            <a:pPr>
              <a:defRPr sz="1000"/>
            </a:pPr>
            <a:r>
              <a:rPr lang="en-US" sz="1200"/>
              <a:t>Accounting Company Starting Salaries: 1999 and 2005</a:t>
            </a:r>
          </a:p>
        </c:rich>
      </c:tx>
      <c:layout/>
    </c:title>
    <c:plotArea>
      <c:layout>
        <c:manualLayout>
          <c:layoutTarget val="inner"/>
          <c:xMode val="edge"/>
          <c:yMode val="edge"/>
          <c:x val="8.4483464566929165E-2"/>
          <c:y val="2.5230236220472452E-2"/>
          <c:w val="0.7724035228644679"/>
          <c:h val="0.85283123146192152"/>
        </c:manualLayout>
      </c:layout>
      <c:scatterChart>
        <c:scatterStyle val="lineMarker"/>
        <c:ser>
          <c:idx val="0"/>
          <c:order val="0"/>
          <c:spPr>
            <a:ln w="12700">
              <a:solidFill>
                <a:srgbClr val="000000"/>
              </a:solidFill>
              <a:prstDash val="solid"/>
            </a:ln>
          </c:spPr>
          <c:marker>
            <c:symbol val="none"/>
          </c:marker>
          <c:xVal>
            <c:numLit>
              <c:formatCode>General</c:formatCode>
              <c:ptCount val="6"/>
              <c:pt idx="0">
                <c:v>1</c:v>
              </c:pt>
              <c:pt idx="1">
                <c:v>1</c:v>
              </c:pt>
              <c:pt idx="2">
                <c:v>0.70000000000000051</c:v>
              </c:pt>
              <c:pt idx="3">
                <c:v>0.70000000000000051</c:v>
              </c:pt>
              <c:pt idx="4">
                <c:v>1</c:v>
              </c:pt>
              <c:pt idx="5">
                <c:v>1</c:v>
              </c:pt>
            </c:numLit>
          </c:xVal>
          <c:yVal>
            <c:numLit>
              <c:formatCode>General</c:formatCode>
              <c:ptCount val="6"/>
              <c:pt idx="0">
                <c:v>29</c:v>
              </c:pt>
              <c:pt idx="1">
                <c:v>34</c:v>
              </c:pt>
              <c:pt idx="2">
                <c:v>34</c:v>
              </c:pt>
              <c:pt idx="3">
                <c:v>45</c:v>
              </c:pt>
              <c:pt idx="4">
                <c:v>45</c:v>
              </c:pt>
              <c:pt idx="5">
                <c:v>51</c:v>
              </c:pt>
            </c:numLit>
          </c:yVal>
        </c:ser>
        <c:ser>
          <c:idx val="1"/>
          <c:order val="1"/>
          <c:spPr>
            <a:ln w="12700">
              <a:solidFill>
                <a:srgbClr val="000000"/>
              </a:solidFill>
              <a:prstDash val="solid"/>
            </a:ln>
          </c:spPr>
          <c:marker>
            <c:symbol val="none"/>
          </c:marker>
          <c:xVal>
            <c:numLit>
              <c:formatCode>General</c:formatCode>
              <c:ptCount val="2"/>
              <c:pt idx="0">
                <c:v>0.70000000000000051</c:v>
              </c:pt>
              <c:pt idx="1">
                <c:v>1.3</c:v>
              </c:pt>
            </c:numLit>
          </c:xVal>
          <c:yVal>
            <c:numLit>
              <c:formatCode>General</c:formatCode>
              <c:ptCount val="2"/>
              <c:pt idx="0">
                <c:v>39</c:v>
              </c:pt>
              <c:pt idx="1">
                <c:v>39</c:v>
              </c:pt>
            </c:numLit>
          </c:yVal>
        </c:ser>
        <c:ser>
          <c:idx val="2"/>
          <c:order val="2"/>
          <c:spPr>
            <a:ln w="12700">
              <a:solidFill>
                <a:srgbClr val="000000"/>
              </a:solidFill>
              <a:prstDash val="solid"/>
            </a:ln>
          </c:spPr>
          <c:marker>
            <c:symbol val="none"/>
          </c:marker>
          <c:xVal>
            <c:numLit>
              <c:formatCode>General</c:formatCode>
              <c:ptCount val="4"/>
              <c:pt idx="0">
                <c:v>1</c:v>
              </c:pt>
              <c:pt idx="1">
                <c:v>1.3</c:v>
              </c:pt>
              <c:pt idx="2">
                <c:v>1.3</c:v>
              </c:pt>
              <c:pt idx="3">
                <c:v>1</c:v>
              </c:pt>
            </c:numLit>
          </c:xVal>
          <c:yVal>
            <c:numLit>
              <c:formatCode>General</c:formatCode>
              <c:ptCount val="4"/>
              <c:pt idx="0">
                <c:v>34</c:v>
              </c:pt>
              <c:pt idx="1">
                <c:v>34</c:v>
              </c:pt>
              <c:pt idx="2">
                <c:v>45</c:v>
              </c:pt>
              <c:pt idx="3">
                <c:v>45</c:v>
              </c:pt>
            </c:numLit>
          </c:yVal>
        </c:ser>
        <c:ser>
          <c:idx val="3"/>
          <c:order val="3"/>
          <c:spPr>
            <a:ln w="12700">
              <a:solidFill>
                <a:srgbClr val="000000"/>
              </a:solidFill>
              <a:prstDash val="solid"/>
            </a:ln>
          </c:spPr>
          <c:marker>
            <c:symbol val="none"/>
          </c:marker>
          <c:xVal>
            <c:numLit>
              <c:formatCode>General</c:formatCode>
              <c:ptCount val="2"/>
              <c:pt idx="0">
                <c:v>0.9</c:v>
              </c:pt>
              <c:pt idx="1">
                <c:v>1.1000000000000001</c:v>
              </c:pt>
            </c:numLit>
          </c:xVal>
          <c:yVal>
            <c:numLit>
              <c:formatCode>General</c:formatCode>
              <c:ptCount val="2"/>
              <c:pt idx="0">
                <c:v>29</c:v>
              </c:pt>
              <c:pt idx="1">
                <c:v>29</c:v>
              </c:pt>
            </c:numLit>
          </c:yVal>
        </c:ser>
        <c:ser>
          <c:idx val="4"/>
          <c:order val="4"/>
          <c:spPr>
            <a:ln w="12700">
              <a:solidFill>
                <a:srgbClr val="000000"/>
              </a:solidFill>
              <a:prstDash val="solid"/>
            </a:ln>
          </c:spPr>
          <c:marker>
            <c:symbol val="none"/>
          </c:marker>
          <c:xVal>
            <c:numLit>
              <c:formatCode>General</c:formatCode>
              <c:ptCount val="2"/>
              <c:pt idx="0">
                <c:v>0.9</c:v>
              </c:pt>
              <c:pt idx="1">
                <c:v>1.1000000000000001</c:v>
              </c:pt>
            </c:numLit>
          </c:xVal>
          <c:yVal>
            <c:numLit>
              <c:formatCode>General</c:formatCode>
              <c:ptCount val="2"/>
              <c:pt idx="0">
                <c:v>51</c:v>
              </c:pt>
              <c:pt idx="1">
                <c:v>51</c:v>
              </c:pt>
            </c:numLit>
          </c:yVal>
        </c:ser>
        <c:ser>
          <c:idx val="5"/>
          <c:order val="5"/>
          <c:spPr>
            <a:ln w="12700">
              <a:solidFill>
                <a:srgbClr val="000000"/>
              </a:solidFill>
              <a:prstDash val="solid"/>
            </a:ln>
          </c:spPr>
          <c:marker>
            <c:symbol val="none"/>
          </c:marker>
          <c:xVal>
            <c:numLit>
              <c:formatCode>General</c:formatCode>
              <c:ptCount val="6"/>
              <c:pt idx="0">
                <c:v>2</c:v>
              </c:pt>
              <c:pt idx="1">
                <c:v>2</c:v>
              </c:pt>
              <c:pt idx="2">
                <c:v>1.7</c:v>
              </c:pt>
              <c:pt idx="3">
                <c:v>1.7</c:v>
              </c:pt>
              <c:pt idx="4">
                <c:v>2</c:v>
              </c:pt>
              <c:pt idx="5">
                <c:v>2</c:v>
              </c:pt>
            </c:numLit>
          </c:xVal>
          <c:yVal>
            <c:numLit>
              <c:formatCode>General</c:formatCode>
              <c:ptCount val="6"/>
              <c:pt idx="0">
                <c:v>32</c:v>
              </c:pt>
              <c:pt idx="1">
                <c:v>37</c:v>
              </c:pt>
              <c:pt idx="2">
                <c:v>37</c:v>
              </c:pt>
              <c:pt idx="3">
                <c:v>49</c:v>
              </c:pt>
              <c:pt idx="4">
                <c:v>49</c:v>
              </c:pt>
              <c:pt idx="5">
                <c:v>61</c:v>
              </c:pt>
            </c:numLit>
          </c:yVal>
        </c:ser>
        <c:ser>
          <c:idx val="6"/>
          <c:order val="6"/>
          <c:spPr>
            <a:ln w="12700">
              <a:solidFill>
                <a:srgbClr val="000000"/>
              </a:solidFill>
              <a:prstDash val="solid"/>
            </a:ln>
          </c:spPr>
          <c:marker>
            <c:symbol val="none"/>
          </c:marker>
          <c:xVal>
            <c:numLit>
              <c:formatCode>General</c:formatCode>
              <c:ptCount val="2"/>
              <c:pt idx="0">
                <c:v>1.7</c:v>
              </c:pt>
              <c:pt idx="1">
                <c:v>2.2999999999999998</c:v>
              </c:pt>
            </c:numLit>
          </c:xVal>
          <c:yVal>
            <c:numLit>
              <c:formatCode>General</c:formatCode>
              <c:ptCount val="2"/>
              <c:pt idx="0">
                <c:v>46</c:v>
              </c:pt>
              <c:pt idx="1">
                <c:v>46</c:v>
              </c:pt>
            </c:numLit>
          </c:yVal>
        </c:ser>
        <c:ser>
          <c:idx val="7"/>
          <c:order val="7"/>
          <c:spPr>
            <a:ln w="12700">
              <a:solidFill>
                <a:srgbClr val="000000"/>
              </a:solidFill>
              <a:prstDash val="solid"/>
            </a:ln>
          </c:spPr>
          <c:marker>
            <c:symbol val="none"/>
          </c:marker>
          <c:xVal>
            <c:numLit>
              <c:formatCode>General</c:formatCode>
              <c:ptCount val="4"/>
              <c:pt idx="0">
                <c:v>2</c:v>
              </c:pt>
              <c:pt idx="1">
                <c:v>2.2999999999999998</c:v>
              </c:pt>
              <c:pt idx="2">
                <c:v>2.2999999999999998</c:v>
              </c:pt>
              <c:pt idx="3">
                <c:v>2</c:v>
              </c:pt>
            </c:numLit>
          </c:xVal>
          <c:yVal>
            <c:numLit>
              <c:formatCode>General</c:formatCode>
              <c:ptCount val="4"/>
              <c:pt idx="0">
                <c:v>37</c:v>
              </c:pt>
              <c:pt idx="1">
                <c:v>37</c:v>
              </c:pt>
              <c:pt idx="2">
                <c:v>49</c:v>
              </c:pt>
              <c:pt idx="3">
                <c:v>49</c:v>
              </c:pt>
            </c:numLit>
          </c:yVal>
        </c:ser>
        <c:ser>
          <c:idx val="8"/>
          <c:order val="8"/>
          <c:spPr>
            <a:ln w="12700">
              <a:solidFill>
                <a:srgbClr val="000000"/>
              </a:solidFill>
              <a:prstDash val="solid"/>
            </a:ln>
          </c:spPr>
          <c:marker>
            <c:symbol val="none"/>
          </c:marker>
          <c:xVal>
            <c:numLit>
              <c:formatCode>General</c:formatCode>
              <c:ptCount val="2"/>
              <c:pt idx="0">
                <c:v>1.9000000000000001</c:v>
              </c:pt>
              <c:pt idx="1">
                <c:v>2.1</c:v>
              </c:pt>
            </c:numLit>
          </c:xVal>
          <c:yVal>
            <c:numLit>
              <c:formatCode>General</c:formatCode>
              <c:ptCount val="2"/>
              <c:pt idx="0">
                <c:v>32</c:v>
              </c:pt>
              <c:pt idx="1">
                <c:v>32</c:v>
              </c:pt>
            </c:numLit>
          </c:yVal>
        </c:ser>
        <c:ser>
          <c:idx val="9"/>
          <c:order val="9"/>
          <c:spPr>
            <a:ln w="12700">
              <a:solidFill>
                <a:srgbClr val="000000"/>
              </a:solidFill>
              <a:prstDash val="solid"/>
            </a:ln>
          </c:spPr>
          <c:marker>
            <c:symbol val="none"/>
          </c:marker>
          <c:xVal>
            <c:numLit>
              <c:formatCode>General</c:formatCode>
              <c:ptCount val="2"/>
              <c:pt idx="0">
                <c:v>1.9000000000000001</c:v>
              </c:pt>
              <c:pt idx="1">
                <c:v>2.1</c:v>
              </c:pt>
            </c:numLit>
          </c:xVal>
          <c:yVal>
            <c:numLit>
              <c:formatCode>General</c:formatCode>
              <c:ptCount val="2"/>
              <c:pt idx="0">
                <c:v>61</c:v>
              </c:pt>
              <c:pt idx="1">
                <c:v>61</c:v>
              </c:pt>
            </c:numLit>
          </c:yVal>
        </c:ser>
        <c:axId val="80357632"/>
        <c:axId val="80405632"/>
      </c:scatterChart>
      <c:valAx>
        <c:axId val="80357632"/>
        <c:scaling>
          <c:orientation val="minMax"/>
          <c:max val="2.7"/>
          <c:min val="0.30000000000000027"/>
        </c:scaling>
        <c:axPos val="b"/>
        <c:numFmt formatCode="General" sourceLinked="1"/>
        <c:majorTickMark val="none"/>
        <c:tickLblPos val="none"/>
        <c:crossAx val="80405632"/>
        <c:crosses val="autoZero"/>
        <c:crossBetween val="midCat"/>
        <c:majorUnit val="1"/>
      </c:valAx>
      <c:valAx>
        <c:axId val="80405632"/>
        <c:scaling>
          <c:orientation val="minMax"/>
          <c:max val="65"/>
          <c:min val="25"/>
        </c:scaling>
        <c:axPos val="l"/>
        <c:title>
          <c:tx>
            <c:rich>
              <a:bodyPr/>
              <a:lstStyle/>
              <a:p>
                <a:pPr>
                  <a:defRPr/>
                </a:pPr>
                <a:r>
                  <a:rPr lang="en-US"/>
                  <a:t>Salaries in $ 1000's</a:t>
                </a:r>
              </a:p>
            </c:rich>
          </c:tx>
          <c:layout/>
        </c:title>
        <c:numFmt formatCode="General" sourceLinked="1"/>
        <c:tickLblPos val="nextTo"/>
        <c:crossAx val="80357632"/>
        <c:crosses val="autoZero"/>
        <c:crossBetween val="midCat"/>
        <c:majorUnit val="5"/>
      </c:valAx>
      <c:spPr>
        <a:noFill/>
        <a:ln w="25400">
          <a:noFill/>
        </a:ln>
      </c:spPr>
    </c:plotArea>
    <c:plotVisOnly val="1"/>
  </c:chart>
  <c:externalData r:id="rId1"/>
  <c:userShapes r:id="rId2"/>
</c:chartSpace>
</file>

<file path=ppt/drawings/drawing1.xml><?xml version="1.0" encoding="utf-8"?>
<c:userShapes xmlns:c="http://schemas.openxmlformats.org/drawingml/2006/chart">
  <cdr:relSizeAnchor xmlns:cdr="http://schemas.openxmlformats.org/drawingml/2006/chartDrawing">
    <cdr:from>
      <cdr:x>0.11615</cdr:x>
      <cdr:y>0.88949</cdr:y>
    </cdr:from>
    <cdr:to>
      <cdr:x>0.49229</cdr:x>
      <cdr:y>0.99285</cdr:y>
    </cdr:to>
    <cdr:sp macro="" textlink="">
      <cdr:nvSpPr>
        <cdr:cNvPr id="2" name="TextBox 1"/>
        <cdr:cNvSpPr txBox="1"/>
      </cdr:nvSpPr>
      <cdr:spPr>
        <a:xfrm xmlns:a="http://schemas.openxmlformats.org/drawingml/2006/main">
          <a:off x="603680" y="4168397"/>
          <a:ext cx="1954968" cy="484374"/>
        </a:xfrm>
        <a:prstGeom xmlns:a="http://schemas.openxmlformats.org/drawingml/2006/main" prst="rect">
          <a:avLst/>
        </a:prstGeom>
      </cdr:spPr>
      <cdr:txBody>
        <a:bodyPr xmlns:a="http://schemas.openxmlformats.org/drawingml/2006/main" vertOverflow="clip" vert="horz" wrap="none" rtlCol="0">
          <a:spAutoFit/>
        </a:bodyPr>
        <a:lstStyle xmlns:a="http://schemas.openxmlformats.org/drawingml/2006/main"/>
        <a:p xmlns:a="http://schemas.openxmlformats.org/drawingml/2006/main">
          <a:pPr algn="ctr"/>
          <a:r>
            <a:rPr lang="en-AU" sz="800" b="0" i="0">
              <a:latin typeface="Arial"/>
            </a:rPr>
            <a:t>1999 Starting Salaries
n = 15</a:t>
          </a:r>
        </a:p>
      </cdr:txBody>
    </cdr:sp>
  </cdr:relSizeAnchor>
  <cdr:relSizeAnchor xmlns:cdr="http://schemas.openxmlformats.org/drawingml/2006/chartDrawing">
    <cdr:from>
      <cdr:x>0.46527</cdr:x>
      <cdr:y>0.88745</cdr:y>
    </cdr:from>
    <cdr:to>
      <cdr:x>0.84141</cdr:x>
      <cdr:y>0.99081</cdr:y>
    </cdr:to>
    <cdr:sp macro="" textlink="">
      <cdr:nvSpPr>
        <cdr:cNvPr id="3" name="TextBox 2"/>
        <cdr:cNvSpPr txBox="1"/>
      </cdr:nvSpPr>
      <cdr:spPr>
        <a:xfrm xmlns:a="http://schemas.openxmlformats.org/drawingml/2006/main">
          <a:off x="2418225" y="4158872"/>
          <a:ext cx="1954967" cy="484374"/>
        </a:xfrm>
        <a:prstGeom xmlns:a="http://schemas.openxmlformats.org/drawingml/2006/main" prst="rect">
          <a:avLst/>
        </a:prstGeom>
      </cdr:spPr>
      <cdr:txBody>
        <a:bodyPr xmlns:a="http://schemas.openxmlformats.org/drawingml/2006/main" vertOverflow="clip" vert="horz" wrap="none" rtlCol="0">
          <a:spAutoFit/>
        </a:bodyPr>
        <a:lstStyle xmlns:a="http://schemas.openxmlformats.org/drawingml/2006/main"/>
        <a:p xmlns:a="http://schemas.openxmlformats.org/drawingml/2006/main">
          <a:pPr algn="ctr"/>
          <a:r>
            <a:rPr lang="en-AU" sz="800" b="0" i="0">
              <a:latin typeface="Arial"/>
            </a:rPr>
            <a:t>2005 Starting Salaries
n = 13</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75AD73A-AE13-444E-A6A8-7967ABAB8119}" type="datetimeFigureOut">
              <a:rPr lang="en-AU" smtClean="0"/>
              <a:pPr/>
              <a:t>22/03/2015</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16DE00-3598-450D-9FD4-B3F4D33F029B}" type="slidenum">
              <a:rPr lang="en-AU" smtClean="0"/>
              <a:pPr/>
              <a:t>‹#›</a:t>
            </a:fld>
            <a:endParaRPr lang="en-AU"/>
          </a:p>
        </p:txBody>
      </p:sp>
    </p:spTree>
    <p:extLst>
      <p:ext uri="{BB962C8B-B14F-4D97-AF65-F5344CB8AC3E}">
        <p14:creationId xmlns="" xmlns:p14="http://schemas.microsoft.com/office/powerpoint/2010/main" val="575940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9516DE00-3598-450D-9FD4-B3F4D33F029B}" type="slidenum">
              <a:rPr lang="en-AU" smtClean="0"/>
              <a:pPr/>
              <a:t>1</a:t>
            </a:fld>
            <a:endParaRPr lang="en-AU"/>
          </a:p>
        </p:txBody>
      </p:sp>
    </p:spTree>
    <p:extLst>
      <p:ext uri="{BB962C8B-B14F-4D97-AF65-F5344CB8AC3E}">
        <p14:creationId xmlns="" xmlns:p14="http://schemas.microsoft.com/office/powerpoint/2010/main" val="648268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22/03/2015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3432648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22/03/2015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3835548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03B91B3-E50F-4EFF-8D5F-21DA810ECD9F}" type="datetimeFigureOut">
              <a:rPr lang="en-AU" smtClean="0"/>
              <a:pPr/>
              <a:t>22/03/2015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4180491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303B91B3-E50F-4EFF-8D5F-21DA810ECD9F}" type="datetimeFigureOut">
              <a:rPr lang="en-AU" smtClean="0"/>
              <a:pPr/>
              <a:t>22/03/2015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1742595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303B91B3-E50F-4EFF-8D5F-21DA810ECD9F}" type="datetimeFigureOut">
              <a:rPr lang="en-AU" smtClean="0"/>
              <a:pPr/>
              <a:t>22/03/2015</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2007182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303B91B3-E50F-4EFF-8D5F-21DA810ECD9F}" type="datetimeFigureOut">
              <a:rPr lang="en-AU" smtClean="0"/>
              <a:pPr/>
              <a:t>22/03/2015</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577235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3B91B3-E50F-4EFF-8D5F-21DA810ECD9F}" type="datetimeFigureOut">
              <a:rPr lang="en-AU" smtClean="0"/>
              <a:pPr/>
              <a:t>22/03/2015</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191991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pPr/>
              <a:t>22/03/2015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818502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pPr/>
              <a:t>22/03/2015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2383982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22/03/2015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4096369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22/03/2015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1880215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B91B3-E50F-4EFF-8D5F-21DA810ECD9F}" type="datetimeFigureOut">
              <a:rPr lang="en-AU" smtClean="0"/>
              <a:pPr/>
              <a:t>22/03/2015</a:t>
            </a:fld>
            <a:endParaRPr lang="en-AU"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2428666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chart" Target="../charts/chart2.xml"/><Relationship Id="rId4" Type="http://schemas.openxmlformats.org/officeDocument/2006/relationships/chart" Target="../charts/char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hart" Target="../charts/chart3.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e4047095\AppData\Local\Microsoft\Windows\Temporary Internet Files\Content.IE5\UN5YM58D\Line_Graph[1].pn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7640" y="1556792"/>
            <a:ext cx="3793604" cy="2927398"/>
          </a:xfrm>
          <a:prstGeom prst="rect">
            <a:avLst/>
          </a:prstGeom>
          <a:noFill/>
          <a:extLst>
            <a:ext uri="{909E8E84-426E-40DD-AFC4-6F175D3DCCD1}">
              <a14:hiddenFill xmlns="" xmlns:a14="http://schemas.microsoft.com/office/drawing/2010/main">
                <a:solidFill>
                  <a:srgbClr val="FFFFFF"/>
                </a:solidFill>
              </a14:hiddenFill>
            </a:ext>
          </a:extLst>
        </p:spPr>
      </p:pic>
      <p:sp>
        <p:nvSpPr>
          <p:cNvPr id="2" name="Title 1"/>
          <p:cNvSpPr>
            <a:spLocks noGrp="1"/>
          </p:cNvSpPr>
          <p:nvPr>
            <p:ph type="ctrTitle"/>
          </p:nvPr>
        </p:nvSpPr>
        <p:spPr>
          <a:xfrm>
            <a:off x="755576" y="260648"/>
            <a:ext cx="7772400" cy="1470025"/>
          </a:xfrm>
        </p:spPr>
        <p:txBody>
          <a:bodyPr/>
          <a:lstStyle/>
          <a:p>
            <a:r>
              <a:rPr lang="en-AU" dirty="0" smtClean="0"/>
              <a:t>My Statistics</a:t>
            </a:r>
            <a:br>
              <a:rPr lang="en-AU" dirty="0" smtClean="0"/>
            </a:br>
            <a:r>
              <a:rPr lang="en-AU" dirty="0" smtClean="0"/>
              <a:t>Interactive Notebook</a:t>
            </a:r>
            <a:endParaRPr lang="en-AU" dirty="0"/>
          </a:p>
        </p:txBody>
      </p:sp>
      <p:sp>
        <p:nvSpPr>
          <p:cNvPr id="3" name="Subtitle 2"/>
          <p:cNvSpPr>
            <a:spLocks noGrp="1"/>
          </p:cNvSpPr>
          <p:nvPr>
            <p:ph type="subTitle" idx="1"/>
          </p:nvPr>
        </p:nvSpPr>
        <p:spPr>
          <a:xfrm>
            <a:off x="600844" y="4467670"/>
            <a:ext cx="6400800" cy="1752600"/>
          </a:xfrm>
        </p:spPr>
        <p:txBody>
          <a:bodyPr>
            <a:normAutofit fontScale="85000" lnSpcReduction="20000"/>
          </a:bodyPr>
          <a:lstStyle/>
          <a:p>
            <a:pPr algn="l"/>
            <a:r>
              <a:rPr lang="en-AU" dirty="0" smtClean="0"/>
              <a:t>Name </a:t>
            </a:r>
          </a:p>
          <a:p>
            <a:pPr algn="l"/>
            <a:r>
              <a:rPr lang="en-AU" dirty="0" smtClean="0"/>
              <a:t>Class </a:t>
            </a:r>
          </a:p>
          <a:p>
            <a:pPr algn="l"/>
            <a:r>
              <a:rPr lang="en-AU" dirty="0" smtClean="0"/>
              <a:t>Teacher </a:t>
            </a:r>
          </a:p>
          <a:p>
            <a:pPr algn="l"/>
            <a:r>
              <a:rPr lang="en-AU" dirty="0" smtClean="0"/>
              <a:t>Term 1 Semester 1</a:t>
            </a:r>
          </a:p>
        </p:txBody>
      </p:sp>
      <p:sp>
        <p:nvSpPr>
          <p:cNvPr id="13" name="TextBox 12"/>
          <p:cNvSpPr txBox="1"/>
          <p:nvPr/>
        </p:nvSpPr>
        <p:spPr>
          <a:xfrm>
            <a:off x="8748464" y="6488668"/>
            <a:ext cx="549775" cy="369332"/>
          </a:xfrm>
          <a:prstGeom prst="rect">
            <a:avLst/>
          </a:prstGeom>
          <a:noFill/>
        </p:spPr>
        <p:txBody>
          <a:bodyPr wrap="square" rtlCol="0">
            <a:spAutoFit/>
          </a:bodyPr>
          <a:lstStyle/>
          <a:p>
            <a:r>
              <a:rPr lang="en-AU" dirty="0"/>
              <a:t>1</a:t>
            </a:r>
          </a:p>
        </p:txBody>
      </p:sp>
      <p:graphicFrame>
        <p:nvGraphicFramePr>
          <p:cNvPr id="16" name="Chart 15"/>
          <p:cNvGraphicFramePr>
            <a:graphicFrameLocks/>
          </p:cNvGraphicFramePr>
          <p:nvPr>
            <p:extLst>
              <p:ext uri="{D42A27DB-BD31-4B8C-83A1-F6EECF244321}">
                <p14:modId xmlns="" xmlns:p14="http://schemas.microsoft.com/office/powerpoint/2010/main" val="4044940676"/>
              </p:ext>
            </p:extLst>
          </p:nvPr>
        </p:nvGraphicFramePr>
        <p:xfrm>
          <a:off x="5369199" y="1700808"/>
          <a:ext cx="3654152" cy="180364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7" name="Chart 16"/>
          <p:cNvGraphicFramePr>
            <a:graphicFrameLocks/>
          </p:cNvGraphicFramePr>
          <p:nvPr>
            <p:extLst>
              <p:ext uri="{D42A27DB-BD31-4B8C-83A1-F6EECF244321}">
                <p14:modId xmlns="" xmlns:p14="http://schemas.microsoft.com/office/powerpoint/2010/main" val="635245832"/>
              </p:ext>
            </p:extLst>
          </p:nvPr>
        </p:nvGraphicFramePr>
        <p:xfrm>
          <a:off x="4283968" y="3212976"/>
          <a:ext cx="4248472" cy="259918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 xmlns:p14="http://schemas.microsoft.com/office/powerpoint/2010/main" val="31250627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AU" dirty="0" smtClean="0"/>
              <a:t>Create your own front page</a:t>
            </a:r>
            <a:endParaRPr lang="en-AU" dirty="0"/>
          </a:p>
        </p:txBody>
      </p:sp>
      <p:sp>
        <p:nvSpPr>
          <p:cNvPr id="4" name="Content Placeholder 3"/>
          <p:cNvSpPr>
            <a:spLocks noGrp="1"/>
          </p:cNvSpPr>
          <p:nvPr>
            <p:ph idx="1"/>
          </p:nvPr>
        </p:nvSpPr>
        <p:spPr/>
        <p:txBody>
          <a:bodyPr>
            <a:normAutofit/>
          </a:bodyPr>
          <a:lstStyle/>
          <a:p>
            <a:pPr marL="0" indent="0">
              <a:buNone/>
            </a:pPr>
            <a:r>
              <a:rPr lang="en-AU" dirty="0" smtClean="0"/>
              <a:t>It needs to contain the following –</a:t>
            </a:r>
          </a:p>
          <a:p>
            <a:pPr>
              <a:buFontTx/>
              <a:buChar char="-"/>
            </a:pPr>
            <a:r>
              <a:rPr lang="en-AU" dirty="0" smtClean="0"/>
              <a:t>My number interactive notebook</a:t>
            </a:r>
          </a:p>
          <a:p>
            <a:pPr>
              <a:buFontTx/>
              <a:buChar char="-"/>
            </a:pPr>
            <a:r>
              <a:rPr lang="en-AU" dirty="0" smtClean="0"/>
              <a:t>Name </a:t>
            </a:r>
          </a:p>
          <a:p>
            <a:pPr>
              <a:buFontTx/>
              <a:buChar char="-"/>
            </a:pPr>
            <a:r>
              <a:rPr lang="en-AU" dirty="0" smtClean="0"/>
              <a:t>Class</a:t>
            </a:r>
          </a:p>
          <a:p>
            <a:pPr>
              <a:buFontTx/>
              <a:buChar char="-"/>
            </a:pPr>
            <a:r>
              <a:rPr lang="en-AU" dirty="0" smtClean="0"/>
              <a:t>Teachers Name</a:t>
            </a:r>
          </a:p>
          <a:p>
            <a:pPr>
              <a:buFontTx/>
              <a:buChar char="-"/>
            </a:pPr>
            <a:r>
              <a:rPr lang="en-AU" dirty="0" smtClean="0"/>
              <a:t>Semester 1 Term 1</a:t>
            </a:r>
          </a:p>
          <a:p>
            <a:pPr>
              <a:buFontTx/>
              <a:buChar char="-"/>
            </a:pPr>
            <a:r>
              <a:rPr lang="en-AU" dirty="0" smtClean="0"/>
              <a:t>Page number 1</a:t>
            </a:r>
            <a:endParaRPr lang="en-AU" dirty="0"/>
          </a:p>
        </p:txBody>
      </p:sp>
    </p:spTree>
    <p:extLst>
      <p:ext uri="{BB962C8B-B14F-4D97-AF65-F5344CB8AC3E}">
        <p14:creationId xmlns="" xmlns:p14="http://schemas.microsoft.com/office/powerpoint/2010/main" val="8286990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smtClean="0"/>
              <a:t>2</a:t>
            </a:r>
            <a:endParaRPr lang="en-AU" dirty="0"/>
          </a:p>
        </p:txBody>
      </p:sp>
      <p:sp>
        <p:nvSpPr>
          <p:cNvPr id="7" name="TextBox 6"/>
          <p:cNvSpPr txBox="1"/>
          <p:nvPr/>
        </p:nvSpPr>
        <p:spPr>
          <a:xfrm>
            <a:off x="8748464" y="6488668"/>
            <a:ext cx="549775" cy="369332"/>
          </a:xfrm>
          <a:prstGeom prst="rect">
            <a:avLst/>
          </a:prstGeom>
          <a:noFill/>
        </p:spPr>
        <p:txBody>
          <a:bodyPr wrap="square" rtlCol="0">
            <a:spAutoFit/>
          </a:bodyPr>
          <a:lstStyle/>
          <a:p>
            <a:r>
              <a:rPr lang="en-AU" dirty="0" smtClean="0"/>
              <a:t>3</a:t>
            </a:r>
            <a:endParaRPr lang="en-AU" dirty="0"/>
          </a:p>
        </p:txBody>
      </p:sp>
      <p:cxnSp>
        <p:nvCxnSpPr>
          <p:cNvPr id="9" name="Straight Connector 8"/>
          <p:cNvCxnSpPr/>
          <p:nvPr/>
        </p:nvCxnSpPr>
        <p:spPr>
          <a:xfrm>
            <a:off x="-143838"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1115616"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p:cNvSpPr txBox="1"/>
          <p:nvPr/>
        </p:nvSpPr>
        <p:spPr>
          <a:xfrm>
            <a:off x="577648" y="5803"/>
            <a:ext cx="932050" cy="338554"/>
          </a:xfrm>
          <a:prstGeom prst="rect">
            <a:avLst/>
          </a:prstGeom>
          <a:noFill/>
        </p:spPr>
        <p:txBody>
          <a:bodyPr wrap="none" rtlCol="0">
            <a:spAutoFit/>
          </a:bodyPr>
          <a:lstStyle/>
          <a:p>
            <a:r>
              <a:rPr lang="en-AU" sz="1600" dirty="0" smtClean="0"/>
              <a:t>Contents</a:t>
            </a:r>
            <a:endParaRPr lang="en-AU" sz="1600" dirty="0"/>
          </a:p>
        </p:txBody>
      </p:sp>
      <p:sp>
        <p:nvSpPr>
          <p:cNvPr id="23" name="TextBox 22"/>
          <p:cNvSpPr txBox="1"/>
          <p:nvPr/>
        </p:nvSpPr>
        <p:spPr>
          <a:xfrm>
            <a:off x="223224" y="374467"/>
            <a:ext cx="580865" cy="338554"/>
          </a:xfrm>
          <a:prstGeom prst="rect">
            <a:avLst/>
          </a:prstGeom>
          <a:noFill/>
        </p:spPr>
        <p:txBody>
          <a:bodyPr wrap="none" rtlCol="0">
            <a:spAutoFit/>
          </a:bodyPr>
          <a:lstStyle/>
          <a:p>
            <a:r>
              <a:rPr lang="en-AU" sz="1600" dirty="0" smtClean="0"/>
              <a:t>Page</a:t>
            </a:r>
            <a:endParaRPr lang="en-AU" sz="1600" dirty="0"/>
          </a:p>
        </p:txBody>
      </p:sp>
      <p:cxnSp>
        <p:nvCxnSpPr>
          <p:cNvPr id="16" name="Straight Connector 15"/>
          <p:cNvCxnSpPr/>
          <p:nvPr/>
        </p:nvCxnSpPr>
        <p:spPr>
          <a:xfrm>
            <a:off x="2143810"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p:cNvSpPr txBox="1"/>
          <p:nvPr/>
        </p:nvSpPr>
        <p:spPr>
          <a:xfrm>
            <a:off x="1403646" y="344357"/>
            <a:ext cx="576504" cy="338554"/>
          </a:xfrm>
          <a:prstGeom prst="rect">
            <a:avLst/>
          </a:prstGeom>
          <a:noFill/>
        </p:spPr>
        <p:txBody>
          <a:bodyPr wrap="none" rtlCol="0">
            <a:spAutoFit/>
          </a:bodyPr>
          <a:lstStyle/>
          <a:p>
            <a:r>
              <a:rPr lang="en-AU" sz="1600" dirty="0" smtClean="0"/>
              <a:t>Date</a:t>
            </a:r>
            <a:endParaRPr lang="en-AU" sz="1600" dirty="0"/>
          </a:p>
        </p:txBody>
      </p:sp>
      <p:sp>
        <p:nvSpPr>
          <p:cNvPr id="18" name="TextBox 17"/>
          <p:cNvSpPr txBox="1"/>
          <p:nvPr/>
        </p:nvSpPr>
        <p:spPr>
          <a:xfrm>
            <a:off x="2555776" y="344357"/>
            <a:ext cx="1398888" cy="338554"/>
          </a:xfrm>
          <a:prstGeom prst="rect">
            <a:avLst/>
          </a:prstGeom>
          <a:noFill/>
        </p:spPr>
        <p:txBody>
          <a:bodyPr wrap="square" rtlCol="0">
            <a:spAutoFit/>
          </a:bodyPr>
          <a:lstStyle/>
          <a:p>
            <a:r>
              <a:rPr lang="en-AU" sz="1600" dirty="0" smtClean="0"/>
              <a:t>Description</a:t>
            </a:r>
            <a:endParaRPr lang="en-AU" sz="1600" dirty="0"/>
          </a:p>
        </p:txBody>
      </p:sp>
      <p:sp>
        <p:nvSpPr>
          <p:cNvPr id="21" name="TextBox 20"/>
          <p:cNvSpPr txBox="1"/>
          <p:nvPr/>
        </p:nvSpPr>
        <p:spPr>
          <a:xfrm>
            <a:off x="5796136" y="66504"/>
            <a:ext cx="2592288" cy="338554"/>
          </a:xfrm>
          <a:prstGeom prst="rect">
            <a:avLst/>
          </a:prstGeom>
          <a:noFill/>
        </p:spPr>
        <p:txBody>
          <a:bodyPr wrap="square" rtlCol="0">
            <a:spAutoFit/>
          </a:bodyPr>
          <a:lstStyle/>
          <a:p>
            <a:r>
              <a:rPr lang="en-AU" sz="1600" dirty="0" smtClean="0"/>
              <a:t>Glossary or Formula Page</a:t>
            </a:r>
            <a:endParaRPr lang="en-AU" sz="1600" dirty="0"/>
          </a:p>
        </p:txBody>
      </p:sp>
    </p:spTree>
    <p:extLst>
      <p:ext uri="{BB962C8B-B14F-4D97-AF65-F5344CB8AC3E}">
        <p14:creationId xmlns="" xmlns:p14="http://schemas.microsoft.com/office/powerpoint/2010/main" val="15154573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a:t>4</a:t>
            </a:r>
          </a:p>
        </p:txBody>
      </p:sp>
      <p:sp>
        <p:nvSpPr>
          <p:cNvPr id="7" name="TextBox 6"/>
          <p:cNvSpPr txBox="1"/>
          <p:nvPr/>
        </p:nvSpPr>
        <p:spPr>
          <a:xfrm>
            <a:off x="8748463" y="6525528"/>
            <a:ext cx="549775" cy="369332"/>
          </a:xfrm>
          <a:prstGeom prst="rect">
            <a:avLst/>
          </a:prstGeom>
          <a:noFill/>
        </p:spPr>
        <p:txBody>
          <a:bodyPr wrap="square" rtlCol="0">
            <a:spAutoFit/>
          </a:bodyPr>
          <a:lstStyle/>
          <a:p>
            <a:r>
              <a:rPr lang="en-AU" dirty="0"/>
              <a:t>5</a:t>
            </a:r>
          </a:p>
        </p:txBody>
      </p:sp>
      <p:cxnSp>
        <p:nvCxnSpPr>
          <p:cNvPr id="9" name="Straight Connector 8"/>
          <p:cNvCxnSpPr/>
          <p:nvPr/>
        </p:nvCxnSpPr>
        <p:spPr>
          <a:xfrm>
            <a:off x="4500081"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p:cNvCxnSpPr/>
          <p:nvPr/>
        </p:nvCxnSpPr>
        <p:spPr>
          <a:xfrm>
            <a:off x="4500081" y="1196752"/>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p:nvPr/>
        </p:nvCxnSpPr>
        <p:spPr>
          <a:xfrm>
            <a:off x="4572089" y="5373216"/>
            <a:ext cx="472615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5868144" y="1196752"/>
            <a:ext cx="0" cy="4176464"/>
          </a:xfrm>
          <a:prstGeom prst="line">
            <a:avLst/>
          </a:prstGeom>
        </p:spPr>
        <p:style>
          <a:lnRef idx="1">
            <a:schemeClr val="accent2"/>
          </a:lnRef>
          <a:fillRef idx="0">
            <a:schemeClr val="accent2"/>
          </a:fillRef>
          <a:effectRef idx="0">
            <a:schemeClr val="accent2"/>
          </a:effectRef>
          <a:fontRef idx="minor">
            <a:schemeClr val="tx1"/>
          </a:fontRef>
        </p:style>
      </p:cxnSp>
      <p:sp>
        <p:nvSpPr>
          <p:cNvPr id="19" name="TextBox 18"/>
          <p:cNvSpPr txBox="1"/>
          <p:nvPr/>
        </p:nvSpPr>
        <p:spPr>
          <a:xfrm>
            <a:off x="4533261" y="66690"/>
            <a:ext cx="431959" cy="553998"/>
          </a:xfrm>
          <a:prstGeom prst="rect">
            <a:avLst/>
          </a:prstGeom>
          <a:noFill/>
        </p:spPr>
        <p:txBody>
          <a:bodyPr wrap="square" rtlCol="0">
            <a:spAutoFit/>
          </a:bodyPr>
          <a:lstStyle/>
          <a:p>
            <a:r>
              <a:rPr lang="en-AU" sz="1000" dirty="0" smtClean="0"/>
              <a:t>24</a:t>
            </a:r>
          </a:p>
          <a:p>
            <a:r>
              <a:rPr lang="en-AU" sz="1000" dirty="0" smtClean="0"/>
              <a:t>7</a:t>
            </a:r>
          </a:p>
          <a:p>
            <a:r>
              <a:rPr lang="en-AU" sz="1000" dirty="0" smtClean="0"/>
              <a:t>30</a:t>
            </a:r>
            <a:endParaRPr lang="en-AU" sz="1000" dirty="0"/>
          </a:p>
        </p:txBody>
      </p:sp>
      <p:sp>
        <p:nvSpPr>
          <p:cNvPr id="20" name="TextBox 19"/>
          <p:cNvSpPr txBox="1"/>
          <p:nvPr/>
        </p:nvSpPr>
        <p:spPr>
          <a:xfrm>
            <a:off x="4572089" y="601548"/>
            <a:ext cx="1143262" cy="246221"/>
          </a:xfrm>
          <a:prstGeom prst="rect">
            <a:avLst/>
          </a:prstGeom>
          <a:noFill/>
        </p:spPr>
        <p:txBody>
          <a:bodyPr wrap="none" rtlCol="0">
            <a:spAutoFit/>
          </a:bodyPr>
          <a:lstStyle/>
          <a:p>
            <a:r>
              <a:rPr lang="en-AU" sz="1000" dirty="0" smtClean="0"/>
              <a:t>Essential Question</a:t>
            </a:r>
            <a:endParaRPr lang="en-AU" sz="1000" dirty="0"/>
          </a:p>
        </p:txBody>
      </p:sp>
      <p:sp>
        <p:nvSpPr>
          <p:cNvPr id="22" name="TextBox 21"/>
          <p:cNvSpPr txBox="1"/>
          <p:nvPr/>
        </p:nvSpPr>
        <p:spPr>
          <a:xfrm>
            <a:off x="5867750" y="1196751"/>
            <a:ext cx="492443" cy="246221"/>
          </a:xfrm>
          <a:prstGeom prst="rect">
            <a:avLst/>
          </a:prstGeom>
          <a:noFill/>
        </p:spPr>
        <p:txBody>
          <a:bodyPr wrap="none" rtlCol="0">
            <a:spAutoFit/>
          </a:bodyPr>
          <a:lstStyle/>
          <a:p>
            <a:r>
              <a:rPr lang="en-AU" sz="1000" dirty="0" smtClean="0"/>
              <a:t>Notes</a:t>
            </a:r>
            <a:endParaRPr lang="en-AU" sz="1000" dirty="0"/>
          </a:p>
        </p:txBody>
      </p:sp>
      <p:sp>
        <p:nvSpPr>
          <p:cNvPr id="23" name="TextBox 22"/>
          <p:cNvSpPr txBox="1"/>
          <p:nvPr/>
        </p:nvSpPr>
        <p:spPr>
          <a:xfrm>
            <a:off x="4521850" y="1196752"/>
            <a:ext cx="708848" cy="246221"/>
          </a:xfrm>
          <a:prstGeom prst="rect">
            <a:avLst/>
          </a:prstGeom>
          <a:noFill/>
        </p:spPr>
        <p:txBody>
          <a:bodyPr wrap="none" rtlCol="0">
            <a:spAutoFit/>
          </a:bodyPr>
          <a:lstStyle/>
          <a:p>
            <a:r>
              <a:rPr lang="en-AU" sz="1000" dirty="0" smtClean="0"/>
              <a:t>Questions</a:t>
            </a:r>
            <a:endParaRPr lang="en-AU" sz="1000" dirty="0"/>
          </a:p>
        </p:txBody>
      </p:sp>
      <p:sp>
        <p:nvSpPr>
          <p:cNvPr id="24" name="TextBox 23"/>
          <p:cNvSpPr txBox="1"/>
          <p:nvPr/>
        </p:nvSpPr>
        <p:spPr>
          <a:xfrm>
            <a:off x="4572089" y="5373216"/>
            <a:ext cx="679994" cy="246221"/>
          </a:xfrm>
          <a:prstGeom prst="rect">
            <a:avLst/>
          </a:prstGeom>
          <a:noFill/>
        </p:spPr>
        <p:txBody>
          <a:bodyPr wrap="none" rtlCol="0">
            <a:spAutoFit/>
          </a:bodyPr>
          <a:lstStyle/>
          <a:p>
            <a:r>
              <a:rPr lang="en-AU" sz="1000" dirty="0" smtClean="0"/>
              <a:t>Summary</a:t>
            </a:r>
            <a:endParaRPr lang="en-AU" sz="1000" dirty="0"/>
          </a:p>
        </p:txBody>
      </p:sp>
      <p:sp>
        <p:nvSpPr>
          <p:cNvPr id="25" name="TextBox 24"/>
          <p:cNvSpPr txBox="1"/>
          <p:nvPr/>
        </p:nvSpPr>
        <p:spPr>
          <a:xfrm>
            <a:off x="151246" y="142494"/>
            <a:ext cx="671081" cy="369332"/>
          </a:xfrm>
          <a:prstGeom prst="rect">
            <a:avLst/>
          </a:prstGeom>
          <a:noFill/>
        </p:spPr>
        <p:txBody>
          <a:bodyPr wrap="none" rtlCol="0">
            <a:spAutoFit/>
          </a:bodyPr>
          <a:lstStyle/>
          <a:p>
            <a:r>
              <a:rPr lang="en-AU" dirty="0" smtClean="0"/>
              <a:t>Tasks</a:t>
            </a:r>
            <a:endParaRPr lang="en-AU" dirty="0"/>
          </a:p>
        </p:txBody>
      </p:sp>
    </p:spTree>
    <p:extLst>
      <p:ext uri="{BB962C8B-B14F-4D97-AF65-F5344CB8AC3E}">
        <p14:creationId xmlns="" xmlns:p14="http://schemas.microsoft.com/office/powerpoint/2010/main" val="22165325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821059" cy="523220"/>
          </a:xfrm>
          <a:prstGeom prst="rect">
            <a:avLst/>
          </a:prstGeom>
          <a:noFill/>
        </p:spPr>
        <p:txBody>
          <a:bodyPr wrap="none" rtlCol="0">
            <a:spAutoFit/>
          </a:bodyPr>
          <a:lstStyle/>
          <a:p>
            <a:r>
              <a:rPr lang="en-AU" sz="2800" dirty="0" smtClean="0"/>
              <a:t>Title</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a:t>
            </a:r>
            <a:endParaRPr lang="en-AU" sz="2400" dirty="0"/>
          </a:p>
        </p:txBody>
      </p:sp>
    </p:spTree>
    <p:extLst>
      <p:ext uri="{BB962C8B-B14F-4D97-AF65-F5344CB8AC3E}">
        <p14:creationId xmlns="" xmlns:p14="http://schemas.microsoft.com/office/powerpoint/2010/main" val="16709025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699792"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4365811" cy="523220"/>
          </a:xfrm>
          <a:prstGeom prst="rect">
            <a:avLst/>
          </a:prstGeom>
          <a:noFill/>
        </p:spPr>
        <p:txBody>
          <a:bodyPr wrap="none" rtlCol="0">
            <a:spAutoFit/>
          </a:bodyPr>
          <a:lstStyle/>
          <a:p>
            <a:r>
              <a:rPr lang="en-AU" sz="2800" dirty="0" smtClean="0"/>
              <a:t>Evaluating Statistical Reports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  </a:t>
            </a:r>
            <a:endParaRPr lang="en-AU" sz="2400" dirty="0"/>
          </a:p>
        </p:txBody>
      </p:sp>
      <p:sp>
        <p:nvSpPr>
          <p:cNvPr id="13" name="TextBox 12"/>
          <p:cNvSpPr txBox="1"/>
          <p:nvPr/>
        </p:nvSpPr>
        <p:spPr>
          <a:xfrm>
            <a:off x="899592" y="1196752"/>
            <a:ext cx="8064896" cy="646331"/>
          </a:xfrm>
          <a:prstGeom prst="rect">
            <a:avLst/>
          </a:prstGeom>
          <a:noFill/>
        </p:spPr>
        <p:txBody>
          <a:bodyPr wrap="square" rtlCol="0">
            <a:spAutoFit/>
          </a:bodyPr>
          <a:lstStyle/>
          <a:p>
            <a:r>
              <a:rPr lang="en-AU" dirty="0" smtClean="0"/>
              <a:t>What </a:t>
            </a:r>
            <a:r>
              <a:rPr lang="en-AU" dirty="0" smtClean="0"/>
              <a:t>key items in a Statistical report are necessary in order to evaluate and interpret the data displays?</a:t>
            </a:r>
            <a:r>
              <a:rPr lang="en-AU" dirty="0" smtClean="0"/>
              <a:t>?</a:t>
            </a:r>
            <a:endParaRPr lang="en-AU" dirty="0"/>
          </a:p>
        </p:txBody>
      </p:sp>
      <p:pic>
        <p:nvPicPr>
          <p:cNvPr id="10242" name="Picture 2" descr="http://www.asiaeducation.edu.au/images/default-source/curriculum-resources/mathematics/act1_big.jpg?sfvrsn=6"/>
          <p:cNvPicPr>
            <a:picLocks noChangeAspect="1" noChangeArrowheads="1"/>
          </p:cNvPicPr>
          <p:nvPr/>
        </p:nvPicPr>
        <p:blipFill>
          <a:blip r:embed="rId2" cstate="print"/>
          <a:srcRect/>
          <a:stretch>
            <a:fillRect/>
          </a:stretch>
        </p:blipFill>
        <p:spPr bwMode="auto">
          <a:xfrm>
            <a:off x="2843808" y="1988840"/>
            <a:ext cx="4464496" cy="2831766"/>
          </a:xfrm>
          <a:prstGeom prst="rect">
            <a:avLst/>
          </a:prstGeom>
          <a:noFill/>
        </p:spPr>
      </p:pic>
      <p:sp>
        <p:nvSpPr>
          <p:cNvPr id="15" name="Rectangle 14"/>
          <p:cNvSpPr/>
          <p:nvPr/>
        </p:nvSpPr>
        <p:spPr>
          <a:xfrm>
            <a:off x="2339752" y="4797152"/>
            <a:ext cx="4572000" cy="1477328"/>
          </a:xfrm>
          <a:prstGeom prst="rect">
            <a:avLst/>
          </a:prstGeom>
        </p:spPr>
        <p:txBody>
          <a:bodyPr>
            <a:spAutoFit/>
          </a:bodyPr>
          <a:lstStyle/>
          <a:p>
            <a:endParaRPr lang="en-AU" dirty="0" smtClean="0"/>
          </a:p>
          <a:p>
            <a:pPr lvl="1"/>
            <a:r>
              <a:rPr lang="en-AU" dirty="0" smtClean="0"/>
              <a:t>Which are the hot months?</a:t>
            </a:r>
          </a:p>
          <a:p>
            <a:pPr lvl="1"/>
            <a:r>
              <a:rPr lang="en-AU" dirty="0" smtClean="0"/>
              <a:t>Which are the wet months?</a:t>
            </a:r>
          </a:p>
          <a:p>
            <a:pPr lvl="1"/>
            <a:r>
              <a:rPr lang="en-AU" dirty="0" smtClean="0"/>
              <a:t>Which are the dry months?</a:t>
            </a:r>
          </a:p>
          <a:p>
            <a:pPr lvl="1"/>
            <a:r>
              <a:rPr lang="en-AU" dirty="0" smtClean="0"/>
              <a:t>Which are the cool months?</a:t>
            </a:r>
            <a:endParaRPr lang="en-AU" dirty="0"/>
          </a:p>
        </p:txBody>
      </p:sp>
    </p:spTree>
    <p:extLst>
      <p:ext uri="{BB962C8B-B14F-4D97-AF65-F5344CB8AC3E}">
        <p14:creationId xmlns="" xmlns:p14="http://schemas.microsoft.com/office/powerpoint/2010/main" val="18721625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699792"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4365811" cy="523220"/>
          </a:xfrm>
          <a:prstGeom prst="rect">
            <a:avLst/>
          </a:prstGeom>
          <a:noFill/>
        </p:spPr>
        <p:txBody>
          <a:bodyPr wrap="none" rtlCol="0">
            <a:spAutoFit/>
          </a:bodyPr>
          <a:lstStyle/>
          <a:p>
            <a:r>
              <a:rPr lang="en-AU" sz="2800" dirty="0" smtClean="0"/>
              <a:t>Evaluating Statistical Reports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  </a:t>
            </a:r>
            <a:endParaRPr lang="en-AU" sz="2400" dirty="0"/>
          </a:p>
        </p:txBody>
      </p:sp>
      <p:sp>
        <p:nvSpPr>
          <p:cNvPr id="13" name="TextBox 12"/>
          <p:cNvSpPr txBox="1"/>
          <p:nvPr/>
        </p:nvSpPr>
        <p:spPr>
          <a:xfrm>
            <a:off x="899592" y="1196752"/>
            <a:ext cx="8064896" cy="646331"/>
          </a:xfrm>
          <a:prstGeom prst="rect">
            <a:avLst/>
          </a:prstGeom>
          <a:noFill/>
        </p:spPr>
        <p:txBody>
          <a:bodyPr wrap="square" rtlCol="0">
            <a:spAutoFit/>
          </a:bodyPr>
          <a:lstStyle/>
          <a:p>
            <a:r>
              <a:rPr lang="en-AU" dirty="0" smtClean="0"/>
              <a:t>What </a:t>
            </a:r>
            <a:r>
              <a:rPr lang="en-AU" dirty="0" smtClean="0"/>
              <a:t>key items in a Statistical report are necessary in order to evaluate and interpret the data displays?</a:t>
            </a:r>
            <a:r>
              <a:rPr lang="en-AU" dirty="0" smtClean="0"/>
              <a:t>?</a:t>
            </a:r>
            <a:endParaRPr lang="en-AU" dirty="0"/>
          </a:p>
        </p:txBody>
      </p:sp>
      <p:pic>
        <p:nvPicPr>
          <p:cNvPr id="14" name="Picture 13" descr="http://howamidriving.com/img/rprtSampleStatistical_L.jpg"/>
          <p:cNvPicPr>
            <a:picLocks noChangeAspect="1" noChangeArrowheads="1"/>
          </p:cNvPicPr>
          <p:nvPr/>
        </p:nvPicPr>
        <p:blipFill>
          <a:blip r:embed="rId2" cstate="print"/>
          <a:srcRect/>
          <a:stretch>
            <a:fillRect/>
          </a:stretch>
        </p:blipFill>
        <p:spPr bwMode="auto">
          <a:xfrm>
            <a:off x="2915816" y="2204864"/>
            <a:ext cx="6109172" cy="4005064"/>
          </a:xfrm>
          <a:prstGeom prst="rect">
            <a:avLst/>
          </a:prstGeom>
          <a:noFill/>
        </p:spPr>
      </p:pic>
    </p:spTree>
    <p:extLst>
      <p:ext uri="{BB962C8B-B14F-4D97-AF65-F5344CB8AC3E}">
        <p14:creationId xmlns="" xmlns:p14="http://schemas.microsoft.com/office/powerpoint/2010/main" val="18721625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699792"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4365811" cy="523220"/>
          </a:xfrm>
          <a:prstGeom prst="rect">
            <a:avLst/>
          </a:prstGeom>
          <a:noFill/>
        </p:spPr>
        <p:txBody>
          <a:bodyPr wrap="none" rtlCol="0">
            <a:spAutoFit/>
          </a:bodyPr>
          <a:lstStyle/>
          <a:p>
            <a:r>
              <a:rPr lang="en-AU" sz="2800" dirty="0" smtClean="0"/>
              <a:t>Evaluating Statistical Reports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  </a:t>
            </a:r>
            <a:endParaRPr lang="en-AU" sz="2400" dirty="0"/>
          </a:p>
        </p:txBody>
      </p:sp>
      <p:sp>
        <p:nvSpPr>
          <p:cNvPr id="13" name="TextBox 12"/>
          <p:cNvSpPr txBox="1"/>
          <p:nvPr/>
        </p:nvSpPr>
        <p:spPr>
          <a:xfrm>
            <a:off x="899592" y="1196752"/>
            <a:ext cx="8064896" cy="646331"/>
          </a:xfrm>
          <a:prstGeom prst="rect">
            <a:avLst/>
          </a:prstGeom>
          <a:noFill/>
        </p:spPr>
        <p:txBody>
          <a:bodyPr wrap="square" rtlCol="0">
            <a:spAutoFit/>
          </a:bodyPr>
          <a:lstStyle/>
          <a:p>
            <a:r>
              <a:rPr lang="en-AU" dirty="0" smtClean="0"/>
              <a:t>What </a:t>
            </a:r>
            <a:r>
              <a:rPr lang="en-AU" dirty="0" smtClean="0"/>
              <a:t>key items in a Statistical report are necessary in order to evaluate and interpret the data displays?</a:t>
            </a:r>
            <a:r>
              <a:rPr lang="en-AU" dirty="0" smtClean="0"/>
              <a:t>?</a:t>
            </a:r>
            <a:endParaRPr lang="en-AU" dirty="0"/>
          </a:p>
        </p:txBody>
      </p:sp>
      <p:pic>
        <p:nvPicPr>
          <p:cNvPr id="15" name="Picture 2" descr="http://www.cremationassociation.org/resource/resmgr/statistics_deaths_and_cremat.jpg"/>
          <p:cNvPicPr>
            <a:picLocks noChangeAspect="1" noChangeArrowheads="1"/>
          </p:cNvPicPr>
          <p:nvPr/>
        </p:nvPicPr>
        <p:blipFill>
          <a:blip r:embed="rId2" cstate="print"/>
          <a:srcRect/>
          <a:stretch>
            <a:fillRect/>
          </a:stretch>
        </p:blipFill>
        <p:spPr bwMode="auto">
          <a:xfrm>
            <a:off x="2987824" y="2060848"/>
            <a:ext cx="3838575" cy="2419351"/>
          </a:xfrm>
          <a:prstGeom prst="rect">
            <a:avLst/>
          </a:prstGeom>
          <a:noFill/>
        </p:spPr>
      </p:pic>
      <p:sp>
        <p:nvSpPr>
          <p:cNvPr id="16" name="TextBox 15"/>
          <p:cNvSpPr txBox="1"/>
          <p:nvPr/>
        </p:nvSpPr>
        <p:spPr>
          <a:xfrm>
            <a:off x="3131840" y="4581128"/>
            <a:ext cx="3995936" cy="646331"/>
          </a:xfrm>
          <a:prstGeom prst="rect">
            <a:avLst/>
          </a:prstGeom>
          <a:noFill/>
        </p:spPr>
        <p:txBody>
          <a:bodyPr wrap="square" rtlCol="0">
            <a:spAutoFit/>
          </a:bodyPr>
          <a:lstStyle/>
          <a:p>
            <a:r>
              <a:rPr lang="en-AU" dirty="0" smtClean="0"/>
              <a:t>Comment on this report in terms of trends.</a:t>
            </a:r>
            <a:endParaRPr lang="en-AU" dirty="0"/>
          </a:p>
        </p:txBody>
      </p:sp>
    </p:spTree>
    <p:extLst>
      <p:ext uri="{BB962C8B-B14F-4D97-AF65-F5344CB8AC3E}">
        <p14:creationId xmlns="" xmlns:p14="http://schemas.microsoft.com/office/powerpoint/2010/main" val="18721625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171400"/>
            <a:ext cx="8229600" cy="1143000"/>
          </a:xfrm>
        </p:spPr>
        <p:txBody>
          <a:bodyPr/>
          <a:lstStyle/>
          <a:p>
            <a:r>
              <a:rPr lang="en-AU" dirty="0" smtClean="0"/>
              <a:t>Task</a:t>
            </a:r>
            <a:endParaRPr lang="en-AU" dirty="0"/>
          </a:p>
        </p:txBody>
      </p:sp>
      <p:graphicFrame>
        <p:nvGraphicFramePr>
          <p:cNvPr id="4" name="Chart 3"/>
          <p:cNvGraphicFramePr/>
          <p:nvPr/>
        </p:nvGraphicFramePr>
        <p:xfrm>
          <a:off x="0" y="2564904"/>
          <a:ext cx="4423520" cy="4111352"/>
        </p:xfrm>
        <a:graphic>
          <a:graphicData uri="http://schemas.openxmlformats.org/drawingml/2006/chart">
            <c:chart xmlns:c="http://schemas.openxmlformats.org/drawingml/2006/chart" xmlns:r="http://schemas.openxmlformats.org/officeDocument/2006/relationships" r:id="rId2"/>
          </a:graphicData>
        </a:graphic>
      </p:graphicFrame>
      <p:pic>
        <p:nvPicPr>
          <p:cNvPr id="4097" name="Picture 1"/>
          <p:cNvPicPr>
            <a:picLocks noChangeAspect="1" noChangeArrowheads="1"/>
          </p:cNvPicPr>
          <p:nvPr/>
        </p:nvPicPr>
        <p:blipFill>
          <a:blip r:embed="rId3" cstate="print"/>
          <a:srcRect/>
          <a:stretch>
            <a:fillRect/>
          </a:stretch>
        </p:blipFill>
        <p:spPr bwMode="auto">
          <a:xfrm>
            <a:off x="94495" y="980728"/>
            <a:ext cx="9049505" cy="1564952"/>
          </a:xfrm>
          <a:prstGeom prst="rect">
            <a:avLst/>
          </a:prstGeom>
          <a:noFill/>
          <a:ln w="9525">
            <a:noFill/>
            <a:miter lim="800000"/>
            <a:headEnd/>
            <a:tailEnd/>
          </a:ln>
        </p:spPr>
      </p:pic>
      <p:sp>
        <p:nvSpPr>
          <p:cNvPr id="6" name="TextBox 5"/>
          <p:cNvSpPr txBox="1"/>
          <p:nvPr/>
        </p:nvSpPr>
        <p:spPr>
          <a:xfrm>
            <a:off x="4283968" y="2636912"/>
            <a:ext cx="4464496" cy="3970318"/>
          </a:xfrm>
          <a:prstGeom prst="rect">
            <a:avLst/>
          </a:prstGeom>
          <a:noFill/>
        </p:spPr>
        <p:txBody>
          <a:bodyPr wrap="square" rtlCol="0">
            <a:spAutoFit/>
          </a:bodyPr>
          <a:lstStyle/>
          <a:p>
            <a:r>
              <a:rPr lang="en-AU" dirty="0" smtClean="0"/>
              <a:t>The </a:t>
            </a:r>
            <a:r>
              <a:rPr lang="en-AU" dirty="0" err="1" smtClean="0"/>
              <a:t>boxplots</a:t>
            </a:r>
            <a:r>
              <a:rPr lang="en-AU" dirty="0" smtClean="0"/>
              <a:t> show the above data.</a:t>
            </a:r>
          </a:p>
          <a:p>
            <a:r>
              <a:rPr lang="en-AU" dirty="0" smtClean="0"/>
              <a:t>a) Referring only to the </a:t>
            </a:r>
            <a:r>
              <a:rPr lang="en-AU" dirty="0" err="1" smtClean="0"/>
              <a:t>boxplots</a:t>
            </a:r>
            <a:r>
              <a:rPr lang="en-AU" dirty="0" smtClean="0"/>
              <a:t>, compare the distribution of starting salaries in terms of their distribution, spread and shape.</a:t>
            </a:r>
          </a:p>
          <a:p>
            <a:r>
              <a:rPr lang="en-AU" dirty="0" smtClean="0"/>
              <a:t>b) Based on this data, estimate the proportion of all starting salaries that were 1) below $39,000 in 19999 and 2) above $39,000 in 2005.</a:t>
            </a:r>
          </a:p>
          <a:p>
            <a:r>
              <a:rPr lang="en-AU" dirty="0" smtClean="0"/>
              <a:t>c) Report on how the starting salaries have changed for employees of the company from 1999 to 2005 in general, and in particular for lower paid employees of the company. Use relevant answers from a) and b) to support your statements.</a:t>
            </a:r>
            <a:endParaRPr lang="en-AU" dirty="0"/>
          </a:p>
        </p:txBody>
      </p:sp>
    </p:spTree>
    <p:extLst>
      <p:ext uri="{BB962C8B-B14F-4D97-AF65-F5344CB8AC3E}">
        <p14:creationId xmlns="" xmlns:p14="http://schemas.microsoft.com/office/powerpoint/2010/main" val="170931921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Questions</a:t>
            </a:r>
            <a:endParaRPr lang="en-AU" dirty="0"/>
          </a:p>
        </p:txBody>
      </p:sp>
    </p:spTree>
    <p:extLst>
      <p:ext uri="{BB962C8B-B14F-4D97-AF65-F5344CB8AC3E}">
        <p14:creationId xmlns="" xmlns:p14="http://schemas.microsoft.com/office/powerpoint/2010/main" val="170931921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Notes Review</a:t>
            </a:r>
            <a:endParaRPr lang="en-AU" dirty="0"/>
          </a:p>
        </p:txBody>
      </p:sp>
      <p:sp>
        <p:nvSpPr>
          <p:cNvPr id="3" name="Content Placeholder 2"/>
          <p:cNvSpPr>
            <a:spLocks noGrp="1"/>
          </p:cNvSpPr>
          <p:nvPr>
            <p:ph idx="1"/>
          </p:nvPr>
        </p:nvSpPr>
        <p:spPr/>
        <p:txBody>
          <a:bodyPr>
            <a:normAutofit fontScale="92500" lnSpcReduction="20000"/>
          </a:bodyPr>
          <a:lstStyle/>
          <a:p>
            <a:r>
              <a:rPr lang="en-AU" dirty="0" smtClean="0"/>
              <a:t>24, 7 ,30</a:t>
            </a:r>
          </a:p>
          <a:p>
            <a:r>
              <a:rPr lang="en-AU" dirty="0" smtClean="0"/>
              <a:t>Date</a:t>
            </a:r>
          </a:p>
          <a:p>
            <a:r>
              <a:rPr lang="en-AU" dirty="0" smtClean="0"/>
              <a:t>Title</a:t>
            </a:r>
          </a:p>
          <a:p>
            <a:r>
              <a:rPr lang="en-AU" dirty="0" smtClean="0"/>
              <a:t>Essential question</a:t>
            </a:r>
          </a:p>
          <a:p>
            <a:r>
              <a:rPr lang="en-AU" dirty="0" smtClean="0"/>
              <a:t>Notes complete </a:t>
            </a:r>
          </a:p>
          <a:p>
            <a:r>
              <a:rPr lang="en-AU" dirty="0" smtClean="0"/>
              <a:t>Notes complete with colour and diagrams</a:t>
            </a:r>
          </a:p>
          <a:p>
            <a:r>
              <a:rPr lang="en-AU" dirty="0" smtClean="0"/>
              <a:t>Questions completed</a:t>
            </a:r>
          </a:p>
          <a:p>
            <a:r>
              <a:rPr lang="en-AU" dirty="0" smtClean="0"/>
              <a:t>Contents page filed in</a:t>
            </a:r>
          </a:p>
          <a:p>
            <a:r>
              <a:rPr lang="en-AU" dirty="0" smtClean="0"/>
              <a:t>Formula page filled in</a:t>
            </a:r>
          </a:p>
          <a:p>
            <a:pPr marL="0" indent="0">
              <a:buNone/>
            </a:pPr>
            <a:endParaRPr lang="en-AU" dirty="0" smtClean="0"/>
          </a:p>
          <a:p>
            <a:endParaRPr lang="en-AU" dirty="0" smtClean="0"/>
          </a:p>
        </p:txBody>
      </p:sp>
    </p:spTree>
    <p:extLst>
      <p:ext uri="{BB962C8B-B14F-4D97-AF65-F5344CB8AC3E}">
        <p14:creationId xmlns="" xmlns:p14="http://schemas.microsoft.com/office/powerpoint/2010/main" val="30699218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Homework</a:t>
            </a:r>
            <a:endParaRPr lang="en-AU" dirty="0"/>
          </a:p>
        </p:txBody>
      </p:sp>
      <p:sp>
        <p:nvSpPr>
          <p:cNvPr id="3" name="Content Placeholder 2"/>
          <p:cNvSpPr>
            <a:spLocks noGrp="1"/>
          </p:cNvSpPr>
          <p:nvPr>
            <p:ph idx="1"/>
          </p:nvPr>
        </p:nvSpPr>
        <p:spPr/>
        <p:txBody>
          <a:bodyPr/>
          <a:lstStyle/>
          <a:p>
            <a:r>
              <a:rPr lang="en-AU" dirty="0" smtClean="0"/>
              <a:t>Review your notes and write a summary answering the essential question. </a:t>
            </a:r>
            <a:endParaRPr lang="en-AU" dirty="0"/>
          </a:p>
        </p:txBody>
      </p:sp>
    </p:spTree>
    <p:extLst>
      <p:ext uri="{BB962C8B-B14F-4D97-AF65-F5344CB8AC3E}">
        <p14:creationId xmlns="" xmlns:p14="http://schemas.microsoft.com/office/powerpoint/2010/main" val="763422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1435</TotalTime>
  <Words>363</Words>
  <Application>Microsoft Office PowerPoint</Application>
  <PresentationFormat>On-screen Show (4:3)</PresentationFormat>
  <Paragraphs>91</Paragraphs>
  <Slides>12</Slides>
  <Notes>1</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My Statistics Interactive Notebook</vt:lpstr>
      <vt:lpstr>Create your own front page</vt:lpstr>
      <vt:lpstr>Slide 3</vt:lpstr>
      <vt:lpstr>Slide 4</vt:lpstr>
      <vt:lpstr>Slide 5</vt:lpstr>
      <vt:lpstr>Slide 6</vt:lpstr>
      <vt:lpstr>Slide 7</vt:lpstr>
      <vt:lpstr>Slide 8</vt:lpstr>
      <vt:lpstr>Task</vt:lpstr>
      <vt:lpstr>Questions</vt:lpstr>
      <vt:lpstr>Notes Review</vt:lpstr>
      <vt:lpstr>Homework</vt:lpstr>
    </vt:vector>
  </TitlesOfParts>
  <Company>The Department of Education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Venn Diagrams</dc:title>
  <dc:creator>RUST Joanne</dc:creator>
  <cp:lastModifiedBy>Clem</cp:lastModifiedBy>
  <cp:revision>110</cp:revision>
  <dcterms:created xsi:type="dcterms:W3CDTF">2014-05-14T02:58:57Z</dcterms:created>
  <dcterms:modified xsi:type="dcterms:W3CDTF">2015-03-22T04:48:05Z</dcterms:modified>
</cp:coreProperties>
</file>
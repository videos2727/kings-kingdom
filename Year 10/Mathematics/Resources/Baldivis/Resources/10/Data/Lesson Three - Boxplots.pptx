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304" r:id="rId3"/>
    <p:sldId id="259" r:id="rId4"/>
    <p:sldId id="258" r:id="rId5"/>
    <p:sldId id="303" r:id="rId6"/>
    <p:sldId id="305" r:id="rId7"/>
    <p:sldId id="336" r:id="rId8"/>
    <p:sldId id="337" r:id="rId9"/>
    <p:sldId id="338" r:id="rId10"/>
    <p:sldId id="339" r:id="rId11"/>
    <p:sldId id="341" r:id="rId12"/>
    <p:sldId id="340" r:id="rId13"/>
    <p:sldId id="342" r:id="rId14"/>
    <p:sldId id="343" r:id="rId15"/>
    <p:sldId id="344" r:id="rId16"/>
    <p:sldId id="345" r:id="rId17"/>
    <p:sldId id="324" r:id="rId18"/>
    <p:sldId id="301" r:id="rId19"/>
    <p:sldId id="292" r:id="rId20"/>
    <p:sldId id="29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FF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98401" autoAdjust="0"/>
  </p:normalViewPr>
  <p:slideViewPr>
    <p:cSldViewPr>
      <p:cViewPr>
        <p:scale>
          <a:sx n="75" d="100"/>
          <a:sy n="75" d="100"/>
        </p:scale>
        <p:origin x="-2664" y="-94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chart1.xml><?xml version="1.0" encoding="utf-8"?>
<c:chartSpace xmlns:c="http://schemas.openxmlformats.org/drawingml/2006/chart" xmlns:a="http://schemas.openxmlformats.org/drawingml/2006/main" xmlns:r="http://schemas.openxmlformats.org/officeDocument/2006/relationships">
  <c:lang val="en-AU"/>
  <c:chart>
    <c:plotArea>
      <c:layout/>
      <c:barChart>
        <c:barDir val="col"/>
        <c:grouping val="clustered"/>
        <c:ser>
          <c:idx val="0"/>
          <c:order val="0"/>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axId val="73484544"/>
        <c:axId val="74072832"/>
      </c:barChart>
      <c:catAx>
        <c:axId val="73484544"/>
        <c:scaling>
          <c:orientation val="minMax"/>
        </c:scaling>
        <c:axPos val="b"/>
        <c:tickLblPos val="nextTo"/>
        <c:crossAx val="74072832"/>
        <c:crosses val="autoZero"/>
        <c:auto val="1"/>
        <c:lblAlgn val="ctr"/>
        <c:lblOffset val="100"/>
      </c:catAx>
      <c:valAx>
        <c:axId val="74072832"/>
        <c:scaling>
          <c:orientation val="minMax"/>
        </c:scaling>
        <c:axPos val="l"/>
        <c:majorGridlines/>
        <c:numFmt formatCode="General" sourceLinked="1"/>
        <c:tickLblPos val="nextTo"/>
        <c:crossAx val="73484544"/>
        <c:crosses val="autoZero"/>
        <c:crossBetween val="between"/>
      </c:valAx>
    </c:plotArea>
    <c:plotVisOnly val="1"/>
    <c:dispBlanksAs val="gap"/>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AU"/>
  <c:chart>
    <c:title>
      <c:layout/>
    </c:title>
    <c:plotArea>
      <c:layout/>
      <c:pieChart>
        <c:varyColors val="1"/>
        <c:ser>
          <c:idx val="0"/>
          <c:order val="0"/>
          <c:tx>
            <c:strRef>
              <c:f>Sheet1!$B$1</c:f>
              <c:strCache>
                <c:ptCount val="1"/>
              </c:strCache>
            </c:strRef>
          </c:tx>
          <c:cat>
            <c:strRef>
              <c:f>Sheet1!$A$2:$A$6</c:f>
              <c:strCache>
                <c:ptCount val="5"/>
                <c:pt idx="0">
                  <c:v>a</c:v>
                </c:pt>
                <c:pt idx="1">
                  <c:v>b</c:v>
                </c:pt>
                <c:pt idx="2">
                  <c:v>c</c:v>
                </c:pt>
                <c:pt idx="3">
                  <c:v>d</c:v>
                </c:pt>
                <c:pt idx="4">
                  <c:v>e</c:v>
                </c:pt>
              </c:strCache>
            </c:strRef>
          </c:cat>
          <c:val>
            <c:numRef>
              <c:f>Sheet1!$B$2:$B$6</c:f>
              <c:numCache>
                <c:formatCode>General</c:formatCode>
                <c:ptCount val="5"/>
                <c:pt idx="0">
                  <c:v>2</c:v>
                </c:pt>
                <c:pt idx="1">
                  <c:v>5</c:v>
                </c:pt>
                <c:pt idx="2">
                  <c:v>6</c:v>
                </c:pt>
                <c:pt idx="3">
                  <c:v>3</c:v>
                </c:pt>
                <c:pt idx="4">
                  <c:v>1</c:v>
                </c:pt>
              </c:numCache>
            </c:numRef>
          </c:val>
        </c:ser>
        <c:firstSliceAng val="0"/>
      </c:pieChart>
    </c:plotArea>
    <c:plotVisOnly val="1"/>
    <c:dispBlanksAs val="zero"/>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7/03/2015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9516DE00-3598-450D-9FD4-B3F4D33F029B}" type="slidenum">
              <a:rPr lang="en-AU" smtClean="0"/>
              <a:pPr/>
              <a:t>1</a:t>
            </a:fld>
            <a:endParaRPr lang="en-AU"/>
          </a:p>
        </p:txBody>
      </p:sp>
    </p:spTree>
    <p:extLst>
      <p:ext uri="{BB962C8B-B14F-4D97-AF65-F5344CB8AC3E}">
        <p14:creationId xmlns="" xmlns:p14="http://schemas.microsoft.com/office/powerpoint/2010/main" val="64826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7/03/2015</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e4047095\AppData\Local\Microsoft\Windows\Temporary Internet Files\Content.IE5\UN5YM58D\Line_Graph[1].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640" y="1556792"/>
            <a:ext cx="3793604" cy="292739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Title 1"/>
          <p:cNvSpPr>
            <a:spLocks noGrp="1"/>
          </p:cNvSpPr>
          <p:nvPr>
            <p:ph type="ctrTitle"/>
          </p:nvPr>
        </p:nvSpPr>
        <p:spPr>
          <a:xfrm>
            <a:off x="755576" y="260648"/>
            <a:ext cx="7772400" cy="1470025"/>
          </a:xfrm>
        </p:spPr>
        <p:txBody>
          <a:bodyPr/>
          <a:lstStyle/>
          <a:p>
            <a:r>
              <a:rPr lang="en-AU" dirty="0" smtClean="0"/>
              <a:t>My Statistics</a:t>
            </a:r>
            <a:br>
              <a:rPr lang="en-AU" dirty="0" smtClean="0"/>
            </a:br>
            <a:r>
              <a:rPr lang="en-AU" dirty="0" smtClean="0"/>
              <a:t>Interactive Notebook</a:t>
            </a:r>
            <a:endParaRPr lang="en-AU" dirty="0"/>
          </a:p>
        </p:txBody>
      </p:sp>
      <p:sp>
        <p:nvSpPr>
          <p:cNvPr id="3" name="Subtitle 2"/>
          <p:cNvSpPr>
            <a:spLocks noGrp="1"/>
          </p:cNvSpPr>
          <p:nvPr>
            <p:ph type="subTitle" idx="1"/>
          </p:nvPr>
        </p:nvSpPr>
        <p:spPr>
          <a:xfrm>
            <a:off x="600844" y="4467670"/>
            <a:ext cx="6400800" cy="1752600"/>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Term 1 Semester 1</a:t>
            </a:r>
          </a:p>
        </p:txBody>
      </p:sp>
      <p:sp>
        <p:nvSpPr>
          <p:cNvPr id="13" name="TextBox 12"/>
          <p:cNvSpPr txBox="1"/>
          <p:nvPr/>
        </p:nvSpPr>
        <p:spPr>
          <a:xfrm>
            <a:off x="8748464" y="6488668"/>
            <a:ext cx="549775" cy="369332"/>
          </a:xfrm>
          <a:prstGeom prst="rect">
            <a:avLst/>
          </a:prstGeom>
          <a:noFill/>
        </p:spPr>
        <p:txBody>
          <a:bodyPr wrap="square" rtlCol="0">
            <a:spAutoFit/>
          </a:bodyPr>
          <a:lstStyle/>
          <a:p>
            <a:r>
              <a:rPr lang="en-AU" dirty="0"/>
              <a:t>1</a:t>
            </a:r>
          </a:p>
        </p:txBody>
      </p:sp>
      <p:graphicFrame>
        <p:nvGraphicFramePr>
          <p:cNvPr id="16" name="Chart 15"/>
          <p:cNvGraphicFramePr>
            <a:graphicFrameLocks/>
          </p:cNvGraphicFramePr>
          <p:nvPr>
            <p:extLst>
              <p:ext uri="{D42A27DB-BD31-4B8C-83A1-F6EECF244321}">
                <p14:modId xmlns="" xmlns:p14="http://schemas.microsoft.com/office/powerpoint/2010/main" val="4044940676"/>
              </p:ext>
            </p:extLst>
          </p:nvPr>
        </p:nvGraphicFramePr>
        <p:xfrm>
          <a:off x="5369199" y="1700808"/>
          <a:ext cx="3654152" cy="18036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p:cNvGraphicFramePr>
            <a:graphicFrameLocks/>
          </p:cNvGraphicFramePr>
          <p:nvPr>
            <p:extLst>
              <p:ext uri="{D42A27DB-BD31-4B8C-83A1-F6EECF244321}">
                <p14:modId xmlns="" xmlns:p14="http://schemas.microsoft.com/office/powerpoint/2010/main" val="635245832"/>
              </p:ext>
            </p:extLst>
          </p:nvPr>
        </p:nvGraphicFramePr>
        <p:xfrm>
          <a:off x="4283968" y="3212976"/>
          <a:ext cx="4248472" cy="259918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 xmlns:p14="http://schemas.microsoft.com/office/powerpoint/2010/main" val="31250627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smtClean="0"/>
              <a:t>Create your own front page</a:t>
            </a:r>
            <a:endParaRPr lang="en-AU" dirty="0"/>
          </a:p>
        </p:txBody>
      </p:sp>
      <p:sp>
        <p:nvSpPr>
          <p:cNvPr id="4" name="Content Placeholder 3"/>
          <p:cNvSpPr>
            <a:spLocks noGrp="1"/>
          </p:cNvSpPr>
          <p:nvPr>
            <p:ph idx="1"/>
          </p:nvPr>
        </p:nvSpPr>
        <p:spPr/>
        <p:txBody>
          <a:bodyPr>
            <a:normAutofit/>
          </a:bodyPr>
          <a:lstStyle/>
          <a:p>
            <a:pPr marL="0" indent="0">
              <a:buNone/>
            </a:pPr>
            <a:r>
              <a:rPr lang="en-AU" dirty="0" smtClean="0"/>
              <a:t>It needs to contain the following –</a:t>
            </a:r>
          </a:p>
          <a:p>
            <a:pPr>
              <a:buFontTx/>
              <a:buChar char="-"/>
            </a:pPr>
            <a:r>
              <a:rPr lang="en-AU" dirty="0" smtClean="0"/>
              <a:t>My number interactive notebook</a:t>
            </a:r>
          </a:p>
          <a:p>
            <a:pPr>
              <a:buFontTx/>
              <a:buChar char="-"/>
            </a:pPr>
            <a:r>
              <a:rPr lang="en-AU" dirty="0" smtClean="0"/>
              <a:t>Name </a:t>
            </a:r>
          </a:p>
          <a:p>
            <a:pPr>
              <a:buFontTx/>
              <a:buChar char="-"/>
            </a:pPr>
            <a:r>
              <a:rPr lang="en-AU" dirty="0" smtClean="0"/>
              <a:t>Class</a:t>
            </a:r>
          </a:p>
          <a:p>
            <a:pPr>
              <a:buFontTx/>
              <a:buChar char="-"/>
            </a:pPr>
            <a:r>
              <a:rPr lang="en-AU" dirty="0" smtClean="0"/>
              <a:t>Teachers Name</a:t>
            </a:r>
          </a:p>
          <a:p>
            <a:pPr>
              <a:buFontTx/>
              <a:buChar char="-"/>
            </a:pPr>
            <a:r>
              <a:rPr lang="en-AU" dirty="0" smtClean="0"/>
              <a:t>Semester 1 Term 1</a:t>
            </a:r>
          </a:p>
          <a:p>
            <a:pPr>
              <a:buFontTx/>
              <a:buChar char="-"/>
            </a:pPr>
            <a:r>
              <a:rPr lang="en-AU" dirty="0" smtClean="0"/>
              <a:t>Page number 1</a:t>
            </a:r>
            <a:endParaRPr lang="en-AU" dirty="0"/>
          </a:p>
        </p:txBody>
      </p:sp>
    </p:spTree>
    <p:extLst>
      <p:ext uri="{BB962C8B-B14F-4D97-AF65-F5344CB8AC3E}">
        <p14:creationId xmlns="" xmlns:p14="http://schemas.microsoft.com/office/powerpoint/2010/main" val="828699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 xmlns:p14="http://schemas.microsoft.com/office/powerpoint/2010/main" val="1515457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 xmlns:p14="http://schemas.microsoft.com/office/powerpoint/2010/main" val="22165325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smtClean="0"/>
              <a:t>Title</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a:t>
            </a:r>
            <a:endParaRPr lang="en-AU" sz="2400" dirty="0"/>
          </a:p>
        </p:txBody>
      </p:sp>
    </p:spTree>
    <p:extLst>
      <p:ext uri="{BB962C8B-B14F-4D97-AF65-F5344CB8AC3E}">
        <p14:creationId xmlns="" xmlns:p14="http://schemas.microsoft.com/office/powerpoint/2010/main" val="1670902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box-and-whisker plot, is an exploratory graphic used to show the distribution of a dataset (at a glance). </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a:t>
            </a:r>
            <a:r>
              <a:rPr lang="en-AU" dirty="0" smtClean="0"/>
              <a:t>box-and-whisker </a:t>
            </a:r>
            <a:r>
              <a:rPr lang="en-AU" dirty="0" smtClean="0"/>
              <a:t>plot, </a:t>
            </a:r>
            <a:r>
              <a:rPr lang="en-AU" dirty="0" smtClean="0"/>
              <a:t>is an exploratory </a:t>
            </a:r>
            <a:r>
              <a:rPr lang="en-AU" dirty="0" smtClean="0"/>
              <a:t>graphic used </a:t>
            </a:r>
            <a:r>
              <a:rPr lang="en-AU" dirty="0" smtClean="0"/>
              <a:t>to show the distribution of a dataset (at a glance). </a:t>
            </a:r>
            <a:endParaRPr lang="en-AU" dirty="0"/>
          </a:p>
        </p:txBody>
      </p:sp>
      <p:sp>
        <p:nvSpPr>
          <p:cNvPr id="16" name="TextBox 15"/>
          <p:cNvSpPr txBox="1"/>
          <p:nvPr/>
        </p:nvSpPr>
        <p:spPr>
          <a:xfrm>
            <a:off x="251520" y="3356992"/>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a:t>
            </a:r>
            <a:r>
              <a:rPr lang="en-AU" dirty="0" smtClean="0"/>
              <a:t>box-and-whisker </a:t>
            </a:r>
            <a:r>
              <a:rPr lang="en-AU" dirty="0" smtClean="0"/>
              <a:t>plot, </a:t>
            </a:r>
            <a:r>
              <a:rPr lang="en-AU" dirty="0" smtClean="0"/>
              <a:t>is an exploratory </a:t>
            </a:r>
            <a:r>
              <a:rPr lang="en-AU" dirty="0" smtClean="0"/>
              <a:t>graphic used </a:t>
            </a:r>
            <a:r>
              <a:rPr lang="en-AU" dirty="0" smtClean="0"/>
              <a:t>to show the distribution of a dataset (at a glance). </a:t>
            </a:r>
            <a:endParaRPr lang="en-AU" dirty="0"/>
          </a:p>
        </p:txBody>
      </p:sp>
      <p:sp>
        <p:nvSpPr>
          <p:cNvPr id="16" name="TextBox 15"/>
          <p:cNvSpPr txBox="1"/>
          <p:nvPr/>
        </p:nvSpPr>
        <p:spPr>
          <a:xfrm>
            <a:off x="251520" y="3356992"/>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059832" y="3573016"/>
            <a:ext cx="5472608" cy="369332"/>
          </a:xfrm>
          <a:prstGeom prst="rect">
            <a:avLst/>
          </a:prstGeom>
          <a:noFill/>
        </p:spPr>
        <p:txBody>
          <a:bodyPr wrap="square" rtlCol="0">
            <a:spAutoFit/>
          </a:bodyPr>
          <a:lstStyle/>
          <a:p>
            <a:pPr marL="342900" indent="-342900">
              <a:buFont typeface="+mj-lt"/>
              <a:buAutoNum type="arabicPeriod"/>
            </a:pPr>
            <a:r>
              <a:rPr lang="en-AU" dirty="0" smtClean="0"/>
              <a:t>Organise your data from least to greatest.</a:t>
            </a: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a:t>
            </a:r>
            <a:r>
              <a:rPr lang="en-AU" dirty="0" smtClean="0"/>
              <a:t>box-and-whisker </a:t>
            </a:r>
            <a:r>
              <a:rPr lang="en-AU" dirty="0" smtClean="0"/>
              <a:t>plot, </a:t>
            </a:r>
            <a:r>
              <a:rPr lang="en-AU" dirty="0" smtClean="0"/>
              <a:t>is an exploratory </a:t>
            </a:r>
            <a:r>
              <a:rPr lang="en-AU" dirty="0" smtClean="0"/>
              <a:t>graphic used </a:t>
            </a:r>
            <a:r>
              <a:rPr lang="en-AU" dirty="0" smtClean="0"/>
              <a:t>to show the distribution of a dataset (at a glance). </a:t>
            </a:r>
            <a:endParaRPr lang="en-AU" dirty="0"/>
          </a:p>
        </p:txBody>
      </p:sp>
      <p:sp>
        <p:nvSpPr>
          <p:cNvPr id="16" name="TextBox 15"/>
          <p:cNvSpPr txBox="1"/>
          <p:nvPr/>
        </p:nvSpPr>
        <p:spPr>
          <a:xfrm>
            <a:off x="251520" y="3356992"/>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059832" y="3573016"/>
            <a:ext cx="5472608" cy="646331"/>
          </a:xfrm>
          <a:prstGeom prst="rect">
            <a:avLst/>
          </a:prstGeom>
          <a:noFill/>
        </p:spPr>
        <p:txBody>
          <a:bodyPr wrap="square" rtlCol="0">
            <a:spAutoFit/>
          </a:bodyPr>
          <a:lstStyle/>
          <a:p>
            <a:pPr marL="342900" indent="-342900">
              <a:buFont typeface="+mj-lt"/>
              <a:buAutoNum type="arabicPeriod"/>
            </a:pPr>
            <a:r>
              <a:rPr lang="en-AU" dirty="0" smtClean="0"/>
              <a:t>Organise your data from least to greatest.</a:t>
            </a:r>
          </a:p>
          <a:p>
            <a:pPr marL="342900" indent="-342900">
              <a:buFont typeface="+mj-lt"/>
              <a:buAutoNum type="arabicPeriod"/>
            </a:pPr>
            <a:r>
              <a:rPr lang="en-AU" dirty="0" smtClean="0"/>
              <a:t>Find the median, Q1 and Q3 of your data.</a:t>
            </a: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a:t>
            </a:r>
            <a:r>
              <a:rPr lang="en-AU" dirty="0" smtClean="0"/>
              <a:t>box-and-whisker </a:t>
            </a:r>
            <a:r>
              <a:rPr lang="en-AU" dirty="0" smtClean="0"/>
              <a:t>plot, </a:t>
            </a:r>
            <a:r>
              <a:rPr lang="en-AU" dirty="0" smtClean="0"/>
              <a:t>is an exploratory </a:t>
            </a:r>
            <a:r>
              <a:rPr lang="en-AU" dirty="0" smtClean="0"/>
              <a:t>graphic used </a:t>
            </a:r>
            <a:r>
              <a:rPr lang="en-AU" dirty="0" smtClean="0"/>
              <a:t>to show the distribution of a dataset (at a glance). </a:t>
            </a:r>
            <a:endParaRPr lang="en-AU" dirty="0"/>
          </a:p>
        </p:txBody>
      </p:sp>
      <p:sp>
        <p:nvSpPr>
          <p:cNvPr id="16" name="TextBox 15"/>
          <p:cNvSpPr txBox="1"/>
          <p:nvPr/>
        </p:nvSpPr>
        <p:spPr>
          <a:xfrm>
            <a:off x="251520" y="3356992"/>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059832" y="3573016"/>
            <a:ext cx="5472608" cy="2031325"/>
          </a:xfrm>
          <a:prstGeom prst="rect">
            <a:avLst/>
          </a:prstGeom>
          <a:noFill/>
        </p:spPr>
        <p:txBody>
          <a:bodyPr wrap="square" rtlCol="0">
            <a:spAutoFit/>
          </a:bodyPr>
          <a:lstStyle/>
          <a:p>
            <a:pPr marL="342900" indent="-342900">
              <a:buFont typeface="+mj-lt"/>
              <a:buAutoNum type="arabicPeriod"/>
            </a:pPr>
            <a:r>
              <a:rPr lang="en-AU" dirty="0" smtClean="0"/>
              <a:t>Organise your data from least to greatest.</a:t>
            </a:r>
          </a:p>
          <a:p>
            <a:pPr marL="342900" indent="-342900">
              <a:buFont typeface="+mj-lt"/>
              <a:buAutoNum type="arabicPeriod"/>
            </a:pPr>
            <a:r>
              <a:rPr lang="en-AU" dirty="0" smtClean="0"/>
              <a:t>Find the median, Q1 and Q3 of your data.</a:t>
            </a:r>
          </a:p>
          <a:p>
            <a:pPr marL="342900" indent="-342900">
              <a:buFont typeface="+mj-lt"/>
              <a:buAutoNum type="arabicPeriod"/>
            </a:pPr>
            <a:r>
              <a:rPr lang="en-AU" dirty="0" smtClean="0"/>
              <a:t>Draw a plot line. This should be long enough to contain all of your data, plus a little extra on either side. Make sure to place the numbers at even intervals. If you're dealing with decimals, such as 4.5 and 1.5, be sure to label them as well.</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4" name="TextBox 13"/>
          <p:cNvSpPr txBox="1"/>
          <p:nvPr/>
        </p:nvSpPr>
        <p:spPr>
          <a:xfrm>
            <a:off x="179512" y="1988840"/>
            <a:ext cx="2448272" cy="646331"/>
          </a:xfrm>
          <a:prstGeom prst="rect">
            <a:avLst/>
          </a:prstGeom>
          <a:noFill/>
        </p:spPr>
        <p:txBody>
          <a:bodyPr wrap="square" rtlCol="0">
            <a:spAutoFit/>
          </a:bodyPr>
          <a:lstStyle/>
          <a:p>
            <a:r>
              <a:rPr lang="en-AU" dirty="0" smtClean="0"/>
              <a:t>What are </a:t>
            </a:r>
            <a:r>
              <a:rPr lang="en-AU" dirty="0" err="1" smtClean="0"/>
              <a:t>boxplots</a:t>
            </a:r>
            <a:r>
              <a:rPr lang="en-AU" dirty="0" smtClean="0"/>
              <a:t> used for?</a:t>
            </a:r>
            <a:endParaRPr lang="en-AU" dirty="0"/>
          </a:p>
        </p:txBody>
      </p:sp>
      <p:sp>
        <p:nvSpPr>
          <p:cNvPr id="15" name="TextBox 14"/>
          <p:cNvSpPr txBox="1"/>
          <p:nvPr/>
        </p:nvSpPr>
        <p:spPr>
          <a:xfrm>
            <a:off x="3131840" y="1988840"/>
            <a:ext cx="5256584" cy="923330"/>
          </a:xfrm>
          <a:prstGeom prst="rect">
            <a:avLst/>
          </a:prstGeom>
          <a:noFill/>
        </p:spPr>
        <p:txBody>
          <a:bodyPr wrap="square" rtlCol="0">
            <a:spAutoFit/>
          </a:bodyPr>
          <a:lstStyle/>
          <a:p>
            <a:r>
              <a:rPr lang="en-AU" dirty="0" smtClean="0"/>
              <a:t>The </a:t>
            </a:r>
            <a:r>
              <a:rPr lang="en-AU" dirty="0" err="1" smtClean="0"/>
              <a:t>boxplot</a:t>
            </a:r>
            <a:r>
              <a:rPr lang="en-AU" dirty="0" smtClean="0"/>
              <a:t>, also known as the </a:t>
            </a:r>
            <a:r>
              <a:rPr lang="en-AU" dirty="0" smtClean="0"/>
              <a:t>box-and-whisker </a:t>
            </a:r>
            <a:r>
              <a:rPr lang="en-AU" dirty="0" smtClean="0"/>
              <a:t>plot, </a:t>
            </a:r>
            <a:r>
              <a:rPr lang="en-AU" dirty="0" smtClean="0"/>
              <a:t>is an exploratory </a:t>
            </a:r>
            <a:r>
              <a:rPr lang="en-AU" dirty="0" smtClean="0"/>
              <a:t>graphic used </a:t>
            </a:r>
            <a:r>
              <a:rPr lang="en-AU" dirty="0" smtClean="0"/>
              <a:t>to show the distribution of a dataset (at a glance). </a:t>
            </a:r>
            <a:endParaRPr lang="en-AU" dirty="0"/>
          </a:p>
        </p:txBody>
      </p:sp>
      <p:sp>
        <p:nvSpPr>
          <p:cNvPr id="16" name="TextBox 15"/>
          <p:cNvSpPr txBox="1"/>
          <p:nvPr/>
        </p:nvSpPr>
        <p:spPr>
          <a:xfrm>
            <a:off x="251520" y="3284984"/>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203848" y="3284984"/>
            <a:ext cx="5472608" cy="3416320"/>
          </a:xfrm>
          <a:prstGeom prst="rect">
            <a:avLst/>
          </a:prstGeom>
          <a:noFill/>
        </p:spPr>
        <p:txBody>
          <a:bodyPr wrap="square" rtlCol="0">
            <a:spAutoFit/>
          </a:bodyPr>
          <a:lstStyle/>
          <a:p>
            <a:pPr marL="342900" indent="-342900">
              <a:buFont typeface="+mj-lt"/>
              <a:buAutoNum type="arabicPeriod"/>
            </a:pPr>
            <a:r>
              <a:rPr lang="en-AU" dirty="0" smtClean="0"/>
              <a:t>Organise your data from least to greatest.</a:t>
            </a:r>
          </a:p>
          <a:p>
            <a:pPr marL="342900" indent="-342900">
              <a:buFont typeface="+mj-lt"/>
              <a:buAutoNum type="arabicPeriod"/>
            </a:pPr>
            <a:r>
              <a:rPr lang="en-AU" dirty="0" smtClean="0"/>
              <a:t>Find the median, Q1 and Q3 of your data.</a:t>
            </a:r>
          </a:p>
          <a:p>
            <a:pPr marL="342900" indent="-342900">
              <a:buFont typeface="+mj-lt"/>
              <a:buAutoNum type="arabicPeriod"/>
            </a:pPr>
            <a:r>
              <a:rPr lang="en-AU" dirty="0" smtClean="0"/>
              <a:t>Draw a plot line. This should be long enough to contain all of your data, plus a little extra on either side. Make sure to place the numbers at even intervals. If you're dealing with decimals, such as 4.5 and 1.5, be sure to label them as well</a:t>
            </a:r>
            <a:r>
              <a:rPr lang="en-AU" dirty="0" smtClean="0"/>
              <a:t>.</a:t>
            </a:r>
          </a:p>
          <a:p>
            <a:pPr marL="342900" indent="-342900">
              <a:buFont typeface="+mj-lt"/>
              <a:buAutoNum type="arabicPeriod"/>
            </a:pPr>
            <a:r>
              <a:rPr lang="en-AU" dirty="0" smtClean="0"/>
              <a:t>Mark your first, second, and third quartiles on the plot line. Take the values of your first, second, and third quartiles and make a mark at those numbers on the plot line. The mark should be a vertical line at each quartile, starting slightly above the plot line.</a:t>
            </a:r>
            <a:endParaRPr lang="en-AU" dirty="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6" name="TextBox 15"/>
          <p:cNvSpPr txBox="1"/>
          <p:nvPr/>
        </p:nvSpPr>
        <p:spPr>
          <a:xfrm>
            <a:off x="323528" y="1988840"/>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203848" y="1916832"/>
            <a:ext cx="5472608" cy="3139321"/>
          </a:xfrm>
          <a:prstGeom prst="rect">
            <a:avLst/>
          </a:prstGeom>
          <a:noFill/>
        </p:spPr>
        <p:txBody>
          <a:bodyPr wrap="square" rtlCol="0">
            <a:spAutoFit/>
          </a:bodyPr>
          <a:lstStyle/>
          <a:p>
            <a:pPr marL="342900" indent="-342900"/>
            <a:r>
              <a:rPr lang="en-AU" dirty="0" smtClean="0"/>
              <a:t>4.	Mark </a:t>
            </a:r>
            <a:r>
              <a:rPr lang="en-AU" dirty="0" smtClean="0"/>
              <a:t>your first, second, and third quartiles on the plot line. Take the values of your first, second, and third quartiles and make a mark at those numbers on the plot line. The mark should be a vertical line at each quartile, starting slightly above the plot line</a:t>
            </a:r>
            <a:r>
              <a:rPr lang="en-AU" dirty="0" smtClean="0"/>
              <a:t>.</a:t>
            </a:r>
          </a:p>
          <a:p>
            <a:pPr marL="342900" indent="-342900">
              <a:buAutoNum type="arabicPeriod" startAt="5"/>
            </a:pPr>
            <a:r>
              <a:rPr lang="en-AU" dirty="0" smtClean="0"/>
              <a:t>Make </a:t>
            </a:r>
            <a:r>
              <a:rPr lang="en-AU" dirty="0" smtClean="0"/>
              <a:t>a box by drawing horizontal lines connecting the quartiles. Connect the top or the first quartile to the top of the third quartile, going through the second quartile. Connect the bottom of the first quartile to the bottom of the third quartile, making sure to go through the second quartile</a:t>
            </a:r>
            <a:r>
              <a:rPr lang="en-AU" dirty="0" smtClean="0"/>
              <a:t>.</a:t>
            </a:r>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6" name="TextBox 15"/>
          <p:cNvSpPr txBox="1"/>
          <p:nvPr/>
        </p:nvSpPr>
        <p:spPr>
          <a:xfrm>
            <a:off x="323528" y="1988840"/>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203848" y="1916832"/>
            <a:ext cx="5472608" cy="3970318"/>
          </a:xfrm>
          <a:prstGeom prst="rect">
            <a:avLst/>
          </a:prstGeom>
          <a:noFill/>
        </p:spPr>
        <p:txBody>
          <a:bodyPr wrap="square" rtlCol="0">
            <a:spAutoFit/>
          </a:bodyPr>
          <a:lstStyle/>
          <a:p>
            <a:pPr marL="342900" indent="-342900"/>
            <a:r>
              <a:rPr lang="en-AU" dirty="0" smtClean="0"/>
              <a:t>4.	Mark </a:t>
            </a:r>
            <a:r>
              <a:rPr lang="en-AU" dirty="0" smtClean="0"/>
              <a:t>your first, second, and third quartiles on the plot line. Take the values of your first, second, and third quartiles and make a mark at those numbers on the plot line. The mark should be a vertical line at each quartile, starting slightly above the plot line</a:t>
            </a:r>
            <a:r>
              <a:rPr lang="en-AU" dirty="0" smtClean="0"/>
              <a:t>.</a:t>
            </a:r>
          </a:p>
          <a:p>
            <a:pPr marL="342900" indent="-342900">
              <a:buAutoNum type="arabicPeriod" startAt="5"/>
            </a:pPr>
            <a:r>
              <a:rPr lang="en-AU" dirty="0" smtClean="0"/>
              <a:t>Make </a:t>
            </a:r>
            <a:r>
              <a:rPr lang="en-AU" dirty="0" smtClean="0"/>
              <a:t>a box by drawing horizontal lines connecting the quartiles. Connect the top or the first quartile to the top of the third quartile, going through the second quartile. Connect the bottom of the first quartile to the bottom of the third quartile, making sure to go through the second quartile</a:t>
            </a:r>
            <a:r>
              <a:rPr lang="en-AU" dirty="0" smtClean="0"/>
              <a:t>.</a:t>
            </a:r>
          </a:p>
          <a:p>
            <a:pPr marL="342900" indent="-342900">
              <a:buAutoNum type="arabicPeriod" startAt="5"/>
            </a:pPr>
            <a:r>
              <a:rPr lang="en-AU" dirty="0" smtClean="0"/>
              <a:t>Mark your outliers. Find the smallest, and then the largest, numbers in your data set and mark them on the plot line. Mark these points with a small dot.</a:t>
            </a:r>
            <a:endParaRPr lang="en-AU" dirty="0" smtClean="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1439240" cy="523220"/>
          </a:xfrm>
          <a:prstGeom prst="rect">
            <a:avLst/>
          </a:prstGeom>
          <a:noFill/>
        </p:spPr>
        <p:txBody>
          <a:bodyPr wrap="none" rtlCol="0">
            <a:spAutoFit/>
          </a:bodyPr>
          <a:lstStyle/>
          <a:p>
            <a:r>
              <a:rPr lang="en-AU" sz="2800" dirty="0" err="1" smtClean="0"/>
              <a:t>Boxplots</a:t>
            </a: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EQ – </a:t>
            </a:r>
            <a:r>
              <a:rPr lang="en-AU" sz="2400" dirty="0" smtClean="0"/>
              <a:t> </a:t>
            </a:r>
            <a:endParaRPr lang="en-AU" sz="2400" dirty="0"/>
          </a:p>
        </p:txBody>
      </p:sp>
      <p:sp>
        <p:nvSpPr>
          <p:cNvPr id="13" name="TextBox 12"/>
          <p:cNvSpPr txBox="1"/>
          <p:nvPr/>
        </p:nvSpPr>
        <p:spPr>
          <a:xfrm>
            <a:off x="899592" y="1196752"/>
            <a:ext cx="8064896" cy="369332"/>
          </a:xfrm>
          <a:prstGeom prst="rect">
            <a:avLst/>
          </a:prstGeom>
          <a:noFill/>
        </p:spPr>
        <p:txBody>
          <a:bodyPr wrap="square" rtlCol="0">
            <a:spAutoFit/>
          </a:bodyPr>
          <a:lstStyle/>
          <a:p>
            <a:r>
              <a:rPr lang="en-AU" dirty="0" smtClean="0"/>
              <a:t>What are </a:t>
            </a:r>
            <a:r>
              <a:rPr lang="en-AU" dirty="0" err="1" smtClean="0"/>
              <a:t>boxplots</a:t>
            </a:r>
            <a:r>
              <a:rPr lang="en-AU" dirty="0" smtClean="0"/>
              <a:t> used to measure and how are they created?</a:t>
            </a:r>
            <a:endParaRPr lang="en-AU" dirty="0"/>
          </a:p>
        </p:txBody>
      </p:sp>
      <p:sp>
        <p:nvSpPr>
          <p:cNvPr id="16" name="TextBox 15"/>
          <p:cNvSpPr txBox="1"/>
          <p:nvPr/>
        </p:nvSpPr>
        <p:spPr>
          <a:xfrm>
            <a:off x="323528" y="1988840"/>
            <a:ext cx="2304256" cy="646331"/>
          </a:xfrm>
          <a:prstGeom prst="rect">
            <a:avLst/>
          </a:prstGeom>
          <a:noFill/>
        </p:spPr>
        <p:txBody>
          <a:bodyPr wrap="square" rtlCol="0">
            <a:spAutoFit/>
          </a:bodyPr>
          <a:lstStyle/>
          <a:p>
            <a:r>
              <a:rPr lang="en-AU" dirty="0" smtClean="0"/>
              <a:t>How do I create a </a:t>
            </a:r>
            <a:r>
              <a:rPr lang="en-AU" dirty="0" err="1" smtClean="0"/>
              <a:t>boxplot</a:t>
            </a:r>
            <a:r>
              <a:rPr lang="en-AU" dirty="0" smtClean="0"/>
              <a:t>?</a:t>
            </a:r>
            <a:endParaRPr lang="en-AU" dirty="0"/>
          </a:p>
        </p:txBody>
      </p:sp>
      <p:sp>
        <p:nvSpPr>
          <p:cNvPr id="17" name="TextBox 16"/>
          <p:cNvSpPr txBox="1"/>
          <p:nvPr/>
        </p:nvSpPr>
        <p:spPr>
          <a:xfrm>
            <a:off x="3059832" y="1779687"/>
            <a:ext cx="5904656" cy="3970318"/>
          </a:xfrm>
          <a:prstGeom prst="rect">
            <a:avLst/>
          </a:prstGeom>
          <a:noFill/>
        </p:spPr>
        <p:txBody>
          <a:bodyPr wrap="square" rtlCol="0">
            <a:spAutoFit/>
          </a:bodyPr>
          <a:lstStyle/>
          <a:p>
            <a:pPr marL="342900" indent="-342900"/>
            <a:endParaRPr lang="en-AU" dirty="0" smtClean="0"/>
          </a:p>
          <a:p>
            <a:pPr marL="342900" indent="-342900">
              <a:buAutoNum type="arabicPeriod" startAt="5"/>
            </a:pPr>
            <a:r>
              <a:rPr lang="en-AU" dirty="0" smtClean="0"/>
              <a:t>Make </a:t>
            </a:r>
            <a:r>
              <a:rPr lang="en-AU" dirty="0" smtClean="0"/>
              <a:t>a box by drawing horizontal lines connecting the quartiles. Connect the top or the first quartile to the top of the third quartile, going through the second quartile. Connect the bottom of the first quartile to the bottom of the third quartile, making sure to go through the second quartile</a:t>
            </a:r>
            <a:r>
              <a:rPr lang="en-AU" dirty="0" smtClean="0"/>
              <a:t>.</a:t>
            </a:r>
          </a:p>
          <a:p>
            <a:pPr marL="342900" indent="-342900">
              <a:buAutoNum type="arabicPeriod" startAt="5"/>
            </a:pPr>
            <a:r>
              <a:rPr lang="en-AU" dirty="0" smtClean="0"/>
              <a:t>Mark your outliers. Find the smallest, and then the largest, numbers in your data set and mark them on the plot line. Mark these points with a small dot</a:t>
            </a:r>
            <a:r>
              <a:rPr lang="en-AU" dirty="0" smtClean="0"/>
              <a:t>.</a:t>
            </a:r>
          </a:p>
          <a:p>
            <a:pPr marL="342900" indent="-342900">
              <a:buAutoNum type="arabicPeriod" startAt="5"/>
            </a:pPr>
            <a:r>
              <a:rPr lang="en-AU" dirty="0" smtClean="0"/>
              <a:t>Connect your outliers to the box with a horizontal line. The straight line that connects the outliers is informally called the "whiskers" of the box and whiskers plot.</a:t>
            </a:r>
            <a:endParaRPr lang="en-AU" dirty="0" smtClean="0"/>
          </a:p>
        </p:txBody>
      </p:sp>
    </p:spTree>
    <p:extLst>
      <p:ext uri="{BB962C8B-B14F-4D97-AF65-F5344CB8AC3E}">
        <p14:creationId xmlns="" xmlns:p14="http://schemas.microsoft.com/office/powerpoint/2010/main" val="18721625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Task</a:t>
            </a:r>
            <a:endParaRPr lang="en-AU" dirty="0"/>
          </a:p>
        </p:txBody>
      </p:sp>
      <p:sp>
        <p:nvSpPr>
          <p:cNvPr id="4" name="Content Placeholder 3"/>
          <p:cNvSpPr>
            <a:spLocks noGrp="1"/>
          </p:cNvSpPr>
          <p:nvPr>
            <p:ph idx="1"/>
          </p:nvPr>
        </p:nvSpPr>
        <p:spPr>
          <a:xfrm>
            <a:off x="539552" y="1124745"/>
            <a:ext cx="8229600" cy="3960440"/>
          </a:xfrm>
        </p:spPr>
        <p:txBody>
          <a:bodyPr>
            <a:normAutofit lnSpcReduction="10000"/>
          </a:bodyPr>
          <a:lstStyle/>
          <a:p>
            <a:pPr>
              <a:buNone/>
            </a:pPr>
            <a:r>
              <a:rPr lang="en-GB" sz="1800" b="1" dirty="0" smtClean="0"/>
              <a:t>Create </a:t>
            </a:r>
            <a:r>
              <a:rPr lang="en-GB" sz="1800" b="1" dirty="0" err="1" smtClean="0"/>
              <a:t>boxplots</a:t>
            </a:r>
            <a:r>
              <a:rPr lang="en-GB" sz="1800" b="1" dirty="0" smtClean="0"/>
              <a:t> from the data sets you used in the previous lesson.</a:t>
            </a:r>
          </a:p>
          <a:p>
            <a:pPr>
              <a:buNone/>
            </a:pPr>
            <a:endParaRPr lang="en-GB" sz="1800" b="1" dirty="0" smtClean="0"/>
          </a:p>
          <a:p>
            <a:pPr>
              <a:buNone/>
            </a:pPr>
            <a:r>
              <a:rPr lang="en-GB" sz="1800" b="1" dirty="0" smtClean="0"/>
              <a:t>Work </a:t>
            </a:r>
            <a:r>
              <a:rPr lang="en-GB" sz="1800" b="1" dirty="0" smtClean="0"/>
              <a:t>out the median and </a:t>
            </a:r>
            <a:r>
              <a:rPr lang="en-GB" sz="1800" b="1" dirty="0" smtClean="0"/>
              <a:t>inter-quartile </a:t>
            </a:r>
            <a:r>
              <a:rPr lang="en-GB" sz="1800" b="1" dirty="0" smtClean="0"/>
              <a:t>range of each of the following sets of data showing clearly all the steps in your working.  </a:t>
            </a:r>
            <a:endParaRPr lang="en-AU" sz="1800" dirty="0" smtClean="0"/>
          </a:p>
          <a:p>
            <a:pPr>
              <a:buNone/>
            </a:pPr>
            <a:r>
              <a:rPr lang="en-GB" sz="1800" b="1" dirty="0" smtClean="0"/>
              <a:t>	</a:t>
            </a:r>
            <a:r>
              <a:rPr lang="en-GB" sz="1800" b="1" i="1" dirty="0" smtClean="0"/>
              <a:t>Calculators allowed</a:t>
            </a:r>
            <a:endParaRPr lang="en-AU" sz="1800" dirty="0" smtClean="0"/>
          </a:p>
          <a:p>
            <a:pPr>
              <a:buNone/>
            </a:pPr>
            <a:r>
              <a:rPr lang="en-GB" sz="1800" b="1" dirty="0" smtClean="0"/>
              <a:t> </a:t>
            </a:r>
            <a:endParaRPr lang="en-AU" sz="1800" dirty="0" smtClean="0"/>
          </a:p>
          <a:p>
            <a:pPr marL="514350" lvl="0" indent="-514350">
              <a:buFont typeface="+mj-lt"/>
              <a:buAutoNum type="arabicPeriod"/>
            </a:pPr>
            <a:r>
              <a:rPr lang="en-GB" sz="1800" b="1" dirty="0" smtClean="0"/>
              <a:t>3,9,12,15,16,18,21</a:t>
            </a:r>
            <a:endParaRPr lang="en-AU" sz="1800" dirty="0" smtClean="0"/>
          </a:p>
          <a:p>
            <a:pPr marL="514350" lvl="0" indent="-514350">
              <a:buFont typeface="+mj-lt"/>
              <a:buAutoNum type="arabicPeriod"/>
            </a:pPr>
            <a:r>
              <a:rPr lang="en-GB" sz="1800" b="1" dirty="0" smtClean="0"/>
              <a:t>152, 167, 159, 162, 140, 157, 163, 160, 155, 141, 158</a:t>
            </a:r>
            <a:endParaRPr lang="en-AU" sz="1800" dirty="0" smtClean="0"/>
          </a:p>
          <a:p>
            <a:pPr marL="514350" lvl="0" indent="-514350">
              <a:buFont typeface="+mj-lt"/>
              <a:buAutoNum type="arabicPeriod"/>
            </a:pPr>
            <a:r>
              <a:rPr lang="en-GB" sz="1800" b="1" dirty="0" smtClean="0"/>
              <a:t>1.4, 2.7, 0.2, 3.5, 4.1, 2.3, 1.9, 2.2, 1.6, 2.0, 1.6, </a:t>
            </a:r>
            <a:r>
              <a:rPr lang="en-GB" sz="1800" b="1" dirty="0" smtClean="0"/>
              <a:t>2.6, </a:t>
            </a:r>
            <a:r>
              <a:rPr lang="en-GB" sz="1800" b="1" dirty="0" smtClean="0"/>
              <a:t>2.2 ,1.8, 2.9, 3.0 </a:t>
            </a:r>
            <a:endParaRPr lang="en-AU" sz="1800" dirty="0" smtClean="0"/>
          </a:p>
          <a:p>
            <a:pPr marL="514350" lvl="0" indent="-514350">
              <a:buFont typeface="+mj-lt"/>
              <a:buAutoNum type="arabicPeriod"/>
            </a:pPr>
            <a:r>
              <a:rPr lang="en-GB" sz="1800" b="1" dirty="0" smtClean="0"/>
              <a:t>5, 9, 11, 13, 16, 16, 19, 21</a:t>
            </a:r>
            <a:endParaRPr lang="en-AU" sz="1800" dirty="0" smtClean="0"/>
          </a:p>
          <a:p>
            <a:pPr marL="514350" lvl="0" indent="-514350">
              <a:buFont typeface="+mj-lt"/>
              <a:buAutoNum type="arabicPeriod"/>
            </a:pPr>
            <a:r>
              <a:rPr lang="en-GB" sz="1800" b="1" dirty="0" smtClean="0"/>
              <a:t>62,51,48,55,56,43,59,48,57,60,47,55</a:t>
            </a:r>
            <a:endParaRPr lang="en-AU" sz="1800" dirty="0" smtClean="0"/>
          </a:p>
          <a:p>
            <a:pPr>
              <a:buNone/>
            </a:pPr>
            <a:r>
              <a:rPr lang="en-GB" sz="2100" b="1" dirty="0" smtClean="0"/>
              <a:t> </a:t>
            </a:r>
            <a:endParaRPr lang="en-AU" sz="2100" dirty="0" smtClean="0"/>
          </a:p>
          <a:p>
            <a:pPr>
              <a:buNone/>
            </a:pPr>
            <a:endParaRPr lang="en-AU" b="1" dirty="0" smtClean="0"/>
          </a:p>
          <a:p>
            <a:pPr>
              <a:buNone/>
            </a:pPr>
            <a:endParaRPr lang="en-AU" dirty="0"/>
          </a:p>
        </p:txBody>
      </p:sp>
      <p:pic>
        <p:nvPicPr>
          <p:cNvPr id="2050" name="Picture 2"/>
          <p:cNvPicPr>
            <a:picLocks noChangeAspect="1" noChangeArrowheads="1"/>
          </p:cNvPicPr>
          <p:nvPr/>
        </p:nvPicPr>
        <p:blipFill>
          <a:blip r:embed="rId2" cstate="print"/>
          <a:srcRect/>
          <a:stretch>
            <a:fillRect/>
          </a:stretch>
        </p:blipFill>
        <p:spPr bwMode="auto">
          <a:xfrm>
            <a:off x="539552" y="5013176"/>
            <a:ext cx="7305675" cy="1047750"/>
          </a:xfrm>
          <a:prstGeom prst="rect">
            <a:avLst/>
          </a:prstGeom>
          <a:noFill/>
          <a:ln w="9525">
            <a:noFill/>
            <a:miter lim="800000"/>
            <a:headEnd/>
            <a:tailEnd/>
          </a:ln>
        </p:spPr>
      </p:pic>
    </p:spTree>
    <p:extLst>
      <p:ext uri="{BB962C8B-B14F-4D97-AF65-F5344CB8AC3E}">
        <p14:creationId xmlns="" xmlns:p14="http://schemas.microsoft.com/office/powerpoint/2010/main" val="41884505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Questions</a:t>
            </a:r>
            <a:endParaRPr lang="en-AU" dirty="0"/>
          </a:p>
        </p:txBody>
      </p:sp>
    </p:spTree>
    <p:extLst>
      <p:ext uri="{BB962C8B-B14F-4D97-AF65-F5344CB8AC3E}">
        <p14:creationId xmlns="" xmlns:p14="http://schemas.microsoft.com/office/powerpoint/2010/main" val="17093192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 xmlns:p14="http://schemas.microsoft.com/office/powerpoint/2010/main" val="30699218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1155</TotalTime>
  <Words>730</Words>
  <Application>Microsoft Office PowerPoint</Application>
  <PresentationFormat>On-screen Show (4:3)</PresentationFormat>
  <Paragraphs>192</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My Statistics Interactive Notebook</vt:lpstr>
      <vt:lpstr>Create your own front page</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Task</vt:lpstr>
      <vt:lpstr>Questions</vt:lpstr>
      <vt:lpstr>Notes Review</vt:lpstr>
      <vt:lpstr>Homework</vt:lpstr>
    </vt:vector>
  </TitlesOfParts>
  <Company>The Department of Education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Clem</cp:lastModifiedBy>
  <cp:revision>85</cp:revision>
  <dcterms:created xsi:type="dcterms:W3CDTF">2014-05-14T02:58:57Z</dcterms:created>
  <dcterms:modified xsi:type="dcterms:W3CDTF">2015-03-07T04:39:41Z</dcterms:modified>
</cp:coreProperties>
</file>
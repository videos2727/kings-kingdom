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charts/chart1.xml" ContentType="application/vnd.openxmlformats-officedocument.drawingml.chart+xml"/>
  <Override PartName="/ppt/charts/chart2.xml" ContentType="application/vnd.openxmlformats-officedocument.drawingml.chart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37"/>
  </p:notesMasterIdLst>
  <p:sldIdLst>
    <p:sldId id="260" r:id="rId2"/>
    <p:sldId id="304" r:id="rId3"/>
    <p:sldId id="259" r:id="rId4"/>
    <p:sldId id="258" r:id="rId5"/>
    <p:sldId id="303" r:id="rId6"/>
    <p:sldId id="305" r:id="rId7"/>
    <p:sldId id="307" r:id="rId8"/>
    <p:sldId id="306" r:id="rId9"/>
    <p:sldId id="308" r:id="rId10"/>
    <p:sldId id="309" r:id="rId11"/>
    <p:sldId id="310" r:id="rId12"/>
    <p:sldId id="311" r:id="rId13"/>
    <p:sldId id="330" r:id="rId14"/>
    <p:sldId id="312" r:id="rId15"/>
    <p:sldId id="314" r:id="rId16"/>
    <p:sldId id="315" r:id="rId17"/>
    <p:sldId id="316" r:id="rId18"/>
    <p:sldId id="317" r:id="rId19"/>
    <p:sldId id="318" r:id="rId20"/>
    <p:sldId id="319" r:id="rId21"/>
    <p:sldId id="320" r:id="rId22"/>
    <p:sldId id="321" r:id="rId23"/>
    <p:sldId id="322" r:id="rId24"/>
    <p:sldId id="323" r:id="rId25"/>
    <p:sldId id="331" r:id="rId26"/>
    <p:sldId id="332" r:id="rId27"/>
    <p:sldId id="335" r:id="rId28"/>
    <p:sldId id="333" r:id="rId29"/>
    <p:sldId id="336" r:id="rId30"/>
    <p:sldId id="337" r:id="rId31"/>
    <p:sldId id="338" r:id="rId32"/>
    <p:sldId id="339" r:id="rId33"/>
    <p:sldId id="301" r:id="rId34"/>
    <p:sldId id="292" r:id="rId35"/>
    <p:sldId id="291" r:id="rId36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FF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735" autoAdjust="0"/>
    <p:restoredTop sz="98401" autoAdjust="0"/>
  </p:normalViewPr>
  <p:slideViewPr>
    <p:cSldViewPr>
      <p:cViewPr>
        <p:scale>
          <a:sx n="75" d="100"/>
          <a:sy n="75" d="100"/>
        </p:scale>
        <p:origin x="-1230" y="-72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viewProps" Target="viewProp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41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notesMaster" Target="notesMasters/notesMaster1.xml"/><Relationship Id="rId40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/Relationships>
</file>

<file path=ppt/charts/_rels/chart1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_rels/chart2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en-AU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0"/>
    <c:plotArea>
      <c:layout/>
      <c:barChart>
        <c:barDir val="col"/>
        <c:grouping val="clustered"/>
        <c:varyColors val="0"/>
        <c:ser>
          <c:idx val="0"/>
          <c:order val="0"/>
          <c:invertIfNegative val="0"/>
          <c:cat>
            <c:strRef>
              <c:f>Sheet1!$A$2:$A$6</c:f>
              <c:strCache>
                <c:ptCount val="5"/>
                <c:pt idx="0">
                  <c:v>a</c:v>
                </c:pt>
                <c:pt idx="1">
                  <c:v>b</c:v>
                </c:pt>
                <c:pt idx="2">
                  <c:v>c</c:v>
                </c:pt>
                <c:pt idx="3">
                  <c:v>d</c:v>
                </c:pt>
                <c:pt idx="4">
                  <c:v>e</c:v>
                </c:pt>
              </c:strCache>
            </c: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2</c:v>
                </c:pt>
                <c:pt idx="1">
                  <c:v>5</c:v>
                </c:pt>
                <c:pt idx="2">
                  <c:v>6</c:v>
                </c:pt>
                <c:pt idx="3">
                  <c:v>3</c:v>
                </c:pt>
                <c:pt idx="4">
                  <c:v>1</c:v>
                </c:pt>
              </c:numCache>
            </c:numRef>
          </c:val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50"/>
        <c:axId val="35313920"/>
        <c:axId val="35319808"/>
      </c:barChart>
      <c:catAx>
        <c:axId val="35313920"/>
        <c:scaling>
          <c:orientation val="minMax"/>
        </c:scaling>
        <c:delete val="0"/>
        <c:axPos val="b"/>
        <c:majorTickMark val="out"/>
        <c:minorTickMark val="none"/>
        <c:tickLblPos val="nextTo"/>
        <c:crossAx val="35319808"/>
        <c:crosses val="autoZero"/>
        <c:auto val="1"/>
        <c:lblAlgn val="ctr"/>
        <c:lblOffset val="100"/>
        <c:noMultiLvlLbl val="0"/>
      </c:catAx>
      <c:valAx>
        <c:axId val="35319808"/>
        <c:scaling>
          <c:orientation val="minMax"/>
        </c:scaling>
        <c:delete val="0"/>
        <c:axPos val="l"/>
        <c:majorGridlines/>
        <c:numFmt formatCode="General" sourceLinked="1"/>
        <c:majorTickMark val="out"/>
        <c:minorTickMark val="none"/>
        <c:tickLblPos val="nextTo"/>
        <c:crossAx val="35313920"/>
        <c:crosses val="autoZero"/>
        <c:crossBetween val="between"/>
      </c:valAx>
    </c:plotArea>
    <c:plotVisOnly val="1"/>
    <c:dispBlanksAs val="gap"/>
    <c:showDLblsOverMax val="0"/>
  </c:chart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en-AU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layout/>
      <c:overlay val="0"/>
    </c:title>
    <c:autoTitleDeleted val="0"/>
    <c:plotArea>
      <c:layout/>
      <c:pieChart>
        <c:varyColors val="1"/>
        <c:ser>
          <c:idx val="0"/>
          <c:order val="0"/>
          <c:tx>
            <c:strRef>
              <c:f>Sheet1!$B$1</c:f>
              <c:strCache>
                <c:ptCount val="1"/>
              </c:strCache>
            </c:strRef>
          </c:tx>
          <c:cat>
            <c:strRef>
              <c:f>Sheet1!$A$2:$A$6</c:f>
              <c:strCache>
                <c:ptCount val="5"/>
                <c:pt idx="0">
                  <c:v>a</c:v>
                </c:pt>
                <c:pt idx="1">
                  <c:v>b</c:v>
                </c:pt>
                <c:pt idx="2">
                  <c:v>c</c:v>
                </c:pt>
                <c:pt idx="3">
                  <c:v>d</c:v>
                </c:pt>
                <c:pt idx="4">
                  <c:v>e</c:v>
                </c:pt>
              </c:strCache>
            </c: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2</c:v>
                </c:pt>
                <c:pt idx="1">
                  <c:v>5</c:v>
                </c:pt>
                <c:pt idx="2">
                  <c:v>6</c:v>
                </c:pt>
                <c:pt idx="3">
                  <c:v>3</c:v>
                </c:pt>
                <c:pt idx="4">
                  <c:v>1</c:v>
                </c:pt>
              </c:numCache>
            </c:numRef>
          </c:val>
        </c:ser>
        <c:dLbls>
          <c:showLegendKey val="0"/>
          <c:showVal val="0"/>
          <c:showCatName val="0"/>
          <c:showSerName val="0"/>
          <c:showPercent val="0"/>
          <c:showBubbleSize val="0"/>
          <c:showLeaderLines val="1"/>
        </c:dLbls>
        <c:firstSliceAng val="0"/>
      </c:pieChart>
    </c:plotArea>
    <c:plotVisOnly val="1"/>
    <c:dispBlanksAs val="zero"/>
    <c:showDLblsOverMax val="0"/>
  </c:chart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AU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75AD73A-AE13-444E-A6A8-7967ABAB8119}" type="datetimeFigureOut">
              <a:rPr lang="en-AU" smtClean="0"/>
              <a:pPr/>
              <a:t>7/03/2015</a:t>
            </a:fld>
            <a:endParaRPr lang="en-AU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AU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A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A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9516DE00-3598-450D-9FD4-B3F4D33F029B}" type="slidenum">
              <a:rPr lang="en-AU" smtClean="0"/>
              <a:pPr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57594097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AU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9516DE00-3598-450D-9FD4-B3F4D33F029B}" type="slidenum">
              <a:rPr lang="en-AU" smtClean="0"/>
              <a:pPr/>
              <a:t>1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648268615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AU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9516DE00-3598-450D-9FD4-B3F4D33F029B}" type="slidenum">
              <a:rPr lang="en-AU" smtClean="0"/>
              <a:pPr/>
              <a:t>23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424323223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AU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9516DE00-3598-450D-9FD4-B3F4D33F029B}" type="slidenum">
              <a:rPr lang="en-AU" smtClean="0"/>
              <a:pPr/>
              <a:t>24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424323223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AU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9516DE00-3598-450D-9FD4-B3F4D33F029B}" type="slidenum">
              <a:rPr lang="en-AU" smtClean="0"/>
              <a:pPr/>
              <a:t>25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424323223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AU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9516DE00-3598-450D-9FD4-B3F4D33F029B}" type="slidenum">
              <a:rPr lang="en-AU" smtClean="0"/>
              <a:pPr/>
              <a:t>26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424323223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AU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9516DE00-3598-450D-9FD4-B3F4D33F029B}" type="slidenum">
              <a:rPr lang="en-AU" smtClean="0"/>
              <a:pPr/>
              <a:t>27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424323223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AU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9516DE00-3598-450D-9FD4-B3F4D33F029B}" type="slidenum">
              <a:rPr lang="en-AU" smtClean="0"/>
              <a:pPr/>
              <a:t>28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424323223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AU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9516DE00-3598-450D-9FD4-B3F4D33F029B}" type="slidenum">
              <a:rPr lang="en-AU" smtClean="0"/>
              <a:pPr/>
              <a:t>29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424323223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AU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9516DE00-3598-450D-9FD4-B3F4D33F029B}" type="slidenum">
              <a:rPr lang="en-AU" smtClean="0"/>
              <a:pPr/>
              <a:t>30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424323223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AU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9516DE00-3598-450D-9FD4-B3F4D33F029B}" type="slidenum">
              <a:rPr lang="en-AU" smtClean="0"/>
              <a:pPr/>
              <a:t>31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424323223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AU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9516DE00-3598-450D-9FD4-B3F4D33F029B}" type="slidenum">
              <a:rPr lang="en-AU" smtClean="0"/>
              <a:pPr/>
              <a:t>32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424323223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AU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AU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3B91B3-E50F-4EFF-8D5F-21DA810ECD9F}" type="datetimeFigureOut">
              <a:rPr lang="en-AU" smtClean="0"/>
              <a:pPr/>
              <a:t>7/03/2015</a:t>
            </a:fld>
            <a:endParaRPr lang="en-AU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937BE4-3242-4672-8D3A-460DCD9877AE}" type="slidenum">
              <a:rPr lang="en-AU" smtClean="0"/>
              <a:pPr/>
              <a:t>‹#›</a:t>
            </a:fld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343264843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AU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AU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3B91B3-E50F-4EFF-8D5F-21DA810ECD9F}" type="datetimeFigureOut">
              <a:rPr lang="en-AU" smtClean="0"/>
              <a:pPr/>
              <a:t>7/03/2015</a:t>
            </a:fld>
            <a:endParaRPr lang="en-AU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937BE4-3242-4672-8D3A-460DCD9877AE}" type="slidenum">
              <a:rPr lang="en-AU" smtClean="0"/>
              <a:pPr/>
              <a:t>‹#›</a:t>
            </a:fld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383554845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AU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3B91B3-E50F-4EFF-8D5F-21DA810ECD9F}" type="datetimeFigureOut">
              <a:rPr lang="en-AU" smtClean="0"/>
              <a:pPr/>
              <a:t>7/03/2015</a:t>
            </a:fld>
            <a:endParaRPr lang="en-AU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937BE4-3242-4672-8D3A-460DCD9877AE}" type="slidenum">
              <a:rPr lang="en-AU" smtClean="0"/>
              <a:pPr/>
              <a:t>‹#›</a:t>
            </a:fld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418049122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AU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AU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AU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3B91B3-E50F-4EFF-8D5F-21DA810ECD9F}" type="datetimeFigureOut">
              <a:rPr lang="en-AU" smtClean="0"/>
              <a:pPr/>
              <a:t>7/03/2015</a:t>
            </a:fld>
            <a:endParaRPr lang="en-AU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937BE4-3242-4672-8D3A-460DCD9877AE}" type="slidenum">
              <a:rPr lang="en-AU" smtClean="0"/>
              <a:pPr/>
              <a:t>‹#›</a:t>
            </a:fld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174259579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AU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AU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AU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3B91B3-E50F-4EFF-8D5F-21DA810ECD9F}" type="datetimeFigureOut">
              <a:rPr lang="en-AU" smtClean="0"/>
              <a:pPr/>
              <a:t>7/03/2015</a:t>
            </a:fld>
            <a:endParaRPr lang="en-AU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937BE4-3242-4672-8D3A-460DCD9877AE}" type="slidenum">
              <a:rPr lang="en-AU" smtClean="0"/>
              <a:pPr/>
              <a:t>‹#›</a:t>
            </a:fld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200718262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AU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3B91B3-E50F-4EFF-8D5F-21DA810ECD9F}" type="datetimeFigureOut">
              <a:rPr lang="en-AU" smtClean="0"/>
              <a:pPr/>
              <a:t>7/03/2015</a:t>
            </a:fld>
            <a:endParaRPr lang="en-AU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937BE4-3242-4672-8D3A-460DCD9877AE}" type="slidenum">
              <a:rPr lang="en-AU" smtClean="0"/>
              <a:pPr/>
              <a:t>‹#›</a:t>
            </a:fld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57723544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3B91B3-E50F-4EFF-8D5F-21DA810ECD9F}" type="datetimeFigureOut">
              <a:rPr lang="en-AU" smtClean="0"/>
              <a:pPr/>
              <a:t>7/03/2015</a:t>
            </a:fld>
            <a:endParaRPr lang="en-AU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937BE4-3242-4672-8D3A-460DCD9877AE}" type="slidenum">
              <a:rPr lang="en-AU" smtClean="0"/>
              <a:pPr/>
              <a:t>‹#›</a:t>
            </a:fld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191991980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AU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AU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3B91B3-E50F-4EFF-8D5F-21DA810ECD9F}" type="datetimeFigureOut">
              <a:rPr lang="en-AU" smtClean="0"/>
              <a:pPr/>
              <a:t>7/03/2015</a:t>
            </a:fld>
            <a:endParaRPr lang="en-AU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937BE4-3242-4672-8D3A-460DCD9877AE}" type="slidenum">
              <a:rPr lang="en-AU" smtClean="0"/>
              <a:pPr/>
              <a:t>‹#›</a:t>
            </a:fld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81850263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AU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AU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3B91B3-E50F-4EFF-8D5F-21DA810ECD9F}" type="datetimeFigureOut">
              <a:rPr lang="en-AU" smtClean="0"/>
              <a:pPr/>
              <a:t>7/03/2015</a:t>
            </a:fld>
            <a:endParaRPr lang="en-AU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937BE4-3242-4672-8D3A-460DCD9877AE}" type="slidenum">
              <a:rPr lang="en-AU" smtClean="0"/>
              <a:pPr/>
              <a:t>‹#›</a:t>
            </a:fld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238398257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AU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AU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3B91B3-E50F-4EFF-8D5F-21DA810ECD9F}" type="datetimeFigureOut">
              <a:rPr lang="en-AU" smtClean="0"/>
              <a:pPr/>
              <a:t>7/03/2015</a:t>
            </a:fld>
            <a:endParaRPr lang="en-AU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937BE4-3242-4672-8D3A-460DCD9877AE}" type="slidenum">
              <a:rPr lang="en-AU" smtClean="0"/>
              <a:pPr/>
              <a:t>‹#›</a:t>
            </a:fld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409636942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AU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AU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3B91B3-E50F-4EFF-8D5F-21DA810ECD9F}" type="datetimeFigureOut">
              <a:rPr lang="en-AU" smtClean="0"/>
              <a:pPr/>
              <a:t>7/03/2015</a:t>
            </a:fld>
            <a:endParaRPr lang="en-AU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937BE4-3242-4672-8D3A-460DCD9877AE}" type="slidenum">
              <a:rPr lang="en-AU" smtClean="0"/>
              <a:pPr/>
              <a:t>‹#›</a:t>
            </a:fld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188021574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AU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AU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03B91B3-E50F-4EFF-8D5F-21DA810ECD9F}" type="datetimeFigureOut">
              <a:rPr lang="en-AU" smtClean="0"/>
              <a:pPr/>
              <a:t>7/03/2015</a:t>
            </a:fld>
            <a:endParaRPr lang="en-AU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AU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D937BE4-3242-4672-8D3A-460DCD9877AE}" type="slidenum">
              <a:rPr lang="en-AU" smtClean="0"/>
              <a:pPr/>
              <a:t>‹#›</a:t>
            </a:fld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242866648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5" Type="http://schemas.openxmlformats.org/officeDocument/2006/relationships/chart" Target="../charts/chart2.xml"/><Relationship Id="rId4" Type="http://schemas.openxmlformats.org/officeDocument/2006/relationships/chart" Target="../charts/char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7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0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7.png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7.png"/><Relationship Id="rId4" Type="http://schemas.openxmlformats.org/officeDocument/2006/relationships/image" Target="../media/image40.png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40.png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0.png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11.png"/><Relationship Id="rId4" Type="http://schemas.openxmlformats.org/officeDocument/2006/relationships/image" Target="../media/image10.png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3.png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4.png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5.png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5.png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16.png"/><Relationship Id="rId4" Type="http://schemas.openxmlformats.org/officeDocument/2006/relationships/image" Target="../media/image15.png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8" name="Picture 4" descr="C:\Users\e4047095\AppData\Local\Microsoft\Windows\Temporary Internet Files\Content.IE5\UN5YM58D\Line_Graph[1].png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640" y="1556792"/>
            <a:ext cx="3793604" cy="292739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755576" y="260648"/>
            <a:ext cx="7772400" cy="1470025"/>
          </a:xfrm>
        </p:spPr>
        <p:txBody>
          <a:bodyPr/>
          <a:lstStyle/>
          <a:p>
            <a:r>
              <a:rPr lang="en-AU" dirty="0" smtClean="0"/>
              <a:t>My Statistics</a:t>
            </a:r>
            <a:br>
              <a:rPr lang="en-AU" dirty="0" smtClean="0"/>
            </a:br>
            <a:r>
              <a:rPr lang="en-AU" dirty="0" smtClean="0"/>
              <a:t>Interactive Notebook</a:t>
            </a:r>
            <a:endParaRPr lang="en-AU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600844" y="4467670"/>
            <a:ext cx="6400800" cy="1752600"/>
          </a:xfrm>
        </p:spPr>
        <p:txBody>
          <a:bodyPr>
            <a:normAutofit fontScale="85000" lnSpcReduction="20000"/>
          </a:bodyPr>
          <a:lstStyle/>
          <a:p>
            <a:pPr algn="l"/>
            <a:r>
              <a:rPr lang="en-AU" dirty="0" smtClean="0"/>
              <a:t>Name </a:t>
            </a:r>
          </a:p>
          <a:p>
            <a:pPr algn="l"/>
            <a:r>
              <a:rPr lang="en-AU" dirty="0" smtClean="0"/>
              <a:t>Class </a:t>
            </a:r>
          </a:p>
          <a:p>
            <a:pPr algn="l"/>
            <a:r>
              <a:rPr lang="en-AU" dirty="0" smtClean="0"/>
              <a:t>Teacher </a:t>
            </a:r>
          </a:p>
          <a:p>
            <a:pPr algn="l"/>
            <a:r>
              <a:rPr lang="en-AU" dirty="0" smtClean="0"/>
              <a:t>Term 1 Semester 1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748464" y="6488668"/>
            <a:ext cx="54977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/>
              <a:t>1</a:t>
            </a:r>
          </a:p>
        </p:txBody>
      </p:sp>
      <p:graphicFrame>
        <p:nvGraphicFramePr>
          <p:cNvPr id="16" name="Chart 15"/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4044940676"/>
              </p:ext>
            </p:extLst>
          </p:nvPr>
        </p:nvGraphicFramePr>
        <p:xfrm>
          <a:off x="5369199" y="1700808"/>
          <a:ext cx="3654152" cy="1803648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  <p:graphicFrame>
        <p:nvGraphicFramePr>
          <p:cNvPr id="17" name="Chart 16"/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635245832"/>
              </p:ext>
            </p:extLst>
          </p:nvPr>
        </p:nvGraphicFramePr>
        <p:xfrm>
          <a:off x="4283968" y="3212976"/>
          <a:ext cx="4248472" cy="2599184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5"/>
          </a:graphicData>
        </a:graphic>
      </p:graphicFrame>
    </p:spTree>
    <p:extLst>
      <p:ext uri="{BB962C8B-B14F-4D97-AF65-F5344CB8AC3E}">
        <p14:creationId xmlns:p14="http://schemas.microsoft.com/office/powerpoint/2010/main" val="312506273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AU" dirty="0" smtClean="0"/>
              <a:t>Create your own front page</a:t>
            </a:r>
            <a:endParaRPr lang="en-AU" dirty="0"/>
          </a:p>
        </p:txBody>
      </p:sp>
      <p:sp>
        <p:nvSpPr>
          <p:cNvPr id="4" name="Content Placeholder 3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en-AU" dirty="0" smtClean="0"/>
              <a:t>It needs to contain the following –</a:t>
            </a:r>
          </a:p>
          <a:p>
            <a:pPr>
              <a:buFontTx/>
              <a:buChar char="-"/>
            </a:pPr>
            <a:r>
              <a:rPr lang="en-AU" dirty="0" smtClean="0"/>
              <a:t>My number interactive notebook</a:t>
            </a:r>
          </a:p>
          <a:p>
            <a:pPr>
              <a:buFontTx/>
              <a:buChar char="-"/>
            </a:pPr>
            <a:r>
              <a:rPr lang="en-AU" dirty="0" smtClean="0"/>
              <a:t>Name </a:t>
            </a:r>
          </a:p>
          <a:p>
            <a:pPr>
              <a:buFontTx/>
              <a:buChar char="-"/>
            </a:pPr>
            <a:r>
              <a:rPr lang="en-AU" dirty="0" smtClean="0"/>
              <a:t>Class</a:t>
            </a:r>
          </a:p>
          <a:p>
            <a:pPr>
              <a:buFontTx/>
              <a:buChar char="-"/>
            </a:pPr>
            <a:r>
              <a:rPr lang="en-AU" dirty="0" smtClean="0"/>
              <a:t>Teachers Name</a:t>
            </a:r>
          </a:p>
          <a:p>
            <a:pPr>
              <a:buFontTx/>
              <a:buChar char="-"/>
            </a:pPr>
            <a:r>
              <a:rPr lang="en-AU" dirty="0" smtClean="0"/>
              <a:t>Semester 1 Term 1</a:t>
            </a:r>
          </a:p>
          <a:p>
            <a:pPr>
              <a:buFontTx/>
              <a:buChar char="-"/>
            </a:pPr>
            <a:r>
              <a:rPr lang="en-AU" dirty="0" smtClean="0"/>
              <a:t>Page number 1</a:t>
            </a:r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8286990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5" name="Straight Connector 4"/>
          <p:cNvCxnSpPr/>
          <p:nvPr/>
        </p:nvCxnSpPr>
        <p:spPr>
          <a:xfrm>
            <a:off x="4500081" y="0"/>
            <a:ext cx="72008" cy="6957392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403" y="6474667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dirty="0" smtClean="0"/>
              <a:t>2</a:t>
            </a:r>
            <a:endParaRPr lang="en-AU" dirty="0"/>
          </a:p>
        </p:txBody>
      </p:sp>
      <p:sp>
        <p:nvSpPr>
          <p:cNvPr id="7" name="TextBox 6"/>
          <p:cNvSpPr txBox="1"/>
          <p:nvPr/>
        </p:nvSpPr>
        <p:spPr>
          <a:xfrm>
            <a:off x="8748464" y="6488668"/>
            <a:ext cx="54977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 smtClean="0"/>
              <a:t>3</a:t>
            </a:r>
            <a:endParaRPr lang="en-AU" dirty="0"/>
          </a:p>
        </p:txBody>
      </p:sp>
      <p:cxnSp>
        <p:nvCxnSpPr>
          <p:cNvPr id="9" name="Straight Connector 8"/>
          <p:cNvCxnSpPr/>
          <p:nvPr/>
        </p:nvCxnSpPr>
        <p:spPr>
          <a:xfrm>
            <a:off x="-143838" y="620688"/>
            <a:ext cx="4643919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15" name="Straight Connector 14"/>
          <p:cNvCxnSpPr/>
          <p:nvPr/>
        </p:nvCxnSpPr>
        <p:spPr>
          <a:xfrm>
            <a:off x="1115616" y="404664"/>
            <a:ext cx="0" cy="586798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20" name="TextBox 19"/>
          <p:cNvSpPr txBox="1"/>
          <p:nvPr/>
        </p:nvSpPr>
        <p:spPr>
          <a:xfrm>
            <a:off x="577648" y="5803"/>
            <a:ext cx="932050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sz="1600" dirty="0" smtClean="0"/>
              <a:t>Contents</a:t>
            </a:r>
            <a:endParaRPr lang="en-AU" sz="1600" dirty="0"/>
          </a:p>
        </p:txBody>
      </p:sp>
      <p:sp>
        <p:nvSpPr>
          <p:cNvPr id="23" name="TextBox 22"/>
          <p:cNvSpPr txBox="1"/>
          <p:nvPr/>
        </p:nvSpPr>
        <p:spPr>
          <a:xfrm>
            <a:off x="223224" y="374467"/>
            <a:ext cx="580865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sz="1600" dirty="0" smtClean="0"/>
              <a:t>Page</a:t>
            </a:r>
            <a:endParaRPr lang="en-AU" sz="1600" dirty="0"/>
          </a:p>
        </p:txBody>
      </p:sp>
      <p:cxnSp>
        <p:nvCxnSpPr>
          <p:cNvPr id="16" name="Straight Connector 15"/>
          <p:cNvCxnSpPr/>
          <p:nvPr/>
        </p:nvCxnSpPr>
        <p:spPr>
          <a:xfrm>
            <a:off x="2143810" y="404664"/>
            <a:ext cx="0" cy="586798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17" name="TextBox 16"/>
          <p:cNvSpPr txBox="1"/>
          <p:nvPr/>
        </p:nvSpPr>
        <p:spPr>
          <a:xfrm>
            <a:off x="1403646" y="344357"/>
            <a:ext cx="576504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sz="1600" dirty="0" smtClean="0"/>
              <a:t>Date</a:t>
            </a:r>
            <a:endParaRPr lang="en-AU" sz="1600" dirty="0"/>
          </a:p>
        </p:txBody>
      </p:sp>
      <p:sp>
        <p:nvSpPr>
          <p:cNvPr id="18" name="TextBox 17"/>
          <p:cNvSpPr txBox="1"/>
          <p:nvPr/>
        </p:nvSpPr>
        <p:spPr>
          <a:xfrm>
            <a:off x="2555776" y="344357"/>
            <a:ext cx="1398888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1600" dirty="0" smtClean="0"/>
              <a:t>Description</a:t>
            </a:r>
            <a:endParaRPr lang="en-AU" sz="1600" dirty="0"/>
          </a:p>
        </p:txBody>
      </p:sp>
      <p:sp>
        <p:nvSpPr>
          <p:cNvPr id="21" name="TextBox 20"/>
          <p:cNvSpPr txBox="1"/>
          <p:nvPr/>
        </p:nvSpPr>
        <p:spPr>
          <a:xfrm>
            <a:off x="5796136" y="66504"/>
            <a:ext cx="2592288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1600" dirty="0" smtClean="0"/>
              <a:t>Glossary or Formula Page</a:t>
            </a:r>
            <a:endParaRPr lang="en-AU" sz="1600" dirty="0"/>
          </a:p>
        </p:txBody>
      </p:sp>
    </p:spTree>
    <p:extLst>
      <p:ext uri="{BB962C8B-B14F-4D97-AF65-F5344CB8AC3E}">
        <p14:creationId xmlns:p14="http://schemas.microsoft.com/office/powerpoint/2010/main" val="151545733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5" name="Straight Connector 4"/>
          <p:cNvCxnSpPr/>
          <p:nvPr/>
        </p:nvCxnSpPr>
        <p:spPr>
          <a:xfrm>
            <a:off x="4500081" y="0"/>
            <a:ext cx="72008" cy="6957392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403" y="6474667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dirty="0"/>
              <a:t>4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748463" y="6525528"/>
            <a:ext cx="54977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/>
              <a:t>5</a:t>
            </a:r>
          </a:p>
        </p:txBody>
      </p:sp>
      <p:cxnSp>
        <p:nvCxnSpPr>
          <p:cNvPr id="9" name="Straight Connector 8"/>
          <p:cNvCxnSpPr/>
          <p:nvPr/>
        </p:nvCxnSpPr>
        <p:spPr>
          <a:xfrm>
            <a:off x="4500081" y="620688"/>
            <a:ext cx="4643919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11" name="Straight Connector 10"/>
          <p:cNvCxnSpPr/>
          <p:nvPr/>
        </p:nvCxnSpPr>
        <p:spPr>
          <a:xfrm>
            <a:off x="4500081" y="1196752"/>
            <a:ext cx="4643919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13" name="Straight Connector 12"/>
          <p:cNvCxnSpPr/>
          <p:nvPr/>
        </p:nvCxnSpPr>
        <p:spPr>
          <a:xfrm>
            <a:off x="4572089" y="5373216"/>
            <a:ext cx="4726150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15" name="Straight Connector 14"/>
          <p:cNvCxnSpPr/>
          <p:nvPr/>
        </p:nvCxnSpPr>
        <p:spPr>
          <a:xfrm>
            <a:off x="5868144" y="1196752"/>
            <a:ext cx="0" cy="4176464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19" name="TextBox 18"/>
          <p:cNvSpPr txBox="1"/>
          <p:nvPr/>
        </p:nvSpPr>
        <p:spPr>
          <a:xfrm>
            <a:off x="4533261" y="66690"/>
            <a:ext cx="431959" cy="5539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1000" dirty="0" smtClean="0"/>
              <a:t>24</a:t>
            </a:r>
          </a:p>
          <a:p>
            <a:r>
              <a:rPr lang="en-AU" sz="1000" dirty="0" smtClean="0"/>
              <a:t>7</a:t>
            </a:r>
          </a:p>
          <a:p>
            <a:r>
              <a:rPr lang="en-AU" sz="1000" dirty="0" smtClean="0"/>
              <a:t>30</a:t>
            </a:r>
            <a:endParaRPr lang="en-AU" sz="1000" dirty="0"/>
          </a:p>
        </p:txBody>
      </p:sp>
      <p:sp>
        <p:nvSpPr>
          <p:cNvPr id="20" name="TextBox 19"/>
          <p:cNvSpPr txBox="1"/>
          <p:nvPr/>
        </p:nvSpPr>
        <p:spPr>
          <a:xfrm>
            <a:off x="4572089" y="601548"/>
            <a:ext cx="1143262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sz="1000" dirty="0" smtClean="0"/>
              <a:t>Essential Question</a:t>
            </a:r>
            <a:endParaRPr lang="en-AU" sz="1000" dirty="0"/>
          </a:p>
        </p:txBody>
      </p:sp>
      <p:sp>
        <p:nvSpPr>
          <p:cNvPr id="22" name="TextBox 21"/>
          <p:cNvSpPr txBox="1"/>
          <p:nvPr/>
        </p:nvSpPr>
        <p:spPr>
          <a:xfrm>
            <a:off x="5867750" y="1196751"/>
            <a:ext cx="492443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sz="1000" dirty="0" smtClean="0"/>
              <a:t>Notes</a:t>
            </a:r>
            <a:endParaRPr lang="en-AU" sz="1000" dirty="0"/>
          </a:p>
        </p:txBody>
      </p:sp>
      <p:sp>
        <p:nvSpPr>
          <p:cNvPr id="23" name="TextBox 22"/>
          <p:cNvSpPr txBox="1"/>
          <p:nvPr/>
        </p:nvSpPr>
        <p:spPr>
          <a:xfrm>
            <a:off x="4521850" y="1196752"/>
            <a:ext cx="708848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sz="1000" dirty="0" smtClean="0"/>
              <a:t>Questions</a:t>
            </a:r>
            <a:endParaRPr lang="en-AU" sz="1000" dirty="0"/>
          </a:p>
        </p:txBody>
      </p:sp>
      <p:sp>
        <p:nvSpPr>
          <p:cNvPr id="24" name="TextBox 23"/>
          <p:cNvSpPr txBox="1"/>
          <p:nvPr/>
        </p:nvSpPr>
        <p:spPr>
          <a:xfrm>
            <a:off x="4572089" y="5373216"/>
            <a:ext cx="679994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sz="1000" dirty="0" smtClean="0"/>
              <a:t>Summary</a:t>
            </a:r>
            <a:endParaRPr lang="en-AU" sz="1000" dirty="0"/>
          </a:p>
        </p:txBody>
      </p:sp>
      <p:sp>
        <p:nvSpPr>
          <p:cNvPr id="25" name="TextBox 24"/>
          <p:cNvSpPr txBox="1"/>
          <p:nvPr/>
        </p:nvSpPr>
        <p:spPr>
          <a:xfrm>
            <a:off x="151246" y="142494"/>
            <a:ext cx="67108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dirty="0" smtClean="0"/>
              <a:t>Tasks</a:t>
            </a:r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221653258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8748464" y="6488668"/>
            <a:ext cx="54977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 smtClean="0"/>
              <a:t> </a:t>
            </a:r>
            <a:r>
              <a:rPr lang="en-AU" dirty="0"/>
              <a:t>5</a:t>
            </a:r>
          </a:p>
        </p:txBody>
      </p:sp>
      <p:cxnSp>
        <p:nvCxnSpPr>
          <p:cNvPr id="4" name="Straight Connector 3"/>
          <p:cNvCxnSpPr/>
          <p:nvPr/>
        </p:nvCxnSpPr>
        <p:spPr>
          <a:xfrm>
            <a:off x="0" y="980728"/>
            <a:ext cx="9144000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6" name="Straight Connector 5"/>
          <p:cNvCxnSpPr/>
          <p:nvPr/>
        </p:nvCxnSpPr>
        <p:spPr>
          <a:xfrm>
            <a:off x="0" y="1916832"/>
            <a:ext cx="9144000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93471" y="149731"/>
            <a:ext cx="576064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1600" dirty="0" smtClean="0"/>
              <a:t>24</a:t>
            </a:r>
          </a:p>
          <a:p>
            <a:r>
              <a:rPr lang="en-AU" sz="1600" dirty="0" smtClean="0"/>
              <a:t>7</a:t>
            </a:r>
          </a:p>
          <a:p>
            <a:r>
              <a:rPr lang="en-AU" sz="1600" dirty="0" smtClean="0"/>
              <a:t>30</a:t>
            </a:r>
            <a:endParaRPr lang="en-AU" sz="1600" dirty="0"/>
          </a:p>
        </p:txBody>
      </p:sp>
      <p:cxnSp>
        <p:nvCxnSpPr>
          <p:cNvPr id="9" name="Straight Connector 8"/>
          <p:cNvCxnSpPr/>
          <p:nvPr/>
        </p:nvCxnSpPr>
        <p:spPr>
          <a:xfrm>
            <a:off x="2915816" y="1916832"/>
            <a:ext cx="0" cy="5112568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10" name="TextBox 9"/>
          <p:cNvSpPr txBox="1"/>
          <p:nvPr/>
        </p:nvSpPr>
        <p:spPr>
          <a:xfrm>
            <a:off x="1115616" y="404664"/>
            <a:ext cx="821059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sz="2800" dirty="0" smtClean="0"/>
              <a:t>Title</a:t>
            </a:r>
            <a:endParaRPr lang="en-AU" sz="2800" dirty="0"/>
          </a:p>
        </p:txBody>
      </p:sp>
      <p:sp>
        <p:nvSpPr>
          <p:cNvPr id="11" name="TextBox 10"/>
          <p:cNvSpPr txBox="1"/>
          <p:nvPr/>
        </p:nvSpPr>
        <p:spPr>
          <a:xfrm>
            <a:off x="7439175" y="106354"/>
            <a:ext cx="158417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dirty="0" smtClean="0"/>
              <a:t>Date</a:t>
            </a:r>
            <a:endParaRPr lang="en-AU" sz="2400" dirty="0"/>
          </a:p>
        </p:txBody>
      </p:sp>
      <p:sp>
        <p:nvSpPr>
          <p:cNvPr id="12" name="TextBox 11"/>
          <p:cNvSpPr txBox="1"/>
          <p:nvPr/>
        </p:nvSpPr>
        <p:spPr>
          <a:xfrm>
            <a:off x="119514" y="1063436"/>
            <a:ext cx="862042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dirty="0" smtClean="0"/>
              <a:t>EQ –</a:t>
            </a:r>
            <a:endParaRPr lang="en-AU" sz="2400" dirty="0"/>
          </a:p>
        </p:txBody>
      </p:sp>
    </p:spTree>
    <p:extLst>
      <p:ext uri="{BB962C8B-B14F-4D97-AF65-F5344CB8AC3E}">
        <p14:creationId xmlns:p14="http://schemas.microsoft.com/office/powerpoint/2010/main" val="167090258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8748464" y="6488668"/>
            <a:ext cx="54977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 smtClean="0"/>
              <a:t> </a:t>
            </a:r>
            <a:r>
              <a:rPr lang="en-AU" dirty="0"/>
              <a:t>5</a:t>
            </a:r>
          </a:p>
        </p:txBody>
      </p:sp>
      <p:cxnSp>
        <p:nvCxnSpPr>
          <p:cNvPr id="4" name="Straight Connector 3"/>
          <p:cNvCxnSpPr/>
          <p:nvPr/>
        </p:nvCxnSpPr>
        <p:spPr>
          <a:xfrm>
            <a:off x="0" y="980728"/>
            <a:ext cx="9144000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6" name="Straight Connector 5"/>
          <p:cNvCxnSpPr/>
          <p:nvPr/>
        </p:nvCxnSpPr>
        <p:spPr>
          <a:xfrm>
            <a:off x="0" y="1916832"/>
            <a:ext cx="9144000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93471" y="149731"/>
            <a:ext cx="576064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1600" dirty="0" smtClean="0"/>
              <a:t>24</a:t>
            </a:r>
          </a:p>
          <a:p>
            <a:r>
              <a:rPr lang="en-AU" sz="1600" dirty="0" smtClean="0"/>
              <a:t>7</a:t>
            </a:r>
          </a:p>
          <a:p>
            <a:r>
              <a:rPr lang="en-AU" sz="1600" dirty="0" smtClean="0"/>
              <a:t>30</a:t>
            </a:r>
            <a:endParaRPr lang="en-AU" sz="1600" dirty="0"/>
          </a:p>
        </p:txBody>
      </p:sp>
      <p:cxnSp>
        <p:nvCxnSpPr>
          <p:cNvPr id="9" name="Straight Connector 8"/>
          <p:cNvCxnSpPr/>
          <p:nvPr/>
        </p:nvCxnSpPr>
        <p:spPr>
          <a:xfrm>
            <a:off x="2915816" y="1916832"/>
            <a:ext cx="0" cy="5112568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10" name="TextBox 9"/>
          <p:cNvSpPr txBox="1"/>
          <p:nvPr/>
        </p:nvSpPr>
        <p:spPr>
          <a:xfrm>
            <a:off x="665095" y="348705"/>
            <a:ext cx="6824817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sz="2800" dirty="0" smtClean="0"/>
              <a:t>Measures of </a:t>
            </a:r>
            <a:r>
              <a:rPr lang="en-AU" sz="2800" dirty="0" smtClean="0"/>
              <a:t>Centre and Spread for a Data Set</a:t>
            </a:r>
            <a:endParaRPr lang="en-AU" sz="2800" dirty="0"/>
          </a:p>
        </p:txBody>
      </p:sp>
      <p:sp>
        <p:nvSpPr>
          <p:cNvPr id="11" name="TextBox 10"/>
          <p:cNvSpPr txBox="1"/>
          <p:nvPr/>
        </p:nvSpPr>
        <p:spPr>
          <a:xfrm>
            <a:off x="7439175" y="106354"/>
            <a:ext cx="158417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dirty="0" smtClean="0"/>
              <a:t>Date</a:t>
            </a:r>
            <a:endParaRPr lang="en-AU" sz="2400" dirty="0"/>
          </a:p>
        </p:txBody>
      </p:sp>
      <p:sp>
        <p:nvSpPr>
          <p:cNvPr id="12" name="TextBox 11"/>
          <p:cNvSpPr txBox="1"/>
          <p:nvPr/>
        </p:nvSpPr>
        <p:spPr>
          <a:xfrm>
            <a:off x="119514" y="1063436"/>
            <a:ext cx="8620422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dirty="0" smtClean="0"/>
              <a:t>EQ – Describe the differences between the different types of averages. </a:t>
            </a:r>
            <a:endParaRPr lang="en-AU" sz="2400" dirty="0"/>
          </a:p>
        </p:txBody>
      </p:sp>
    </p:spTree>
    <p:extLst>
      <p:ext uri="{BB962C8B-B14F-4D97-AF65-F5344CB8AC3E}">
        <p14:creationId xmlns:p14="http://schemas.microsoft.com/office/powerpoint/2010/main" val="187216258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8748464" y="6488668"/>
            <a:ext cx="54977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 smtClean="0"/>
              <a:t> </a:t>
            </a:r>
            <a:r>
              <a:rPr lang="en-AU" dirty="0"/>
              <a:t>5</a:t>
            </a:r>
          </a:p>
        </p:txBody>
      </p:sp>
      <p:cxnSp>
        <p:nvCxnSpPr>
          <p:cNvPr id="4" name="Straight Connector 3"/>
          <p:cNvCxnSpPr/>
          <p:nvPr/>
        </p:nvCxnSpPr>
        <p:spPr>
          <a:xfrm>
            <a:off x="0" y="980728"/>
            <a:ext cx="9144000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6" name="Straight Connector 5"/>
          <p:cNvCxnSpPr/>
          <p:nvPr/>
        </p:nvCxnSpPr>
        <p:spPr>
          <a:xfrm>
            <a:off x="0" y="1916832"/>
            <a:ext cx="9144000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93471" y="149731"/>
            <a:ext cx="576064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1600" dirty="0" smtClean="0"/>
              <a:t>24</a:t>
            </a:r>
          </a:p>
          <a:p>
            <a:r>
              <a:rPr lang="en-AU" sz="1600" dirty="0" smtClean="0"/>
              <a:t>7</a:t>
            </a:r>
          </a:p>
          <a:p>
            <a:r>
              <a:rPr lang="en-AU" sz="1600" dirty="0" smtClean="0"/>
              <a:t>30</a:t>
            </a:r>
            <a:endParaRPr lang="en-AU" sz="1600" dirty="0"/>
          </a:p>
        </p:txBody>
      </p:sp>
      <p:cxnSp>
        <p:nvCxnSpPr>
          <p:cNvPr id="9" name="Straight Connector 8"/>
          <p:cNvCxnSpPr/>
          <p:nvPr/>
        </p:nvCxnSpPr>
        <p:spPr>
          <a:xfrm>
            <a:off x="2915816" y="1916832"/>
            <a:ext cx="0" cy="5112568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11" name="TextBox 10"/>
          <p:cNvSpPr txBox="1"/>
          <p:nvPr/>
        </p:nvSpPr>
        <p:spPr>
          <a:xfrm>
            <a:off x="7439175" y="106354"/>
            <a:ext cx="158417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dirty="0" smtClean="0"/>
              <a:t>Date</a:t>
            </a:r>
            <a:endParaRPr lang="en-AU" sz="2400" dirty="0"/>
          </a:p>
        </p:txBody>
      </p:sp>
      <p:sp>
        <p:nvSpPr>
          <p:cNvPr id="12" name="TextBox 11"/>
          <p:cNvSpPr txBox="1"/>
          <p:nvPr/>
        </p:nvSpPr>
        <p:spPr>
          <a:xfrm>
            <a:off x="119514" y="1063436"/>
            <a:ext cx="8620422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dirty="0" smtClean="0"/>
              <a:t>EQ – Describe the differences between the different types of averages. </a:t>
            </a:r>
            <a:endParaRPr lang="en-AU" sz="2400" dirty="0"/>
          </a:p>
        </p:txBody>
      </p:sp>
      <p:sp>
        <p:nvSpPr>
          <p:cNvPr id="3" name="TextBox 2"/>
          <p:cNvSpPr txBox="1"/>
          <p:nvPr/>
        </p:nvSpPr>
        <p:spPr>
          <a:xfrm>
            <a:off x="-15756" y="2040662"/>
            <a:ext cx="293157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dirty="0" smtClean="0"/>
              <a:t>What is a measure of centre?</a:t>
            </a:r>
            <a:endParaRPr lang="en-AU" dirty="0"/>
          </a:p>
        </p:txBody>
      </p:sp>
      <p:sp>
        <p:nvSpPr>
          <p:cNvPr id="13" name="TextBox 12"/>
          <p:cNvSpPr txBox="1"/>
          <p:nvPr/>
        </p:nvSpPr>
        <p:spPr>
          <a:xfrm>
            <a:off x="665095" y="348705"/>
            <a:ext cx="6824817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sz="2800" dirty="0" smtClean="0"/>
              <a:t>Measures of </a:t>
            </a:r>
            <a:r>
              <a:rPr lang="en-AU" sz="2800" dirty="0" smtClean="0"/>
              <a:t>Centre and Spread for a Data Set</a:t>
            </a:r>
            <a:endParaRPr lang="en-AU" sz="2800" dirty="0"/>
          </a:p>
        </p:txBody>
      </p:sp>
    </p:spTree>
    <p:extLst>
      <p:ext uri="{BB962C8B-B14F-4D97-AF65-F5344CB8AC3E}">
        <p14:creationId xmlns:p14="http://schemas.microsoft.com/office/powerpoint/2010/main" val="241700145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8748464" y="6488668"/>
            <a:ext cx="54977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 smtClean="0"/>
              <a:t> </a:t>
            </a:r>
            <a:r>
              <a:rPr lang="en-AU" dirty="0"/>
              <a:t>5</a:t>
            </a:r>
          </a:p>
        </p:txBody>
      </p:sp>
      <p:cxnSp>
        <p:nvCxnSpPr>
          <p:cNvPr id="4" name="Straight Connector 3"/>
          <p:cNvCxnSpPr/>
          <p:nvPr/>
        </p:nvCxnSpPr>
        <p:spPr>
          <a:xfrm>
            <a:off x="0" y="980728"/>
            <a:ext cx="9144000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6" name="Straight Connector 5"/>
          <p:cNvCxnSpPr/>
          <p:nvPr/>
        </p:nvCxnSpPr>
        <p:spPr>
          <a:xfrm>
            <a:off x="0" y="1916832"/>
            <a:ext cx="9144000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93471" y="149731"/>
            <a:ext cx="576064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1600" dirty="0" smtClean="0"/>
              <a:t>24</a:t>
            </a:r>
          </a:p>
          <a:p>
            <a:r>
              <a:rPr lang="en-AU" sz="1600" dirty="0" smtClean="0"/>
              <a:t>7</a:t>
            </a:r>
          </a:p>
          <a:p>
            <a:r>
              <a:rPr lang="en-AU" sz="1600" dirty="0" smtClean="0"/>
              <a:t>30</a:t>
            </a:r>
            <a:endParaRPr lang="en-AU" sz="1600" dirty="0"/>
          </a:p>
        </p:txBody>
      </p:sp>
      <p:cxnSp>
        <p:nvCxnSpPr>
          <p:cNvPr id="9" name="Straight Connector 8"/>
          <p:cNvCxnSpPr/>
          <p:nvPr/>
        </p:nvCxnSpPr>
        <p:spPr>
          <a:xfrm>
            <a:off x="2915816" y="1916832"/>
            <a:ext cx="0" cy="5112568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11" name="TextBox 10"/>
          <p:cNvSpPr txBox="1"/>
          <p:nvPr/>
        </p:nvSpPr>
        <p:spPr>
          <a:xfrm>
            <a:off x="7439175" y="106354"/>
            <a:ext cx="158417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dirty="0" smtClean="0"/>
              <a:t>Date</a:t>
            </a:r>
            <a:endParaRPr lang="en-AU" sz="2400" dirty="0"/>
          </a:p>
        </p:txBody>
      </p:sp>
      <p:sp>
        <p:nvSpPr>
          <p:cNvPr id="12" name="TextBox 11"/>
          <p:cNvSpPr txBox="1"/>
          <p:nvPr/>
        </p:nvSpPr>
        <p:spPr>
          <a:xfrm>
            <a:off x="119514" y="1063436"/>
            <a:ext cx="8620422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dirty="0" smtClean="0"/>
              <a:t>EQ – Describe the differences between the different types of averages. </a:t>
            </a:r>
            <a:endParaRPr lang="en-AU" sz="2400" dirty="0"/>
          </a:p>
        </p:txBody>
      </p:sp>
      <p:sp>
        <p:nvSpPr>
          <p:cNvPr id="3" name="TextBox 2"/>
          <p:cNvSpPr txBox="1"/>
          <p:nvPr/>
        </p:nvSpPr>
        <p:spPr>
          <a:xfrm>
            <a:off x="89550" y="2040662"/>
            <a:ext cx="293157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dirty="0" smtClean="0"/>
              <a:t>What is a measure of centre?</a:t>
            </a:r>
            <a:endParaRPr lang="en-AU" dirty="0"/>
          </a:p>
        </p:txBody>
      </p:sp>
      <p:sp>
        <p:nvSpPr>
          <p:cNvPr id="5" name="TextBox 4"/>
          <p:cNvSpPr txBox="1"/>
          <p:nvPr/>
        </p:nvSpPr>
        <p:spPr>
          <a:xfrm>
            <a:off x="3021122" y="2024956"/>
            <a:ext cx="460369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dirty="0" smtClean="0"/>
              <a:t>This finds the average value for a group of data</a:t>
            </a:r>
            <a:endParaRPr lang="en-AU" dirty="0"/>
          </a:p>
        </p:txBody>
      </p:sp>
      <p:sp>
        <p:nvSpPr>
          <p:cNvPr id="13" name="TextBox 12"/>
          <p:cNvSpPr txBox="1"/>
          <p:nvPr/>
        </p:nvSpPr>
        <p:spPr>
          <a:xfrm>
            <a:off x="665095" y="348705"/>
            <a:ext cx="6824817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sz="2800" dirty="0" smtClean="0"/>
              <a:t>Measures of </a:t>
            </a:r>
            <a:r>
              <a:rPr lang="en-AU" sz="2800" dirty="0" smtClean="0"/>
              <a:t>Centre and Spread for a Data Set</a:t>
            </a:r>
            <a:endParaRPr lang="en-AU" sz="2800" dirty="0"/>
          </a:p>
        </p:txBody>
      </p:sp>
    </p:spTree>
    <p:extLst>
      <p:ext uri="{BB962C8B-B14F-4D97-AF65-F5344CB8AC3E}">
        <p14:creationId xmlns:p14="http://schemas.microsoft.com/office/powerpoint/2010/main" val="68316679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8748464" y="6488668"/>
            <a:ext cx="54977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 smtClean="0"/>
              <a:t> </a:t>
            </a:r>
            <a:r>
              <a:rPr lang="en-AU" dirty="0"/>
              <a:t>5</a:t>
            </a:r>
          </a:p>
        </p:txBody>
      </p:sp>
      <p:cxnSp>
        <p:nvCxnSpPr>
          <p:cNvPr id="4" name="Straight Connector 3"/>
          <p:cNvCxnSpPr/>
          <p:nvPr/>
        </p:nvCxnSpPr>
        <p:spPr>
          <a:xfrm>
            <a:off x="0" y="980728"/>
            <a:ext cx="9144000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6" name="Straight Connector 5"/>
          <p:cNvCxnSpPr/>
          <p:nvPr/>
        </p:nvCxnSpPr>
        <p:spPr>
          <a:xfrm>
            <a:off x="0" y="1916832"/>
            <a:ext cx="9144000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93471" y="149731"/>
            <a:ext cx="576064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1600" dirty="0" smtClean="0"/>
              <a:t>24</a:t>
            </a:r>
          </a:p>
          <a:p>
            <a:r>
              <a:rPr lang="en-AU" sz="1600" dirty="0" smtClean="0"/>
              <a:t>7</a:t>
            </a:r>
          </a:p>
          <a:p>
            <a:r>
              <a:rPr lang="en-AU" sz="1600" dirty="0" smtClean="0"/>
              <a:t>30</a:t>
            </a:r>
            <a:endParaRPr lang="en-AU" sz="1600" dirty="0"/>
          </a:p>
        </p:txBody>
      </p:sp>
      <p:cxnSp>
        <p:nvCxnSpPr>
          <p:cNvPr id="9" name="Straight Connector 8"/>
          <p:cNvCxnSpPr/>
          <p:nvPr/>
        </p:nvCxnSpPr>
        <p:spPr>
          <a:xfrm>
            <a:off x="2915816" y="1916832"/>
            <a:ext cx="0" cy="5112568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11" name="TextBox 10"/>
          <p:cNvSpPr txBox="1"/>
          <p:nvPr/>
        </p:nvSpPr>
        <p:spPr>
          <a:xfrm>
            <a:off x="7439175" y="106354"/>
            <a:ext cx="158417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dirty="0" smtClean="0"/>
              <a:t>Date</a:t>
            </a:r>
            <a:endParaRPr lang="en-AU" sz="2400" dirty="0"/>
          </a:p>
        </p:txBody>
      </p:sp>
      <p:sp>
        <p:nvSpPr>
          <p:cNvPr id="12" name="TextBox 11"/>
          <p:cNvSpPr txBox="1"/>
          <p:nvPr/>
        </p:nvSpPr>
        <p:spPr>
          <a:xfrm>
            <a:off x="119514" y="1063436"/>
            <a:ext cx="8620422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dirty="0" smtClean="0"/>
              <a:t>EQ – Describe the differences between the different types of averages. </a:t>
            </a:r>
            <a:endParaRPr lang="en-AU" sz="2400" dirty="0"/>
          </a:p>
        </p:txBody>
      </p:sp>
      <p:sp>
        <p:nvSpPr>
          <p:cNvPr id="3" name="TextBox 2"/>
          <p:cNvSpPr txBox="1"/>
          <p:nvPr/>
        </p:nvSpPr>
        <p:spPr>
          <a:xfrm>
            <a:off x="89550" y="2040662"/>
            <a:ext cx="293157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dirty="0" smtClean="0"/>
              <a:t>What is a measure of centre?</a:t>
            </a:r>
            <a:endParaRPr lang="en-AU" dirty="0"/>
          </a:p>
        </p:txBody>
      </p:sp>
      <p:sp>
        <p:nvSpPr>
          <p:cNvPr id="5" name="TextBox 4"/>
          <p:cNvSpPr txBox="1"/>
          <p:nvPr/>
        </p:nvSpPr>
        <p:spPr>
          <a:xfrm>
            <a:off x="3021122" y="2024956"/>
            <a:ext cx="460369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dirty="0" smtClean="0"/>
              <a:t>This finds the average value for a group of data</a:t>
            </a:r>
            <a:endParaRPr lang="en-AU" dirty="0"/>
          </a:p>
        </p:txBody>
      </p:sp>
      <p:sp>
        <p:nvSpPr>
          <p:cNvPr id="8" name="TextBox 7"/>
          <p:cNvSpPr txBox="1"/>
          <p:nvPr/>
        </p:nvSpPr>
        <p:spPr>
          <a:xfrm>
            <a:off x="148610" y="2422446"/>
            <a:ext cx="240296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dirty="0" smtClean="0"/>
              <a:t>What are the averages?</a:t>
            </a:r>
            <a:endParaRPr lang="en-AU" dirty="0"/>
          </a:p>
        </p:txBody>
      </p:sp>
      <p:sp>
        <p:nvSpPr>
          <p:cNvPr id="13" name="TextBox 12"/>
          <p:cNvSpPr txBox="1"/>
          <p:nvPr/>
        </p:nvSpPr>
        <p:spPr>
          <a:xfrm>
            <a:off x="665095" y="348705"/>
            <a:ext cx="6824817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sz="2800" dirty="0" smtClean="0"/>
              <a:t>Measures of </a:t>
            </a:r>
            <a:r>
              <a:rPr lang="en-AU" sz="2800" dirty="0" smtClean="0"/>
              <a:t>Centre and Spread for a Data Set</a:t>
            </a:r>
            <a:endParaRPr lang="en-AU" sz="2800" dirty="0"/>
          </a:p>
        </p:txBody>
      </p:sp>
    </p:spTree>
    <p:extLst>
      <p:ext uri="{BB962C8B-B14F-4D97-AF65-F5344CB8AC3E}">
        <p14:creationId xmlns:p14="http://schemas.microsoft.com/office/powerpoint/2010/main" val="241064840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8748464" y="6488668"/>
            <a:ext cx="54977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 smtClean="0"/>
              <a:t> </a:t>
            </a:r>
            <a:r>
              <a:rPr lang="en-AU" dirty="0"/>
              <a:t>5</a:t>
            </a:r>
          </a:p>
        </p:txBody>
      </p:sp>
      <p:cxnSp>
        <p:nvCxnSpPr>
          <p:cNvPr id="4" name="Straight Connector 3"/>
          <p:cNvCxnSpPr/>
          <p:nvPr/>
        </p:nvCxnSpPr>
        <p:spPr>
          <a:xfrm>
            <a:off x="0" y="980728"/>
            <a:ext cx="9144000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6" name="Straight Connector 5"/>
          <p:cNvCxnSpPr/>
          <p:nvPr/>
        </p:nvCxnSpPr>
        <p:spPr>
          <a:xfrm>
            <a:off x="0" y="1916832"/>
            <a:ext cx="9144000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93471" y="149731"/>
            <a:ext cx="576064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1600" dirty="0" smtClean="0"/>
              <a:t>24</a:t>
            </a:r>
          </a:p>
          <a:p>
            <a:r>
              <a:rPr lang="en-AU" sz="1600" dirty="0" smtClean="0"/>
              <a:t>7</a:t>
            </a:r>
          </a:p>
          <a:p>
            <a:r>
              <a:rPr lang="en-AU" sz="1600" dirty="0" smtClean="0"/>
              <a:t>30</a:t>
            </a:r>
            <a:endParaRPr lang="en-AU" sz="1600" dirty="0"/>
          </a:p>
        </p:txBody>
      </p:sp>
      <p:cxnSp>
        <p:nvCxnSpPr>
          <p:cNvPr id="9" name="Straight Connector 8"/>
          <p:cNvCxnSpPr/>
          <p:nvPr/>
        </p:nvCxnSpPr>
        <p:spPr>
          <a:xfrm>
            <a:off x="2915816" y="1916832"/>
            <a:ext cx="0" cy="5112568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11" name="TextBox 10"/>
          <p:cNvSpPr txBox="1"/>
          <p:nvPr/>
        </p:nvSpPr>
        <p:spPr>
          <a:xfrm>
            <a:off x="7439175" y="106354"/>
            <a:ext cx="158417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dirty="0" smtClean="0"/>
              <a:t>Date</a:t>
            </a:r>
            <a:endParaRPr lang="en-AU" sz="2400" dirty="0"/>
          </a:p>
        </p:txBody>
      </p:sp>
      <p:sp>
        <p:nvSpPr>
          <p:cNvPr id="12" name="TextBox 11"/>
          <p:cNvSpPr txBox="1"/>
          <p:nvPr/>
        </p:nvSpPr>
        <p:spPr>
          <a:xfrm>
            <a:off x="119514" y="1063436"/>
            <a:ext cx="8620422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dirty="0" smtClean="0"/>
              <a:t>EQ – Describe the differences between the different types of averages. </a:t>
            </a:r>
            <a:endParaRPr lang="en-AU" sz="2400" dirty="0"/>
          </a:p>
        </p:txBody>
      </p:sp>
      <p:sp>
        <p:nvSpPr>
          <p:cNvPr id="3" name="TextBox 2"/>
          <p:cNvSpPr txBox="1"/>
          <p:nvPr/>
        </p:nvSpPr>
        <p:spPr>
          <a:xfrm>
            <a:off x="89550" y="2040662"/>
            <a:ext cx="293157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dirty="0" smtClean="0"/>
              <a:t>What is a measure of centre?</a:t>
            </a:r>
            <a:endParaRPr lang="en-AU" dirty="0"/>
          </a:p>
        </p:txBody>
      </p:sp>
      <p:sp>
        <p:nvSpPr>
          <p:cNvPr id="5" name="TextBox 4"/>
          <p:cNvSpPr txBox="1"/>
          <p:nvPr/>
        </p:nvSpPr>
        <p:spPr>
          <a:xfrm>
            <a:off x="3021122" y="2024956"/>
            <a:ext cx="460369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dirty="0" smtClean="0"/>
              <a:t>This finds the average value for a group of data</a:t>
            </a:r>
            <a:endParaRPr lang="en-AU" dirty="0"/>
          </a:p>
        </p:txBody>
      </p:sp>
      <p:sp>
        <p:nvSpPr>
          <p:cNvPr id="8" name="TextBox 7"/>
          <p:cNvSpPr txBox="1"/>
          <p:nvPr/>
        </p:nvSpPr>
        <p:spPr>
          <a:xfrm>
            <a:off x="148610" y="2422446"/>
            <a:ext cx="240296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dirty="0" smtClean="0"/>
              <a:t>What are the averages?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121599" y="2426058"/>
            <a:ext cx="222208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dirty="0" smtClean="0"/>
              <a:t>Mean , Median Mode</a:t>
            </a:r>
            <a:endParaRPr lang="en-AU" dirty="0"/>
          </a:p>
        </p:txBody>
      </p:sp>
      <p:sp>
        <p:nvSpPr>
          <p:cNvPr id="14" name="TextBox 13"/>
          <p:cNvSpPr txBox="1"/>
          <p:nvPr/>
        </p:nvSpPr>
        <p:spPr>
          <a:xfrm>
            <a:off x="665095" y="348705"/>
            <a:ext cx="6824817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sz="2800" dirty="0" smtClean="0"/>
              <a:t>Measures of </a:t>
            </a:r>
            <a:r>
              <a:rPr lang="en-AU" sz="2800" dirty="0" smtClean="0"/>
              <a:t>Centre and Spread for a Data Set</a:t>
            </a:r>
            <a:endParaRPr lang="en-AU" sz="2800" dirty="0"/>
          </a:p>
        </p:txBody>
      </p:sp>
    </p:spTree>
    <p:extLst>
      <p:ext uri="{BB962C8B-B14F-4D97-AF65-F5344CB8AC3E}">
        <p14:creationId xmlns:p14="http://schemas.microsoft.com/office/powerpoint/2010/main" val="218831052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8748464" y="6488668"/>
            <a:ext cx="54977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 smtClean="0"/>
              <a:t> </a:t>
            </a:r>
            <a:r>
              <a:rPr lang="en-AU" dirty="0"/>
              <a:t>5</a:t>
            </a:r>
          </a:p>
        </p:txBody>
      </p:sp>
      <p:cxnSp>
        <p:nvCxnSpPr>
          <p:cNvPr id="4" name="Straight Connector 3"/>
          <p:cNvCxnSpPr/>
          <p:nvPr/>
        </p:nvCxnSpPr>
        <p:spPr>
          <a:xfrm>
            <a:off x="0" y="980728"/>
            <a:ext cx="9144000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6" name="Straight Connector 5"/>
          <p:cNvCxnSpPr/>
          <p:nvPr/>
        </p:nvCxnSpPr>
        <p:spPr>
          <a:xfrm>
            <a:off x="0" y="1916832"/>
            <a:ext cx="9144000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93471" y="149731"/>
            <a:ext cx="576064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1600" dirty="0" smtClean="0"/>
              <a:t>24</a:t>
            </a:r>
          </a:p>
          <a:p>
            <a:r>
              <a:rPr lang="en-AU" sz="1600" dirty="0" smtClean="0"/>
              <a:t>7</a:t>
            </a:r>
          </a:p>
          <a:p>
            <a:r>
              <a:rPr lang="en-AU" sz="1600" dirty="0" smtClean="0"/>
              <a:t>30</a:t>
            </a:r>
            <a:endParaRPr lang="en-AU" sz="1600" dirty="0"/>
          </a:p>
        </p:txBody>
      </p:sp>
      <p:cxnSp>
        <p:nvCxnSpPr>
          <p:cNvPr id="9" name="Straight Connector 8"/>
          <p:cNvCxnSpPr/>
          <p:nvPr/>
        </p:nvCxnSpPr>
        <p:spPr>
          <a:xfrm>
            <a:off x="2915816" y="1916832"/>
            <a:ext cx="0" cy="5112568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11" name="TextBox 10"/>
          <p:cNvSpPr txBox="1"/>
          <p:nvPr/>
        </p:nvSpPr>
        <p:spPr>
          <a:xfrm>
            <a:off x="7439175" y="106354"/>
            <a:ext cx="158417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dirty="0" smtClean="0"/>
              <a:t>Date</a:t>
            </a:r>
            <a:endParaRPr lang="en-AU" sz="2400" dirty="0"/>
          </a:p>
        </p:txBody>
      </p:sp>
      <p:sp>
        <p:nvSpPr>
          <p:cNvPr id="12" name="TextBox 11"/>
          <p:cNvSpPr txBox="1"/>
          <p:nvPr/>
        </p:nvSpPr>
        <p:spPr>
          <a:xfrm>
            <a:off x="119514" y="1063436"/>
            <a:ext cx="8620422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dirty="0" smtClean="0"/>
              <a:t>EQ – Describe the differences between the different types of averages. </a:t>
            </a:r>
            <a:endParaRPr lang="en-AU" sz="2400" dirty="0"/>
          </a:p>
        </p:txBody>
      </p:sp>
      <p:sp>
        <p:nvSpPr>
          <p:cNvPr id="3" name="TextBox 2"/>
          <p:cNvSpPr txBox="1"/>
          <p:nvPr/>
        </p:nvSpPr>
        <p:spPr>
          <a:xfrm>
            <a:off x="89550" y="2040662"/>
            <a:ext cx="293157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dirty="0" smtClean="0"/>
              <a:t>What is a measure of centre?</a:t>
            </a:r>
            <a:endParaRPr lang="en-AU" dirty="0"/>
          </a:p>
        </p:txBody>
      </p:sp>
      <p:sp>
        <p:nvSpPr>
          <p:cNvPr id="5" name="TextBox 4"/>
          <p:cNvSpPr txBox="1"/>
          <p:nvPr/>
        </p:nvSpPr>
        <p:spPr>
          <a:xfrm>
            <a:off x="3021122" y="2024956"/>
            <a:ext cx="460369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dirty="0" smtClean="0"/>
              <a:t>This finds the average value for a group of data</a:t>
            </a:r>
            <a:endParaRPr lang="en-AU" dirty="0"/>
          </a:p>
        </p:txBody>
      </p:sp>
      <p:sp>
        <p:nvSpPr>
          <p:cNvPr id="8" name="TextBox 7"/>
          <p:cNvSpPr txBox="1"/>
          <p:nvPr/>
        </p:nvSpPr>
        <p:spPr>
          <a:xfrm>
            <a:off x="148610" y="2422446"/>
            <a:ext cx="240296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dirty="0" smtClean="0"/>
              <a:t>What are the averages?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121599" y="2426058"/>
            <a:ext cx="222208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dirty="0" smtClean="0"/>
              <a:t>Mean , Median Mode</a:t>
            </a:r>
            <a:endParaRPr lang="en-AU" dirty="0"/>
          </a:p>
        </p:txBody>
      </p:sp>
      <p:sp>
        <p:nvSpPr>
          <p:cNvPr id="15" name="TextBox 14"/>
          <p:cNvSpPr txBox="1"/>
          <p:nvPr/>
        </p:nvSpPr>
        <p:spPr>
          <a:xfrm>
            <a:off x="129146" y="2924944"/>
            <a:ext cx="250171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dirty="0" smtClean="0"/>
              <a:t>How do I find the mean?</a:t>
            </a:r>
            <a:endParaRPr lang="en-AU" dirty="0"/>
          </a:p>
        </p:txBody>
      </p:sp>
      <p:sp>
        <p:nvSpPr>
          <p:cNvPr id="16" name="TextBox 15"/>
          <p:cNvSpPr txBox="1"/>
          <p:nvPr/>
        </p:nvSpPr>
        <p:spPr>
          <a:xfrm>
            <a:off x="665095" y="348705"/>
            <a:ext cx="6824817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sz="2800" dirty="0" smtClean="0"/>
              <a:t>Measures of </a:t>
            </a:r>
            <a:r>
              <a:rPr lang="en-AU" sz="2800" dirty="0" smtClean="0"/>
              <a:t>Centre and Spread for a Data Set</a:t>
            </a:r>
            <a:endParaRPr lang="en-AU" sz="2800" dirty="0"/>
          </a:p>
        </p:txBody>
      </p:sp>
    </p:spTree>
    <p:extLst>
      <p:ext uri="{BB962C8B-B14F-4D97-AF65-F5344CB8AC3E}">
        <p14:creationId xmlns:p14="http://schemas.microsoft.com/office/powerpoint/2010/main" val="421207431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8748464" y="6488668"/>
            <a:ext cx="54977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 smtClean="0"/>
              <a:t> </a:t>
            </a:r>
            <a:r>
              <a:rPr lang="en-AU" dirty="0"/>
              <a:t>5</a:t>
            </a:r>
          </a:p>
        </p:txBody>
      </p:sp>
      <p:cxnSp>
        <p:nvCxnSpPr>
          <p:cNvPr id="4" name="Straight Connector 3"/>
          <p:cNvCxnSpPr/>
          <p:nvPr/>
        </p:nvCxnSpPr>
        <p:spPr>
          <a:xfrm>
            <a:off x="0" y="980728"/>
            <a:ext cx="9144000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6" name="Straight Connector 5"/>
          <p:cNvCxnSpPr/>
          <p:nvPr/>
        </p:nvCxnSpPr>
        <p:spPr>
          <a:xfrm>
            <a:off x="0" y="1916832"/>
            <a:ext cx="9144000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93471" y="149731"/>
            <a:ext cx="576064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1600" dirty="0" smtClean="0"/>
              <a:t>24</a:t>
            </a:r>
          </a:p>
          <a:p>
            <a:r>
              <a:rPr lang="en-AU" sz="1600" dirty="0" smtClean="0"/>
              <a:t>7</a:t>
            </a:r>
          </a:p>
          <a:p>
            <a:r>
              <a:rPr lang="en-AU" sz="1600" dirty="0" smtClean="0"/>
              <a:t>30</a:t>
            </a:r>
            <a:endParaRPr lang="en-AU" sz="1600" dirty="0"/>
          </a:p>
        </p:txBody>
      </p:sp>
      <p:cxnSp>
        <p:nvCxnSpPr>
          <p:cNvPr id="9" name="Straight Connector 8"/>
          <p:cNvCxnSpPr/>
          <p:nvPr/>
        </p:nvCxnSpPr>
        <p:spPr>
          <a:xfrm>
            <a:off x="2915816" y="1916832"/>
            <a:ext cx="0" cy="5112568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11" name="TextBox 10"/>
          <p:cNvSpPr txBox="1"/>
          <p:nvPr/>
        </p:nvSpPr>
        <p:spPr>
          <a:xfrm>
            <a:off x="7439175" y="106354"/>
            <a:ext cx="158417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dirty="0" smtClean="0"/>
              <a:t>Date</a:t>
            </a:r>
            <a:endParaRPr lang="en-AU" sz="2400" dirty="0"/>
          </a:p>
        </p:txBody>
      </p:sp>
      <p:sp>
        <p:nvSpPr>
          <p:cNvPr id="12" name="TextBox 11"/>
          <p:cNvSpPr txBox="1"/>
          <p:nvPr/>
        </p:nvSpPr>
        <p:spPr>
          <a:xfrm>
            <a:off x="119514" y="1063436"/>
            <a:ext cx="8620422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dirty="0" smtClean="0"/>
              <a:t>EQ – Describe the differences between the different types of averages. </a:t>
            </a:r>
            <a:endParaRPr lang="en-AU" sz="2400" dirty="0"/>
          </a:p>
        </p:txBody>
      </p:sp>
      <p:sp>
        <p:nvSpPr>
          <p:cNvPr id="3" name="TextBox 2"/>
          <p:cNvSpPr txBox="1"/>
          <p:nvPr/>
        </p:nvSpPr>
        <p:spPr>
          <a:xfrm>
            <a:off x="89550" y="2040662"/>
            <a:ext cx="293157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dirty="0" smtClean="0"/>
              <a:t>What is a measure of centre?</a:t>
            </a:r>
            <a:endParaRPr lang="en-AU" dirty="0"/>
          </a:p>
        </p:txBody>
      </p:sp>
      <p:sp>
        <p:nvSpPr>
          <p:cNvPr id="5" name="TextBox 4"/>
          <p:cNvSpPr txBox="1"/>
          <p:nvPr/>
        </p:nvSpPr>
        <p:spPr>
          <a:xfrm>
            <a:off x="3021122" y="2024956"/>
            <a:ext cx="460369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dirty="0" smtClean="0"/>
              <a:t>This finds the average value for a group of data</a:t>
            </a:r>
            <a:endParaRPr lang="en-AU" dirty="0"/>
          </a:p>
        </p:txBody>
      </p:sp>
      <p:sp>
        <p:nvSpPr>
          <p:cNvPr id="8" name="TextBox 7"/>
          <p:cNvSpPr txBox="1"/>
          <p:nvPr/>
        </p:nvSpPr>
        <p:spPr>
          <a:xfrm>
            <a:off x="148610" y="2422446"/>
            <a:ext cx="240296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dirty="0" smtClean="0"/>
              <a:t>What are the averages?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121599" y="2426058"/>
            <a:ext cx="222208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dirty="0" smtClean="0"/>
              <a:t>Mean , Median Mode</a:t>
            </a:r>
            <a:endParaRPr lang="en-AU" dirty="0"/>
          </a:p>
        </p:txBody>
      </p:sp>
      <p:sp>
        <p:nvSpPr>
          <p:cNvPr id="15" name="TextBox 14"/>
          <p:cNvSpPr txBox="1"/>
          <p:nvPr/>
        </p:nvSpPr>
        <p:spPr>
          <a:xfrm>
            <a:off x="129146" y="2924944"/>
            <a:ext cx="250171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dirty="0" smtClean="0"/>
              <a:t>How do I find the mean?</a:t>
            </a:r>
            <a:endParaRPr lang="en-AU" dirty="0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14" name="TextBox 13"/>
              <p:cNvSpPr txBox="1"/>
              <p:nvPr/>
            </p:nvSpPr>
            <p:spPr>
              <a:xfrm>
                <a:off x="3121599" y="2924944"/>
                <a:ext cx="2994346" cy="145918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acc>
                        <m:accPr>
                          <m:chr m:val="̅"/>
                          <m:ctrlPr>
                            <a:rPr lang="en-AU" i="1" smtClean="0">
                              <a:latin typeface="Cambria Math"/>
                            </a:rPr>
                          </m:ctrlPr>
                        </m:accPr>
                        <m:e>
                          <m:r>
                            <a:rPr lang="en-AU" b="0" i="1" smtClean="0">
                              <a:latin typeface="Cambria Math"/>
                            </a:rPr>
                            <m:t>𝑥</m:t>
                          </m:r>
                        </m:e>
                      </m:acc>
                      <m:r>
                        <a:rPr lang="en-AU" b="0" i="1" smtClean="0">
                          <a:latin typeface="Cambria Math"/>
                        </a:rPr>
                        <m:t>=</m:t>
                      </m:r>
                      <m:f>
                        <m:fPr>
                          <m:ctrlPr>
                            <a:rPr lang="en-AU" b="0" i="1" smtClean="0">
                              <a:latin typeface="Cambria Math"/>
                            </a:rPr>
                          </m:ctrlPr>
                        </m:fPr>
                        <m:num>
                          <m:nary>
                            <m:naryPr>
                              <m:chr m:val="∑"/>
                              <m:subHide m:val="on"/>
                              <m:supHide m:val="on"/>
                              <m:ctrlPr>
                                <a:rPr lang="en-AU" b="0" i="1" smtClean="0">
                                  <a:latin typeface="Cambria Math"/>
                                </a:rPr>
                              </m:ctrlPr>
                            </m:naryPr>
                            <m:sub/>
                            <m:sup/>
                            <m:e>
                              <m:r>
                                <a:rPr lang="en-AU" b="0" i="1" smtClean="0">
                                  <a:latin typeface="Cambria Math"/>
                                </a:rPr>
                                <m:t>𝑥</m:t>
                              </m:r>
                            </m:e>
                          </m:nary>
                        </m:num>
                        <m:den>
                          <m:r>
                            <a:rPr lang="en-AU" b="0" i="1" smtClean="0">
                              <a:latin typeface="Cambria Math"/>
                            </a:rPr>
                            <m:t>𝑛</m:t>
                          </m:r>
                        </m:den>
                      </m:f>
                      <m:r>
                        <a:rPr lang="en-AU" b="0" i="0" smtClean="0">
                          <a:latin typeface="Cambria Math"/>
                        </a:rPr>
                        <m:t>=</m:t>
                      </m:r>
                      <m:f>
                        <m:fPr>
                          <m:ctrlPr>
                            <a:rPr lang="en-AU" b="0" i="1" smtClean="0">
                              <a:latin typeface="Cambria Math"/>
                            </a:rPr>
                          </m:ctrlPr>
                        </m:fPr>
                        <m:num>
                          <m:r>
                            <m:rPr>
                              <m:nor/>
                            </m:rPr>
                            <a:rPr lang="en-AU" dirty="0"/>
                            <m:t>Sum</m:t>
                          </m:r>
                          <m:r>
                            <m:rPr>
                              <m:nor/>
                            </m:rPr>
                            <a:rPr lang="en-AU" dirty="0"/>
                            <m:t> </m:t>
                          </m:r>
                          <m:r>
                            <m:rPr>
                              <m:nor/>
                            </m:rPr>
                            <a:rPr lang="en-AU" b="0" i="0" dirty="0" smtClean="0"/>
                            <m:t>of</m:t>
                          </m:r>
                          <m:r>
                            <m:rPr>
                              <m:nor/>
                            </m:rPr>
                            <a:rPr lang="en-AU" dirty="0"/>
                            <m:t> </m:t>
                          </m:r>
                          <m:r>
                            <m:rPr>
                              <m:nor/>
                            </m:rPr>
                            <a:rPr lang="en-AU" dirty="0"/>
                            <m:t>the</m:t>
                          </m:r>
                          <m:r>
                            <m:rPr>
                              <m:nor/>
                            </m:rPr>
                            <a:rPr lang="en-AU" dirty="0"/>
                            <m:t> </m:t>
                          </m:r>
                          <m:r>
                            <m:rPr>
                              <m:nor/>
                            </m:rPr>
                            <a:rPr lang="en-AU" dirty="0"/>
                            <m:t>values</m:t>
                          </m:r>
                        </m:num>
                        <m:den>
                          <m:r>
                            <m:rPr>
                              <m:nor/>
                            </m:rPr>
                            <a:rPr lang="en-AU" dirty="0"/>
                            <m:t>number</m:t>
                          </m:r>
                          <m:r>
                            <m:rPr>
                              <m:nor/>
                            </m:rPr>
                            <a:rPr lang="en-AU" dirty="0"/>
                            <m:t> </m:t>
                          </m:r>
                          <m:r>
                            <m:rPr>
                              <m:nor/>
                            </m:rPr>
                            <a:rPr lang="en-AU" dirty="0"/>
                            <m:t>of</m:t>
                          </m:r>
                          <m:r>
                            <m:rPr>
                              <m:nor/>
                            </m:rPr>
                            <a:rPr lang="en-AU" dirty="0"/>
                            <m:t> </m:t>
                          </m:r>
                          <m:r>
                            <m:rPr>
                              <m:nor/>
                            </m:rPr>
                            <a:rPr lang="en-AU" dirty="0"/>
                            <m:t>values</m:t>
                          </m:r>
                          <m:r>
                            <m:rPr>
                              <m:nor/>
                            </m:rPr>
                            <a:rPr lang="en-AU" dirty="0"/>
                            <m:t> </m:t>
                          </m:r>
                        </m:den>
                      </m:f>
                    </m:oMath>
                  </m:oMathPara>
                </a14:m>
                <a:endParaRPr lang="en-AU" b="0" dirty="0" smtClean="0"/>
              </a:p>
              <a:p>
                <a:pPr/>
                <a:endParaRPr lang="en-AU" dirty="0" smtClean="0"/>
              </a:p>
              <a:p>
                <a:pPr/>
                <a:endParaRPr lang="en-AU" dirty="0"/>
              </a:p>
              <a:p>
                <a:endParaRPr lang="en-AU" dirty="0"/>
              </a:p>
            </p:txBody>
          </p:sp>
        </mc:Choice>
        <mc:Fallback>
          <p:sp>
            <p:nvSpPr>
              <p:cNvPr id="14" name="TextBox 13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121599" y="2924944"/>
                <a:ext cx="2994346" cy="1459182"/>
              </a:xfrm>
              <a:prstGeom prst="rect">
                <a:avLst/>
              </a:prstGeom>
              <a:blipFill rotWithShape="1"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6" name="TextBox 15"/>
          <p:cNvSpPr txBox="1"/>
          <p:nvPr/>
        </p:nvSpPr>
        <p:spPr>
          <a:xfrm>
            <a:off x="665095" y="348705"/>
            <a:ext cx="6824817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sz="2800" dirty="0" smtClean="0"/>
              <a:t>Measures of </a:t>
            </a:r>
            <a:r>
              <a:rPr lang="en-AU" sz="2800" dirty="0" smtClean="0"/>
              <a:t>Centre and Spread for a Data Set</a:t>
            </a:r>
            <a:endParaRPr lang="en-AU" sz="2800" dirty="0"/>
          </a:p>
        </p:txBody>
      </p:sp>
    </p:spTree>
    <p:extLst>
      <p:ext uri="{BB962C8B-B14F-4D97-AF65-F5344CB8AC3E}">
        <p14:creationId xmlns:p14="http://schemas.microsoft.com/office/powerpoint/2010/main" val="41012427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8748464" y="6488668"/>
            <a:ext cx="54977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 smtClean="0"/>
              <a:t> </a:t>
            </a:r>
            <a:r>
              <a:rPr lang="en-AU" dirty="0"/>
              <a:t>5</a:t>
            </a:r>
          </a:p>
        </p:txBody>
      </p:sp>
      <p:cxnSp>
        <p:nvCxnSpPr>
          <p:cNvPr id="4" name="Straight Connector 3"/>
          <p:cNvCxnSpPr/>
          <p:nvPr/>
        </p:nvCxnSpPr>
        <p:spPr>
          <a:xfrm>
            <a:off x="0" y="980728"/>
            <a:ext cx="9144000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6" name="Straight Connector 5"/>
          <p:cNvCxnSpPr/>
          <p:nvPr/>
        </p:nvCxnSpPr>
        <p:spPr>
          <a:xfrm>
            <a:off x="0" y="1916832"/>
            <a:ext cx="9144000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93471" y="149731"/>
            <a:ext cx="576064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1600" dirty="0" smtClean="0"/>
              <a:t>24</a:t>
            </a:r>
          </a:p>
          <a:p>
            <a:r>
              <a:rPr lang="en-AU" sz="1600" dirty="0" smtClean="0"/>
              <a:t>7</a:t>
            </a:r>
          </a:p>
          <a:p>
            <a:r>
              <a:rPr lang="en-AU" sz="1600" dirty="0" smtClean="0"/>
              <a:t>30</a:t>
            </a:r>
            <a:endParaRPr lang="en-AU" sz="1600" dirty="0"/>
          </a:p>
        </p:txBody>
      </p:sp>
      <p:cxnSp>
        <p:nvCxnSpPr>
          <p:cNvPr id="9" name="Straight Connector 8"/>
          <p:cNvCxnSpPr/>
          <p:nvPr/>
        </p:nvCxnSpPr>
        <p:spPr>
          <a:xfrm>
            <a:off x="2915816" y="1916832"/>
            <a:ext cx="0" cy="5112568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11" name="TextBox 10"/>
          <p:cNvSpPr txBox="1"/>
          <p:nvPr/>
        </p:nvSpPr>
        <p:spPr>
          <a:xfrm>
            <a:off x="7439175" y="106354"/>
            <a:ext cx="158417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dirty="0" smtClean="0"/>
              <a:t>Date</a:t>
            </a:r>
            <a:endParaRPr lang="en-AU" sz="2400" dirty="0"/>
          </a:p>
        </p:txBody>
      </p:sp>
      <p:sp>
        <p:nvSpPr>
          <p:cNvPr id="12" name="TextBox 11"/>
          <p:cNvSpPr txBox="1"/>
          <p:nvPr/>
        </p:nvSpPr>
        <p:spPr>
          <a:xfrm>
            <a:off x="119514" y="1063436"/>
            <a:ext cx="8620422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dirty="0" smtClean="0"/>
              <a:t>EQ – Describe the differences between the different types of averages. </a:t>
            </a:r>
            <a:endParaRPr lang="en-AU" sz="2400" dirty="0"/>
          </a:p>
        </p:txBody>
      </p:sp>
      <p:sp>
        <p:nvSpPr>
          <p:cNvPr id="3" name="TextBox 2"/>
          <p:cNvSpPr txBox="1"/>
          <p:nvPr/>
        </p:nvSpPr>
        <p:spPr>
          <a:xfrm>
            <a:off x="89550" y="2040662"/>
            <a:ext cx="293157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dirty="0" smtClean="0"/>
              <a:t>What is a measure of centre?</a:t>
            </a:r>
            <a:endParaRPr lang="en-AU" dirty="0"/>
          </a:p>
        </p:txBody>
      </p:sp>
      <p:sp>
        <p:nvSpPr>
          <p:cNvPr id="5" name="TextBox 4"/>
          <p:cNvSpPr txBox="1"/>
          <p:nvPr/>
        </p:nvSpPr>
        <p:spPr>
          <a:xfrm>
            <a:off x="3021122" y="2024956"/>
            <a:ext cx="460369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dirty="0" smtClean="0"/>
              <a:t>This finds the average value for a group of data</a:t>
            </a:r>
            <a:endParaRPr lang="en-AU" dirty="0"/>
          </a:p>
        </p:txBody>
      </p:sp>
      <p:sp>
        <p:nvSpPr>
          <p:cNvPr id="8" name="TextBox 7"/>
          <p:cNvSpPr txBox="1"/>
          <p:nvPr/>
        </p:nvSpPr>
        <p:spPr>
          <a:xfrm>
            <a:off x="148610" y="2422446"/>
            <a:ext cx="240296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dirty="0" smtClean="0"/>
              <a:t>What are the averages?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121599" y="2426058"/>
            <a:ext cx="222208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dirty="0" smtClean="0"/>
              <a:t>Mean , Median Mode</a:t>
            </a:r>
            <a:endParaRPr lang="en-AU" dirty="0"/>
          </a:p>
        </p:txBody>
      </p:sp>
      <p:sp>
        <p:nvSpPr>
          <p:cNvPr id="15" name="TextBox 14"/>
          <p:cNvSpPr txBox="1"/>
          <p:nvPr/>
        </p:nvSpPr>
        <p:spPr>
          <a:xfrm>
            <a:off x="129146" y="2924944"/>
            <a:ext cx="250171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dirty="0" smtClean="0"/>
              <a:t>How do I find the mean?</a:t>
            </a:r>
            <a:endParaRPr lang="en-AU" dirty="0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14" name="TextBox 13"/>
              <p:cNvSpPr txBox="1"/>
              <p:nvPr/>
            </p:nvSpPr>
            <p:spPr>
              <a:xfrm>
                <a:off x="3121599" y="2924944"/>
                <a:ext cx="2994346" cy="145918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acc>
                        <m:accPr>
                          <m:chr m:val="̅"/>
                          <m:ctrlPr>
                            <a:rPr lang="en-AU" i="1" smtClean="0">
                              <a:latin typeface="Cambria Math"/>
                            </a:rPr>
                          </m:ctrlPr>
                        </m:accPr>
                        <m:e>
                          <m:r>
                            <a:rPr lang="en-AU" b="0" i="1" smtClean="0">
                              <a:latin typeface="Cambria Math"/>
                            </a:rPr>
                            <m:t>𝑥</m:t>
                          </m:r>
                        </m:e>
                      </m:acc>
                      <m:r>
                        <a:rPr lang="en-AU" b="0" i="1" smtClean="0">
                          <a:latin typeface="Cambria Math"/>
                        </a:rPr>
                        <m:t>=</m:t>
                      </m:r>
                      <m:f>
                        <m:fPr>
                          <m:ctrlPr>
                            <a:rPr lang="en-AU" b="0" i="1" smtClean="0">
                              <a:latin typeface="Cambria Math"/>
                            </a:rPr>
                          </m:ctrlPr>
                        </m:fPr>
                        <m:num>
                          <m:nary>
                            <m:naryPr>
                              <m:chr m:val="∑"/>
                              <m:subHide m:val="on"/>
                              <m:supHide m:val="on"/>
                              <m:ctrlPr>
                                <a:rPr lang="en-AU" b="0" i="1" smtClean="0">
                                  <a:latin typeface="Cambria Math"/>
                                </a:rPr>
                              </m:ctrlPr>
                            </m:naryPr>
                            <m:sub/>
                            <m:sup/>
                            <m:e>
                              <m:r>
                                <a:rPr lang="en-AU" b="0" i="1" smtClean="0">
                                  <a:latin typeface="Cambria Math"/>
                                </a:rPr>
                                <m:t>𝑥</m:t>
                              </m:r>
                            </m:e>
                          </m:nary>
                        </m:num>
                        <m:den>
                          <m:r>
                            <a:rPr lang="en-AU" b="0" i="1" smtClean="0">
                              <a:latin typeface="Cambria Math"/>
                            </a:rPr>
                            <m:t>𝑛</m:t>
                          </m:r>
                        </m:den>
                      </m:f>
                      <m:r>
                        <a:rPr lang="en-AU" b="0" i="0" smtClean="0">
                          <a:latin typeface="Cambria Math"/>
                        </a:rPr>
                        <m:t>=</m:t>
                      </m:r>
                      <m:f>
                        <m:fPr>
                          <m:ctrlPr>
                            <a:rPr lang="en-AU" b="0" i="1" smtClean="0">
                              <a:latin typeface="Cambria Math"/>
                            </a:rPr>
                          </m:ctrlPr>
                        </m:fPr>
                        <m:num>
                          <m:r>
                            <m:rPr>
                              <m:nor/>
                            </m:rPr>
                            <a:rPr lang="en-AU" dirty="0"/>
                            <m:t>Sum</m:t>
                          </m:r>
                          <m:r>
                            <m:rPr>
                              <m:nor/>
                            </m:rPr>
                            <a:rPr lang="en-AU" dirty="0"/>
                            <m:t> </m:t>
                          </m:r>
                          <m:r>
                            <m:rPr>
                              <m:nor/>
                            </m:rPr>
                            <a:rPr lang="en-AU" b="0" i="0" dirty="0" smtClean="0"/>
                            <m:t>of</m:t>
                          </m:r>
                          <m:r>
                            <m:rPr>
                              <m:nor/>
                            </m:rPr>
                            <a:rPr lang="en-AU" dirty="0"/>
                            <m:t> </m:t>
                          </m:r>
                          <m:r>
                            <m:rPr>
                              <m:nor/>
                            </m:rPr>
                            <a:rPr lang="en-AU" dirty="0"/>
                            <m:t>the</m:t>
                          </m:r>
                          <m:r>
                            <m:rPr>
                              <m:nor/>
                            </m:rPr>
                            <a:rPr lang="en-AU" dirty="0"/>
                            <m:t> </m:t>
                          </m:r>
                          <m:r>
                            <m:rPr>
                              <m:nor/>
                            </m:rPr>
                            <a:rPr lang="en-AU" dirty="0"/>
                            <m:t>values</m:t>
                          </m:r>
                        </m:num>
                        <m:den>
                          <m:r>
                            <m:rPr>
                              <m:nor/>
                            </m:rPr>
                            <a:rPr lang="en-AU" dirty="0"/>
                            <m:t>number</m:t>
                          </m:r>
                          <m:r>
                            <m:rPr>
                              <m:nor/>
                            </m:rPr>
                            <a:rPr lang="en-AU" dirty="0"/>
                            <m:t> </m:t>
                          </m:r>
                          <m:r>
                            <m:rPr>
                              <m:nor/>
                            </m:rPr>
                            <a:rPr lang="en-AU" dirty="0"/>
                            <m:t>of</m:t>
                          </m:r>
                          <m:r>
                            <m:rPr>
                              <m:nor/>
                            </m:rPr>
                            <a:rPr lang="en-AU" dirty="0"/>
                            <m:t> </m:t>
                          </m:r>
                          <m:r>
                            <m:rPr>
                              <m:nor/>
                            </m:rPr>
                            <a:rPr lang="en-AU" dirty="0"/>
                            <m:t>values</m:t>
                          </m:r>
                          <m:r>
                            <m:rPr>
                              <m:nor/>
                            </m:rPr>
                            <a:rPr lang="en-AU" dirty="0"/>
                            <m:t> </m:t>
                          </m:r>
                        </m:den>
                      </m:f>
                    </m:oMath>
                  </m:oMathPara>
                </a14:m>
                <a:endParaRPr lang="en-AU" b="0" dirty="0" smtClean="0"/>
              </a:p>
              <a:p>
                <a:pPr/>
                <a:endParaRPr lang="en-AU" dirty="0" smtClean="0"/>
              </a:p>
              <a:p>
                <a:pPr/>
                <a:endParaRPr lang="en-AU" dirty="0"/>
              </a:p>
              <a:p>
                <a:endParaRPr lang="en-AU" dirty="0"/>
              </a:p>
            </p:txBody>
          </p:sp>
        </mc:Choice>
        <mc:Fallback>
          <p:sp>
            <p:nvSpPr>
              <p:cNvPr id="14" name="TextBox 13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121599" y="2924944"/>
                <a:ext cx="2994346" cy="1459182"/>
              </a:xfrm>
              <a:prstGeom prst="rect">
                <a:avLst/>
              </a:prstGeom>
              <a:blipFill rotWithShape="1"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6" name="TextBox 15"/>
          <p:cNvSpPr txBox="1"/>
          <p:nvPr/>
        </p:nvSpPr>
        <p:spPr>
          <a:xfrm>
            <a:off x="665095" y="348705"/>
            <a:ext cx="6824817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sz="2800" dirty="0" smtClean="0"/>
              <a:t>Measures of </a:t>
            </a:r>
            <a:r>
              <a:rPr lang="en-AU" sz="2800" dirty="0" smtClean="0"/>
              <a:t>Centre and Spread for a Data Set</a:t>
            </a:r>
            <a:endParaRPr lang="en-AU" sz="2800" dirty="0"/>
          </a:p>
        </p:txBody>
      </p:sp>
    </p:spTree>
    <p:extLst>
      <p:ext uri="{BB962C8B-B14F-4D97-AF65-F5344CB8AC3E}">
        <p14:creationId xmlns:p14="http://schemas.microsoft.com/office/powerpoint/2010/main" val="75597703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8748464" y="6488668"/>
            <a:ext cx="54977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 smtClean="0"/>
              <a:t> </a:t>
            </a:r>
            <a:r>
              <a:rPr lang="en-AU" dirty="0"/>
              <a:t>5</a:t>
            </a:r>
          </a:p>
        </p:txBody>
      </p:sp>
      <p:cxnSp>
        <p:nvCxnSpPr>
          <p:cNvPr id="4" name="Straight Connector 3"/>
          <p:cNvCxnSpPr/>
          <p:nvPr/>
        </p:nvCxnSpPr>
        <p:spPr>
          <a:xfrm>
            <a:off x="0" y="980728"/>
            <a:ext cx="9144000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6" name="Straight Connector 5"/>
          <p:cNvCxnSpPr/>
          <p:nvPr/>
        </p:nvCxnSpPr>
        <p:spPr>
          <a:xfrm>
            <a:off x="0" y="1916832"/>
            <a:ext cx="9144000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93471" y="149731"/>
            <a:ext cx="576064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1600" dirty="0" smtClean="0"/>
              <a:t>24</a:t>
            </a:r>
          </a:p>
          <a:p>
            <a:r>
              <a:rPr lang="en-AU" sz="1600" dirty="0" smtClean="0"/>
              <a:t>7</a:t>
            </a:r>
          </a:p>
          <a:p>
            <a:r>
              <a:rPr lang="en-AU" sz="1600" dirty="0" smtClean="0"/>
              <a:t>30</a:t>
            </a:r>
            <a:endParaRPr lang="en-AU" sz="1600" dirty="0"/>
          </a:p>
        </p:txBody>
      </p:sp>
      <p:cxnSp>
        <p:nvCxnSpPr>
          <p:cNvPr id="9" name="Straight Connector 8"/>
          <p:cNvCxnSpPr/>
          <p:nvPr/>
        </p:nvCxnSpPr>
        <p:spPr>
          <a:xfrm>
            <a:off x="2915816" y="1916832"/>
            <a:ext cx="0" cy="5112568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11" name="TextBox 10"/>
          <p:cNvSpPr txBox="1"/>
          <p:nvPr/>
        </p:nvSpPr>
        <p:spPr>
          <a:xfrm>
            <a:off x="7439175" y="106354"/>
            <a:ext cx="158417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dirty="0" smtClean="0"/>
              <a:t>Date</a:t>
            </a:r>
            <a:endParaRPr lang="en-AU" sz="2400" dirty="0"/>
          </a:p>
        </p:txBody>
      </p:sp>
      <p:sp>
        <p:nvSpPr>
          <p:cNvPr id="12" name="TextBox 11"/>
          <p:cNvSpPr txBox="1"/>
          <p:nvPr/>
        </p:nvSpPr>
        <p:spPr>
          <a:xfrm>
            <a:off x="119514" y="1063436"/>
            <a:ext cx="8620422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dirty="0" smtClean="0"/>
              <a:t>EQ – Describe the differences between the different types of averages. </a:t>
            </a:r>
            <a:endParaRPr lang="en-AU" sz="2400" dirty="0"/>
          </a:p>
        </p:txBody>
      </p:sp>
      <p:sp>
        <p:nvSpPr>
          <p:cNvPr id="3" name="TextBox 2"/>
          <p:cNvSpPr txBox="1"/>
          <p:nvPr/>
        </p:nvSpPr>
        <p:spPr>
          <a:xfrm>
            <a:off x="89550" y="2040662"/>
            <a:ext cx="293157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dirty="0" smtClean="0"/>
              <a:t>What is a measure of centre?</a:t>
            </a:r>
            <a:endParaRPr lang="en-AU" dirty="0"/>
          </a:p>
        </p:txBody>
      </p:sp>
      <p:sp>
        <p:nvSpPr>
          <p:cNvPr id="5" name="TextBox 4"/>
          <p:cNvSpPr txBox="1"/>
          <p:nvPr/>
        </p:nvSpPr>
        <p:spPr>
          <a:xfrm>
            <a:off x="3021122" y="2024956"/>
            <a:ext cx="460369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dirty="0" smtClean="0"/>
              <a:t>This finds the average value for a group of data</a:t>
            </a:r>
            <a:endParaRPr lang="en-AU" dirty="0"/>
          </a:p>
        </p:txBody>
      </p:sp>
      <p:sp>
        <p:nvSpPr>
          <p:cNvPr id="8" name="TextBox 7"/>
          <p:cNvSpPr txBox="1"/>
          <p:nvPr/>
        </p:nvSpPr>
        <p:spPr>
          <a:xfrm>
            <a:off x="148610" y="2422446"/>
            <a:ext cx="240296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dirty="0" smtClean="0"/>
              <a:t>What are the averages?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121599" y="2426058"/>
            <a:ext cx="222208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dirty="0" smtClean="0"/>
              <a:t>Mean , Median Mode</a:t>
            </a:r>
            <a:endParaRPr lang="en-AU" dirty="0"/>
          </a:p>
        </p:txBody>
      </p:sp>
      <p:sp>
        <p:nvSpPr>
          <p:cNvPr id="15" name="TextBox 14"/>
          <p:cNvSpPr txBox="1"/>
          <p:nvPr/>
        </p:nvSpPr>
        <p:spPr>
          <a:xfrm>
            <a:off x="129146" y="2924944"/>
            <a:ext cx="250171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dirty="0" smtClean="0"/>
              <a:t>How do I find the mean?</a:t>
            </a:r>
            <a:endParaRPr lang="en-AU" dirty="0"/>
          </a:p>
        </p:txBody>
      </p:sp>
      <p:sp>
        <p:nvSpPr>
          <p:cNvPr id="16" name="TextBox 15"/>
          <p:cNvSpPr txBox="1"/>
          <p:nvPr/>
        </p:nvSpPr>
        <p:spPr>
          <a:xfrm>
            <a:off x="148610" y="3308660"/>
            <a:ext cx="267643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dirty="0" smtClean="0">
                <a:solidFill>
                  <a:schemeClr val="accent1"/>
                </a:solidFill>
              </a:rPr>
              <a:t>How do I find the median?</a:t>
            </a:r>
            <a:endParaRPr lang="en-AU" dirty="0">
              <a:solidFill>
                <a:schemeClr val="accent1"/>
              </a:solidFill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17" name="TextBox 16"/>
              <p:cNvSpPr txBox="1"/>
              <p:nvPr/>
            </p:nvSpPr>
            <p:spPr>
              <a:xfrm>
                <a:off x="3074827" y="2791778"/>
                <a:ext cx="2994346" cy="145918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acc>
                        <m:accPr>
                          <m:chr m:val="̅"/>
                          <m:ctrlPr>
                            <a:rPr lang="en-AU" i="1" smtClean="0">
                              <a:latin typeface="Cambria Math"/>
                            </a:rPr>
                          </m:ctrlPr>
                        </m:accPr>
                        <m:e>
                          <m:r>
                            <a:rPr lang="en-AU" b="0" i="1" smtClean="0">
                              <a:latin typeface="Cambria Math"/>
                            </a:rPr>
                            <m:t>𝑥</m:t>
                          </m:r>
                        </m:e>
                      </m:acc>
                      <m:r>
                        <a:rPr lang="en-AU" b="0" i="1" smtClean="0">
                          <a:latin typeface="Cambria Math"/>
                        </a:rPr>
                        <m:t>=</m:t>
                      </m:r>
                      <m:f>
                        <m:fPr>
                          <m:ctrlPr>
                            <a:rPr lang="en-AU" b="0" i="1" smtClean="0">
                              <a:latin typeface="Cambria Math"/>
                            </a:rPr>
                          </m:ctrlPr>
                        </m:fPr>
                        <m:num>
                          <m:nary>
                            <m:naryPr>
                              <m:chr m:val="∑"/>
                              <m:subHide m:val="on"/>
                              <m:supHide m:val="on"/>
                              <m:ctrlPr>
                                <a:rPr lang="en-AU" b="0" i="1" smtClean="0">
                                  <a:latin typeface="Cambria Math"/>
                                </a:rPr>
                              </m:ctrlPr>
                            </m:naryPr>
                            <m:sub/>
                            <m:sup/>
                            <m:e>
                              <m:r>
                                <a:rPr lang="en-AU" b="0" i="1" smtClean="0">
                                  <a:latin typeface="Cambria Math"/>
                                </a:rPr>
                                <m:t>𝑥</m:t>
                              </m:r>
                            </m:e>
                          </m:nary>
                        </m:num>
                        <m:den>
                          <m:r>
                            <a:rPr lang="en-AU" b="0" i="1" smtClean="0">
                              <a:latin typeface="Cambria Math"/>
                            </a:rPr>
                            <m:t>𝑛</m:t>
                          </m:r>
                        </m:den>
                      </m:f>
                      <m:r>
                        <a:rPr lang="en-AU" b="0" i="0" smtClean="0">
                          <a:latin typeface="Cambria Math"/>
                        </a:rPr>
                        <m:t>=</m:t>
                      </m:r>
                      <m:f>
                        <m:fPr>
                          <m:ctrlPr>
                            <a:rPr lang="en-AU" b="0" i="1" smtClean="0">
                              <a:latin typeface="Cambria Math"/>
                            </a:rPr>
                          </m:ctrlPr>
                        </m:fPr>
                        <m:num>
                          <m:r>
                            <m:rPr>
                              <m:nor/>
                            </m:rPr>
                            <a:rPr lang="en-AU" dirty="0"/>
                            <m:t>Sum</m:t>
                          </m:r>
                          <m:r>
                            <m:rPr>
                              <m:nor/>
                            </m:rPr>
                            <a:rPr lang="en-AU" dirty="0"/>
                            <m:t> </m:t>
                          </m:r>
                          <m:r>
                            <m:rPr>
                              <m:nor/>
                            </m:rPr>
                            <a:rPr lang="en-AU" b="0" i="0" dirty="0" smtClean="0"/>
                            <m:t>of</m:t>
                          </m:r>
                          <m:r>
                            <m:rPr>
                              <m:nor/>
                            </m:rPr>
                            <a:rPr lang="en-AU" dirty="0"/>
                            <m:t> </m:t>
                          </m:r>
                          <m:r>
                            <m:rPr>
                              <m:nor/>
                            </m:rPr>
                            <a:rPr lang="en-AU" dirty="0"/>
                            <m:t>the</m:t>
                          </m:r>
                          <m:r>
                            <m:rPr>
                              <m:nor/>
                            </m:rPr>
                            <a:rPr lang="en-AU" dirty="0"/>
                            <m:t> </m:t>
                          </m:r>
                          <m:r>
                            <m:rPr>
                              <m:nor/>
                            </m:rPr>
                            <a:rPr lang="en-AU" dirty="0"/>
                            <m:t>values</m:t>
                          </m:r>
                        </m:num>
                        <m:den>
                          <m:r>
                            <m:rPr>
                              <m:nor/>
                            </m:rPr>
                            <a:rPr lang="en-AU" dirty="0"/>
                            <m:t>number</m:t>
                          </m:r>
                          <m:r>
                            <m:rPr>
                              <m:nor/>
                            </m:rPr>
                            <a:rPr lang="en-AU" dirty="0"/>
                            <m:t> </m:t>
                          </m:r>
                          <m:r>
                            <m:rPr>
                              <m:nor/>
                            </m:rPr>
                            <a:rPr lang="en-AU" dirty="0"/>
                            <m:t>of</m:t>
                          </m:r>
                          <m:r>
                            <m:rPr>
                              <m:nor/>
                            </m:rPr>
                            <a:rPr lang="en-AU" dirty="0"/>
                            <m:t> </m:t>
                          </m:r>
                          <m:r>
                            <m:rPr>
                              <m:nor/>
                            </m:rPr>
                            <a:rPr lang="en-AU" dirty="0"/>
                            <m:t>values</m:t>
                          </m:r>
                          <m:r>
                            <m:rPr>
                              <m:nor/>
                            </m:rPr>
                            <a:rPr lang="en-AU" dirty="0"/>
                            <m:t> </m:t>
                          </m:r>
                        </m:den>
                      </m:f>
                    </m:oMath>
                  </m:oMathPara>
                </a14:m>
                <a:endParaRPr lang="en-AU" b="0" dirty="0" smtClean="0"/>
              </a:p>
              <a:p>
                <a:pPr/>
                <a:endParaRPr lang="en-AU" dirty="0" smtClean="0"/>
              </a:p>
              <a:p>
                <a:pPr/>
                <a:endParaRPr lang="en-AU" dirty="0"/>
              </a:p>
              <a:p>
                <a:endParaRPr lang="en-AU" dirty="0"/>
              </a:p>
            </p:txBody>
          </p:sp>
        </mc:Choice>
        <mc:Fallback>
          <p:sp>
            <p:nvSpPr>
              <p:cNvPr id="17" name="TextBox 16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074827" y="2791778"/>
                <a:ext cx="2994346" cy="1459182"/>
              </a:xfrm>
              <a:prstGeom prst="rect">
                <a:avLst/>
              </a:prstGeom>
              <a:blipFill rotWithShape="1"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8" name="TextBox 17"/>
          <p:cNvSpPr txBox="1"/>
          <p:nvPr/>
        </p:nvSpPr>
        <p:spPr>
          <a:xfrm>
            <a:off x="665095" y="348705"/>
            <a:ext cx="6824817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sz="2800" dirty="0" smtClean="0"/>
              <a:t>Measures of </a:t>
            </a:r>
            <a:r>
              <a:rPr lang="en-AU" sz="2800" dirty="0" smtClean="0"/>
              <a:t>Centre and Spread for a Data Set</a:t>
            </a:r>
            <a:endParaRPr lang="en-AU" sz="2800" dirty="0"/>
          </a:p>
        </p:txBody>
      </p:sp>
    </p:spTree>
    <p:extLst>
      <p:ext uri="{BB962C8B-B14F-4D97-AF65-F5344CB8AC3E}">
        <p14:creationId xmlns:p14="http://schemas.microsoft.com/office/powerpoint/2010/main" val="387496036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8748464" y="6488668"/>
            <a:ext cx="54977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 smtClean="0"/>
              <a:t> </a:t>
            </a:r>
            <a:r>
              <a:rPr lang="en-AU" dirty="0"/>
              <a:t>5</a:t>
            </a:r>
          </a:p>
        </p:txBody>
      </p:sp>
      <p:cxnSp>
        <p:nvCxnSpPr>
          <p:cNvPr id="4" name="Straight Connector 3"/>
          <p:cNvCxnSpPr/>
          <p:nvPr/>
        </p:nvCxnSpPr>
        <p:spPr>
          <a:xfrm>
            <a:off x="0" y="980728"/>
            <a:ext cx="9144000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6" name="Straight Connector 5"/>
          <p:cNvCxnSpPr/>
          <p:nvPr/>
        </p:nvCxnSpPr>
        <p:spPr>
          <a:xfrm>
            <a:off x="0" y="1916832"/>
            <a:ext cx="9144000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93471" y="149731"/>
            <a:ext cx="576064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1600" dirty="0" smtClean="0"/>
              <a:t>24</a:t>
            </a:r>
          </a:p>
          <a:p>
            <a:r>
              <a:rPr lang="en-AU" sz="1600" dirty="0" smtClean="0"/>
              <a:t>7</a:t>
            </a:r>
          </a:p>
          <a:p>
            <a:r>
              <a:rPr lang="en-AU" sz="1600" dirty="0" smtClean="0"/>
              <a:t>30</a:t>
            </a:r>
            <a:endParaRPr lang="en-AU" sz="1600" dirty="0"/>
          </a:p>
        </p:txBody>
      </p:sp>
      <p:cxnSp>
        <p:nvCxnSpPr>
          <p:cNvPr id="9" name="Straight Connector 8"/>
          <p:cNvCxnSpPr/>
          <p:nvPr/>
        </p:nvCxnSpPr>
        <p:spPr>
          <a:xfrm>
            <a:off x="2915816" y="1916832"/>
            <a:ext cx="0" cy="5112568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11" name="TextBox 10"/>
          <p:cNvSpPr txBox="1"/>
          <p:nvPr/>
        </p:nvSpPr>
        <p:spPr>
          <a:xfrm>
            <a:off x="7439175" y="106354"/>
            <a:ext cx="158417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dirty="0" smtClean="0"/>
              <a:t>Date</a:t>
            </a:r>
            <a:endParaRPr lang="en-AU" sz="2400" dirty="0"/>
          </a:p>
        </p:txBody>
      </p:sp>
      <p:sp>
        <p:nvSpPr>
          <p:cNvPr id="12" name="TextBox 11"/>
          <p:cNvSpPr txBox="1"/>
          <p:nvPr/>
        </p:nvSpPr>
        <p:spPr>
          <a:xfrm>
            <a:off x="119514" y="1063436"/>
            <a:ext cx="8620422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dirty="0" smtClean="0"/>
              <a:t>EQ – Describe the differences between the different types of averages. </a:t>
            </a:r>
            <a:endParaRPr lang="en-AU" sz="2400" dirty="0"/>
          </a:p>
        </p:txBody>
      </p:sp>
      <p:sp>
        <p:nvSpPr>
          <p:cNvPr id="3" name="TextBox 2"/>
          <p:cNvSpPr txBox="1"/>
          <p:nvPr/>
        </p:nvSpPr>
        <p:spPr>
          <a:xfrm>
            <a:off x="89550" y="2040662"/>
            <a:ext cx="293157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dirty="0" smtClean="0"/>
              <a:t>What is a measure of centre?</a:t>
            </a:r>
            <a:endParaRPr lang="en-AU" dirty="0"/>
          </a:p>
        </p:txBody>
      </p:sp>
      <p:sp>
        <p:nvSpPr>
          <p:cNvPr id="5" name="TextBox 4"/>
          <p:cNvSpPr txBox="1"/>
          <p:nvPr/>
        </p:nvSpPr>
        <p:spPr>
          <a:xfrm>
            <a:off x="3021122" y="2024956"/>
            <a:ext cx="460369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dirty="0" smtClean="0"/>
              <a:t>This finds the average value for a group of data</a:t>
            </a:r>
            <a:endParaRPr lang="en-AU" dirty="0"/>
          </a:p>
        </p:txBody>
      </p:sp>
      <p:sp>
        <p:nvSpPr>
          <p:cNvPr id="8" name="TextBox 7"/>
          <p:cNvSpPr txBox="1"/>
          <p:nvPr/>
        </p:nvSpPr>
        <p:spPr>
          <a:xfrm>
            <a:off x="148610" y="2422446"/>
            <a:ext cx="240296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dirty="0" smtClean="0"/>
              <a:t>What are the averages?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121599" y="2426058"/>
            <a:ext cx="222208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dirty="0" smtClean="0"/>
              <a:t>Mean , Median Mode</a:t>
            </a:r>
            <a:endParaRPr lang="en-AU" dirty="0"/>
          </a:p>
        </p:txBody>
      </p:sp>
      <p:sp>
        <p:nvSpPr>
          <p:cNvPr id="15" name="TextBox 14"/>
          <p:cNvSpPr txBox="1"/>
          <p:nvPr/>
        </p:nvSpPr>
        <p:spPr>
          <a:xfrm>
            <a:off x="129146" y="2924944"/>
            <a:ext cx="250171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dirty="0" smtClean="0"/>
              <a:t>How do I find the mean?</a:t>
            </a:r>
            <a:endParaRPr lang="en-AU" dirty="0"/>
          </a:p>
        </p:txBody>
      </p:sp>
      <p:sp>
        <p:nvSpPr>
          <p:cNvPr id="16" name="TextBox 15"/>
          <p:cNvSpPr txBox="1"/>
          <p:nvPr/>
        </p:nvSpPr>
        <p:spPr>
          <a:xfrm>
            <a:off x="148610" y="3308660"/>
            <a:ext cx="267643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dirty="0" smtClean="0">
                <a:solidFill>
                  <a:schemeClr val="accent1"/>
                </a:solidFill>
              </a:rPr>
              <a:t>How do I find the median?</a:t>
            </a:r>
            <a:endParaRPr lang="en-AU" dirty="0">
              <a:solidFill>
                <a:schemeClr val="accent1"/>
              </a:solidFill>
            </a:endParaRPr>
          </a:p>
        </p:txBody>
      </p:sp>
      <p:sp>
        <p:nvSpPr>
          <p:cNvPr id="17" name="TextBox 16"/>
          <p:cNvSpPr txBox="1"/>
          <p:nvPr/>
        </p:nvSpPr>
        <p:spPr>
          <a:xfrm>
            <a:off x="2987083" y="3354826"/>
            <a:ext cx="6036268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dirty="0" smtClean="0">
                <a:solidFill>
                  <a:schemeClr val="accent1"/>
                </a:solidFill>
              </a:rPr>
              <a:t>Put the values I order. Find the middle value. </a:t>
            </a:r>
          </a:p>
          <a:p>
            <a:r>
              <a:rPr lang="en-AU" dirty="0" smtClean="0">
                <a:solidFill>
                  <a:schemeClr val="accent1"/>
                </a:solidFill>
              </a:rPr>
              <a:t>If there are two middle values add together and divide by two </a:t>
            </a:r>
            <a:endParaRPr lang="en-AU" dirty="0">
              <a:solidFill>
                <a:schemeClr val="accent1"/>
              </a:solidFill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18" name="TextBox 17"/>
              <p:cNvSpPr txBox="1"/>
              <p:nvPr/>
            </p:nvSpPr>
            <p:spPr>
              <a:xfrm>
                <a:off x="3074827" y="2812034"/>
                <a:ext cx="2994346" cy="145918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acc>
                        <m:accPr>
                          <m:chr m:val="̅"/>
                          <m:ctrlPr>
                            <a:rPr lang="en-AU" i="1" smtClean="0">
                              <a:latin typeface="Cambria Math"/>
                            </a:rPr>
                          </m:ctrlPr>
                        </m:accPr>
                        <m:e>
                          <m:r>
                            <a:rPr lang="en-AU" b="0" i="1" smtClean="0">
                              <a:latin typeface="Cambria Math"/>
                            </a:rPr>
                            <m:t>𝑥</m:t>
                          </m:r>
                        </m:e>
                      </m:acc>
                      <m:r>
                        <a:rPr lang="en-AU" b="0" i="1" smtClean="0">
                          <a:latin typeface="Cambria Math"/>
                        </a:rPr>
                        <m:t>=</m:t>
                      </m:r>
                      <m:f>
                        <m:fPr>
                          <m:ctrlPr>
                            <a:rPr lang="en-AU" b="0" i="1" smtClean="0">
                              <a:latin typeface="Cambria Math"/>
                            </a:rPr>
                          </m:ctrlPr>
                        </m:fPr>
                        <m:num>
                          <m:nary>
                            <m:naryPr>
                              <m:chr m:val="∑"/>
                              <m:subHide m:val="on"/>
                              <m:supHide m:val="on"/>
                              <m:ctrlPr>
                                <a:rPr lang="en-AU" b="0" i="1" smtClean="0">
                                  <a:latin typeface="Cambria Math"/>
                                </a:rPr>
                              </m:ctrlPr>
                            </m:naryPr>
                            <m:sub/>
                            <m:sup/>
                            <m:e>
                              <m:r>
                                <a:rPr lang="en-AU" b="0" i="1" smtClean="0">
                                  <a:latin typeface="Cambria Math"/>
                                </a:rPr>
                                <m:t>𝑥</m:t>
                              </m:r>
                            </m:e>
                          </m:nary>
                        </m:num>
                        <m:den>
                          <m:r>
                            <a:rPr lang="en-AU" b="0" i="1" smtClean="0">
                              <a:latin typeface="Cambria Math"/>
                            </a:rPr>
                            <m:t>𝑛</m:t>
                          </m:r>
                        </m:den>
                      </m:f>
                      <m:r>
                        <a:rPr lang="en-AU" b="0" i="0" smtClean="0">
                          <a:latin typeface="Cambria Math"/>
                        </a:rPr>
                        <m:t>=</m:t>
                      </m:r>
                      <m:f>
                        <m:fPr>
                          <m:ctrlPr>
                            <a:rPr lang="en-AU" b="0" i="1" smtClean="0">
                              <a:latin typeface="Cambria Math"/>
                            </a:rPr>
                          </m:ctrlPr>
                        </m:fPr>
                        <m:num>
                          <m:r>
                            <m:rPr>
                              <m:nor/>
                            </m:rPr>
                            <a:rPr lang="en-AU" dirty="0"/>
                            <m:t>Sum</m:t>
                          </m:r>
                          <m:r>
                            <m:rPr>
                              <m:nor/>
                            </m:rPr>
                            <a:rPr lang="en-AU" dirty="0"/>
                            <m:t> </m:t>
                          </m:r>
                          <m:r>
                            <m:rPr>
                              <m:nor/>
                            </m:rPr>
                            <a:rPr lang="en-AU" b="0" i="0" dirty="0" smtClean="0"/>
                            <m:t>of</m:t>
                          </m:r>
                          <m:r>
                            <m:rPr>
                              <m:nor/>
                            </m:rPr>
                            <a:rPr lang="en-AU" dirty="0"/>
                            <m:t> </m:t>
                          </m:r>
                          <m:r>
                            <m:rPr>
                              <m:nor/>
                            </m:rPr>
                            <a:rPr lang="en-AU" dirty="0"/>
                            <m:t>the</m:t>
                          </m:r>
                          <m:r>
                            <m:rPr>
                              <m:nor/>
                            </m:rPr>
                            <a:rPr lang="en-AU" dirty="0"/>
                            <m:t> </m:t>
                          </m:r>
                          <m:r>
                            <m:rPr>
                              <m:nor/>
                            </m:rPr>
                            <a:rPr lang="en-AU" dirty="0"/>
                            <m:t>values</m:t>
                          </m:r>
                        </m:num>
                        <m:den>
                          <m:r>
                            <m:rPr>
                              <m:nor/>
                            </m:rPr>
                            <a:rPr lang="en-AU" dirty="0"/>
                            <m:t>number</m:t>
                          </m:r>
                          <m:r>
                            <m:rPr>
                              <m:nor/>
                            </m:rPr>
                            <a:rPr lang="en-AU" dirty="0"/>
                            <m:t> </m:t>
                          </m:r>
                          <m:r>
                            <m:rPr>
                              <m:nor/>
                            </m:rPr>
                            <a:rPr lang="en-AU" dirty="0"/>
                            <m:t>of</m:t>
                          </m:r>
                          <m:r>
                            <m:rPr>
                              <m:nor/>
                            </m:rPr>
                            <a:rPr lang="en-AU" dirty="0"/>
                            <m:t> </m:t>
                          </m:r>
                          <m:r>
                            <m:rPr>
                              <m:nor/>
                            </m:rPr>
                            <a:rPr lang="en-AU" dirty="0"/>
                            <m:t>values</m:t>
                          </m:r>
                          <m:r>
                            <m:rPr>
                              <m:nor/>
                            </m:rPr>
                            <a:rPr lang="en-AU" dirty="0"/>
                            <m:t> </m:t>
                          </m:r>
                        </m:den>
                      </m:f>
                    </m:oMath>
                  </m:oMathPara>
                </a14:m>
                <a:endParaRPr lang="en-AU" b="0" dirty="0" smtClean="0"/>
              </a:p>
              <a:p>
                <a:pPr/>
                <a:endParaRPr lang="en-AU" dirty="0" smtClean="0"/>
              </a:p>
              <a:p>
                <a:pPr/>
                <a:endParaRPr lang="en-AU" dirty="0"/>
              </a:p>
              <a:p>
                <a:endParaRPr lang="en-AU" dirty="0"/>
              </a:p>
            </p:txBody>
          </p:sp>
        </mc:Choice>
        <mc:Fallback>
          <p:sp>
            <p:nvSpPr>
              <p:cNvPr id="18" name="TextBox 17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074827" y="2812034"/>
                <a:ext cx="2994346" cy="1459182"/>
              </a:xfrm>
              <a:prstGeom prst="rect">
                <a:avLst/>
              </a:prstGeom>
              <a:blipFill rotWithShape="1"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9" name="TextBox 18"/>
          <p:cNvSpPr txBox="1"/>
          <p:nvPr/>
        </p:nvSpPr>
        <p:spPr>
          <a:xfrm>
            <a:off x="665095" y="348705"/>
            <a:ext cx="6824817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sz="2800" dirty="0" smtClean="0"/>
              <a:t>Measures of </a:t>
            </a:r>
            <a:r>
              <a:rPr lang="en-AU" sz="2800" dirty="0" smtClean="0"/>
              <a:t>Centre and Spread for a Data Set</a:t>
            </a:r>
            <a:endParaRPr lang="en-AU" sz="2800" dirty="0"/>
          </a:p>
        </p:txBody>
      </p:sp>
    </p:spTree>
    <p:extLst>
      <p:ext uri="{BB962C8B-B14F-4D97-AF65-F5344CB8AC3E}">
        <p14:creationId xmlns:p14="http://schemas.microsoft.com/office/powerpoint/2010/main" val="237933417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8748464" y="6488668"/>
            <a:ext cx="54977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 smtClean="0"/>
              <a:t> </a:t>
            </a:r>
            <a:r>
              <a:rPr lang="en-AU" dirty="0"/>
              <a:t>5</a:t>
            </a:r>
          </a:p>
        </p:txBody>
      </p:sp>
      <p:cxnSp>
        <p:nvCxnSpPr>
          <p:cNvPr id="4" name="Straight Connector 3"/>
          <p:cNvCxnSpPr/>
          <p:nvPr/>
        </p:nvCxnSpPr>
        <p:spPr>
          <a:xfrm>
            <a:off x="0" y="980728"/>
            <a:ext cx="9144000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6" name="Straight Connector 5"/>
          <p:cNvCxnSpPr/>
          <p:nvPr/>
        </p:nvCxnSpPr>
        <p:spPr>
          <a:xfrm>
            <a:off x="0" y="1916832"/>
            <a:ext cx="9144000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93471" y="149731"/>
            <a:ext cx="576064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1600" dirty="0" smtClean="0"/>
              <a:t>24</a:t>
            </a:r>
          </a:p>
          <a:p>
            <a:r>
              <a:rPr lang="en-AU" sz="1600" dirty="0" smtClean="0"/>
              <a:t>7</a:t>
            </a:r>
          </a:p>
          <a:p>
            <a:r>
              <a:rPr lang="en-AU" sz="1600" dirty="0" smtClean="0"/>
              <a:t>30</a:t>
            </a:r>
            <a:endParaRPr lang="en-AU" sz="1600" dirty="0"/>
          </a:p>
        </p:txBody>
      </p:sp>
      <p:cxnSp>
        <p:nvCxnSpPr>
          <p:cNvPr id="9" name="Straight Connector 8"/>
          <p:cNvCxnSpPr/>
          <p:nvPr/>
        </p:nvCxnSpPr>
        <p:spPr>
          <a:xfrm>
            <a:off x="2915816" y="1916832"/>
            <a:ext cx="0" cy="5112568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11" name="TextBox 10"/>
          <p:cNvSpPr txBox="1"/>
          <p:nvPr/>
        </p:nvSpPr>
        <p:spPr>
          <a:xfrm>
            <a:off x="7439175" y="106354"/>
            <a:ext cx="158417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dirty="0" smtClean="0"/>
              <a:t>Date</a:t>
            </a:r>
            <a:endParaRPr lang="en-AU" sz="2400" dirty="0"/>
          </a:p>
        </p:txBody>
      </p:sp>
      <p:sp>
        <p:nvSpPr>
          <p:cNvPr id="12" name="TextBox 11"/>
          <p:cNvSpPr txBox="1"/>
          <p:nvPr/>
        </p:nvSpPr>
        <p:spPr>
          <a:xfrm>
            <a:off x="119514" y="1063436"/>
            <a:ext cx="8620422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dirty="0" smtClean="0"/>
              <a:t>EQ – Describe the differences between the different types of averages. </a:t>
            </a:r>
            <a:endParaRPr lang="en-AU" sz="2400" dirty="0"/>
          </a:p>
        </p:txBody>
      </p:sp>
      <p:sp>
        <p:nvSpPr>
          <p:cNvPr id="3" name="TextBox 2"/>
          <p:cNvSpPr txBox="1"/>
          <p:nvPr/>
        </p:nvSpPr>
        <p:spPr>
          <a:xfrm>
            <a:off x="89550" y="2040662"/>
            <a:ext cx="293157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dirty="0" smtClean="0"/>
              <a:t>What is a measure of centre?</a:t>
            </a:r>
            <a:endParaRPr lang="en-AU" dirty="0"/>
          </a:p>
        </p:txBody>
      </p:sp>
      <p:sp>
        <p:nvSpPr>
          <p:cNvPr id="5" name="TextBox 4"/>
          <p:cNvSpPr txBox="1"/>
          <p:nvPr/>
        </p:nvSpPr>
        <p:spPr>
          <a:xfrm>
            <a:off x="3021122" y="2024956"/>
            <a:ext cx="460369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dirty="0" smtClean="0"/>
              <a:t>This finds the average value for a group of data</a:t>
            </a:r>
            <a:endParaRPr lang="en-AU" dirty="0"/>
          </a:p>
        </p:txBody>
      </p:sp>
      <p:sp>
        <p:nvSpPr>
          <p:cNvPr id="8" name="TextBox 7"/>
          <p:cNvSpPr txBox="1"/>
          <p:nvPr/>
        </p:nvSpPr>
        <p:spPr>
          <a:xfrm>
            <a:off x="148610" y="2422446"/>
            <a:ext cx="240296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dirty="0" smtClean="0"/>
              <a:t>What are the averages?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121599" y="2426058"/>
            <a:ext cx="222208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dirty="0" smtClean="0"/>
              <a:t>Mean , Median Mode</a:t>
            </a:r>
            <a:endParaRPr lang="en-AU" dirty="0"/>
          </a:p>
        </p:txBody>
      </p:sp>
      <p:sp>
        <p:nvSpPr>
          <p:cNvPr id="15" name="TextBox 14"/>
          <p:cNvSpPr txBox="1"/>
          <p:nvPr/>
        </p:nvSpPr>
        <p:spPr>
          <a:xfrm>
            <a:off x="129146" y="2924944"/>
            <a:ext cx="250171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dirty="0" smtClean="0"/>
              <a:t>How do I find the mean?</a:t>
            </a:r>
            <a:endParaRPr lang="en-AU" dirty="0"/>
          </a:p>
        </p:txBody>
      </p:sp>
      <p:sp>
        <p:nvSpPr>
          <p:cNvPr id="16" name="TextBox 15"/>
          <p:cNvSpPr txBox="1"/>
          <p:nvPr/>
        </p:nvSpPr>
        <p:spPr>
          <a:xfrm>
            <a:off x="148610" y="3308660"/>
            <a:ext cx="267643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dirty="0" smtClean="0">
                <a:solidFill>
                  <a:schemeClr val="accent1"/>
                </a:solidFill>
              </a:rPr>
              <a:t>How do I find the median?</a:t>
            </a:r>
            <a:endParaRPr lang="en-AU" dirty="0">
              <a:solidFill>
                <a:schemeClr val="accent1"/>
              </a:solidFill>
            </a:endParaRPr>
          </a:p>
        </p:txBody>
      </p:sp>
      <p:sp>
        <p:nvSpPr>
          <p:cNvPr id="17" name="TextBox 16"/>
          <p:cNvSpPr txBox="1"/>
          <p:nvPr/>
        </p:nvSpPr>
        <p:spPr>
          <a:xfrm>
            <a:off x="2987083" y="3354826"/>
            <a:ext cx="6036268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dirty="0" smtClean="0">
                <a:solidFill>
                  <a:schemeClr val="accent1"/>
                </a:solidFill>
              </a:rPr>
              <a:t>Put the values I order. Find the middle value. </a:t>
            </a:r>
          </a:p>
          <a:p>
            <a:r>
              <a:rPr lang="en-AU" dirty="0" smtClean="0">
                <a:solidFill>
                  <a:schemeClr val="accent1"/>
                </a:solidFill>
              </a:rPr>
              <a:t>If there are two middle values add together and divide by two </a:t>
            </a:r>
            <a:endParaRPr lang="en-AU" dirty="0">
              <a:solidFill>
                <a:schemeClr val="accent1"/>
              </a:solidFill>
            </a:endParaRPr>
          </a:p>
        </p:txBody>
      </p:sp>
      <p:sp>
        <p:nvSpPr>
          <p:cNvPr id="18" name="TextBox 17"/>
          <p:cNvSpPr txBox="1"/>
          <p:nvPr/>
        </p:nvSpPr>
        <p:spPr>
          <a:xfrm>
            <a:off x="148610" y="4103784"/>
            <a:ext cx="251293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dirty="0" smtClean="0">
                <a:solidFill>
                  <a:srgbClr val="00B050"/>
                </a:solidFill>
              </a:rPr>
              <a:t>How do I find the mode?</a:t>
            </a:r>
            <a:endParaRPr lang="en-AU" dirty="0">
              <a:solidFill>
                <a:srgbClr val="00B050"/>
              </a:solidFill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19" name="TextBox 18"/>
              <p:cNvSpPr txBox="1"/>
              <p:nvPr/>
            </p:nvSpPr>
            <p:spPr>
              <a:xfrm>
                <a:off x="3074827" y="2791778"/>
                <a:ext cx="2994346" cy="145918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acc>
                        <m:accPr>
                          <m:chr m:val="̅"/>
                          <m:ctrlPr>
                            <a:rPr lang="en-AU" i="1" smtClean="0">
                              <a:latin typeface="Cambria Math"/>
                            </a:rPr>
                          </m:ctrlPr>
                        </m:accPr>
                        <m:e>
                          <m:r>
                            <a:rPr lang="en-AU" b="0" i="1" smtClean="0">
                              <a:latin typeface="Cambria Math"/>
                            </a:rPr>
                            <m:t>𝑥</m:t>
                          </m:r>
                        </m:e>
                      </m:acc>
                      <m:r>
                        <a:rPr lang="en-AU" b="0" i="1" smtClean="0">
                          <a:latin typeface="Cambria Math"/>
                        </a:rPr>
                        <m:t>=</m:t>
                      </m:r>
                      <m:f>
                        <m:fPr>
                          <m:ctrlPr>
                            <a:rPr lang="en-AU" b="0" i="1" smtClean="0">
                              <a:latin typeface="Cambria Math"/>
                            </a:rPr>
                          </m:ctrlPr>
                        </m:fPr>
                        <m:num>
                          <m:nary>
                            <m:naryPr>
                              <m:chr m:val="∑"/>
                              <m:subHide m:val="on"/>
                              <m:supHide m:val="on"/>
                              <m:ctrlPr>
                                <a:rPr lang="en-AU" b="0" i="1" smtClean="0">
                                  <a:latin typeface="Cambria Math"/>
                                </a:rPr>
                              </m:ctrlPr>
                            </m:naryPr>
                            <m:sub/>
                            <m:sup/>
                            <m:e>
                              <m:r>
                                <a:rPr lang="en-AU" b="0" i="1" smtClean="0">
                                  <a:latin typeface="Cambria Math"/>
                                </a:rPr>
                                <m:t>𝑥</m:t>
                              </m:r>
                            </m:e>
                          </m:nary>
                        </m:num>
                        <m:den>
                          <m:r>
                            <a:rPr lang="en-AU" b="0" i="1" smtClean="0">
                              <a:latin typeface="Cambria Math"/>
                            </a:rPr>
                            <m:t>𝑛</m:t>
                          </m:r>
                        </m:den>
                      </m:f>
                      <m:r>
                        <a:rPr lang="en-AU" b="0" i="0" smtClean="0">
                          <a:latin typeface="Cambria Math"/>
                        </a:rPr>
                        <m:t>=</m:t>
                      </m:r>
                      <m:f>
                        <m:fPr>
                          <m:ctrlPr>
                            <a:rPr lang="en-AU" b="0" i="1" smtClean="0">
                              <a:latin typeface="Cambria Math"/>
                            </a:rPr>
                          </m:ctrlPr>
                        </m:fPr>
                        <m:num>
                          <m:r>
                            <m:rPr>
                              <m:nor/>
                            </m:rPr>
                            <a:rPr lang="en-AU" dirty="0"/>
                            <m:t>Sum</m:t>
                          </m:r>
                          <m:r>
                            <m:rPr>
                              <m:nor/>
                            </m:rPr>
                            <a:rPr lang="en-AU" dirty="0"/>
                            <m:t> </m:t>
                          </m:r>
                          <m:r>
                            <m:rPr>
                              <m:nor/>
                            </m:rPr>
                            <a:rPr lang="en-AU" b="0" i="0" dirty="0" smtClean="0"/>
                            <m:t>of</m:t>
                          </m:r>
                          <m:r>
                            <m:rPr>
                              <m:nor/>
                            </m:rPr>
                            <a:rPr lang="en-AU" dirty="0"/>
                            <m:t> </m:t>
                          </m:r>
                          <m:r>
                            <m:rPr>
                              <m:nor/>
                            </m:rPr>
                            <a:rPr lang="en-AU" dirty="0"/>
                            <m:t>the</m:t>
                          </m:r>
                          <m:r>
                            <m:rPr>
                              <m:nor/>
                            </m:rPr>
                            <a:rPr lang="en-AU" dirty="0"/>
                            <m:t> </m:t>
                          </m:r>
                          <m:r>
                            <m:rPr>
                              <m:nor/>
                            </m:rPr>
                            <a:rPr lang="en-AU" dirty="0"/>
                            <m:t>values</m:t>
                          </m:r>
                        </m:num>
                        <m:den>
                          <m:r>
                            <m:rPr>
                              <m:nor/>
                            </m:rPr>
                            <a:rPr lang="en-AU" dirty="0"/>
                            <m:t>number</m:t>
                          </m:r>
                          <m:r>
                            <m:rPr>
                              <m:nor/>
                            </m:rPr>
                            <a:rPr lang="en-AU" dirty="0"/>
                            <m:t> </m:t>
                          </m:r>
                          <m:r>
                            <m:rPr>
                              <m:nor/>
                            </m:rPr>
                            <a:rPr lang="en-AU" dirty="0"/>
                            <m:t>of</m:t>
                          </m:r>
                          <m:r>
                            <m:rPr>
                              <m:nor/>
                            </m:rPr>
                            <a:rPr lang="en-AU" dirty="0"/>
                            <m:t> </m:t>
                          </m:r>
                          <m:r>
                            <m:rPr>
                              <m:nor/>
                            </m:rPr>
                            <a:rPr lang="en-AU" dirty="0"/>
                            <m:t>values</m:t>
                          </m:r>
                          <m:r>
                            <m:rPr>
                              <m:nor/>
                            </m:rPr>
                            <a:rPr lang="en-AU" dirty="0"/>
                            <m:t> </m:t>
                          </m:r>
                        </m:den>
                      </m:f>
                    </m:oMath>
                  </m:oMathPara>
                </a14:m>
                <a:endParaRPr lang="en-AU" b="0" dirty="0" smtClean="0"/>
              </a:p>
              <a:p>
                <a:pPr/>
                <a:endParaRPr lang="en-AU" dirty="0" smtClean="0"/>
              </a:p>
              <a:p>
                <a:pPr/>
                <a:endParaRPr lang="en-AU" dirty="0"/>
              </a:p>
              <a:p>
                <a:endParaRPr lang="en-AU" dirty="0"/>
              </a:p>
            </p:txBody>
          </p:sp>
        </mc:Choice>
        <mc:Fallback>
          <p:sp>
            <p:nvSpPr>
              <p:cNvPr id="19" name="TextBox 18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074827" y="2791778"/>
                <a:ext cx="2994346" cy="1459182"/>
              </a:xfrm>
              <a:prstGeom prst="rect">
                <a:avLst/>
              </a:prstGeom>
              <a:blipFill rotWithShape="1"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0" name="TextBox 19"/>
          <p:cNvSpPr txBox="1"/>
          <p:nvPr/>
        </p:nvSpPr>
        <p:spPr>
          <a:xfrm>
            <a:off x="665095" y="348705"/>
            <a:ext cx="6824817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sz="2800" dirty="0" smtClean="0"/>
              <a:t>Measures of </a:t>
            </a:r>
            <a:r>
              <a:rPr lang="en-AU" sz="2800" dirty="0" smtClean="0"/>
              <a:t>Centre and Spread for a Data Set</a:t>
            </a:r>
            <a:endParaRPr lang="en-AU" sz="2800" dirty="0"/>
          </a:p>
        </p:txBody>
      </p:sp>
    </p:spTree>
    <p:extLst>
      <p:ext uri="{BB962C8B-B14F-4D97-AF65-F5344CB8AC3E}">
        <p14:creationId xmlns:p14="http://schemas.microsoft.com/office/powerpoint/2010/main" val="310418992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8748464" y="6488668"/>
            <a:ext cx="54977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 smtClean="0"/>
              <a:t> </a:t>
            </a:r>
            <a:r>
              <a:rPr lang="en-AU" dirty="0"/>
              <a:t>5</a:t>
            </a:r>
          </a:p>
        </p:txBody>
      </p:sp>
      <p:cxnSp>
        <p:nvCxnSpPr>
          <p:cNvPr id="4" name="Straight Connector 3"/>
          <p:cNvCxnSpPr/>
          <p:nvPr/>
        </p:nvCxnSpPr>
        <p:spPr>
          <a:xfrm>
            <a:off x="0" y="980728"/>
            <a:ext cx="9144000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6" name="Straight Connector 5"/>
          <p:cNvCxnSpPr/>
          <p:nvPr/>
        </p:nvCxnSpPr>
        <p:spPr>
          <a:xfrm>
            <a:off x="0" y="1916832"/>
            <a:ext cx="9144000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93471" y="149731"/>
            <a:ext cx="576064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1600" dirty="0" smtClean="0"/>
              <a:t>24</a:t>
            </a:r>
          </a:p>
          <a:p>
            <a:r>
              <a:rPr lang="en-AU" sz="1600" dirty="0" smtClean="0"/>
              <a:t>7</a:t>
            </a:r>
          </a:p>
          <a:p>
            <a:r>
              <a:rPr lang="en-AU" sz="1600" dirty="0" smtClean="0"/>
              <a:t>30</a:t>
            </a:r>
            <a:endParaRPr lang="en-AU" sz="1600" dirty="0"/>
          </a:p>
        </p:txBody>
      </p:sp>
      <p:cxnSp>
        <p:nvCxnSpPr>
          <p:cNvPr id="9" name="Straight Connector 8"/>
          <p:cNvCxnSpPr/>
          <p:nvPr/>
        </p:nvCxnSpPr>
        <p:spPr>
          <a:xfrm>
            <a:off x="2915816" y="1916832"/>
            <a:ext cx="0" cy="5112568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11" name="TextBox 10"/>
          <p:cNvSpPr txBox="1"/>
          <p:nvPr/>
        </p:nvSpPr>
        <p:spPr>
          <a:xfrm>
            <a:off x="7439175" y="106354"/>
            <a:ext cx="158417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dirty="0" smtClean="0"/>
              <a:t>Date</a:t>
            </a:r>
            <a:endParaRPr lang="en-AU" sz="2400" dirty="0"/>
          </a:p>
        </p:txBody>
      </p:sp>
      <p:sp>
        <p:nvSpPr>
          <p:cNvPr id="12" name="TextBox 11"/>
          <p:cNvSpPr txBox="1"/>
          <p:nvPr/>
        </p:nvSpPr>
        <p:spPr>
          <a:xfrm>
            <a:off x="119514" y="1063436"/>
            <a:ext cx="8620422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dirty="0" smtClean="0"/>
              <a:t>EQ – Describe the differences between the different types of averages. </a:t>
            </a:r>
            <a:endParaRPr lang="en-AU" sz="2400" dirty="0"/>
          </a:p>
        </p:txBody>
      </p:sp>
      <p:sp>
        <p:nvSpPr>
          <p:cNvPr id="3" name="TextBox 2"/>
          <p:cNvSpPr txBox="1"/>
          <p:nvPr/>
        </p:nvSpPr>
        <p:spPr>
          <a:xfrm>
            <a:off x="89550" y="2040662"/>
            <a:ext cx="293157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dirty="0" smtClean="0"/>
              <a:t>What is a measure of centre?</a:t>
            </a:r>
            <a:endParaRPr lang="en-AU" dirty="0"/>
          </a:p>
        </p:txBody>
      </p:sp>
      <p:sp>
        <p:nvSpPr>
          <p:cNvPr id="5" name="TextBox 4"/>
          <p:cNvSpPr txBox="1"/>
          <p:nvPr/>
        </p:nvSpPr>
        <p:spPr>
          <a:xfrm>
            <a:off x="3021122" y="2024956"/>
            <a:ext cx="460369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dirty="0" smtClean="0"/>
              <a:t>This finds the average value for a group of data</a:t>
            </a:r>
            <a:endParaRPr lang="en-AU" dirty="0"/>
          </a:p>
        </p:txBody>
      </p:sp>
      <p:sp>
        <p:nvSpPr>
          <p:cNvPr id="8" name="TextBox 7"/>
          <p:cNvSpPr txBox="1"/>
          <p:nvPr/>
        </p:nvSpPr>
        <p:spPr>
          <a:xfrm>
            <a:off x="148610" y="2422446"/>
            <a:ext cx="240296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dirty="0" smtClean="0"/>
              <a:t>What are the averages?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121599" y="2426058"/>
            <a:ext cx="222208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dirty="0" smtClean="0"/>
              <a:t>Mean , Median Mode</a:t>
            </a:r>
            <a:endParaRPr lang="en-AU" dirty="0"/>
          </a:p>
        </p:txBody>
      </p:sp>
      <p:sp>
        <p:nvSpPr>
          <p:cNvPr id="15" name="TextBox 14"/>
          <p:cNvSpPr txBox="1"/>
          <p:nvPr/>
        </p:nvSpPr>
        <p:spPr>
          <a:xfrm>
            <a:off x="129146" y="2924944"/>
            <a:ext cx="250171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dirty="0" smtClean="0"/>
              <a:t>How do I find the mean?</a:t>
            </a:r>
            <a:endParaRPr lang="en-AU" dirty="0"/>
          </a:p>
        </p:txBody>
      </p:sp>
      <p:sp>
        <p:nvSpPr>
          <p:cNvPr id="16" name="TextBox 15"/>
          <p:cNvSpPr txBox="1"/>
          <p:nvPr/>
        </p:nvSpPr>
        <p:spPr>
          <a:xfrm>
            <a:off x="148610" y="3308660"/>
            <a:ext cx="267643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dirty="0" smtClean="0">
                <a:solidFill>
                  <a:schemeClr val="accent1"/>
                </a:solidFill>
              </a:rPr>
              <a:t>How do I find the median?</a:t>
            </a:r>
            <a:endParaRPr lang="en-AU" dirty="0">
              <a:solidFill>
                <a:schemeClr val="accent1"/>
              </a:solidFill>
            </a:endParaRPr>
          </a:p>
        </p:txBody>
      </p:sp>
      <p:sp>
        <p:nvSpPr>
          <p:cNvPr id="17" name="TextBox 16"/>
          <p:cNvSpPr txBox="1"/>
          <p:nvPr/>
        </p:nvSpPr>
        <p:spPr>
          <a:xfrm>
            <a:off x="2987083" y="3354826"/>
            <a:ext cx="6036268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dirty="0" smtClean="0">
                <a:solidFill>
                  <a:schemeClr val="accent1"/>
                </a:solidFill>
              </a:rPr>
              <a:t>Put the values I order. Find the middle value. </a:t>
            </a:r>
          </a:p>
          <a:p>
            <a:r>
              <a:rPr lang="en-AU" dirty="0" smtClean="0">
                <a:solidFill>
                  <a:schemeClr val="accent1"/>
                </a:solidFill>
              </a:rPr>
              <a:t>If there are two middle values add together and divide by two </a:t>
            </a:r>
            <a:endParaRPr lang="en-AU" dirty="0">
              <a:solidFill>
                <a:schemeClr val="accent1"/>
              </a:solidFill>
            </a:endParaRPr>
          </a:p>
        </p:txBody>
      </p:sp>
      <p:sp>
        <p:nvSpPr>
          <p:cNvPr id="18" name="TextBox 17"/>
          <p:cNvSpPr txBox="1"/>
          <p:nvPr/>
        </p:nvSpPr>
        <p:spPr>
          <a:xfrm>
            <a:off x="148610" y="4103784"/>
            <a:ext cx="251293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dirty="0" smtClean="0">
                <a:solidFill>
                  <a:srgbClr val="00B050"/>
                </a:solidFill>
              </a:rPr>
              <a:t>How do I find the mode?</a:t>
            </a:r>
            <a:endParaRPr lang="en-AU" dirty="0">
              <a:solidFill>
                <a:srgbClr val="00B050"/>
              </a:solidFill>
            </a:endParaRPr>
          </a:p>
        </p:txBody>
      </p:sp>
      <p:sp>
        <p:nvSpPr>
          <p:cNvPr id="19" name="TextBox 18"/>
          <p:cNvSpPr txBox="1"/>
          <p:nvPr/>
        </p:nvSpPr>
        <p:spPr>
          <a:xfrm>
            <a:off x="2967589" y="4103784"/>
            <a:ext cx="6170535" cy="9233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dirty="0" smtClean="0">
                <a:solidFill>
                  <a:srgbClr val="00B050"/>
                </a:solidFill>
              </a:rPr>
              <a:t>The value that appears most often. </a:t>
            </a:r>
          </a:p>
          <a:p>
            <a:r>
              <a:rPr lang="en-AU" dirty="0" smtClean="0">
                <a:solidFill>
                  <a:srgbClr val="00B050"/>
                </a:solidFill>
              </a:rPr>
              <a:t>A data set could have 1 mode or 2 modes (bimodal) or no mode</a:t>
            </a:r>
            <a:endParaRPr lang="en-AU" dirty="0">
              <a:solidFill>
                <a:srgbClr val="00B050"/>
              </a:solidFill>
            </a:endParaRPr>
          </a:p>
          <a:p>
            <a:r>
              <a:rPr lang="en-AU" dirty="0" smtClean="0">
                <a:solidFill>
                  <a:srgbClr val="00B050"/>
                </a:solidFill>
              </a:rPr>
              <a:t> </a:t>
            </a:r>
            <a:endParaRPr lang="en-AU" dirty="0">
              <a:solidFill>
                <a:srgbClr val="00B050"/>
              </a:solidFill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20" name="TextBox 19"/>
              <p:cNvSpPr txBox="1"/>
              <p:nvPr/>
            </p:nvSpPr>
            <p:spPr>
              <a:xfrm>
                <a:off x="3058510" y="2763735"/>
                <a:ext cx="2994346" cy="145918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acc>
                        <m:accPr>
                          <m:chr m:val="̅"/>
                          <m:ctrlPr>
                            <a:rPr lang="en-AU" i="1" smtClean="0">
                              <a:latin typeface="Cambria Math"/>
                            </a:rPr>
                          </m:ctrlPr>
                        </m:accPr>
                        <m:e>
                          <m:r>
                            <a:rPr lang="en-AU" b="0" i="1" smtClean="0">
                              <a:latin typeface="Cambria Math"/>
                            </a:rPr>
                            <m:t>𝑥</m:t>
                          </m:r>
                        </m:e>
                      </m:acc>
                      <m:r>
                        <a:rPr lang="en-AU" b="0" i="1" smtClean="0">
                          <a:latin typeface="Cambria Math"/>
                        </a:rPr>
                        <m:t>=</m:t>
                      </m:r>
                      <m:f>
                        <m:fPr>
                          <m:ctrlPr>
                            <a:rPr lang="en-AU" b="0" i="1" smtClean="0">
                              <a:latin typeface="Cambria Math"/>
                            </a:rPr>
                          </m:ctrlPr>
                        </m:fPr>
                        <m:num>
                          <m:nary>
                            <m:naryPr>
                              <m:chr m:val="∑"/>
                              <m:subHide m:val="on"/>
                              <m:supHide m:val="on"/>
                              <m:ctrlPr>
                                <a:rPr lang="en-AU" b="0" i="1" smtClean="0">
                                  <a:latin typeface="Cambria Math"/>
                                </a:rPr>
                              </m:ctrlPr>
                            </m:naryPr>
                            <m:sub/>
                            <m:sup/>
                            <m:e>
                              <m:r>
                                <a:rPr lang="en-AU" b="0" i="1" smtClean="0">
                                  <a:latin typeface="Cambria Math"/>
                                </a:rPr>
                                <m:t>𝑥</m:t>
                              </m:r>
                            </m:e>
                          </m:nary>
                        </m:num>
                        <m:den>
                          <m:r>
                            <a:rPr lang="en-AU" b="0" i="1" smtClean="0">
                              <a:latin typeface="Cambria Math"/>
                            </a:rPr>
                            <m:t>𝑛</m:t>
                          </m:r>
                        </m:den>
                      </m:f>
                      <m:r>
                        <a:rPr lang="en-AU" b="0" i="0" smtClean="0">
                          <a:latin typeface="Cambria Math"/>
                        </a:rPr>
                        <m:t>=</m:t>
                      </m:r>
                      <m:f>
                        <m:fPr>
                          <m:ctrlPr>
                            <a:rPr lang="en-AU" b="0" i="1" smtClean="0">
                              <a:latin typeface="Cambria Math"/>
                            </a:rPr>
                          </m:ctrlPr>
                        </m:fPr>
                        <m:num>
                          <m:r>
                            <m:rPr>
                              <m:nor/>
                            </m:rPr>
                            <a:rPr lang="en-AU" dirty="0"/>
                            <m:t>Sum</m:t>
                          </m:r>
                          <m:r>
                            <m:rPr>
                              <m:nor/>
                            </m:rPr>
                            <a:rPr lang="en-AU" dirty="0"/>
                            <m:t> </m:t>
                          </m:r>
                          <m:r>
                            <m:rPr>
                              <m:nor/>
                            </m:rPr>
                            <a:rPr lang="en-AU" b="0" i="0" dirty="0" smtClean="0"/>
                            <m:t>of</m:t>
                          </m:r>
                          <m:r>
                            <m:rPr>
                              <m:nor/>
                            </m:rPr>
                            <a:rPr lang="en-AU" dirty="0"/>
                            <m:t> </m:t>
                          </m:r>
                          <m:r>
                            <m:rPr>
                              <m:nor/>
                            </m:rPr>
                            <a:rPr lang="en-AU" dirty="0"/>
                            <m:t>the</m:t>
                          </m:r>
                          <m:r>
                            <m:rPr>
                              <m:nor/>
                            </m:rPr>
                            <a:rPr lang="en-AU" dirty="0"/>
                            <m:t> </m:t>
                          </m:r>
                          <m:r>
                            <m:rPr>
                              <m:nor/>
                            </m:rPr>
                            <a:rPr lang="en-AU" dirty="0"/>
                            <m:t>values</m:t>
                          </m:r>
                        </m:num>
                        <m:den>
                          <m:r>
                            <m:rPr>
                              <m:nor/>
                            </m:rPr>
                            <a:rPr lang="en-AU" dirty="0"/>
                            <m:t>number</m:t>
                          </m:r>
                          <m:r>
                            <m:rPr>
                              <m:nor/>
                            </m:rPr>
                            <a:rPr lang="en-AU" dirty="0"/>
                            <m:t> </m:t>
                          </m:r>
                          <m:r>
                            <m:rPr>
                              <m:nor/>
                            </m:rPr>
                            <a:rPr lang="en-AU" dirty="0"/>
                            <m:t>of</m:t>
                          </m:r>
                          <m:r>
                            <m:rPr>
                              <m:nor/>
                            </m:rPr>
                            <a:rPr lang="en-AU" dirty="0"/>
                            <m:t> </m:t>
                          </m:r>
                          <m:r>
                            <m:rPr>
                              <m:nor/>
                            </m:rPr>
                            <a:rPr lang="en-AU" dirty="0"/>
                            <m:t>values</m:t>
                          </m:r>
                          <m:r>
                            <m:rPr>
                              <m:nor/>
                            </m:rPr>
                            <a:rPr lang="en-AU" dirty="0"/>
                            <m:t> </m:t>
                          </m:r>
                        </m:den>
                      </m:f>
                    </m:oMath>
                  </m:oMathPara>
                </a14:m>
                <a:endParaRPr lang="en-AU" b="0" dirty="0" smtClean="0"/>
              </a:p>
              <a:p>
                <a:pPr/>
                <a:endParaRPr lang="en-AU" dirty="0" smtClean="0"/>
              </a:p>
              <a:p>
                <a:pPr/>
                <a:endParaRPr lang="en-AU" dirty="0"/>
              </a:p>
              <a:p>
                <a:endParaRPr lang="en-AU" dirty="0"/>
              </a:p>
            </p:txBody>
          </p:sp>
        </mc:Choice>
        <mc:Fallback>
          <p:sp>
            <p:nvSpPr>
              <p:cNvPr id="20" name="TextBox 19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058510" y="2763735"/>
                <a:ext cx="2994346" cy="1459182"/>
              </a:xfrm>
              <a:prstGeom prst="rect">
                <a:avLst/>
              </a:prstGeom>
              <a:blipFill rotWithShape="1"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1" name="TextBox 20"/>
          <p:cNvSpPr txBox="1"/>
          <p:nvPr/>
        </p:nvSpPr>
        <p:spPr>
          <a:xfrm>
            <a:off x="665095" y="348705"/>
            <a:ext cx="6824817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sz="2800" dirty="0" smtClean="0"/>
              <a:t>Measures of </a:t>
            </a:r>
            <a:r>
              <a:rPr lang="en-AU" sz="2800" dirty="0" smtClean="0"/>
              <a:t>Centre and Spread for a Data Set</a:t>
            </a:r>
            <a:endParaRPr lang="en-AU" sz="2800" dirty="0"/>
          </a:p>
        </p:txBody>
      </p:sp>
    </p:spTree>
    <p:extLst>
      <p:ext uri="{BB962C8B-B14F-4D97-AF65-F5344CB8AC3E}">
        <p14:creationId xmlns:p14="http://schemas.microsoft.com/office/powerpoint/2010/main" val="180927058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8748464" y="6488668"/>
            <a:ext cx="54977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 smtClean="0"/>
              <a:t> </a:t>
            </a:r>
            <a:r>
              <a:rPr lang="en-AU" dirty="0"/>
              <a:t>5</a:t>
            </a:r>
          </a:p>
        </p:txBody>
      </p:sp>
      <p:cxnSp>
        <p:nvCxnSpPr>
          <p:cNvPr id="4" name="Straight Connector 3"/>
          <p:cNvCxnSpPr/>
          <p:nvPr/>
        </p:nvCxnSpPr>
        <p:spPr>
          <a:xfrm>
            <a:off x="0" y="980728"/>
            <a:ext cx="9144000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6" name="Straight Connector 5"/>
          <p:cNvCxnSpPr/>
          <p:nvPr/>
        </p:nvCxnSpPr>
        <p:spPr>
          <a:xfrm>
            <a:off x="0" y="1916832"/>
            <a:ext cx="9144000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93471" y="149731"/>
            <a:ext cx="576064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1600" dirty="0" smtClean="0"/>
              <a:t>24</a:t>
            </a:r>
          </a:p>
          <a:p>
            <a:r>
              <a:rPr lang="en-AU" sz="1600" dirty="0" smtClean="0"/>
              <a:t>7</a:t>
            </a:r>
          </a:p>
          <a:p>
            <a:r>
              <a:rPr lang="en-AU" sz="1600" dirty="0" smtClean="0"/>
              <a:t>30</a:t>
            </a:r>
            <a:endParaRPr lang="en-AU" sz="1600" dirty="0"/>
          </a:p>
        </p:txBody>
      </p:sp>
      <p:cxnSp>
        <p:nvCxnSpPr>
          <p:cNvPr id="9" name="Straight Connector 8"/>
          <p:cNvCxnSpPr/>
          <p:nvPr/>
        </p:nvCxnSpPr>
        <p:spPr>
          <a:xfrm>
            <a:off x="2915816" y="1916832"/>
            <a:ext cx="0" cy="5112568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11" name="TextBox 10"/>
          <p:cNvSpPr txBox="1"/>
          <p:nvPr/>
        </p:nvSpPr>
        <p:spPr>
          <a:xfrm>
            <a:off x="7439175" y="106354"/>
            <a:ext cx="158417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dirty="0" smtClean="0"/>
              <a:t>Date</a:t>
            </a:r>
            <a:endParaRPr lang="en-AU" sz="2400" dirty="0"/>
          </a:p>
        </p:txBody>
      </p:sp>
      <p:sp>
        <p:nvSpPr>
          <p:cNvPr id="12" name="TextBox 11"/>
          <p:cNvSpPr txBox="1"/>
          <p:nvPr/>
        </p:nvSpPr>
        <p:spPr>
          <a:xfrm>
            <a:off x="119514" y="1063436"/>
            <a:ext cx="8620422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dirty="0" smtClean="0"/>
              <a:t>EQ – Describe the differences between the different types of averages. </a:t>
            </a:r>
            <a:endParaRPr lang="en-AU" sz="2400" dirty="0"/>
          </a:p>
        </p:txBody>
      </p:sp>
      <p:sp>
        <p:nvSpPr>
          <p:cNvPr id="15" name="TextBox 14"/>
          <p:cNvSpPr txBox="1"/>
          <p:nvPr/>
        </p:nvSpPr>
        <p:spPr>
          <a:xfrm>
            <a:off x="94711" y="2033397"/>
            <a:ext cx="250171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dirty="0" smtClean="0"/>
              <a:t>How do I find the mean?</a:t>
            </a:r>
            <a:endParaRPr lang="en-AU" dirty="0"/>
          </a:p>
        </p:txBody>
      </p:sp>
      <p:sp>
        <p:nvSpPr>
          <p:cNvPr id="16" name="TextBox 15"/>
          <p:cNvSpPr txBox="1"/>
          <p:nvPr/>
        </p:nvSpPr>
        <p:spPr>
          <a:xfrm>
            <a:off x="114175" y="2417113"/>
            <a:ext cx="267643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dirty="0" smtClean="0">
                <a:solidFill>
                  <a:schemeClr val="accent1"/>
                </a:solidFill>
              </a:rPr>
              <a:t>How do I find the median?</a:t>
            </a:r>
            <a:endParaRPr lang="en-AU" dirty="0">
              <a:solidFill>
                <a:schemeClr val="accent1"/>
              </a:solidFill>
            </a:endParaRPr>
          </a:p>
        </p:txBody>
      </p:sp>
      <p:sp>
        <p:nvSpPr>
          <p:cNvPr id="17" name="TextBox 16"/>
          <p:cNvSpPr txBox="1"/>
          <p:nvPr/>
        </p:nvSpPr>
        <p:spPr>
          <a:xfrm>
            <a:off x="2952648" y="2463279"/>
            <a:ext cx="6036268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dirty="0" smtClean="0">
                <a:solidFill>
                  <a:schemeClr val="accent1"/>
                </a:solidFill>
              </a:rPr>
              <a:t>Put the values I order. Find the middle value. </a:t>
            </a:r>
          </a:p>
          <a:p>
            <a:r>
              <a:rPr lang="en-AU" dirty="0" smtClean="0">
                <a:solidFill>
                  <a:schemeClr val="accent1"/>
                </a:solidFill>
              </a:rPr>
              <a:t>If there are two middle values add together and divide by two </a:t>
            </a:r>
            <a:endParaRPr lang="en-AU" dirty="0">
              <a:solidFill>
                <a:schemeClr val="accent1"/>
              </a:solidFill>
            </a:endParaRPr>
          </a:p>
        </p:txBody>
      </p:sp>
      <p:sp>
        <p:nvSpPr>
          <p:cNvPr id="18" name="TextBox 17"/>
          <p:cNvSpPr txBox="1"/>
          <p:nvPr/>
        </p:nvSpPr>
        <p:spPr>
          <a:xfrm>
            <a:off x="114175" y="3212237"/>
            <a:ext cx="251293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dirty="0" smtClean="0">
                <a:solidFill>
                  <a:srgbClr val="00B050"/>
                </a:solidFill>
              </a:rPr>
              <a:t>How do I find the mode?</a:t>
            </a:r>
            <a:endParaRPr lang="en-AU" dirty="0">
              <a:solidFill>
                <a:srgbClr val="00B050"/>
              </a:solidFill>
            </a:endParaRPr>
          </a:p>
        </p:txBody>
      </p:sp>
      <p:sp>
        <p:nvSpPr>
          <p:cNvPr id="19" name="TextBox 18"/>
          <p:cNvSpPr txBox="1"/>
          <p:nvPr/>
        </p:nvSpPr>
        <p:spPr>
          <a:xfrm>
            <a:off x="2933154" y="3212237"/>
            <a:ext cx="6170535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dirty="0" smtClean="0">
                <a:solidFill>
                  <a:srgbClr val="00B050"/>
                </a:solidFill>
              </a:rPr>
              <a:t>The value that appears most often. </a:t>
            </a:r>
          </a:p>
          <a:p>
            <a:r>
              <a:rPr lang="en-AU" dirty="0" smtClean="0">
                <a:solidFill>
                  <a:srgbClr val="00B050"/>
                </a:solidFill>
              </a:rPr>
              <a:t>A data set could have 1 mode or 2 modes (bimodal) or no mode</a:t>
            </a:r>
            <a:endParaRPr lang="en-AU" dirty="0">
              <a:solidFill>
                <a:srgbClr val="00B050"/>
              </a:solidFill>
            </a:endParaRPr>
          </a:p>
        </p:txBody>
      </p:sp>
      <p:sp>
        <p:nvSpPr>
          <p:cNvPr id="20" name="TextBox 19"/>
          <p:cNvSpPr txBox="1"/>
          <p:nvPr/>
        </p:nvSpPr>
        <p:spPr>
          <a:xfrm>
            <a:off x="180939" y="3950901"/>
            <a:ext cx="97719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dirty="0" smtClean="0"/>
              <a:t>Example</a:t>
            </a:r>
            <a:endParaRPr lang="en-AU" dirty="0"/>
          </a:p>
        </p:txBody>
      </p:sp>
      <p:sp>
        <p:nvSpPr>
          <p:cNvPr id="21" name="TextBox 20"/>
          <p:cNvSpPr txBox="1"/>
          <p:nvPr/>
        </p:nvSpPr>
        <p:spPr>
          <a:xfrm>
            <a:off x="2996638" y="3933568"/>
            <a:ext cx="601081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dirty="0" smtClean="0"/>
              <a:t>Find the mean, median and mode for the following set of data</a:t>
            </a:r>
            <a:endParaRPr lang="en-AU" dirty="0"/>
          </a:p>
        </p:txBody>
      </p:sp>
      <p:graphicFrame>
        <p:nvGraphicFramePr>
          <p:cNvPr id="22" name="Table 2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572220362"/>
              </p:ext>
            </p:extLst>
          </p:nvPr>
        </p:nvGraphicFramePr>
        <p:xfrm>
          <a:off x="2941141" y="4365104"/>
          <a:ext cx="6096000" cy="3657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16000"/>
                <a:gridCol w="1016000"/>
                <a:gridCol w="1016000"/>
                <a:gridCol w="1016000"/>
                <a:gridCol w="1016000"/>
                <a:gridCol w="1016000"/>
              </a:tblGrid>
              <a:tr h="333237">
                <a:tc>
                  <a:txBody>
                    <a:bodyPr/>
                    <a:lstStyle/>
                    <a:p>
                      <a:pPr algn="ctr"/>
                      <a:r>
                        <a:rPr lang="en-AU" dirty="0" smtClean="0">
                          <a:solidFill>
                            <a:schemeClr val="tx1"/>
                          </a:solidFill>
                        </a:rPr>
                        <a:t>2</a:t>
                      </a:r>
                      <a:endParaRPr lang="en-AU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AU" dirty="0" smtClean="0">
                          <a:solidFill>
                            <a:schemeClr val="tx1"/>
                          </a:solidFill>
                        </a:rPr>
                        <a:t>3</a:t>
                      </a:r>
                      <a:endParaRPr lang="en-AU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AU" dirty="0" smtClean="0">
                          <a:solidFill>
                            <a:schemeClr val="tx1"/>
                          </a:solidFill>
                        </a:rPr>
                        <a:t>3</a:t>
                      </a:r>
                      <a:endParaRPr lang="en-AU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AU" dirty="0" smtClean="0">
                          <a:solidFill>
                            <a:schemeClr val="tx1"/>
                          </a:solidFill>
                        </a:rPr>
                        <a:t>4</a:t>
                      </a:r>
                      <a:endParaRPr lang="en-AU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AU" dirty="0" smtClean="0">
                          <a:solidFill>
                            <a:schemeClr val="tx1"/>
                          </a:solidFill>
                        </a:rPr>
                        <a:t>5</a:t>
                      </a:r>
                      <a:endParaRPr lang="en-AU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AU" dirty="0" smtClean="0">
                          <a:solidFill>
                            <a:schemeClr val="tx1"/>
                          </a:solidFill>
                        </a:rPr>
                        <a:t>7</a:t>
                      </a:r>
                      <a:endParaRPr lang="en-AU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</a:tbl>
          </a:graphicData>
        </a:graphic>
      </p:graphicFrame>
      <mc:AlternateContent xmlns:mc="http://schemas.openxmlformats.org/markup-compatibility/2006">
        <mc:Choice xmlns:a14="http://schemas.microsoft.com/office/drawing/2010/main" Requires="a14">
          <p:sp>
            <p:nvSpPr>
              <p:cNvPr id="23" name="TextBox 22"/>
              <p:cNvSpPr txBox="1"/>
              <p:nvPr/>
            </p:nvSpPr>
            <p:spPr>
              <a:xfrm>
                <a:off x="2952648" y="1903565"/>
                <a:ext cx="2994346" cy="145918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acc>
                        <m:accPr>
                          <m:chr m:val="̅"/>
                          <m:ctrlPr>
                            <a:rPr lang="en-AU" i="1" smtClean="0">
                              <a:latin typeface="Cambria Math"/>
                            </a:rPr>
                          </m:ctrlPr>
                        </m:accPr>
                        <m:e>
                          <m:r>
                            <a:rPr lang="en-AU" b="0" i="1" smtClean="0">
                              <a:latin typeface="Cambria Math"/>
                            </a:rPr>
                            <m:t>𝑥</m:t>
                          </m:r>
                        </m:e>
                      </m:acc>
                      <m:r>
                        <a:rPr lang="en-AU" b="0" i="1" smtClean="0">
                          <a:latin typeface="Cambria Math"/>
                        </a:rPr>
                        <m:t>=</m:t>
                      </m:r>
                      <m:f>
                        <m:fPr>
                          <m:ctrlPr>
                            <a:rPr lang="en-AU" b="0" i="1" smtClean="0">
                              <a:latin typeface="Cambria Math"/>
                            </a:rPr>
                          </m:ctrlPr>
                        </m:fPr>
                        <m:num>
                          <m:nary>
                            <m:naryPr>
                              <m:chr m:val="∑"/>
                              <m:subHide m:val="on"/>
                              <m:supHide m:val="on"/>
                              <m:ctrlPr>
                                <a:rPr lang="en-AU" b="0" i="1" smtClean="0">
                                  <a:latin typeface="Cambria Math"/>
                                </a:rPr>
                              </m:ctrlPr>
                            </m:naryPr>
                            <m:sub/>
                            <m:sup/>
                            <m:e>
                              <m:r>
                                <a:rPr lang="en-AU" b="0" i="1" smtClean="0">
                                  <a:latin typeface="Cambria Math"/>
                                </a:rPr>
                                <m:t>𝑥</m:t>
                              </m:r>
                            </m:e>
                          </m:nary>
                        </m:num>
                        <m:den>
                          <m:r>
                            <a:rPr lang="en-AU" b="0" i="1" smtClean="0">
                              <a:latin typeface="Cambria Math"/>
                            </a:rPr>
                            <m:t>𝑛</m:t>
                          </m:r>
                        </m:den>
                      </m:f>
                      <m:r>
                        <a:rPr lang="en-AU" b="0" i="0" smtClean="0">
                          <a:latin typeface="Cambria Math"/>
                        </a:rPr>
                        <m:t>=</m:t>
                      </m:r>
                      <m:f>
                        <m:fPr>
                          <m:ctrlPr>
                            <a:rPr lang="en-AU" b="0" i="1" smtClean="0">
                              <a:latin typeface="Cambria Math"/>
                            </a:rPr>
                          </m:ctrlPr>
                        </m:fPr>
                        <m:num>
                          <m:r>
                            <m:rPr>
                              <m:nor/>
                            </m:rPr>
                            <a:rPr lang="en-AU" dirty="0"/>
                            <m:t>Sum</m:t>
                          </m:r>
                          <m:r>
                            <m:rPr>
                              <m:nor/>
                            </m:rPr>
                            <a:rPr lang="en-AU" dirty="0"/>
                            <m:t> </m:t>
                          </m:r>
                          <m:r>
                            <m:rPr>
                              <m:nor/>
                            </m:rPr>
                            <a:rPr lang="en-AU" b="0" i="0" dirty="0" smtClean="0"/>
                            <m:t>of</m:t>
                          </m:r>
                          <m:r>
                            <m:rPr>
                              <m:nor/>
                            </m:rPr>
                            <a:rPr lang="en-AU" dirty="0"/>
                            <m:t> </m:t>
                          </m:r>
                          <m:r>
                            <m:rPr>
                              <m:nor/>
                            </m:rPr>
                            <a:rPr lang="en-AU" dirty="0"/>
                            <m:t>the</m:t>
                          </m:r>
                          <m:r>
                            <m:rPr>
                              <m:nor/>
                            </m:rPr>
                            <a:rPr lang="en-AU" dirty="0"/>
                            <m:t> </m:t>
                          </m:r>
                          <m:r>
                            <m:rPr>
                              <m:nor/>
                            </m:rPr>
                            <a:rPr lang="en-AU" dirty="0"/>
                            <m:t>values</m:t>
                          </m:r>
                        </m:num>
                        <m:den>
                          <m:r>
                            <m:rPr>
                              <m:nor/>
                            </m:rPr>
                            <a:rPr lang="en-AU" dirty="0"/>
                            <m:t>number</m:t>
                          </m:r>
                          <m:r>
                            <m:rPr>
                              <m:nor/>
                            </m:rPr>
                            <a:rPr lang="en-AU" dirty="0"/>
                            <m:t> </m:t>
                          </m:r>
                          <m:r>
                            <m:rPr>
                              <m:nor/>
                            </m:rPr>
                            <a:rPr lang="en-AU" dirty="0"/>
                            <m:t>of</m:t>
                          </m:r>
                          <m:r>
                            <m:rPr>
                              <m:nor/>
                            </m:rPr>
                            <a:rPr lang="en-AU" dirty="0"/>
                            <m:t> </m:t>
                          </m:r>
                          <m:r>
                            <m:rPr>
                              <m:nor/>
                            </m:rPr>
                            <a:rPr lang="en-AU" dirty="0"/>
                            <m:t>values</m:t>
                          </m:r>
                          <m:r>
                            <m:rPr>
                              <m:nor/>
                            </m:rPr>
                            <a:rPr lang="en-AU" dirty="0"/>
                            <m:t> </m:t>
                          </m:r>
                        </m:den>
                      </m:f>
                    </m:oMath>
                  </m:oMathPara>
                </a14:m>
                <a:endParaRPr lang="en-AU" b="0" dirty="0" smtClean="0"/>
              </a:p>
              <a:p>
                <a:pPr/>
                <a:endParaRPr lang="en-AU" dirty="0" smtClean="0"/>
              </a:p>
              <a:p>
                <a:pPr/>
                <a:endParaRPr lang="en-AU" dirty="0"/>
              </a:p>
              <a:p>
                <a:endParaRPr lang="en-AU" dirty="0"/>
              </a:p>
            </p:txBody>
          </p:sp>
        </mc:Choice>
        <mc:Fallback>
          <p:sp>
            <p:nvSpPr>
              <p:cNvPr id="23" name="TextBox 22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952648" y="1903565"/>
                <a:ext cx="2994346" cy="1459182"/>
              </a:xfrm>
              <a:prstGeom prst="rect">
                <a:avLst/>
              </a:prstGeom>
              <a:blipFill rotWithShape="1"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4" name="TextBox 23"/>
          <p:cNvSpPr txBox="1"/>
          <p:nvPr/>
        </p:nvSpPr>
        <p:spPr>
          <a:xfrm>
            <a:off x="665095" y="348705"/>
            <a:ext cx="6824817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sz="2800" dirty="0" smtClean="0"/>
              <a:t>Measures of </a:t>
            </a:r>
            <a:r>
              <a:rPr lang="en-AU" sz="2800" dirty="0" smtClean="0"/>
              <a:t>Centre and Spread for a Data Set</a:t>
            </a:r>
            <a:endParaRPr lang="en-AU" sz="2800" dirty="0"/>
          </a:p>
        </p:txBody>
      </p:sp>
    </p:spTree>
    <p:extLst>
      <p:ext uri="{BB962C8B-B14F-4D97-AF65-F5344CB8AC3E}">
        <p14:creationId xmlns:p14="http://schemas.microsoft.com/office/powerpoint/2010/main" val="24080676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8748464" y="6488668"/>
            <a:ext cx="54977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 smtClean="0"/>
              <a:t> </a:t>
            </a:r>
            <a:r>
              <a:rPr lang="en-AU" dirty="0"/>
              <a:t>5</a:t>
            </a:r>
          </a:p>
        </p:txBody>
      </p:sp>
      <p:cxnSp>
        <p:nvCxnSpPr>
          <p:cNvPr id="4" name="Straight Connector 3"/>
          <p:cNvCxnSpPr/>
          <p:nvPr/>
        </p:nvCxnSpPr>
        <p:spPr>
          <a:xfrm>
            <a:off x="0" y="980728"/>
            <a:ext cx="9144000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6" name="Straight Connector 5"/>
          <p:cNvCxnSpPr/>
          <p:nvPr/>
        </p:nvCxnSpPr>
        <p:spPr>
          <a:xfrm>
            <a:off x="0" y="1916832"/>
            <a:ext cx="9144000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93471" y="149731"/>
            <a:ext cx="576064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1600" dirty="0" smtClean="0"/>
              <a:t>24</a:t>
            </a:r>
          </a:p>
          <a:p>
            <a:r>
              <a:rPr lang="en-AU" sz="1600" dirty="0" smtClean="0"/>
              <a:t>7</a:t>
            </a:r>
          </a:p>
          <a:p>
            <a:r>
              <a:rPr lang="en-AU" sz="1600" dirty="0" smtClean="0"/>
              <a:t>30</a:t>
            </a:r>
            <a:endParaRPr lang="en-AU" sz="1600" dirty="0"/>
          </a:p>
        </p:txBody>
      </p:sp>
      <p:cxnSp>
        <p:nvCxnSpPr>
          <p:cNvPr id="9" name="Straight Connector 8"/>
          <p:cNvCxnSpPr/>
          <p:nvPr/>
        </p:nvCxnSpPr>
        <p:spPr>
          <a:xfrm>
            <a:off x="2915816" y="1916832"/>
            <a:ext cx="0" cy="5112568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11" name="TextBox 10"/>
          <p:cNvSpPr txBox="1"/>
          <p:nvPr/>
        </p:nvSpPr>
        <p:spPr>
          <a:xfrm>
            <a:off x="7439175" y="106354"/>
            <a:ext cx="158417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dirty="0" smtClean="0"/>
              <a:t>Date</a:t>
            </a:r>
            <a:endParaRPr lang="en-AU" sz="2400" dirty="0"/>
          </a:p>
        </p:txBody>
      </p:sp>
      <p:sp>
        <p:nvSpPr>
          <p:cNvPr id="12" name="TextBox 11"/>
          <p:cNvSpPr txBox="1"/>
          <p:nvPr/>
        </p:nvSpPr>
        <p:spPr>
          <a:xfrm>
            <a:off x="119514" y="1063436"/>
            <a:ext cx="8620422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dirty="0" smtClean="0"/>
              <a:t>EQ – Describe the differences between the different types of averages. </a:t>
            </a:r>
            <a:endParaRPr lang="en-AU" sz="2400" dirty="0"/>
          </a:p>
        </p:txBody>
      </p:sp>
      <p:sp>
        <p:nvSpPr>
          <p:cNvPr id="15" name="TextBox 14"/>
          <p:cNvSpPr txBox="1"/>
          <p:nvPr/>
        </p:nvSpPr>
        <p:spPr>
          <a:xfrm>
            <a:off x="94711" y="2033397"/>
            <a:ext cx="250171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dirty="0" smtClean="0"/>
              <a:t>How do I find the mean?</a:t>
            </a:r>
            <a:endParaRPr lang="en-AU" dirty="0"/>
          </a:p>
        </p:txBody>
      </p:sp>
      <p:sp>
        <p:nvSpPr>
          <p:cNvPr id="14" name="TextBox 13"/>
          <p:cNvSpPr txBox="1"/>
          <p:nvPr/>
        </p:nvSpPr>
        <p:spPr>
          <a:xfrm>
            <a:off x="3040788" y="2062741"/>
            <a:ext cx="606877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dirty="0" smtClean="0"/>
              <a:t>Add all the values together and divide by the number of values</a:t>
            </a:r>
            <a:endParaRPr lang="en-AU" dirty="0"/>
          </a:p>
        </p:txBody>
      </p:sp>
      <p:sp>
        <p:nvSpPr>
          <p:cNvPr id="16" name="TextBox 15"/>
          <p:cNvSpPr txBox="1"/>
          <p:nvPr/>
        </p:nvSpPr>
        <p:spPr>
          <a:xfrm>
            <a:off x="114175" y="2417113"/>
            <a:ext cx="267643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dirty="0" smtClean="0">
                <a:solidFill>
                  <a:schemeClr val="accent1"/>
                </a:solidFill>
              </a:rPr>
              <a:t>How do I find the median?</a:t>
            </a:r>
            <a:endParaRPr lang="en-AU" dirty="0">
              <a:solidFill>
                <a:schemeClr val="accent1"/>
              </a:solidFill>
            </a:endParaRPr>
          </a:p>
        </p:txBody>
      </p:sp>
      <p:sp>
        <p:nvSpPr>
          <p:cNvPr id="17" name="TextBox 16"/>
          <p:cNvSpPr txBox="1"/>
          <p:nvPr/>
        </p:nvSpPr>
        <p:spPr>
          <a:xfrm>
            <a:off x="2952648" y="2463279"/>
            <a:ext cx="6036268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dirty="0" smtClean="0">
                <a:solidFill>
                  <a:schemeClr val="accent1"/>
                </a:solidFill>
              </a:rPr>
              <a:t>Put the values I order. Find the middle value. </a:t>
            </a:r>
          </a:p>
          <a:p>
            <a:r>
              <a:rPr lang="en-AU" dirty="0" smtClean="0">
                <a:solidFill>
                  <a:schemeClr val="accent1"/>
                </a:solidFill>
              </a:rPr>
              <a:t>If there are two middle values add together and divide by two </a:t>
            </a:r>
            <a:endParaRPr lang="en-AU" dirty="0">
              <a:solidFill>
                <a:schemeClr val="accent1"/>
              </a:solidFill>
            </a:endParaRPr>
          </a:p>
        </p:txBody>
      </p:sp>
      <p:sp>
        <p:nvSpPr>
          <p:cNvPr id="18" name="TextBox 17"/>
          <p:cNvSpPr txBox="1"/>
          <p:nvPr/>
        </p:nvSpPr>
        <p:spPr>
          <a:xfrm>
            <a:off x="114175" y="3212237"/>
            <a:ext cx="251293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dirty="0" smtClean="0">
                <a:solidFill>
                  <a:srgbClr val="00B050"/>
                </a:solidFill>
              </a:rPr>
              <a:t>How do I find the mode?</a:t>
            </a:r>
            <a:endParaRPr lang="en-AU" dirty="0">
              <a:solidFill>
                <a:srgbClr val="00B050"/>
              </a:solidFill>
            </a:endParaRPr>
          </a:p>
        </p:txBody>
      </p:sp>
      <p:sp>
        <p:nvSpPr>
          <p:cNvPr id="19" name="TextBox 18"/>
          <p:cNvSpPr txBox="1"/>
          <p:nvPr/>
        </p:nvSpPr>
        <p:spPr>
          <a:xfrm>
            <a:off x="2933154" y="3212237"/>
            <a:ext cx="6170535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dirty="0" smtClean="0">
                <a:solidFill>
                  <a:srgbClr val="00B050"/>
                </a:solidFill>
              </a:rPr>
              <a:t>The value that appears most often. </a:t>
            </a:r>
          </a:p>
          <a:p>
            <a:r>
              <a:rPr lang="en-AU" dirty="0" smtClean="0">
                <a:solidFill>
                  <a:srgbClr val="00B050"/>
                </a:solidFill>
              </a:rPr>
              <a:t>A data set could have 1 mode or 2 modes (bimodal) or no mode</a:t>
            </a:r>
            <a:endParaRPr lang="en-AU" dirty="0">
              <a:solidFill>
                <a:srgbClr val="00B050"/>
              </a:solidFill>
            </a:endParaRPr>
          </a:p>
        </p:txBody>
      </p:sp>
      <p:sp>
        <p:nvSpPr>
          <p:cNvPr id="20" name="TextBox 19"/>
          <p:cNvSpPr txBox="1"/>
          <p:nvPr/>
        </p:nvSpPr>
        <p:spPr>
          <a:xfrm>
            <a:off x="180939" y="3950901"/>
            <a:ext cx="97719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dirty="0" smtClean="0"/>
              <a:t>Example</a:t>
            </a:r>
            <a:endParaRPr lang="en-AU" dirty="0"/>
          </a:p>
        </p:txBody>
      </p:sp>
      <p:sp>
        <p:nvSpPr>
          <p:cNvPr id="21" name="TextBox 20"/>
          <p:cNvSpPr txBox="1"/>
          <p:nvPr/>
        </p:nvSpPr>
        <p:spPr>
          <a:xfrm>
            <a:off x="2996638" y="3933568"/>
            <a:ext cx="601081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dirty="0" smtClean="0"/>
              <a:t>Find the mean, median and mode for the following set of data</a:t>
            </a:r>
            <a:endParaRPr lang="en-AU" dirty="0"/>
          </a:p>
        </p:txBody>
      </p:sp>
      <p:graphicFrame>
        <p:nvGraphicFramePr>
          <p:cNvPr id="22" name="Table 2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074052520"/>
              </p:ext>
            </p:extLst>
          </p:nvPr>
        </p:nvGraphicFramePr>
        <p:xfrm>
          <a:off x="2941141" y="4365104"/>
          <a:ext cx="6096000" cy="3657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16000"/>
                <a:gridCol w="1016000"/>
                <a:gridCol w="1016000"/>
                <a:gridCol w="1016000"/>
                <a:gridCol w="1016000"/>
                <a:gridCol w="1016000"/>
              </a:tblGrid>
              <a:tr h="333237">
                <a:tc>
                  <a:txBody>
                    <a:bodyPr/>
                    <a:lstStyle/>
                    <a:p>
                      <a:pPr algn="ctr"/>
                      <a:r>
                        <a:rPr lang="en-AU" dirty="0" smtClean="0">
                          <a:solidFill>
                            <a:schemeClr val="tx1"/>
                          </a:solidFill>
                        </a:rPr>
                        <a:t>2</a:t>
                      </a:r>
                      <a:endParaRPr lang="en-AU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AU" dirty="0" smtClean="0">
                          <a:solidFill>
                            <a:schemeClr val="tx1"/>
                          </a:solidFill>
                        </a:rPr>
                        <a:t>3</a:t>
                      </a:r>
                      <a:endParaRPr lang="en-AU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AU" dirty="0" smtClean="0">
                          <a:solidFill>
                            <a:schemeClr val="tx1"/>
                          </a:solidFill>
                        </a:rPr>
                        <a:t>3</a:t>
                      </a:r>
                      <a:endParaRPr lang="en-AU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AU" dirty="0" smtClean="0">
                          <a:solidFill>
                            <a:schemeClr val="tx1"/>
                          </a:solidFill>
                        </a:rPr>
                        <a:t>4</a:t>
                      </a:r>
                      <a:endParaRPr lang="en-AU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AU" dirty="0" smtClean="0">
                          <a:solidFill>
                            <a:schemeClr val="tx1"/>
                          </a:solidFill>
                        </a:rPr>
                        <a:t>5</a:t>
                      </a:r>
                      <a:endParaRPr lang="en-AU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AU" dirty="0" smtClean="0">
                          <a:solidFill>
                            <a:schemeClr val="tx1"/>
                          </a:solidFill>
                        </a:rPr>
                        <a:t>7</a:t>
                      </a:r>
                      <a:endParaRPr lang="en-AU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</a:tbl>
          </a:graphicData>
        </a:graphic>
      </p:graphicFrame>
      <mc:AlternateContent xmlns:mc="http://schemas.openxmlformats.org/markup-compatibility/2006">
        <mc:Choice xmlns:a14="http://schemas.microsoft.com/office/drawing/2010/main" Requires="a14">
          <p:sp>
            <p:nvSpPr>
              <p:cNvPr id="3" name="TextBox 2"/>
              <p:cNvSpPr txBox="1"/>
              <p:nvPr/>
            </p:nvSpPr>
            <p:spPr>
              <a:xfrm>
                <a:off x="3008280" y="4850586"/>
                <a:ext cx="2844625" cy="489686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AU" dirty="0" smtClean="0"/>
                  <a:t> </a:t>
                </a:r>
                <a14:m>
                  <m:oMath xmlns:m="http://schemas.openxmlformats.org/officeDocument/2006/math">
                    <m:acc>
                      <m:accPr>
                        <m:chr m:val="̅"/>
                        <m:ctrlPr>
                          <a:rPr lang="en-AU" i="1" smtClean="0">
                            <a:latin typeface="Cambria Math"/>
                          </a:rPr>
                        </m:ctrlPr>
                      </m:accPr>
                      <m:e>
                        <m:r>
                          <a:rPr lang="en-AU" b="0" i="1" smtClean="0">
                            <a:latin typeface="Cambria Math"/>
                          </a:rPr>
                          <m:t>𝑥</m:t>
                        </m:r>
                      </m:e>
                    </m:acc>
                    <m:r>
                      <a:rPr lang="en-AU" b="0" i="1" smtClean="0">
                        <a:latin typeface="Cambria Math"/>
                      </a:rPr>
                      <m:t>=</m:t>
                    </m:r>
                    <m:f>
                      <m:fPr>
                        <m:ctrlPr>
                          <a:rPr lang="en-AU" i="1" smtClean="0">
                            <a:latin typeface="Cambria Math"/>
                          </a:rPr>
                        </m:ctrlPr>
                      </m:fPr>
                      <m:num>
                        <m:r>
                          <a:rPr lang="en-AU" b="0" i="1" smtClean="0">
                            <a:latin typeface="Cambria Math"/>
                          </a:rPr>
                          <m:t>2+3+3+4+5+7</m:t>
                        </m:r>
                      </m:num>
                      <m:den>
                        <m:r>
                          <a:rPr lang="en-AU" b="0" i="1" smtClean="0">
                            <a:latin typeface="Cambria Math"/>
                          </a:rPr>
                          <m:t>6</m:t>
                        </m:r>
                      </m:den>
                    </m:f>
                    <m:r>
                      <a:rPr lang="en-AU" b="0" i="1" smtClean="0">
                        <a:latin typeface="Cambria Math"/>
                      </a:rPr>
                      <m:t>=</m:t>
                    </m:r>
                    <m:f>
                      <m:fPr>
                        <m:ctrlPr>
                          <a:rPr lang="en-AU" b="0" i="1" smtClean="0">
                            <a:latin typeface="Cambria Math"/>
                          </a:rPr>
                        </m:ctrlPr>
                      </m:fPr>
                      <m:num>
                        <m:r>
                          <a:rPr lang="en-AU" b="0" i="1" smtClean="0">
                            <a:latin typeface="Cambria Math"/>
                          </a:rPr>
                          <m:t>24</m:t>
                        </m:r>
                      </m:num>
                      <m:den>
                        <m:r>
                          <a:rPr lang="en-AU" b="0" i="1" smtClean="0">
                            <a:latin typeface="Cambria Math"/>
                          </a:rPr>
                          <m:t>6</m:t>
                        </m:r>
                      </m:den>
                    </m:f>
                    <m:r>
                      <a:rPr lang="en-AU" b="0" i="1" smtClean="0">
                        <a:latin typeface="Cambria Math"/>
                      </a:rPr>
                      <m:t>=4</m:t>
                    </m:r>
                  </m:oMath>
                </a14:m>
                <a:r>
                  <a:rPr lang="en-AU" dirty="0" smtClean="0"/>
                  <a:t> </a:t>
                </a:r>
                <a:endParaRPr lang="en-AU" dirty="0"/>
              </a:p>
            </p:txBody>
          </p:sp>
        </mc:Choice>
        <mc:Fallback>
          <p:sp>
            <p:nvSpPr>
              <p:cNvPr id="3" name="TextBox 2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008280" y="4850586"/>
                <a:ext cx="2844625" cy="489686"/>
              </a:xfrm>
              <a:prstGeom prst="rect">
                <a:avLst/>
              </a:prstGeom>
              <a:blipFill rotWithShape="1">
                <a:blip r:embed="rId2"/>
                <a:stretch>
                  <a:fillRect b="-1250"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3" name="TextBox 22"/>
          <p:cNvSpPr txBox="1"/>
          <p:nvPr/>
        </p:nvSpPr>
        <p:spPr>
          <a:xfrm>
            <a:off x="665095" y="348705"/>
            <a:ext cx="6824817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sz="2800" dirty="0" smtClean="0"/>
              <a:t>Measures of </a:t>
            </a:r>
            <a:r>
              <a:rPr lang="en-AU" sz="2800" dirty="0" smtClean="0"/>
              <a:t>Centre and Spread for a Data Set</a:t>
            </a:r>
            <a:endParaRPr lang="en-AU" sz="2800" dirty="0"/>
          </a:p>
        </p:txBody>
      </p:sp>
    </p:spTree>
    <p:extLst>
      <p:ext uri="{BB962C8B-B14F-4D97-AF65-F5344CB8AC3E}">
        <p14:creationId xmlns:p14="http://schemas.microsoft.com/office/powerpoint/2010/main" val="117123080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8748464" y="6488668"/>
            <a:ext cx="54977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 smtClean="0"/>
              <a:t> </a:t>
            </a:r>
            <a:r>
              <a:rPr lang="en-AU" dirty="0"/>
              <a:t>5</a:t>
            </a:r>
          </a:p>
        </p:txBody>
      </p:sp>
      <p:cxnSp>
        <p:nvCxnSpPr>
          <p:cNvPr id="4" name="Straight Connector 3"/>
          <p:cNvCxnSpPr/>
          <p:nvPr/>
        </p:nvCxnSpPr>
        <p:spPr>
          <a:xfrm>
            <a:off x="0" y="980728"/>
            <a:ext cx="9144000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6" name="Straight Connector 5"/>
          <p:cNvCxnSpPr/>
          <p:nvPr/>
        </p:nvCxnSpPr>
        <p:spPr>
          <a:xfrm>
            <a:off x="0" y="1916832"/>
            <a:ext cx="9144000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93471" y="149731"/>
            <a:ext cx="576064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1600" dirty="0" smtClean="0"/>
              <a:t>24</a:t>
            </a:r>
          </a:p>
          <a:p>
            <a:r>
              <a:rPr lang="en-AU" sz="1600" dirty="0" smtClean="0"/>
              <a:t>7</a:t>
            </a:r>
          </a:p>
          <a:p>
            <a:r>
              <a:rPr lang="en-AU" sz="1600" dirty="0" smtClean="0"/>
              <a:t>30</a:t>
            </a:r>
            <a:endParaRPr lang="en-AU" sz="1600" dirty="0"/>
          </a:p>
        </p:txBody>
      </p:sp>
      <p:cxnSp>
        <p:nvCxnSpPr>
          <p:cNvPr id="9" name="Straight Connector 8"/>
          <p:cNvCxnSpPr/>
          <p:nvPr/>
        </p:nvCxnSpPr>
        <p:spPr>
          <a:xfrm>
            <a:off x="2915816" y="1916832"/>
            <a:ext cx="0" cy="5112568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11" name="TextBox 10"/>
          <p:cNvSpPr txBox="1"/>
          <p:nvPr/>
        </p:nvSpPr>
        <p:spPr>
          <a:xfrm>
            <a:off x="7439175" y="106354"/>
            <a:ext cx="158417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dirty="0" smtClean="0"/>
              <a:t>Date</a:t>
            </a:r>
            <a:endParaRPr lang="en-AU" sz="2400" dirty="0"/>
          </a:p>
        </p:txBody>
      </p:sp>
      <p:sp>
        <p:nvSpPr>
          <p:cNvPr id="12" name="TextBox 11"/>
          <p:cNvSpPr txBox="1"/>
          <p:nvPr/>
        </p:nvSpPr>
        <p:spPr>
          <a:xfrm>
            <a:off x="119514" y="1063436"/>
            <a:ext cx="8620422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dirty="0" smtClean="0"/>
              <a:t>EQ – Describe the differences between the different types of averages. </a:t>
            </a:r>
            <a:endParaRPr lang="en-AU" sz="2400" dirty="0"/>
          </a:p>
        </p:txBody>
      </p:sp>
      <p:sp>
        <p:nvSpPr>
          <p:cNvPr id="15" name="TextBox 14"/>
          <p:cNvSpPr txBox="1"/>
          <p:nvPr/>
        </p:nvSpPr>
        <p:spPr>
          <a:xfrm>
            <a:off x="94711" y="2033397"/>
            <a:ext cx="250171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dirty="0" smtClean="0"/>
              <a:t>How do I find the mean?</a:t>
            </a:r>
            <a:endParaRPr lang="en-AU" dirty="0"/>
          </a:p>
        </p:txBody>
      </p:sp>
      <p:sp>
        <p:nvSpPr>
          <p:cNvPr id="14" name="TextBox 13"/>
          <p:cNvSpPr txBox="1"/>
          <p:nvPr/>
        </p:nvSpPr>
        <p:spPr>
          <a:xfrm>
            <a:off x="3040788" y="2062741"/>
            <a:ext cx="606877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dirty="0" smtClean="0"/>
              <a:t>Add all the values together and divide by the number of values</a:t>
            </a:r>
            <a:endParaRPr lang="en-AU" dirty="0"/>
          </a:p>
        </p:txBody>
      </p:sp>
      <p:sp>
        <p:nvSpPr>
          <p:cNvPr id="16" name="TextBox 15"/>
          <p:cNvSpPr txBox="1"/>
          <p:nvPr/>
        </p:nvSpPr>
        <p:spPr>
          <a:xfrm>
            <a:off x="114175" y="2417113"/>
            <a:ext cx="267643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dirty="0" smtClean="0">
                <a:solidFill>
                  <a:schemeClr val="accent1"/>
                </a:solidFill>
              </a:rPr>
              <a:t>How do I find the median?</a:t>
            </a:r>
            <a:endParaRPr lang="en-AU" dirty="0">
              <a:solidFill>
                <a:schemeClr val="accent1"/>
              </a:solidFill>
            </a:endParaRPr>
          </a:p>
        </p:txBody>
      </p:sp>
      <p:sp>
        <p:nvSpPr>
          <p:cNvPr id="17" name="TextBox 16"/>
          <p:cNvSpPr txBox="1"/>
          <p:nvPr/>
        </p:nvSpPr>
        <p:spPr>
          <a:xfrm>
            <a:off x="2952648" y="2463279"/>
            <a:ext cx="6036268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dirty="0" smtClean="0">
                <a:solidFill>
                  <a:schemeClr val="accent1"/>
                </a:solidFill>
              </a:rPr>
              <a:t>Put the values I order. Find the middle value. </a:t>
            </a:r>
          </a:p>
          <a:p>
            <a:r>
              <a:rPr lang="en-AU" dirty="0" smtClean="0">
                <a:solidFill>
                  <a:schemeClr val="accent1"/>
                </a:solidFill>
              </a:rPr>
              <a:t>If there are two middle values add together and divide by two </a:t>
            </a:r>
            <a:endParaRPr lang="en-AU" dirty="0">
              <a:solidFill>
                <a:schemeClr val="accent1"/>
              </a:solidFill>
            </a:endParaRPr>
          </a:p>
        </p:txBody>
      </p:sp>
      <p:sp>
        <p:nvSpPr>
          <p:cNvPr id="18" name="TextBox 17"/>
          <p:cNvSpPr txBox="1"/>
          <p:nvPr/>
        </p:nvSpPr>
        <p:spPr>
          <a:xfrm>
            <a:off x="114175" y="3212237"/>
            <a:ext cx="251293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dirty="0" smtClean="0">
                <a:solidFill>
                  <a:srgbClr val="00B050"/>
                </a:solidFill>
              </a:rPr>
              <a:t>How do I find the mode?</a:t>
            </a:r>
            <a:endParaRPr lang="en-AU" dirty="0">
              <a:solidFill>
                <a:srgbClr val="00B050"/>
              </a:solidFill>
            </a:endParaRPr>
          </a:p>
        </p:txBody>
      </p:sp>
      <p:sp>
        <p:nvSpPr>
          <p:cNvPr id="19" name="TextBox 18"/>
          <p:cNvSpPr txBox="1"/>
          <p:nvPr/>
        </p:nvSpPr>
        <p:spPr>
          <a:xfrm>
            <a:off x="2933154" y="3212237"/>
            <a:ext cx="6170535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dirty="0" smtClean="0">
                <a:solidFill>
                  <a:srgbClr val="00B050"/>
                </a:solidFill>
              </a:rPr>
              <a:t>The value that appears most often. </a:t>
            </a:r>
          </a:p>
          <a:p>
            <a:r>
              <a:rPr lang="en-AU" dirty="0" smtClean="0">
                <a:solidFill>
                  <a:srgbClr val="00B050"/>
                </a:solidFill>
              </a:rPr>
              <a:t>A data set could have 1 mode or 2 modes (bimodal) or no mode</a:t>
            </a:r>
            <a:endParaRPr lang="en-AU" dirty="0">
              <a:solidFill>
                <a:srgbClr val="00B050"/>
              </a:solidFill>
            </a:endParaRPr>
          </a:p>
        </p:txBody>
      </p:sp>
      <p:sp>
        <p:nvSpPr>
          <p:cNvPr id="20" name="TextBox 19"/>
          <p:cNvSpPr txBox="1"/>
          <p:nvPr/>
        </p:nvSpPr>
        <p:spPr>
          <a:xfrm>
            <a:off x="180939" y="3950901"/>
            <a:ext cx="97719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dirty="0" smtClean="0"/>
              <a:t>Example</a:t>
            </a:r>
            <a:endParaRPr lang="en-AU" dirty="0"/>
          </a:p>
        </p:txBody>
      </p:sp>
      <p:sp>
        <p:nvSpPr>
          <p:cNvPr id="21" name="TextBox 20"/>
          <p:cNvSpPr txBox="1"/>
          <p:nvPr/>
        </p:nvSpPr>
        <p:spPr>
          <a:xfrm>
            <a:off x="2996638" y="3933568"/>
            <a:ext cx="601081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dirty="0" smtClean="0"/>
              <a:t>Find the mean, median and mode for the following set of data</a:t>
            </a:r>
            <a:endParaRPr lang="en-AU" dirty="0"/>
          </a:p>
        </p:txBody>
      </p:sp>
      <p:graphicFrame>
        <p:nvGraphicFramePr>
          <p:cNvPr id="22" name="Table 2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677541408"/>
              </p:ext>
            </p:extLst>
          </p:nvPr>
        </p:nvGraphicFramePr>
        <p:xfrm>
          <a:off x="2941141" y="4365104"/>
          <a:ext cx="6096000" cy="3657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16000"/>
                <a:gridCol w="1016000"/>
                <a:gridCol w="1016000"/>
                <a:gridCol w="1016000"/>
                <a:gridCol w="1016000"/>
                <a:gridCol w="1016000"/>
              </a:tblGrid>
              <a:tr h="333237">
                <a:tc>
                  <a:txBody>
                    <a:bodyPr/>
                    <a:lstStyle/>
                    <a:p>
                      <a:pPr algn="ctr"/>
                      <a:r>
                        <a:rPr lang="en-AU" dirty="0" smtClean="0">
                          <a:solidFill>
                            <a:schemeClr val="tx1"/>
                          </a:solidFill>
                        </a:rPr>
                        <a:t>2</a:t>
                      </a:r>
                      <a:endParaRPr lang="en-AU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AU" dirty="0" smtClean="0">
                          <a:solidFill>
                            <a:schemeClr val="tx1"/>
                          </a:solidFill>
                        </a:rPr>
                        <a:t>3</a:t>
                      </a:r>
                      <a:endParaRPr lang="en-AU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AU" dirty="0" smtClean="0">
                          <a:solidFill>
                            <a:schemeClr val="tx1"/>
                          </a:solidFill>
                        </a:rPr>
                        <a:t>3</a:t>
                      </a:r>
                      <a:endParaRPr lang="en-AU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AU" dirty="0" smtClean="0">
                          <a:solidFill>
                            <a:schemeClr val="tx1"/>
                          </a:solidFill>
                        </a:rPr>
                        <a:t>4</a:t>
                      </a:r>
                      <a:endParaRPr lang="en-AU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AU" dirty="0" smtClean="0">
                          <a:solidFill>
                            <a:schemeClr val="tx1"/>
                          </a:solidFill>
                        </a:rPr>
                        <a:t>5</a:t>
                      </a:r>
                      <a:endParaRPr lang="en-AU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AU" dirty="0" smtClean="0">
                          <a:solidFill>
                            <a:schemeClr val="tx1"/>
                          </a:solidFill>
                        </a:rPr>
                        <a:t>7</a:t>
                      </a:r>
                      <a:endParaRPr lang="en-AU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3040788" y="5548590"/>
            <a:ext cx="112562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dirty="0" smtClean="0">
                <a:solidFill>
                  <a:srgbClr val="0070C0"/>
                </a:solidFill>
              </a:rPr>
              <a:t>Median = </a:t>
            </a:r>
            <a:endParaRPr lang="en-AU" dirty="0">
              <a:solidFill>
                <a:srgbClr val="0070C0"/>
              </a:solidFill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23" name="TextBox 22"/>
              <p:cNvSpPr txBox="1"/>
              <p:nvPr/>
            </p:nvSpPr>
            <p:spPr>
              <a:xfrm>
                <a:off x="3008280" y="4869160"/>
                <a:ext cx="2844625" cy="489686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AU" dirty="0" smtClean="0"/>
                  <a:t> </a:t>
                </a:r>
                <a14:m>
                  <m:oMath xmlns:m="http://schemas.openxmlformats.org/officeDocument/2006/math">
                    <m:acc>
                      <m:accPr>
                        <m:chr m:val="̅"/>
                        <m:ctrlPr>
                          <a:rPr lang="en-AU" i="1" smtClean="0">
                            <a:latin typeface="Cambria Math"/>
                          </a:rPr>
                        </m:ctrlPr>
                      </m:accPr>
                      <m:e>
                        <m:r>
                          <a:rPr lang="en-AU" b="0" i="1" smtClean="0">
                            <a:latin typeface="Cambria Math"/>
                          </a:rPr>
                          <m:t>𝑥</m:t>
                        </m:r>
                      </m:e>
                    </m:acc>
                    <m:r>
                      <a:rPr lang="en-AU" b="0" i="1" smtClean="0">
                        <a:latin typeface="Cambria Math"/>
                      </a:rPr>
                      <m:t>=</m:t>
                    </m:r>
                    <m:f>
                      <m:fPr>
                        <m:ctrlPr>
                          <a:rPr lang="en-AU" i="1" smtClean="0">
                            <a:latin typeface="Cambria Math"/>
                          </a:rPr>
                        </m:ctrlPr>
                      </m:fPr>
                      <m:num>
                        <m:r>
                          <a:rPr lang="en-AU" b="0" i="1" smtClean="0">
                            <a:latin typeface="Cambria Math"/>
                          </a:rPr>
                          <m:t>2+3+3+4+5+7</m:t>
                        </m:r>
                      </m:num>
                      <m:den>
                        <m:r>
                          <a:rPr lang="en-AU" b="0" i="1" smtClean="0">
                            <a:latin typeface="Cambria Math"/>
                          </a:rPr>
                          <m:t>6</m:t>
                        </m:r>
                      </m:den>
                    </m:f>
                    <m:r>
                      <a:rPr lang="en-AU" b="0" i="1" smtClean="0">
                        <a:latin typeface="Cambria Math"/>
                      </a:rPr>
                      <m:t>=</m:t>
                    </m:r>
                    <m:f>
                      <m:fPr>
                        <m:ctrlPr>
                          <a:rPr lang="en-AU" b="0" i="1" smtClean="0">
                            <a:latin typeface="Cambria Math"/>
                          </a:rPr>
                        </m:ctrlPr>
                      </m:fPr>
                      <m:num>
                        <m:r>
                          <a:rPr lang="en-AU" b="0" i="1" smtClean="0">
                            <a:latin typeface="Cambria Math"/>
                          </a:rPr>
                          <m:t>24</m:t>
                        </m:r>
                      </m:num>
                      <m:den>
                        <m:r>
                          <a:rPr lang="en-AU" b="0" i="1" smtClean="0">
                            <a:latin typeface="Cambria Math"/>
                          </a:rPr>
                          <m:t>6</m:t>
                        </m:r>
                      </m:den>
                    </m:f>
                    <m:r>
                      <a:rPr lang="en-AU" b="0" i="1" smtClean="0">
                        <a:latin typeface="Cambria Math"/>
                      </a:rPr>
                      <m:t>=4</m:t>
                    </m:r>
                  </m:oMath>
                </a14:m>
                <a:r>
                  <a:rPr lang="en-AU" dirty="0" smtClean="0"/>
                  <a:t> </a:t>
                </a:r>
                <a:endParaRPr lang="en-AU" dirty="0"/>
              </a:p>
            </p:txBody>
          </p:sp>
        </mc:Choice>
        <mc:Fallback>
          <p:sp>
            <p:nvSpPr>
              <p:cNvPr id="23" name="TextBox 22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008280" y="4869160"/>
                <a:ext cx="2844625" cy="489686"/>
              </a:xfrm>
              <a:prstGeom prst="rect">
                <a:avLst/>
              </a:prstGeom>
              <a:blipFill rotWithShape="1">
                <a:blip r:embed="rId2"/>
                <a:stretch>
                  <a:fillRect b="-1250"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4" name="TextBox 23"/>
          <p:cNvSpPr txBox="1"/>
          <p:nvPr/>
        </p:nvSpPr>
        <p:spPr>
          <a:xfrm>
            <a:off x="665095" y="348705"/>
            <a:ext cx="6824817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sz="2800" dirty="0" smtClean="0"/>
              <a:t>Measures of </a:t>
            </a:r>
            <a:r>
              <a:rPr lang="en-AU" sz="2800" dirty="0" smtClean="0"/>
              <a:t>Centre and Spread for a Data Set</a:t>
            </a:r>
            <a:endParaRPr lang="en-AU" sz="2800" dirty="0"/>
          </a:p>
        </p:txBody>
      </p:sp>
    </p:spTree>
    <p:extLst>
      <p:ext uri="{BB962C8B-B14F-4D97-AF65-F5344CB8AC3E}">
        <p14:creationId xmlns:p14="http://schemas.microsoft.com/office/powerpoint/2010/main" val="111520519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8748464" y="6488668"/>
            <a:ext cx="54977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 smtClean="0"/>
              <a:t> </a:t>
            </a:r>
            <a:r>
              <a:rPr lang="en-AU" dirty="0"/>
              <a:t>5</a:t>
            </a:r>
          </a:p>
        </p:txBody>
      </p:sp>
      <p:cxnSp>
        <p:nvCxnSpPr>
          <p:cNvPr id="4" name="Straight Connector 3"/>
          <p:cNvCxnSpPr/>
          <p:nvPr/>
        </p:nvCxnSpPr>
        <p:spPr>
          <a:xfrm>
            <a:off x="0" y="980728"/>
            <a:ext cx="9144000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6" name="Straight Connector 5"/>
          <p:cNvCxnSpPr/>
          <p:nvPr/>
        </p:nvCxnSpPr>
        <p:spPr>
          <a:xfrm>
            <a:off x="0" y="1916832"/>
            <a:ext cx="9144000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93471" y="149731"/>
            <a:ext cx="576064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1600" dirty="0" smtClean="0"/>
              <a:t>24</a:t>
            </a:r>
          </a:p>
          <a:p>
            <a:r>
              <a:rPr lang="en-AU" sz="1600" dirty="0" smtClean="0"/>
              <a:t>7</a:t>
            </a:r>
          </a:p>
          <a:p>
            <a:r>
              <a:rPr lang="en-AU" sz="1600" dirty="0" smtClean="0"/>
              <a:t>30</a:t>
            </a:r>
            <a:endParaRPr lang="en-AU" sz="1600" dirty="0"/>
          </a:p>
        </p:txBody>
      </p:sp>
      <p:cxnSp>
        <p:nvCxnSpPr>
          <p:cNvPr id="9" name="Straight Connector 8"/>
          <p:cNvCxnSpPr/>
          <p:nvPr/>
        </p:nvCxnSpPr>
        <p:spPr>
          <a:xfrm>
            <a:off x="2915816" y="1916832"/>
            <a:ext cx="0" cy="5112568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11" name="TextBox 10"/>
          <p:cNvSpPr txBox="1"/>
          <p:nvPr/>
        </p:nvSpPr>
        <p:spPr>
          <a:xfrm>
            <a:off x="7439175" y="106354"/>
            <a:ext cx="158417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dirty="0" smtClean="0"/>
              <a:t>Date</a:t>
            </a:r>
            <a:endParaRPr lang="en-AU" sz="2400" dirty="0"/>
          </a:p>
        </p:txBody>
      </p:sp>
      <p:sp>
        <p:nvSpPr>
          <p:cNvPr id="12" name="TextBox 11"/>
          <p:cNvSpPr txBox="1"/>
          <p:nvPr/>
        </p:nvSpPr>
        <p:spPr>
          <a:xfrm>
            <a:off x="119514" y="1063436"/>
            <a:ext cx="8620422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dirty="0" smtClean="0"/>
              <a:t>EQ – Describe the differences between the different types of averages. </a:t>
            </a:r>
            <a:endParaRPr lang="en-AU" sz="2400" dirty="0"/>
          </a:p>
        </p:txBody>
      </p:sp>
      <p:sp>
        <p:nvSpPr>
          <p:cNvPr id="15" name="TextBox 14"/>
          <p:cNvSpPr txBox="1"/>
          <p:nvPr/>
        </p:nvSpPr>
        <p:spPr>
          <a:xfrm>
            <a:off x="94711" y="2033397"/>
            <a:ext cx="250171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dirty="0" smtClean="0"/>
              <a:t>How do I find the mean?</a:t>
            </a:r>
            <a:endParaRPr lang="en-AU" dirty="0"/>
          </a:p>
        </p:txBody>
      </p:sp>
      <p:sp>
        <p:nvSpPr>
          <p:cNvPr id="14" name="TextBox 13"/>
          <p:cNvSpPr txBox="1"/>
          <p:nvPr/>
        </p:nvSpPr>
        <p:spPr>
          <a:xfrm>
            <a:off x="3040788" y="2062741"/>
            <a:ext cx="606877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dirty="0" smtClean="0"/>
              <a:t>Add all the values together and divide by the number of values</a:t>
            </a:r>
            <a:endParaRPr lang="en-AU" dirty="0"/>
          </a:p>
        </p:txBody>
      </p:sp>
      <p:sp>
        <p:nvSpPr>
          <p:cNvPr id="16" name="TextBox 15"/>
          <p:cNvSpPr txBox="1"/>
          <p:nvPr/>
        </p:nvSpPr>
        <p:spPr>
          <a:xfrm>
            <a:off x="114175" y="2417113"/>
            <a:ext cx="267643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dirty="0" smtClean="0">
                <a:solidFill>
                  <a:schemeClr val="accent1"/>
                </a:solidFill>
              </a:rPr>
              <a:t>How do I find the median?</a:t>
            </a:r>
            <a:endParaRPr lang="en-AU" dirty="0">
              <a:solidFill>
                <a:schemeClr val="accent1"/>
              </a:solidFill>
            </a:endParaRPr>
          </a:p>
        </p:txBody>
      </p:sp>
      <p:sp>
        <p:nvSpPr>
          <p:cNvPr id="17" name="TextBox 16"/>
          <p:cNvSpPr txBox="1"/>
          <p:nvPr/>
        </p:nvSpPr>
        <p:spPr>
          <a:xfrm>
            <a:off x="2952648" y="2463279"/>
            <a:ext cx="6036268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dirty="0" smtClean="0">
                <a:solidFill>
                  <a:schemeClr val="accent1"/>
                </a:solidFill>
              </a:rPr>
              <a:t>Put the values I order. Find the middle value. </a:t>
            </a:r>
          </a:p>
          <a:p>
            <a:r>
              <a:rPr lang="en-AU" dirty="0" smtClean="0">
                <a:solidFill>
                  <a:schemeClr val="accent1"/>
                </a:solidFill>
              </a:rPr>
              <a:t>If there are two middle values add together and divide by two </a:t>
            </a:r>
            <a:endParaRPr lang="en-AU" dirty="0">
              <a:solidFill>
                <a:schemeClr val="accent1"/>
              </a:solidFill>
            </a:endParaRPr>
          </a:p>
        </p:txBody>
      </p:sp>
      <p:sp>
        <p:nvSpPr>
          <p:cNvPr id="18" name="TextBox 17"/>
          <p:cNvSpPr txBox="1"/>
          <p:nvPr/>
        </p:nvSpPr>
        <p:spPr>
          <a:xfrm>
            <a:off x="114175" y="3212237"/>
            <a:ext cx="251293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dirty="0" smtClean="0">
                <a:solidFill>
                  <a:srgbClr val="00B050"/>
                </a:solidFill>
              </a:rPr>
              <a:t>How do I find the mode?</a:t>
            </a:r>
            <a:endParaRPr lang="en-AU" dirty="0">
              <a:solidFill>
                <a:srgbClr val="00B050"/>
              </a:solidFill>
            </a:endParaRPr>
          </a:p>
        </p:txBody>
      </p:sp>
      <p:sp>
        <p:nvSpPr>
          <p:cNvPr id="19" name="TextBox 18"/>
          <p:cNvSpPr txBox="1"/>
          <p:nvPr/>
        </p:nvSpPr>
        <p:spPr>
          <a:xfrm>
            <a:off x="2933154" y="3212237"/>
            <a:ext cx="6170535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dirty="0" smtClean="0">
                <a:solidFill>
                  <a:srgbClr val="00B050"/>
                </a:solidFill>
              </a:rPr>
              <a:t>The value that appears most often. </a:t>
            </a:r>
          </a:p>
          <a:p>
            <a:r>
              <a:rPr lang="en-AU" dirty="0" smtClean="0">
                <a:solidFill>
                  <a:srgbClr val="00B050"/>
                </a:solidFill>
              </a:rPr>
              <a:t>A data set could have 1 mode or 2 modes (bimodal) or no mode</a:t>
            </a:r>
            <a:endParaRPr lang="en-AU" dirty="0">
              <a:solidFill>
                <a:srgbClr val="00B050"/>
              </a:solidFill>
            </a:endParaRPr>
          </a:p>
        </p:txBody>
      </p:sp>
      <p:sp>
        <p:nvSpPr>
          <p:cNvPr id="20" name="TextBox 19"/>
          <p:cNvSpPr txBox="1"/>
          <p:nvPr/>
        </p:nvSpPr>
        <p:spPr>
          <a:xfrm>
            <a:off x="180939" y="3950901"/>
            <a:ext cx="97719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dirty="0" smtClean="0"/>
              <a:t>Example</a:t>
            </a:r>
            <a:endParaRPr lang="en-AU" dirty="0"/>
          </a:p>
        </p:txBody>
      </p:sp>
      <p:sp>
        <p:nvSpPr>
          <p:cNvPr id="21" name="TextBox 20"/>
          <p:cNvSpPr txBox="1"/>
          <p:nvPr/>
        </p:nvSpPr>
        <p:spPr>
          <a:xfrm>
            <a:off x="2996638" y="3933568"/>
            <a:ext cx="601081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dirty="0" smtClean="0"/>
              <a:t>Find the mean, median and mode for the following set of data</a:t>
            </a:r>
            <a:endParaRPr lang="en-AU" dirty="0"/>
          </a:p>
        </p:txBody>
      </p:sp>
      <p:graphicFrame>
        <p:nvGraphicFramePr>
          <p:cNvPr id="22" name="Table 2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335288015"/>
              </p:ext>
            </p:extLst>
          </p:nvPr>
        </p:nvGraphicFramePr>
        <p:xfrm>
          <a:off x="2941141" y="4365104"/>
          <a:ext cx="6096000" cy="3657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16000"/>
                <a:gridCol w="1016000"/>
                <a:gridCol w="1016000"/>
                <a:gridCol w="1016000"/>
                <a:gridCol w="1016000"/>
                <a:gridCol w="1016000"/>
              </a:tblGrid>
              <a:tr h="333237">
                <a:tc>
                  <a:txBody>
                    <a:bodyPr/>
                    <a:lstStyle/>
                    <a:p>
                      <a:pPr algn="ctr"/>
                      <a:r>
                        <a:rPr lang="en-AU" dirty="0" smtClean="0">
                          <a:solidFill>
                            <a:schemeClr val="tx1"/>
                          </a:solidFill>
                        </a:rPr>
                        <a:t>2</a:t>
                      </a:r>
                      <a:endParaRPr lang="en-AU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AU" dirty="0" smtClean="0">
                          <a:solidFill>
                            <a:schemeClr val="tx1"/>
                          </a:solidFill>
                        </a:rPr>
                        <a:t>3</a:t>
                      </a:r>
                      <a:endParaRPr lang="en-AU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AU" dirty="0" smtClean="0">
                          <a:solidFill>
                            <a:schemeClr val="tx1"/>
                          </a:solidFill>
                        </a:rPr>
                        <a:t>3</a:t>
                      </a:r>
                      <a:endParaRPr lang="en-AU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AU" dirty="0" smtClean="0">
                          <a:solidFill>
                            <a:schemeClr val="tx1"/>
                          </a:solidFill>
                        </a:rPr>
                        <a:t>4</a:t>
                      </a:r>
                      <a:endParaRPr lang="en-AU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AU" dirty="0" smtClean="0">
                          <a:solidFill>
                            <a:schemeClr val="tx1"/>
                          </a:solidFill>
                        </a:rPr>
                        <a:t>5</a:t>
                      </a:r>
                      <a:endParaRPr lang="en-AU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AU" dirty="0" smtClean="0">
                          <a:solidFill>
                            <a:schemeClr val="tx1"/>
                          </a:solidFill>
                        </a:rPr>
                        <a:t>7</a:t>
                      </a:r>
                      <a:endParaRPr lang="en-AU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3040788" y="5548590"/>
            <a:ext cx="117852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dirty="0" smtClean="0">
                <a:solidFill>
                  <a:srgbClr val="0070C0"/>
                </a:solidFill>
              </a:rPr>
              <a:t>Median =  </a:t>
            </a:r>
            <a:endParaRPr lang="en-AU" dirty="0">
              <a:solidFill>
                <a:srgbClr val="0070C0"/>
              </a:solidFill>
            </a:endParaRPr>
          </a:p>
        </p:txBody>
      </p:sp>
      <p:sp>
        <p:nvSpPr>
          <p:cNvPr id="8" name="Oval 7"/>
          <p:cNvSpPr/>
          <p:nvPr/>
        </p:nvSpPr>
        <p:spPr>
          <a:xfrm>
            <a:off x="5220072" y="4322466"/>
            <a:ext cx="504056" cy="530353"/>
          </a:xfrm>
          <a:prstGeom prst="ellipse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  <p:sp>
        <p:nvSpPr>
          <p:cNvPr id="23" name="Oval 22"/>
          <p:cNvSpPr/>
          <p:nvPr/>
        </p:nvSpPr>
        <p:spPr>
          <a:xfrm>
            <a:off x="6228184" y="4325182"/>
            <a:ext cx="504056" cy="530353"/>
          </a:xfrm>
          <a:prstGeom prst="ellipse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24" name="TextBox 23"/>
              <p:cNvSpPr txBox="1"/>
              <p:nvPr/>
            </p:nvSpPr>
            <p:spPr>
              <a:xfrm>
                <a:off x="3008280" y="4850586"/>
                <a:ext cx="2844625" cy="489686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AU" dirty="0" smtClean="0"/>
                  <a:t> </a:t>
                </a:r>
                <a14:m>
                  <m:oMath xmlns:m="http://schemas.openxmlformats.org/officeDocument/2006/math">
                    <m:acc>
                      <m:accPr>
                        <m:chr m:val="̅"/>
                        <m:ctrlPr>
                          <a:rPr lang="en-AU" i="1" smtClean="0">
                            <a:latin typeface="Cambria Math"/>
                          </a:rPr>
                        </m:ctrlPr>
                      </m:accPr>
                      <m:e>
                        <m:r>
                          <a:rPr lang="en-AU" b="0" i="1" smtClean="0">
                            <a:latin typeface="Cambria Math"/>
                          </a:rPr>
                          <m:t>𝑥</m:t>
                        </m:r>
                      </m:e>
                    </m:acc>
                    <m:r>
                      <a:rPr lang="en-AU" b="0" i="1" smtClean="0">
                        <a:latin typeface="Cambria Math"/>
                      </a:rPr>
                      <m:t>=</m:t>
                    </m:r>
                    <m:f>
                      <m:fPr>
                        <m:ctrlPr>
                          <a:rPr lang="en-AU" i="1" smtClean="0">
                            <a:latin typeface="Cambria Math"/>
                          </a:rPr>
                        </m:ctrlPr>
                      </m:fPr>
                      <m:num>
                        <m:r>
                          <a:rPr lang="en-AU" b="0" i="1" smtClean="0">
                            <a:latin typeface="Cambria Math"/>
                          </a:rPr>
                          <m:t>2+3+3+4+5+7</m:t>
                        </m:r>
                      </m:num>
                      <m:den>
                        <m:r>
                          <a:rPr lang="en-AU" b="0" i="1" smtClean="0">
                            <a:latin typeface="Cambria Math"/>
                          </a:rPr>
                          <m:t>6</m:t>
                        </m:r>
                      </m:den>
                    </m:f>
                    <m:r>
                      <a:rPr lang="en-AU" b="0" i="1" smtClean="0">
                        <a:latin typeface="Cambria Math"/>
                      </a:rPr>
                      <m:t>=</m:t>
                    </m:r>
                    <m:f>
                      <m:fPr>
                        <m:ctrlPr>
                          <a:rPr lang="en-AU" b="0" i="1" smtClean="0">
                            <a:latin typeface="Cambria Math"/>
                          </a:rPr>
                        </m:ctrlPr>
                      </m:fPr>
                      <m:num>
                        <m:r>
                          <a:rPr lang="en-AU" b="0" i="1" smtClean="0">
                            <a:latin typeface="Cambria Math"/>
                          </a:rPr>
                          <m:t>24</m:t>
                        </m:r>
                      </m:num>
                      <m:den>
                        <m:r>
                          <a:rPr lang="en-AU" b="0" i="1" smtClean="0">
                            <a:latin typeface="Cambria Math"/>
                          </a:rPr>
                          <m:t>6</m:t>
                        </m:r>
                      </m:den>
                    </m:f>
                    <m:r>
                      <a:rPr lang="en-AU" b="0" i="1" smtClean="0">
                        <a:latin typeface="Cambria Math"/>
                      </a:rPr>
                      <m:t>=4</m:t>
                    </m:r>
                  </m:oMath>
                </a14:m>
                <a:r>
                  <a:rPr lang="en-AU" dirty="0" smtClean="0"/>
                  <a:t> </a:t>
                </a:r>
                <a:endParaRPr lang="en-AU" dirty="0"/>
              </a:p>
            </p:txBody>
          </p:sp>
        </mc:Choice>
        <mc:Fallback>
          <p:sp>
            <p:nvSpPr>
              <p:cNvPr id="24" name="TextBox 23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008280" y="4850586"/>
                <a:ext cx="2844625" cy="489686"/>
              </a:xfrm>
              <a:prstGeom prst="rect">
                <a:avLst/>
              </a:prstGeom>
              <a:blipFill rotWithShape="1">
                <a:blip r:embed="rId2"/>
                <a:stretch>
                  <a:fillRect b="-1250"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5" name="TextBox 24"/>
          <p:cNvSpPr txBox="1"/>
          <p:nvPr/>
        </p:nvSpPr>
        <p:spPr>
          <a:xfrm>
            <a:off x="665095" y="348705"/>
            <a:ext cx="6824817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sz="2800" dirty="0" smtClean="0"/>
              <a:t>Measures of </a:t>
            </a:r>
            <a:r>
              <a:rPr lang="en-AU" sz="2800" dirty="0" smtClean="0"/>
              <a:t>Centre and Spread for a Data Set</a:t>
            </a:r>
            <a:endParaRPr lang="en-AU" sz="2800" dirty="0"/>
          </a:p>
        </p:txBody>
      </p:sp>
    </p:spTree>
    <p:extLst>
      <p:ext uri="{BB962C8B-B14F-4D97-AF65-F5344CB8AC3E}">
        <p14:creationId xmlns:p14="http://schemas.microsoft.com/office/powerpoint/2010/main" val="10650894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8748464" y="6488668"/>
            <a:ext cx="54977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 smtClean="0"/>
              <a:t> </a:t>
            </a:r>
            <a:r>
              <a:rPr lang="en-AU" dirty="0"/>
              <a:t>5</a:t>
            </a:r>
          </a:p>
        </p:txBody>
      </p:sp>
      <p:cxnSp>
        <p:nvCxnSpPr>
          <p:cNvPr id="4" name="Straight Connector 3"/>
          <p:cNvCxnSpPr/>
          <p:nvPr/>
        </p:nvCxnSpPr>
        <p:spPr>
          <a:xfrm>
            <a:off x="0" y="980728"/>
            <a:ext cx="9144000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6" name="Straight Connector 5"/>
          <p:cNvCxnSpPr/>
          <p:nvPr/>
        </p:nvCxnSpPr>
        <p:spPr>
          <a:xfrm>
            <a:off x="0" y="1916832"/>
            <a:ext cx="9144000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93471" y="149731"/>
            <a:ext cx="576064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1600" dirty="0" smtClean="0"/>
              <a:t>24</a:t>
            </a:r>
          </a:p>
          <a:p>
            <a:r>
              <a:rPr lang="en-AU" sz="1600" dirty="0" smtClean="0"/>
              <a:t>7</a:t>
            </a:r>
          </a:p>
          <a:p>
            <a:r>
              <a:rPr lang="en-AU" sz="1600" dirty="0" smtClean="0"/>
              <a:t>30</a:t>
            </a:r>
            <a:endParaRPr lang="en-AU" sz="1600" dirty="0"/>
          </a:p>
        </p:txBody>
      </p:sp>
      <p:cxnSp>
        <p:nvCxnSpPr>
          <p:cNvPr id="9" name="Straight Connector 8"/>
          <p:cNvCxnSpPr/>
          <p:nvPr/>
        </p:nvCxnSpPr>
        <p:spPr>
          <a:xfrm>
            <a:off x="2915816" y="1916832"/>
            <a:ext cx="0" cy="5112568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11" name="TextBox 10"/>
          <p:cNvSpPr txBox="1"/>
          <p:nvPr/>
        </p:nvSpPr>
        <p:spPr>
          <a:xfrm>
            <a:off x="7439175" y="106354"/>
            <a:ext cx="158417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dirty="0" smtClean="0"/>
              <a:t>Date</a:t>
            </a:r>
            <a:endParaRPr lang="en-AU" sz="2400" dirty="0"/>
          </a:p>
        </p:txBody>
      </p:sp>
      <p:sp>
        <p:nvSpPr>
          <p:cNvPr id="12" name="TextBox 11"/>
          <p:cNvSpPr txBox="1"/>
          <p:nvPr/>
        </p:nvSpPr>
        <p:spPr>
          <a:xfrm>
            <a:off x="119514" y="1063436"/>
            <a:ext cx="8620422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dirty="0" smtClean="0"/>
              <a:t>EQ – Describe the differences between the different types of averages. </a:t>
            </a:r>
            <a:endParaRPr lang="en-AU" sz="2400" dirty="0"/>
          </a:p>
        </p:txBody>
      </p:sp>
      <p:sp>
        <p:nvSpPr>
          <p:cNvPr id="15" name="TextBox 14"/>
          <p:cNvSpPr txBox="1"/>
          <p:nvPr/>
        </p:nvSpPr>
        <p:spPr>
          <a:xfrm>
            <a:off x="94711" y="2033397"/>
            <a:ext cx="250171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dirty="0" smtClean="0"/>
              <a:t>How do I find the mean?</a:t>
            </a:r>
            <a:endParaRPr lang="en-AU" dirty="0"/>
          </a:p>
        </p:txBody>
      </p:sp>
      <p:sp>
        <p:nvSpPr>
          <p:cNvPr id="14" name="TextBox 13"/>
          <p:cNvSpPr txBox="1"/>
          <p:nvPr/>
        </p:nvSpPr>
        <p:spPr>
          <a:xfrm>
            <a:off x="3040788" y="2062741"/>
            <a:ext cx="606877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dirty="0" smtClean="0"/>
              <a:t>Add all the values together and divide by the number of values</a:t>
            </a:r>
            <a:endParaRPr lang="en-AU" dirty="0"/>
          </a:p>
        </p:txBody>
      </p:sp>
      <p:sp>
        <p:nvSpPr>
          <p:cNvPr id="16" name="TextBox 15"/>
          <p:cNvSpPr txBox="1"/>
          <p:nvPr/>
        </p:nvSpPr>
        <p:spPr>
          <a:xfrm>
            <a:off x="114175" y="2417113"/>
            <a:ext cx="267643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dirty="0" smtClean="0">
                <a:solidFill>
                  <a:schemeClr val="accent1"/>
                </a:solidFill>
              </a:rPr>
              <a:t>How do I find the median?</a:t>
            </a:r>
            <a:endParaRPr lang="en-AU" dirty="0">
              <a:solidFill>
                <a:schemeClr val="accent1"/>
              </a:solidFill>
            </a:endParaRPr>
          </a:p>
        </p:txBody>
      </p:sp>
      <p:sp>
        <p:nvSpPr>
          <p:cNvPr id="17" name="TextBox 16"/>
          <p:cNvSpPr txBox="1"/>
          <p:nvPr/>
        </p:nvSpPr>
        <p:spPr>
          <a:xfrm>
            <a:off x="2952648" y="2463279"/>
            <a:ext cx="6036268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dirty="0" smtClean="0">
                <a:solidFill>
                  <a:schemeClr val="accent1"/>
                </a:solidFill>
              </a:rPr>
              <a:t>Put the values I order. Find the middle value. </a:t>
            </a:r>
          </a:p>
          <a:p>
            <a:r>
              <a:rPr lang="en-AU" dirty="0" smtClean="0">
                <a:solidFill>
                  <a:schemeClr val="accent1"/>
                </a:solidFill>
              </a:rPr>
              <a:t>If there are two middle values add together and divide by two </a:t>
            </a:r>
            <a:endParaRPr lang="en-AU" dirty="0">
              <a:solidFill>
                <a:schemeClr val="accent1"/>
              </a:solidFill>
            </a:endParaRPr>
          </a:p>
        </p:txBody>
      </p:sp>
      <p:sp>
        <p:nvSpPr>
          <p:cNvPr id="18" name="TextBox 17"/>
          <p:cNvSpPr txBox="1"/>
          <p:nvPr/>
        </p:nvSpPr>
        <p:spPr>
          <a:xfrm>
            <a:off x="114175" y="3212237"/>
            <a:ext cx="251293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dirty="0" smtClean="0">
                <a:solidFill>
                  <a:srgbClr val="00B050"/>
                </a:solidFill>
              </a:rPr>
              <a:t>How do I find the mode?</a:t>
            </a:r>
            <a:endParaRPr lang="en-AU" dirty="0">
              <a:solidFill>
                <a:srgbClr val="00B050"/>
              </a:solidFill>
            </a:endParaRPr>
          </a:p>
        </p:txBody>
      </p:sp>
      <p:sp>
        <p:nvSpPr>
          <p:cNvPr id="19" name="TextBox 18"/>
          <p:cNvSpPr txBox="1"/>
          <p:nvPr/>
        </p:nvSpPr>
        <p:spPr>
          <a:xfrm>
            <a:off x="2933154" y="3212237"/>
            <a:ext cx="6170535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dirty="0" smtClean="0">
                <a:solidFill>
                  <a:srgbClr val="00B050"/>
                </a:solidFill>
              </a:rPr>
              <a:t>The value that appears most often. </a:t>
            </a:r>
          </a:p>
          <a:p>
            <a:r>
              <a:rPr lang="en-AU" dirty="0" smtClean="0">
                <a:solidFill>
                  <a:srgbClr val="00B050"/>
                </a:solidFill>
              </a:rPr>
              <a:t>A data set could have 1 mode or 2 modes (bimodal) or no mode</a:t>
            </a:r>
            <a:endParaRPr lang="en-AU" dirty="0">
              <a:solidFill>
                <a:srgbClr val="00B050"/>
              </a:solidFill>
            </a:endParaRPr>
          </a:p>
        </p:txBody>
      </p:sp>
      <p:sp>
        <p:nvSpPr>
          <p:cNvPr id="20" name="TextBox 19"/>
          <p:cNvSpPr txBox="1"/>
          <p:nvPr/>
        </p:nvSpPr>
        <p:spPr>
          <a:xfrm>
            <a:off x="180939" y="3950901"/>
            <a:ext cx="97719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dirty="0" smtClean="0"/>
              <a:t>Example</a:t>
            </a:r>
            <a:endParaRPr lang="en-AU" dirty="0"/>
          </a:p>
        </p:txBody>
      </p:sp>
      <p:sp>
        <p:nvSpPr>
          <p:cNvPr id="21" name="TextBox 20"/>
          <p:cNvSpPr txBox="1"/>
          <p:nvPr/>
        </p:nvSpPr>
        <p:spPr>
          <a:xfrm>
            <a:off x="2996638" y="3933568"/>
            <a:ext cx="601081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dirty="0" smtClean="0"/>
              <a:t>Find the mean, median and mode for the following set of data</a:t>
            </a:r>
            <a:endParaRPr lang="en-AU" dirty="0"/>
          </a:p>
        </p:txBody>
      </p:sp>
      <p:graphicFrame>
        <p:nvGraphicFramePr>
          <p:cNvPr id="22" name="Table 2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894390018"/>
              </p:ext>
            </p:extLst>
          </p:nvPr>
        </p:nvGraphicFramePr>
        <p:xfrm>
          <a:off x="2941141" y="4365104"/>
          <a:ext cx="6096000" cy="3657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16000"/>
                <a:gridCol w="1016000"/>
                <a:gridCol w="1016000"/>
                <a:gridCol w="1016000"/>
                <a:gridCol w="1016000"/>
                <a:gridCol w="1016000"/>
              </a:tblGrid>
              <a:tr h="333237">
                <a:tc>
                  <a:txBody>
                    <a:bodyPr/>
                    <a:lstStyle/>
                    <a:p>
                      <a:pPr algn="ctr"/>
                      <a:r>
                        <a:rPr lang="en-AU" dirty="0" smtClean="0">
                          <a:solidFill>
                            <a:schemeClr val="tx1"/>
                          </a:solidFill>
                        </a:rPr>
                        <a:t>2</a:t>
                      </a:r>
                      <a:endParaRPr lang="en-AU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AU" dirty="0" smtClean="0">
                          <a:solidFill>
                            <a:schemeClr val="tx1"/>
                          </a:solidFill>
                        </a:rPr>
                        <a:t>3</a:t>
                      </a:r>
                      <a:endParaRPr lang="en-AU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AU" dirty="0" smtClean="0">
                          <a:solidFill>
                            <a:schemeClr val="tx1"/>
                          </a:solidFill>
                        </a:rPr>
                        <a:t>3</a:t>
                      </a:r>
                      <a:endParaRPr lang="en-AU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AU" dirty="0" smtClean="0">
                          <a:solidFill>
                            <a:schemeClr val="tx1"/>
                          </a:solidFill>
                        </a:rPr>
                        <a:t>4</a:t>
                      </a:r>
                      <a:endParaRPr lang="en-AU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AU" dirty="0" smtClean="0">
                          <a:solidFill>
                            <a:schemeClr val="tx1"/>
                          </a:solidFill>
                        </a:rPr>
                        <a:t>5</a:t>
                      </a:r>
                      <a:endParaRPr lang="en-AU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AU" dirty="0" smtClean="0">
                          <a:solidFill>
                            <a:schemeClr val="tx1"/>
                          </a:solidFill>
                        </a:rPr>
                        <a:t>7</a:t>
                      </a:r>
                      <a:endParaRPr lang="en-AU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</a:tbl>
          </a:graphicData>
        </a:graphic>
      </p:graphicFrame>
      <mc:AlternateContent xmlns:mc="http://schemas.openxmlformats.org/markup-compatibility/2006" xmlns:a14="http://schemas.microsoft.com/office/drawing/2010/main">
        <mc:Choice Requires="a14">
          <p:sp>
            <p:nvSpPr>
              <p:cNvPr id="5" name="TextBox 4"/>
              <p:cNvSpPr txBox="1"/>
              <p:nvPr/>
            </p:nvSpPr>
            <p:spPr>
              <a:xfrm>
                <a:off x="3040788" y="5548590"/>
                <a:ext cx="2154757" cy="484043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AU" dirty="0" smtClean="0">
                    <a:solidFill>
                      <a:srgbClr val="0070C0"/>
                    </a:solidFill>
                  </a:rPr>
                  <a:t>Median =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AU" i="1" smtClean="0">
                            <a:solidFill>
                              <a:srgbClr val="0070C0"/>
                            </a:solidFill>
                            <a:latin typeface="Cambria Math"/>
                          </a:rPr>
                        </m:ctrlPr>
                      </m:fPr>
                      <m:num>
                        <m:r>
                          <a:rPr lang="en-AU" b="0" i="1" smtClean="0">
                            <a:solidFill>
                              <a:srgbClr val="0070C0"/>
                            </a:solidFill>
                            <a:latin typeface="Cambria Math"/>
                          </a:rPr>
                          <m:t>3+4</m:t>
                        </m:r>
                      </m:num>
                      <m:den>
                        <m:r>
                          <a:rPr lang="en-AU" b="0" i="1" smtClean="0">
                            <a:solidFill>
                              <a:srgbClr val="0070C0"/>
                            </a:solidFill>
                            <a:latin typeface="Cambria Math"/>
                          </a:rPr>
                          <m:t>2</m:t>
                        </m:r>
                      </m:den>
                    </m:f>
                    <m:r>
                      <a:rPr lang="en-AU" b="0" i="1" smtClean="0">
                        <a:solidFill>
                          <a:srgbClr val="0070C0"/>
                        </a:solidFill>
                        <a:latin typeface="Cambria Math"/>
                      </a:rPr>
                      <m:t>=3.5</m:t>
                    </m:r>
                  </m:oMath>
                </a14:m>
                <a:r>
                  <a:rPr lang="en-AU" dirty="0" smtClean="0">
                    <a:solidFill>
                      <a:srgbClr val="0070C0"/>
                    </a:solidFill>
                  </a:rPr>
                  <a:t>  </a:t>
                </a:r>
                <a:endParaRPr lang="en-AU" dirty="0">
                  <a:solidFill>
                    <a:srgbClr val="0070C0"/>
                  </a:solidFill>
                </a:endParaRPr>
              </a:p>
            </p:txBody>
          </p:sp>
        </mc:Choice>
        <mc:Fallback xmlns="">
          <p:sp>
            <p:nvSpPr>
              <p:cNvPr id="5" name="TextBox 4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040788" y="5548590"/>
                <a:ext cx="2154757" cy="484043"/>
              </a:xfrm>
              <a:prstGeom prst="rect">
                <a:avLst/>
              </a:prstGeom>
              <a:blipFill rotWithShape="1">
                <a:blip r:embed="rId3" cstate="print"/>
                <a:stretch>
                  <a:fillRect l="-2550" b="-7500"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8" name="Oval 7"/>
          <p:cNvSpPr/>
          <p:nvPr/>
        </p:nvSpPr>
        <p:spPr>
          <a:xfrm>
            <a:off x="5220072" y="4322466"/>
            <a:ext cx="504056" cy="530353"/>
          </a:xfrm>
          <a:prstGeom prst="ellipse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  <p:sp>
        <p:nvSpPr>
          <p:cNvPr id="23" name="Oval 22"/>
          <p:cNvSpPr/>
          <p:nvPr/>
        </p:nvSpPr>
        <p:spPr>
          <a:xfrm>
            <a:off x="6228184" y="4325182"/>
            <a:ext cx="504056" cy="530353"/>
          </a:xfrm>
          <a:prstGeom prst="ellipse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25" name="TextBox 24"/>
              <p:cNvSpPr txBox="1"/>
              <p:nvPr/>
            </p:nvSpPr>
            <p:spPr>
              <a:xfrm>
                <a:off x="3008280" y="4850586"/>
                <a:ext cx="2844625" cy="489686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AU" dirty="0" smtClean="0"/>
                  <a:t> </a:t>
                </a:r>
                <a14:m>
                  <m:oMath xmlns:m="http://schemas.openxmlformats.org/officeDocument/2006/math">
                    <m:acc>
                      <m:accPr>
                        <m:chr m:val="̅"/>
                        <m:ctrlPr>
                          <a:rPr lang="en-AU" i="1" smtClean="0">
                            <a:latin typeface="Cambria Math"/>
                          </a:rPr>
                        </m:ctrlPr>
                      </m:accPr>
                      <m:e>
                        <m:r>
                          <a:rPr lang="en-AU" b="0" i="1" smtClean="0">
                            <a:latin typeface="Cambria Math"/>
                          </a:rPr>
                          <m:t>𝑥</m:t>
                        </m:r>
                      </m:e>
                    </m:acc>
                    <m:r>
                      <a:rPr lang="en-AU" b="0" i="1" smtClean="0">
                        <a:latin typeface="Cambria Math"/>
                      </a:rPr>
                      <m:t>=</m:t>
                    </m:r>
                    <m:f>
                      <m:fPr>
                        <m:ctrlPr>
                          <a:rPr lang="en-AU" i="1" smtClean="0">
                            <a:latin typeface="Cambria Math"/>
                          </a:rPr>
                        </m:ctrlPr>
                      </m:fPr>
                      <m:num>
                        <m:r>
                          <a:rPr lang="en-AU" b="0" i="1" smtClean="0">
                            <a:latin typeface="Cambria Math"/>
                          </a:rPr>
                          <m:t>2+3+3+4+5+7</m:t>
                        </m:r>
                      </m:num>
                      <m:den>
                        <m:r>
                          <a:rPr lang="en-AU" b="0" i="1" smtClean="0">
                            <a:latin typeface="Cambria Math"/>
                          </a:rPr>
                          <m:t>6</m:t>
                        </m:r>
                      </m:den>
                    </m:f>
                    <m:r>
                      <a:rPr lang="en-AU" b="0" i="1" smtClean="0">
                        <a:latin typeface="Cambria Math"/>
                      </a:rPr>
                      <m:t>=</m:t>
                    </m:r>
                    <m:f>
                      <m:fPr>
                        <m:ctrlPr>
                          <a:rPr lang="en-AU" b="0" i="1" smtClean="0">
                            <a:latin typeface="Cambria Math"/>
                          </a:rPr>
                        </m:ctrlPr>
                      </m:fPr>
                      <m:num>
                        <m:r>
                          <a:rPr lang="en-AU" b="0" i="1" smtClean="0">
                            <a:latin typeface="Cambria Math"/>
                          </a:rPr>
                          <m:t>24</m:t>
                        </m:r>
                      </m:num>
                      <m:den>
                        <m:r>
                          <a:rPr lang="en-AU" b="0" i="1" smtClean="0">
                            <a:latin typeface="Cambria Math"/>
                          </a:rPr>
                          <m:t>6</m:t>
                        </m:r>
                      </m:den>
                    </m:f>
                    <m:r>
                      <a:rPr lang="en-AU" b="0" i="1" smtClean="0">
                        <a:latin typeface="Cambria Math"/>
                      </a:rPr>
                      <m:t>=4</m:t>
                    </m:r>
                  </m:oMath>
                </a14:m>
                <a:r>
                  <a:rPr lang="en-AU" dirty="0" smtClean="0"/>
                  <a:t> </a:t>
                </a:r>
                <a:endParaRPr lang="en-AU" dirty="0"/>
              </a:p>
            </p:txBody>
          </p:sp>
        </mc:Choice>
        <mc:Fallback>
          <p:sp>
            <p:nvSpPr>
              <p:cNvPr id="25" name="TextBox 24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008280" y="4850586"/>
                <a:ext cx="2844625" cy="489686"/>
              </a:xfrm>
              <a:prstGeom prst="rect">
                <a:avLst/>
              </a:prstGeom>
              <a:blipFill rotWithShape="1">
                <a:blip r:embed="rId4"/>
                <a:stretch>
                  <a:fillRect b="-1250"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6" name="TextBox 25"/>
          <p:cNvSpPr txBox="1"/>
          <p:nvPr/>
        </p:nvSpPr>
        <p:spPr>
          <a:xfrm>
            <a:off x="665095" y="348705"/>
            <a:ext cx="6824817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sz="2800" dirty="0" smtClean="0"/>
              <a:t>Measures of </a:t>
            </a:r>
            <a:r>
              <a:rPr lang="en-AU" sz="2800" dirty="0" smtClean="0"/>
              <a:t>Centre and Spread for a Data Set</a:t>
            </a:r>
            <a:endParaRPr lang="en-AU" sz="2800" dirty="0"/>
          </a:p>
        </p:txBody>
      </p:sp>
    </p:spTree>
    <p:extLst>
      <p:ext uri="{BB962C8B-B14F-4D97-AF65-F5344CB8AC3E}">
        <p14:creationId xmlns:p14="http://schemas.microsoft.com/office/powerpoint/2010/main" val="56289831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8748464" y="6488668"/>
            <a:ext cx="54977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 smtClean="0"/>
              <a:t> </a:t>
            </a:r>
            <a:r>
              <a:rPr lang="en-AU" dirty="0"/>
              <a:t>5</a:t>
            </a:r>
          </a:p>
        </p:txBody>
      </p:sp>
      <p:cxnSp>
        <p:nvCxnSpPr>
          <p:cNvPr id="4" name="Straight Connector 3"/>
          <p:cNvCxnSpPr/>
          <p:nvPr/>
        </p:nvCxnSpPr>
        <p:spPr>
          <a:xfrm>
            <a:off x="0" y="980728"/>
            <a:ext cx="9144000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6" name="Straight Connector 5"/>
          <p:cNvCxnSpPr/>
          <p:nvPr/>
        </p:nvCxnSpPr>
        <p:spPr>
          <a:xfrm>
            <a:off x="0" y="1916832"/>
            <a:ext cx="9144000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93471" y="149731"/>
            <a:ext cx="576064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1600" dirty="0" smtClean="0"/>
              <a:t>24</a:t>
            </a:r>
          </a:p>
          <a:p>
            <a:r>
              <a:rPr lang="en-AU" sz="1600" dirty="0" smtClean="0"/>
              <a:t>7</a:t>
            </a:r>
          </a:p>
          <a:p>
            <a:r>
              <a:rPr lang="en-AU" sz="1600" dirty="0" smtClean="0"/>
              <a:t>30</a:t>
            </a:r>
            <a:endParaRPr lang="en-AU" sz="1600" dirty="0"/>
          </a:p>
        </p:txBody>
      </p:sp>
      <p:cxnSp>
        <p:nvCxnSpPr>
          <p:cNvPr id="9" name="Straight Connector 8"/>
          <p:cNvCxnSpPr/>
          <p:nvPr/>
        </p:nvCxnSpPr>
        <p:spPr>
          <a:xfrm>
            <a:off x="2915816" y="1916832"/>
            <a:ext cx="0" cy="5112568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11" name="TextBox 10"/>
          <p:cNvSpPr txBox="1"/>
          <p:nvPr/>
        </p:nvSpPr>
        <p:spPr>
          <a:xfrm>
            <a:off x="7439175" y="106354"/>
            <a:ext cx="158417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dirty="0" smtClean="0"/>
              <a:t>Date</a:t>
            </a:r>
            <a:endParaRPr lang="en-AU" sz="2400" dirty="0"/>
          </a:p>
        </p:txBody>
      </p:sp>
      <p:sp>
        <p:nvSpPr>
          <p:cNvPr id="12" name="TextBox 11"/>
          <p:cNvSpPr txBox="1"/>
          <p:nvPr/>
        </p:nvSpPr>
        <p:spPr>
          <a:xfrm>
            <a:off x="119514" y="1063436"/>
            <a:ext cx="8620422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dirty="0" smtClean="0"/>
              <a:t>EQ – Describe the differences between the different types of averages. </a:t>
            </a:r>
            <a:endParaRPr lang="en-AU" sz="2400" dirty="0"/>
          </a:p>
        </p:txBody>
      </p:sp>
      <p:sp>
        <p:nvSpPr>
          <p:cNvPr id="15" name="TextBox 14"/>
          <p:cNvSpPr txBox="1"/>
          <p:nvPr/>
        </p:nvSpPr>
        <p:spPr>
          <a:xfrm>
            <a:off x="94711" y="2033397"/>
            <a:ext cx="250171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dirty="0" smtClean="0"/>
              <a:t>How do I find the mean?</a:t>
            </a:r>
            <a:endParaRPr lang="en-AU" dirty="0"/>
          </a:p>
        </p:txBody>
      </p:sp>
      <p:sp>
        <p:nvSpPr>
          <p:cNvPr id="14" name="TextBox 13"/>
          <p:cNvSpPr txBox="1"/>
          <p:nvPr/>
        </p:nvSpPr>
        <p:spPr>
          <a:xfrm>
            <a:off x="3040788" y="2062741"/>
            <a:ext cx="606877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dirty="0" smtClean="0"/>
              <a:t>Add all the values together and divide by the number of values</a:t>
            </a:r>
            <a:endParaRPr lang="en-AU" dirty="0"/>
          </a:p>
        </p:txBody>
      </p:sp>
      <p:sp>
        <p:nvSpPr>
          <p:cNvPr id="16" name="TextBox 15"/>
          <p:cNvSpPr txBox="1"/>
          <p:nvPr/>
        </p:nvSpPr>
        <p:spPr>
          <a:xfrm>
            <a:off x="114175" y="2417113"/>
            <a:ext cx="267643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dirty="0" smtClean="0">
                <a:solidFill>
                  <a:schemeClr val="accent1"/>
                </a:solidFill>
              </a:rPr>
              <a:t>How do I find the median?</a:t>
            </a:r>
            <a:endParaRPr lang="en-AU" dirty="0">
              <a:solidFill>
                <a:schemeClr val="accent1"/>
              </a:solidFill>
            </a:endParaRPr>
          </a:p>
        </p:txBody>
      </p:sp>
      <p:sp>
        <p:nvSpPr>
          <p:cNvPr id="17" name="TextBox 16"/>
          <p:cNvSpPr txBox="1"/>
          <p:nvPr/>
        </p:nvSpPr>
        <p:spPr>
          <a:xfrm>
            <a:off x="2952648" y="2463279"/>
            <a:ext cx="6036268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dirty="0" smtClean="0">
                <a:solidFill>
                  <a:schemeClr val="accent1"/>
                </a:solidFill>
              </a:rPr>
              <a:t>Put the values I order. Find the middle value. </a:t>
            </a:r>
          </a:p>
          <a:p>
            <a:r>
              <a:rPr lang="en-AU" dirty="0" smtClean="0">
                <a:solidFill>
                  <a:schemeClr val="accent1"/>
                </a:solidFill>
              </a:rPr>
              <a:t>If there are two middle values add together and divide by two </a:t>
            </a:r>
            <a:endParaRPr lang="en-AU" dirty="0">
              <a:solidFill>
                <a:schemeClr val="accent1"/>
              </a:solidFill>
            </a:endParaRPr>
          </a:p>
        </p:txBody>
      </p:sp>
      <p:sp>
        <p:nvSpPr>
          <p:cNvPr id="18" name="TextBox 17"/>
          <p:cNvSpPr txBox="1"/>
          <p:nvPr/>
        </p:nvSpPr>
        <p:spPr>
          <a:xfrm>
            <a:off x="114175" y="3212237"/>
            <a:ext cx="251293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dirty="0" smtClean="0">
                <a:solidFill>
                  <a:srgbClr val="00B050"/>
                </a:solidFill>
              </a:rPr>
              <a:t>How do I find the mode?</a:t>
            </a:r>
            <a:endParaRPr lang="en-AU" dirty="0">
              <a:solidFill>
                <a:srgbClr val="00B050"/>
              </a:solidFill>
            </a:endParaRPr>
          </a:p>
        </p:txBody>
      </p:sp>
      <p:sp>
        <p:nvSpPr>
          <p:cNvPr id="19" name="TextBox 18"/>
          <p:cNvSpPr txBox="1"/>
          <p:nvPr/>
        </p:nvSpPr>
        <p:spPr>
          <a:xfrm>
            <a:off x="2933154" y="3212237"/>
            <a:ext cx="6170535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dirty="0" smtClean="0">
                <a:solidFill>
                  <a:srgbClr val="00B050"/>
                </a:solidFill>
              </a:rPr>
              <a:t>The value that appears most often. </a:t>
            </a:r>
          </a:p>
          <a:p>
            <a:r>
              <a:rPr lang="en-AU" dirty="0" smtClean="0">
                <a:solidFill>
                  <a:srgbClr val="00B050"/>
                </a:solidFill>
              </a:rPr>
              <a:t>A data set could have 1 mode or 2 modes (bimodal) or no mode</a:t>
            </a:r>
            <a:endParaRPr lang="en-AU" dirty="0">
              <a:solidFill>
                <a:srgbClr val="00B050"/>
              </a:solidFill>
            </a:endParaRPr>
          </a:p>
        </p:txBody>
      </p:sp>
      <p:sp>
        <p:nvSpPr>
          <p:cNvPr id="20" name="TextBox 19"/>
          <p:cNvSpPr txBox="1"/>
          <p:nvPr/>
        </p:nvSpPr>
        <p:spPr>
          <a:xfrm>
            <a:off x="180939" y="3950901"/>
            <a:ext cx="97719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dirty="0" smtClean="0"/>
              <a:t>Example</a:t>
            </a:r>
            <a:endParaRPr lang="en-AU" dirty="0"/>
          </a:p>
        </p:txBody>
      </p:sp>
      <p:sp>
        <p:nvSpPr>
          <p:cNvPr id="21" name="TextBox 20"/>
          <p:cNvSpPr txBox="1"/>
          <p:nvPr/>
        </p:nvSpPr>
        <p:spPr>
          <a:xfrm>
            <a:off x="2996638" y="3933568"/>
            <a:ext cx="601081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dirty="0" smtClean="0"/>
              <a:t>Find the mean, median and mode for the following set of data</a:t>
            </a:r>
            <a:endParaRPr lang="en-AU" dirty="0"/>
          </a:p>
        </p:txBody>
      </p:sp>
      <p:graphicFrame>
        <p:nvGraphicFramePr>
          <p:cNvPr id="22" name="Table 2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284117699"/>
              </p:ext>
            </p:extLst>
          </p:nvPr>
        </p:nvGraphicFramePr>
        <p:xfrm>
          <a:off x="2941141" y="4365104"/>
          <a:ext cx="6096000" cy="3657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16000"/>
                <a:gridCol w="1016000"/>
                <a:gridCol w="1016000"/>
                <a:gridCol w="1016000"/>
                <a:gridCol w="1016000"/>
                <a:gridCol w="1016000"/>
              </a:tblGrid>
              <a:tr h="333237">
                <a:tc>
                  <a:txBody>
                    <a:bodyPr/>
                    <a:lstStyle/>
                    <a:p>
                      <a:pPr algn="ctr"/>
                      <a:r>
                        <a:rPr lang="en-AU" dirty="0" smtClean="0">
                          <a:solidFill>
                            <a:schemeClr val="tx1"/>
                          </a:solidFill>
                        </a:rPr>
                        <a:t>2</a:t>
                      </a:r>
                      <a:endParaRPr lang="en-AU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AU" dirty="0" smtClean="0">
                          <a:solidFill>
                            <a:schemeClr val="tx1"/>
                          </a:solidFill>
                        </a:rPr>
                        <a:t>3</a:t>
                      </a:r>
                      <a:endParaRPr lang="en-AU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AU" dirty="0" smtClean="0">
                          <a:solidFill>
                            <a:schemeClr val="tx1"/>
                          </a:solidFill>
                        </a:rPr>
                        <a:t>3</a:t>
                      </a:r>
                      <a:endParaRPr lang="en-AU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AU" dirty="0" smtClean="0">
                          <a:solidFill>
                            <a:schemeClr val="tx1"/>
                          </a:solidFill>
                        </a:rPr>
                        <a:t>4</a:t>
                      </a:r>
                      <a:endParaRPr lang="en-AU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AU" dirty="0" smtClean="0">
                          <a:solidFill>
                            <a:schemeClr val="tx1"/>
                          </a:solidFill>
                        </a:rPr>
                        <a:t>5</a:t>
                      </a:r>
                      <a:endParaRPr lang="en-AU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AU" dirty="0" smtClean="0">
                          <a:solidFill>
                            <a:schemeClr val="tx1"/>
                          </a:solidFill>
                        </a:rPr>
                        <a:t>7</a:t>
                      </a:r>
                      <a:endParaRPr lang="en-AU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</a:tbl>
          </a:graphicData>
        </a:graphic>
      </p:graphicFrame>
      <mc:AlternateContent xmlns:mc="http://schemas.openxmlformats.org/markup-compatibility/2006" xmlns:a14="http://schemas.microsoft.com/office/drawing/2010/main">
        <mc:Choice Requires="a14">
          <p:sp>
            <p:nvSpPr>
              <p:cNvPr id="5" name="TextBox 4"/>
              <p:cNvSpPr txBox="1"/>
              <p:nvPr/>
            </p:nvSpPr>
            <p:spPr>
              <a:xfrm>
                <a:off x="3040788" y="5548590"/>
                <a:ext cx="4706930" cy="484043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AU" dirty="0" smtClean="0">
                    <a:solidFill>
                      <a:srgbClr val="0070C0"/>
                    </a:solidFill>
                  </a:rPr>
                  <a:t>Median =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AU" i="1" smtClean="0">
                            <a:solidFill>
                              <a:srgbClr val="0070C0"/>
                            </a:solidFill>
                            <a:latin typeface="Cambria Math"/>
                          </a:rPr>
                        </m:ctrlPr>
                      </m:fPr>
                      <m:num>
                        <m:r>
                          <a:rPr lang="en-AU" b="0" i="1" smtClean="0">
                            <a:solidFill>
                              <a:srgbClr val="0070C0"/>
                            </a:solidFill>
                            <a:latin typeface="Cambria Math"/>
                          </a:rPr>
                          <m:t>3+4</m:t>
                        </m:r>
                      </m:num>
                      <m:den>
                        <m:r>
                          <a:rPr lang="en-AU" b="0" i="1" smtClean="0">
                            <a:solidFill>
                              <a:srgbClr val="0070C0"/>
                            </a:solidFill>
                            <a:latin typeface="Cambria Math"/>
                          </a:rPr>
                          <m:t>2</m:t>
                        </m:r>
                      </m:den>
                    </m:f>
                    <m:r>
                      <a:rPr lang="en-AU" b="0" i="1" smtClean="0">
                        <a:solidFill>
                          <a:srgbClr val="0070C0"/>
                        </a:solidFill>
                        <a:latin typeface="Cambria Math"/>
                      </a:rPr>
                      <m:t>=3.5</m:t>
                    </m:r>
                  </m:oMath>
                </a14:m>
                <a:r>
                  <a:rPr lang="en-AU" dirty="0" smtClean="0">
                    <a:solidFill>
                      <a:srgbClr val="0070C0"/>
                    </a:solidFill>
                  </a:rPr>
                  <a:t> (halfway between 3 and 4)  </a:t>
                </a:r>
                <a:endParaRPr lang="en-AU" dirty="0">
                  <a:solidFill>
                    <a:srgbClr val="0070C0"/>
                  </a:solidFill>
                </a:endParaRPr>
              </a:p>
            </p:txBody>
          </p:sp>
        </mc:Choice>
        <mc:Fallback xmlns="">
          <p:sp>
            <p:nvSpPr>
              <p:cNvPr id="5" name="TextBox 4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040788" y="5548590"/>
                <a:ext cx="4706930" cy="484043"/>
              </a:xfrm>
              <a:prstGeom prst="rect">
                <a:avLst/>
              </a:prstGeom>
              <a:blipFill rotWithShape="1">
                <a:blip r:embed="rId4" cstate="print"/>
                <a:stretch>
                  <a:fillRect l="-1166" r="-130" b="-7500"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8" name="Oval 7"/>
          <p:cNvSpPr/>
          <p:nvPr/>
        </p:nvSpPr>
        <p:spPr>
          <a:xfrm>
            <a:off x="5220072" y="4322466"/>
            <a:ext cx="504056" cy="530353"/>
          </a:xfrm>
          <a:prstGeom prst="ellipse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  <p:sp>
        <p:nvSpPr>
          <p:cNvPr id="23" name="Oval 22"/>
          <p:cNvSpPr/>
          <p:nvPr/>
        </p:nvSpPr>
        <p:spPr>
          <a:xfrm>
            <a:off x="6228184" y="4325182"/>
            <a:ext cx="504056" cy="530353"/>
          </a:xfrm>
          <a:prstGeom prst="ellipse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24" name="TextBox 23"/>
              <p:cNvSpPr txBox="1"/>
              <p:nvPr/>
            </p:nvSpPr>
            <p:spPr>
              <a:xfrm>
                <a:off x="3008280" y="4850586"/>
                <a:ext cx="2844625" cy="489686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AU" dirty="0" smtClean="0"/>
                  <a:t> </a:t>
                </a:r>
                <a14:m>
                  <m:oMath xmlns:m="http://schemas.openxmlformats.org/officeDocument/2006/math">
                    <m:acc>
                      <m:accPr>
                        <m:chr m:val="̅"/>
                        <m:ctrlPr>
                          <a:rPr lang="en-AU" i="1" smtClean="0">
                            <a:latin typeface="Cambria Math"/>
                          </a:rPr>
                        </m:ctrlPr>
                      </m:accPr>
                      <m:e>
                        <m:r>
                          <a:rPr lang="en-AU" b="0" i="1" smtClean="0">
                            <a:latin typeface="Cambria Math"/>
                          </a:rPr>
                          <m:t>𝑥</m:t>
                        </m:r>
                      </m:e>
                    </m:acc>
                    <m:r>
                      <a:rPr lang="en-AU" b="0" i="1" smtClean="0">
                        <a:latin typeface="Cambria Math"/>
                      </a:rPr>
                      <m:t>=</m:t>
                    </m:r>
                    <m:f>
                      <m:fPr>
                        <m:ctrlPr>
                          <a:rPr lang="en-AU" i="1" smtClean="0">
                            <a:latin typeface="Cambria Math"/>
                          </a:rPr>
                        </m:ctrlPr>
                      </m:fPr>
                      <m:num>
                        <m:r>
                          <a:rPr lang="en-AU" b="0" i="1" smtClean="0">
                            <a:latin typeface="Cambria Math"/>
                          </a:rPr>
                          <m:t>2+3+3+4+5+7</m:t>
                        </m:r>
                      </m:num>
                      <m:den>
                        <m:r>
                          <a:rPr lang="en-AU" b="0" i="1" smtClean="0">
                            <a:latin typeface="Cambria Math"/>
                          </a:rPr>
                          <m:t>6</m:t>
                        </m:r>
                      </m:den>
                    </m:f>
                    <m:r>
                      <a:rPr lang="en-AU" b="0" i="1" smtClean="0">
                        <a:latin typeface="Cambria Math"/>
                      </a:rPr>
                      <m:t>=</m:t>
                    </m:r>
                    <m:f>
                      <m:fPr>
                        <m:ctrlPr>
                          <a:rPr lang="en-AU" b="0" i="1" smtClean="0">
                            <a:latin typeface="Cambria Math"/>
                          </a:rPr>
                        </m:ctrlPr>
                      </m:fPr>
                      <m:num>
                        <m:r>
                          <a:rPr lang="en-AU" b="0" i="1" smtClean="0">
                            <a:latin typeface="Cambria Math"/>
                          </a:rPr>
                          <m:t>24</m:t>
                        </m:r>
                      </m:num>
                      <m:den>
                        <m:r>
                          <a:rPr lang="en-AU" b="0" i="1" smtClean="0">
                            <a:latin typeface="Cambria Math"/>
                          </a:rPr>
                          <m:t>6</m:t>
                        </m:r>
                      </m:den>
                    </m:f>
                    <m:r>
                      <a:rPr lang="en-AU" b="0" i="1" smtClean="0">
                        <a:latin typeface="Cambria Math"/>
                      </a:rPr>
                      <m:t>=4</m:t>
                    </m:r>
                  </m:oMath>
                </a14:m>
                <a:r>
                  <a:rPr lang="en-AU" dirty="0" smtClean="0"/>
                  <a:t> </a:t>
                </a:r>
                <a:endParaRPr lang="en-AU" dirty="0"/>
              </a:p>
            </p:txBody>
          </p:sp>
        </mc:Choice>
        <mc:Fallback>
          <p:sp>
            <p:nvSpPr>
              <p:cNvPr id="24" name="TextBox 23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008280" y="4850586"/>
                <a:ext cx="2844625" cy="489686"/>
              </a:xfrm>
              <a:prstGeom prst="rect">
                <a:avLst/>
              </a:prstGeom>
              <a:blipFill rotWithShape="1">
                <a:blip r:embed="rId5"/>
                <a:stretch>
                  <a:fillRect b="-1250"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5" name="TextBox 24"/>
          <p:cNvSpPr txBox="1"/>
          <p:nvPr/>
        </p:nvSpPr>
        <p:spPr>
          <a:xfrm>
            <a:off x="665095" y="348705"/>
            <a:ext cx="6824817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sz="2800" dirty="0" smtClean="0"/>
              <a:t>Measures of </a:t>
            </a:r>
            <a:r>
              <a:rPr lang="en-AU" sz="2800" dirty="0" smtClean="0"/>
              <a:t>Centre and Spread for a Data Set</a:t>
            </a:r>
            <a:endParaRPr lang="en-AU" sz="2800" dirty="0"/>
          </a:p>
        </p:txBody>
      </p:sp>
    </p:spTree>
    <p:extLst>
      <p:ext uri="{BB962C8B-B14F-4D97-AF65-F5344CB8AC3E}">
        <p14:creationId xmlns:p14="http://schemas.microsoft.com/office/powerpoint/2010/main" val="249395398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8748464" y="6488668"/>
            <a:ext cx="54977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 smtClean="0"/>
              <a:t> </a:t>
            </a:r>
            <a:r>
              <a:rPr lang="en-AU" dirty="0"/>
              <a:t>5</a:t>
            </a:r>
          </a:p>
        </p:txBody>
      </p:sp>
      <p:cxnSp>
        <p:nvCxnSpPr>
          <p:cNvPr id="4" name="Straight Connector 3"/>
          <p:cNvCxnSpPr/>
          <p:nvPr/>
        </p:nvCxnSpPr>
        <p:spPr>
          <a:xfrm>
            <a:off x="0" y="980728"/>
            <a:ext cx="9144000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6" name="Straight Connector 5"/>
          <p:cNvCxnSpPr/>
          <p:nvPr/>
        </p:nvCxnSpPr>
        <p:spPr>
          <a:xfrm>
            <a:off x="0" y="1916832"/>
            <a:ext cx="9144000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93471" y="149731"/>
            <a:ext cx="576064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1600" dirty="0" smtClean="0"/>
              <a:t>24</a:t>
            </a:r>
          </a:p>
          <a:p>
            <a:r>
              <a:rPr lang="en-AU" sz="1600" dirty="0" smtClean="0"/>
              <a:t>7</a:t>
            </a:r>
          </a:p>
          <a:p>
            <a:r>
              <a:rPr lang="en-AU" sz="1600" dirty="0" smtClean="0"/>
              <a:t>30</a:t>
            </a:r>
            <a:endParaRPr lang="en-AU" sz="1600" dirty="0"/>
          </a:p>
        </p:txBody>
      </p:sp>
      <p:cxnSp>
        <p:nvCxnSpPr>
          <p:cNvPr id="9" name="Straight Connector 8"/>
          <p:cNvCxnSpPr/>
          <p:nvPr/>
        </p:nvCxnSpPr>
        <p:spPr>
          <a:xfrm>
            <a:off x="2915816" y="1916832"/>
            <a:ext cx="0" cy="5112568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11" name="TextBox 10"/>
          <p:cNvSpPr txBox="1"/>
          <p:nvPr/>
        </p:nvSpPr>
        <p:spPr>
          <a:xfrm>
            <a:off x="7439175" y="106354"/>
            <a:ext cx="158417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dirty="0" smtClean="0"/>
              <a:t>Date</a:t>
            </a:r>
            <a:endParaRPr lang="en-AU" sz="2400" dirty="0"/>
          </a:p>
        </p:txBody>
      </p:sp>
      <p:sp>
        <p:nvSpPr>
          <p:cNvPr id="12" name="TextBox 11"/>
          <p:cNvSpPr txBox="1"/>
          <p:nvPr/>
        </p:nvSpPr>
        <p:spPr>
          <a:xfrm>
            <a:off x="119514" y="1063436"/>
            <a:ext cx="8620422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dirty="0" smtClean="0"/>
              <a:t>EQ – Describe the differences between the different types of averages. </a:t>
            </a:r>
            <a:endParaRPr lang="en-AU" sz="2400" dirty="0"/>
          </a:p>
        </p:txBody>
      </p:sp>
      <p:sp>
        <p:nvSpPr>
          <p:cNvPr id="15" name="TextBox 14"/>
          <p:cNvSpPr txBox="1"/>
          <p:nvPr/>
        </p:nvSpPr>
        <p:spPr>
          <a:xfrm>
            <a:off x="94711" y="2033397"/>
            <a:ext cx="250171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dirty="0" smtClean="0"/>
              <a:t>How do I find the mean?</a:t>
            </a:r>
            <a:endParaRPr lang="en-AU" dirty="0"/>
          </a:p>
        </p:txBody>
      </p:sp>
      <p:sp>
        <p:nvSpPr>
          <p:cNvPr id="14" name="TextBox 13"/>
          <p:cNvSpPr txBox="1"/>
          <p:nvPr/>
        </p:nvSpPr>
        <p:spPr>
          <a:xfrm>
            <a:off x="3040788" y="2062741"/>
            <a:ext cx="606877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dirty="0" smtClean="0"/>
              <a:t>Add all the values together and divide by the number of values</a:t>
            </a:r>
            <a:endParaRPr lang="en-AU" dirty="0"/>
          </a:p>
        </p:txBody>
      </p:sp>
      <p:sp>
        <p:nvSpPr>
          <p:cNvPr id="16" name="TextBox 15"/>
          <p:cNvSpPr txBox="1"/>
          <p:nvPr/>
        </p:nvSpPr>
        <p:spPr>
          <a:xfrm>
            <a:off x="114175" y="2417113"/>
            <a:ext cx="267643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dirty="0" smtClean="0">
                <a:solidFill>
                  <a:schemeClr val="accent1"/>
                </a:solidFill>
              </a:rPr>
              <a:t>How do I find the median?</a:t>
            </a:r>
            <a:endParaRPr lang="en-AU" dirty="0">
              <a:solidFill>
                <a:schemeClr val="accent1"/>
              </a:solidFill>
            </a:endParaRPr>
          </a:p>
        </p:txBody>
      </p:sp>
      <p:sp>
        <p:nvSpPr>
          <p:cNvPr id="17" name="TextBox 16"/>
          <p:cNvSpPr txBox="1"/>
          <p:nvPr/>
        </p:nvSpPr>
        <p:spPr>
          <a:xfrm>
            <a:off x="2952648" y="2463279"/>
            <a:ext cx="6036268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dirty="0" smtClean="0">
                <a:solidFill>
                  <a:schemeClr val="accent1"/>
                </a:solidFill>
              </a:rPr>
              <a:t>Put the values I order. Find the middle value. </a:t>
            </a:r>
          </a:p>
          <a:p>
            <a:r>
              <a:rPr lang="en-AU" dirty="0" smtClean="0">
                <a:solidFill>
                  <a:schemeClr val="accent1"/>
                </a:solidFill>
              </a:rPr>
              <a:t>If there are two middle values add together and divide by two </a:t>
            </a:r>
            <a:endParaRPr lang="en-AU" dirty="0">
              <a:solidFill>
                <a:schemeClr val="accent1"/>
              </a:solidFill>
            </a:endParaRPr>
          </a:p>
        </p:txBody>
      </p:sp>
      <p:sp>
        <p:nvSpPr>
          <p:cNvPr id="18" name="TextBox 17"/>
          <p:cNvSpPr txBox="1"/>
          <p:nvPr/>
        </p:nvSpPr>
        <p:spPr>
          <a:xfrm>
            <a:off x="114175" y="3212237"/>
            <a:ext cx="251293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dirty="0" smtClean="0">
                <a:solidFill>
                  <a:srgbClr val="00B050"/>
                </a:solidFill>
              </a:rPr>
              <a:t>How do I find the mode?</a:t>
            </a:r>
            <a:endParaRPr lang="en-AU" dirty="0">
              <a:solidFill>
                <a:srgbClr val="00B050"/>
              </a:solidFill>
            </a:endParaRPr>
          </a:p>
        </p:txBody>
      </p:sp>
      <p:sp>
        <p:nvSpPr>
          <p:cNvPr id="19" name="TextBox 18"/>
          <p:cNvSpPr txBox="1"/>
          <p:nvPr/>
        </p:nvSpPr>
        <p:spPr>
          <a:xfrm>
            <a:off x="2933154" y="3212237"/>
            <a:ext cx="6170535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dirty="0" smtClean="0">
                <a:solidFill>
                  <a:srgbClr val="00B050"/>
                </a:solidFill>
              </a:rPr>
              <a:t>The value that appears most often. </a:t>
            </a:r>
          </a:p>
          <a:p>
            <a:r>
              <a:rPr lang="en-AU" dirty="0" smtClean="0">
                <a:solidFill>
                  <a:srgbClr val="00B050"/>
                </a:solidFill>
              </a:rPr>
              <a:t>A data set could have 1 mode or 2 modes (bimodal) or no mode</a:t>
            </a:r>
            <a:endParaRPr lang="en-AU" dirty="0">
              <a:solidFill>
                <a:srgbClr val="00B050"/>
              </a:solidFill>
            </a:endParaRPr>
          </a:p>
        </p:txBody>
      </p:sp>
      <p:sp>
        <p:nvSpPr>
          <p:cNvPr id="20" name="TextBox 19"/>
          <p:cNvSpPr txBox="1"/>
          <p:nvPr/>
        </p:nvSpPr>
        <p:spPr>
          <a:xfrm>
            <a:off x="180939" y="3950901"/>
            <a:ext cx="97719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dirty="0" smtClean="0"/>
              <a:t>Example</a:t>
            </a:r>
            <a:endParaRPr lang="en-AU" dirty="0"/>
          </a:p>
        </p:txBody>
      </p:sp>
      <p:sp>
        <p:nvSpPr>
          <p:cNvPr id="21" name="TextBox 20"/>
          <p:cNvSpPr txBox="1"/>
          <p:nvPr/>
        </p:nvSpPr>
        <p:spPr>
          <a:xfrm>
            <a:off x="2996638" y="3933568"/>
            <a:ext cx="601081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dirty="0" smtClean="0"/>
              <a:t>Find the mean, median and mode for the following set of data</a:t>
            </a:r>
            <a:endParaRPr lang="en-AU" dirty="0"/>
          </a:p>
        </p:txBody>
      </p:sp>
      <p:graphicFrame>
        <p:nvGraphicFramePr>
          <p:cNvPr id="22" name="Table 2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865995358"/>
              </p:ext>
            </p:extLst>
          </p:nvPr>
        </p:nvGraphicFramePr>
        <p:xfrm>
          <a:off x="2941141" y="4365104"/>
          <a:ext cx="6096000" cy="3657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16000"/>
                <a:gridCol w="1016000"/>
                <a:gridCol w="1016000"/>
                <a:gridCol w="1016000"/>
                <a:gridCol w="1016000"/>
                <a:gridCol w="1016000"/>
              </a:tblGrid>
              <a:tr h="333237">
                <a:tc>
                  <a:txBody>
                    <a:bodyPr/>
                    <a:lstStyle/>
                    <a:p>
                      <a:pPr algn="ctr"/>
                      <a:r>
                        <a:rPr lang="en-AU" dirty="0" smtClean="0">
                          <a:solidFill>
                            <a:schemeClr val="tx1"/>
                          </a:solidFill>
                        </a:rPr>
                        <a:t>2</a:t>
                      </a:r>
                      <a:endParaRPr lang="en-AU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AU" dirty="0" smtClean="0">
                          <a:solidFill>
                            <a:schemeClr val="tx1"/>
                          </a:solidFill>
                        </a:rPr>
                        <a:t>3</a:t>
                      </a:r>
                      <a:endParaRPr lang="en-AU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AU" dirty="0" smtClean="0">
                          <a:solidFill>
                            <a:schemeClr val="tx1"/>
                          </a:solidFill>
                        </a:rPr>
                        <a:t>3</a:t>
                      </a:r>
                      <a:endParaRPr lang="en-AU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AU" dirty="0" smtClean="0">
                          <a:solidFill>
                            <a:schemeClr val="tx1"/>
                          </a:solidFill>
                        </a:rPr>
                        <a:t>4</a:t>
                      </a:r>
                      <a:endParaRPr lang="en-AU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AU" dirty="0" smtClean="0">
                          <a:solidFill>
                            <a:schemeClr val="tx1"/>
                          </a:solidFill>
                        </a:rPr>
                        <a:t>5</a:t>
                      </a:r>
                      <a:endParaRPr lang="en-AU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AU" dirty="0" smtClean="0">
                          <a:solidFill>
                            <a:schemeClr val="tx1"/>
                          </a:solidFill>
                        </a:rPr>
                        <a:t>7</a:t>
                      </a:r>
                      <a:endParaRPr lang="en-AU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</a:tbl>
          </a:graphicData>
        </a:graphic>
      </p:graphicFrame>
      <mc:AlternateContent xmlns:mc="http://schemas.openxmlformats.org/markup-compatibility/2006" xmlns:a14="http://schemas.microsoft.com/office/drawing/2010/main">
        <mc:Choice Requires="a14">
          <p:sp>
            <p:nvSpPr>
              <p:cNvPr id="3" name="TextBox 2"/>
              <p:cNvSpPr txBox="1"/>
              <p:nvPr/>
            </p:nvSpPr>
            <p:spPr>
              <a:xfrm>
                <a:off x="3008280" y="4850586"/>
                <a:ext cx="3073277" cy="489686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AU" dirty="0" smtClean="0"/>
                  <a:t>Mean =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AU" i="1" smtClean="0">
                            <a:latin typeface="Cambria Math"/>
                          </a:rPr>
                        </m:ctrlPr>
                      </m:fPr>
                      <m:num>
                        <m:r>
                          <a:rPr lang="en-AU" b="0" i="1" smtClean="0">
                            <a:latin typeface="Cambria Math"/>
                          </a:rPr>
                          <m:t>2+3+3+4+5+7</m:t>
                        </m:r>
                      </m:num>
                      <m:den>
                        <m:r>
                          <a:rPr lang="en-AU" b="0" i="1" smtClean="0">
                            <a:latin typeface="Cambria Math"/>
                          </a:rPr>
                          <m:t>6</m:t>
                        </m:r>
                      </m:den>
                    </m:f>
                    <m:r>
                      <a:rPr lang="en-AU" b="0" i="1" smtClean="0">
                        <a:latin typeface="Cambria Math"/>
                      </a:rPr>
                      <m:t>=</m:t>
                    </m:r>
                    <m:f>
                      <m:fPr>
                        <m:ctrlPr>
                          <a:rPr lang="en-AU" b="0" i="1" smtClean="0">
                            <a:latin typeface="Cambria Math"/>
                          </a:rPr>
                        </m:ctrlPr>
                      </m:fPr>
                      <m:num>
                        <m:r>
                          <a:rPr lang="en-AU" b="0" i="1" smtClean="0">
                            <a:latin typeface="Cambria Math"/>
                          </a:rPr>
                          <m:t>24</m:t>
                        </m:r>
                      </m:num>
                      <m:den>
                        <m:r>
                          <a:rPr lang="en-AU" b="0" i="1" smtClean="0">
                            <a:latin typeface="Cambria Math"/>
                          </a:rPr>
                          <m:t>6</m:t>
                        </m:r>
                      </m:den>
                    </m:f>
                    <m:r>
                      <a:rPr lang="en-AU" b="0" i="1" smtClean="0">
                        <a:latin typeface="Cambria Math"/>
                      </a:rPr>
                      <m:t>=4</m:t>
                    </m:r>
                  </m:oMath>
                </a14:m>
                <a:r>
                  <a:rPr lang="en-AU" dirty="0" smtClean="0"/>
                  <a:t> </a:t>
                </a:r>
                <a:endParaRPr lang="en-AU" dirty="0"/>
              </a:p>
            </p:txBody>
          </p:sp>
        </mc:Choice>
        <mc:Fallback xmlns="">
          <p:sp>
            <p:nvSpPr>
              <p:cNvPr id="3" name="TextBox 2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008280" y="4850586"/>
                <a:ext cx="3073277" cy="489686"/>
              </a:xfrm>
              <a:prstGeom prst="rect">
                <a:avLst/>
              </a:prstGeom>
              <a:blipFill rotWithShape="1">
                <a:blip r:embed="rId3" cstate="print"/>
                <a:stretch>
                  <a:fillRect l="-1584" b="-7500"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TextBox 4"/>
              <p:cNvSpPr txBox="1"/>
              <p:nvPr/>
            </p:nvSpPr>
            <p:spPr>
              <a:xfrm>
                <a:off x="3040788" y="5548590"/>
                <a:ext cx="4706930" cy="484043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AU" dirty="0" smtClean="0">
                    <a:solidFill>
                      <a:srgbClr val="0070C0"/>
                    </a:solidFill>
                  </a:rPr>
                  <a:t>Median =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AU" i="1" smtClean="0">
                            <a:solidFill>
                              <a:srgbClr val="0070C0"/>
                            </a:solidFill>
                            <a:latin typeface="Cambria Math"/>
                          </a:rPr>
                        </m:ctrlPr>
                      </m:fPr>
                      <m:num>
                        <m:r>
                          <a:rPr lang="en-AU" b="0" i="1" smtClean="0">
                            <a:solidFill>
                              <a:srgbClr val="0070C0"/>
                            </a:solidFill>
                            <a:latin typeface="Cambria Math"/>
                          </a:rPr>
                          <m:t>3+4</m:t>
                        </m:r>
                      </m:num>
                      <m:den>
                        <m:r>
                          <a:rPr lang="en-AU" b="0" i="1" smtClean="0">
                            <a:solidFill>
                              <a:srgbClr val="0070C0"/>
                            </a:solidFill>
                            <a:latin typeface="Cambria Math"/>
                          </a:rPr>
                          <m:t>2</m:t>
                        </m:r>
                      </m:den>
                    </m:f>
                    <m:r>
                      <a:rPr lang="en-AU" b="0" i="1" smtClean="0">
                        <a:solidFill>
                          <a:srgbClr val="0070C0"/>
                        </a:solidFill>
                        <a:latin typeface="Cambria Math"/>
                      </a:rPr>
                      <m:t>=3.5</m:t>
                    </m:r>
                  </m:oMath>
                </a14:m>
                <a:r>
                  <a:rPr lang="en-AU" dirty="0" smtClean="0">
                    <a:solidFill>
                      <a:srgbClr val="0070C0"/>
                    </a:solidFill>
                  </a:rPr>
                  <a:t> (halfway between 3 and 4)  </a:t>
                </a:r>
                <a:endParaRPr lang="en-AU" dirty="0">
                  <a:solidFill>
                    <a:srgbClr val="0070C0"/>
                  </a:solidFill>
                </a:endParaRPr>
              </a:p>
            </p:txBody>
          </p:sp>
        </mc:Choice>
        <mc:Fallback xmlns="">
          <p:sp>
            <p:nvSpPr>
              <p:cNvPr id="5" name="TextBox 4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040788" y="5548590"/>
                <a:ext cx="4706930" cy="484043"/>
              </a:xfrm>
              <a:prstGeom prst="rect">
                <a:avLst/>
              </a:prstGeom>
              <a:blipFill rotWithShape="1">
                <a:blip r:embed="rId4" cstate="print"/>
                <a:stretch>
                  <a:fillRect l="-1166" r="-130" b="-7500"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8" name="Oval 7"/>
          <p:cNvSpPr/>
          <p:nvPr/>
        </p:nvSpPr>
        <p:spPr>
          <a:xfrm>
            <a:off x="5220072" y="4322466"/>
            <a:ext cx="504056" cy="530353"/>
          </a:xfrm>
          <a:prstGeom prst="ellipse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  <p:sp>
        <p:nvSpPr>
          <p:cNvPr id="23" name="Oval 22"/>
          <p:cNvSpPr/>
          <p:nvPr/>
        </p:nvSpPr>
        <p:spPr>
          <a:xfrm>
            <a:off x="6228184" y="4325182"/>
            <a:ext cx="504056" cy="530353"/>
          </a:xfrm>
          <a:prstGeom prst="ellipse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  <p:sp>
        <p:nvSpPr>
          <p:cNvPr id="13" name="TextBox 12"/>
          <p:cNvSpPr txBox="1"/>
          <p:nvPr/>
        </p:nvSpPr>
        <p:spPr>
          <a:xfrm>
            <a:off x="3154707" y="6304002"/>
            <a:ext cx="110639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dirty="0" smtClean="0">
                <a:solidFill>
                  <a:srgbClr val="00B050"/>
                </a:solidFill>
              </a:rPr>
              <a:t>Mode is 3</a:t>
            </a:r>
            <a:endParaRPr lang="en-AU" dirty="0">
              <a:solidFill>
                <a:srgbClr val="00B050"/>
              </a:solidFill>
            </a:endParaRPr>
          </a:p>
        </p:txBody>
      </p:sp>
      <p:sp>
        <p:nvSpPr>
          <p:cNvPr id="24" name="TextBox 23"/>
          <p:cNvSpPr txBox="1"/>
          <p:nvPr/>
        </p:nvSpPr>
        <p:spPr>
          <a:xfrm>
            <a:off x="665095" y="348705"/>
            <a:ext cx="6824817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sz="2800" dirty="0" smtClean="0"/>
              <a:t>Measures of </a:t>
            </a:r>
            <a:r>
              <a:rPr lang="en-AU" sz="2800" dirty="0" smtClean="0"/>
              <a:t>Centre and Spread for a Data Set</a:t>
            </a:r>
            <a:endParaRPr lang="en-AU" sz="2800" dirty="0"/>
          </a:p>
        </p:txBody>
      </p:sp>
    </p:spTree>
    <p:extLst>
      <p:ext uri="{BB962C8B-B14F-4D97-AF65-F5344CB8AC3E}">
        <p14:creationId xmlns:p14="http://schemas.microsoft.com/office/powerpoint/2010/main" val="7728676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8748464" y="6488668"/>
            <a:ext cx="54977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 smtClean="0"/>
              <a:t> </a:t>
            </a:r>
            <a:r>
              <a:rPr lang="en-AU" dirty="0"/>
              <a:t>5</a:t>
            </a:r>
          </a:p>
        </p:txBody>
      </p:sp>
      <p:cxnSp>
        <p:nvCxnSpPr>
          <p:cNvPr id="4" name="Straight Connector 3"/>
          <p:cNvCxnSpPr/>
          <p:nvPr/>
        </p:nvCxnSpPr>
        <p:spPr>
          <a:xfrm>
            <a:off x="0" y="980728"/>
            <a:ext cx="9144000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6" name="Straight Connector 5"/>
          <p:cNvCxnSpPr/>
          <p:nvPr/>
        </p:nvCxnSpPr>
        <p:spPr>
          <a:xfrm>
            <a:off x="0" y="1916832"/>
            <a:ext cx="9144000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93471" y="149731"/>
            <a:ext cx="576064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1600" dirty="0" smtClean="0"/>
              <a:t>24</a:t>
            </a:r>
          </a:p>
          <a:p>
            <a:r>
              <a:rPr lang="en-AU" sz="1600" dirty="0" smtClean="0"/>
              <a:t>7</a:t>
            </a:r>
          </a:p>
          <a:p>
            <a:r>
              <a:rPr lang="en-AU" sz="1600" dirty="0" smtClean="0"/>
              <a:t>30</a:t>
            </a:r>
            <a:endParaRPr lang="en-AU" sz="1600" dirty="0"/>
          </a:p>
        </p:txBody>
      </p:sp>
      <p:cxnSp>
        <p:nvCxnSpPr>
          <p:cNvPr id="9" name="Straight Connector 8"/>
          <p:cNvCxnSpPr/>
          <p:nvPr/>
        </p:nvCxnSpPr>
        <p:spPr>
          <a:xfrm>
            <a:off x="2915816" y="1916832"/>
            <a:ext cx="0" cy="5112568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11" name="TextBox 10"/>
          <p:cNvSpPr txBox="1"/>
          <p:nvPr/>
        </p:nvSpPr>
        <p:spPr>
          <a:xfrm>
            <a:off x="7439175" y="106354"/>
            <a:ext cx="158417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dirty="0" smtClean="0"/>
              <a:t>Date</a:t>
            </a:r>
            <a:endParaRPr lang="en-AU" sz="2400" dirty="0"/>
          </a:p>
        </p:txBody>
      </p:sp>
      <p:sp>
        <p:nvSpPr>
          <p:cNvPr id="12" name="TextBox 11"/>
          <p:cNvSpPr txBox="1"/>
          <p:nvPr/>
        </p:nvSpPr>
        <p:spPr>
          <a:xfrm>
            <a:off x="119514" y="1063436"/>
            <a:ext cx="8620422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dirty="0" smtClean="0"/>
              <a:t>EQ – Describe the differences between the different types of averages. </a:t>
            </a:r>
            <a:endParaRPr lang="en-AU" sz="2400" dirty="0"/>
          </a:p>
        </p:txBody>
      </p:sp>
      <p:sp>
        <p:nvSpPr>
          <p:cNvPr id="20" name="TextBox 19"/>
          <p:cNvSpPr txBox="1"/>
          <p:nvPr/>
        </p:nvSpPr>
        <p:spPr>
          <a:xfrm>
            <a:off x="152985" y="2042336"/>
            <a:ext cx="97719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dirty="0" smtClean="0"/>
              <a:t>Example</a:t>
            </a:r>
            <a:endParaRPr lang="en-AU" dirty="0"/>
          </a:p>
        </p:txBody>
      </p:sp>
      <p:sp>
        <p:nvSpPr>
          <p:cNvPr id="21" name="TextBox 20"/>
          <p:cNvSpPr txBox="1"/>
          <p:nvPr/>
        </p:nvSpPr>
        <p:spPr>
          <a:xfrm>
            <a:off x="2968684" y="2025003"/>
            <a:ext cx="601081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dirty="0" smtClean="0"/>
              <a:t>Find the mean, median and mode for the following set of data</a:t>
            </a:r>
            <a:endParaRPr lang="en-AU" dirty="0"/>
          </a:p>
        </p:txBody>
      </p:sp>
      <p:graphicFrame>
        <p:nvGraphicFramePr>
          <p:cNvPr id="22" name="Table 2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5781091"/>
              </p:ext>
            </p:extLst>
          </p:nvPr>
        </p:nvGraphicFramePr>
        <p:xfrm>
          <a:off x="2913187" y="2456539"/>
          <a:ext cx="6096000" cy="3657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16000"/>
                <a:gridCol w="1016000"/>
                <a:gridCol w="1016000"/>
                <a:gridCol w="1016000"/>
                <a:gridCol w="1016000"/>
                <a:gridCol w="1016000"/>
              </a:tblGrid>
              <a:tr h="333237">
                <a:tc>
                  <a:txBody>
                    <a:bodyPr/>
                    <a:lstStyle/>
                    <a:p>
                      <a:pPr algn="ctr"/>
                      <a:r>
                        <a:rPr lang="en-AU" dirty="0" smtClean="0">
                          <a:solidFill>
                            <a:schemeClr val="tx1"/>
                          </a:solidFill>
                        </a:rPr>
                        <a:t>2</a:t>
                      </a:r>
                      <a:endParaRPr lang="en-AU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AU" dirty="0" smtClean="0">
                          <a:solidFill>
                            <a:schemeClr val="tx1"/>
                          </a:solidFill>
                        </a:rPr>
                        <a:t>3</a:t>
                      </a:r>
                      <a:endParaRPr lang="en-AU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AU" dirty="0" smtClean="0">
                          <a:solidFill>
                            <a:schemeClr val="tx1"/>
                          </a:solidFill>
                        </a:rPr>
                        <a:t>3</a:t>
                      </a:r>
                      <a:endParaRPr lang="en-AU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AU" dirty="0" smtClean="0">
                          <a:solidFill>
                            <a:schemeClr val="tx1"/>
                          </a:solidFill>
                        </a:rPr>
                        <a:t>4</a:t>
                      </a:r>
                      <a:endParaRPr lang="en-AU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AU" dirty="0" smtClean="0">
                          <a:solidFill>
                            <a:schemeClr val="tx1"/>
                          </a:solidFill>
                        </a:rPr>
                        <a:t>5</a:t>
                      </a:r>
                      <a:endParaRPr lang="en-AU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AU" dirty="0" smtClean="0">
                          <a:solidFill>
                            <a:schemeClr val="tx1"/>
                          </a:solidFill>
                        </a:rPr>
                        <a:t>7</a:t>
                      </a:r>
                      <a:endParaRPr lang="en-AU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</a:tbl>
          </a:graphicData>
        </a:graphic>
      </p:graphicFrame>
      <mc:AlternateContent xmlns:mc="http://schemas.openxmlformats.org/markup-compatibility/2006">
        <mc:Choice xmlns:a14="http://schemas.microsoft.com/office/drawing/2010/main" Requires="a14">
          <p:sp>
            <p:nvSpPr>
              <p:cNvPr id="3" name="TextBox 2"/>
              <p:cNvSpPr txBox="1"/>
              <p:nvPr/>
            </p:nvSpPr>
            <p:spPr>
              <a:xfrm>
                <a:off x="2980326" y="2942021"/>
                <a:ext cx="3073277" cy="489686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AU" dirty="0" smtClean="0"/>
                  <a:t>Mean =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AU" i="1" smtClean="0">
                            <a:latin typeface="Cambria Math"/>
                          </a:rPr>
                        </m:ctrlPr>
                      </m:fPr>
                      <m:num>
                        <m:r>
                          <a:rPr lang="en-AU" b="0" i="1" smtClean="0">
                            <a:latin typeface="Cambria Math"/>
                          </a:rPr>
                          <m:t>2+3+3+4+5+7</m:t>
                        </m:r>
                      </m:num>
                      <m:den>
                        <m:r>
                          <a:rPr lang="en-AU" b="0" i="1" smtClean="0">
                            <a:latin typeface="Cambria Math"/>
                          </a:rPr>
                          <m:t>6</m:t>
                        </m:r>
                      </m:den>
                    </m:f>
                    <m:r>
                      <a:rPr lang="en-AU" b="0" i="1" smtClean="0">
                        <a:latin typeface="Cambria Math"/>
                      </a:rPr>
                      <m:t>=</m:t>
                    </m:r>
                    <m:f>
                      <m:fPr>
                        <m:ctrlPr>
                          <a:rPr lang="en-AU" b="0" i="1" smtClean="0">
                            <a:latin typeface="Cambria Math"/>
                          </a:rPr>
                        </m:ctrlPr>
                      </m:fPr>
                      <m:num>
                        <m:r>
                          <a:rPr lang="en-AU" b="0" i="1" smtClean="0">
                            <a:latin typeface="Cambria Math"/>
                          </a:rPr>
                          <m:t>24</m:t>
                        </m:r>
                      </m:num>
                      <m:den>
                        <m:r>
                          <a:rPr lang="en-AU" b="0" i="1" smtClean="0">
                            <a:latin typeface="Cambria Math"/>
                          </a:rPr>
                          <m:t>6</m:t>
                        </m:r>
                      </m:den>
                    </m:f>
                    <m:r>
                      <a:rPr lang="en-AU" b="0" i="1" smtClean="0">
                        <a:latin typeface="Cambria Math"/>
                      </a:rPr>
                      <m:t>=4</m:t>
                    </m:r>
                  </m:oMath>
                </a14:m>
                <a:r>
                  <a:rPr lang="en-AU" dirty="0" smtClean="0"/>
                  <a:t> </a:t>
                </a:r>
                <a:endParaRPr lang="en-AU" dirty="0"/>
              </a:p>
            </p:txBody>
          </p:sp>
        </mc:Choice>
        <mc:Fallback>
          <p:sp>
            <p:nvSpPr>
              <p:cNvPr id="3" name="TextBox 2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980326" y="2942021"/>
                <a:ext cx="3073277" cy="489686"/>
              </a:xfrm>
              <a:prstGeom prst="rect">
                <a:avLst/>
              </a:prstGeom>
              <a:blipFill rotWithShape="1">
                <a:blip r:embed="rId3"/>
                <a:stretch>
                  <a:fillRect l="-1786" b="-7500"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5" name="TextBox 4"/>
              <p:cNvSpPr txBox="1"/>
              <p:nvPr/>
            </p:nvSpPr>
            <p:spPr>
              <a:xfrm>
                <a:off x="3012834" y="3640025"/>
                <a:ext cx="4706930" cy="484043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AU" dirty="0" smtClean="0">
                    <a:solidFill>
                      <a:srgbClr val="0070C0"/>
                    </a:solidFill>
                  </a:rPr>
                  <a:t>Median =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AU" i="1" smtClean="0">
                            <a:solidFill>
                              <a:srgbClr val="0070C0"/>
                            </a:solidFill>
                            <a:latin typeface="Cambria Math"/>
                          </a:rPr>
                        </m:ctrlPr>
                      </m:fPr>
                      <m:num>
                        <m:r>
                          <a:rPr lang="en-AU" b="0" i="1" smtClean="0">
                            <a:solidFill>
                              <a:srgbClr val="0070C0"/>
                            </a:solidFill>
                            <a:latin typeface="Cambria Math"/>
                          </a:rPr>
                          <m:t>3+4</m:t>
                        </m:r>
                      </m:num>
                      <m:den>
                        <m:r>
                          <a:rPr lang="en-AU" b="0" i="1" smtClean="0">
                            <a:solidFill>
                              <a:srgbClr val="0070C0"/>
                            </a:solidFill>
                            <a:latin typeface="Cambria Math"/>
                          </a:rPr>
                          <m:t>2</m:t>
                        </m:r>
                      </m:den>
                    </m:f>
                    <m:r>
                      <a:rPr lang="en-AU" b="0" i="1" smtClean="0">
                        <a:solidFill>
                          <a:srgbClr val="0070C0"/>
                        </a:solidFill>
                        <a:latin typeface="Cambria Math"/>
                      </a:rPr>
                      <m:t>=3.5</m:t>
                    </m:r>
                  </m:oMath>
                </a14:m>
                <a:r>
                  <a:rPr lang="en-AU" dirty="0" smtClean="0">
                    <a:solidFill>
                      <a:srgbClr val="0070C0"/>
                    </a:solidFill>
                  </a:rPr>
                  <a:t> (halfway between 3 and 4)  </a:t>
                </a:r>
                <a:endParaRPr lang="en-AU" dirty="0">
                  <a:solidFill>
                    <a:srgbClr val="0070C0"/>
                  </a:solidFill>
                </a:endParaRPr>
              </a:p>
            </p:txBody>
          </p:sp>
        </mc:Choice>
        <mc:Fallback>
          <p:sp>
            <p:nvSpPr>
              <p:cNvPr id="5" name="TextBox 4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012834" y="3640025"/>
                <a:ext cx="4706930" cy="484043"/>
              </a:xfrm>
              <a:prstGeom prst="rect">
                <a:avLst/>
              </a:prstGeom>
              <a:blipFill rotWithShape="1">
                <a:blip r:embed="rId4"/>
                <a:stretch>
                  <a:fillRect l="-1036" r="-259" b="-7500"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8" name="Oval 7"/>
          <p:cNvSpPr/>
          <p:nvPr/>
        </p:nvSpPr>
        <p:spPr>
          <a:xfrm>
            <a:off x="5192118" y="2413901"/>
            <a:ext cx="504056" cy="530353"/>
          </a:xfrm>
          <a:prstGeom prst="ellipse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  <p:sp>
        <p:nvSpPr>
          <p:cNvPr id="23" name="Oval 22"/>
          <p:cNvSpPr/>
          <p:nvPr/>
        </p:nvSpPr>
        <p:spPr>
          <a:xfrm>
            <a:off x="6200230" y="2416617"/>
            <a:ext cx="504056" cy="530353"/>
          </a:xfrm>
          <a:prstGeom prst="ellipse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  <p:sp>
        <p:nvSpPr>
          <p:cNvPr id="13" name="TextBox 12"/>
          <p:cNvSpPr txBox="1"/>
          <p:nvPr/>
        </p:nvSpPr>
        <p:spPr>
          <a:xfrm>
            <a:off x="7020272" y="2946970"/>
            <a:ext cx="110639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dirty="0" smtClean="0">
                <a:solidFill>
                  <a:srgbClr val="00B050"/>
                </a:solidFill>
              </a:rPr>
              <a:t>Mode is 3</a:t>
            </a:r>
            <a:endParaRPr lang="en-AU" dirty="0">
              <a:solidFill>
                <a:srgbClr val="00B050"/>
              </a:solidFill>
            </a:endParaRPr>
          </a:p>
        </p:txBody>
      </p:sp>
      <p:sp>
        <p:nvSpPr>
          <p:cNvPr id="24" name="TextBox 23"/>
          <p:cNvSpPr txBox="1"/>
          <p:nvPr/>
        </p:nvSpPr>
        <p:spPr>
          <a:xfrm>
            <a:off x="150014" y="4103784"/>
            <a:ext cx="203581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dirty="0" smtClean="0"/>
              <a:t>What are quartiles?</a:t>
            </a:r>
            <a:endParaRPr lang="en-AU" dirty="0"/>
          </a:p>
        </p:txBody>
      </p:sp>
      <p:sp>
        <p:nvSpPr>
          <p:cNvPr id="25" name="TextBox 24"/>
          <p:cNvSpPr txBox="1"/>
          <p:nvPr/>
        </p:nvSpPr>
        <p:spPr>
          <a:xfrm>
            <a:off x="665095" y="348705"/>
            <a:ext cx="6824817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sz="2800" dirty="0" smtClean="0"/>
              <a:t>Measures of </a:t>
            </a:r>
            <a:r>
              <a:rPr lang="en-AU" sz="2800" dirty="0" smtClean="0"/>
              <a:t>Centre and Spread for a Data Set</a:t>
            </a:r>
            <a:endParaRPr lang="en-AU" sz="2800" dirty="0"/>
          </a:p>
        </p:txBody>
      </p:sp>
    </p:spTree>
    <p:extLst>
      <p:ext uri="{BB962C8B-B14F-4D97-AF65-F5344CB8AC3E}">
        <p14:creationId xmlns:p14="http://schemas.microsoft.com/office/powerpoint/2010/main" val="172737276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8748464" y="6488668"/>
            <a:ext cx="54977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 smtClean="0"/>
              <a:t> </a:t>
            </a:r>
            <a:r>
              <a:rPr lang="en-AU" dirty="0"/>
              <a:t>5</a:t>
            </a:r>
          </a:p>
        </p:txBody>
      </p:sp>
      <p:cxnSp>
        <p:nvCxnSpPr>
          <p:cNvPr id="4" name="Straight Connector 3"/>
          <p:cNvCxnSpPr/>
          <p:nvPr/>
        </p:nvCxnSpPr>
        <p:spPr>
          <a:xfrm>
            <a:off x="0" y="980728"/>
            <a:ext cx="9144000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6" name="Straight Connector 5"/>
          <p:cNvCxnSpPr/>
          <p:nvPr/>
        </p:nvCxnSpPr>
        <p:spPr>
          <a:xfrm>
            <a:off x="0" y="1916832"/>
            <a:ext cx="9144000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93471" y="149731"/>
            <a:ext cx="576064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1600" dirty="0" smtClean="0"/>
              <a:t>24</a:t>
            </a:r>
          </a:p>
          <a:p>
            <a:r>
              <a:rPr lang="en-AU" sz="1600" dirty="0" smtClean="0"/>
              <a:t>7</a:t>
            </a:r>
          </a:p>
          <a:p>
            <a:r>
              <a:rPr lang="en-AU" sz="1600" dirty="0" smtClean="0"/>
              <a:t>30</a:t>
            </a:r>
            <a:endParaRPr lang="en-AU" sz="1600" dirty="0"/>
          </a:p>
        </p:txBody>
      </p:sp>
      <p:cxnSp>
        <p:nvCxnSpPr>
          <p:cNvPr id="9" name="Straight Connector 8"/>
          <p:cNvCxnSpPr/>
          <p:nvPr/>
        </p:nvCxnSpPr>
        <p:spPr>
          <a:xfrm>
            <a:off x="2915816" y="1916832"/>
            <a:ext cx="0" cy="5112568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11" name="TextBox 10"/>
          <p:cNvSpPr txBox="1"/>
          <p:nvPr/>
        </p:nvSpPr>
        <p:spPr>
          <a:xfrm>
            <a:off x="7439175" y="106354"/>
            <a:ext cx="158417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dirty="0" smtClean="0"/>
              <a:t>Date</a:t>
            </a:r>
            <a:endParaRPr lang="en-AU" sz="2400" dirty="0"/>
          </a:p>
        </p:txBody>
      </p:sp>
      <p:sp>
        <p:nvSpPr>
          <p:cNvPr id="12" name="TextBox 11"/>
          <p:cNvSpPr txBox="1"/>
          <p:nvPr/>
        </p:nvSpPr>
        <p:spPr>
          <a:xfrm>
            <a:off x="119514" y="1063436"/>
            <a:ext cx="8620422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dirty="0" smtClean="0"/>
              <a:t>EQ – Describe the differences between the different types of averages. </a:t>
            </a:r>
            <a:endParaRPr lang="en-AU" sz="2400" dirty="0"/>
          </a:p>
        </p:txBody>
      </p:sp>
      <p:sp>
        <p:nvSpPr>
          <p:cNvPr id="20" name="TextBox 19"/>
          <p:cNvSpPr txBox="1"/>
          <p:nvPr/>
        </p:nvSpPr>
        <p:spPr>
          <a:xfrm>
            <a:off x="152985" y="2042336"/>
            <a:ext cx="97719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dirty="0" smtClean="0"/>
              <a:t>Example</a:t>
            </a:r>
            <a:endParaRPr lang="en-AU" dirty="0"/>
          </a:p>
        </p:txBody>
      </p:sp>
      <p:sp>
        <p:nvSpPr>
          <p:cNvPr id="21" name="TextBox 20"/>
          <p:cNvSpPr txBox="1"/>
          <p:nvPr/>
        </p:nvSpPr>
        <p:spPr>
          <a:xfrm>
            <a:off x="2968684" y="2025003"/>
            <a:ext cx="601081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dirty="0" smtClean="0"/>
              <a:t>Find the mean, median and mode for the following set of data</a:t>
            </a:r>
            <a:endParaRPr lang="en-AU" dirty="0"/>
          </a:p>
        </p:txBody>
      </p:sp>
      <p:graphicFrame>
        <p:nvGraphicFramePr>
          <p:cNvPr id="22" name="Table 2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411813408"/>
              </p:ext>
            </p:extLst>
          </p:nvPr>
        </p:nvGraphicFramePr>
        <p:xfrm>
          <a:off x="2913187" y="2456539"/>
          <a:ext cx="6096000" cy="3657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16000"/>
                <a:gridCol w="1016000"/>
                <a:gridCol w="1016000"/>
                <a:gridCol w="1016000"/>
                <a:gridCol w="1016000"/>
                <a:gridCol w="1016000"/>
              </a:tblGrid>
              <a:tr h="333237">
                <a:tc>
                  <a:txBody>
                    <a:bodyPr/>
                    <a:lstStyle/>
                    <a:p>
                      <a:pPr algn="ctr"/>
                      <a:r>
                        <a:rPr lang="en-AU" dirty="0" smtClean="0">
                          <a:solidFill>
                            <a:schemeClr val="tx1"/>
                          </a:solidFill>
                        </a:rPr>
                        <a:t>2</a:t>
                      </a:r>
                      <a:endParaRPr lang="en-AU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AU" dirty="0" smtClean="0">
                          <a:solidFill>
                            <a:schemeClr val="tx1"/>
                          </a:solidFill>
                        </a:rPr>
                        <a:t>3</a:t>
                      </a:r>
                      <a:endParaRPr lang="en-AU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AU" dirty="0" smtClean="0">
                          <a:solidFill>
                            <a:schemeClr val="tx1"/>
                          </a:solidFill>
                        </a:rPr>
                        <a:t>3</a:t>
                      </a:r>
                      <a:endParaRPr lang="en-AU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AU" dirty="0" smtClean="0">
                          <a:solidFill>
                            <a:schemeClr val="tx1"/>
                          </a:solidFill>
                        </a:rPr>
                        <a:t>4</a:t>
                      </a:r>
                      <a:endParaRPr lang="en-AU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AU" dirty="0" smtClean="0">
                          <a:solidFill>
                            <a:schemeClr val="tx1"/>
                          </a:solidFill>
                        </a:rPr>
                        <a:t>5</a:t>
                      </a:r>
                      <a:endParaRPr lang="en-AU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AU" dirty="0" smtClean="0">
                          <a:solidFill>
                            <a:schemeClr val="tx1"/>
                          </a:solidFill>
                        </a:rPr>
                        <a:t>7</a:t>
                      </a:r>
                      <a:endParaRPr lang="en-AU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</a:tbl>
          </a:graphicData>
        </a:graphic>
      </p:graphicFrame>
      <mc:AlternateContent xmlns:mc="http://schemas.openxmlformats.org/markup-compatibility/2006">
        <mc:Choice xmlns:a14="http://schemas.microsoft.com/office/drawing/2010/main" Requires="a14">
          <p:sp>
            <p:nvSpPr>
              <p:cNvPr id="3" name="TextBox 2"/>
              <p:cNvSpPr txBox="1"/>
              <p:nvPr/>
            </p:nvSpPr>
            <p:spPr>
              <a:xfrm>
                <a:off x="2980326" y="2942021"/>
                <a:ext cx="3073277" cy="489686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AU" dirty="0" smtClean="0"/>
                  <a:t>Mean =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AU" i="1" smtClean="0">
                            <a:latin typeface="Cambria Math"/>
                          </a:rPr>
                        </m:ctrlPr>
                      </m:fPr>
                      <m:num>
                        <m:r>
                          <a:rPr lang="en-AU" b="0" i="1" smtClean="0">
                            <a:latin typeface="Cambria Math"/>
                          </a:rPr>
                          <m:t>2+3+3+4+5+7</m:t>
                        </m:r>
                      </m:num>
                      <m:den>
                        <m:r>
                          <a:rPr lang="en-AU" b="0" i="1" smtClean="0">
                            <a:latin typeface="Cambria Math"/>
                          </a:rPr>
                          <m:t>6</m:t>
                        </m:r>
                      </m:den>
                    </m:f>
                    <m:r>
                      <a:rPr lang="en-AU" b="0" i="1" smtClean="0">
                        <a:latin typeface="Cambria Math"/>
                      </a:rPr>
                      <m:t>=</m:t>
                    </m:r>
                    <m:f>
                      <m:fPr>
                        <m:ctrlPr>
                          <a:rPr lang="en-AU" b="0" i="1" smtClean="0">
                            <a:latin typeface="Cambria Math"/>
                          </a:rPr>
                        </m:ctrlPr>
                      </m:fPr>
                      <m:num>
                        <m:r>
                          <a:rPr lang="en-AU" b="0" i="1" smtClean="0">
                            <a:latin typeface="Cambria Math"/>
                          </a:rPr>
                          <m:t>24</m:t>
                        </m:r>
                      </m:num>
                      <m:den>
                        <m:r>
                          <a:rPr lang="en-AU" b="0" i="1" smtClean="0">
                            <a:latin typeface="Cambria Math"/>
                          </a:rPr>
                          <m:t>6</m:t>
                        </m:r>
                      </m:den>
                    </m:f>
                    <m:r>
                      <a:rPr lang="en-AU" b="0" i="1" smtClean="0">
                        <a:latin typeface="Cambria Math"/>
                      </a:rPr>
                      <m:t>=4</m:t>
                    </m:r>
                  </m:oMath>
                </a14:m>
                <a:r>
                  <a:rPr lang="en-AU" dirty="0" smtClean="0"/>
                  <a:t> </a:t>
                </a:r>
                <a:endParaRPr lang="en-AU" dirty="0"/>
              </a:p>
            </p:txBody>
          </p:sp>
        </mc:Choice>
        <mc:Fallback>
          <p:sp>
            <p:nvSpPr>
              <p:cNvPr id="3" name="TextBox 2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980326" y="2942021"/>
                <a:ext cx="3073277" cy="489686"/>
              </a:xfrm>
              <a:prstGeom prst="rect">
                <a:avLst/>
              </a:prstGeom>
              <a:blipFill rotWithShape="1">
                <a:blip r:embed="rId3"/>
                <a:stretch>
                  <a:fillRect l="-1786" b="-7500"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5" name="TextBox 4"/>
              <p:cNvSpPr txBox="1"/>
              <p:nvPr/>
            </p:nvSpPr>
            <p:spPr>
              <a:xfrm>
                <a:off x="3012834" y="3640025"/>
                <a:ext cx="4706930" cy="484043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AU" dirty="0" smtClean="0">
                    <a:solidFill>
                      <a:srgbClr val="0070C0"/>
                    </a:solidFill>
                  </a:rPr>
                  <a:t>Median =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AU" i="1" smtClean="0">
                            <a:solidFill>
                              <a:srgbClr val="0070C0"/>
                            </a:solidFill>
                            <a:latin typeface="Cambria Math"/>
                          </a:rPr>
                        </m:ctrlPr>
                      </m:fPr>
                      <m:num>
                        <m:r>
                          <a:rPr lang="en-AU" b="0" i="1" smtClean="0">
                            <a:solidFill>
                              <a:srgbClr val="0070C0"/>
                            </a:solidFill>
                            <a:latin typeface="Cambria Math"/>
                          </a:rPr>
                          <m:t>3+4</m:t>
                        </m:r>
                      </m:num>
                      <m:den>
                        <m:r>
                          <a:rPr lang="en-AU" b="0" i="1" smtClean="0">
                            <a:solidFill>
                              <a:srgbClr val="0070C0"/>
                            </a:solidFill>
                            <a:latin typeface="Cambria Math"/>
                          </a:rPr>
                          <m:t>2</m:t>
                        </m:r>
                      </m:den>
                    </m:f>
                    <m:r>
                      <a:rPr lang="en-AU" b="0" i="1" smtClean="0">
                        <a:solidFill>
                          <a:srgbClr val="0070C0"/>
                        </a:solidFill>
                        <a:latin typeface="Cambria Math"/>
                      </a:rPr>
                      <m:t>=3.5</m:t>
                    </m:r>
                  </m:oMath>
                </a14:m>
                <a:r>
                  <a:rPr lang="en-AU" dirty="0" smtClean="0">
                    <a:solidFill>
                      <a:srgbClr val="0070C0"/>
                    </a:solidFill>
                  </a:rPr>
                  <a:t> (halfway between 3 and 4)  </a:t>
                </a:r>
                <a:endParaRPr lang="en-AU" dirty="0">
                  <a:solidFill>
                    <a:srgbClr val="0070C0"/>
                  </a:solidFill>
                </a:endParaRPr>
              </a:p>
            </p:txBody>
          </p:sp>
        </mc:Choice>
        <mc:Fallback>
          <p:sp>
            <p:nvSpPr>
              <p:cNvPr id="5" name="TextBox 4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012834" y="3640025"/>
                <a:ext cx="4706930" cy="484043"/>
              </a:xfrm>
              <a:prstGeom prst="rect">
                <a:avLst/>
              </a:prstGeom>
              <a:blipFill rotWithShape="1">
                <a:blip r:embed="rId4"/>
                <a:stretch>
                  <a:fillRect l="-1036" r="-259" b="-7500"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8" name="Oval 7"/>
          <p:cNvSpPr/>
          <p:nvPr/>
        </p:nvSpPr>
        <p:spPr>
          <a:xfrm>
            <a:off x="5192118" y="2413901"/>
            <a:ext cx="504056" cy="530353"/>
          </a:xfrm>
          <a:prstGeom prst="ellipse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  <p:sp>
        <p:nvSpPr>
          <p:cNvPr id="23" name="Oval 22"/>
          <p:cNvSpPr/>
          <p:nvPr/>
        </p:nvSpPr>
        <p:spPr>
          <a:xfrm>
            <a:off x="6200230" y="2416617"/>
            <a:ext cx="504056" cy="530353"/>
          </a:xfrm>
          <a:prstGeom prst="ellipse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  <p:sp>
        <p:nvSpPr>
          <p:cNvPr id="13" name="TextBox 12"/>
          <p:cNvSpPr txBox="1"/>
          <p:nvPr/>
        </p:nvSpPr>
        <p:spPr>
          <a:xfrm>
            <a:off x="7020272" y="2946970"/>
            <a:ext cx="110639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dirty="0" smtClean="0">
                <a:solidFill>
                  <a:srgbClr val="00B050"/>
                </a:solidFill>
              </a:rPr>
              <a:t>Mode is 3</a:t>
            </a:r>
            <a:endParaRPr lang="en-AU" dirty="0">
              <a:solidFill>
                <a:srgbClr val="00B050"/>
              </a:solidFill>
            </a:endParaRPr>
          </a:p>
        </p:txBody>
      </p:sp>
      <p:sp>
        <p:nvSpPr>
          <p:cNvPr id="24" name="TextBox 23"/>
          <p:cNvSpPr txBox="1"/>
          <p:nvPr/>
        </p:nvSpPr>
        <p:spPr>
          <a:xfrm>
            <a:off x="150014" y="4103784"/>
            <a:ext cx="203581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dirty="0" smtClean="0"/>
              <a:t>What are quartiles?</a:t>
            </a:r>
            <a:endParaRPr lang="en-AU" dirty="0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14" name="TextBox 13"/>
              <p:cNvSpPr txBox="1"/>
              <p:nvPr/>
            </p:nvSpPr>
            <p:spPr>
              <a:xfrm>
                <a:off x="3143801" y="4124068"/>
                <a:ext cx="5396157" cy="203132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AU" dirty="0" smtClean="0"/>
                  <a:t>Quartiles divide the data set into quarters</a:t>
                </a:r>
              </a:p>
              <a:p>
                <a14:m>
                  <m:oMath xmlns:m="http://schemas.openxmlformats.org/officeDocument/2006/math">
                    <m:sSub>
                      <m:sSubPr>
                        <m:ctrlPr>
                          <a:rPr lang="en-AU" i="1" smtClean="0">
                            <a:latin typeface="Cambria Math"/>
                          </a:rPr>
                        </m:ctrlPr>
                      </m:sSubPr>
                      <m:e>
                        <m:r>
                          <a:rPr lang="en-AU" b="0" i="1" smtClean="0">
                            <a:latin typeface="Cambria Math"/>
                          </a:rPr>
                          <m:t>𝑄</m:t>
                        </m:r>
                      </m:e>
                      <m:sub>
                        <m:r>
                          <a:rPr lang="en-AU" b="0" i="1" smtClean="0">
                            <a:latin typeface="Cambria Math"/>
                          </a:rPr>
                          <m:t>1</m:t>
                        </m:r>
                      </m:sub>
                    </m:sSub>
                  </m:oMath>
                </a14:m>
                <a:r>
                  <a:rPr lang="en-AU" dirty="0" smtClean="0"/>
                  <a:t> - First quartile (Median of the lower half of the data)</a:t>
                </a:r>
              </a:p>
              <a:p>
                <a14:m>
                  <m:oMath xmlns:m="http://schemas.openxmlformats.org/officeDocument/2006/math">
                    <m:sSub>
                      <m:sSubPr>
                        <m:ctrlPr>
                          <a:rPr lang="en-AU" i="1" smtClean="0">
                            <a:latin typeface="Cambria Math"/>
                          </a:rPr>
                        </m:ctrlPr>
                      </m:sSubPr>
                      <m:e>
                        <m:r>
                          <a:rPr lang="en-AU" b="0" i="1" smtClean="0">
                            <a:latin typeface="Cambria Math"/>
                          </a:rPr>
                          <m:t>𝑄</m:t>
                        </m:r>
                      </m:e>
                      <m:sub>
                        <m:r>
                          <a:rPr lang="en-AU" b="0" i="1" smtClean="0">
                            <a:latin typeface="Cambria Math"/>
                          </a:rPr>
                          <m:t>2</m:t>
                        </m:r>
                      </m:sub>
                    </m:sSub>
                  </m:oMath>
                </a14:m>
                <a:r>
                  <a:rPr lang="en-AU" dirty="0" smtClean="0"/>
                  <a:t> - Second quartile (Median)</a:t>
                </a:r>
              </a:p>
              <a:p>
                <a14:m>
                  <m:oMath xmlns:m="http://schemas.openxmlformats.org/officeDocument/2006/math">
                    <m:sSub>
                      <m:sSubPr>
                        <m:ctrlPr>
                          <a:rPr lang="en-AU" i="1">
                            <a:latin typeface="Cambria Math"/>
                          </a:rPr>
                        </m:ctrlPr>
                      </m:sSubPr>
                      <m:e>
                        <m:r>
                          <a:rPr lang="en-AU" i="1">
                            <a:latin typeface="Cambria Math"/>
                          </a:rPr>
                          <m:t>𝑄</m:t>
                        </m:r>
                      </m:e>
                      <m:sub>
                        <m:r>
                          <a:rPr lang="en-AU" b="0" i="1" smtClean="0">
                            <a:latin typeface="Cambria Math"/>
                          </a:rPr>
                          <m:t>3</m:t>
                        </m:r>
                      </m:sub>
                    </m:sSub>
                  </m:oMath>
                </a14:m>
                <a:r>
                  <a:rPr lang="en-AU" dirty="0"/>
                  <a:t> - First quartile (Median of the </a:t>
                </a:r>
                <a:r>
                  <a:rPr lang="en-AU" dirty="0" smtClean="0"/>
                  <a:t>upper half </a:t>
                </a:r>
                <a:r>
                  <a:rPr lang="en-AU" dirty="0"/>
                  <a:t>of the data)</a:t>
                </a:r>
              </a:p>
              <a:p>
                <a:endParaRPr lang="en-AU" dirty="0" smtClean="0"/>
              </a:p>
              <a:p>
                <a:endParaRPr lang="en-AU" dirty="0"/>
              </a:p>
              <a:p>
                <a:endParaRPr lang="en-AU" dirty="0"/>
              </a:p>
            </p:txBody>
          </p:sp>
        </mc:Choice>
        <mc:Fallback>
          <p:sp>
            <p:nvSpPr>
              <p:cNvPr id="14" name="TextBox 13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143801" y="4124068"/>
                <a:ext cx="5396157" cy="2031325"/>
              </a:xfrm>
              <a:prstGeom prst="rect">
                <a:avLst/>
              </a:prstGeom>
              <a:blipFill rotWithShape="1">
                <a:blip r:embed="rId5"/>
                <a:stretch>
                  <a:fillRect l="-1017" t="-1502" r="-904"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5" name="TextBox 24"/>
          <p:cNvSpPr txBox="1"/>
          <p:nvPr/>
        </p:nvSpPr>
        <p:spPr>
          <a:xfrm>
            <a:off x="665095" y="348705"/>
            <a:ext cx="6824817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sz="2800" dirty="0" smtClean="0"/>
              <a:t>Measures of </a:t>
            </a:r>
            <a:r>
              <a:rPr lang="en-AU" sz="2800" dirty="0" smtClean="0"/>
              <a:t>Centre and Spread for a Data Set</a:t>
            </a:r>
            <a:endParaRPr lang="en-AU" sz="2800" dirty="0"/>
          </a:p>
        </p:txBody>
      </p:sp>
    </p:spTree>
    <p:extLst>
      <p:ext uri="{BB962C8B-B14F-4D97-AF65-F5344CB8AC3E}">
        <p14:creationId xmlns:p14="http://schemas.microsoft.com/office/powerpoint/2010/main" val="367735499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8748464" y="6488668"/>
            <a:ext cx="54977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 smtClean="0"/>
              <a:t> </a:t>
            </a:r>
            <a:r>
              <a:rPr lang="en-AU" dirty="0"/>
              <a:t>5</a:t>
            </a:r>
          </a:p>
        </p:txBody>
      </p:sp>
      <p:cxnSp>
        <p:nvCxnSpPr>
          <p:cNvPr id="4" name="Straight Connector 3"/>
          <p:cNvCxnSpPr/>
          <p:nvPr/>
        </p:nvCxnSpPr>
        <p:spPr>
          <a:xfrm>
            <a:off x="0" y="980728"/>
            <a:ext cx="9144000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6" name="Straight Connector 5"/>
          <p:cNvCxnSpPr/>
          <p:nvPr/>
        </p:nvCxnSpPr>
        <p:spPr>
          <a:xfrm>
            <a:off x="0" y="1916832"/>
            <a:ext cx="9144000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93471" y="149731"/>
            <a:ext cx="576064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1600" dirty="0" smtClean="0"/>
              <a:t>24</a:t>
            </a:r>
          </a:p>
          <a:p>
            <a:r>
              <a:rPr lang="en-AU" sz="1600" dirty="0" smtClean="0"/>
              <a:t>7</a:t>
            </a:r>
          </a:p>
          <a:p>
            <a:r>
              <a:rPr lang="en-AU" sz="1600" dirty="0" smtClean="0"/>
              <a:t>30</a:t>
            </a:r>
            <a:endParaRPr lang="en-AU" sz="1600" dirty="0"/>
          </a:p>
        </p:txBody>
      </p:sp>
      <p:cxnSp>
        <p:nvCxnSpPr>
          <p:cNvPr id="9" name="Straight Connector 8"/>
          <p:cNvCxnSpPr/>
          <p:nvPr/>
        </p:nvCxnSpPr>
        <p:spPr>
          <a:xfrm>
            <a:off x="2915816" y="1916832"/>
            <a:ext cx="0" cy="5112568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11" name="TextBox 10"/>
          <p:cNvSpPr txBox="1"/>
          <p:nvPr/>
        </p:nvSpPr>
        <p:spPr>
          <a:xfrm>
            <a:off x="7439175" y="106354"/>
            <a:ext cx="158417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dirty="0" smtClean="0"/>
              <a:t>Date</a:t>
            </a:r>
            <a:endParaRPr lang="en-AU" sz="2400" dirty="0"/>
          </a:p>
        </p:txBody>
      </p:sp>
      <p:sp>
        <p:nvSpPr>
          <p:cNvPr id="12" name="TextBox 11"/>
          <p:cNvSpPr txBox="1"/>
          <p:nvPr/>
        </p:nvSpPr>
        <p:spPr>
          <a:xfrm>
            <a:off x="119514" y="1063436"/>
            <a:ext cx="8620422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dirty="0" smtClean="0"/>
              <a:t>EQ – Describe the differences between the different types of averages. </a:t>
            </a:r>
            <a:endParaRPr lang="en-AU" sz="2400" dirty="0"/>
          </a:p>
        </p:txBody>
      </p:sp>
      <p:sp>
        <p:nvSpPr>
          <p:cNvPr id="20" name="TextBox 19"/>
          <p:cNvSpPr txBox="1"/>
          <p:nvPr/>
        </p:nvSpPr>
        <p:spPr>
          <a:xfrm>
            <a:off x="163221" y="3139129"/>
            <a:ext cx="97719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dirty="0" smtClean="0"/>
              <a:t>Example</a:t>
            </a:r>
            <a:endParaRPr lang="en-AU" dirty="0"/>
          </a:p>
        </p:txBody>
      </p:sp>
      <p:graphicFrame>
        <p:nvGraphicFramePr>
          <p:cNvPr id="22" name="Table 2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201812552"/>
              </p:ext>
            </p:extLst>
          </p:nvPr>
        </p:nvGraphicFramePr>
        <p:xfrm>
          <a:off x="3012834" y="3284984"/>
          <a:ext cx="6096000" cy="3657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16000"/>
                <a:gridCol w="1016000"/>
                <a:gridCol w="1016000"/>
                <a:gridCol w="1016000"/>
                <a:gridCol w="1016000"/>
                <a:gridCol w="1016000"/>
              </a:tblGrid>
              <a:tr h="333237">
                <a:tc>
                  <a:txBody>
                    <a:bodyPr/>
                    <a:lstStyle/>
                    <a:p>
                      <a:pPr algn="ctr"/>
                      <a:r>
                        <a:rPr lang="en-AU" dirty="0" smtClean="0">
                          <a:solidFill>
                            <a:schemeClr val="tx1"/>
                          </a:solidFill>
                        </a:rPr>
                        <a:t>2</a:t>
                      </a:r>
                      <a:endParaRPr lang="en-AU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AU" dirty="0" smtClean="0">
                          <a:solidFill>
                            <a:schemeClr val="tx1"/>
                          </a:solidFill>
                        </a:rPr>
                        <a:t>3</a:t>
                      </a:r>
                      <a:endParaRPr lang="en-AU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AU" dirty="0" smtClean="0">
                          <a:solidFill>
                            <a:schemeClr val="tx1"/>
                          </a:solidFill>
                        </a:rPr>
                        <a:t>3</a:t>
                      </a:r>
                      <a:endParaRPr lang="en-AU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AU" dirty="0" smtClean="0">
                          <a:solidFill>
                            <a:schemeClr val="tx1"/>
                          </a:solidFill>
                        </a:rPr>
                        <a:t>4</a:t>
                      </a:r>
                      <a:endParaRPr lang="en-AU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AU" dirty="0" smtClean="0">
                          <a:solidFill>
                            <a:schemeClr val="tx1"/>
                          </a:solidFill>
                        </a:rPr>
                        <a:t>5</a:t>
                      </a:r>
                      <a:endParaRPr lang="en-AU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AU" dirty="0" smtClean="0">
                          <a:solidFill>
                            <a:schemeClr val="tx1"/>
                          </a:solidFill>
                        </a:rPr>
                        <a:t>7</a:t>
                      </a:r>
                      <a:endParaRPr lang="en-AU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</a:tbl>
          </a:graphicData>
        </a:graphic>
      </p:graphicFrame>
      <p:sp>
        <p:nvSpPr>
          <p:cNvPr id="24" name="TextBox 23"/>
          <p:cNvSpPr txBox="1"/>
          <p:nvPr/>
        </p:nvSpPr>
        <p:spPr>
          <a:xfrm>
            <a:off x="65963" y="2060848"/>
            <a:ext cx="203581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dirty="0" smtClean="0"/>
              <a:t>What are quartiles?</a:t>
            </a:r>
            <a:endParaRPr lang="en-AU" dirty="0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14" name="TextBox 13"/>
              <p:cNvSpPr txBox="1"/>
              <p:nvPr/>
            </p:nvSpPr>
            <p:spPr>
              <a:xfrm>
                <a:off x="3016406" y="1938800"/>
                <a:ext cx="5430076" cy="1200329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AU" dirty="0" smtClean="0"/>
                  <a:t>Quartiles divide the data set into quarters</a:t>
                </a:r>
              </a:p>
              <a:p>
                <a14:m>
                  <m:oMath xmlns:m="http://schemas.openxmlformats.org/officeDocument/2006/math">
                    <m:sSub>
                      <m:sSubPr>
                        <m:ctrlPr>
                          <a:rPr lang="en-AU" i="1" smtClean="0">
                            <a:latin typeface="Cambria Math"/>
                          </a:rPr>
                        </m:ctrlPr>
                      </m:sSubPr>
                      <m:e>
                        <m:r>
                          <a:rPr lang="en-AU" b="0" i="1" smtClean="0">
                            <a:latin typeface="Cambria Math"/>
                          </a:rPr>
                          <m:t>𝑄</m:t>
                        </m:r>
                      </m:e>
                      <m:sub>
                        <m:r>
                          <a:rPr lang="en-AU" b="0" i="1" smtClean="0">
                            <a:latin typeface="Cambria Math"/>
                          </a:rPr>
                          <m:t>1</m:t>
                        </m:r>
                      </m:sub>
                    </m:sSub>
                  </m:oMath>
                </a14:m>
                <a:r>
                  <a:rPr lang="en-AU" dirty="0" smtClean="0"/>
                  <a:t> - First quartile (Median of the lower half of the data)</a:t>
                </a:r>
              </a:p>
              <a:p>
                <a14:m>
                  <m:oMath xmlns:m="http://schemas.openxmlformats.org/officeDocument/2006/math">
                    <m:sSub>
                      <m:sSubPr>
                        <m:ctrlPr>
                          <a:rPr lang="en-AU" i="1" smtClean="0">
                            <a:latin typeface="Cambria Math"/>
                          </a:rPr>
                        </m:ctrlPr>
                      </m:sSubPr>
                      <m:e>
                        <m:r>
                          <a:rPr lang="en-AU" b="0" i="1" smtClean="0">
                            <a:latin typeface="Cambria Math"/>
                          </a:rPr>
                          <m:t>𝑄</m:t>
                        </m:r>
                      </m:e>
                      <m:sub>
                        <m:r>
                          <a:rPr lang="en-AU" b="0" i="1" smtClean="0">
                            <a:latin typeface="Cambria Math"/>
                          </a:rPr>
                          <m:t>2</m:t>
                        </m:r>
                      </m:sub>
                    </m:sSub>
                  </m:oMath>
                </a14:m>
                <a:r>
                  <a:rPr lang="en-AU" dirty="0" smtClean="0"/>
                  <a:t> - Second quartile (Median)</a:t>
                </a:r>
              </a:p>
              <a:p>
                <a14:m>
                  <m:oMath xmlns:m="http://schemas.openxmlformats.org/officeDocument/2006/math">
                    <m:sSub>
                      <m:sSubPr>
                        <m:ctrlPr>
                          <a:rPr lang="en-AU" i="1">
                            <a:latin typeface="Cambria Math"/>
                          </a:rPr>
                        </m:ctrlPr>
                      </m:sSubPr>
                      <m:e>
                        <m:r>
                          <a:rPr lang="en-AU" i="1">
                            <a:latin typeface="Cambria Math"/>
                          </a:rPr>
                          <m:t>𝑄</m:t>
                        </m:r>
                      </m:e>
                      <m:sub>
                        <m:r>
                          <a:rPr lang="en-AU" b="0" i="1" smtClean="0">
                            <a:latin typeface="Cambria Math"/>
                          </a:rPr>
                          <m:t>3</m:t>
                        </m:r>
                      </m:sub>
                    </m:sSub>
                  </m:oMath>
                </a14:m>
                <a:r>
                  <a:rPr lang="en-AU" dirty="0"/>
                  <a:t> - First quartile (Median of the </a:t>
                </a:r>
                <a:r>
                  <a:rPr lang="en-AU" dirty="0" smtClean="0"/>
                  <a:t>upper half </a:t>
                </a:r>
                <a:r>
                  <a:rPr lang="en-AU" dirty="0"/>
                  <a:t>of the data</a:t>
                </a:r>
                <a:r>
                  <a:rPr lang="en-AU" dirty="0" smtClean="0"/>
                  <a:t>)</a:t>
                </a:r>
                <a:endParaRPr lang="en-AU" dirty="0"/>
              </a:p>
            </p:txBody>
          </p:sp>
        </mc:Choice>
        <mc:Fallback>
          <p:sp>
            <p:nvSpPr>
              <p:cNvPr id="14" name="TextBox 13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016406" y="1938800"/>
                <a:ext cx="5430076" cy="1200329"/>
              </a:xfrm>
              <a:prstGeom prst="rect">
                <a:avLst/>
              </a:prstGeom>
              <a:blipFill rotWithShape="1">
                <a:blip r:embed="rId3"/>
                <a:stretch>
                  <a:fillRect l="-1010" t="-2538" r="-224" b="-7107"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5" name="Left Brace 14"/>
          <p:cNvSpPr/>
          <p:nvPr/>
        </p:nvSpPr>
        <p:spPr>
          <a:xfrm rot="16200000">
            <a:off x="4263630" y="2492898"/>
            <a:ext cx="475474" cy="3067762"/>
          </a:xfrm>
          <a:prstGeom prst="leftBrace">
            <a:avLst/>
          </a:prstGeom>
          <a:ln w="127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  <p:sp>
        <p:nvSpPr>
          <p:cNvPr id="25" name="Left Brace 24"/>
          <p:cNvSpPr/>
          <p:nvPr/>
        </p:nvSpPr>
        <p:spPr>
          <a:xfrm rot="16200000">
            <a:off x="7355986" y="2492897"/>
            <a:ext cx="475474" cy="3067762"/>
          </a:xfrm>
          <a:prstGeom prst="leftBrace">
            <a:avLst/>
          </a:prstGeom>
          <a:ln w="127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  <p:cxnSp>
        <p:nvCxnSpPr>
          <p:cNvPr id="17" name="Straight Connector 16"/>
          <p:cNvCxnSpPr/>
          <p:nvPr/>
        </p:nvCxnSpPr>
        <p:spPr>
          <a:xfrm>
            <a:off x="6059842" y="2996952"/>
            <a:ext cx="0" cy="1656184"/>
          </a:xfrm>
          <a:prstGeom prst="line">
            <a:avLst/>
          </a:prstGeom>
          <a:ln w="38100">
            <a:solidFill>
              <a:srgbClr val="FF0000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8" name="TextBox 17"/>
          <p:cNvSpPr txBox="1"/>
          <p:nvPr/>
        </p:nvSpPr>
        <p:spPr>
          <a:xfrm>
            <a:off x="3899214" y="4104074"/>
            <a:ext cx="117077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dirty="0" smtClean="0"/>
              <a:t>Lower half</a:t>
            </a:r>
            <a:endParaRPr lang="en-AU" dirty="0"/>
          </a:p>
        </p:txBody>
      </p:sp>
      <p:sp>
        <p:nvSpPr>
          <p:cNvPr id="26" name="TextBox 25"/>
          <p:cNvSpPr txBox="1"/>
          <p:nvPr/>
        </p:nvSpPr>
        <p:spPr>
          <a:xfrm>
            <a:off x="6981102" y="4118748"/>
            <a:ext cx="11801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dirty="0" smtClean="0"/>
              <a:t>Upper half</a:t>
            </a:r>
            <a:endParaRPr lang="en-AU" dirty="0"/>
          </a:p>
        </p:txBody>
      </p:sp>
      <p:sp>
        <p:nvSpPr>
          <p:cNvPr id="19" name="TextBox 18"/>
          <p:cNvSpPr txBox="1"/>
          <p:nvPr/>
        </p:nvSpPr>
        <p:spPr>
          <a:xfrm>
            <a:off x="665095" y="348705"/>
            <a:ext cx="6824817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sz="2800" dirty="0" smtClean="0"/>
              <a:t>Measures of </a:t>
            </a:r>
            <a:r>
              <a:rPr lang="en-AU" sz="2800" dirty="0" smtClean="0"/>
              <a:t>Centre and Spread for a Data Set</a:t>
            </a:r>
            <a:endParaRPr lang="en-AU" sz="2800" dirty="0"/>
          </a:p>
        </p:txBody>
      </p:sp>
    </p:spTree>
    <p:extLst>
      <p:ext uri="{BB962C8B-B14F-4D97-AF65-F5344CB8AC3E}">
        <p14:creationId xmlns:p14="http://schemas.microsoft.com/office/powerpoint/2010/main" val="353109583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8748464" y="6488668"/>
            <a:ext cx="54977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 smtClean="0"/>
              <a:t> </a:t>
            </a:r>
            <a:r>
              <a:rPr lang="en-AU" dirty="0"/>
              <a:t>5</a:t>
            </a:r>
          </a:p>
        </p:txBody>
      </p:sp>
      <p:cxnSp>
        <p:nvCxnSpPr>
          <p:cNvPr id="4" name="Straight Connector 3"/>
          <p:cNvCxnSpPr/>
          <p:nvPr/>
        </p:nvCxnSpPr>
        <p:spPr>
          <a:xfrm>
            <a:off x="0" y="980728"/>
            <a:ext cx="9144000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6" name="Straight Connector 5"/>
          <p:cNvCxnSpPr/>
          <p:nvPr/>
        </p:nvCxnSpPr>
        <p:spPr>
          <a:xfrm>
            <a:off x="0" y="1916832"/>
            <a:ext cx="9144000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93471" y="149731"/>
            <a:ext cx="576064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1600" dirty="0" smtClean="0"/>
              <a:t>24</a:t>
            </a:r>
          </a:p>
          <a:p>
            <a:r>
              <a:rPr lang="en-AU" sz="1600" dirty="0" smtClean="0"/>
              <a:t>7</a:t>
            </a:r>
          </a:p>
          <a:p>
            <a:r>
              <a:rPr lang="en-AU" sz="1600" dirty="0" smtClean="0"/>
              <a:t>30</a:t>
            </a:r>
            <a:endParaRPr lang="en-AU" sz="1600" dirty="0"/>
          </a:p>
        </p:txBody>
      </p:sp>
      <p:cxnSp>
        <p:nvCxnSpPr>
          <p:cNvPr id="9" name="Straight Connector 8"/>
          <p:cNvCxnSpPr/>
          <p:nvPr/>
        </p:nvCxnSpPr>
        <p:spPr>
          <a:xfrm>
            <a:off x="2915816" y="1916832"/>
            <a:ext cx="0" cy="5112568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11" name="TextBox 10"/>
          <p:cNvSpPr txBox="1"/>
          <p:nvPr/>
        </p:nvSpPr>
        <p:spPr>
          <a:xfrm>
            <a:off x="7439175" y="106354"/>
            <a:ext cx="158417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dirty="0" smtClean="0"/>
              <a:t>Date</a:t>
            </a:r>
            <a:endParaRPr lang="en-AU" sz="2400" dirty="0"/>
          </a:p>
        </p:txBody>
      </p:sp>
      <p:sp>
        <p:nvSpPr>
          <p:cNvPr id="12" name="TextBox 11"/>
          <p:cNvSpPr txBox="1"/>
          <p:nvPr/>
        </p:nvSpPr>
        <p:spPr>
          <a:xfrm>
            <a:off x="119514" y="1063436"/>
            <a:ext cx="8620422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dirty="0" smtClean="0"/>
              <a:t>EQ – Describe the differences between the different types of averages. </a:t>
            </a:r>
            <a:endParaRPr lang="en-AU" sz="2400" dirty="0"/>
          </a:p>
        </p:txBody>
      </p:sp>
      <p:sp>
        <p:nvSpPr>
          <p:cNvPr id="20" name="TextBox 19"/>
          <p:cNvSpPr txBox="1"/>
          <p:nvPr/>
        </p:nvSpPr>
        <p:spPr>
          <a:xfrm>
            <a:off x="163221" y="3139129"/>
            <a:ext cx="97719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dirty="0" smtClean="0"/>
              <a:t>Example</a:t>
            </a:r>
            <a:endParaRPr lang="en-AU" dirty="0"/>
          </a:p>
        </p:txBody>
      </p:sp>
      <p:graphicFrame>
        <p:nvGraphicFramePr>
          <p:cNvPr id="22" name="Table 2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315959133"/>
              </p:ext>
            </p:extLst>
          </p:nvPr>
        </p:nvGraphicFramePr>
        <p:xfrm>
          <a:off x="3012834" y="3284984"/>
          <a:ext cx="6096000" cy="3657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16000"/>
                <a:gridCol w="1016000"/>
                <a:gridCol w="1016000"/>
                <a:gridCol w="1016000"/>
                <a:gridCol w="1016000"/>
                <a:gridCol w="1016000"/>
              </a:tblGrid>
              <a:tr h="333237">
                <a:tc>
                  <a:txBody>
                    <a:bodyPr/>
                    <a:lstStyle/>
                    <a:p>
                      <a:pPr algn="ctr"/>
                      <a:r>
                        <a:rPr lang="en-AU" dirty="0" smtClean="0">
                          <a:solidFill>
                            <a:schemeClr val="tx1"/>
                          </a:solidFill>
                        </a:rPr>
                        <a:t>2</a:t>
                      </a:r>
                      <a:endParaRPr lang="en-AU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AU" dirty="0" smtClean="0">
                          <a:solidFill>
                            <a:schemeClr val="tx1"/>
                          </a:solidFill>
                        </a:rPr>
                        <a:t>3</a:t>
                      </a:r>
                      <a:endParaRPr lang="en-AU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AU" dirty="0" smtClean="0">
                          <a:solidFill>
                            <a:schemeClr val="tx1"/>
                          </a:solidFill>
                        </a:rPr>
                        <a:t>3</a:t>
                      </a:r>
                      <a:endParaRPr lang="en-AU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AU" dirty="0" smtClean="0">
                          <a:solidFill>
                            <a:schemeClr val="tx1"/>
                          </a:solidFill>
                        </a:rPr>
                        <a:t>4</a:t>
                      </a:r>
                      <a:endParaRPr lang="en-AU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AU" dirty="0" smtClean="0">
                          <a:solidFill>
                            <a:schemeClr val="tx1"/>
                          </a:solidFill>
                        </a:rPr>
                        <a:t>5</a:t>
                      </a:r>
                      <a:endParaRPr lang="en-AU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AU" dirty="0" smtClean="0">
                          <a:solidFill>
                            <a:schemeClr val="tx1"/>
                          </a:solidFill>
                        </a:rPr>
                        <a:t>7</a:t>
                      </a:r>
                      <a:endParaRPr lang="en-AU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</a:tbl>
          </a:graphicData>
        </a:graphic>
      </p:graphicFrame>
      <p:sp>
        <p:nvSpPr>
          <p:cNvPr id="24" name="TextBox 23"/>
          <p:cNvSpPr txBox="1"/>
          <p:nvPr/>
        </p:nvSpPr>
        <p:spPr>
          <a:xfrm>
            <a:off x="65963" y="2060848"/>
            <a:ext cx="203581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dirty="0" smtClean="0"/>
              <a:t>What are quartiles?</a:t>
            </a:r>
            <a:endParaRPr lang="en-AU" dirty="0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14" name="TextBox 13"/>
              <p:cNvSpPr txBox="1"/>
              <p:nvPr/>
            </p:nvSpPr>
            <p:spPr>
              <a:xfrm>
                <a:off x="3016406" y="1938800"/>
                <a:ext cx="5430076" cy="1200329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AU" dirty="0" smtClean="0"/>
                  <a:t>Quartiles divide the data set into quarters</a:t>
                </a:r>
              </a:p>
              <a:p>
                <a14:m>
                  <m:oMath xmlns:m="http://schemas.openxmlformats.org/officeDocument/2006/math">
                    <m:sSub>
                      <m:sSubPr>
                        <m:ctrlPr>
                          <a:rPr lang="en-AU" i="1" smtClean="0">
                            <a:latin typeface="Cambria Math"/>
                          </a:rPr>
                        </m:ctrlPr>
                      </m:sSubPr>
                      <m:e>
                        <m:r>
                          <a:rPr lang="en-AU" b="0" i="1" smtClean="0">
                            <a:latin typeface="Cambria Math"/>
                          </a:rPr>
                          <m:t>𝑄</m:t>
                        </m:r>
                      </m:e>
                      <m:sub>
                        <m:r>
                          <a:rPr lang="en-AU" b="0" i="1" smtClean="0">
                            <a:latin typeface="Cambria Math"/>
                          </a:rPr>
                          <m:t>1</m:t>
                        </m:r>
                      </m:sub>
                    </m:sSub>
                  </m:oMath>
                </a14:m>
                <a:r>
                  <a:rPr lang="en-AU" dirty="0" smtClean="0"/>
                  <a:t> - First quartile (Median of the lower half of the data)</a:t>
                </a:r>
              </a:p>
              <a:p>
                <a14:m>
                  <m:oMath xmlns:m="http://schemas.openxmlformats.org/officeDocument/2006/math">
                    <m:sSub>
                      <m:sSubPr>
                        <m:ctrlPr>
                          <a:rPr lang="en-AU" i="1" smtClean="0">
                            <a:latin typeface="Cambria Math"/>
                          </a:rPr>
                        </m:ctrlPr>
                      </m:sSubPr>
                      <m:e>
                        <m:r>
                          <a:rPr lang="en-AU" b="0" i="1" smtClean="0">
                            <a:latin typeface="Cambria Math"/>
                          </a:rPr>
                          <m:t>𝑄</m:t>
                        </m:r>
                      </m:e>
                      <m:sub>
                        <m:r>
                          <a:rPr lang="en-AU" b="0" i="1" smtClean="0">
                            <a:latin typeface="Cambria Math"/>
                          </a:rPr>
                          <m:t>2</m:t>
                        </m:r>
                      </m:sub>
                    </m:sSub>
                  </m:oMath>
                </a14:m>
                <a:r>
                  <a:rPr lang="en-AU" dirty="0" smtClean="0"/>
                  <a:t> - Second quartile (Median)</a:t>
                </a:r>
              </a:p>
              <a:p>
                <a14:m>
                  <m:oMath xmlns:m="http://schemas.openxmlformats.org/officeDocument/2006/math">
                    <m:sSub>
                      <m:sSubPr>
                        <m:ctrlPr>
                          <a:rPr lang="en-AU" i="1">
                            <a:latin typeface="Cambria Math"/>
                          </a:rPr>
                        </m:ctrlPr>
                      </m:sSubPr>
                      <m:e>
                        <m:r>
                          <a:rPr lang="en-AU" i="1">
                            <a:latin typeface="Cambria Math"/>
                          </a:rPr>
                          <m:t>𝑄</m:t>
                        </m:r>
                      </m:e>
                      <m:sub>
                        <m:r>
                          <a:rPr lang="en-AU" b="0" i="1" smtClean="0">
                            <a:latin typeface="Cambria Math"/>
                          </a:rPr>
                          <m:t>3</m:t>
                        </m:r>
                      </m:sub>
                    </m:sSub>
                  </m:oMath>
                </a14:m>
                <a:r>
                  <a:rPr lang="en-AU" dirty="0"/>
                  <a:t> - First quartile (Median of the </a:t>
                </a:r>
                <a:r>
                  <a:rPr lang="en-AU" dirty="0" smtClean="0"/>
                  <a:t>upper half </a:t>
                </a:r>
                <a:r>
                  <a:rPr lang="en-AU" dirty="0"/>
                  <a:t>of the data</a:t>
                </a:r>
                <a:r>
                  <a:rPr lang="en-AU" dirty="0" smtClean="0"/>
                  <a:t>)</a:t>
                </a:r>
                <a:endParaRPr lang="en-AU" dirty="0"/>
              </a:p>
            </p:txBody>
          </p:sp>
        </mc:Choice>
        <mc:Fallback>
          <p:sp>
            <p:nvSpPr>
              <p:cNvPr id="14" name="TextBox 13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016406" y="1938800"/>
                <a:ext cx="5430076" cy="1200329"/>
              </a:xfrm>
              <a:prstGeom prst="rect">
                <a:avLst/>
              </a:prstGeom>
              <a:blipFill rotWithShape="1">
                <a:blip r:embed="rId3"/>
                <a:stretch>
                  <a:fillRect l="-1010" t="-2538" r="-224" b="-7107"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5" name="Left Brace 14"/>
          <p:cNvSpPr/>
          <p:nvPr/>
        </p:nvSpPr>
        <p:spPr>
          <a:xfrm rot="16200000">
            <a:off x="4263630" y="2492898"/>
            <a:ext cx="475474" cy="3067762"/>
          </a:xfrm>
          <a:prstGeom prst="leftBrace">
            <a:avLst/>
          </a:prstGeom>
          <a:ln w="127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  <p:sp>
        <p:nvSpPr>
          <p:cNvPr id="25" name="Left Brace 24"/>
          <p:cNvSpPr/>
          <p:nvPr/>
        </p:nvSpPr>
        <p:spPr>
          <a:xfrm rot="16200000">
            <a:off x="7355986" y="2492897"/>
            <a:ext cx="475474" cy="3067762"/>
          </a:xfrm>
          <a:prstGeom prst="leftBrace">
            <a:avLst/>
          </a:prstGeom>
          <a:ln w="127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  <p:cxnSp>
        <p:nvCxnSpPr>
          <p:cNvPr id="17" name="Straight Connector 16"/>
          <p:cNvCxnSpPr/>
          <p:nvPr/>
        </p:nvCxnSpPr>
        <p:spPr>
          <a:xfrm>
            <a:off x="6059842" y="2996952"/>
            <a:ext cx="0" cy="1656184"/>
          </a:xfrm>
          <a:prstGeom prst="line">
            <a:avLst/>
          </a:prstGeom>
          <a:ln w="38100">
            <a:solidFill>
              <a:srgbClr val="FF0000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8" name="TextBox 17"/>
          <p:cNvSpPr txBox="1"/>
          <p:nvPr/>
        </p:nvSpPr>
        <p:spPr>
          <a:xfrm>
            <a:off x="3899214" y="4104074"/>
            <a:ext cx="117077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dirty="0" smtClean="0"/>
              <a:t>Lower half</a:t>
            </a:r>
            <a:endParaRPr lang="en-AU" dirty="0"/>
          </a:p>
        </p:txBody>
      </p:sp>
      <p:sp>
        <p:nvSpPr>
          <p:cNvPr id="26" name="TextBox 25"/>
          <p:cNvSpPr txBox="1"/>
          <p:nvPr/>
        </p:nvSpPr>
        <p:spPr>
          <a:xfrm>
            <a:off x="6981102" y="4118748"/>
            <a:ext cx="11801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dirty="0" smtClean="0"/>
              <a:t>Upper half</a:t>
            </a:r>
            <a:endParaRPr lang="en-AU" dirty="0"/>
          </a:p>
        </p:txBody>
      </p:sp>
      <p:sp>
        <p:nvSpPr>
          <p:cNvPr id="27" name="Oval 26"/>
          <p:cNvSpPr/>
          <p:nvPr/>
        </p:nvSpPr>
        <p:spPr>
          <a:xfrm>
            <a:off x="4319972" y="3243284"/>
            <a:ext cx="504056" cy="530353"/>
          </a:xfrm>
          <a:prstGeom prst="ellipse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19" name="TextBox 18"/>
              <p:cNvSpPr txBox="1"/>
              <p:nvPr/>
            </p:nvSpPr>
            <p:spPr>
              <a:xfrm>
                <a:off x="3076127" y="4671144"/>
                <a:ext cx="720197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14:m>
                  <m:oMath xmlns:m="http://schemas.openxmlformats.org/officeDocument/2006/math">
                    <m:sSub>
                      <m:sSubPr>
                        <m:ctrlPr>
                          <a:rPr lang="en-AU" i="1" smtClean="0">
                            <a:latin typeface="Cambria Math"/>
                          </a:rPr>
                        </m:ctrlPr>
                      </m:sSubPr>
                      <m:e>
                        <m:r>
                          <a:rPr lang="en-AU" b="0" i="1" smtClean="0">
                            <a:latin typeface="Cambria Math"/>
                          </a:rPr>
                          <m:t>𝑄</m:t>
                        </m:r>
                      </m:e>
                      <m:sub>
                        <m:r>
                          <a:rPr lang="en-AU" b="0" i="1" smtClean="0">
                            <a:latin typeface="Cambria Math"/>
                          </a:rPr>
                          <m:t>1</m:t>
                        </m:r>
                      </m:sub>
                    </m:sSub>
                  </m:oMath>
                </a14:m>
                <a:r>
                  <a:rPr lang="en-AU" dirty="0" smtClean="0"/>
                  <a:t>= 3</a:t>
                </a:r>
                <a:endParaRPr lang="en-AU" dirty="0"/>
              </a:p>
            </p:txBody>
          </p:sp>
        </mc:Choice>
        <mc:Fallback>
          <p:sp>
            <p:nvSpPr>
              <p:cNvPr id="19" name="TextBox 18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076127" y="4671144"/>
                <a:ext cx="720197" cy="369332"/>
              </a:xfrm>
              <a:prstGeom prst="rect">
                <a:avLst/>
              </a:prstGeom>
              <a:blipFill rotWithShape="1">
                <a:blip r:embed="rId4"/>
                <a:stretch>
                  <a:fillRect l="-1695" t="-8197" r="-5932" b="-24590"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8" name="TextBox 27"/>
          <p:cNvSpPr txBox="1"/>
          <p:nvPr/>
        </p:nvSpPr>
        <p:spPr>
          <a:xfrm>
            <a:off x="665095" y="348705"/>
            <a:ext cx="6824817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sz="2800" dirty="0" smtClean="0"/>
              <a:t>Measures of </a:t>
            </a:r>
            <a:r>
              <a:rPr lang="en-AU" sz="2800" dirty="0" smtClean="0"/>
              <a:t>Centre and Spread for a Data Set</a:t>
            </a:r>
            <a:endParaRPr lang="en-AU" sz="2800" dirty="0"/>
          </a:p>
        </p:txBody>
      </p:sp>
    </p:spTree>
    <p:extLst>
      <p:ext uri="{BB962C8B-B14F-4D97-AF65-F5344CB8AC3E}">
        <p14:creationId xmlns:p14="http://schemas.microsoft.com/office/powerpoint/2010/main" val="96014033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8748464" y="6488668"/>
            <a:ext cx="54977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 smtClean="0"/>
              <a:t> </a:t>
            </a:r>
            <a:r>
              <a:rPr lang="en-AU" dirty="0"/>
              <a:t>5</a:t>
            </a:r>
          </a:p>
        </p:txBody>
      </p:sp>
      <p:cxnSp>
        <p:nvCxnSpPr>
          <p:cNvPr id="4" name="Straight Connector 3"/>
          <p:cNvCxnSpPr/>
          <p:nvPr/>
        </p:nvCxnSpPr>
        <p:spPr>
          <a:xfrm>
            <a:off x="0" y="980728"/>
            <a:ext cx="9144000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6" name="Straight Connector 5"/>
          <p:cNvCxnSpPr/>
          <p:nvPr/>
        </p:nvCxnSpPr>
        <p:spPr>
          <a:xfrm>
            <a:off x="0" y="1916832"/>
            <a:ext cx="9144000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93471" y="149731"/>
            <a:ext cx="576064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1600" dirty="0" smtClean="0"/>
              <a:t>24</a:t>
            </a:r>
          </a:p>
          <a:p>
            <a:r>
              <a:rPr lang="en-AU" sz="1600" dirty="0" smtClean="0"/>
              <a:t>7</a:t>
            </a:r>
          </a:p>
          <a:p>
            <a:r>
              <a:rPr lang="en-AU" sz="1600" dirty="0" smtClean="0"/>
              <a:t>30</a:t>
            </a:r>
            <a:endParaRPr lang="en-AU" sz="1600" dirty="0"/>
          </a:p>
        </p:txBody>
      </p:sp>
      <p:cxnSp>
        <p:nvCxnSpPr>
          <p:cNvPr id="9" name="Straight Connector 8"/>
          <p:cNvCxnSpPr/>
          <p:nvPr/>
        </p:nvCxnSpPr>
        <p:spPr>
          <a:xfrm>
            <a:off x="2915816" y="1916832"/>
            <a:ext cx="0" cy="5112568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11" name="TextBox 10"/>
          <p:cNvSpPr txBox="1"/>
          <p:nvPr/>
        </p:nvSpPr>
        <p:spPr>
          <a:xfrm>
            <a:off x="7439175" y="106354"/>
            <a:ext cx="158417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dirty="0" smtClean="0"/>
              <a:t>Date</a:t>
            </a:r>
            <a:endParaRPr lang="en-AU" sz="2400" dirty="0"/>
          </a:p>
        </p:txBody>
      </p:sp>
      <p:sp>
        <p:nvSpPr>
          <p:cNvPr id="12" name="TextBox 11"/>
          <p:cNvSpPr txBox="1"/>
          <p:nvPr/>
        </p:nvSpPr>
        <p:spPr>
          <a:xfrm>
            <a:off x="119514" y="1063436"/>
            <a:ext cx="8620422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dirty="0" smtClean="0"/>
              <a:t>EQ – Describe the differences between the different types of averages. </a:t>
            </a:r>
            <a:endParaRPr lang="en-AU" sz="2400" dirty="0"/>
          </a:p>
        </p:txBody>
      </p:sp>
      <p:sp>
        <p:nvSpPr>
          <p:cNvPr id="20" name="TextBox 19"/>
          <p:cNvSpPr txBox="1"/>
          <p:nvPr/>
        </p:nvSpPr>
        <p:spPr>
          <a:xfrm>
            <a:off x="163221" y="3139129"/>
            <a:ext cx="97719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dirty="0" smtClean="0"/>
              <a:t>Example</a:t>
            </a:r>
            <a:endParaRPr lang="en-AU" dirty="0"/>
          </a:p>
        </p:txBody>
      </p:sp>
      <p:graphicFrame>
        <p:nvGraphicFramePr>
          <p:cNvPr id="22" name="Table 2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846344530"/>
              </p:ext>
            </p:extLst>
          </p:nvPr>
        </p:nvGraphicFramePr>
        <p:xfrm>
          <a:off x="3012834" y="3284984"/>
          <a:ext cx="6096000" cy="3657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16000"/>
                <a:gridCol w="1016000"/>
                <a:gridCol w="1016000"/>
                <a:gridCol w="1016000"/>
                <a:gridCol w="1016000"/>
                <a:gridCol w="1016000"/>
              </a:tblGrid>
              <a:tr h="333237">
                <a:tc>
                  <a:txBody>
                    <a:bodyPr/>
                    <a:lstStyle/>
                    <a:p>
                      <a:pPr algn="ctr"/>
                      <a:r>
                        <a:rPr lang="en-AU" dirty="0" smtClean="0">
                          <a:solidFill>
                            <a:schemeClr val="tx1"/>
                          </a:solidFill>
                        </a:rPr>
                        <a:t>2</a:t>
                      </a:r>
                      <a:endParaRPr lang="en-AU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AU" dirty="0" smtClean="0">
                          <a:solidFill>
                            <a:schemeClr val="tx1"/>
                          </a:solidFill>
                        </a:rPr>
                        <a:t>3</a:t>
                      </a:r>
                      <a:endParaRPr lang="en-AU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AU" dirty="0" smtClean="0">
                          <a:solidFill>
                            <a:schemeClr val="tx1"/>
                          </a:solidFill>
                        </a:rPr>
                        <a:t>3</a:t>
                      </a:r>
                      <a:endParaRPr lang="en-AU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AU" dirty="0" smtClean="0">
                          <a:solidFill>
                            <a:schemeClr val="tx1"/>
                          </a:solidFill>
                        </a:rPr>
                        <a:t>4</a:t>
                      </a:r>
                      <a:endParaRPr lang="en-AU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AU" dirty="0" smtClean="0">
                          <a:solidFill>
                            <a:schemeClr val="tx1"/>
                          </a:solidFill>
                        </a:rPr>
                        <a:t>5</a:t>
                      </a:r>
                      <a:endParaRPr lang="en-AU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AU" dirty="0" smtClean="0">
                          <a:solidFill>
                            <a:schemeClr val="tx1"/>
                          </a:solidFill>
                        </a:rPr>
                        <a:t>7</a:t>
                      </a:r>
                      <a:endParaRPr lang="en-AU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</a:tbl>
          </a:graphicData>
        </a:graphic>
      </p:graphicFrame>
      <p:sp>
        <p:nvSpPr>
          <p:cNvPr id="24" name="TextBox 23"/>
          <p:cNvSpPr txBox="1"/>
          <p:nvPr/>
        </p:nvSpPr>
        <p:spPr>
          <a:xfrm>
            <a:off x="65963" y="2060848"/>
            <a:ext cx="203581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dirty="0" smtClean="0"/>
              <a:t>What are quartiles?</a:t>
            </a:r>
            <a:endParaRPr lang="en-AU" dirty="0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14" name="TextBox 13"/>
              <p:cNvSpPr txBox="1"/>
              <p:nvPr/>
            </p:nvSpPr>
            <p:spPr>
              <a:xfrm>
                <a:off x="3016406" y="1938800"/>
                <a:ext cx="5430076" cy="1200329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AU" dirty="0" smtClean="0"/>
                  <a:t>Quartiles divide the data set into quarters</a:t>
                </a:r>
              </a:p>
              <a:p>
                <a14:m>
                  <m:oMath xmlns:m="http://schemas.openxmlformats.org/officeDocument/2006/math">
                    <m:sSub>
                      <m:sSubPr>
                        <m:ctrlPr>
                          <a:rPr lang="en-AU" i="1" smtClean="0">
                            <a:latin typeface="Cambria Math"/>
                          </a:rPr>
                        </m:ctrlPr>
                      </m:sSubPr>
                      <m:e>
                        <m:r>
                          <a:rPr lang="en-AU" b="0" i="1" smtClean="0">
                            <a:latin typeface="Cambria Math"/>
                          </a:rPr>
                          <m:t>𝑄</m:t>
                        </m:r>
                      </m:e>
                      <m:sub>
                        <m:r>
                          <a:rPr lang="en-AU" b="0" i="1" smtClean="0">
                            <a:latin typeface="Cambria Math"/>
                          </a:rPr>
                          <m:t>1</m:t>
                        </m:r>
                      </m:sub>
                    </m:sSub>
                  </m:oMath>
                </a14:m>
                <a:r>
                  <a:rPr lang="en-AU" dirty="0" smtClean="0"/>
                  <a:t> - First quartile (Median of the lower half of the data)</a:t>
                </a:r>
              </a:p>
              <a:p>
                <a14:m>
                  <m:oMath xmlns:m="http://schemas.openxmlformats.org/officeDocument/2006/math">
                    <m:sSub>
                      <m:sSubPr>
                        <m:ctrlPr>
                          <a:rPr lang="en-AU" i="1" smtClean="0">
                            <a:latin typeface="Cambria Math"/>
                          </a:rPr>
                        </m:ctrlPr>
                      </m:sSubPr>
                      <m:e>
                        <m:r>
                          <a:rPr lang="en-AU" b="0" i="1" smtClean="0">
                            <a:latin typeface="Cambria Math"/>
                          </a:rPr>
                          <m:t>𝑄</m:t>
                        </m:r>
                      </m:e>
                      <m:sub>
                        <m:r>
                          <a:rPr lang="en-AU" b="0" i="1" smtClean="0">
                            <a:latin typeface="Cambria Math"/>
                          </a:rPr>
                          <m:t>2</m:t>
                        </m:r>
                      </m:sub>
                    </m:sSub>
                  </m:oMath>
                </a14:m>
                <a:r>
                  <a:rPr lang="en-AU" dirty="0" smtClean="0"/>
                  <a:t> - Second quartile (Median)</a:t>
                </a:r>
              </a:p>
              <a:p>
                <a14:m>
                  <m:oMath xmlns:m="http://schemas.openxmlformats.org/officeDocument/2006/math">
                    <m:sSub>
                      <m:sSubPr>
                        <m:ctrlPr>
                          <a:rPr lang="en-AU" i="1">
                            <a:latin typeface="Cambria Math"/>
                          </a:rPr>
                        </m:ctrlPr>
                      </m:sSubPr>
                      <m:e>
                        <m:r>
                          <a:rPr lang="en-AU" i="1">
                            <a:latin typeface="Cambria Math"/>
                          </a:rPr>
                          <m:t>𝑄</m:t>
                        </m:r>
                      </m:e>
                      <m:sub>
                        <m:r>
                          <a:rPr lang="en-AU" b="0" i="1" smtClean="0">
                            <a:latin typeface="Cambria Math"/>
                          </a:rPr>
                          <m:t>3</m:t>
                        </m:r>
                      </m:sub>
                    </m:sSub>
                  </m:oMath>
                </a14:m>
                <a:r>
                  <a:rPr lang="en-AU" dirty="0"/>
                  <a:t> - First quartile (Median of the </a:t>
                </a:r>
                <a:r>
                  <a:rPr lang="en-AU" dirty="0" smtClean="0"/>
                  <a:t>upper half </a:t>
                </a:r>
                <a:r>
                  <a:rPr lang="en-AU" dirty="0"/>
                  <a:t>of the data</a:t>
                </a:r>
                <a:r>
                  <a:rPr lang="en-AU" dirty="0" smtClean="0"/>
                  <a:t>)</a:t>
                </a:r>
                <a:endParaRPr lang="en-AU" dirty="0"/>
              </a:p>
            </p:txBody>
          </p:sp>
        </mc:Choice>
        <mc:Fallback>
          <p:sp>
            <p:nvSpPr>
              <p:cNvPr id="14" name="TextBox 13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016406" y="1938800"/>
                <a:ext cx="5430076" cy="1200329"/>
              </a:xfrm>
              <a:prstGeom prst="rect">
                <a:avLst/>
              </a:prstGeom>
              <a:blipFill rotWithShape="1">
                <a:blip r:embed="rId3"/>
                <a:stretch>
                  <a:fillRect l="-1010" t="-2538" r="-224" b="-7107"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5" name="Left Brace 14"/>
          <p:cNvSpPr/>
          <p:nvPr/>
        </p:nvSpPr>
        <p:spPr>
          <a:xfrm rot="16200000">
            <a:off x="4263630" y="2492898"/>
            <a:ext cx="475474" cy="3067762"/>
          </a:xfrm>
          <a:prstGeom prst="leftBrace">
            <a:avLst/>
          </a:prstGeom>
          <a:ln w="127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  <p:sp>
        <p:nvSpPr>
          <p:cNvPr id="25" name="Left Brace 24"/>
          <p:cNvSpPr/>
          <p:nvPr/>
        </p:nvSpPr>
        <p:spPr>
          <a:xfrm rot="16200000">
            <a:off x="7355986" y="2492897"/>
            <a:ext cx="475474" cy="3067762"/>
          </a:xfrm>
          <a:prstGeom prst="leftBrace">
            <a:avLst/>
          </a:prstGeom>
          <a:ln w="127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  <p:cxnSp>
        <p:nvCxnSpPr>
          <p:cNvPr id="17" name="Straight Connector 16"/>
          <p:cNvCxnSpPr/>
          <p:nvPr/>
        </p:nvCxnSpPr>
        <p:spPr>
          <a:xfrm>
            <a:off x="6059842" y="2996952"/>
            <a:ext cx="0" cy="1656184"/>
          </a:xfrm>
          <a:prstGeom prst="line">
            <a:avLst/>
          </a:prstGeom>
          <a:ln w="38100">
            <a:solidFill>
              <a:srgbClr val="FF0000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8" name="TextBox 17"/>
          <p:cNvSpPr txBox="1"/>
          <p:nvPr/>
        </p:nvSpPr>
        <p:spPr>
          <a:xfrm>
            <a:off x="3899214" y="4104074"/>
            <a:ext cx="117077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dirty="0" smtClean="0"/>
              <a:t>Lower half</a:t>
            </a:r>
            <a:endParaRPr lang="en-AU" dirty="0"/>
          </a:p>
        </p:txBody>
      </p:sp>
      <p:sp>
        <p:nvSpPr>
          <p:cNvPr id="26" name="TextBox 25"/>
          <p:cNvSpPr txBox="1"/>
          <p:nvPr/>
        </p:nvSpPr>
        <p:spPr>
          <a:xfrm>
            <a:off x="6981102" y="4118748"/>
            <a:ext cx="11801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dirty="0" smtClean="0"/>
              <a:t>Upper half</a:t>
            </a:r>
            <a:endParaRPr lang="en-AU" dirty="0"/>
          </a:p>
        </p:txBody>
      </p:sp>
      <p:sp>
        <p:nvSpPr>
          <p:cNvPr id="27" name="Oval 26"/>
          <p:cNvSpPr/>
          <p:nvPr/>
        </p:nvSpPr>
        <p:spPr>
          <a:xfrm>
            <a:off x="4319972" y="3243284"/>
            <a:ext cx="504056" cy="530353"/>
          </a:xfrm>
          <a:prstGeom prst="ellipse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19" name="TextBox 18"/>
              <p:cNvSpPr txBox="1"/>
              <p:nvPr/>
            </p:nvSpPr>
            <p:spPr>
              <a:xfrm>
                <a:off x="3076127" y="4671144"/>
                <a:ext cx="3580467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14:m>
                  <m:oMath xmlns:m="http://schemas.openxmlformats.org/officeDocument/2006/math">
                    <m:sSub>
                      <m:sSubPr>
                        <m:ctrlPr>
                          <a:rPr lang="en-AU" i="1" smtClean="0">
                            <a:latin typeface="Cambria Math"/>
                          </a:rPr>
                        </m:ctrlPr>
                      </m:sSubPr>
                      <m:e>
                        <m:r>
                          <a:rPr lang="en-AU" b="0" i="1" smtClean="0">
                            <a:latin typeface="Cambria Math"/>
                          </a:rPr>
                          <m:t>𝑄</m:t>
                        </m:r>
                      </m:e>
                      <m:sub>
                        <m:r>
                          <a:rPr lang="en-AU" b="0" i="1" smtClean="0">
                            <a:latin typeface="Cambria Math"/>
                          </a:rPr>
                          <m:t>1</m:t>
                        </m:r>
                      </m:sub>
                    </m:sSub>
                  </m:oMath>
                </a14:m>
                <a:r>
                  <a:rPr lang="en-AU" dirty="0" smtClean="0"/>
                  <a:t>= 3		            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AU" i="1" smtClean="0">
                            <a:latin typeface="Cambria Math"/>
                          </a:rPr>
                        </m:ctrlPr>
                      </m:sSubPr>
                      <m:e>
                        <m:r>
                          <a:rPr lang="en-AU" b="0" i="1" smtClean="0">
                            <a:latin typeface="Cambria Math"/>
                          </a:rPr>
                          <m:t>𝑄</m:t>
                        </m:r>
                      </m:e>
                      <m:sub>
                        <m:r>
                          <a:rPr lang="en-AU" b="0" i="1" smtClean="0">
                            <a:latin typeface="Cambria Math"/>
                          </a:rPr>
                          <m:t>2</m:t>
                        </m:r>
                      </m:sub>
                    </m:sSub>
                    <m:r>
                      <a:rPr lang="en-AU" b="0" i="1" smtClean="0">
                        <a:latin typeface="Cambria Math"/>
                      </a:rPr>
                      <m:t>=3.5</m:t>
                    </m:r>
                  </m:oMath>
                </a14:m>
                <a:endParaRPr lang="en-AU" dirty="0"/>
              </a:p>
            </p:txBody>
          </p:sp>
        </mc:Choice>
        <mc:Fallback>
          <p:sp>
            <p:nvSpPr>
              <p:cNvPr id="19" name="TextBox 18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076127" y="4671144"/>
                <a:ext cx="3580467" cy="369332"/>
              </a:xfrm>
              <a:prstGeom prst="rect">
                <a:avLst/>
              </a:prstGeom>
              <a:blipFill rotWithShape="1">
                <a:blip r:embed="rId4"/>
                <a:stretch>
                  <a:fillRect l="-341" t="-8197" b="-24590"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1" name="TextBox 20"/>
          <p:cNvSpPr txBox="1"/>
          <p:nvPr/>
        </p:nvSpPr>
        <p:spPr>
          <a:xfrm>
            <a:off x="665095" y="348705"/>
            <a:ext cx="6824817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sz="2800" dirty="0" smtClean="0"/>
              <a:t>Measures of </a:t>
            </a:r>
            <a:r>
              <a:rPr lang="en-AU" sz="2800" dirty="0" smtClean="0"/>
              <a:t>Centre and Spread for a Data Set</a:t>
            </a:r>
            <a:endParaRPr lang="en-AU" sz="2800" dirty="0"/>
          </a:p>
        </p:txBody>
      </p:sp>
    </p:spTree>
    <p:extLst>
      <p:ext uri="{BB962C8B-B14F-4D97-AF65-F5344CB8AC3E}">
        <p14:creationId xmlns:p14="http://schemas.microsoft.com/office/powerpoint/2010/main" val="88770863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8748464" y="6488668"/>
            <a:ext cx="54977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 smtClean="0"/>
              <a:t> </a:t>
            </a:r>
            <a:r>
              <a:rPr lang="en-AU" dirty="0"/>
              <a:t>5</a:t>
            </a:r>
          </a:p>
        </p:txBody>
      </p:sp>
      <p:cxnSp>
        <p:nvCxnSpPr>
          <p:cNvPr id="4" name="Straight Connector 3"/>
          <p:cNvCxnSpPr/>
          <p:nvPr/>
        </p:nvCxnSpPr>
        <p:spPr>
          <a:xfrm>
            <a:off x="0" y="980728"/>
            <a:ext cx="9144000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6" name="Straight Connector 5"/>
          <p:cNvCxnSpPr/>
          <p:nvPr/>
        </p:nvCxnSpPr>
        <p:spPr>
          <a:xfrm>
            <a:off x="0" y="1916832"/>
            <a:ext cx="9144000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93471" y="149731"/>
            <a:ext cx="576064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1600" dirty="0" smtClean="0"/>
              <a:t>24</a:t>
            </a:r>
          </a:p>
          <a:p>
            <a:r>
              <a:rPr lang="en-AU" sz="1600" dirty="0" smtClean="0"/>
              <a:t>7</a:t>
            </a:r>
          </a:p>
          <a:p>
            <a:r>
              <a:rPr lang="en-AU" sz="1600" dirty="0" smtClean="0"/>
              <a:t>30</a:t>
            </a:r>
            <a:endParaRPr lang="en-AU" sz="1600" dirty="0"/>
          </a:p>
        </p:txBody>
      </p:sp>
      <p:cxnSp>
        <p:nvCxnSpPr>
          <p:cNvPr id="9" name="Straight Connector 8"/>
          <p:cNvCxnSpPr/>
          <p:nvPr/>
        </p:nvCxnSpPr>
        <p:spPr>
          <a:xfrm>
            <a:off x="2915816" y="1916832"/>
            <a:ext cx="0" cy="5112568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11" name="TextBox 10"/>
          <p:cNvSpPr txBox="1"/>
          <p:nvPr/>
        </p:nvSpPr>
        <p:spPr>
          <a:xfrm>
            <a:off x="7439175" y="106354"/>
            <a:ext cx="158417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dirty="0" smtClean="0"/>
              <a:t>Date</a:t>
            </a:r>
            <a:endParaRPr lang="en-AU" sz="2400" dirty="0"/>
          </a:p>
        </p:txBody>
      </p:sp>
      <p:sp>
        <p:nvSpPr>
          <p:cNvPr id="12" name="TextBox 11"/>
          <p:cNvSpPr txBox="1"/>
          <p:nvPr/>
        </p:nvSpPr>
        <p:spPr>
          <a:xfrm>
            <a:off x="119514" y="1063436"/>
            <a:ext cx="8620422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dirty="0" smtClean="0"/>
              <a:t>EQ – Describe the differences between the different types of averages. </a:t>
            </a:r>
            <a:endParaRPr lang="en-AU" sz="2400" dirty="0"/>
          </a:p>
        </p:txBody>
      </p:sp>
      <p:sp>
        <p:nvSpPr>
          <p:cNvPr id="20" name="TextBox 19"/>
          <p:cNvSpPr txBox="1"/>
          <p:nvPr/>
        </p:nvSpPr>
        <p:spPr>
          <a:xfrm>
            <a:off x="163221" y="3139129"/>
            <a:ext cx="97719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dirty="0" smtClean="0"/>
              <a:t>Example</a:t>
            </a:r>
            <a:endParaRPr lang="en-AU" dirty="0"/>
          </a:p>
        </p:txBody>
      </p:sp>
      <p:graphicFrame>
        <p:nvGraphicFramePr>
          <p:cNvPr id="22" name="Table 2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352569304"/>
              </p:ext>
            </p:extLst>
          </p:nvPr>
        </p:nvGraphicFramePr>
        <p:xfrm>
          <a:off x="3012834" y="3284984"/>
          <a:ext cx="6096000" cy="3657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16000"/>
                <a:gridCol w="1016000"/>
                <a:gridCol w="1016000"/>
                <a:gridCol w="1016000"/>
                <a:gridCol w="1016000"/>
                <a:gridCol w="1016000"/>
              </a:tblGrid>
              <a:tr h="333237">
                <a:tc>
                  <a:txBody>
                    <a:bodyPr/>
                    <a:lstStyle/>
                    <a:p>
                      <a:pPr algn="ctr"/>
                      <a:r>
                        <a:rPr lang="en-AU" dirty="0" smtClean="0">
                          <a:solidFill>
                            <a:schemeClr val="tx1"/>
                          </a:solidFill>
                        </a:rPr>
                        <a:t>2</a:t>
                      </a:r>
                      <a:endParaRPr lang="en-AU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AU" dirty="0" smtClean="0">
                          <a:solidFill>
                            <a:schemeClr val="tx1"/>
                          </a:solidFill>
                        </a:rPr>
                        <a:t>3</a:t>
                      </a:r>
                      <a:endParaRPr lang="en-AU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AU" dirty="0" smtClean="0">
                          <a:solidFill>
                            <a:schemeClr val="tx1"/>
                          </a:solidFill>
                        </a:rPr>
                        <a:t>3</a:t>
                      </a:r>
                      <a:endParaRPr lang="en-AU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AU" dirty="0" smtClean="0">
                          <a:solidFill>
                            <a:schemeClr val="tx1"/>
                          </a:solidFill>
                        </a:rPr>
                        <a:t>4</a:t>
                      </a:r>
                      <a:endParaRPr lang="en-AU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AU" dirty="0" smtClean="0">
                          <a:solidFill>
                            <a:schemeClr val="tx1"/>
                          </a:solidFill>
                        </a:rPr>
                        <a:t>5</a:t>
                      </a:r>
                      <a:endParaRPr lang="en-AU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AU" dirty="0" smtClean="0">
                          <a:solidFill>
                            <a:schemeClr val="tx1"/>
                          </a:solidFill>
                        </a:rPr>
                        <a:t>7</a:t>
                      </a:r>
                      <a:endParaRPr lang="en-AU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</a:tbl>
          </a:graphicData>
        </a:graphic>
      </p:graphicFrame>
      <p:sp>
        <p:nvSpPr>
          <p:cNvPr id="24" name="TextBox 23"/>
          <p:cNvSpPr txBox="1"/>
          <p:nvPr/>
        </p:nvSpPr>
        <p:spPr>
          <a:xfrm>
            <a:off x="65963" y="2060848"/>
            <a:ext cx="203581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dirty="0" smtClean="0"/>
              <a:t>What are quartiles?</a:t>
            </a:r>
            <a:endParaRPr lang="en-AU" dirty="0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14" name="TextBox 13"/>
              <p:cNvSpPr txBox="1"/>
              <p:nvPr/>
            </p:nvSpPr>
            <p:spPr>
              <a:xfrm>
                <a:off x="3016406" y="1938800"/>
                <a:ext cx="5430076" cy="1200329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AU" dirty="0" smtClean="0"/>
                  <a:t>Quartiles divide the data set into quarters</a:t>
                </a:r>
              </a:p>
              <a:p>
                <a14:m>
                  <m:oMath xmlns:m="http://schemas.openxmlformats.org/officeDocument/2006/math">
                    <m:sSub>
                      <m:sSubPr>
                        <m:ctrlPr>
                          <a:rPr lang="en-AU" i="1" smtClean="0">
                            <a:latin typeface="Cambria Math"/>
                          </a:rPr>
                        </m:ctrlPr>
                      </m:sSubPr>
                      <m:e>
                        <m:r>
                          <a:rPr lang="en-AU" b="0" i="1" smtClean="0">
                            <a:latin typeface="Cambria Math"/>
                          </a:rPr>
                          <m:t>𝑄</m:t>
                        </m:r>
                      </m:e>
                      <m:sub>
                        <m:r>
                          <a:rPr lang="en-AU" b="0" i="1" smtClean="0">
                            <a:latin typeface="Cambria Math"/>
                          </a:rPr>
                          <m:t>1</m:t>
                        </m:r>
                      </m:sub>
                    </m:sSub>
                  </m:oMath>
                </a14:m>
                <a:r>
                  <a:rPr lang="en-AU" dirty="0" smtClean="0"/>
                  <a:t> - First quartile (Median of the lower half of the data)</a:t>
                </a:r>
              </a:p>
              <a:p>
                <a14:m>
                  <m:oMath xmlns:m="http://schemas.openxmlformats.org/officeDocument/2006/math">
                    <m:sSub>
                      <m:sSubPr>
                        <m:ctrlPr>
                          <a:rPr lang="en-AU" i="1" smtClean="0">
                            <a:latin typeface="Cambria Math"/>
                          </a:rPr>
                        </m:ctrlPr>
                      </m:sSubPr>
                      <m:e>
                        <m:r>
                          <a:rPr lang="en-AU" b="0" i="1" smtClean="0">
                            <a:latin typeface="Cambria Math"/>
                          </a:rPr>
                          <m:t>𝑄</m:t>
                        </m:r>
                      </m:e>
                      <m:sub>
                        <m:r>
                          <a:rPr lang="en-AU" b="0" i="1" smtClean="0">
                            <a:latin typeface="Cambria Math"/>
                          </a:rPr>
                          <m:t>2</m:t>
                        </m:r>
                      </m:sub>
                    </m:sSub>
                  </m:oMath>
                </a14:m>
                <a:r>
                  <a:rPr lang="en-AU" dirty="0" smtClean="0"/>
                  <a:t> - Second quartile (Median)</a:t>
                </a:r>
              </a:p>
              <a:p>
                <a14:m>
                  <m:oMath xmlns:m="http://schemas.openxmlformats.org/officeDocument/2006/math">
                    <m:sSub>
                      <m:sSubPr>
                        <m:ctrlPr>
                          <a:rPr lang="en-AU" i="1">
                            <a:latin typeface="Cambria Math"/>
                          </a:rPr>
                        </m:ctrlPr>
                      </m:sSubPr>
                      <m:e>
                        <m:r>
                          <a:rPr lang="en-AU" i="1">
                            <a:latin typeface="Cambria Math"/>
                          </a:rPr>
                          <m:t>𝑄</m:t>
                        </m:r>
                      </m:e>
                      <m:sub>
                        <m:r>
                          <a:rPr lang="en-AU" b="0" i="1" smtClean="0">
                            <a:latin typeface="Cambria Math"/>
                          </a:rPr>
                          <m:t>3</m:t>
                        </m:r>
                      </m:sub>
                    </m:sSub>
                  </m:oMath>
                </a14:m>
                <a:r>
                  <a:rPr lang="en-AU" dirty="0"/>
                  <a:t> - First quartile (Median of the </a:t>
                </a:r>
                <a:r>
                  <a:rPr lang="en-AU" dirty="0" smtClean="0"/>
                  <a:t>upper half </a:t>
                </a:r>
                <a:r>
                  <a:rPr lang="en-AU" dirty="0"/>
                  <a:t>of the data</a:t>
                </a:r>
                <a:r>
                  <a:rPr lang="en-AU" dirty="0" smtClean="0"/>
                  <a:t>)</a:t>
                </a:r>
                <a:endParaRPr lang="en-AU" dirty="0"/>
              </a:p>
            </p:txBody>
          </p:sp>
        </mc:Choice>
        <mc:Fallback>
          <p:sp>
            <p:nvSpPr>
              <p:cNvPr id="14" name="TextBox 13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016406" y="1938800"/>
                <a:ext cx="5430076" cy="1200329"/>
              </a:xfrm>
              <a:prstGeom prst="rect">
                <a:avLst/>
              </a:prstGeom>
              <a:blipFill rotWithShape="1">
                <a:blip r:embed="rId3"/>
                <a:stretch>
                  <a:fillRect l="-1010" t="-2538" r="-224" b="-7107"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5" name="Left Brace 14"/>
          <p:cNvSpPr/>
          <p:nvPr/>
        </p:nvSpPr>
        <p:spPr>
          <a:xfrm rot="16200000">
            <a:off x="4263630" y="2492898"/>
            <a:ext cx="475474" cy="3067762"/>
          </a:xfrm>
          <a:prstGeom prst="leftBrace">
            <a:avLst/>
          </a:prstGeom>
          <a:ln w="127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  <p:sp>
        <p:nvSpPr>
          <p:cNvPr id="25" name="Left Brace 24"/>
          <p:cNvSpPr/>
          <p:nvPr/>
        </p:nvSpPr>
        <p:spPr>
          <a:xfrm rot="16200000">
            <a:off x="7355986" y="2492897"/>
            <a:ext cx="475474" cy="3067762"/>
          </a:xfrm>
          <a:prstGeom prst="leftBrace">
            <a:avLst/>
          </a:prstGeom>
          <a:ln w="127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  <p:cxnSp>
        <p:nvCxnSpPr>
          <p:cNvPr id="17" name="Straight Connector 16"/>
          <p:cNvCxnSpPr/>
          <p:nvPr/>
        </p:nvCxnSpPr>
        <p:spPr>
          <a:xfrm>
            <a:off x="6059842" y="2996952"/>
            <a:ext cx="0" cy="1656184"/>
          </a:xfrm>
          <a:prstGeom prst="line">
            <a:avLst/>
          </a:prstGeom>
          <a:ln w="38100">
            <a:solidFill>
              <a:srgbClr val="FF0000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8" name="TextBox 17"/>
          <p:cNvSpPr txBox="1"/>
          <p:nvPr/>
        </p:nvSpPr>
        <p:spPr>
          <a:xfrm>
            <a:off x="3899214" y="4104074"/>
            <a:ext cx="117077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dirty="0" smtClean="0"/>
              <a:t>Lower half</a:t>
            </a:r>
            <a:endParaRPr lang="en-AU" dirty="0"/>
          </a:p>
        </p:txBody>
      </p:sp>
      <p:sp>
        <p:nvSpPr>
          <p:cNvPr id="26" name="TextBox 25"/>
          <p:cNvSpPr txBox="1"/>
          <p:nvPr/>
        </p:nvSpPr>
        <p:spPr>
          <a:xfrm>
            <a:off x="6981102" y="4118748"/>
            <a:ext cx="11801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dirty="0" smtClean="0"/>
              <a:t>Upper half</a:t>
            </a:r>
            <a:endParaRPr lang="en-AU" dirty="0"/>
          </a:p>
        </p:txBody>
      </p:sp>
      <p:sp>
        <p:nvSpPr>
          <p:cNvPr id="27" name="Oval 26"/>
          <p:cNvSpPr/>
          <p:nvPr/>
        </p:nvSpPr>
        <p:spPr>
          <a:xfrm>
            <a:off x="4249339" y="3197888"/>
            <a:ext cx="504056" cy="530353"/>
          </a:xfrm>
          <a:prstGeom prst="ellipse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19" name="TextBox 18"/>
              <p:cNvSpPr txBox="1"/>
              <p:nvPr/>
            </p:nvSpPr>
            <p:spPr>
              <a:xfrm>
                <a:off x="3076127" y="4671144"/>
                <a:ext cx="5000728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14:m>
                  <m:oMath xmlns:m="http://schemas.openxmlformats.org/officeDocument/2006/math">
                    <m:sSub>
                      <m:sSubPr>
                        <m:ctrlPr>
                          <a:rPr lang="en-AU" i="1" smtClean="0">
                            <a:latin typeface="Cambria Math"/>
                          </a:rPr>
                        </m:ctrlPr>
                      </m:sSubPr>
                      <m:e>
                        <m:r>
                          <a:rPr lang="en-AU" b="0" i="1" smtClean="0">
                            <a:latin typeface="Cambria Math"/>
                          </a:rPr>
                          <m:t>                    </m:t>
                        </m:r>
                        <m:r>
                          <a:rPr lang="en-AU" b="0" i="1" smtClean="0">
                            <a:latin typeface="Cambria Math"/>
                          </a:rPr>
                          <m:t>𝑄</m:t>
                        </m:r>
                      </m:e>
                      <m:sub>
                        <m:r>
                          <a:rPr lang="en-AU" b="0" i="1" smtClean="0">
                            <a:latin typeface="Cambria Math"/>
                          </a:rPr>
                          <m:t>1</m:t>
                        </m:r>
                      </m:sub>
                    </m:sSub>
                  </m:oMath>
                </a14:m>
                <a:r>
                  <a:rPr lang="en-AU" dirty="0" smtClean="0"/>
                  <a:t>= 3	            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AU" i="1" smtClean="0">
                            <a:latin typeface="Cambria Math"/>
                          </a:rPr>
                        </m:ctrlPr>
                      </m:sSubPr>
                      <m:e>
                        <m:r>
                          <a:rPr lang="en-AU" b="0" i="1" smtClean="0">
                            <a:latin typeface="Cambria Math"/>
                          </a:rPr>
                          <m:t>𝑄</m:t>
                        </m:r>
                      </m:e>
                      <m:sub>
                        <m:r>
                          <a:rPr lang="en-AU" b="0" i="1" smtClean="0">
                            <a:latin typeface="Cambria Math"/>
                          </a:rPr>
                          <m:t>2</m:t>
                        </m:r>
                      </m:sub>
                    </m:sSub>
                    <m:r>
                      <a:rPr lang="en-AU" b="0" i="1" smtClean="0">
                        <a:latin typeface="Cambria Math"/>
                      </a:rPr>
                      <m:t>=3.5</m:t>
                    </m:r>
                  </m:oMath>
                </a14:m>
                <a:r>
                  <a:rPr lang="en-AU" dirty="0" smtClean="0"/>
                  <a:t>	           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AU" i="1" smtClean="0">
                            <a:latin typeface="Cambria Math"/>
                          </a:rPr>
                        </m:ctrlPr>
                      </m:sSubPr>
                      <m:e>
                        <m:r>
                          <a:rPr lang="en-AU" b="0" i="1" smtClean="0">
                            <a:latin typeface="Cambria Math"/>
                          </a:rPr>
                          <m:t>𝑄</m:t>
                        </m:r>
                      </m:e>
                      <m:sub>
                        <m:r>
                          <a:rPr lang="en-AU" b="0" i="1" smtClean="0">
                            <a:latin typeface="Cambria Math"/>
                          </a:rPr>
                          <m:t>3</m:t>
                        </m:r>
                      </m:sub>
                    </m:sSub>
                  </m:oMath>
                </a14:m>
                <a:r>
                  <a:rPr lang="en-AU" dirty="0" smtClean="0"/>
                  <a:t>=5</a:t>
                </a:r>
                <a:endParaRPr lang="en-AU" dirty="0"/>
              </a:p>
            </p:txBody>
          </p:sp>
        </mc:Choice>
        <mc:Fallback>
          <p:sp>
            <p:nvSpPr>
              <p:cNvPr id="19" name="TextBox 18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076127" y="4671144"/>
                <a:ext cx="5000728" cy="369332"/>
              </a:xfrm>
              <a:prstGeom prst="rect">
                <a:avLst/>
              </a:prstGeom>
              <a:blipFill rotWithShape="1">
                <a:blip r:embed="rId4"/>
                <a:stretch>
                  <a:fillRect t="-8197" r="-122" b="-24590"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1" name="Oval 20"/>
          <p:cNvSpPr/>
          <p:nvPr/>
        </p:nvSpPr>
        <p:spPr>
          <a:xfrm>
            <a:off x="7319139" y="3202888"/>
            <a:ext cx="504056" cy="530353"/>
          </a:xfrm>
          <a:prstGeom prst="ellipse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  <p:sp>
        <p:nvSpPr>
          <p:cNvPr id="23" name="TextBox 22"/>
          <p:cNvSpPr txBox="1"/>
          <p:nvPr/>
        </p:nvSpPr>
        <p:spPr>
          <a:xfrm>
            <a:off x="665095" y="348705"/>
            <a:ext cx="6824817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sz="2800" dirty="0" smtClean="0"/>
              <a:t>Measures of </a:t>
            </a:r>
            <a:r>
              <a:rPr lang="en-AU" sz="2800" dirty="0" smtClean="0"/>
              <a:t>Centre and Spread for a Data Set</a:t>
            </a:r>
            <a:endParaRPr lang="en-AU" sz="2800" dirty="0"/>
          </a:p>
        </p:txBody>
      </p:sp>
    </p:spTree>
    <p:extLst>
      <p:ext uri="{BB962C8B-B14F-4D97-AF65-F5344CB8AC3E}">
        <p14:creationId xmlns:p14="http://schemas.microsoft.com/office/powerpoint/2010/main" val="425140135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8748464" y="6488668"/>
            <a:ext cx="54977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 smtClean="0"/>
              <a:t> </a:t>
            </a:r>
            <a:r>
              <a:rPr lang="en-AU" dirty="0"/>
              <a:t>5</a:t>
            </a:r>
          </a:p>
        </p:txBody>
      </p:sp>
      <p:cxnSp>
        <p:nvCxnSpPr>
          <p:cNvPr id="4" name="Straight Connector 3"/>
          <p:cNvCxnSpPr/>
          <p:nvPr/>
        </p:nvCxnSpPr>
        <p:spPr>
          <a:xfrm>
            <a:off x="0" y="980728"/>
            <a:ext cx="9144000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6" name="Straight Connector 5"/>
          <p:cNvCxnSpPr/>
          <p:nvPr/>
        </p:nvCxnSpPr>
        <p:spPr>
          <a:xfrm>
            <a:off x="0" y="1916832"/>
            <a:ext cx="9144000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93471" y="149731"/>
            <a:ext cx="576064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1600" dirty="0" smtClean="0"/>
              <a:t>24</a:t>
            </a:r>
          </a:p>
          <a:p>
            <a:r>
              <a:rPr lang="en-AU" sz="1600" dirty="0" smtClean="0"/>
              <a:t>7</a:t>
            </a:r>
          </a:p>
          <a:p>
            <a:r>
              <a:rPr lang="en-AU" sz="1600" dirty="0" smtClean="0"/>
              <a:t>30</a:t>
            </a:r>
            <a:endParaRPr lang="en-AU" sz="1600" dirty="0"/>
          </a:p>
        </p:txBody>
      </p:sp>
      <p:cxnSp>
        <p:nvCxnSpPr>
          <p:cNvPr id="9" name="Straight Connector 8"/>
          <p:cNvCxnSpPr/>
          <p:nvPr/>
        </p:nvCxnSpPr>
        <p:spPr>
          <a:xfrm>
            <a:off x="2915816" y="1916832"/>
            <a:ext cx="0" cy="5112568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11" name="TextBox 10"/>
          <p:cNvSpPr txBox="1"/>
          <p:nvPr/>
        </p:nvSpPr>
        <p:spPr>
          <a:xfrm>
            <a:off x="7439175" y="106354"/>
            <a:ext cx="158417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dirty="0" smtClean="0"/>
              <a:t>Date</a:t>
            </a:r>
            <a:endParaRPr lang="en-AU" sz="2400" dirty="0"/>
          </a:p>
        </p:txBody>
      </p:sp>
      <p:sp>
        <p:nvSpPr>
          <p:cNvPr id="12" name="TextBox 11"/>
          <p:cNvSpPr txBox="1"/>
          <p:nvPr/>
        </p:nvSpPr>
        <p:spPr>
          <a:xfrm>
            <a:off x="119514" y="1063436"/>
            <a:ext cx="8620422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dirty="0" smtClean="0"/>
              <a:t>EQ – Describe the differences between the different types of averages. </a:t>
            </a:r>
            <a:endParaRPr lang="en-AU" sz="2400" dirty="0"/>
          </a:p>
        </p:txBody>
      </p:sp>
      <p:sp>
        <p:nvSpPr>
          <p:cNvPr id="20" name="TextBox 19"/>
          <p:cNvSpPr txBox="1"/>
          <p:nvPr/>
        </p:nvSpPr>
        <p:spPr>
          <a:xfrm>
            <a:off x="163221" y="3139129"/>
            <a:ext cx="97719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dirty="0" smtClean="0"/>
              <a:t>Example</a:t>
            </a:r>
            <a:endParaRPr lang="en-AU" dirty="0"/>
          </a:p>
        </p:txBody>
      </p:sp>
      <p:graphicFrame>
        <p:nvGraphicFramePr>
          <p:cNvPr id="22" name="Table 2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339807369"/>
              </p:ext>
            </p:extLst>
          </p:nvPr>
        </p:nvGraphicFramePr>
        <p:xfrm>
          <a:off x="3012834" y="3284984"/>
          <a:ext cx="6096000" cy="3657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16000"/>
                <a:gridCol w="1016000"/>
                <a:gridCol w="1016000"/>
                <a:gridCol w="1016000"/>
                <a:gridCol w="1016000"/>
                <a:gridCol w="1016000"/>
              </a:tblGrid>
              <a:tr h="333237">
                <a:tc>
                  <a:txBody>
                    <a:bodyPr/>
                    <a:lstStyle/>
                    <a:p>
                      <a:pPr algn="ctr"/>
                      <a:r>
                        <a:rPr lang="en-AU" dirty="0" smtClean="0">
                          <a:solidFill>
                            <a:schemeClr val="tx1"/>
                          </a:solidFill>
                        </a:rPr>
                        <a:t>2</a:t>
                      </a:r>
                      <a:endParaRPr lang="en-AU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AU" dirty="0" smtClean="0">
                          <a:solidFill>
                            <a:schemeClr val="tx1"/>
                          </a:solidFill>
                        </a:rPr>
                        <a:t>3</a:t>
                      </a:r>
                      <a:endParaRPr lang="en-AU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AU" dirty="0" smtClean="0">
                          <a:solidFill>
                            <a:schemeClr val="tx1"/>
                          </a:solidFill>
                        </a:rPr>
                        <a:t>3</a:t>
                      </a:r>
                      <a:endParaRPr lang="en-AU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AU" dirty="0" smtClean="0">
                          <a:solidFill>
                            <a:schemeClr val="tx1"/>
                          </a:solidFill>
                        </a:rPr>
                        <a:t>4</a:t>
                      </a:r>
                      <a:endParaRPr lang="en-AU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AU" dirty="0" smtClean="0">
                          <a:solidFill>
                            <a:schemeClr val="tx1"/>
                          </a:solidFill>
                        </a:rPr>
                        <a:t>5</a:t>
                      </a:r>
                      <a:endParaRPr lang="en-AU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AU" dirty="0" smtClean="0">
                          <a:solidFill>
                            <a:schemeClr val="tx1"/>
                          </a:solidFill>
                        </a:rPr>
                        <a:t>7</a:t>
                      </a:r>
                      <a:endParaRPr lang="en-AU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</a:tbl>
          </a:graphicData>
        </a:graphic>
      </p:graphicFrame>
      <p:sp>
        <p:nvSpPr>
          <p:cNvPr id="24" name="TextBox 23"/>
          <p:cNvSpPr txBox="1"/>
          <p:nvPr/>
        </p:nvSpPr>
        <p:spPr>
          <a:xfrm>
            <a:off x="65963" y="2060848"/>
            <a:ext cx="203581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dirty="0" smtClean="0"/>
              <a:t>What are quartiles?</a:t>
            </a:r>
            <a:endParaRPr lang="en-AU" dirty="0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14" name="TextBox 13"/>
              <p:cNvSpPr txBox="1"/>
              <p:nvPr/>
            </p:nvSpPr>
            <p:spPr>
              <a:xfrm>
                <a:off x="3016406" y="1938800"/>
                <a:ext cx="5430076" cy="1200329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AU" dirty="0" smtClean="0"/>
                  <a:t>Quartiles divide the data set into quarters</a:t>
                </a:r>
              </a:p>
              <a:p>
                <a14:m>
                  <m:oMath xmlns:m="http://schemas.openxmlformats.org/officeDocument/2006/math">
                    <m:sSub>
                      <m:sSubPr>
                        <m:ctrlPr>
                          <a:rPr lang="en-AU" i="1" smtClean="0">
                            <a:latin typeface="Cambria Math"/>
                          </a:rPr>
                        </m:ctrlPr>
                      </m:sSubPr>
                      <m:e>
                        <m:r>
                          <a:rPr lang="en-AU" b="0" i="1" smtClean="0">
                            <a:latin typeface="Cambria Math"/>
                          </a:rPr>
                          <m:t>𝑄</m:t>
                        </m:r>
                      </m:e>
                      <m:sub>
                        <m:r>
                          <a:rPr lang="en-AU" b="0" i="1" smtClean="0">
                            <a:latin typeface="Cambria Math"/>
                          </a:rPr>
                          <m:t>1</m:t>
                        </m:r>
                      </m:sub>
                    </m:sSub>
                  </m:oMath>
                </a14:m>
                <a:r>
                  <a:rPr lang="en-AU" dirty="0" smtClean="0"/>
                  <a:t> - First quartile (Median of the lower half of the data)</a:t>
                </a:r>
              </a:p>
              <a:p>
                <a14:m>
                  <m:oMath xmlns:m="http://schemas.openxmlformats.org/officeDocument/2006/math">
                    <m:sSub>
                      <m:sSubPr>
                        <m:ctrlPr>
                          <a:rPr lang="en-AU" i="1" smtClean="0">
                            <a:latin typeface="Cambria Math"/>
                          </a:rPr>
                        </m:ctrlPr>
                      </m:sSubPr>
                      <m:e>
                        <m:r>
                          <a:rPr lang="en-AU" b="0" i="1" smtClean="0">
                            <a:latin typeface="Cambria Math"/>
                          </a:rPr>
                          <m:t>𝑄</m:t>
                        </m:r>
                      </m:e>
                      <m:sub>
                        <m:r>
                          <a:rPr lang="en-AU" b="0" i="1" smtClean="0">
                            <a:latin typeface="Cambria Math"/>
                          </a:rPr>
                          <m:t>2</m:t>
                        </m:r>
                      </m:sub>
                    </m:sSub>
                  </m:oMath>
                </a14:m>
                <a:r>
                  <a:rPr lang="en-AU" dirty="0" smtClean="0"/>
                  <a:t> - Second quartile (Median)</a:t>
                </a:r>
              </a:p>
              <a:p>
                <a14:m>
                  <m:oMath xmlns:m="http://schemas.openxmlformats.org/officeDocument/2006/math">
                    <m:sSub>
                      <m:sSubPr>
                        <m:ctrlPr>
                          <a:rPr lang="en-AU" i="1">
                            <a:latin typeface="Cambria Math"/>
                          </a:rPr>
                        </m:ctrlPr>
                      </m:sSubPr>
                      <m:e>
                        <m:r>
                          <a:rPr lang="en-AU" i="1">
                            <a:latin typeface="Cambria Math"/>
                          </a:rPr>
                          <m:t>𝑄</m:t>
                        </m:r>
                      </m:e>
                      <m:sub>
                        <m:r>
                          <a:rPr lang="en-AU" b="0" i="1" smtClean="0">
                            <a:latin typeface="Cambria Math"/>
                          </a:rPr>
                          <m:t>3</m:t>
                        </m:r>
                      </m:sub>
                    </m:sSub>
                  </m:oMath>
                </a14:m>
                <a:r>
                  <a:rPr lang="en-AU" dirty="0"/>
                  <a:t> - First quartile (Median of the </a:t>
                </a:r>
                <a:r>
                  <a:rPr lang="en-AU" dirty="0" smtClean="0"/>
                  <a:t>upper half </a:t>
                </a:r>
                <a:r>
                  <a:rPr lang="en-AU" dirty="0"/>
                  <a:t>of the data</a:t>
                </a:r>
                <a:r>
                  <a:rPr lang="en-AU" dirty="0" smtClean="0"/>
                  <a:t>)</a:t>
                </a:r>
                <a:endParaRPr lang="en-AU" dirty="0"/>
              </a:p>
            </p:txBody>
          </p:sp>
        </mc:Choice>
        <mc:Fallback>
          <p:sp>
            <p:nvSpPr>
              <p:cNvPr id="14" name="TextBox 13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016406" y="1938800"/>
                <a:ext cx="5430076" cy="1200329"/>
              </a:xfrm>
              <a:prstGeom prst="rect">
                <a:avLst/>
              </a:prstGeom>
              <a:blipFill rotWithShape="1">
                <a:blip r:embed="rId3"/>
                <a:stretch>
                  <a:fillRect l="-1010" t="-2538" r="-224" b="-7107"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5" name="Left Brace 14"/>
          <p:cNvSpPr/>
          <p:nvPr/>
        </p:nvSpPr>
        <p:spPr>
          <a:xfrm rot="16200000">
            <a:off x="4263630" y="2492898"/>
            <a:ext cx="475474" cy="3067762"/>
          </a:xfrm>
          <a:prstGeom prst="leftBrace">
            <a:avLst/>
          </a:prstGeom>
          <a:ln w="127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  <p:sp>
        <p:nvSpPr>
          <p:cNvPr id="25" name="Left Brace 24"/>
          <p:cNvSpPr/>
          <p:nvPr/>
        </p:nvSpPr>
        <p:spPr>
          <a:xfrm rot="16200000">
            <a:off x="7355986" y="2492897"/>
            <a:ext cx="475474" cy="3067762"/>
          </a:xfrm>
          <a:prstGeom prst="leftBrace">
            <a:avLst/>
          </a:prstGeom>
          <a:ln w="127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  <p:cxnSp>
        <p:nvCxnSpPr>
          <p:cNvPr id="17" name="Straight Connector 16"/>
          <p:cNvCxnSpPr/>
          <p:nvPr/>
        </p:nvCxnSpPr>
        <p:spPr>
          <a:xfrm>
            <a:off x="6059842" y="2996952"/>
            <a:ext cx="0" cy="1656184"/>
          </a:xfrm>
          <a:prstGeom prst="line">
            <a:avLst/>
          </a:prstGeom>
          <a:ln w="38100">
            <a:solidFill>
              <a:srgbClr val="FF0000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8" name="TextBox 17"/>
          <p:cNvSpPr txBox="1"/>
          <p:nvPr/>
        </p:nvSpPr>
        <p:spPr>
          <a:xfrm>
            <a:off x="3899214" y="4104074"/>
            <a:ext cx="117077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dirty="0" smtClean="0"/>
              <a:t>Lower half</a:t>
            </a:r>
            <a:endParaRPr lang="en-AU" dirty="0"/>
          </a:p>
        </p:txBody>
      </p:sp>
      <p:sp>
        <p:nvSpPr>
          <p:cNvPr id="26" name="TextBox 25"/>
          <p:cNvSpPr txBox="1"/>
          <p:nvPr/>
        </p:nvSpPr>
        <p:spPr>
          <a:xfrm>
            <a:off x="6981102" y="4118748"/>
            <a:ext cx="11801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dirty="0" smtClean="0"/>
              <a:t>Upper half</a:t>
            </a:r>
            <a:endParaRPr lang="en-AU" dirty="0"/>
          </a:p>
        </p:txBody>
      </p:sp>
      <p:sp>
        <p:nvSpPr>
          <p:cNvPr id="27" name="Oval 26"/>
          <p:cNvSpPr/>
          <p:nvPr/>
        </p:nvSpPr>
        <p:spPr>
          <a:xfrm>
            <a:off x="4249339" y="3197888"/>
            <a:ext cx="504056" cy="530353"/>
          </a:xfrm>
          <a:prstGeom prst="ellipse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19" name="TextBox 18"/>
              <p:cNvSpPr txBox="1"/>
              <p:nvPr/>
            </p:nvSpPr>
            <p:spPr>
              <a:xfrm>
                <a:off x="3076127" y="4671144"/>
                <a:ext cx="5000728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14:m>
                  <m:oMath xmlns:m="http://schemas.openxmlformats.org/officeDocument/2006/math">
                    <m:sSub>
                      <m:sSubPr>
                        <m:ctrlPr>
                          <a:rPr lang="en-AU" i="1" smtClean="0">
                            <a:latin typeface="Cambria Math"/>
                          </a:rPr>
                        </m:ctrlPr>
                      </m:sSubPr>
                      <m:e>
                        <m:r>
                          <a:rPr lang="en-AU" b="0" i="1" smtClean="0">
                            <a:latin typeface="Cambria Math"/>
                          </a:rPr>
                          <m:t>                    </m:t>
                        </m:r>
                        <m:r>
                          <a:rPr lang="en-AU" b="0" i="1" smtClean="0">
                            <a:latin typeface="Cambria Math"/>
                          </a:rPr>
                          <m:t>𝑄</m:t>
                        </m:r>
                      </m:e>
                      <m:sub>
                        <m:r>
                          <a:rPr lang="en-AU" b="0" i="1" smtClean="0">
                            <a:latin typeface="Cambria Math"/>
                          </a:rPr>
                          <m:t>1</m:t>
                        </m:r>
                      </m:sub>
                    </m:sSub>
                  </m:oMath>
                </a14:m>
                <a:r>
                  <a:rPr lang="en-AU" dirty="0" smtClean="0"/>
                  <a:t>= 3	            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AU" i="1" smtClean="0">
                            <a:latin typeface="Cambria Math"/>
                          </a:rPr>
                        </m:ctrlPr>
                      </m:sSubPr>
                      <m:e>
                        <m:r>
                          <a:rPr lang="en-AU" b="0" i="1" smtClean="0">
                            <a:latin typeface="Cambria Math"/>
                          </a:rPr>
                          <m:t>𝑄</m:t>
                        </m:r>
                      </m:e>
                      <m:sub>
                        <m:r>
                          <a:rPr lang="en-AU" b="0" i="1" smtClean="0">
                            <a:latin typeface="Cambria Math"/>
                          </a:rPr>
                          <m:t>2</m:t>
                        </m:r>
                      </m:sub>
                    </m:sSub>
                    <m:r>
                      <a:rPr lang="en-AU" b="0" i="1" smtClean="0">
                        <a:latin typeface="Cambria Math"/>
                      </a:rPr>
                      <m:t>=3.5</m:t>
                    </m:r>
                  </m:oMath>
                </a14:m>
                <a:r>
                  <a:rPr lang="en-AU" dirty="0" smtClean="0"/>
                  <a:t>	           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AU" i="1" smtClean="0">
                            <a:latin typeface="Cambria Math"/>
                          </a:rPr>
                        </m:ctrlPr>
                      </m:sSubPr>
                      <m:e>
                        <m:r>
                          <a:rPr lang="en-AU" b="0" i="1" smtClean="0">
                            <a:latin typeface="Cambria Math"/>
                          </a:rPr>
                          <m:t>𝑄</m:t>
                        </m:r>
                      </m:e>
                      <m:sub>
                        <m:r>
                          <a:rPr lang="en-AU" b="0" i="1" smtClean="0">
                            <a:latin typeface="Cambria Math"/>
                          </a:rPr>
                          <m:t>3</m:t>
                        </m:r>
                      </m:sub>
                    </m:sSub>
                  </m:oMath>
                </a14:m>
                <a:r>
                  <a:rPr lang="en-AU" dirty="0" smtClean="0"/>
                  <a:t>=5</a:t>
                </a:r>
                <a:endParaRPr lang="en-AU" dirty="0"/>
              </a:p>
            </p:txBody>
          </p:sp>
        </mc:Choice>
        <mc:Fallback>
          <p:sp>
            <p:nvSpPr>
              <p:cNvPr id="19" name="TextBox 18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076127" y="4671144"/>
                <a:ext cx="5000728" cy="369332"/>
              </a:xfrm>
              <a:prstGeom prst="rect">
                <a:avLst/>
              </a:prstGeom>
              <a:blipFill rotWithShape="1">
                <a:blip r:embed="rId4"/>
                <a:stretch>
                  <a:fillRect t="-8197" r="-122" b="-24590"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1" name="Oval 20"/>
          <p:cNvSpPr/>
          <p:nvPr/>
        </p:nvSpPr>
        <p:spPr>
          <a:xfrm>
            <a:off x="7319139" y="3202888"/>
            <a:ext cx="504056" cy="530353"/>
          </a:xfrm>
          <a:prstGeom prst="ellipse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  <p:sp>
        <p:nvSpPr>
          <p:cNvPr id="3" name="TextBox 2"/>
          <p:cNvSpPr txBox="1"/>
          <p:nvPr/>
        </p:nvSpPr>
        <p:spPr>
          <a:xfrm>
            <a:off x="170117" y="5040476"/>
            <a:ext cx="2673691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 smtClean="0"/>
              <a:t>What are the measures of spread?</a:t>
            </a:r>
            <a:endParaRPr lang="en-AU" dirty="0"/>
          </a:p>
        </p:txBody>
      </p:sp>
      <p:sp>
        <p:nvSpPr>
          <p:cNvPr id="5" name="TextBox 4"/>
          <p:cNvSpPr txBox="1"/>
          <p:nvPr/>
        </p:nvSpPr>
        <p:spPr>
          <a:xfrm>
            <a:off x="3042992" y="5178975"/>
            <a:ext cx="5644046" cy="9233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dirty="0" smtClean="0"/>
              <a:t>Range = difference between the highest and lowest values</a:t>
            </a:r>
          </a:p>
          <a:p>
            <a:r>
              <a:rPr lang="en-AU" dirty="0" smtClean="0">
                <a:solidFill>
                  <a:srgbClr val="0070C0"/>
                </a:solidFill>
              </a:rPr>
              <a:t>Example : 7 – 2 =  5</a:t>
            </a:r>
          </a:p>
          <a:p>
            <a:endParaRPr lang="en-AU" dirty="0">
              <a:solidFill>
                <a:srgbClr val="0070C0"/>
              </a:solidFill>
            </a:endParaRPr>
          </a:p>
        </p:txBody>
      </p:sp>
      <p:sp>
        <p:nvSpPr>
          <p:cNvPr id="28" name="TextBox 27"/>
          <p:cNvSpPr txBox="1"/>
          <p:nvPr/>
        </p:nvSpPr>
        <p:spPr>
          <a:xfrm>
            <a:off x="665095" y="348705"/>
            <a:ext cx="6824817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sz="2800" dirty="0" smtClean="0"/>
              <a:t>Measures of </a:t>
            </a:r>
            <a:r>
              <a:rPr lang="en-AU" sz="2800" dirty="0" smtClean="0"/>
              <a:t>Centre and Spread for a Data Set</a:t>
            </a:r>
            <a:endParaRPr lang="en-AU" sz="2800" dirty="0"/>
          </a:p>
        </p:txBody>
      </p:sp>
    </p:spTree>
    <p:extLst>
      <p:ext uri="{BB962C8B-B14F-4D97-AF65-F5344CB8AC3E}">
        <p14:creationId xmlns:p14="http://schemas.microsoft.com/office/powerpoint/2010/main" val="159953224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8748464" y="6488668"/>
            <a:ext cx="54977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 smtClean="0"/>
              <a:t> </a:t>
            </a:r>
            <a:r>
              <a:rPr lang="en-AU" dirty="0"/>
              <a:t>5</a:t>
            </a:r>
          </a:p>
        </p:txBody>
      </p:sp>
      <p:cxnSp>
        <p:nvCxnSpPr>
          <p:cNvPr id="4" name="Straight Connector 3"/>
          <p:cNvCxnSpPr/>
          <p:nvPr/>
        </p:nvCxnSpPr>
        <p:spPr>
          <a:xfrm>
            <a:off x="0" y="980728"/>
            <a:ext cx="9144000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6" name="Straight Connector 5"/>
          <p:cNvCxnSpPr/>
          <p:nvPr/>
        </p:nvCxnSpPr>
        <p:spPr>
          <a:xfrm>
            <a:off x="0" y="1916832"/>
            <a:ext cx="9144000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93471" y="149731"/>
            <a:ext cx="576064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1600" dirty="0" smtClean="0"/>
              <a:t>24</a:t>
            </a:r>
          </a:p>
          <a:p>
            <a:r>
              <a:rPr lang="en-AU" sz="1600" dirty="0" smtClean="0"/>
              <a:t>7</a:t>
            </a:r>
          </a:p>
          <a:p>
            <a:r>
              <a:rPr lang="en-AU" sz="1600" dirty="0" smtClean="0"/>
              <a:t>30</a:t>
            </a:r>
            <a:endParaRPr lang="en-AU" sz="1600" dirty="0"/>
          </a:p>
        </p:txBody>
      </p:sp>
      <p:cxnSp>
        <p:nvCxnSpPr>
          <p:cNvPr id="9" name="Straight Connector 8"/>
          <p:cNvCxnSpPr/>
          <p:nvPr/>
        </p:nvCxnSpPr>
        <p:spPr>
          <a:xfrm>
            <a:off x="2915816" y="1916832"/>
            <a:ext cx="0" cy="5112568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11" name="TextBox 10"/>
          <p:cNvSpPr txBox="1"/>
          <p:nvPr/>
        </p:nvSpPr>
        <p:spPr>
          <a:xfrm>
            <a:off x="7439175" y="106354"/>
            <a:ext cx="158417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dirty="0" smtClean="0"/>
              <a:t>Date</a:t>
            </a:r>
            <a:endParaRPr lang="en-AU" sz="2400" dirty="0"/>
          </a:p>
        </p:txBody>
      </p:sp>
      <p:sp>
        <p:nvSpPr>
          <p:cNvPr id="12" name="TextBox 11"/>
          <p:cNvSpPr txBox="1"/>
          <p:nvPr/>
        </p:nvSpPr>
        <p:spPr>
          <a:xfrm>
            <a:off x="119514" y="1063436"/>
            <a:ext cx="8620422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dirty="0" smtClean="0"/>
              <a:t>EQ – Describe the differences between the different types of averages. </a:t>
            </a:r>
            <a:endParaRPr lang="en-AU" sz="2400" dirty="0"/>
          </a:p>
        </p:txBody>
      </p:sp>
      <p:sp>
        <p:nvSpPr>
          <p:cNvPr id="20" name="TextBox 19"/>
          <p:cNvSpPr txBox="1"/>
          <p:nvPr/>
        </p:nvSpPr>
        <p:spPr>
          <a:xfrm>
            <a:off x="163221" y="3139129"/>
            <a:ext cx="97719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dirty="0" smtClean="0"/>
              <a:t>Example</a:t>
            </a:r>
            <a:endParaRPr lang="en-AU" dirty="0"/>
          </a:p>
        </p:txBody>
      </p:sp>
      <p:graphicFrame>
        <p:nvGraphicFramePr>
          <p:cNvPr id="22" name="Table 2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666937361"/>
              </p:ext>
            </p:extLst>
          </p:nvPr>
        </p:nvGraphicFramePr>
        <p:xfrm>
          <a:off x="3012834" y="3284984"/>
          <a:ext cx="6096000" cy="3657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16000"/>
                <a:gridCol w="1016000"/>
                <a:gridCol w="1016000"/>
                <a:gridCol w="1016000"/>
                <a:gridCol w="1016000"/>
                <a:gridCol w="1016000"/>
              </a:tblGrid>
              <a:tr h="333237">
                <a:tc>
                  <a:txBody>
                    <a:bodyPr/>
                    <a:lstStyle/>
                    <a:p>
                      <a:pPr algn="ctr"/>
                      <a:r>
                        <a:rPr lang="en-AU" dirty="0" smtClean="0">
                          <a:solidFill>
                            <a:schemeClr val="tx1"/>
                          </a:solidFill>
                        </a:rPr>
                        <a:t>2</a:t>
                      </a:r>
                      <a:endParaRPr lang="en-AU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AU" dirty="0" smtClean="0">
                          <a:solidFill>
                            <a:schemeClr val="tx1"/>
                          </a:solidFill>
                        </a:rPr>
                        <a:t>3</a:t>
                      </a:r>
                      <a:endParaRPr lang="en-AU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AU" dirty="0" smtClean="0">
                          <a:solidFill>
                            <a:schemeClr val="tx1"/>
                          </a:solidFill>
                        </a:rPr>
                        <a:t>3</a:t>
                      </a:r>
                      <a:endParaRPr lang="en-AU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AU" dirty="0" smtClean="0">
                          <a:solidFill>
                            <a:schemeClr val="tx1"/>
                          </a:solidFill>
                        </a:rPr>
                        <a:t>4</a:t>
                      </a:r>
                      <a:endParaRPr lang="en-AU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AU" dirty="0" smtClean="0">
                          <a:solidFill>
                            <a:schemeClr val="tx1"/>
                          </a:solidFill>
                        </a:rPr>
                        <a:t>5</a:t>
                      </a:r>
                      <a:endParaRPr lang="en-AU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AU" dirty="0" smtClean="0">
                          <a:solidFill>
                            <a:schemeClr val="tx1"/>
                          </a:solidFill>
                        </a:rPr>
                        <a:t>7</a:t>
                      </a:r>
                      <a:endParaRPr lang="en-AU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</a:tbl>
          </a:graphicData>
        </a:graphic>
      </p:graphicFrame>
      <p:sp>
        <p:nvSpPr>
          <p:cNvPr id="24" name="TextBox 23"/>
          <p:cNvSpPr txBox="1"/>
          <p:nvPr/>
        </p:nvSpPr>
        <p:spPr>
          <a:xfrm>
            <a:off x="65963" y="2060848"/>
            <a:ext cx="203581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dirty="0" smtClean="0"/>
              <a:t>What are quartiles?</a:t>
            </a:r>
            <a:endParaRPr lang="en-AU" dirty="0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14" name="TextBox 13"/>
              <p:cNvSpPr txBox="1"/>
              <p:nvPr/>
            </p:nvSpPr>
            <p:spPr>
              <a:xfrm>
                <a:off x="3016406" y="1938800"/>
                <a:ext cx="5430076" cy="1200329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AU" dirty="0" smtClean="0"/>
                  <a:t>Quartiles divide the data set into quarters</a:t>
                </a:r>
              </a:p>
              <a:p>
                <a14:m>
                  <m:oMath xmlns:m="http://schemas.openxmlformats.org/officeDocument/2006/math">
                    <m:sSub>
                      <m:sSubPr>
                        <m:ctrlPr>
                          <a:rPr lang="en-AU" i="1" smtClean="0">
                            <a:latin typeface="Cambria Math"/>
                          </a:rPr>
                        </m:ctrlPr>
                      </m:sSubPr>
                      <m:e>
                        <m:r>
                          <a:rPr lang="en-AU" b="0" i="1" smtClean="0">
                            <a:latin typeface="Cambria Math"/>
                          </a:rPr>
                          <m:t>𝑄</m:t>
                        </m:r>
                      </m:e>
                      <m:sub>
                        <m:r>
                          <a:rPr lang="en-AU" b="0" i="1" smtClean="0">
                            <a:latin typeface="Cambria Math"/>
                          </a:rPr>
                          <m:t>1</m:t>
                        </m:r>
                      </m:sub>
                    </m:sSub>
                  </m:oMath>
                </a14:m>
                <a:r>
                  <a:rPr lang="en-AU" dirty="0" smtClean="0"/>
                  <a:t> - First quartile (Median of the lower half of the data)</a:t>
                </a:r>
              </a:p>
              <a:p>
                <a14:m>
                  <m:oMath xmlns:m="http://schemas.openxmlformats.org/officeDocument/2006/math">
                    <m:sSub>
                      <m:sSubPr>
                        <m:ctrlPr>
                          <a:rPr lang="en-AU" i="1" smtClean="0">
                            <a:latin typeface="Cambria Math"/>
                          </a:rPr>
                        </m:ctrlPr>
                      </m:sSubPr>
                      <m:e>
                        <m:r>
                          <a:rPr lang="en-AU" b="0" i="1" smtClean="0">
                            <a:latin typeface="Cambria Math"/>
                          </a:rPr>
                          <m:t>𝑄</m:t>
                        </m:r>
                      </m:e>
                      <m:sub>
                        <m:r>
                          <a:rPr lang="en-AU" b="0" i="1" smtClean="0">
                            <a:latin typeface="Cambria Math"/>
                          </a:rPr>
                          <m:t>2</m:t>
                        </m:r>
                      </m:sub>
                    </m:sSub>
                  </m:oMath>
                </a14:m>
                <a:r>
                  <a:rPr lang="en-AU" dirty="0" smtClean="0"/>
                  <a:t> - Second quartile (Median)</a:t>
                </a:r>
              </a:p>
              <a:p>
                <a14:m>
                  <m:oMath xmlns:m="http://schemas.openxmlformats.org/officeDocument/2006/math">
                    <m:sSub>
                      <m:sSubPr>
                        <m:ctrlPr>
                          <a:rPr lang="en-AU" i="1">
                            <a:latin typeface="Cambria Math"/>
                          </a:rPr>
                        </m:ctrlPr>
                      </m:sSubPr>
                      <m:e>
                        <m:r>
                          <a:rPr lang="en-AU" i="1">
                            <a:latin typeface="Cambria Math"/>
                          </a:rPr>
                          <m:t>𝑄</m:t>
                        </m:r>
                      </m:e>
                      <m:sub>
                        <m:r>
                          <a:rPr lang="en-AU" b="0" i="1" smtClean="0">
                            <a:latin typeface="Cambria Math"/>
                          </a:rPr>
                          <m:t>3</m:t>
                        </m:r>
                      </m:sub>
                    </m:sSub>
                  </m:oMath>
                </a14:m>
                <a:r>
                  <a:rPr lang="en-AU" dirty="0"/>
                  <a:t> - First quartile (Median of the </a:t>
                </a:r>
                <a:r>
                  <a:rPr lang="en-AU" dirty="0" smtClean="0"/>
                  <a:t>upper half </a:t>
                </a:r>
                <a:r>
                  <a:rPr lang="en-AU" dirty="0"/>
                  <a:t>of the data</a:t>
                </a:r>
                <a:r>
                  <a:rPr lang="en-AU" dirty="0" smtClean="0"/>
                  <a:t>)</a:t>
                </a:r>
                <a:endParaRPr lang="en-AU" dirty="0"/>
              </a:p>
            </p:txBody>
          </p:sp>
        </mc:Choice>
        <mc:Fallback>
          <p:sp>
            <p:nvSpPr>
              <p:cNvPr id="14" name="TextBox 13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016406" y="1938800"/>
                <a:ext cx="5430076" cy="1200329"/>
              </a:xfrm>
              <a:prstGeom prst="rect">
                <a:avLst/>
              </a:prstGeom>
              <a:blipFill rotWithShape="1">
                <a:blip r:embed="rId3"/>
                <a:stretch>
                  <a:fillRect l="-1010" t="-2538" r="-224" b="-7107"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5" name="Left Brace 14"/>
          <p:cNvSpPr/>
          <p:nvPr/>
        </p:nvSpPr>
        <p:spPr>
          <a:xfrm rot="16200000">
            <a:off x="4263630" y="2492898"/>
            <a:ext cx="475474" cy="3067762"/>
          </a:xfrm>
          <a:prstGeom prst="leftBrace">
            <a:avLst/>
          </a:prstGeom>
          <a:ln w="127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  <p:sp>
        <p:nvSpPr>
          <p:cNvPr id="25" name="Left Brace 24"/>
          <p:cNvSpPr/>
          <p:nvPr/>
        </p:nvSpPr>
        <p:spPr>
          <a:xfrm rot="16200000">
            <a:off x="7355986" y="2492897"/>
            <a:ext cx="475474" cy="3067762"/>
          </a:xfrm>
          <a:prstGeom prst="leftBrace">
            <a:avLst/>
          </a:prstGeom>
          <a:ln w="127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  <p:cxnSp>
        <p:nvCxnSpPr>
          <p:cNvPr id="17" name="Straight Connector 16"/>
          <p:cNvCxnSpPr/>
          <p:nvPr/>
        </p:nvCxnSpPr>
        <p:spPr>
          <a:xfrm>
            <a:off x="6059842" y="2996952"/>
            <a:ext cx="0" cy="1656184"/>
          </a:xfrm>
          <a:prstGeom prst="line">
            <a:avLst/>
          </a:prstGeom>
          <a:ln w="38100">
            <a:solidFill>
              <a:srgbClr val="FF0000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8" name="TextBox 17"/>
          <p:cNvSpPr txBox="1"/>
          <p:nvPr/>
        </p:nvSpPr>
        <p:spPr>
          <a:xfrm>
            <a:off x="3899214" y="4104074"/>
            <a:ext cx="117077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dirty="0" smtClean="0"/>
              <a:t>Lower half</a:t>
            </a:r>
            <a:endParaRPr lang="en-AU" dirty="0"/>
          </a:p>
        </p:txBody>
      </p:sp>
      <p:sp>
        <p:nvSpPr>
          <p:cNvPr id="26" name="TextBox 25"/>
          <p:cNvSpPr txBox="1"/>
          <p:nvPr/>
        </p:nvSpPr>
        <p:spPr>
          <a:xfrm>
            <a:off x="6981102" y="4118748"/>
            <a:ext cx="11801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dirty="0" smtClean="0"/>
              <a:t>Upper half</a:t>
            </a:r>
            <a:endParaRPr lang="en-AU" dirty="0"/>
          </a:p>
        </p:txBody>
      </p:sp>
      <p:sp>
        <p:nvSpPr>
          <p:cNvPr id="27" name="Oval 26"/>
          <p:cNvSpPr/>
          <p:nvPr/>
        </p:nvSpPr>
        <p:spPr>
          <a:xfrm>
            <a:off x="4249339" y="3197888"/>
            <a:ext cx="504056" cy="530353"/>
          </a:xfrm>
          <a:prstGeom prst="ellipse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19" name="TextBox 18"/>
              <p:cNvSpPr txBox="1"/>
              <p:nvPr/>
            </p:nvSpPr>
            <p:spPr>
              <a:xfrm>
                <a:off x="3076127" y="4671144"/>
                <a:ext cx="5000728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14:m>
                  <m:oMath xmlns:m="http://schemas.openxmlformats.org/officeDocument/2006/math">
                    <m:sSub>
                      <m:sSubPr>
                        <m:ctrlPr>
                          <a:rPr lang="en-AU" i="1" smtClean="0">
                            <a:latin typeface="Cambria Math"/>
                          </a:rPr>
                        </m:ctrlPr>
                      </m:sSubPr>
                      <m:e>
                        <m:r>
                          <a:rPr lang="en-AU" b="0" i="1" smtClean="0">
                            <a:latin typeface="Cambria Math"/>
                          </a:rPr>
                          <m:t>                    </m:t>
                        </m:r>
                        <m:r>
                          <a:rPr lang="en-AU" b="0" i="1" smtClean="0">
                            <a:latin typeface="Cambria Math"/>
                          </a:rPr>
                          <m:t>𝑄</m:t>
                        </m:r>
                      </m:e>
                      <m:sub>
                        <m:r>
                          <a:rPr lang="en-AU" b="0" i="1" smtClean="0">
                            <a:latin typeface="Cambria Math"/>
                          </a:rPr>
                          <m:t>1</m:t>
                        </m:r>
                      </m:sub>
                    </m:sSub>
                  </m:oMath>
                </a14:m>
                <a:r>
                  <a:rPr lang="en-AU" dirty="0" smtClean="0"/>
                  <a:t>= 3	            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AU" i="1" smtClean="0">
                            <a:latin typeface="Cambria Math"/>
                          </a:rPr>
                        </m:ctrlPr>
                      </m:sSubPr>
                      <m:e>
                        <m:r>
                          <a:rPr lang="en-AU" b="0" i="1" smtClean="0">
                            <a:latin typeface="Cambria Math"/>
                          </a:rPr>
                          <m:t>𝑄</m:t>
                        </m:r>
                      </m:e>
                      <m:sub>
                        <m:r>
                          <a:rPr lang="en-AU" b="0" i="1" smtClean="0">
                            <a:latin typeface="Cambria Math"/>
                          </a:rPr>
                          <m:t>2</m:t>
                        </m:r>
                      </m:sub>
                    </m:sSub>
                    <m:r>
                      <a:rPr lang="en-AU" b="0" i="1" smtClean="0">
                        <a:latin typeface="Cambria Math"/>
                      </a:rPr>
                      <m:t>=3.5</m:t>
                    </m:r>
                  </m:oMath>
                </a14:m>
                <a:r>
                  <a:rPr lang="en-AU" dirty="0" smtClean="0"/>
                  <a:t>	           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AU" i="1" smtClean="0">
                            <a:latin typeface="Cambria Math"/>
                          </a:rPr>
                        </m:ctrlPr>
                      </m:sSubPr>
                      <m:e>
                        <m:r>
                          <a:rPr lang="en-AU" b="0" i="1" smtClean="0">
                            <a:latin typeface="Cambria Math"/>
                          </a:rPr>
                          <m:t>𝑄</m:t>
                        </m:r>
                      </m:e>
                      <m:sub>
                        <m:r>
                          <a:rPr lang="en-AU" b="0" i="1" smtClean="0">
                            <a:latin typeface="Cambria Math"/>
                          </a:rPr>
                          <m:t>3</m:t>
                        </m:r>
                      </m:sub>
                    </m:sSub>
                  </m:oMath>
                </a14:m>
                <a:r>
                  <a:rPr lang="en-AU" dirty="0" smtClean="0"/>
                  <a:t>=5</a:t>
                </a:r>
                <a:endParaRPr lang="en-AU" dirty="0"/>
              </a:p>
            </p:txBody>
          </p:sp>
        </mc:Choice>
        <mc:Fallback>
          <p:sp>
            <p:nvSpPr>
              <p:cNvPr id="19" name="TextBox 18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076127" y="4671144"/>
                <a:ext cx="5000728" cy="369332"/>
              </a:xfrm>
              <a:prstGeom prst="rect">
                <a:avLst/>
              </a:prstGeom>
              <a:blipFill rotWithShape="1">
                <a:blip r:embed="rId4"/>
                <a:stretch>
                  <a:fillRect t="-8197" r="-122" b="-24590"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1" name="Oval 20"/>
          <p:cNvSpPr/>
          <p:nvPr/>
        </p:nvSpPr>
        <p:spPr>
          <a:xfrm>
            <a:off x="7319139" y="3202888"/>
            <a:ext cx="504056" cy="530353"/>
          </a:xfrm>
          <a:prstGeom prst="ellipse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  <p:sp>
        <p:nvSpPr>
          <p:cNvPr id="3" name="TextBox 2"/>
          <p:cNvSpPr txBox="1"/>
          <p:nvPr/>
        </p:nvSpPr>
        <p:spPr>
          <a:xfrm>
            <a:off x="170117" y="5040476"/>
            <a:ext cx="2673691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 smtClean="0"/>
              <a:t>What are the measures of spread?</a:t>
            </a:r>
            <a:endParaRPr lang="en-AU" dirty="0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5" name="TextBox 4"/>
              <p:cNvSpPr txBox="1"/>
              <p:nvPr/>
            </p:nvSpPr>
            <p:spPr>
              <a:xfrm>
                <a:off x="3042992" y="5178975"/>
                <a:ext cx="5644046" cy="1200329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AU" dirty="0" smtClean="0"/>
                  <a:t>Range = difference between the highest and lowest values</a:t>
                </a:r>
              </a:p>
              <a:p>
                <a:r>
                  <a:rPr lang="en-AU" dirty="0" smtClean="0">
                    <a:solidFill>
                      <a:srgbClr val="0070C0"/>
                    </a:solidFill>
                  </a:rPr>
                  <a:t>Example : 7 – 2 =  </a:t>
                </a:r>
                <a:r>
                  <a:rPr lang="en-AU" u="sng" dirty="0" smtClean="0">
                    <a:solidFill>
                      <a:srgbClr val="0070C0"/>
                    </a:solidFill>
                  </a:rPr>
                  <a:t>5</a:t>
                </a:r>
              </a:p>
              <a:p>
                <a:r>
                  <a:rPr lang="en-AU" dirty="0" smtClean="0">
                    <a:solidFill>
                      <a:schemeClr val="tx1"/>
                    </a:solidFill>
                  </a:rPr>
                  <a:t>Interquartile Range (IQR) = difference between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AU" i="1" smtClean="0">
                            <a:solidFill>
                              <a:schemeClr val="tx1"/>
                            </a:solidFill>
                            <a:latin typeface="Cambria Math"/>
                          </a:rPr>
                        </m:ctrlPr>
                      </m:sSubPr>
                      <m:e>
                        <m:r>
                          <a:rPr lang="en-AU" b="0" i="1" smtClean="0">
                            <a:solidFill>
                              <a:schemeClr val="tx1"/>
                            </a:solidFill>
                            <a:latin typeface="Cambria Math"/>
                          </a:rPr>
                          <m:t>𝑄</m:t>
                        </m:r>
                      </m:e>
                      <m:sub>
                        <m:r>
                          <a:rPr lang="en-AU" b="0" i="1" smtClean="0">
                            <a:solidFill>
                              <a:schemeClr val="tx1"/>
                            </a:solidFill>
                            <a:latin typeface="Cambria Math"/>
                          </a:rPr>
                          <m:t>1</m:t>
                        </m:r>
                      </m:sub>
                    </m:sSub>
                  </m:oMath>
                </a14:m>
                <a:r>
                  <a:rPr lang="en-AU" dirty="0" smtClean="0">
                    <a:solidFill>
                      <a:schemeClr val="tx1"/>
                    </a:solidFill>
                  </a:rPr>
                  <a:t> and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AU" i="1" smtClean="0">
                            <a:solidFill>
                              <a:schemeClr val="tx1"/>
                            </a:solidFill>
                            <a:latin typeface="Cambria Math"/>
                          </a:rPr>
                        </m:ctrlPr>
                      </m:sSubPr>
                      <m:e>
                        <m:r>
                          <a:rPr lang="en-AU" b="0" i="1" smtClean="0">
                            <a:solidFill>
                              <a:schemeClr val="tx1"/>
                            </a:solidFill>
                            <a:latin typeface="Cambria Math"/>
                          </a:rPr>
                          <m:t>𝑄</m:t>
                        </m:r>
                      </m:e>
                      <m:sub>
                        <m:r>
                          <a:rPr lang="en-AU" b="0" i="1" smtClean="0">
                            <a:solidFill>
                              <a:schemeClr val="tx1"/>
                            </a:solidFill>
                            <a:latin typeface="Cambria Math"/>
                          </a:rPr>
                          <m:t>3</m:t>
                        </m:r>
                      </m:sub>
                    </m:sSub>
                  </m:oMath>
                </a14:m>
                <a:endParaRPr lang="en-AU" dirty="0" smtClean="0">
                  <a:solidFill>
                    <a:srgbClr val="0070C0"/>
                  </a:solidFill>
                </a:endParaRPr>
              </a:p>
              <a:p>
                <a:r>
                  <a:rPr lang="en-AU" dirty="0" smtClean="0">
                    <a:solidFill>
                      <a:srgbClr val="0070C0"/>
                    </a:solidFill>
                  </a:rPr>
                  <a:t>Example : 5 – 2 = </a:t>
                </a:r>
                <a:r>
                  <a:rPr lang="en-AU" u="sng" dirty="0" smtClean="0">
                    <a:solidFill>
                      <a:srgbClr val="0070C0"/>
                    </a:solidFill>
                  </a:rPr>
                  <a:t>2</a:t>
                </a:r>
                <a:endParaRPr lang="en-AU" u="sng" dirty="0">
                  <a:solidFill>
                    <a:srgbClr val="0070C0"/>
                  </a:solidFill>
                </a:endParaRPr>
              </a:p>
            </p:txBody>
          </p:sp>
        </mc:Choice>
        <mc:Fallback>
          <p:sp>
            <p:nvSpPr>
              <p:cNvPr id="5" name="TextBox 4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042992" y="5178975"/>
                <a:ext cx="5644046" cy="1200329"/>
              </a:xfrm>
              <a:prstGeom prst="rect">
                <a:avLst/>
              </a:prstGeom>
              <a:blipFill rotWithShape="1">
                <a:blip r:embed="rId5"/>
                <a:stretch>
                  <a:fillRect l="-864" t="-2551" r="-108" b="-7653"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8" name="TextBox 27"/>
          <p:cNvSpPr txBox="1"/>
          <p:nvPr/>
        </p:nvSpPr>
        <p:spPr>
          <a:xfrm>
            <a:off x="665095" y="348705"/>
            <a:ext cx="6824817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sz="2800" dirty="0" smtClean="0"/>
              <a:t>Measures of </a:t>
            </a:r>
            <a:r>
              <a:rPr lang="en-AU" sz="2800" dirty="0" smtClean="0"/>
              <a:t>Centre and Spread for a Data Set</a:t>
            </a:r>
            <a:endParaRPr lang="en-AU" sz="2800" dirty="0"/>
          </a:p>
        </p:txBody>
      </p:sp>
    </p:spTree>
    <p:extLst>
      <p:ext uri="{BB962C8B-B14F-4D97-AF65-F5344CB8AC3E}">
        <p14:creationId xmlns:p14="http://schemas.microsoft.com/office/powerpoint/2010/main" val="226310484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AU" dirty="0" smtClean="0"/>
              <a:t>Questions</a:t>
            </a:r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170931921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AU" dirty="0" smtClean="0"/>
              <a:t>Notes Review</a:t>
            </a:r>
            <a:endParaRPr lang="en-AU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r>
              <a:rPr lang="en-AU" dirty="0" smtClean="0"/>
              <a:t>24, 7 ,30</a:t>
            </a:r>
          </a:p>
          <a:p>
            <a:r>
              <a:rPr lang="en-AU" dirty="0" smtClean="0"/>
              <a:t>Date</a:t>
            </a:r>
          </a:p>
          <a:p>
            <a:r>
              <a:rPr lang="en-AU" dirty="0" smtClean="0"/>
              <a:t>Title</a:t>
            </a:r>
          </a:p>
          <a:p>
            <a:r>
              <a:rPr lang="en-AU" dirty="0" smtClean="0"/>
              <a:t>Essential question</a:t>
            </a:r>
          </a:p>
          <a:p>
            <a:r>
              <a:rPr lang="en-AU" dirty="0" smtClean="0"/>
              <a:t>Notes complete </a:t>
            </a:r>
          </a:p>
          <a:p>
            <a:r>
              <a:rPr lang="en-AU" dirty="0" smtClean="0"/>
              <a:t>Notes complete with colour and diagrams</a:t>
            </a:r>
          </a:p>
          <a:p>
            <a:r>
              <a:rPr lang="en-AU" dirty="0" smtClean="0"/>
              <a:t>Questions completed</a:t>
            </a:r>
          </a:p>
          <a:p>
            <a:r>
              <a:rPr lang="en-AU" dirty="0" smtClean="0"/>
              <a:t>Contents page filed in</a:t>
            </a:r>
          </a:p>
          <a:p>
            <a:r>
              <a:rPr lang="en-AU" dirty="0" smtClean="0"/>
              <a:t>Formula page filled in</a:t>
            </a:r>
          </a:p>
          <a:p>
            <a:pPr marL="0" indent="0">
              <a:buNone/>
            </a:pPr>
            <a:endParaRPr lang="en-AU" dirty="0" smtClean="0"/>
          </a:p>
          <a:p>
            <a:endParaRPr lang="en-AU" dirty="0" smtClean="0"/>
          </a:p>
        </p:txBody>
      </p:sp>
    </p:spTree>
    <p:extLst>
      <p:ext uri="{BB962C8B-B14F-4D97-AF65-F5344CB8AC3E}">
        <p14:creationId xmlns:p14="http://schemas.microsoft.com/office/powerpoint/2010/main" val="306992181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AU" dirty="0" smtClean="0"/>
              <a:t>Homework</a:t>
            </a:r>
            <a:endParaRPr lang="en-AU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AU" dirty="0" smtClean="0"/>
              <a:t>Review your notes and write a summary answering the essential question. </a:t>
            </a:r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7634225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1098</TotalTime>
  <Words>2878</Words>
  <Application>Microsoft Office PowerPoint</Application>
  <PresentationFormat>On-screen Show (4:3)</PresentationFormat>
  <Paragraphs>574</Paragraphs>
  <Slides>35</Slides>
  <Notes>11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35</vt:i4>
      </vt:variant>
    </vt:vector>
  </HeadingPairs>
  <TitlesOfParts>
    <vt:vector size="36" baseType="lpstr">
      <vt:lpstr>Office Theme</vt:lpstr>
      <vt:lpstr>My Statistics Interactive Notebook</vt:lpstr>
      <vt:lpstr>Create your own front page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Questions</vt:lpstr>
      <vt:lpstr>Notes Review</vt:lpstr>
      <vt:lpstr>Homework</vt:lpstr>
    </vt:vector>
  </TitlesOfParts>
  <Company>The Department of Education</Company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Using Venn Diagrams</dc:title>
  <dc:creator>RUST Joanne</dc:creator>
  <cp:lastModifiedBy>RUST Joanne</cp:lastModifiedBy>
  <cp:revision>74</cp:revision>
  <dcterms:created xsi:type="dcterms:W3CDTF">2014-05-14T02:58:57Z</dcterms:created>
  <dcterms:modified xsi:type="dcterms:W3CDTF">2015-03-07T08:12:50Z</dcterms:modified>
</cp:coreProperties>
</file>
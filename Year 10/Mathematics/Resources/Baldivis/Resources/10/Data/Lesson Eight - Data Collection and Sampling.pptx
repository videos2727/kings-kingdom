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xlsx" ContentType="application/vnd.openxmlformats-officedocument.spreadsheetml.sheet"/>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60" r:id="rId2"/>
    <p:sldId id="304" r:id="rId3"/>
    <p:sldId id="259" r:id="rId4"/>
    <p:sldId id="258" r:id="rId5"/>
    <p:sldId id="303" r:id="rId6"/>
    <p:sldId id="308" r:id="rId7"/>
    <p:sldId id="331" r:id="rId8"/>
    <p:sldId id="332" r:id="rId9"/>
    <p:sldId id="333" r:id="rId10"/>
    <p:sldId id="334" r:id="rId11"/>
    <p:sldId id="336" r:id="rId12"/>
    <p:sldId id="337" r:id="rId13"/>
    <p:sldId id="321" r:id="rId14"/>
    <p:sldId id="292" r:id="rId15"/>
    <p:sldId id="291"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00FF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35" autoAdjust="0"/>
    <p:restoredTop sz="98401" autoAdjust="0"/>
  </p:normalViewPr>
  <p:slideViewPr>
    <p:cSldViewPr>
      <p:cViewPr>
        <p:scale>
          <a:sx n="75" d="100"/>
          <a:sy n="75" d="100"/>
        </p:scale>
        <p:origin x="-2664" y="-948"/>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Office_Excel_Worksheet2.xlsx"/></Relationships>
</file>

<file path=ppt/charts/chart1.xml><?xml version="1.0" encoding="utf-8"?>
<c:chartSpace xmlns:c="http://schemas.openxmlformats.org/drawingml/2006/chart" xmlns:a="http://schemas.openxmlformats.org/drawingml/2006/main" xmlns:r="http://schemas.openxmlformats.org/officeDocument/2006/relationships">
  <c:lang val="en-AU"/>
  <c:chart>
    <c:plotArea>
      <c:layout/>
      <c:barChart>
        <c:barDir val="col"/>
        <c:grouping val="clustered"/>
        <c:ser>
          <c:idx val="0"/>
          <c:order val="0"/>
          <c:cat>
            <c:strRef>
              <c:f>Sheet1!$A$2:$A$6</c:f>
              <c:strCache>
                <c:ptCount val="5"/>
                <c:pt idx="0">
                  <c:v>a</c:v>
                </c:pt>
                <c:pt idx="1">
                  <c:v>b</c:v>
                </c:pt>
                <c:pt idx="2">
                  <c:v>c</c:v>
                </c:pt>
                <c:pt idx="3">
                  <c:v>d</c:v>
                </c:pt>
                <c:pt idx="4">
                  <c:v>e</c:v>
                </c:pt>
              </c:strCache>
            </c:strRef>
          </c:cat>
          <c:val>
            <c:numRef>
              <c:f>Sheet1!$B$2:$B$6</c:f>
              <c:numCache>
                <c:formatCode>General</c:formatCode>
                <c:ptCount val="5"/>
                <c:pt idx="0">
                  <c:v>2</c:v>
                </c:pt>
                <c:pt idx="1">
                  <c:v>5</c:v>
                </c:pt>
                <c:pt idx="2">
                  <c:v>6</c:v>
                </c:pt>
                <c:pt idx="3">
                  <c:v>3</c:v>
                </c:pt>
                <c:pt idx="4">
                  <c:v>1</c:v>
                </c:pt>
              </c:numCache>
            </c:numRef>
          </c:val>
        </c:ser>
        <c:axId val="84216448"/>
        <c:axId val="83997056"/>
      </c:barChart>
      <c:catAx>
        <c:axId val="84216448"/>
        <c:scaling>
          <c:orientation val="minMax"/>
        </c:scaling>
        <c:axPos val="b"/>
        <c:tickLblPos val="nextTo"/>
        <c:crossAx val="83997056"/>
        <c:crosses val="autoZero"/>
        <c:auto val="1"/>
        <c:lblAlgn val="ctr"/>
        <c:lblOffset val="100"/>
      </c:catAx>
      <c:valAx>
        <c:axId val="83997056"/>
        <c:scaling>
          <c:orientation val="minMax"/>
        </c:scaling>
        <c:axPos val="l"/>
        <c:majorGridlines/>
        <c:numFmt formatCode="General" sourceLinked="1"/>
        <c:tickLblPos val="nextTo"/>
        <c:crossAx val="84216448"/>
        <c:crosses val="autoZero"/>
        <c:crossBetween val="between"/>
      </c:valAx>
    </c:plotArea>
    <c:plotVisOnly val="1"/>
    <c:dispBlanksAs val="gap"/>
  </c:chart>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AU"/>
  <c:chart>
    <c:title>
      <c:layout/>
    </c:title>
    <c:plotArea>
      <c:layout/>
      <c:pieChart>
        <c:varyColors val="1"/>
        <c:ser>
          <c:idx val="0"/>
          <c:order val="0"/>
          <c:tx>
            <c:strRef>
              <c:f>Sheet1!$B$1</c:f>
              <c:strCache>
                <c:ptCount val="1"/>
              </c:strCache>
            </c:strRef>
          </c:tx>
          <c:cat>
            <c:strRef>
              <c:f>Sheet1!$A$2:$A$6</c:f>
              <c:strCache>
                <c:ptCount val="5"/>
                <c:pt idx="0">
                  <c:v>a</c:v>
                </c:pt>
                <c:pt idx="1">
                  <c:v>b</c:v>
                </c:pt>
                <c:pt idx="2">
                  <c:v>c</c:v>
                </c:pt>
                <c:pt idx="3">
                  <c:v>d</c:v>
                </c:pt>
                <c:pt idx="4">
                  <c:v>e</c:v>
                </c:pt>
              </c:strCache>
            </c:strRef>
          </c:cat>
          <c:val>
            <c:numRef>
              <c:f>Sheet1!$B$2:$B$6</c:f>
              <c:numCache>
                <c:formatCode>General</c:formatCode>
                <c:ptCount val="5"/>
                <c:pt idx="0">
                  <c:v>2</c:v>
                </c:pt>
                <c:pt idx="1">
                  <c:v>5</c:v>
                </c:pt>
                <c:pt idx="2">
                  <c:v>6</c:v>
                </c:pt>
                <c:pt idx="3">
                  <c:v>3</c:v>
                </c:pt>
                <c:pt idx="4">
                  <c:v>1</c:v>
                </c:pt>
              </c:numCache>
            </c:numRef>
          </c:val>
        </c:ser>
        <c:firstSliceAng val="0"/>
      </c:pieChart>
    </c:plotArea>
    <c:plotVisOnly val="1"/>
    <c:dispBlanksAs val="zero"/>
  </c:chart>
  <c:externalData r:id="rId1"/>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5AD73A-AE13-444E-A6A8-7967ABAB8119}" type="datetimeFigureOut">
              <a:rPr lang="en-AU" smtClean="0"/>
              <a:pPr/>
              <a:t>22/03/2015</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16DE00-3598-450D-9FD4-B3F4D33F029B}" type="slidenum">
              <a:rPr lang="en-AU" smtClean="0"/>
              <a:pPr/>
              <a:t>‹#›</a:t>
            </a:fld>
            <a:endParaRPr lang="en-AU"/>
          </a:p>
        </p:txBody>
      </p:sp>
    </p:spTree>
    <p:extLst>
      <p:ext uri="{BB962C8B-B14F-4D97-AF65-F5344CB8AC3E}">
        <p14:creationId xmlns="" xmlns:p14="http://schemas.microsoft.com/office/powerpoint/2010/main" val="575940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516DE00-3598-450D-9FD4-B3F4D33F029B}" type="slidenum">
              <a:rPr lang="en-AU" smtClean="0"/>
              <a:pPr/>
              <a:t>1</a:t>
            </a:fld>
            <a:endParaRPr lang="en-AU"/>
          </a:p>
        </p:txBody>
      </p:sp>
    </p:spTree>
    <p:extLst>
      <p:ext uri="{BB962C8B-B14F-4D97-AF65-F5344CB8AC3E}">
        <p14:creationId xmlns="" xmlns:p14="http://schemas.microsoft.com/office/powerpoint/2010/main" val="648268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343264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383554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418049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174259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200718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57723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191991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818502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2383982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409636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22/03/2015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1880215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B91B3-E50F-4EFF-8D5F-21DA810ECD9F}" type="datetimeFigureOut">
              <a:rPr lang="en-AU" smtClean="0"/>
              <a:pPr/>
              <a:t>22/03/2015</a:t>
            </a:fld>
            <a:endParaRPr lang="en-AU"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2428666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e4047095\AppData\Local\Microsoft\Windows\Temporary Internet Files\Content.IE5\UN5YM58D\Line_Graph[1].pn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640" y="1556792"/>
            <a:ext cx="3793604" cy="2927398"/>
          </a:xfrm>
          <a:prstGeom prst="rect">
            <a:avLst/>
          </a:prstGeom>
          <a:noFill/>
          <a:extLst>
            <a:ext uri="{909E8E84-426E-40DD-AFC4-6F175D3DCCD1}">
              <a14:hiddenFill xmlns="" xmlns:a14="http://schemas.microsoft.com/office/drawing/2010/main">
                <a:solidFill>
                  <a:srgbClr val="FFFFFF"/>
                </a:solidFill>
              </a14:hiddenFill>
            </a:ext>
          </a:extLst>
        </p:spPr>
      </p:pic>
      <p:sp>
        <p:nvSpPr>
          <p:cNvPr id="2" name="Title 1"/>
          <p:cNvSpPr>
            <a:spLocks noGrp="1"/>
          </p:cNvSpPr>
          <p:nvPr>
            <p:ph type="ctrTitle"/>
          </p:nvPr>
        </p:nvSpPr>
        <p:spPr>
          <a:xfrm>
            <a:off x="755576" y="260648"/>
            <a:ext cx="7772400" cy="1470025"/>
          </a:xfrm>
        </p:spPr>
        <p:txBody>
          <a:bodyPr/>
          <a:lstStyle/>
          <a:p>
            <a:r>
              <a:rPr lang="en-AU" dirty="0" smtClean="0"/>
              <a:t>My Statistics</a:t>
            </a:r>
            <a:br>
              <a:rPr lang="en-AU" dirty="0" smtClean="0"/>
            </a:br>
            <a:r>
              <a:rPr lang="en-AU" dirty="0" smtClean="0"/>
              <a:t>Interactive Notebook</a:t>
            </a:r>
            <a:endParaRPr lang="en-AU" dirty="0"/>
          </a:p>
        </p:txBody>
      </p:sp>
      <p:sp>
        <p:nvSpPr>
          <p:cNvPr id="3" name="Subtitle 2"/>
          <p:cNvSpPr>
            <a:spLocks noGrp="1"/>
          </p:cNvSpPr>
          <p:nvPr>
            <p:ph type="subTitle" idx="1"/>
          </p:nvPr>
        </p:nvSpPr>
        <p:spPr>
          <a:xfrm>
            <a:off x="600844" y="4467670"/>
            <a:ext cx="6400800" cy="1752600"/>
          </a:xfrm>
        </p:spPr>
        <p:txBody>
          <a:bodyPr>
            <a:normAutofit fontScale="85000" lnSpcReduction="20000"/>
          </a:bodyPr>
          <a:lstStyle/>
          <a:p>
            <a:pPr algn="l"/>
            <a:r>
              <a:rPr lang="en-AU" dirty="0" smtClean="0"/>
              <a:t>Name </a:t>
            </a:r>
          </a:p>
          <a:p>
            <a:pPr algn="l"/>
            <a:r>
              <a:rPr lang="en-AU" dirty="0" smtClean="0"/>
              <a:t>Class </a:t>
            </a:r>
          </a:p>
          <a:p>
            <a:pPr algn="l"/>
            <a:r>
              <a:rPr lang="en-AU" dirty="0" smtClean="0"/>
              <a:t>Teacher </a:t>
            </a:r>
          </a:p>
          <a:p>
            <a:pPr algn="l"/>
            <a:r>
              <a:rPr lang="en-AU" dirty="0" smtClean="0"/>
              <a:t>Term 1 Semester 1</a:t>
            </a:r>
          </a:p>
        </p:txBody>
      </p:sp>
      <p:sp>
        <p:nvSpPr>
          <p:cNvPr id="13" name="TextBox 12"/>
          <p:cNvSpPr txBox="1"/>
          <p:nvPr/>
        </p:nvSpPr>
        <p:spPr>
          <a:xfrm>
            <a:off x="8748464" y="6488668"/>
            <a:ext cx="549775" cy="369332"/>
          </a:xfrm>
          <a:prstGeom prst="rect">
            <a:avLst/>
          </a:prstGeom>
          <a:noFill/>
        </p:spPr>
        <p:txBody>
          <a:bodyPr wrap="square" rtlCol="0">
            <a:spAutoFit/>
          </a:bodyPr>
          <a:lstStyle/>
          <a:p>
            <a:r>
              <a:rPr lang="en-AU" dirty="0"/>
              <a:t>1</a:t>
            </a:r>
          </a:p>
        </p:txBody>
      </p:sp>
      <p:graphicFrame>
        <p:nvGraphicFramePr>
          <p:cNvPr id="16" name="Chart 15"/>
          <p:cNvGraphicFramePr>
            <a:graphicFrameLocks/>
          </p:cNvGraphicFramePr>
          <p:nvPr>
            <p:extLst>
              <p:ext uri="{D42A27DB-BD31-4B8C-83A1-F6EECF244321}">
                <p14:modId xmlns="" xmlns:p14="http://schemas.microsoft.com/office/powerpoint/2010/main" val="4044940676"/>
              </p:ext>
            </p:extLst>
          </p:nvPr>
        </p:nvGraphicFramePr>
        <p:xfrm>
          <a:off x="5369199" y="1700808"/>
          <a:ext cx="3654152" cy="180364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7" name="Chart 16"/>
          <p:cNvGraphicFramePr>
            <a:graphicFrameLocks/>
          </p:cNvGraphicFramePr>
          <p:nvPr>
            <p:extLst>
              <p:ext uri="{D42A27DB-BD31-4B8C-83A1-F6EECF244321}">
                <p14:modId xmlns="" xmlns:p14="http://schemas.microsoft.com/office/powerpoint/2010/main" val="635245832"/>
              </p:ext>
            </p:extLst>
          </p:nvPr>
        </p:nvGraphicFramePr>
        <p:xfrm>
          <a:off x="4283968" y="3212976"/>
          <a:ext cx="4248472" cy="259918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 xmlns:p14="http://schemas.microsoft.com/office/powerpoint/2010/main" val="31250627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AU" dirty="0" smtClean="0"/>
              <a:t>Create your own front page</a:t>
            </a:r>
            <a:endParaRPr lang="en-AU" dirty="0"/>
          </a:p>
        </p:txBody>
      </p:sp>
      <p:sp>
        <p:nvSpPr>
          <p:cNvPr id="4" name="Content Placeholder 3"/>
          <p:cNvSpPr>
            <a:spLocks noGrp="1"/>
          </p:cNvSpPr>
          <p:nvPr>
            <p:ph idx="1"/>
          </p:nvPr>
        </p:nvSpPr>
        <p:spPr/>
        <p:txBody>
          <a:bodyPr>
            <a:normAutofit/>
          </a:bodyPr>
          <a:lstStyle/>
          <a:p>
            <a:pPr marL="0" indent="0">
              <a:buNone/>
            </a:pPr>
            <a:r>
              <a:rPr lang="en-AU" dirty="0" smtClean="0"/>
              <a:t>It needs to contain the following –</a:t>
            </a:r>
          </a:p>
          <a:p>
            <a:pPr>
              <a:buFontTx/>
              <a:buChar char="-"/>
            </a:pPr>
            <a:r>
              <a:rPr lang="en-AU" dirty="0" smtClean="0"/>
              <a:t>My number interactive notebook</a:t>
            </a:r>
          </a:p>
          <a:p>
            <a:pPr>
              <a:buFontTx/>
              <a:buChar char="-"/>
            </a:pPr>
            <a:r>
              <a:rPr lang="en-AU" dirty="0" smtClean="0"/>
              <a:t>Name </a:t>
            </a:r>
          </a:p>
          <a:p>
            <a:pPr>
              <a:buFontTx/>
              <a:buChar char="-"/>
            </a:pPr>
            <a:r>
              <a:rPr lang="en-AU" dirty="0" smtClean="0"/>
              <a:t>Class</a:t>
            </a:r>
          </a:p>
          <a:p>
            <a:pPr>
              <a:buFontTx/>
              <a:buChar char="-"/>
            </a:pPr>
            <a:r>
              <a:rPr lang="en-AU" dirty="0" smtClean="0"/>
              <a:t>Teachers Name</a:t>
            </a:r>
          </a:p>
          <a:p>
            <a:pPr>
              <a:buFontTx/>
              <a:buChar char="-"/>
            </a:pPr>
            <a:r>
              <a:rPr lang="en-AU" dirty="0" smtClean="0"/>
              <a:t>Semester 1 Term 1</a:t>
            </a:r>
          </a:p>
          <a:p>
            <a:pPr>
              <a:buFontTx/>
              <a:buChar char="-"/>
            </a:pPr>
            <a:r>
              <a:rPr lang="en-AU" dirty="0" smtClean="0"/>
              <a:t>Page number 1</a:t>
            </a:r>
            <a:endParaRPr lang="en-AU" dirty="0"/>
          </a:p>
        </p:txBody>
      </p:sp>
    </p:spTree>
    <p:extLst>
      <p:ext uri="{BB962C8B-B14F-4D97-AF65-F5344CB8AC3E}">
        <p14:creationId xmlns="" xmlns:p14="http://schemas.microsoft.com/office/powerpoint/2010/main" val="828699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smtClean="0"/>
              <a:t>2</a:t>
            </a:r>
            <a:endParaRPr lang="en-AU" dirty="0"/>
          </a:p>
        </p:txBody>
      </p:sp>
      <p:sp>
        <p:nvSpPr>
          <p:cNvPr id="7" name="TextBox 6"/>
          <p:cNvSpPr txBox="1"/>
          <p:nvPr/>
        </p:nvSpPr>
        <p:spPr>
          <a:xfrm>
            <a:off x="8748464" y="6488668"/>
            <a:ext cx="549775" cy="369332"/>
          </a:xfrm>
          <a:prstGeom prst="rect">
            <a:avLst/>
          </a:prstGeom>
          <a:noFill/>
        </p:spPr>
        <p:txBody>
          <a:bodyPr wrap="square" rtlCol="0">
            <a:spAutoFit/>
          </a:bodyPr>
          <a:lstStyle/>
          <a:p>
            <a:r>
              <a:rPr lang="en-AU" dirty="0" smtClean="0"/>
              <a:t>3</a:t>
            </a:r>
            <a:endParaRPr lang="en-AU" dirty="0"/>
          </a:p>
        </p:txBody>
      </p:sp>
      <p:cxnSp>
        <p:nvCxnSpPr>
          <p:cNvPr id="9" name="Straight Connector 8"/>
          <p:cNvCxnSpPr/>
          <p:nvPr/>
        </p:nvCxnSpPr>
        <p:spPr>
          <a:xfrm>
            <a:off x="-143838"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1115616"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577648" y="5803"/>
            <a:ext cx="932050" cy="338554"/>
          </a:xfrm>
          <a:prstGeom prst="rect">
            <a:avLst/>
          </a:prstGeom>
          <a:noFill/>
        </p:spPr>
        <p:txBody>
          <a:bodyPr wrap="none" rtlCol="0">
            <a:spAutoFit/>
          </a:bodyPr>
          <a:lstStyle/>
          <a:p>
            <a:r>
              <a:rPr lang="en-AU" sz="1600" dirty="0" smtClean="0"/>
              <a:t>Contents</a:t>
            </a:r>
            <a:endParaRPr lang="en-AU" sz="1600" dirty="0"/>
          </a:p>
        </p:txBody>
      </p:sp>
      <p:sp>
        <p:nvSpPr>
          <p:cNvPr id="23" name="TextBox 22"/>
          <p:cNvSpPr txBox="1"/>
          <p:nvPr/>
        </p:nvSpPr>
        <p:spPr>
          <a:xfrm>
            <a:off x="223224" y="374467"/>
            <a:ext cx="580865" cy="338554"/>
          </a:xfrm>
          <a:prstGeom prst="rect">
            <a:avLst/>
          </a:prstGeom>
          <a:noFill/>
        </p:spPr>
        <p:txBody>
          <a:bodyPr wrap="none" rtlCol="0">
            <a:spAutoFit/>
          </a:bodyPr>
          <a:lstStyle/>
          <a:p>
            <a:r>
              <a:rPr lang="en-AU" sz="1600" dirty="0" smtClean="0"/>
              <a:t>Page</a:t>
            </a:r>
            <a:endParaRPr lang="en-AU" sz="1600" dirty="0"/>
          </a:p>
        </p:txBody>
      </p:sp>
      <p:cxnSp>
        <p:nvCxnSpPr>
          <p:cNvPr id="16" name="Straight Connector 15"/>
          <p:cNvCxnSpPr/>
          <p:nvPr/>
        </p:nvCxnSpPr>
        <p:spPr>
          <a:xfrm>
            <a:off x="2143810"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1403646" y="344357"/>
            <a:ext cx="576504" cy="338554"/>
          </a:xfrm>
          <a:prstGeom prst="rect">
            <a:avLst/>
          </a:prstGeom>
          <a:noFill/>
        </p:spPr>
        <p:txBody>
          <a:bodyPr wrap="none" rtlCol="0">
            <a:spAutoFit/>
          </a:bodyPr>
          <a:lstStyle/>
          <a:p>
            <a:r>
              <a:rPr lang="en-AU" sz="1600" dirty="0" smtClean="0"/>
              <a:t>Date</a:t>
            </a:r>
            <a:endParaRPr lang="en-AU" sz="1600" dirty="0"/>
          </a:p>
        </p:txBody>
      </p:sp>
      <p:sp>
        <p:nvSpPr>
          <p:cNvPr id="18" name="TextBox 17"/>
          <p:cNvSpPr txBox="1"/>
          <p:nvPr/>
        </p:nvSpPr>
        <p:spPr>
          <a:xfrm>
            <a:off x="2555776" y="344357"/>
            <a:ext cx="1398888" cy="338554"/>
          </a:xfrm>
          <a:prstGeom prst="rect">
            <a:avLst/>
          </a:prstGeom>
          <a:noFill/>
        </p:spPr>
        <p:txBody>
          <a:bodyPr wrap="square" rtlCol="0">
            <a:spAutoFit/>
          </a:bodyPr>
          <a:lstStyle/>
          <a:p>
            <a:r>
              <a:rPr lang="en-AU" sz="1600" dirty="0" smtClean="0"/>
              <a:t>Description</a:t>
            </a:r>
            <a:endParaRPr lang="en-AU" sz="1600" dirty="0"/>
          </a:p>
        </p:txBody>
      </p:sp>
      <p:sp>
        <p:nvSpPr>
          <p:cNvPr id="21" name="TextBox 20"/>
          <p:cNvSpPr txBox="1"/>
          <p:nvPr/>
        </p:nvSpPr>
        <p:spPr>
          <a:xfrm>
            <a:off x="5796136" y="66504"/>
            <a:ext cx="2592288" cy="338554"/>
          </a:xfrm>
          <a:prstGeom prst="rect">
            <a:avLst/>
          </a:prstGeom>
          <a:noFill/>
        </p:spPr>
        <p:txBody>
          <a:bodyPr wrap="square" rtlCol="0">
            <a:spAutoFit/>
          </a:bodyPr>
          <a:lstStyle/>
          <a:p>
            <a:r>
              <a:rPr lang="en-AU" sz="1600" dirty="0" smtClean="0"/>
              <a:t>Glossary or Formula Page</a:t>
            </a:r>
            <a:endParaRPr lang="en-AU" sz="1600" dirty="0"/>
          </a:p>
        </p:txBody>
      </p:sp>
    </p:spTree>
    <p:extLst>
      <p:ext uri="{BB962C8B-B14F-4D97-AF65-F5344CB8AC3E}">
        <p14:creationId xmlns="" xmlns:p14="http://schemas.microsoft.com/office/powerpoint/2010/main" val="15154573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a:t>4</a:t>
            </a:r>
          </a:p>
        </p:txBody>
      </p:sp>
      <p:sp>
        <p:nvSpPr>
          <p:cNvPr id="7" name="TextBox 6"/>
          <p:cNvSpPr txBox="1"/>
          <p:nvPr/>
        </p:nvSpPr>
        <p:spPr>
          <a:xfrm>
            <a:off x="8748463" y="6525528"/>
            <a:ext cx="549775" cy="369332"/>
          </a:xfrm>
          <a:prstGeom prst="rect">
            <a:avLst/>
          </a:prstGeom>
          <a:noFill/>
        </p:spPr>
        <p:txBody>
          <a:bodyPr wrap="square" rtlCol="0">
            <a:spAutoFit/>
          </a:bodyPr>
          <a:lstStyle/>
          <a:p>
            <a:r>
              <a:rPr lang="en-AU" dirty="0"/>
              <a:t>5</a:t>
            </a:r>
          </a:p>
        </p:txBody>
      </p:sp>
      <p:cxnSp>
        <p:nvCxnSpPr>
          <p:cNvPr id="9" name="Straight Connector 8"/>
          <p:cNvCxnSpPr/>
          <p:nvPr/>
        </p:nvCxnSpPr>
        <p:spPr>
          <a:xfrm>
            <a:off x="4500081"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p:cNvCxnSpPr/>
          <p:nvPr/>
        </p:nvCxnSpPr>
        <p:spPr>
          <a:xfrm>
            <a:off x="4500081" y="1196752"/>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p:nvCxnSpPr>
        <p:spPr>
          <a:xfrm>
            <a:off x="4572089" y="5373216"/>
            <a:ext cx="472615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5868144" y="1196752"/>
            <a:ext cx="0" cy="4176464"/>
          </a:xfrm>
          <a:prstGeom prst="line">
            <a:avLst/>
          </a:prstGeom>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4533261" y="66690"/>
            <a:ext cx="431959" cy="553998"/>
          </a:xfrm>
          <a:prstGeom prst="rect">
            <a:avLst/>
          </a:prstGeom>
          <a:noFill/>
        </p:spPr>
        <p:txBody>
          <a:bodyPr wrap="square" rtlCol="0">
            <a:spAutoFit/>
          </a:bodyPr>
          <a:lstStyle/>
          <a:p>
            <a:r>
              <a:rPr lang="en-AU" sz="1000" dirty="0" smtClean="0"/>
              <a:t>24</a:t>
            </a:r>
          </a:p>
          <a:p>
            <a:r>
              <a:rPr lang="en-AU" sz="1000" dirty="0" smtClean="0"/>
              <a:t>7</a:t>
            </a:r>
          </a:p>
          <a:p>
            <a:r>
              <a:rPr lang="en-AU" sz="1000" dirty="0" smtClean="0"/>
              <a:t>30</a:t>
            </a:r>
            <a:endParaRPr lang="en-AU" sz="1000" dirty="0"/>
          </a:p>
        </p:txBody>
      </p:sp>
      <p:sp>
        <p:nvSpPr>
          <p:cNvPr id="20" name="TextBox 19"/>
          <p:cNvSpPr txBox="1"/>
          <p:nvPr/>
        </p:nvSpPr>
        <p:spPr>
          <a:xfrm>
            <a:off x="4572089" y="601548"/>
            <a:ext cx="1143262" cy="246221"/>
          </a:xfrm>
          <a:prstGeom prst="rect">
            <a:avLst/>
          </a:prstGeom>
          <a:noFill/>
        </p:spPr>
        <p:txBody>
          <a:bodyPr wrap="none" rtlCol="0">
            <a:spAutoFit/>
          </a:bodyPr>
          <a:lstStyle/>
          <a:p>
            <a:r>
              <a:rPr lang="en-AU" sz="1000" dirty="0" smtClean="0"/>
              <a:t>Essential Question</a:t>
            </a:r>
            <a:endParaRPr lang="en-AU" sz="1000" dirty="0"/>
          </a:p>
        </p:txBody>
      </p:sp>
      <p:sp>
        <p:nvSpPr>
          <p:cNvPr id="22" name="TextBox 21"/>
          <p:cNvSpPr txBox="1"/>
          <p:nvPr/>
        </p:nvSpPr>
        <p:spPr>
          <a:xfrm>
            <a:off x="5867750" y="1196751"/>
            <a:ext cx="492443" cy="246221"/>
          </a:xfrm>
          <a:prstGeom prst="rect">
            <a:avLst/>
          </a:prstGeom>
          <a:noFill/>
        </p:spPr>
        <p:txBody>
          <a:bodyPr wrap="none" rtlCol="0">
            <a:spAutoFit/>
          </a:bodyPr>
          <a:lstStyle/>
          <a:p>
            <a:r>
              <a:rPr lang="en-AU" sz="1000" dirty="0" smtClean="0"/>
              <a:t>Notes</a:t>
            </a:r>
            <a:endParaRPr lang="en-AU" sz="1000" dirty="0"/>
          </a:p>
        </p:txBody>
      </p:sp>
      <p:sp>
        <p:nvSpPr>
          <p:cNvPr id="23" name="TextBox 22"/>
          <p:cNvSpPr txBox="1"/>
          <p:nvPr/>
        </p:nvSpPr>
        <p:spPr>
          <a:xfrm>
            <a:off x="4521850" y="1196752"/>
            <a:ext cx="708848" cy="246221"/>
          </a:xfrm>
          <a:prstGeom prst="rect">
            <a:avLst/>
          </a:prstGeom>
          <a:noFill/>
        </p:spPr>
        <p:txBody>
          <a:bodyPr wrap="none" rtlCol="0">
            <a:spAutoFit/>
          </a:bodyPr>
          <a:lstStyle/>
          <a:p>
            <a:r>
              <a:rPr lang="en-AU" sz="1000" dirty="0" smtClean="0"/>
              <a:t>Questions</a:t>
            </a:r>
            <a:endParaRPr lang="en-AU" sz="1000" dirty="0"/>
          </a:p>
        </p:txBody>
      </p:sp>
      <p:sp>
        <p:nvSpPr>
          <p:cNvPr id="24" name="TextBox 23"/>
          <p:cNvSpPr txBox="1"/>
          <p:nvPr/>
        </p:nvSpPr>
        <p:spPr>
          <a:xfrm>
            <a:off x="4572089" y="5373216"/>
            <a:ext cx="679994" cy="246221"/>
          </a:xfrm>
          <a:prstGeom prst="rect">
            <a:avLst/>
          </a:prstGeom>
          <a:noFill/>
        </p:spPr>
        <p:txBody>
          <a:bodyPr wrap="none" rtlCol="0">
            <a:spAutoFit/>
          </a:bodyPr>
          <a:lstStyle/>
          <a:p>
            <a:r>
              <a:rPr lang="en-AU" sz="1000" dirty="0" smtClean="0"/>
              <a:t>Summary</a:t>
            </a:r>
            <a:endParaRPr lang="en-AU" sz="1000" dirty="0"/>
          </a:p>
        </p:txBody>
      </p:sp>
      <p:sp>
        <p:nvSpPr>
          <p:cNvPr id="25" name="TextBox 24"/>
          <p:cNvSpPr txBox="1"/>
          <p:nvPr/>
        </p:nvSpPr>
        <p:spPr>
          <a:xfrm>
            <a:off x="151246" y="142494"/>
            <a:ext cx="671081" cy="369332"/>
          </a:xfrm>
          <a:prstGeom prst="rect">
            <a:avLst/>
          </a:prstGeom>
          <a:noFill/>
        </p:spPr>
        <p:txBody>
          <a:bodyPr wrap="none" rtlCol="0">
            <a:spAutoFit/>
          </a:bodyPr>
          <a:lstStyle/>
          <a:p>
            <a:r>
              <a:rPr lang="en-AU" dirty="0" smtClean="0"/>
              <a:t>Tasks</a:t>
            </a:r>
            <a:endParaRPr lang="en-AU" dirty="0"/>
          </a:p>
        </p:txBody>
      </p:sp>
    </p:spTree>
    <p:extLst>
      <p:ext uri="{BB962C8B-B14F-4D97-AF65-F5344CB8AC3E}">
        <p14:creationId xmlns="" xmlns:p14="http://schemas.microsoft.com/office/powerpoint/2010/main" val="22165325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821059" cy="523220"/>
          </a:xfrm>
          <a:prstGeom prst="rect">
            <a:avLst/>
          </a:prstGeom>
          <a:noFill/>
        </p:spPr>
        <p:txBody>
          <a:bodyPr wrap="none" rtlCol="0">
            <a:spAutoFit/>
          </a:bodyPr>
          <a:lstStyle/>
          <a:p>
            <a:r>
              <a:rPr lang="en-AU" sz="2800" dirty="0" smtClean="0"/>
              <a:t>Title</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a:t>
            </a:r>
            <a:endParaRPr lang="en-AU" sz="2400" dirty="0"/>
          </a:p>
        </p:txBody>
      </p:sp>
    </p:spTree>
    <p:extLst>
      <p:ext uri="{BB962C8B-B14F-4D97-AF65-F5344CB8AC3E}">
        <p14:creationId xmlns="" xmlns:p14="http://schemas.microsoft.com/office/powerpoint/2010/main" val="16709025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699792"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4444165" cy="523220"/>
          </a:xfrm>
          <a:prstGeom prst="rect">
            <a:avLst/>
          </a:prstGeom>
          <a:noFill/>
        </p:spPr>
        <p:txBody>
          <a:bodyPr wrap="none" rtlCol="0">
            <a:spAutoFit/>
          </a:bodyPr>
          <a:lstStyle/>
          <a:p>
            <a:r>
              <a:rPr lang="en-AU" sz="2800" dirty="0" smtClean="0"/>
              <a:t>Data Collection and Sampling</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  </a:t>
            </a:r>
            <a:endParaRPr lang="en-AU" sz="2400" dirty="0"/>
          </a:p>
        </p:txBody>
      </p:sp>
      <p:sp>
        <p:nvSpPr>
          <p:cNvPr id="13" name="TextBox 12"/>
          <p:cNvSpPr txBox="1"/>
          <p:nvPr/>
        </p:nvSpPr>
        <p:spPr>
          <a:xfrm>
            <a:off x="1079104" y="1124744"/>
            <a:ext cx="8064896" cy="369332"/>
          </a:xfrm>
          <a:prstGeom prst="rect">
            <a:avLst/>
          </a:prstGeom>
          <a:noFill/>
        </p:spPr>
        <p:txBody>
          <a:bodyPr wrap="square" rtlCol="0">
            <a:spAutoFit/>
          </a:bodyPr>
          <a:lstStyle/>
          <a:p>
            <a:r>
              <a:rPr lang="en-AU" dirty="0" smtClean="0"/>
              <a:t>What are the main things we must do to ensure fair samples are collected?</a:t>
            </a:r>
            <a:endParaRPr lang="en-AU" dirty="0"/>
          </a:p>
        </p:txBody>
      </p:sp>
      <p:sp>
        <p:nvSpPr>
          <p:cNvPr id="14" name="TextBox 13"/>
          <p:cNvSpPr txBox="1"/>
          <p:nvPr/>
        </p:nvSpPr>
        <p:spPr>
          <a:xfrm>
            <a:off x="251520" y="1916832"/>
            <a:ext cx="2411760" cy="369332"/>
          </a:xfrm>
          <a:prstGeom prst="rect">
            <a:avLst/>
          </a:prstGeom>
          <a:noFill/>
        </p:spPr>
        <p:txBody>
          <a:bodyPr wrap="square" rtlCol="0">
            <a:spAutoFit/>
          </a:bodyPr>
          <a:lstStyle/>
          <a:p>
            <a:r>
              <a:rPr lang="en-AU" dirty="0" smtClean="0"/>
              <a:t>What is a </a:t>
            </a:r>
            <a:r>
              <a:rPr lang="en-AU" dirty="0" smtClean="0"/>
              <a:t>Sample?</a:t>
            </a:r>
            <a:endParaRPr lang="en-AU" dirty="0"/>
          </a:p>
        </p:txBody>
      </p:sp>
      <p:sp>
        <p:nvSpPr>
          <p:cNvPr id="16" name="Rectangle 3"/>
          <p:cNvSpPr txBox="1">
            <a:spLocks noChangeArrowheads="1"/>
          </p:cNvSpPr>
          <p:nvPr/>
        </p:nvSpPr>
        <p:spPr>
          <a:xfrm>
            <a:off x="2699792" y="1916832"/>
            <a:ext cx="5834608" cy="3916288"/>
          </a:xfrm>
          <a:prstGeom prst="rect">
            <a:avLst/>
          </a:prstGeom>
        </p:spPr>
        <p:txBody>
          <a:bodyPr/>
          <a:lstStyle/>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A </a:t>
            </a:r>
            <a:r>
              <a:rPr kumimoji="0" lang="en-US" b="0" i="0" u="none" strike="noStrike" kern="1200" cap="none" spc="0" normalizeH="0" baseline="0" noProof="0" dirty="0" smtClean="0">
                <a:ln>
                  <a:noFill/>
                </a:ln>
                <a:solidFill>
                  <a:srgbClr val="0091DA"/>
                </a:solidFill>
                <a:effectLst/>
                <a:uLnTx/>
                <a:uFillTx/>
                <a:ea typeface="+mn-ea"/>
                <a:cs typeface="Arial" charset="0"/>
              </a:rPr>
              <a:t>sample</a:t>
            </a:r>
            <a:r>
              <a:rPr kumimoji="0" lang="en-US" b="0" i="0" u="none" strike="noStrike" kern="1200" cap="none" spc="0" normalizeH="0" baseline="0" noProof="0" dirty="0" smtClean="0">
                <a:ln>
                  <a:noFill/>
                </a:ln>
                <a:solidFill>
                  <a:schemeClr val="tx1"/>
                </a:solidFill>
                <a:effectLst/>
                <a:uLnTx/>
                <a:uFillTx/>
                <a:ea typeface="+mn-ea"/>
                <a:cs typeface="Arial" charset="0"/>
              </a:rPr>
              <a:t> is a smaller (but hopefully representative) collection of data from a population used to determine truths about that population.</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Why sample?</a:t>
            </a: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Resources (time, money) and workload</a:t>
            </a: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Gives results with known accuracy that can be calculated mathematically</a:t>
            </a: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smtClean="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smtClean="0">
              <a:ln>
                <a:noFill/>
              </a:ln>
              <a:solidFill>
                <a:schemeClr val="tx1"/>
              </a:solidFill>
              <a:effectLst/>
              <a:uLnTx/>
              <a:uFillTx/>
              <a:latin typeface="Arial" charset="0"/>
              <a:ea typeface="+mn-ea"/>
              <a:cs typeface="Arial" charset="0"/>
            </a:endParaRPr>
          </a:p>
        </p:txBody>
      </p:sp>
    </p:spTree>
    <p:extLst>
      <p:ext uri="{BB962C8B-B14F-4D97-AF65-F5344CB8AC3E}">
        <p14:creationId xmlns="" xmlns:p14="http://schemas.microsoft.com/office/powerpoint/2010/main" val="18721625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699792"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4444165" cy="523220"/>
          </a:xfrm>
          <a:prstGeom prst="rect">
            <a:avLst/>
          </a:prstGeom>
          <a:noFill/>
        </p:spPr>
        <p:txBody>
          <a:bodyPr wrap="none" rtlCol="0">
            <a:spAutoFit/>
          </a:bodyPr>
          <a:lstStyle/>
          <a:p>
            <a:r>
              <a:rPr lang="en-AU" sz="2800" dirty="0" smtClean="0"/>
              <a:t>Data Collection and Sampling</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  </a:t>
            </a:r>
            <a:endParaRPr lang="en-AU" sz="2400" dirty="0"/>
          </a:p>
        </p:txBody>
      </p:sp>
      <p:sp>
        <p:nvSpPr>
          <p:cNvPr id="13" name="TextBox 12"/>
          <p:cNvSpPr txBox="1"/>
          <p:nvPr/>
        </p:nvSpPr>
        <p:spPr>
          <a:xfrm>
            <a:off x="1079104" y="1124744"/>
            <a:ext cx="8064896" cy="369332"/>
          </a:xfrm>
          <a:prstGeom prst="rect">
            <a:avLst/>
          </a:prstGeom>
          <a:noFill/>
        </p:spPr>
        <p:txBody>
          <a:bodyPr wrap="square" rtlCol="0">
            <a:spAutoFit/>
          </a:bodyPr>
          <a:lstStyle/>
          <a:p>
            <a:r>
              <a:rPr lang="en-AU" dirty="0" smtClean="0"/>
              <a:t>What are the main things we must do to ensure fair samples are collected?</a:t>
            </a:r>
            <a:endParaRPr lang="en-AU" dirty="0"/>
          </a:p>
        </p:txBody>
      </p:sp>
      <p:sp>
        <p:nvSpPr>
          <p:cNvPr id="14" name="TextBox 13"/>
          <p:cNvSpPr txBox="1"/>
          <p:nvPr/>
        </p:nvSpPr>
        <p:spPr>
          <a:xfrm>
            <a:off x="251520" y="1916832"/>
            <a:ext cx="2411760" cy="369332"/>
          </a:xfrm>
          <a:prstGeom prst="rect">
            <a:avLst/>
          </a:prstGeom>
          <a:noFill/>
        </p:spPr>
        <p:txBody>
          <a:bodyPr wrap="square" rtlCol="0">
            <a:spAutoFit/>
          </a:bodyPr>
          <a:lstStyle/>
          <a:p>
            <a:r>
              <a:rPr lang="en-AU" dirty="0" smtClean="0"/>
              <a:t>What is a </a:t>
            </a:r>
            <a:r>
              <a:rPr lang="en-AU" dirty="0" smtClean="0"/>
              <a:t>Sample?</a:t>
            </a:r>
            <a:endParaRPr lang="en-AU" dirty="0"/>
          </a:p>
        </p:txBody>
      </p:sp>
      <p:sp>
        <p:nvSpPr>
          <p:cNvPr id="16" name="Rectangle 3"/>
          <p:cNvSpPr txBox="1">
            <a:spLocks noChangeArrowheads="1"/>
          </p:cNvSpPr>
          <p:nvPr/>
        </p:nvSpPr>
        <p:spPr>
          <a:xfrm>
            <a:off x="2699792" y="1916832"/>
            <a:ext cx="5834608" cy="3916288"/>
          </a:xfrm>
          <a:prstGeom prst="rect">
            <a:avLst/>
          </a:prstGeom>
        </p:spPr>
        <p:txBody>
          <a:bodyPr/>
          <a:lstStyle/>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A </a:t>
            </a:r>
            <a:r>
              <a:rPr kumimoji="0" lang="en-US" b="0" i="0" u="none" strike="noStrike" kern="1200" cap="none" spc="0" normalizeH="0" baseline="0" noProof="0" dirty="0" smtClean="0">
                <a:ln>
                  <a:noFill/>
                </a:ln>
                <a:solidFill>
                  <a:srgbClr val="0091DA"/>
                </a:solidFill>
                <a:effectLst/>
                <a:uLnTx/>
                <a:uFillTx/>
                <a:ea typeface="+mn-ea"/>
                <a:cs typeface="Arial" charset="0"/>
              </a:rPr>
              <a:t>sample</a:t>
            </a:r>
            <a:r>
              <a:rPr kumimoji="0" lang="en-US" b="0" i="0" u="none" strike="noStrike" kern="1200" cap="none" spc="0" normalizeH="0" baseline="0" noProof="0" dirty="0" smtClean="0">
                <a:ln>
                  <a:noFill/>
                </a:ln>
                <a:solidFill>
                  <a:schemeClr val="tx1"/>
                </a:solidFill>
                <a:effectLst/>
                <a:uLnTx/>
                <a:uFillTx/>
                <a:ea typeface="+mn-ea"/>
                <a:cs typeface="Arial" charset="0"/>
              </a:rPr>
              <a:t> is a smaller (but hopefully representative) collection of data from a population used to determine truths about that population.</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Why sample?</a:t>
            </a: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Resources (time, money) and workload</a:t>
            </a: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Gives results with known accuracy that can be calculated mathematically</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The </a:t>
            </a:r>
            <a:r>
              <a:rPr kumimoji="0" lang="en-US" b="0" i="0" u="none" strike="noStrike" kern="1200" cap="none" spc="0" normalizeH="0" baseline="0" noProof="0" dirty="0" smtClean="0">
                <a:ln>
                  <a:noFill/>
                </a:ln>
                <a:solidFill>
                  <a:srgbClr val="0091DA"/>
                </a:solidFill>
                <a:effectLst/>
                <a:uLnTx/>
                <a:uFillTx/>
                <a:ea typeface="+mn-ea"/>
                <a:cs typeface="Arial" charset="0"/>
              </a:rPr>
              <a:t>sampling frame</a:t>
            </a:r>
            <a:r>
              <a:rPr kumimoji="0" lang="en-US" b="0" i="0" u="none" strike="noStrike" kern="1200" cap="none" spc="0" normalizeH="0" baseline="0" noProof="0" dirty="0" smtClean="0">
                <a:ln>
                  <a:noFill/>
                </a:ln>
                <a:solidFill>
                  <a:schemeClr val="tx1"/>
                </a:solidFill>
                <a:effectLst/>
                <a:uLnTx/>
                <a:uFillTx/>
                <a:ea typeface="+mn-ea"/>
                <a:cs typeface="Arial" charset="0"/>
              </a:rPr>
              <a:t> is the list from which the potential respondents are drawn </a:t>
            </a: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Geographic area.</a:t>
            </a: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r>
              <a:rPr lang="en-US" dirty="0" smtClean="0">
                <a:cs typeface="Arial" charset="0"/>
              </a:rPr>
              <a:t>Year Level at BSC</a:t>
            </a:r>
            <a:endParaRPr kumimoji="0" lang="en-US" b="0" i="0" u="none" strike="noStrike" kern="1200" cap="none" spc="0" normalizeH="0" baseline="0" noProof="0" dirty="0" smtClean="0">
              <a:ln>
                <a:noFill/>
              </a:ln>
              <a:solidFill>
                <a:schemeClr val="tx1"/>
              </a:solidFill>
              <a:effectLst/>
              <a:uLnTx/>
              <a:uFillTx/>
              <a:ea typeface="+mn-ea"/>
              <a:cs typeface="Arial" charset="0"/>
            </a:endParaRP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Must assess sampling frame errors</a:t>
            </a: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smtClean="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smtClean="0">
              <a:ln>
                <a:noFill/>
              </a:ln>
              <a:solidFill>
                <a:schemeClr val="tx1"/>
              </a:solidFill>
              <a:effectLst/>
              <a:uLnTx/>
              <a:uFillTx/>
              <a:latin typeface="Arial" charset="0"/>
              <a:ea typeface="+mn-ea"/>
              <a:cs typeface="Arial" charset="0"/>
            </a:endParaRPr>
          </a:p>
        </p:txBody>
      </p:sp>
    </p:spTree>
    <p:extLst>
      <p:ext uri="{BB962C8B-B14F-4D97-AF65-F5344CB8AC3E}">
        <p14:creationId xmlns="" xmlns:p14="http://schemas.microsoft.com/office/powerpoint/2010/main" val="18721625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699792"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4444165" cy="523220"/>
          </a:xfrm>
          <a:prstGeom prst="rect">
            <a:avLst/>
          </a:prstGeom>
          <a:noFill/>
        </p:spPr>
        <p:txBody>
          <a:bodyPr wrap="none" rtlCol="0">
            <a:spAutoFit/>
          </a:bodyPr>
          <a:lstStyle/>
          <a:p>
            <a:r>
              <a:rPr lang="en-AU" sz="2800" dirty="0" smtClean="0"/>
              <a:t>Data Collection and Sampling</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  </a:t>
            </a:r>
            <a:endParaRPr lang="en-AU" sz="2400" dirty="0"/>
          </a:p>
        </p:txBody>
      </p:sp>
      <p:sp>
        <p:nvSpPr>
          <p:cNvPr id="13" name="TextBox 12"/>
          <p:cNvSpPr txBox="1"/>
          <p:nvPr/>
        </p:nvSpPr>
        <p:spPr>
          <a:xfrm>
            <a:off x="1079104" y="1124744"/>
            <a:ext cx="8064896" cy="369332"/>
          </a:xfrm>
          <a:prstGeom prst="rect">
            <a:avLst/>
          </a:prstGeom>
          <a:noFill/>
        </p:spPr>
        <p:txBody>
          <a:bodyPr wrap="square" rtlCol="0">
            <a:spAutoFit/>
          </a:bodyPr>
          <a:lstStyle/>
          <a:p>
            <a:r>
              <a:rPr lang="en-AU" dirty="0" smtClean="0"/>
              <a:t>What are the main things we must do to ensure fair samples are collected?</a:t>
            </a:r>
            <a:endParaRPr lang="en-AU" dirty="0"/>
          </a:p>
        </p:txBody>
      </p:sp>
      <p:sp>
        <p:nvSpPr>
          <p:cNvPr id="14" name="TextBox 13"/>
          <p:cNvSpPr txBox="1"/>
          <p:nvPr/>
        </p:nvSpPr>
        <p:spPr>
          <a:xfrm>
            <a:off x="251520" y="1916832"/>
            <a:ext cx="2411760" cy="369332"/>
          </a:xfrm>
          <a:prstGeom prst="rect">
            <a:avLst/>
          </a:prstGeom>
          <a:noFill/>
        </p:spPr>
        <p:txBody>
          <a:bodyPr wrap="square" rtlCol="0">
            <a:spAutoFit/>
          </a:bodyPr>
          <a:lstStyle/>
          <a:p>
            <a:r>
              <a:rPr lang="en-AU" dirty="0" smtClean="0"/>
              <a:t>What is a </a:t>
            </a:r>
            <a:r>
              <a:rPr lang="en-AU" dirty="0" smtClean="0"/>
              <a:t>Sample?</a:t>
            </a:r>
            <a:endParaRPr lang="en-AU" dirty="0"/>
          </a:p>
        </p:txBody>
      </p:sp>
      <p:sp>
        <p:nvSpPr>
          <p:cNvPr id="16" name="Rectangle 3"/>
          <p:cNvSpPr txBox="1">
            <a:spLocks noChangeArrowheads="1"/>
          </p:cNvSpPr>
          <p:nvPr/>
        </p:nvSpPr>
        <p:spPr>
          <a:xfrm>
            <a:off x="2699792" y="1916832"/>
            <a:ext cx="5834608" cy="3916288"/>
          </a:xfrm>
          <a:prstGeom prst="rect">
            <a:avLst/>
          </a:prstGeom>
        </p:spPr>
        <p:txBody>
          <a:bodyPr/>
          <a:lstStyle/>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A </a:t>
            </a:r>
            <a:r>
              <a:rPr kumimoji="0" lang="en-US" b="0" i="0" u="none" strike="noStrike" kern="1200" cap="none" spc="0" normalizeH="0" baseline="0" noProof="0" dirty="0" smtClean="0">
                <a:ln>
                  <a:noFill/>
                </a:ln>
                <a:solidFill>
                  <a:srgbClr val="0091DA"/>
                </a:solidFill>
                <a:effectLst/>
                <a:uLnTx/>
                <a:uFillTx/>
                <a:ea typeface="+mn-ea"/>
                <a:cs typeface="Arial" charset="0"/>
              </a:rPr>
              <a:t>sample</a:t>
            </a:r>
            <a:r>
              <a:rPr kumimoji="0" lang="en-US" b="0" i="0" u="none" strike="noStrike" kern="1200" cap="none" spc="0" normalizeH="0" baseline="0" noProof="0" dirty="0" smtClean="0">
                <a:ln>
                  <a:noFill/>
                </a:ln>
                <a:solidFill>
                  <a:schemeClr val="tx1"/>
                </a:solidFill>
                <a:effectLst/>
                <a:uLnTx/>
                <a:uFillTx/>
                <a:ea typeface="+mn-ea"/>
                <a:cs typeface="Arial" charset="0"/>
              </a:rPr>
              <a:t> is a smaller (but hopefully representative) collection of data from a population used to determine truths about that population.</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Why sample?</a:t>
            </a: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Resources (time, money) and workload</a:t>
            </a: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Gives results with known accuracy that can be calculated mathematically</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The </a:t>
            </a:r>
            <a:r>
              <a:rPr kumimoji="0" lang="en-US" b="0" i="0" u="none" strike="noStrike" kern="1200" cap="none" spc="0" normalizeH="0" baseline="0" noProof="0" dirty="0" smtClean="0">
                <a:ln>
                  <a:noFill/>
                </a:ln>
                <a:solidFill>
                  <a:srgbClr val="0091DA"/>
                </a:solidFill>
                <a:effectLst/>
                <a:uLnTx/>
                <a:uFillTx/>
                <a:ea typeface="+mn-ea"/>
                <a:cs typeface="Arial" charset="0"/>
              </a:rPr>
              <a:t>sampling frame</a:t>
            </a:r>
            <a:r>
              <a:rPr kumimoji="0" lang="en-US" b="0" i="0" u="none" strike="noStrike" kern="1200" cap="none" spc="0" normalizeH="0" baseline="0" noProof="0" dirty="0" smtClean="0">
                <a:ln>
                  <a:noFill/>
                </a:ln>
                <a:solidFill>
                  <a:schemeClr val="tx1"/>
                </a:solidFill>
                <a:effectLst/>
                <a:uLnTx/>
                <a:uFillTx/>
                <a:ea typeface="+mn-ea"/>
                <a:cs typeface="Arial" charset="0"/>
              </a:rPr>
              <a:t> is the list from which the potential respondents are drawn </a:t>
            </a: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Geographic area.</a:t>
            </a: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r>
              <a:rPr lang="en-US" dirty="0" smtClean="0">
                <a:cs typeface="Arial" charset="0"/>
              </a:rPr>
              <a:t>Year Level at BSC</a:t>
            </a:r>
            <a:endParaRPr kumimoji="0" lang="en-US" b="0" i="0" u="none" strike="noStrike" kern="1200" cap="none" spc="0" normalizeH="0" baseline="0" noProof="0" dirty="0" smtClean="0">
              <a:ln>
                <a:noFill/>
              </a:ln>
              <a:solidFill>
                <a:schemeClr val="tx1"/>
              </a:solidFill>
              <a:effectLst/>
              <a:uLnTx/>
              <a:uFillTx/>
              <a:ea typeface="+mn-ea"/>
              <a:cs typeface="Arial" charset="0"/>
            </a:endParaRP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Must assess sampling frame errors</a:t>
            </a: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smtClean="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smtClean="0">
              <a:ln>
                <a:noFill/>
              </a:ln>
              <a:solidFill>
                <a:schemeClr val="tx1"/>
              </a:solidFill>
              <a:effectLst/>
              <a:uLnTx/>
              <a:uFillTx/>
              <a:latin typeface="Arial" charset="0"/>
              <a:ea typeface="+mn-ea"/>
              <a:cs typeface="Arial" charset="0"/>
            </a:endParaRPr>
          </a:p>
        </p:txBody>
      </p:sp>
      <p:sp>
        <p:nvSpPr>
          <p:cNvPr id="19" name="Rectangle 18"/>
          <p:cNvSpPr/>
          <p:nvPr/>
        </p:nvSpPr>
        <p:spPr>
          <a:xfrm>
            <a:off x="0" y="5013176"/>
            <a:ext cx="2699792" cy="646331"/>
          </a:xfrm>
          <a:prstGeom prst="rect">
            <a:avLst/>
          </a:prstGeom>
        </p:spPr>
        <p:txBody>
          <a:bodyPr wrap="square">
            <a:spAutoFit/>
          </a:bodyPr>
          <a:lstStyle/>
          <a:p>
            <a:pPr marL="342900" lvl="0" indent="-342900">
              <a:spcBef>
                <a:spcPct val="20000"/>
              </a:spcBef>
              <a:buFont typeface="Arial" pitchFamily="34" charset="0"/>
              <a:buChar char="•"/>
              <a:defRPr/>
            </a:pPr>
            <a:r>
              <a:rPr lang="en-US" dirty="0" smtClean="0">
                <a:cs typeface="Arial" charset="0"/>
              </a:rPr>
              <a:t>What is your population of interest?</a:t>
            </a:r>
            <a:endParaRPr lang="en-US" dirty="0" smtClean="0">
              <a:cs typeface="Arial" charset="0"/>
            </a:endParaRPr>
          </a:p>
        </p:txBody>
      </p:sp>
      <p:sp>
        <p:nvSpPr>
          <p:cNvPr id="21" name="TextBox 20"/>
          <p:cNvSpPr txBox="1"/>
          <p:nvPr/>
        </p:nvSpPr>
        <p:spPr>
          <a:xfrm>
            <a:off x="2771800" y="5085184"/>
            <a:ext cx="6120680" cy="646331"/>
          </a:xfrm>
          <a:prstGeom prst="rect">
            <a:avLst/>
          </a:prstGeom>
          <a:noFill/>
        </p:spPr>
        <p:txBody>
          <a:bodyPr wrap="square" rtlCol="0">
            <a:spAutoFit/>
          </a:bodyPr>
          <a:lstStyle/>
          <a:p>
            <a:r>
              <a:rPr lang="en-AU" dirty="0" smtClean="0"/>
              <a:t>This is determined by the data you want to collect. e.g. Data on students’ performance wouldn’t be collected from a worksite.</a:t>
            </a:r>
            <a:endParaRPr lang="en-AU" dirty="0"/>
          </a:p>
        </p:txBody>
      </p:sp>
    </p:spTree>
    <p:extLst>
      <p:ext uri="{BB962C8B-B14F-4D97-AF65-F5344CB8AC3E}">
        <p14:creationId xmlns="" xmlns:p14="http://schemas.microsoft.com/office/powerpoint/2010/main" val="18721625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699792"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4444165" cy="523220"/>
          </a:xfrm>
          <a:prstGeom prst="rect">
            <a:avLst/>
          </a:prstGeom>
          <a:noFill/>
        </p:spPr>
        <p:txBody>
          <a:bodyPr wrap="none" rtlCol="0">
            <a:spAutoFit/>
          </a:bodyPr>
          <a:lstStyle/>
          <a:p>
            <a:r>
              <a:rPr lang="en-AU" sz="2800" dirty="0" smtClean="0"/>
              <a:t>Data Collection and Sampling</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  </a:t>
            </a:r>
            <a:endParaRPr lang="en-AU" sz="2400" dirty="0"/>
          </a:p>
        </p:txBody>
      </p:sp>
      <p:sp>
        <p:nvSpPr>
          <p:cNvPr id="13" name="TextBox 12"/>
          <p:cNvSpPr txBox="1"/>
          <p:nvPr/>
        </p:nvSpPr>
        <p:spPr>
          <a:xfrm>
            <a:off x="1079104" y="1124744"/>
            <a:ext cx="8064896" cy="369332"/>
          </a:xfrm>
          <a:prstGeom prst="rect">
            <a:avLst/>
          </a:prstGeom>
          <a:noFill/>
        </p:spPr>
        <p:txBody>
          <a:bodyPr wrap="square" rtlCol="0">
            <a:spAutoFit/>
          </a:bodyPr>
          <a:lstStyle/>
          <a:p>
            <a:r>
              <a:rPr lang="en-AU" dirty="0" smtClean="0"/>
              <a:t>What are the main things we must do to ensure fair samples are collected?</a:t>
            </a:r>
            <a:endParaRPr lang="en-AU" dirty="0"/>
          </a:p>
        </p:txBody>
      </p:sp>
      <p:sp>
        <p:nvSpPr>
          <p:cNvPr id="14" name="TextBox 13"/>
          <p:cNvSpPr txBox="1"/>
          <p:nvPr/>
        </p:nvSpPr>
        <p:spPr>
          <a:xfrm>
            <a:off x="251520" y="1916832"/>
            <a:ext cx="2411760" cy="369332"/>
          </a:xfrm>
          <a:prstGeom prst="rect">
            <a:avLst/>
          </a:prstGeom>
          <a:noFill/>
        </p:spPr>
        <p:txBody>
          <a:bodyPr wrap="square" rtlCol="0">
            <a:spAutoFit/>
          </a:bodyPr>
          <a:lstStyle/>
          <a:p>
            <a:r>
              <a:rPr lang="en-AU" dirty="0" smtClean="0"/>
              <a:t>What is a </a:t>
            </a:r>
            <a:r>
              <a:rPr lang="en-AU" dirty="0" smtClean="0"/>
              <a:t>Sample?</a:t>
            </a:r>
            <a:endParaRPr lang="en-AU" dirty="0"/>
          </a:p>
        </p:txBody>
      </p:sp>
      <p:sp>
        <p:nvSpPr>
          <p:cNvPr id="16" name="Rectangle 3"/>
          <p:cNvSpPr txBox="1">
            <a:spLocks noChangeArrowheads="1"/>
          </p:cNvSpPr>
          <p:nvPr/>
        </p:nvSpPr>
        <p:spPr>
          <a:xfrm>
            <a:off x="2699792" y="1916832"/>
            <a:ext cx="5834608" cy="3916288"/>
          </a:xfrm>
          <a:prstGeom prst="rect">
            <a:avLst/>
          </a:prstGeom>
        </p:spPr>
        <p:txBody>
          <a:bodyPr/>
          <a:lstStyle/>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A </a:t>
            </a:r>
            <a:r>
              <a:rPr kumimoji="0" lang="en-US" b="0" i="0" u="none" strike="noStrike" kern="1200" cap="none" spc="0" normalizeH="0" baseline="0" noProof="0" dirty="0" smtClean="0">
                <a:ln>
                  <a:noFill/>
                </a:ln>
                <a:solidFill>
                  <a:srgbClr val="0091DA"/>
                </a:solidFill>
                <a:effectLst/>
                <a:uLnTx/>
                <a:uFillTx/>
                <a:ea typeface="+mn-ea"/>
                <a:cs typeface="Arial" charset="0"/>
              </a:rPr>
              <a:t>sample</a:t>
            </a:r>
            <a:r>
              <a:rPr kumimoji="0" lang="en-US" b="0" i="0" u="none" strike="noStrike" kern="1200" cap="none" spc="0" normalizeH="0" baseline="0" noProof="0" dirty="0" smtClean="0">
                <a:ln>
                  <a:noFill/>
                </a:ln>
                <a:solidFill>
                  <a:schemeClr val="tx1"/>
                </a:solidFill>
                <a:effectLst/>
                <a:uLnTx/>
                <a:uFillTx/>
                <a:ea typeface="+mn-ea"/>
                <a:cs typeface="Arial" charset="0"/>
              </a:rPr>
              <a:t> is a smaller (but hopefully representative) collection of data from a population used to determine truths about that population.</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Why sample?</a:t>
            </a: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Resources (time, money) and workload</a:t>
            </a: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Gives results with known accuracy that can be calculated mathematically</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The </a:t>
            </a:r>
            <a:r>
              <a:rPr kumimoji="0" lang="en-US" b="0" i="0" u="none" strike="noStrike" kern="1200" cap="none" spc="0" normalizeH="0" baseline="0" noProof="0" dirty="0" smtClean="0">
                <a:ln>
                  <a:noFill/>
                </a:ln>
                <a:solidFill>
                  <a:srgbClr val="0091DA"/>
                </a:solidFill>
                <a:effectLst/>
                <a:uLnTx/>
                <a:uFillTx/>
                <a:ea typeface="+mn-ea"/>
                <a:cs typeface="Arial" charset="0"/>
              </a:rPr>
              <a:t>sampling frame</a:t>
            </a:r>
            <a:r>
              <a:rPr kumimoji="0" lang="en-US" b="0" i="0" u="none" strike="noStrike" kern="1200" cap="none" spc="0" normalizeH="0" baseline="0" noProof="0" dirty="0" smtClean="0">
                <a:ln>
                  <a:noFill/>
                </a:ln>
                <a:solidFill>
                  <a:schemeClr val="tx1"/>
                </a:solidFill>
                <a:effectLst/>
                <a:uLnTx/>
                <a:uFillTx/>
                <a:ea typeface="+mn-ea"/>
                <a:cs typeface="Arial" charset="0"/>
              </a:rPr>
              <a:t> is the list from which the potential respondents are drawn </a:t>
            </a: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Geographic area.</a:t>
            </a: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r>
              <a:rPr lang="en-US" dirty="0" smtClean="0">
                <a:cs typeface="Arial" charset="0"/>
              </a:rPr>
              <a:t>Year Level at BSC</a:t>
            </a:r>
            <a:endParaRPr kumimoji="0" lang="en-US" b="0" i="0" u="none" strike="noStrike" kern="1200" cap="none" spc="0" normalizeH="0" baseline="0" noProof="0" dirty="0" smtClean="0">
              <a:ln>
                <a:noFill/>
              </a:ln>
              <a:solidFill>
                <a:schemeClr val="tx1"/>
              </a:solidFill>
              <a:effectLst/>
              <a:uLnTx/>
              <a:uFillTx/>
              <a:ea typeface="+mn-ea"/>
              <a:cs typeface="Arial" charset="0"/>
            </a:endParaRP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Must assess sampling frame errors</a:t>
            </a:r>
          </a:p>
          <a:p>
            <a:pPr marL="742950" marR="0" lvl="1" indent="-28575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smtClean="0">
              <a:ln>
                <a:noFill/>
              </a:ln>
              <a:solidFill>
                <a:schemeClr val="tx1"/>
              </a:solidFill>
              <a:effectLst/>
              <a:uLnTx/>
              <a:uFillTx/>
              <a:latin typeface="Arial" charset="0"/>
              <a:ea typeface="+mn-ea"/>
              <a:cs typeface="Arial"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smtClean="0">
              <a:ln>
                <a:noFill/>
              </a:ln>
              <a:solidFill>
                <a:schemeClr val="tx1"/>
              </a:solidFill>
              <a:effectLst/>
              <a:uLnTx/>
              <a:uFillTx/>
              <a:latin typeface="Arial" charset="0"/>
              <a:ea typeface="+mn-ea"/>
              <a:cs typeface="Arial" charset="0"/>
            </a:endParaRPr>
          </a:p>
        </p:txBody>
      </p:sp>
      <p:sp>
        <p:nvSpPr>
          <p:cNvPr id="19" name="Rectangle 18"/>
          <p:cNvSpPr/>
          <p:nvPr/>
        </p:nvSpPr>
        <p:spPr>
          <a:xfrm>
            <a:off x="0" y="5013176"/>
            <a:ext cx="2699792" cy="646331"/>
          </a:xfrm>
          <a:prstGeom prst="rect">
            <a:avLst/>
          </a:prstGeom>
        </p:spPr>
        <p:txBody>
          <a:bodyPr wrap="square">
            <a:spAutoFit/>
          </a:bodyPr>
          <a:lstStyle/>
          <a:p>
            <a:pPr marL="342900" lvl="0" indent="-342900">
              <a:spcBef>
                <a:spcPct val="20000"/>
              </a:spcBef>
              <a:buFont typeface="Arial" pitchFamily="34" charset="0"/>
              <a:buChar char="•"/>
              <a:defRPr/>
            </a:pPr>
            <a:r>
              <a:rPr lang="en-US" dirty="0" smtClean="0">
                <a:cs typeface="Arial" charset="0"/>
              </a:rPr>
              <a:t>What is your population of interest?</a:t>
            </a:r>
            <a:endParaRPr lang="en-US" dirty="0" smtClean="0">
              <a:cs typeface="Arial" charset="0"/>
            </a:endParaRPr>
          </a:p>
        </p:txBody>
      </p:sp>
      <p:sp>
        <p:nvSpPr>
          <p:cNvPr id="20" name="Rectangle 19"/>
          <p:cNvSpPr/>
          <p:nvPr/>
        </p:nvSpPr>
        <p:spPr>
          <a:xfrm>
            <a:off x="0" y="5661248"/>
            <a:ext cx="2627784" cy="646331"/>
          </a:xfrm>
          <a:prstGeom prst="rect">
            <a:avLst/>
          </a:prstGeom>
        </p:spPr>
        <p:txBody>
          <a:bodyPr wrap="square">
            <a:spAutoFit/>
          </a:bodyPr>
          <a:lstStyle/>
          <a:p>
            <a:pPr marL="342900" lvl="0" indent="-342900">
              <a:spcBef>
                <a:spcPct val="20000"/>
              </a:spcBef>
              <a:buFont typeface="Arial" pitchFamily="34" charset="0"/>
              <a:buChar char="•"/>
              <a:defRPr/>
            </a:pPr>
            <a:r>
              <a:rPr lang="en-US" dirty="0" smtClean="0">
                <a:cs typeface="Arial" charset="0"/>
              </a:rPr>
              <a:t>Can you sample the entire population?</a:t>
            </a:r>
            <a:endParaRPr lang="en-US" dirty="0" smtClean="0">
              <a:cs typeface="Arial" charset="0"/>
            </a:endParaRPr>
          </a:p>
        </p:txBody>
      </p:sp>
      <p:sp>
        <p:nvSpPr>
          <p:cNvPr id="21" name="TextBox 20"/>
          <p:cNvSpPr txBox="1"/>
          <p:nvPr/>
        </p:nvSpPr>
        <p:spPr>
          <a:xfrm>
            <a:off x="2771800" y="5085184"/>
            <a:ext cx="6120680" cy="646331"/>
          </a:xfrm>
          <a:prstGeom prst="rect">
            <a:avLst/>
          </a:prstGeom>
          <a:noFill/>
        </p:spPr>
        <p:txBody>
          <a:bodyPr wrap="square" rtlCol="0">
            <a:spAutoFit/>
          </a:bodyPr>
          <a:lstStyle/>
          <a:p>
            <a:r>
              <a:rPr lang="en-AU" dirty="0" smtClean="0"/>
              <a:t>This is determined by the data you want to collect. e.g. Data on students’ performance wouldn’t be collected from a worksite.</a:t>
            </a:r>
            <a:endParaRPr lang="en-AU" dirty="0"/>
          </a:p>
        </p:txBody>
      </p:sp>
      <p:sp>
        <p:nvSpPr>
          <p:cNvPr id="22" name="TextBox 21"/>
          <p:cNvSpPr txBox="1"/>
          <p:nvPr/>
        </p:nvSpPr>
        <p:spPr>
          <a:xfrm>
            <a:off x="2771800" y="5733256"/>
            <a:ext cx="5832648" cy="646331"/>
          </a:xfrm>
          <a:prstGeom prst="rect">
            <a:avLst/>
          </a:prstGeom>
          <a:noFill/>
        </p:spPr>
        <p:txBody>
          <a:bodyPr wrap="square" rtlCol="0">
            <a:spAutoFit/>
          </a:bodyPr>
          <a:lstStyle/>
          <a:p>
            <a:r>
              <a:rPr lang="en-AU" dirty="0" smtClean="0"/>
              <a:t>Sampling an entire population is very difficult. Generally a Random Sample is taken.</a:t>
            </a:r>
            <a:endParaRPr lang="en-AU" dirty="0"/>
          </a:p>
        </p:txBody>
      </p:sp>
    </p:spTree>
    <p:extLst>
      <p:ext uri="{BB962C8B-B14F-4D97-AF65-F5344CB8AC3E}">
        <p14:creationId xmlns="" xmlns:p14="http://schemas.microsoft.com/office/powerpoint/2010/main" val="18721625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699792"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4444165" cy="523220"/>
          </a:xfrm>
          <a:prstGeom prst="rect">
            <a:avLst/>
          </a:prstGeom>
          <a:noFill/>
        </p:spPr>
        <p:txBody>
          <a:bodyPr wrap="none" rtlCol="0">
            <a:spAutoFit/>
          </a:bodyPr>
          <a:lstStyle/>
          <a:p>
            <a:r>
              <a:rPr lang="en-AU" sz="2800" dirty="0" smtClean="0"/>
              <a:t>Data Collection and Sampling</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  </a:t>
            </a:r>
            <a:endParaRPr lang="en-AU" sz="2400" dirty="0"/>
          </a:p>
        </p:txBody>
      </p:sp>
      <p:sp>
        <p:nvSpPr>
          <p:cNvPr id="13" name="TextBox 12"/>
          <p:cNvSpPr txBox="1"/>
          <p:nvPr/>
        </p:nvSpPr>
        <p:spPr>
          <a:xfrm>
            <a:off x="1079104" y="1124744"/>
            <a:ext cx="8064896" cy="369332"/>
          </a:xfrm>
          <a:prstGeom prst="rect">
            <a:avLst/>
          </a:prstGeom>
          <a:noFill/>
        </p:spPr>
        <p:txBody>
          <a:bodyPr wrap="square" rtlCol="0">
            <a:spAutoFit/>
          </a:bodyPr>
          <a:lstStyle/>
          <a:p>
            <a:r>
              <a:rPr lang="en-AU" dirty="0" smtClean="0"/>
              <a:t>What are the main things we must do to ensure fair samples are collected?</a:t>
            </a:r>
            <a:endParaRPr lang="en-AU" dirty="0"/>
          </a:p>
        </p:txBody>
      </p:sp>
      <p:sp>
        <p:nvSpPr>
          <p:cNvPr id="17" name="Rectangle 3"/>
          <p:cNvSpPr txBox="1">
            <a:spLocks noChangeArrowheads="1"/>
          </p:cNvSpPr>
          <p:nvPr/>
        </p:nvSpPr>
        <p:spPr>
          <a:xfrm>
            <a:off x="2699792" y="1916832"/>
            <a:ext cx="6264696" cy="1368152"/>
          </a:xfrm>
          <a:prstGeom prst="rect">
            <a:avLst/>
          </a:prstGeom>
        </p:spPr>
        <p:txBody>
          <a:bodyPr/>
          <a:lstStyle/>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3 factors that influence sample representativeness</a:t>
            </a:r>
          </a:p>
          <a:p>
            <a:pPr marL="1143000" marR="0" lvl="2" indent="-2286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Sampling procedure</a:t>
            </a:r>
          </a:p>
          <a:p>
            <a:pPr marL="1143000" marR="0" lvl="2" indent="-2286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Sample size</a:t>
            </a:r>
          </a:p>
          <a:p>
            <a:pPr marL="1143000" marR="0" lvl="2" indent="-2286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Participation (response)</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b="0" i="0" u="none" strike="noStrike" kern="1200" cap="none" spc="0" normalizeH="0" baseline="0" noProof="0" dirty="0" smtClean="0">
              <a:ln>
                <a:noFill/>
              </a:ln>
              <a:solidFill>
                <a:schemeClr val="tx1"/>
              </a:solidFill>
              <a:effectLst/>
              <a:uLnTx/>
              <a:uFillTx/>
              <a:ea typeface="+mn-ea"/>
              <a:cs typeface="Arial" charset="0"/>
            </a:endParaRPr>
          </a:p>
          <a:p>
            <a:pPr marL="342900" marR="0" lvl="0" indent="-342900" algn="l" defTabSz="914400" rtl="0" eaLnBrk="1" fontAlgn="auto" latinLnBrk="0" hangingPunct="1">
              <a:lnSpc>
                <a:spcPct val="80000"/>
              </a:lnSpc>
              <a:spcBef>
                <a:spcPct val="20000"/>
              </a:spcBef>
              <a:spcAft>
                <a:spcPts val="0"/>
              </a:spcAft>
              <a:buClrTx/>
              <a:buSzTx/>
              <a:tabLst/>
              <a:defRPr/>
            </a:pPr>
            <a:endParaRPr kumimoji="0" lang="en-US" sz="3200" b="0" i="0" u="none" strike="noStrike" kern="1200" cap="none" spc="0" normalizeH="0" baseline="0" noProof="0" dirty="0" smtClean="0">
              <a:ln>
                <a:noFill/>
              </a:ln>
              <a:solidFill>
                <a:schemeClr val="tx1"/>
              </a:solidFill>
              <a:effectLst/>
              <a:uLnTx/>
              <a:uFillTx/>
              <a:latin typeface="Arial" charset="0"/>
              <a:ea typeface="+mn-ea"/>
              <a:cs typeface="Arial" charset="0"/>
            </a:endParaRPr>
          </a:p>
        </p:txBody>
      </p:sp>
    </p:spTree>
    <p:extLst>
      <p:ext uri="{BB962C8B-B14F-4D97-AF65-F5344CB8AC3E}">
        <p14:creationId xmlns="" xmlns:p14="http://schemas.microsoft.com/office/powerpoint/2010/main" val="18721625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699792"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4444165" cy="523220"/>
          </a:xfrm>
          <a:prstGeom prst="rect">
            <a:avLst/>
          </a:prstGeom>
          <a:noFill/>
        </p:spPr>
        <p:txBody>
          <a:bodyPr wrap="none" rtlCol="0">
            <a:spAutoFit/>
          </a:bodyPr>
          <a:lstStyle/>
          <a:p>
            <a:r>
              <a:rPr lang="en-AU" sz="2800" dirty="0" smtClean="0"/>
              <a:t>Data Collection and Sampling</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  </a:t>
            </a:r>
            <a:endParaRPr lang="en-AU" sz="2400" dirty="0"/>
          </a:p>
        </p:txBody>
      </p:sp>
      <p:sp>
        <p:nvSpPr>
          <p:cNvPr id="13" name="TextBox 12"/>
          <p:cNvSpPr txBox="1"/>
          <p:nvPr/>
        </p:nvSpPr>
        <p:spPr>
          <a:xfrm>
            <a:off x="1079104" y="1124744"/>
            <a:ext cx="8064896" cy="369332"/>
          </a:xfrm>
          <a:prstGeom prst="rect">
            <a:avLst/>
          </a:prstGeom>
          <a:noFill/>
        </p:spPr>
        <p:txBody>
          <a:bodyPr wrap="square" rtlCol="0">
            <a:spAutoFit/>
          </a:bodyPr>
          <a:lstStyle/>
          <a:p>
            <a:r>
              <a:rPr lang="en-AU" dirty="0" smtClean="0"/>
              <a:t>What are the main things we must do to ensure fair samples are collected?</a:t>
            </a:r>
            <a:endParaRPr lang="en-AU" dirty="0"/>
          </a:p>
        </p:txBody>
      </p:sp>
      <p:sp>
        <p:nvSpPr>
          <p:cNvPr id="17" name="Rectangle 3"/>
          <p:cNvSpPr txBox="1">
            <a:spLocks noChangeArrowheads="1"/>
          </p:cNvSpPr>
          <p:nvPr/>
        </p:nvSpPr>
        <p:spPr>
          <a:xfrm>
            <a:off x="2699792" y="1916832"/>
            <a:ext cx="6264696" cy="2592288"/>
          </a:xfrm>
          <a:prstGeom prst="rect">
            <a:avLst/>
          </a:prstGeom>
        </p:spPr>
        <p:txBody>
          <a:bodyPr/>
          <a:lstStyle/>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3 factors that influence sample representativeness</a:t>
            </a:r>
          </a:p>
          <a:p>
            <a:pPr marL="1143000" marR="0" lvl="2" indent="-2286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Sampling procedure</a:t>
            </a:r>
          </a:p>
          <a:p>
            <a:pPr marL="1143000" marR="0" lvl="2" indent="-2286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Sample size</a:t>
            </a:r>
          </a:p>
          <a:p>
            <a:pPr marL="1143000" marR="0" lvl="2" indent="-2286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Participation (response)</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b="0" i="0" u="none" strike="noStrike" kern="1200" cap="none" spc="0" normalizeH="0" baseline="0" noProof="0" dirty="0" smtClean="0">
              <a:ln>
                <a:noFill/>
              </a:ln>
              <a:solidFill>
                <a:schemeClr val="tx1"/>
              </a:solidFill>
              <a:effectLst/>
              <a:uLnTx/>
              <a:uFillTx/>
              <a:ea typeface="+mn-ea"/>
              <a:cs typeface="Arial" charset="0"/>
            </a:endParaRPr>
          </a:p>
          <a:p>
            <a:pPr marL="1143000" marR="0" lvl="2" indent="-2286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When your population is very small</a:t>
            </a:r>
          </a:p>
          <a:p>
            <a:pPr marL="1143000" marR="0" lvl="2" indent="-2286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When you have extensive resources</a:t>
            </a:r>
          </a:p>
          <a:p>
            <a:pPr marL="1143000" marR="0" lvl="2" indent="-2286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When you don’t expect a very high response</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Arial" charset="0"/>
              <a:ea typeface="+mn-ea"/>
              <a:cs typeface="Arial" charset="0"/>
            </a:endParaRPr>
          </a:p>
        </p:txBody>
      </p:sp>
      <p:sp>
        <p:nvSpPr>
          <p:cNvPr id="18" name="Rectangle 17"/>
          <p:cNvSpPr/>
          <p:nvPr/>
        </p:nvSpPr>
        <p:spPr>
          <a:xfrm>
            <a:off x="0" y="3068960"/>
            <a:ext cx="2699792" cy="757130"/>
          </a:xfrm>
          <a:prstGeom prst="rect">
            <a:avLst/>
          </a:prstGeom>
        </p:spPr>
        <p:txBody>
          <a:bodyPr wrap="square">
            <a:spAutoFit/>
          </a:bodyPr>
          <a:lstStyle/>
          <a:p>
            <a:pPr marL="342900" lvl="0" indent="-342900">
              <a:lnSpc>
                <a:spcPct val="80000"/>
              </a:lnSpc>
              <a:spcBef>
                <a:spcPct val="20000"/>
              </a:spcBef>
              <a:buFont typeface="Arial" pitchFamily="34" charset="0"/>
              <a:buChar char="•"/>
              <a:defRPr/>
            </a:pPr>
            <a:r>
              <a:rPr lang="en-US" dirty="0" smtClean="0">
                <a:cs typeface="Arial" charset="0"/>
              </a:rPr>
              <a:t>When might you sample the entire population?</a:t>
            </a:r>
            <a:endParaRPr lang="en-US" dirty="0" smtClean="0">
              <a:cs typeface="Arial" charset="0"/>
            </a:endParaRPr>
          </a:p>
        </p:txBody>
      </p:sp>
    </p:spTree>
    <p:extLst>
      <p:ext uri="{BB962C8B-B14F-4D97-AF65-F5344CB8AC3E}">
        <p14:creationId xmlns="" xmlns:p14="http://schemas.microsoft.com/office/powerpoint/2010/main" val="18721625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699792"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4444165" cy="523220"/>
          </a:xfrm>
          <a:prstGeom prst="rect">
            <a:avLst/>
          </a:prstGeom>
          <a:noFill/>
        </p:spPr>
        <p:txBody>
          <a:bodyPr wrap="none" rtlCol="0">
            <a:spAutoFit/>
          </a:bodyPr>
          <a:lstStyle/>
          <a:p>
            <a:r>
              <a:rPr lang="en-AU" sz="2800" dirty="0" smtClean="0"/>
              <a:t>Data Collection and Sampling</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  </a:t>
            </a:r>
            <a:endParaRPr lang="en-AU" sz="2400" dirty="0"/>
          </a:p>
        </p:txBody>
      </p:sp>
      <p:sp>
        <p:nvSpPr>
          <p:cNvPr id="13" name="TextBox 12"/>
          <p:cNvSpPr txBox="1"/>
          <p:nvPr/>
        </p:nvSpPr>
        <p:spPr>
          <a:xfrm>
            <a:off x="1079104" y="1124744"/>
            <a:ext cx="8064896" cy="369332"/>
          </a:xfrm>
          <a:prstGeom prst="rect">
            <a:avLst/>
          </a:prstGeom>
          <a:noFill/>
        </p:spPr>
        <p:txBody>
          <a:bodyPr wrap="square" rtlCol="0">
            <a:spAutoFit/>
          </a:bodyPr>
          <a:lstStyle/>
          <a:p>
            <a:r>
              <a:rPr lang="en-AU" dirty="0" smtClean="0"/>
              <a:t>What are the main things we must do to ensure fair samples are collected?</a:t>
            </a:r>
            <a:endParaRPr lang="en-AU" dirty="0"/>
          </a:p>
        </p:txBody>
      </p:sp>
      <p:sp>
        <p:nvSpPr>
          <p:cNvPr id="17" name="Rectangle 3"/>
          <p:cNvSpPr txBox="1">
            <a:spLocks noChangeArrowheads="1"/>
          </p:cNvSpPr>
          <p:nvPr/>
        </p:nvSpPr>
        <p:spPr>
          <a:xfrm>
            <a:off x="2699792" y="1916832"/>
            <a:ext cx="6264696" cy="2592288"/>
          </a:xfrm>
          <a:prstGeom prst="rect">
            <a:avLst/>
          </a:prstGeom>
        </p:spPr>
        <p:txBody>
          <a:bodyPr/>
          <a:lstStyle/>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3 factors that influence sample representativeness</a:t>
            </a:r>
          </a:p>
          <a:p>
            <a:pPr marL="1143000" marR="0" lvl="2" indent="-2286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Sampling procedure</a:t>
            </a:r>
          </a:p>
          <a:p>
            <a:pPr marL="1143000" marR="0" lvl="2" indent="-2286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Sample size</a:t>
            </a:r>
          </a:p>
          <a:p>
            <a:pPr marL="1143000" marR="0" lvl="2" indent="-2286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Participation (response)</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b="0" i="0" u="none" strike="noStrike" kern="1200" cap="none" spc="0" normalizeH="0" baseline="0" noProof="0" dirty="0" smtClean="0">
              <a:ln>
                <a:noFill/>
              </a:ln>
              <a:solidFill>
                <a:schemeClr val="tx1"/>
              </a:solidFill>
              <a:effectLst/>
              <a:uLnTx/>
              <a:uFillTx/>
              <a:ea typeface="+mn-ea"/>
              <a:cs typeface="Arial" charset="0"/>
            </a:endParaRPr>
          </a:p>
          <a:p>
            <a:pPr marL="1143000" marR="0" lvl="2" indent="-2286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When your population is very small</a:t>
            </a:r>
          </a:p>
          <a:p>
            <a:pPr marL="1143000" marR="0" lvl="2" indent="-2286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When you have extensive resources</a:t>
            </a:r>
          </a:p>
          <a:p>
            <a:pPr marL="1143000" marR="0" lvl="2" indent="-2286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b="0" i="0" u="none" strike="noStrike" kern="1200" cap="none" spc="0" normalizeH="0" baseline="0" noProof="0" dirty="0" smtClean="0">
                <a:ln>
                  <a:noFill/>
                </a:ln>
                <a:solidFill>
                  <a:schemeClr val="tx1"/>
                </a:solidFill>
                <a:effectLst/>
                <a:uLnTx/>
                <a:uFillTx/>
                <a:ea typeface="+mn-ea"/>
                <a:cs typeface="Arial" charset="0"/>
              </a:rPr>
              <a:t>When you don’t expect a very high response</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Arial" charset="0"/>
              <a:ea typeface="+mn-ea"/>
              <a:cs typeface="Arial" charset="0"/>
            </a:endParaRPr>
          </a:p>
        </p:txBody>
      </p:sp>
      <p:sp>
        <p:nvSpPr>
          <p:cNvPr id="18" name="Rectangle 17"/>
          <p:cNvSpPr/>
          <p:nvPr/>
        </p:nvSpPr>
        <p:spPr>
          <a:xfrm>
            <a:off x="0" y="3068960"/>
            <a:ext cx="2699792" cy="757130"/>
          </a:xfrm>
          <a:prstGeom prst="rect">
            <a:avLst/>
          </a:prstGeom>
        </p:spPr>
        <p:txBody>
          <a:bodyPr wrap="square">
            <a:spAutoFit/>
          </a:bodyPr>
          <a:lstStyle/>
          <a:p>
            <a:pPr marL="342900" lvl="0" indent="-342900">
              <a:lnSpc>
                <a:spcPct val="80000"/>
              </a:lnSpc>
              <a:spcBef>
                <a:spcPct val="20000"/>
              </a:spcBef>
              <a:buFont typeface="Arial" pitchFamily="34" charset="0"/>
              <a:buChar char="•"/>
              <a:defRPr/>
            </a:pPr>
            <a:r>
              <a:rPr lang="en-US" dirty="0" smtClean="0">
                <a:cs typeface="Arial" charset="0"/>
              </a:rPr>
              <a:t>When might you sample the entire population?</a:t>
            </a:r>
            <a:endParaRPr lang="en-US" dirty="0" smtClean="0">
              <a:cs typeface="Arial" charset="0"/>
            </a:endParaRPr>
          </a:p>
        </p:txBody>
      </p:sp>
      <p:sp>
        <p:nvSpPr>
          <p:cNvPr id="14" name="TextBox 13"/>
          <p:cNvSpPr txBox="1"/>
          <p:nvPr/>
        </p:nvSpPr>
        <p:spPr>
          <a:xfrm>
            <a:off x="251520" y="4365104"/>
            <a:ext cx="2304256" cy="646331"/>
          </a:xfrm>
          <a:prstGeom prst="rect">
            <a:avLst/>
          </a:prstGeom>
          <a:noFill/>
        </p:spPr>
        <p:txBody>
          <a:bodyPr wrap="square" rtlCol="0">
            <a:spAutoFit/>
          </a:bodyPr>
          <a:lstStyle/>
          <a:p>
            <a:r>
              <a:rPr lang="en-AU" dirty="0" smtClean="0"/>
              <a:t>What is a Simple Random Sample?</a:t>
            </a:r>
            <a:endParaRPr lang="en-AU" dirty="0"/>
          </a:p>
        </p:txBody>
      </p:sp>
      <p:sp>
        <p:nvSpPr>
          <p:cNvPr id="15" name="TextBox 14"/>
          <p:cNvSpPr txBox="1"/>
          <p:nvPr/>
        </p:nvSpPr>
        <p:spPr>
          <a:xfrm>
            <a:off x="2807296" y="4221088"/>
            <a:ext cx="6336704" cy="1477328"/>
          </a:xfrm>
          <a:prstGeom prst="rect">
            <a:avLst/>
          </a:prstGeom>
          <a:noFill/>
        </p:spPr>
        <p:txBody>
          <a:bodyPr wrap="square" rtlCol="0">
            <a:spAutoFit/>
          </a:bodyPr>
          <a:lstStyle/>
          <a:p>
            <a:r>
              <a:rPr lang="en-AU" dirty="0" smtClean="0"/>
              <a:t>A</a:t>
            </a:r>
            <a:r>
              <a:rPr lang="en-AU" dirty="0" smtClean="0"/>
              <a:t> </a:t>
            </a:r>
            <a:r>
              <a:rPr lang="en-AU" b="1" dirty="0" smtClean="0"/>
              <a:t>simple random sample</a:t>
            </a:r>
            <a:r>
              <a:rPr lang="en-AU" dirty="0" smtClean="0"/>
              <a:t> is a subset of individuals (a sample) chosen from a larger set (a population). Each individual is chosen randomly and entirely by chance, such that each individual has the same probability of being chosen at any stage during the sampling </a:t>
            </a:r>
            <a:r>
              <a:rPr lang="en-AU" dirty="0" smtClean="0"/>
              <a:t>process.</a:t>
            </a:r>
            <a:endParaRPr lang="en-AU" dirty="0"/>
          </a:p>
        </p:txBody>
      </p:sp>
    </p:spTree>
    <p:extLst>
      <p:ext uri="{BB962C8B-B14F-4D97-AF65-F5344CB8AC3E}">
        <p14:creationId xmlns="" xmlns:p14="http://schemas.microsoft.com/office/powerpoint/2010/main" val="18721625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Task</a:t>
            </a:r>
            <a:endParaRPr lang="en-AU" dirty="0"/>
          </a:p>
        </p:txBody>
      </p:sp>
      <p:sp>
        <p:nvSpPr>
          <p:cNvPr id="5" name="TextBox 4"/>
          <p:cNvSpPr txBox="1"/>
          <p:nvPr/>
        </p:nvSpPr>
        <p:spPr>
          <a:xfrm>
            <a:off x="467544" y="1196752"/>
            <a:ext cx="8424936" cy="5632311"/>
          </a:xfrm>
          <a:prstGeom prst="rect">
            <a:avLst/>
          </a:prstGeom>
          <a:noFill/>
        </p:spPr>
        <p:txBody>
          <a:bodyPr wrap="square" rtlCol="0">
            <a:spAutoFit/>
          </a:bodyPr>
          <a:lstStyle/>
          <a:p>
            <a:pPr marL="342900" indent="-342900">
              <a:buFont typeface="+mj-lt"/>
              <a:buAutoNum type="arabicPeriod"/>
            </a:pPr>
            <a:r>
              <a:rPr lang="en-AU" dirty="0" smtClean="0"/>
              <a:t>Consider the students in your class as the population and suppose they are seated in four rows of 10 students each. To select a sample, you toss a coin. If it comes up heads, you use the 20 students sitting in the first two rows as your sample. If it comes up tails, you use the 20 students sitting in the last two rows as your sample.</a:t>
            </a:r>
          </a:p>
          <a:p>
            <a:pPr marL="342900" indent="-342900">
              <a:buAutoNum type="alphaLcParenR"/>
            </a:pPr>
            <a:r>
              <a:rPr lang="en-AU" dirty="0" smtClean="0"/>
              <a:t>Does every student have an equal chance of being selected for the sample? Explain.</a:t>
            </a:r>
          </a:p>
          <a:p>
            <a:pPr marL="342900" indent="-342900">
              <a:buAutoNum type="alphaLcParenR"/>
            </a:pPr>
            <a:r>
              <a:rPr lang="en-AU" dirty="0" smtClean="0"/>
              <a:t>Is it possible to include students sitting in row 3 with students sitting in row 2 in your sample? Is your sample random? Explain.</a:t>
            </a:r>
          </a:p>
          <a:p>
            <a:pPr marL="342900" indent="-342900">
              <a:buAutoNum type="alphaLcParenR"/>
            </a:pPr>
            <a:r>
              <a:rPr lang="en-AU" dirty="0" smtClean="0"/>
              <a:t>Describe a process you could use to get a simple random sample size of 20 from a class of 40.</a:t>
            </a:r>
          </a:p>
          <a:p>
            <a:pPr marL="342900" indent="-342900">
              <a:buAutoNum type="alphaLcParenR"/>
            </a:pPr>
            <a:endParaRPr lang="en-AU" dirty="0" smtClean="0"/>
          </a:p>
          <a:p>
            <a:pPr marL="342900" indent="-342900">
              <a:buAutoNum type="arabicPeriod" startAt="2"/>
            </a:pPr>
            <a:r>
              <a:rPr lang="en-AU" dirty="0" smtClean="0"/>
              <a:t>Suppose you are assigned the number 1, and each other student in your class calls out consecutive numbers until each person has his or her own number. Explain how you could get a random sample of four students from your class.</a:t>
            </a:r>
          </a:p>
          <a:p>
            <a:pPr marL="342900" indent="-342900">
              <a:buAutoNum type="alphaLcParenR"/>
            </a:pPr>
            <a:r>
              <a:rPr lang="en-AU" dirty="0" smtClean="0"/>
              <a:t>Explain why the first four students walking into the classroom would not necessarily form a random sample.</a:t>
            </a:r>
          </a:p>
          <a:p>
            <a:pPr marL="342900" indent="-342900">
              <a:buAutoNum type="alphaLcParenR"/>
            </a:pPr>
            <a:r>
              <a:rPr lang="en-AU" dirty="0" smtClean="0"/>
              <a:t>Explain why </a:t>
            </a:r>
            <a:r>
              <a:rPr lang="en-AU" dirty="0" smtClean="0"/>
              <a:t>four </a:t>
            </a:r>
            <a:r>
              <a:rPr lang="en-AU" dirty="0" smtClean="0"/>
              <a:t>students walking </a:t>
            </a:r>
            <a:r>
              <a:rPr lang="en-AU" dirty="0" smtClean="0"/>
              <a:t>in late would </a:t>
            </a:r>
            <a:r>
              <a:rPr lang="en-AU" dirty="0" smtClean="0"/>
              <a:t>not necessarily form a random sample</a:t>
            </a:r>
            <a:r>
              <a:rPr lang="en-AU" dirty="0" smtClean="0"/>
              <a:t>.</a:t>
            </a:r>
          </a:p>
          <a:p>
            <a:pPr marL="342900" indent="-342900">
              <a:buAutoNum type="alphaLcParenR"/>
            </a:pPr>
            <a:endParaRPr lang="en-AU" dirty="0" smtClean="0"/>
          </a:p>
          <a:p>
            <a:pPr marL="342900" indent="-342900"/>
            <a:r>
              <a:rPr lang="en-AU" dirty="0" smtClean="0"/>
              <a:t>3.	Discuss with your partner, different ways of getting random samples from various populations. Write three ways down and be prepared to share them with the class.</a:t>
            </a:r>
            <a:endParaRPr lang="en-AU" dirty="0"/>
          </a:p>
        </p:txBody>
      </p:sp>
    </p:spTree>
    <p:extLst>
      <p:ext uri="{BB962C8B-B14F-4D97-AF65-F5344CB8AC3E}">
        <p14:creationId xmlns="" xmlns:p14="http://schemas.microsoft.com/office/powerpoint/2010/main" val="17093192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Notes Review</a:t>
            </a:r>
            <a:endParaRPr lang="en-AU" dirty="0"/>
          </a:p>
        </p:txBody>
      </p:sp>
      <p:sp>
        <p:nvSpPr>
          <p:cNvPr id="3" name="Content Placeholder 2"/>
          <p:cNvSpPr>
            <a:spLocks noGrp="1"/>
          </p:cNvSpPr>
          <p:nvPr>
            <p:ph idx="1"/>
          </p:nvPr>
        </p:nvSpPr>
        <p:spPr/>
        <p:txBody>
          <a:bodyPr>
            <a:normAutofit fontScale="92500" lnSpcReduction="20000"/>
          </a:bodyPr>
          <a:lstStyle/>
          <a:p>
            <a:r>
              <a:rPr lang="en-AU" dirty="0" smtClean="0"/>
              <a:t>24, 7 ,30</a:t>
            </a:r>
          </a:p>
          <a:p>
            <a:r>
              <a:rPr lang="en-AU" dirty="0" smtClean="0"/>
              <a:t>Date</a:t>
            </a:r>
          </a:p>
          <a:p>
            <a:r>
              <a:rPr lang="en-AU" dirty="0" smtClean="0"/>
              <a:t>Title</a:t>
            </a:r>
          </a:p>
          <a:p>
            <a:r>
              <a:rPr lang="en-AU" dirty="0" smtClean="0"/>
              <a:t>Essential question</a:t>
            </a:r>
          </a:p>
          <a:p>
            <a:r>
              <a:rPr lang="en-AU" dirty="0" smtClean="0"/>
              <a:t>Notes complete </a:t>
            </a:r>
          </a:p>
          <a:p>
            <a:r>
              <a:rPr lang="en-AU" dirty="0" smtClean="0"/>
              <a:t>Notes complete with colour and diagrams</a:t>
            </a:r>
          </a:p>
          <a:p>
            <a:r>
              <a:rPr lang="en-AU" dirty="0" smtClean="0"/>
              <a:t>Questions completed</a:t>
            </a:r>
          </a:p>
          <a:p>
            <a:r>
              <a:rPr lang="en-AU" dirty="0" smtClean="0"/>
              <a:t>Contents page filed in</a:t>
            </a:r>
          </a:p>
          <a:p>
            <a:r>
              <a:rPr lang="en-AU" dirty="0" smtClean="0"/>
              <a:t>Formula page filled in</a:t>
            </a:r>
          </a:p>
          <a:p>
            <a:pPr marL="0" indent="0">
              <a:buNone/>
            </a:pPr>
            <a:endParaRPr lang="en-AU" dirty="0" smtClean="0"/>
          </a:p>
          <a:p>
            <a:endParaRPr lang="en-AU" dirty="0" smtClean="0"/>
          </a:p>
        </p:txBody>
      </p:sp>
    </p:spTree>
    <p:extLst>
      <p:ext uri="{BB962C8B-B14F-4D97-AF65-F5344CB8AC3E}">
        <p14:creationId xmlns="" xmlns:p14="http://schemas.microsoft.com/office/powerpoint/2010/main" val="30699218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Homework</a:t>
            </a:r>
            <a:endParaRPr lang="en-AU" dirty="0"/>
          </a:p>
        </p:txBody>
      </p:sp>
      <p:sp>
        <p:nvSpPr>
          <p:cNvPr id="3" name="Content Placeholder 2"/>
          <p:cNvSpPr>
            <a:spLocks noGrp="1"/>
          </p:cNvSpPr>
          <p:nvPr>
            <p:ph idx="1"/>
          </p:nvPr>
        </p:nvSpPr>
        <p:spPr/>
        <p:txBody>
          <a:bodyPr/>
          <a:lstStyle/>
          <a:p>
            <a:r>
              <a:rPr lang="en-AU" dirty="0" smtClean="0"/>
              <a:t>Review your notes and write a summary answering the essential question. </a:t>
            </a:r>
            <a:endParaRPr lang="en-AU" dirty="0"/>
          </a:p>
        </p:txBody>
      </p:sp>
    </p:spTree>
    <p:extLst>
      <p:ext uri="{BB962C8B-B14F-4D97-AF65-F5344CB8AC3E}">
        <p14:creationId xmlns="" xmlns:p14="http://schemas.microsoft.com/office/powerpoint/2010/main" val="763422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1479</TotalTime>
  <Words>982</Words>
  <Application>Microsoft Office PowerPoint</Application>
  <PresentationFormat>On-screen Show (4:3)</PresentationFormat>
  <Paragraphs>184</Paragraphs>
  <Slides>15</Slides>
  <Notes>1</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My Statistics Interactive Notebook</vt:lpstr>
      <vt:lpstr>Create your own front page</vt:lpstr>
      <vt:lpstr>Slide 3</vt:lpstr>
      <vt:lpstr>Slide 4</vt:lpstr>
      <vt:lpstr>Slide 5</vt:lpstr>
      <vt:lpstr>Slide 6</vt:lpstr>
      <vt:lpstr>Slide 7</vt:lpstr>
      <vt:lpstr>Slide 8</vt:lpstr>
      <vt:lpstr>Slide 9</vt:lpstr>
      <vt:lpstr>Slide 10</vt:lpstr>
      <vt:lpstr>Slide 11</vt:lpstr>
      <vt:lpstr>Slide 12</vt:lpstr>
      <vt:lpstr>Task</vt:lpstr>
      <vt:lpstr>Notes Review</vt:lpstr>
      <vt:lpstr>Homework</vt:lpstr>
    </vt:vector>
  </TitlesOfParts>
  <Company>The Department of Education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Venn Diagrams</dc:title>
  <dc:creator>RUST Joanne</dc:creator>
  <cp:lastModifiedBy>Clem</cp:lastModifiedBy>
  <cp:revision>119</cp:revision>
  <dcterms:created xsi:type="dcterms:W3CDTF">2014-05-14T02:58:57Z</dcterms:created>
  <dcterms:modified xsi:type="dcterms:W3CDTF">2015-03-22T03:28:13Z</dcterms:modified>
</cp:coreProperties>
</file>
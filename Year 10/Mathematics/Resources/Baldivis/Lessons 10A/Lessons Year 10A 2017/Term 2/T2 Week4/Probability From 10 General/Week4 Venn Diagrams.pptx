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57" r:id="rId4"/>
    <p:sldId id="258" r:id="rId5"/>
    <p:sldId id="270" r:id="rId6"/>
    <p:sldId id="260" r:id="rId7"/>
    <p:sldId id="268" r:id="rId8"/>
    <p:sldId id="269" r:id="rId9"/>
    <p:sldId id="271" r:id="rId10"/>
    <p:sldId id="267" r:id="rId11"/>
    <p:sldId id="26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43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385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44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17/05/2017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On the left side of your note book answer. simplify the following –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lang="en-AU" dirty="0"/>
                  <a:t> 		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r>
                  <a:rPr lang="en-AU" dirty="0"/>
                  <a:t> 			c.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d. Change a, b &amp; c to a percentage</a:t>
                </a:r>
              </a:p>
              <a:p>
                <a:pPr marL="0" indent="0">
                  <a:buNone/>
                </a:pPr>
                <a:r>
                  <a:rPr lang="en-AU" dirty="0"/>
                  <a:t>e. Change a, b &amp; c to a decimal</a:t>
                </a:r>
              </a:p>
              <a:p>
                <a:pPr marL="0" indent="0">
                  <a:buNone/>
                </a:pPr>
                <a:r>
                  <a:rPr lang="en-AU" dirty="0"/>
                  <a:t>f. Show where they sit on the </a:t>
                </a:r>
                <a:r>
                  <a:rPr lang="en-AU"/>
                  <a:t>probability scale.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using Venn Diagrams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Use </a:t>
            </a:r>
            <a:r>
              <a:rPr lang="en-AU" dirty="0" err="1"/>
              <a:t>venn</a:t>
            </a:r>
            <a:r>
              <a:rPr lang="en-AU" dirty="0"/>
              <a:t> diagrams to calculate probability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using Venn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0560" y="2123898"/>
            <a:ext cx="57299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Some of the common terms used with Venn Diagrams</a:t>
            </a:r>
          </a:p>
          <a:p>
            <a:endParaRPr lang="en-A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Universal set – all possible outcomes/sample space</a:t>
            </a:r>
            <a:br>
              <a:rPr lang="en-AU" sz="1600" dirty="0"/>
            </a:br>
            <a:endParaRPr lang="en-A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Set – Collection of similar items</a:t>
            </a:r>
            <a:br>
              <a:rPr lang="en-AU" sz="1600" dirty="0"/>
            </a:br>
            <a:endParaRPr lang="en-A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Intersection (symbol </a:t>
            </a:r>
            <a: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∩) </a:t>
            </a: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common elements in two or more sets</a:t>
            </a:r>
            <a:b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A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ea typeface="Cambria Math" panose="02040503050406030204" pitchFamily="18" charset="0"/>
              </a:rPr>
              <a:t>Union (symbol </a:t>
            </a:r>
            <a: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∪) </a:t>
            </a: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combined elements of sets</a:t>
            </a:r>
            <a:b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A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Compliment (symbol </a:t>
            </a:r>
            <a: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‘) </a:t>
            </a:r>
            <a:r>
              <a:rPr lang="en-AU" sz="1600" dirty="0" err="1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eg</a:t>
            </a: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. A’ is everything that is not in set A</a:t>
            </a:r>
            <a:b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A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Subset (symbol </a:t>
            </a:r>
            <a: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⊂ ) </a:t>
            </a: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 smaller set within a larger set</a:t>
            </a:r>
            <a:br>
              <a:rPr lang="en-AU" sz="16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A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Disjoint set – sets that have nothing in common</a:t>
            </a:r>
            <a:endParaRPr lang="en-A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using Venn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04864"/>
            <a:ext cx="58915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en-AU" dirty="0"/>
              <a:t>Union is everything in </a:t>
            </a:r>
            <a:r>
              <a:rPr lang="en-AU" dirty="0">
                <a:solidFill>
                  <a:schemeClr val="accent3">
                    <a:lumMod val="50000"/>
                  </a:schemeClr>
                </a:solidFill>
              </a:rPr>
              <a:t>‘Set A’ </a:t>
            </a:r>
            <a:r>
              <a:rPr lang="en-AU" dirty="0"/>
              <a:t>and</a:t>
            </a:r>
            <a:r>
              <a:rPr lang="en-AU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AU" dirty="0">
                <a:solidFill>
                  <a:srgbClr val="CC3300"/>
                </a:solidFill>
              </a:rPr>
              <a:t>‘Set B’</a:t>
            </a:r>
          </a:p>
          <a:p>
            <a:r>
              <a:rPr lang="en-AU" dirty="0"/>
              <a:t>Compliment A’ is everything not in Set A</a:t>
            </a:r>
          </a:p>
          <a:p>
            <a:r>
              <a:rPr lang="en-AU" dirty="0">
                <a:solidFill>
                  <a:schemeClr val="accent5">
                    <a:lumMod val="75000"/>
                  </a:schemeClr>
                </a:solidFill>
              </a:rPr>
              <a:t>Subset</a:t>
            </a:r>
          </a:p>
          <a:p>
            <a:r>
              <a:rPr lang="en-AU" dirty="0">
                <a:solidFill>
                  <a:schemeClr val="accent2">
                    <a:lumMod val="75000"/>
                  </a:schemeClr>
                </a:solidFill>
              </a:rPr>
              <a:t>Disjoint</a:t>
            </a:r>
          </a:p>
          <a:p>
            <a:endParaRPr lang="en-AU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35896" y="2636912"/>
            <a:ext cx="4104456" cy="22322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5413715" y="3242151"/>
            <a:ext cx="1444783" cy="1417004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4340217" y="3281710"/>
            <a:ext cx="1482528" cy="1398927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4730386" y="3397612"/>
            <a:ext cx="66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Set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9145" y="3397612"/>
            <a:ext cx="774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Set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8044" y="268129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Universal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2100" y="3774524"/>
            <a:ext cx="21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∩</a:t>
            </a:r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4730386" y="3981173"/>
            <a:ext cx="331169" cy="31192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3923928" y="2996952"/>
            <a:ext cx="416289" cy="4006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8" grpId="0" animBg="1"/>
      <p:bldP spid="13" grpId="0"/>
      <p:bldP spid="15" grpId="0"/>
      <p:bldP spid="17" grpId="0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with Venn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5688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1 – Roll of a Die</a:t>
            </a:r>
          </a:p>
          <a:p>
            <a:endParaRPr lang="en-AU" dirty="0"/>
          </a:p>
          <a:p>
            <a:r>
              <a:rPr lang="en-AU" dirty="0"/>
              <a:t>Universal Set – 1, 2, 3, 4, 5, 6</a:t>
            </a:r>
          </a:p>
          <a:p>
            <a:r>
              <a:rPr lang="en-AU" dirty="0"/>
              <a:t>Set A [</a:t>
            </a:r>
            <a:r>
              <a:rPr lang="en-AU" i="1" dirty="0"/>
              <a:t>Even numbers</a:t>
            </a:r>
            <a:r>
              <a:rPr lang="en-AU" dirty="0"/>
              <a:t>] – 2, 4, 6</a:t>
            </a:r>
          </a:p>
          <a:p>
            <a:r>
              <a:rPr lang="en-AU" dirty="0"/>
              <a:t>Set B [</a:t>
            </a:r>
            <a:r>
              <a:rPr lang="en-AU" i="1" dirty="0"/>
              <a:t>Multiples of 3</a:t>
            </a:r>
            <a:r>
              <a:rPr lang="en-AU" dirty="0"/>
              <a:t>] – 3, 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∩</a:t>
            </a:r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 = 6		A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  <a:cs typeface="Calibri" panose="020F0502020204030204" pitchFamily="34" charset="0"/>
              </a:rPr>
              <a:t>∪</a:t>
            </a:r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B = 2, 3, 4, 6</a:t>
            </a: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A’ = 1, 3, 5</a:t>
            </a:r>
            <a:endParaRPr lang="en-AU" dirty="0"/>
          </a:p>
          <a:p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3419872" y="4005064"/>
            <a:ext cx="4176464" cy="165618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4017735" y="4130151"/>
            <a:ext cx="1800200" cy="1512168"/>
          </a:xfrm>
          <a:prstGeom prst="ellips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5205867" y="4135311"/>
            <a:ext cx="1800200" cy="1512168"/>
          </a:xfrm>
          <a:prstGeom prst="ellipse">
            <a:avLst/>
          </a:prstGeom>
          <a:gradFill flip="none" rotWithShape="1">
            <a:gsLst>
              <a:gs pos="4000">
                <a:schemeClr val="accent6">
                  <a:tint val="50000"/>
                  <a:satMod val="300000"/>
                  <a:alpha val="9000"/>
                </a:schemeClr>
              </a:gs>
              <a:gs pos="46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4283968" y="465313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2    4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3958" y="4653136"/>
            <a:ext cx="77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0668" y="4679363"/>
            <a:ext cx="30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3888" y="4293096"/>
            <a:ext cx="377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  <a:p>
            <a:endParaRPr lang="en-AU" dirty="0"/>
          </a:p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with Venn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1840" y="2276872"/>
            <a:ext cx="56886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2 – Favourite Subjects</a:t>
            </a:r>
          </a:p>
          <a:p>
            <a:endParaRPr lang="en-AU" dirty="0"/>
          </a:p>
          <a:p>
            <a:r>
              <a:rPr lang="en-AU" dirty="0"/>
              <a:t>A class has 35 students. 22 students like PE; 18 like Science; 17 like Music. 6 Like all three; 8 like PE &amp; Science; 10 like PE &amp; Music; 12 like Science &amp; Music. 2 students don’t like any of the three.</a:t>
            </a:r>
          </a:p>
          <a:p>
            <a:endParaRPr lang="en-AU" dirty="0"/>
          </a:p>
          <a:p>
            <a:r>
              <a:rPr lang="en-AU" dirty="0"/>
              <a:t>How do you show this?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3460235" y="4509120"/>
            <a:ext cx="3848069" cy="2164214"/>
          </a:xfrm>
          <a:prstGeom prst="rect">
            <a:avLst/>
          </a:prstGeom>
          <a:gradFill>
            <a:gsLst>
              <a:gs pos="4000">
                <a:schemeClr val="accent1">
                  <a:lumMod val="40000"/>
                  <a:lumOff val="6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Oval 7"/>
          <p:cNvSpPr/>
          <p:nvPr/>
        </p:nvSpPr>
        <p:spPr>
          <a:xfrm>
            <a:off x="4380551" y="4539029"/>
            <a:ext cx="1512168" cy="1336302"/>
          </a:xfrm>
          <a:prstGeom prst="ellipse">
            <a:avLst/>
          </a:prstGeom>
          <a:gradFill flip="none" rotWithShape="1">
            <a:gsLst>
              <a:gs pos="32000">
                <a:schemeClr val="accent4">
                  <a:lumMod val="40000"/>
                  <a:lumOff val="60000"/>
                  <a:alpha val="44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2700000" scaled="1"/>
            <a:tileRect/>
          </a:gra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5244646" y="4525539"/>
            <a:ext cx="1463019" cy="1408452"/>
          </a:xfrm>
          <a:prstGeom prst="ellipse">
            <a:avLst/>
          </a:prstGeom>
          <a:gradFill flip="none" rotWithShape="1">
            <a:gsLst>
              <a:gs pos="30000">
                <a:schemeClr val="accent3">
                  <a:lumMod val="40000"/>
                  <a:lumOff val="60000"/>
                  <a:alpha val="8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81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/>
          <p:cNvSpPr/>
          <p:nvPr/>
        </p:nvSpPr>
        <p:spPr>
          <a:xfrm>
            <a:off x="4738546" y="5199511"/>
            <a:ext cx="1491313" cy="1378619"/>
          </a:xfrm>
          <a:prstGeom prst="ellipse">
            <a:avLst/>
          </a:prstGeom>
          <a:gradFill flip="none" rotWithShape="1">
            <a:gsLst>
              <a:gs pos="4000">
                <a:schemeClr val="accent2">
                  <a:lumMod val="40000"/>
                  <a:lumOff val="60000"/>
                  <a:alpha val="8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16200000" scaled="1"/>
            <a:tileRect/>
          </a:gra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5364088" y="537321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4088" y="486916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1633" y="5589240"/>
            <a:ext cx="277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6282" y="5517232"/>
            <a:ext cx="358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9034" y="4592271"/>
            <a:ext cx="375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2176" y="4592271"/>
            <a:ext cx="398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Sc</a:t>
            </a:r>
            <a:endParaRPr lang="en-A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214861" y="6304755"/>
            <a:ext cx="63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Music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05118"/>
            <a:ext cx="45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2740" y="4922512"/>
            <a:ext cx="29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0798" y="5958572"/>
            <a:ext cx="37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8397" y="6060811"/>
            <a:ext cx="367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19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68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Venn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probability with Venn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760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Whats</a:t>
            </a:r>
            <a:r>
              <a:rPr lang="en-AU" dirty="0"/>
              <a:t> the probability of choosing a student that likes music or science.</a:t>
            </a:r>
          </a:p>
          <a:p>
            <a:endParaRPr lang="en-AU" dirty="0"/>
          </a:p>
          <a:p>
            <a:r>
              <a:rPr lang="en-AU" dirty="0"/>
              <a:t>P(Music </a:t>
            </a:r>
            <a:r>
              <a:rPr lang="en-AU" dirty="0">
                <a:latin typeface="Cambria Math" panose="02040503050406030204" pitchFamily="18" charset="0"/>
                <a:ea typeface="Cambria Math" panose="02040503050406030204" pitchFamily="18" charset="0"/>
              </a:rPr>
              <a:t>or</a:t>
            </a:r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Science) = </a:t>
            </a:r>
            <a:r>
              <a:rPr lang="en-AU" u="sng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2+6+6+4+4+1</a:t>
            </a:r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en-AU" u="sng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23</a:t>
            </a: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                                      35            35</a:t>
            </a: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Likes PE only</a:t>
            </a:r>
          </a:p>
          <a:p>
            <a:endParaRPr lang="en-AU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P(PE only) = </a:t>
            </a:r>
            <a:r>
              <a:rPr lang="en-AU" u="sng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10</a:t>
            </a: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          35</a:t>
            </a:r>
          </a:p>
          <a:p>
            <a:endParaRPr lang="en-AU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Likes PE &amp; Science but not Music</a:t>
            </a:r>
          </a:p>
          <a:p>
            <a:endParaRPr lang="en-AU" dirty="0"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P(PE and Science not Music) = </a:t>
            </a:r>
            <a:r>
              <a:rPr lang="en-AU" u="sng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10+2+4</a:t>
            </a:r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= </a:t>
            </a:r>
            <a:r>
              <a:rPr lang="en-AU" u="sng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16</a:t>
            </a:r>
          </a:p>
          <a:p>
            <a:r>
              <a:rPr lang="en-AU" dirty="0"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                                                            35       35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719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7544" y="1412776"/>
            <a:ext cx="82809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Dwyer Page 108 Q1</a:t>
            </a:r>
          </a:p>
          <a:p>
            <a:endParaRPr lang="en-AU" dirty="0"/>
          </a:p>
          <a:p>
            <a:r>
              <a:rPr lang="en-AU" dirty="0"/>
              <a:t>How many ‘sets’ – 2</a:t>
            </a:r>
          </a:p>
          <a:p>
            <a:endParaRPr lang="en-AU" dirty="0"/>
          </a:p>
          <a:p>
            <a:r>
              <a:rPr lang="en-AU" dirty="0"/>
              <a:t>Drawn Venn diagram</a:t>
            </a:r>
          </a:p>
          <a:p>
            <a:endParaRPr lang="en-AU" dirty="0"/>
          </a:p>
          <a:p>
            <a:r>
              <a:rPr lang="en-AU" dirty="0"/>
              <a:t>				</a:t>
            </a:r>
            <a:r>
              <a:rPr lang="en-AU" dirty="0">
                <a:solidFill>
                  <a:schemeClr val="accent3">
                    <a:lumMod val="75000"/>
                  </a:schemeClr>
                </a:solidFill>
              </a:rPr>
              <a:t>Music</a:t>
            </a:r>
            <a:endParaRPr lang="en-AU" dirty="0"/>
          </a:p>
          <a:p>
            <a:r>
              <a:rPr lang="en-AU" dirty="0"/>
              <a:t>				</a:t>
            </a:r>
            <a:r>
              <a:rPr lang="en-AU" dirty="0">
                <a:solidFill>
                  <a:schemeClr val="accent6">
                    <a:lumMod val="75000"/>
                  </a:schemeClr>
                </a:solidFill>
              </a:rPr>
              <a:t>PE</a:t>
            </a:r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			P(PE &amp; Music) = </a:t>
            </a:r>
            <a:r>
              <a:rPr lang="en-AU" u="sng" dirty="0"/>
              <a:t> 4  </a:t>
            </a:r>
          </a:p>
          <a:p>
            <a:r>
              <a:rPr lang="en-AU" dirty="0"/>
              <a:t>					           25</a:t>
            </a:r>
          </a:p>
          <a:p>
            <a:endParaRPr lang="en-AU" dirty="0"/>
          </a:p>
          <a:p>
            <a:r>
              <a:rPr lang="en-AU" dirty="0"/>
              <a:t>				P(Music or PE) = </a:t>
            </a:r>
            <a:r>
              <a:rPr lang="en-AU" u="sng" dirty="0"/>
              <a:t>8+4+13</a:t>
            </a:r>
            <a:r>
              <a:rPr lang="en-AU" dirty="0"/>
              <a:t> = </a:t>
            </a:r>
            <a:r>
              <a:rPr lang="en-AU" u="sng" dirty="0"/>
              <a:t>25</a:t>
            </a:r>
          </a:p>
          <a:p>
            <a:r>
              <a:rPr lang="en-AU" dirty="0"/>
              <a:t>						25        25</a:t>
            </a:r>
          </a:p>
          <a:p>
            <a:endParaRPr lang="en-AU" dirty="0"/>
          </a:p>
          <a:p>
            <a:r>
              <a:rPr lang="en-AU" dirty="0"/>
              <a:t>P(not Music) = </a:t>
            </a:r>
            <a:r>
              <a:rPr lang="en-AU" u="sng" dirty="0"/>
              <a:t>13</a:t>
            </a:r>
            <a:r>
              <a:rPr lang="en-AU" dirty="0"/>
              <a:t>			P(PE given that Music) = </a:t>
            </a:r>
            <a:r>
              <a:rPr lang="en-AU" u="sng" dirty="0"/>
              <a:t> 4  </a:t>
            </a:r>
          </a:p>
          <a:p>
            <a:r>
              <a:rPr lang="en-AU" dirty="0"/>
              <a:t>                           25                                                                                  17</a:t>
            </a:r>
          </a:p>
          <a:p>
            <a:endParaRPr lang="en-AU" dirty="0"/>
          </a:p>
        </p:txBody>
      </p:sp>
      <p:grpSp>
        <p:nvGrpSpPr>
          <p:cNvPr id="10" name="Group 9"/>
          <p:cNvGrpSpPr/>
          <p:nvPr/>
        </p:nvGrpSpPr>
        <p:grpSpPr>
          <a:xfrm>
            <a:off x="611560" y="3068960"/>
            <a:ext cx="3240360" cy="2088232"/>
            <a:chOff x="611560" y="3068960"/>
            <a:chExt cx="3240360" cy="2088232"/>
          </a:xfrm>
        </p:grpSpPr>
        <p:sp>
          <p:nvSpPr>
            <p:cNvPr id="4" name="Rectangle 3"/>
            <p:cNvSpPr/>
            <p:nvPr/>
          </p:nvSpPr>
          <p:spPr>
            <a:xfrm>
              <a:off x="611560" y="3068960"/>
              <a:ext cx="3240360" cy="20882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Oval 4"/>
            <p:cNvSpPr/>
            <p:nvPr/>
          </p:nvSpPr>
          <p:spPr>
            <a:xfrm>
              <a:off x="785050" y="3287452"/>
              <a:ext cx="1512168" cy="1590612"/>
            </a:xfrm>
            <a:prstGeom prst="ellipse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Oval 5"/>
            <p:cNvSpPr/>
            <p:nvPr/>
          </p:nvSpPr>
          <p:spPr>
            <a:xfrm>
              <a:off x="1642616" y="3233393"/>
              <a:ext cx="1656184" cy="1590612"/>
            </a:xfrm>
            <a:prstGeom prst="ellipse">
              <a:avLst/>
            </a:prstGeom>
            <a:noFill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763688" y="3717032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441234" y="3717032"/>
              <a:ext cx="4745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13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1600" y="3717032"/>
              <a:ext cx="641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Dwyer Page 108</a:t>
            </a:r>
          </a:p>
          <a:p>
            <a:r>
              <a:rPr lang="en-AU" dirty="0"/>
              <a:t>Exercise 8.5 Questions 2 &amp; 3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456</Words>
  <Application>Microsoft Office PowerPoint</Application>
  <PresentationFormat>On-screen Show (4:3)</PresentationFormat>
  <Paragraphs>186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26</cp:revision>
  <dcterms:created xsi:type="dcterms:W3CDTF">2016-10-20T03:14:06Z</dcterms:created>
  <dcterms:modified xsi:type="dcterms:W3CDTF">2017-05-17T13:57:13Z</dcterms:modified>
</cp:coreProperties>
</file>
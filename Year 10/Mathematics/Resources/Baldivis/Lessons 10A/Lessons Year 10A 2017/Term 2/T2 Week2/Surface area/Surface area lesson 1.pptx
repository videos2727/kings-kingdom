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0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8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30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879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02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26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81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85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42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16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831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062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67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BD15C-F8FD-43D9-8065-62F102592F4A}" type="datetimeFigureOut">
              <a:rPr lang="en-AU" smtClean="0"/>
              <a:t>3/05/2017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6D16E-73C0-4433-9150-4FE4E89056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1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AU" dirty="0" smtClean="0">
                <a:solidFill>
                  <a:srgbClr val="FFC000"/>
                </a:solidFill>
                <a:latin typeface="Bodoni MT Black" panose="02070A03080606020203" pitchFamily="18" charset="0"/>
              </a:rPr>
              <a:t>Wrapping Presents</a:t>
            </a:r>
            <a:endParaRPr lang="en-AU" dirty="0">
              <a:solidFill>
                <a:srgbClr val="FFC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A box needs to have wrapping paper glued to the sides to make it look pretty for a present.</a:t>
            </a:r>
          </a:p>
          <a:p>
            <a:pPr marL="0" indent="0">
              <a:buNone/>
            </a:pPr>
            <a:r>
              <a:rPr lang="en-AU" dirty="0"/>
              <a:t>T</a:t>
            </a:r>
            <a:r>
              <a:rPr lang="en-AU" dirty="0" smtClean="0"/>
              <a:t>he dimensions of the box 10cm by 30cm by 20cm. 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How could we work out how much paper is needed to wrap the box?</a:t>
            </a:r>
          </a:p>
        </p:txBody>
      </p:sp>
      <p:pic>
        <p:nvPicPr>
          <p:cNvPr id="1026" name="Picture 2" descr="C:\Users\e4075868\AppData\Local\Microsoft\Windows\Temporary Internet Files\Content.IE5\4JPRA91W\large-Birthday-Gift-0-4953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68" y="286170"/>
            <a:ext cx="1080120" cy="106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e4075868\AppData\Local\Microsoft\Windows\Temporary Internet Files\Content.IE5\4JPRA91W\large-Birthday-Gift-0-4953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028" y="5301208"/>
            <a:ext cx="1080120" cy="106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801ZEEM\large-Birthday-Gift-33.3-4953[1]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26" y="5328948"/>
            <a:ext cx="1052053" cy="103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e4075868\AppData\Local\Microsoft\Windows\Temporary Internet Files\Content.IE5\J801ZEEM\large-Birthday-Gift-33.3-4953[1]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920" y="286170"/>
            <a:ext cx="1080120" cy="106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801ZEEM\Gift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7" y="4878945"/>
            <a:ext cx="1737543" cy="197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85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5649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EQ: How do you calculate the surface area of 3D objects?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871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1692275" y="476250"/>
            <a:ext cx="6119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Summary of formulae in this section</a:t>
            </a:r>
          </a:p>
        </p:txBody>
      </p:sp>
      <p:graphicFrame>
        <p:nvGraphicFramePr>
          <p:cNvPr id="44070" name="Group 38"/>
          <p:cNvGraphicFramePr>
            <a:graphicFrameLocks noGrp="1"/>
          </p:cNvGraphicFramePr>
          <p:nvPr/>
        </p:nvGraphicFramePr>
        <p:xfrm>
          <a:off x="1524000" y="1052513"/>
          <a:ext cx="7296150" cy="5594705"/>
        </p:xfrm>
        <a:graphic>
          <a:graphicData uri="http://schemas.openxmlformats.org/drawingml/2006/table">
            <a:tbl>
              <a:tblPr/>
              <a:tblGrid>
                <a:gridCol w="1895475"/>
                <a:gridCol w="5400675"/>
              </a:tblGrid>
              <a:tr h="6619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Shape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TSA Formula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9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charset="0"/>
                        </a:rPr>
                        <a:t>Prisms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charset="0"/>
                        </a:rPr>
                        <a:t>TSA = total area of all faces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Rectangular Prism: 6 faces (if closed)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Triangular Prism: 5 faces (if closed)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</a:rPr>
                        <a:t>Cylinders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</a:rPr>
                        <a:t>TSA = 2 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 h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(for the curved wall)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+ 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</a:t>
                      </a:r>
                      <a:r>
                        <a:rPr kumimoji="0" lang="en-AU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2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for each circular end if there is one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</a:rPr>
                        <a:t>Spheres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</a:rPr>
                        <a:t>TSA = 4 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</a:t>
                      </a:r>
                      <a:r>
                        <a:rPr kumimoji="0" lang="en-AU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2112EA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2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2112EA"/>
                        </a:solidFill>
                        <a:effectLst/>
                        <a:latin typeface="Times New Roman" charset="0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</a:rPr>
                        <a:t>Cones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</a:rPr>
                        <a:t>TSA = 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 r L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(for the curved wall)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+  r</a:t>
                      </a:r>
                      <a:r>
                        <a:rPr kumimoji="0" lang="en-AU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ED0F0F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2</a:t>
                      </a: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 </a:t>
                      </a: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sym typeface="Symbol" pitchFamily="18" charset="2"/>
                        </a:rPr>
                        <a:t>for the circular base if there is one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47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Pyramids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TSA = Base area + area of the triangular sides.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61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905000" y="9144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2.1: TSA of a rectangular prism or cube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590800" y="2438400"/>
            <a:ext cx="2514600" cy="10668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5814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altLang="en-US" sz="2400">
                <a:latin typeface="Times New Roman" charset="0"/>
              </a:rPr>
              <a:t>8m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5334000" y="3048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altLang="en-US" sz="2400">
                <a:latin typeface="Times New Roman" charset="0"/>
              </a:rPr>
              <a:t>7m</a:t>
            </a: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5715000" y="213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AU" altLang="en-US" sz="2400">
                <a:latin typeface="Times New Roman" charset="0"/>
              </a:rPr>
              <a:t>6m</a:t>
            </a:r>
          </a:p>
        </p:txBody>
      </p:sp>
    </p:spTree>
    <p:extLst>
      <p:ext uri="{BB962C8B-B14F-4D97-AF65-F5344CB8AC3E}">
        <p14:creationId xmlns:p14="http://schemas.microsoft.com/office/powerpoint/2010/main" val="230860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286000" y="6858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Cut the box up into its 6 faces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791200" y="1447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Front &amp; Back.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5867400" y="1828800"/>
            <a:ext cx="2971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2 of these, so SA 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= 2 </a:t>
            </a:r>
            <a:r>
              <a:rPr lang="en-AU" altLang="en-US" sz="2400">
                <a:latin typeface="Times New Roman" charset="0"/>
                <a:sym typeface="Symbol" pitchFamily="18" charset="2"/>
              </a:rPr>
              <a:t> 8  6 = </a:t>
            </a:r>
            <a:r>
              <a:rPr lang="en-AU" altLang="en-US" sz="36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96 m</a:t>
            </a:r>
            <a:r>
              <a:rPr lang="en-AU" altLang="en-US" sz="3600" baseline="30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2</a:t>
            </a:r>
            <a:endParaRPr lang="en-AU" altLang="en-US" sz="3600">
              <a:solidFill>
                <a:srgbClr val="D60093"/>
              </a:solidFill>
              <a:latin typeface="Times New Roman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1447800"/>
            <a:ext cx="3581400" cy="1066800"/>
            <a:chOff x="1296" y="2928"/>
            <a:chExt cx="1632" cy="672"/>
          </a:xfrm>
        </p:grpSpPr>
        <p:sp>
          <p:nvSpPr>
            <p:cNvPr id="22549" name="Text Box 3"/>
            <p:cNvSpPr txBox="1">
              <a:spLocks noChangeArrowheads="1"/>
            </p:cNvSpPr>
            <p:nvPr/>
          </p:nvSpPr>
          <p:spPr bwMode="auto">
            <a:xfrm>
              <a:off x="2496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AU" altLang="en-US" sz="2400">
                  <a:latin typeface="Times New Roman" charset="0"/>
                </a:rPr>
                <a:t>6m</a:t>
              </a:r>
            </a:p>
          </p:txBody>
        </p:sp>
        <p:sp>
          <p:nvSpPr>
            <p:cNvPr id="22550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1200" cy="57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51" name="Text Box 5"/>
            <p:cNvSpPr txBox="1">
              <a:spLocks noChangeArrowheads="1"/>
            </p:cNvSpPr>
            <p:nvPr/>
          </p:nvSpPr>
          <p:spPr bwMode="auto">
            <a:xfrm>
              <a:off x="1728" y="29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AU" altLang="en-US" sz="2400">
                  <a:latin typeface="Times New Roman" charset="0"/>
                </a:rPr>
                <a:t>8m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905000" y="3124200"/>
            <a:ext cx="3124200" cy="1295400"/>
            <a:chOff x="1200" y="1968"/>
            <a:chExt cx="1968" cy="816"/>
          </a:xfrm>
        </p:grpSpPr>
        <p:sp>
          <p:nvSpPr>
            <p:cNvPr id="22546" name="Rectangle 9"/>
            <p:cNvSpPr>
              <a:spLocks noChangeArrowheads="1"/>
            </p:cNvSpPr>
            <p:nvPr/>
          </p:nvSpPr>
          <p:spPr bwMode="auto">
            <a:xfrm>
              <a:off x="1200" y="2064"/>
              <a:ext cx="1728" cy="720"/>
            </a:xfrm>
            <a:prstGeom prst="rect">
              <a:avLst/>
            </a:prstGeom>
            <a:solidFill>
              <a:srgbClr val="F5F6FD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47" name="Text Box 10"/>
            <p:cNvSpPr txBox="1">
              <a:spLocks noChangeArrowheads="1"/>
            </p:cNvSpPr>
            <p:nvPr/>
          </p:nvSpPr>
          <p:spPr bwMode="auto">
            <a:xfrm>
              <a:off x="1776" y="196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8m</a:t>
              </a:r>
            </a:p>
          </p:txBody>
        </p:sp>
        <p:sp>
          <p:nvSpPr>
            <p:cNvPr id="22548" name="Text Box 11"/>
            <p:cNvSpPr txBox="1">
              <a:spLocks noChangeArrowheads="1"/>
            </p:cNvSpPr>
            <p:nvPr/>
          </p:nvSpPr>
          <p:spPr bwMode="auto">
            <a:xfrm>
              <a:off x="2688" y="23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7m</a:t>
              </a:r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5867400" y="33528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"/>
              </a:spcBef>
            </a:pPr>
            <a:r>
              <a:rPr lang="en-AU" altLang="en-US" sz="2400">
                <a:latin typeface="Times New Roman" charset="0"/>
              </a:rPr>
              <a:t>Top &amp; Bottom.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562600" y="3657600"/>
            <a:ext cx="32766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AU" altLang="en-US" sz="2400">
                <a:latin typeface="Times New Roman" charset="0"/>
              </a:rPr>
              <a:t>2 of these, so SA </a:t>
            </a:r>
          </a:p>
          <a:p>
            <a:pPr eaLnBrk="1" hangingPunct="1">
              <a:lnSpc>
                <a:spcPct val="50000"/>
              </a:lnSpc>
              <a:spcBef>
                <a:spcPct val="25000"/>
              </a:spcBef>
            </a:pPr>
            <a:r>
              <a:rPr lang="en-AU" altLang="en-US" sz="2400">
                <a:latin typeface="Times New Roman" charset="0"/>
              </a:rPr>
              <a:t>= 2 </a:t>
            </a:r>
            <a:r>
              <a:rPr lang="en-AU" altLang="en-US" sz="2400">
                <a:latin typeface="Times New Roman" charset="0"/>
                <a:sym typeface="Symbol" pitchFamily="18" charset="2"/>
              </a:rPr>
              <a:t> 8  7 = </a:t>
            </a:r>
            <a:r>
              <a:rPr lang="en-AU" altLang="en-US" sz="3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112</a:t>
            </a:r>
            <a:r>
              <a:rPr lang="en-AU" altLang="en-US" sz="36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 m</a:t>
            </a:r>
            <a:r>
              <a:rPr lang="en-AU" altLang="en-US" sz="3600" baseline="30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2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05000" y="4876800"/>
            <a:ext cx="3048000" cy="1371600"/>
            <a:chOff x="1200" y="3072"/>
            <a:chExt cx="1920" cy="864"/>
          </a:xfrm>
        </p:grpSpPr>
        <p:sp>
          <p:nvSpPr>
            <p:cNvPr id="22543" name="Rectangle 14"/>
            <p:cNvSpPr>
              <a:spLocks noChangeArrowheads="1"/>
            </p:cNvSpPr>
            <p:nvPr/>
          </p:nvSpPr>
          <p:spPr bwMode="auto">
            <a:xfrm>
              <a:off x="1200" y="3312"/>
              <a:ext cx="1440" cy="624"/>
            </a:xfrm>
            <a:prstGeom prst="rect">
              <a:avLst/>
            </a:prstGeom>
            <a:solidFill>
              <a:srgbClr val="F36D5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/>
              <a:endParaRPr lang="en-AU" altLang="en-US" sz="2400">
                <a:solidFill>
                  <a:srgbClr val="F36D5F"/>
                </a:solidFill>
                <a:latin typeface="Times New Roman" charset="0"/>
              </a:endParaRPr>
            </a:p>
          </p:txBody>
        </p:sp>
        <p:sp>
          <p:nvSpPr>
            <p:cNvPr id="22544" name="Text Box 15"/>
            <p:cNvSpPr txBox="1">
              <a:spLocks noChangeArrowheads="1"/>
            </p:cNvSpPr>
            <p:nvPr/>
          </p:nvSpPr>
          <p:spPr bwMode="auto">
            <a:xfrm>
              <a:off x="1728" y="307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7m</a:t>
              </a:r>
            </a:p>
          </p:txBody>
        </p:sp>
        <p:sp>
          <p:nvSpPr>
            <p:cNvPr id="22545" name="Text Box 16"/>
            <p:cNvSpPr txBox="1">
              <a:spLocks noChangeArrowheads="1"/>
            </p:cNvSpPr>
            <p:nvPr/>
          </p:nvSpPr>
          <p:spPr bwMode="auto">
            <a:xfrm>
              <a:off x="2640" y="340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6m</a:t>
              </a:r>
            </a:p>
          </p:txBody>
        </p:sp>
      </p:grp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5867400" y="51054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0000"/>
              </a:spcBef>
            </a:pPr>
            <a:r>
              <a:rPr lang="en-AU" altLang="en-US" sz="2400">
                <a:latin typeface="Times New Roman" charset="0"/>
              </a:rPr>
              <a:t>Left &amp; right.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715000" y="5486400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0000"/>
              </a:spcBef>
            </a:pPr>
            <a:r>
              <a:rPr lang="en-AU" altLang="en-US" sz="2400">
                <a:latin typeface="Times New Roman" charset="0"/>
              </a:rPr>
              <a:t>2 of these, so SA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= 2 </a:t>
            </a:r>
            <a:r>
              <a:rPr lang="en-AU" altLang="en-US" sz="2400">
                <a:latin typeface="Times New Roman" charset="0"/>
                <a:sym typeface="Symbol" pitchFamily="18" charset="2"/>
              </a:rPr>
              <a:t> 6  7 = </a:t>
            </a:r>
            <a:r>
              <a:rPr lang="en-AU" altLang="en-US" sz="32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84m</a:t>
            </a:r>
            <a:r>
              <a:rPr lang="en-AU" altLang="en-US" sz="3200" baseline="30000">
                <a:solidFill>
                  <a:srgbClr val="D60093"/>
                </a:solidFill>
                <a:latin typeface="Times New Roman" charset="0"/>
                <a:sym typeface="Symbol" pitchFamily="18" charset="2"/>
              </a:rPr>
              <a:t>2</a:t>
            </a:r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1447800" y="31242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1600200" y="48006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124200" y="64008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TSA = 96 + 112 + 84 = 292m</a:t>
            </a:r>
            <a:r>
              <a:rPr lang="en-AU" altLang="en-US" sz="2400" baseline="30000">
                <a:solidFill>
                  <a:srgbClr val="0000FF"/>
                </a:solidFill>
                <a:latin typeface="Times New Roman" charset="0"/>
              </a:rPr>
              <a:t>2</a:t>
            </a:r>
            <a:endParaRPr lang="en-AU" altLang="en-US" sz="240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3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7" grpId="0" autoUpdateAnimBg="0"/>
      <p:bldP spid="15368" grpId="0" autoUpdateAnimBg="0"/>
      <p:bldP spid="15372" grpId="0" autoUpdateAnimBg="0"/>
      <p:bldP spid="15373" grpId="0" autoUpdateAnimBg="0"/>
      <p:bldP spid="15377" grpId="0" autoUpdateAnimBg="0"/>
      <p:bldP spid="15378" grpId="0" autoUpdateAnimBg="0"/>
      <p:bldP spid="15379" grpId="0" animBg="1"/>
      <p:bldP spid="15380" grpId="0" animBg="1"/>
      <p:bldP spid="1538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752600" y="4572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2.2: TSA of a Cylinder</a:t>
            </a: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2209800" y="4038600"/>
            <a:ext cx="1905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Closed both ends – 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3 surfaces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4419600" y="4038600"/>
            <a:ext cx="1905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Closed one end – 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2 surfaces</a:t>
            </a: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6705600" y="3962400"/>
            <a:ext cx="1905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Open both ends – 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1 surface</a:t>
            </a: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2286000" y="5562600"/>
            <a:ext cx="1752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>
                <a:solidFill>
                  <a:srgbClr val="CC0099"/>
                </a:solidFill>
                <a:latin typeface="Times New Roman" charset="0"/>
              </a:rPr>
              <a:t>1 curved wall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>
                <a:solidFill>
                  <a:srgbClr val="CC0099"/>
                </a:solidFill>
                <a:latin typeface="Times New Roman" charset="0"/>
              </a:rPr>
              <a:t>2 circles</a:t>
            </a:r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6705600" y="5562600"/>
            <a:ext cx="1752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>
                <a:solidFill>
                  <a:srgbClr val="CC0099"/>
                </a:solidFill>
                <a:latin typeface="Times New Roman" charset="0"/>
              </a:rPr>
              <a:t>The curved wall only</a:t>
            </a:r>
          </a:p>
          <a:p>
            <a:pPr eaLnBrk="1" hangingPunct="1">
              <a:spcBef>
                <a:spcPct val="50000"/>
              </a:spcBef>
            </a:pPr>
            <a:endParaRPr lang="en-AU" altLang="en-US">
              <a:solidFill>
                <a:srgbClr val="CC0099"/>
              </a:solidFill>
              <a:latin typeface="Times New Roman" charset="0"/>
            </a:endParaRPr>
          </a:p>
        </p:txBody>
      </p:sp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4343400" y="5562600"/>
            <a:ext cx="1752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>
                <a:solidFill>
                  <a:srgbClr val="CC0099"/>
                </a:solidFill>
                <a:latin typeface="Times New Roman" charset="0"/>
              </a:rPr>
              <a:t>1 curved wall</a:t>
            </a:r>
          </a:p>
          <a:p>
            <a:pPr eaLnBrk="1" hangingPunct="1">
              <a:spcBef>
                <a:spcPct val="50000"/>
              </a:spcBef>
            </a:pPr>
            <a:r>
              <a:rPr lang="en-AU" altLang="en-US">
                <a:solidFill>
                  <a:srgbClr val="CC0099"/>
                </a:solidFill>
                <a:latin typeface="Times New Roman" charset="0"/>
              </a:rPr>
              <a:t>1 circle</a:t>
            </a:r>
          </a:p>
        </p:txBody>
      </p:sp>
      <p:sp>
        <p:nvSpPr>
          <p:cNvPr id="16409" name="Line 25"/>
          <p:cNvSpPr>
            <a:spLocks noChangeShapeType="1"/>
          </p:cNvSpPr>
          <p:nvPr/>
        </p:nvSpPr>
        <p:spPr bwMode="auto">
          <a:xfrm>
            <a:off x="4038600" y="1143000"/>
            <a:ext cx="0" cy="5410200"/>
          </a:xfrm>
          <a:prstGeom prst="line">
            <a:avLst/>
          </a:prstGeom>
          <a:noFill/>
          <a:ln w="57150">
            <a:solidFill>
              <a:srgbClr val="ED0F0F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16410" name="Line 26"/>
          <p:cNvSpPr>
            <a:spLocks noChangeShapeType="1"/>
          </p:cNvSpPr>
          <p:nvPr/>
        </p:nvSpPr>
        <p:spPr bwMode="auto">
          <a:xfrm>
            <a:off x="6324600" y="1219200"/>
            <a:ext cx="0" cy="5410200"/>
          </a:xfrm>
          <a:prstGeom prst="line">
            <a:avLst/>
          </a:prstGeom>
          <a:noFill/>
          <a:ln w="57150">
            <a:solidFill>
              <a:srgbClr val="ED0F0F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6629400" y="1266825"/>
            <a:ext cx="2286000" cy="2238375"/>
            <a:chOff x="4176" y="798"/>
            <a:chExt cx="1440" cy="1410"/>
          </a:xfrm>
        </p:grpSpPr>
        <p:sp>
          <p:nvSpPr>
            <p:cNvPr id="23580" name="Line 14"/>
            <p:cNvSpPr>
              <a:spLocks noChangeShapeType="1"/>
            </p:cNvSpPr>
            <p:nvPr/>
          </p:nvSpPr>
          <p:spPr bwMode="auto">
            <a:xfrm>
              <a:off x="5184" y="960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3581" name="Text Box 29"/>
            <p:cNvSpPr txBox="1">
              <a:spLocks noChangeArrowheads="1"/>
            </p:cNvSpPr>
            <p:nvPr/>
          </p:nvSpPr>
          <p:spPr bwMode="auto">
            <a:xfrm>
              <a:off x="4512" y="139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N</a:t>
              </a:r>
              <a:r>
                <a:rPr lang="en-AU" altLang="en-US" sz="2400" baseline="30000">
                  <a:latin typeface="Times New Roman" charset="0"/>
                </a:rPr>
                <a:t>o </a:t>
              </a:r>
              <a:r>
                <a:rPr lang="en-AU" altLang="en-US" sz="2400">
                  <a:latin typeface="Times New Roman" charset="0"/>
                </a:rPr>
                <a:t>3</a:t>
              </a:r>
            </a:p>
          </p:txBody>
        </p:sp>
        <p:sp>
          <p:nvSpPr>
            <p:cNvPr id="23582" name="Oval 11"/>
            <p:cNvSpPr>
              <a:spLocks noChangeArrowheads="1"/>
            </p:cNvSpPr>
            <p:nvPr/>
          </p:nvSpPr>
          <p:spPr bwMode="auto">
            <a:xfrm>
              <a:off x="4176" y="912"/>
              <a:ext cx="1008" cy="144"/>
            </a:xfrm>
            <a:prstGeom prst="ellips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3" name="Oval 12"/>
            <p:cNvSpPr>
              <a:spLocks noChangeArrowheads="1"/>
            </p:cNvSpPr>
            <p:nvPr/>
          </p:nvSpPr>
          <p:spPr bwMode="auto">
            <a:xfrm>
              <a:off x="4176" y="2064"/>
              <a:ext cx="1008" cy="144"/>
            </a:xfrm>
            <a:prstGeom prst="ellips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84" name="Line 13"/>
            <p:cNvSpPr>
              <a:spLocks noChangeShapeType="1"/>
            </p:cNvSpPr>
            <p:nvPr/>
          </p:nvSpPr>
          <p:spPr bwMode="auto">
            <a:xfrm>
              <a:off x="4176" y="960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3585" name="Text Box 30"/>
            <p:cNvSpPr txBox="1">
              <a:spLocks noChangeArrowheads="1"/>
            </p:cNvSpPr>
            <p:nvPr/>
          </p:nvSpPr>
          <p:spPr bwMode="auto">
            <a:xfrm>
              <a:off x="5232" y="139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h</a:t>
              </a:r>
            </a:p>
          </p:txBody>
        </p:sp>
        <p:sp>
          <p:nvSpPr>
            <p:cNvPr id="23586" name="Line 31"/>
            <p:cNvSpPr>
              <a:spLocks noChangeShapeType="1"/>
            </p:cNvSpPr>
            <p:nvPr/>
          </p:nvSpPr>
          <p:spPr bwMode="auto">
            <a:xfrm>
              <a:off x="5280" y="960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3587" name="Text Box 32"/>
            <p:cNvSpPr txBox="1">
              <a:spLocks noChangeArrowheads="1"/>
            </p:cNvSpPr>
            <p:nvPr/>
          </p:nvSpPr>
          <p:spPr bwMode="auto">
            <a:xfrm>
              <a:off x="4842" y="79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r</a:t>
              </a:r>
            </a:p>
          </p:txBody>
        </p:sp>
        <p:sp>
          <p:nvSpPr>
            <p:cNvPr id="23588" name="Line 33"/>
            <p:cNvSpPr>
              <a:spLocks noChangeShapeType="1"/>
            </p:cNvSpPr>
            <p:nvPr/>
          </p:nvSpPr>
          <p:spPr bwMode="auto">
            <a:xfrm>
              <a:off x="4704" y="86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419600" y="1447800"/>
            <a:ext cx="1600200" cy="2133600"/>
            <a:chOff x="2784" y="912"/>
            <a:chExt cx="1008" cy="1344"/>
          </a:xfrm>
        </p:grpSpPr>
        <p:sp>
          <p:nvSpPr>
            <p:cNvPr id="23576" name="Oval 7"/>
            <p:cNvSpPr>
              <a:spLocks noChangeArrowheads="1"/>
            </p:cNvSpPr>
            <p:nvPr/>
          </p:nvSpPr>
          <p:spPr bwMode="auto">
            <a:xfrm>
              <a:off x="2784" y="2016"/>
              <a:ext cx="1008" cy="240"/>
            </a:xfrm>
            <a:prstGeom prst="ellipse">
              <a:avLst/>
            </a:prstGeom>
            <a:solidFill>
              <a:schemeClr val="accent1"/>
            </a:solidFill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7" name="Line 8"/>
            <p:cNvSpPr>
              <a:spLocks noChangeShapeType="1"/>
            </p:cNvSpPr>
            <p:nvPr/>
          </p:nvSpPr>
          <p:spPr bwMode="auto">
            <a:xfrm>
              <a:off x="2784" y="960"/>
              <a:ext cx="0" cy="115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3578" name="Line 9"/>
            <p:cNvSpPr>
              <a:spLocks noChangeShapeType="1"/>
            </p:cNvSpPr>
            <p:nvPr/>
          </p:nvSpPr>
          <p:spPr bwMode="auto">
            <a:xfrm>
              <a:off x="3792" y="960"/>
              <a:ext cx="0" cy="115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3579" name="Oval 10"/>
            <p:cNvSpPr>
              <a:spLocks noChangeArrowheads="1"/>
            </p:cNvSpPr>
            <p:nvPr/>
          </p:nvSpPr>
          <p:spPr bwMode="auto">
            <a:xfrm>
              <a:off x="2784" y="912"/>
              <a:ext cx="1008" cy="144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5029200" y="2286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N</a:t>
            </a:r>
            <a:r>
              <a:rPr lang="en-AU" altLang="en-US" sz="2400" baseline="30000">
                <a:latin typeface="Times New Roman" charset="0"/>
              </a:rPr>
              <a:t>o </a:t>
            </a:r>
            <a:r>
              <a:rPr lang="en-AU" altLang="en-US" sz="2400">
                <a:latin typeface="Times New Roman" charset="0"/>
              </a:rPr>
              <a:t>2</a:t>
            </a: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828800" y="1447800"/>
            <a:ext cx="1981200" cy="2133600"/>
            <a:chOff x="1152" y="912"/>
            <a:chExt cx="1248" cy="1344"/>
          </a:xfrm>
        </p:grpSpPr>
        <p:sp>
          <p:nvSpPr>
            <p:cNvPr id="23568" name="Text Box 27"/>
            <p:cNvSpPr txBox="1">
              <a:spLocks noChangeArrowheads="1"/>
            </p:cNvSpPr>
            <p:nvPr/>
          </p:nvSpPr>
          <p:spPr bwMode="auto">
            <a:xfrm>
              <a:off x="1776" y="144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N</a:t>
              </a:r>
              <a:r>
                <a:rPr lang="en-AU" altLang="en-US" sz="2400" baseline="30000">
                  <a:latin typeface="Times New Roman" charset="0"/>
                </a:rPr>
                <a:t>o </a:t>
              </a:r>
              <a:r>
                <a:rPr lang="en-AU" altLang="en-US" sz="2400">
                  <a:latin typeface="Times New Roman" charset="0"/>
                </a:rPr>
                <a:t>1</a:t>
              </a:r>
            </a:p>
          </p:txBody>
        </p:sp>
        <p:grpSp>
          <p:nvGrpSpPr>
            <p:cNvPr id="23569" name="Group 16"/>
            <p:cNvGrpSpPr>
              <a:grpSpLocks/>
            </p:cNvGrpSpPr>
            <p:nvPr/>
          </p:nvGrpSpPr>
          <p:grpSpPr bwMode="auto">
            <a:xfrm>
              <a:off x="1488" y="912"/>
              <a:ext cx="912" cy="1344"/>
              <a:chOff x="1488" y="912"/>
              <a:chExt cx="912" cy="1344"/>
            </a:xfrm>
          </p:grpSpPr>
          <p:sp>
            <p:nvSpPr>
              <p:cNvPr id="23572" name="Oval 3"/>
              <p:cNvSpPr>
                <a:spLocks noChangeArrowheads="1"/>
              </p:cNvSpPr>
              <p:nvPr/>
            </p:nvSpPr>
            <p:spPr bwMode="auto">
              <a:xfrm>
                <a:off x="1488" y="2064"/>
                <a:ext cx="912" cy="19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573" name="Oval 4"/>
              <p:cNvSpPr>
                <a:spLocks noChangeArrowheads="1"/>
              </p:cNvSpPr>
              <p:nvPr/>
            </p:nvSpPr>
            <p:spPr bwMode="auto">
              <a:xfrm>
                <a:off x="1488" y="912"/>
                <a:ext cx="912" cy="19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574" name="Line 5"/>
              <p:cNvSpPr>
                <a:spLocks noChangeShapeType="1"/>
              </p:cNvSpPr>
              <p:nvPr/>
            </p:nvSpPr>
            <p:spPr bwMode="auto">
              <a:xfrm>
                <a:off x="1488" y="1008"/>
                <a:ext cx="0" cy="120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23575" name="Line 6"/>
              <p:cNvSpPr>
                <a:spLocks noChangeShapeType="1"/>
              </p:cNvSpPr>
              <p:nvPr/>
            </p:nvSpPr>
            <p:spPr bwMode="auto">
              <a:xfrm>
                <a:off x="2400" y="1008"/>
                <a:ext cx="0" cy="1152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23570" name="Text Box 35"/>
            <p:cNvSpPr txBox="1">
              <a:spLocks noChangeArrowheads="1"/>
            </p:cNvSpPr>
            <p:nvPr/>
          </p:nvSpPr>
          <p:spPr bwMode="auto">
            <a:xfrm>
              <a:off x="1152" y="14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h</a:t>
              </a:r>
            </a:p>
          </p:txBody>
        </p:sp>
        <p:sp>
          <p:nvSpPr>
            <p:cNvPr id="23571" name="Line 36"/>
            <p:cNvSpPr>
              <a:spLocks noChangeShapeType="1"/>
            </p:cNvSpPr>
            <p:nvPr/>
          </p:nvSpPr>
          <p:spPr bwMode="auto">
            <a:xfrm>
              <a:off x="1344" y="1056"/>
              <a:ext cx="0" cy="115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16426" name="Text Box 42"/>
          <p:cNvSpPr txBox="1">
            <a:spLocks noChangeArrowheads="1"/>
          </p:cNvSpPr>
          <p:nvPr/>
        </p:nvSpPr>
        <p:spPr bwMode="auto">
          <a:xfrm>
            <a:off x="5148263" y="450850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solidFill>
                  <a:srgbClr val="006600"/>
                </a:solidFill>
                <a:latin typeface="Times New Roman" charset="0"/>
              </a:rPr>
              <a:t>3 types</a:t>
            </a:r>
          </a:p>
        </p:txBody>
      </p:sp>
    </p:spTree>
    <p:extLst>
      <p:ext uri="{BB962C8B-B14F-4D97-AF65-F5344CB8AC3E}">
        <p14:creationId xmlns:p14="http://schemas.microsoft.com/office/powerpoint/2010/main" val="390097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403" grpId="0" autoUpdateAnimBg="0"/>
      <p:bldP spid="16404" grpId="0" autoUpdateAnimBg="0"/>
      <p:bldP spid="16405" grpId="0" autoUpdateAnimBg="0"/>
      <p:bldP spid="16406" grpId="0" autoUpdateAnimBg="0"/>
      <p:bldP spid="16407" grpId="0" autoUpdateAnimBg="0"/>
      <p:bldP spid="16408" grpId="0" autoUpdateAnimBg="0"/>
      <p:bldP spid="16409" grpId="0" animBg="1"/>
      <p:bldP spid="16410" grpId="0" animBg="1"/>
      <p:bldP spid="16412" grpId="0" autoUpdateAnimBg="0"/>
      <p:bldP spid="164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447800" y="228600"/>
            <a:ext cx="563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Finding the formula for the area of curved wall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2133600" y="1752600"/>
            <a:ext cx="2286000" cy="2314575"/>
            <a:chOff x="1344" y="1104"/>
            <a:chExt cx="1440" cy="1458"/>
          </a:xfrm>
        </p:grpSpPr>
        <p:sp>
          <p:nvSpPr>
            <p:cNvPr id="24612" name="Oval 5"/>
            <p:cNvSpPr>
              <a:spLocks noChangeArrowheads="1"/>
            </p:cNvSpPr>
            <p:nvPr/>
          </p:nvSpPr>
          <p:spPr bwMode="auto">
            <a:xfrm>
              <a:off x="1344" y="1266"/>
              <a:ext cx="1008" cy="144"/>
            </a:xfrm>
            <a:prstGeom prst="ellips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613" name="Oval 6"/>
            <p:cNvSpPr>
              <a:spLocks noChangeArrowheads="1"/>
            </p:cNvSpPr>
            <p:nvPr/>
          </p:nvSpPr>
          <p:spPr bwMode="auto">
            <a:xfrm>
              <a:off x="1344" y="2418"/>
              <a:ext cx="1008" cy="14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614" name="Line 7"/>
            <p:cNvSpPr>
              <a:spLocks noChangeShapeType="1"/>
            </p:cNvSpPr>
            <p:nvPr/>
          </p:nvSpPr>
          <p:spPr bwMode="auto">
            <a:xfrm>
              <a:off x="1344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15" name="Line 8"/>
            <p:cNvSpPr>
              <a:spLocks noChangeShapeType="1"/>
            </p:cNvSpPr>
            <p:nvPr/>
          </p:nvSpPr>
          <p:spPr bwMode="auto">
            <a:xfrm>
              <a:off x="2352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16" name="Text Box 9"/>
            <p:cNvSpPr txBox="1">
              <a:spLocks noChangeArrowheads="1"/>
            </p:cNvSpPr>
            <p:nvPr/>
          </p:nvSpPr>
          <p:spPr bwMode="auto">
            <a:xfrm>
              <a:off x="2400" y="174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h</a:t>
              </a:r>
            </a:p>
          </p:txBody>
        </p:sp>
        <p:sp>
          <p:nvSpPr>
            <p:cNvPr id="24617" name="Line 10"/>
            <p:cNvSpPr>
              <a:spLocks noChangeShapeType="1"/>
            </p:cNvSpPr>
            <p:nvPr/>
          </p:nvSpPr>
          <p:spPr bwMode="auto">
            <a:xfrm>
              <a:off x="2448" y="1314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18" name="Text Box 11"/>
            <p:cNvSpPr txBox="1">
              <a:spLocks noChangeArrowheads="1"/>
            </p:cNvSpPr>
            <p:nvPr/>
          </p:nvSpPr>
          <p:spPr bwMode="auto">
            <a:xfrm>
              <a:off x="1488" y="110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r</a:t>
              </a:r>
            </a:p>
          </p:txBody>
        </p:sp>
        <p:sp>
          <p:nvSpPr>
            <p:cNvPr id="24619" name="Line 12"/>
            <p:cNvSpPr>
              <a:spLocks noChangeShapeType="1"/>
            </p:cNvSpPr>
            <p:nvPr/>
          </p:nvSpPr>
          <p:spPr bwMode="auto">
            <a:xfrm>
              <a:off x="1344" y="120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1828800" y="4191000"/>
            <a:ext cx="2743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200">
                <a:latin typeface="Times New Roman" charset="0"/>
              </a:rPr>
              <a:t>Begin with an open-ended  cylinder</a:t>
            </a: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V="1">
            <a:off x="4572000" y="2209800"/>
            <a:ext cx="685800" cy="685800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562600" y="914400"/>
            <a:ext cx="2286000" cy="2238375"/>
            <a:chOff x="1344" y="1152"/>
            <a:chExt cx="1440" cy="1410"/>
          </a:xfrm>
        </p:grpSpPr>
        <p:sp>
          <p:nvSpPr>
            <p:cNvPr id="24604" name="Oval 18"/>
            <p:cNvSpPr>
              <a:spLocks noChangeArrowheads="1"/>
            </p:cNvSpPr>
            <p:nvPr/>
          </p:nvSpPr>
          <p:spPr bwMode="auto">
            <a:xfrm>
              <a:off x="1344" y="1266"/>
              <a:ext cx="1008" cy="144"/>
            </a:xfrm>
            <a:prstGeom prst="ellips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605" name="Oval 19"/>
            <p:cNvSpPr>
              <a:spLocks noChangeArrowheads="1"/>
            </p:cNvSpPr>
            <p:nvPr/>
          </p:nvSpPr>
          <p:spPr bwMode="auto">
            <a:xfrm>
              <a:off x="1344" y="2418"/>
              <a:ext cx="1008" cy="144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606" name="Line 20"/>
            <p:cNvSpPr>
              <a:spLocks noChangeShapeType="1"/>
            </p:cNvSpPr>
            <p:nvPr/>
          </p:nvSpPr>
          <p:spPr bwMode="auto">
            <a:xfrm>
              <a:off x="1344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07" name="Line 21"/>
            <p:cNvSpPr>
              <a:spLocks noChangeShapeType="1"/>
            </p:cNvSpPr>
            <p:nvPr/>
          </p:nvSpPr>
          <p:spPr bwMode="auto">
            <a:xfrm>
              <a:off x="2352" y="1314"/>
              <a:ext cx="0" cy="11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08" name="Text Box 22"/>
            <p:cNvSpPr txBox="1">
              <a:spLocks noChangeArrowheads="1"/>
            </p:cNvSpPr>
            <p:nvPr/>
          </p:nvSpPr>
          <p:spPr bwMode="auto">
            <a:xfrm>
              <a:off x="2400" y="174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h</a:t>
              </a:r>
            </a:p>
          </p:txBody>
        </p:sp>
        <p:sp>
          <p:nvSpPr>
            <p:cNvPr id="24609" name="Line 23"/>
            <p:cNvSpPr>
              <a:spLocks noChangeShapeType="1"/>
            </p:cNvSpPr>
            <p:nvPr/>
          </p:nvSpPr>
          <p:spPr bwMode="auto">
            <a:xfrm>
              <a:off x="2448" y="1314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10" name="Text Box 24"/>
            <p:cNvSpPr txBox="1">
              <a:spLocks noChangeArrowheads="1"/>
            </p:cNvSpPr>
            <p:nvPr/>
          </p:nvSpPr>
          <p:spPr bwMode="auto">
            <a:xfrm>
              <a:off x="2010" y="115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 i="1">
                  <a:latin typeface="Times New Roman" charset="0"/>
                </a:rPr>
                <a:t>r</a:t>
              </a:r>
            </a:p>
          </p:txBody>
        </p:sp>
        <p:sp>
          <p:nvSpPr>
            <p:cNvPr id="24611" name="Line 25"/>
            <p:cNvSpPr>
              <a:spLocks noChangeShapeType="1"/>
            </p:cNvSpPr>
            <p:nvPr/>
          </p:nvSpPr>
          <p:spPr bwMode="auto">
            <a:xfrm>
              <a:off x="1872" y="121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5638800" y="3429000"/>
            <a:ext cx="3733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>
                <a:latin typeface="Times New Roman" charset="0"/>
              </a:rPr>
              <a:t>Cut it up the side. The red circumference (2</a:t>
            </a:r>
            <a:r>
              <a:rPr lang="en-AU" altLang="en-US">
                <a:latin typeface="Times New Roman" charset="0"/>
                <a:sym typeface="Symbol" pitchFamily="18" charset="2"/>
              </a:rPr>
              <a:t>r) </a:t>
            </a:r>
            <a:r>
              <a:rPr lang="en-AU" altLang="en-US">
                <a:latin typeface="Times New Roman" charset="0"/>
              </a:rPr>
              <a:t>above becomes the red length below 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6057900" y="1371600"/>
            <a:ext cx="457200" cy="2247900"/>
            <a:chOff x="3816" y="864"/>
            <a:chExt cx="288" cy="1416"/>
          </a:xfrm>
        </p:grpSpPr>
        <p:sp>
          <p:nvSpPr>
            <p:cNvPr id="24602" name="Line 29"/>
            <p:cNvSpPr>
              <a:spLocks noChangeShapeType="1"/>
            </p:cNvSpPr>
            <p:nvPr/>
          </p:nvSpPr>
          <p:spPr bwMode="auto">
            <a:xfrm>
              <a:off x="3936" y="864"/>
              <a:ext cx="0" cy="1104"/>
            </a:xfrm>
            <a:prstGeom prst="line">
              <a:avLst/>
            </a:prstGeom>
            <a:noFill/>
            <a:ln w="76200">
              <a:solidFill>
                <a:srgbClr val="0066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603" name="Text Box 30"/>
            <p:cNvSpPr txBox="1">
              <a:spLocks noChangeArrowheads="1"/>
            </p:cNvSpPr>
            <p:nvPr/>
          </p:nvSpPr>
          <p:spPr bwMode="auto">
            <a:xfrm rot="-5620778">
              <a:off x="3792" y="19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solidFill>
                    <a:srgbClr val="660066"/>
                  </a:solidFill>
                  <a:latin typeface="Times New Roman" charset="0"/>
                  <a:sym typeface="Wingdings" pitchFamily="2" charset="2"/>
                </a:rPr>
                <a:t></a:t>
              </a:r>
              <a:endParaRPr lang="en-AU" altLang="en-US" sz="2400">
                <a:solidFill>
                  <a:srgbClr val="660066"/>
                </a:solidFill>
                <a:latin typeface="Times New Roman" charset="0"/>
              </a:endParaRPr>
            </a:p>
          </p:txBody>
        </p:sp>
      </p:grp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5105400" y="4724400"/>
            <a:ext cx="3657600" cy="1447800"/>
            <a:chOff x="3216" y="2976"/>
            <a:chExt cx="2304" cy="912"/>
          </a:xfrm>
        </p:grpSpPr>
        <p:grpSp>
          <p:nvGrpSpPr>
            <p:cNvPr id="24595" name="Group 50"/>
            <p:cNvGrpSpPr>
              <a:grpSpLocks/>
            </p:cNvGrpSpPr>
            <p:nvPr/>
          </p:nvGrpSpPr>
          <p:grpSpPr bwMode="auto">
            <a:xfrm>
              <a:off x="3264" y="2976"/>
              <a:ext cx="2256" cy="912"/>
              <a:chOff x="3216" y="2928"/>
              <a:chExt cx="2256" cy="912"/>
            </a:xfrm>
          </p:grpSpPr>
          <p:sp>
            <p:nvSpPr>
              <p:cNvPr id="24597" name="Rectangle 34"/>
              <p:cNvSpPr>
                <a:spLocks noChangeArrowheads="1"/>
              </p:cNvSpPr>
              <p:nvPr/>
            </p:nvSpPr>
            <p:spPr bwMode="auto">
              <a:xfrm>
                <a:off x="3216" y="2928"/>
                <a:ext cx="1872" cy="912"/>
              </a:xfrm>
              <a:prstGeom prst="rect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598" name="Line 35"/>
              <p:cNvSpPr>
                <a:spLocks noChangeShapeType="1"/>
              </p:cNvSpPr>
              <p:nvPr/>
            </p:nvSpPr>
            <p:spPr bwMode="auto">
              <a:xfrm>
                <a:off x="3216" y="2928"/>
                <a:ext cx="1872" cy="0"/>
              </a:xfrm>
              <a:prstGeom prst="line">
                <a:avLst/>
              </a:prstGeom>
              <a:noFill/>
              <a:ln w="57150" cap="sq">
                <a:solidFill>
                  <a:srgbClr val="ED0F0F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  <p:sp>
            <p:nvSpPr>
              <p:cNvPr id="24599" name="Text Box 36"/>
              <p:cNvSpPr txBox="1">
                <a:spLocks noChangeArrowheads="1"/>
              </p:cNvSpPr>
              <p:nvPr/>
            </p:nvSpPr>
            <p:spPr bwMode="auto">
              <a:xfrm>
                <a:off x="5136" y="316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altLang="en-US" sz="2400" i="1">
                    <a:latin typeface="Times New Roman" charset="0"/>
                  </a:rPr>
                  <a:t>h</a:t>
                </a:r>
              </a:p>
            </p:txBody>
          </p:sp>
          <p:sp>
            <p:nvSpPr>
              <p:cNvPr id="24600" name="Text Box 37"/>
              <p:cNvSpPr txBox="1">
                <a:spLocks noChangeArrowheads="1"/>
              </p:cNvSpPr>
              <p:nvPr/>
            </p:nvSpPr>
            <p:spPr bwMode="auto">
              <a:xfrm>
                <a:off x="3936" y="297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altLang="en-US" sz="2400">
                    <a:latin typeface="Times New Roman" charset="0"/>
                  </a:rPr>
                  <a:t>2</a:t>
                </a:r>
                <a:r>
                  <a:rPr lang="en-AU" altLang="en-US" sz="2400">
                    <a:latin typeface="Times New Roman" charset="0"/>
                    <a:sym typeface="Symbol" pitchFamily="18" charset="2"/>
                  </a:rPr>
                  <a:t>r</a:t>
                </a:r>
                <a:endParaRPr lang="en-AU" altLang="en-US" sz="2400">
                  <a:latin typeface="Times New Roman" charset="0"/>
                </a:endParaRPr>
              </a:p>
            </p:txBody>
          </p:sp>
          <p:sp>
            <p:nvSpPr>
              <p:cNvPr id="24601" name="Line 38"/>
              <p:cNvSpPr>
                <a:spLocks noChangeShapeType="1"/>
              </p:cNvSpPr>
              <p:nvPr/>
            </p:nvSpPr>
            <p:spPr bwMode="auto">
              <a:xfrm>
                <a:off x="4368" y="3120"/>
                <a:ext cx="72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prstDash val="sysDot"/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24596" name="Line 39"/>
            <p:cNvSpPr>
              <a:spLocks noChangeShapeType="1"/>
            </p:cNvSpPr>
            <p:nvPr/>
          </p:nvSpPr>
          <p:spPr bwMode="auto">
            <a:xfrm flipH="1">
              <a:off x="3216" y="3168"/>
              <a:ext cx="72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20520" name="Line 40"/>
          <p:cNvSpPr>
            <a:spLocks noChangeShapeType="1"/>
          </p:cNvSpPr>
          <p:nvPr/>
        </p:nvSpPr>
        <p:spPr bwMode="auto">
          <a:xfrm flipH="1">
            <a:off x="4419600" y="5486400"/>
            <a:ext cx="609600" cy="0"/>
          </a:xfrm>
          <a:prstGeom prst="line">
            <a:avLst/>
          </a:prstGeom>
          <a:noFill/>
          <a:ln w="762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0522" name="Line 42"/>
          <p:cNvSpPr>
            <a:spLocks noChangeShapeType="1"/>
          </p:cNvSpPr>
          <p:nvPr/>
        </p:nvSpPr>
        <p:spPr bwMode="auto">
          <a:xfrm>
            <a:off x="5562600" y="3124200"/>
            <a:ext cx="0" cy="1219200"/>
          </a:xfrm>
          <a:prstGeom prst="line">
            <a:avLst/>
          </a:prstGeom>
          <a:noFill/>
          <a:ln w="5715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3276600" y="1219200"/>
            <a:ext cx="2286000" cy="762000"/>
            <a:chOff x="2064" y="768"/>
            <a:chExt cx="1440" cy="480"/>
          </a:xfrm>
        </p:grpSpPr>
        <p:sp>
          <p:nvSpPr>
            <p:cNvPr id="24592" name="Text Box 43"/>
            <p:cNvSpPr txBox="1">
              <a:spLocks noChangeArrowheads="1"/>
            </p:cNvSpPr>
            <p:nvPr/>
          </p:nvSpPr>
          <p:spPr bwMode="auto">
            <a:xfrm>
              <a:off x="2400" y="816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solidFill>
                    <a:srgbClr val="ED0F0F"/>
                  </a:solidFill>
                  <a:latin typeface="Times New Roman" charset="0"/>
                </a:rPr>
                <a:t>C=2</a:t>
              </a:r>
              <a:r>
                <a:rPr lang="en-AU" altLang="en-US" sz="2400">
                  <a:solidFill>
                    <a:srgbClr val="ED0F0F"/>
                  </a:solidFill>
                  <a:latin typeface="Times New Roman" charset="0"/>
                  <a:sym typeface="Symbol" pitchFamily="18" charset="2"/>
                </a:rPr>
                <a:t>r</a:t>
              </a:r>
            </a:p>
          </p:txBody>
        </p:sp>
        <p:sp>
          <p:nvSpPr>
            <p:cNvPr id="24593" name="Line 45"/>
            <p:cNvSpPr>
              <a:spLocks noChangeShapeType="1"/>
            </p:cNvSpPr>
            <p:nvPr/>
          </p:nvSpPr>
          <p:spPr bwMode="auto">
            <a:xfrm flipV="1">
              <a:off x="3072" y="768"/>
              <a:ext cx="432" cy="96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4594" name="Line 47"/>
            <p:cNvSpPr>
              <a:spLocks noChangeShapeType="1"/>
            </p:cNvSpPr>
            <p:nvPr/>
          </p:nvSpPr>
          <p:spPr bwMode="auto">
            <a:xfrm flipH="1">
              <a:off x="2064" y="1056"/>
              <a:ext cx="384" cy="192"/>
            </a:xfrm>
            <a:prstGeom prst="line">
              <a:avLst/>
            </a:prstGeom>
            <a:noFill/>
            <a:ln w="38100" cap="sq">
              <a:solidFill>
                <a:srgbClr val="ED0F0F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1676400" y="5410200"/>
            <a:ext cx="2590800" cy="685800"/>
            <a:chOff x="1056" y="3408"/>
            <a:chExt cx="1632" cy="432"/>
          </a:xfrm>
        </p:grpSpPr>
        <p:sp>
          <p:nvSpPr>
            <p:cNvPr id="24590" name="Text Box 41"/>
            <p:cNvSpPr txBox="1">
              <a:spLocks noChangeArrowheads="1"/>
            </p:cNvSpPr>
            <p:nvPr/>
          </p:nvSpPr>
          <p:spPr bwMode="auto">
            <a:xfrm>
              <a:off x="1104" y="3408"/>
              <a:ext cx="15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3200">
                  <a:solidFill>
                    <a:srgbClr val="660066"/>
                  </a:solidFill>
                  <a:latin typeface="Times New Roman" charset="0"/>
                </a:rPr>
                <a:t>Area = 2</a:t>
              </a:r>
              <a:r>
                <a:rPr lang="en-AU" altLang="en-US" sz="3200">
                  <a:solidFill>
                    <a:srgbClr val="660066"/>
                  </a:solidFill>
                  <a:latin typeface="Times New Roman" charset="0"/>
                  <a:sym typeface="Symbol" pitchFamily="18" charset="2"/>
                </a:rPr>
                <a:t>rh</a:t>
              </a:r>
            </a:p>
          </p:txBody>
        </p:sp>
        <p:sp>
          <p:nvSpPr>
            <p:cNvPr id="24591" name="Rectangle 49"/>
            <p:cNvSpPr>
              <a:spLocks noChangeArrowheads="1"/>
            </p:cNvSpPr>
            <p:nvPr/>
          </p:nvSpPr>
          <p:spPr bwMode="auto">
            <a:xfrm>
              <a:off x="1056" y="3408"/>
              <a:ext cx="1584" cy="432"/>
            </a:xfrm>
            <a:prstGeom prst="rect">
              <a:avLst/>
            </a:prstGeom>
            <a:noFill/>
            <a:ln w="50800" cap="sq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881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94" grpId="0" autoUpdateAnimBg="0"/>
      <p:bldP spid="20495" grpId="0" animBg="1"/>
      <p:bldP spid="20507" grpId="0" autoUpdateAnimBg="0"/>
      <p:bldP spid="20520" grpId="0" animBg="1"/>
      <p:bldP spid="205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447800" y="533400"/>
            <a:ext cx="533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Example – find the surface area of this cylinder closed at one end....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2133600" y="1828800"/>
            <a:ext cx="2590800" cy="2209800"/>
            <a:chOff x="1344" y="1152"/>
            <a:chExt cx="1632" cy="1392"/>
          </a:xfrm>
        </p:grpSpPr>
        <p:sp>
          <p:nvSpPr>
            <p:cNvPr id="25615" name="Oval 4"/>
            <p:cNvSpPr>
              <a:spLocks noChangeArrowheads="1"/>
            </p:cNvSpPr>
            <p:nvPr/>
          </p:nvSpPr>
          <p:spPr bwMode="auto">
            <a:xfrm>
              <a:off x="1344" y="1266"/>
              <a:ext cx="1008" cy="144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6" name="Oval 5"/>
            <p:cNvSpPr>
              <a:spLocks noChangeArrowheads="1"/>
            </p:cNvSpPr>
            <p:nvPr/>
          </p:nvSpPr>
          <p:spPr bwMode="auto">
            <a:xfrm>
              <a:off x="1344" y="2418"/>
              <a:ext cx="1008" cy="126"/>
            </a:xfrm>
            <a:prstGeom prst="ellipse">
              <a:avLst/>
            </a:prstGeom>
            <a:solidFill>
              <a:srgbClr val="993366"/>
            </a:solidFill>
            <a:ln w="28575" cap="sq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7" name="Line 6"/>
            <p:cNvSpPr>
              <a:spLocks noChangeShapeType="1"/>
            </p:cNvSpPr>
            <p:nvPr/>
          </p:nvSpPr>
          <p:spPr bwMode="auto">
            <a:xfrm>
              <a:off x="1344" y="1314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5618" name="Line 7"/>
            <p:cNvSpPr>
              <a:spLocks noChangeShapeType="1"/>
            </p:cNvSpPr>
            <p:nvPr/>
          </p:nvSpPr>
          <p:spPr bwMode="auto">
            <a:xfrm>
              <a:off x="2352" y="1314"/>
              <a:ext cx="0" cy="11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5619" name="Text Box 8"/>
            <p:cNvSpPr txBox="1">
              <a:spLocks noChangeArrowheads="1"/>
            </p:cNvSpPr>
            <p:nvPr/>
          </p:nvSpPr>
          <p:spPr bwMode="auto">
            <a:xfrm>
              <a:off x="2400" y="174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8 </a:t>
              </a:r>
              <a:r>
                <a:rPr lang="en-AU" altLang="en-US" sz="2400" i="1">
                  <a:latin typeface="Times New Roman" charset="0"/>
                </a:rPr>
                <a:t>cm</a:t>
              </a:r>
            </a:p>
          </p:txBody>
        </p:sp>
        <p:sp>
          <p:nvSpPr>
            <p:cNvPr id="25620" name="Line 9"/>
            <p:cNvSpPr>
              <a:spLocks noChangeShapeType="1"/>
            </p:cNvSpPr>
            <p:nvPr/>
          </p:nvSpPr>
          <p:spPr bwMode="auto">
            <a:xfrm>
              <a:off x="2448" y="1314"/>
              <a:ext cx="0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25621" name="Text Box 10"/>
            <p:cNvSpPr txBox="1">
              <a:spLocks noChangeArrowheads="1"/>
            </p:cNvSpPr>
            <p:nvPr/>
          </p:nvSpPr>
          <p:spPr bwMode="auto">
            <a:xfrm>
              <a:off x="1392" y="115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2400">
                  <a:latin typeface="Times New Roman" charset="0"/>
                </a:rPr>
                <a:t>3 </a:t>
              </a:r>
              <a:r>
                <a:rPr lang="en-AU" altLang="en-US" sz="2400" i="1">
                  <a:latin typeface="Times New Roman" charset="0"/>
                </a:rPr>
                <a:t>cm</a:t>
              </a:r>
              <a:endParaRPr lang="en-AU" altLang="en-US" sz="2400">
                <a:latin typeface="Times New Roman" charset="0"/>
              </a:endParaRPr>
            </a:p>
          </p:txBody>
        </p:sp>
        <p:sp>
          <p:nvSpPr>
            <p:cNvPr id="25622" name="Line 11"/>
            <p:cNvSpPr>
              <a:spLocks noChangeShapeType="1"/>
            </p:cNvSpPr>
            <p:nvPr/>
          </p:nvSpPr>
          <p:spPr bwMode="auto">
            <a:xfrm>
              <a:off x="1344" y="120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105400" y="21336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We have two areas...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4800600" y="3048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Base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6248400" y="3048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Curved wall</a:t>
            </a: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6096000" y="3200400"/>
            <a:ext cx="0" cy="2057400"/>
          </a:xfrm>
          <a:prstGeom prst="line">
            <a:avLst/>
          </a:prstGeom>
          <a:noFill/>
          <a:ln w="57150">
            <a:solidFill>
              <a:srgbClr val="D6009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4572000" y="38100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 u="sng">
                <a:latin typeface="Times New Roman" charset="0"/>
              </a:rPr>
              <a:t>A = </a:t>
            </a:r>
            <a:r>
              <a:rPr lang="en-AU" altLang="en-US" sz="2400" u="sng">
                <a:latin typeface="Times New Roman" charset="0"/>
                <a:sym typeface="Symbol" pitchFamily="18" charset="2"/>
              </a:rPr>
              <a:t> </a:t>
            </a:r>
            <a:r>
              <a:rPr lang="en-AU" altLang="en-US" sz="2400" i="1" u="sng">
                <a:latin typeface="Times New Roman" charset="0"/>
                <a:sym typeface="Symbol" pitchFamily="18" charset="2"/>
              </a:rPr>
              <a:t>r</a:t>
            </a:r>
            <a:r>
              <a:rPr lang="en-AU" altLang="en-US" sz="2400" u="sng" baseline="30000">
                <a:latin typeface="Times New Roman" charset="0"/>
                <a:sym typeface="Symbol" pitchFamily="18" charset="2"/>
              </a:rPr>
              <a:t>2</a:t>
            </a:r>
            <a:endParaRPr lang="en-AU" altLang="en-US" sz="2400" u="sng">
              <a:latin typeface="Times New Roman" charset="0"/>
            </a:endParaRP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4267200" y="4343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= </a:t>
            </a:r>
            <a:r>
              <a:rPr lang="en-AU" altLang="en-US" sz="2400">
                <a:latin typeface="Times New Roman" charset="0"/>
                <a:sym typeface="Symbol" pitchFamily="18" charset="2"/>
              </a:rPr>
              <a:t>  3</a:t>
            </a:r>
            <a:r>
              <a:rPr lang="en-AU" altLang="en-US" sz="2400" baseline="30000">
                <a:latin typeface="Times New Roman" charset="0"/>
                <a:sym typeface="Symbol" pitchFamily="18" charset="2"/>
              </a:rPr>
              <a:t>2</a:t>
            </a:r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4114800" y="4953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 = </a:t>
            </a: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28.27 </a:t>
            </a:r>
            <a:r>
              <a:rPr lang="en-AU" altLang="en-US" sz="2400" i="1">
                <a:solidFill>
                  <a:srgbClr val="0000FF"/>
                </a:solidFill>
                <a:latin typeface="Times New Roman" charset="0"/>
              </a:rPr>
              <a:t>cm</a:t>
            </a:r>
            <a:r>
              <a:rPr lang="en-AU" altLang="en-US" sz="2400" baseline="30000">
                <a:solidFill>
                  <a:srgbClr val="0000FF"/>
                </a:solidFill>
                <a:latin typeface="Times New Roman" charset="0"/>
              </a:rPr>
              <a:t>2</a:t>
            </a:r>
            <a:endParaRPr lang="en-AU" altLang="en-US" sz="240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6172200" y="38100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 u="sng">
                <a:latin typeface="Times New Roman" charset="0"/>
              </a:rPr>
              <a:t>A = 2</a:t>
            </a:r>
            <a:r>
              <a:rPr lang="en-AU" altLang="en-US" sz="2400" u="sng">
                <a:latin typeface="Times New Roman" charset="0"/>
                <a:sym typeface="Symbol" pitchFamily="18" charset="2"/>
              </a:rPr>
              <a:t></a:t>
            </a:r>
            <a:r>
              <a:rPr lang="en-AU" altLang="en-US" sz="2400" i="1" u="sng">
                <a:latin typeface="Times New Roman" charset="0"/>
                <a:sym typeface="Symbol" pitchFamily="18" charset="2"/>
              </a:rPr>
              <a:t>rh</a:t>
            </a:r>
            <a:endParaRPr lang="en-AU" altLang="en-US" sz="2400" i="1" u="sng">
              <a:latin typeface="Times New Roman" charset="0"/>
            </a:endParaRPr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6400800" y="42672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= 2</a:t>
            </a:r>
            <a:r>
              <a:rPr lang="en-AU" altLang="en-US" sz="2400">
                <a:latin typeface="Times New Roman" charset="0"/>
                <a:sym typeface="Symbol" pitchFamily="18" charset="2"/>
              </a:rPr>
              <a:t>  3   8</a:t>
            </a:r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6324600" y="47244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2400">
                <a:latin typeface="Times New Roman" charset="0"/>
              </a:rPr>
              <a:t> = </a:t>
            </a:r>
            <a:r>
              <a:rPr lang="en-AU" altLang="en-US" sz="2400">
                <a:solidFill>
                  <a:srgbClr val="0000FF"/>
                </a:solidFill>
                <a:latin typeface="Times New Roman" charset="0"/>
              </a:rPr>
              <a:t>150.80 </a:t>
            </a:r>
            <a:r>
              <a:rPr lang="en-AU" altLang="en-US" sz="2400" i="1">
                <a:solidFill>
                  <a:srgbClr val="0000FF"/>
                </a:solidFill>
                <a:latin typeface="Times New Roman" charset="0"/>
              </a:rPr>
              <a:t>cm</a:t>
            </a:r>
            <a:r>
              <a:rPr lang="en-AU" altLang="en-US" sz="2400" baseline="30000">
                <a:solidFill>
                  <a:srgbClr val="0000FF"/>
                </a:solidFill>
                <a:latin typeface="Times New Roman" charset="0"/>
              </a:rPr>
              <a:t>2</a:t>
            </a:r>
            <a:endParaRPr lang="en-AU" altLang="en-US" sz="240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1295400" y="5562600"/>
            <a:ext cx="762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4000">
                <a:latin typeface="Times New Roman" charset="0"/>
              </a:rPr>
              <a:t>Total = 28.27 + 150.80 = </a:t>
            </a:r>
            <a:r>
              <a:rPr lang="en-AU" altLang="en-US" sz="4000">
                <a:solidFill>
                  <a:srgbClr val="ED0F0F"/>
                </a:solidFill>
                <a:latin typeface="Times New Roman" charset="0"/>
              </a:rPr>
              <a:t>179.07</a:t>
            </a:r>
            <a:r>
              <a:rPr lang="en-AU" altLang="en-US" sz="3000">
                <a:solidFill>
                  <a:srgbClr val="ED0F0F"/>
                </a:solidFill>
                <a:latin typeface="Times New Roman" charset="0"/>
              </a:rPr>
              <a:t>cm</a:t>
            </a:r>
            <a:r>
              <a:rPr lang="en-AU" altLang="en-US" sz="3000" baseline="30000">
                <a:solidFill>
                  <a:srgbClr val="ED0F0F"/>
                </a:solidFill>
                <a:latin typeface="Times New Roman" charset="0"/>
              </a:rPr>
              <a:t>2</a:t>
            </a:r>
            <a:endParaRPr lang="en-AU" altLang="en-US" sz="4000">
              <a:solidFill>
                <a:srgbClr val="ED0F0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04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17" grpId="0" autoUpdateAnimBg="0"/>
      <p:bldP spid="21518" grpId="0" autoUpdateAnimBg="0"/>
      <p:bldP spid="21519" grpId="0" autoUpdateAnimBg="0"/>
      <p:bldP spid="21520" grpId="0" animBg="1"/>
      <p:bldP spid="21521" grpId="0" autoUpdateAnimBg="0"/>
      <p:bldP spid="21522" grpId="0" autoUpdateAnimBg="0"/>
      <p:bldP spid="21523" grpId="0" autoUpdateAnimBg="0"/>
      <p:bldP spid="21524" grpId="0" autoUpdateAnimBg="0"/>
      <p:bldP spid="21525" grpId="0" autoUpdateAnimBg="0"/>
      <p:bldP spid="21526" grpId="0" autoUpdateAnimBg="0"/>
      <p:bldP spid="2152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40768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>
                <a:latin typeface="Bodoni MT Black" panose="02070A03080606020203" pitchFamily="18" charset="0"/>
              </a:rPr>
              <a:t>Complete the worksheet</a:t>
            </a:r>
            <a:endParaRPr lang="en-AU" sz="32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354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404664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 smtClean="0">
                <a:latin typeface="Bodoni MT Black" panose="02070A03080606020203" pitchFamily="18" charset="0"/>
              </a:rPr>
              <a:t>Summary</a:t>
            </a:r>
            <a:endParaRPr lang="en-AU" sz="6000" dirty="0">
              <a:latin typeface="Bodoni MT Black" panose="02070A030806060202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1771" y="2425977"/>
            <a:ext cx="790447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800" dirty="0" smtClean="0"/>
              <a:t>Write a summary answering the EQ.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 smtClean="0"/>
              <a:t>How do you calculate the surface area of 3D objects?</a:t>
            </a:r>
            <a:endParaRPr lang="en-AU" sz="2800" dirty="0" smtClean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05364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435</Words>
  <Application>Microsoft Office PowerPoint</Application>
  <PresentationFormat>On-screen Show (4:3)</PresentationFormat>
  <Paragraphs>92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Wrapping Presents</vt:lpstr>
      <vt:lpstr>EQ: How do you calculate the surface area of 3D objects?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Wrapping Presents</dc:title>
  <dc:creator>MORGAN Adam</dc:creator>
  <cp:lastModifiedBy>MORGAN Adam</cp:lastModifiedBy>
  <cp:revision>7</cp:revision>
  <dcterms:created xsi:type="dcterms:W3CDTF">2017-05-03T09:22:30Z</dcterms:created>
  <dcterms:modified xsi:type="dcterms:W3CDTF">2017-05-03T10:44:40Z</dcterms:modified>
</cp:coreProperties>
</file>
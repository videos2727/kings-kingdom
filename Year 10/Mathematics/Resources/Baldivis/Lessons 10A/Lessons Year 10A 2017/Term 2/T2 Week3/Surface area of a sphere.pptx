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92D1F-A553-47E8-B781-681454D387E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86A7F-2988-4E35-97D6-BD12DD6FCD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359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Form groups of 2 or 3 ( number students from 1 through to 11)  (10</a:t>
            </a:r>
            <a:r>
              <a:rPr lang="en-AU" baseline="0" dirty="0" smtClean="0"/>
              <a:t> groups of 3 and one 2)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Each number will</a:t>
            </a:r>
            <a:r>
              <a:rPr lang="en-AU" baseline="0" dirty="0" smtClean="0"/>
              <a:t> be a group.</a:t>
            </a:r>
          </a:p>
          <a:p>
            <a:r>
              <a:rPr lang="en-AU" baseline="0" dirty="0" smtClean="0"/>
              <a:t>Assign each person in the group a number</a:t>
            </a:r>
          </a:p>
          <a:p>
            <a:endParaRPr lang="en-AU" baseline="0" dirty="0" smtClean="0"/>
          </a:p>
          <a:p>
            <a:r>
              <a:rPr lang="en-AU" baseline="0" dirty="0" smtClean="0"/>
              <a:t>Assign tasks to each student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86A7F-2988-4E35-97D6-BD12DD6FCD2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796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Assign one member from each group to collect the materials (number 3)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86A7F-2988-4E35-97D6-BD12DD6FCD2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6075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Assign roles for each</a:t>
            </a:r>
            <a:r>
              <a:rPr lang="en-AU" baseline="0" dirty="0" smtClean="0"/>
              <a:t> task. Number 1 measures, number 2 scribes, and number 3 holds the string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86A7F-2988-4E35-97D6-BD12DD6FCD2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4587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TPS with the how many</a:t>
            </a:r>
            <a:r>
              <a:rPr lang="en-AU" baseline="0" dirty="0" smtClean="0"/>
              <a:t> circles- get an answer from each group (number 2 to draw the circle)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86A7F-2988-4E35-97D6-BD12DD6FCD2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2692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Assign roles again, a peeler, and two puzzlers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86A7F-2988-4E35-97D6-BD12DD6FCD2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9982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Get one</a:t>
            </a:r>
            <a:r>
              <a:rPr lang="en-AU" baseline="0" dirty="0" smtClean="0"/>
              <a:t> from each group to share their results ( again assign roles to group members)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86A7F-2988-4E35-97D6-BD12DD6FCD2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1729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00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586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85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05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2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61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344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14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110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36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51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755E7-FA14-4053-A88C-BDC02E347651}" type="datetimeFigureOut">
              <a:rPr lang="en-AU" smtClean="0"/>
              <a:t>4/05/2017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FF97D-2735-4C0D-A25D-6422D5FE95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34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C:\Users\e4075868\AppData\Local\Microsoft\Windows\Temporary Internet Files\Content.IE5\J801ZEEM\oranges-background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3216" y="2636912"/>
            <a:ext cx="864027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 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87824" y="170080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388377" y="548680"/>
            <a:ext cx="63793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b="1" dirty="0" smtClean="0"/>
              <a:t>Remember you number</a:t>
            </a:r>
            <a:endParaRPr lang="en-AU" sz="4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047" y="2241981"/>
            <a:ext cx="93000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Find your common numbers, this is now you group (you have 30 seconds)</a:t>
            </a:r>
            <a:endParaRPr lang="en-AU" sz="4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123528" y="4509120"/>
            <a:ext cx="7996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 smtClean="0"/>
              <a:t>Give each member in the group a number from 1 to 3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46050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lgerian" panose="04020705040A02060702" pitchFamily="82" charset="0"/>
              </a:rPr>
              <a:t>I</a:t>
            </a:r>
            <a:r>
              <a:rPr lang="en-AU" dirty="0" smtClean="0">
                <a:latin typeface="Algerian" panose="04020705040A02060702" pitchFamily="82" charset="0"/>
              </a:rPr>
              <a:t>nvestigation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Calculate the Surface Area of a sphere using oranges.</a:t>
            </a:r>
            <a:endParaRPr lang="en-AU" dirty="0"/>
          </a:p>
        </p:txBody>
      </p:sp>
      <p:pic>
        <p:nvPicPr>
          <p:cNvPr id="3074" name="Picture 2" descr="C:\Users\e4075868\AppData\Local\Microsoft\Windows\Temporary Internet Files\Content.IE5\RP2BT71J\orange[1]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365104"/>
            <a:ext cx="2874235" cy="215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24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513" y="188640"/>
            <a:ext cx="8229600" cy="1143000"/>
          </a:xfrm>
        </p:spPr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You will need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921" y="1095821"/>
            <a:ext cx="82296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AU" dirty="0" smtClean="0"/>
              <a:t>A group of eager minds</a:t>
            </a:r>
          </a:p>
          <a:p>
            <a:pPr>
              <a:buFontTx/>
              <a:buChar char="-"/>
            </a:pPr>
            <a:r>
              <a:rPr lang="en-AU" dirty="0" smtClean="0"/>
              <a:t>String</a:t>
            </a:r>
          </a:p>
          <a:p>
            <a:pPr>
              <a:buFontTx/>
              <a:buChar char="-"/>
            </a:pPr>
            <a:r>
              <a:rPr lang="en-AU" dirty="0" smtClean="0"/>
              <a:t>An orange</a:t>
            </a:r>
            <a:r>
              <a:rPr lang="en-AU" dirty="0"/>
              <a:t> </a:t>
            </a:r>
            <a:r>
              <a:rPr lang="en-AU" dirty="0" smtClean="0"/>
              <a:t>(1 per group)</a:t>
            </a:r>
          </a:p>
          <a:p>
            <a:pPr>
              <a:buFontTx/>
              <a:buChar char="-"/>
            </a:pPr>
            <a:r>
              <a:rPr lang="en-AU" dirty="0" smtClean="0"/>
              <a:t>Paper towel (A3 paper is fine)</a:t>
            </a:r>
          </a:p>
          <a:p>
            <a:pPr>
              <a:buFontTx/>
              <a:buChar char="-"/>
            </a:pPr>
            <a:r>
              <a:rPr lang="en-AU" dirty="0" smtClean="0"/>
              <a:t>Knife (plastic only)</a:t>
            </a:r>
          </a:p>
          <a:p>
            <a:pPr>
              <a:buFontTx/>
              <a:buChar char="-"/>
            </a:pPr>
            <a:r>
              <a:rPr lang="en-AU" dirty="0" smtClean="0"/>
              <a:t>Compass</a:t>
            </a:r>
          </a:p>
          <a:p>
            <a:pPr>
              <a:buFontTx/>
              <a:buChar char="-"/>
            </a:pPr>
            <a:r>
              <a:rPr lang="en-AU" dirty="0" smtClean="0"/>
              <a:t>Ruler</a:t>
            </a:r>
          </a:p>
        </p:txBody>
      </p:sp>
      <p:pic>
        <p:nvPicPr>
          <p:cNvPr id="4098" name="Picture 2" descr="C:\Users\e4075868\AppData\Local\Microsoft\Windows\Temporary Internet Files\Content.IE5\4JPRA91W\students_group_work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193673"/>
            <a:ext cx="1931561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e4075868\AppData\Local\Microsoft\Windows\Temporary Internet Files\Content.IE5\RP2BT71J\orange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208" y="5193673"/>
            <a:ext cx="1697360" cy="154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e4075868\AppData\Local\Microsoft\Windows\Temporary Internet Files\Content.IE5\JODDZX2B\awesomepapertowels[1]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979774"/>
            <a:ext cx="1860798" cy="175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Users\e4075868\AppData\Local\Microsoft\Windows\Temporary Internet Files\Content.IE5\J801ZEEM\6511213727_7e090b88e2_z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092937" y="5340523"/>
            <a:ext cx="2391284" cy="56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42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THE GREAT CIRCLE OF THE ORANGE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Mould your orange, so it is as close to a sphere as possible.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Using string, find the circumference of the orange and hence calculate the radius.</a:t>
            </a:r>
            <a:endParaRPr lang="en-A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437112"/>
            <a:ext cx="32385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366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THE GREAT CIRCLE OF THE ORANGE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AU" dirty="0" smtClean="0"/>
              <a:t>Use your radius and compass to draw the great circle of the orange.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 smtClean="0">
                <a:solidFill>
                  <a:srgbClr val="0070C0"/>
                </a:solidFill>
              </a:rPr>
              <a:t>If we peel an orange how many great circles do you think your peel will fill up? </a:t>
            </a:r>
          </a:p>
          <a:p>
            <a:pPr marL="0" indent="0">
              <a:buNone/>
            </a:pPr>
            <a:r>
              <a:rPr lang="en-AU" b="1" dirty="0" smtClean="0"/>
              <a:t>(draw that many circles)</a:t>
            </a:r>
          </a:p>
          <a:p>
            <a:pPr marL="0" indent="0">
              <a:buNone/>
            </a:pPr>
            <a:endParaRPr lang="en-AU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617252"/>
            <a:ext cx="2734444" cy="1898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168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Lets get </a:t>
            </a:r>
            <a:r>
              <a:rPr lang="en-AU" dirty="0" err="1" smtClean="0">
                <a:latin typeface="Algerian" panose="04020705040A02060702" pitchFamily="82" charset="0"/>
              </a:rPr>
              <a:t>peelin</a:t>
            </a:r>
            <a:r>
              <a:rPr lang="en-AU" dirty="0" smtClean="0">
                <a:latin typeface="Algerian" panose="04020705040A02060702" pitchFamily="82" charset="0"/>
              </a:rPr>
              <a:t>’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-   Carefully peel the orange</a:t>
            </a:r>
          </a:p>
          <a:p>
            <a:pPr>
              <a:buFontTx/>
              <a:buChar char="-"/>
            </a:pPr>
            <a:r>
              <a:rPr lang="en-AU" dirty="0" smtClean="0"/>
              <a:t>Fill as many Great Circles with the peel as possible. Make sure the pieces of peel </a:t>
            </a:r>
            <a:r>
              <a:rPr lang="en-AU" b="1" u="sng" dirty="0" smtClean="0"/>
              <a:t>don’t</a:t>
            </a:r>
            <a:r>
              <a:rPr lang="en-AU" dirty="0" smtClean="0"/>
              <a:t> overlap. (do one circle at a time)</a:t>
            </a:r>
          </a:p>
          <a:p>
            <a:pPr>
              <a:buFontTx/>
              <a:buChar char="-"/>
            </a:pPr>
            <a:r>
              <a:rPr lang="en-AU" dirty="0" smtClean="0"/>
              <a:t>Record the number of Great Circles you have filled.</a:t>
            </a:r>
            <a:endParaRPr lang="en-AU" dirty="0"/>
          </a:p>
        </p:txBody>
      </p:sp>
      <p:pic>
        <p:nvPicPr>
          <p:cNvPr id="5122" name="Picture 2" descr="C:\Users\e4075868\AppData\Local\Microsoft\Windows\Temporary Internet Files\Content.IE5\4JPRA91W\FCpQ8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977908"/>
            <a:ext cx="285750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6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67544" y="3005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mtClean="0">
                <a:latin typeface="Algerian" panose="04020705040A02060702" pitchFamily="82" charset="0"/>
              </a:rPr>
              <a:t>Questions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30854" y="1260585"/>
            <a:ext cx="8229600" cy="543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AU" dirty="0" smtClean="0"/>
              <a:t>Write a mathematical expression for the area covered in each great circle.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How many circles did you cover?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Based on your results, create a rule or equation that gives the surface area of the orange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Do you think this will work for all spheres?</a:t>
            </a:r>
          </a:p>
          <a:p>
            <a:pPr marL="514350" indent="-514350">
              <a:buFont typeface="+mj-lt"/>
              <a:buAutoNum type="arabicPeriod"/>
            </a:pPr>
            <a:endParaRPr lang="en-AU" dirty="0" smtClean="0"/>
          </a:p>
          <a:p>
            <a:pPr marL="514350" indent="-514350">
              <a:buFont typeface="+mj-lt"/>
              <a:buAutoNum type="arabicPeriod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u="sng" dirty="0" smtClean="0"/>
              <a:t>BE PREPARED TO SHARE YOUR FINDINGS</a:t>
            </a:r>
            <a:endParaRPr lang="en-AU" u="sng" dirty="0"/>
          </a:p>
        </p:txBody>
      </p:sp>
      <p:pic>
        <p:nvPicPr>
          <p:cNvPr id="6148" name="Picture 4" descr="C:\Users\e4075868\AppData\Local\Microsoft\Windows\Temporary Internet Files\Content.IE5\4JPRA91W\ThinkingDot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682" y="4293096"/>
            <a:ext cx="1337772" cy="181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2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The actual formula for surface area of a sphere is…</a:t>
            </a:r>
            <a:endParaRPr lang="en-AU" dirty="0"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964788" y="2708920"/>
                <a:ext cx="5688632" cy="1477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𝟒</m:t>
                      </m:r>
                      <m:r>
                        <a:rPr lang="en-AU" sz="8800" b="1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𝝅</m:t>
                      </m:r>
                      <m:sSup>
                        <m:sSupPr>
                          <m:ctrlPr>
                            <a:rPr lang="en-AU" sz="8800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8800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𝒓</m:t>
                          </m:r>
                        </m:e>
                        <m:sup>
                          <m:r>
                            <a:rPr lang="en-AU" sz="8800" b="1" i="1" smtClean="0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88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788" y="2708920"/>
                <a:ext cx="5688632" cy="147713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5" name="Picture 3" descr="C:\Users\e4075868\AppData\Local\Microsoft\Windows\Temporary Internet Files\Content.IE5\4JPRA91W\wow-155268__18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725144"/>
            <a:ext cx="25146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446021" y="5226391"/>
            <a:ext cx="4057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Is this what you found?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93516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Clean up!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Make sure all the rubbish (peels and paper) go in the bins</a:t>
            </a:r>
          </a:p>
          <a:p>
            <a:r>
              <a:rPr lang="en-AU" dirty="0" smtClean="0"/>
              <a:t>You may eat the oranges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9218" name="Picture 2" descr="C:\Users\e4075868\AppData\Local\Microsoft\Windows\Temporary Internet Files\Content.IE5\JODDZX2B\4713773-cloud-burst-explosion-with-cleaning-equipment-for-business-or-household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501008"/>
            <a:ext cx="3140968" cy="314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43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Find the Surface Area</a:t>
            </a:r>
            <a:endParaRPr lang="en-AU" dirty="0"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Use the formula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0070C0"/>
                        </a:solidFill>
                        <a:latin typeface="Cambria Math"/>
                      </a:rPr>
                      <m:t>𝟒</m:t>
                    </m:r>
                    <m:r>
                      <a:rPr lang="en-AU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𝝅</m:t>
                    </m:r>
                    <m:sSup>
                      <m:sSupPr>
                        <m:ctrlPr>
                          <a:rPr lang="en-AU" b="1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𝒓</m:t>
                        </m:r>
                      </m:e>
                      <m:sup>
                        <m:r>
                          <a:rPr lang="en-AU" b="1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dirty="0" smtClean="0"/>
                  <a:t> to find the surface area of a sphere with the following radii</a:t>
                </a:r>
              </a:p>
              <a:p>
                <a:endParaRPr lang="en-AU" dirty="0"/>
              </a:p>
              <a:p>
                <a:pPr marL="514350" indent="-514350">
                  <a:buAutoNum type="alphaLcParenR"/>
                </a:pPr>
                <a:r>
                  <a:rPr lang="en-AU" dirty="0" smtClean="0"/>
                  <a:t>5cm</a:t>
                </a:r>
              </a:p>
              <a:p>
                <a:pPr marL="514350" indent="-514350">
                  <a:buAutoNum type="alphaLcParenR"/>
                </a:pPr>
                <a:r>
                  <a:rPr lang="en-AU" dirty="0" smtClean="0"/>
                  <a:t>7cm</a:t>
                </a:r>
              </a:p>
              <a:p>
                <a:pPr marL="514350" indent="-514350">
                  <a:buAutoNum type="alphaLcParenR"/>
                </a:pPr>
                <a:r>
                  <a:rPr lang="en-AU" dirty="0" smtClean="0"/>
                  <a:t>10mm 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348" r="-18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 descr="C:\Users\e4075868\AppData\Local\Microsoft\Windows\Temporary Internet Files\Content.IE5\JODDZX2B\600px-Simple_sphere_with_radii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083915"/>
            <a:ext cx="2353444" cy="235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68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I hope you found this lesson…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94152" y="2177961"/>
            <a:ext cx="50113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7200" dirty="0" smtClean="0">
                <a:latin typeface="Algerian" panose="04020705040A02060702" pitchFamily="82" charset="0"/>
              </a:rPr>
              <a:t> A Peeling</a:t>
            </a:r>
            <a:endParaRPr lang="en-AU" sz="7200" dirty="0">
              <a:latin typeface="Algerian" panose="04020705040A02060702" pitchFamily="82" charset="0"/>
            </a:endParaRPr>
          </a:p>
        </p:txBody>
      </p:sp>
      <p:pic>
        <p:nvPicPr>
          <p:cNvPr id="7170" name="Picture 2" descr="C:\Users\e4075868\AppData\Local\Microsoft\Windows\Temporary Internet Files\Content.IE5\RP2BT71J\arancia_sbucciata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381413"/>
            <a:ext cx="4464124" cy="296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29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451</Words>
  <Application>Microsoft Office PowerPoint</Application>
  <PresentationFormat>On-screen Show (4:3)</PresentationFormat>
  <Paragraphs>69</Paragraphs>
  <Slides>11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Investigation</vt:lpstr>
      <vt:lpstr>You will need</vt:lpstr>
      <vt:lpstr>THE GREAT CIRCLE OF THE ORANGE</vt:lpstr>
      <vt:lpstr>THE GREAT CIRCLE OF THE ORANGE</vt:lpstr>
      <vt:lpstr>Lets get peelin’</vt:lpstr>
      <vt:lpstr>PowerPoint Presentation</vt:lpstr>
      <vt:lpstr>The actual formula for surface area of a sphere is…</vt:lpstr>
      <vt:lpstr>Clean up!</vt:lpstr>
      <vt:lpstr>Find the Surface Area</vt:lpstr>
      <vt:lpstr>I hope you found this lesson…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MORGAN Adam</dc:creator>
  <cp:lastModifiedBy>MORGAN Adam</cp:lastModifiedBy>
  <cp:revision>27</cp:revision>
  <dcterms:created xsi:type="dcterms:W3CDTF">2017-05-04T01:55:16Z</dcterms:created>
  <dcterms:modified xsi:type="dcterms:W3CDTF">2017-05-05T08:28:05Z</dcterms:modified>
</cp:coreProperties>
</file>
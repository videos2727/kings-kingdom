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3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328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152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673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768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79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365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269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43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742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952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10B23-3F13-4A7D-B700-81FFB33799FE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B173E-8DAB-49F6-97A5-47C071160E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955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Solving quadratics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22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0845" y="2852936"/>
            <a:ext cx="70775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Method 1 - </a:t>
            </a:r>
            <a:r>
              <a:rPr lang="en-US" sz="5400" b="1" cap="none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Factorising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3942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590800" y="2378075"/>
            <a:ext cx="50292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rgbClr val="800000"/>
                </a:solidFill>
              </a:rPr>
              <a:t>But first….we need two bits of </a:t>
            </a:r>
            <a:r>
              <a:rPr lang="en-US" b="1">
                <a:solidFill>
                  <a:srgbClr val="800000"/>
                </a:solidFill>
              </a:rPr>
              <a:t>BACKGROUND KNOWLEDGE!!</a:t>
            </a:r>
            <a:endParaRPr lang="en-AU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299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676400" y="533400"/>
            <a:ext cx="32766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800000"/>
                </a:solidFill>
              </a:rPr>
              <a:t>Background #1</a:t>
            </a:r>
            <a:endParaRPr lang="en-AU" sz="3600">
              <a:solidFill>
                <a:srgbClr val="800000"/>
              </a:solidFill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590800" y="1219200"/>
            <a:ext cx="1600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 </a:t>
            </a:r>
            <a:r>
              <a:rPr lang="en-US">
                <a:sym typeface="Symbol" pitchFamily="18" charset="2"/>
              </a:rPr>
              <a:t> 0 =</a:t>
            </a:r>
            <a:endParaRPr lang="en-AU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733800" y="1219200"/>
            <a:ext cx="838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</a:t>
            </a:r>
            <a:endParaRPr lang="en-AU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5181600" y="1219200"/>
            <a:ext cx="1600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-2 </a:t>
            </a:r>
            <a:r>
              <a:rPr lang="en-US" dirty="0">
                <a:sym typeface="Symbol" pitchFamily="18" charset="2"/>
              </a:rPr>
              <a:t> 0 =</a:t>
            </a:r>
            <a:endParaRPr lang="en-AU" dirty="0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2590800" y="1676400"/>
            <a:ext cx="1600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 </a:t>
            </a:r>
            <a:r>
              <a:rPr lang="en-US">
                <a:sym typeface="Symbol" pitchFamily="18" charset="2"/>
              </a:rPr>
              <a:t> 5 =</a:t>
            </a:r>
            <a:endParaRPr lang="en-AU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248400" y="1219200"/>
            <a:ext cx="838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</a:t>
            </a:r>
            <a:endParaRPr lang="en-AU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3733800" y="1676400"/>
            <a:ext cx="838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</a:t>
            </a:r>
            <a:endParaRPr lang="en-AU"/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2590800" y="2133600"/>
            <a:ext cx="58674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FF"/>
                </a:solidFill>
              </a:rPr>
              <a:t>If we multiply any two numbers together and the result is zero, then…..</a:t>
            </a:r>
            <a:endParaRPr lang="en-AU">
              <a:solidFill>
                <a:srgbClr val="0000FF"/>
              </a:solidFill>
            </a:endParaRP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2590800" y="3048000"/>
            <a:ext cx="58674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800000"/>
                </a:solidFill>
              </a:rPr>
              <a:t>One of the numbers must be zero! </a:t>
            </a:r>
            <a:r>
              <a:rPr lang="en-US">
                <a:solidFill>
                  <a:srgbClr val="800000"/>
                </a:solidFill>
              </a:rPr>
              <a:t>(Maybe both are)</a:t>
            </a:r>
            <a:endParaRPr lang="en-AU">
              <a:solidFill>
                <a:srgbClr val="800000"/>
              </a:solidFill>
            </a:endParaRP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2209800" y="4343400"/>
            <a:ext cx="518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If </a:t>
            </a:r>
            <a:r>
              <a:rPr lang="en-US" i="1"/>
              <a:t>a </a:t>
            </a:r>
            <a:r>
              <a:rPr lang="en-US">
                <a:sym typeface="Symbol" pitchFamily="18" charset="2"/>
              </a:rPr>
              <a:t> </a:t>
            </a:r>
            <a:r>
              <a:rPr lang="en-US" i="1">
                <a:sym typeface="Symbol" pitchFamily="18" charset="2"/>
              </a:rPr>
              <a:t>b</a:t>
            </a:r>
            <a:r>
              <a:rPr lang="en-US">
                <a:sym typeface="Symbol" pitchFamily="18" charset="2"/>
              </a:rPr>
              <a:t> = 0 then we can conclude….</a:t>
            </a:r>
            <a:endParaRPr lang="en-AU">
              <a:sym typeface="Symbol" pitchFamily="18" charset="2"/>
            </a:endParaRP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2667000" y="4724400"/>
            <a:ext cx="518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FF"/>
                </a:solidFill>
              </a:rPr>
              <a:t>Either </a:t>
            </a:r>
            <a:r>
              <a:rPr lang="en-US" i="1">
                <a:solidFill>
                  <a:srgbClr val="0000FF"/>
                </a:solidFill>
              </a:rPr>
              <a:t>a </a:t>
            </a:r>
            <a:r>
              <a:rPr lang="en-US">
                <a:solidFill>
                  <a:srgbClr val="0000FF"/>
                </a:solidFill>
                <a:sym typeface="Symbol" pitchFamily="18" charset="2"/>
              </a:rPr>
              <a:t>= 0 </a:t>
            </a:r>
            <a:r>
              <a:rPr lang="en-US" b="1">
                <a:solidFill>
                  <a:srgbClr val="0000FF"/>
                </a:solidFill>
                <a:sym typeface="Symbol" pitchFamily="18" charset="2"/>
              </a:rPr>
              <a:t>OR </a:t>
            </a:r>
            <a:r>
              <a:rPr lang="en-US" i="1">
                <a:solidFill>
                  <a:srgbClr val="0000FF"/>
                </a:solidFill>
                <a:sym typeface="Symbol" pitchFamily="18" charset="2"/>
              </a:rPr>
              <a:t>b = </a:t>
            </a:r>
            <a:r>
              <a:rPr lang="en-US">
                <a:solidFill>
                  <a:srgbClr val="0000FF"/>
                </a:solidFill>
                <a:sym typeface="Symbol" pitchFamily="18" charset="2"/>
              </a:rPr>
              <a:t>0</a:t>
            </a:r>
            <a:endParaRPr lang="en-AU" b="1">
              <a:solidFill>
                <a:srgbClr val="0000FF"/>
              </a:solidFill>
              <a:sym typeface="Symbol" pitchFamily="18" charset="2"/>
            </a:endParaRPr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1905000" y="3810000"/>
            <a:ext cx="662940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/>
              <a:t>Now, using letters rather than numbers,</a:t>
            </a:r>
            <a:endParaRPr lang="en-AU" sz="2800" b="1">
              <a:sym typeface="Symbol" pitchFamily="18" charset="2"/>
            </a:endParaRP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2209800" y="5257800"/>
            <a:ext cx="6248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If (</a:t>
            </a:r>
            <a:r>
              <a:rPr lang="en-US" i="1"/>
              <a:t>a – </a:t>
            </a:r>
            <a:r>
              <a:rPr lang="en-US"/>
              <a:t>2 ) </a:t>
            </a:r>
            <a:r>
              <a:rPr lang="en-US">
                <a:sym typeface="Symbol" pitchFamily="18" charset="2"/>
              </a:rPr>
              <a:t> (</a:t>
            </a:r>
            <a:r>
              <a:rPr lang="en-US" i="1">
                <a:sym typeface="Symbol" pitchFamily="18" charset="2"/>
              </a:rPr>
              <a:t>a</a:t>
            </a:r>
            <a:r>
              <a:rPr lang="en-US">
                <a:sym typeface="Symbol" pitchFamily="18" charset="2"/>
              </a:rPr>
              <a:t> – 1) = 0 then we can conclude….</a:t>
            </a:r>
            <a:endParaRPr lang="en-AU">
              <a:sym typeface="Symbol" pitchFamily="18" charset="2"/>
            </a:endParaRP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2667000" y="5638800"/>
            <a:ext cx="518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FF"/>
                </a:solidFill>
              </a:rPr>
              <a:t>Either </a:t>
            </a:r>
            <a:r>
              <a:rPr lang="en-US" i="1">
                <a:solidFill>
                  <a:srgbClr val="0000FF"/>
                </a:solidFill>
              </a:rPr>
              <a:t>a – </a:t>
            </a:r>
            <a:r>
              <a:rPr lang="en-US">
                <a:solidFill>
                  <a:srgbClr val="0000FF"/>
                </a:solidFill>
              </a:rPr>
              <a:t>2 </a:t>
            </a:r>
            <a:r>
              <a:rPr lang="en-US" i="1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0000FF"/>
                </a:solidFill>
                <a:sym typeface="Symbol" pitchFamily="18" charset="2"/>
              </a:rPr>
              <a:t>= 0 </a:t>
            </a:r>
            <a:r>
              <a:rPr lang="en-US" b="1">
                <a:solidFill>
                  <a:srgbClr val="0000FF"/>
                </a:solidFill>
                <a:sym typeface="Symbol" pitchFamily="18" charset="2"/>
              </a:rPr>
              <a:t>OR </a:t>
            </a:r>
            <a:r>
              <a:rPr lang="en-US" i="1">
                <a:solidFill>
                  <a:srgbClr val="0000FF"/>
                </a:solidFill>
                <a:sym typeface="Symbol" pitchFamily="18" charset="2"/>
              </a:rPr>
              <a:t>a</a:t>
            </a:r>
            <a:r>
              <a:rPr lang="en-US">
                <a:solidFill>
                  <a:srgbClr val="0000FF"/>
                </a:solidFill>
                <a:sym typeface="Symbol" pitchFamily="18" charset="2"/>
              </a:rPr>
              <a:t> – 1 </a:t>
            </a:r>
            <a:r>
              <a:rPr lang="en-US" i="1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>
                <a:solidFill>
                  <a:srgbClr val="0000FF"/>
                </a:solidFill>
                <a:sym typeface="Symbol" pitchFamily="18" charset="2"/>
              </a:rPr>
              <a:t>0</a:t>
            </a:r>
            <a:endParaRPr lang="en-AU" b="1">
              <a:solidFill>
                <a:srgbClr val="0000FF"/>
              </a:solidFill>
              <a:sym typeface="Symbol" pitchFamily="18" charset="2"/>
            </a:endParaRP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5181600" y="1676400"/>
            <a:ext cx="1600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a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 0 =</a:t>
            </a:r>
            <a:endParaRPr lang="en-AU"/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6248400" y="1676400"/>
            <a:ext cx="838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</a:t>
            </a:r>
            <a:endParaRPr lang="en-AU"/>
          </a:p>
        </p:txBody>
      </p:sp>
      <p:sp>
        <p:nvSpPr>
          <p:cNvPr id="5138" name="Line 18"/>
          <p:cNvSpPr>
            <a:spLocks noChangeShapeType="1"/>
          </p:cNvSpPr>
          <p:nvPr/>
        </p:nvSpPr>
        <p:spPr bwMode="auto">
          <a:xfrm>
            <a:off x="4038600" y="6019800"/>
            <a:ext cx="0" cy="381000"/>
          </a:xfrm>
          <a:prstGeom prst="line">
            <a:avLst/>
          </a:prstGeom>
          <a:noFill/>
          <a:ln w="57150" cap="sq">
            <a:solidFill>
              <a:srgbClr val="FF3300"/>
            </a:solidFill>
            <a:round/>
            <a:headEnd type="none" w="sm" len="sm"/>
            <a:tailEnd type="triangle" w="med" len="med"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5139" name="Text Box 19"/>
          <p:cNvSpPr txBox="1">
            <a:spLocks noChangeArrowheads="1"/>
          </p:cNvSpPr>
          <p:nvPr/>
        </p:nvSpPr>
        <p:spPr bwMode="auto">
          <a:xfrm>
            <a:off x="3581400" y="6324600"/>
            <a:ext cx="1600200" cy="6096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400" b="1" i="1"/>
              <a:t>a</a:t>
            </a:r>
            <a:r>
              <a:rPr lang="en-US" sz="3400" b="1"/>
              <a:t> = 2</a:t>
            </a:r>
            <a:endParaRPr lang="en-AU" sz="3400" b="1" i="1"/>
          </a:p>
        </p:txBody>
      </p:sp>
      <p:sp>
        <p:nvSpPr>
          <p:cNvPr id="5140" name="Text Box 20"/>
          <p:cNvSpPr txBox="1">
            <a:spLocks noChangeArrowheads="1"/>
          </p:cNvSpPr>
          <p:nvPr/>
        </p:nvSpPr>
        <p:spPr bwMode="auto">
          <a:xfrm>
            <a:off x="5486400" y="6324600"/>
            <a:ext cx="1600200" cy="6096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400" b="1" i="1"/>
              <a:t>a</a:t>
            </a:r>
            <a:r>
              <a:rPr lang="en-US" sz="3400" b="1"/>
              <a:t> = 1</a:t>
            </a:r>
            <a:endParaRPr lang="en-AU" sz="3400" b="1" i="1"/>
          </a:p>
        </p:txBody>
      </p:sp>
      <p:sp>
        <p:nvSpPr>
          <p:cNvPr id="5141" name="Line 21"/>
          <p:cNvSpPr>
            <a:spLocks noChangeShapeType="1"/>
          </p:cNvSpPr>
          <p:nvPr/>
        </p:nvSpPr>
        <p:spPr bwMode="auto">
          <a:xfrm>
            <a:off x="5867400" y="6019800"/>
            <a:ext cx="0" cy="381000"/>
          </a:xfrm>
          <a:prstGeom prst="line">
            <a:avLst/>
          </a:prstGeom>
          <a:noFill/>
          <a:ln w="57150" cap="sq">
            <a:solidFill>
              <a:srgbClr val="FF3300"/>
            </a:solidFill>
            <a:round/>
            <a:headEnd type="none" w="sm" len="sm"/>
            <a:tailEnd type="triangle" w="med" len="med"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5142" name="Text Box 22"/>
          <p:cNvSpPr txBox="1">
            <a:spLocks noChangeArrowheads="1"/>
          </p:cNvSpPr>
          <p:nvPr/>
        </p:nvSpPr>
        <p:spPr bwMode="auto">
          <a:xfrm>
            <a:off x="6934200" y="5670550"/>
            <a:ext cx="1981200" cy="1187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</a:rPr>
              <a:t>Making </a:t>
            </a:r>
            <a:r>
              <a:rPr lang="en-US" i="1">
                <a:solidFill>
                  <a:srgbClr val="008000"/>
                </a:solidFill>
              </a:rPr>
              <a:t>a</a:t>
            </a:r>
            <a:r>
              <a:rPr lang="en-US">
                <a:solidFill>
                  <a:srgbClr val="008000"/>
                </a:solidFill>
              </a:rPr>
              <a:t> the subject of each equation.</a:t>
            </a:r>
            <a:endParaRPr lang="en-AU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592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  <p:bldP spid="5129" grpId="0" autoUpdateAnimBg="0"/>
      <p:bldP spid="5130" grpId="0" autoUpdateAnimBg="0"/>
      <p:bldP spid="5131" grpId="0" autoUpdateAnimBg="0"/>
      <p:bldP spid="5132" grpId="0" autoUpdateAnimBg="0"/>
      <p:bldP spid="5133" grpId="0" autoUpdateAnimBg="0"/>
      <p:bldP spid="5134" grpId="0" autoUpdateAnimBg="0"/>
      <p:bldP spid="5135" grpId="0" autoUpdateAnimBg="0"/>
      <p:bldP spid="5136" grpId="0" autoUpdateAnimBg="0"/>
      <p:bldP spid="5137" grpId="0" autoUpdateAnimBg="0"/>
      <p:bldP spid="5138" grpId="0" animBg="1"/>
      <p:bldP spid="5139" grpId="0" autoUpdateAnimBg="0"/>
      <p:bldP spid="5140" grpId="0" autoUpdateAnimBg="0"/>
      <p:bldP spid="5141" grpId="0" animBg="1"/>
      <p:bldP spid="514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676400" y="533400"/>
            <a:ext cx="32766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800000"/>
                </a:solidFill>
              </a:rPr>
              <a:t>Example #3</a:t>
            </a:r>
            <a:endParaRPr lang="en-AU" sz="3600">
              <a:solidFill>
                <a:srgbClr val="800000"/>
              </a:solidFill>
            </a:endParaRP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4343400" y="609600"/>
            <a:ext cx="381000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solidFill>
                  <a:srgbClr val="333399"/>
                </a:solidFill>
              </a:rPr>
              <a:t>Solve </a:t>
            </a:r>
            <a:r>
              <a:rPr lang="en-US" sz="3200" b="1" i="1">
                <a:solidFill>
                  <a:srgbClr val="333399"/>
                </a:solidFill>
              </a:rPr>
              <a:t>x</a:t>
            </a:r>
            <a:r>
              <a:rPr lang="en-US" sz="3200" b="1" baseline="30000">
                <a:solidFill>
                  <a:srgbClr val="333399"/>
                </a:solidFill>
              </a:rPr>
              <a:t>2</a:t>
            </a:r>
            <a:r>
              <a:rPr lang="en-US" sz="3200" b="1">
                <a:solidFill>
                  <a:srgbClr val="333399"/>
                </a:solidFill>
              </a:rPr>
              <a:t> + 4</a:t>
            </a:r>
            <a:r>
              <a:rPr lang="en-US" sz="3200" b="1" i="1">
                <a:solidFill>
                  <a:srgbClr val="333399"/>
                </a:solidFill>
              </a:rPr>
              <a:t>x + </a:t>
            </a:r>
            <a:r>
              <a:rPr lang="en-US" sz="3200" b="1">
                <a:solidFill>
                  <a:srgbClr val="333399"/>
                </a:solidFill>
              </a:rPr>
              <a:t>3 = 0</a:t>
            </a:r>
            <a:endParaRPr lang="en-AU" sz="3200" b="1">
              <a:solidFill>
                <a:srgbClr val="333399"/>
              </a:solidFill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752600" y="12954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1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3124200" y="1295400"/>
            <a:ext cx="5181600" cy="1187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Use Background 2 information to classify </a:t>
            </a:r>
            <a:r>
              <a:rPr lang="en-US" i="1"/>
              <a:t>x</a:t>
            </a:r>
            <a:r>
              <a:rPr lang="en-US" baseline="30000"/>
              <a:t>2</a:t>
            </a:r>
            <a:r>
              <a:rPr lang="en-US"/>
              <a:t> + 4</a:t>
            </a:r>
            <a:r>
              <a:rPr lang="en-US" i="1"/>
              <a:t>x + </a:t>
            </a:r>
            <a:r>
              <a:rPr lang="en-US"/>
              <a:t>3 as a </a:t>
            </a:r>
            <a:r>
              <a:rPr lang="en-US" b="1"/>
              <a:t>TYPE 3 </a:t>
            </a:r>
            <a:r>
              <a:rPr lang="en-US"/>
              <a:t>&amp; factorise to (</a:t>
            </a:r>
            <a:r>
              <a:rPr lang="en-US" i="1"/>
              <a:t>x + </a:t>
            </a:r>
            <a:r>
              <a:rPr lang="en-US"/>
              <a:t>1) ( </a:t>
            </a:r>
            <a:r>
              <a:rPr lang="en-US" i="1"/>
              <a:t>x</a:t>
            </a:r>
            <a:r>
              <a:rPr lang="en-US"/>
              <a:t> + 3) </a:t>
            </a:r>
            <a:endParaRPr lang="en-AU"/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1752600" y="25146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2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3124200" y="2514600"/>
            <a:ext cx="51816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Rewrite the original equation as            </a:t>
            </a:r>
            <a:r>
              <a:rPr lang="en-US" b="1">
                <a:solidFill>
                  <a:srgbClr val="333399"/>
                </a:solidFill>
              </a:rPr>
              <a:t> (</a:t>
            </a:r>
            <a:r>
              <a:rPr lang="en-US" b="1" i="1">
                <a:solidFill>
                  <a:srgbClr val="333399"/>
                </a:solidFill>
              </a:rPr>
              <a:t>x + </a:t>
            </a:r>
            <a:r>
              <a:rPr lang="en-US" b="1">
                <a:solidFill>
                  <a:srgbClr val="333399"/>
                </a:solidFill>
              </a:rPr>
              <a:t>1)(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+ 3) = 0</a:t>
            </a:r>
            <a:endParaRPr lang="en-AU" b="1">
              <a:solidFill>
                <a:srgbClr val="333399"/>
              </a:solidFill>
            </a:endParaRP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1752600" y="34290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3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3124200" y="3429000"/>
            <a:ext cx="5181600" cy="9445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As this  means                                       </a:t>
            </a:r>
            <a:r>
              <a:rPr lang="en-US">
                <a:solidFill>
                  <a:srgbClr val="333399"/>
                </a:solidFill>
              </a:rPr>
              <a:t>(</a:t>
            </a:r>
            <a:r>
              <a:rPr lang="en-US" b="1" i="1">
                <a:solidFill>
                  <a:srgbClr val="333399"/>
                </a:solidFill>
              </a:rPr>
              <a:t>x + </a:t>
            </a:r>
            <a:r>
              <a:rPr lang="en-US" b="1">
                <a:solidFill>
                  <a:srgbClr val="333399"/>
                </a:solidFill>
              </a:rPr>
              <a:t>1</a:t>
            </a:r>
            <a:r>
              <a:rPr lang="en-US" b="1" i="1">
                <a:solidFill>
                  <a:srgbClr val="333399"/>
                </a:solidFill>
              </a:rPr>
              <a:t>)</a:t>
            </a:r>
            <a:r>
              <a:rPr lang="en-US" b="1">
                <a:solidFill>
                  <a:srgbClr val="333399"/>
                </a:solidFill>
              </a:rPr>
              <a:t> </a:t>
            </a:r>
            <a:r>
              <a:rPr lang="en-US" sz="3200" b="1">
                <a:solidFill>
                  <a:srgbClr val="CC0000"/>
                </a:solidFill>
                <a:sym typeface="Symbol" pitchFamily="18" charset="2"/>
              </a:rPr>
              <a:t></a:t>
            </a:r>
            <a:r>
              <a:rPr lang="en-US" b="1">
                <a:solidFill>
                  <a:srgbClr val="333399"/>
                </a:solidFill>
                <a:sym typeface="Symbol" pitchFamily="18" charset="2"/>
              </a:rPr>
              <a:t> </a:t>
            </a:r>
            <a:r>
              <a:rPr lang="en-US" b="1">
                <a:solidFill>
                  <a:srgbClr val="333399"/>
                </a:solidFill>
              </a:rPr>
              <a:t>(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+ 3) = 0</a:t>
            </a:r>
            <a:endParaRPr lang="en-AU" b="1">
              <a:solidFill>
                <a:srgbClr val="333399"/>
              </a:solidFill>
            </a:endParaRPr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3124200" y="4343400"/>
            <a:ext cx="5410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we can conclude that</a:t>
            </a:r>
            <a:endParaRPr lang="en-AU"/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3124200" y="48768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/>
              <a:t>x</a:t>
            </a:r>
            <a:r>
              <a:rPr lang="en-US" b="1"/>
              <a:t> + 1 = 0</a:t>
            </a:r>
            <a:endParaRPr lang="en-AU" b="1" i="1"/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4495800" y="48768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OR</a:t>
            </a:r>
            <a:endParaRPr lang="en-AU" b="1" i="1"/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5867400" y="48768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/>
              <a:t>x</a:t>
            </a:r>
            <a:r>
              <a:rPr lang="en-US" b="1"/>
              <a:t> + 3 = 0</a:t>
            </a:r>
            <a:endParaRPr lang="en-AU" b="1" i="1"/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1752600" y="55626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4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4495800" y="60960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OR</a:t>
            </a:r>
            <a:endParaRPr lang="en-AU" b="1" i="1"/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5715000" y="6019800"/>
            <a:ext cx="15240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i="1"/>
              <a:t>x = – </a:t>
            </a:r>
            <a:r>
              <a:rPr lang="en-US" sz="3600" b="1"/>
              <a:t>3</a:t>
            </a:r>
            <a:endParaRPr lang="en-AU" sz="3600" b="1"/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3200400" y="6096000"/>
            <a:ext cx="1524000" cy="53340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5715000" y="6096000"/>
            <a:ext cx="1447800" cy="53340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3124200" y="5562600"/>
            <a:ext cx="4953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Make </a:t>
            </a:r>
            <a:r>
              <a:rPr lang="en-US" i="1"/>
              <a:t>x</a:t>
            </a:r>
            <a:r>
              <a:rPr lang="en-US"/>
              <a:t> the subject </a:t>
            </a:r>
            <a:endParaRPr lang="en-AU"/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3276600" y="6019800"/>
            <a:ext cx="15240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i="1"/>
              <a:t>x</a:t>
            </a:r>
            <a:r>
              <a:rPr lang="en-US" sz="3600" b="1"/>
              <a:t>  = –1 </a:t>
            </a:r>
            <a:endParaRPr lang="en-AU" sz="3600" b="1" i="1"/>
          </a:p>
        </p:txBody>
      </p:sp>
    </p:spTree>
    <p:extLst>
      <p:ext uri="{BB962C8B-B14F-4D97-AF65-F5344CB8AC3E}">
        <p14:creationId xmlns:p14="http://schemas.microsoft.com/office/powerpoint/2010/main" val="518938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utoUpdateAnimBg="0"/>
      <p:bldP spid="31747" grpId="0" autoUpdateAnimBg="0"/>
      <p:bldP spid="31748" grpId="0" autoUpdateAnimBg="0"/>
      <p:bldP spid="31749" grpId="0" autoUpdateAnimBg="0"/>
      <p:bldP spid="31750" grpId="0" autoUpdateAnimBg="0"/>
      <p:bldP spid="31751" grpId="0" autoUpdateAnimBg="0"/>
      <p:bldP spid="31752" grpId="0" autoUpdateAnimBg="0"/>
      <p:bldP spid="31753" grpId="0" autoUpdateAnimBg="0"/>
      <p:bldP spid="31754" grpId="0" autoUpdateAnimBg="0"/>
      <p:bldP spid="31755" grpId="0" autoUpdateAnimBg="0"/>
      <p:bldP spid="31756" grpId="0" autoUpdateAnimBg="0"/>
      <p:bldP spid="31757" grpId="0" autoUpdateAnimBg="0"/>
      <p:bldP spid="31758" grpId="0" autoUpdateAnimBg="0"/>
      <p:bldP spid="31759" grpId="0" autoUpdateAnimBg="0"/>
      <p:bldP spid="31760" grpId="0" autoUpdateAnimBg="0"/>
      <p:bldP spid="31761" grpId="0" animBg="1"/>
      <p:bldP spid="31762" grpId="0" animBg="1"/>
      <p:bldP spid="31763" grpId="0" autoUpdateAnimBg="0"/>
      <p:bldP spid="3176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676400" y="533400"/>
            <a:ext cx="32766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800000"/>
                </a:solidFill>
              </a:rPr>
              <a:t>Background #2</a:t>
            </a:r>
            <a:endParaRPr lang="en-AU" sz="3600">
              <a:solidFill>
                <a:srgbClr val="800000"/>
              </a:solidFill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057400" y="1143000"/>
            <a:ext cx="6248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800000"/>
                </a:solidFill>
              </a:rPr>
              <a:t>You need to revise how to </a:t>
            </a:r>
            <a:r>
              <a:rPr lang="en-US" b="1">
                <a:solidFill>
                  <a:srgbClr val="800000"/>
                </a:solidFill>
              </a:rPr>
              <a:t>factorise quadratics.</a:t>
            </a:r>
            <a:endParaRPr lang="en-AU" b="1">
              <a:solidFill>
                <a:srgbClr val="800000"/>
              </a:solidFill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133600" y="1524000"/>
            <a:ext cx="6172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0000FF"/>
                </a:solidFill>
              </a:rPr>
              <a:t>Study THE FORMATS in this table:</a:t>
            </a:r>
            <a:endParaRPr lang="en-AU" b="1">
              <a:solidFill>
                <a:srgbClr val="0000FF"/>
              </a:solidFill>
            </a:endParaRPr>
          </a:p>
        </p:txBody>
      </p:sp>
      <p:graphicFrame>
        <p:nvGraphicFramePr>
          <p:cNvPr id="6222" name="Group 78"/>
          <p:cNvGraphicFramePr>
            <a:graphicFrameLocks noGrp="1"/>
          </p:cNvGraphicFramePr>
          <p:nvPr/>
        </p:nvGraphicFramePr>
        <p:xfrm>
          <a:off x="1600200" y="2133600"/>
          <a:ext cx="7239000" cy="4275328"/>
        </p:xfrm>
        <a:graphic>
          <a:graphicData uri="http://schemas.openxmlformats.org/drawingml/2006/table">
            <a:tbl>
              <a:tblPr/>
              <a:tblGrid>
                <a:gridCol w="1066800"/>
                <a:gridCol w="2513013"/>
                <a:gridCol w="1782762"/>
                <a:gridCol w="1876425"/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TYPE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Distinguishing Features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Answer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2 terms each with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common factor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5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A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5) </a:t>
                      </a:r>
                      <a:endParaRPr kumimoji="0" lang="en-A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terms, only one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both terms are squares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always a minus sign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4 </a:t>
                      </a:r>
                      <a:endParaRPr kumimoji="0" lang="en-A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2)(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+ 2)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 terms: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x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 a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constant (number)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3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28 </a:t>
                      </a:r>
                      <a:endParaRPr kumimoji="0" lang="en-A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7)(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+ 4)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 terms like Type 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Number in front of 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7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4 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+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1)(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–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4)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189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4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76400" y="533400"/>
            <a:ext cx="32766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800000"/>
                </a:solidFill>
              </a:rPr>
              <a:t>Example #1</a:t>
            </a:r>
            <a:endParaRPr lang="en-AU" sz="3600">
              <a:solidFill>
                <a:srgbClr val="800000"/>
              </a:solidFill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343400" y="609600"/>
            <a:ext cx="320040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solidFill>
                  <a:srgbClr val="333399"/>
                </a:solidFill>
              </a:rPr>
              <a:t>Solve </a:t>
            </a:r>
            <a:r>
              <a:rPr lang="en-US" sz="3200" b="1" i="1">
                <a:solidFill>
                  <a:srgbClr val="333399"/>
                </a:solidFill>
              </a:rPr>
              <a:t>x</a:t>
            </a:r>
            <a:r>
              <a:rPr lang="en-US" sz="3200" b="1" baseline="30000">
                <a:solidFill>
                  <a:srgbClr val="333399"/>
                </a:solidFill>
              </a:rPr>
              <a:t>2</a:t>
            </a:r>
            <a:r>
              <a:rPr lang="en-US" sz="3200" b="1">
                <a:solidFill>
                  <a:srgbClr val="333399"/>
                </a:solidFill>
              </a:rPr>
              <a:t> – 16 = 0</a:t>
            </a:r>
            <a:endParaRPr lang="en-AU" sz="3200" b="1">
              <a:solidFill>
                <a:srgbClr val="333399"/>
              </a:solidFill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752600" y="12954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1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124200" y="1295400"/>
            <a:ext cx="5181600" cy="1187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Use Background 2 information to classify </a:t>
            </a:r>
            <a:r>
              <a:rPr lang="en-US" i="1"/>
              <a:t>x</a:t>
            </a:r>
            <a:r>
              <a:rPr lang="en-US" baseline="30000"/>
              <a:t>2</a:t>
            </a:r>
            <a:r>
              <a:rPr lang="en-US"/>
              <a:t> – 16 as a </a:t>
            </a:r>
            <a:r>
              <a:rPr lang="en-US" b="1"/>
              <a:t>TYPE 2 </a:t>
            </a:r>
            <a:r>
              <a:rPr lang="en-US"/>
              <a:t>&amp; factorise to (</a:t>
            </a:r>
            <a:r>
              <a:rPr lang="en-US" i="1"/>
              <a:t>x</a:t>
            </a:r>
            <a:r>
              <a:rPr lang="en-US"/>
              <a:t> – 4)(</a:t>
            </a:r>
            <a:r>
              <a:rPr lang="en-US" i="1"/>
              <a:t>x</a:t>
            </a:r>
            <a:r>
              <a:rPr lang="en-US"/>
              <a:t> + 4)</a:t>
            </a:r>
            <a:endParaRPr lang="en-AU"/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1752600" y="25146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2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3124200" y="2514600"/>
            <a:ext cx="51816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Rewrite the original equation as            </a:t>
            </a:r>
            <a:r>
              <a:rPr lang="en-US" b="1">
                <a:solidFill>
                  <a:srgbClr val="333399"/>
                </a:solidFill>
              </a:rPr>
              <a:t>(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– 4)(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+ 4) = 0</a:t>
            </a:r>
            <a:endParaRPr lang="en-AU" b="1">
              <a:solidFill>
                <a:srgbClr val="333399"/>
              </a:solidFill>
            </a:endParaRP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1752600" y="34290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3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3124200" y="3429000"/>
            <a:ext cx="5181600" cy="9445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Noting that this really means                            </a:t>
            </a:r>
            <a:r>
              <a:rPr lang="en-US" b="1">
                <a:solidFill>
                  <a:srgbClr val="333399"/>
                </a:solidFill>
              </a:rPr>
              <a:t>(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– 4) </a:t>
            </a:r>
            <a:r>
              <a:rPr lang="en-US" sz="3200" b="1">
                <a:solidFill>
                  <a:srgbClr val="CC0000"/>
                </a:solidFill>
                <a:sym typeface="Symbol" pitchFamily="18" charset="2"/>
              </a:rPr>
              <a:t></a:t>
            </a:r>
            <a:r>
              <a:rPr lang="en-US" b="1">
                <a:solidFill>
                  <a:srgbClr val="333399"/>
                </a:solidFill>
                <a:sym typeface="Symbol" pitchFamily="18" charset="2"/>
              </a:rPr>
              <a:t> </a:t>
            </a:r>
            <a:r>
              <a:rPr lang="en-US" b="1">
                <a:solidFill>
                  <a:srgbClr val="333399"/>
                </a:solidFill>
              </a:rPr>
              <a:t>(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+ 4) = 0</a:t>
            </a:r>
            <a:endParaRPr lang="en-AU" b="1">
              <a:solidFill>
                <a:srgbClr val="333399"/>
              </a:solidFill>
            </a:endParaRP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3124200" y="4343400"/>
            <a:ext cx="54102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we can now use Background 1 knowledge to conclude that</a:t>
            </a:r>
            <a:endParaRPr lang="en-AU"/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3124200" y="51054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/>
              <a:t>x</a:t>
            </a:r>
            <a:r>
              <a:rPr lang="en-US" b="1"/>
              <a:t> – 4 = 0</a:t>
            </a:r>
            <a:endParaRPr lang="en-AU" b="1" i="1"/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4495800" y="51054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OR</a:t>
            </a:r>
            <a:endParaRPr lang="en-AU" b="1" i="1"/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5867400" y="51054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/>
              <a:t>x</a:t>
            </a:r>
            <a:r>
              <a:rPr lang="en-US" b="1"/>
              <a:t> + 4 = 0</a:t>
            </a:r>
            <a:endParaRPr lang="en-AU" b="1" i="1"/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1752600" y="55626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4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3124200" y="6019800"/>
            <a:ext cx="13716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i="1"/>
              <a:t>x = </a:t>
            </a:r>
            <a:r>
              <a:rPr lang="en-US" sz="3600" b="1"/>
              <a:t>4</a:t>
            </a:r>
            <a:endParaRPr lang="en-AU" sz="3600" b="1"/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4495800" y="60960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OR</a:t>
            </a:r>
            <a:endParaRPr lang="en-AU" b="1" i="1"/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5715000" y="6019800"/>
            <a:ext cx="15240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i="1"/>
              <a:t>x = – </a:t>
            </a:r>
            <a:r>
              <a:rPr lang="en-US" sz="3600" b="1"/>
              <a:t>4</a:t>
            </a:r>
            <a:endParaRPr lang="en-AU" sz="3600" b="1"/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3124200" y="6096000"/>
            <a:ext cx="1143000" cy="53340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5715000" y="6096000"/>
            <a:ext cx="1447800" cy="53340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3124200" y="5562600"/>
            <a:ext cx="4953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Make </a:t>
            </a:r>
            <a:r>
              <a:rPr lang="en-US" i="1"/>
              <a:t>x</a:t>
            </a:r>
            <a:r>
              <a:rPr lang="en-US"/>
              <a:t> the subject of each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6450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1" grpId="0" autoUpdateAnimBg="0"/>
      <p:bldP spid="7173" grpId="0" autoUpdateAnimBg="0"/>
      <p:bldP spid="7174" grpId="0" autoUpdateAnimBg="0"/>
      <p:bldP spid="7175" grpId="0" autoUpdateAnimBg="0"/>
      <p:bldP spid="7176" grpId="0" autoUpdateAnimBg="0"/>
      <p:bldP spid="7177" grpId="0" autoUpdateAnimBg="0"/>
      <p:bldP spid="7178" grpId="0" autoUpdateAnimBg="0"/>
      <p:bldP spid="7179" grpId="0" autoUpdateAnimBg="0"/>
      <p:bldP spid="7180" grpId="0" autoUpdateAnimBg="0"/>
      <p:bldP spid="7181" grpId="0" autoUpdateAnimBg="0"/>
      <p:bldP spid="7182" grpId="0" autoUpdateAnimBg="0"/>
      <p:bldP spid="7183" grpId="0" autoUpdateAnimBg="0"/>
      <p:bldP spid="7184" grpId="0" autoUpdateAnimBg="0"/>
      <p:bldP spid="7185" grpId="0" autoUpdateAnimBg="0"/>
      <p:bldP spid="7186" grpId="0" autoUpdateAnimBg="0"/>
      <p:bldP spid="7187" grpId="0" animBg="1"/>
      <p:bldP spid="7188" grpId="0" animBg="1"/>
      <p:bldP spid="718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676400" y="533400"/>
            <a:ext cx="32766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800000"/>
                </a:solidFill>
              </a:rPr>
              <a:t>Example #2</a:t>
            </a:r>
            <a:endParaRPr lang="en-AU" sz="3600">
              <a:solidFill>
                <a:srgbClr val="800000"/>
              </a:solidFill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4343400" y="609600"/>
            <a:ext cx="320040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solidFill>
                  <a:srgbClr val="333399"/>
                </a:solidFill>
              </a:rPr>
              <a:t>Solve </a:t>
            </a:r>
            <a:r>
              <a:rPr lang="en-US" sz="3200" b="1" i="1">
                <a:solidFill>
                  <a:srgbClr val="333399"/>
                </a:solidFill>
              </a:rPr>
              <a:t>x</a:t>
            </a:r>
            <a:r>
              <a:rPr lang="en-US" sz="3200" b="1" baseline="30000">
                <a:solidFill>
                  <a:srgbClr val="333399"/>
                </a:solidFill>
              </a:rPr>
              <a:t>2</a:t>
            </a:r>
            <a:r>
              <a:rPr lang="en-US" sz="3200" b="1">
                <a:solidFill>
                  <a:srgbClr val="333399"/>
                </a:solidFill>
              </a:rPr>
              <a:t> + 7</a:t>
            </a:r>
            <a:r>
              <a:rPr lang="en-US" sz="3200" b="1" i="1">
                <a:solidFill>
                  <a:srgbClr val="333399"/>
                </a:solidFill>
              </a:rPr>
              <a:t>x </a:t>
            </a:r>
            <a:r>
              <a:rPr lang="en-US" sz="3200" b="1">
                <a:solidFill>
                  <a:srgbClr val="333399"/>
                </a:solidFill>
              </a:rPr>
              <a:t>= 0</a:t>
            </a:r>
            <a:endParaRPr lang="en-AU" sz="3200" b="1">
              <a:solidFill>
                <a:srgbClr val="333399"/>
              </a:solidFill>
            </a:endParaRP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752600" y="12954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1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3124200" y="1295400"/>
            <a:ext cx="5181600" cy="1187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Use Background 2 information to classify </a:t>
            </a:r>
            <a:r>
              <a:rPr lang="en-US" i="1"/>
              <a:t>x</a:t>
            </a:r>
            <a:r>
              <a:rPr lang="en-US" baseline="30000"/>
              <a:t>2</a:t>
            </a:r>
            <a:r>
              <a:rPr lang="en-US"/>
              <a:t> + 7</a:t>
            </a:r>
            <a:r>
              <a:rPr lang="en-US" i="1"/>
              <a:t>x</a:t>
            </a:r>
            <a:r>
              <a:rPr lang="en-US"/>
              <a:t> as a </a:t>
            </a:r>
            <a:r>
              <a:rPr lang="en-US" b="1"/>
              <a:t>TYPE 1 </a:t>
            </a:r>
            <a:r>
              <a:rPr lang="en-US"/>
              <a:t>&amp; factorise to </a:t>
            </a:r>
            <a:r>
              <a:rPr lang="en-US" i="1"/>
              <a:t>x</a:t>
            </a:r>
            <a:r>
              <a:rPr lang="en-US"/>
              <a:t> ( </a:t>
            </a:r>
            <a:r>
              <a:rPr lang="en-US" i="1"/>
              <a:t>x</a:t>
            </a:r>
            <a:r>
              <a:rPr lang="en-US"/>
              <a:t> + 7) </a:t>
            </a:r>
            <a:endParaRPr lang="en-AU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752600" y="25146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2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3124200" y="2514600"/>
            <a:ext cx="51816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Rewrite the original equation as            </a:t>
            </a:r>
            <a:r>
              <a:rPr lang="en-US" b="1">
                <a:solidFill>
                  <a:srgbClr val="333399"/>
                </a:solidFill>
              </a:rPr>
              <a:t> 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(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+ 7) = 0</a:t>
            </a:r>
            <a:endParaRPr lang="en-AU" b="1">
              <a:solidFill>
                <a:srgbClr val="333399"/>
              </a:solidFill>
            </a:endParaRP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1752600" y="34290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3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3124200" y="3429000"/>
            <a:ext cx="5181600" cy="9445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Noting that this really means                            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</a:t>
            </a:r>
            <a:r>
              <a:rPr lang="en-US" sz="3200" b="1">
                <a:solidFill>
                  <a:srgbClr val="CC0000"/>
                </a:solidFill>
                <a:sym typeface="Symbol" pitchFamily="18" charset="2"/>
              </a:rPr>
              <a:t></a:t>
            </a:r>
            <a:r>
              <a:rPr lang="en-US" b="1">
                <a:solidFill>
                  <a:srgbClr val="333399"/>
                </a:solidFill>
                <a:sym typeface="Symbol" pitchFamily="18" charset="2"/>
              </a:rPr>
              <a:t> </a:t>
            </a:r>
            <a:r>
              <a:rPr lang="en-US" b="1">
                <a:solidFill>
                  <a:srgbClr val="333399"/>
                </a:solidFill>
              </a:rPr>
              <a:t>(</a:t>
            </a:r>
            <a:r>
              <a:rPr lang="en-US" b="1" i="1">
                <a:solidFill>
                  <a:srgbClr val="333399"/>
                </a:solidFill>
              </a:rPr>
              <a:t>x</a:t>
            </a:r>
            <a:r>
              <a:rPr lang="en-US" b="1">
                <a:solidFill>
                  <a:srgbClr val="333399"/>
                </a:solidFill>
              </a:rPr>
              <a:t> + 7) = 0</a:t>
            </a:r>
            <a:endParaRPr lang="en-AU" b="1">
              <a:solidFill>
                <a:srgbClr val="333399"/>
              </a:solidFill>
            </a:endParaRP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3124200" y="4343400"/>
            <a:ext cx="5410200" cy="822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we can now use Background 1 knowledge to conclude that</a:t>
            </a:r>
            <a:endParaRPr lang="en-AU"/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3124200" y="51054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/>
              <a:t>x</a:t>
            </a:r>
            <a:r>
              <a:rPr lang="en-US" b="1"/>
              <a:t>  = 0</a:t>
            </a:r>
            <a:endParaRPr lang="en-AU" b="1" i="1"/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4495800" y="51054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OR</a:t>
            </a:r>
            <a:endParaRPr lang="en-AU" b="1" i="1"/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5867400" y="51054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/>
              <a:t>x</a:t>
            </a:r>
            <a:r>
              <a:rPr lang="en-US" b="1"/>
              <a:t> + 7 = 0</a:t>
            </a:r>
            <a:endParaRPr lang="en-AU" b="1" i="1"/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1752600" y="5562600"/>
            <a:ext cx="1676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hlink"/>
                </a:solidFill>
              </a:rPr>
              <a:t>STEP 4</a:t>
            </a:r>
            <a:endParaRPr lang="en-AU" b="1">
              <a:solidFill>
                <a:schemeClr val="hlink"/>
              </a:solidFill>
            </a:endParaRPr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4495800" y="6096000"/>
            <a:ext cx="137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OR</a:t>
            </a:r>
            <a:endParaRPr lang="en-AU" b="1" i="1"/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5715000" y="6019800"/>
            <a:ext cx="15240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i="1"/>
              <a:t>x = – </a:t>
            </a:r>
            <a:r>
              <a:rPr lang="en-US" sz="3600" b="1"/>
              <a:t>7</a:t>
            </a:r>
            <a:endParaRPr lang="en-AU" sz="3600" b="1"/>
          </a:p>
        </p:txBody>
      </p:sp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3200400" y="6096000"/>
            <a:ext cx="1143000" cy="53340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30739" name="Rectangle 19"/>
          <p:cNvSpPr>
            <a:spLocks noChangeArrowheads="1"/>
          </p:cNvSpPr>
          <p:nvPr/>
        </p:nvSpPr>
        <p:spPr bwMode="auto">
          <a:xfrm>
            <a:off x="5715000" y="6096000"/>
            <a:ext cx="1447800" cy="53340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30740" name="Text Box 20"/>
          <p:cNvSpPr txBox="1">
            <a:spLocks noChangeArrowheads="1"/>
          </p:cNvSpPr>
          <p:nvPr/>
        </p:nvSpPr>
        <p:spPr bwMode="auto">
          <a:xfrm>
            <a:off x="3124200" y="5562600"/>
            <a:ext cx="4953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Make </a:t>
            </a:r>
            <a:r>
              <a:rPr lang="en-US" i="1"/>
              <a:t>x</a:t>
            </a:r>
            <a:r>
              <a:rPr lang="en-US"/>
              <a:t> the subject of the 2</a:t>
            </a:r>
            <a:r>
              <a:rPr lang="en-US" baseline="30000"/>
              <a:t>nd</a:t>
            </a:r>
            <a:r>
              <a:rPr lang="en-US"/>
              <a:t> one</a:t>
            </a:r>
            <a:endParaRPr lang="en-AU"/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3200400" y="6019800"/>
            <a:ext cx="13716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i="1"/>
              <a:t>x</a:t>
            </a:r>
            <a:r>
              <a:rPr lang="en-US" sz="3600" b="1"/>
              <a:t>  = 0</a:t>
            </a:r>
            <a:endParaRPr lang="en-AU" sz="3600" b="1" i="1"/>
          </a:p>
        </p:txBody>
      </p:sp>
    </p:spTree>
    <p:extLst>
      <p:ext uri="{BB962C8B-B14F-4D97-AF65-F5344CB8AC3E}">
        <p14:creationId xmlns:p14="http://schemas.microsoft.com/office/powerpoint/2010/main" val="841212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3" grpId="0" autoUpdateAnimBg="0"/>
      <p:bldP spid="30724" grpId="0" autoUpdateAnimBg="0"/>
      <p:bldP spid="30725" grpId="0" autoUpdateAnimBg="0"/>
      <p:bldP spid="30726" grpId="0" autoUpdateAnimBg="0"/>
      <p:bldP spid="30727" grpId="0" autoUpdateAnimBg="0"/>
      <p:bldP spid="30728" grpId="0" autoUpdateAnimBg="0"/>
      <p:bldP spid="30729" grpId="0" autoUpdateAnimBg="0"/>
      <p:bldP spid="30730" grpId="0" autoUpdateAnimBg="0"/>
      <p:bldP spid="30731" grpId="0" autoUpdateAnimBg="0"/>
      <p:bldP spid="30732" grpId="0" autoUpdateAnimBg="0"/>
      <p:bldP spid="30733" grpId="0" autoUpdateAnimBg="0"/>
      <p:bldP spid="30734" grpId="0" autoUpdateAnimBg="0"/>
      <p:bldP spid="30736" grpId="0" autoUpdateAnimBg="0"/>
      <p:bldP spid="30737" grpId="0" autoUpdateAnimBg="0"/>
      <p:bldP spid="30738" grpId="0" animBg="1"/>
      <p:bldP spid="30739" grpId="0" animBg="1"/>
      <p:bldP spid="30740" grpId="0" autoUpdateAnimBg="0"/>
      <p:bldP spid="30741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581</Words>
  <Application>Microsoft Office PowerPoint</Application>
  <PresentationFormat>On-screen Show (4:3)</PresentationFormat>
  <Paragraphs>100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Solving quadratics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quadratics</dc:title>
  <dc:creator>MORGAN Adam</dc:creator>
  <cp:lastModifiedBy>MORGAN Adam</cp:lastModifiedBy>
  <cp:revision>1</cp:revision>
  <dcterms:created xsi:type="dcterms:W3CDTF">2017-06-01T03:51:01Z</dcterms:created>
  <dcterms:modified xsi:type="dcterms:W3CDTF">2017-06-01T03:52:32Z</dcterms:modified>
</cp:coreProperties>
</file>
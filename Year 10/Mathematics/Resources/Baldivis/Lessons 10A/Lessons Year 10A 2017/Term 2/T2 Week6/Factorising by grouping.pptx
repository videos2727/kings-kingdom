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16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58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48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542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87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70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60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20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8084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88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55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7070A-9D09-487A-BEEC-1D8FAD91E605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3388A-FA22-4657-A443-AB4BDF4850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424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AU" dirty="0" smtClean="0"/>
              <a:t>Factorising by grouping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580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EQ: how do we factorise by grouping?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Sometimes the highest common factor is inside brackets.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60" y="1412776"/>
            <a:ext cx="47529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797" y="3789040"/>
            <a:ext cx="27051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440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752600" y="1196752"/>
            <a:ext cx="6995864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dirty="0">
                <a:solidFill>
                  <a:srgbClr val="CC0099"/>
                </a:solidFill>
              </a:rPr>
              <a:t>You </a:t>
            </a:r>
            <a:r>
              <a:rPr lang="en-AU" dirty="0" smtClean="0">
                <a:solidFill>
                  <a:srgbClr val="CC0099"/>
                </a:solidFill>
              </a:rPr>
              <a:t>can easily </a:t>
            </a:r>
            <a:r>
              <a:rPr lang="en-AU" dirty="0">
                <a:solidFill>
                  <a:srgbClr val="CC0099"/>
                </a:solidFill>
              </a:rPr>
              <a:t>tell when you’ve got one of these because there are </a:t>
            </a:r>
            <a:r>
              <a:rPr lang="en-AU" dirty="0" smtClean="0">
                <a:solidFill>
                  <a:srgbClr val="CC0099"/>
                </a:solidFill>
              </a:rPr>
              <a:t>(almost always) </a:t>
            </a:r>
            <a:r>
              <a:rPr lang="en-AU" b="1" dirty="0" smtClean="0">
                <a:solidFill>
                  <a:srgbClr val="CC0099"/>
                </a:solidFill>
              </a:rPr>
              <a:t>FOUR </a:t>
            </a:r>
            <a:r>
              <a:rPr lang="en-AU" b="1" dirty="0">
                <a:solidFill>
                  <a:srgbClr val="CC0099"/>
                </a:solidFill>
              </a:rPr>
              <a:t>TERMS !!!</a:t>
            </a:r>
            <a:endParaRPr lang="en-AU" dirty="0">
              <a:solidFill>
                <a:srgbClr val="CC0099"/>
              </a:solidFill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600200" y="2204864"/>
            <a:ext cx="3962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000" b="1" dirty="0"/>
              <a:t>Example 1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995936" y="2276872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Factorise </a:t>
            </a:r>
            <a:r>
              <a:rPr lang="en-AU" dirty="0"/>
              <a:t>2</a:t>
            </a:r>
            <a:r>
              <a:rPr lang="en-AU" i="1" dirty="0"/>
              <a:t>a</a:t>
            </a:r>
            <a:r>
              <a:rPr lang="en-AU" dirty="0"/>
              <a:t> – 4</a:t>
            </a:r>
            <a:r>
              <a:rPr lang="en-AU" i="1" dirty="0"/>
              <a:t>b</a:t>
            </a:r>
            <a:r>
              <a:rPr lang="en-AU" dirty="0"/>
              <a:t> + </a:t>
            </a:r>
            <a:r>
              <a:rPr lang="en-AU" i="1" dirty="0" err="1"/>
              <a:t>ax</a:t>
            </a:r>
            <a:r>
              <a:rPr lang="en-AU" i="1" dirty="0"/>
              <a:t> – </a:t>
            </a:r>
            <a:r>
              <a:rPr lang="en-AU" dirty="0"/>
              <a:t>2</a:t>
            </a:r>
            <a:r>
              <a:rPr lang="en-AU" i="1" dirty="0"/>
              <a:t>bx </a:t>
            </a:r>
            <a:endParaRPr lang="en-AU" b="1" dirty="0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676400" y="2852936"/>
            <a:ext cx="441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1 – split it into “2 </a:t>
            </a:r>
            <a:r>
              <a:rPr lang="en-AU" b="1" dirty="0" smtClean="0">
                <a:solidFill>
                  <a:srgbClr val="CC0099"/>
                </a:solidFill>
              </a:rPr>
              <a:t>and </a:t>
            </a:r>
            <a:r>
              <a:rPr lang="en-AU" b="1" dirty="0">
                <a:solidFill>
                  <a:srgbClr val="CC0099"/>
                </a:solidFill>
              </a:rPr>
              <a:t>2”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133600" y="3276600"/>
            <a:ext cx="39624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 = </a:t>
            </a:r>
            <a:r>
              <a:rPr lang="en-AU" dirty="0"/>
              <a:t>2</a:t>
            </a:r>
            <a:r>
              <a:rPr lang="en-AU" i="1" dirty="0"/>
              <a:t>a</a:t>
            </a:r>
            <a:r>
              <a:rPr lang="en-AU" dirty="0"/>
              <a:t> – 4</a:t>
            </a:r>
            <a:r>
              <a:rPr lang="en-AU" i="1" dirty="0"/>
              <a:t>b</a:t>
            </a:r>
            <a:r>
              <a:rPr lang="en-AU" dirty="0"/>
              <a:t>        </a:t>
            </a:r>
            <a:r>
              <a:rPr lang="en-AU" dirty="0" smtClean="0"/>
              <a:t>+        </a:t>
            </a:r>
            <a:r>
              <a:rPr lang="en-AU" i="1" dirty="0" err="1"/>
              <a:t>ax</a:t>
            </a:r>
            <a:r>
              <a:rPr lang="en-AU" i="1" dirty="0"/>
              <a:t> – </a:t>
            </a:r>
            <a:r>
              <a:rPr lang="en-AU" dirty="0"/>
              <a:t>2</a:t>
            </a:r>
            <a:r>
              <a:rPr lang="en-AU" i="1" dirty="0"/>
              <a:t>bx </a:t>
            </a:r>
            <a:endParaRPr lang="en-AU" b="1" dirty="0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1676400" y="3717032"/>
            <a:ext cx="6705600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2 – factorise each pair separately </a:t>
            </a:r>
            <a:r>
              <a:rPr lang="en-AU" b="1" dirty="0" smtClean="0">
                <a:solidFill>
                  <a:srgbClr val="CC0099"/>
                </a:solidFill>
              </a:rPr>
              <a:t>by taking out a common factor</a:t>
            </a:r>
            <a:endParaRPr lang="en-AU" b="1" dirty="0">
              <a:solidFill>
                <a:srgbClr val="CC0099"/>
              </a:solidFill>
            </a:endParaRP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209800" y="4495800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/>
              <a:t> = </a:t>
            </a:r>
            <a:r>
              <a:rPr lang="en-AU">
                <a:solidFill>
                  <a:srgbClr val="0033CC"/>
                </a:solidFill>
              </a:rPr>
              <a:t>2</a:t>
            </a:r>
            <a:r>
              <a:rPr lang="en-AU"/>
              <a:t>(</a:t>
            </a:r>
            <a:r>
              <a:rPr lang="en-AU" i="1"/>
              <a:t>a</a:t>
            </a:r>
            <a:r>
              <a:rPr lang="en-AU"/>
              <a:t> – 2</a:t>
            </a:r>
            <a:r>
              <a:rPr lang="en-AU" i="1"/>
              <a:t>b</a:t>
            </a:r>
            <a:r>
              <a:rPr lang="en-AU"/>
              <a:t>)           </a:t>
            </a:r>
            <a:r>
              <a:rPr lang="en-AU">
                <a:solidFill>
                  <a:srgbClr val="0033CC"/>
                </a:solidFill>
              </a:rPr>
              <a:t> +</a:t>
            </a:r>
            <a:r>
              <a:rPr lang="en-AU"/>
              <a:t> </a:t>
            </a:r>
            <a:r>
              <a:rPr lang="en-AU" i="1">
                <a:solidFill>
                  <a:srgbClr val="0033CC"/>
                </a:solidFill>
              </a:rPr>
              <a:t>x</a:t>
            </a:r>
            <a:r>
              <a:rPr lang="en-AU"/>
              <a:t>(</a:t>
            </a:r>
            <a:r>
              <a:rPr lang="en-AU" i="1"/>
              <a:t>a – </a:t>
            </a:r>
            <a:r>
              <a:rPr lang="en-AU"/>
              <a:t>2</a:t>
            </a:r>
            <a:r>
              <a:rPr lang="en-AU" i="1"/>
              <a:t>b</a:t>
            </a:r>
            <a:r>
              <a:rPr lang="en-AU"/>
              <a:t>) </a:t>
            </a:r>
            <a:endParaRPr lang="en-AU" b="1"/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1676400" y="5181600"/>
            <a:ext cx="670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CC0099"/>
                </a:solidFill>
              </a:rPr>
              <a:t>STEP 3 – take out the (</a:t>
            </a:r>
            <a:r>
              <a:rPr lang="en-AU" b="1" i="1">
                <a:solidFill>
                  <a:srgbClr val="CC0099"/>
                </a:solidFill>
              </a:rPr>
              <a:t>a </a:t>
            </a:r>
            <a:r>
              <a:rPr lang="en-AU" b="1">
                <a:solidFill>
                  <a:srgbClr val="CC0099"/>
                </a:solidFill>
              </a:rPr>
              <a:t>– 2</a:t>
            </a:r>
            <a:r>
              <a:rPr lang="en-AU" b="1" i="1">
                <a:solidFill>
                  <a:srgbClr val="CC0099"/>
                </a:solidFill>
              </a:rPr>
              <a:t>b</a:t>
            </a:r>
            <a:r>
              <a:rPr lang="en-AU" b="1">
                <a:solidFill>
                  <a:srgbClr val="CC0099"/>
                </a:solidFill>
              </a:rPr>
              <a:t>) as a common factor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209800" y="5562600"/>
            <a:ext cx="3962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/>
              <a:t> = </a:t>
            </a:r>
            <a:r>
              <a:rPr lang="en-AU" sz="3000" b="1"/>
              <a:t>(</a:t>
            </a:r>
            <a:r>
              <a:rPr lang="en-AU" sz="3000" b="1" i="1"/>
              <a:t>a</a:t>
            </a:r>
            <a:r>
              <a:rPr lang="en-AU" sz="3000" b="1"/>
              <a:t> – 2</a:t>
            </a:r>
            <a:r>
              <a:rPr lang="en-AU" sz="3000" b="1" i="1"/>
              <a:t>b</a:t>
            </a:r>
            <a:r>
              <a:rPr lang="en-AU" sz="3000" b="1"/>
              <a:t>)(</a:t>
            </a:r>
            <a:r>
              <a:rPr lang="en-AU" sz="3000" b="1">
                <a:solidFill>
                  <a:srgbClr val="0033CC"/>
                </a:solidFill>
              </a:rPr>
              <a:t>2 + </a:t>
            </a:r>
            <a:r>
              <a:rPr lang="en-AU" sz="3000" b="1" i="1">
                <a:solidFill>
                  <a:srgbClr val="0033CC"/>
                </a:solidFill>
              </a:rPr>
              <a:t>x</a:t>
            </a:r>
            <a:r>
              <a:rPr lang="en-AU" sz="3000" b="1"/>
              <a:t>)...ans!!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3013" y="260648"/>
            <a:ext cx="6847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Factorizing by grouping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84168" y="4509120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solidFill>
                  <a:srgbClr val="FF0000"/>
                </a:solidFill>
              </a:rPr>
              <a:t>Aim to get the same expression in both brackets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9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  <p:bldP spid="8196" grpId="0" autoUpdateAnimBg="0"/>
      <p:bldP spid="8197" grpId="0" autoUpdateAnimBg="0"/>
      <p:bldP spid="8198" grpId="0" autoUpdateAnimBg="0"/>
      <p:bldP spid="8199" grpId="0" autoUpdateAnimBg="0"/>
      <p:bldP spid="8200" grpId="0" autoUpdateAnimBg="0"/>
      <p:bldP spid="8201" grpId="0" autoUpdateAnimBg="0"/>
      <p:bldP spid="8202" grpId="0" autoUpdateAnimBg="0"/>
      <p:bldP spid="8203" grpId="0" autoUpdateAnimBg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47664" y="476672"/>
            <a:ext cx="3962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000" b="1" dirty="0"/>
              <a:t>Example 2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779912" y="548680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Factorise </a:t>
            </a:r>
            <a:r>
              <a:rPr lang="en-AU" b="1" i="1" dirty="0" err="1"/>
              <a:t>xy</a:t>
            </a:r>
            <a:r>
              <a:rPr lang="en-AU" b="1" dirty="0"/>
              <a:t> + 5</a:t>
            </a:r>
            <a:r>
              <a:rPr lang="en-AU" b="1" i="1" dirty="0"/>
              <a:t>x</a:t>
            </a:r>
            <a:r>
              <a:rPr lang="en-AU" b="1" dirty="0"/>
              <a:t> – 2</a:t>
            </a:r>
            <a:r>
              <a:rPr lang="en-AU" b="1" i="1" dirty="0"/>
              <a:t>y</a:t>
            </a:r>
            <a:r>
              <a:rPr lang="en-AU" b="1" dirty="0"/>
              <a:t> – 10 </a:t>
            </a:r>
            <a:r>
              <a:rPr lang="en-AU" i="1" dirty="0"/>
              <a:t> </a:t>
            </a:r>
            <a:endParaRPr lang="en-AU" b="1" dirty="0"/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619672" y="1340768"/>
            <a:ext cx="441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1 – split it into “2 </a:t>
            </a:r>
            <a:r>
              <a:rPr lang="en-AU" b="1" dirty="0" smtClean="0">
                <a:solidFill>
                  <a:srgbClr val="CC0099"/>
                </a:solidFill>
              </a:rPr>
              <a:t>and </a:t>
            </a:r>
            <a:r>
              <a:rPr lang="en-AU" b="1" dirty="0">
                <a:solidFill>
                  <a:srgbClr val="CC0099"/>
                </a:solidFill>
              </a:rPr>
              <a:t>2”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2411760" y="1772816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 = </a:t>
            </a:r>
            <a:r>
              <a:rPr lang="en-AU" b="1" i="1" dirty="0" err="1"/>
              <a:t>xy</a:t>
            </a:r>
            <a:r>
              <a:rPr lang="en-AU" b="1" dirty="0"/>
              <a:t> + 5</a:t>
            </a:r>
            <a:r>
              <a:rPr lang="en-AU" b="1" i="1" dirty="0"/>
              <a:t>x</a:t>
            </a:r>
            <a:r>
              <a:rPr lang="en-AU" b="1" dirty="0"/>
              <a:t>               – 2</a:t>
            </a:r>
            <a:r>
              <a:rPr lang="en-AU" b="1" i="1" dirty="0"/>
              <a:t>y</a:t>
            </a:r>
            <a:r>
              <a:rPr lang="en-AU" b="1" dirty="0"/>
              <a:t> – 10 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619672" y="2564904"/>
            <a:ext cx="6705600" cy="83099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2 – factorise each pair separately </a:t>
            </a:r>
            <a:r>
              <a:rPr lang="en-AU" b="1" dirty="0" smtClean="0">
                <a:solidFill>
                  <a:srgbClr val="CC0099"/>
                </a:solidFill>
              </a:rPr>
              <a:t>by taking out a common factor</a:t>
            </a:r>
            <a:endParaRPr lang="en-AU" b="1" dirty="0">
              <a:solidFill>
                <a:srgbClr val="CC0099"/>
              </a:solidFill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2483768" y="3429000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 = </a:t>
            </a:r>
            <a:r>
              <a:rPr lang="en-AU" i="1" dirty="0">
                <a:solidFill>
                  <a:srgbClr val="0033CC"/>
                </a:solidFill>
              </a:rPr>
              <a:t>x</a:t>
            </a:r>
            <a:r>
              <a:rPr lang="en-AU" dirty="0"/>
              <a:t>(</a:t>
            </a:r>
            <a:r>
              <a:rPr lang="en-AU" i="1" dirty="0"/>
              <a:t>y + </a:t>
            </a:r>
            <a:r>
              <a:rPr lang="en-AU" dirty="0"/>
              <a:t>5)           </a:t>
            </a:r>
            <a:r>
              <a:rPr lang="en-AU" dirty="0">
                <a:solidFill>
                  <a:srgbClr val="0033CC"/>
                </a:solidFill>
              </a:rPr>
              <a:t> – 2  </a:t>
            </a:r>
            <a:r>
              <a:rPr lang="en-AU" dirty="0"/>
              <a:t>(</a:t>
            </a:r>
            <a:r>
              <a:rPr lang="en-AU" i="1" dirty="0"/>
              <a:t>y</a:t>
            </a:r>
            <a:r>
              <a:rPr lang="en-AU" dirty="0"/>
              <a:t> +</a:t>
            </a:r>
            <a:r>
              <a:rPr lang="en-AU" i="1" dirty="0"/>
              <a:t> </a:t>
            </a:r>
            <a:r>
              <a:rPr lang="en-AU" dirty="0"/>
              <a:t>5) </a:t>
            </a:r>
            <a:endParaRPr lang="en-AU" b="1" dirty="0"/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1691680" y="4077072"/>
            <a:ext cx="670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3 – take out the (</a:t>
            </a:r>
            <a:r>
              <a:rPr lang="en-AU" b="1" i="1" dirty="0">
                <a:solidFill>
                  <a:srgbClr val="CC0099"/>
                </a:solidFill>
              </a:rPr>
              <a:t>y + </a:t>
            </a:r>
            <a:r>
              <a:rPr lang="en-AU" b="1" dirty="0">
                <a:solidFill>
                  <a:srgbClr val="CC0099"/>
                </a:solidFill>
              </a:rPr>
              <a:t>5) as a factor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2195736" y="4797152"/>
            <a:ext cx="3962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 </a:t>
            </a:r>
            <a:r>
              <a:rPr lang="en-AU" sz="3000" b="1" dirty="0"/>
              <a:t>= (</a:t>
            </a:r>
            <a:r>
              <a:rPr lang="en-AU" sz="3000" b="1" i="1" dirty="0"/>
              <a:t>y</a:t>
            </a:r>
            <a:r>
              <a:rPr lang="en-AU" sz="3000" b="1" dirty="0"/>
              <a:t> + 5)(</a:t>
            </a:r>
            <a:r>
              <a:rPr lang="en-AU" sz="3000" b="1" i="1" dirty="0">
                <a:solidFill>
                  <a:srgbClr val="0033CC"/>
                </a:solidFill>
              </a:rPr>
              <a:t>x – </a:t>
            </a:r>
            <a:r>
              <a:rPr lang="en-AU" sz="3000" b="1" dirty="0">
                <a:solidFill>
                  <a:srgbClr val="0033CC"/>
                </a:solidFill>
              </a:rPr>
              <a:t>2</a:t>
            </a:r>
            <a:r>
              <a:rPr lang="en-AU" sz="3000" b="1" dirty="0"/>
              <a:t>)</a:t>
            </a:r>
            <a:r>
              <a:rPr lang="en-AU" sz="3000" dirty="0"/>
              <a:t> </a:t>
            </a:r>
            <a:r>
              <a:rPr lang="en-AU" sz="3000" dirty="0" err="1"/>
              <a:t>ans</a:t>
            </a:r>
            <a:r>
              <a:rPr lang="en-AU" sz="3000" dirty="0"/>
              <a:t>!!</a:t>
            </a:r>
            <a:endParaRPr lang="en-AU" sz="3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3284984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smtClean="0">
                <a:solidFill>
                  <a:srgbClr val="FF0000"/>
                </a:solidFill>
              </a:rPr>
              <a:t>Note the sign change in the 2</a:t>
            </a:r>
            <a:r>
              <a:rPr lang="en-AU" sz="1800" baseline="30000" dirty="0" smtClean="0">
                <a:solidFill>
                  <a:srgbClr val="FF0000"/>
                </a:solidFill>
              </a:rPr>
              <a:t>nd</a:t>
            </a:r>
            <a:r>
              <a:rPr lang="en-AU" sz="1800" dirty="0" smtClean="0">
                <a:solidFill>
                  <a:srgbClr val="FF0000"/>
                </a:solidFill>
              </a:rPr>
              <a:t> bracket!! </a:t>
            </a:r>
          </a:p>
          <a:p>
            <a:r>
              <a:rPr lang="en-AU" sz="1800" dirty="0" smtClean="0">
                <a:solidFill>
                  <a:srgbClr val="FF0000"/>
                </a:solidFill>
              </a:rPr>
              <a:t>– 2 × 5 = – 10  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988087" y="3429000"/>
            <a:ext cx="288032" cy="432048"/>
          </a:xfrm>
          <a:prstGeom prst="ellipse">
            <a:avLst/>
          </a:prstGeom>
          <a:noFill/>
          <a:ln w="3492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4549317" y="1750724"/>
            <a:ext cx="288032" cy="432048"/>
          </a:xfrm>
          <a:prstGeom prst="ellipse">
            <a:avLst/>
          </a:prstGeom>
          <a:noFill/>
          <a:ln w="3492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4621325" y="2247675"/>
            <a:ext cx="144016" cy="1224136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6" name="Oval 15"/>
          <p:cNvSpPr/>
          <p:nvPr/>
        </p:nvSpPr>
        <p:spPr bwMode="auto">
          <a:xfrm>
            <a:off x="4516315" y="3429000"/>
            <a:ext cx="504056" cy="432048"/>
          </a:xfrm>
          <a:prstGeom prst="ellipse">
            <a:avLst/>
          </a:prstGeom>
          <a:noFill/>
          <a:ln w="3492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 flipH="1">
            <a:off x="4105641" y="2204864"/>
            <a:ext cx="504056" cy="1224136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95625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5" grpId="0" autoUpdateAnimBg="0"/>
      <p:bldP spid="10246" grpId="0" autoUpdateAnimBg="0"/>
      <p:bldP spid="10247" grpId="0" autoUpdateAnimBg="0"/>
      <p:bldP spid="10248" grpId="0" autoUpdateAnimBg="0"/>
      <p:bldP spid="10249" grpId="0" autoUpdateAnimBg="0"/>
      <p:bldP spid="10250" grpId="0" autoUpdateAnimBg="0"/>
      <p:bldP spid="10251" grpId="0" autoUpdateAnimBg="0"/>
      <p:bldP spid="11" grpId="0"/>
      <p:bldP spid="12" grpId="0" animBg="1"/>
      <p:bldP spid="13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600200" y="404664"/>
            <a:ext cx="3962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000" b="1" dirty="0"/>
              <a:t>Example 3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779912" y="404664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Factorise </a:t>
            </a:r>
            <a:r>
              <a:rPr lang="en-AU" b="1" i="1" dirty="0"/>
              <a:t>x</a:t>
            </a:r>
            <a:r>
              <a:rPr lang="en-AU" b="1" baseline="30000" dirty="0"/>
              <a:t>2</a:t>
            </a:r>
            <a:r>
              <a:rPr lang="en-AU" b="1" dirty="0"/>
              <a:t> – </a:t>
            </a:r>
            <a:r>
              <a:rPr lang="en-AU" b="1" i="1" dirty="0"/>
              <a:t>x </a:t>
            </a:r>
            <a:r>
              <a:rPr lang="en-AU" b="1" dirty="0"/>
              <a:t>– 5</a:t>
            </a:r>
            <a:r>
              <a:rPr lang="en-AU" b="1" i="1" dirty="0"/>
              <a:t>x </a:t>
            </a:r>
            <a:r>
              <a:rPr lang="en-AU" b="1" dirty="0"/>
              <a:t>+ 5</a:t>
            </a:r>
            <a:endParaRPr lang="en-AU" b="1" i="1" dirty="0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547664" y="1268760"/>
            <a:ext cx="4419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1 – split it into “2 </a:t>
            </a:r>
            <a:r>
              <a:rPr lang="en-AU" b="1" dirty="0" smtClean="0">
                <a:solidFill>
                  <a:srgbClr val="CC0099"/>
                </a:solidFill>
              </a:rPr>
              <a:t>and </a:t>
            </a:r>
            <a:r>
              <a:rPr lang="en-AU" b="1" dirty="0">
                <a:solidFill>
                  <a:srgbClr val="CC0099"/>
                </a:solidFill>
              </a:rPr>
              <a:t>2”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081064" y="1649760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/>
              <a:t> = </a:t>
            </a:r>
            <a:r>
              <a:rPr lang="en-AU" b="1" i="1"/>
              <a:t>x</a:t>
            </a:r>
            <a:r>
              <a:rPr lang="en-AU" b="1" baseline="30000"/>
              <a:t>2</a:t>
            </a:r>
            <a:r>
              <a:rPr lang="en-AU" b="1"/>
              <a:t> – </a:t>
            </a:r>
            <a:r>
              <a:rPr lang="en-AU" b="1" i="1"/>
              <a:t>x                  </a:t>
            </a:r>
            <a:r>
              <a:rPr lang="en-AU" b="1"/>
              <a:t>– 5</a:t>
            </a:r>
            <a:r>
              <a:rPr lang="en-AU" b="1" i="1"/>
              <a:t>x </a:t>
            </a:r>
            <a:r>
              <a:rPr lang="en-AU" b="1"/>
              <a:t>+ 5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619672" y="2348880"/>
            <a:ext cx="670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2 – factorise each pair </a:t>
            </a:r>
            <a:r>
              <a:rPr lang="en-AU" b="1" dirty="0" smtClean="0">
                <a:solidFill>
                  <a:srgbClr val="CC0099"/>
                </a:solidFill>
              </a:rPr>
              <a:t>(common factor)</a:t>
            </a:r>
            <a:endParaRPr lang="en-AU" b="1" dirty="0">
              <a:solidFill>
                <a:srgbClr val="CC0099"/>
              </a:solidFill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2123728" y="2924944"/>
            <a:ext cx="3962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 = </a:t>
            </a:r>
            <a:r>
              <a:rPr lang="en-AU" i="1" dirty="0">
                <a:solidFill>
                  <a:srgbClr val="0033CC"/>
                </a:solidFill>
              </a:rPr>
              <a:t>x</a:t>
            </a:r>
            <a:r>
              <a:rPr lang="en-AU" dirty="0"/>
              <a:t>(</a:t>
            </a:r>
            <a:r>
              <a:rPr lang="en-AU" i="1" dirty="0"/>
              <a:t>x – </a:t>
            </a:r>
            <a:r>
              <a:rPr lang="en-AU" dirty="0"/>
              <a:t>1)           </a:t>
            </a:r>
            <a:r>
              <a:rPr lang="en-AU" dirty="0">
                <a:solidFill>
                  <a:srgbClr val="0033CC"/>
                </a:solidFill>
              </a:rPr>
              <a:t> – 5  </a:t>
            </a:r>
            <a:r>
              <a:rPr lang="en-AU" dirty="0"/>
              <a:t>(</a:t>
            </a:r>
            <a:r>
              <a:rPr lang="en-AU" i="1" dirty="0"/>
              <a:t>x – </a:t>
            </a:r>
            <a:r>
              <a:rPr lang="en-AU" dirty="0"/>
              <a:t>1) </a:t>
            </a:r>
            <a:endParaRPr lang="en-AU" b="1" dirty="0"/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691680" y="3645024"/>
            <a:ext cx="6705600" cy="6397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STEP 3 – take out the (</a:t>
            </a:r>
            <a:r>
              <a:rPr lang="en-AU" b="1" i="1" dirty="0">
                <a:solidFill>
                  <a:srgbClr val="CC0099"/>
                </a:solidFill>
              </a:rPr>
              <a:t>x </a:t>
            </a:r>
            <a:r>
              <a:rPr lang="en-AU" b="1" dirty="0">
                <a:solidFill>
                  <a:srgbClr val="CC0099"/>
                </a:solidFill>
              </a:rPr>
              <a:t>– 1) as a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AU" b="1" dirty="0">
                <a:solidFill>
                  <a:srgbClr val="CC0099"/>
                </a:solidFill>
              </a:rPr>
              <a:t>factor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2123728" y="4437112"/>
            <a:ext cx="3962400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 dirty="0"/>
              <a:t> </a:t>
            </a:r>
            <a:r>
              <a:rPr lang="en-AU" sz="3000" b="1" dirty="0"/>
              <a:t>= (</a:t>
            </a:r>
            <a:r>
              <a:rPr lang="en-AU" sz="3000" b="1" i="1" dirty="0"/>
              <a:t>x </a:t>
            </a:r>
            <a:r>
              <a:rPr lang="en-AU" sz="3000" b="1" dirty="0"/>
              <a:t>– 1 )(</a:t>
            </a:r>
            <a:r>
              <a:rPr lang="en-AU" sz="3000" b="1" i="1" dirty="0">
                <a:solidFill>
                  <a:srgbClr val="0033CC"/>
                </a:solidFill>
              </a:rPr>
              <a:t>x – </a:t>
            </a:r>
            <a:r>
              <a:rPr lang="en-AU" sz="3000" b="1" dirty="0">
                <a:solidFill>
                  <a:srgbClr val="0033CC"/>
                </a:solidFill>
              </a:rPr>
              <a:t>5</a:t>
            </a:r>
            <a:r>
              <a:rPr lang="en-AU" sz="3000" b="1" dirty="0"/>
              <a:t>)</a:t>
            </a:r>
            <a:r>
              <a:rPr lang="en-AU" sz="3000" dirty="0"/>
              <a:t> </a:t>
            </a:r>
            <a:r>
              <a:rPr lang="en-AU" sz="3000" dirty="0" err="1"/>
              <a:t>ans</a:t>
            </a:r>
            <a:r>
              <a:rPr lang="en-AU" sz="3000" dirty="0"/>
              <a:t>!!</a:t>
            </a:r>
            <a:endParaRPr lang="en-AU" sz="3000" b="1" dirty="0"/>
          </a:p>
        </p:txBody>
      </p:sp>
      <p:sp>
        <p:nvSpPr>
          <p:cNvPr id="11276" name="AutoShape 12"/>
          <p:cNvSpPr>
            <a:spLocks noChangeArrowheads="1"/>
          </p:cNvSpPr>
          <p:nvPr/>
        </p:nvSpPr>
        <p:spPr bwMode="auto">
          <a:xfrm>
            <a:off x="6400800" y="4343400"/>
            <a:ext cx="533400" cy="533400"/>
          </a:xfrm>
          <a:prstGeom prst="smileyFace">
            <a:avLst>
              <a:gd name="adj" fmla="val 4653"/>
            </a:avLst>
          </a:prstGeom>
          <a:solidFill>
            <a:srgbClr val="ABF5F5"/>
          </a:solidFill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6934200" y="4191000"/>
            <a:ext cx="2209800" cy="24653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latin typeface="Arial Unicode MS" pitchFamily="34" charset="-128"/>
              </a:rPr>
              <a:t>Brainstorm!!</a:t>
            </a:r>
          </a:p>
          <a:p>
            <a:pPr>
              <a:spcBef>
                <a:spcPct val="50000"/>
              </a:spcBef>
            </a:pPr>
            <a:r>
              <a:rPr lang="en-AU" b="1">
                <a:latin typeface="Arial Unicode MS" pitchFamily="34" charset="-128"/>
              </a:rPr>
              <a:t>You can tell you’re on the right track if each bracket is the same!!</a:t>
            </a:r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 flipH="1" flipV="1">
            <a:off x="3131840" y="3356992"/>
            <a:ext cx="3573760" cy="2510408"/>
          </a:xfrm>
          <a:prstGeom prst="line">
            <a:avLst/>
          </a:prstGeom>
          <a:noFill/>
          <a:ln w="38100" cap="sq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 flipH="1" flipV="1">
            <a:off x="5292080" y="3284984"/>
            <a:ext cx="1413520" cy="2582416"/>
          </a:xfrm>
          <a:prstGeom prst="line">
            <a:avLst/>
          </a:prstGeom>
          <a:noFill/>
          <a:ln w="38100" cap="sq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68144" y="2780928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smtClean="0">
                <a:solidFill>
                  <a:srgbClr val="FF0000"/>
                </a:solidFill>
              </a:rPr>
              <a:t>Sign change in the 2</a:t>
            </a:r>
            <a:r>
              <a:rPr lang="en-AU" sz="1800" baseline="30000" dirty="0" smtClean="0">
                <a:solidFill>
                  <a:srgbClr val="FF0000"/>
                </a:solidFill>
              </a:rPr>
              <a:t>nd</a:t>
            </a:r>
            <a:r>
              <a:rPr lang="en-AU" sz="1800" dirty="0" smtClean="0">
                <a:solidFill>
                  <a:srgbClr val="FF0000"/>
                </a:solidFill>
              </a:rPr>
              <a:t> bracket again!! </a:t>
            </a:r>
          </a:p>
        </p:txBody>
      </p:sp>
    </p:spTree>
    <p:extLst>
      <p:ext uri="{BB962C8B-B14F-4D97-AF65-F5344CB8AC3E}">
        <p14:creationId xmlns:p14="http://schemas.microsoft.com/office/powerpoint/2010/main" val="193800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  <p:bldP spid="11268" grpId="0" autoUpdateAnimBg="0"/>
      <p:bldP spid="11269" grpId="0" autoUpdateAnimBg="0"/>
      <p:bldP spid="11270" grpId="0" autoUpdateAnimBg="0"/>
      <p:bldP spid="11271" grpId="0" autoUpdateAnimBg="0"/>
      <p:bldP spid="11272" grpId="0" autoUpdateAnimBg="0"/>
      <p:bldP spid="11273" grpId="0" autoUpdateAnimBg="0"/>
      <p:bldP spid="11274" grpId="0" autoUpdateAnimBg="0"/>
      <p:bldP spid="11276" grpId="0" animBg="1"/>
      <p:bldP spid="11277" grpId="0" autoUpdateAnimBg="0"/>
      <p:bldP spid="11278" grpId="0" animBg="1"/>
      <p:bldP spid="11279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9832" y="1988840"/>
            <a:ext cx="358514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4400" dirty="0" smtClean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Practice:</a:t>
            </a:r>
          </a:p>
          <a:p>
            <a:pPr algn="ctr"/>
            <a:endParaRPr lang="en-AU" sz="4400" dirty="0"/>
          </a:p>
          <a:p>
            <a:pPr algn="ctr"/>
            <a:r>
              <a:rPr lang="en-AU" sz="4400" dirty="0" smtClean="0"/>
              <a:t>Page 74 Dwyer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100583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344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Factorising by grouping</vt:lpstr>
      <vt:lpstr>EQ: how do we factorise by grouping?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Factorising by grouping</dc:title>
  <dc:creator>MORGAN Adam</dc:creator>
  <cp:lastModifiedBy>MORGAN Adam</cp:lastModifiedBy>
  <cp:revision>3</cp:revision>
  <dcterms:created xsi:type="dcterms:W3CDTF">2017-05-28T13:34:53Z</dcterms:created>
  <dcterms:modified xsi:type="dcterms:W3CDTF">2017-05-28T14:04:13Z</dcterms:modified>
</cp:coreProperties>
</file>
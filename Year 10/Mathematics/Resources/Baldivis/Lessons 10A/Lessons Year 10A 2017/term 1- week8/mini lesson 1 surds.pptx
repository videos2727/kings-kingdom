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3" r:id="rId2"/>
    <p:sldId id="264" r:id="rId3"/>
    <p:sldId id="260" r:id="rId4"/>
    <p:sldId id="267" r:id="rId5"/>
    <p:sldId id="268" r:id="rId6"/>
    <p:sldId id="262" r:id="rId7"/>
    <p:sldId id="269" r:id="rId8"/>
    <p:sldId id="270" r:id="rId9"/>
    <p:sldId id="271" r:id="rId10"/>
    <p:sldId id="272" r:id="rId11"/>
    <p:sldId id="273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-1944" y="-49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17/03/2017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hook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</a:t>
            </a:r>
            <a:r>
              <a:rPr lang="en-AU" baseline="0" dirty="0" smtClean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Input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41963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Guided practice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80438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Guided practice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80438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Independent practice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66939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17/03/2017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17/03/2017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17/03/2017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17/03/2017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17/03/2017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17/03/2017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17/03/2017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17/03/2017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17/03/2017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17/03/2017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17/03/2017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17/03/2017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Sydney Harbour Bridge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AU" dirty="0" smtClean="0"/>
          </a:p>
          <a:p>
            <a:pPr marL="0" indent="0">
              <a:buNone/>
            </a:pPr>
            <a:r>
              <a:rPr lang="en-AU" dirty="0" smtClean="0"/>
              <a:t>The engineer didn’t use surds when calculating </a:t>
            </a:r>
            <a:r>
              <a:rPr lang="en-AU" dirty="0" smtClean="0"/>
              <a:t>the needs for building a bridge. </a:t>
            </a:r>
            <a:r>
              <a:rPr lang="en-AU" dirty="0" smtClean="0"/>
              <a:t>They built the bridge from both sides to meet in the middle, but the inaccuracy meant the twos halves didn’t meet.</a:t>
            </a:r>
            <a:endParaRPr lang="en-AU" dirty="0" smtClean="0"/>
          </a:p>
        </p:txBody>
      </p:sp>
      <p:pic>
        <p:nvPicPr>
          <p:cNvPr id="1026" name="Picture 2" descr="Image result for sydney bridge buildi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3732" y="4365104"/>
            <a:ext cx="2609684" cy="1944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610238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9892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Surds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are surds?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2267744" y="2276872"/>
                <a:ext cx="5656485" cy="28949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Surds are irrational numbers.</a:t>
                </a:r>
              </a:p>
              <a:p>
                <a:endParaRPr lang="en-AU" dirty="0"/>
              </a:p>
              <a:p>
                <a:r>
                  <a:rPr lang="en-AU" dirty="0" smtClean="0"/>
                  <a:t>We use surds to make our calculations incredibly accurate</a:t>
                </a:r>
                <a:r>
                  <a:rPr lang="en-AU" dirty="0" smtClean="0"/>
                  <a:t>.</a:t>
                </a:r>
              </a:p>
              <a:p>
                <a:endParaRPr lang="en-AU" dirty="0"/>
              </a:p>
              <a:p>
                <a:endParaRPr lang="en-AU" dirty="0" smtClean="0"/>
              </a:p>
              <a:p>
                <a:endParaRPr lang="en-AU" dirty="0" smtClean="0"/>
              </a:p>
              <a:p>
                <a:r>
                  <a:rPr lang="en-AU" dirty="0" smtClean="0"/>
                  <a:t> </a:t>
                </a:r>
                <a:r>
                  <a:rPr lang="en-AU" dirty="0"/>
                  <a:t>Which of these are surds?</a:t>
                </a:r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i="1"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i="1">
                              <a:latin typeface="Cambria Math"/>
                              <a:ea typeface="Cambria Math"/>
                            </a:rPr>
                            <m:t>2</m:t>
                          </m:r>
                        </m:e>
                      </m:rad>
                      <m:r>
                        <a:rPr lang="en-AU" i="1">
                          <a:latin typeface="Cambria Math"/>
                          <a:ea typeface="Cambria Math"/>
                        </a:rPr>
                        <m:t>,    </m:t>
                      </m:r>
                      <m:rad>
                        <m:radPr>
                          <m:degHide m:val="on"/>
                          <m:ctrlPr>
                            <a:rPr lang="en-AU" i="1"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i="1">
                              <a:latin typeface="Cambria Math"/>
                              <a:ea typeface="Cambria Math"/>
                            </a:rPr>
                            <m:t>9</m:t>
                          </m:r>
                        </m:e>
                      </m:rad>
                      <m:r>
                        <a:rPr lang="en-AU" i="1">
                          <a:latin typeface="Cambria Math"/>
                          <a:ea typeface="Cambria Math"/>
                        </a:rPr>
                        <m:t>      </m:t>
                      </m:r>
                      <m:rad>
                        <m:radPr>
                          <m:degHide m:val="on"/>
                          <m:ctrlPr>
                            <a:rPr lang="en-AU" i="1"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i="1">
                              <a:latin typeface="Cambria Math"/>
                              <a:ea typeface="Cambria Math"/>
                            </a:rPr>
                            <m:t>17</m:t>
                          </m:r>
                        </m:e>
                      </m:rad>
                      <m:r>
                        <a:rPr lang="en-AU" i="1">
                          <a:latin typeface="Cambria Math"/>
                          <a:ea typeface="Cambria Math"/>
                        </a:rPr>
                        <m:t>    </m:t>
                      </m:r>
                    </m:oMath>
                  </m:oMathPara>
                </a14:m>
                <a:endParaRPr lang="en-AU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7744" y="2276872"/>
                <a:ext cx="5656485" cy="2894960"/>
              </a:xfrm>
              <a:prstGeom prst="rect">
                <a:avLst/>
              </a:prstGeom>
              <a:blipFill rotWithShape="1">
                <a:blip r:embed="rId3"/>
                <a:stretch>
                  <a:fillRect l="-862" t="-1055" r="-21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66539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9892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Surds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are some surd basics?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104861" y="2420888"/>
                <a:ext cx="2072170" cy="29766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Multiplying surds:</a:t>
                </a:r>
              </a:p>
              <a:p>
                <a:endParaRPr lang="en-AU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i="1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i="1">
                              <a:latin typeface="Cambria Math"/>
                            </a:rPr>
                            <m:t>𝑥𝑦</m:t>
                          </m:r>
                        </m:e>
                      </m:rad>
                      <m:r>
                        <a:rPr lang="en-AU" i="1">
                          <a:latin typeface="Cambria Math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AU" i="1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i="1">
                              <a:latin typeface="Cambria Math"/>
                            </a:rPr>
                            <m:t>𝑥</m:t>
                          </m:r>
                        </m:e>
                      </m:rad>
                      <m:r>
                        <a:rPr lang="en-AU" i="1">
                          <a:latin typeface="Cambria Math"/>
                        </a:rPr>
                        <m:t> </m:t>
                      </m:r>
                      <m:r>
                        <a:rPr lang="en-AU" i="1">
                          <a:latin typeface="Cambria Math"/>
                          <a:ea typeface="Cambria Math"/>
                        </a:rPr>
                        <m:t>× </m:t>
                      </m:r>
                      <m:rad>
                        <m:radPr>
                          <m:degHide m:val="on"/>
                          <m:ctrlPr>
                            <a:rPr lang="en-AU" i="1"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i="1">
                              <a:latin typeface="Cambria Math"/>
                              <a:ea typeface="Cambria Math"/>
                            </a:rPr>
                            <m:t>𝑦</m:t>
                          </m:r>
                        </m:e>
                      </m:rad>
                    </m:oMath>
                  </m:oMathPara>
                </a14:m>
                <a:endParaRPr lang="en-AU" dirty="0" smtClean="0"/>
              </a:p>
              <a:p>
                <a:endParaRPr lang="en-AU" dirty="0"/>
              </a:p>
              <a:p>
                <a:endParaRPr lang="en-AU" dirty="0" smtClean="0"/>
              </a:p>
              <a:p>
                <a:r>
                  <a:rPr lang="en-AU" dirty="0"/>
                  <a:t>Example: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i="1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i="1">
                              <a:latin typeface="Cambria Math"/>
                            </a:rPr>
                            <m:t>12</m:t>
                          </m:r>
                        </m:e>
                      </m:rad>
                      <m:r>
                        <a:rPr lang="en-AU" i="1">
                          <a:latin typeface="Cambria Math"/>
                        </a:rPr>
                        <m:t>=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ad>
                        <m:radPr>
                          <m:degHide m:val="on"/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b="0" i="1" smtClean="0">
                              <a:latin typeface="Cambria Math"/>
                            </a:rPr>
                            <m:t>4</m:t>
                          </m:r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×3</m:t>
                          </m:r>
                        </m:e>
                      </m:rad>
                    </m:oMath>
                  </m:oMathPara>
                </a14:m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i="1">
                          <a:latin typeface="Cambria Math"/>
                        </a:rPr>
                        <m:t>          =2</m:t>
                      </m:r>
                      <m:rad>
                        <m:radPr>
                          <m:degHide m:val="on"/>
                          <m:ctrlPr>
                            <a:rPr lang="en-AU" i="1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i="1">
                              <a:latin typeface="Cambria Math"/>
                            </a:rPr>
                            <m:t>3</m:t>
                          </m:r>
                        </m:e>
                      </m:rad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4861" y="2420888"/>
                <a:ext cx="2072170" cy="2976649"/>
              </a:xfrm>
              <a:prstGeom prst="rect">
                <a:avLst/>
              </a:prstGeom>
              <a:blipFill rotWithShape="1">
                <a:blip r:embed="rId3"/>
                <a:stretch>
                  <a:fillRect l="-2353" t="-102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5796136" y="4293096"/>
                <a:ext cx="2931508" cy="10090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1"/>
                <a:r>
                  <a:rPr lang="en-AU" dirty="0" smtClean="0"/>
                  <a:t>Or 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i="1">
                            <a:latin typeface="Cambria Math"/>
                          </a:rPr>
                          <m:t>12</m:t>
                        </m:r>
                      </m:e>
                    </m:rad>
                    <m:r>
                      <a:rPr lang="en-AU" i="1">
                        <a:latin typeface="Cambria Math"/>
                      </a:rPr>
                      <m:t>=</m:t>
                    </m:r>
                    <m:r>
                      <a:rPr lang="en-AU" i="1">
                        <a:latin typeface="Cambria Math"/>
                      </a:rPr>
                      <m:t> </m:t>
                    </m:r>
                    <m:rad>
                      <m:radPr>
                        <m:degHide m:val="on"/>
                        <m:ctrlPr>
                          <a:rPr lang="en-AU" i="1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×2</m:t>
                        </m:r>
                      </m:e>
                    </m:rad>
                  </m:oMath>
                </a14:m>
                <a:r>
                  <a:rPr lang="en-AU" dirty="0" smtClean="0">
                    <a:ea typeface="Cambria Math"/>
                  </a:rPr>
                  <a:t/>
                </a:r>
                <a:br>
                  <a:rPr lang="en-AU" dirty="0" smtClean="0">
                    <a:ea typeface="Cambria Math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0" smtClean="0">
                          <a:latin typeface="Cambria Math"/>
                          <a:ea typeface="Cambria Math"/>
                        </a:rPr>
                        <m:t>               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=  </m:t>
                      </m:r>
                      <m:rad>
                        <m:radPr>
                          <m:degHide m:val="on"/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3×2×2</m:t>
                          </m:r>
                        </m:e>
                      </m:rad>
                    </m:oMath>
                  </m:oMathPara>
                </a14:m>
                <a:endParaRPr lang="en-AU" dirty="0"/>
              </a:p>
              <a:p>
                <a:pPr lvl="1"/>
                <a14:m>
                  <m:oMath xmlns:m="http://schemas.openxmlformats.org/officeDocument/2006/math">
                    <m:r>
                      <a:rPr lang="en-AU" i="1">
                        <a:latin typeface="Cambria Math"/>
                      </a:rPr>
                      <m:t>        </m:t>
                    </m:r>
                    <m:r>
                      <a:rPr lang="en-AU" b="0" i="1" smtClean="0">
                        <a:latin typeface="Cambria Math"/>
                      </a:rPr>
                      <m:t>       </m:t>
                    </m:r>
                    <m:r>
                      <a:rPr lang="en-AU" i="1">
                        <a:latin typeface="Cambria Math"/>
                      </a:rPr>
                      <m:t> =2</m:t>
                    </m:r>
                    <m:rad>
                      <m:radPr>
                        <m:degHide m:val="on"/>
                        <m:ctrlPr>
                          <a:rPr lang="en-AU" i="1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i="1">
                            <a:latin typeface="Cambria Math"/>
                          </a:rPr>
                          <m:t>3</m:t>
                        </m:r>
                      </m:e>
                    </m:rad>
                  </m:oMath>
                </a14:m>
                <a:r>
                  <a:rPr lang="en-AU" dirty="0" smtClean="0"/>
                  <a:t> </a:t>
                </a:r>
                <a:endParaRPr lang="en-AU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6136" y="4293096"/>
                <a:ext cx="2931508" cy="1009059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ectangle 12"/>
              <p:cNvSpPr/>
              <p:nvPr/>
            </p:nvSpPr>
            <p:spPr>
              <a:xfrm>
                <a:off x="4334693" y="5732308"/>
                <a:ext cx="3864877" cy="9873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dirty="0" smtClean="0"/>
                  <a:t>Remember: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 smtClean="0">
                            <a:latin typeface="Cambria Math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AU" b="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/>
                              </a:rPr>
                              <m:t>𝑎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AU" b="0" i="1" smtClean="0">
                        <a:latin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AU" i="1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</a:rPr>
                          <m:t>𝑎</m:t>
                        </m:r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</m:rad>
                    <m:r>
                      <a:rPr lang="en-AU" b="0" i="1" smtClean="0">
                        <a:latin typeface="Cambria Math"/>
                      </a:rPr>
                      <m:t>=</m:t>
                    </m:r>
                    <m:r>
                      <a:rPr lang="en-AU" b="0" i="1" smtClean="0">
                        <a:latin typeface="Cambria Math"/>
                      </a:rPr>
                      <m:t>𝑎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4693" y="5732308"/>
                <a:ext cx="3864877" cy="98733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300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62" t="69396" r="20149" b="15302"/>
          <a:stretch/>
        </p:blipFill>
        <p:spPr bwMode="auto">
          <a:xfrm>
            <a:off x="298733" y="1628800"/>
            <a:ext cx="8665756" cy="15343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266734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62" t="69396" r="20149" b="15302"/>
          <a:stretch/>
        </p:blipFill>
        <p:spPr bwMode="auto">
          <a:xfrm>
            <a:off x="298733" y="1628800"/>
            <a:ext cx="8665756" cy="15343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1757798" y="1620532"/>
                <a:ext cx="753348" cy="15733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2</m:t>
                      </m:r>
                      <m:rad>
                        <m:radPr>
                          <m:degHide m:val="on"/>
                          <m:ctrlP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2</m:t>
                          </m:r>
                        </m:e>
                      </m:rad>
                    </m:oMath>
                  </m:oMathPara>
                </a14:m>
                <a:endParaRPr lang="en-AU" b="0" dirty="0" smtClean="0">
                  <a:solidFill>
                    <a:srgbClr val="FF0000"/>
                  </a:solidFill>
                  <a:ea typeface="Cambria Math"/>
                </a:endParaRPr>
              </a:p>
              <a:p>
                <a:endParaRPr lang="en-AU" dirty="0" smtClean="0">
                  <a:solidFill>
                    <a:srgbClr val="FF0000"/>
                  </a:solidFill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5</m:t>
                      </m:r>
                      <m:rad>
                        <m:radPr>
                          <m:degHide m:val="on"/>
                          <m:ctrlP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2</m:t>
                          </m:r>
                        </m:e>
                      </m:rad>
                    </m:oMath>
                  </m:oMathPara>
                </a14:m>
                <a:r>
                  <a:rPr lang="en-AU" b="0" dirty="0" smtClean="0">
                    <a:solidFill>
                      <a:srgbClr val="FF0000"/>
                    </a:solidFill>
                    <a:ea typeface="Cambria Math"/>
                  </a:rPr>
                  <a:t/>
                </a:r>
                <a:br>
                  <a:rPr lang="en-AU" b="0" dirty="0" smtClean="0">
                    <a:solidFill>
                      <a:srgbClr val="FF0000"/>
                    </a:solidFill>
                    <a:ea typeface="Cambria Math"/>
                  </a:rPr>
                </a:br>
                <a:endParaRPr lang="en-AU" b="0" dirty="0" smtClean="0">
                  <a:solidFill>
                    <a:srgbClr val="FF0000"/>
                  </a:solidFill>
                  <a:ea typeface="Cambria Math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2</m:t>
                      </m:r>
                      <m:rad>
                        <m:radPr>
                          <m:degHide m:val="on"/>
                          <m:ctrlP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7</m:t>
                          </m:r>
                        </m:e>
                      </m:rad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7798" y="1620532"/>
                <a:ext cx="753348" cy="1573379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4314056" y="1645840"/>
                <a:ext cx="753732" cy="15632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2</m:t>
                      </m:r>
                      <m:rad>
                        <m:radPr>
                          <m:degHide m:val="on"/>
                          <m:ctrlP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3</m:t>
                          </m:r>
                        </m:e>
                      </m:rad>
                    </m:oMath>
                  </m:oMathPara>
                </a14:m>
                <a:r>
                  <a:rPr lang="en-AU" b="0" dirty="0" smtClean="0">
                    <a:solidFill>
                      <a:srgbClr val="FF0000"/>
                    </a:solidFill>
                    <a:ea typeface="Cambria Math"/>
                  </a:rPr>
                  <a:t/>
                </a:r>
                <a:br>
                  <a:rPr lang="en-AU" b="0" dirty="0" smtClean="0">
                    <a:solidFill>
                      <a:srgbClr val="FF0000"/>
                    </a:solidFill>
                    <a:ea typeface="Cambria Math"/>
                  </a:rPr>
                </a:br>
                <a:r>
                  <a:rPr lang="en-AU" b="0" dirty="0" smtClean="0">
                    <a:solidFill>
                      <a:srgbClr val="FF0000"/>
                    </a:solidFill>
                    <a:ea typeface="Cambria Math"/>
                  </a:rPr>
                  <a:t/>
                </a:r>
                <a:br>
                  <a:rPr lang="en-AU" b="0" dirty="0" smtClean="0">
                    <a:solidFill>
                      <a:srgbClr val="FF0000"/>
                    </a:solidFill>
                    <a:ea typeface="Cambria Math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2</m:t>
                      </m:r>
                      <m:rad>
                        <m:radPr>
                          <m:degHide m:val="on"/>
                          <m:ctrlP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6</m:t>
                          </m:r>
                        </m:e>
                      </m:rad>
                    </m:oMath>
                  </m:oMathPara>
                </a14:m>
                <a:endParaRPr lang="en-AU" b="0" dirty="0" smtClean="0">
                  <a:solidFill>
                    <a:srgbClr val="FF0000"/>
                  </a:solidFill>
                  <a:ea typeface="Cambria Math"/>
                </a:endParaRPr>
              </a:p>
              <a:p>
                <a:endParaRPr lang="en-AU" dirty="0" smtClean="0">
                  <a:solidFill>
                    <a:srgbClr val="FF0000"/>
                  </a:solidFill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2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√5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4056" y="1645840"/>
                <a:ext cx="753732" cy="1563248"/>
              </a:xfrm>
              <a:prstGeom prst="rect">
                <a:avLst/>
              </a:prstGeom>
              <a:blipFill rotWithShape="1">
                <a:blip r:embed="rId5"/>
                <a:stretch>
                  <a:fillRect b="-39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6300192" y="1645840"/>
                <a:ext cx="690382" cy="15632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3</m:t>
                      </m:r>
                      <m:rad>
                        <m:radPr>
                          <m:degHide m:val="on"/>
                          <m:ctrlP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2</m:t>
                          </m:r>
                        </m:e>
                      </m:rad>
                    </m:oMath>
                  </m:oMathPara>
                </a14:m>
                <a:endParaRPr lang="en-AU" b="0" dirty="0" smtClean="0">
                  <a:solidFill>
                    <a:srgbClr val="FF0000"/>
                  </a:solidFill>
                  <a:ea typeface="Cambria Math"/>
                </a:endParaRPr>
              </a:p>
              <a:p>
                <a:r>
                  <a:rPr lang="en-AU" b="0" dirty="0" smtClean="0">
                    <a:solidFill>
                      <a:srgbClr val="FF0000"/>
                    </a:solidFill>
                    <a:ea typeface="Cambria Math"/>
                  </a:rPr>
                  <a:t/>
                </a:r>
                <a:br>
                  <a:rPr lang="en-AU" b="0" dirty="0" smtClean="0">
                    <a:solidFill>
                      <a:srgbClr val="FF0000"/>
                    </a:solidFill>
                    <a:ea typeface="Cambria Math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3</m:t>
                      </m:r>
                      <m:rad>
                        <m:radPr>
                          <m:degHide m:val="on"/>
                          <m:ctrlP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3</m:t>
                          </m:r>
                        </m:e>
                      </m:rad>
                    </m:oMath>
                  </m:oMathPara>
                </a14:m>
                <a:endParaRPr lang="en-AU" b="0" dirty="0" smtClean="0">
                  <a:solidFill>
                    <a:srgbClr val="FF0000"/>
                  </a:solidFill>
                  <a:ea typeface="Cambria Math"/>
                </a:endParaRPr>
              </a:p>
              <a:p>
                <a:r>
                  <a:rPr lang="en-AU" b="0" dirty="0" smtClean="0">
                    <a:solidFill>
                      <a:srgbClr val="FF0000"/>
                    </a:solidFill>
                    <a:ea typeface="Cambria Math"/>
                  </a:rPr>
                  <a:t/>
                </a:r>
                <a:br>
                  <a:rPr lang="en-AU" b="0" dirty="0" smtClean="0">
                    <a:solidFill>
                      <a:srgbClr val="FF0000"/>
                    </a:solidFill>
                    <a:ea typeface="Cambria Math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3√5</m:t>
                      </m:r>
                    </m:oMath>
                  </m:oMathPara>
                </a14:m>
                <a:endParaRPr lang="en-AU" b="0" dirty="0" smtClean="0">
                  <a:solidFill>
                    <a:srgbClr val="FF0000"/>
                  </a:solidFill>
                  <a:ea typeface="Cambria Math"/>
                </a:endParaRP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0192" y="1645840"/>
                <a:ext cx="690382" cy="1563248"/>
              </a:xfrm>
              <a:prstGeom prst="rect">
                <a:avLst/>
              </a:prstGeom>
              <a:blipFill rotWithShape="1">
                <a:blip r:embed="rId6"/>
                <a:stretch>
                  <a:fillRect b="-39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8430586" y="1645840"/>
                <a:ext cx="819455" cy="15688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2</m:t>
                      </m:r>
                      <m:rad>
                        <m:radPr>
                          <m:degHide m:val="on"/>
                          <m:ctrlP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5</m:t>
                          </m:r>
                        </m:e>
                      </m:rad>
                    </m:oMath>
                  </m:oMathPara>
                </a14:m>
                <a:endParaRPr lang="en-AU" b="0" dirty="0" smtClean="0">
                  <a:solidFill>
                    <a:srgbClr val="FF0000"/>
                  </a:solidFill>
                  <a:ea typeface="Cambria Math"/>
                </a:endParaRPr>
              </a:p>
              <a:p>
                <a:r>
                  <a:rPr lang="en-AU" b="0" dirty="0" smtClean="0">
                    <a:solidFill>
                      <a:srgbClr val="FF0000"/>
                    </a:solidFill>
                    <a:ea typeface="Cambria Math"/>
                  </a:rPr>
                  <a:t/>
                </a:r>
                <a:br>
                  <a:rPr lang="en-AU" b="0" dirty="0" smtClean="0">
                    <a:solidFill>
                      <a:srgbClr val="FF0000"/>
                    </a:solidFill>
                    <a:ea typeface="Cambria Math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10</m:t>
                      </m:r>
                      <m:rad>
                        <m:radPr>
                          <m:degHide m:val="on"/>
                          <m:ctrlP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2</m:t>
                          </m:r>
                        </m:e>
                      </m:rad>
                    </m:oMath>
                  </m:oMathPara>
                </a14:m>
                <a:endParaRPr lang="en-AU" b="0" dirty="0" smtClean="0">
                  <a:solidFill>
                    <a:srgbClr val="FF0000"/>
                  </a:solidFill>
                  <a:ea typeface="Cambria Math"/>
                </a:endParaRPr>
              </a:p>
              <a:p>
                <a:r>
                  <a:rPr lang="en-AU" b="0" dirty="0" smtClean="0">
                    <a:solidFill>
                      <a:srgbClr val="FF0000"/>
                    </a:solidFill>
                    <a:ea typeface="Cambria Math"/>
                  </a:rPr>
                  <a:t/>
                </a:r>
                <a:br>
                  <a:rPr lang="en-AU" b="0" dirty="0" smtClean="0">
                    <a:solidFill>
                      <a:srgbClr val="FF0000"/>
                    </a:solidFill>
                    <a:ea typeface="Cambria Math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2√11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0586" y="1645840"/>
                <a:ext cx="819455" cy="1568827"/>
              </a:xfrm>
              <a:prstGeom prst="rect">
                <a:avLst/>
              </a:prstGeom>
              <a:blipFill rotWithShape="1">
                <a:blip r:embed="rId7"/>
                <a:stretch>
                  <a:fillRect b="-3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2134472" y="661338"/>
            <a:ext cx="1501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Answers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4068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39" name="Straight Connector 38"/>
          <p:cNvCxnSpPr/>
          <p:nvPr/>
        </p:nvCxnSpPr>
        <p:spPr>
          <a:xfrm>
            <a:off x="1610238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115616" y="404664"/>
            <a:ext cx="9892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Surds</a:t>
            </a:r>
            <a:endParaRPr lang="en-AU" sz="2800" dirty="0"/>
          </a:p>
        </p:txBody>
      </p:sp>
      <p:sp>
        <p:nvSpPr>
          <p:cNvPr id="41" name="TextBox 11"/>
          <p:cNvSpPr txBox="1"/>
          <p:nvPr/>
        </p:nvSpPr>
        <p:spPr>
          <a:xfrm>
            <a:off x="93471" y="1196752"/>
            <a:ext cx="9050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2400" dirty="0">
                <a:solidFill>
                  <a:prstClr val="black"/>
                </a:solidFill>
              </a:rPr>
              <a:t>EQ </a:t>
            </a:r>
            <a:r>
              <a:rPr lang="en-AU" sz="2400" dirty="0" smtClean="0">
                <a:solidFill>
                  <a:prstClr val="black"/>
                </a:solidFill>
              </a:rPr>
              <a:t>: What are surds?</a:t>
            </a:r>
            <a:endParaRPr lang="en-AU" sz="2400" dirty="0">
              <a:solidFill>
                <a:prstClr val="black"/>
              </a:solidFill>
            </a:endParaRPr>
          </a:p>
        </p:txBody>
      </p:sp>
      <p:sp>
        <p:nvSpPr>
          <p:cNvPr id="42" name="TextBox 7"/>
          <p:cNvSpPr txBox="1"/>
          <p:nvPr/>
        </p:nvSpPr>
        <p:spPr>
          <a:xfrm>
            <a:off x="67635" y="1991635"/>
            <a:ext cx="2915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2400" smtClean="0">
                <a:solidFill>
                  <a:prstClr val="black"/>
                </a:solidFill>
              </a:rPr>
              <a:t>Question:</a:t>
            </a:r>
            <a:endParaRPr lang="en-AU" sz="2400" dirty="0" smtClean="0">
              <a:solidFill>
                <a:prstClr val="black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12"/>
              <p:cNvSpPr txBox="1"/>
              <p:nvPr/>
            </p:nvSpPr>
            <p:spPr>
              <a:xfrm>
                <a:off x="1979712" y="1991635"/>
                <a:ext cx="7164288" cy="46648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AU" sz="2000" dirty="0" smtClean="0">
                    <a:solidFill>
                      <a:prstClr val="black"/>
                    </a:solidFill>
                  </a:rPr>
                  <a:t>Notes:</a:t>
                </a:r>
              </a:p>
              <a:p>
                <a:r>
                  <a:rPr lang="en-AU" sz="2000" dirty="0" smtClean="0">
                    <a:solidFill>
                      <a:prstClr val="black"/>
                    </a:solidFill>
                  </a:rPr>
                  <a:t>Surd Rules:</a:t>
                </a:r>
              </a:p>
              <a:p>
                <a:endParaRPr lang="en-AU" sz="2000" dirty="0" smtClean="0">
                  <a:solidFill>
                    <a:prstClr val="black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2000" b="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000" b="0" i="1" smtClean="0">
                              <a:latin typeface="Cambria Math"/>
                            </a:rPr>
                            <m:t>𝑥</m:t>
                          </m:r>
                        </m:e>
                      </m:rad>
                      <m:r>
                        <a:rPr lang="en-AU" sz="2000" b="0" i="1" smtClean="0">
                          <a:latin typeface="Cambria Math"/>
                        </a:rPr>
                        <m:t> </m:t>
                      </m:r>
                      <m:r>
                        <a:rPr lang="en-AU" sz="2000" b="0" i="1" smtClean="0">
                          <a:latin typeface="Cambria Math"/>
                          <a:ea typeface="Cambria Math"/>
                        </a:rPr>
                        <m:t>× </m:t>
                      </m:r>
                      <m:rad>
                        <m:radPr>
                          <m:degHide m:val="on"/>
                          <m:ctrlPr>
                            <a:rPr lang="en-AU" sz="2000" b="0" i="1" smtClean="0"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000" b="0" i="1" smtClean="0">
                              <a:latin typeface="Cambria Math"/>
                              <a:ea typeface="Cambria Math"/>
                            </a:rPr>
                            <m:t>𝑦</m:t>
                          </m:r>
                        </m:e>
                      </m:rad>
                      <m:r>
                        <a:rPr lang="en-AU" sz="2000" b="0" i="1" smtClean="0">
                          <a:latin typeface="Cambria Math"/>
                          <a:ea typeface="Cambria Math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AU" sz="2000" b="0" i="1" smtClean="0"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000" b="0" i="1" smtClean="0">
                              <a:latin typeface="Cambria Math"/>
                              <a:ea typeface="Cambria Math"/>
                            </a:rPr>
                            <m:t>𝑥𝑦</m:t>
                          </m:r>
                        </m:e>
                      </m:rad>
                    </m:oMath>
                  </m:oMathPara>
                </a14:m>
                <a:endParaRPr lang="en-AU" sz="2000" dirty="0" smtClean="0"/>
              </a:p>
              <a:p>
                <a:endParaRPr lang="en-AU" sz="2000" dirty="0" smtClean="0"/>
              </a:p>
              <a:p>
                <a:r>
                  <a:rPr lang="en-AU" sz="2000" dirty="0" smtClean="0"/>
                  <a:t>Example: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2000" i="1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000" b="0" i="1" smtClean="0">
                              <a:latin typeface="Cambria Math"/>
                            </a:rPr>
                            <m:t>4</m:t>
                          </m:r>
                        </m:e>
                      </m:rad>
                      <m:r>
                        <a:rPr lang="en-AU" sz="2000" i="1" smtClean="0">
                          <a:latin typeface="Cambria Math"/>
                        </a:rPr>
                        <m:t> </m:t>
                      </m:r>
                      <m:r>
                        <a:rPr lang="en-AU" sz="2000" i="1" smtClean="0">
                          <a:latin typeface="Cambria Math"/>
                          <a:ea typeface="Cambria Math"/>
                        </a:rPr>
                        <m:t>× </m:t>
                      </m:r>
                      <m:rad>
                        <m:radPr>
                          <m:degHide m:val="on"/>
                          <m:ctrlPr>
                            <a:rPr lang="en-AU" sz="2000" i="1"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000" b="0" i="1" smtClean="0">
                              <a:latin typeface="Cambria Math"/>
                              <a:ea typeface="Cambria Math"/>
                            </a:rPr>
                            <m:t>3</m:t>
                          </m:r>
                        </m:e>
                      </m:rad>
                      <m:r>
                        <a:rPr lang="en-AU" sz="2000" b="0" i="1" smtClean="0">
                          <a:latin typeface="Cambria Math"/>
                          <a:ea typeface="Cambria Math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AU" sz="2000" b="0" i="1" smtClean="0"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000" b="0" i="1" smtClean="0">
                              <a:latin typeface="Cambria Math"/>
                              <a:ea typeface="Cambria Math"/>
                            </a:rPr>
                            <m:t>4 ×3</m:t>
                          </m:r>
                        </m:e>
                      </m:rad>
                      <m:r>
                        <a:rPr lang="en-AU" sz="2000" b="0" i="1" smtClean="0">
                          <a:latin typeface="Cambria Math"/>
                          <a:ea typeface="Cambria Math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AU" sz="2000" b="0" i="1" smtClean="0"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000" b="0" i="1" smtClean="0">
                              <a:latin typeface="Cambria Math"/>
                              <a:ea typeface="Cambria Math"/>
                            </a:rPr>
                            <m:t>12</m:t>
                          </m:r>
                        </m:e>
                      </m:rad>
                      <m:r>
                        <a:rPr lang="en-AU" sz="2000" b="0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AU" sz="2000" i="1">
                          <a:latin typeface="Cambria Math"/>
                        </a:rPr>
                        <m:t>2</m:t>
                      </m:r>
                      <m:rad>
                        <m:radPr>
                          <m:degHide m:val="on"/>
                          <m:ctrlPr>
                            <a:rPr lang="en-AU" sz="2000" i="1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000" i="1">
                              <a:latin typeface="Cambria Math"/>
                            </a:rPr>
                            <m:t>3</m:t>
                          </m:r>
                        </m:e>
                      </m:rad>
                    </m:oMath>
                  </m:oMathPara>
                </a14:m>
                <a:endParaRPr lang="en-AU" sz="2000" dirty="0" smtClean="0"/>
              </a:p>
              <a:p>
                <a:endParaRPr lang="en-AU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/>
                        </a:rPr>
                        <m:t>2</m:t>
                      </m:r>
                      <m:rad>
                        <m:radPr>
                          <m:degHide m:val="on"/>
                          <m:ctrlPr>
                            <a:rPr lang="en-AU" sz="2000" i="1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000" i="1">
                              <a:latin typeface="Cambria Math"/>
                            </a:rPr>
                            <m:t>4</m:t>
                          </m:r>
                        </m:e>
                      </m:rad>
                      <m:r>
                        <a:rPr lang="en-AU" sz="2000" i="1">
                          <a:latin typeface="Cambria Math"/>
                        </a:rPr>
                        <m:t> </m:t>
                      </m:r>
                      <m:r>
                        <a:rPr lang="en-AU" sz="2000" i="1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sz="2000" b="0" i="1" smtClean="0">
                          <a:latin typeface="Cambria Math"/>
                          <a:ea typeface="Cambria Math"/>
                        </a:rPr>
                        <m:t>5</m:t>
                      </m:r>
                      <m:rad>
                        <m:radPr>
                          <m:degHide m:val="on"/>
                          <m:ctrlPr>
                            <a:rPr lang="en-AU" sz="2000" i="1"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000" i="1">
                              <a:latin typeface="Cambria Math"/>
                              <a:ea typeface="Cambria Math"/>
                            </a:rPr>
                            <m:t>3</m:t>
                          </m:r>
                        </m:e>
                      </m:rad>
                      <m:r>
                        <a:rPr lang="en-AU" sz="2000" i="1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AU" sz="2000" b="0" i="1" smtClean="0">
                          <a:latin typeface="Cambria Math"/>
                          <a:ea typeface="Cambria Math"/>
                        </a:rPr>
                        <m:t>2 ×5 ×</m:t>
                      </m:r>
                      <m:rad>
                        <m:radPr>
                          <m:degHide m:val="on"/>
                          <m:ctrlPr>
                            <a:rPr lang="en-AU" sz="2000" i="1"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000" i="1">
                              <a:latin typeface="Cambria Math"/>
                              <a:ea typeface="Cambria Math"/>
                            </a:rPr>
                            <m:t>4 ×3</m:t>
                          </m:r>
                        </m:e>
                      </m:rad>
                      <m:r>
                        <a:rPr lang="en-AU" sz="2000" b="0" i="1" smtClean="0">
                          <a:latin typeface="Cambria Math"/>
                          <a:ea typeface="Cambria Math"/>
                        </a:rPr>
                        <m:t>=10</m:t>
                      </m:r>
                      <m:rad>
                        <m:radPr>
                          <m:degHide m:val="on"/>
                          <m:ctrlPr>
                            <a:rPr lang="en-AU" sz="2000" i="1"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000" i="1">
                              <a:latin typeface="Cambria Math"/>
                              <a:ea typeface="Cambria Math"/>
                            </a:rPr>
                            <m:t>12</m:t>
                          </m:r>
                        </m:e>
                      </m:rad>
                      <m:r>
                        <a:rPr lang="en-AU" sz="2000" b="0" i="1" smtClean="0">
                          <a:latin typeface="Cambria Math"/>
                          <a:ea typeface="Cambria Math"/>
                        </a:rPr>
                        <m:t>=10×</m:t>
                      </m:r>
                      <m:r>
                        <a:rPr lang="en-AU" sz="2000" i="1">
                          <a:latin typeface="Cambria Math"/>
                        </a:rPr>
                        <m:t>2</m:t>
                      </m:r>
                      <m:rad>
                        <m:radPr>
                          <m:degHide m:val="on"/>
                          <m:ctrlPr>
                            <a:rPr lang="en-AU" sz="2000" i="1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000" i="1">
                              <a:latin typeface="Cambria Math"/>
                            </a:rPr>
                            <m:t>3</m:t>
                          </m:r>
                        </m:e>
                      </m:rad>
                      <m:r>
                        <a:rPr lang="en-AU" sz="2000" b="0" i="1" smtClean="0">
                          <a:latin typeface="Cambria Math"/>
                        </a:rPr>
                        <m:t>=</m:t>
                      </m:r>
                      <m:r>
                        <a:rPr lang="en-AU" sz="2000" i="1">
                          <a:latin typeface="Cambria Math"/>
                        </a:rPr>
                        <m:t>2</m:t>
                      </m:r>
                      <m:r>
                        <a:rPr lang="en-AU" sz="2000" b="0" i="1" smtClean="0">
                          <a:latin typeface="Cambria Math"/>
                        </a:rPr>
                        <m:t>0</m:t>
                      </m:r>
                      <m:rad>
                        <m:radPr>
                          <m:degHide m:val="on"/>
                          <m:ctrlPr>
                            <a:rPr lang="en-AU" sz="2000" i="1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000" i="1">
                              <a:latin typeface="Cambria Math"/>
                            </a:rPr>
                            <m:t>3</m:t>
                          </m:r>
                        </m:e>
                      </m:rad>
                    </m:oMath>
                  </m:oMathPara>
                </a14:m>
                <a:endParaRPr lang="en-AU" sz="2000" dirty="0" smtClean="0"/>
              </a:p>
              <a:p>
                <a:endParaRPr lang="en-AU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2000" i="1"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000" b="0" i="1" smtClean="0">
                              <a:latin typeface="Cambria Math"/>
                              <a:ea typeface="Cambria Math"/>
                            </a:rPr>
                            <m:t>4</m:t>
                          </m:r>
                        </m:e>
                      </m:rad>
                      <m:d>
                        <m:dPr>
                          <m:ctrlPr>
                            <a:rPr lang="en-AU" sz="2000" b="0" i="1" smtClean="0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n-AU" sz="2000" i="1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AU" sz="2000" i="1">
                                  <a:latin typeface="Cambria Math"/>
                                </a:rPr>
                                <m:t>4</m:t>
                              </m:r>
                            </m:e>
                          </m:rad>
                          <m:r>
                            <a:rPr lang="en-AU" sz="2000" b="0" i="1" smtClean="0">
                              <a:latin typeface="Cambria Math"/>
                            </a:rPr>
                            <m:t>+</m:t>
                          </m:r>
                          <m:rad>
                            <m:radPr>
                              <m:degHide m:val="on"/>
                              <m:ctrlPr>
                                <a:rPr lang="en-AU" sz="2000" i="1">
                                  <a:latin typeface="Cambria Math"/>
                                  <a:ea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AU" sz="2000" i="1">
                                  <a:latin typeface="Cambria Math"/>
                                  <a:ea typeface="Cambria Math"/>
                                </a:rPr>
                                <m:t>3</m:t>
                              </m:r>
                            </m:e>
                          </m:rad>
                        </m:e>
                      </m:d>
                      <m:r>
                        <a:rPr lang="en-AU" sz="2000" i="1">
                          <a:latin typeface="Cambria Math"/>
                          <a:ea typeface="Cambria Math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AU" sz="2000" i="1"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000" b="0" i="1" smtClean="0">
                              <a:latin typeface="Cambria Math"/>
                              <a:ea typeface="Cambria Math"/>
                            </a:rPr>
                            <m:t>16</m:t>
                          </m:r>
                        </m:e>
                      </m:rad>
                      <m:r>
                        <a:rPr lang="en-AU" sz="2000" b="0" i="1" smtClean="0">
                          <a:latin typeface="Cambria Math"/>
                          <a:ea typeface="Cambria Math"/>
                        </a:rPr>
                        <m:t>+ </m:t>
                      </m:r>
                      <m:rad>
                        <m:radPr>
                          <m:degHide m:val="on"/>
                          <m:ctrlPr>
                            <a:rPr lang="en-AU" sz="2000" b="0" i="1" smtClean="0"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000" b="0" i="1" smtClean="0">
                              <a:latin typeface="Cambria Math"/>
                              <a:ea typeface="Cambria Math"/>
                            </a:rPr>
                            <m:t>12</m:t>
                          </m:r>
                        </m:e>
                      </m:rad>
                      <m:r>
                        <a:rPr lang="en-AU" sz="2000" b="0" i="1" smtClean="0">
                          <a:latin typeface="Cambria Math"/>
                          <a:ea typeface="Cambria Math"/>
                        </a:rPr>
                        <m:t>=4+</m:t>
                      </m:r>
                      <m:rad>
                        <m:radPr>
                          <m:degHide m:val="on"/>
                          <m:ctrlPr>
                            <a:rPr lang="en-AU" sz="2000" b="0" i="1" smtClean="0"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000" b="0" i="1" smtClean="0">
                              <a:latin typeface="Cambria Math"/>
                              <a:ea typeface="Cambria Math"/>
                            </a:rPr>
                            <m:t>12</m:t>
                          </m:r>
                        </m:e>
                      </m:rad>
                      <m:r>
                        <a:rPr lang="en-AU" sz="2000" b="0" i="1" smtClean="0">
                          <a:latin typeface="Cambria Math"/>
                          <a:ea typeface="Cambria Math"/>
                        </a:rPr>
                        <m:t>=4+</m:t>
                      </m:r>
                      <m:r>
                        <a:rPr lang="en-AU" sz="2000" i="1">
                          <a:latin typeface="Cambria Math"/>
                        </a:rPr>
                        <m:t>2</m:t>
                      </m:r>
                      <m:rad>
                        <m:radPr>
                          <m:degHide m:val="on"/>
                          <m:ctrlPr>
                            <a:rPr lang="en-AU" sz="2000" i="1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000" i="1">
                              <a:latin typeface="Cambria Math"/>
                            </a:rPr>
                            <m:t>3</m:t>
                          </m:r>
                        </m:e>
                      </m:rad>
                    </m:oMath>
                  </m:oMathPara>
                </a14:m>
                <a:endParaRPr lang="en-AU" sz="2000" dirty="0" smtClean="0">
                  <a:solidFill>
                    <a:srgbClr val="7030A0"/>
                  </a:solidFill>
                </a:endParaRPr>
              </a:p>
              <a:p>
                <a:endParaRPr lang="en-AU" sz="2000" dirty="0">
                  <a:solidFill>
                    <a:srgbClr val="7030A0"/>
                  </a:solidFill>
                </a:endParaRPr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000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latin typeface="Cambria Math"/>
                            <a:ea typeface="Cambria Math"/>
                          </a:rPr>
                          <m:t>5</m:t>
                        </m:r>
                      </m:e>
                    </m:rad>
                    <m:d>
                      <m:dPr>
                        <m:ctrlPr>
                          <a:rPr lang="en-AU" sz="2000" i="1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AU" sz="2000" i="1">
                                <a:latin typeface="Cambria Math"/>
                              </a:rPr>
                            </m:ctrlPr>
                          </m:radPr>
                          <m:deg/>
                          <m:e>
                            <m:r>
                              <a:rPr lang="en-AU" sz="2000" i="1">
                                <a:latin typeface="Cambria Math"/>
                              </a:rPr>
                              <m:t>4</m:t>
                            </m:r>
                          </m:e>
                        </m:rad>
                        <m:r>
                          <a:rPr lang="en-AU" sz="2000" i="1">
                            <a:latin typeface="Cambria Math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AU" sz="2000" i="1">
                                <a:latin typeface="Cambria Math"/>
                                <a:ea typeface="Cambria Math"/>
                              </a:rPr>
                            </m:ctrlPr>
                          </m:radPr>
                          <m:deg/>
                          <m:e>
                            <m:r>
                              <a:rPr lang="en-AU" sz="2000" i="1">
                                <a:latin typeface="Cambria Math"/>
                                <a:ea typeface="Cambria Math"/>
                              </a:rPr>
                              <m:t>3</m:t>
                            </m:r>
                          </m:e>
                        </m:rad>
                      </m:e>
                    </m:d>
                    <m:r>
                      <a:rPr lang="en-AU" sz="2000" i="1">
                        <a:latin typeface="Cambria Math"/>
                        <a:ea typeface="Cambria Math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en-AU" sz="2000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latin typeface="Cambria Math"/>
                            <a:ea typeface="Cambria Math"/>
                          </a:rPr>
                          <m:t>20</m:t>
                        </m:r>
                      </m:e>
                    </m:rad>
                    <m:r>
                      <a:rPr lang="en-AU" sz="2000" i="1">
                        <a:latin typeface="Cambria Math"/>
                        <a:ea typeface="Cambria Math"/>
                      </a:rPr>
                      <m:t>+ </m:t>
                    </m:r>
                    <m:rad>
                      <m:radPr>
                        <m:degHide m:val="on"/>
                        <m:ctrlPr>
                          <a:rPr lang="en-AU" sz="2000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latin typeface="Cambria Math"/>
                            <a:ea typeface="Cambria Math"/>
                          </a:rPr>
                          <m:t>15</m:t>
                        </m:r>
                      </m:e>
                    </m:rad>
                    <m:r>
                      <a:rPr lang="en-AU" sz="2000" i="1">
                        <a:latin typeface="Cambria Math"/>
                        <a:ea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AU" sz="2000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latin typeface="Cambria Math"/>
                            <a:ea typeface="Cambria Math"/>
                          </a:rPr>
                          <m:t>4 ×5</m:t>
                        </m:r>
                      </m:e>
                    </m:rad>
                    <m:r>
                      <a:rPr lang="en-AU" sz="2000" b="0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AU" sz="2000" i="1">
                        <a:latin typeface="Cambria Math"/>
                        <a:ea typeface="Cambria Math"/>
                      </a:rPr>
                      <m:t>+ </m:t>
                    </m:r>
                    <m:rad>
                      <m:radPr>
                        <m:degHide m:val="on"/>
                        <m:ctrlPr>
                          <a:rPr lang="en-AU" sz="2000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000" i="1">
                            <a:latin typeface="Cambria Math"/>
                            <a:ea typeface="Cambria Math"/>
                          </a:rPr>
                          <m:t>15</m:t>
                        </m:r>
                      </m:e>
                    </m:rad>
                    <m:r>
                      <a:rPr lang="en-AU" sz="2000" b="0" i="1" smtClean="0">
                        <a:latin typeface="Cambria Math"/>
                        <a:ea typeface="Cambria Math"/>
                      </a:rPr>
                      <m:t>=4</m:t>
                    </m:r>
                    <m:rad>
                      <m:radPr>
                        <m:degHide m:val="on"/>
                        <m:ctrlPr>
                          <a:rPr lang="en-AU" sz="2000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latin typeface="Cambria Math"/>
                            <a:ea typeface="Cambria Math"/>
                          </a:rPr>
                          <m:t>5</m:t>
                        </m:r>
                      </m:e>
                    </m:rad>
                    <m:r>
                      <a:rPr lang="en-AU" sz="2000" i="1">
                        <a:latin typeface="Cambria Math"/>
                        <a:ea typeface="Cambria Math"/>
                      </a:rPr>
                      <m:t>+ </m:t>
                    </m:r>
                    <m:rad>
                      <m:radPr>
                        <m:degHide m:val="on"/>
                        <m:ctrlPr>
                          <a:rPr lang="en-AU" sz="2000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000" i="1">
                            <a:latin typeface="Cambria Math"/>
                            <a:ea typeface="Cambria Math"/>
                          </a:rPr>
                          <m:t>15</m:t>
                        </m:r>
                      </m:e>
                    </m:rad>
                  </m:oMath>
                </a14:m>
                <a:r>
                  <a:rPr lang="en-AU" sz="2000" dirty="0" smtClean="0">
                    <a:solidFill>
                      <a:srgbClr val="7030A0"/>
                    </a:solidFill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					</a:t>
                </a:r>
                <a:endParaRPr lang="en-AU" sz="4400" dirty="0" smtClean="0">
                  <a:solidFill>
                    <a:prstClr val="black"/>
                  </a:solidFill>
                </a:endParaRPr>
              </a:p>
            </p:txBody>
          </p:sp>
        </mc:Choice>
        <mc:Fallback>
          <p:sp>
            <p:nvSpPr>
              <p:cNvPr id="4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9712" y="1991635"/>
                <a:ext cx="7164288" cy="4664803"/>
              </a:xfrm>
              <a:prstGeom prst="rect">
                <a:avLst/>
              </a:prstGeom>
              <a:blipFill rotWithShape="1">
                <a:blip r:embed="rId3"/>
                <a:stretch>
                  <a:fillRect l="-936" t="-65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14"/>
              <p:cNvSpPr txBox="1"/>
              <p:nvPr/>
            </p:nvSpPr>
            <p:spPr>
              <a:xfrm>
                <a:off x="4639273" y="2126992"/>
                <a:ext cx="4303449" cy="6526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AU" sz="3600" dirty="0" smtClean="0">
                    <a:solidFill>
                      <a:srgbClr val="CC00CC"/>
                    </a:solidFill>
                  </a:rPr>
                  <a:t>Notes: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3600" i="1">
                            <a:solidFill>
                              <a:srgbClr val="CC00CC"/>
                            </a:solidFill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3600" i="1">
                            <a:solidFill>
                              <a:srgbClr val="CC00CC"/>
                            </a:solidFill>
                            <a:latin typeface="Cambria Math"/>
                          </a:rPr>
                          <m:t>𝑥</m:t>
                        </m:r>
                      </m:e>
                    </m:rad>
                    <m:r>
                      <a:rPr lang="en-AU" sz="3600" i="1">
                        <a:solidFill>
                          <a:srgbClr val="CC00CC"/>
                        </a:solidFill>
                        <a:latin typeface="Cambria Math"/>
                      </a:rPr>
                      <m:t> </m:t>
                    </m:r>
                    <m:r>
                      <a:rPr lang="en-AU" sz="3600" i="1">
                        <a:solidFill>
                          <a:srgbClr val="CC00CC"/>
                        </a:solidFill>
                        <a:latin typeface="Cambria Math"/>
                        <a:ea typeface="Cambria Math"/>
                      </a:rPr>
                      <m:t>× </m:t>
                    </m:r>
                    <m:rad>
                      <m:radPr>
                        <m:degHide m:val="on"/>
                        <m:ctrlPr>
                          <a:rPr lang="en-AU" sz="3600" i="1">
                            <a:solidFill>
                              <a:srgbClr val="CC00CC"/>
                            </a:solidFill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3600" b="0" i="1" smtClean="0">
                            <a:solidFill>
                              <a:srgbClr val="CC00CC"/>
                            </a:solidFill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</m:rad>
                    <m:r>
                      <a:rPr lang="en-AU" sz="3600" i="1">
                        <a:solidFill>
                          <a:srgbClr val="CC00CC"/>
                        </a:solidFill>
                        <a:latin typeface="Cambria Math"/>
                        <a:ea typeface="Cambria Math"/>
                      </a:rPr>
                      <m:t>=</m:t>
                    </m:r>
                    <m:r>
                      <a:rPr lang="en-AU" sz="3600" b="0" i="1" smtClean="0">
                        <a:solidFill>
                          <a:srgbClr val="CC00CC"/>
                        </a:solidFill>
                        <a:latin typeface="Cambria Math"/>
                        <a:ea typeface="Cambria Math"/>
                      </a:rPr>
                      <m:t>𝑥</m:t>
                    </m:r>
                  </m:oMath>
                </a14:m>
                <a:endParaRPr lang="en-AU" sz="3600" dirty="0" smtClean="0">
                  <a:solidFill>
                    <a:srgbClr val="CC00CC"/>
                  </a:solidFill>
                </a:endParaRPr>
              </a:p>
            </p:txBody>
          </p:sp>
        </mc:Choice>
        <mc:Fallback>
          <p:sp>
            <p:nvSpPr>
              <p:cNvPr id="44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9273" y="2126992"/>
                <a:ext cx="4303449" cy="652615"/>
              </a:xfrm>
              <a:prstGeom prst="rect">
                <a:avLst/>
              </a:prstGeom>
              <a:blipFill rotWithShape="1">
                <a:blip r:embed="rId4"/>
                <a:stretch>
                  <a:fillRect l="-4249" t="-12150" b="-3551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26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Content Placeholder 3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19" t="47198" r="17120" b="10776"/>
          <a:stretch/>
        </p:blipFill>
        <p:spPr bwMode="auto">
          <a:xfrm>
            <a:off x="1198143" y="2326038"/>
            <a:ext cx="6747713" cy="30742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78625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Some Answers </a:t>
            </a:r>
            <a:endParaRPr lang="en-AU" dirty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19" t="47198" r="17120" b="10776"/>
          <a:stretch/>
        </p:blipFill>
        <p:spPr bwMode="auto">
          <a:xfrm>
            <a:off x="323528" y="1268760"/>
            <a:ext cx="8692722" cy="3960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1798399" y="1311084"/>
                <a:ext cx="690382" cy="15632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6</m:t>
                          </m:r>
                        </m:e>
                      </m:rad>
                    </m:oMath>
                  </m:oMathPara>
                </a14:m>
                <a:endParaRPr lang="en-AU" b="0" dirty="0" smtClean="0">
                  <a:solidFill>
                    <a:srgbClr val="FF0000"/>
                  </a:solidFill>
                  <a:ea typeface="Cambria Math"/>
                </a:endParaRPr>
              </a:p>
              <a:p>
                <a:r>
                  <a:rPr lang="en-AU" b="0" dirty="0" smtClean="0">
                    <a:solidFill>
                      <a:srgbClr val="FF0000"/>
                    </a:solidFill>
                    <a:ea typeface="Cambria Math"/>
                  </a:rPr>
                  <a:t/>
                </a:r>
                <a:br>
                  <a:rPr lang="en-AU" b="0" dirty="0" smtClean="0">
                    <a:solidFill>
                      <a:srgbClr val="FF0000"/>
                    </a:solidFill>
                    <a:ea typeface="Cambria Math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12</m:t>
                          </m:r>
                        </m:e>
                      </m:rad>
                    </m:oMath>
                  </m:oMathPara>
                </a14:m>
                <a:endParaRPr lang="en-AU" b="0" dirty="0" smtClean="0">
                  <a:solidFill>
                    <a:srgbClr val="FF0000"/>
                  </a:solidFill>
                  <a:ea typeface="Cambria Math"/>
                </a:endParaRPr>
              </a:p>
              <a:p>
                <a:r>
                  <a:rPr lang="en-AU" b="0" dirty="0" smtClean="0">
                    <a:solidFill>
                      <a:srgbClr val="FF0000"/>
                    </a:solidFill>
                    <a:ea typeface="Cambria Math"/>
                  </a:rPr>
                  <a:t/>
                </a:r>
                <a:br>
                  <a:rPr lang="en-AU" b="0" dirty="0" smtClean="0">
                    <a:solidFill>
                      <a:srgbClr val="FF0000"/>
                    </a:solidFill>
                    <a:ea typeface="Cambria Math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√16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8399" y="1311084"/>
                <a:ext cx="690382" cy="1563248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1798399" y="3361778"/>
                <a:ext cx="774571" cy="3899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6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√50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8399" y="3361778"/>
                <a:ext cx="774571" cy="389979"/>
              </a:xfrm>
              <a:prstGeom prst="rect">
                <a:avLst/>
              </a:prstGeom>
              <a:blipFill rotWithShape="1">
                <a:blip r:embed="rId4"/>
                <a:stretch>
                  <a:fillRect b="-468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2339752" y="3779785"/>
                <a:ext cx="1073627" cy="4009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e>
                      </m:rad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+√6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752" y="3779785"/>
                <a:ext cx="1073627" cy="400944"/>
              </a:xfrm>
              <a:prstGeom prst="rect">
                <a:avLst/>
              </a:prstGeom>
              <a:blipFill rotWithShape="1">
                <a:blip r:embed="rId5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2339752" y="4208757"/>
                <a:ext cx="1201867" cy="4019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6</m:t>
                          </m:r>
                        </m:e>
                      </m:rad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−√18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752" y="4208757"/>
                <a:ext cx="1201867" cy="401970"/>
              </a:xfrm>
              <a:prstGeom prst="rect">
                <a:avLst/>
              </a:prstGeom>
              <a:blipFill rotWithShape="1">
                <a:blip r:embed="rId6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49909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-39085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610238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115616" y="404664"/>
            <a:ext cx="9892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Surds</a:t>
            </a:r>
            <a:endParaRPr lang="en-AU" sz="2800" dirty="0"/>
          </a:p>
        </p:txBody>
      </p:sp>
      <p:sp>
        <p:nvSpPr>
          <p:cNvPr id="10" name="TextBox 7"/>
          <p:cNvSpPr txBox="1"/>
          <p:nvPr/>
        </p:nvSpPr>
        <p:spPr>
          <a:xfrm>
            <a:off x="-131550" y="2126992"/>
            <a:ext cx="2915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2400" dirty="0" smtClean="0">
                <a:solidFill>
                  <a:prstClr val="black"/>
                </a:solidFill>
              </a:rPr>
              <a:t>Question:</a:t>
            </a:r>
          </a:p>
        </p:txBody>
      </p:sp>
      <p:sp>
        <p:nvSpPr>
          <p:cNvPr id="11" name="TextBox 12"/>
          <p:cNvSpPr txBox="1"/>
          <p:nvPr/>
        </p:nvSpPr>
        <p:spPr>
          <a:xfrm>
            <a:off x="1979712" y="1991635"/>
            <a:ext cx="7164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2000" dirty="0" smtClean="0">
                <a:solidFill>
                  <a:srgbClr val="7030A0"/>
                </a:solidFill>
              </a:rPr>
              <a:t>	</a:t>
            </a:r>
            <a:r>
              <a:rPr lang="en-AU" sz="2400" dirty="0" smtClean="0">
                <a:solidFill>
                  <a:prstClr val="black"/>
                </a:solidFill>
              </a:rPr>
              <a:t>					</a:t>
            </a:r>
            <a:endParaRPr lang="en-AU" sz="4400" dirty="0" smtClean="0">
              <a:solidFill>
                <a:prstClr val="black"/>
              </a:solidFill>
            </a:endParaRPr>
          </a:p>
        </p:txBody>
      </p:sp>
      <p:sp>
        <p:nvSpPr>
          <p:cNvPr id="13" name="TextBox 11"/>
          <p:cNvSpPr txBox="1"/>
          <p:nvPr/>
        </p:nvSpPr>
        <p:spPr>
          <a:xfrm>
            <a:off x="99623" y="1268760"/>
            <a:ext cx="12072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2400" dirty="0">
                <a:solidFill>
                  <a:prstClr val="black"/>
                </a:solidFill>
              </a:rPr>
              <a:t>EQ </a:t>
            </a:r>
            <a:r>
              <a:rPr lang="en-AU" sz="2400" dirty="0" smtClean="0">
                <a:solidFill>
                  <a:prstClr val="black"/>
                </a:solidFill>
              </a:rPr>
              <a:t>: What are surds?</a:t>
            </a:r>
            <a:endParaRPr lang="en-AU" sz="2400" dirty="0">
              <a:solidFill>
                <a:prstClr val="black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2"/>
              <p:cNvSpPr txBox="1"/>
              <p:nvPr/>
            </p:nvSpPr>
            <p:spPr>
              <a:xfrm>
                <a:off x="1763688" y="2222467"/>
                <a:ext cx="8012588" cy="45712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AU" sz="2000" dirty="0" smtClean="0">
                    <a:solidFill>
                      <a:prstClr val="black"/>
                    </a:solidFill>
                  </a:rPr>
                  <a:t>Notes:</a:t>
                </a:r>
              </a:p>
              <a:p>
                <a:r>
                  <a:rPr lang="en-AU" sz="2000" dirty="0" smtClean="0">
                    <a:solidFill>
                      <a:prstClr val="black"/>
                    </a:solidFill>
                  </a:rPr>
                  <a:t>Surd Rules:</a:t>
                </a:r>
              </a:p>
              <a:p>
                <a:endParaRPr lang="en-AU" sz="2000" dirty="0" smtClean="0">
                  <a:solidFill>
                    <a:prstClr val="black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/>
                        </a:rPr>
                        <m:t>𝑎</m:t>
                      </m:r>
                      <m:rad>
                        <m:radPr>
                          <m:degHide m:val="on"/>
                          <m:ctrlPr>
                            <a:rPr lang="en-AU" sz="2000" b="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000" b="0" i="1" smtClean="0">
                              <a:latin typeface="Cambria Math"/>
                            </a:rPr>
                            <m:t>𝑥</m:t>
                          </m:r>
                        </m:e>
                      </m:rad>
                      <m:r>
                        <a:rPr lang="en-AU" sz="2000" b="0" i="1" smtClean="0">
                          <a:latin typeface="Cambria Math"/>
                        </a:rPr>
                        <m:t>+</m:t>
                      </m:r>
                      <m:r>
                        <a:rPr lang="en-AU" sz="2000" b="0" i="1" smtClean="0">
                          <a:latin typeface="Cambria Math"/>
                          <a:ea typeface="Cambria Math"/>
                        </a:rPr>
                        <m:t>𝑏</m:t>
                      </m:r>
                      <m:rad>
                        <m:radPr>
                          <m:degHide m:val="on"/>
                          <m:ctrlPr>
                            <a:rPr lang="en-AU" sz="2000" b="0" i="1" smtClean="0"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000" b="0" i="1" smtClean="0"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</m:rad>
                      <m:r>
                        <a:rPr lang="en-AU" sz="2000" b="0" i="1" smtClean="0">
                          <a:latin typeface="Cambria Math"/>
                          <a:ea typeface="Cambria Math"/>
                        </a:rPr>
                        <m:t>=(</m:t>
                      </m:r>
                      <m:r>
                        <a:rPr lang="en-AU" sz="2000" b="0" i="1" smtClean="0">
                          <a:latin typeface="Cambria Math"/>
                          <a:ea typeface="Cambria Math"/>
                        </a:rPr>
                        <m:t>𝑎</m:t>
                      </m:r>
                      <m:r>
                        <a:rPr lang="en-AU" sz="2000" b="0" i="1" smtClean="0">
                          <a:latin typeface="Cambria Math"/>
                          <a:ea typeface="Cambria Math"/>
                        </a:rPr>
                        <m:t>+</m:t>
                      </m:r>
                      <m:r>
                        <a:rPr lang="en-AU" sz="2000" b="0" i="1" smtClean="0">
                          <a:latin typeface="Cambria Math"/>
                          <a:ea typeface="Cambria Math"/>
                        </a:rPr>
                        <m:t>𝑏</m:t>
                      </m:r>
                      <m:r>
                        <a:rPr lang="en-AU" sz="2000" b="0" i="1" smtClean="0">
                          <a:latin typeface="Cambria Math"/>
                          <a:ea typeface="Cambria Math"/>
                        </a:rPr>
                        <m:t>)</m:t>
                      </m:r>
                      <m:rad>
                        <m:radPr>
                          <m:degHide m:val="on"/>
                          <m:ctrlPr>
                            <a:rPr lang="en-AU" sz="2000" b="0" i="1" smtClean="0"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000" b="0" i="1" smtClean="0"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</m:rad>
                    </m:oMath>
                  </m:oMathPara>
                </a14:m>
                <a:endParaRPr lang="en-AU" sz="2000" dirty="0" smtClean="0"/>
              </a:p>
              <a:p>
                <a:endParaRPr lang="en-AU" sz="200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000" i="1">
                          <a:latin typeface="Cambria Math"/>
                        </a:rPr>
                        <m:t>𝑎</m:t>
                      </m:r>
                      <m:rad>
                        <m:radPr>
                          <m:degHide m:val="on"/>
                          <m:ctrlPr>
                            <a:rPr lang="en-AU" sz="2000" i="1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000" i="1">
                              <a:latin typeface="Cambria Math"/>
                            </a:rPr>
                            <m:t>𝑥</m:t>
                          </m:r>
                        </m:e>
                      </m:rad>
                      <m:r>
                        <a:rPr lang="en-AU" sz="2000" b="0" i="1" smtClean="0">
                          <a:latin typeface="Cambria Math"/>
                        </a:rPr>
                        <m:t>−</m:t>
                      </m:r>
                      <m:r>
                        <a:rPr lang="en-AU" sz="2000" i="1">
                          <a:latin typeface="Cambria Math"/>
                          <a:ea typeface="Cambria Math"/>
                        </a:rPr>
                        <m:t>𝑏</m:t>
                      </m:r>
                      <m:rad>
                        <m:radPr>
                          <m:degHide m:val="on"/>
                          <m:ctrlPr>
                            <a:rPr lang="en-AU" sz="2000" i="1"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000" i="1"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</m:rad>
                      <m:r>
                        <a:rPr lang="en-AU" sz="2000" i="1">
                          <a:latin typeface="Cambria Math"/>
                          <a:ea typeface="Cambria Math"/>
                        </a:rPr>
                        <m:t>=(</m:t>
                      </m:r>
                      <m:r>
                        <a:rPr lang="en-AU" sz="2000" i="1">
                          <a:latin typeface="Cambria Math"/>
                          <a:ea typeface="Cambria Math"/>
                        </a:rPr>
                        <m:t>𝑎</m:t>
                      </m:r>
                      <m:r>
                        <a:rPr lang="en-AU" sz="2000" b="0" i="1" smtClean="0">
                          <a:latin typeface="Cambria Math"/>
                          <a:ea typeface="Cambria Math"/>
                        </a:rPr>
                        <m:t>−</m:t>
                      </m:r>
                      <m:r>
                        <a:rPr lang="en-AU" sz="2000" i="1">
                          <a:latin typeface="Cambria Math"/>
                          <a:ea typeface="Cambria Math"/>
                        </a:rPr>
                        <m:t>𝑏</m:t>
                      </m:r>
                      <m:r>
                        <a:rPr lang="en-AU" sz="2000" i="1">
                          <a:latin typeface="Cambria Math"/>
                          <a:ea typeface="Cambria Math"/>
                        </a:rPr>
                        <m:t>)</m:t>
                      </m:r>
                      <m:rad>
                        <m:radPr>
                          <m:degHide m:val="on"/>
                          <m:ctrlPr>
                            <a:rPr lang="en-AU" sz="2000" i="1"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000" i="1"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</m:rad>
                    </m:oMath>
                  </m:oMathPara>
                </a14:m>
                <a:endParaRPr lang="en-AU" sz="2000" dirty="0" smtClean="0"/>
              </a:p>
              <a:p>
                <a:endParaRPr lang="en-AU" sz="2000" dirty="0" smtClean="0"/>
              </a:p>
              <a:p>
                <a:r>
                  <a:rPr lang="en-AU" sz="2000" dirty="0" smtClean="0"/>
                  <a:t>Examples:</a:t>
                </a:r>
                <a:endParaRPr lang="en-AU" sz="2000" dirty="0" smtClean="0"/>
              </a:p>
              <a:p>
                <a:r>
                  <a:rPr lang="en-AU" sz="2000" dirty="0" smtClean="0"/>
                  <a:t>10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000" i="1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latin typeface="Cambria Math"/>
                          </a:rPr>
                          <m:t>3</m:t>
                        </m:r>
                      </m:e>
                    </m:rad>
                    <m:r>
                      <a:rPr lang="en-AU" sz="2000" i="1">
                        <a:latin typeface="Cambria Math"/>
                      </a:rPr>
                      <m:t>+</m:t>
                    </m:r>
                    <m:r>
                      <a:rPr lang="en-AU" sz="2000" b="0" i="1" smtClean="0">
                        <a:latin typeface="Cambria Math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AU" sz="2000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</m:rad>
                    <m:r>
                      <a:rPr lang="en-AU" sz="2000" i="1">
                        <a:latin typeface="Cambria Math"/>
                        <a:ea typeface="Cambria Math"/>
                      </a:rPr>
                      <m:t>=</m:t>
                    </m:r>
                    <m:r>
                      <a:rPr lang="en-AU" sz="2000" b="0" i="1" smtClean="0">
                        <a:latin typeface="Cambria Math"/>
                        <a:ea typeface="Cambria Math"/>
                      </a:rPr>
                      <m:t>15</m:t>
                    </m:r>
                    <m:rad>
                      <m:radPr>
                        <m:degHide m:val="on"/>
                        <m:ctrlPr>
                          <a:rPr lang="en-AU" sz="2000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</m:rad>
                  </m:oMath>
                </a14:m>
                <a:endParaRPr lang="en-AU" sz="2000" dirty="0" smtClean="0"/>
              </a:p>
              <a:p>
                <a:endParaRPr lang="en-AU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2000" i="1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000" b="0" i="1" smtClean="0">
                              <a:latin typeface="Cambria Math"/>
                            </a:rPr>
                            <m:t>5</m:t>
                          </m:r>
                        </m:e>
                      </m:rad>
                      <m:r>
                        <a:rPr lang="en-AU" sz="2000" i="1">
                          <a:latin typeface="Cambria Math"/>
                        </a:rPr>
                        <m:t> </m:t>
                      </m:r>
                      <m:r>
                        <a:rPr lang="en-AU" sz="2000" b="0" i="1" smtClean="0">
                          <a:latin typeface="Cambria Math"/>
                        </a:rPr>
                        <m:t>−8+7</m:t>
                      </m:r>
                      <m:rad>
                        <m:radPr>
                          <m:degHide m:val="on"/>
                          <m:ctrlPr>
                            <a:rPr lang="en-AU" sz="2000" i="1"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000" b="0" i="1" smtClean="0">
                              <a:latin typeface="Cambria Math"/>
                              <a:ea typeface="Cambria Math"/>
                            </a:rPr>
                            <m:t>5</m:t>
                          </m:r>
                        </m:e>
                      </m:rad>
                      <m:r>
                        <a:rPr lang="en-AU" sz="2000" i="1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AU" sz="2000" b="0" i="1" smtClean="0">
                          <a:latin typeface="Cambria Math"/>
                          <a:ea typeface="Cambria Math"/>
                        </a:rPr>
                        <m:t>8</m:t>
                      </m:r>
                      <m:rad>
                        <m:radPr>
                          <m:degHide m:val="on"/>
                          <m:ctrlPr>
                            <a:rPr lang="en-AU" sz="2000" i="1"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2000" b="0" i="1" smtClean="0">
                              <a:latin typeface="Cambria Math"/>
                              <a:ea typeface="Cambria Math"/>
                            </a:rPr>
                            <m:t>5 </m:t>
                          </m:r>
                        </m:e>
                      </m:rad>
                      <m:r>
                        <a:rPr lang="en-AU" sz="2000" b="0" i="1" smtClean="0">
                          <a:latin typeface="Cambria Math"/>
                          <a:ea typeface="Cambria Math"/>
                        </a:rPr>
                        <m:t> −8</m:t>
                      </m:r>
                    </m:oMath>
                  </m:oMathPara>
                </a14:m>
                <a:endParaRPr lang="en-AU" sz="2000" dirty="0" smtClean="0">
                  <a:solidFill>
                    <a:srgbClr val="7030A0"/>
                  </a:solidFill>
                </a:endParaRPr>
              </a:p>
              <a:p>
                <a:endParaRPr lang="en-AU" sz="2000" dirty="0">
                  <a:solidFill>
                    <a:srgbClr val="7030A0"/>
                  </a:solidFill>
                </a:endParaRPr>
              </a:p>
              <a:p>
                <a:r>
                  <a:rPr lang="en-AU" sz="2000" dirty="0" smtClean="0">
                    <a:ea typeface="Cambria Math"/>
                  </a:rPr>
                  <a:t>7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000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</m:rad>
                    <m:r>
                      <a:rPr lang="en-AU" sz="2000" b="0" i="1" smtClean="0">
                        <a:latin typeface="Cambria Math"/>
                        <a:ea typeface="Cambria Math"/>
                      </a:rPr>
                      <m:t>−5</m:t>
                    </m:r>
                    <m:rad>
                      <m:radPr>
                        <m:degHide m:val="on"/>
                        <m:ctrlPr>
                          <a:rPr lang="en-AU" sz="2000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latin typeface="Cambria Math"/>
                            <a:ea typeface="Cambria Math"/>
                          </a:rPr>
                          <m:t>12</m:t>
                        </m:r>
                      </m:e>
                    </m:rad>
                    <m:r>
                      <a:rPr lang="en-AU" sz="2000" i="1">
                        <a:latin typeface="Cambria Math"/>
                        <a:ea typeface="Cambria Math"/>
                      </a:rPr>
                      <m:t>=</m:t>
                    </m:r>
                    <m:r>
                      <a:rPr lang="en-AU" sz="2000" b="0" i="1" smtClean="0">
                        <a:latin typeface="Cambria Math"/>
                        <a:ea typeface="Cambria Math"/>
                      </a:rPr>
                      <m:t>7</m:t>
                    </m:r>
                    <m:rad>
                      <m:radPr>
                        <m:degHide m:val="on"/>
                        <m:ctrlPr>
                          <a:rPr lang="en-AU" sz="2000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</m:rad>
                    <m:r>
                      <a:rPr lang="en-AU" sz="2000" b="0" i="1" smtClean="0">
                        <a:latin typeface="Cambria Math"/>
                        <a:ea typeface="Cambria Math"/>
                      </a:rPr>
                      <m:t> −5</m:t>
                    </m:r>
                    <m:rad>
                      <m:radPr>
                        <m:degHide m:val="on"/>
                        <m:ctrlPr>
                          <a:rPr lang="en-AU" sz="2000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latin typeface="Cambria Math"/>
                            <a:ea typeface="Cambria Math"/>
                          </a:rPr>
                          <m:t>3×4</m:t>
                        </m:r>
                      </m:e>
                    </m:rad>
                    <m:r>
                      <a:rPr lang="en-AU" sz="2000" b="0" i="1" smtClean="0">
                        <a:latin typeface="Cambria Math"/>
                        <a:ea typeface="Cambria Math"/>
                      </a:rPr>
                      <m:t>=7</m:t>
                    </m:r>
                    <m:rad>
                      <m:radPr>
                        <m:degHide m:val="on"/>
                        <m:ctrlPr>
                          <a:rPr lang="en-AU" sz="2000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</m:rad>
                    <m:r>
                      <a:rPr lang="en-AU" sz="2000" b="0" i="1" smtClean="0">
                        <a:latin typeface="Cambria Math"/>
                        <a:ea typeface="Cambria Math"/>
                      </a:rPr>
                      <m:t>−5×2</m:t>
                    </m:r>
                    <m:rad>
                      <m:radPr>
                        <m:degHide m:val="on"/>
                        <m:ctrlPr>
                          <a:rPr lang="en-AU" sz="2000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</m:rad>
                    <m:r>
                      <a:rPr lang="en-AU" sz="2000" b="0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AU" sz="2000" i="1">
                        <a:latin typeface="Cambria Math"/>
                        <a:ea typeface="Cambria Math"/>
                      </a:rPr>
                      <m:t>7</m:t>
                    </m:r>
                    <m:rad>
                      <m:radPr>
                        <m:degHide m:val="on"/>
                        <m:ctrlPr>
                          <a:rPr lang="en-AU" sz="2000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000" i="1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</m:rad>
                    <m:r>
                      <a:rPr lang="en-AU" sz="2000" i="1">
                        <a:latin typeface="Cambria Math"/>
                        <a:ea typeface="Cambria Math"/>
                      </a:rPr>
                      <m:t>−</m:t>
                    </m:r>
                    <m:r>
                      <a:rPr lang="en-AU" sz="2000" b="0" i="1" smtClean="0">
                        <a:latin typeface="Cambria Math"/>
                        <a:ea typeface="Cambria Math"/>
                      </a:rPr>
                      <m:t>10</m:t>
                    </m:r>
                    <m:rad>
                      <m:radPr>
                        <m:degHide m:val="on"/>
                        <m:ctrlPr>
                          <a:rPr lang="en-AU" sz="2000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000" i="1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</m:rad>
                    <m:r>
                      <a:rPr lang="en-AU" sz="2000" b="0" i="0" smtClean="0">
                        <a:latin typeface="Cambria Math"/>
                        <a:ea typeface="Cambria Math"/>
                      </a:rPr>
                      <m:t>=−3</m:t>
                    </m:r>
                    <m:rad>
                      <m:radPr>
                        <m:degHide m:val="on"/>
                        <m:ctrlPr>
                          <a:rPr lang="en-AU" sz="2000" b="0" i="1" smtClean="0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</m:rad>
                  </m:oMath>
                </a14:m>
                <a:r>
                  <a:rPr lang="en-AU" sz="2400" dirty="0" smtClean="0">
                    <a:solidFill>
                      <a:srgbClr val="7030A0"/>
                    </a:solidFill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					</a:t>
                </a:r>
                <a:endParaRPr lang="en-AU" sz="4400" dirty="0" smtClean="0">
                  <a:solidFill>
                    <a:prstClr val="black"/>
                  </a:solidFill>
                </a:endParaRPr>
              </a:p>
            </p:txBody>
          </p:sp>
        </mc:Choice>
        <mc:Fallback>
          <p:sp>
            <p:nvSpPr>
              <p:cNvPr id="14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688" y="2222467"/>
                <a:ext cx="8012588" cy="4571251"/>
              </a:xfrm>
              <a:prstGeom prst="rect">
                <a:avLst/>
              </a:prstGeom>
              <a:blipFill rotWithShape="1">
                <a:blip r:embed="rId2"/>
                <a:stretch>
                  <a:fillRect l="-760" t="-66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Rectangle 14"/>
              <p:cNvSpPr/>
              <p:nvPr/>
            </p:nvSpPr>
            <p:spPr>
              <a:xfrm>
                <a:off x="5561856" y="2453300"/>
                <a:ext cx="3258616" cy="205479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dirty="0" smtClean="0"/>
                  <a:t>Treat it like an algebraic expression</a:t>
                </a:r>
              </a:p>
              <a:p>
                <a:pPr algn="ctr"/>
                <a:r>
                  <a:rPr lang="en-AU" dirty="0" smtClean="0"/>
                  <a:t>10a+5a=15a</a:t>
                </a:r>
                <a:br>
                  <a:rPr lang="en-AU" dirty="0" smtClean="0"/>
                </a:br>
                <a:r>
                  <a:rPr lang="en-AU" dirty="0" smtClean="0"/>
                  <a:t/>
                </a:r>
                <a:br>
                  <a:rPr lang="en-AU" dirty="0" smtClean="0"/>
                </a:br>
                <a:r>
                  <a:rPr lang="en-AU" dirty="0" smtClean="0"/>
                  <a:t>a is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/>
                        <a:ea typeface="Cambria Math"/>
                      </a:rPr>
                      <m:t>√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3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1856" y="2453300"/>
                <a:ext cx="3258616" cy="205479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/>
          <p:cNvCxnSpPr/>
          <p:nvPr/>
        </p:nvCxnSpPr>
        <p:spPr>
          <a:xfrm flipV="1">
            <a:off x="4283968" y="4077072"/>
            <a:ext cx="1080120" cy="7920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00201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Content Placeholder 3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85" t="26293" r="15788" b="32759"/>
          <a:stretch/>
        </p:blipFill>
        <p:spPr bwMode="auto">
          <a:xfrm>
            <a:off x="1475656" y="1556792"/>
            <a:ext cx="6348834" cy="43081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972925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Answers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85" t="26293" r="15788" b="32759"/>
          <a:stretch/>
        </p:blipFill>
        <p:spPr bwMode="auto">
          <a:xfrm>
            <a:off x="205408" y="1052736"/>
            <a:ext cx="7776864" cy="54346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902448" y="1340768"/>
                <a:ext cx="801438" cy="12711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  <m:rad>
                        <m:radPr>
                          <m:degHide m:val="on"/>
                          <m:ctrlP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2</m:t>
                          </m:r>
                        </m:e>
                      </m:rad>
                    </m:oMath>
                  </m:oMathPara>
                </a14:m>
                <a:endParaRPr lang="en-AU" b="0" dirty="0" smtClean="0">
                  <a:solidFill>
                    <a:srgbClr val="FF0000"/>
                  </a:solidFill>
                  <a:ea typeface="Cambria Math"/>
                </a:endParaRPr>
              </a:p>
              <a:p>
                <a:r>
                  <a:rPr lang="en-AU" b="0" dirty="0" smtClean="0">
                    <a:solidFill>
                      <a:srgbClr val="FF0000"/>
                    </a:solidFill>
                    <a:ea typeface="Cambria Math"/>
                  </a:rPr>
                  <a:t/>
                </a:r>
                <a:br>
                  <a:rPr lang="en-AU" b="0" dirty="0" smtClean="0">
                    <a:solidFill>
                      <a:srgbClr val="FF0000"/>
                    </a:solidFill>
                    <a:ea typeface="Cambria Math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4</m:t>
                      </m:r>
                      <m:rad>
                        <m:radPr>
                          <m:degHide m:val="on"/>
                          <m:ctrlP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5</m:t>
                          </m:r>
                        </m:e>
                      </m:rad>
                    </m:oMath>
                  </m:oMathPara>
                </a14:m>
                <a:r>
                  <a:rPr lang="en-AU" b="0" dirty="0" smtClean="0">
                    <a:ea typeface="Cambria Math"/>
                  </a:rPr>
                  <a:t/>
                </a:r>
                <a:br>
                  <a:rPr lang="en-AU" b="0" dirty="0" smtClean="0">
                    <a:ea typeface="Cambria Math"/>
                  </a:rPr>
                </a:br>
                <a:endParaRPr lang="en-AU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2448" y="1340768"/>
                <a:ext cx="801438" cy="127118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2253584" y="2611950"/>
                <a:ext cx="1049583" cy="4019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3</m:t>
                      </m:r>
                      <m:rad>
                        <m:radPr>
                          <m:degHide m:val="on"/>
                          <m:ctrlP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3</m:t>
                          </m:r>
                        </m:e>
                      </m:rad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+5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3584" y="2611950"/>
                <a:ext cx="1049583" cy="40197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2810373" y="4019843"/>
                <a:ext cx="1049583" cy="4019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  <m:rad>
                        <m:radPr>
                          <m:degHide m:val="on"/>
                          <m:ctrlP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2</m:t>
                          </m:r>
                        </m:e>
                      </m:rad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−4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0373" y="4019843"/>
                <a:ext cx="1049583" cy="40197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3057555" y="4530154"/>
                <a:ext cx="646331" cy="3899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5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√3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7555" y="4530154"/>
                <a:ext cx="646331" cy="389979"/>
              </a:xfrm>
              <a:prstGeom prst="rect">
                <a:avLst/>
              </a:prstGeom>
              <a:blipFill rotWithShape="1">
                <a:blip r:embed="rId6"/>
                <a:stretch>
                  <a:fillRect b="-468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3025185" y="5147292"/>
                <a:ext cx="852124" cy="389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18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√2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5185" y="5147292"/>
                <a:ext cx="852124" cy="389979"/>
              </a:xfrm>
              <a:prstGeom prst="rect">
                <a:avLst/>
              </a:prstGeom>
              <a:blipFill rotWithShape="1">
                <a:blip r:embed="rId7"/>
                <a:stretch>
                  <a:fillRect b="-468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3057854" y="5805264"/>
                <a:ext cx="819455" cy="3899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−2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√3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7854" y="5805264"/>
                <a:ext cx="819455" cy="389979"/>
              </a:xfrm>
              <a:prstGeom prst="rect">
                <a:avLst/>
              </a:prstGeom>
              <a:blipFill rotWithShape="1">
                <a:blip r:embed="rId8"/>
                <a:stretch>
                  <a:fillRect b="-468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95334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3892</TotalTime>
  <Words>487</Words>
  <Application>Microsoft Office PowerPoint</Application>
  <PresentationFormat>On-screen Show (4:3)</PresentationFormat>
  <Paragraphs>122</Paragraphs>
  <Slides>11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Sydney Harbour Bridge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Some Answers </vt:lpstr>
      <vt:lpstr>PowerPoint Presentation</vt:lpstr>
      <vt:lpstr>PowerPoint Presentation</vt:lpstr>
      <vt:lpstr>Answers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MORGAN Adam</cp:lastModifiedBy>
  <cp:revision>16</cp:revision>
  <dcterms:created xsi:type="dcterms:W3CDTF">2016-10-20T03:14:06Z</dcterms:created>
  <dcterms:modified xsi:type="dcterms:W3CDTF">2017-03-20T00:24:23Z</dcterms:modified>
</cp:coreProperties>
</file>
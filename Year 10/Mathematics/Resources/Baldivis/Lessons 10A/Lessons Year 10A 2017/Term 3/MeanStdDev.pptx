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3" r:id="rId2"/>
    <p:sldId id="264" r:id="rId3"/>
    <p:sldId id="257" r:id="rId4"/>
    <p:sldId id="258" r:id="rId5"/>
    <p:sldId id="268" r:id="rId6"/>
    <p:sldId id="260" r:id="rId7"/>
    <p:sldId id="267" r:id="rId8"/>
    <p:sldId id="269" r:id="rId9"/>
    <p:sldId id="270" r:id="rId10"/>
    <p:sldId id="262" r:id="rId11"/>
    <p:sldId id="272" r:id="rId12"/>
    <p:sldId id="266" r:id="rId13"/>
    <p:sldId id="271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Answers</a:t>
            </a:r>
            <a:r>
              <a:rPr lang="en-AU" baseline="0" dirty="0"/>
              <a:t> 1.  3,  2. 33.33,  3. 5.33,  4. -13.33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8020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 thru on board -2,</a:t>
            </a:r>
            <a:r>
              <a:rPr lang="en-AU" baseline="0" dirty="0"/>
              <a:t> -1, 0, 1, 1, 1; sum of squares = 8. divide by 6 1.3333333, square root = 1.154700538.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Mean = 33.33</a:t>
            </a:r>
            <a:r>
              <a:rPr lang="en-AU" baseline="0" dirty="0"/>
              <a:t>   </a:t>
            </a:r>
            <a:r>
              <a:rPr lang="en-AU" baseline="0" dirty="0" err="1"/>
              <a:t>Std</a:t>
            </a:r>
            <a:r>
              <a:rPr lang="en-AU" baseline="0" dirty="0"/>
              <a:t> Dev from set 3 = 0.19472026594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5395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6719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478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068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6/08/2017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Find the Mean of the follow datasets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1, 2, 3, 4, 4, 4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31, 36, 36, 32, 32, 33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5.1. 5.6, 5.6, 5.2, 5.2, 5.3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-11, -16, -16, -12, -12, -13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27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Mean and Standard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Standard Deviation and how does it relate to Mean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Understand the relationship between Mean and Standard Deviation.</a:t>
            </a:r>
          </a:p>
          <a:p>
            <a:pPr>
              <a:buFontTx/>
              <a:buChar char="-"/>
            </a:pPr>
            <a:r>
              <a:rPr lang="en-AU" dirty="0"/>
              <a:t>Be able to calculate Mean and Standard deviation manually and using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dirty="0"/>
              <a:t>Understanding the relationship between Mean and Standard Deviation.</a:t>
            </a:r>
          </a:p>
          <a:p>
            <a:pPr>
              <a:buFontTx/>
              <a:buChar char="-"/>
            </a:pPr>
            <a:r>
              <a:rPr lang="en-AU" dirty="0"/>
              <a:t>Being able to calculate Mean and Standard deviation manually and using technology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27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Mean and Standard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What is Standard Deviation and how does it relate to Mean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832648" cy="4268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Mean is the middle of the data (also known as the average)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𝑆𝑢𝑚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𝑆𝑐𝑜𝑟𝑒𝑠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𝑆𝑐𝑜𝑟𝑒𝑠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dirty="0"/>
                  <a:t> is the symbol used to signify Mean</a:t>
                </a:r>
              </a:p>
              <a:p>
                <a:pPr lvl="1"/>
                <a:endParaRPr lang="en-AU" dirty="0"/>
              </a:p>
              <a:p>
                <a:r>
                  <a:rPr lang="en-AU" dirty="0"/>
                  <a:t>Standard Deviation describes the spread of data. It is an average of how far each score is from the Mean.</a:t>
                </a:r>
              </a:p>
              <a:p>
                <a:endParaRPr lang="en-AU" dirty="0"/>
              </a:p>
              <a:p>
                <a:r>
                  <a:rPr lang="en-AU" dirty="0"/>
                  <a:t>The larger the Standard Deviation the larger the spread</a:t>
                </a:r>
              </a:p>
              <a:p>
                <a:endParaRPr lang="en-AU" dirty="0"/>
              </a:p>
              <a:p>
                <a:r>
                  <a:rPr lang="en-AU" dirty="0"/>
                  <a:t>The smaller the Standard Deviation the smaller the spread</a:t>
                </a:r>
              </a:p>
              <a:p>
                <a:endParaRPr lang="en-AU" dirty="0"/>
              </a:p>
              <a:p>
                <a:pPr lvl="1"/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σ</a:t>
                </a:r>
                <a:r>
                  <a:rPr lang="en-A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AU" dirty="0">
                    <a:ea typeface="Cambria Math" panose="02040503050406030204" pitchFamily="18" charset="0"/>
                  </a:rPr>
                  <a:t>is the symbol used to signify Standard Deviation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832648" cy="4268476"/>
              </a:xfrm>
              <a:prstGeom prst="rect">
                <a:avLst/>
              </a:prstGeom>
              <a:blipFill>
                <a:blip r:embed="rId3"/>
                <a:stretch>
                  <a:fillRect l="-940" t="-857" b="-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1520" y="256490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0" y="4653136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187509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27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Mean and Standard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calculate Standard Deviation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492896"/>
            <a:ext cx="2508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Standard Deviation calculated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419872" y="2492896"/>
                <a:ext cx="5464080" cy="425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 formula for calculating Standard Deviation is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− 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AU" dirty="0"/>
                  <a:t>  or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is the score;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dirty="0"/>
                  <a:t> is the number of scores;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dirty="0"/>
                  <a:t> is the mean</a:t>
                </a:r>
              </a:p>
              <a:p>
                <a:endParaRPr lang="en-AU" dirty="0"/>
              </a:p>
              <a:p>
                <a:r>
                  <a:rPr lang="en-AU" dirty="0"/>
                  <a:t>Example</a:t>
                </a:r>
              </a:p>
              <a:p>
                <a:r>
                  <a:rPr lang="en-AU" dirty="0"/>
                  <a:t>Scores  1, 2, 3, 4, 4, 4;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− </m:t>
                    </m:r>
                    <m:acc>
                      <m:accPr>
                        <m:chr m:val="̅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dirty="0"/>
                  <a:t>  is each score subtract the Mean </a:t>
                </a:r>
                <a:r>
                  <a:rPr lang="en-AU" dirty="0" err="1"/>
                  <a:t>eg</a:t>
                </a:r>
                <a:r>
                  <a:rPr lang="en-AU" dirty="0"/>
                  <a:t> 1-3 = -2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̅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AU" dirty="0"/>
                  <a:t> is the sum of each of the results</a:t>
                </a:r>
                <a:r>
                  <a:rPr lang="en-AU" baseline="30000" dirty="0"/>
                  <a:t>2</a:t>
                </a:r>
                <a:r>
                  <a:rPr lang="en-AU" dirty="0"/>
                  <a:t>  </a:t>
                </a:r>
              </a:p>
              <a:p>
                <a:r>
                  <a:rPr lang="en-AU" dirty="0"/>
                  <a:t>Then divide by the number of scores and find the square root.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2492896"/>
                <a:ext cx="5464080" cy="4256999"/>
              </a:xfrm>
              <a:prstGeom prst="rect">
                <a:avLst/>
              </a:prstGeom>
              <a:blipFill>
                <a:blip r:embed="rId3"/>
                <a:stretch>
                  <a:fillRect l="-6138" t="-860" r="-1563" b="-24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9552" y="958081"/>
                <a:ext cx="8352928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31, 36, 36, 32, 32, 33</a:t>
                </a:r>
              </a:p>
              <a:p>
                <a:endParaRPr lang="en-AU" dirty="0"/>
              </a:p>
              <a:p>
                <a:r>
                  <a:rPr lang="en-AU" dirty="0"/>
                  <a:t>Put numbers in order</a:t>
                </a:r>
              </a:p>
              <a:p>
                <a:pPr algn="ctr"/>
                <a:r>
                  <a:rPr lang="en-AU" dirty="0"/>
                  <a:t>31, 32, 32, 33, 36, 36</a:t>
                </a:r>
              </a:p>
              <a:p>
                <a:endParaRPr lang="en-AU" dirty="0"/>
              </a:p>
              <a:p>
                <a:r>
                  <a:rPr lang="en-AU" dirty="0"/>
                  <a:t>Use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dirty="0"/>
                  <a:t>  calculated earlier</a:t>
                </a:r>
              </a:p>
              <a:p>
                <a:endParaRPr lang="en-AU" dirty="0"/>
              </a:p>
              <a:p>
                <a:r>
                  <a:rPr lang="en-AU" dirty="0"/>
                  <a:t>Calculate each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− </m:t>
                    </m:r>
                    <m:acc>
                      <m:accPr>
                        <m:chr m:val="̅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dirty="0"/>
                  <a:t> </a:t>
                </a:r>
              </a:p>
              <a:p>
                <a:pPr algn="ctr"/>
                <a:r>
                  <a:rPr lang="en-AU" dirty="0"/>
                  <a:t>-2.33, -1.33, -1.33, -0.33, 2.67, 2.67</a:t>
                </a:r>
              </a:p>
              <a:p>
                <a:endParaRPr lang="en-AU" dirty="0"/>
              </a:p>
              <a:p>
                <a:r>
                  <a:rPr lang="en-AU" dirty="0"/>
                  <a:t>Sum the squares</a:t>
                </a:r>
              </a:p>
              <a:p>
                <a:pPr algn="ctr"/>
                <a:r>
                  <a:rPr lang="en-AU" dirty="0"/>
                  <a:t>= 21.5645    then divide by 6</a:t>
                </a:r>
              </a:p>
              <a:p>
                <a:pPr algn="ctr"/>
                <a:r>
                  <a:rPr lang="en-AU" dirty="0"/>
                  <a:t>= 3.5940833333333</a:t>
                </a:r>
              </a:p>
              <a:p>
                <a:endParaRPr lang="en-AU" dirty="0"/>
              </a:p>
              <a:p>
                <a:r>
                  <a:rPr lang="en-AU" dirty="0"/>
                  <a:t>Find square root</a:t>
                </a:r>
              </a:p>
              <a:p>
                <a:pPr algn="ctr"/>
                <a:r>
                  <a:rPr lang="en-AU" dirty="0"/>
                  <a:t>=1.895806776</a:t>
                </a:r>
              </a:p>
              <a:p>
                <a:endParaRPr lang="en-AU" dirty="0"/>
              </a:p>
              <a:p>
                <a:r>
                  <a:rPr lang="en-AU" dirty="0"/>
                  <a:t>Standard Deviation is 1.8958 (correct to 4dp)</a:t>
                </a:r>
              </a:p>
              <a:p>
                <a:endParaRPr lang="en-AU" dirty="0"/>
              </a:p>
              <a:p>
                <a:r>
                  <a:rPr lang="en-AU" dirty="0"/>
                  <a:t>Have a go at calculating the Standard Deviation for the 3</a:t>
                </a:r>
                <a:r>
                  <a:rPr lang="en-AU" baseline="30000" dirty="0"/>
                  <a:t>rd</a:t>
                </a:r>
                <a:r>
                  <a:rPr lang="en-AU" dirty="0"/>
                  <a:t> set of numbers from the start of the lesson.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58081"/>
                <a:ext cx="8352928" cy="5909310"/>
              </a:xfrm>
              <a:prstGeom prst="rect">
                <a:avLst/>
              </a:prstGeom>
              <a:blipFill>
                <a:blip r:embed="rId3"/>
                <a:stretch>
                  <a:fillRect l="-657" t="-515" r="-949" b="-6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27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Mean and Standard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calculate Standard Deviation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276872"/>
            <a:ext cx="596351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Press mode  -  select 2:STAT  -  select 1:1-VAR</a:t>
            </a:r>
          </a:p>
          <a:p>
            <a:endParaRPr lang="en-AU" dirty="0"/>
          </a:p>
          <a:p>
            <a:r>
              <a:rPr lang="en-AU" i="1" dirty="0"/>
              <a:t>Screen should have 1 column with heading ‘X’</a:t>
            </a:r>
            <a:endParaRPr lang="en-AU" dirty="0"/>
          </a:p>
          <a:p>
            <a:endParaRPr lang="en-AU" i="1" dirty="0"/>
          </a:p>
          <a:p>
            <a:r>
              <a:rPr lang="en-AU" i="1" dirty="0"/>
              <a:t>Press Shift-setup, down arrow select 3:stat  -  1:on</a:t>
            </a:r>
          </a:p>
          <a:p>
            <a:endParaRPr lang="en-AU" i="1" dirty="0"/>
          </a:p>
          <a:p>
            <a:r>
              <a:rPr lang="en-AU" i="1" dirty="0"/>
              <a:t>You now have 2 columns  ‘X’ and ‘FREQ’</a:t>
            </a:r>
          </a:p>
          <a:p>
            <a:endParaRPr lang="en-AU" i="1" dirty="0"/>
          </a:p>
          <a:p>
            <a:r>
              <a:rPr lang="en-AU" i="1" dirty="0"/>
              <a:t>Enter – 1=2=3=4=  (enters scores)</a:t>
            </a:r>
          </a:p>
          <a:p>
            <a:endParaRPr lang="en-AU" i="1" dirty="0"/>
          </a:p>
          <a:p>
            <a:r>
              <a:rPr lang="en-AU" i="1" dirty="0"/>
              <a:t>Arrow up (to highlight 4) arrow right to FREQ enter 3=</a:t>
            </a:r>
          </a:p>
          <a:p>
            <a:endParaRPr lang="en-AU" i="1" dirty="0"/>
          </a:p>
          <a:p>
            <a:r>
              <a:rPr lang="en-AU" i="1" dirty="0"/>
              <a:t>The scores and their frequencies have been entered for use</a:t>
            </a:r>
          </a:p>
          <a:p>
            <a:endParaRPr lang="en-AU" i="1" dirty="0"/>
          </a:p>
          <a:p>
            <a:r>
              <a:rPr lang="en-AU" i="1" dirty="0"/>
              <a:t>Press AC, goes back to usual screen </a:t>
            </a:r>
          </a:p>
          <a:p>
            <a:endParaRPr lang="en-AU" i="1" dirty="0"/>
          </a:p>
          <a:p>
            <a:endParaRPr lang="en-AU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276872"/>
            <a:ext cx="25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using Casio fx-82AU Plus II</a:t>
            </a:r>
          </a:p>
        </p:txBody>
      </p:sp>
    </p:spTree>
    <p:extLst>
      <p:ext uri="{BB962C8B-B14F-4D97-AF65-F5344CB8AC3E}">
        <p14:creationId xmlns:p14="http://schemas.microsoft.com/office/powerpoint/2010/main" val="369121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27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Mean and Standard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calculate Standard Deviation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832648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To use the data</a:t>
                </a:r>
              </a:p>
              <a:p>
                <a:endParaRPr lang="en-AU" dirty="0"/>
              </a:p>
              <a:p>
                <a:r>
                  <a:rPr lang="en-AU" dirty="0"/>
                  <a:t>Shift 1 –  select 4:var  the four options are</a:t>
                </a:r>
              </a:p>
              <a:p>
                <a:endParaRPr lang="en-AU" dirty="0"/>
              </a:p>
              <a:p>
                <a:r>
                  <a:rPr lang="en-AU" dirty="0"/>
                  <a:t>1: n  this tells you the number of scores entered</a:t>
                </a:r>
              </a:p>
              <a:p>
                <a:r>
                  <a:rPr lang="en-AU" dirty="0"/>
                  <a:t>2: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dirty="0"/>
                  <a:t>  calculates the Mean</a:t>
                </a:r>
              </a:p>
              <a:p>
                <a:r>
                  <a:rPr lang="en-AU" dirty="0"/>
                  <a:t>3: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calculates Standard Deviation for the whole population</a:t>
                </a:r>
              </a:p>
              <a:p>
                <a:r>
                  <a:rPr lang="en-AU" dirty="0"/>
                  <a:t>4: </a:t>
                </a:r>
                <a:r>
                  <a:rPr lang="en-AU" i="1" dirty="0" err="1"/>
                  <a:t>sx</a:t>
                </a:r>
                <a:r>
                  <a:rPr lang="en-AU" dirty="0"/>
                  <a:t> calculates Standard Deviation for a sample population</a:t>
                </a:r>
              </a:p>
              <a:p>
                <a:endParaRPr lang="en-AU" dirty="0"/>
              </a:p>
              <a:p>
                <a:r>
                  <a:rPr lang="en-AU" dirty="0"/>
                  <a:t>Use each of the options for the data entered and note them down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Once finished – shift 9 = AC, clears everything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832648" cy="4247317"/>
              </a:xfrm>
              <a:prstGeom prst="rect">
                <a:avLst/>
              </a:prstGeom>
              <a:blipFill>
                <a:blip r:embed="rId3"/>
                <a:stretch>
                  <a:fillRect l="-940" t="-862" r="-522" b="-14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39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Practice using the calculator using the other 3 datasets from the start of this lesson.</a:t>
            </a:r>
          </a:p>
          <a:p>
            <a:r>
              <a:rPr lang="en-AU"/>
              <a:t>Dwyer Page 180 Ex13.9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27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Mean and Standard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calculate Standard Deviation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888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3843654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Success Criteria</a:t>
            </a:r>
          </a:p>
          <a:p>
            <a:pPr marL="0" indent="0">
              <a:buNone/>
            </a:pPr>
            <a:r>
              <a:rPr lang="en-AU" dirty="0"/>
              <a:t>Thumbs up </a:t>
            </a:r>
            <a:r>
              <a:rPr lang="en-AU" dirty="0" err="1"/>
              <a:t>etc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858</Words>
  <Application>Microsoft Office PowerPoint</Application>
  <PresentationFormat>On-screen Show (4:3)</PresentationFormat>
  <Paragraphs>170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20</cp:revision>
  <dcterms:created xsi:type="dcterms:W3CDTF">2016-10-20T03:14:06Z</dcterms:created>
  <dcterms:modified xsi:type="dcterms:W3CDTF">2017-08-06T14:27:34Z</dcterms:modified>
</cp:coreProperties>
</file>
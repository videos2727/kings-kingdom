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63" r:id="rId2"/>
    <p:sldId id="264" r:id="rId3"/>
    <p:sldId id="257" r:id="rId4"/>
    <p:sldId id="258" r:id="rId5"/>
    <p:sldId id="270" r:id="rId6"/>
    <p:sldId id="271" r:id="rId7"/>
    <p:sldId id="260" r:id="rId8"/>
    <p:sldId id="272" r:id="rId9"/>
    <p:sldId id="268" r:id="rId10"/>
    <p:sldId id="269" r:id="rId11"/>
    <p:sldId id="266" r:id="rId12"/>
    <p:sldId id="267" r:id="rId13"/>
    <p:sldId id="262"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94AA477-598F-4CCF-8F1A-33D43F97EEB0}" type="datetimeFigureOut">
              <a:rPr lang="en-AU" smtClean="0"/>
              <a:t>12/03/2017</a:t>
            </a:fld>
            <a:endParaRPr lang="en-AU"/>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91AD3D9-0B11-4189-8D45-47537C1CF889}" type="slidenum">
              <a:rPr lang="en-AU" smtClean="0"/>
              <a:t>‹#›</a:t>
            </a:fld>
            <a:endParaRPr lang="en-AU"/>
          </a:p>
        </p:txBody>
      </p:sp>
    </p:spTree>
    <p:extLst>
      <p:ext uri="{BB962C8B-B14F-4D97-AF65-F5344CB8AC3E}">
        <p14:creationId xmlns:p14="http://schemas.microsoft.com/office/powerpoint/2010/main" val="33607297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hook</a:t>
            </a:r>
          </a:p>
        </p:txBody>
      </p:sp>
      <p:sp>
        <p:nvSpPr>
          <p:cNvPr id="4" name="Slide Number Placeholder 3"/>
          <p:cNvSpPr>
            <a:spLocks noGrp="1"/>
          </p:cNvSpPr>
          <p:nvPr>
            <p:ph type="sldNum" sz="quarter" idx="10"/>
          </p:nvPr>
        </p:nvSpPr>
        <p:spPr/>
        <p:txBody>
          <a:bodyPr/>
          <a:lstStyle/>
          <a:p>
            <a:fld id="{A91AD3D9-0B11-4189-8D45-47537C1CF889}" type="slidenum">
              <a:rPr lang="en-AU" smtClean="0"/>
              <a:t>1</a:t>
            </a:fld>
            <a:endParaRPr lang="en-AU"/>
          </a:p>
        </p:txBody>
      </p:sp>
    </p:spTree>
    <p:extLst>
      <p:ext uri="{BB962C8B-B14F-4D97-AF65-F5344CB8AC3E}">
        <p14:creationId xmlns:p14="http://schemas.microsoft.com/office/powerpoint/2010/main" val="5034133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a:t>
            </a:r>
            <a:r>
              <a:rPr lang="en-AU" baseline="0" dirty="0"/>
              <a:t> objective (EQ)</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2</a:t>
            </a:fld>
            <a:endParaRPr lang="en-AU"/>
          </a:p>
        </p:txBody>
      </p:sp>
    </p:spTree>
    <p:extLst>
      <p:ext uri="{BB962C8B-B14F-4D97-AF65-F5344CB8AC3E}">
        <p14:creationId xmlns:p14="http://schemas.microsoft.com/office/powerpoint/2010/main" val="14258631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Lesson </a:t>
            </a:r>
          </a:p>
        </p:txBody>
      </p:sp>
      <p:sp>
        <p:nvSpPr>
          <p:cNvPr id="4" name="Slide Number Placeholder 3"/>
          <p:cNvSpPr>
            <a:spLocks noGrp="1"/>
          </p:cNvSpPr>
          <p:nvPr>
            <p:ph type="sldNum" sz="quarter" idx="10"/>
          </p:nvPr>
        </p:nvSpPr>
        <p:spPr/>
        <p:txBody>
          <a:bodyPr/>
          <a:lstStyle/>
          <a:p>
            <a:fld id="{A91AD3D9-0B11-4189-8D45-47537C1CF889}" type="slidenum">
              <a:rPr lang="en-AU" smtClean="0"/>
              <a:t>3</a:t>
            </a:fld>
            <a:endParaRPr lang="en-AU"/>
          </a:p>
        </p:txBody>
      </p:sp>
    </p:spTree>
    <p:extLst>
      <p:ext uri="{BB962C8B-B14F-4D97-AF65-F5344CB8AC3E}">
        <p14:creationId xmlns:p14="http://schemas.microsoft.com/office/powerpoint/2010/main" val="3063427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5</a:t>
            </a:fld>
            <a:endParaRPr lang="en-AU"/>
          </a:p>
        </p:txBody>
      </p:sp>
    </p:spTree>
    <p:extLst>
      <p:ext uri="{BB962C8B-B14F-4D97-AF65-F5344CB8AC3E}">
        <p14:creationId xmlns:p14="http://schemas.microsoft.com/office/powerpoint/2010/main" val="818738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6</a:t>
            </a:fld>
            <a:endParaRPr lang="en-AU"/>
          </a:p>
        </p:txBody>
      </p:sp>
    </p:spTree>
    <p:extLst>
      <p:ext uri="{BB962C8B-B14F-4D97-AF65-F5344CB8AC3E}">
        <p14:creationId xmlns:p14="http://schemas.microsoft.com/office/powerpoint/2010/main" val="40749202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7</a:t>
            </a:fld>
            <a:endParaRPr lang="en-AU"/>
          </a:p>
        </p:txBody>
      </p:sp>
    </p:spTree>
    <p:extLst>
      <p:ext uri="{BB962C8B-B14F-4D97-AF65-F5344CB8AC3E}">
        <p14:creationId xmlns:p14="http://schemas.microsoft.com/office/powerpoint/2010/main" val="32541963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8</a:t>
            </a:fld>
            <a:endParaRPr lang="en-AU"/>
          </a:p>
        </p:txBody>
      </p:sp>
    </p:spTree>
    <p:extLst>
      <p:ext uri="{BB962C8B-B14F-4D97-AF65-F5344CB8AC3E}">
        <p14:creationId xmlns:p14="http://schemas.microsoft.com/office/powerpoint/2010/main" val="12784149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9</a:t>
            </a:fld>
            <a:endParaRPr lang="en-AU"/>
          </a:p>
        </p:txBody>
      </p:sp>
    </p:spTree>
    <p:extLst>
      <p:ext uri="{BB962C8B-B14F-4D97-AF65-F5344CB8AC3E}">
        <p14:creationId xmlns:p14="http://schemas.microsoft.com/office/powerpoint/2010/main" val="3598203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Input</a:t>
            </a:r>
          </a:p>
        </p:txBody>
      </p:sp>
      <p:sp>
        <p:nvSpPr>
          <p:cNvPr id="4" name="Slide Number Placeholder 3"/>
          <p:cNvSpPr>
            <a:spLocks noGrp="1"/>
          </p:cNvSpPr>
          <p:nvPr>
            <p:ph type="sldNum" sz="quarter" idx="10"/>
          </p:nvPr>
        </p:nvSpPr>
        <p:spPr/>
        <p:txBody>
          <a:bodyPr/>
          <a:lstStyle/>
          <a:p>
            <a:fld id="{A91AD3D9-0B11-4189-8D45-47537C1CF889}" type="slidenum">
              <a:rPr lang="en-AU" smtClean="0"/>
              <a:t>10</a:t>
            </a:fld>
            <a:endParaRPr lang="en-AU"/>
          </a:p>
        </p:txBody>
      </p:sp>
    </p:spTree>
    <p:extLst>
      <p:ext uri="{BB962C8B-B14F-4D97-AF65-F5344CB8AC3E}">
        <p14:creationId xmlns:p14="http://schemas.microsoft.com/office/powerpoint/2010/main" val="114438561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Check</a:t>
            </a:r>
            <a:r>
              <a:rPr lang="en-AU" baseline="0" dirty="0"/>
              <a:t> for understanding</a:t>
            </a:r>
            <a:endParaRPr lang="en-AU" dirty="0"/>
          </a:p>
        </p:txBody>
      </p:sp>
      <p:sp>
        <p:nvSpPr>
          <p:cNvPr id="4" name="Slide Number Placeholder 3"/>
          <p:cNvSpPr>
            <a:spLocks noGrp="1"/>
          </p:cNvSpPr>
          <p:nvPr>
            <p:ph type="sldNum" sz="quarter" idx="10"/>
          </p:nvPr>
        </p:nvSpPr>
        <p:spPr/>
        <p:txBody>
          <a:bodyPr/>
          <a:lstStyle/>
          <a:p>
            <a:fld id="{A91AD3D9-0B11-4189-8D45-47537C1CF889}" type="slidenum">
              <a:rPr lang="en-AU" smtClean="0"/>
              <a:t>11</a:t>
            </a:fld>
            <a:endParaRPr lang="en-AU"/>
          </a:p>
        </p:txBody>
      </p:sp>
    </p:spTree>
    <p:extLst>
      <p:ext uri="{BB962C8B-B14F-4D97-AF65-F5344CB8AC3E}">
        <p14:creationId xmlns:p14="http://schemas.microsoft.com/office/powerpoint/2010/main" val="34168848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Guided practice</a:t>
            </a:r>
          </a:p>
        </p:txBody>
      </p:sp>
      <p:sp>
        <p:nvSpPr>
          <p:cNvPr id="4" name="Slide Number Placeholder 3"/>
          <p:cNvSpPr>
            <a:spLocks noGrp="1"/>
          </p:cNvSpPr>
          <p:nvPr>
            <p:ph type="sldNum" sz="quarter" idx="10"/>
          </p:nvPr>
        </p:nvSpPr>
        <p:spPr/>
        <p:txBody>
          <a:bodyPr/>
          <a:lstStyle/>
          <a:p>
            <a:fld id="{A91AD3D9-0B11-4189-8D45-47537C1CF889}" type="slidenum">
              <a:rPr lang="en-AU" smtClean="0"/>
              <a:t>12</a:t>
            </a:fld>
            <a:endParaRPr lang="en-AU"/>
          </a:p>
        </p:txBody>
      </p:sp>
    </p:spTree>
    <p:extLst>
      <p:ext uri="{BB962C8B-B14F-4D97-AF65-F5344CB8AC3E}">
        <p14:creationId xmlns:p14="http://schemas.microsoft.com/office/powerpoint/2010/main" val="4780438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Independent practice </a:t>
            </a:r>
          </a:p>
        </p:txBody>
      </p:sp>
      <p:sp>
        <p:nvSpPr>
          <p:cNvPr id="4" name="Slide Number Placeholder 3"/>
          <p:cNvSpPr>
            <a:spLocks noGrp="1"/>
          </p:cNvSpPr>
          <p:nvPr>
            <p:ph type="sldNum" sz="quarter" idx="10"/>
          </p:nvPr>
        </p:nvSpPr>
        <p:spPr/>
        <p:txBody>
          <a:bodyPr/>
          <a:lstStyle/>
          <a:p>
            <a:fld id="{A91AD3D9-0B11-4189-8D45-47537C1CF889}" type="slidenum">
              <a:rPr lang="en-AU" smtClean="0"/>
              <a:t>13</a:t>
            </a:fld>
            <a:endParaRPr lang="en-AU"/>
          </a:p>
        </p:txBody>
      </p:sp>
    </p:spTree>
    <p:extLst>
      <p:ext uri="{BB962C8B-B14F-4D97-AF65-F5344CB8AC3E}">
        <p14:creationId xmlns:p14="http://schemas.microsoft.com/office/powerpoint/2010/main" val="184669399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Closure</a:t>
            </a:r>
          </a:p>
        </p:txBody>
      </p:sp>
      <p:sp>
        <p:nvSpPr>
          <p:cNvPr id="4" name="Slide Number Placeholder 3"/>
          <p:cNvSpPr>
            <a:spLocks noGrp="1"/>
          </p:cNvSpPr>
          <p:nvPr>
            <p:ph type="sldNum" sz="quarter" idx="10"/>
          </p:nvPr>
        </p:nvSpPr>
        <p:spPr/>
        <p:txBody>
          <a:bodyPr/>
          <a:lstStyle/>
          <a:p>
            <a:fld id="{A91AD3D9-0B11-4189-8D45-47537C1CF889}" type="slidenum">
              <a:rPr lang="en-AU" smtClean="0"/>
              <a:t>14</a:t>
            </a:fld>
            <a:endParaRPr lang="en-AU"/>
          </a:p>
        </p:txBody>
      </p:sp>
    </p:spTree>
    <p:extLst>
      <p:ext uri="{BB962C8B-B14F-4D97-AF65-F5344CB8AC3E}">
        <p14:creationId xmlns:p14="http://schemas.microsoft.com/office/powerpoint/2010/main" val="36065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AU"/>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12/03/2017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736294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12/03/2017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4480023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AU"/>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F971031-8C33-4876-9169-26F597F7E7C1}" type="datetimeFigureOut">
              <a:rPr lang="en-AU" smtClean="0"/>
              <a:t>12/03/2017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6475045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p:cNvSpPr>
            <a:spLocks noGrp="1"/>
          </p:cNvSpPr>
          <p:nvPr>
            <p:ph type="dt" sz="half" idx="10"/>
          </p:nvPr>
        </p:nvSpPr>
        <p:spPr/>
        <p:txBody>
          <a:bodyPr/>
          <a:lstStyle/>
          <a:p>
            <a:fld id="{AF971031-8C33-4876-9169-26F597F7E7C1}" type="datetimeFigureOut">
              <a:rPr lang="en-AU" smtClean="0"/>
              <a:t>12/03/2017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550791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AU"/>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p:cNvSpPr>
            <a:spLocks noGrp="1"/>
          </p:cNvSpPr>
          <p:nvPr>
            <p:ph type="dt" sz="half" idx="10"/>
          </p:nvPr>
        </p:nvSpPr>
        <p:spPr/>
        <p:txBody>
          <a:bodyPr/>
          <a:lstStyle/>
          <a:p>
            <a:fld id="{AF971031-8C33-4876-9169-26F597F7E7C1}" type="datetimeFigureOut">
              <a:rPr lang="en-AU" smtClean="0"/>
              <a:t>12/03/2017</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2132040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Date Placeholder 2"/>
          <p:cNvSpPr>
            <a:spLocks noGrp="1"/>
          </p:cNvSpPr>
          <p:nvPr>
            <p:ph type="dt" sz="half" idx="10"/>
          </p:nvPr>
        </p:nvSpPr>
        <p:spPr/>
        <p:txBody>
          <a:bodyPr/>
          <a:lstStyle/>
          <a:p>
            <a:fld id="{AF971031-8C33-4876-9169-26F597F7E7C1}" type="datetimeFigureOut">
              <a:rPr lang="en-AU" smtClean="0"/>
              <a:t>12/03/2017</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177426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F971031-8C33-4876-9169-26F597F7E7C1}" type="datetimeFigureOut">
              <a:rPr lang="en-AU" smtClean="0"/>
              <a:t>12/03/2017</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0532896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AU"/>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12/03/2017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9092119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AU"/>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F971031-8C33-4876-9169-26F597F7E7C1}" type="datetimeFigureOut">
              <a:rPr lang="en-AU" smtClean="0"/>
              <a:t>12/03/2017</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1433801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12/03/2017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1379636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AU"/>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10"/>
          </p:nvPr>
        </p:nvSpPr>
        <p:spPr/>
        <p:txBody>
          <a:bodyPr/>
          <a:lstStyle/>
          <a:p>
            <a:fld id="{AF971031-8C33-4876-9169-26F597F7E7C1}" type="datetimeFigureOut">
              <a:rPr lang="en-AU" smtClean="0"/>
              <a:t>12/03/2017</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45B1127-360E-4A81-8847-9F94642454F8}" type="slidenum">
              <a:rPr lang="en-AU" smtClean="0"/>
              <a:t>‹#›</a:t>
            </a:fld>
            <a:endParaRPr lang="en-AU"/>
          </a:p>
        </p:txBody>
      </p:sp>
    </p:spTree>
    <p:extLst>
      <p:ext uri="{BB962C8B-B14F-4D97-AF65-F5344CB8AC3E}">
        <p14:creationId xmlns:p14="http://schemas.microsoft.com/office/powerpoint/2010/main" val="39928357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971031-8C33-4876-9169-26F597F7E7C1}" type="datetimeFigureOut">
              <a:rPr lang="en-AU" smtClean="0"/>
              <a:t>12/03/2017</a:t>
            </a:fld>
            <a:endParaRPr lang="en-AU"/>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45B1127-360E-4A81-8847-9F94642454F8}" type="slidenum">
              <a:rPr lang="en-AU" smtClean="0"/>
              <a:t>‹#›</a:t>
            </a:fld>
            <a:endParaRPr lang="en-AU"/>
          </a:p>
        </p:txBody>
      </p:sp>
    </p:spTree>
    <p:extLst>
      <p:ext uri="{BB962C8B-B14F-4D97-AF65-F5344CB8AC3E}">
        <p14:creationId xmlns:p14="http://schemas.microsoft.com/office/powerpoint/2010/main" val="855985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Mental set</a:t>
            </a:r>
          </a:p>
        </p:txBody>
      </p:sp>
      <p:sp>
        <p:nvSpPr>
          <p:cNvPr id="3" name="Content Placeholder 2"/>
          <p:cNvSpPr>
            <a:spLocks noGrp="1"/>
          </p:cNvSpPr>
          <p:nvPr>
            <p:ph idx="1"/>
          </p:nvPr>
        </p:nvSpPr>
        <p:spPr/>
        <p:txBody>
          <a:bodyPr/>
          <a:lstStyle/>
          <a:p>
            <a:pPr marL="0" indent="0">
              <a:buNone/>
            </a:pPr>
            <a:r>
              <a:rPr lang="en-AU" dirty="0" err="1"/>
              <a:t>Kahoot</a:t>
            </a:r>
            <a:endParaRPr lang="en-AU" dirty="0"/>
          </a:p>
        </p:txBody>
      </p:sp>
    </p:spTree>
    <p:extLst>
      <p:ext uri="{BB962C8B-B14F-4D97-AF65-F5344CB8AC3E}">
        <p14:creationId xmlns:p14="http://schemas.microsoft.com/office/powerpoint/2010/main" val="32006712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821059" cy="523220"/>
          </a:xfrm>
          <a:prstGeom prst="rect">
            <a:avLst/>
          </a:prstGeom>
          <a:noFill/>
        </p:spPr>
        <p:txBody>
          <a:bodyPr wrap="none" rtlCol="0">
            <a:spAutoFit/>
          </a:bodyPr>
          <a:lstStyle/>
          <a:p>
            <a:r>
              <a:rPr lang="en-AU" sz="2800" dirty="0"/>
              <a:t>Title</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461665"/>
          </a:xfrm>
          <a:prstGeom prst="rect">
            <a:avLst/>
          </a:prstGeom>
          <a:noFill/>
        </p:spPr>
        <p:txBody>
          <a:bodyPr wrap="square" rtlCol="0">
            <a:spAutoFit/>
          </a:bodyPr>
          <a:lstStyle/>
          <a:p>
            <a:r>
              <a:rPr lang="en-AU" sz="2400" dirty="0"/>
              <a:t>EQ –</a:t>
            </a:r>
          </a:p>
        </p:txBody>
      </p:sp>
    </p:spTree>
    <p:extLst>
      <p:ext uri="{BB962C8B-B14F-4D97-AF65-F5344CB8AC3E}">
        <p14:creationId xmlns:p14="http://schemas.microsoft.com/office/powerpoint/2010/main" val="3214558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Lesson objective</a:t>
            </a:r>
          </a:p>
        </p:txBody>
      </p:sp>
      <p:sp>
        <p:nvSpPr>
          <p:cNvPr id="3" name="Content Placeholder 2"/>
          <p:cNvSpPr>
            <a:spLocks noGrp="1"/>
          </p:cNvSpPr>
          <p:nvPr>
            <p:ph idx="1"/>
          </p:nvPr>
        </p:nvSpPr>
        <p:spPr/>
        <p:txBody>
          <a:bodyPr/>
          <a:lstStyle/>
          <a:p>
            <a:pPr marL="0" indent="0">
              <a:buNone/>
            </a:pPr>
            <a:r>
              <a:rPr lang="en-AU" dirty="0"/>
              <a:t>By the end of this lesson you will be able to;</a:t>
            </a:r>
          </a:p>
          <a:p>
            <a:pPr marL="0" indent="0">
              <a:buNone/>
            </a:pPr>
            <a:r>
              <a:rPr lang="en-AU" dirty="0"/>
              <a:t>- Use all 4 operations with Algebraic Fractions with numerical Denominators</a:t>
            </a:r>
          </a:p>
        </p:txBody>
      </p:sp>
    </p:spTree>
    <p:extLst>
      <p:ext uri="{BB962C8B-B14F-4D97-AF65-F5344CB8AC3E}">
        <p14:creationId xmlns:p14="http://schemas.microsoft.com/office/powerpoint/2010/main" val="11679798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Success Criteria</a:t>
            </a:r>
          </a:p>
        </p:txBody>
      </p:sp>
      <p:sp>
        <p:nvSpPr>
          <p:cNvPr id="3" name="Content Placeholder 2"/>
          <p:cNvSpPr>
            <a:spLocks noGrp="1"/>
          </p:cNvSpPr>
          <p:nvPr>
            <p:ph idx="1"/>
          </p:nvPr>
        </p:nvSpPr>
        <p:spPr/>
        <p:txBody>
          <a:bodyPr/>
          <a:lstStyle/>
          <a:p>
            <a:pPr marL="0" indent="0">
              <a:buNone/>
            </a:pPr>
            <a:r>
              <a:rPr lang="en-AU" dirty="0"/>
              <a:t>You will know you are successful in achieving the objective by…</a:t>
            </a:r>
          </a:p>
        </p:txBody>
      </p:sp>
    </p:spTree>
    <p:extLst>
      <p:ext uri="{BB962C8B-B14F-4D97-AF65-F5344CB8AC3E}">
        <p14:creationId xmlns:p14="http://schemas.microsoft.com/office/powerpoint/2010/main" val="32093972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1</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523220"/>
          </a:xfrm>
          <a:prstGeom prst="rect">
            <a:avLst/>
          </a:prstGeom>
          <a:noFill/>
        </p:spPr>
        <p:txBody>
          <a:bodyPr wrap="none" rtlCol="0">
            <a:spAutoFit/>
          </a:bodyPr>
          <a:lstStyle/>
          <a:p>
            <a:r>
              <a:rPr lang="en-AU" sz="2800" dirty="0"/>
              <a:t>Algebraic Fractions</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Addition with algebraic fractions with numerical denominators.</a:t>
            </a:r>
          </a:p>
        </p:txBody>
      </p:sp>
      <mc:AlternateContent xmlns:mc="http://schemas.openxmlformats.org/markup-compatibility/2006">
        <mc:Choice xmlns:a14="http://schemas.microsoft.com/office/drawing/2010/main" Requires="a14">
          <p:sp>
            <p:nvSpPr>
              <p:cNvPr id="5" name="TextBox 4"/>
              <p:cNvSpPr txBox="1"/>
              <p:nvPr/>
            </p:nvSpPr>
            <p:spPr>
              <a:xfrm>
                <a:off x="3347864" y="2492896"/>
                <a:ext cx="5400600" cy="2821798"/>
              </a:xfrm>
              <a:prstGeom prst="rect">
                <a:avLst/>
              </a:prstGeom>
              <a:noFill/>
            </p:spPr>
            <p:txBody>
              <a:bodyPr wrap="square" rtlCol="0">
                <a:spAutoFit/>
              </a:bodyPr>
              <a:lstStyle/>
              <a:p>
                <a:r>
                  <a:rPr lang="en-AU" dirty="0"/>
                  <a:t>Adding Algebraic Fractions has the same structure as adding numeric fractions. Once the denominators are the same you add the numerators. The result is then simplified to provide the final answer.</a:t>
                </a:r>
              </a:p>
              <a:p>
                <a:endParaRPr lang="en-AU" dirty="0"/>
              </a:p>
              <a:p>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𝑎</m:t>
                          </m:r>
                        </m:num>
                        <m:den>
                          <m:r>
                            <a:rPr lang="en-AU" b="0" i="1" smtClean="0">
                              <a:latin typeface="Cambria Math" panose="02040503050406030204" pitchFamily="18" charset="0"/>
                            </a:rPr>
                            <m:t>7</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5</m:t>
                          </m:r>
                          <m:r>
                            <a:rPr lang="en-AU" b="0" i="1" smtClean="0">
                              <a:latin typeface="Cambria Math" panose="02040503050406030204" pitchFamily="18" charset="0"/>
                            </a:rPr>
                            <m:t>𝑎</m:t>
                          </m:r>
                        </m:num>
                        <m:den>
                          <m:r>
                            <a:rPr lang="en-AU" b="0" i="1" smtClean="0">
                              <a:latin typeface="Cambria Math" panose="02040503050406030204" pitchFamily="18" charset="0"/>
                            </a:rPr>
                            <m:t>7</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+5</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7</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8</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7</m:t>
                          </m:r>
                        </m:den>
                      </m:f>
                    </m:oMath>
                  </m:oMathPara>
                </a14:m>
                <a:endParaRPr lang="en-GB" dirty="0"/>
              </a:p>
              <a:p>
                <a:endParaRPr lang="en-AU" dirty="0"/>
              </a:p>
              <a:p>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+5</m:t>
                          </m:r>
                        </m:num>
                        <m:den>
                          <m:r>
                            <a:rPr lang="en-AU" b="0" i="1" smtClean="0">
                              <a:latin typeface="Cambria Math" panose="02040503050406030204" pitchFamily="18" charset="0"/>
                            </a:rPr>
                            <m:t>3</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𝑥</m:t>
                          </m:r>
                          <m:r>
                            <a:rPr lang="en-AU" b="0" i="1" smtClean="0">
                              <a:latin typeface="Cambria Math" panose="02040503050406030204" pitchFamily="18" charset="0"/>
                            </a:rPr>
                            <m:t>+8</m:t>
                          </m:r>
                        </m:num>
                        <m:den>
                          <m:r>
                            <a:rPr lang="en-AU" b="0" i="1" smtClean="0">
                              <a:latin typeface="Cambria Math" panose="02040503050406030204" pitchFamily="18" charset="0"/>
                            </a:rPr>
                            <m:t>3</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+5+2</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+8</m:t>
                          </m:r>
                        </m:num>
                        <m:den>
                          <m:r>
                            <a:rPr lang="en-AU" b="0" i="1" smtClean="0">
                              <a:latin typeface="Cambria Math" panose="02040503050406030204" pitchFamily="18" charset="0"/>
                              <a:ea typeface="Cambria Math" panose="02040503050406030204" pitchFamily="18" charset="0"/>
                            </a:rPr>
                            <m:t>3</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+13</m:t>
                          </m:r>
                        </m:num>
                        <m:den>
                          <m:r>
                            <a:rPr lang="en-AU" b="0" i="1" smtClean="0">
                              <a:latin typeface="Cambria Math" panose="02040503050406030204" pitchFamily="18" charset="0"/>
                              <a:ea typeface="Cambria Math" panose="02040503050406030204" pitchFamily="18" charset="0"/>
                            </a:rPr>
                            <m:t>3</m:t>
                          </m:r>
                        </m:den>
                      </m:f>
                    </m:oMath>
                  </m:oMathPara>
                </a14:m>
                <a:endParaRPr lang="en-GB" dirty="0"/>
              </a:p>
            </p:txBody>
          </p:sp>
        </mc:Choice>
        <mc:Fallback>
          <p:sp>
            <p:nvSpPr>
              <p:cNvPr id="5" name="TextBox 4"/>
              <p:cNvSpPr txBox="1">
                <a:spLocks noRot="1" noChangeAspect="1" noMove="1" noResize="1" noEditPoints="1" noAdjustHandles="1" noChangeArrowheads="1" noChangeShapeType="1" noTextEdit="1"/>
              </p:cNvSpPr>
              <p:nvPr/>
            </p:nvSpPr>
            <p:spPr>
              <a:xfrm>
                <a:off x="3347864" y="2492896"/>
                <a:ext cx="5400600" cy="2821798"/>
              </a:xfrm>
              <a:prstGeom prst="rect">
                <a:avLst/>
              </a:prstGeom>
              <a:blipFill>
                <a:blip r:embed="rId3"/>
                <a:stretch>
                  <a:fillRect l="-903" t="-1296"/>
                </a:stretch>
              </a:blipFill>
            </p:spPr>
            <p:txBody>
              <a:bodyPr/>
              <a:lstStyle/>
              <a:p>
                <a:r>
                  <a:rPr lang="en-GB">
                    <a:noFill/>
                  </a:rPr>
                  <a:t> </a:t>
                </a:r>
              </a:p>
            </p:txBody>
          </p:sp>
        </mc:Fallback>
      </mc:AlternateContent>
    </p:spTree>
    <p:extLst>
      <p:ext uri="{BB962C8B-B14F-4D97-AF65-F5344CB8AC3E}">
        <p14:creationId xmlns:p14="http://schemas.microsoft.com/office/powerpoint/2010/main" val="6902608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2</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523220"/>
          </a:xfrm>
          <a:prstGeom prst="rect">
            <a:avLst/>
          </a:prstGeom>
          <a:noFill/>
        </p:spPr>
        <p:txBody>
          <a:bodyPr wrap="none" rtlCol="0">
            <a:spAutoFit/>
          </a:bodyPr>
          <a:lstStyle/>
          <a:p>
            <a:r>
              <a:rPr lang="en-AU" sz="2800" dirty="0"/>
              <a:t>Algebraic Fractions</a:t>
            </a:r>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How to use Addition with algebraic fractions with numerical denominators.</a:t>
            </a:r>
          </a:p>
        </p:txBody>
      </p:sp>
      <mc:AlternateContent xmlns:mc="http://schemas.openxmlformats.org/markup-compatibility/2006">
        <mc:Choice xmlns:a14="http://schemas.microsoft.com/office/drawing/2010/main" Requires="a14">
          <p:sp>
            <p:nvSpPr>
              <p:cNvPr id="5" name="TextBox 4"/>
              <p:cNvSpPr txBox="1"/>
              <p:nvPr/>
            </p:nvSpPr>
            <p:spPr>
              <a:xfrm>
                <a:off x="3347864" y="2492896"/>
                <a:ext cx="5400600" cy="2895408"/>
              </a:xfrm>
              <a:prstGeom prst="rect">
                <a:avLst/>
              </a:prstGeom>
              <a:noFill/>
            </p:spPr>
            <p:txBody>
              <a:bodyPr wrap="square" rtlCol="0">
                <a:spAutoFit/>
              </a:bodyPr>
              <a:lstStyle/>
              <a:p>
                <a:r>
                  <a:rPr lang="en-AU" dirty="0"/>
                  <a:t>When the denominators are different, first make the denominators the same then add the numerators.</a:t>
                </a:r>
              </a:p>
              <a:p>
                <a:endParaRPr lang="en-AU" dirty="0"/>
              </a:p>
              <a:p>
                <a:pPr marL="285750" indent="-285750">
                  <a:buFont typeface="Arial" panose="020B0604020202020204" pitchFamily="34" charset="0"/>
                  <a:buChar char="•"/>
                </a:pP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2</m:t>
                        </m:r>
                        <m:r>
                          <a:rPr lang="en-AU" sz="2400" b="0" i="1" smtClean="0">
                            <a:latin typeface="Cambria Math" panose="02040503050406030204" pitchFamily="18" charset="0"/>
                          </a:rPr>
                          <m:t>𝑏</m:t>
                        </m:r>
                      </m:num>
                      <m:den>
                        <m:r>
                          <a:rPr lang="en-AU" sz="2400" b="0" i="1" smtClean="0">
                            <a:latin typeface="Cambria Math" panose="02040503050406030204" pitchFamily="18" charset="0"/>
                          </a:rPr>
                          <m:t>3</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𝑏</m:t>
                        </m:r>
                      </m:num>
                      <m:den>
                        <m:r>
                          <a:rPr lang="en-AU" sz="2400" b="0" i="1" smtClean="0">
                            <a:latin typeface="Cambria Math" panose="02040503050406030204" pitchFamily="18" charset="0"/>
                          </a:rPr>
                          <m:t>4</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2</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×4</m:t>
                        </m:r>
                      </m:num>
                      <m:den>
                        <m:r>
                          <a:rPr lang="en-AU" sz="2400" b="0" i="1" smtClean="0">
                            <a:latin typeface="Cambria Math" panose="02040503050406030204" pitchFamily="18" charset="0"/>
                            <a:ea typeface="Cambria Math" panose="02040503050406030204" pitchFamily="18" charset="0"/>
                          </a:rPr>
                          <m:t>3×4</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×3</m:t>
                        </m:r>
                      </m:num>
                      <m:den>
                        <m:r>
                          <a:rPr lang="en-AU" sz="2400" b="0" i="1" smtClean="0">
                            <a:latin typeface="Cambria Math" panose="02040503050406030204" pitchFamily="18" charset="0"/>
                            <a:ea typeface="Cambria Math" panose="02040503050406030204" pitchFamily="18" charset="0"/>
                          </a:rPr>
                          <m:t>4×3</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8</m:t>
                        </m:r>
                        <m:r>
                          <a:rPr lang="en-AU" sz="2400" b="0" i="1" smtClean="0">
                            <a:latin typeface="Cambria Math" panose="02040503050406030204" pitchFamily="18" charset="0"/>
                            <a:ea typeface="Cambria Math" panose="02040503050406030204" pitchFamily="18" charset="0"/>
                          </a:rPr>
                          <m:t>𝑏</m:t>
                        </m:r>
                        <m:r>
                          <a:rPr lang="en-AU" sz="2400" b="0" i="1" smtClean="0">
                            <a:latin typeface="Cambria Math" panose="02040503050406030204" pitchFamily="18" charset="0"/>
                            <a:ea typeface="Cambria Math" panose="02040503050406030204" pitchFamily="18" charset="0"/>
                          </a:rPr>
                          <m:t>+3</m:t>
                        </m:r>
                        <m:r>
                          <a:rPr lang="en-AU" sz="2400" b="0" i="1" smtClean="0">
                            <a:latin typeface="Cambria Math" panose="02040503050406030204" pitchFamily="18" charset="0"/>
                            <a:ea typeface="Cambria Math" panose="02040503050406030204" pitchFamily="18" charset="0"/>
                          </a:rPr>
                          <m:t>𝑏</m:t>
                        </m:r>
                      </m:num>
                      <m:den>
                        <m:r>
                          <a:rPr lang="en-AU" sz="2400" b="0" i="1" smtClean="0">
                            <a:latin typeface="Cambria Math" panose="02040503050406030204" pitchFamily="18" charset="0"/>
                            <a:ea typeface="Cambria Math" panose="02040503050406030204" pitchFamily="18" charset="0"/>
                          </a:rPr>
                          <m:t>12</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11</m:t>
                        </m:r>
                        <m:r>
                          <a:rPr lang="en-AU" sz="2400" b="0" i="1" smtClean="0">
                            <a:latin typeface="Cambria Math" panose="02040503050406030204" pitchFamily="18" charset="0"/>
                            <a:ea typeface="Cambria Math" panose="02040503050406030204" pitchFamily="18" charset="0"/>
                          </a:rPr>
                          <m:t>𝑏</m:t>
                        </m:r>
                      </m:num>
                      <m:den>
                        <m:r>
                          <a:rPr lang="en-AU" sz="2400" b="0" i="1" smtClean="0">
                            <a:latin typeface="Cambria Math" panose="02040503050406030204" pitchFamily="18" charset="0"/>
                            <a:ea typeface="Cambria Math" panose="02040503050406030204" pitchFamily="18" charset="0"/>
                          </a:rPr>
                          <m:t>12</m:t>
                        </m:r>
                      </m:den>
                    </m:f>
                  </m:oMath>
                </a14:m>
                <a:endParaRPr lang="en-GB" sz="2400" dirty="0"/>
              </a:p>
              <a:p>
                <a:endParaRPr lang="en-AU" sz="2400" dirty="0"/>
              </a:p>
              <a:p>
                <a:pPr marL="285750" indent="-285750">
                  <a:buFont typeface="Arial" panose="020B0604020202020204" pitchFamily="34" charset="0"/>
                  <a:buChar char="•"/>
                </a:pPr>
                <a14:m>
                  <m:oMath xmlns:m="http://schemas.openxmlformats.org/officeDocument/2006/math">
                    <m:f>
                      <m:fPr>
                        <m:ctrlPr>
                          <a:rPr lang="en-GB" sz="2400" i="1" smtClean="0">
                            <a:latin typeface="Cambria Math" panose="02040503050406030204" pitchFamily="18" charset="0"/>
                          </a:rPr>
                        </m:ctrlPr>
                      </m:fPr>
                      <m:num>
                        <m:r>
                          <a:rPr lang="en-AU" sz="2400" b="0" i="1" smtClean="0">
                            <a:latin typeface="Cambria Math" panose="02040503050406030204" pitchFamily="18" charset="0"/>
                          </a:rPr>
                          <m:t>𝑥</m:t>
                        </m:r>
                        <m:r>
                          <a:rPr lang="en-AU" sz="2400" b="0" i="1" smtClean="0">
                            <a:latin typeface="Cambria Math" panose="02040503050406030204" pitchFamily="18" charset="0"/>
                          </a:rPr>
                          <m:t>+4</m:t>
                        </m:r>
                      </m:num>
                      <m:den>
                        <m:r>
                          <a:rPr lang="en-AU" sz="2400" b="0" i="1" smtClean="0">
                            <a:latin typeface="Cambria Math" panose="02040503050406030204" pitchFamily="18" charset="0"/>
                          </a:rPr>
                          <m:t>5</m:t>
                        </m:r>
                      </m:den>
                    </m:f>
                    <m:r>
                      <a:rPr lang="en-AU" sz="2400" b="0" i="1" smtClean="0">
                        <a:latin typeface="Cambria Math" panose="02040503050406030204" pitchFamily="18" charset="0"/>
                      </a:rPr>
                      <m:t>+</m:t>
                    </m:r>
                    <m:f>
                      <m:fPr>
                        <m:ctrlPr>
                          <a:rPr lang="en-AU" sz="2400" b="0" i="1" smtClean="0">
                            <a:latin typeface="Cambria Math" panose="02040503050406030204" pitchFamily="18" charset="0"/>
                          </a:rPr>
                        </m:ctrlPr>
                      </m:fPr>
                      <m:num>
                        <m:r>
                          <a:rPr lang="en-AU" sz="2400" b="0" i="1" smtClean="0">
                            <a:latin typeface="Cambria Math" panose="02040503050406030204" pitchFamily="18" charset="0"/>
                          </a:rPr>
                          <m:t>3</m:t>
                        </m:r>
                        <m:r>
                          <a:rPr lang="en-AU" sz="2400" b="0" i="1" smtClean="0">
                            <a:latin typeface="Cambria Math" panose="02040503050406030204" pitchFamily="18" charset="0"/>
                          </a:rPr>
                          <m:t>𝑥</m:t>
                        </m:r>
                        <m:r>
                          <a:rPr lang="en-AU" sz="2400" b="0" i="1" smtClean="0">
                            <a:latin typeface="Cambria Math" panose="02040503050406030204" pitchFamily="18" charset="0"/>
                          </a:rPr>
                          <m:t>+2</m:t>
                        </m:r>
                      </m:num>
                      <m:den>
                        <m:r>
                          <a:rPr lang="en-AU" sz="2400" b="0" i="1" smtClean="0">
                            <a:latin typeface="Cambria Math" panose="02040503050406030204" pitchFamily="18" charset="0"/>
                          </a:rPr>
                          <m:t>4</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+4)</m:t>
                        </m:r>
                      </m:num>
                      <m:den>
                        <m:r>
                          <a:rPr lang="en-AU" sz="2400" b="0" i="1" smtClean="0">
                            <a:latin typeface="Cambria Math" panose="02040503050406030204" pitchFamily="18" charset="0"/>
                            <a:ea typeface="Cambria Math" panose="02040503050406030204" pitchFamily="18" charset="0"/>
                          </a:rPr>
                          <m:t>5×4</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5(3</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+2)</m:t>
                        </m:r>
                      </m:num>
                      <m:den>
                        <m:r>
                          <a:rPr lang="en-AU" sz="2400" b="0" i="1" smtClean="0">
                            <a:latin typeface="Cambria Math" panose="02040503050406030204" pitchFamily="18" charset="0"/>
                            <a:ea typeface="Cambria Math" panose="02040503050406030204" pitchFamily="18" charset="0"/>
                          </a:rPr>
                          <m:t>4×5</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4</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+16+15</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+10</m:t>
                        </m:r>
                      </m:num>
                      <m:den>
                        <m:r>
                          <a:rPr lang="en-AU" sz="2400" b="0" i="1" smtClean="0">
                            <a:latin typeface="Cambria Math" panose="02040503050406030204" pitchFamily="18" charset="0"/>
                            <a:ea typeface="Cambria Math" panose="02040503050406030204" pitchFamily="18" charset="0"/>
                          </a:rPr>
                          <m:t>20</m:t>
                        </m:r>
                      </m:den>
                    </m:f>
                    <m:r>
                      <a:rPr lang="en-AU" sz="2400" b="0" i="1" smtClean="0">
                        <a:latin typeface="Cambria Math" panose="02040503050406030204" pitchFamily="18" charset="0"/>
                        <a:ea typeface="Cambria Math" panose="02040503050406030204" pitchFamily="18" charset="0"/>
                      </a:rPr>
                      <m:t>=</m:t>
                    </m:r>
                    <m:f>
                      <m:fPr>
                        <m:ctrlPr>
                          <a:rPr lang="en-AU" sz="2400" b="0" i="1" smtClean="0">
                            <a:latin typeface="Cambria Math" panose="02040503050406030204" pitchFamily="18" charset="0"/>
                            <a:ea typeface="Cambria Math" panose="02040503050406030204" pitchFamily="18" charset="0"/>
                          </a:rPr>
                        </m:ctrlPr>
                      </m:fPr>
                      <m:num>
                        <m:r>
                          <a:rPr lang="en-AU" sz="2400" b="0" i="1" smtClean="0">
                            <a:latin typeface="Cambria Math" panose="02040503050406030204" pitchFamily="18" charset="0"/>
                            <a:ea typeface="Cambria Math" panose="02040503050406030204" pitchFamily="18" charset="0"/>
                          </a:rPr>
                          <m:t>19</m:t>
                        </m:r>
                        <m:r>
                          <a:rPr lang="en-AU" sz="2400" b="0" i="1" smtClean="0">
                            <a:latin typeface="Cambria Math" panose="02040503050406030204" pitchFamily="18" charset="0"/>
                            <a:ea typeface="Cambria Math" panose="02040503050406030204" pitchFamily="18" charset="0"/>
                          </a:rPr>
                          <m:t>𝑥</m:t>
                        </m:r>
                        <m:r>
                          <a:rPr lang="en-AU" sz="2400" b="0" i="1" smtClean="0">
                            <a:latin typeface="Cambria Math" panose="02040503050406030204" pitchFamily="18" charset="0"/>
                            <a:ea typeface="Cambria Math" panose="02040503050406030204" pitchFamily="18" charset="0"/>
                          </a:rPr>
                          <m:t>+26</m:t>
                        </m:r>
                      </m:num>
                      <m:den>
                        <m:r>
                          <a:rPr lang="en-AU" sz="2400" b="0" i="1" smtClean="0">
                            <a:latin typeface="Cambria Math" panose="02040503050406030204" pitchFamily="18" charset="0"/>
                            <a:ea typeface="Cambria Math" panose="02040503050406030204" pitchFamily="18" charset="0"/>
                          </a:rPr>
                          <m:t>20</m:t>
                        </m:r>
                      </m:den>
                    </m:f>
                  </m:oMath>
                </a14:m>
                <a:endParaRPr lang="en-GB" sz="2400" dirty="0"/>
              </a:p>
            </p:txBody>
          </p:sp>
        </mc:Choice>
        <mc:Fallback>
          <p:sp>
            <p:nvSpPr>
              <p:cNvPr id="5" name="TextBox 4"/>
              <p:cNvSpPr txBox="1">
                <a:spLocks noRot="1" noChangeAspect="1" noMove="1" noResize="1" noEditPoints="1" noAdjustHandles="1" noChangeArrowheads="1" noChangeShapeType="1" noTextEdit="1"/>
              </p:cNvSpPr>
              <p:nvPr/>
            </p:nvSpPr>
            <p:spPr>
              <a:xfrm>
                <a:off x="3347864" y="2492896"/>
                <a:ext cx="5400600" cy="2895408"/>
              </a:xfrm>
              <a:prstGeom prst="rect">
                <a:avLst/>
              </a:prstGeom>
              <a:blipFill>
                <a:blip r:embed="rId3"/>
                <a:stretch>
                  <a:fillRect l="-903" t="-1263"/>
                </a:stretch>
              </a:blipFill>
            </p:spPr>
            <p:txBody>
              <a:bodyPr/>
              <a:lstStyle/>
              <a:p>
                <a:r>
                  <a:rPr lang="en-GB">
                    <a:noFill/>
                  </a:rPr>
                  <a:t> </a:t>
                </a:r>
              </a:p>
            </p:txBody>
          </p:sp>
        </mc:Fallback>
      </mc:AlternateContent>
    </p:spTree>
    <p:extLst>
      <p:ext uri="{BB962C8B-B14F-4D97-AF65-F5344CB8AC3E}">
        <p14:creationId xmlns:p14="http://schemas.microsoft.com/office/powerpoint/2010/main" val="40909063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3</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a:t>
            </a:r>
            <a:r>
              <a:rPr lang="en-AU" sz="2400" dirty="0"/>
              <a:t>How to use Subtraction with algebraic fractions with numerical denominators.</a:t>
            </a:r>
            <a:endParaRPr lang="en-AU" sz="2400" dirty="0"/>
          </a:p>
        </p:txBody>
      </p:sp>
      <mc:AlternateContent xmlns:mc="http://schemas.openxmlformats.org/markup-compatibility/2006">
        <mc:Choice xmlns:a14="http://schemas.microsoft.com/office/drawing/2010/main" Requires="a14">
          <p:sp>
            <p:nvSpPr>
              <p:cNvPr id="3" name="TextBox 2"/>
              <p:cNvSpPr txBox="1"/>
              <p:nvPr/>
            </p:nvSpPr>
            <p:spPr>
              <a:xfrm>
                <a:off x="3593802" y="2189768"/>
                <a:ext cx="4824536" cy="3177986"/>
              </a:xfrm>
              <a:prstGeom prst="rect">
                <a:avLst/>
              </a:prstGeom>
              <a:noFill/>
            </p:spPr>
            <p:txBody>
              <a:bodyPr wrap="square" rtlCol="0">
                <a:spAutoFit/>
              </a:bodyPr>
              <a:lstStyle/>
              <a:p>
                <a:r>
                  <a:rPr lang="en-AU" dirty="0"/>
                  <a:t>Subtracting Algebraic Fractions has the same structure as subtracting numeric fractions. Once the denominators are the same you subtract the numerators. The result is then simplified to provide the final answer.</a:t>
                </a:r>
              </a:p>
              <a:p>
                <a:endParaRPr lang="en-AU" dirty="0"/>
              </a:p>
              <a:p>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AU" b="0" i="1" smtClean="0">
                              <a:latin typeface="Cambria Math" panose="02040503050406030204" pitchFamily="18" charset="0"/>
                            </a:rPr>
                            <m:t>5</m:t>
                          </m:r>
                          <m:r>
                            <a:rPr lang="en-AU" i="1">
                              <a:latin typeface="Cambria Math" panose="02040503050406030204" pitchFamily="18" charset="0"/>
                            </a:rPr>
                            <m:t>𝑎</m:t>
                          </m:r>
                        </m:num>
                        <m:den>
                          <m:r>
                            <a:rPr lang="en-AU" i="1">
                              <a:latin typeface="Cambria Math" panose="02040503050406030204" pitchFamily="18" charset="0"/>
                            </a:rPr>
                            <m:t>7</m:t>
                          </m:r>
                        </m:den>
                      </m:f>
                      <m:r>
                        <a:rPr lang="en-AU" b="0" i="1" smtClean="0">
                          <a:latin typeface="Cambria Math" panose="02040503050406030204" pitchFamily="18" charset="0"/>
                        </a:rPr>
                        <m:t>−</m:t>
                      </m:r>
                      <m:f>
                        <m:fPr>
                          <m:ctrlPr>
                            <a:rPr lang="en-AU" i="1">
                              <a:latin typeface="Cambria Math" panose="02040503050406030204" pitchFamily="18" charset="0"/>
                            </a:rPr>
                          </m:ctrlPr>
                        </m:fPr>
                        <m:num>
                          <m:r>
                            <a:rPr lang="en-AU" b="0" i="1" smtClean="0">
                              <a:latin typeface="Cambria Math" panose="02040503050406030204" pitchFamily="18" charset="0"/>
                            </a:rPr>
                            <m:t>4</m:t>
                          </m:r>
                          <m:r>
                            <a:rPr lang="en-AU" i="1">
                              <a:latin typeface="Cambria Math" panose="02040503050406030204" pitchFamily="18" charset="0"/>
                            </a:rPr>
                            <m:t>𝑎</m:t>
                          </m:r>
                        </m:num>
                        <m:den>
                          <m:r>
                            <a:rPr lang="en-AU" i="1">
                              <a:latin typeface="Cambria Math" panose="02040503050406030204" pitchFamily="18" charset="0"/>
                            </a:rPr>
                            <m:t>7</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m:t>
                          </m:r>
                          <m:r>
                            <a:rPr lang="en-AU" i="1">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−4</m:t>
                          </m:r>
                          <m:r>
                            <a:rPr lang="en-AU" i="1">
                              <a:latin typeface="Cambria Math" panose="02040503050406030204" pitchFamily="18" charset="0"/>
                              <a:ea typeface="Cambria Math" panose="02040503050406030204" pitchFamily="18" charset="0"/>
                            </a:rPr>
                            <m:t>𝑎</m:t>
                          </m:r>
                        </m:num>
                        <m:den>
                          <m:r>
                            <a:rPr lang="en-AU" i="1">
                              <a:latin typeface="Cambria Math" panose="02040503050406030204" pitchFamily="18" charset="0"/>
                              <a:ea typeface="Cambria Math" panose="02040503050406030204" pitchFamily="18" charset="0"/>
                            </a:rPr>
                            <m:t>7</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𝑎</m:t>
                          </m:r>
                        </m:num>
                        <m:den>
                          <m:r>
                            <a:rPr lang="en-AU" i="1">
                              <a:latin typeface="Cambria Math" panose="02040503050406030204" pitchFamily="18" charset="0"/>
                              <a:ea typeface="Cambria Math" panose="02040503050406030204" pitchFamily="18" charset="0"/>
                            </a:rPr>
                            <m:t>7</m:t>
                          </m:r>
                        </m:den>
                      </m:f>
                    </m:oMath>
                  </m:oMathPara>
                </a14:m>
                <a:endParaRPr lang="en-GB" dirty="0"/>
              </a:p>
              <a:p>
                <a:endParaRPr lang="en-AU" dirty="0"/>
              </a:p>
              <a:p>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𝑥</m:t>
                          </m:r>
                          <m:r>
                            <a:rPr lang="en-AU" b="0" i="1" smtClean="0">
                              <a:latin typeface="Cambria Math" panose="02040503050406030204" pitchFamily="18" charset="0"/>
                            </a:rPr>
                            <m:t>+5</m:t>
                          </m:r>
                        </m:num>
                        <m:den>
                          <m:r>
                            <a:rPr lang="en-AU" b="0" i="1" smtClean="0">
                              <a:latin typeface="Cambria Math" panose="02040503050406030204" pitchFamily="18" charset="0"/>
                            </a:rPr>
                            <m:t>4</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sSup>
                            <m:sSupPr>
                              <m:ctrlPr>
                                <a:rPr lang="en-AU" b="0" i="1" smtClean="0">
                                  <a:latin typeface="Cambria Math" panose="02040503050406030204" pitchFamily="18" charset="0"/>
                                </a:rPr>
                              </m:ctrlPr>
                            </m:sSupPr>
                            <m:e>
                              <m:r>
                                <a:rPr lang="en-AU" b="0" i="1" smtClean="0">
                                  <a:latin typeface="Cambria Math" panose="02040503050406030204" pitchFamily="18" charset="0"/>
                                </a:rPr>
                                <m:t>𝑥</m:t>
                              </m:r>
                            </m:e>
                            <m:sup>
                              <m:r>
                                <a:rPr lang="en-AU" b="0" i="1" smtClean="0">
                                  <a:latin typeface="Cambria Math" panose="02040503050406030204" pitchFamily="18" charset="0"/>
                                </a:rPr>
                                <m:t>2</m:t>
                              </m:r>
                            </m:sup>
                          </m:sSup>
                        </m:num>
                        <m:den>
                          <m:r>
                            <a:rPr lang="en-AU" b="0" i="1" smtClean="0">
                              <a:latin typeface="Cambria Math" panose="02040503050406030204" pitchFamily="18" charset="0"/>
                            </a:rPr>
                            <m:t>4</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+5−</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4</m:t>
                          </m:r>
                        </m:den>
                      </m:f>
                    </m:oMath>
                  </m:oMathPara>
                </a14:m>
                <a:endParaRPr lang="en-GB" dirty="0"/>
              </a:p>
            </p:txBody>
          </p:sp>
        </mc:Choice>
        <mc:Fallback>
          <p:sp>
            <p:nvSpPr>
              <p:cNvPr id="3" name="TextBox 2"/>
              <p:cNvSpPr txBox="1">
                <a:spLocks noRot="1" noChangeAspect="1" noMove="1" noResize="1" noEditPoints="1" noAdjustHandles="1" noChangeArrowheads="1" noChangeShapeType="1" noTextEdit="1"/>
              </p:cNvSpPr>
              <p:nvPr/>
            </p:nvSpPr>
            <p:spPr>
              <a:xfrm>
                <a:off x="3593802" y="2189768"/>
                <a:ext cx="4824536" cy="3177986"/>
              </a:xfrm>
              <a:prstGeom prst="rect">
                <a:avLst/>
              </a:prstGeom>
              <a:blipFill>
                <a:blip r:embed="rId3"/>
                <a:stretch>
                  <a:fillRect l="-1138" t="-958"/>
                </a:stretch>
              </a:blipFill>
            </p:spPr>
            <p:txBody>
              <a:bodyPr/>
              <a:lstStyle/>
              <a:p>
                <a:r>
                  <a:rPr lang="en-GB">
                    <a:noFill/>
                  </a:rPr>
                  <a:t> </a:t>
                </a:r>
              </a:p>
            </p:txBody>
          </p:sp>
        </mc:Fallback>
      </mc:AlternateContent>
    </p:spTree>
    <p:extLst>
      <p:ext uri="{BB962C8B-B14F-4D97-AF65-F5344CB8AC3E}">
        <p14:creationId xmlns:p14="http://schemas.microsoft.com/office/powerpoint/2010/main" val="2333002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4</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a:t>
            </a:r>
            <a:r>
              <a:rPr lang="en-AU" sz="2400" dirty="0"/>
              <a:t>How to use Subtraction with algebraic fractions with numerical denominators.</a:t>
            </a:r>
            <a:endParaRPr lang="en-AU" sz="2400" dirty="0"/>
          </a:p>
        </p:txBody>
      </p:sp>
      <mc:AlternateContent xmlns:mc="http://schemas.openxmlformats.org/markup-compatibility/2006">
        <mc:Choice xmlns:a14="http://schemas.microsoft.com/office/drawing/2010/main" Requires="a14">
          <p:sp>
            <p:nvSpPr>
              <p:cNvPr id="3" name="TextBox 2"/>
              <p:cNvSpPr txBox="1"/>
              <p:nvPr/>
            </p:nvSpPr>
            <p:spPr>
              <a:xfrm>
                <a:off x="3593802" y="2189768"/>
                <a:ext cx="4824536" cy="4404667"/>
              </a:xfrm>
              <a:prstGeom prst="rect">
                <a:avLst/>
              </a:prstGeom>
              <a:noFill/>
            </p:spPr>
            <p:txBody>
              <a:bodyPr wrap="square" rtlCol="0">
                <a:spAutoFit/>
              </a:bodyPr>
              <a:lstStyle/>
              <a:p>
                <a:r>
                  <a:rPr lang="en-AU" dirty="0"/>
                  <a:t>When the denominators are different, first make the denominators the same then subtract the numerators.</a:t>
                </a:r>
              </a:p>
              <a:p>
                <a:endParaRPr lang="en-AU" dirty="0"/>
              </a:p>
              <a:p>
                <a:pPr/>
                <a14:m>
                  <m:oMathPara xmlns:m="http://schemas.openxmlformats.org/officeDocument/2006/math">
                    <m:oMathParaPr>
                      <m:jc m:val="centerGroup"/>
                    </m:oMathParaPr>
                    <m:oMath xmlns:m="http://schemas.openxmlformats.org/officeDocument/2006/math">
                      <m:f>
                        <m:fPr>
                          <m:ctrlPr>
                            <a:rPr lang="en-GB" i="1">
                              <a:latin typeface="Cambria Math" panose="02040503050406030204" pitchFamily="18" charset="0"/>
                            </a:rPr>
                          </m:ctrlPr>
                        </m:fPr>
                        <m:num>
                          <m:r>
                            <a:rPr lang="en-AU" i="1">
                              <a:latin typeface="Cambria Math" panose="02040503050406030204" pitchFamily="18" charset="0"/>
                            </a:rPr>
                            <m:t>2</m:t>
                          </m:r>
                          <m:r>
                            <a:rPr lang="en-AU" i="1">
                              <a:latin typeface="Cambria Math" panose="02040503050406030204" pitchFamily="18" charset="0"/>
                            </a:rPr>
                            <m:t>𝑏</m:t>
                          </m:r>
                        </m:num>
                        <m:den>
                          <m:r>
                            <a:rPr lang="en-AU" i="1">
                              <a:latin typeface="Cambria Math" panose="02040503050406030204" pitchFamily="18" charset="0"/>
                            </a:rPr>
                            <m:t>3</m:t>
                          </m:r>
                        </m:den>
                      </m:f>
                      <m:r>
                        <a:rPr lang="en-AU" b="0" i="1" smtClean="0">
                          <a:latin typeface="Cambria Math" panose="02040503050406030204" pitchFamily="18" charset="0"/>
                        </a:rPr>
                        <m:t>−</m:t>
                      </m:r>
                      <m:f>
                        <m:fPr>
                          <m:ctrlPr>
                            <a:rPr lang="en-AU" i="1">
                              <a:latin typeface="Cambria Math" panose="02040503050406030204" pitchFamily="18" charset="0"/>
                            </a:rPr>
                          </m:ctrlPr>
                        </m:fPr>
                        <m:num>
                          <m:r>
                            <a:rPr lang="en-AU" i="1">
                              <a:latin typeface="Cambria Math" panose="02040503050406030204" pitchFamily="18" charset="0"/>
                            </a:rPr>
                            <m:t>𝑏</m:t>
                          </m:r>
                        </m:num>
                        <m:den>
                          <m:r>
                            <a:rPr lang="en-AU" i="1">
                              <a:latin typeface="Cambria Math" panose="02040503050406030204" pitchFamily="18" charset="0"/>
                            </a:rPr>
                            <m:t>4</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2</m:t>
                          </m:r>
                          <m:r>
                            <a:rPr lang="en-AU" i="1">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×4</m:t>
                          </m:r>
                        </m:num>
                        <m:den>
                          <m:r>
                            <a:rPr lang="en-AU" i="1">
                              <a:latin typeface="Cambria Math" panose="02040503050406030204" pitchFamily="18" charset="0"/>
                              <a:ea typeface="Cambria Math" panose="02040503050406030204" pitchFamily="18" charset="0"/>
                            </a:rPr>
                            <m:t>3×4</m:t>
                          </m:r>
                        </m:den>
                      </m:f>
                      <m:r>
                        <a:rPr lang="en-AU" b="0" i="1" smtClean="0">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𝑏</m:t>
                          </m:r>
                          <m:r>
                            <a:rPr lang="en-AU" i="1">
                              <a:latin typeface="Cambria Math" panose="02040503050406030204" pitchFamily="18" charset="0"/>
                              <a:ea typeface="Cambria Math" panose="02040503050406030204" pitchFamily="18" charset="0"/>
                            </a:rPr>
                            <m:t>×3</m:t>
                          </m:r>
                        </m:num>
                        <m:den>
                          <m:r>
                            <a:rPr lang="en-AU" i="1">
                              <a:latin typeface="Cambria Math" panose="02040503050406030204" pitchFamily="18" charset="0"/>
                              <a:ea typeface="Cambria Math" panose="02040503050406030204" pitchFamily="18" charset="0"/>
                            </a:rPr>
                            <m:t>4×3</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i="1">
                              <a:latin typeface="Cambria Math" panose="02040503050406030204" pitchFamily="18" charset="0"/>
                              <a:ea typeface="Cambria Math" panose="02040503050406030204" pitchFamily="18" charset="0"/>
                            </a:rPr>
                            <m:t>8</m:t>
                          </m:r>
                          <m:r>
                            <a:rPr lang="en-AU" i="1">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r>
                            <a:rPr lang="en-AU" i="1">
                              <a:latin typeface="Cambria Math" panose="02040503050406030204" pitchFamily="18" charset="0"/>
                              <a:ea typeface="Cambria Math" panose="02040503050406030204" pitchFamily="18" charset="0"/>
                            </a:rPr>
                            <m:t>3</m:t>
                          </m:r>
                          <m:r>
                            <a:rPr lang="en-AU" i="1">
                              <a:latin typeface="Cambria Math" panose="02040503050406030204" pitchFamily="18" charset="0"/>
                              <a:ea typeface="Cambria Math" panose="02040503050406030204" pitchFamily="18" charset="0"/>
                            </a:rPr>
                            <m:t>𝑏</m:t>
                          </m:r>
                        </m:num>
                        <m:den>
                          <m:r>
                            <a:rPr lang="en-AU" i="1">
                              <a:latin typeface="Cambria Math" panose="02040503050406030204" pitchFamily="18" charset="0"/>
                              <a:ea typeface="Cambria Math" panose="02040503050406030204" pitchFamily="18" charset="0"/>
                            </a:rPr>
                            <m:t>12</m:t>
                          </m:r>
                        </m:den>
                      </m:f>
                      <m:r>
                        <a:rPr lang="en-AU" i="1">
                          <a:latin typeface="Cambria Math" panose="02040503050406030204" pitchFamily="18" charset="0"/>
                          <a:ea typeface="Cambria Math" panose="02040503050406030204" pitchFamily="18" charset="0"/>
                        </a:rPr>
                        <m:t>=</m:t>
                      </m:r>
                      <m:f>
                        <m:fPr>
                          <m:ctrlPr>
                            <a:rPr lang="en-AU" i="1">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m:t>
                          </m:r>
                          <m:r>
                            <a:rPr lang="en-AU" i="1">
                              <a:latin typeface="Cambria Math" panose="02040503050406030204" pitchFamily="18" charset="0"/>
                              <a:ea typeface="Cambria Math" panose="02040503050406030204" pitchFamily="18" charset="0"/>
                            </a:rPr>
                            <m:t>𝑏</m:t>
                          </m:r>
                        </m:num>
                        <m:den>
                          <m:r>
                            <a:rPr lang="en-AU" i="1">
                              <a:latin typeface="Cambria Math" panose="02040503050406030204" pitchFamily="18" charset="0"/>
                              <a:ea typeface="Cambria Math" panose="02040503050406030204" pitchFamily="18" charset="0"/>
                            </a:rPr>
                            <m:t>12</m:t>
                          </m:r>
                        </m:den>
                      </m:f>
                    </m:oMath>
                  </m:oMathPara>
                </a14:m>
                <a:endParaRPr lang="en-GB" dirty="0"/>
              </a:p>
              <a:p>
                <a:pPr/>
                <a:endParaRPr lang="en-AU" dirty="0"/>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4</m:t>
                          </m:r>
                          <m:r>
                            <a:rPr lang="en-AU" b="0" i="1" smtClean="0">
                              <a:latin typeface="Cambria Math" panose="02040503050406030204" pitchFamily="18" charset="0"/>
                            </a:rPr>
                            <m:t>𝑠</m:t>
                          </m:r>
                          <m:r>
                            <a:rPr lang="en-AU" b="0" i="1" smtClean="0">
                              <a:latin typeface="Cambria Math" panose="02040503050406030204" pitchFamily="18" charset="0"/>
                            </a:rPr>
                            <m:t>+3</m:t>
                          </m:r>
                          <m:r>
                            <a:rPr lang="en-AU" b="0" i="1" smtClean="0">
                              <a:latin typeface="Cambria Math" panose="02040503050406030204" pitchFamily="18" charset="0"/>
                            </a:rPr>
                            <m:t>𝑡</m:t>
                          </m:r>
                        </m:num>
                        <m:den>
                          <m:r>
                            <a:rPr lang="en-AU" b="0" i="1" smtClean="0">
                              <a:latin typeface="Cambria Math" panose="02040503050406030204" pitchFamily="18" charset="0"/>
                            </a:rPr>
                            <m:t>3</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𝑠</m:t>
                          </m:r>
                          <m:r>
                            <a:rPr lang="en-AU" b="0" i="1" smtClean="0">
                              <a:latin typeface="Cambria Math" panose="02040503050406030204" pitchFamily="18" charset="0"/>
                            </a:rPr>
                            <m:t>−</m:t>
                          </m:r>
                          <m:r>
                            <a:rPr lang="en-AU" b="0" i="1" smtClean="0">
                              <a:latin typeface="Cambria Math" panose="02040503050406030204" pitchFamily="18" charset="0"/>
                            </a:rPr>
                            <m:t>𝑡</m:t>
                          </m:r>
                        </m:num>
                        <m:den>
                          <m:r>
                            <a:rPr lang="en-AU" b="0" i="1" smtClean="0">
                              <a:latin typeface="Cambria Math" panose="02040503050406030204" pitchFamily="18" charset="0"/>
                            </a:rPr>
                            <m:t>4</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4(4</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3×4</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3(2</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4×3</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d>
                            <m:dPr>
                              <m:ctrlPr>
                                <a:rPr lang="en-AU" b="0" i="1" smtClean="0">
                                  <a:latin typeface="Cambria Math" panose="02040503050406030204" pitchFamily="18" charset="0"/>
                                  <a:ea typeface="Cambria Math" panose="02040503050406030204" pitchFamily="18" charset="0"/>
                                </a:rPr>
                              </m:ctrlPr>
                            </m:dPr>
                            <m:e>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e>
                          </m:d>
                          <m:r>
                            <a:rPr lang="en-AU" b="0" i="1" smtClean="0">
                              <a:latin typeface="Cambria Math" panose="02040503050406030204" pitchFamily="18" charset="0"/>
                              <a:ea typeface="Cambria Math" panose="02040503050406030204" pitchFamily="18" charset="0"/>
                            </a:rPr>
                            <m:t>−3(2</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12</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16</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num>
                        <m:den>
                          <m:r>
                            <a:rPr lang="en-AU" b="0" i="1" smtClean="0">
                              <a:latin typeface="Cambria Math" panose="02040503050406030204" pitchFamily="18" charset="0"/>
                              <a:ea typeface="Cambria Math" panose="02040503050406030204" pitchFamily="18" charset="0"/>
                            </a:rPr>
                            <m:t>12</m:t>
                          </m:r>
                        </m:den>
                      </m:f>
                    </m:oMath>
                  </m:oMathPara>
                </a14:m>
                <a:endParaRPr lang="en-GB" dirty="0"/>
              </a:p>
              <a:p>
                <a:pPr/>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10</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+15</m:t>
                          </m:r>
                          <m:r>
                            <a:rPr lang="en-AU" b="0" i="1" smtClean="0">
                              <a:latin typeface="Cambria Math" panose="02040503050406030204" pitchFamily="18" charset="0"/>
                              <a:ea typeface="Cambria Math" panose="02040503050406030204" pitchFamily="18" charset="0"/>
                            </a:rPr>
                            <m:t>𝑡</m:t>
                          </m:r>
                        </m:num>
                        <m:den>
                          <m:r>
                            <a:rPr lang="en-AU" b="0" i="1" smtClean="0">
                              <a:latin typeface="Cambria Math" panose="02040503050406030204" pitchFamily="18" charset="0"/>
                              <a:ea typeface="Cambria Math" panose="02040503050406030204" pitchFamily="18" charset="0"/>
                            </a:rPr>
                            <m:t>12</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5(2</m:t>
                          </m:r>
                          <m:r>
                            <a:rPr lang="en-AU" b="0" i="1" smtClean="0">
                              <a:latin typeface="Cambria Math" panose="02040503050406030204" pitchFamily="18" charset="0"/>
                              <a:ea typeface="Cambria Math" panose="02040503050406030204" pitchFamily="18" charset="0"/>
                            </a:rPr>
                            <m:t>𝑠</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𝑡</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12</m:t>
                          </m:r>
                        </m:den>
                      </m:f>
                    </m:oMath>
                  </m:oMathPara>
                </a14:m>
                <a:endParaRPr lang="en-GB" dirty="0"/>
              </a:p>
              <a:p>
                <a:endParaRPr lang="en-GB" dirty="0"/>
              </a:p>
            </p:txBody>
          </p:sp>
        </mc:Choice>
        <mc:Fallback>
          <p:sp>
            <p:nvSpPr>
              <p:cNvPr id="3" name="TextBox 2"/>
              <p:cNvSpPr txBox="1">
                <a:spLocks noRot="1" noChangeAspect="1" noMove="1" noResize="1" noEditPoints="1" noAdjustHandles="1" noChangeArrowheads="1" noChangeShapeType="1" noTextEdit="1"/>
              </p:cNvSpPr>
              <p:nvPr/>
            </p:nvSpPr>
            <p:spPr>
              <a:xfrm>
                <a:off x="3593802" y="2189768"/>
                <a:ext cx="4824536" cy="4404667"/>
              </a:xfrm>
              <a:prstGeom prst="rect">
                <a:avLst/>
              </a:prstGeom>
              <a:blipFill>
                <a:blip r:embed="rId3"/>
                <a:stretch>
                  <a:fillRect l="-1138" t="-692"/>
                </a:stretch>
              </a:blipFill>
            </p:spPr>
            <p:txBody>
              <a:bodyPr/>
              <a:lstStyle/>
              <a:p>
                <a:r>
                  <a:rPr lang="en-GB">
                    <a:noFill/>
                  </a:rPr>
                  <a:t> </a:t>
                </a:r>
              </a:p>
            </p:txBody>
          </p:sp>
        </mc:Fallback>
      </mc:AlternateContent>
    </p:spTree>
    <p:extLst>
      <p:ext uri="{BB962C8B-B14F-4D97-AF65-F5344CB8AC3E}">
        <p14:creationId xmlns:p14="http://schemas.microsoft.com/office/powerpoint/2010/main" val="21785687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5</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a:t>
            </a:r>
            <a:r>
              <a:rPr lang="en-AU" sz="2400" dirty="0"/>
              <a:t>How to use multiplication with algebraic fractions with numerical denominators.</a:t>
            </a:r>
            <a:endParaRPr lang="en-AU" sz="2400" dirty="0"/>
          </a:p>
        </p:txBody>
      </p:sp>
      <mc:AlternateContent xmlns:mc="http://schemas.openxmlformats.org/markup-compatibility/2006">
        <mc:Choice xmlns:a14="http://schemas.microsoft.com/office/drawing/2010/main" Requires="a14">
          <p:sp>
            <p:nvSpPr>
              <p:cNvPr id="5" name="TextBox 4"/>
              <p:cNvSpPr txBox="1"/>
              <p:nvPr/>
            </p:nvSpPr>
            <p:spPr>
              <a:xfrm>
                <a:off x="3428400" y="2189768"/>
                <a:ext cx="5320064" cy="4263283"/>
              </a:xfrm>
              <a:prstGeom prst="rect">
                <a:avLst/>
              </a:prstGeom>
              <a:noFill/>
            </p:spPr>
            <p:txBody>
              <a:bodyPr wrap="square" rtlCol="0">
                <a:spAutoFit/>
              </a:bodyPr>
              <a:lstStyle/>
              <a:p>
                <a:r>
                  <a:rPr lang="en-AU" dirty="0"/>
                  <a:t>Multiplying Algebraic Fractions has the same structure as multiplying numeric fractions. The numerator are multiplied together and the denominators are multiplied together. The result is then simplified to provide the final answer.</a:t>
                </a:r>
              </a:p>
              <a:p>
                <a:pPr/>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5</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3×5</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4</m:t>
                          </m:r>
                          <m:r>
                            <a:rPr lang="en-AU" b="0" i="1" smtClean="0">
                              <a:latin typeface="Cambria Math" panose="02040503050406030204" pitchFamily="18" charset="0"/>
                              <a:ea typeface="Cambria Math" panose="02040503050406030204" pitchFamily="18" charset="0"/>
                            </a:rPr>
                            <m:t>𝑎𝑏</m:t>
                          </m:r>
                        </m:num>
                        <m:den>
                          <m:r>
                            <a:rPr lang="en-AU" b="0" i="1" smtClean="0">
                              <a:latin typeface="Cambria Math" panose="02040503050406030204" pitchFamily="18" charset="0"/>
                              <a:ea typeface="Cambria Math" panose="02040503050406030204" pitchFamily="18" charset="0"/>
                            </a:rPr>
                            <m:t>15</m:t>
                          </m:r>
                        </m:den>
                      </m:f>
                    </m:oMath>
                  </m:oMathPara>
                </a14:m>
                <a:endParaRPr lang="en-GB" dirty="0"/>
              </a:p>
              <a:p>
                <a:endParaRPr lang="en-AU" dirty="0"/>
              </a:p>
              <a:p>
                <a14:m>
                  <m:oMathPara xmlns:m="http://schemas.openxmlformats.org/officeDocument/2006/math">
                    <m:oMathParaPr>
                      <m:jc m:val="centerGroup"/>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r>
                            <a:rPr lang="en-AU" b="0" i="1" smtClean="0">
                              <a:latin typeface="Cambria Math" panose="02040503050406030204" pitchFamily="18" charset="0"/>
                            </a:rPr>
                            <m:t>+2</m:t>
                          </m:r>
                          <m:r>
                            <a:rPr lang="en-AU" b="0" i="1" smtClean="0">
                              <a:latin typeface="Cambria Math" panose="02040503050406030204" pitchFamily="18" charset="0"/>
                            </a:rPr>
                            <m:t>𝑏</m:t>
                          </m:r>
                        </m:num>
                        <m:den>
                          <m:r>
                            <a:rPr lang="en-AU" b="0" i="1" smtClean="0">
                              <a:latin typeface="Cambria Math" panose="02040503050406030204" pitchFamily="18" charset="0"/>
                            </a:rPr>
                            <m:t>3</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num>
                        <m:den>
                          <m:r>
                            <a:rPr lang="en-AU" b="0" i="1" smtClean="0">
                              <a:latin typeface="Cambria Math" panose="02040503050406030204" pitchFamily="18" charset="0"/>
                              <a:ea typeface="Cambria Math" panose="02040503050406030204" pitchFamily="18" charset="0"/>
                            </a:rPr>
                            <m:t>2</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𝑏</m:t>
                          </m:r>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3×2</m:t>
                          </m:r>
                        </m:den>
                      </m:f>
                    </m:oMath>
                  </m:oMathPara>
                </a14:m>
                <a:endParaRPr lang="en-GB" dirty="0"/>
              </a:p>
              <a:p>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den>
                      </m:f>
                    </m:oMath>
                  </m:oMathPara>
                </a14:m>
                <a:endParaRPr lang="en-GB" dirty="0"/>
              </a:p>
              <a:p>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+12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num>
                        <m:den>
                          <m:r>
                            <a:rPr lang="en-AU" b="0" i="1" smtClean="0">
                              <a:latin typeface="Cambria Math" panose="02040503050406030204" pitchFamily="18" charset="0"/>
                              <a:ea typeface="Cambria Math" panose="02040503050406030204" pitchFamily="18" charset="0"/>
                            </a:rPr>
                            <m:t>6</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m:t>
                          </m:r>
                        </m:num>
                        <m:den>
                          <m:r>
                            <a:rPr lang="en-AU" b="0" i="1" smtClean="0">
                              <a:latin typeface="Cambria Math" panose="02040503050406030204" pitchFamily="18" charset="0"/>
                              <a:ea typeface="Cambria Math" panose="02040503050406030204" pitchFamily="18" charset="0"/>
                            </a:rPr>
                            <m:t>6</m:t>
                          </m:r>
                        </m:den>
                      </m:f>
                    </m:oMath>
                  </m:oMathPara>
                </a14:m>
                <a:endParaRPr lang="en-GB" dirty="0"/>
              </a:p>
              <a:p>
                <a14:m>
                  <m:oMathPara xmlns:m="http://schemas.openxmlformats.org/officeDocument/2006/math">
                    <m:oMathParaPr>
                      <m:jc m:val="centerGroup"/>
                    </m:oMathParaPr>
                    <m:oMath xmlns:m="http://schemas.openxmlformats.org/officeDocument/2006/math">
                      <m:r>
                        <a:rPr lang="en-GB" i="1" smtClean="0">
                          <a:latin typeface="Cambria Math" panose="02040503050406030204" pitchFamily="18" charset="0"/>
                          <a:ea typeface="Cambria Math" panose="02040503050406030204" pitchFamily="18" charset="0"/>
                        </a:rPr>
                        <m:t>=</m:t>
                      </m:r>
                      <m:sSup>
                        <m:sSupPr>
                          <m:ctrlPr>
                            <a:rPr lang="en-GB"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𝑎</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𝑎𝑏</m:t>
                      </m:r>
                      <m:r>
                        <a:rPr lang="en-AU" b="0" i="1" smtClean="0">
                          <a:latin typeface="Cambria Math" panose="02040503050406030204" pitchFamily="18" charset="0"/>
                          <a:ea typeface="Cambria Math" panose="02040503050406030204" pitchFamily="18" charset="0"/>
                        </a:rPr>
                        <m:t>+</m:t>
                      </m:r>
                      <m:sSup>
                        <m:sSupPr>
                          <m:ctrlPr>
                            <a:rPr lang="en-AU" b="0"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𝑏</m:t>
                          </m:r>
                        </m:e>
                        <m:sup>
                          <m:r>
                            <a:rPr lang="en-AU" b="0" i="1" smtClean="0">
                              <a:latin typeface="Cambria Math" panose="02040503050406030204" pitchFamily="18" charset="0"/>
                              <a:ea typeface="Cambria Math" panose="02040503050406030204" pitchFamily="18" charset="0"/>
                            </a:rPr>
                            <m:t>2</m:t>
                          </m:r>
                        </m:sup>
                      </m:sSup>
                    </m:oMath>
                  </m:oMathPara>
                </a14:m>
                <a:endParaRPr lang="en-GB" dirty="0"/>
              </a:p>
            </p:txBody>
          </p:sp>
        </mc:Choice>
        <mc:Fallback>
          <p:sp>
            <p:nvSpPr>
              <p:cNvPr id="5" name="TextBox 4"/>
              <p:cNvSpPr txBox="1">
                <a:spLocks noRot="1" noChangeAspect="1" noMove="1" noResize="1" noEditPoints="1" noAdjustHandles="1" noChangeArrowheads="1" noChangeShapeType="1" noTextEdit="1"/>
              </p:cNvSpPr>
              <p:nvPr/>
            </p:nvSpPr>
            <p:spPr>
              <a:xfrm>
                <a:off x="3428400" y="2189768"/>
                <a:ext cx="5320064" cy="4263283"/>
              </a:xfrm>
              <a:prstGeom prst="rect">
                <a:avLst/>
              </a:prstGeom>
              <a:blipFill>
                <a:blip r:embed="rId3"/>
                <a:stretch>
                  <a:fillRect l="-916" t="-714" r="-229"/>
                </a:stretch>
              </a:blipFill>
            </p:spPr>
            <p:txBody>
              <a:bodyPr/>
              <a:lstStyle/>
              <a:p>
                <a:r>
                  <a:rPr lang="en-GB">
                    <a:noFill/>
                  </a:rPr>
                  <a:t> </a:t>
                </a:r>
              </a:p>
            </p:txBody>
          </p:sp>
        </mc:Fallback>
      </mc:AlternateContent>
    </p:spTree>
    <p:extLst>
      <p:ext uri="{BB962C8B-B14F-4D97-AF65-F5344CB8AC3E}">
        <p14:creationId xmlns:p14="http://schemas.microsoft.com/office/powerpoint/2010/main" val="7958767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48464" y="6488668"/>
            <a:ext cx="549775" cy="369332"/>
          </a:xfrm>
          <a:prstGeom prst="rect">
            <a:avLst/>
          </a:prstGeom>
          <a:noFill/>
        </p:spPr>
        <p:txBody>
          <a:bodyPr wrap="square" rtlCol="0">
            <a:spAutoFit/>
          </a:bodyPr>
          <a:lstStyle/>
          <a:p>
            <a:r>
              <a:rPr lang="en-AU" dirty="0"/>
              <a:t> 6</a:t>
            </a:r>
          </a:p>
        </p:txBody>
      </p:sp>
      <p:cxnSp>
        <p:nvCxnSpPr>
          <p:cNvPr id="4" name="Straight Connector 3"/>
          <p:cNvCxnSpPr/>
          <p:nvPr/>
        </p:nvCxnSpPr>
        <p:spPr>
          <a:xfrm>
            <a:off x="0" y="980728"/>
            <a:ext cx="9144000" cy="0"/>
          </a:xfrm>
          <a:prstGeom prst="line">
            <a:avLst/>
          </a:prstGeom>
        </p:spPr>
        <p:style>
          <a:lnRef idx="1">
            <a:schemeClr val="accent2"/>
          </a:lnRef>
          <a:fillRef idx="0">
            <a:schemeClr val="accent2"/>
          </a:fillRef>
          <a:effectRef idx="0">
            <a:schemeClr val="accent2"/>
          </a:effectRef>
          <a:fontRef idx="minor">
            <a:schemeClr val="tx1"/>
          </a:fontRef>
        </p:style>
      </p:cxnSp>
      <p:cxnSp>
        <p:nvCxnSpPr>
          <p:cNvPr id="6" name="Straight Connector 5"/>
          <p:cNvCxnSpPr/>
          <p:nvPr/>
        </p:nvCxnSpPr>
        <p:spPr>
          <a:xfrm>
            <a:off x="0" y="1916832"/>
            <a:ext cx="9144000" cy="0"/>
          </a:xfrm>
          <a:prstGeom prst="line">
            <a:avLst/>
          </a:prstGeom>
        </p:spPr>
        <p:style>
          <a:lnRef idx="1">
            <a:schemeClr val="accent2"/>
          </a:lnRef>
          <a:fillRef idx="0">
            <a:schemeClr val="accent2"/>
          </a:fillRef>
          <a:effectRef idx="0">
            <a:schemeClr val="accent2"/>
          </a:effectRef>
          <a:fontRef idx="minor">
            <a:schemeClr val="tx1"/>
          </a:fontRef>
        </p:style>
      </p:cxnSp>
      <p:sp>
        <p:nvSpPr>
          <p:cNvPr id="7" name="TextBox 6"/>
          <p:cNvSpPr txBox="1"/>
          <p:nvPr/>
        </p:nvSpPr>
        <p:spPr>
          <a:xfrm>
            <a:off x="93471" y="149731"/>
            <a:ext cx="576064" cy="830997"/>
          </a:xfrm>
          <a:prstGeom prst="rect">
            <a:avLst/>
          </a:prstGeom>
          <a:noFill/>
        </p:spPr>
        <p:txBody>
          <a:bodyPr wrap="square" rtlCol="0">
            <a:spAutoFit/>
          </a:bodyPr>
          <a:lstStyle/>
          <a:p>
            <a:r>
              <a:rPr lang="en-AU" sz="1600" dirty="0"/>
              <a:t>24</a:t>
            </a:r>
          </a:p>
          <a:p>
            <a:r>
              <a:rPr lang="en-AU" sz="1600" dirty="0"/>
              <a:t>7</a:t>
            </a:r>
          </a:p>
          <a:p>
            <a:r>
              <a:rPr lang="en-AU" sz="1600" dirty="0"/>
              <a:t>30</a:t>
            </a:r>
          </a:p>
        </p:txBody>
      </p:sp>
      <p:cxnSp>
        <p:nvCxnSpPr>
          <p:cNvPr id="9" name="Straight Connector 8"/>
          <p:cNvCxnSpPr/>
          <p:nvPr/>
        </p:nvCxnSpPr>
        <p:spPr>
          <a:xfrm>
            <a:off x="2915816" y="1916832"/>
            <a:ext cx="0" cy="5112568"/>
          </a:xfrm>
          <a:prstGeom prst="line">
            <a:avLst/>
          </a:prstGeom>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1115616" y="404664"/>
            <a:ext cx="2940164" cy="954107"/>
          </a:xfrm>
          <a:prstGeom prst="rect">
            <a:avLst/>
          </a:prstGeom>
          <a:noFill/>
        </p:spPr>
        <p:txBody>
          <a:bodyPr wrap="none" rtlCol="0">
            <a:spAutoFit/>
          </a:bodyPr>
          <a:lstStyle/>
          <a:p>
            <a:r>
              <a:rPr lang="en-AU" sz="2800" dirty="0"/>
              <a:t>Algebraic Fractions</a:t>
            </a:r>
          </a:p>
          <a:p>
            <a:endParaRPr lang="en-AU" sz="2800" dirty="0"/>
          </a:p>
        </p:txBody>
      </p:sp>
      <p:sp>
        <p:nvSpPr>
          <p:cNvPr id="11" name="TextBox 10"/>
          <p:cNvSpPr txBox="1"/>
          <p:nvPr/>
        </p:nvSpPr>
        <p:spPr>
          <a:xfrm>
            <a:off x="7439175" y="106354"/>
            <a:ext cx="1584176" cy="461665"/>
          </a:xfrm>
          <a:prstGeom prst="rect">
            <a:avLst/>
          </a:prstGeom>
          <a:noFill/>
        </p:spPr>
        <p:txBody>
          <a:bodyPr wrap="square" rtlCol="0">
            <a:spAutoFit/>
          </a:bodyPr>
          <a:lstStyle/>
          <a:p>
            <a:r>
              <a:rPr lang="en-AU" sz="2400" dirty="0"/>
              <a:t>Date</a:t>
            </a:r>
          </a:p>
        </p:txBody>
      </p:sp>
      <p:sp>
        <p:nvSpPr>
          <p:cNvPr id="12" name="TextBox 11"/>
          <p:cNvSpPr txBox="1"/>
          <p:nvPr/>
        </p:nvSpPr>
        <p:spPr>
          <a:xfrm>
            <a:off x="119514" y="1063436"/>
            <a:ext cx="8620422" cy="830997"/>
          </a:xfrm>
          <a:prstGeom prst="rect">
            <a:avLst/>
          </a:prstGeom>
          <a:noFill/>
        </p:spPr>
        <p:txBody>
          <a:bodyPr wrap="square" rtlCol="0">
            <a:spAutoFit/>
          </a:bodyPr>
          <a:lstStyle/>
          <a:p>
            <a:r>
              <a:rPr lang="en-AU" sz="2400" dirty="0"/>
              <a:t>EQ – </a:t>
            </a:r>
            <a:r>
              <a:rPr lang="en-AU" sz="2400" dirty="0"/>
              <a:t>How to use Division with algebraic fractions with numerical denominators.</a:t>
            </a:r>
            <a:endParaRPr lang="en-AU" sz="2400" dirty="0"/>
          </a:p>
        </p:txBody>
      </p:sp>
      <mc:AlternateContent xmlns:mc="http://schemas.openxmlformats.org/markup-compatibility/2006">
        <mc:Choice xmlns:a14="http://schemas.microsoft.com/office/drawing/2010/main" Requires="a14">
          <p:sp>
            <p:nvSpPr>
              <p:cNvPr id="3" name="TextBox 2"/>
              <p:cNvSpPr txBox="1"/>
              <p:nvPr/>
            </p:nvSpPr>
            <p:spPr>
              <a:xfrm>
                <a:off x="3203848" y="2420888"/>
                <a:ext cx="5536088" cy="3424079"/>
              </a:xfrm>
              <a:prstGeom prst="rect">
                <a:avLst/>
              </a:prstGeom>
              <a:noFill/>
            </p:spPr>
            <p:txBody>
              <a:bodyPr wrap="square" rtlCol="0">
                <a:spAutoFit/>
              </a:bodyPr>
              <a:lstStyle/>
              <a:p>
                <a:r>
                  <a:rPr lang="en-AU" dirty="0"/>
                  <a:t>Dividing Algebraic Fractions has the same structure as dividing numeric fractions. Use the reciprocal of the divisor then multiply.</a:t>
                </a:r>
              </a:p>
              <a:p>
                <a:endParaRPr lang="en-AU" dirty="0"/>
              </a:p>
              <a:p>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𝑎</m:t>
                          </m:r>
                        </m:num>
                        <m:den>
                          <m:r>
                            <a:rPr lang="en-AU" b="0" i="1" smtClean="0">
                              <a:latin typeface="Cambria Math" panose="02040503050406030204" pitchFamily="18" charset="0"/>
                            </a:rPr>
                            <m:t>3</m:t>
                          </m:r>
                        </m:den>
                      </m:f>
                      <m:r>
                        <a:rPr lang="en-AU"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5=</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3</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3×5</m:t>
                          </m:r>
                        </m:den>
                      </m:f>
                      <m:r>
                        <a:rPr lang="en-AU" b="0" i="1" smtClean="0">
                          <a:latin typeface="Cambria Math" panose="02040503050406030204" pitchFamily="18" charset="0"/>
                          <a:ea typeface="Cambria Math" panose="02040503050406030204" pitchFamily="18" charset="0"/>
                        </a:rPr>
                        <m:t>=</m:t>
                      </m:r>
                      <m:f>
                        <m:fPr>
                          <m:ctrlPr>
                            <a:rPr lang="en-AU" b="0"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𝑎</m:t>
                          </m:r>
                        </m:num>
                        <m:den>
                          <m:r>
                            <a:rPr lang="en-AU" b="0" i="1" smtClean="0">
                              <a:latin typeface="Cambria Math" panose="02040503050406030204" pitchFamily="18" charset="0"/>
                              <a:ea typeface="Cambria Math" panose="02040503050406030204" pitchFamily="18" charset="0"/>
                            </a:rPr>
                            <m:t>15</m:t>
                          </m:r>
                        </m:den>
                      </m:f>
                    </m:oMath>
                  </m:oMathPara>
                </a14:m>
                <a:endParaRPr lang="en-AU" dirty="0"/>
              </a:p>
              <a:p>
                <a:endParaRPr lang="en-AU" dirty="0"/>
              </a:p>
              <a:p>
                <a14:m>
                  <m:oMathPara xmlns:m="http://schemas.openxmlformats.org/officeDocument/2006/math">
                    <m:oMathParaPr>
                      <m:jc m:val="centerGroup"/>
                    </m:oMathParaPr>
                    <m:oMath xmlns:m="http://schemas.openxmlformats.org/officeDocument/2006/math">
                      <m:f>
                        <m:fPr>
                          <m:ctrlPr>
                            <a:rPr lang="en-AU" i="1" smtClean="0">
                              <a:latin typeface="Cambria Math" panose="02040503050406030204" pitchFamily="18" charset="0"/>
                            </a:rPr>
                          </m:ctrlPr>
                        </m:fPr>
                        <m:num>
                          <m:r>
                            <a:rPr lang="en-AU" b="0" i="1" smtClean="0">
                              <a:latin typeface="Cambria Math" panose="02040503050406030204" pitchFamily="18" charset="0"/>
                            </a:rPr>
                            <m:t>𝑥</m:t>
                          </m:r>
                          <m:r>
                            <a:rPr lang="en-AU" b="0" i="1" smtClean="0">
                              <a:latin typeface="Cambria Math" panose="02040503050406030204" pitchFamily="18" charset="0"/>
                            </a:rPr>
                            <m:t>+1</m:t>
                          </m:r>
                        </m:num>
                        <m:den>
                          <m:r>
                            <a:rPr lang="en-AU" b="0" i="1" smtClean="0">
                              <a:latin typeface="Cambria Math" panose="02040503050406030204" pitchFamily="18" charset="0"/>
                            </a:rPr>
                            <m:t>5</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num>
                        <m:den>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num>
                        <m:den>
                          <m:r>
                            <a:rPr lang="en-AU" b="0" i="1" smtClean="0">
                              <a:latin typeface="Cambria Math" panose="02040503050406030204" pitchFamily="18" charset="0"/>
                              <a:ea typeface="Cambria Math" panose="02040503050406030204" pitchFamily="18" charset="0"/>
                            </a:rPr>
                            <m:t>5</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6</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+1)(</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5×6</m:t>
                          </m:r>
                        </m:den>
                      </m:f>
                    </m:oMath>
                  </m:oMathPara>
                </a14:m>
                <a:endParaRPr lang="en-AU" dirty="0"/>
              </a:p>
              <a:p>
                <a14:m>
                  <m:oMathPara xmlns:m="http://schemas.openxmlformats.org/officeDocument/2006/math">
                    <m:oMathParaPr>
                      <m:jc m:val="centerGroup"/>
                    </m:oMathParaPr>
                    <m:oMath xmlns:m="http://schemas.openxmlformats.org/officeDocument/2006/math">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−3</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30</m:t>
                          </m:r>
                        </m:den>
                      </m:f>
                      <m:r>
                        <a:rPr lang="en-AU" i="1" smtClean="0">
                          <a:latin typeface="Cambria Math" panose="02040503050406030204" pitchFamily="18" charset="0"/>
                          <a:ea typeface="Cambria Math" panose="02040503050406030204" pitchFamily="18" charset="0"/>
                        </a:rPr>
                        <m:t>=</m:t>
                      </m:r>
                      <m:f>
                        <m:fPr>
                          <m:ctrlPr>
                            <a:rPr lang="en-AU" i="1" smtClean="0">
                              <a:latin typeface="Cambria Math" panose="02040503050406030204" pitchFamily="18" charset="0"/>
                              <a:ea typeface="Cambria Math" panose="02040503050406030204" pitchFamily="18" charset="0"/>
                            </a:rPr>
                          </m:ctrlPr>
                        </m:fPr>
                        <m:num>
                          <m:sSup>
                            <m:sSupPr>
                              <m:ctrlPr>
                                <a:rPr lang="en-AU" i="1" smtClean="0">
                                  <a:latin typeface="Cambria Math" panose="02040503050406030204" pitchFamily="18" charset="0"/>
                                  <a:ea typeface="Cambria Math" panose="02040503050406030204" pitchFamily="18" charset="0"/>
                                </a:rPr>
                              </m:ctrlPr>
                            </m:sSupPr>
                            <m:e>
                              <m:r>
                                <a:rPr lang="en-AU" b="0" i="1" smtClean="0">
                                  <a:latin typeface="Cambria Math" panose="02040503050406030204" pitchFamily="18" charset="0"/>
                                  <a:ea typeface="Cambria Math" panose="02040503050406030204" pitchFamily="18" charset="0"/>
                                </a:rPr>
                                <m:t>𝑥</m:t>
                              </m:r>
                            </m:e>
                            <m:sup>
                              <m:r>
                                <a:rPr lang="en-AU" b="0" i="1" smtClean="0">
                                  <a:latin typeface="Cambria Math" panose="02040503050406030204" pitchFamily="18" charset="0"/>
                                  <a:ea typeface="Cambria Math" panose="02040503050406030204" pitchFamily="18" charset="0"/>
                                </a:rPr>
                                <m:t>2</m:t>
                              </m:r>
                            </m:sup>
                          </m:sSup>
                          <m:r>
                            <a:rPr lang="en-AU" b="0" i="1" smtClean="0">
                              <a:latin typeface="Cambria Math" panose="02040503050406030204" pitchFamily="18" charset="0"/>
                              <a:ea typeface="Cambria Math" panose="02040503050406030204" pitchFamily="18" charset="0"/>
                            </a:rPr>
                            <m:t>−2</m:t>
                          </m:r>
                          <m:r>
                            <a:rPr lang="en-AU" b="0" i="1" smtClean="0">
                              <a:latin typeface="Cambria Math" panose="02040503050406030204" pitchFamily="18" charset="0"/>
                              <a:ea typeface="Cambria Math" panose="02040503050406030204" pitchFamily="18" charset="0"/>
                            </a:rPr>
                            <m:t>𝑥</m:t>
                          </m:r>
                          <m:r>
                            <a:rPr lang="en-AU" b="0" i="1" smtClean="0">
                              <a:latin typeface="Cambria Math" panose="02040503050406030204" pitchFamily="18" charset="0"/>
                              <a:ea typeface="Cambria Math" panose="02040503050406030204" pitchFamily="18" charset="0"/>
                            </a:rPr>
                            <m:t>−3</m:t>
                          </m:r>
                        </m:num>
                        <m:den>
                          <m:r>
                            <a:rPr lang="en-AU" b="0" i="1" smtClean="0">
                              <a:latin typeface="Cambria Math" panose="02040503050406030204" pitchFamily="18" charset="0"/>
                              <a:ea typeface="Cambria Math" panose="02040503050406030204" pitchFamily="18" charset="0"/>
                            </a:rPr>
                            <m:t>30</m:t>
                          </m:r>
                        </m:den>
                      </m:f>
                    </m:oMath>
                  </m:oMathPara>
                </a14:m>
                <a:endParaRPr lang="en-AU" dirty="0"/>
              </a:p>
              <a:p>
                <a:endParaRPr lang="en-AU" dirty="0"/>
              </a:p>
            </p:txBody>
          </p:sp>
        </mc:Choice>
        <mc:Fallback>
          <p:sp>
            <p:nvSpPr>
              <p:cNvPr id="3" name="TextBox 2"/>
              <p:cNvSpPr txBox="1">
                <a:spLocks noRot="1" noChangeAspect="1" noMove="1" noResize="1" noEditPoints="1" noAdjustHandles="1" noChangeArrowheads="1" noChangeShapeType="1" noTextEdit="1"/>
              </p:cNvSpPr>
              <p:nvPr/>
            </p:nvSpPr>
            <p:spPr>
              <a:xfrm>
                <a:off x="3203848" y="2420888"/>
                <a:ext cx="5536088" cy="3424079"/>
              </a:xfrm>
              <a:prstGeom prst="rect">
                <a:avLst/>
              </a:prstGeom>
              <a:blipFill>
                <a:blip r:embed="rId3"/>
                <a:stretch>
                  <a:fillRect l="-991" t="-890"/>
                </a:stretch>
              </a:blipFill>
            </p:spPr>
            <p:txBody>
              <a:bodyPr/>
              <a:lstStyle/>
              <a:p>
                <a:r>
                  <a:rPr lang="en-GB">
                    <a:noFill/>
                  </a:rPr>
                  <a:t> </a:t>
                </a:r>
              </a:p>
            </p:txBody>
          </p:sp>
        </mc:Fallback>
      </mc:AlternateContent>
    </p:spTree>
    <p:extLst>
      <p:ext uri="{BB962C8B-B14F-4D97-AF65-F5344CB8AC3E}">
        <p14:creationId xmlns:p14="http://schemas.microsoft.com/office/powerpoint/2010/main" val="1301949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619672" y="404664"/>
            <a:ext cx="5760640" cy="707886"/>
          </a:xfrm>
          <a:prstGeom prst="rect">
            <a:avLst/>
          </a:prstGeom>
          <a:noFill/>
        </p:spPr>
        <p:txBody>
          <a:bodyPr wrap="square" rtlCol="0">
            <a:spAutoFit/>
          </a:bodyPr>
          <a:lstStyle/>
          <a:p>
            <a:pPr algn="ctr"/>
            <a:r>
              <a:rPr lang="en-AU" sz="4000" dirty="0"/>
              <a:t>Check for understanding</a:t>
            </a:r>
          </a:p>
        </p:txBody>
      </p:sp>
    </p:spTree>
    <p:extLst>
      <p:ext uri="{BB962C8B-B14F-4D97-AF65-F5344CB8AC3E}">
        <p14:creationId xmlns:p14="http://schemas.microsoft.com/office/powerpoint/2010/main" val="3689543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67744" y="188640"/>
            <a:ext cx="7632848" cy="769441"/>
          </a:xfrm>
          <a:prstGeom prst="rect">
            <a:avLst/>
          </a:prstGeom>
          <a:noFill/>
        </p:spPr>
        <p:txBody>
          <a:bodyPr wrap="square" rtlCol="0">
            <a:spAutoFit/>
          </a:bodyPr>
          <a:lstStyle/>
          <a:p>
            <a:r>
              <a:rPr lang="en-AU" sz="4400" dirty="0"/>
              <a:t>Guided Practice</a:t>
            </a:r>
          </a:p>
        </p:txBody>
      </p:sp>
      <mc:AlternateContent xmlns:mc="http://schemas.openxmlformats.org/markup-compatibility/2006">
        <mc:Choice xmlns:a14="http://schemas.microsoft.com/office/drawing/2010/main" Requires="a14">
          <p:sp>
            <p:nvSpPr>
              <p:cNvPr id="3" name="TextBox 2"/>
              <p:cNvSpPr txBox="1"/>
              <p:nvPr/>
            </p:nvSpPr>
            <p:spPr>
              <a:xfrm>
                <a:off x="1547664" y="1196752"/>
                <a:ext cx="6408712" cy="4677114"/>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8</m:t>
                          </m:r>
                          <m:r>
                            <a:rPr lang="en-AU" b="0" i="1" smtClean="0">
                              <a:latin typeface="Cambria Math" panose="02040503050406030204" pitchFamily="18" charset="0"/>
                            </a:rPr>
                            <m:t>h</m:t>
                          </m:r>
                          <m:r>
                            <a:rPr lang="en-AU" b="0" i="1" smtClean="0">
                              <a:latin typeface="Cambria Math" panose="02040503050406030204" pitchFamily="18" charset="0"/>
                            </a:rPr>
                            <m:t>−9</m:t>
                          </m:r>
                        </m:num>
                        <m:den>
                          <m:r>
                            <a:rPr lang="en-AU" b="0" i="1" smtClean="0">
                              <a:latin typeface="Cambria Math" panose="02040503050406030204" pitchFamily="18" charset="0"/>
                            </a:rPr>
                            <m:t>7</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9</m:t>
                          </m:r>
                          <m:r>
                            <a:rPr lang="en-AU" b="0" i="1" smtClean="0">
                              <a:latin typeface="Cambria Math" panose="02040503050406030204" pitchFamily="18" charset="0"/>
                            </a:rPr>
                            <m:t>h</m:t>
                          </m:r>
                          <m:r>
                            <a:rPr lang="en-AU" b="0" i="1" smtClean="0">
                              <a:latin typeface="Cambria Math" panose="02040503050406030204" pitchFamily="18" charset="0"/>
                            </a:rPr>
                            <m:t>−5</m:t>
                          </m:r>
                        </m:num>
                        <m:den>
                          <m:r>
                            <a:rPr lang="en-AU" b="0" i="1" smtClean="0">
                              <a:latin typeface="Cambria Math" panose="02040503050406030204" pitchFamily="18" charset="0"/>
                            </a:rPr>
                            <m:t>6</m:t>
                          </m:r>
                        </m:den>
                      </m:f>
                    </m:oMath>
                  </m:oMathPara>
                </a14:m>
                <a:endParaRPr lang="en-GB" dirty="0"/>
              </a:p>
              <a:p>
                <a:pPr/>
                <a:endParaRPr lang="en-GB" dirty="0"/>
              </a:p>
              <a:p>
                <a:pPr/>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2</m:t>
                          </m:r>
                          <m:r>
                            <a:rPr lang="en-AU" b="0" i="1" smtClean="0">
                              <a:latin typeface="Cambria Math" panose="02040503050406030204" pitchFamily="18" charset="0"/>
                            </a:rPr>
                            <m:t>𝑟</m:t>
                          </m:r>
                          <m:r>
                            <a:rPr lang="en-AU" b="0" i="1" smtClean="0">
                              <a:latin typeface="Cambria Math" panose="02040503050406030204" pitchFamily="18" charset="0"/>
                            </a:rPr>
                            <m:t>+7</m:t>
                          </m:r>
                        </m:num>
                        <m:den>
                          <m:r>
                            <a:rPr lang="en-AU" b="0" i="1" smtClean="0">
                              <a:latin typeface="Cambria Math" panose="02040503050406030204" pitchFamily="18" charset="0"/>
                            </a:rPr>
                            <m:t>12</m:t>
                          </m:r>
                        </m:den>
                      </m:f>
                      <m:r>
                        <a:rPr lang="en-AU" b="0" i="1" smtClean="0">
                          <a:latin typeface="Cambria Math" panose="02040503050406030204" pitchFamily="18" charset="0"/>
                        </a:rPr>
                        <m:t>−</m:t>
                      </m:r>
                      <m:f>
                        <m:fPr>
                          <m:ctrlPr>
                            <a:rPr lang="en-AU" b="0" i="1" smtClean="0">
                              <a:latin typeface="Cambria Math" panose="02040503050406030204" pitchFamily="18" charset="0"/>
                            </a:rPr>
                          </m:ctrlPr>
                        </m:fPr>
                        <m:num>
                          <m:r>
                            <a:rPr lang="en-AU" b="0" i="1" smtClean="0">
                              <a:latin typeface="Cambria Math" panose="02040503050406030204" pitchFamily="18" charset="0"/>
                            </a:rPr>
                            <m:t>6</m:t>
                          </m:r>
                          <m:r>
                            <a:rPr lang="en-AU" b="0" i="1" smtClean="0">
                              <a:latin typeface="Cambria Math" panose="02040503050406030204" pitchFamily="18" charset="0"/>
                            </a:rPr>
                            <m:t>𝑟</m:t>
                          </m:r>
                          <m:r>
                            <a:rPr lang="en-AU" b="0" i="1" smtClean="0">
                              <a:latin typeface="Cambria Math" panose="02040503050406030204" pitchFamily="18" charset="0"/>
                            </a:rPr>
                            <m:t>−7</m:t>
                          </m:r>
                        </m:num>
                        <m:den>
                          <m:r>
                            <a:rPr lang="en-AU" b="0" i="1" smtClean="0">
                              <a:latin typeface="Cambria Math" panose="02040503050406030204" pitchFamily="18" charset="0"/>
                            </a:rPr>
                            <m:t>18</m:t>
                          </m:r>
                        </m:den>
                      </m:f>
                    </m:oMath>
                  </m:oMathPara>
                </a14:m>
                <a:endParaRPr lang="en-GB" dirty="0"/>
              </a:p>
              <a:p>
                <a:pPr/>
                <a:endParaRPr lang="en-AU" dirty="0"/>
              </a:p>
              <a:p>
                <a:pPr/>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3</m:t>
                          </m:r>
                          <m:r>
                            <a:rPr lang="en-AU" b="0" i="1" smtClean="0">
                              <a:latin typeface="Cambria Math" panose="02040503050406030204" pitchFamily="18" charset="0"/>
                            </a:rPr>
                            <m:t>𝑞</m:t>
                          </m:r>
                          <m:r>
                            <a:rPr lang="en-AU" b="0" i="1" smtClean="0">
                              <a:latin typeface="Cambria Math" panose="02040503050406030204" pitchFamily="18" charset="0"/>
                            </a:rPr>
                            <m:t>−7</m:t>
                          </m:r>
                        </m:num>
                        <m:den>
                          <m:r>
                            <a:rPr lang="en-AU" b="0" i="1" smtClean="0">
                              <a:latin typeface="Cambria Math" panose="02040503050406030204" pitchFamily="18" charset="0"/>
                            </a:rPr>
                            <m:t>8</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7</m:t>
                          </m:r>
                          <m:r>
                            <a:rPr lang="en-AU" b="0" i="1" smtClean="0">
                              <a:latin typeface="Cambria Math" panose="02040503050406030204" pitchFamily="18" charset="0"/>
                              <a:ea typeface="Cambria Math" panose="02040503050406030204" pitchFamily="18" charset="0"/>
                            </a:rPr>
                            <m:t>𝑞</m:t>
                          </m:r>
                          <m:r>
                            <a:rPr lang="en-AU" b="0" i="1" smtClean="0">
                              <a:latin typeface="Cambria Math" panose="02040503050406030204" pitchFamily="18" charset="0"/>
                              <a:ea typeface="Cambria Math" panose="02040503050406030204" pitchFamily="18" charset="0"/>
                            </a:rPr>
                            <m:t>−4</m:t>
                          </m:r>
                        </m:num>
                        <m:den>
                          <m:r>
                            <a:rPr lang="en-AU" b="0" i="1" smtClean="0">
                              <a:latin typeface="Cambria Math" panose="02040503050406030204" pitchFamily="18" charset="0"/>
                              <a:ea typeface="Cambria Math" panose="02040503050406030204" pitchFamily="18" charset="0"/>
                            </a:rPr>
                            <m:t>5</m:t>
                          </m:r>
                        </m:den>
                      </m:f>
                    </m:oMath>
                  </m:oMathPara>
                </a14:m>
                <a:endParaRPr lang="en-GB" dirty="0"/>
              </a:p>
              <a:p>
                <a:pPr/>
                <a:endParaRPr lang="en-AU" dirty="0"/>
              </a:p>
              <a:p>
                <a:pPr/>
                <a:endParaRPr lang="en-GB" dirty="0"/>
              </a:p>
              <a:p>
                <a:pPr/>
                <a14:m>
                  <m:oMathPara xmlns:m="http://schemas.openxmlformats.org/officeDocument/2006/math">
                    <m:oMathParaPr>
                      <m:jc m:val="left"/>
                    </m:oMathParaPr>
                    <m:oMath xmlns:m="http://schemas.openxmlformats.org/officeDocument/2006/math">
                      <m:f>
                        <m:fPr>
                          <m:ctrlPr>
                            <a:rPr lang="en-GB" i="1" smtClean="0">
                              <a:latin typeface="Cambria Math" panose="02040503050406030204" pitchFamily="18" charset="0"/>
                            </a:rPr>
                          </m:ctrlPr>
                        </m:fPr>
                        <m:num>
                          <m:r>
                            <a:rPr lang="en-AU" b="0" i="1" smtClean="0">
                              <a:latin typeface="Cambria Math" panose="02040503050406030204" pitchFamily="18" charset="0"/>
                            </a:rPr>
                            <m:t>9</m:t>
                          </m:r>
                          <m:r>
                            <a:rPr lang="en-AU" b="0" i="1" smtClean="0">
                              <a:latin typeface="Cambria Math" panose="02040503050406030204" pitchFamily="18" charset="0"/>
                            </a:rPr>
                            <m:t>𝑒</m:t>
                          </m:r>
                        </m:num>
                        <m:den>
                          <m:r>
                            <a:rPr lang="en-AU" b="0" i="1" smtClean="0">
                              <a:latin typeface="Cambria Math" panose="02040503050406030204" pitchFamily="18" charset="0"/>
                            </a:rPr>
                            <m:t>2</m:t>
                          </m:r>
                        </m:den>
                      </m:f>
                      <m:r>
                        <a:rPr lang="en-GB" i="1" smtClean="0">
                          <a:latin typeface="Cambria Math" panose="02040503050406030204" pitchFamily="18" charset="0"/>
                          <a:ea typeface="Cambria Math" panose="02040503050406030204" pitchFamily="18" charset="0"/>
                        </a:rPr>
                        <m:t>÷</m:t>
                      </m:r>
                      <m:f>
                        <m:fPr>
                          <m:ctrlPr>
                            <a:rPr lang="en-GB" i="1" smtClean="0">
                              <a:latin typeface="Cambria Math" panose="02040503050406030204" pitchFamily="18" charset="0"/>
                              <a:ea typeface="Cambria Math" panose="02040503050406030204" pitchFamily="18" charset="0"/>
                            </a:rPr>
                          </m:ctrlPr>
                        </m:fPr>
                        <m:num>
                          <m:r>
                            <a:rPr lang="en-AU" b="0" i="1" smtClean="0">
                              <a:latin typeface="Cambria Math" panose="02040503050406030204" pitchFamily="18" charset="0"/>
                              <a:ea typeface="Cambria Math" panose="02040503050406030204" pitchFamily="18" charset="0"/>
                            </a:rPr>
                            <m:t>6</m:t>
                          </m:r>
                          <m:r>
                            <a:rPr lang="en-AU" b="0" i="1" smtClean="0">
                              <a:latin typeface="Cambria Math" panose="02040503050406030204" pitchFamily="18" charset="0"/>
                              <a:ea typeface="Cambria Math" panose="02040503050406030204" pitchFamily="18" charset="0"/>
                            </a:rPr>
                            <m:t>h</m:t>
                          </m:r>
                        </m:num>
                        <m:den>
                          <m:r>
                            <a:rPr lang="en-AU" b="0" i="1" smtClean="0">
                              <a:latin typeface="Cambria Math" panose="02040503050406030204" pitchFamily="18" charset="0"/>
                              <a:ea typeface="Cambria Math" panose="02040503050406030204" pitchFamily="18" charset="0"/>
                            </a:rPr>
                            <m:t>7</m:t>
                          </m:r>
                        </m:den>
                      </m:f>
                    </m:oMath>
                  </m:oMathPara>
                </a14:m>
                <a:endParaRPr lang="en-GB" dirty="0"/>
              </a:p>
              <a:p>
                <a:pPr/>
                <a:endParaRPr lang="en-GB" dirty="0"/>
              </a:p>
              <a:p>
                <a:pPr/>
                <a:endParaRPr lang="en-AU" dirty="0"/>
              </a:p>
              <a:p>
                <a:pPr/>
                <a:endParaRPr lang="en-GB" dirty="0"/>
              </a:p>
            </p:txBody>
          </p:sp>
        </mc:Choice>
        <mc:Fallback>
          <p:sp>
            <p:nvSpPr>
              <p:cNvPr id="3" name="TextBox 2"/>
              <p:cNvSpPr txBox="1">
                <a:spLocks noRot="1" noChangeAspect="1" noMove="1" noResize="1" noEditPoints="1" noAdjustHandles="1" noChangeArrowheads="1" noChangeShapeType="1" noTextEdit="1"/>
              </p:cNvSpPr>
              <p:nvPr/>
            </p:nvSpPr>
            <p:spPr>
              <a:xfrm>
                <a:off x="1547664" y="1196752"/>
                <a:ext cx="6408712" cy="4677114"/>
              </a:xfrm>
              <a:prstGeom prst="rect">
                <a:avLst/>
              </a:prstGeom>
              <a:blipFill>
                <a:blip r:embed="rId3"/>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11266734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Activity</a:t>
            </a:r>
          </a:p>
        </p:txBody>
      </p:sp>
      <p:sp>
        <p:nvSpPr>
          <p:cNvPr id="3" name="Content Placeholder 2"/>
          <p:cNvSpPr>
            <a:spLocks noGrp="1"/>
          </p:cNvSpPr>
          <p:nvPr>
            <p:ph idx="1"/>
          </p:nvPr>
        </p:nvSpPr>
        <p:spPr/>
        <p:txBody>
          <a:bodyPr>
            <a:normAutofit lnSpcReduction="10000"/>
          </a:bodyPr>
          <a:lstStyle/>
          <a:p>
            <a:r>
              <a:rPr lang="en-AU" dirty="0"/>
              <a:t>Nelson Chapter 3 – Pages 128 &amp; 129</a:t>
            </a:r>
          </a:p>
          <a:p>
            <a:r>
              <a:rPr lang="en-AU" dirty="0"/>
              <a:t>Q1 – a, d, g, j, o, r, u, x</a:t>
            </a:r>
          </a:p>
          <a:p>
            <a:r>
              <a:rPr lang="en-AU" dirty="0"/>
              <a:t>Q2 – k, n, q, t</a:t>
            </a:r>
          </a:p>
          <a:p>
            <a:r>
              <a:rPr lang="en-AU" dirty="0"/>
              <a:t>Q3 – d, f, k, o</a:t>
            </a:r>
          </a:p>
          <a:p>
            <a:r>
              <a:rPr lang="en-AU" dirty="0"/>
              <a:t>Q4 – c, </a:t>
            </a:r>
            <a:r>
              <a:rPr lang="en-AU" dirty="0" err="1"/>
              <a:t>i</a:t>
            </a:r>
            <a:r>
              <a:rPr lang="en-AU" dirty="0"/>
              <a:t>, p, s</a:t>
            </a:r>
          </a:p>
          <a:p>
            <a:endParaRPr lang="en-AU" dirty="0"/>
          </a:p>
          <a:p>
            <a:r>
              <a:rPr lang="en-AU" dirty="0"/>
              <a:t>Dwyer Chapter 1 – Page 9</a:t>
            </a:r>
          </a:p>
          <a:p>
            <a:r>
              <a:rPr lang="en-AU" dirty="0"/>
              <a:t>Q’s – 17, 18, 21</a:t>
            </a:r>
          </a:p>
        </p:txBody>
      </p:sp>
    </p:spTree>
    <p:extLst>
      <p:ext uri="{BB962C8B-B14F-4D97-AF65-F5344CB8AC3E}">
        <p14:creationId xmlns:p14="http://schemas.microsoft.com/office/powerpoint/2010/main" val="404264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Closure activity</a:t>
            </a:r>
          </a:p>
        </p:txBody>
      </p:sp>
      <p:sp>
        <p:nvSpPr>
          <p:cNvPr id="3" name="Content Placeholder 2"/>
          <p:cNvSpPr>
            <a:spLocks noGrp="1"/>
          </p:cNvSpPr>
          <p:nvPr>
            <p:ph idx="1"/>
          </p:nvPr>
        </p:nvSpPr>
        <p:spPr/>
        <p:txBody>
          <a:bodyPr/>
          <a:lstStyle/>
          <a:p>
            <a:pPr marL="0" indent="0">
              <a:buNone/>
            </a:pPr>
            <a:r>
              <a:rPr lang="en-AU" dirty="0"/>
              <a:t>Success Criteria</a:t>
            </a:r>
          </a:p>
          <a:p>
            <a:pPr marL="0" indent="0">
              <a:buNone/>
            </a:pPr>
            <a:r>
              <a:rPr lang="en-AU" dirty="0"/>
              <a:t>Thumbs up </a:t>
            </a:r>
            <a:r>
              <a:rPr lang="en-AU" dirty="0" err="1"/>
              <a:t>etc</a:t>
            </a:r>
            <a:endParaRPr lang="en-AU" dirty="0"/>
          </a:p>
        </p:txBody>
      </p:sp>
    </p:spTree>
    <p:extLst>
      <p:ext uri="{BB962C8B-B14F-4D97-AF65-F5344CB8AC3E}">
        <p14:creationId xmlns:p14="http://schemas.microsoft.com/office/powerpoint/2010/main" val="28112399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160</TotalTime>
  <Words>582</Words>
  <Application>Microsoft Office PowerPoint</Application>
  <PresentationFormat>On-screen Show (4:3)</PresentationFormat>
  <Paragraphs>143</Paragraphs>
  <Slides>14</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Cambria Math</vt:lpstr>
      <vt:lpstr>Office Theme</vt:lpstr>
      <vt:lpstr>Mental set</vt:lpstr>
      <vt:lpstr>PowerPoint Presentation</vt:lpstr>
      <vt:lpstr>Lesson objective</vt:lpstr>
      <vt:lpstr>Success Criteria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vt:lpstr>
      <vt:lpstr>Closure activity</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Mental set</dc:title>
  <dc:creator>MORGAN Adam</dc:creator>
  <cp:lastModifiedBy>e4037255</cp:lastModifiedBy>
  <cp:revision>18</cp:revision>
  <dcterms:created xsi:type="dcterms:W3CDTF">2016-10-20T03:14:06Z</dcterms:created>
  <dcterms:modified xsi:type="dcterms:W3CDTF">2017-03-12T09:55:23Z</dcterms:modified>
</cp:coreProperties>
</file>
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3" r:id="rId2"/>
    <p:sldId id="276" r:id="rId3"/>
    <p:sldId id="277" r:id="rId4"/>
    <p:sldId id="264" r:id="rId5"/>
    <p:sldId id="268" r:id="rId6"/>
    <p:sldId id="270" r:id="rId7"/>
    <p:sldId id="271" r:id="rId8"/>
    <p:sldId id="272" r:id="rId9"/>
    <p:sldId id="273" r:id="rId10"/>
    <p:sldId id="274" r:id="rId11"/>
    <p:sldId id="265" r:id="rId12"/>
    <p:sldId id="27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Why is Mr Morgan overweight?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Mr Morgan likes to eat cookies. </a:t>
            </a:r>
          </a:p>
          <a:p>
            <a:pPr marL="0" indent="0">
              <a:buNone/>
            </a:pPr>
            <a:r>
              <a:rPr lang="en-AU" dirty="0" smtClean="0"/>
              <a:t>If He eats 4 before school and then eats 2 every hour after school starts.</a:t>
            </a:r>
          </a:p>
          <a:p>
            <a:pPr marL="0" indent="0">
              <a:buNone/>
            </a:pPr>
            <a:endParaRPr lang="en-AU" dirty="0" smtClean="0"/>
          </a:p>
        </p:txBody>
      </p:sp>
      <p:pic>
        <p:nvPicPr>
          <p:cNvPr id="5122" name="Picture 2" descr="C:\Users\e4075868\Documents\My Received Files\1489477681233_r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3309989"/>
            <a:ext cx="1944216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e4075868\AppData\Local\Microsoft\Windows\Temporary Internet Files\Content.IE5\JODDZX2B\irb3[1]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3823719"/>
            <a:ext cx="19050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:\Users\e4075868\AppData\Local\Microsoft\Windows\Temporary Internet Files\Content.IE5\RP2BT71J\Christmas_Cookies_Plateful[1]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95" y="4221088"/>
            <a:ext cx="3203848" cy="240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768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Create </a:t>
            </a:r>
            <a:r>
              <a:rPr lang="en-AU" dirty="0"/>
              <a:t>a linear equation to show how many cookies Mr Morgan eats in a day. </a:t>
            </a:r>
          </a:p>
          <a:p>
            <a:pPr marL="0" indent="0">
              <a:buNone/>
            </a:pPr>
            <a:r>
              <a:rPr lang="en-AU" dirty="0"/>
              <a:t>(let y= the number of cookies and x = the time in hours</a:t>
            </a:r>
            <a:r>
              <a:rPr lang="en-AU" dirty="0" smtClean="0"/>
              <a:t>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 smtClean="0"/>
              <a:t>Why is Mr Morgan overweight?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71800" y="3789039"/>
            <a:ext cx="34579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6000" dirty="0" smtClean="0">
                <a:solidFill>
                  <a:srgbClr val="FF0000"/>
                </a:solidFill>
                <a:latin typeface="Stencil" pitchFamily="82" charset="0"/>
              </a:rPr>
              <a:t>y= 2x + 4</a:t>
            </a:r>
            <a:endParaRPr lang="en-AU" sz="6000" dirty="0">
              <a:solidFill>
                <a:srgbClr val="FF0000"/>
              </a:solidFill>
              <a:latin typeface="Stencil" pitchFamily="82" charset="0"/>
            </a:endParaRPr>
          </a:p>
        </p:txBody>
      </p:sp>
      <p:pic>
        <p:nvPicPr>
          <p:cNvPr id="7170" name="Picture 2" descr="C:\Users\e4075868\AppData\Local\Microsoft\Windows\Temporary Internet Files\Content.IE5\4JPRA91W\1370962427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3756425"/>
            <a:ext cx="2997352" cy="306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811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Graphing it looks like this</a:t>
            </a:r>
            <a:endParaRPr lang="en-AU" dirty="0"/>
          </a:p>
        </p:txBody>
      </p:sp>
      <p:pic>
        <p:nvPicPr>
          <p:cNvPr id="6148" name="Picture 4" descr="Image result for cartesian plane 0 to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484784"/>
            <a:ext cx="5184576" cy="495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 flipV="1">
            <a:off x="2339752" y="1916832"/>
            <a:ext cx="1368152" cy="25202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9" name="Picture 5" descr="C:\Users\e4075868\AppData\Local\Microsoft\Windows\Temporary Internet Files\Content.IE5\J801ZEEM\whisper-vb[1]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4581128"/>
            <a:ext cx="104775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Callout 9"/>
          <p:cNvSpPr/>
          <p:nvPr/>
        </p:nvSpPr>
        <p:spPr>
          <a:xfrm>
            <a:off x="7559824" y="2996952"/>
            <a:ext cx="1584176" cy="1440160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No wonder he is so fat!</a:t>
            </a:r>
            <a:endParaRPr lang="en-AU" dirty="0"/>
          </a:p>
        </p:txBody>
      </p:sp>
      <p:pic>
        <p:nvPicPr>
          <p:cNvPr id="6150" name="Picture 6" descr="C:\Users\e4075868\AppData\Local\Microsoft\Windows\Temporary Internet Files\Content.IE5\RP2BT71J\cookiemonster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3" y="4579315"/>
            <a:ext cx="1997968" cy="199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62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39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we graph lines using the gradient intercept method?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635896" y="1982269"/>
                <a:ext cx="4350422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Linear equations and straight line graphs</a:t>
                </a:r>
              </a:p>
              <a:p>
                <a:endParaRPr lang="en-AU" dirty="0"/>
              </a:p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/>
                      </a:rPr>
                      <m:t>𝑔𝑒𝑛𝑒𝑟𝑎𝑙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𝑓𝑜𝑟𝑚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𝑦</m:t>
                    </m:r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r>
                      <a:rPr lang="en-AU" sz="2800" b="0" i="1" smtClean="0">
                        <a:latin typeface="Cambria Math"/>
                      </a:rPr>
                      <m:t>𝑚𝑥</m:t>
                    </m:r>
                    <m:r>
                      <a:rPr lang="en-AU" sz="2800" b="0" i="1" smtClean="0">
                        <a:latin typeface="Cambria Math"/>
                      </a:rPr>
                      <m:t>+</m:t>
                    </m:r>
                    <m:r>
                      <a:rPr lang="en-AU" sz="2800" b="0" i="1" smtClean="0">
                        <a:latin typeface="Cambria Math"/>
                      </a:rPr>
                      <m:t>𝑐</m:t>
                    </m:r>
                  </m:oMath>
                </a14:m>
                <a:r>
                  <a:rPr lang="en-AU" sz="2800" dirty="0" smtClean="0"/>
                  <a:t> </a:t>
                </a:r>
                <a:endParaRPr lang="en-AU" sz="28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1982269"/>
                <a:ext cx="4350422" cy="1077218"/>
              </a:xfrm>
              <a:prstGeom prst="rect">
                <a:avLst/>
              </a:prstGeom>
              <a:blipFill rotWithShape="1">
                <a:blip r:embed="rId3"/>
                <a:stretch>
                  <a:fillRect l="-1120" t="-28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203848" y="3604374"/>
            <a:ext cx="4941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Gradient (m) is the slope or steepness of the graph</a:t>
            </a:r>
            <a:endParaRPr lang="en-AU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4429725" y="2924944"/>
            <a:ext cx="2230507" cy="6794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866735" y="4099796"/>
            <a:ext cx="6431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Y-intercept (c) is where x= 0 (where the line crosses the y-axis </a:t>
            </a:r>
            <a:endParaRPr lang="en-AU" dirty="0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4572000" y="3059487"/>
            <a:ext cx="3024336" cy="10403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616" y="404664"/>
            <a:ext cx="2139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graphs</a:t>
            </a:r>
            <a:endParaRPr lang="en-AU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we graph lines using the gradient intercept method?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698655" y="2132856"/>
                <a:ext cx="212551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𝑦</m:t>
                    </m:r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r>
                      <a:rPr lang="en-AU" sz="2800" b="0" i="1" smtClean="0">
                        <a:latin typeface="Cambria Math"/>
                      </a:rPr>
                      <m:t>𝑚𝑥</m:t>
                    </m:r>
                    <m:r>
                      <a:rPr lang="en-AU" sz="2800" b="0" i="1" smtClean="0">
                        <a:latin typeface="Cambria Math"/>
                      </a:rPr>
                      <m:t>+</m:t>
                    </m:r>
                    <m:r>
                      <a:rPr lang="en-AU" sz="2800" b="0" i="1" smtClean="0">
                        <a:latin typeface="Cambria Math"/>
                      </a:rPr>
                      <m:t>𝑐</m:t>
                    </m:r>
                  </m:oMath>
                </a14:m>
                <a:r>
                  <a:rPr lang="en-AU" sz="2800" dirty="0" smtClean="0"/>
                  <a:t> </a:t>
                </a:r>
                <a:endParaRPr lang="en-AU" sz="28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655" y="2132856"/>
                <a:ext cx="212551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4579137" y="3068960"/>
            <a:ext cx="2591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Gradient                      y-</a:t>
            </a:r>
            <a:r>
              <a:rPr lang="en-AU" dirty="0" err="1" smtClean="0"/>
              <a:t>int</a:t>
            </a:r>
            <a:endParaRPr lang="en-AU" dirty="0"/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076056" y="2656076"/>
            <a:ext cx="504056" cy="4128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6588224" y="2656076"/>
            <a:ext cx="235949" cy="4128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71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539750" y="481726"/>
            <a:ext cx="62632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400" dirty="0">
                <a:solidFill>
                  <a:srgbClr val="0070C0"/>
                </a:solidFill>
                <a:latin typeface="Algerian" pitchFamily="82" charset="0"/>
              </a:rPr>
              <a:t>Using Gradient and y-intercept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539750" y="1844675"/>
            <a:ext cx="79200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dirty="0">
                <a:solidFill>
                  <a:schemeClr val="tx1"/>
                </a:solidFill>
              </a:rPr>
              <a:t>Example:  Plot  </a:t>
            </a:r>
            <a:r>
              <a:rPr lang="en-AU" dirty="0"/>
              <a:t>y</a:t>
            </a:r>
            <a:r>
              <a:rPr lang="en-AU" dirty="0" smtClean="0">
                <a:solidFill>
                  <a:schemeClr val="tx1"/>
                </a:solidFill>
              </a:rPr>
              <a:t>= 3x + </a:t>
            </a:r>
            <a:r>
              <a:rPr lang="en-AU" dirty="0"/>
              <a:t>2</a:t>
            </a:r>
            <a:r>
              <a:rPr lang="en-AU" dirty="0" smtClean="0">
                <a:solidFill>
                  <a:schemeClr val="tx1"/>
                </a:solidFill>
              </a:rPr>
              <a:t> </a:t>
            </a:r>
            <a:r>
              <a:rPr lang="en-AU" dirty="0">
                <a:solidFill>
                  <a:schemeClr val="tx1"/>
                </a:solidFill>
              </a:rPr>
              <a:t>using gradient and y-intercept</a:t>
            </a:r>
          </a:p>
        </p:txBody>
      </p:sp>
      <p:sp>
        <p:nvSpPr>
          <p:cNvPr id="6154" name="Text Box 10"/>
          <p:cNvSpPr txBox="1">
            <a:spLocks noChangeArrowheads="1"/>
          </p:cNvSpPr>
          <p:nvPr/>
        </p:nvSpPr>
        <p:spPr bwMode="auto">
          <a:xfrm>
            <a:off x="1186657" y="2780928"/>
            <a:ext cx="64817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dirty="0"/>
              <a:t>Step </a:t>
            </a:r>
            <a:r>
              <a:rPr lang="en-AU" dirty="0" smtClean="0"/>
              <a:t>1: </a:t>
            </a:r>
            <a:r>
              <a:rPr lang="en-AU" dirty="0"/>
              <a:t>Read off m = </a:t>
            </a:r>
            <a:r>
              <a:rPr lang="en-AU" dirty="0"/>
              <a:t> </a:t>
            </a:r>
            <a:r>
              <a:rPr lang="en-AU" dirty="0" smtClean="0"/>
              <a:t>3 </a:t>
            </a:r>
            <a:r>
              <a:rPr lang="en-AU" dirty="0" smtClean="0"/>
              <a:t>and </a:t>
            </a:r>
            <a:r>
              <a:rPr lang="en-AU" dirty="0"/>
              <a:t>c = </a:t>
            </a:r>
            <a:r>
              <a:rPr lang="en-AU" dirty="0"/>
              <a:t>2</a:t>
            </a:r>
            <a:endParaRPr lang="en-AU" dirty="0"/>
          </a:p>
        </p:txBody>
      </p:sp>
      <p:sp>
        <p:nvSpPr>
          <p:cNvPr id="6155" name="Text Box 11"/>
          <p:cNvSpPr txBox="1">
            <a:spLocks noChangeArrowheads="1"/>
          </p:cNvSpPr>
          <p:nvPr/>
        </p:nvSpPr>
        <p:spPr bwMode="auto">
          <a:xfrm>
            <a:off x="1258888" y="3979863"/>
            <a:ext cx="64817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dirty="0"/>
              <a:t>Step </a:t>
            </a:r>
            <a:r>
              <a:rPr lang="en-AU" dirty="0" smtClean="0"/>
              <a:t>2: </a:t>
            </a:r>
            <a:r>
              <a:rPr lang="en-AU" dirty="0"/>
              <a:t>Plot y intercept at </a:t>
            </a:r>
            <a:r>
              <a:rPr lang="en-AU" dirty="0" smtClean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5884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0" dur="80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1" dur="80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80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/>
      <p:bldP spid="6150" grpId="0"/>
      <p:bldP spid="6154" grpId="0"/>
      <p:bldP spid="61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4" name="Group 6"/>
          <p:cNvGrpSpPr>
            <a:grpSpLocks/>
          </p:cNvGrpSpPr>
          <p:nvPr/>
        </p:nvGrpSpPr>
        <p:grpSpPr bwMode="auto">
          <a:xfrm>
            <a:off x="1935163" y="836613"/>
            <a:ext cx="5273675" cy="5184775"/>
            <a:chOff x="1219" y="527"/>
            <a:chExt cx="3322" cy="3266"/>
          </a:xfrm>
        </p:grpSpPr>
        <p:graphicFrame>
          <p:nvGraphicFramePr>
            <p:cNvPr id="7172" name="Object 4"/>
            <p:cNvGraphicFramePr>
              <a:graphicFrameLocks noChangeAspect="1"/>
            </p:cNvGraphicFramePr>
            <p:nvPr/>
          </p:nvGraphicFramePr>
          <p:xfrm>
            <a:off x="1219" y="527"/>
            <a:ext cx="3322" cy="3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" name="MHelp" r:id="rId3" imgW="5274000" imgH="5184000" progId="MHelperPlus.Document">
                    <p:embed/>
                  </p:oleObj>
                </mc:Choice>
                <mc:Fallback>
                  <p:oleObj name="MHelp" r:id="rId3" imgW="5274000" imgH="5184000" progId="MHelperPlus.Document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" y="527"/>
                          <a:ext cx="3322" cy="3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3" name="Text Box 5"/>
            <p:cNvSpPr txBox="1">
              <a:spLocks noChangeArrowheads="1"/>
            </p:cNvSpPr>
            <p:nvPr/>
          </p:nvSpPr>
          <p:spPr bwMode="auto">
            <a:xfrm>
              <a:off x="2744" y="1525"/>
              <a:ext cx="77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>
                  <a:solidFill>
                    <a:schemeClr val="tx1"/>
                  </a:solidFill>
                  <a:sym typeface="Symbol" pitchFamily="18" charset="2"/>
                </a:rPr>
                <a:t>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469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682245" y="2616238"/>
            <a:ext cx="1034218" cy="7407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242833" y="404664"/>
            <a:ext cx="3959225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000" dirty="0">
                <a:solidFill>
                  <a:srgbClr val="0070C0"/>
                </a:solidFill>
                <a:latin typeface="Algerian" pitchFamily="82" charset="0"/>
              </a:rPr>
              <a:t> Gradient and y-intercept</a:t>
            </a:r>
          </a:p>
          <a:p>
            <a:pPr>
              <a:spcBef>
                <a:spcPct val="50000"/>
              </a:spcBef>
            </a:pPr>
            <a:r>
              <a:rPr lang="en-AU" sz="2000" dirty="0">
                <a:solidFill>
                  <a:srgbClr val="0070C0"/>
                </a:solidFill>
                <a:latin typeface="Algerian" pitchFamily="82" charset="0"/>
              </a:rPr>
              <a:t>(continued)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539750" y="1844675"/>
            <a:ext cx="79200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dirty="0">
                <a:solidFill>
                  <a:schemeClr val="tx1"/>
                </a:solidFill>
              </a:rPr>
              <a:t>We’re plotting  </a:t>
            </a:r>
            <a:r>
              <a:rPr lang="en-AU" dirty="0" smtClean="0">
                <a:solidFill>
                  <a:schemeClr val="tx1"/>
                </a:solidFill>
              </a:rPr>
              <a:t>y=3x + 2 using </a:t>
            </a:r>
            <a:r>
              <a:rPr lang="en-AU" dirty="0">
                <a:solidFill>
                  <a:schemeClr val="tx1"/>
                </a:solidFill>
              </a:rPr>
              <a:t>gradient and y-intercept</a:t>
            </a: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1258888" y="4092575"/>
            <a:ext cx="64817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dirty="0" smtClean="0"/>
              <a:t>Step 3:  Plot </a:t>
            </a:r>
            <a:r>
              <a:rPr lang="en-AU" dirty="0"/>
              <a:t>your 2</a:t>
            </a:r>
            <a:r>
              <a:rPr lang="en-AU" baseline="30000" dirty="0"/>
              <a:t>nd</a:t>
            </a:r>
            <a:r>
              <a:rPr lang="en-AU" dirty="0"/>
              <a:t> point where you </a:t>
            </a:r>
            <a:r>
              <a:rPr lang="en-AU" dirty="0" smtClean="0"/>
              <a:t>use the  the gradient.</a:t>
            </a:r>
            <a:endParaRPr lang="en-AU" u="sng" dirty="0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1258888" y="5301208"/>
            <a:ext cx="64817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dirty="0" smtClean="0"/>
              <a:t> Step 4: draw the line</a:t>
            </a:r>
            <a:endParaRPr lang="en-AU" u="sng" dirty="0"/>
          </a:p>
        </p:txBody>
      </p:sp>
      <p:sp>
        <p:nvSpPr>
          <p:cNvPr id="12299" name="Line 11"/>
          <p:cNvSpPr>
            <a:spLocks noChangeShapeType="1"/>
          </p:cNvSpPr>
          <p:nvPr/>
        </p:nvSpPr>
        <p:spPr bwMode="auto">
          <a:xfrm flipH="1">
            <a:off x="4716463" y="27082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00" name="Text Box 12"/>
          <p:cNvSpPr txBox="1">
            <a:spLocks noChangeArrowheads="1"/>
          </p:cNvSpPr>
          <p:nvPr/>
        </p:nvSpPr>
        <p:spPr bwMode="auto">
          <a:xfrm>
            <a:off x="6084888" y="2420938"/>
            <a:ext cx="16557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chemeClr val="hlink"/>
                </a:solidFill>
              </a:rPr>
              <a:t>Rise is 2</a:t>
            </a:r>
          </a:p>
        </p:txBody>
      </p:sp>
      <p:sp>
        <p:nvSpPr>
          <p:cNvPr id="12301" name="Text Box 13"/>
          <p:cNvSpPr txBox="1">
            <a:spLocks noChangeArrowheads="1"/>
          </p:cNvSpPr>
          <p:nvPr/>
        </p:nvSpPr>
        <p:spPr bwMode="auto">
          <a:xfrm>
            <a:off x="6084888" y="2900363"/>
            <a:ext cx="19431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dirty="0">
                <a:solidFill>
                  <a:schemeClr val="hlink"/>
                </a:solidFill>
              </a:rPr>
              <a:t>Run is </a:t>
            </a:r>
            <a:r>
              <a:rPr lang="en-AU" dirty="0" smtClean="0">
                <a:solidFill>
                  <a:schemeClr val="hlink"/>
                </a:solidFill>
              </a:rPr>
              <a:t>1</a:t>
            </a:r>
            <a:endParaRPr lang="en-AU" dirty="0">
              <a:solidFill>
                <a:schemeClr val="hlink"/>
              </a:solidFill>
            </a:endParaRPr>
          </a:p>
        </p:txBody>
      </p:sp>
      <p:sp>
        <p:nvSpPr>
          <p:cNvPr id="12302" name="Line 14"/>
          <p:cNvSpPr>
            <a:spLocks noChangeShapeType="1"/>
          </p:cNvSpPr>
          <p:nvPr/>
        </p:nvSpPr>
        <p:spPr bwMode="auto">
          <a:xfrm flipH="1">
            <a:off x="4716463" y="3141663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682245" y="2616238"/>
                <a:ext cx="865109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𝑚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2245" y="2616238"/>
                <a:ext cx="865109" cy="61093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9221135"/>
      </p:ext>
    </p:extLst>
  </p:cSld>
  <p:clrMapOvr>
    <a:masterClrMapping/>
  </p:clrMapOvr>
  <p:transition spd="med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360"/>
                            </p:stCondLst>
                            <p:childTnLst>
                              <p:par>
                                <p:cTn id="1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36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86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36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6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3" dur="80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4" dur="80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80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/>
      <p:bldP spid="12292" grpId="0"/>
      <p:bldP spid="12296" grpId="0"/>
      <p:bldP spid="12297" grpId="0"/>
      <p:bldP spid="12299" grpId="0" animBg="1"/>
      <p:bldP spid="12300" grpId="0"/>
      <p:bldP spid="12301" grpId="0"/>
      <p:bldP spid="1230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0943350"/>
              </p:ext>
            </p:extLst>
          </p:nvPr>
        </p:nvGraphicFramePr>
        <p:xfrm>
          <a:off x="1935163" y="836613"/>
          <a:ext cx="5273675" cy="518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MHelp" r:id="rId3" imgW="5274000" imgH="5184000" progId="MHelperPlus.Document">
                  <p:embed/>
                </p:oleObj>
              </mc:Choice>
              <mc:Fallback>
                <p:oleObj name="MHelp" r:id="rId3" imgW="5274000" imgH="5184000" progId="MHelperPlus.Documen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5163" y="836613"/>
                        <a:ext cx="5273675" cy="518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Oval 4"/>
          <p:cNvSpPr/>
          <p:nvPr/>
        </p:nvSpPr>
        <p:spPr>
          <a:xfrm>
            <a:off x="4427984" y="2636912"/>
            <a:ext cx="144016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/>
          <p:cNvSpPr/>
          <p:nvPr/>
        </p:nvSpPr>
        <p:spPr>
          <a:xfrm>
            <a:off x="4860032" y="119675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Left Brace 6"/>
          <p:cNvSpPr/>
          <p:nvPr/>
        </p:nvSpPr>
        <p:spPr>
          <a:xfrm>
            <a:off x="3707904" y="1196752"/>
            <a:ext cx="432048" cy="14761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2771800" y="1750168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Rise= 3</a:t>
            </a:r>
            <a:endParaRPr lang="en-AU" dirty="0"/>
          </a:p>
        </p:txBody>
      </p:sp>
      <p:sp>
        <p:nvSpPr>
          <p:cNvPr id="10" name="Right Brace 9"/>
          <p:cNvSpPr/>
          <p:nvPr/>
        </p:nvSpPr>
        <p:spPr>
          <a:xfrm rot="16200000">
            <a:off x="4427984" y="451782"/>
            <a:ext cx="576064" cy="43204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4296670" y="140650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Run= 1</a:t>
            </a:r>
            <a:endParaRPr lang="en-AU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3923928" y="667806"/>
            <a:ext cx="1211433" cy="36252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3491880" y="4273980"/>
            <a:ext cx="432048" cy="13152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35361" y="598408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Y=3x+2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89627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 animBg="1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31840" y="476672"/>
            <a:ext cx="24649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Practice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051957" y="1400002"/>
                <a:ext cx="6624736" cy="5034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Graph the following lines </a:t>
                </a:r>
              </a:p>
              <a:p>
                <a:endParaRPr lang="en-AU" dirty="0"/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AU" dirty="0" smtClean="0"/>
                  <a:t>y= 2x+1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AU" dirty="0"/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AU" dirty="0" smtClean="0"/>
                  <a:t>y= -3x 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AU" dirty="0"/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AU" dirty="0" smtClean="0"/>
                  <a:t>y= x – 2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AU" dirty="0"/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AU" dirty="0" smtClean="0"/>
                  <a:t>y= 3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AU" dirty="0"/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AU" dirty="0" smtClean="0"/>
                  <a:t>y= -2x – 5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AU" dirty="0"/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AU" dirty="0" smtClean="0"/>
                  <a:t>y=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+1</m:t>
                    </m:r>
                  </m:oMath>
                </a14:m>
                <a:endParaRPr lang="en-AU" dirty="0" smtClean="0"/>
              </a:p>
              <a:p>
                <a:pPr marL="342900" indent="-342900">
                  <a:buFont typeface="+mj-lt"/>
                  <a:buAutoNum type="alphaLcParenR"/>
                </a:pPr>
                <a:endParaRPr lang="en-AU" dirty="0"/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−3</m:t>
                    </m:r>
                  </m:oMath>
                </a14:m>
                <a:endParaRPr lang="en-AU" b="0" dirty="0" smtClean="0"/>
              </a:p>
              <a:p>
                <a:pPr marL="342900" indent="-342900">
                  <a:buFont typeface="+mj-lt"/>
                  <a:buAutoNum type="alphaLcParenR"/>
                </a:pPr>
                <a:endParaRPr lang="en-AU" dirty="0" smtClean="0"/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+4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=8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957" y="1400002"/>
                <a:ext cx="6624736" cy="5034648"/>
              </a:xfrm>
              <a:prstGeom prst="rect">
                <a:avLst/>
              </a:prstGeom>
              <a:blipFill rotWithShape="1">
                <a:blip r:embed="rId2"/>
                <a:stretch>
                  <a:fillRect l="-829" t="-605" b="-6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5292080" y="2852936"/>
            <a:ext cx="3240360" cy="18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 smtClean="0"/>
              <a:t>Make sure you;</a:t>
            </a:r>
          </a:p>
          <a:p>
            <a:endParaRPr lang="en-AU" dirty="0" smtClean="0"/>
          </a:p>
          <a:p>
            <a:pPr marL="285750" indent="-285750">
              <a:buFontTx/>
              <a:buChar char="-"/>
            </a:pPr>
            <a:r>
              <a:rPr lang="en-AU" dirty="0" smtClean="0"/>
              <a:t>Label your graphs</a:t>
            </a:r>
          </a:p>
          <a:p>
            <a:pPr marL="285750" indent="-285750">
              <a:buFontTx/>
              <a:buChar char="-"/>
            </a:pPr>
            <a:r>
              <a:rPr lang="en-AU" dirty="0" smtClean="0"/>
              <a:t>Draw 4 per Cartesian plane</a:t>
            </a:r>
            <a:endParaRPr lang="en-AU" dirty="0"/>
          </a:p>
        </p:txBody>
      </p:sp>
      <p:pic>
        <p:nvPicPr>
          <p:cNvPr id="4098" name="Picture 2" descr="C:\Users\e4075868\AppData\Local\Microsoft\Windows\Temporary Internet Files\Content.IE5\RP2BT71J\students_partner_work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460423"/>
            <a:ext cx="2336777" cy="1879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474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Quick questions to finish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What are the gradients and </a:t>
            </a:r>
            <a:r>
              <a:rPr lang="en-AU" dirty="0" err="1" smtClean="0"/>
              <a:t>yint</a:t>
            </a:r>
            <a:r>
              <a:rPr lang="en-AU" dirty="0" smtClean="0"/>
              <a:t> of</a:t>
            </a:r>
          </a:p>
          <a:p>
            <a:pPr marL="0" indent="0">
              <a:buNone/>
            </a:pPr>
            <a:endParaRPr lang="en-AU" dirty="0" smtClean="0"/>
          </a:p>
          <a:p>
            <a:pPr marL="514350" indent="-514350">
              <a:buFont typeface="+mj-lt"/>
              <a:buAutoNum type="alphaLcParenR"/>
            </a:pPr>
            <a:r>
              <a:rPr lang="en-AU" dirty="0" smtClean="0"/>
              <a:t>y=4x+2</a:t>
            </a:r>
          </a:p>
          <a:p>
            <a:pPr marL="514350" indent="-514350">
              <a:buFont typeface="+mj-lt"/>
              <a:buAutoNum type="alphaLcParenR"/>
            </a:pPr>
            <a:endParaRPr lang="en-AU" dirty="0" smtClean="0"/>
          </a:p>
          <a:p>
            <a:pPr marL="514350" indent="-514350">
              <a:buFont typeface="+mj-lt"/>
              <a:buAutoNum type="alphaLcParenR"/>
            </a:pPr>
            <a:r>
              <a:rPr lang="en-AU" dirty="0" smtClean="0"/>
              <a:t>y=3x-1</a:t>
            </a:r>
          </a:p>
          <a:p>
            <a:pPr marL="514350" indent="-514350">
              <a:buFont typeface="+mj-lt"/>
              <a:buAutoNum type="alphaLcParenR"/>
            </a:pPr>
            <a:endParaRPr lang="en-AU" dirty="0" smtClean="0"/>
          </a:p>
          <a:p>
            <a:pPr marL="514350" indent="-514350">
              <a:buFont typeface="+mj-lt"/>
              <a:buAutoNum type="alphaLcParenR"/>
            </a:pPr>
            <a:r>
              <a:rPr lang="en-AU" dirty="0" smtClean="0"/>
              <a:t>3y= 9x+15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Quick questions to finish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 smtClean="0"/>
              <a:t>What are the gradients and </a:t>
            </a:r>
            <a:r>
              <a:rPr lang="en-AU" dirty="0" err="1" smtClean="0"/>
              <a:t>yint</a:t>
            </a:r>
            <a:r>
              <a:rPr lang="en-AU" dirty="0" smtClean="0"/>
              <a:t> of</a:t>
            </a:r>
          </a:p>
          <a:p>
            <a:pPr marL="514350" indent="-514350">
              <a:buFont typeface="+mj-lt"/>
              <a:buAutoNum type="alphaLcParenR"/>
            </a:pPr>
            <a:endParaRPr lang="en-AU" dirty="0" smtClean="0"/>
          </a:p>
          <a:p>
            <a:pPr marL="514350" indent="-514350">
              <a:buFont typeface="+mj-lt"/>
              <a:buAutoNum type="alphaLcParenR"/>
            </a:pPr>
            <a:r>
              <a:rPr lang="en-AU" dirty="0" smtClean="0"/>
              <a:t>y=4x+2</a:t>
            </a:r>
          </a:p>
          <a:p>
            <a:pPr marL="0" indent="0">
              <a:buNone/>
            </a:pPr>
            <a:r>
              <a:rPr lang="en-AU" dirty="0" smtClean="0">
                <a:solidFill>
                  <a:srgbClr val="FF0000"/>
                </a:solidFill>
              </a:rPr>
              <a:t>m= 4, </a:t>
            </a:r>
            <a:r>
              <a:rPr lang="en-AU" dirty="0" err="1" smtClean="0">
                <a:solidFill>
                  <a:srgbClr val="FF0000"/>
                </a:solidFill>
              </a:rPr>
              <a:t>yint</a:t>
            </a:r>
            <a:r>
              <a:rPr lang="en-AU" dirty="0" smtClean="0">
                <a:solidFill>
                  <a:srgbClr val="FF0000"/>
                </a:solidFill>
              </a:rPr>
              <a:t>= 2</a:t>
            </a:r>
            <a:endParaRPr lang="en-AU" dirty="0" smtClean="0"/>
          </a:p>
          <a:p>
            <a:pPr marL="514350" indent="-514350">
              <a:buFont typeface="+mj-lt"/>
              <a:buAutoNum type="alphaLcParenR"/>
            </a:pPr>
            <a:r>
              <a:rPr lang="en-AU" dirty="0" smtClean="0"/>
              <a:t>y=3x-1</a:t>
            </a:r>
          </a:p>
          <a:p>
            <a:pPr marL="0" indent="0">
              <a:buNone/>
            </a:pPr>
            <a:r>
              <a:rPr lang="en-AU" dirty="0" smtClean="0">
                <a:solidFill>
                  <a:srgbClr val="FF0000"/>
                </a:solidFill>
              </a:rPr>
              <a:t>m= 3 , </a:t>
            </a:r>
            <a:r>
              <a:rPr lang="en-AU" dirty="0" err="1" smtClean="0">
                <a:solidFill>
                  <a:srgbClr val="FF0000"/>
                </a:solidFill>
              </a:rPr>
              <a:t>yint</a:t>
            </a:r>
            <a:r>
              <a:rPr lang="en-AU" dirty="0" smtClean="0">
                <a:solidFill>
                  <a:srgbClr val="FF0000"/>
                </a:solidFill>
              </a:rPr>
              <a:t>= -1</a:t>
            </a:r>
            <a:endParaRPr lang="en-AU" dirty="0" smtClean="0"/>
          </a:p>
          <a:p>
            <a:pPr marL="514350" indent="-514350">
              <a:buFont typeface="+mj-lt"/>
              <a:buAutoNum type="alphaLcParenR"/>
            </a:pPr>
            <a:r>
              <a:rPr lang="en-AU" dirty="0" smtClean="0"/>
              <a:t>3y= 9x+15</a:t>
            </a:r>
          </a:p>
          <a:p>
            <a:pPr marL="0" indent="0">
              <a:buNone/>
            </a:pPr>
            <a:r>
              <a:rPr lang="en-AU" dirty="0" smtClean="0">
                <a:solidFill>
                  <a:srgbClr val="FF0000"/>
                </a:solidFill>
              </a:rPr>
              <a:t>m= 3, </a:t>
            </a:r>
            <a:r>
              <a:rPr lang="en-AU" dirty="0" err="1" smtClean="0">
                <a:solidFill>
                  <a:srgbClr val="FF0000"/>
                </a:solidFill>
              </a:rPr>
              <a:t>yint</a:t>
            </a:r>
            <a:r>
              <a:rPr lang="en-AU" dirty="0" smtClean="0">
                <a:solidFill>
                  <a:srgbClr val="FF0000"/>
                </a:solidFill>
              </a:rPr>
              <a:t>= 5</a:t>
            </a:r>
            <a:endParaRPr lang="en-AU" dirty="0" smtClean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 rot="18167735">
            <a:off x="-284695" y="664561"/>
            <a:ext cx="24791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u="sng" dirty="0" smtClean="0">
                <a:solidFill>
                  <a:srgbClr val="FF0000"/>
                </a:solidFill>
                <a:latin typeface="Stencil" pitchFamily="82" charset="0"/>
              </a:rPr>
              <a:t>Solutions</a:t>
            </a:r>
            <a:endParaRPr lang="en-AU" sz="3200" u="sng" dirty="0">
              <a:solidFill>
                <a:srgbClr val="FF0000"/>
              </a:solidFill>
              <a:latin typeface="Stencil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28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1496</TotalTime>
  <Words>400</Words>
  <Application>Microsoft Office PowerPoint</Application>
  <PresentationFormat>On-screen Show (4:3)</PresentationFormat>
  <Paragraphs>95</Paragraphs>
  <Slides>12</Slides>
  <Notes>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Office Theme</vt:lpstr>
      <vt:lpstr>MHelp</vt:lpstr>
      <vt:lpstr>Why is Mr Morgan overweight?</vt:lpstr>
      <vt:lpstr>PowerPoint Presentation</vt:lpstr>
      <vt:lpstr>Graphing it looks like this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Quick questions to finish</vt:lpstr>
      <vt:lpstr>Quick questions to finish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15</cp:revision>
  <dcterms:created xsi:type="dcterms:W3CDTF">2016-10-20T03:14:06Z</dcterms:created>
  <dcterms:modified xsi:type="dcterms:W3CDTF">2017-03-14T08:04:58Z</dcterms:modified>
</cp:coreProperties>
</file>
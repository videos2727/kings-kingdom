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7" r:id="rId3"/>
    <p:sldId id="268" r:id="rId4"/>
    <p:sldId id="264" r:id="rId5"/>
    <p:sldId id="260" r:id="rId6"/>
    <p:sldId id="266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</a:t>
            </a:r>
            <a:r>
              <a:rPr lang="en-AU" baseline="0" dirty="0" smtClean="0"/>
              <a:t> practice Get the students to graph the lines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Hotdog and Sodas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are running a hotdog stand where you sell hotdogs and soda. Each hot dogs cost $1.50 and each soda costs $0.50 an you made a total of $78.50. </a:t>
            </a:r>
            <a:r>
              <a:rPr lang="en-AU" dirty="0"/>
              <a:t> </a:t>
            </a:r>
            <a:r>
              <a:rPr lang="en-AU" dirty="0" smtClean="0"/>
              <a:t>You sold a total of 87 hotdogs and sodas combined. You must report the total number of hotdogs and sodas sold. How many of each were sold?</a:t>
            </a:r>
            <a:endParaRPr lang="en-AU" dirty="0" smtClean="0"/>
          </a:p>
        </p:txBody>
      </p:sp>
      <p:pic>
        <p:nvPicPr>
          <p:cNvPr id="3074" name="Picture 2" descr="C:\Users\e4075868\AppData\Local\Microsoft\Windows\Temporary Internet Files\Content.IE5\4JPRA91W\hot-dog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60648"/>
            <a:ext cx="1235519" cy="132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e4075868\AppData\Local\Microsoft\Windows\Temporary Internet Files\Content.IE5\JODDZX2B\soda-clip-art-17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475" y="339711"/>
            <a:ext cx="975476" cy="125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9552" y="188640"/>
                <a:ext cx="8229600" cy="64087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You are running a hotdog stand where you sell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hotdogs (h)</a:t>
                </a:r>
                <a:r>
                  <a:rPr lang="en-AU" dirty="0" smtClean="0"/>
                  <a:t> and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soda (s)</a:t>
                </a:r>
                <a:r>
                  <a:rPr lang="en-AU" dirty="0" smtClean="0"/>
                  <a:t>. Each hot dogs cost </a:t>
                </a:r>
                <a:r>
                  <a:rPr lang="en-AU" dirty="0">
                    <a:solidFill>
                      <a:srgbClr val="FF0000"/>
                    </a:solidFill>
                  </a:rPr>
                  <a:t>$1.50 </a:t>
                </a:r>
                <a:r>
                  <a:rPr lang="en-AU" dirty="0"/>
                  <a:t>and each soda costs </a:t>
                </a:r>
                <a:r>
                  <a:rPr lang="en-AU" dirty="0">
                    <a:solidFill>
                      <a:srgbClr val="FF0000"/>
                    </a:solidFill>
                  </a:rPr>
                  <a:t>$0.50 </a:t>
                </a:r>
                <a:r>
                  <a:rPr lang="en-AU" dirty="0"/>
                  <a:t>an you made a total of </a:t>
                </a:r>
                <a:r>
                  <a:rPr lang="en-AU" dirty="0">
                    <a:solidFill>
                      <a:srgbClr val="FF0000"/>
                    </a:solidFill>
                  </a:rPr>
                  <a:t>$78.50</a:t>
                </a:r>
                <a:r>
                  <a:rPr lang="en-AU" dirty="0"/>
                  <a:t>.  You sold a total of</a:t>
                </a:r>
                <a:r>
                  <a:rPr lang="en-AU" dirty="0">
                    <a:solidFill>
                      <a:schemeClr val="accent3"/>
                    </a:solidFill>
                  </a:rPr>
                  <a:t> 87 </a:t>
                </a:r>
                <a:r>
                  <a:rPr lang="en-AU" dirty="0"/>
                  <a:t>hotdogs and sodas combined. You must report the total number of hotdogs and sodas sold. How many of each were sold</a:t>
                </a:r>
                <a:r>
                  <a:rPr lang="en-AU" dirty="0" smtClean="0"/>
                  <a:t>?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 smtClean="0"/>
                  <a:t>We can make 2 equations for this situation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1.50</m:t>
                      </m:r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h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0.5</m:t>
                      </m:r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𝑠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78.50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h</m:t>
                      </m:r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𝑠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accent3"/>
                          </a:solidFill>
                          <a:latin typeface="Cambria Math"/>
                        </a:rPr>
                        <m:t>87</m:t>
                      </m:r>
                    </m:oMath>
                  </m:oMathPara>
                </a14:m>
                <a:endParaRPr lang="en-AU" dirty="0" smtClean="0">
                  <a:solidFill>
                    <a:schemeClr val="accent3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b="1" u="sng" dirty="0">
                    <a:ln w="11430"/>
                    <a:gradFill>
                      <a:gsLst>
                        <a:gs pos="0">
                          <a:schemeClr val="accent6">
                            <a:tint val="90000"/>
                            <a:satMod val="120000"/>
                          </a:schemeClr>
                        </a:gs>
                        <a:gs pos="25000">
                          <a:schemeClr val="accent6">
                            <a:tint val="93000"/>
                            <a:satMod val="120000"/>
                          </a:schemeClr>
                        </a:gs>
                        <a:gs pos="50000">
                          <a:schemeClr val="accent6">
                            <a:shade val="89000"/>
                            <a:satMod val="110000"/>
                          </a:schemeClr>
                        </a:gs>
                        <a:gs pos="75000">
                          <a:schemeClr val="accent6">
                            <a:tint val="93000"/>
                            <a:satMod val="120000"/>
                          </a:schemeClr>
                        </a:gs>
                        <a:gs pos="100000">
                          <a:schemeClr val="accent6">
                            <a:tint val="90000"/>
                            <a:satMod val="120000"/>
                          </a:schemeClr>
                        </a:gs>
                      </a:gsLst>
                      <a:lin ang="5400000"/>
                    </a:gradFill>
                    <a:effectLst>
                      <a:outerShdw blurRad="80000" dist="40000" dir="5040000" algn="tl">
                        <a:srgbClr val="000000">
                          <a:alpha val="30000"/>
                        </a:srgbClr>
                      </a:outerShdw>
                    </a:effectLst>
                  </a:rPr>
                  <a:t>Your questions wont be this hard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88640"/>
                <a:ext cx="8229600" cy="6408712"/>
              </a:xfrm>
              <a:blipFill rotWithShape="1">
                <a:blip r:embed="rId2"/>
                <a:stretch>
                  <a:fillRect l="-1926" t="-1237" r="-667" b="-1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5757664" y="3573016"/>
            <a:ext cx="3384376" cy="165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04664"/>
                <a:ext cx="8229600" cy="572149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1.50</m:t>
                      </m:r>
                      <m:r>
                        <a:rPr lang="en-AU" i="1">
                          <a:solidFill>
                            <a:schemeClr val="accent1"/>
                          </a:solidFill>
                          <a:latin typeface="Cambria Math"/>
                        </a:rPr>
                        <m:t>h</m:t>
                      </m:r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0.5</m:t>
                      </m:r>
                      <m:r>
                        <a:rPr lang="en-AU" i="1">
                          <a:solidFill>
                            <a:schemeClr val="accent1"/>
                          </a:solidFill>
                          <a:latin typeface="Cambria Math"/>
                        </a:rPr>
                        <m:t>𝑠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/>
                        </a:rPr>
                        <m:t>78.50</m:t>
                      </m:r>
                    </m:oMath>
                    <m:oMath xmlns:m="http://schemas.openxmlformats.org/officeDocument/2006/math">
                      <m:r>
                        <a:rPr lang="en-AU" i="1">
                          <a:solidFill>
                            <a:schemeClr val="accent1"/>
                          </a:solidFill>
                          <a:latin typeface="Cambria Math"/>
                        </a:rPr>
                        <m:t>h</m:t>
                      </m:r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i="1">
                          <a:solidFill>
                            <a:schemeClr val="accent1"/>
                          </a:solidFill>
                          <a:latin typeface="Cambria Math"/>
                        </a:rPr>
                        <m:t>𝑠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i="1">
                          <a:solidFill>
                            <a:schemeClr val="accent3"/>
                          </a:solidFill>
                          <a:latin typeface="Cambria Math"/>
                        </a:rPr>
                        <m:t>87</m:t>
                      </m:r>
                    </m:oMath>
                  </m:oMathPara>
                </a14:m>
                <a:endParaRPr lang="en-AU" dirty="0">
                  <a:solidFill>
                    <a:schemeClr val="accent3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If we graph these lines it looks like this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04664"/>
                <a:ext cx="8229600" cy="5721499"/>
              </a:xfrm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5213995" cy="359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8144" y="3913600"/>
            <a:ext cx="32766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400" dirty="0" smtClean="0">
                <a:solidFill>
                  <a:schemeClr val="bg1"/>
                </a:solidFill>
              </a:rPr>
              <a:t>So they sold </a:t>
            </a:r>
          </a:p>
          <a:p>
            <a:pPr algn="ctr"/>
            <a:r>
              <a:rPr lang="en-AU" sz="2400" dirty="0" smtClean="0">
                <a:solidFill>
                  <a:schemeClr val="bg1"/>
                </a:solidFill>
              </a:rPr>
              <a:t>35 hotdogs and 52 sodas</a:t>
            </a:r>
            <a:endParaRPr lang="en-A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68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6822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solve equations simultaneously using a graphs?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76509" y="2184588"/>
                <a:ext cx="8765861" cy="313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Solving equations simultaneously, is finding a value for x and y that satisfies both equations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The simultaneous solution is where the graphs of each equation cross each other.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Example: Find the simultaneous solution for the following 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+2 </m:t>
                      </m:r>
                      <m:r>
                        <a:rPr lang="en-AU" i="1">
                          <a:latin typeface="Cambria Math"/>
                        </a:rPr>
                        <m:t>𝑎𝑛𝑑</m:t>
                      </m:r>
                      <m:r>
                        <a:rPr lang="en-AU" i="1">
                          <a:latin typeface="Cambria Math"/>
                        </a:rPr>
                        <m:t> 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=−2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AU" dirty="0"/>
              </a:p>
              <a:p>
                <a:endParaRPr lang="en-AU" dirty="0" smtClean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09" y="2184588"/>
                <a:ext cx="8765861" cy="3139321"/>
              </a:xfrm>
              <a:prstGeom prst="rect">
                <a:avLst/>
              </a:prstGeom>
              <a:blipFill rotWithShape="1">
                <a:blip r:embed="rId3"/>
                <a:stretch>
                  <a:fillRect l="-556" t="-9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solve equations simultaneously using a graphs?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143725" y="1916832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+2 </m:t>
                      </m:r>
                      <m:r>
                        <a:rPr lang="en-AU" i="1">
                          <a:latin typeface="Cambria Math"/>
                        </a:rPr>
                        <m:t>𝑎𝑛𝑑</m:t>
                      </m:r>
                      <m:r>
                        <a:rPr lang="en-AU" i="1">
                          <a:latin typeface="Cambria Math"/>
                        </a:rPr>
                        <m:t> 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=−2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AU" dirty="0" smtClean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725" y="1916832"/>
                <a:ext cx="4572000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885971" y="3140968"/>
            <a:ext cx="65532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Step 1: Graph each of the lines</a:t>
            </a:r>
          </a:p>
          <a:p>
            <a:endParaRPr lang="en-AU" dirty="0" smtClean="0"/>
          </a:p>
          <a:p>
            <a:r>
              <a:rPr lang="en-AU" dirty="0" smtClean="0"/>
              <a:t>Step 2: Find the point where the lines intersect. (this is our solution)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60648"/>
            <a:ext cx="5819775" cy="521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294872" y="5680828"/>
                <a:ext cx="31105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+2 </m:t>
                      </m:r>
                      <m:r>
                        <a:rPr lang="en-AU" i="1">
                          <a:latin typeface="Cambria Math"/>
                        </a:rPr>
                        <m:t>𝑎𝑛𝑑</m:t>
                      </m:r>
                      <m:r>
                        <a:rPr lang="en-AU" i="1">
                          <a:latin typeface="Cambria Math"/>
                        </a:rPr>
                        <m:t> 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=−2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872" y="5680828"/>
                <a:ext cx="3110531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275856" y="6165304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simultaneous solution is when x=1 and y=4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192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AU" dirty="0" smtClean="0"/>
              <a:t>Have a go at these (</a:t>
            </a:r>
            <a:r>
              <a:rPr lang="en-AU" dirty="0" err="1" smtClean="0"/>
              <a:t>pg</a:t>
            </a:r>
            <a:r>
              <a:rPr lang="en-AU" dirty="0" smtClean="0"/>
              <a:t> 540 Nelson)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1124744"/>
            <a:ext cx="5705475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Write your summary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What are the steps to solving a set of equations graphically?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Be prepared for the Index laws mini </a:t>
            </a:r>
            <a:r>
              <a:rPr lang="en-AU" dirty="0" err="1" smtClean="0"/>
              <a:t>mini</a:t>
            </a:r>
            <a:r>
              <a:rPr lang="en-AU" smtClean="0"/>
              <a:t> test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371</Words>
  <Application>Microsoft Office PowerPoint</Application>
  <PresentationFormat>On-screen Show (4:3)</PresentationFormat>
  <Paragraphs>65</Paragraphs>
  <Slides>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Hotdog and Sodas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Have a go at these (pg 540 Nelson)</vt:lpstr>
      <vt:lpstr>Write your summary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10</cp:revision>
  <dcterms:created xsi:type="dcterms:W3CDTF">2016-10-20T03:14:06Z</dcterms:created>
  <dcterms:modified xsi:type="dcterms:W3CDTF">2017-03-15T08:01:34Z</dcterms:modified>
</cp:coreProperties>
</file>
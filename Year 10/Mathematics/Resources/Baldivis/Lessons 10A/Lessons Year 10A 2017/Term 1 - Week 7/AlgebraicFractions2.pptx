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3" r:id="rId2"/>
    <p:sldId id="264" r:id="rId3"/>
    <p:sldId id="257" r:id="rId4"/>
    <p:sldId id="258" r:id="rId5"/>
    <p:sldId id="270" r:id="rId6"/>
    <p:sldId id="271" r:id="rId7"/>
    <p:sldId id="260" r:id="rId8"/>
    <p:sldId id="272" r:id="rId9"/>
    <p:sldId id="268" r:id="rId10"/>
    <p:sldId id="273" r:id="rId11"/>
    <p:sldId id="269" r:id="rId12"/>
    <p:sldId id="274" r:id="rId13"/>
    <p:sldId id="266" r:id="rId14"/>
    <p:sldId id="267" r:id="rId15"/>
    <p:sldId id="262" r:id="rId16"/>
    <p:sldId id="265"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1152"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4AA477-598F-4CCF-8F1A-33D43F97EEB0}" type="datetimeFigureOut">
              <a:rPr lang="en-AU" smtClean="0"/>
              <a:t>13/03/2017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91AD3D9-0B11-4189-8D45-47537C1CF889}" type="slidenum">
              <a:rPr lang="en-AU" smtClean="0"/>
              <a:t>‹#›</a:t>
            </a:fld>
            <a:endParaRPr lang="en-AU"/>
          </a:p>
        </p:txBody>
      </p:sp>
    </p:spTree>
    <p:extLst>
      <p:ext uri="{BB962C8B-B14F-4D97-AF65-F5344CB8AC3E}">
        <p14:creationId xmlns:p14="http://schemas.microsoft.com/office/powerpoint/2010/main" val="336072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hook</a:t>
            </a:r>
          </a:p>
        </p:txBody>
      </p:sp>
      <p:sp>
        <p:nvSpPr>
          <p:cNvPr id="4" name="Slide Number Placeholder 3"/>
          <p:cNvSpPr>
            <a:spLocks noGrp="1"/>
          </p:cNvSpPr>
          <p:nvPr>
            <p:ph type="sldNum" sz="quarter" idx="10"/>
          </p:nvPr>
        </p:nvSpPr>
        <p:spPr/>
        <p:txBody>
          <a:bodyPr/>
          <a:lstStyle/>
          <a:p>
            <a:fld id="{A91AD3D9-0B11-4189-8D45-47537C1CF889}" type="slidenum">
              <a:rPr lang="en-AU" smtClean="0"/>
              <a:t>1</a:t>
            </a:fld>
            <a:endParaRPr lang="en-AU"/>
          </a:p>
        </p:txBody>
      </p:sp>
    </p:spTree>
    <p:extLst>
      <p:ext uri="{BB962C8B-B14F-4D97-AF65-F5344CB8AC3E}">
        <p14:creationId xmlns:p14="http://schemas.microsoft.com/office/powerpoint/2010/main" val="503413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a:t>
            </a:r>
            <a:r>
              <a:rPr lang="en-AU" baseline="0" dirty="0"/>
              <a:t> objective (EQ)</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2</a:t>
            </a:fld>
            <a:endParaRPr lang="en-AU"/>
          </a:p>
        </p:txBody>
      </p:sp>
    </p:spTree>
    <p:extLst>
      <p:ext uri="{BB962C8B-B14F-4D97-AF65-F5344CB8AC3E}">
        <p14:creationId xmlns:p14="http://schemas.microsoft.com/office/powerpoint/2010/main" val="1425863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 </a:t>
            </a:r>
          </a:p>
        </p:txBody>
      </p:sp>
      <p:sp>
        <p:nvSpPr>
          <p:cNvPr id="4" name="Slide Number Placeholder 3"/>
          <p:cNvSpPr>
            <a:spLocks noGrp="1"/>
          </p:cNvSpPr>
          <p:nvPr>
            <p:ph type="sldNum" sz="quarter" idx="10"/>
          </p:nvPr>
        </p:nvSpPr>
        <p:spPr/>
        <p:txBody>
          <a:bodyPr/>
          <a:lstStyle/>
          <a:p>
            <a:fld id="{A91AD3D9-0B11-4189-8D45-47537C1CF889}" type="slidenum">
              <a:rPr lang="en-AU" smtClean="0"/>
              <a:t>3</a:t>
            </a:fld>
            <a:endParaRPr lang="en-AU"/>
          </a:p>
        </p:txBody>
      </p:sp>
    </p:spTree>
    <p:extLst>
      <p:ext uri="{BB962C8B-B14F-4D97-AF65-F5344CB8AC3E}">
        <p14:creationId xmlns:p14="http://schemas.microsoft.com/office/powerpoint/2010/main" val="3063427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5</a:t>
            </a:fld>
            <a:endParaRPr lang="en-AU"/>
          </a:p>
        </p:txBody>
      </p:sp>
    </p:spTree>
    <p:extLst>
      <p:ext uri="{BB962C8B-B14F-4D97-AF65-F5344CB8AC3E}">
        <p14:creationId xmlns:p14="http://schemas.microsoft.com/office/powerpoint/2010/main" val="818738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6</a:t>
            </a:fld>
            <a:endParaRPr lang="en-AU"/>
          </a:p>
        </p:txBody>
      </p:sp>
    </p:spTree>
    <p:extLst>
      <p:ext uri="{BB962C8B-B14F-4D97-AF65-F5344CB8AC3E}">
        <p14:creationId xmlns:p14="http://schemas.microsoft.com/office/powerpoint/2010/main" val="4074920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7</a:t>
            </a:fld>
            <a:endParaRPr lang="en-AU"/>
          </a:p>
        </p:txBody>
      </p:sp>
    </p:spTree>
    <p:extLst>
      <p:ext uri="{BB962C8B-B14F-4D97-AF65-F5344CB8AC3E}">
        <p14:creationId xmlns:p14="http://schemas.microsoft.com/office/powerpoint/2010/main" val="3254196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8</a:t>
            </a:fld>
            <a:endParaRPr lang="en-AU"/>
          </a:p>
        </p:txBody>
      </p:sp>
    </p:spTree>
    <p:extLst>
      <p:ext uri="{BB962C8B-B14F-4D97-AF65-F5344CB8AC3E}">
        <p14:creationId xmlns:p14="http://schemas.microsoft.com/office/powerpoint/2010/main" val="1278414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9</a:t>
            </a:fld>
            <a:endParaRPr lang="en-AU"/>
          </a:p>
        </p:txBody>
      </p:sp>
    </p:spTree>
    <p:extLst>
      <p:ext uri="{BB962C8B-B14F-4D97-AF65-F5344CB8AC3E}">
        <p14:creationId xmlns:p14="http://schemas.microsoft.com/office/powerpoint/2010/main" val="3598203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10</a:t>
            </a:fld>
            <a:endParaRPr lang="en-AU"/>
          </a:p>
        </p:txBody>
      </p:sp>
    </p:spTree>
    <p:extLst>
      <p:ext uri="{BB962C8B-B14F-4D97-AF65-F5344CB8AC3E}">
        <p14:creationId xmlns:p14="http://schemas.microsoft.com/office/powerpoint/2010/main" val="3320657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11</a:t>
            </a:fld>
            <a:endParaRPr lang="en-AU"/>
          </a:p>
        </p:txBody>
      </p:sp>
    </p:spTree>
    <p:extLst>
      <p:ext uri="{BB962C8B-B14F-4D97-AF65-F5344CB8AC3E}">
        <p14:creationId xmlns:p14="http://schemas.microsoft.com/office/powerpoint/2010/main" val="1144385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12</a:t>
            </a:fld>
            <a:endParaRPr lang="en-AU"/>
          </a:p>
        </p:txBody>
      </p:sp>
    </p:spTree>
    <p:extLst>
      <p:ext uri="{BB962C8B-B14F-4D97-AF65-F5344CB8AC3E}">
        <p14:creationId xmlns:p14="http://schemas.microsoft.com/office/powerpoint/2010/main" val="2871878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Check</a:t>
            </a:r>
            <a:r>
              <a:rPr lang="en-AU" baseline="0" dirty="0"/>
              <a:t> for understanding</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13</a:t>
            </a:fld>
            <a:endParaRPr lang="en-AU"/>
          </a:p>
        </p:txBody>
      </p:sp>
    </p:spTree>
    <p:extLst>
      <p:ext uri="{BB962C8B-B14F-4D97-AF65-F5344CB8AC3E}">
        <p14:creationId xmlns:p14="http://schemas.microsoft.com/office/powerpoint/2010/main" val="3416884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Guided practice</a:t>
            </a:r>
          </a:p>
        </p:txBody>
      </p:sp>
      <p:sp>
        <p:nvSpPr>
          <p:cNvPr id="4" name="Slide Number Placeholder 3"/>
          <p:cNvSpPr>
            <a:spLocks noGrp="1"/>
          </p:cNvSpPr>
          <p:nvPr>
            <p:ph type="sldNum" sz="quarter" idx="10"/>
          </p:nvPr>
        </p:nvSpPr>
        <p:spPr/>
        <p:txBody>
          <a:bodyPr/>
          <a:lstStyle/>
          <a:p>
            <a:fld id="{A91AD3D9-0B11-4189-8D45-47537C1CF889}" type="slidenum">
              <a:rPr lang="en-AU" smtClean="0"/>
              <a:t>14</a:t>
            </a:fld>
            <a:endParaRPr lang="en-AU"/>
          </a:p>
        </p:txBody>
      </p:sp>
    </p:spTree>
    <p:extLst>
      <p:ext uri="{BB962C8B-B14F-4D97-AF65-F5344CB8AC3E}">
        <p14:creationId xmlns:p14="http://schemas.microsoft.com/office/powerpoint/2010/main" val="478043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Independent practice </a:t>
            </a:r>
          </a:p>
        </p:txBody>
      </p:sp>
      <p:sp>
        <p:nvSpPr>
          <p:cNvPr id="4" name="Slide Number Placeholder 3"/>
          <p:cNvSpPr>
            <a:spLocks noGrp="1"/>
          </p:cNvSpPr>
          <p:nvPr>
            <p:ph type="sldNum" sz="quarter" idx="10"/>
          </p:nvPr>
        </p:nvSpPr>
        <p:spPr/>
        <p:txBody>
          <a:bodyPr/>
          <a:lstStyle/>
          <a:p>
            <a:fld id="{A91AD3D9-0B11-4189-8D45-47537C1CF889}" type="slidenum">
              <a:rPr lang="en-AU" smtClean="0"/>
              <a:t>15</a:t>
            </a:fld>
            <a:endParaRPr lang="en-AU"/>
          </a:p>
        </p:txBody>
      </p:sp>
    </p:spTree>
    <p:extLst>
      <p:ext uri="{BB962C8B-B14F-4D97-AF65-F5344CB8AC3E}">
        <p14:creationId xmlns:p14="http://schemas.microsoft.com/office/powerpoint/2010/main" val="18466939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Closure</a:t>
            </a:r>
          </a:p>
        </p:txBody>
      </p:sp>
      <p:sp>
        <p:nvSpPr>
          <p:cNvPr id="4" name="Slide Number Placeholder 3"/>
          <p:cNvSpPr>
            <a:spLocks noGrp="1"/>
          </p:cNvSpPr>
          <p:nvPr>
            <p:ph type="sldNum" sz="quarter" idx="10"/>
          </p:nvPr>
        </p:nvSpPr>
        <p:spPr/>
        <p:txBody>
          <a:bodyPr/>
          <a:lstStyle/>
          <a:p>
            <a:fld id="{A91AD3D9-0B11-4189-8D45-47537C1CF889}" type="slidenum">
              <a:rPr lang="en-AU" smtClean="0"/>
              <a:t>16</a:t>
            </a:fld>
            <a:endParaRPr lang="en-AU"/>
          </a:p>
        </p:txBody>
      </p:sp>
    </p:spTree>
    <p:extLst>
      <p:ext uri="{BB962C8B-B14F-4D97-AF65-F5344CB8AC3E}">
        <p14:creationId xmlns:p14="http://schemas.microsoft.com/office/powerpoint/2010/main" val="360651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13/03/2017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973629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13/03/2017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448002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971031-8C33-4876-9169-26F597F7E7C1}" type="datetimeFigureOut">
              <a:rPr lang="en-AU" smtClean="0"/>
              <a:t>13/03/2017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3647504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F971031-8C33-4876-9169-26F597F7E7C1}" type="datetimeFigureOut">
              <a:rPr lang="en-AU" smtClean="0"/>
              <a:t>13/03/2017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550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AF971031-8C33-4876-9169-26F597F7E7C1}" type="datetimeFigureOut">
              <a:rPr lang="en-AU" smtClean="0"/>
              <a:t>13/03/2017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2132040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AF971031-8C33-4876-9169-26F597F7E7C1}" type="datetimeFigureOut">
              <a:rPr lang="en-AU" smtClean="0"/>
              <a:t>13/03/2017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17742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971031-8C33-4876-9169-26F597F7E7C1}" type="datetimeFigureOut">
              <a:rPr lang="en-AU" smtClean="0"/>
              <a:t>13/03/2017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053289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971031-8C33-4876-9169-26F597F7E7C1}" type="datetimeFigureOut">
              <a:rPr lang="en-AU" smtClean="0"/>
              <a:t>13/03/2017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909211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971031-8C33-4876-9169-26F597F7E7C1}" type="datetimeFigureOut">
              <a:rPr lang="en-AU" smtClean="0"/>
              <a:t>13/03/2017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3143380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13/03/2017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379636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13/03/2017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3992835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71031-8C33-4876-9169-26F597F7E7C1}" type="datetimeFigureOut">
              <a:rPr lang="en-AU" smtClean="0"/>
              <a:t>13/03/2017</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5B1127-360E-4A81-8847-9F94642454F8}" type="slidenum">
              <a:rPr lang="en-AU" smtClean="0"/>
              <a:t>‹#›</a:t>
            </a:fld>
            <a:endParaRPr lang="en-AU"/>
          </a:p>
        </p:txBody>
      </p:sp>
    </p:spTree>
    <p:extLst>
      <p:ext uri="{BB962C8B-B14F-4D97-AF65-F5344CB8AC3E}">
        <p14:creationId xmlns:p14="http://schemas.microsoft.com/office/powerpoint/2010/main" val="85598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Mental set</a:t>
            </a:r>
          </a:p>
        </p:txBody>
      </p:sp>
      <p:sp>
        <p:nvSpPr>
          <p:cNvPr id="3" name="Content Placeholder 2"/>
          <p:cNvSpPr>
            <a:spLocks noGrp="1"/>
          </p:cNvSpPr>
          <p:nvPr>
            <p:ph idx="1"/>
          </p:nvPr>
        </p:nvSpPr>
        <p:spPr/>
        <p:txBody>
          <a:bodyPr/>
          <a:lstStyle/>
          <a:p>
            <a:pPr marL="0" indent="0">
              <a:buNone/>
            </a:pPr>
            <a:r>
              <a:rPr lang="en-AU" dirty="0" err="1"/>
              <a:t>Kahoot</a:t>
            </a:r>
            <a:endParaRPr lang="en-AU" dirty="0"/>
          </a:p>
        </p:txBody>
      </p:sp>
    </p:spTree>
    <p:extLst>
      <p:ext uri="{BB962C8B-B14F-4D97-AF65-F5344CB8AC3E}">
        <p14:creationId xmlns:p14="http://schemas.microsoft.com/office/powerpoint/2010/main" val="3200671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821059" cy="523220"/>
          </a:xfrm>
          <a:prstGeom prst="rect">
            <a:avLst/>
          </a:prstGeom>
          <a:noFill/>
        </p:spPr>
        <p:txBody>
          <a:bodyPr wrap="none" rtlCol="0">
            <a:spAutoFit/>
          </a:bodyPr>
          <a:lstStyle/>
          <a:p>
            <a:r>
              <a:rPr lang="en-AU" sz="2800" dirty="0"/>
              <a:t>Title</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EQ –</a:t>
            </a:r>
          </a:p>
        </p:txBody>
      </p:sp>
    </p:spTree>
    <p:extLst>
      <p:ext uri="{BB962C8B-B14F-4D97-AF65-F5344CB8AC3E}">
        <p14:creationId xmlns:p14="http://schemas.microsoft.com/office/powerpoint/2010/main" val="321455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Lesson objective</a:t>
            </a:r>
          </a:p>
        </p:txBody>
      </p:sp>
      <p:sp>
        <p:nvSpPr>
          <p:cNvPr id="3" name="Content Placeholder 2"/>
          <p:cNvSpPr>
            <a:spLocks noGrp="1"/>
          </p:cNvSpPr>
          <p:nvPr>
            <p:ph idx="1"/>
          </p:nvPr>
        </p:nvSpPr>
        <p:spPr/>
        <p:txBody>
          <a:bodyPr/>
          <a:lstStyle/>
          <a:p>
            <a:pPr marL="0" indent="0">
              <a:buNone/>
            </a:pPr>
            <a:r>
              <a:rPr lang="en-AU" dirty="0"/>
              <a:t>By the end of this lesson you will be able to;</a:t>
            </a:r>
          </a:p>
          <a:p>
            <a:pPr marL="0" indent="0">
              <a:buNone/>
            </a:pPr>
            <a:r>
              <a:rPr lang="en-AU" dirty="0"/>
              <a:t>- Use all 4 operations with Algebraic Fractions with Algebraic Denominators</a:t>
            </a:r>
          </a:p>
        </p:txBody>
      </p:sp>
    </p:spTree>
    <p:extLst>
      <p:ext uri="{BB962C8B-B14F-4D97-AF65-F5344CB8AC3E}">
        <p14:creationId xmlns:p14="http://schemas.microsoft.com/office/powerpoint/2010/main" val="1167979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Success Criteria</a:t>
            </a:r>
          </a:p>
        </p:txBody>
      </p:sp>
      <p:sp>
        <p:nvSpPr>
          <p:cNvPr id="3" name="Content Placeholder 2"/>
          <p:cNvSpPr>
            <a:spLocks noGrp="1"/>
          </p:cNvSpPr>
          <p:nvPr>
            <p:ph idx="1"/>
          </p:nvPr>
        </p:nvSpPr>
        <p:spPr/>
        <p:txBody>
          <a:bodyPr/>
          <a:lstStyle/>
          <a:p>
            <a:pPr marL="0" indent="0">
              <a:buNone/>
            </a:pPr>
            <a:r>
              <a:rPr lang="en-AU" dirty="0"/>
              <a:t>You will know you are successful in achieving the objective by…</a:t>
            </a:r>
          </a:p>
        </p:txBody>
      </p:sp>
    </p:spTree>
    <p:extLst>
      <p:ext uri="{BB962C8B-B14F-4D97-AF65-F5344CB8AC3E}">
        <p14:creationId xmlns:p14="http://schemas.microsoft.com/office/powerpoint/2010/main" val="3209397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1</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523220"/>
          </a:xfrm>
          <a:prstGeom prst="rect">
            <a:avLst/>
          </a:prstGeom>
          <a:noFill/>
        </p:spPr>
        <p:txBody>
          <a:bodyPr wrap="none" rtlCol="0">
            <a:spAutoFit/>
          </a:bodyPr>
          <a:lstStyle/>
          <a:p>
            <a:r>
              <a:rPr lang="en-AU" sz="2800" dirty="0"/>
              <a:t>Algebraic Fractions</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How to use Addition with algebraic fractions with algebraic denominators.</a:t>
            </a:r>
          </a:p>
        </p:txBody>
      </p:sp>
      <mc:AlternateContent xmlns:mc="http://schemas.openxmlformats.org/markup-compatibility/2006">
        <mc:Choice xmlns:a14="http://schemas.microsoft.com/office/drawing/2010/main" Requires="a14">
          <p:sp>
            <p:nvSpPr>
              <p:cNvPr id="5" name="TextBox 4"/>
              <p:cNvSpPr txBox="1"/>
              <p:nvPr/>
            </p:nvSpPr>
            <p:spPr>
              <a:xfrm>
                <a:off x="3347864" y="2492896"/>
                <a:ext cx="5400600" cy="2821798"/>
              </a:xfrm>
              <a:prstGeom prst="rect">
                <a:avLst/>
              </a:prstGeom>
              <a:noFill/>
            </p:spPr>
            <p:txBody>
              <a:bodyPr wrap="square" rtlCol="0">
                <a:spAutoFit/>
              </a:bodyPr>
              <a:lstStyle/>
              <a:p>
                <a:r>
                  <a:rPr lang="en-AU" dirty="0"/>
                  <a:t>Adding Algebraic Fractions has the same structure as adding numeric fractions. Once the denominators are the same you add the numerators. The result is then simplified to provide the final answer.</a:t>
                </a:r>
              </a:p>
              <a:p>
                <a:endParaRPr lang="en-AU" dirty="0"/>
              </a:p>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3</m:t>
                          </m:r>
                          <m:r>
                            <a:rPr lang="en-AU" b="0" i="1" smtClean="0">
                              <a:latin typeface="Cambria Math" panose="02040503050406030204" pitchFamily="18" charset="0"/>
                            </a:rPr>
                            <m:t>𝑎</m:t>
                          </m:r>
                        </m:num>
                        <m:den>
                          <m:r>
                            <a:rPr lang="en-AU" b="0" i="1" smtClean="0">
                              <a:latin typeface="Cambria Math" panose="02040503050406030204" pitchFamily="18" charset="0"/>
                            </a:rPr>
                            <m:t>7</m:t>
                          </m:r>
                          <m:r>
                            <a:rPr lang="en-AU" b="0" i="1" smtClean="0">
                              <a:latin typeface="Cambria Math" panose="02040503050406030204" pitchFamily="18" charset="0"/>
                            </a:rPr>
                            <m:t>𝑎</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5</m:t>
                          </m:r>
                          <m:r>
                            <a:rPr lang="en-AU" b="0" i="1" smtClean="0">
                              <a:latin typeface="Cambria Math" panose="02040503050406030204" pitchFamily="18" charset="0"/>
                            </a:rPr>
                            <m:t>𝑎</m:t>
                          </m:r>
                        </m:num>
                        <m:den>
                          <m:r>
                            <a:rPr lang="en-AU" b="0" i="1" smtClean="0">
                              <a:latin typeface="Cambria Math" panose="02040503050406030204" pitchFamily="18" charset="0"/>
                            </a:rPr>
                            <m:t>7</m:t>
                          </m:r>
                          <m:r>
                            <a:rPr lang="en-AU" b="0" i="1" smtClean="0">
                              <a:latin typeface="Cambria Math" panose="02040503050406030204" pitchFamily="18" charset="0"/>
                            </a:rPr>
                            <m:t>𝑎</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+5</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7</m:t>
                          </m:r>
                          <m:r>
                            <a:rPr lang="en-AU" b="0" i="1" smtClean="0">
                              <a:latin typeface="Cambria Math" panose="02040503050406030204" pitchFamily="18" charset="0"/>
                              <a:ea typeface="Cambria Math" panose="02040503050406030204" pitchFamily="18" charset="0"/>
                            </a:rPr>
                            <m:t>𝑎</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8</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7</m:t>
                          </m:r>
                          <m:r>
                            <a:rPr lang="en-AU" b="0" i="1" smtClean="0">
                              <a:latin typeface="Cambria Math" panose="02040503050406030204" pitchFamily="18" charset="0"/>
                              <a:ea typeface="Cambria Math" panose="02040503050406030204" pitchFamily="18" charset="0"/>
                            </a:rPr>
                            <m:t>𝑎</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8</m:t>
                          </m:r>
                        </m:num>
                        <m:den>
                          <m:r>
                            <a:rPr lang="en-AU" b="0" i="1" smtClean="0">
                              <a:latin typeface="Cambria Math" panose="02040503050406030204" pitchFamily="18" charset="0"/>
                              <a:ea typeface="Cambria Math" panose="02040503050406030204" pitchFamily="18" charset="0"/>
                            </a:rPr>
                            <m:t>7</m:t>
                          </m:r>
                        </m:den>
                      </m:f>
                      <m:r>
                        <a:rPr lang="en-AU" b="0" i="1" smtClean="0">
                          <a:latin typeface="Cambria Math" panose="02040503050406030204" pitchFamily="18" charset="0"/>
                          <a:ea typeface="Cambria Math" panose="02040503050406030204" pitchFamily="18" charset="0"/>
                        </a:rPr>
                        <m:t>=1</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7</m:t>
                          </m:r>
                        </m:den>
                      </m:f>
                    </m:oMath>
                  </m:oMathPara>
                </a14:m>
                <a:endParaRPr lang="en-GB" dirty="0"/>
              </a:p>
              <a:p>
                <a:endParaRPr lang="en-AU" dirty="0"/>
              </a:p>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𝑥</m:t>
                          </m:r>
                          <m:r>
                            <a:rPr lang="en-AU" b="0" i="1" smtClean="0">
                              <a:latin typeface="Cambria Math" panose="02040503050406030204" pitchFamily="18" charset="0"/>
                            </a:rPr>
                            <m:t>+5</m:t>
                          </m:r>
                        </m:num>
                        <m:den>
                          <m:r>
                            <a:rPr lang="en-AU" b="0" i="1" smtClean="0">
                              <a:latin typeface="Cambria Math" panose="02040503050406030204" pitchFamily="18" charset="0"/>
                            </a:rPr>
                            <m:t>3</m:t>
                          </m:r>
                          <m:r>
                            <a:rPr lang="en-AU" b="0" i="1" smtClean="0">
                              <a:latin typeface="Cambria Math" panose="02040503050406030204" pitchFamily="18" charset="0"/>
                            </a:rPr>
                            <m:t>𝑥</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𝑥</m:t>
                          </m:r>
                          <m:r>
                            <a:rPr lang="en-AU" b="0" i="1" smtClean="0">
                              <a:latin typeface="Cambria Math" panose="02040503050406030204" pitchFamily="18" charset="0"/>
                            </a:rPr>
                            <m:t>+8</m:t>
                          </m:r>
                        </m:num>
                        <m:den>
                          <m:r>
                            <a:rPr lang="en-AU" b="0" i="1" smtClean="0">
                              <a:latin typeface="Cambria Math" panose="02040503050406030204" pitchFamily="18" charset="0"/>
                            </a:rPr>
                            <m:t>3</m:t>
                          </m:r>
                          <m:r>
                            <a:rPr lang="en-AU" b="0" i="1" smtClean="0">
                              <a:latin typeface="Cambria Math" panose="02040503050406030204" pitchFamily="18" charset="0"/>
                            </a:rPr>
                            <m:t>𝑥</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+5+2</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+8</m:t>
                          </m:r>
                        </m:num>
                        <m:den>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𝑥</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+13</m:t>
                          </m:r>
                        </m:num>
                        <m:den>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𝑥</m:t>
                          </m:r>
                        </m:den>
                      </m:f>
                    </m:oMath>
                  </m:oMathPara>
                </a14:m>
                <a:endParaRPr lang="en-GB" dirty="0"/>
              </a:p>
            </p:txBody>
          </p:sp>
        </mc:Choice>
        <mc:Fallback>
          <p:sp>
            <p:nvSpPr>
              <p:cNvPr id="5" name="TextBox 4"/>
              <p:cNvSpPr txBox="1">
                <a:spLocks noRot="1" noChangeAspect="1" noMove="1" noResize="1" noEditPoints="1" noAdjustHandles="1" noChangeArrowheads="1" noChangeShapeType="1" noTextEdit="1"/>
              </p:cNvSpPr>
              <p:nvPr/>
            </p:nvSpPr>
            <p:spPr>
              <a:xfrm>
                <a:off x="3347864" y="2492896"/>
                <a:ext cx="5400600" cy="2821798"/>
              </a:xfrm>
              <a:prstGeom prst="rect">
                <a:avLst/>
              </a:prstGeom>
              <a:blipFill>
                <a:blip r:embed="rId3"/>
                <a:stretch>
                  <a:fillRect l="-903" t="-1296"/>
                </a:stretch>
              </a:blipFill>
            </p:spPr>
            <p:txBody>
              <a:bodyPr/>
              <a:lstStyle/>
              <a:p>
                <a:r>
                  <a:rPr lang="en-AU">
                    <a:noFill/>
                  </a:rPr>
                  <a:t> </a:t>
                </a:r>
              </a:p>
            </p:txBody>
          </p:sp>
        </mc:Fallback>
      </mc:AlternateContent>
    </p:spTree>
    <p:extLst>
      <p:ext uri="{BB962C8B-B14F-4D97-AF65-F5344CB8AC3E}">
        <p14:creationId xmlns:p14="http://schemas.microsoft.com/office/powerpoint/2010/main" val="690260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2</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523220"/>
          </a:xfrm>
          <a:prstGeom prst="rect">
            <a:avLst/>
          </a:prstGeom>
          <a:noFill/>
        </p:spPr>
        <p:txBody>
          <a:bodyPr wrap="none" rtlCol="0">
            <a:spAutoFit/>
          </a:bodyPr>
          <a:lstStyle/>
          <a:p>
            <a:r>
              <a:rPr lang="en-AU" sz="2800" dirty="0"/>
              <a:t>Algebraic Fractions</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How to use Addition with algebraic fractions with algebraic denominators.</a:t>
            </a:r>
          </a:p>
        </p:txBody>
      </p:sp>
      <mc:AlternateContent xmlns:mc="http://schemas.openxmlformats.org/markup-compatibility/2006">
        <mc:Choice xmlns:a14="http://schemas.microsoft.com/office/drawing/2010/main" Requires="a14">
          <p:sp>
            <p:nvSpPr>
              <p:cNvPr id="5" name="TextBox 4"/>
              <p:cNvSpPr txBox="1"/>
              <p:nvPr/>
            </p:nvSpPr>
            <p:spPr>
              <a:xfrm>
                <a:off x="3347864" y="2135432"/>
                <a:ext cx="5400600" cy="4153316"/>
              </a:xfrm>
              <a:prstGeom prst="rect">
                <a:avLst/>
              </a:prstGeom>
              <a:noFill/>
            </p:spPr>
            <p:txBody>
              <a:bodyPr wrap="square" rtlCol="0">
                <a:spAutoFit/>
              </a:bodyPr>
              <a:lstStyle/>
              <a:p>
                <a:r>
                  <a:rPr lang="en-AU" dirty="0"/>
                  <a:t>When the denominators are different, first make the denominators the same then add the numerators.</a:t>
                </a:r>
              </a:p>
              <a:p>
                <a:endParaRPr lang="en-AU" dirty="0"/>
              </a:p>
              <a:p>
                <a:pPr marL="285750" indent="-285750">
                  <a:buFont typeface="Arial" panose="020B0604020202020204" pitchFamily="34" charset="0"/>
                  <a:buChar char="•"/>
                </a:pPr>
                <a14:m>
                  <m:oMath xmlns:m="http://schemas.openxmlformats.org/officeDocument/2006/math">
                    <m:f>
                      <m:fPr>
                        <m:ctrlPr>
                          <a:rPr lang="en-GB" sz="2400" i="1" smtClean="0">
                            <a:latin typeface="Cambria Math" panose="02040503050406030204" pitchFamily="18" charset="0"/>
                          </a:rPr>
                        </m:ctrlPr>
                      </m:fPr>
                      <m:num>
                        <m:r>
                          <a:rPr lang="en-AU" sz="2400" b="0" i="1" smtClean="0">
                            <a:latin typeface="Cambria Math" panose="02040503050406030204" pitchFamily="18" charset="0"/>
                          </a:rPr>
                          <m:t>2</m:t>
                        </m:r>
                        <m:r>
                          <a:rPr lang="en-AU" sz="2400" b="0" i="1" smtClean="0">
                            <a:latin typeface="Cambria Math" panose="02040503050406030204" pitchFamily="18" charset="0"/>
                          </a:rPr>
                          <m:t>𝑏</m:t>
                        </m:r>
                      </m:num>
                      <m:den>
                        <m:r>
                          <a:rPr lang="en-AU" sz="2400" b="0" i="1" smtClean="0">
                            <a:latin typeface="Cambria Math" panose="02040503050406030204" pitchFamily="18" charset="0"/>
                          </a:rPr>
                          <m:t>3</m:t>
                        </m:r>
                        <m:r>
                          <a:rPr lang="en-AU" sz="2400" b="0" i="1" smtClean="0">
                            <a:latin typeface="Cambria Math" panose="02040503050406030204" pitchFamily="18" charset="0"/>
                          </a:rPr>
                          <m:t>𝑏</m:t>
                        </m:r>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𝑏</m:t>
                        </m:r>
                      </m:num>
                      <m:den>
                        <m:r>
                          <a:rPr lang="en-AU" sz="2400" b="0" i="1" smtClean="0">
                            <a:latin typeface="Cambria Math" panose="02040503050406030204" pitchFamily="18" charset="0"/>
                          </a:rPr>
                          <m:t>4</m:t>
                        </m:r>
                        <m:r>
                          <a:rPr lang="en-AU" sz="2400" b="0" i="1" smtClean="0">
                            <a:latin typeface="Cambria Math" panose="02040503050406030204" pitchFamily="18" charset="0"/>
                          </a:rPr>
                          <m:t>𝑏</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2</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×4</m:t>
                        </m:r>
                        <m:r>
                          <a:rPr lang="en-AU" sz="2400" b="0" i="1" smtClean="0">
                            <a:latin typeface="Cambria Math" panose="02040503050406030204" pitchFamily="18" charset="0"/>
                            <a:ea typeface="Cambria Math" panose="02040503050406030204" pitchFamily="18" charset="0"/>
                          </a:rPr>
                          <m:t>𝑏</m:t>
                        </m:r>
                      </m:num>
                      <m:den>
                        <m:r>
                          <a:rPr lang="en-AU" sz="2400" b="0" i="1" smtClean="0">
                            <a:latin typeface="Cambria Math" panose="02040503050406030204" pitchFamily="18" charset="0"/>
                            <a:ea typeface="Cambria Math" panose="02040503050406030204" pitchFamily="18" charset="0"/>
                          </a:rPr>
                          <m:t>3</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×4</m:t>
                        </m:r>
                        <m:r>
                          <a:rPr lang="en-AU" sz="2400" b="0" i="1" smtClean="0">
                            <a:latin typeface="Cambria Math" panose="02040503050406030204" pitchFamily="18" charset="0"/>
                            <a:ea typeface="Cambria Math" panose="02040503050406030204" pitchFamily="18" charset="0"/>
                          </a:rPr>
                          <m:t>𝑏</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×3</m:t>
                        </m:r>
                        <m:r>
                          <a:rPr lang="en-AU" sz="2400" b="0" i="1" smtClean="0">
                            <a:latin typeface="Cambria Math" panose="02040503050406030204" pitchFamily="18" charset="0"/>
                            <a:ea typeface="Cambria Math" panose="02040503050406030204" pitchFamily="18" charset="0"/>
                          </a:rPr>
                          <m:t>𝑏</m:t>
                        </m:r>
                      </m:num>
                      <m:den>
                        <m:r>
                          <a:rPr lang="en-AU" sz="2400" b="0" i="1" smtClean="0">
                            <a:latin typeface="Cambria Math" panose="02040503050406030204" pitchFamily="18" charset="0"/>
                            <a:ea typeface="Cambria Math" panose="02040503050406030204" pitchFamily="18" charset="0"/>
                          </a:rPr>
                          <m:t>4</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×3</m:t>
                        </m:r>
                        <m:r>
                          <a:rPr lang="en-AU" sz="2400" b="0" i="1" smtClean="0">
                            <a:latin typeface="Cambria Math" panose="02040503050406030204" pitchFamily="18" charset="0"/>
                            <a:ea typeface="Cambria Math" panose="02040503050406030204" pitchFamily="18" charset="0"/>
                          </a:rPr>
                          <m:t>𝑏</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8</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𝑏</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+3</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𝑏</m:t>
                            </m:r>
                          </m:e>
                          <m:sup>
                            <m:r>
                              <a:rPr lang="en-AU" sz="2400" b="0" i="1" smtClean="0">
                                <a:latin typeface="Cambria Math" panose="02040503050406030204" pitchFamily="18" charset="0"/>
                                <a:ea typeface="Cambria Math" panose="02040503050406030204" pitchFamily="18" charset="0"/>
                              </a:rPr>
                              <m:t>2</m:t>
                            </m:r>
                          </m:sup>
                        </m:sSup>
                      </m:num>
                      <m:den>
                        <m:r>
                          <a:rPr lang="en-AU" sz="2400" b="0" i="1" smtClean="0">
                            <a:latin typeface="Cambria Math" panose="02040503050406030204" pitchFamily="18" charset="0"/>
                            <a:ea typeface="Cambria Math" panose="02040503050406030204" pitchFamily="18" charset="0"/>
                          </a:rPr>
                          <m:t>12</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𝑏</m:t>
                            </m:r>
                          </m:e>
                          <m:sup>
                            <m:r>
                              <a:rPr lang="en-AU" sz="2400" b="0" i="1" smtClean="0">
                                <a:latin typeface="Cambria Math" panose="02040503050406030204" pitchFamily="18" charset="0"/>
                                <a:ea typeface="Cambria Math" panose="02040503050406030204" pitchFamily="18" charset="0"/>
                              </a:rPr>
                              <m:t>2</m:t>
                            </m:r>
                          </m:sup>
                        </m:sSup>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11</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𝑏</m:t>
                            </m:r>
                          </m:e>
                          <m:sup>
                            <m:r>
                              <a:rPr lang="en-AU" sz="2400" b="0" i="1" smtClean="0">
                                <a:latin typeface="Cambria Math" panose="02040503050406030204" pitchFamily="18" charset="0"/>
                                <a:ea typeface="Cambria Math" panose="02040503050406030204" pitchFamily="18" charset="0"/>
                              </a:rPr>
                              <m:t>2</m:t>
                            </m:r>
                          </m:sup>
                        </m:sSup>
                      </m:num>
                      <m:den>
                        <m:r>
                          <a:rPr lang="en-AU" sz="2400" b="0" i="1" smtClean="0">
                            <a:latin typeface="Cambria Math" panose="02040503050406030204" pitchFamily="18" charset="0"/>
                            <a:ea typeface="Cambria Math" panose="02040503050406030204" pitchFamily="18" charset="0"/>
                          </a:rPr>
                          <m:t>12</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𝑏</m:t>
                            </m:r>
                          </m:e>
                          <m:sup>
                            <m:r>
                              <a:rPr lang="en-AU" sz="2400" b="0" i="1" smtClean="0">
                                <a:latin typeface="Cambria Math" panose="02040503050406030204" pitchFamily="18" charset="0"/>
                                <a:ea typeface="Cambria Math" panose="02040503050406030204" pitchFamily="18" charset="0"/>
                              </a:rPr>
                              <m:t>2</m:t>
                            </m:r>
                          </m:sup>
                        </m:sSup>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11</m:t>
                        </m:r>
                      </m:num>
                      <m:den>
                        <m:r>
                          <a:rPr lang="en-AU" sz="2400" b="0" i="1" smtClean="0">
                            <a:latin typeface="Cambria Math" panose="02040503050406030204" pitchFamily="18" charset="0"/>
                            <a:ea typeface="Cambria Math" panose="02040503050406030204" pitchFamily="18" charset="0"/>
                          </a:rPr>
                          <m:t>12</m:t>
                        </m:r>
                      </m:den>
                    </m:f>
                  </m:oMath>
                </a14:m>
                <a:endParaRPr lang="en-GB" sz="2400" dirty="0"/>
              </a:p>
              <a:p>
                <a:endParaRPr lang="en-AU" sz="2400" dirty="0"/>
              </a:p>
              <a:p>
                <a:pPr marL="285750" indent="-285750">
                  <a:buFont typeface="Arial" panose="020B0604020202020204" pitchFamily="34" charset="0"/>
                  <a:buChar char="•"/>
                </a:pPr>
                <a14:m>
                  <m:oMath xmlns:m="http://schemas.openxmlformats.org/officeDocument/2006/math">
                    <m:f>
                      <m:fPr>
                        <m:ctrlPr>
                          <a:rPr lang="en-GB" sz="2400" i="1" smtClean="0">
                            <a:latin typeface="Cambria Math" panose="02040503050406030204" pitchFamily="18" charset="0"/>
                          </a:rPr>
                        </m:ctrlPr>
                      </m:fPr>
                      <m:num>
                        <m:r>
                          <a:rPr lang="en-AU" sz="2400" b="0" i="1" smtClean="0">
                            <a:latin typeface="Cambria Math" panose="02040503050406030204" pitchFamily="18" charset="0"/>
                          </a:rPr>
                          <m:t>𝑥</m:t>
                        </m:r>
                        <m:r>
                          <a:rPr lang="en-AU" sz="2400" b="0" i="1" smtClean="0">
                            <a:latin typeface="Cambria Math" panose="02040503050406030204" pitchFamily="18" charset="0"/>
                          </a:rPr>
                          <m:t>+4</m:t>
                        </m:r>
                      </m:num>
                      <m:den>
                        <m:r>
                          <a:rPr lang="en-AU" sz="2400" b="0" i="1" smtClean="0">
                            <a:latin typeface="Cambria Math" panose="02040503050406030204" pitchFamily="18" charset="0"/>
                          </a:rPr>
                          <m:t>5</m:t>
                        </m:r>
                        <m:r>
                          <a:rPr lang="en-AU" sz="2400" b="0" i="1" smtClean="0">
                            <a:latin typeface="Cambria Math" panose="02040503050406030204" pitchFamily="18" charset="0"/>
                          </a:rPr>
                          <m:t>𝑥</m:t>
                        </m:r>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3</m:t>
                        </m:r>
                        <m:r>
                          <a:rPr lang="en-AU" sz="2400" b="0" i="1" smtClean="0">
                            <a:latin typeface="Cambria Math" panose="02040503050406030204" pitchFamily="18" charset="0"/>
                          </a:rPr>
                          <m:t>𝑥</m:t>
                        </m:r>
                        <m:r>
                          <a:rPr lang="en-AU" sz="2400" b="0" i="1" smtClean="0">
                            <a:latin typeface="Cambria Math" panose="02040503050406030204" pitchFamily="18" charset="0"/>
                          </a:rPr>
                          <m:t>+2</m:t>
                        </m:r>
                      </m:num>
                      <m:den>
                        <m:r>
                          <a:rPr lang="en-AU" sz="2400" b="0" i="1" smtClean="0">
                            <a:latin typeface="Cambria Math" panose="02040503050406030204" pitchFamily="18" charset="0"/>
                          </a:rPr>
                          <m:t>4</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4</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+4)</m:t>
                        </m:r>
                      </m:num>
                      <m:den>
                        <m:r>
                          <a:rPr lang="en-AU" sz="2400" b="0" i="1" smtClean="0">
                            <a:latin typeface="Cambria Math" panose="02040503050406030204" pitchFamily="18" charset="0"/>
                            <a:ea typeface="Cambria Math" panose="02040503050406030204" pitchFamily="18" charset="0"/>
                          </a:rPr>
                          <m:t>5</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×4</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5</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(3</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+2)</m:t>
                        </m:r>
                      </m:num>
                      <m:den>
                        <m:r>
                          <a:rPr lang="en-AU" sz="2400" b="0" i="1" smtClean="0">
                            <a:latin typeface="Cambria Math" panose="02040503050406030204" pitchFamily="18" charset="0"/>
                            <a:ea typeface="Cambria Math" panose="02040503050406030204" pitchFamily="18" charset="0"/>
                          </a:rPr>
                          <m:t>4</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×5</m:t>
                        </m:r>
                        <m:r>
                          <a:rPr lang="en-AU" sz="2400" b="0" i="1" smtClean="0">
                            <a:latin typeface="Cambria Math" panose="02040503050406030204" pitchFamily="18" charset="0"/>
                            <a:ea typeface="Cambria Math" panose="02040503050406030204" pitchFamily="18" charset="0"/>
                          </a:rPr>
                          <m:t>𝑥</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4</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3</m:t>
                            </m:r>
                          </m:sup>
                        </m:sSup>
                        <m:r>
                          <a:rPr lang="en-AU" sz="2400" b="0" i="1" smtClean="0">
                            <a:latin typeface="Cambria Math" panose="02040503050406030204" pitchFamily="18" charset="0"/>
                            <a:ea typeface="Cambria Math" panose="02040503050406030204" pitchFamily="18" charset="0"/>
                          </a:rPr>
                          <m:t>+16</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+15</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+10</m:t>
                        </m:r>
                        <m:r>
                          <a:rPr lang="en-AU" sz="2400" b="0" i="1" smtClean="0">
                            <a:latin typeface="Cambria Math" panose="02040503050406030204" pitchFamily="18" charset="0"/>
                            <a:ea typeface="Cambria Math" panose="02040503050406030204" pitchFamily="18" charset="0"/>
                          </a:rPr>
                          <m:t>𝑥</m:t>
                        </m:r>
                      </m:num>
                      <m:den>
                        <m:r>
                          <a:rPr lang="en-AU" sz="2400" b="0" i="1" smtClean="0">
                            <a:latin typeface="Cambria Math" panose="02040503050406030204" pitchFamily="18" charset="0"/>
                            <a:ea typeface="Cambria Math" panose="02040503050406030204" pitchFamily="18" charset="0"/>
                          </a:rPr>
                          <m:t>20</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3</m:t>
                            </m:r>
                          </m:sup>
                        </m:sSup>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4</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3</m:t>
                            </m:r>
                          </m:sup>
                        </m:sSup>
                        <m:r>
                          <a:rPr lang="en-AU" sz="2400" b="0" i="1" smtClean="0">
                            <a:latin typeface="Cambria Math" panose="02040503050406030204" pitchFamily="18" charset="0"/>
                            <a:ea typeface="Cambria Math" panose="02040503050406030204" pitchFamily="18" charset="0"/>
                          </a:rPr>
                          <m:t>+31</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+10</m:t>
                        </m:r>
                        <m:r>
                          <a:rPr lang="en-AU" sz="2400" b="0" i="1" smtClean="0">
                            <a:latin typeface="Cambria Math" panose="02040503050406030204" pitchFamily="18" charset="0"/>
                            <a:ea typeface="Cambria Math" panose="02040503050406030204" pitchFamily="18" charset="0"/>
                          </a:rPr>
                          <m:t>𝑥</m:t>
                        </m:r>
                      </m:num>
                      <m:den>
                        <m:r>
                          <a:rPr lang="en-AU" sz="2400" b="0" i="1" smtClean="0">
                            <a:latin typeface="Cambria Math" panose="02040503050406030204" pitchFamily="18" charset="0"/>
                            <a:ea typeface="Cambria Math" panose="02040503050406030204" pitchFamily="18" charset="0"/>
                          </a:rPr>
                          <m:t>20</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3</m:t>
                            </m:r>
                          </m:sup>
                        </m:sSup>
                      </m:den>
                    </m:f>
                  </m:oMath>
                </a14:m>
                <a:endParaRPr lang="en-GB" sz="2400" dirty="0"/>
              </a:p>
              <a:p>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(4</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𝑥</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+31</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+10)</m:t>
                          </m:r>
                        </m:num>
                        <m:den>
                          <m:r>
                            <a:rPr lang="en-AU" b="0" i="1" smtClean="0">
                              <a:latin typeface="Cambria Math" panose="02040503050406030204" pitchFamily="18" charset="0"/>
                              <a:ea typeface="Cambria Math" panose="02040503050406030204" pitchFamily="18" charset="0"/>
                            </a:rPr>
                            <m:t>20</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𝑥</m:t>
                              </m:r>
                            </m:e>
                            <m:sup>
                              <m:r>
                                <a:rPr lang="en-AU" b="0" i="1" smtClean="0">
                                  <a:latin typeface="Cambria Math" panose="02040503050406030204" pitchFamily="18" charset="0"/>
                                  <a:ea typeface="Cambria Math" panose="02040503050406030204" pitchFamily="18" charset="0"/>
                                </a:rPr>
                                <m:t>3</m:t>
                              </m:r>
                            </m:sup>
                          </m:sSup>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4</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𝑥</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+31</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+10</m:t>
                          </m:r>
                        </m:num>
                        <m:den>
                          <m:r>
                            <a:rPr lang="en-AU" b="0" i="1" smtClean="0">
                              <a:latin typeface="Cambria Math" panose="02040503050406030204" pitchFamily="18" charset="0"/>
                              <a:ea typeface="Cambria Math" panose="02040503050406030204" pitchFamily="18" charset="0"/>
                            </a:rPr>
                            <m:t>20</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𝑥</m:t>
                              </m:r>
                            </m:e>
                            <m:sup>
                              <m:r>
                                <a:rPr lang="en-AU" b="0" i="1" smtClean="0">
                                  <a:latin typeface="Cambria Math" panose="02040503050406030204" pitchFamily="18" charset="0"/>
                                  <a:ea typeface="Cambria Math" panose="02040503050406030204" pitchFamily="18" charset="0"/>
                                </a:rPr>
                                <m:t>2</m:t>
                              </m:r>
                            </m:sup>
                          </m:sSup>
                        </m:den>
                      </m:f>
                    </m:oMath>
                  </m:oMathPara>
                </a14:m>
                <a:endParaRPr lang="en-GB" dirty="0"/>
              </a:p>
            </p:txBody>
          </p:sp>
        </mc:Choice>
        <mc:Fallback>
          <p:sp>
            <p:nvSpPr>
              <p:cNvPr id="5" name="TextBox 4"/>
              <p:cNvSpPr txBox="1">
                <a:spLocks noRot="1" noChangeAspect="1" noMove="1" noResize="1" noEditPoints="1" noAdjustHandles="1" noChangeArrowheads="1" noChangeShapeType="1" noTextEdit="1"/>
              </p:cNvSpPr>
              <p:nvPr/>
            </p:nvSpPr>
            <p:spPr>
              <a:xfrm>
                <a:off x="3347864" y="2135432"/>
                <a:ext cx="5400600" cy="4153316"/>
              </a:xfrm>
              <a:prstGeom prst="rect">
                <a:avLst/>
              </a:prstGeom>
              <a:blipFill>
                <a:blip r:embed="rId3"/>
                <a:stretch>
                  <a:fillRect l="-903" t="-733"/>
                </a:stretch>
              </a:blipFill>
            </p:spPr>
            <p:txBody>
              <a:bodyPr/>
              <a:lstStyle/>
              <a:p>
                <a:r>
                  <a:rPr lang="en-AU">
                    <a:noFill/>
                  </a:rPr>
                  <a:t> </a:t>
                </a:r>
              </a:p>
            </p:txBody>
          </p:sp>
        </mc:Fallback>
      </mc:AlternateContent>
    </p:spTree>
    <p:extLst>
      <p:ext uri="{BB962C8B-B14F-4D97-AF65-F5344CB8AC3E}">
        <p14:creationId xmlns:p14="http://schemas.microsoft.com/office/powerpoint/2010/main" val="4090906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3</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954107"/>
          </a:xfrm>
          <a:prstGeom prst="rect">
            <a:avLst/>
          </a:prstGeom>
          <a:noFill/>
        </p:spPr>
        <p:txBody>
          <a:bodyPr wrap="none" rtlCol="0">
            <a:spAutoFit/>
          </a:bodyPr>
          <a:lstStyle/>
          <a:p>
            <a:r>
              <a:rPr lang="en-AU" sz="2800" dirty="0"/>
              <a:t>Algebraic Fractions</a:t>
            </a:r>
          </a:p>
          <a:p>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How to use Subtraction with algebraic fractions with algebraic denominators.</a:t>
            </a:r>
          </a:p>
        </p:txBody>
      </p:sp>
      <mc:AlternateContent xmlns:mc="http://schemas.openxmlformats.org/markup-compatibility/2006">
        <mc:Choice xmlns:a14="http://schemas.microsoft.com/office/drawing/2010/main" Requires="a14">
          <p:sp>
            <p:nvSpPr>
              <p:cNvPr id="3" name="TextBox 2"/>
              <p:cNvSpPr txBox="1"/>
              <p:nvPr/>
            </p:nvSpPr>
            <p:spPr>
              <a:xfrm>
                <a:off x="3593802" y="2189768"/>
                <a:ext cx="4824536" cy="3177986"/>
              </a:xfrm>
              <a:prstGeom prst="rect">
                <a:avLst/>
              </a:prstGeom>
              <a:noFill/>
            </p:spPr>
            <p:txBody>
              <a:bodyPr wrap="square" rtlCol="0">
                <a:spAutoFit/>
              </a:bodyPr>
              <a:lstStyle/>
              <a:p>
                <a:r>
                  <a:rPr lang="en-AU" dirty="0"/>
                  <a:t>Subtracting Algebraic Fractions has the same structure as subtracting numeric fractions. Once the denominators are the same you subtract the numerators. The result is then simplified to provide the final answer.</a:t>
                </a:r>
              </a:p>
              <a:p>
                <a:endParaRPr lang="en-AU" dirty="0"/>
              </a:p>
              <a:p>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AU" b="0" i="1" smtClean="0">
                              <a:latin typeface="Cambria Math" panose="02040503050406030204" pitchFamily="18" charset="0"/>
                            </a:rPr>
                            <m:t>5</m:t>
                          </m:r>
                          <m:r>
                            <a:rPr lang="en-AU" i="1">
                              <a:latin typeface="Cambria Math" panose="02040503050406030204" pitchFamily="18" charset="0"/>
                            </a:rPr>
                            <m:t>𝑎</m:t>
                          </m:r>
                        </m:num>
                        <m:den>
                          <m:r>
                            <a:rPr lang="en-AU" i="1">
                              <a:latin typeface="Cambria Math" panose="02040503050406030204" pitchFamily="18" charset="0"/>
                            </a:rPr>
                            <m:t>7</m:t>
                          </m:r>
                          <m:r>
                            <a:rPr lang="en-AU" b="0" i="1" smtClean="0">
                              <a:latin typeface="Cambria Math" panose="02040503050406030204" pitchFamily="18" charset="0"/>
                            </a:rPr>
                            <m:t>𝑎</m:t>
                          </m:r>
                        </m:den>
                      </m:f>
                      <m:r>
                        <a:rPr lang="en-AU" b="0" i="1" smtClean="0">
                          <a:latin typeface="Cambria Math" panose="02040503050406030204" pitchFamily="18" charset="0"/>
                        </a:rPr>
                        <m:t>−</m:t>
                      </m:r>
                      <m:f>
                        <m:fPr>
                          <m:ctrlPr>
                            <a:rPr lang="en-AU" i="1">
                              <a:latin typeface="Cambria Math" panose="02040503050406030204" pitchFamily="18" charset="0"/>
                            </a:rPr>
                          </m:ctrlPr>
                        </m:fPr>
                        <m:num>
                          <m:r>
                            <a:rPr lang="en-AU" b="0" i="1" smtClean="0">
                              <a:latin typeface="Cambria Math" panose="02040503050406030204" pitchFamily="18" charset="0"/>
                            </a:rPr>
                            <m:t>4</m:t>
                          </m:r>
                          <m:r>
                            <a:rPr lang="en-AU" i="1">
                              <a:latin typeface="Cambria Math" panose="02040503050406030204" pitchFamily="18" charset="0"/>
                            </a:rPr>
                            <m:t>𝑎</m:t>
                          </m:r>
                        </m:num>
                        <m:den>
                          <m:r>
                            <a:rPr lang="en-AU" i="1">
                              <a:latin typeface="Cambria Math" panose="02040503050406030204" pitchFamily="18" charset="0"/>
                            </a:rPr>
                            <m:t>7</m:t>
                          </m:r>
                          <m:r>
                            <a:rPr lang="en-AU" b="0" i="1" smtClean="0">
                              <a:latin typeface="Cambria Math" panose="02040503050406030204" pitchFamily="18" charset="0"/>
                            </a:rPr>
                            <m:t>𝑎</m:t>
                          </m:r>
                        </m:den>
                      </m:f>
                      <m:r>
                        <a:rPr lang="en-AU" i="1">
                          <a:latin typeface="Cambria Math" panose="02040503050406030204" pitchFamily="18" charset="0"/>
                          <a:ea typeface="Cambria Math" panose="02040503050406030204" pitchFamily="18" charset="0"/>
                        </a:rPr>
                        <m:t>=</m:t>
                      </m:r>
                      <m:f>
                        <m:fPr>
                          <m:ctrlPr>
                            <a:rPr lang="en-AU" i="1">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5</m:t>
                          </m:r>
                          <m:r>
                            <a:rPr lang="en-AU" i="1">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−4</m:t>
                          </m:r>
                          <m:r>
                            <a:rPr lang="en-AU" i="1">
                              <a:latin typeface="Cambria Math" panose="02040503050406030204" pitchFamily="18" charset="0"/>
                              <a:ea typeface="Cambria Math" panose="02040503050406030204" pitchFamily="18" charset="0"/>
                            </a:rPr>
                            <m:t>𝑎</m:t>
                          </m:r>
                        </m:num>
                        <m:den>
                          <m:r>
                            <a:rPr lang="en-AU" i="1">
                              <a:latin typeface="Cambria Math" panose="02040503050406030204" pitchFamily="18" charset="0"/>
                              <a:ea typeface="Cambria Math" panose="02040503050406030204" pitchFamily="18" charset="0"/>
                            </a:rPr>
                            <m:t>7</m:t>
                          </m:r>
                          <m:r>
                            <a:rPr lang="en-AU" b="0" i="1" smtClean="0">
                              <a:latin typeface="Cambria Math" panose="02040503050406030204" pitchFamily="18" charset="0"/>
                              <a:ea typeface="Cambria Math" panose="02040503050406030204" pitchFamily="18" charset="0"/>
                            </a:rPr>
                            <m:t>𝑎</m:t>
                          </m:r>
                        </m:den>
                      </m:f>
                      <m:r>
                        <a:rPr lang="en-AU" i="1">
                          <a:latin typeface="Cambria Math" panose="02040503050406030204" pitchFamily="18" charset="0"/>
                          <a:ea typeface="Cambria Math" panose="02040503050406030204" pitchFamily="18" charset="0"/>
                        </a:rPr>
                        <m:t>=</m:t>
                      </m:r>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𝑎</m:t>
                          </m:r>
                        </m:num>
                        <m:den>
                          <m:r>
                            <a:rPr lang="en-AU" i="1">
                              <a:latin typeface="Cambria Math" panose="02040503050406030204" pitchFamily="18" charset="0"/>
                              <a:ea typeface="Cambria Math" panose="02040503050406030204" pitchFamily="18" charset="0"/>
                            </a:rPr>
                            <m:t>7</m:t>
                          </m:r>
                          <m:r>
                            <a:rPr lang="en-AU" b="0" i="1" smtClean="0">
                              <a:latin typeface="Cambria Math" panose="02040503050406030204" pitchFamily="18" charset="0"/>
                              <a:ea typeface="Cambria Math" panose="02040503050406030204" pitchFamily="18" charset="0"/>
                            </a:rPr>
                            <m:t>𝑎</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7</m:t>
                          </m:r>
                        </m:den>
                      </m:f>
                    </m:oMath>
                  </m:oMathPara>
                </a14:m>
                <a:endParaRPr lang="en-GB" dirty="0"/>
              </a:p>
              <a:p>
                <a:endParaRPr lang="en-AU" dirty="0"/>
              </a:p>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3</m:t>
                          </m:r>
                          <m:r>
                            <a:rPr lang="en-AU" b="0" i="1" smtClean="0">
                              <a:latin typeface="Cambria Math" panose="02040503050406030204" pitchFamily="18" charset="0"/>
                            </a:rPr>
                            <m:t>𝑥</m:t>
                          </m:r>
                          <m:r>
                            <a:rPr lang="en-AU" b="0" i="1" smtClean="0">
                              <a:latin typeface="Cambria Math" panose="02040503050406030204" pitchFamily="18" charset="0"/>
                            </a:rPr>
                            <m:t>+5</m:t>
                          </m:r>
                        </m:num>
                        <m:den>
                          <m:r>
                            <a:rPr lang="en-AU" b="0" i="1" smtClean="0">
                              <a:latin typeface="Cambria Math" panose="02040503050406030204" pitchFamily="18" charset="0"/>
                            </a:rPr>
                            <m:t>4</m:t>
                          </m:r>
                          <m:r>
                            <a:rPr lang="en-AU" b="0" i="1" smtClean="0">
                              <a:latin typeface="Cambria Math" panose="02040503050406030204" pitchFamily="18" charset="0"/>
                            </a:rPr>
                            <m:t>𝑦</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sSup>
                            <m:sSupPr>
                              <m:ctrlPr>
                                <a:rPr lang="en-AU" b="0" i="1" smtClean="0">
                                  <a:latin typeface="Cambria Math" panose="02040503050406030204" pitchFamily="18" charset="0"/>
                                </a:rPr>
                              </m:ctrlPr>
                            </m:sSupPr>
                            <m:e>
                              <m:r>
                                <a:rPr lang="en-AU" b="0" i="1" smtClean="0">
                                  <a:latin typeface="Cambria Math" panose="02040503050406030204" pitchFamily="18" charset="0"/>
                                </a:rPr>
                                <m:t>𝑥</m:t>
                              </m:r>
                            </m:e>
                            <m:sup>
                              <m:r>
                                <a:rPr lang="en-AU" b="0" i="1" smtClean="0">
                                  <a:latin typeface="Cambria Math" panose="02040503050406030204" pitchFamily="18" charset="0"/>
                                </a:rPr>
                                <m:t>2</m:t>
                              </m:r>
                            </m:sup>
                          </m:sSup>
                        </m:num>
                        <m:den>
                          <m:r>
                            <a:rPr lang="en-AU" b="0" i="1" smtClean="0">
                              <a:latin typeface="Cambria Math" panose="02040503050406030204" pitchFamily="18" charset="0"/>
                            </a:rPr>
                            <m:t>4</m:t>
                          </m:r>
                          <m:r>
                            <a:rPr lang="en-AU" b="0" i="1" smtClean="0">
                              <a:latin typeface="Cambria Math" panose="02040503050406030204" pitchFamily="18" charset="0"/>
                            </a:rPr>
                            <m:t>𝑦</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+5−</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𝑥</m:t>
                              </m:r>
                            </m:e>
                            <m:sup>
                              <m:r>
                                <a:rPr lang="en-AU" b="0" i="1" smtClean="0">
                                  <a:latin typeface="Cambria Math" panose="02040503050406030204" pitchFamily="18" charset="0"/>
                                  <a:ea typeface="Cambria Math" panose="02040503050406030204" pitchFamily="18" charset="0"/>
                                </a:rPr>
                                <m:t>2</m:t>
                              </m:r>
                            </m:sup>
                          </m:sSup>
                        </m:num>
                        <m:den>
                          <m:r>
                            <a:rPr lang="en-AU" b="0" i="1" smtClean="0">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𝑦</m:t>
                          </m:r>
                        </m:den>
                      </m:f>
                    </m:oMath>
                  </m:oMathPara>
                </a14:m>
                <a:endParaRPr lang="en-GB" dirty="0"/>
              </a:p>
            </p:txBody>
          </p:sp>
        </mc:Choice>
        <mc:Fallback>
          <p:sp>
            <p:nvSpPr>
              <p:cNvPr id="3" name="TextBox 2"/>
              <p:cNvSpPr txBox="1">
                <a:spLocks noRot="1" noChangeAspect="1" noMove="1" noResize="1" noEditPoints="1" noAdjustHandles="1" noChangeArrowheads="1" noChangeShapeType="1" noTextEdit="1"/>
              </p:cNvSpPr>
              <p:nvPr/>
            </p:nvSpPr>
            <p:spPr>
              <a:xfrm>
                <a:off x="3593802" y="2189768"/>
                <a:ext cx="4824536" cy="3177986"/>
              </a:xfrm>
              <a:prstGeom prst="rect">
                <a:avLst/>
              </a:prstGeom>
              <a:blipFill>
                <a:blip r:embed="rId3"/>
                <a:stretch>
                  <a:fillRect l="-1138" t="-958"/>
                </a:stretch>
              </a:blipFill>
            </p:spPr>
            <p:txBody>
              <a:bodyPr/>
              <a:lstStyle/>
              <a:p>
                <a:r>
                  <a:rPr lang="en-AU">
                    <a:noFill/>
                  </a:rPr>
                  <a:t> </a:t>
                </a:r>
              </a:p>
            </p:txBody>
          </p:sp>
        </mc:Fallback>
      </mc:AlternateContent>
    </p:spTree>
    <p:extLst>
      <p:ext uri="{BB962C8B-B14F-4D97-AF65-F5344CB8AC3E}">
        <p14:creationId xmlns:p14="http://schemas.microsoft.com/office/powerpoint/2010/main" val="233300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4</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954107"/>
          </a:xfrm>
          <a:prstGeom prst="rect">
            <a:avLst/>
          </a:prstGeom>
          <a:noFill/>
        </p:spPr>
        <p:txBody>
          <a:bodyPr wrap="none" rtlCol="0">
            <a:spAutoFit/>
          </a:bodyPr>
          <a:lstStyle/>
          <a:p>
            <a:r>
              <a:rPr lang="en-AU" sz="2800" dirty="0"/>
              <a:t>Algebraic Fractions</a:t>
            </a:r>
          </a:p>
          <a:p>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How to use Subtraction with algebraic fractions with algebraic denominators.</a:t>
            </a:r>
          </a:p>
        </p:txBody>
      </p:sp>
      <mc:AlternateContent xmlns:mc="http://schemas.openxmlformats.org/markup-compatibility/2006">
        <mc:Choice xmlns:a14="http://schemas.microsoft.com/office/drawing/2010/main" Requires="a14">
          <p:sp>
            <p:nvSpPr>
              <p:cNvPr id="3" name="TextBox 2"/>
              <p:cNvSpPr txBox="1"/>
              <p:nvPr/>
            </p:nvSpPr>
            <p:spPr>
              <a:xfrm>
                <a:off x="3606682" y="1980671"/>
                <a:ext cx="4824536" cy="5082289"/>
              </a:xfrm>
              <a:prstGeom prst="rect">
                <a:avLst/>
              </a:prstGeom>
              <a:noFill/>
            </p:spPr>
            <p:txBody>
              <a:bodyPr wrap="square" rtlCol="0">
                <a:spAutoFit/>
              </a:bodyPr>
              <a:lstStyle/>
              <a:p>
                <a:r>
                  <a:rPr lang="en-AU" dirty="0"/>
                  <a:t>When the denominators are different, first make the denominators the same then subtract the numerators.</a:t>
                </a:r>
              </a:p>
              <a:p>
                <a:endParaRPr lang="en-AU" dirty="0"/>
              </a:p>
              <a:p>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AU" i="1">
                              <a:latin typeface="Cambria Math" panose="02040503050406030204" pitchFamily="18" charset="0"/>
                            </a:rPr>
                            <m:t>2</m:t>
                          </m:r>
                          <m:r>
                            <a:rPr lang="en-AU" i="1">
                              <a:latin typeface="Cambria Math" panose="02040503050406030204" pitchFamily="18" charset="0"/>
                            </a:rPr>
                            <m:t>𝑏</m:t>
                          </m:r>
                        </m:num>
                        <m:den>
                          <m:r>
                            <a:rPr lang="en-AU" i="1">
                              <a:latin typeface="Cambria Math" panose="02040503050406030204" pitchFamily="18" charset="0"/>
                            </a:rPr>
                            <m:t>3</m:t>
                          </m:r>
                          <m:r>
                            <a:rPr lang="en-AU" b="0" i="1" smtClean="0">
                              <a:latin typeface="Cambria Math" panose="02040503050406030204" pitchFamily="18" charset="0"/>
                            </a:rPr>
                            <m:t>𝑏</m:t>
                          </m:r>
                        </m:den>
                      </m:f>
                      <m:r>
                        <a:rPr lang="en-AU" b="0" i="1" smtClean="0">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𝑏</m:t>
                          </m:r>
                        </m:num>
                        <m:den>
                          <m:r>
                            <a:rPr lang="en-AU" i="1">
                              <a:latin typeface="Cambria Math" panose="02040503050406030204" pitchFamily="18" charset="0"/>
                            </a:rPr>
                            <m:t>4</m:t>
                          </m:r>
                          <m:r>
                            <a:rPr lang="en-AU" b="0" i="1" smtClean="0">
                              <a:latin typeface="Cambria Math" panose="02040503050406030204" pitchFamily="18" charset="0"/>
                            </a:rPr>
                            <m:t>𝑏</m:t>
                          </m:r>
                        </m:den>
                      </m:f>
                      <m:r>
                        <a:rPr lang="en-AU" i="1">
                          <a:latin typeface="Cambria Math" panose="02040503050406030204" pitchFamily="18" charset="0"/>
                          <a:ea typeface="Cambria Math" panose="02040503050406030204" pitchFamily="18" charset="0"/>
                        </a:rPr>
                        <m:t>=</m:t>
                      </m:r>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2</m:t>
                          </m:r>
                          <m:r>
                            <a:rPr lang="en-AU" i="1">
                              <a:latin typeface="Cambria Math" panose="02040503050406030204" pitchFamily="18" charset="0"/>
                              <a:ea typeface="Cambria Math" panose="02040503050406030204" pitchFamily="18" charset="0"/>
                            </a:rPr>
                            <m:t>𝑏</m:t>
                          </m:r>
                          <m:r>
                            <a:rPr lang="en-AU" i="1">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𝑏</m:t>
                          </m:r>
                        </m:num>
                        <m:den>
                          <m:r>
                            <a:rPr lang="en-AU" i="1">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𝑏</m:t>
                          </m:r>
                          <m:r>
                            <a:rPr lang="en-AU" i="1">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𝑏</m:t>
                          </m:r>
                        </m:den>
                      </m:f>
                      <m:r>
                        <a:rPr lang="en-AU" b="0" i="1" smtClean="0">
                          <a:latin typeface="Cambria Math" panose="02040503050406030204" pitchFamily="18" charset="0"/>
                          <a:ea typeface="Cambria Math" panose="02040503050406030204" pitchFamily="18" charset="0"/>
                        </a:rPr>
                        <m:t>−</m:t>
                      </m:r>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𝑏</m:t>
                          </m:r>
                          <m:r>
                            <a:rPr lang="en-AU" i="1">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𝑏</m:t>
                          </m:r>
                        </m:num>
                        <m:den>
                          <m:r>
                            <a:rPr lang="en-AU" i="1">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𝑏</m:t>
                          </m:r>
                          <m:r>
                            <a:rPr lang="en-AU" i="1">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𝑏</m:t>
                          </m:r>
                        </m:den>
                      </m:f>
                      <m:r>
                        <a:rPr lang="en-AU" i="1">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8</m:t>
                          </m:r>
                          <m:sSup>
                            <m:sSupPr>
                              <m:ctrlPr>
                                <a:rPr lang="en-AU"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3</m:t>
                          </m:r>
                          <m:sSup>
                            <m:sSupPr>
                              <m:ctrlPr>
                                <a:rPr lang="en-AU"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num>
                        <m:den>
                          <m:r>
                            <a:rPr lang="en-AU" i="1">
                              <a:latin typeface="Cambria Math" panose="02040503050406030204" pitchFamily="18" charset="0"/>
                              <a:ea typeface="Cambria Math" panose="02040503050406030204" pitchFamily="18" charset="0"/>
                            </a:rPr>
                            <m:t>12</m:t>
                          </m:r>
                          <m:sSup>
                            <m:sSupPr>
                              <m:ctrlPr>
                                <a:rPr lang="en-AU"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den>
                      </m:f>
                      <m:r>
                        <a:rPr lang="en-AU" i="1">
                          <a:latin typeface="Cambria Math" panose="02040503050406030204" pitchFamily="18" charset="0"/>
                          <a:ea typeface="Cambria Math" panose="02040503050406030204" pitchFamily="18" charset="0"/>
                        </a:rPr>
                        <m:t>=</m:t>
                      </m:r>
                      <m:f>
                        <m:fPr>
                          <m:ctrlPr>
                            <a:rPr lang="en-AU" i="1">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5</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num>
                        <m:den>
                          <m:r>
                            <a:rPr lang="en-AU" i="1">
                              <a:latin typeface="Cambria Math" panose="02040503050406030204" pitchFamily="18" charset="0"/>
                              <a:ea typeface="Cambria Math" panose="02040503050406030204" pitchFamily="18" charset="0"/>
                            </a:rPr>
                            <m:t>12</m:t>
                          </m:r>
                          <m:sSup>
                            <m:sSupPr>
                              <m:ctrlPr>
                                <a:rPr lang="en-AU"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5</m:t>
                          </m:r>
                        </m:num>
                        <m:den>
                          <m:r>
                            <a:rPr lang="en-AU" b="0" i="1" smtClean="0">
                              <a:latin typeface="Cambria Math" panose="02040503050406030204" pitchFamily="18" charset="0"/>
                              <a:ea typeface="Cambria Math" panose="02040503050406030204" pitchFamily="18" charset="0"/>
                            </a:rPr>
                            <m:t>12</m:t>
                          </m:r>
                        </m:den>
                      </m:f>
                    </m:oMath>
                  </m:oMathPara>
                </a14:m>
                <a:endParaRPr lang="en-GB" dirty="0"/>
              </a:p>
              <a:p>
                <a:endParaRPr lang="en-AU" dirty="0"/>
              </a:p>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4</m:t>
                          </m:r>
                          <m:r>
                            <a:rPr lang="en-AU" b="0" i="1" smtClean="0">
                              <a:latin typeface="Cambria Math" panose="02040503050406030204" pitchFamily="18" charset="0"/>
                            </a:rPr>
                            <m:t>𝑠</m:t>
                          </m:r>
                          <m:r>
                            <a:rPr lang="en-AU" b="0" i="1" smtClean="0">
                              <a:latin typeface="Cambria Math" panose="02040503050406030204" pitchFamily="18" charset="0"/>
                            </a:rPr>
                            <m:t>+3</m:t>
                          </m:r>
                          <m:r>
                            <a:rPr lang="en-AU" b="0" i="1" smtClean="0">
                              <a:latin typeface="Cambria Math" panose="02040503050406030204" pitchFamily="18" charset="0"/>
                            </a:rPr>
                            <m:t>𝑡</m:t>
                          </m:r>
                        </m:num>
                        <m:den>
                          <m:r>
                            <a:rPr lang="en-AU" b="0" i="1" smtClean="0">
                              <a:latin typeface="Cambria Math" panose="02040503050406030204" pitchFamily="18" charset="0"/>
                            </a:rPr>
                            <m:t>3</m:t>
                          </m:r>
                          <m:r>
                            <a:rPr lang="en-AU" b="0" i="1" smtClean="0">
                              <a:latin typeface="Cambria Math" panose="02040503050406030204" pitchFamily="18" charset="0"/>
                            </a:rPr>
                            <m:t>𝑠</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𝑠</m:t>
                          </m:r>
                          <m:r>
                            <a:rPr lang="en-AU" b="0" i="1" smtClean="0">
                              <a:latin typeface="Cambria Math" panose="02040503050406030204" pitchFamily="18" charset="0"/>
                            </a:rPr>
                            <m:t>−</m:t>
                          </m:r>
                          <m:r>
                            <a:rPr lang="en-AU" b="0" i="1" smtClean="0">
                              <a:latin typeface="Cambria Math" panose="02040503050406030204" pitchFamily="18" charset="0"/>
                            </a:rPr>
                            <m:t>𝑡</m:t>
                          </m:r>
                        </m:num>
                        <m:den>
                          <m:r>
                            <a:rPr lang="en-AU" b="0" i="1" smtClean="0">
                              <a:latin typeface="Cambria Math" panose="02040503050406030204" pitchFamily="18" charset="0"/>
                            </a:rPr>
                            <m:t>4</m:t>
                          </m:r>
                          <m:r>
                            <a:rPr lang="en-AU" b="0" i="1" smtClean="0">
                              <a:latin typeface="Cambria Math" panose="02040503050406030204" pitchFamily="18" charset="0"/>
                            </a:rPr>
                            <m:t>𝑡</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𝑡</m:t>
                          </m:r>
                          <m:r>
                            <a:rPr lang="en-AU" b="0" i="1" smtClean="0">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𝑡</m:t>
                          </m:r>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𝑡</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𝑡</m:t>
                          </m:r>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𝑡</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𝑠</m:t>
                          </m:r>
                        </m:den>
                      </m:f>
                    </m:oMath>
                  </m:oMathPara>
                </a14:m>
                <a:endParaRPr lang="en-GB" dirty="0"/>
              </a:p>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𝑡</m:t>
                          </m:r>
                          <m:d>
                            <m:dPr>
                              <m:ctrlPr>
                                <a:rPr lang="en-AU" b="0" i="1" smtClean="0">
                                  <a:latin typeface="Cambria Math" panose="02040503050406030204" pitchFamily="18" charset="0"/>
                                  <a:ea typeface="Cambria Math" panose="02040503050406030204" pitchFamily="18" charset="0"/>
                                </a:rPr>
                              </m:ctrlPr>
                            </m:dPr>
                            <m:e>
                              <m:r>
                                <a:rPr lang="en-AU" b="0" i="1" smtClean="0">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𝑡</m:t>
                              </m:r>
                            </m:e>
                          </m:d>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𝑡</m:t>
                          </m:r>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ea typeface="Cambria Math" panose="02040503050406030204" pitchFamily="18" charset="0"/>
                            </a:rPr>
                            <m:t>12</m:t>
                          </m:r>
                          <m:r>
                            <a:rPr lang="en-AU" b="0" i="1" smtClean="0">
                              <a:latin typeface="Cambria Math" panose="02040503050406030204" pitchFamily="18" charset="0"/>
                              <a:ea typeface="Cambria Math" panose="02040503050406030204" pitchFamily="18" charset="0"/>
                            </a:rPr>
                            <m:t>𝑠𝑡</m:t>
                          </m:r>
                        </m:den>
                      </m:f>
                    </m:oMath>
                  </m:oMathPara>
                </a14:m>
                <a:endParaRPr lang="en-GB" dirty="0"/>
              </a:p>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16</m:t>
                          </m:r>
                          <m:r>
                            <a:rPr lang="en-AU" b="0" i="1" smtClean="0">
                              <a:latin typeface="Cambria Math" panose="02040503050406030204" pitchFamily="18" charset="0"/>
                              <a:ea typeface="Cambria Math" panose="02040503050406030204" pitchFamily="18" charset="0"/>
                            </a:rPr>
                            <m:t>𝑠𝑡</m:t>
                          </m:r>
                          <m:r>
                            <a:rPr lang="en-AU" b="0" i="1" smtClean="0">
                              <a:latin typeface="Cambria Math" panose="02040503050406030204" pitchFamily="18" charset="0"/>
                              <a:ea typeface="Cambria Math" panose="02040503050406030204" pitchFamily="18" charset="0"/>
                            </a:rPr>
                            <m:t>+12</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𝑡</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𝑠</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𝑡</m:t>
                          </m:r>
                        </m:num>
                        <m:den>
                          <m:r>
                            <a:rPr lang="en-AU" b="0" i="1" smtClean="0">
                              <a:latin typeface="Cambria Math" panose="02040503050406030204" pitchFamily="18" charset="0"/>
                              <a:ea typeface="Cambria Math" panose="02040503050406030204" pitchFamily="18" charset="0"/>
                            </a:rPr>
                            <m:t>12</m:t>
                          </m:r>
                          <m:r>
                            <a:rPr lang="en-AU" b="0" i="1" smtClean="0">
                              <a:latin typeface="Cambria Math" panose="02040503050406030204" pitchFamily="18" charset="0"/>
                              <a:ea typeface="Cambria Math" panose="02040503050406030204" pitchFamily="18" charset="0"/>
                            </a:rPr>
                            <m:t>𝑠𝑡</m:t>
                          </m:r>
                        </m:den>
                      </m:f>
                    </m:oMath>
                  </m:oMathPara>
                </a14:m>
                <a:endParaRPr lang="en-GB" dirty="0"/>
              </a:p>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1</m:t>
                          </m:r>
                          <m:r>
                            <a:rPr lang="en-AU" b="0" i="1" smtClean="0">
                              <a:latin typeface="Cambria Math" panose="02040503050406030204" pitchFamily="18" charset="0"/>
                              <a:ea typeface="Cambria Math" panose="02040503050406030204" pitchFamily="18" charset="0"/>
                            </a:rPr>
                            <m:t>9</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𝑡</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12</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𝑡</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𝑠</m:t>
                              </m:r>
                            </m:e>
                            <m:sup>
                              <m:r>
                                <a:rPr lang="en-AU" b="0" i="1" smtClean="0">
                                  <a:latin typeface="Cambria Math" panose="02040503050406030204" pitchFamily="18" charset="0"/>
                                  <a:ea typeface="Cambria Math" panose="02040503050406030204" pitchFamily="18" charset="0"/>
                                </a:rPr>
                                <m:t>2</m:t>
                              </m:r>
                            </m:sup>
                          </m:sSup>
                        </m:num>
                        <m:den>
                          <m:r>
                            <a:rPr lang="en-AU" b="0" i="1" smtClean="0">
                              <a:latin typeface="Cambria Math" panose="02040503050406030204" pitchFamily="18" charset="0"/>
                              <a:ea typeface="Cambria Math" panose="02040503050406030204" pitchFamily="18" charset="0"/>
                            </a:rPr>
                            <m:t>12</m:t>
                          </m:r>
                          <m:r>
                            <a:rPr lang="en-AU" b="0" i="1" smtClean="0">
                              <a:latin typeface="Cambria Math" panose="02040503050406030204" pitchFamily="18" charset="0"/>
                              <a:ea typeface="Cambria Math" panose="02040503050406030204" pitchFamily="18" charset="0"/>
                            </a:rPr>
                            <m:t>𝑠𝑡</m:t>
                          </m:r>
                        </m:den>
                      </m:f>
                    </m:oMath>
                  </m:oMathPara>
                </a14:m>
                <a:endParaRPr lang="en-GB" dirty="0"/>
              </a:p>
              <a:p>
                <a:endParaRPr lang="en-GB" dirty="0"/>
              </a:p>
            </p:txBody>
          </p:sp>
        </mc:Choice>
        <mc:Fallback>
          <p:sp>
            <p:nvSpPr>
              <p:cNvPr id="3" name="TextBox 2"/>
              <p:cNvSpPr txBox="1">
                <a:spLocks noRot="1" noChangeAspect="1" noMove="1" noResize="1" noEditPoints="1" noAdjustHandles="1" noChangeArrowheads="1" noChangeShapeType="1" noTextEdit="1"/>
              </p:cNvSpPr>
              <p:nvPr/>
            </p:nvSpPr>
            <p:spPr>
              <a:xfrm>
                <a:off x="3606682" y="1980671"/>
                <a:ext cx="4824536" cy="5082289"/>
              </a:xfrm>
              <a:prstGeom prst="rect">
                <a:avLst/>
              </a:prstGeom>
              <a:blipFill>
                <a:blip r:embed="rId3"/>
                <a:stretch>
                  <a:fillRect l="-1138" t="-719"/>
                </a:stretch>
              </a:blipFill>
            </p:spPr>
            <p:txBody>
              <a:bodyPr/>
              <a:lstStyle/>
              <a:p>
                <a:r>
                  <a:rPr lang="en-AU">
                    <a:noFill/>
                  </a:rPr>
                  <a:t> </a:t>
                </a:r>
              </a:p>
            </p:txBody>
          </p:sp>
        </mc:Fallback>
      </mc:AlternateContent>
    </p:spTree>
    <p:extLst>
      <p:ext uri="{BB962C8B-B14F-4D97-AF65-F5344CB8AC3E}">
        <p14:creationId xmlns:p14="http://schemas.microsoft.com/office/powerpoint/2010/main" val="2178568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954107"/>
          </a:xfrm>
          <a:prstGeom prst="rect">
            <a:avLst/>
          </a:prstGeom>
          <a:noFill/>
        </p:spPr>
        <p:txBody>
          <a:bodyPr wrap="none" rtlCol="0">
            <a:spAutoFit/>
          </a:bodyPr>
          <a:lstStyle/>
          <a:p>
            <a:r>
              <a:rPr lang="en-AU" sz="2800" dirty="0"/>
              <a:t>Algebraic Fractions</a:t>
            </a:r>
          </a:p>
          <a:p>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How to use multiplication with algebraic fractions with numerical denominators.</a:t>
            </a:r>
          </a:p>
        </p:txBody>
      </p:sp>
      <mc:AlternateContent xmlns:mc="http://schemas.openxmlformats.org/markup-compatibility/2006" xmlns:a14="http://schemas.microsoft.com/office/drawing/2010/main">
        <mc:Choice Requires="a14">
          <p:sp>
            <p:nvSpPr>
              <p:cNvPr id="5" name="TextBox 4"/>
              <p:cNvSpPr txBox="1"/>
              <p:nvPr/>
            </p:nvSpPr>
            <p:spPr>
              <a:xfrm>
                <a:off x="3428400" y="2189768"/>
                <a:ext cx="5320064" cy="4263283"/>
              </a:xfrm>
              <a:prstGeom prst="rect">
                <a:avLst/>
              </a:prstGeom>
              <a:noFill/>
            </p:spPr>
            <p:txBody>
              <a:bodyPr wrap="square" rtlCol="0">
                <a:spAutoFit/>
              </a:bodyPr>
              <a:lstStyle/>
              <a:p>
                <a:r>
                  <a:rPr lang="en-AU" dirty="0"/>
                  <a:t>Multiplying Algebraic Fractions has the same structure as multiplying numeric fractions. The numerator are multiplied together and the denominators are multiplied together. The result is then simplified to provide the final answer.</a:t>
                </a:r>
              </a:p>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𝑏</m:t>
                          </m:r>
                        </m:num>
                        <m:den>
                          <m:r>
                            <a:rPr lang="en-AU" b="0" i="1" smtClean="0">
                              <a:latin typeface="Cambria Math" panose="02040503050406030204" pitchFamily="18" charset="0"/>
                            </a:rPr>
                            <m:t>3</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5</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3×5</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𝑎𝑏</m:t>
                          </m:r>
                        </m:num>
                        <m:den>
                          <m:r>
                            <a:rPr lang="en-AU" b="0" i="1" smtClean="0">
                              <a:latin typeface="Cambria Math" panose="02040503050406030204" pitchFamily="18" charset="0"/>
                              <a:ea typeface="Cambria Math" panose="02040503050406030204" pitchFamily="18" charset="0"/>
                            </a:rPr>
                            <m:t>15</m:t>
                          </m:r>
                        </m:den>
                      </m:f>
                    </m:oMath>
                  </m:oMathPara>
                </a14:m>
                <a:endParaRPr lang="en-GB" dirty="0"/>
              </a:p>
              <a:p>
                <a:endParaRPr lang="en-AU" dirty="0"/>
              </a:p>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𝑎</m:t>
                          </m:r>
                          <m:r>
                            <a:rPr lang="en-AU" b="0" i="1" smtClean="0">
                              <a:latin typeface="Cambria Math" panose="02040503050406030204" pitchFamily="18" charset="0"/>
                            </a:rPr>
                            <m:t>+2</m:t>
                          </m:r>
                          <m:r>
                            <a:rPr lang="en-AU" b="0" i="1" smtClean="0">
                              <a:latin typeface="Cambria Math" panose="02040503050406030204" pitchFamily="18" charset="0"/>
                            </a:rPr>
                            <m:t>𝑏</m:t>
                          </m:r>
                        </m:num>
                        <m:den>
                          <m:r>
                            <a:rPr lang="en-AU" b="0" i="1" smtClean="0">
                              <a:latin typeface="Cambria Math" panose="02040503050406030204" pitchFamily="18" charset="0"/>
                            </a:rPr>
                            <m:t>3</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𝑏</m:t>
                          </m:r>
                        </m:num>
                        <m:den>
                          <m:r>
                            <a:rPr lang="en-AU" b="0" i="1" smtClean="0">
                              <a:latin typeface="Cambria Math" panose="02040503050406030204" pitchFamily="18" charset="0"/>
                              <a:ea typeface="Cambria Math" panose="02040503050406030204" pitchFamily="18" charset="0"/>
                            </a:rPr>
                            <m:t>2</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ea typeface="Cambria Math" panose="02040503050406030204" pitchFamily="18" charset="0"/>
                            </a:rPr>
                            <m:t>3×2</m:t>
                          </m:r>
                        </m:den>
                      </m:f>
                    </m:oMath>
                  </m:oMathPara>
                </a14:m>
                <a:endParaRPr lang="en-GB" dirty="0"/>
              </a:p>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𝑎</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+6</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+6</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num>
                        <m:den>
                          <m:r>
                            <a:rPr lang="en-AU" b="0" i="1" smtClean="0">
                              <a:latin typeface="Cambria Math" panose="02040503050406030204" pitchFamily="18" charset="0"/>
                              <a:ea typeface="Cambria Math" panose="02040503050406030204" pitchFamily="18" charset="0"/>
                            </a:rPr>
                            <m:t>6</m:t>
                          </m:r>
                        </m:den>
                      </m:f>
                    </m:oMath>
                  </m:oMathPara>
                </a14:m>
                <a:endParaRPr lang="en-GB" dirty="0"/>
              </a:p>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𝑎</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+12</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num>
                        <m:den>
                          <m:r>
                            <a:rPr lang="en-AU" b="0" i="1" smtClean="0">
                              <a:latin typeface="Cambria Math" panose="02040503050406030204" pitchFamily="18" charset="0"/>
                              <a:ea typeface="Cambria Math" panose="02040503050406030204" pitchFamily="18" charset="0"/>
                            </a:rPr>
                            <m:t>6</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𝑎</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ea typeface="Cambria Math" panose="02040503050406030204" pitchFamily="18" charset="0"/>
                            </a:rPr>
                            <m:t>6</m:t>
                          </m:r>
                        </m:den>
                      </m:f>
                    </m:oMath>
                  </m:oMathPara>
                </a14:m>
                <a:endParaRPr lang="en-GB" dirty="0"/>
              </a:p>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sSup>
                        <m:sSupPr>
                          <m:ctrlPr>
                            <a:rPr lang="en-GB"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𝑎</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oMath>
                  </m:oMathPara>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3428400" y="2189768"/>
                <a:ext cx="5320064" cy="4263283"/>
              </a:xfrm>
              <a:prstGeom prst="rect">
                <a:avLst/>
              </a:prstGeom>
              <a:blipFill>
                <a:blip r:embed="rId3"/>
                <a:stretch>
                  <a:fillRect l="-916" t="-714" r="-229"/>
                </a:stretch>
              </a:blipFill>
            </p:spPr>
            <p:txBody>
              <a:bodyPr/>
              <a:lstStyle/>
              <a:p>
                <a:r>
                  <a:rPr lang="en-GB">
                    <a:noFill/>
                  </a:rPr>
                  <a:t> </a:t>
                </a:r>
              </a:p>
            </p:txBody>
          </p:sp>
        </mc:Fallback>
      </mc:AlternateContent>
    </p:spTree>
    <p:extLst>
      <p:ext uri="{BB962C8B-B14F-4D97-AF65-F5344CB8AC3E}">
        <p14:creationId xmlns:p14="http://schemas.microsoft.com/office/powerpoint/2010/main" val="795876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6</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954107"/>
          </a:xfrm>
          <a:prstGeom prst="rect">
            <a:avLst/>
          </a:prstGeom>
          <a:noFill/>
        </p:spPr>
        <p:txBody>
          <a:bodyPr wrap="none" rtlCol="0">
            <a:spAutoFit/>
          </a:bodyPr>
          <a:lstStyle/>
          <a:p>
            <a:r>
              <a:rPr lang="en-AU" sz="2800" dirty="0"/>
              <a:t>Algebraic Fractions</a:t>
            </a:r>
          </a:p>
          <a:p>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How to use multiplication with algebraic fractions with algebraic denominators.</a:t>
            </a:r>
          </a:p>
        </p:txBody>
      </p:sp>
      <mc:AlternateContent xmlns:mc="http://schemas.openxmlformats.org/markup-compatibility/2006">
        <mc:Choice xmlns:a14="http://schemas.microsoft.com/office/drawing/2010/main" Requires="a14">
          <p:sp>
            <p:nvSpPr>
              <p:cNvPr id="5" name="TextBox 4"/>
              <p:cNvSpPr txBox="1"/>
              <p:nvPr/>
            </p:nvSpPr>
            <p:spPr>
              <a:xfrm>
                <a:off x="3428400" y="2189768"/>
                <a:ext cx="5320064" cy="4461927"/>
              </a:xfrm>
              <a:prstGeom prst="rect">
                <a:avLst/>
              </a:prstGeom>
              <a:noFill/>
            </p:spPr>
            <p:txBody>
              <a:bodyPr wrap="square" rtlCol="0">
                <a:spAutoFit/>
              </a:bodyPr>
              <a:lstStyle/>
              <a:p>
                <a:r>
                  <a:rPr lang="en-AU" dirty="0"/>
                  <a:t>Multiplying Algebraic Fractions has the same structure as multiplying numeric fractions. The numerator are multiplied together and the denominators are multiplied together. The result is then simplified to provide the final answer.</a:t>
                </a:r>
              </a:p>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𝑏</m:t>
                          </m:r>
                        </m:num>
                        <m:den>
                          <m:r>
                            <a:rPr lang="en-AU" b="0" i="1" smtClean="0">
                              <a:latin typeface="Cambria Math" panose="02040503050406030204" pitchFamily="18" charset="0"/>
                            </a:rPr>
                            <m:t>3</m:t>
                          </m:r>
                          <m:r>
                            <a:rPr lang="en-AU" b="0" i="1" smtClean="0">
                              <a:latin typeface="Cambria Math" panose="02040503050406030204" pitchFamily="18" charset="0"/>
                            </a:rPr>
                            <m:t>𝑏</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5</m:t>
                          </m:r>
                          <m:r>
                            <a:rPr lang="en-AU" b="0" i="1" smtClean="0">
                              <a:latin typeface="Cambria Math" panose="02040503050406030204" pitchFamily="18" charset="0"/>
                              <a:ea typeface="Cambria Math" panose="02040503050406030204" pitchFamily="18" charset="0"/>
                            </a:rPr>
                            <m:t>𝑏</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×5</m:t>
                          </m:r>
                          <m:r>
                            <a:rPr lang="en-AU" b="0" i="1" smtClean="0">
                              <a:latin typeface="Cambria Math" panose="02040503050406030204" pitchFamily="18" charset="0"/>
                              <a:ea typeface="Cambria Math" panose="02040503050406030204" pitchFamily="18" charset="0"/>
                            </a:rPr>
                            <m:t>𝑏</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𝑎𝑏</m:t>
                          </m:r>
                        </m:num>
                        <m:den>
                          <m:r>
                            <a:rPr lang="en-AU" b="0" i="1" smtClean="0">
                              <a:latin typeface="Cambria Math" panose="02040503050406030204" pitchFamily="18" charset="0"/>
                              <a:ea typeface="Cambria Math" panose="02040503050406030204" pitchFamily="18" charset="0"/>
                            </a:rPr>
                            <m:t>15</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15</m:t>
                          </m:r>
                          <m:r>
                            <a:rPr lang="en-AU" b="0" i="1" smtClean="0">
                              <a:latin typeface="Cambria Math" panose="02040503050406030204" pitchFamily="18" charset="0"/>
                              <a:ea typeface="Cambria Math" panose="02040503050406030204" pitchFamily="18" charset="0"/>
                            </a:rPr>
                            <m:t>𝑏</m:t>
                          </m:r>
                        </m:den>
                      </m:f>
                    </m:oMath>
                  </m:oMathPara>
                </a14:m>
                <a:endParaRPr lang="en-GB" dirty="0"/>
              </a:p>
              <a:p>
                <a:endParaRPr lang="en-AU" dirty="0"/>
              </a:p>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𝑎</m:t>
                          </m:r>
                          <m:r>
                            <a:rPr lang="en-AU" b="0" i="1" smtClean="0">
                              <a:latin typeface="Cambria Math" panose="02040503050406030204" pitchFamily="18" charset="0"/>
                            </a:rPr>
                            <m:t>+2</m:t>
                          </m:r>
                          <m:r>
                            <a:rPr lang="en-AU" b="0" i="1" smtClean="0">
                              <a:latin typeface="Cambria Math" panose="02040503050406030204" pitchFamily="18" charset="0"/>
                            </a:rPr>
                            <m:t>𝑏</m:t>
                          </m:r>
                        </m:num>
                        <m:den>
                          <m:r>
                            <a:rPr lang="en-AU" b="0" i="1" smtClean="0">
                              <a:latin typeface="Cambria Math" panose="02040503050406030204" pitchFamily="18" charset="0"/>
                            </a:rPr>
                            <m:t>3</m:t>
                          </m:r>
                          <m:r>
                            <a:rPr lang="en-AU" b="0" i="1" smtClean="0">
                              <a:latin typeface="Cambria Math" panose="02040503050406030204" pitchFamily="18" charset="0"/>
                            </a:rPr>
                            <m:t>𝑎</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𝑏</m:t>
                          </m:r>
                        </m:num>
                        <m:den>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𝑏</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𝑏</m:t>
                          </m:r>
                        </m:den>
                      </m:f>
                    </m:oMath>
                  </m:oMathPara>
                </a14:m>
                <a:endParaRPr lang="en-GB" dirty="0"/>
              </a:p>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𝑎</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+6</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+6</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num>
                        <m:den>
                          <m:r>
                            <a:rPr lang="en-AU" b="0" i="1" smtClean="0">
                              <a:latin typeface="Cambria Math" panose="02040503050406030204" pitchFamily="18" charset="0"/>
                              <a:ea typeface="Cambria Math" panose="02040503050406030204" pitchFamily="18" charset="0"/>
                            </a:rPr>
                            <m:t>6</m:t>
                          </m:r>
                          <m:r>
                            <a:rPr lang="en-AU" b="0" i="1" smtClean="0">
                              <a:latin typeface="Cambria Math" panose="02040503050406030204" pitchFamily="18" charset="0"/>
                              <a:ea typeface="Cambria Math" panose="02040503050406030204" pitchFamily="18" charset="0"/>
                            </a:rPr>
                            <m:t>𝑎𝑏</m:t>
                          </m:r>
                        </m:den>
                      </m:f>
                    </m:oMath>
                  </m:oMathPara>
                </a14:m>
                <a:endParaRPr lang="en-GB" dirty="0"/>
              </a:p>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𝑎</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+12</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num>
                        <m:den>
                          <m:r>
                            <a:rPr lang="en-AU" b="0" i="1" smtClean="0">
                              <a:latin typeface="Cambria Math" panose="02040503050406030204" pitchFamily="18" charset="0"/>
                              <a:ea typeface="Cambria Math" panose="02040503050406030204" pitchFamily="18" charset="0"/>
                            </a:rPr>
                            <m:t>6</m:t>
                          </m:r>
                          <m:r>
                            <a:rPr lang="en-AU" b="0" i="1" smtClean="0">
                              <a:latin typeface="Cambria Math" panose="02040503050406030204" pitchFamily="18" charset="0"/>
                              <a:ea typeface="Cambria Math" panose="02040503050406030204" pitchFamily="18" charset="0"/>
                            </a:rPr>
                            <m:t>𝑎𝑏</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𝑎</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ea typeface="Cambria Math" panose="02040503050406030204" pitchFamily="18" charset="0"/>
                            </a:rPr>
                            <m:t>6</m:t>
                          </m:r>
                          <m:r>
                            <a:rPr lang="en-AU" b="0" i="1" smtClean="0">
                              <a:latin typeface="Cambria Math" panose="02040503050406030204" pitchFamily="18" charset="0"/>
                              <a:ea typeface="Cambria Math" panose="02040503050406030204" pitchFamily="18" charset="0"/>
                            </a:rPr>
                            <m:t>𝑎𝑏</m:t>
                          </m:r>
                        </m:den>
                      </m:f>
                    </m:oMath>
                  </m:oMathPara>
                </a14:m>
                <a:endParaRPr lang="en-GB" dirty="0"/>
              </a:p>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sSup>
                            <m:sSupPr>
                              <m:ctrlPr>
                                <a:rPr lang="en-GB"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𝑎</m:t>
                              </m:r>
                            </m:e>
                            <m:sup>
                              <m:r>
                                <a:rPr lang="en-AU" i="1">
                                  <a:latin typeface="Cambria Math" panose="02040503050406030204" pitchFamily="18" charset="0"/>
                                  <a:ea typeface="Cambria Math" panose="02040503050406030204" pitchFamily="18" charset="0"/>
                                </a:rPr>
                                <m:t>2</m:t>
                              </m:r>
                            </m:sup>
                          </m:sSup>
                          <m:r>
                            <a:rPr lang="en-AU" i="1">
                              <a:latin typeface="Cambria Math" panose="02040503050406030204" pitchFamily="18" charset="0"/>
                              <a:ea typeface="Cambria Math" panose="02040503050406030204" pitchFamily="18" charset="0"/>
                            </a:rPr>
                            <m:t>+2</m:t>
                          </m:r>
                          <m:r>
                            <a:rPr lang="en-AU" i="1">
                              <a:latin typeface="Cambria Math" panose="02040503050406030204" pitchFamily="18" charset="0"/>
                              <a:ea typeface="Cambria Math" panose="02040503050406030204" pitchFamily="18" charset="0"/>
                            </a:rPr>
                            <m:t>𝑎𝑏</m:t>
                          </m:r>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𝑏</m:t>
                              </m:r>
                            </m:e>
                            <m:sup>
                              <m:r>
                                <a:rPr lang="en-AU" i="1">
                                  <a:latin typeface="Cambria Math" panose="02040503050406030204" pitchFamily="18" charset="0"/>
                                  <a:ea typeface="Cambria Math" panose="02040503050406030204" pitchFamily="18" charset="0"/>
                                </a:rPr>
                                <m:t>2</m:t>
                              </m:r>
                            </m:sup>
                          </m:sSup>
                        </m:num>
                        <m:den>
                          <m:r>
                            <a:rPr lang="en-AU" b="0" i="1" smtClean="0">
                              <a:latin typeface="Cambria Math" panose="02040503050406030204" pitchFamily="18" charset="0"/>
                              <a:ea typeface="Cambria Math" panose="02040503050406030204" pitchFamily="18" charset="0"/>
                            </a:rPr>
                            <m:t>𝑎𝑏</m:t>
                          </m:r>
                        </m:den>
                      </m:f>
                    </m:oMath>
                  </m:oMathPara>
                </a14:m>
                <a:endParaRPr lang="en-GB" dirty="0"/>
              </a:p>
            </p:txBody>
          </p:sp>
        </mc:Choice>
        <mc:Fallback>
          <p:sp>
            <p:nvSpPr>
              <p:cNvPr id="5" name="TextBox 4"/>
              <p:cNvSpPr txBox="1">
                <a:spLocks noRot="1" noChangeAspect="1" noMove="1" noResize="1" noEditPoints="1" noAdjustHandles="1" noChangeArrowheads="1" noChangeShapeType="1" noTextEdit="1"/>
              </p:cNvSpPr>
              <p:nvPr/>
            </p:nvSpPr>
            <p:spPr>
              <a:xfrm>
                <a:off x="3428400" y="2189768"/>
                <a:ext cx="5320064" cy="4461927"/>
              </a:xfrm>
              <a:prstGeom prst="rect">
                <a:avLst/>
              </a:prstGeom>
              <a:blipFill>
                <a:blip r:embed="rId3"/>
                <a:stretch>
                  <a:fillRect l="-916" t="-683" r="-229"/>
                </a:stretch>
              </a:blipFill>
            </p:spPr>
            <p:txBody>
              <a:bodyPr/>
              <a:lstStyle/>
              <a:p>
                <a:r>
                  <a:rPr lang="en-AU">
                    <a:noFill/>
                  </a:rPr>
                  <a:t> </a:t>
                </a:r>
              </a:p>
            </p:txBody>
          </p:sp>
        </mc:Fallback>
      </mc:AlternateContent>
    </p:spTree>
    <p:extLst>
      <p:ext uri="{BB962C8B-B14F-4D97-AF65-F5344CB8AC3E}">
        <p14:creationId xmlns:p14="http://schemas.microsoft.com/office/powerpoint/2010/main" val="705871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6</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954107"/>
          </a:xfrm>
          <a:prstGeom prst="rect">
            <a:avLst/>
          </a:prstGeom>
          <a:noFill/>
        </p:spPr>
        <p:txBody>
          <a:bodyPr wrap="none" rtlCol="0">
            <a:spAutoFit/>
          </a:bodyPr>
          <a:lstStyle/>
          <a:p>
            <a:r>
              <a:rPr lang="en-AU" sz="2800" dirty="0"/>
              <a:t>Algebraic Fractions</a:t>
            </a:r>
          </a:p>
          <a:p>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How to use Division with algebraic fractions with numerical denominators.</a:t>
            </a:r>
          </a:p>
        </p:txBody>
      </p:sp>
      <mc:AlternateContent xmlns:mc="http://schemas.openxmlformats.org/markup-compatibility/2006" xmlns:a14="http://schemas.microsoft.com/office/drawing/2010/main">
        <mc:Choice Requires="a14">
          <p:sp>
            <p:nvSpPr>
              <p:cNvPr id="3" name="TextBox 2"/>
              <p:cNvSpPr txBox="1"/>
              <p:nvPr/>
            </p:nvSpPr>
            <p:spPr>
              <a:xfrm>
                <a:off x="3203848" y="2420888"/>
                <a:ext cx="5536088" cy="3424079"/>
              </a:xfrm>
              <a:prstGeom prst="rect">
                <a:avLst/>
              </a:prstGeom>
              <a:noFill/>
            </p:spPr>
            <p:txBody>
              <a:bodyPr wrap="square" rtlCol="0">
                <a:spAutoFit/>
              </a:bodyPr>
              <a:lstStyle/>
              <a:p>
                <a:r>
                  <a:rPr lang="en-AU" dirty="0"/>
                  <a:t>Dividing Algebraic Fractions has the same structure as dividing numeric fractions. Use the reciprocal of the divisor then multiply.</a:t>
                </a:r>
              </a:p>
              <a:p>
                <a:endParaRPr lang="en-AU" dirty="0"/>
              </a:p>
              <a:p>
                <a:pPr/>
                <a14:m>
                  <m:oMathPara xmlns:m="http://schemas.openxmlformats.org/officeDocument/2006/math">
                    <m:oMathParaPr>
                      <m:jc m:val="centerGroup"/>
                    </m:oMathParaPr>
                    <m:oMath xmlns:m="http://schemas.openxmlformats.org/officeDocument/2006/math">
                      <m:f>
                        <m:fPr>
                          <m:ctrlPr>
                            <a:rPr lang="en-AU"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𝑎</m:t>
                          </m:r>
                        </m:num>
                        <m:den>
                          <m:r>
                            <a:rPr lang="en-AU" b="0" i="1" smtClean="0">
                              <a:latin typeface="Cambria Math" panose="02040503050406030204" pitchFamily="18" charset="0"/>
                            </a:rPr>
                            <m:t>3</m:t>
                          </m:r>
                        </m:den>
                      </m:f>
                      <m: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5=</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3</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5</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3×5</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15</m:t>
                          </m:r>
                        </m:den>
                      </m:f>
                    </m:oMath>
                  </m:oMathPara>
                </a14:m>
                <a:endParaRPr lang="en-AU" dirty="0"/>
              </a:p>
              <a:p>
                <a:endParaRPr lang="en-AU" dirty="0"/>
              </a:p>
              <a:p>
                <a:pPr/>
                <a14:m>
                  <m:oMathPara xmlns:m="http://schemas.openxmlformats.org/officeDocument/2006/math">
                    <m:oMathParaPr>
                      <m:jc m:val="centerGroup"/>
                    </m:oMathParaPr>
                    <m:oMath xmlns:m="http://schemas.openxmlformats.org/officeDocument/2006/math">
                      <m:f>
                        <m:fPr>
                          <m:ctrlPr>
                            <a:rPr lang="en-AU" i="1" smtClean="0">
                              <a:latin typeface="Cambria Math" panose="02040503050406030204" pitchFamily="18" charset="0"/>
                            </a:rPr>
                          </m:ctrlPr>
                        </m:fPr>
                        <m:num>
                          <m:r>
                            <a:rPr lang="en-AU" b="0" i="1" smtClean="0">
                              <a:latin typeface="Cambria Math" panose="02040503050406030204" pitchFamily="18" charset="0"/>
                            </a:rPr>
                            <m:t>𝑥</m:t>
                          </m:r>
                          <m:r>
                            <a:rPr lang="en-AU" b="0" i="1" smtClean="0">
                              <a:latin typeface="Cambria Math" panose="02040503050406030204" pitchFamily="18" charset="0"/>
                            </a:rPr>
                            <m:t>+1</m:t>
                          </m:r>
                        </m:num>
                        <m:den>
                          <m:r>
                            <a:rPr lang="en-AU" b="0" i="1" smtClean="0">
                              <a:latin typeface="Cambria Math" panose="02040503050406030204" pitchFamily="18" charset="0"/>
                            </a:rPr>
                            <m:t>5</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num>
                        <m:den>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5</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num>
                        <m:den>
                          <m:r>
                            <a:rPr lang="en-AU" b="0" i="1" smtClean="0">
                              <a:latin typeface="Cambria Math" panose="02040503050406030204" pitchFamily="18" charset="0"/>
                              <a:ea typeface="Cambria Math" panose="02040503050406030204" pitchFamily="18" charset="0"/>
                            </a:rPr>
                            <m:t>6</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+1)(</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num>
                        <m:den>
                          <m:r>
                            <a:rPr lang="en-AU" b="0" i="1" smtClean="0">
                              <a:latin typeface="Cambria Math" panose="02040503050406030204" pitchFamily="18" charset="0"/>
                              <a:ea typeface="Cambria Math" panose="02040503050406030204" pitchFamily="18" charset="0"/>
                            </a:rPr>
                            <m:t>5×6</m:t>
                          </m:r>
                        </m:den>
                      </m:f>
                    </m:oMath>
                  </m:oMathPara>
                </a14:m>
                <a:endParaRPr lang="en-AU" dirty="0"/>
              </a:p>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sSup>
                            <m:sSupPr>
                              <m:ctrlPr>
                                <a:rPr lang="en-AU"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𝑥</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num>
                        <m:den>
                          <m:r>
                            <a:rPr lang="en-AU" b="0" i="1" smtClean="0">
                              <a:latin typeface="Cambria Math" panose="02040503050406030204" pitchFamily="18" charset="0"/>
                              <a:ea typeface="Cambria Math" panose="02040503050406030204" pitchFamily="18" charset="0"/>
                            </a:rPr>
                            <m:t>30</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sSup>
                            <m:sSupPr>
                              <m:ctrlPr>
                                <a:rPr lang="en-AU"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𝑥</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num>
                        <m:den>
                          <m:r>
                            <a:rPr lang="en-AU" b="0" i="1" smtClean="0">
                              <a:latin typeface="Cambria Math" panose="02040503050406030204" pitchFamily="18" charset="0"/>
                              <a:ea typeface="Cambria Math" panose="02040503050406030204" pitchFamily="18" charset="0"/>
                            </a:rPr>
                            <m:t>30</m:t>
                          </m:r>
                        </m:den>
                      </m:f>
                    </m:oMath>
                  </m:oMathPara>
                </a14:m>
                <a:endParaRPr lang="en-AU" dirty="0"/>
              </a:p>
              <a:p>
                <a:endParaRPr lang="en-AU" dirty="0"/>
              </a:p>
            </p:txBody>
          </p:sp>
        </mc:Choice>
        <mc:Fallback xmlns="">
          <p:sp>
            <p:nvSpPr>
              <p:cNvPr id="3" name="TextBox 2"/>
              <p:cNvSpPr txBox="1">
                <a:spLocks noRot="1" noChangeAspect="1" noMove="1" noResize="1" noEditPoints="1" noAdjustHandles="1" noChangeArrowheads="1" noChangeShapeType="1" noTextEdit="1"/>
              </p:cNvSpPr>
              <p:nvPr/>
            </p:nvSpPr>
            <p:spPr>
              <a:xfrm>
                <a:off x="3203848" y="2420888"/>
                <a:ext cx="5536088" cy="3424079"/>
              </a:xfrm>
              <a:prstGeom prst="rect">
                <a:avLst/>
              </a:prstGeom>
              <a:blipFill>
                <a:blip r:embed="rId3"/>
                <a:stretch>
                  <a:fillRect l="-991" t="-890"/>
                </a:stretch>
              </a:blipFill>
            </p:spPr>
            <p:txBody>
              <a:bodyPr/>
              <a:lstStyle/>
              <a:p>
                <a:r>
                  <a:rPr lang="en-GB">
                    <a:noFill/>
                  </a:rPr>
                  <a:t> </a:t>
                </a:r>
              </a:p>
            </p:txBody>
          </p:sp>
        </mc:Fallback>
      </mc:AlternateContent>
    </p:spTree>
    <p:extLst>
      <p:ext uri="{BB962C8B-B14F-4D97-AF65-F5344CB8AC3E}">
        <p14:creationId xmlns:p14="http://schemas.microsoft.com/office/powerpoint/2010/main" val="1301949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6</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954107"/>
          </a:xfrm>
          <a:prstGeom prst="rect">
            <a:avLst/>
          </a:prstGeom>
          <a:noFill/>
        </p:spPr>
        <p:txBody>
          <a:bodyPr wrap="none" rtlCol="0">
            <a:spAutoFit/>
          </a:bodyPr>
          <a:lstStyle/>
          <a:p>
            <a:r>
              <a:rPr lang="en-AU" sz="2800" dirty="0"/>
              <a:t>Algebraic Fractions</a:t>
            </a:r>
          </a:p>
          <a:p>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How to use Division with algebraic fractions with algebraic denominators.</a:t>
            </a:r>
          </a:p>
        </p:txBody>
      </p:sp>
      <mc:AlternateContent xmlns:mc="http://schemas.openxmlformats.org/markup-compatibility/2006">
        <mc:Choice xmlns:a14="http://schemas.microsoft.com/office/drawing/2010/main" Requires="a14">
          <p:sp>
            <p:nvSpPr>
              <p:cNvPr id="3" name="TextBox 2"/>
              <p:cNvSpPr txBox="1"/>
              <p:nvPr/>
            </p:nvSpPr>
            <p:spPr>
              <a:xfrm>
                <a:off x="3203848" y="2420888"/>
                <a:ext cx="5536088" cy="3424079"/>
              </a:xfrm>
              <a:prstGeom prst="rect">
                <a:avLst/>
              </a:prstGeom>
              <a:noFill/>
            </p:spPr>
            <p:txBody>
              <a:bodyPr wrap="square" rtlCol="0">
                <a:spAutoFit/>
              </a:bodyPr>
              <a:lstStyle/>
              <a:p>
                <a:r>
                  <a:rPr lang="en-AU" dirty="0"/>
                  <a:t>Dividing Algebraic Fractions has the same structure as dividing numeric fractions. Use the reciprocal of the divisor then multiply.</a:t>
                </a:r>
              </a:p>
              <a:p>
                <a:endParaRPr lang="en-AU" dirty="0"/>
              </a:p>
              <a:p>
                <a:pPr/>
                <a14:m>
                  <m:oMathPara xmlns:m="http://schemas.openxmlformats.org/officeDocument/2006/math">
                    <m:oMathParaPr>
                      <m:jc m:val="centerGroup"/>
                    </m:oMathParaPr>
                    <m:oMath xmlns:m="http://schemas.openxmlformats.org/officeDocument/2006/math">
                      <m:f>
                        <m:fPr>
                          <m:ctrlPr>
                            <a:rPr lang="en-AU"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𝑎</m:t>
                          </m:r>
                        </m:num>
                        <m:den>
                          <m:r>
                            <a:rPr lang="en-AU" b="0" i="1" smtClean="0">
                              <a:latin typeface="Cambria Math" panose="02040503050406030204" pitchFamily="18" charset="0"/>
                            </a:rPr>
                            <m:t>3</m:t>
                          </m:r>
                          <m:r>
                            <a:rPr lang="en-AU" b="0" i="1" smtClean="0">
                              <a:latin typeface="Cambria Math" panose="02040503050406030204" pitchFamily="18" charset="0"/>
                            </a:rPr>
                            <m:t>𝑏</m:t>
                          </m:r>
                        </m:den>
                      </m:f>
                      <m: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5</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𝑏</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5</m:t>
                          </m:r>
                          <m:r>
                            <a:rPr lang="en-AU" b="0" i="1" smtClean="0">
                              <a:latin typeface="Cambria Math" panose="02040503050406030204" pitchFamily="18" charset="0"/>
                              <a:ea typeface="Cambria Math" panose="02040503050406030204" pitchFamily="18" charset="0"/>
                            </a:rPr>
                            <m:t>𝑏</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×5</m:t>
                          </m:r>
                          <m:r>
                            <a:rPr lang="en-AU" b="0" i="1" smtClean="0">
                              <a:latin typeface="Cambria Math" panose="02040503050406030204" pitchFamily="18" charset="0"/>
                              <a:ea typeface="Cambria Math" panose="02040503050406030204" pitchFamily="18" charset="0"/>
                            </a:rPr>
                            <m:t>𝑏</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15</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den>
                      </m:f>
                    </m:oMath>
                  </m:oMathPara>
                </a14:m>
                <a:endParaRPr lang="en-AU" dirty="0"/>
              </a:p>
              <a:p>
                <a:endParaRPr lang="en-AU" dirty="0"/>
              </a:p>
              <a:p>
                <a:pPr/>
                <a14:m>
                  <m:oMathPara xmlns:m="http://schemas.openxmlformats.org/officeDocument/2006/math">
                    <m:oMathParaPr>
                      <m:jc m:val="centerGroup"/>
                    </m:oMathParaPr>
                    <m:oMath xmlns:m="http://schemas.openxmlformats.org/officeDocument/2006/math">
                      <m:f>
                        <m:fPr>
                          <m:ctrlPr>
                            <a:rPr lang="en-AU" i="1" smtClean="0">
                              <a:latin typeface="Cambria Math" panose="02040503050406030204" pitchFamily="18" charset="0"/>
                            </a:rPr>
                          </m:ctrlPr>
                        </m:fPr>
                        <m:num>
                          <m:r>
                            <a:rPr lang="en-AU" b="0" i="1" smtClean="0">
                              <a:latin typeface="Cambria Math" panose="02040503050406030204" pitchFamily="18" charset="0"/>
                            </a:rPr>
                            <m:t>𝑥</m:t>
                          </m:r>
                          <m:r>
                            <a:rPr lang="en-AU" b="0" i="1" smtClean="0">
                              <a:latin typeface="Cambria Math" panose="02040503050406030204" pitchFamily="18" charset="0"/>
                            </a:rPr>
                            <m:t>+1</m:t>
                          </m:r>
                        </m:num>
                        <m:den>
                          <m:r>
                            <a:rPr lang="en-AU" b="0" i="1" smtClean="0">
                              <a:latin typeface="Cambria Math" panose="02040503050406030204" pitchFamily="18" charset="0"/>
                            </a:rPr>
                            <m:t>5</m:t>
                          </m:r>
                          <m:r>
                            <a:rPr lang="en-AU" b="0" i="1" smtClean="0">
                              <a:latin typeface="Cambria Math" panose="02040503050406030204" pitchFamily="18" charset="0"/>
                            </a:rPr>
                            <m:t>+</m:t>
                          </m:r>
                          <m:r>
                            <a:rPr lang="en-AU" b="0" i="1" smtClean="0">
                              <a:latin typeface="Cambria Math" panose="02040503050406030204" pitchFamily="18" charset="0"/>
                            </a:rPr>
                            <m:t>𝑥</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num>
                        <m:den>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5</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𝑥</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num>
                        <m:den>
                          <m:r>
                            <a:rPr lang="en-AU" b="0" i="1" smtClean="0">
                              <a:latin typeface="Cambria Math" panose="02040503050406030204" pitchFamily="18" charset="0"/>
                              <a:ea typeface="Cambria Math" panose="02040503050406030204" pitchFamily="18" charset="0"/>
                            </a:rPr>
                            <m:t>6</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+1)(</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num>
                        <m:den>
                          <m:r>
                            <a:rPr lang="en-AU" b="0" i="1" smtClean="0">
                              <a:latin typeface="Cambria Math" panose="02040503050406030204" pitchFamily="18" charset="0"/>
                              <a:ea typeface="Cambria Math" panose="02040503050406030204" pitchFamily="18" charset="0"/>
                            </a:rPr>
                            <m:t>6(5+</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m:t>
                          </m:r>
                        </m:den>
                      </m:f>
                    </m:oMath>
                  </m:oMathPara>
                </a14:m>
                <a:endParaRPr lang="en-AU" dirty="0"/>
              </a:p>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sSup>
                            <m:sSupPr>
                              <m:ctrlPr>
                                <a:rPr lang="en-AU"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𝑥</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num>
                        <m:den>
                          <m:r>
                            <a:rPr lang="en-AU" b="0" i="1" smtClean="0">
                              <a:latin typeface="Cambria Math" panose="02040503050406030204" pitchFamily="18" charset="0"/>
                              <a:ea typeface="Cambria Math" panose="02040503050406030204" pitchFamily="18" charset="0"/>
                            </a:rPr>
                            <m:t>30</m:t>
                          </m:r>
                          <m:r>
                            <a:rPr lang="en-AU" b="0" i="1" smtClean="0">
                              <a:latin typeface="Cambria Math" panose="02040503050406030204" pitchFamily="18" charset="0"/>
                              <a:ea typeface="Cambria Math" panose="02040503050406030204" pitchFamily="18" charset="0"/>
                            </a:rPr>
                            <m:t>+6</m:t>
                          </m:r>
                          <m:r>
                            <a:rPr lang="en-AU" b="0" i="1" smtClean="0">
                              <a:latin typeface="Cambria Math" panose="02040503050406030204" pitchFamily="18" charset="0"/>
                              <a:ea typeface="Cambria Math" panose="02040503050406030204" pitchFamily="18" charset="0"/>
                            </a:rPr>
                            <m:t>𝑥</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sSup>
                            <m:sSupPr>
                              <m:ctrlPr>
                                <a:rPr lang="en-AU"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𝑥</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num>
                        <m:den>
                          <m:r>
                            <a:rPr lang="en-AU" b="0" i="1" smtClean="0">
                              <a:latin typeface="Cambria Math" panose="02040503050406030204" pitchFamily="18" charset="0"/>
                              <a:ea typeface="Cambria Math" panose="02040503050406030204" pitchFamily="18" charset="0"/>
                            </a:rPr>
                            <m:t>6(5+</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m:t>
                          </m:r>
                        </m:den>
                      </m:f>
                    </m:oMath>
                  </m:oMathPara>
                </a14:m>
                <a:endParaRPr lang="en-AU" dirty="0"/>
              </a:p>
              <a:p>
                <a:endParaRPr lang="en-AU" dirty="0"/>
              </a:p>
            </p:txBody>
          </p:sp>
        </mc:Choice>
        <mc:Fallback>
          <p:sp>
            <p:nvSpPr>
              <p:cNvPr id="3" name="TextBox 2"/>
              <p:cNvSpPr txBox="1">
                <a:spLocks noRot="1" noChangeAspect="1" noMove="1" noResize="1" noEditPoints="1" noAdjustHandles="1" noChangeArrowheads="1" noChangeShapeType="1" noTextEdit="1"/>
              </p:cNvSpPr>
              <p:nvPr/>
            </p:nvSpPr>
            <p:spPr>
              <a:xfrm>
                <a:off x="3203848" y="2420888"/>
                <a:ext cx="5536088" cy="3424079"/>
              </a:xfrm>
              <a:prstGeom prst="rect">
                <a:avLst/>
              </a:prstGeom>
              <a:blipFill>
                <a:blip r:embed="rId3"/>
                <a:stretch>
                  <a:fillRect l="-991" t="-890"/>
                </a:stretch>
              </a:blipFill>
            </p:spPr>
            <p:txBody>
              <a:bodyPr/>
              <a:lstStyle/>
              <a:p>
                <a:r>
                  <a:rPr lang="en-AU">
                    <a:noFill/>
                  </a:rPr>
                  <a:t> </a:t>
                </a:r>
              </a:p>
            </p:txBody>
          </p:sp>
        </mc:Fallback>
      </mc:AlternateContent>
    </p:spTree>
    <p:extLst>
      <p:ext uri="{BB962C8B-B14F-4D97-AF65-F5344CB8AC3E}">
        <p14:creationId xmlns:p14="http://schemas.microsoft.com/office/powerpoint/2010/main" val="2431267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9672" y="404664"/>
            <a:ext cx="5760640" cy="707886"/>
          </a:xfrm>
          <a:prstGeom prst="rect">
            <a:avLst/>
          </a:prstGeom>
          <a:noFill/>
        </p:spPr>
        <p:txBody>
          <a:bodyPr wrap="square" rtlCol="0">
            <a:spAutoFit/>
          </a:bodyPr>
          <a:lstStyle/>
          <a:p>
            <a:pPr algn="ctr"/>
            <a:r>
              <a:rPr lang="en-AU" sz="4000" dirty="0"/>
              <a:t>Check for understanding</a:t>
            </a:r>
          </a:p>
        </p:txBody>
      </p:sp>
    </p:spTree>
    <p:extLst>
      <p:ext uri="{BB962C8B-B14F-4D97-AF65-F5344CB8AC3E}">
        <p14:creationId xmlns:p14="http://schemas.microsoft.com/office/powerpoint/2010/main" val="3689543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67744" y="188640"/>
            <a:ext cx="7632848" cy="769441"/>
          </a:xfrm>
          <a:prstGeom prst="rect">
            <a:avLst/>
          </a:prstGeom>
          <a:noFill/>
        </p:spPr>
        <p:txBody>
          <a:bodyPr wrap="square" rtlCol="0">
            <a:spAutoFit/>
          </a:bodyPr>
          <a:lstStyle/>
          <a:p>
            <a:r>
              <a:rPr lang="en-AU" sz="4400" dirty="0"/>
              <a:t>Guided Practice</a:t>
            </a:r>
          </a:p>
        </p:txBody>
      </p:sp>
      <mc:AlternateContent xmlns:mc="http://schemas.openxmlformats.org/markup-compatibility/2006" xmlns:a14="http://schemas.microsoft.com/office/drawing/2010/main">
        <mc:Choice Requires="a14">
          <p:sp>
            <p:nvSpPr>
              <p:cNvPr id="3" name="TextBox 2"/>
              <p:cNvSpPr txBox="1"/>
              <p:nvPr/>
            </p:nvSpPr>
            <p:spPr>
              <a:xfrm>
                <a:off x="1547664" y="1196752"/>
                <a:ext cx="6408712" cy="467711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8</m:t>
                          </m:r>
                          <m:r>
                            <a:rPr lang="en-AU" b="0" i="1" smtClean="0">
                              <a:latin typeface="Cambria Math" panose="02040503050406030204" pitchFamily="18" charset="0"/>
                            </a:rPr>
                            <m:t>h</m:t>
                          </m:r>
                          <m:r>
                            <a:rPr lang="en-AU" b="0" i="1" smtClean="0">
                              <a:latin typeface="Cambria Math" panose="02040503050406030204" pitchFamily="18" charset="0"/>
                            </a:rPr>
                            <m:t>−9</m:t>
                          </m:r>
                        </m:num>
                        <m:den>
                          <m:r>
                            <a:rPr lang="en-AU" b="0" i="1" smtClean="0">
                              <a:latin typeface="Cambria Math" panose="02040503050406030204" pitchFamily="18" charset="0"/>
                            </a:rPr>
                            <m:t>7</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9</m:t>
                          </m:r>
                          <m:r>
                            <a:rPr lang="en-AU" b="0" i="1" smtClean="0">
                              <a:latin typeface="Cambria Math" panose="02040503050406030204" pitchFamily="18" charset="0"/>
                            </a:rPr>
                            <m:t>h</m:t>
                          </m:r>
                          <m:r>
                            <a:rPr lang="en-AU" b="0" i="1" smtClean="0">
                              <a:latin typeface="Cambria Math" panose="02040503050406030204" pitchFamily="18" charset="0"/>
                            </a:rPr>
                            <m:t>−5</m:t>
                          </m:r>
                        </m:num>
                        <m:den>
                          <m:r>
                            <a:rPr lang="en-AU" b="0" i="1" smtClean="0">
                              <a:latin typeface="Cambria Math" panose="02040503050406030204" pitchFamily="18" charset="0"/>
                            </a:rPr>
                            <m:t>6</m:t>
                          </m:r>
                        </m:den>
                      </m:f>
                    </m:oMath>
                  </m:oMathPara>
                </a14:m>
                <a:endParaRPr lang="en-GB" dirty="0"/>
              </a:p>
              <a:p>
                <a:endParaRPr lang="en-GB" dirty="0"/>
              </a:p>
              <a:p>
                <a:endParaRPr lang="en-GB" dirty="0"/>
              </a:p>
              <a:p>
                <a:pPr/>
                <a14:m>
                  <m:oMathPara xmlns:m="http://schemas.openxmlformats.org/officeDocument/2006/math">
                    <m:oMathParaPr>
                      <m:jc m:val="left"/>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𝑟</m:t>
                          </m:r>
                          <m:r>
                            <a:rPr lang="en-AU" b="0" i="1" smtClean="0">
                              <a:latin typeface="Cambria Math" panose="02040503050406030204" pitchFamily="18" charset="0"/>
                            </a:rPr>
                            <m:t>+7</m:t>
                          </m:r>
                        </m:num>
                        <m:den>
                          <m:r>
                            <a:rPr lang="en-AU" b="0" i="1" smtClean="0">
                              <a:latin typeface="Cambria Math" panose="02040503050406030204" pitchFamily="18" charset="0"/>
                            </a:rPr>
                            <m:t>12</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6</m:t>
                          </m:r>
                          <m:r>
                            <a:rPr lang="en-AU" b="0" i="1" smtClean="0">
                              <a:latin typeface="Cambria Math" panose="02040503050406030204" pitchFamily="18" charset="0"/>
                            </a:rPr>
                            <m:t>𝑟</m:t>
                          </m:r>
                          <m:r>
                            <a:rPr lang="en-AU" b="0" i="1" smtClean="0">
                              <a:latin typeface="Cambria Math" panose="02040503050406030204" pitchFamily="18" charset="0"/>
                            </a:rPr>
                            <m:t>−7</m:t>
                          </m:r>
                        </m:num>
                        <m:den>
                          <m:r>
                            <a:rPr lang="en-AU" b="0" i="1" smtClean="0">
                              <a:latin typeface="Cambria Math" panose="02040503050406030204" pitchFamily="18" charset="0"/>
                            </a:rPr>
                            <m:t>18</m:t>
                          </m:r>
                        </m:den>
                      </m:f>
                    </m:oMath>
                  </m:oMathPara>
                </a14:m>
                <a:endParaRPr lang="en-GB" dirty="0"/>
              </a:p>
              <a:p>
                <a:endParaRPr lang="en-AU" dirty="0"/>
              </a:p>
              <a:p>
                <a:endParaRPr lang="en-GB" dirty="0"/>
              </a:p>
              <a:p>
                <a:pPr/>
                <a14:m>
                  <m:oMathPara xmlns:m="http://schemas.openxmlformats.org/officeDocument/2006/math">
                    <m:oMathParaPr>
                      <m:jc m:val="left"/>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3</m:t>
                          </m:r>
                          <m:r>
                            <a:rPr lang="en-AU" b="0" i="1" smtClean="0">
                              <a:latin typeface="Cambria Math" panose="02040503050406030204" pitchFamily="18" charset="0"/>
                            </a:rPr>
                            <m:t>𝑞</m:t>
                          </m:r>
                          <m:r>
                            <a:rPr lang="en-AU" b="0" i="1" smtClean="0">
                              <a:latin typeface="Cambria Math" panose="02040503050406030204" pitchFamily="18" charset="0"/>
                            </a:rPr>
                            <m:t>−7</m:t>
                          </m:r>
                        </m:num>
                        <m:den>
                          <m:r>
                            <a:rPr lang="en-AU" b="0" i="1" smtClean="0">
                              <a:latin typeface="Cambria Math" panose="02040503050406030204" pitchFamily="18" charset="0"/>
                            </a:rPr>
                            <m:t>8</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7</m:t>
                          </m:r>
                          <m:r>
                            <a:rPr lang="en-AU" b="0" i="1" smtClean="0">
                              <a:latin typeface="Cambria Math" panose="02040503050406030204" pitchFamily="18" charset="0"/>
                              <a:ea typeface="Cambria Math" panose="02040503050406030204" pitchFamily="18" charset="0"/>
                            </a:rPr>
                            <m:t>𝑞</m:t>
                          </m:r>
                          <m:r>
                            <a:rPr lang="en-AU" b="0" i="1" smtClean="0">
                              <a:latin typeface="Cambria Math" panose="02040503050406030204" pitchFamily="18" charset="0"/>
                              <a:ea typeface="Cambria Math" panose="02040503050406030204" pitchFamily="18" charset="0"/>
                            </a:rPr>
                            <m:t>−4</m:t>
                          </m:r>
                        </m:num>
                        <m:den>
                          <m:r>
                            <a:rPr lang="en-AU" b="0" i="1" smtClean="0">
                              <a:latin typeface="Cambria Math" panose="02040503050406030204" pitchFamily="18" charset="0"/>
                              <a:ea typeface="Cambria Math" panose="02040503050406030204" pitchFamily="18" charset="0"/>
                            </a:rPr>
                            <m:t>5</m:t>
                          </m:r>
                        </m:den>
                      </m:f>
                    </m:oMath>
                  </m:oMathPara>
                </a14:m>
                <a:endParaRPr lang="en-GB" dirty="0"/>
              </a:p>
              <a:p>
                <a:endParaRPr lang="en-AU" dirty="0"/>
              </a:p>
              <a:p>
                <a:endParaRPr lang="en-GB" dirty="0"/>
              </a:p>
              <a:p>
                <a:pPr/>
                <a14:m>
                  <m:oMathPara xmlns:m="http://schemas.openxmlformats.org/officeDocument/2006/math">
                    <m:oMathParaPr>
                      <m:jc m:val="left"/>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9</m:t>
                          </m:r>
                          <m:r>
                            <a:rPr lang="en-AU" b="0" i="1" smtClean="0">
                              <a:latin typeface="Cambria Math" panose="02040503050406030204" pitchFamily="18" charset="0"/>
                            </a:rPr>
                            <m:t>𝑒</m:t>
                          </m:r>
                        </m:num>
                        <m:den>
                          <m:r>
                            <a:rPr lang="en-AU" b="0" i="1" smtClean="0">
                              <a:latin typeface="Cambria Math" panose="02040503050406030204" pitchFamily="18" charset="0"/>
                            </a:rPr>
                            <m:t>2</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r>
                            <a:rPr lang="en-AU" b="0" i="1" smtClean="0">
                              <a:latin typeface="Cambria Math" panose="02040503050406030204" pitchFamily="18" charset="0"/>
                              <a:ea typeface="Cambria Math" panose="02040503050406030204" pitchFamily="18" charset="0"/>
                            </a:rPr>
                            <m:t>h</m:t>
                          </m:r>
                        </m:num>
                        <m:den>
                          <m:r>
                            <a:rPr lang="en-AU" b="0" i="1" smtClean="0">
                              <a:latin typeface="Cambria Math" panose="02040503050406030204" pitchFamily="18" charset="0"/>
                              <a:ea typeface="Cambria Math" panose="02040503050406030204" pitchFamily="18" charset="0"/>
                            </a:rPr>
                            <m:t>7</m:t>
                          </m:r>
                        </m:den>
                      </m:f>
                    </m:oMath>
                  </m:oMathPara>
                </a14:m>
                <a:endParaRPr lang="en-GB" dirty="0"/>
              </a:p>
              <a:p>
                <a:endParaRPr lang="en-GB" dirty="0"/>
              </a:p>
              <a:p>
                <a:endParaRPr lang="en-AU" dirty="0"/>
              </a:p>
              <a:p>
                <a:endParaRPr lang="en-GB" dirty="0"/>
              </a:p>
            </p:txBody>
          </p:sp>
        </mc:Choice>
        <mc:Fallback xmlns="">
          <p:sp>
            <p:nvSpPr>
              <p:cNvPr id="3" name="TextBox 2"/>
              <p:cNvSpPr txBox="1">
                <a:spLocks noRot="1" noChangeAspect="1" noMove="1" noResize="1" noEditPoints="1" noAdjustHandles="1" noChangeArrowheads="1" noChangeShapeType="1" noTextEdit="1"/>
              </p:cNvSpPr>
              <p:nvPr/>
            </p:nvSpPr>
            <p:spPr>
              <a:xfrm>
                <a:off x="1547664" y="1196752"/>
                <a:ext cx="6408712" cy="4677114"/>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126673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Activity</a:t>
            </a:r>
          </a:p>
        </p:txBody>
      </p:sp>
      <p:sp>
        <p:nvSpPr>
          <p:cNvPr id="3" name="Content Placeholder 2"/>
          <p:cNvSpPr>
            <a:spLocks noGrp="1"/>
          </p:cNvSpPr>
          <p:nvPr>
            <p:ph idx="1"/>
          </p:nvPr>
        </p:nvSpPr>
        <p:spPr/>
        <p:txBody>
          <a:bodyPr>
            <a:normAutofit lnSpcReduction="10000"/>
          </a:bodyPr>
          <a:lstStyle/>
          <a:p>
            <a:r>
              <a:rPr lang="en-AU" dirty="0"/>
              <a:t>Nelson Chapter 3 – Pages 128 &amp; 129</a:t>
            </a:r>
          </a:p>
          <a:p>
            <a:r>
              <a:rPr lang="en-AU" dirty="0"/>
              <a:t>Q1 – a, d, g, j, o, r, u, x</a:t>
            </a:r>
          </a:p>
          <a:p>
            <a:r>
              <a:rPr lang="en-AU" dirty="0"/>
              <a:t>Q2 – k, n, q, t</a:t>
            </a:r>
          </a:p>
          <a:p>
            <a:r>
              <a:rPr lang="en-AU" dirty="0"/>
              <a:t>Q3 – d, f, k, o</a:t>
            </a:r>
          </a:p>
          <a:p>
            <a:r>
              <a:rPr lang="en-AU" dirty="0"/>
              <a:t>Q4 – c, </a:t>
            </a:r>
            <a:r>
              <a:rPr lang="en-AU" dirty="0" err="1"/>
              <a:t>i</a:t>
            </a:r>
            <a:r>
              <a:rPr lang="en-AU" dirty="0"/>
              <a:t>, p, s</a:t>
            </a:r>
          </a:p>
          <a:p>
            <a:endParaRPr lang="en-AU" dirty="0"/>
          </a:p>
          <a:p>
            <a:r>
              <a:rPr lang="en-AU" dirty="0"/>
              <a:t>Dwyer Chapter 1 – Page 9</a:t>
            </a:r>
          </a:p>
          <a:p>
            <a:r>
              <a:rPr lang="en-AU" dirty="0"/>
              <a:t>Q’s – 17, 18, 21</a:t>
            </a:r>
          </a:p>
        </p:txBody>
      </p:sp>
    </p:spTree>
    <p:extLst>
      <p:ext uri="{BB962C8B-B14F-4D97-AF65-F5344CB8AC3E}">
        <p14:creationId xmlns:p14="http://schemas.microsoft.com/office/powerpoint/2010/main" val="40426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Closure activity</a:t>
            </a:r>
          </a:p>
        </p:txBody>
      </p:sp>
      <p:sp>
        <p:nvSpPr>
          <p:cNvPr id="3" name="Content Placeholder 2"/>
          <p:cNvSpPr>
            <a:spLocks noGrp="1"/>
          </p:cNvSpPr>
          <p:nvPr>
            <p:ph idx="1"/>
          </p:nvPr>
        </p:nvSpPr>
        <p:spPr/>
        <p:txBody>
          <a:bodyPr/>
          <a:lstStyle/>
          <a:p>
            <a:pPr marL="0" indent="0">
              <a:buNone/>
            </a:pPr>
            <a:r>
              <a:rPr lang="en-AU" dirty="0"/>
              <a:t>Success Criteria</a:t>
            </a:r>
          </a:p>
          <a:p>
            <a:pPr marL="0" indent="0">
              <a:buNone/>
            </a:pPr>
            <a:r>
              <a:rPr lang="en-AU" dirty="0"/>
              <a:t>Thumbs up </a:t>
            </a:r>
            <a:r>
              <a:rPr lang="en-AU" dirty="0" err="1"/>
              <a:t>etc</a:t>
            </a:r>
            <a:endParaRPr lang="en-AU" dirty="0"/>
          </a:p>
        </p:txBody>
      </p:sp>
    </p:spTree>
    <p:extLst>
      <p:ext uri="{BB962C8B-B14F-4D97-AF65-F5344CB8AC3E}">
        <p14:creationId xmlns:p14="http://schemas.microsoft.com/office/powerpoint/2010/main" val="28112399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TotalTime>
  <Words>1631</Words>
  <Application>Microsoft Office PowerPoint</Application>
  <PresentationFormat>On-screen Show (4:3)</PresentationFormat>
  <Paragraphs>175</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 Math</vt:lpstr>
      <vt:lpstr>Office Theme</vt:lpstr>
      <vt:lpstr>Mental set</vt:lpstr>
      <vt:lpstr>PowerPoint Presentation</vt:lpstr>
      <vt:lpstr>Lesson objective</vt:lpstr>
      <vt:lpstr>Success Criteria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vt:lpstr>
      <vt:lpstr>Closure activity</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Mental set</dc:title>
  <dc:creator>MORGAN Adam</dc:creator>
  <cp:lastModifiedBy>Natasha</cp:lastModifiedBy>
  <cp:revision>25</cp:revision>
  <dcterms:created xsi:type="dcterms:W3CDTF">2016-10-20T03:14:06Z</dcterms:created>
  <dcterms:modified xsi:type="dcterms:W3CDTF">2017-03-13T15:17:09Z</dcterms:modified>
</cp:coreProperties>
</file>
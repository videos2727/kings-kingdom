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7" r:id="rId3"/>
    <p:sldId id="271" r:id="rId4"/>
    <p:sldId id="272" r:id="rId5"/>
    <p:sldId id="273" r:id="rId6"/>
    <p:sldId id="274" r:id="rId7"/>
    <p:sldId id="278" r:id="rId8"/>
    <p:sldId id="276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</p:sldIdLst>
  <p:sldSz cx="1219041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72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E74D2C-E314-484F-8766-605CEA1CBDD1}" type="datetimeFigureOut">
              <a:rPr lang="en-GB" smtClean="0"/>
              <a:t>18/07/2015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2118E-A7DF-4869-933A-065CAC605F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892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2118E-A7DF-4869-933A-065CAC605FE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622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2118E-A7DF-4869-933A-065CAC605FE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62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2118E-A7DF-4869-933A-065CAC605FE5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62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2118E-A7DF-4869-933A-065CAC605FE5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622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2118E-A7DF-4869-933A-065CAC605FE5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622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281" y="2130427"/>
            <a:ext cx="10361851" cy="938534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562" y="3166120"/>
            <a:ext cx="8533289" cy="694928"/>
          </a:xfrm>
        </p:spPr>
        <p:txBody>
          <a:bodyPr>
            <a:normAutofit/>
          </a:bodyPr>
          <a:lstStyle>
            <a:lvl1pPr marL="0" indent="0" algn="ctr">
              <a:buNone/>
              <a:defRPr sz="3600" b="1">
                <a:solidFill>
                  <a:srgbClr val="00B05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Subtitle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62558" y="332656"/>
            <a:ext cx="4896544" cy="365125"/>
          </a:xfrm>
        </p:spPr>
        <p:txBody>
          <a:bodyPr/>
          <a:lstStyle>
            <a:lvl1pPr>
              <a:defRPr sz="2800"/>
            </a:lvl1pPr>
          </a:lstStyle>
          <a:p>
            <a:fld id="{C584E384-4DE3-47FA-AB97-65249CC4AC27}" type="datetime2">
              <a:rPr lang="en-GB" smtClean="0"/>
              <a:pPr/>
              <a:t>Saturday, 18 July 2015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80549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75126" y="44624"/>
            <a:ext cx="6061751" cy="1143000"/>
          </a:xfrm>
        </p:spPr>
        <p:txBody>
          <a:bodyPr/>
          <a:lstStyle>
            <a:lvl1pPr algn="r"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 smtClean="0"/>
              <a:t>Lesson Title</a:t>
            </a:r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262558" y="332656"/>
            <a:ext cx="4896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584E384-4DE3-47FA-AB97-65249CC4AC27}" type="datetime2">
              <a:rPr lang="en-GB" smtClean="0"/>
              <a:pPr/>
              <a:t>Saturday, 18 July 2015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001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ABEBC-D925-49BD-9388-11E7984E8EEB}" type="datetimeFigureOut">
              <a:rPr lang="en-GB" smtClean="0"/>
              <a:t>18/07/2015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2B2DF-95B7-4A93-9DD9-C0B623699D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8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3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50" y="2130427"/>
            <a:ext cx="10361851" cy="938534"/>
          </a:xfrm>
        </p:spPr>
        <p:txBody>
          <a:bodyPr/>
          <a:lstStyle/>
          <a:p>
            <a:r>
              <a:rPr lang="en-GB" b="1" dirty="0" smtClean="0"/>
              <a:t>Surds</a:t>
            </a:r>
            <a:endParaRPr lang="en-GB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31" y="2852936"/>
            <a:ext cx="8533289" cy="694928"/>
          </a:xfrm>
        </p:spPr>
        <p:txBody>
          <a:bodyPr/>
          <a:lstStyle/>
          <a:p>
            <a:r>
              <a:rPr lang="en-GB" dirty="0" smtClean="0"/>
              <a:t>Rationalising the </a:t>
            </a:r>
            <a:r>
              <a:rPr lang="en-GB" dirty="0" err="1" smtClean="0"/>
              <a:t>Denominatior</a:t>
            </a:r>
            <a:endParaRPr lang="en-GB" dirty="0"/>
          </a:p>
        </p:txBody>
      </p:sp>
      <p:pic>
        <p:nvPicPr>
          <p:cNvPr id="1026" name="Picture 2" descr="https://upload.wikimedia.org/wikipedia/commons/thumb/3/3e/Nuvola_apps_edu_mathematics_blue-p.svg/2000px-Nuvola_apps_edu_mathematics_blue-p.svg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66" y="260648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6-Point Star 4"/>
          <p:cNvSpPr/>
          <p:nvPr/>
        </p:nvSpPr>
        <p:spPr>
          <a:xfrm>
            <a:off x="8543478" y="1826532"/>
            <a:ext cx="2232248" cy="2160240"/>
          </a:xfrm>
          <a:prstGeom prst="star6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smtClean="0"/>
              <a:t>Grade </a:t>
            </a:r>
            <a:r>
              <a:rPr lang="en-GB" sz="2800" b="1" dirty="0"/>
              <a:t>6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398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3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319312"/>
            <a:ext cx="5212289" cy="44539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0" b="34725"/>
          <a:stretch/>
        </p:blipFill>
        <p:spPr bwMode="auto">
          <a:xfrm>
            <a:off x="238763" y="1167010"/>
            <a:ext cx="5852155" cy="2981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34566" y="6093296"/>
            <a:ext cx="5756352" cy="64807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Teaching resources designed for the rigours of the new GCSE Specification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39" y="1167011"/>
            <a:ext cx="5195451" cy="2333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291489" y="3645024"/>
            <a:ext cx="4968552" cy="64807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Schemes of work updated with the new content introduced into the GCSE specification</a:t>
            </a:r>
            <a:endParaRPr lang="en-GB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262" y="4365104"/>
            <a:ext cx="4608512" cy="159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6269788" y="6093296"/>
            <a:ext cx="4968552" cy="64807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Topic assessments to monitor the progress of your students through the course</a:t>
            </a:r>
            <a:endParaRPr lang="en-GB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58" y="4293096"/>
            <a:ext cx="5639940" cy="158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86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98862" y="2556210"/>
                <a:ext cx="1210139" cy="1808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62" y="2556210"/>
                <a:ext cx="1210139" cy="18088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078350" y="1184569"/>
            <a:ext cx="7632848" cy="6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To rationalise the denominator, we multiply by a special type of 1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76815" y="2369301"/>
                <a:ext cx="1859355" cy="199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15" y="2369301"/>
                <a:ext cx="1859355" cy="19958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500784" y="4581128"/>
            <a:ext cx="2952328" cy="1583407"/>
            <a:chOff x="4949504" y="4766766"/>
            <a:chExt cx="2952328" cy="1583407"/>
          </a:xfrm>
        </p:grpSpPr>
        <p:cxnSp>
          <p:nvCxnSpPr>
            <p:cNvPr id="17" name="Straight Arrow Connector 16"/>
            <p:cNvCxnSpPr>
              <a:stCxn id="23" idx="0"/>
            </p:cNvCxnSpPr>
            <p:nvPr/>
          </p:nvCxnSpPr>
          <p:spPr>
            <a:xfrm flipH="1" flipV="1">
              <a:off x="6095206" y="4766766"/>
              <a:ext cx="330462" cy="926207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4949504" y="5692973"/>
              <a:ext cx="2952328" cy="6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Special type of 1</a:t>
              </a:r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299465" y="2462754"/>
                <a:ext cx="2333844" cy="1835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65" y="2462754"/>
                <a:ext cx="2333844" cy="183505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6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21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Simplifying our answer…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734777" y="2060848"/>
                <a:ext cx="1623714" cy="1840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777" y="2060848"/>
                <a:ext cx="1623714" cy="18404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734777" y="2060848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3186594" y="3099771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606985" y="2020608"/>
                <a:ext cx="2333844" cy="1840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985" y="2020608"/>
                <a:ext cx="2333844" cy="18404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271281" y="1988840"/>
                <a:ext cx="1920269" cy="1840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281" y="1988840"/>
                <a:ext cx="1920269" cy="184044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244492" y="4581128"/>
            <a:ext cx="7632848" cy="6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Make sure you simplify your answer (if possible) every time</a:t>
            </a:r>
            <a:endParaRPr lang="en-GB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" grpId="0" animBg="1"/>
      <p:bldP spid="12" grpId="0" animBg="1"/>
      <p:bldP spid="13" grpId="0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98862" y="2556210"/>
                <a:ext cx="1210139" cy="1808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62" y="2556210"/>
                <a:ext cx="1210139" cy="18088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078350" y="1184569"/>
            <a:ext cx="7632848" cy="6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Again, to rationalise the denominator, we multiply by a special type of 1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76815" y="2369301"/>
                <a:ext cx="1859355" cy="199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15" y="2369301"/>
                <a:ext cx="1859355" cy="19958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500784" y="4581128"/>
            <a:ext cx="2952328" cy="1583407"/>
            <a:chOff x="4949504" y="4766766"/>
            <a:chExt cx="2952328" cy="1583407"/>
          </a:xfrm>
        </p:grpSpPr>
        <p:cxnSp>
          <p:nvCxnSpPr>
            <p:cNvPr id="17" name="Straight Arrow Connector 16"/>
            <p:cNvCxnSpPr>
              <a:stCxn id="23" idx="0"/>
            </p:cNvCxnSpPr>
            <p:nvPr/>
          </p:nvCxnSpPr>
          <p:spPr>
            <a:xfrm flipH="1" flipV="1">
              <a:off x="6095206" y="4766766"/>
              <a:ext cx="330462" cy="926207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4949504" y="5692973"/>
              <a:ext cx="2952328" cy="6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Special type of 1</a:t>
              </a:r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299465" y="2462754"/>
                <a:ext cx="2333844" cy="184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65" y="2462754"/>
                <a:ext cx="2333844" cy="184031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6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21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Simplifying our answer…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2734777" y="2060848"/>
                <a:ext cx="1623714" cy="18404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777" y="2060848"/>
                <a:ext cx="1623714" cy="18404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2734777" y="2110273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3186594" y="3149196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606985" y="2020608"/>
                <a:ext cx="2333844" cy="18349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6985" y="2020608"/>
                <a:ext cx="2333844" cy="183492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271281" y="1988840"/>
                <a:ext cx="1920269" cy="184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𝟖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281" y="1988840"/>
                <a:ext cx="1920269" cy="184031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2244492" y="4581128"/>
            <a:ext cx="7632848" cy="6572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Make sure you simplify your answer (if possible) every time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5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" grpId="0" animBg="1"/>
      <p:bldP spid="12" grpId="0" animBg="1"/>
      <p:bldP spid="13" grpId="0"/>
      <p:bldP spid="14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998862" y="1383661"/>
                <a:ext cx="1210139" cy="18088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62" y="1383661"/>
                <a:ext cx="1210139" cy="180889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76815" y="1196752"/>
                <a:ext cx="1859355" cy="199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815" y="1196752"/>
                <a:ext cx="1859355" cy="19958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299465" y="1290205"/>
                <a:ext cx="2333844" cy="1840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465" y="1290205"/>
                <a:ext cx="2333844" cy="18407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873625" y="3470290"/>
                <a:ext cx="1623713" cy="1840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  <m:rad>
                            <m:radPr>
                              <m:degHide m:val="on"/>
                              <m:ctrlPr>
                                <a:rPr lang="en-GB" sz="5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5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5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5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625" y="3470290"/>
                <a:ext cx="1623713" cy="184076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3862958" y="3470197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4314775" y="4509120"/>
            <a:ext cx="720080" cy="1008112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817841" y="3902338"/>
                <a:ext cx="2333844" cy="10211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5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5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5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841" y="3902338"/>
                <a:ext cx="2333844" cy="102111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318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7" grpId="0"/>
      <p:bldP spid="12" grpId="0"/>
      <p:bldP spid="13" grpId="0" animBg="1"/>
      <p:bldP spid="14" grpId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966" y="-27384"/>
            <a:ext cx="7501911" cy="1143000"/>
          </a:xfrm>
        </p:spPr>
        <p:txBody>
          <a:bodyPr>
            <a:normAutofit/>
          </a:bodyPr>
          <a:lstStyle/>
          <a:p>
            <a:r>
              <a:rPr lang="en-GB" sz="2800" b="1" dirty="0" smtClean="0"/>
              <a:t>Quick Task - Rationalising the denominator</a:t>
            </a:r>
            <a:endParaRPr lang="en-GB" sz="2800" b="1" dirty="0"/>
          </a:p>
        </p:txBody>
      </p:sp>
      <p:sp>
        <p:nvSpPr>
          <p:cNvPr id="14" name="Oval 13"/>
          <p:cNvSpPr/>
          <p:nvPr/>
        </p:nvSpPr>
        <p:spPr>
          <a:xfrm>
            <a:off x="3070870" y="2636912"/>
            <a:ext cx="5472608" cy="165618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Rationalising the denominator</a:t>
            </a:r>
            <a:endParaRPr lang="en-GB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29166" y="1301319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66" y="1301319"/>
                <a:ext cx="1021690" cy="14909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367014" y="908720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14" y="908720"/>
                <a:ext cx="1021690" cy="14909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327454" y="1127698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54" y="1127698"/>
                <a:ext cx="1021690" cy="14909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047857" y="3986576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57" y="3986576"/>
                <a:ext cx="1021690" cy="14909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4655046" y="4725144"/>
                <a:ext cx="1021690" cy="150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046" y="4725144"/>
                <a:ext cx="1021690" cy="150470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8183438" y="4262524"/>
                <a:ext cx="1021690" cy="1488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4262524"/>
                <a:ext cx="1021690" cy="14884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63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966" y="-27384"/>
            <a:ext cx="7501911" cy="114300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solidFill>
                  <a:schemeClr val="accent4">
                    <a:lumMod val="75000"/>
                  </a:schemeClr>
                </a:solidFill>
              </a:rPr>
              <a:t>Rationalising the denominator Solutions</a:t>
            </a:r>
            <a:endParaRPr lang="en-GB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070870" y="2636912"/>
            <a:ext cx="5472608" cy="1656184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 smtClean="0"/>
              <a:t>Rationalising the denominator</a:t>
            </a:r>
            <a:endParaRPr lang="en-GB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729166" y="1301319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66" y="1301319"/>
                <a:ext cx="1021690" cy="14909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367014" y="908720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14" y="908720"/>
                <a:ext cx="1021690" cy="149092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8327454" y="1127698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𝟕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454" y="1127698"/>
                <a:ext cx="1021690" cy="149092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047857" y="3986576"/>
                <a:ext cx="1021690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57" y="3986576"/>
                <a:ext cx="1021690" cy="14909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4655046" y="4725144"/>
                <a:ext cx="1021690" cy="1504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046" y="4725144"/>
                <a:ext cx="1021690" cy="150470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8183438" y="4262524"/>
                <a:ext cx="1021690" cy="1488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3438" y="4262524"/>
                <a:ext cx="1021690" cy="148842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58702" y="1266474"/>
                <a:ext cx="1599990" cy="1514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702" y="1266474"/>
                <a:ext cx="1599990" cy="1514454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231110" y="764704"/>
                <a:ext cx="1938223" cy="1516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110" y="764704"/>
                <a:ext cx="1938223" cy="151669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9119542" y="980728"/>
                <a:ext cx="1599990" cy="1512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e>
                          </m:rad>
                        </m:num>
                        <m:den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542" y="980728"/>
                <a:ext cx="1599990" cy="151265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9205128" y="4582194"/>
                <a:ext cx="1938223" cy="849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128" y="4582194"/>
                <a:ext cx="1938223" cy="84907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619506" y="5006734"/>
                <a:ext cx="1938223" cy="862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e>
                      </m:rad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506" y="5006734"/>
                <a:ext cx="1938223" cy="862865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101758" y="4300603"/>
                <a:ext cx="1938223" cy="862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758" y="4300603"/>
                <a:ext cx="1938223" cy="86286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423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7" grpId="0"/>
      <p:bldP spid="18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66614" y="2636912"/>
                <a:ext cx="2032351" cy="1490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2636912"/>
                <a:ext cx="2032351" cy="14909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3649963" y="1210472"/>
            <a:ext cx="7632848" cy="6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Nothing changes, all we do is change our special type of 1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831129" y="2492896"/>
                <a:ext cx="2560124" cy="16432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4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29" y="2492896"/>
                <a:ext cx="2560124" cy="16432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3352883" y="4306641"/>
            <a:ext cx="2952328" cy="1583407"/>
            <a:chOff x="4949504" y="4766766"/>
            <a:chExt cx="2952328" cy="1583407"/>
          </a:xfrm>
        </p:grpSpPr>
        <p:cxnSp>
          <p:nvCxnSpPr>
            <p:cNvPr id="17" name="Straight Arrow Connector 16"/>
            <p:cNvCxnSpPr>
              <a:stCxn id="23" idx="0"/>
            </p:cNvCxnSpPr>
            <p:nvPr/>
          </p:nvCxnSpPr>
          <p:spPr>
            <a:xfrm flipH="1" flipV="1">
              <a:off x="6095206" y="4766766"/>
              <a:ext cx="330462" cy="926207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4949504" y="5692973"/>
              <a:ext cx="2952328" cy="6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Special type of 1</a:t>
              </a:r>
              <a:endParaRPr lang="en-GB" sz="1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535269" y="2524664"/>
                <a:ext cx="5266250" cy="1720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269" y="2524664"/>
                <a:ext cx="5266250" cy="172085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>
          <a:xfrm>
            <a:off x="437762" y="928707"/>
            <a:ext cx="2880320" cy="1440594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What’s different here?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9191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21" grpId="0"/>
      <p:bldP spid="27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334566" y="1115616"/>
                <a:ext cx="3454407" cy="1276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𝟔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1115616"/>
                <a:ext cx="3454407" cy="127695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99324" y="1115616"/>
            <a:ext cx="2232248" cy="638476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943078" y="1083477"/>
                <a:ext cx="2166619" cy="780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40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0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rad>
                      <m:r>
                        <a:rPr lang="en-GB" sz="4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GB" sz="4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𝟐</m:t>
                      </m:r>
                    </m:oMath>
                  </m:oMathPara>
                </a14:m>
                <a:endParaRPr lang="en-GB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078" y="1083477"/>
                <a:ext cx="2166619" cy="7804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4943078" y="1772816"/>
            <a:ext cx="2304256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51914" y="1772816"/>
            <a:ext cx="3927068" cy="638476"/>
          </a:xfrm>
          <a:prstGeom prst="ellipse">
            <a:avLst/>
          </a:prstGeom>
          <a:solidFill>
            <a:srgbClr val="00B05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273694"/>
                  </p:ext>
                </p:extLst>
              </p:nvPr>
            </p:nvGraphicFramePr>
            <p:xfrm>
              <a:off x="262558" y="2996952"/>
              <a:ext cx="5976663" cy="244827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2221"/>
                    <a:gridCol w="1992221"/>
                    <a:gridCol w="1992221"/>
                  </a:tblGrid>
                  <a:tr h="840860"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𝟔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- 1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84086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𝟔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766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+ 1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6273694"/>
                  </p:ext>
                </p:extLst>
              </p:nvPr>
            </p:nvGraphicFramePr>
            <p:xfrm>
              <a:off x="262558" y="2996952"/>
              <a:ext cx="5976663" cy="244827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2221"/>
                    <a:gridCol w="1992221"/>
                    <a:gridCol w="1992221"/>
                  </a:tblGrid>
                  <a:tr h="840860"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6"/>
                          <a:stretch>
                            <a:fillRect l="-100307" t="-725" r="-100613" b="-197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- 1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8408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6"/>
                          <a:stretch>
                            <a:fillRect t="-101460" r="-200000" b="-98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766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+ 1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/>
          <p:cNvSpPr txBox="1"/>
          <p:nvPr/>
        </p:nvSpPr>
        <p:spPr>
          <a:xfrm>
            <a:off x="2926854" y="3933056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rgbClr val="00B050"/>
                </a:solidFill>
              </a:rPr>
              <a:t>+6</a:t>
            </a:r>
            <a:endParaRPr lang="en-GB" sz="32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655046" y="3933056"/>
                <a:ext cx="115212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046" y="3933056"/>
                <a:ext cx="1152128" cy="5739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638822" y="4727268"/>
                <a:ext cx="115212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𝟔</m:t>
                          </m:r>
                        </m:e>
                      </m:rad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22" y="4727268"/>
                <a:ext cx="1152128" cy="57394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015086" y="4727268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rgbClr val="00B050"/>
                </a:solidFill>
              </a:rPr>
              <a:t>-1</a:t>
            </a:r>
            <a:endParaRPr lang="en-GB" sz="32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671270" y="2748821"/>
                <a:ext cx="4557530" cy="780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rad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𝟔</m:t>
                          </m:r>
                        </m:e>
                      </m:rad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sz="40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70" y="2748821"/>
                <a:ext cx="4557530" cy="78047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7679382" y="2708920"/>
            <a:ext cx="2664296" cy="895020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7751390" y="3817840"/>
            <a:ext cx="2733275" cy="6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Cancel each other out</a:t>
            </a:r>
            <a:endParaRPr 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8093451" y="4640098"/>
                <a:ext cx="2049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sz="40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3451" y="4640098"/>
                <a:ext cx="2049151" cy="70788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8776527" y="5281571"/>
                <a:ext cx="11318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0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𝟓</m:t>
                      </m:r>
                    </m:oMath>
                  </m:oMathPara>
                </a14:m>
                <a:endParaRPr lang="en-GB" sz="4000" b="1" u="sng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527" y="5281571"/>
                <a:ext cx="1131848" cy="707886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5792078" y="1863947"/>
                <a:ext cx="6062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𝟓</m:t>
                      </m:r>
                    </m:oMath>
                  </m:oMathPara>
                </a14:m>
                <a:endParaRPr lang="en-GB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078" y="1863947"/>
                <a:ext cx="606255" cy="70788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078982" y="1388095"/>
                <a:ext cx="734496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GB" sz="4400" b="1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82" y="1388095"/>
                <a:ext cx="734496" cy="769441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40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8" grpId="0" animBg="1"/>
      <p:bldP spid="10" grpId="0"/>
      <p:bldP spid="20" grpId="0"/>
      <p:bldP spid="22" grpId="0"/>
      <p:bldP spid="24" grpId="0"/>
      <p:bldP spid="25" grpId="0"/>
      <p:bldP spid="28" grpId="0" animBg="1"/>
      <p:bldP spid="30" grpId="0" animBg="1"/>
      <p:bldP spid="31" grpId="0"/>
      <p:bldP spid="32" grpId="0"/>
      <p:bldP spid="33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66614" y="2060848"/>
                <a:ext cx="2032351" cy="14884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2060848"/>
                <a:ext cx="2032351" cy="148842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831129" y="1916832"/>
                <a:ext cx="2560123" cy="16453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44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29" y="1916832"/>
                <a:ext cx="2560123" cy="164538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3352883" y="3730577"/>
            <a:ext cx="2952328" cy="1583407"/>
            <a:chOff x="4949504" y="4766766"/>
            <a:chExt cx="2952328" cy="1583407"/>
          </a:xfrm>
        </p:grpSpPr>
        <p:cxnSp>
          <p:nvCxnSpPr>
            <p:cNvPr id="17" name="Straight Arrow Connector 16"/>
            <p:cNvCxnSpPr>
              <a:stCxn id="23" idx="0"/>
            </p:cNvCxnSpPr>
            <p:nvPr/>
          </p:nvCxnSpPr>
          <p:spPr>
            <a:xfrm flipH="1" flipV="1">
              <a:off x="6095206" y="4766766"/>
              <a:ext cx="330462" cy="926207"/>
            </a:xfrm>
            <a:prstGeom prst="straightConnector1">
              <a:avLst/>
            </a:prstGeom>
            <a:ln w="412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4949504" y="5692973"/>
              <a:ext cx="2952328" cy="6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Special type of 1</a:t>
              </a:r>
              <a:endParaRPr lang="en-GB" sz="1400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535269" y="1948600"/>
                <a:ext cx="5266250" cy="1725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44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44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44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269" y="1948600"/>
                <a:ext cx="5266250" cy="172521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1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/>
              <a:t>Rationalising the denominator</a:t>
            </a:r>
            <a:endParaRPr lang="en-GB" sz="2800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1434816" y="1171639"/>
            <a:ext cx="2232248" cy="638476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530650" y="1139500"/>
                <a:ext cx="2004716" cy="767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4000" b="1" dirty="0" smtClean="0">
                    <a:solidFill>
                      <a:srgbClr val="00B050"/>
                    </a:solidFill>
                    <a:ea typeface="Cambria Math"/>
                  </a:rPr>
                  <a:t>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4000" b="1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GB" sz="4000" b="1" i="1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</m:rad>
                    <m:r>
                      <a:rPr lang="en-GB" sz="40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GB" sz="4000" b="1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𝟒</m:t>
                    </m:r>
                  </m:oMath>
                </a14:m>
                <a:endParaRPr lang="en-GB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650" y="1139500"/>
                <a:ext cx="2004716" cy="767903"/>
              </a:xfrm>
              <a:prstGeom prst="rect">
                <a:avLst/>
              </a:prstGeom>
              <a:blipFill rotWithShape="1">
                <a:blip r:embed="rId4"/>
                <a:stretch>
                  <a:fillRect l="-10638" t="-6349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5378570" y="1828839"/>
            <a:ext cx="2304256" cy="0"/>
          </a:xfrm>
          <a:prstGeom prst="line">
            <a:avLst/>
          </a:prstGeom>
          <a:ln w="412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7743" y="1810115"/>
            <a:ext cx="3927068" cy="638476"/>
          </a:xfrm>
          <a:prstGeom prst="ellipse">
            <a:avLst/>
          </a:prstGeom>
          <a:solidFill>
            <a:srgbClr val="00B05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8943689"/>
                  </p:ext>
                </p:extLst>
              </p:nvPr>
            </p:nvGraphicFramePr>
            <p:xfrm>
              <a:off x="262558" y="2996952"/>
              <a:ext cx="5976663" cy="244827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2221"/>
                    <a:gridCol w="1992221"/>
                    <a:gridCol w="1992221"/>
                  </a:tblGrid>
                  <a:tr h="840860"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- 1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84086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2800" b="1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766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+ 1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8943689"/>
                  </p:ext>
                </p:extLst>
              </p:nvPr>
            </p:nvGraphicFramePr>
            <p:xfrm>
              <a:off x="262558" y="2996952"/>
              <a:ext cx="5976663" cy="244827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2221"/>
                    <a:gridCol w="1992221"/>
                    <a:gridCol w="1992221"/>
                  </a:tblGrid>
                  <a:tr h="840860"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l="-100307" t="-725" r="-100613" b="-197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- 1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8408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5"/>
                          <a:stretch>
                            <a:fillRect t="-101460" r="-200000" b="-98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  <a:tr h="766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800" b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</a:rPr>
                            <a:t>+ 1</a:t>
                          </a:r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GB" sz="2800" b="1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/>
          <p:cNvSpPr txBox="1"/>
          <p:nvPr/>
        </p:nvSpPr>
        <p:spPr>
          <a:xfrm>
            <a:off x="2926854" y="3933056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rgbClr val="00B050"/>
                </a:solidFill>
              </a:rPr>
              <a:t>+ 2</a:t>
            </a:r>
            <a:endParaRPr lang="en-GB" sz="32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655046" y="3933056"/>
                <a:ext cx="115212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046" y="3933056"/>
                <a:ext cx="1152128" cy="57394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638822" y="4727268"/>
                <a:ext cx="1152128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822" y="4727268"/>
                <a:ext cx="1152128" cy="57394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5015086" y="4727268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smtClean="0">
                <a:solidFill>
                  <a:srgbClr val="00B050"/>
                </a:solidFill>
              </a:rPr>
              <a:t>- 1</a:t>
            </a:r>
            <a:endParaRPr lang="en-GB" sz="32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671270" y="3134489"/>
                <a:ext cx="4557530" cy="780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0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GB" sz="40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sz="40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270" y="3134489"/>
                <a:ext cx="4557530" cy="7804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/>
          <p:cNvSpPr/>
          <p:nvPr/>
        </p:nvSpPr>
        <p:spPr>
          <a:xfrm>
            <a:off x="7732217" y="3134489"/>
            <a:ext cx="2539453" cy="895020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7751390" y="4203508"/>
            <a:ext cx="2733275" cy="6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Cancel each other out</a:t>
            </a:r>
            <a:endParaRPr 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8751483" y="5097378"/>
                <a:ext cx="11318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0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sz="4000" b="1" u="sng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483" y="5097378"/>
                <a:ext cx="1131848" cy="70788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6281039" y="1844824"/>
                <a:ext cx="6062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GB" sz="4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039" y="1844824"/>
                <a:ext cx="606255" cy="70788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4514474" y="1444118"/>
                <a:ext cx="734496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</m:oMath>
                  </m:oMathPara>
                </a14:m>
                <a:endParaRPr lang="en-GB" sz="4400" b="1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4474" y="1444118"/>
                <a:ext cx="734496" cy="769441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914074" y="1124744"/>
                <a:ext cx="3454407" cy="12801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74" y="1124744"/>
                <a:ext cx="3454407" cy="128015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7826842" y="1324783"/>
                <a:ext cx="2948884" cy="849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GB" sz="4400" b="1" i="0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sz="4400" b="1" i="1" u="sng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4400" b="1" i="1" u="sng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n-GB" sz="44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GB" sz="4400" b="1" i="1" u="sng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𝟒</m:t>
                      </m:r>
                    </m:oMath>
                  </m:oMathPara>
                </a14:m>
                <a:endParaRPr lang="en-GB" sz="4400" b="1" u="sng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842" y="1324783"/>
                <a:ext cx="2948884" cy="84907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96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8" grpId="0" animBg="1"/>
      <p:bldP spid="10" grpId="0"/>
      <p:bldP spid="20" grpId="0"/>
      <p:bldP spid="22" grpId="0"/>
      <p:bldP spid="24" grpId="0"/>
      <p:bldP spid="25" grpId="0"/>
      <p:bldP spid="28" grpId="0" animBg="1"/>
      <p:bldP spid="30" grpId="0" animBg="1"/>
      <p:bldP spid="32" grpId="0"/>
      <p:bldP spid="33" grpId="0"/>
      <p:bldP spid="11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1270670" y="2055395"/>
                <a:ext cx="1526187" cy="1119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670" y="2055395"/>
                <a:ext cx="1526187" cy="1119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256651" y="3501008"/>
                <a:ext cx="1526187" cy="1119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51" y="3501008"/>
                <a:ext cx="1526187" cy="1119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287693" y="5013176"/>
                <a:ext cx="1526187" cy="1109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693" y="5013176"/>
                <a:ext cx="1526187" cy="110966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6887293" y="2055395"/>
                <a:ext cx="1526187" cy="1109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293" y="2055395"/>
                <a:ext cx="1526187" cy="110966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6887293" y="3501008"/>
                <a:ext cx="1526187" cy="1109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293" y="3501008"/>
                <a:ext cx="1526187" cy="1109663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6887293" y="5013176"/>
                <a:ext cx="1526187" cy="1109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293" y="5013176"/>
                <a:ext cx="1526187" cy="1109663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176378" y="1916832"/>
                <a:ext cx="1910716" cy="1222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378" y="1916832"/>
                <a:ext cx="1910716" cy="1222066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3176378" y="3356992"/>
                <a:ext cx="1910715" cy="12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378" y="3356992"/>
                <a:ext cx="1910715" cy="122046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3201065" y="4869160"/>
                <a:ext cx="1971630" cy="12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65" y="4869160"/>
                <a:ext cx="1971630" cy="122046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8687494" y="1916832"/>
                <a:ext cx="1910715" cy="1222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4" y="1916832"/>
                <a:ext cx="1910715" cy="122206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8687494" y="3356992"/>
                <a:ext cx="1910715" cy="12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4" y="3356992"/>
                <a:ext cx="1910715" cy="122046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8687493" y="4869160"/>
                <a:ext cx="1910715" cy="1222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2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493" y="4869160"/>
                <a:ext cx="1910715" cy="1222066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solidFill>
                  <a:schemeClr val="accent4">
                    <a:lumMod val="75000"/>
                  </a:schemeClr>
                </a:solidFill>
              </a:rPr>
              <a:t>Rationalising the denominator</a:t>
            </a:r>
            <a:endParaRPr lang="en-GB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095206" y="1916832"/>
            <a:ext cx="0" cy="4464496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818898" y="1123030"/>
            <a:ext cx="10172852" cy="57777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What multiplier </a:t>
            </a:r>
            <a:r>
              <a:rPr lang="en-GB" b="1" dirty="0">
                <a:solidFill>
                  <a:schemeClr val="bg1"/>
                </a:solidFill>
              </a:rPr>
              <a:t>(special type of 1) </a:t>
            </a:r>
            <a:r>
              <a:rPr lang="en-GB" b="1" dirty="0"/>
              <a:t>would you use to rationalise the following fractions?</a:t>
            </a:r>
            <a:endParaRPr lang="en-GB" b="1" dirty="0"/>
          </a:p>
        </p:txBody>
      </p:sp>
      <p:sp>
        <p:nvSpPr>
          <p:cNvPr id="6" name="Cloud 5"/>
          <p:cNvSpPr/>
          <p:nvPr/>
        </p:nvSpPr>
        <p:spPr>
          <a:xfrm>
            <a:off x="151914" y="44624"/>
            <a:ext cx="5151204" cy="1440160"/>
          </a:xfrm>
          <a:prstGeom prst="cloud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Now you know the correct multipliers, can you rationalise the fractions?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7357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538965" y="1263307"/>
                <a:ext cx="1359090" cy="9911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65" y="1263307"/>
                <a:ext cx="1359090" cy="9911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412316" y="2996952"/>
                <a:ext cx="1359090" cy="980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16" y="2996952"/>
                <a:ext cx="1359090" cy="98078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43358" y="4794328"/>
                <a:ext cx="1359090" cy="982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58" y="4794328"/>
                <a:ext cx="1359090" cy="9823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796601" y="1200426"/>
                <a:ext cx="1695336" cy="1080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601" y="1200426"/>
                <a:ext cx="1695336" cy="10806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1683971" y="2928618"/>
                <a:ext cx="1695336" cy="1079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971" y="2928618"/>
                <a:ext cx="1695336" cy="10792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1636452" y="4725994"/>
                <a:ext cx="1695336" cy="1079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452" y="4725994"/>
                <a:ext cx="1695336" cy="107927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solidFill>
                  <a:schemeClr val="accent4">
                    <a:lumMod val="75000"/>
                  </a:schemeClr>
                </a:solidFill>
              </a:rPr>
              <a:t>Rationalising the denominator</a:t>
            </a:r>
            <a:endParaRPr lang="en-GB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580668" y="1210102"/>
                <a:ext cx="3415550" cy="1131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668" y="1210102"/>
                <a:ext cx="3415550" cy="1131528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982484" y="1222161"/>
                <a:ext cx="1941364" cy="997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1222161"/>
                <a:ext cx="1941364" cy="99732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9070716" y="1484784"/>
                <a:ext cx="1941364" cy="573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𝟓</m:t>
                      </m:r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716" y="1484784"/>
                <a:ext cx="1941364" cy="57394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522505" y="2928618"/>
                <a:ext cx="3415550" cy="1128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505" y="2928618"/>
                <a:ext cx="3415550" cy="1128707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982484" y="2950353"/>
                <a:ext cx="1941364" cy="995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𝟖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2950353"/>
                <a:ext cx="1941364" cy="995914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9070716" y="3245660"/>
                <a:ext cx="2209066" cy="573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=−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𝟒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𝟖</m:t>
                      </m:r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716" y="3245660"/>
                <a:ext cx="2209066" cy="57394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132144" y="2636912"/>
            <a:ext cx="1129165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51914" y="4437112"/>
            <a:ext cx="1129165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491937" y="4725144"/>
                <a:ext cx="3415550" cy="1128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937" y="4725144"/>
                <a:ext cx="3415550" cy="1128707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982484" y="4725144"/>
                <a:ext cx="2156168" cy="995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𝟏𝟓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𝟐𝟑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4725144"/>
                <a:ext cx="2156168" cy="995914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82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30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4" y="6374384"/>
            <a:ext cx="3452017" cy="2949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1796601" y="1200426"/>
                <a:ext cx="1695336" cy="1080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601" y="1200426"/>
                <a:ext cx="1695336" cy="10806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1683971" y="2928618"/>
                <a:ext cx="1695336" cy="1079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971" y="2928618"/>
                <a:ext cx="1695336" cy="10792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1636452" y="4725994"/>
                <a:ext cx="1695336" cy="1080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452" y="4725994"/>
                <a:ext cx="1695336" cy="108068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tle 1"/>
          <p:cNvSpPr txBox="1">
            <a:spLocks/>
          </p:cNvSpPr>
          <p:nvPr/>
        </p:nvSpPr>
        <p:spPr>
          <a:xfrm>
            <a:off x="5879182" y="-27384"/>
            <a:ext cx="55576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solidFill>
                  <a:schemeClr val="accent4">
                    <a:lumMod val="75000"/>
                  </a:schemeClr>
                </a:solidFill>
              </a:rPr>
              <a:t>Rationalising the denominator</a:t>
            </a:r>
            <a:endParaRPr lang="en-GB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580668" y="1210102"/>
                <a:ext cx="3415550" cy="1131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668" y="1210102"/>
                <a:ext cx="3415550" cy="113152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982484" y="1222161"/>
                <a:ext cx="2156167" cy="997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𝟑𝟎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𝟔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𝟐𝟑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1222161"/>
                <a:ext cx="2156167" cy="99732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522505" y="2928618"/>
                <a:ext cx="3415550" cy="11287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505" y="2928618"/>
                <a:ext cx="3415550" cy="112870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982484" y="2950353"/>
                <a:ext cx="1941365" cy="995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𝟔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2950353"/>
                <a:ext cx="1941365" cy="99591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9070716" y="3245660"/>
                <a:ext cx="1941365" cy="5739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𝟔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rad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716" y="3245660"/>
                <a:ext cx="1941365" cy="57394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>
            <a:off x="132144" y="2636912"/>
            <a:ext cx="1129165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51914" y="4437112"/>
            <a:ext cx="11291654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491937" y="4725144"/>
                <a:ext cx="3415550" cy="11315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)(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937" y="4725144"/>
                <a:ext cx="3415550" cy="113152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982484" y="4725144"/>
                <a:ext cx="1726563" cy="10001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484" y="4725144"/>
                <a:ext cx="1726563" cy="1000146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334566" y="1268760"/>
                <a:ext cx="1359090" cy="982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𝟔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1268760"/>
                <a:ext cx="1359090" cy="98232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34566" y="3022744"/>
                <a:ext cx="1359090" cy="982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3022744"/>
                <a:ext cx="1359090" cy="98232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334566" y="4822944"/>
                <a:ext cx="1359090" cy="982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66" y="4822944"/>
                <a:ext cx="1359090" cy="98232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049163" y="4653136"/>
                <a:ext cx="1726563" cy="997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800" b="1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163" y="4653136"/>
                <a:ext cx="1726563" cy="997324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302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3" grpId="0"/>
      <p:bldP spid="24" grpId="0"/>
      <p:bldP spid="30" grpId="0"/>
      <p:bldP spid="32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078982" y="-27384"/>
            <a:ext cx="735789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 smtClean="0">
                <a:solidFill>
                  <a:schemeClr val="accent4">
                    <a:lumMod val="75000"/>
                  </a:schemeClr>
                </a:solidFill>
              </a:rPr>
              <a:t>Surds – Stretch and Challenge </a:t>
            </a:r>
            <a:r>
              <a:rPr lang="en-GB" sz="2800" b="1" dirty="0" smtClean="0"/>
              <a:t>(Pythagoras)</a:t>
            </a:r>
            <a:endParaRPr lang="en-GB" sz="2800" b="1" dirty="0"/>
          </a:p>
        </p:txBody>
      </p:sp>
      <p:sp>
        <p:nvSpPr>
          <p:cNvPr id="4" name="Right Triangle 3"/>
          <p:cNvSpPr/>
          <p:nvPr/>
        </p:nvSpPr>
        <p:spPr>
          <a:xfrm>
            <a:off x="1918742" y="1508248"/>
            <a:ext cx="3240360" cy="396044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  <a:ln w="508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18542" y="3301804"/>
                <a:ext cx="1656184" cy="639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𝟓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2" y="3301804"/>
                <a:ext cx="1656184" cy="63966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710830" y="5669658"/>
                <a:ext cx="1656184" cy="639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𝟓</m:t>
                      </m:r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32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𝟕</m:t>
                          </m:r>
                        </m:e>
                      </m:rad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830" y="5669658"/>
                <a:ext cx="1656184" cy="63966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691322" y="3068659"/>
                <a:ext cx="675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32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322" y="3068659"/>
                <a:ext cx="675692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159102" y="1529998"/>
                <a:ext cx="5976664" cy="701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𝟕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GB" sz="2800" b="1" i="1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GB" sz="2800" b="1" i="1" smtClean="0">
                                  <a:solidFill>
                                    <a:srgbClr val="00B05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8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800" b="1" i="1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</a:rPr>
                                    <m:t>𝟕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sz="2800" b="1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102" y="1529998"/>
                <a:ext cx="5976664" cy="70179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5807175" y="1467147"/>
            <a:ext cx="1800199" cy="854939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087094" y="2471048"/>
                <a:ext cx="2592288" cy="571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(</m:t>
                      </m:r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𝟑𝟐</m:t>
                      </m:r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𝟏𝟎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𝟕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094" y="2471048"/>
                <a:ext cx="2592288" cy="57111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7831783" y="1467147"/>
            <a:ext cx="1791815" cy="854939"/>
          </a:xfrm>
          <a:prstGeom prst="ellipse">
            <a:avLst/>
          </a:prstGeom>
          <a:solidFill>
            <a:schemeClr val="accent4">
              <a:lumMod val="40000"/>
              <a:lumOff val="6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424999" y="2428024"/>
                <a:ext cx="2592288" cy="571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+ (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𝟏𝟖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𝟏𝟎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𝟕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999" y="2428024"/>
                <a:ext cx="2592288" cy="57111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9839622" y="2466102"/>
                <a:ext cx="1008112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622" y="2466102"/>
                <a:ext cx="1008112" cy="53296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7103318" y="3175668"/>
                <a:ext cx="2232248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𝟓𝟎</m:t>
                      </m:r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𝒙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18" y="3175668"/>
                <a:ext cx="2232248" cy="53296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959302" y="3914672"/>
                <a:ext cx="2232248" cy="582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𝟓𝟎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302" y="3914672"/>
                <a:ext cx="2232248" cy="58272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7391351" y="3906262"/>
            <a:ext cx="756083" cy="583225"/>
          </a:xfrm>
          <a:prstGeom prst="ellipse">
            <a:avLst/>
          </a:prstGeom>
          <a:solidFill>
            <a:srgbClr val="FFC000">
              <a:alpha val="5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815286" y="4649796"/>
                <a:ext cx="2710524" cy="582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𝟐𝟓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28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286" y="4649796"/>
                <a:ext cx="2710524" cy="58272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720164" y="5438564"/>
                <a:ext cx="2710524" cy="582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𝟓</m:t>
                      </m:r>
                      <m:rad>
                        <m:radPr>
                          <m:degHide m:val="on"/>
                          <m:ctrlP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GB" sz="2800" b="1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</m:rad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sz="28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164" y="5438564"/>
                <a:ext cx="2710524" cy="582724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37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6" grpId="0" animBg="1"/>
    </p:bldLst>
  </p:timing>
</p:sld>
</file>

<file path=ppt/theme/theme1.xml><?xml version="1.0" encoding="utf-8"?>
<a:theme xmlns:a="http://schemas.openxmlformats.org/drawingml/2006/main" name="Powerpoin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205</TotalTime>
  <Words>1083</Words>
  <Application>Microsoft Office PowerPoint</Application>
  <PresentationFormat>Custom</PresentationFormat>
  <Paragraphs>164</Paragraphs>
  <Slides>17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Powerpoint Template</vt:lpstr>
      <vt:lpstr>Surds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Task - Rationalising the denominator</vt:lpstr>
      <vt:lpstr>Rationalising the denominator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Aldersley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Surds</dc:title>
  <dc:creator>Jack Warburton</dc:creator>
  <cp:lastModifiedBy>Jack Warburton</cp:lastModifiedBy>
  <cp:revision>49</cp:revision>
  <dcterms:created xsi:type="dcterms:W3CDTF">2015-07-14T21:27:58Z</dcterms:created>
  <dcterms:modified xsi:type="dcterms:W3CDTF">2015-07-18T23:03:06Z</dcterms:modified>
</cp:coreProperties>
</file>
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3" r:id="rId2"/>
    <p:sldId id="293" r:id="rId3"/>
    <p:sldId id="294" r:id="rId4"/>
    <p:sldId id="295" r:id="rId5"/>
    <p:sldId id="296" r:id="rId6"/>
    <p:sldId id="310" r:id="rId7"/>
    <p:sldId id="307" r:id="rId8"/>
    <p:sldId id="308" r:id="rId9"/>
    <p:sldId id="311" r:id="rId10"/>
    <p:sldId id="291" r:id="rId11"/>
    <p:sldId id="313" r:id="rId12"/>
    <p:sldId id="31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8"/>
    <p:restoredTop sz="94715"/>
  </p:normalViewPr>
  <p:slideViewPr>
    <p:cSldViewPr>
      <p:cViewPr varScale="1">
        <p:scale>
          <a:sx n="68" d="100"/>
          <a:sy n="68" d="100"/>
        </p:scale>
        <p:origin x="184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12/04/2018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7136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7011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0251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12/04/2018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12/04/2018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12/04/2018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3937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075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514" y="10837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115616" y="1507516"/>
            <a:ext cx="0" cy="535048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281711"/>
            <a:ext cx="4005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Logarithms and their Laws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993603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laws of common logarithms?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5657" y="2132856"/>
            <a:ext cx="66247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Before we get into the laws of common logarithms, let’s see some examples of logarithms in the real world and solidify what we learned last class...</a:t>
            </a:r>
          </a:p>
        </p:txBody>
      </p:sp>
    </p:spTree>
    <p:extLst>
      <p:ext uri="{BB962C8B-B14F-4D97-AF65-F5344CB8AC3E}">
        <p14:creationId xmlns:p14="http://schemas.microsoft.com/office/powerpoint/2010/main" val="111068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60648"/>
            <a:ext cx="91440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360000" rtlCol="0">
            <a:spAutoFit/>
          </a:bodyPr>
          <a:lstStyle/>
          <a:p>
            <a:r>
              <a:rPr lang="en-GB" sz="3200" dirty="0"/>
              <a:t>Using logs in science</a:t>
            </a:r>
            <a:endParaRPr lang="en-GB" sz="3200" baseline="-250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836712"/>
            <a:ext cx="9144000" cy="76944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360000" rtlCol="0">
            <a:spAutoFit/>
          </a:bodyPr>
          <a:lstStyle/>
          <a:p>
            <a:r>
              <a:rPr lang="en-GB" sz="2200" dirty="0"/>
              <a:t>The well-known “Moore’s Law” states that the processing power of computers doubles every two years. It’s been remarkably accurate so far!</a:t>
            </a:r>
          </a:p>
        </p:txBody>
      </p:sp>
      <p:pic>
        <p:nvPicPr>
          <p:cNvPr id="23554" name="Picture 2" descr="http://2.bp.blogspot.com/-Qn85upFSloQ/TtJGQK7JsKI/AAAAAAAAADg/Y4wbnTkHUHM/s1600/Moores_La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700808"/>
            <a:ext cx="7416824" cy="4980570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3959424" y="5103674"/>
            <a:ext cx="5184576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If we were to plot the number of transistors against the year, the type of graph would be </a:t>
            </a:r>
            <a:r>
              <a:rPr lang="en-GB" b="1" dirty="0"/>
              <a:t>exponential</a:t>
            </a:r>
            <a:r>
              <a:rPr lang="en-GB" dirty="0"/>
              <a:t>.</a:t>
            </a:r>
          </a:p>
          <a:p>
            <a:r>
              <a:rPr lang="en-GB" dirty="0"/>
              <a:t>The graph would look rubbish if we chose a range of values on the y-axis to accommodate all the values, because except for the last few years, most of the points would look close to 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2960" y="5424904"/>
            <a:ext cx="1224136" cy="2880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0154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60648"/>
            <a:ext cx="91440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360000" rtlCol="0">
            <a:spAutoFit/>
          </a:bodyPr>
          <a:lstStyle/>
          <a:p>
            <a:r>
              <a:rPr lang="en-GB" sz="3200" dirty="0"/>
              <a:t>Using logs in science</a:t>
            </a:r>
            <a:endParaRPr lang="en-GB" sz="3200" baseline="-250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836712"/>
            <a:ext cx="9144000" cy="76944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360000" rtlCol="0">
            <a:spAutoFit/>
          </a:bodyPr>
          <a:lstStyle/>
          <a:p>
            <a:r>
              <a:rPr lang="en-GB" sz="2200" dirty="0"/>
              <a:t>The well-known “Moore’s Law” states that the processing power of computers doubles every two years. It’s been remarkably accurate so far!</a:t>
            </a:r>
          </a:p>
        </p:txBody>
      </p:sp>
      <p:pic>
        <p:nvPicPr>
          <p:cNvPr id="23554" name="Picture 2" descr="http://2.bp.blogspot.com/-Qn85upFSloQ/TtJGQK7JsKI/AAAAAAAAADg/Y4wbnTkHUHM/s1600/Moores_La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700808"/>
            <a:ext cx="7416824" cy="4980570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2051720" y="1844824"/>
            <a:ext cx="3528392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This graph gets around the problem by letting the y-values increase by a </a:t>
            </a:r>
            <a:r>
              <a:rPr lang="en-GB" sz="1600" b="1" dirty="0"/>
              <a:t>factor</a:t>
            </a:r>
            <a:r>
              <a:rPr lang="en-GB" sz="1600" dirty="0"/>
              <a:t> of 10 for each unit, rather than increasing by a constant amount each time. Technically this is not allowed! </a:t>
            </a:r>
          </a:p>
        </p:txBody>
      </p:sp>
      <p:cxnSp>
        <p:nvCxnSpPr>
          <p:cNvPr id="8" name="Straight Arrow Connector 7"/>
          <p:cNvCxnSpPr>
            <a:stCxn id="13" idx="1"/>
          </p:cNvCxnSpPr>
          <p:nvPr/>
        </p:nvCxnSpPr>
        <p:spPr>
          <a:xfrm flipH="1">
            <a:off x="1619672" y="2506544"/>
            <a:ext cx="432048" cy="27438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257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60648"/>
            <a:ext cx="91440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360000" rtlCol="0">
            <a:spAutoFit/>
          </a:bodyPr>
          <a:lstStyle/>
          <a:p>
            <a:r>
              <a:rPr lang="en-GB" sz="3200" dirty="0"/>
              <a:t>Using logs in science</a:t>
            </a:r>
            <a:endParaRPr lang="en-GB" sz="3200" baseline="-250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836712"/>
            <a:ext cx="9144000" cy="76944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360000" rtlCol="0">
            <a:spAutoFit/>
          </a:bodyPr>
          <a:lstStyle/>
          <a:p>
            <a:r>
              <a:rPr lang="en-GB" sz="2200" dirty="0"/>
              <a:t>The well-known “Moore’s Law” states that the processing power of computers doubles every two years. It’s been remarkably accurate so far!</a:t>
            </a:r>
          </a:p>
        </p:txBody>
      </p:sp>
      <p:pic>
        <p:nvPicPr>
          <p:cNvPr id="23554" name="Picture 2" descr="http://2.bp.blogspot.com/-Qn85upFSloQ/TtJGQK7JsKI/AAAAAAAAADg/Y4wbnTkHUHM/s1600/Moores_La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700808"/>
            <a:ext cx="7416824" cy="4980570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2123728" y="1916832"/>
            <a:ext cx="3528392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We could instead use a logarithmic scale. We can take the log base 10 of these values. Then we’ll get 3, 4, 5, 6, ..., which is now allowed!*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84" y="1700808"/>
            <a:ext cx="936104" cy="4608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 rot="16200000">
            <a:off x="-247890" y="4072426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log</a:t>
            </a:r>
            <a:r>
              <a:rPr lang="en-GB" b="1" baseline="-25000" dirty="0"/>
              <a:t>10</a:t>
            </a:r>
            <a:r>
              <a:rPr lang="en-GB" b="1" dirty="0"/>
              <a:t>(Number of transistors)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5656" y="602128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5656" y="5445224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5656" y="486916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5656" y="414908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5656" y="3573016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5656" y="2924944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5656" y="2276872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1640" y="170080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6056" y="4941168"/>
            <a:ext cx="3528392" cy="10772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Logarithmic scales turn exponential graphs into linear ones (i.e. a straight line), thus making it much easier to plot all the points together.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16664" y="6583680"/>
            <a:ext cx="9036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* Although realistically, a scale of 10, 100, 1000, etc. is permissible as long as we’re mindful that it’s a logarithmic scale.</a:t>
            </a:r>
          </a:p>
        </p:txBody>
      </p:sp>
    </p:spTree>
    <p:extLst>
      <p:ext uri="{BB962C8B-B14F-4D97-AF65-F5344CB8AC3E}">
        <p14:creationId xmlns:p14="http://schemas.microsoft.com/office/powerpoint/2010/main" val="415635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http://msnbcmedia.msn.com/j/MSNBC/Components/Photo/_new/pb-120207-philippines-earthquake-nj-04.photoblog9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75359"/>
            <a:ext cx="9144000" cy="5882641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0" y="260648"/>
            <a:ext cx="91440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360000" rtlCol="0">
            <a:spAutoFit/>
          </a:bodyPr>
          <a:lstStyle/>
          <a:p>
            <a:r>
              <a:rPr lang="en-GB" sz="3200" dirty="0"/>
              <a:t>Using logs in science</a:t>
            </a:r>
            <a:endParaRPr lang="en-GB" sz="3200" baseline="-250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836712"/>
            <a:ext cx="9144000" cy="43088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360000" rtlCol="0">
            <a:spAutoFit/>
          </a:bodyPr>
          <a:lstStyle/>
          <a:p>
            <a:r>
              <a:rPr lang="en-GB" sz="2200" dirty="0"/>
              <a:t>Logarithmic scales are used for earthquakes and noise levels.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512" y="2276872"/>
            <a:ext cx="37444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From our laws of logs, in base a...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5736" y="1340768"/>
            <a:ext cx="60486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4400" dirty="0" err="1"/>
              <a:t>log</a:t>
            </a:r>
            <a:r>
              <a:rPr lang="en-GB" sz="4400" baseline="-25000" dirty="0" err="1"/>
              <a:t>a</a:t>
            </a:r>
            <a:r>
              <a:rPr lang="en-GB" sz="4400" dirty="0"/>
              <a:t> </a:t>
            </a:r>
            <a:r>
              <a:rPr lang="en-GB" sz="4400" dirty="0" err="1"/>
              <a:t>ax</a:t>
            </a:r>
            <a:r>
              <a:rPr lang="en-GB" sz="4400" dirty="0"/>
              <a:t> = 1 + </a:t>
            </a:r>
            <a:r>
              <a:rPr lang="en-GB" sz="4400" dirty="0" err="1"/>
              <a:t>log</a:t>
            </a:r>
            <a:r>
              <a:rPr lang="en-GB" sz="4400" baseline="-25000" dirty="0" err="1"/>
              <a:t>a</a:t>
            </a:r>
            <a:r>
              <a:rPr lang="en-GB" sz="4400" dirty="0"/>
              <a:t> 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3728" y="2708920"/>
            <a:ext cx="37444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when a quantity gets a times bigger,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0032" y="3068960"/>
            <a:ext cx="37444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the overall result only increases by 1.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H="1" flipV="1">
            <a:off x="3419872" y="1988840"/>
            <a:ext cx="720080" cy="72008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4499992" y="1988840"/>
            <a:ext cx="2088232" cy="1152128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0" y="3789040"/>
            <a:ext cx="8172400" cy="400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Thus </a:t>
            </a:r>
            <a:r>
              <a:rPr lang="en-GB" sz="2000" b="1" dirty="0"/>
              <a:t>using logarithms turns a factor difference into a constant difference</a:t>
            </a:r>
            <a:r>
              <a:rPr lang="en-GB" sz="2000" dirty="0"/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0" y="4221088"/>
            <a:ext cx="8172400" cy="175432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The </a:t>
            </a:r>
            <a:r>
              <a:rPr lang="en-GB" b="1" dirty="0"/>
              <a:t>Richter Scale </a:t>
            </a:r>
            <a:r>
              <a:rPr lang="en-GB" dirty="0"/>
              <a:t>is used to measure the magnitude of earthquakes. The scale is logarithmic (base 10): it means if amplitude of the earthquake’s waves gets 10 times bigger, the value on the Richter Scale only increases by 1.</a:t>
            </a:r>
          </a:p>
          <a:p>
            <a:endParaRPr lang="en-GB" dirty="0"/>
          </a:p>
          <a:p>
            <a:r>
              <a:rPr lang="en-GB" dirty="0"/>
              <a:t>Earthquakes of magnitude 6 </a:t>
            </a:r>
            <a:r>
              <a:rPr lang="en-GB" dirty="0" err="1"/>
              <a:t>vs</a:t>
            </a:r>
            <a:r>
              <a:rPr lang="en-GB" dirty="0"/>
              <a:t> 7 doesn’t look like a substantial difference, but just the one point difference means it’s ten times worse! </a:t>
            </a:r>
          </a:p>
        </p:txBody>
      </p:sp>
    </p:spTree>
    <p:extLst>
      <p:ext uri="{BB962C8B-B14F-4D97-AF65-F5344CB8AC3E}">
        <p14:creationId xmlns:p14="http://schemas.microsoft.com/office/powerpoint/2010/main" val="1961818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20040" y="-274320"/>
            <a:ext cx="8533924" cy="1143000"/>
          </a:xfrm>
        </p:spPr>
        <p:txBody>
          <a:bodyPr/>
          <a:lstStyle/>
          <a:p>
            <a:pPr eaLnBrk="1" hangingPunct="1"/>
            <a:r>
              <a:rPr lang="en-US" altLang="x-none" sz="2880"/>
              <a:t>Why is logarithmic scale used to measure sound?</a:t>
            </a:r>
          </a:p>
        </p:txBody>
      </p:sp>
      <p:pic>
        <p:nvPicPr>
          <p:cNvPr id="1331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067277"/>
            <a:ext cx="9144000" cy="5790723"/>
          </a:xfrm>
        </p:spPr>
      </p:pic>
    </p:spTree>
    <p:extLst>
      <p:ext uri="{BB962C8B-B14F-4D97-AF65-F5344CB8AC3E}">
        <p14:creationId xmlns:p14="http://schemas.microsoft.com/office/powerpoint/2010/main" val="1651648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3937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075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514" y="10837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11560" y="1507516"/>
            <a:ext cx="0" cy="535048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281711"/>
            <a:ext cx="4005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Logarithms and their Laws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993603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laws of common logarithms?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95578" y="1642241"/>
            <a:ext cx="5472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From last class: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6310" y="213285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Function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2614" y="213285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Inverse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118" y="2780928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6310" y="2852936"/>
            <a:ext cx="144016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3</a:t>
            </a:r>
            <a:r>
              <a:rPr lang="en-GB" sz="3200" baseline="30000" dirty="0"/>
              <a:t>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0606" y="2852936"/>
            <a:ext cx="144016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log</a:t>
            </a:r>
            <a:r>
              <a:rPr lang="en-GB" sz="3200" baseline="-25000" dirty="0"/>
              <a:t>3 </a:t>
            </a:r>
            <a:r>
              <a:rPr lang="en-GB" sz="3200" dirty="0"/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4862" y="2780928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2018238" y="3140968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106470" y="3140968"/>
            <a:ext cx="122413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770766" y="3140968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94502" y="2636912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81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0606" y="2852936"/>
            <a:ext cx="1440160" cy="5760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102" y="4005064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How therefore would describe the effect of log</a:t>
            </a:r>
            <a:r>
              <a:rPr lang="en-GB" sz="2400" baseline="-25000" dirty="0"/>
              <a:t>3 </a:t>
            </a:r>
            <a:r>
              <a:rPr lang="en-GB" sz="2400" dirty="0"/>
              <a:t>x in words?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62254" y="4725144"/>
            <a:ext cx="1656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log</a:t>
            </a:r>
            <a:r>
              <a:rPr lang="en-GB" sz="4800" baseline="-25000" dirty="0"/>
              <a:t>3 </a:t>
            </a:r>
            <a:r>
              <a:rPr lang="en-GB" sz="4800" dirty="0"/>
              <a:t>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8518" y="4725144"/>
            <a:ext cx="4464496" cy="19082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It finds the power that, when 3 is raised to it, gives you x.</a:t>
            </a:r>
          </a:p>
          <a:p>
            <a:endParaRPr lang="en-GB" dirty="0"/>
          </a:p>
          <a:p>
            <a:r>
              <a:rPr lang="en-GB" sz="2800" dirty="0"/>
              <a:t>i.e. If y = log</a:t>
            </a:r>
            <a:r>
              <a:rPr lang="en-GB" sz="2800" baseline="-25000" dirty="0"/>
              <a:t>3</a:t>
            </a:r>
            <a:r>
              <a:rPr lang="en-GB" sz="2800" dirty="0"/>
              <a:t> x, then 3</a:t>
            </a:r>
            <a:r>
              <a:rPr lang="en-GB" sz="2800" baseline="30000" dirty="0"/>
              <a:t>y</a:t>
            </a:r>
            <a:r>
              <a:rPr lang="en-GB" sz="2800" dirty="0"/>
              <a:t> = x</a:t>
            </a:r>
          </a:p>
          <a:p>
            <a:endParaRPr lang="en-GB" dirty="0"/>
          </a:p>
          <a:p>
            <a:r>
              <a:rPr lang="en-GB" b="1" dirty="0"/>
              <a:t>It is the opposite/inverse of indices.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110" y="5733256"/>
            <a:ext cx="338437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We describe this as the “logarithm of x base 3” or “log of x base 3” or “taking the log of x base 3”.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611560" y="3717032"/>
            <a:ext cx="84720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56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5" grpId="0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3937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075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514" y="10837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115616" y="1507516"/>
            <a:ext cx="0" cy="535048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281711"/>
            <a:ext cx="4005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Logarithms and their Laws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993603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laws of common logarithms?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397" y="3354944"/>
            <a:ext cx="6696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1. </a:t>
            </a:r>
            <a:r>
              <a:rPr lang="en-GB" sz="2400" dirty="0" err="1"/>
              <a:t>log</a:t>
            </a:r>
            <a:r>
              <a:rPr lang="en-GB" sz="2400" baseline="-25000" dirty="0" err="1"/>
              <a:t>b</a:t>
            </a:r>
            <a:r>
              <a:rPr lang="en-GB" sz="2400" dirty="0"/>
              <a:t> </a:t>
            </a:r>
            <a:r>
              <a:rPr lang="en-GB" sz="2400" dirty="0" err="1"/>
              <a:t>xy</a:t>
            </a:r>
            <a:r>
              <a:rPr lang="en-GB" sz="2400" dirty="0"/>
              <a:t> = </a:t>
            </a:r>
            <a:r>
              <a:rPr lang="en-GB" sz="2400" dirty="0" err="1"/>
              <a:t>log</a:t>
            </a:r>
            <a:r>
              <a:rPr lang="en-GB" sz="2400" baseline="-25000" dirty="0" err="1"/>
              <a:t>b</a:t>
            </a:r>
            <a:r>
              <a:rPr lang="en-GB" sz="2400" dirty="0"/>
              <a:t> x + </a:t>
            </a:r>
            <a:r>
              <a:rPr lang="en-GB" sz="2400" dirty="0" err="1"/>
              <a:t>log</a:t>
            </a:r>
            <a:r>
              <a:rPr lang="en-GB" sz="2400" baseline="-25000" dirty="0" err="1"/>
              <a:t>b</a:t>
            </a:r>
            <a:r>
              <a:rPr lang="en-GB" sz="2400" dirty="0"/>
              <a:t>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632114" y="3849220"/>
                <a:ext cx="6264696" cy="627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2. </a:t>
                </a:r>
                <a:r>
                  <a:rPr lang="en-GB" sz="2400" dirty="0" err="1"/>
                  <a:t>log</a:t>
                </a:r>
                <a:r>
                  <a:rPr lang="en-GB" sz="2400" baseline="-25000" dirty="0" err="1"/>
                  <a:t>b</a:t>
                </a: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400" b="0" i="1" smtClean="0">
                            <a:latin typeface="Cambria Math" charset="0"/>
                          </a:rPr>
                          <m:t>𝑥</m:t>
                        </m:r>
                      </m:num>
                      <m:den>
                        <m:r>
                          <a:rPr lang="en-CA" sz="2400" b="0" i="1" smtClean="0">
                            <a:latin typeface="Cambria Math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GB" sz="2400" dirty="0"/>
                  <a:t>  = </a:t>
                </a:r>
                <a:r>
                  <a:rPr lang="en-GB" sz="2400" dirty="0" err="1"/>
                  <a:t>log</a:t>
                </a:r>
                <a:r>
                  <a:rPr lang="en-GB" sz="2400" baseline="-25000" dirty="0" err="1"/>
                  <a:t>b</a:t>
                </a:r>
                <a:r>
                  <a:rPr lang="en-GB" sz="2400" dirty="0"/>
                  <a:t> x - </a:t>
                </a:r>
                <a:r>
                  <a:rPr lang="en-GB" sz="2400" dirty="0" err="1"/>
                  <a:t>log</a:t>
                </a:r>
                <a:r>
                  <a:rPr lang="en-GB" sz="2400" baseline="-25000" dirty="0" err="1"/>
                  <a:t>b</a:t>
                </a:r>
                <a:r>
                  <a:rPr lang="en-GB" sz="2400" dirty="0"/>
                  <a:t> y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114" y="3849220"/>
                <a:ext cx="6264696" cy="627801"/>
              </a:xfrm>
              <a:prstGeom prst="rect">
                <a:avLst/>
              </a:prstGeom>
              <a:blipFill rotWithShape="0">
                <a:blip r:embed="rId3"/>
                <a:stretch>
                  <a:fillRect l="-1558" b="-2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632114" y="4444410"/>
            <a:ext cx="6696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3. </a:t>
            </a:r>
            <a:r>
              <a:rPr lang="en-GB" sz="2400" dirty="0" err="1"/>
              <a:t>log</a:t>
            </a:r>
            <a:r>
              <a:rPr lang="en-GB" sz="2400" baseline="-25000" dirty="0" err="1"/>
              <a:t>b</a:t>
            </a:r>
            <a:r>
              <a:rPr lang="en-GB" sz="2400" dirty="0"/>
              <a:t> 1 =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32114" y="4932214"/>
            <a:ext cx="6696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4. </a:t>
            </a:r>
            <a:r>
              <a:rPr lang="en-GB" sz="2400" dirty="0" err="1"/>
              <a:t>log</a:t>
            </a:r>
            <a:r>
              <a:rPr lang="en-GB" sz="2400" baseline="-25000" dirty="0" err="1"/>
              <a:t>b</a:t>
            </a:r>
            <a:r>
              <a:rPr lang="en-GB" sz="2400" dirty="0"/>
              <a:t> b =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9692" y="1686504"/>
            <a:ext cx="75415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There are 4 main laws you need to know well. We will start with basic examples then work towards questions that combine multiple laws. The laws are: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811159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8" grpId="0"/>
      <p:bldP spid="19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04" y="1484784"/>
            <a:ext cx="6266944" cy="71899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45" y="2248933"/>
            <a:ext cx="5343905" cy="4760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25" y="2679793"/>
            <a:ext cx="5334189" cy="3789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060" y="2992139"/>
            <a:ext cx="5324474" cy="4177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28" y="3410388"/>
            <a:ext cx="4906677" cy="3303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01420"/>
            <a:ext cx="6362700" cy="8509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433" y="862814"/>
            <a:ext cx="3096344" cy="3767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04" y="4291827"/>
            <a:ext cx="7597064" cy="28776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060" y="4685941"/>
            <a:ext cx="5570612" cy="52280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45" y="5208750"/>
            <a:ext cx="5256831" cy="30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59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6131753" y="2822042"/>
            <a:ext cx="2094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2188" y="1461506"/>
            <a:ext cx="2664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log</a:t>
            </a:r>
            <a:r>
              <a:rPr lang="en-GB" sz="2800" baseline="-25000" dirty="0"/>
              <a:t>3 </a:t>
            </a:r>
            <a:r>
              <a:rPr lang="en-GB" sz="2800" dirty="0"/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2188" y="2173251"/>
            <a:ext cx="2094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log</a:t>
            </a:r>
            <a:r>
              <a:rPr lang="en-GB" sz="2800" baseline="-25000" dirty="0"/>
              <a:t>2 </a:t>
            </a:r>
            <a:r>
              <a:rPr lang="en-GB" sz="2800" dirty="0"/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5076" y="2242795"/>
            <a:ext cx="3888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log</a:t>
            </a:r>
            <a:r>
              <a:rPr lang="en-GB" sz="2800" baseline="-25000" dirty="0"/>
              <a:t>2</a:t>
            </a:r>
            <a:r>
              <a:rPr lang="en-GB" sz="2800" dirty="0"/>
              <a:t>30 – log</a:t>
            </a:r>
            <a:r>
              <a:rPr lang="en-GB" sz="2800" baseline="-25000" dirty="0"/>
              <a:t>2</a:t>
            </a:r>
            <a:r>
              <a:rPr lang="en-GB" sz="2800" dirty="0"/>
              <a:t>6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772028" y="1580114"/>
            <a:ext cx="936104" cy="3600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  <p:sp>
        <p:nvSpPr>
          <p:cNvPr id="31" name="TextBox 30"/>
          <p:cNvSpPr txBox="1"/>
          <p:nvPr/>
        </p:nvSpPr>
        <p:spPr>
          <a:xfrm>
            <a:off x="1537572" y="1496848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  log</a:t>
            </a:r>
            <a:r>
              <a:rPr lang="en-GB" sz="2800" baseline="-25000" dirty="0"/>
              <a:t>2</a:t>
            </a:r>
            <a:r>
              <a:rPr lang="en-GB" sz="2800" dirty="0"/>
              <a:t> 12 + log</a:t>
            </a:r>
            <a:r>
              <a:rPr lang="en-GB" sz="2800" baseline="-25000" dirty="0"/>
              <a:t>2</a:t>
            </a:r>
            <a:r>
              <a:rPr lang="en-GB" sz="2800" dirty="0"/>
              <a:t> 4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783560" y="2273854"/>
            <a:ext cx="936104" cy="3600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  <p:sp>
        <p:nvSpPr>
          <p:cNvPr id="40" name="TextBox 39"/>
          <p:cNvSpPr txBox="1"/>
          <p:nvPr/>
        </p:nvSpPr>
        <p:spPr>
          <a:xfrm>
            <a:off x="6279017" y="3604514"/>
            <a:ext cx="1029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4168" y="1502295"/>
            <a:ext cx="2018735" cy="5232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26637" y="2940688"/>
            <a:ext cx="4392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log</a:t>
            </a:r>
            <a:r>
              <a:rPr lang="en-GB" sz="2800" baseline="-25000" dirty="0"/>
              <a:t>4</a:t>
            </a:r>
            <a:r>
              <a:rPr lang="en-GB" sz="2800" dirty="0"/>
              <a:t> 1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4772028" y="3037416"/>
            <a:ext cx="936104" cy="3600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  <p:sp>
        <p:nvSpPr>
          <p:cNvPr id="23" name="Rectangle 22"/>
          <p:cNvSpPr/>
          <p:nvPr/>
        </p:nvSpPr>
        <p:spPr>
          <a:xfrm>
            <a:off x="6098060" y="2187657"/>
            <a:ext cx="2005090" cy="5570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2493" y="3666055"/>
            <a:ext cx="2016224" cy="51581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cxnSp>
        <p:nvCxnSpPr>
          <p:cNvPr id="48" name="Straight Connector 47"/>
          <p:cNvCxnSpPr/>
          <p:nvPr/>
        </p:nvCxnSpPr>
        <p:spPr>
          <a:xfrm flipH="1">
            <a:off x="20008" y="1196752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331640" y="758214"/>
            <a:ext cx="6768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Write the following as a single logarithm, do not evaluate yet.</a:t>
            </a:r>
          </a:p>
        </p:txBody>
      </p:sp>
      <p:grpSp>
        <p:nvGrpSpPr>
          <p:cNvPr id="26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Laws of Logs</a:t>
              </a:r>
            </a:p>
          </p:txBody>
        </p:sp>
        <p:cxnSp>
          <p:nvCxnSpPr>
            <p:cNvPr id="35" name="Straight Connector 3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36" name="TextBox 35"/>
          <p:cNvSpPr txBox="1"/>
          <p:nvPr/>
        </p:nvSpPr>
        <p:spPr>
          <a:xfrm>
            <a:off x="1686258" y="3649837"/>
            <a:ext cx="4392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log</a:t>
            </a:r>
            <a:r>
              <a:rPr lang="en-GB" sz="2800" baseline="-25000" dirty="0"/>
              <a:t>7</a:t>
            </a:r>
            <a:r>
              <a:rPr lang="en-GB" sz="2800" dirty="0"/>
              <a:t> 7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4762252" y="3696608"/>
            <a:ext cx="936104" cy="3600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  <p:sp>
        <p:nvSpPr>
          <p:cNvPr id="2" name="TextBox 1"/>
          <p:cNvSpPr txBox="1"/>
          <p:nvPr/>
        </p:nvSpPr>
        <p:spPr>
          <a:xfrm>
            <a:off x="654354" y="1143696"/>
            <a:ext cx="114239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Rule</a:t>
            </a:r>
          </a:p>
          <a:p>
            <a:r>
              <a:rPr lang="en-US" sz="2400" dirty="0"/>
              <a:t>1.</a:t>
            </a:r>
          </a:p>
          <a:p>
            <a:endParaRPr lang="en-US" sz="2400" dirty="0"/>
          </a:p>
          <a:p>
            <a:r>
              <a:rPr lang="en-US" sz="2400" dirty="0"/>
              <a:t>2.</a:t>
            </a:r>
          </a:p>
          <a:p>
            <a:endParaRPr lang="en-US" sz="2400" dirty="0"/>
          </a:p>
          <a:p>
            <a:r>
              <a:rPr lang="en-US" sz="2400" dirty="0"/>
              <a:t>3.</a:t>
            </a:r>
          </a:p>
          <a:p>
            <a:endParaRPr lang="en-US" sz="2400" dirty="0"/>
          </a:p>
          <a:p>
            <a:r>
              <a:rPr lang="en-US" sz="2400" dirty="0"/>
              <a:t>4.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7545" y="2811495"/>
            <a:ext cx="2044280" cy="79092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cxnSp>
        <p:nvCxnSpPr>
          <p:cNvPr id="52" name="Straight Connector 51"/>
          <p:cNvCxnSpPr/>
          <p:nvPr/>
        </p:nvCxnSpPr>
        <p:spPr>
          <a:xfrm flipH="1">
            <a:off x="20008" y="4797152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72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</p:childTnLst>
        </p:cTn>
      </p:par>
    </p:tnLst>
    <p:bldLst>
      <p:bldP spid="41" grpId="0" animBg="1"/>
      <p:bldP spid="23" grpId="0" animBg="1"/>
      <p:bldP spid="24" grpId="0" animBg="1"/>
      <p:bldP spid="5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1720" y="1772816"/>
            <a:ext cx="50349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12.9 </a:t>
            </a:r>
            <a:r>
              <a:rPr lang="mr-IN" sz="3600" dirty="0"/>
              <a:t>–</a:t>
            </a:r>
            <a:r>
              <a:rPr lang="en-US" sz="3600" dirty="0"/>
              <a:t> Laws of Logarithms</a:t>
            </a:r>
          </a:p>
          <a:p>
            <a:pPr algn="ctr"/>
            <a:r>
              <a:rPr lang="en-US" sz="3600" dirty="0"/>
              <a:t>Worksheet</a:t>
            </a:r>
          </a:p>
        </p:txBody>
      </p:sp>
    </p:spTree>
    <p:extLst>
      <p:ext uri="{BB962C8B-B14F-4D97-AF65-F5344CB8AC3E}">
        <p14:creationId xmlns:p14="http://schemas.microsoft.com/office/powerpoint/2010/main" val="270250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5776" y="1916832"/>
            <a:ext cx="47525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Logarithms </a:t>
            </a:r>
            <a:r>
              <a:rPr lang="en-US" sz="3600" b="1" dirty="0" err="1"/>
              <a:t>Kahoot</a:t>
            </a:r>
            <a:r>
              <a:rPr lang="en-US" sz="3600" b="1" dirty="0"/>
              <a:t>!</a:t>
            </a:r>
          </a:p>
          <a:p>
            <a:endParaRPr lang="en-US" sz="3600" b="1" dirty="0"/>
          </a:p>
          <a:p>
            <a:r>
              <a:rPr lang="mr-IN" sz="3600" b="1" dirty="0" err="1"/>
              <a:t>https</a:t>
            </a:r>
            <a:r>
              <a:rPr lang="mr-IN" sz="3600" b="1" dirty="0"/>
              <a:t>://</a:t>
            </a:r>
            <a:r>
              <a:rPr lang="mr-IN" sz="3600" b="1" dirty="0" err="1"/>
              <a:t>play.kahoot.it</a:t>
            </a:r>
            <a:r>
              <a:rPr lang="mr-IN" sz="3600" b="1" dirty="0"/>
              <a:t>/#/</a:t>
            </a:r>
            <a:r>
              <a:rPr lang="mr-IN" sz="3600" b="1" dirty="0" err="1"/>
              <a:t>k</a:t>
            </a:r>
            <a:r>
              <a:rPr lang="mr-IN" sz="3600" b="1" dirty="0"/>
              <a:t>/a16d69d6-dfef-4b2e-9795-29a85f723e3c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285008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743</Words>
  <Application>Microsoft Office PowerPoint</Application>
  <PresentationFormat>On-screen Show (4:3)</PresentationFormat>
  <Paragraphs>107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Mangal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is logarithmic scale used to measure sound?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KEEN Stephanie [Baldivis Secondary College]</cp:lastModifiedBy>
  <cp:revision>58</cp:revision>
  <dcterms:created xsi:type="dcterms:W3CDTF">2016-10-20T03:14:06Z</dcterms:created>
  <dcterms:modified xsi:type="dcterms:W3CDTF">2018-04-12T02:45:06Z</dcterms:modified>
</cp:coreProperties>
</file>
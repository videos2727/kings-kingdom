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9" r:id="rId3"/>
    <p:sldId id="347" r:id="rId4"/>
    <p:sldId id="333" r:id="rId5"/>
    <p:sldId id="373" r:id="rId6"/>
    <p:sldId id="361" r:id="rId7"/>
    <p:sldId id="331" r:id="rId8"/>
    <p:sldId id="374" r:id="rId9"/>
    <p:sldId id="369" r:id="rId10"/>
    <p:sldId id="375" r:id="rId11"/>
    <p:sldId id="377" r:id="rId12"/>
    <p:sldId id="378" r:id="rId13"/>
    <p:sldId id="386" r:id="rId14"/>
    <p:sldId id="383" r:id="rId15"/>
    <p:sldId id="292" r:id="rId16"/>
    <p:sldId id="291" r:id="rId17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5" autoAdjust="0"/>
    <p:restoredTop sz="91192" autoAdjust="0"/>
  </p:normalViewPr>
  <p:slideViewPr>
    <p:cSldViewPr>
      <p:cViewPr varScale="1">
        <p:scale>
          <a:sx n="66" d="100"/>
          <a:sy n="66" d="100"/>
        </p:scale>
        <p:origin x="187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6/02/2018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6/02/2018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</a:t>
            </a:r>
            <a:r>
              <a:rPr lang="en-AU"/>
              <a:t>: 10.7</a:t>
            </a:r>
            <a:endParaRPr lang="en-AU" dirty="0"/>
          </a:p>
          <a:p>
            <a:pPr algn="l"/>
            <a:r>
              <a:rPr lang="en-AU" dirty="0"/>
              <a:t>Teacher: Mrs Keen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PQuestion"/>
          <p:cNvSpPr>
            <a:spLocks noGrp="1" noChangeArrowheads="1"/>
          </p:cNvSpPr>
          <p:nvPr>
            <p:ph type="title"/>
          </p:nvPr>
        </p:nvSpPr>
        <p:spPr>
          <a:xfrm>
            <a:off x="1314450" y="1143000"/>
            <a:ext cx="6457950" cy="1143000"/>
          </a:xfrm>
        </p:spPr>
        <p:txBody>
          <a:bodyPr/>
          <a:lstStyle/>
          <a:p>
            <a:r>
              <a:rPr lang="en-US" altLang="x-none" sz="3000" dirty="0"/>
              <a:t>Which statement demonstrates the distributive property </a:t>
            </a:r>
            <a:r>
              <a:rPr lang="en-US" altLang="x-none" sz="3000" b="1" dirty="0"/>
              <a:t>incorrectly</a:t>
            </a:r>
            <a:r>
              <a:rPr lang="en-US" altLang="x-none" sz="3000" dirty="0"/>
              <a:t>? </a:t>
            </a:r>
          </a:p>
        </p:txBody>
      </p:sp>
      <p:sp>
        <p:nvSpPr>
          <p:cNvPr id="5123" name="TPAnswer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485900" y="2457450"/>
            <a:ext cx="7118548" cy="2339702"/>
          </a:xfrm>
        </p:spPr>
        <p:txBody>
          <a:bodyPr>
            <a:norm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x-none" dirty="0"/>
              <a:t>3(x + y + z) = 3x + 3y + 3z</a:t>
            </a:r>
          </a:p>
          <a:p>
            <a:pPr marL="457200" indent="-457200">
              <a:buFontTx/>
              <a:buAutoNum type="arabicPeriod"/>
            </a:pPr>
            <a:r>
              <a:rPr lang="en-US" altLang="x-none" dirty="0"/>
              <a:t>(a + b) c = ac + </a:t>
            </a:r>
            <a:r>
              <a:rPr lang="en-US" altLang="x-none" dirty="0" err="1"/>
              <a:t>bc</a:t>
            </a:r>
            <a:endParaRPr lang="en-US" altLang="x-none" dirty="0"/>
          </a:p>
          <a:p>
            <a:pPr marL="457200" indent="-457200">
              <a:buFontTx/>
              <a:buAutoNum type="arabicPeriod"/>
            </a:pPr>
            <a:r>
              <a:rPr lang="en-US" altLang="x-none" dirty="0"/>
              <a:t>(5 + x)(2 + 3x) = 10 + 15x + x</a:t>
            </a:r>
            <a:r>
              <a:rPr lang="en-US" altLang="x-none" baseline="30000" dirty="0"/>
              <a:t>2</a:t>
            </a:r>
            <a:r>
              <a:rPr lang="en-US" altLang="x-none" dirty="0"/>
              <a:t> + 3x</a:t>
            </a:r>
          </a:p>
          <a:p>
            <a:pPr marL="457200" indent="-457200">
              <a:buFontTx/>
              <a:buAutoNum type="arabicPeriod"/>
            </a:pPr>
            <a:r>
              <a:rPr lang="en-US" altLang="x-none" dirty="0"/>
              <a:t>6(3k - 4) = 18k - 24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242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67178" y="3260440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table method?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7231" y="2639507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231" y="2639507"/>
                <a:ext cx="2635209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08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0910330"/>
                  </p:ext>
                </p:extLst>
              </p:nvPr>
            </p:nvGraphicFramePr>
            <p:xfrm>
              <a:off x="3201247" y="3276546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0910330"/>
                  </p:ext>
                </p:extLst>
              </p:nvPr>
            </p:nvGraphicFramePr>
            <p:xfrm>
              <a:off x="3201247" y="3276546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65" t="-8333" r="-200565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1136" t="-8333" r="-101705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65" t="-106557" r="-20056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1136" t="-106557" r="-10170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0000" t="-106557" r="-113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65" t="-210000" r="-20056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1136" t="-210000" r="-10170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0000" t="-210000" r="-113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4213" y="4511715"/>
                <a:ext cx="22338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13" y="4511715"/>
                <a:ext cx="2233891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2180" t="-9211" b="-17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3293" y="5276222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use the FOIL method?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0624" y="5447891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</a:t>
            </a:r>
            <a:r>
              <a:rPr lang="en-AU" dirty="0"/>
              <a:t>irst</a:t>
            </a:r>
            <a:r>
              <a:rPr lang="en-AU" dirty="0">
                <a:solidFill>
                  <a:srgbClr val="0070C0"/>
                </a:solidFill>
              </a:rPr>
              <a:t> </a:t>
            </a:r>
          </a:p>
          <a:p>
            <a:r>
              <a:rPr lang="en-AU" dirty="0">
                <a:solidFill>
                  <a:srgbClr val="FF0000"/>
                </a:solidFill>
              </a:rPr>
              <a:t>O</a:t>
            </a:r>
            <a:r>
              <a:rPr lang="en-AU" dirty="0"/>
              <a:t>utside</a:t>
            </a:r>
          </a:p>
          <a:p>
            <a:r>
              <a:rPr lang="en-AU" dirty="0">
                <a:solidFill>
                  <a:srgbClr val="FF0000"/>
                </a:solidFill>
              </a:rPr>
              <a:t>I</a:t>
            </a:r>
            <a:r>
              <a:rPr lang="en-AU" dirty="0"/>
              <a:t>nner</a:t>
            </a:r>
          </a:p>
          <a:p>
            <a:r>
              <a:rPr lang="en-AU" dirty="0">
                <a:solidFill>
                  <a:srgbClr val="FF0000"/>
                </a:solidFill>
              </a:rPr>
              <a:t>L</a:t>
            </a:r>
            <a:r>
              <a:rPr lang="en-AU" dirty="0"/>
              <a:t>ast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83968" y="5516313"/>
                <a:ext cx="361162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AU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AU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endParaRPr lang="en-AU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+9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5516313"/>
                <a:ext cx="3611629" cy="175432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627785" y="1916832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two main ways to expand expressions with brackets: </a:t>
            </a:r>
            <a:r>
              <a:rPr lang="en-US"/>
              <a:t>The table method and the FOIL method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376174" y="4430447"/>
            <a:ext cx="403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0902" y="4640358"/>
            <a:ext cx="263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 </a:t>
            </a:r>
            <a:r>
              <a:rPr lang="en-US"/>
              <a:t>like terms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3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4" grpId="0"/>
      <p:bldP spid="15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262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8937466"/>
                  </p:ext>
                </p:extLst>
              </p:nvPr>
            </p:nvGraphicFramePr>
            <p:xfrm>
              <a:off x="2411760" y="2740693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8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8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+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8937466"/>
                  </p:ext>
                </p:extLst>
              </p:nvPr>
            </p:nvGraphicFramePr>
            <p:xfrm>
              <a:off x="2411760" y="2740693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8333" r="-200565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8333" r="-101705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106557" r="-20056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106557" r="-10170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0000" t="-106557" r="-113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210000" r="-20056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210000" r="-10170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0000" t="-210000" r="-113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1472625" y="2080870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Expand (2x - 4)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5866" y="2673197"/>
            <a:ext cx="1120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table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93" y="5276222"/>
            <a:ext cx="1268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FOIL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11760" y="4128464"/>
                <a:ext cx="22338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charset="0"/>
                        </a:rPr>
                        <m:t>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charset="0"/>
                        </a:rPr>
                        <m:t>−8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−8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+1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=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4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charset="0"/>
                      </a:rPr>
                      <m:t>−16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CA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+1</m:t>
                    </m:r>
                    <m:r>
                      <a:rPr lang="en-AU" i="1">
                        <a:latin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128464"/>
                <a:ext cx="2233891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127245" y="5366283"/>
                <a:ext cx="361162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  <m:r>
                            <a:rPr lang="en-AU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−4</m:t>
                          </m:r>
                        </m:e>
                      </m:d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  =(2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𝑥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−4)(2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𝑥</m:t>
                      </m:r>
                      <m:r>
                        <a:rPr lang="en-CA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 −4)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CA" b="0" i="1" smtClean="0">
                          <a:latin typeface="Cambria Math" charset="0"/>
                        </a:rPr>
                        <m:t>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</m:t>
                      </m:r>
                      <m:r>
                        <a:rPr lang="en-CA" b="0" i="1" smtClean="0">
                          <a:latin typeface="Cambria Math" charset="0"/>
                        </a:rPr>
                        <m:t>8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CA" b="0" i="0" smtClean="0">
                          <a:latin typeface="Cambria Math" charset="0"/>
                        </a:rPr>
                        <m:t> −8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CA" b="0" i="1" smtClean="0">
                          <a:latin typeface="Cambria Math" charset="0"/>
                        </a:rPr>
                        <m:t>+1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CA" b="0" i="1" smtClean="0">
                          <a:latin typeface="Cambria Math" charset="0"/>
                        </a:rPr>
                        <m:t>4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charset="0"/>
                        </a:rPr>
                        <m:t> −16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CA" b="0" i="1" smtClean="0">
                          <a:latin typeface="Cambria Math" charset="0"/>
                        </a:rPr>
                        <m:t>+1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245" y="5366283"/>
                <a:ext cx="3611629" cy="1477328"/>
              </a:xfrm>
              <a:prstGeom prst="rect">
                <a:avLst/>
              </a:prstGeom>
              <a:blipFill rotWithShape="0">
                <a:blip r:embed="rId4"/>
                <a:stretch>
                  <a:fillRect t="-23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701132" y="5277917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</a:t>
            </a:r>
            <a:r>
              <a:rPr lang="en-AU" dirty="0"/>
              <a:t>irst</a:t>
            </a:r>
            <a:r>
              <a:rPr lang="en-AU" dirty="0">
                <a:solidFill>
                  <a:srgbClr val="0070C0"/>
                </a:solidFill>
              </a:rPr>
              <a:t> </a:t>
            </a:r>
          </a:p>
          <a:p>
            <a:r>
              <a:rPr lang="en-AU" dirty="0">
                <a:solidFill>
                  <a:srgbClr val="FF0000"/>
                </a:solidFill>
              </a:rPr>
              <a:t>O</a:t>
            </a:r>
            <a:r>
              <a:rPr lang="en-AU" dirty="0"/>
              <a:t>utside</a:t>
            </a:r>
          </a:p>
          <a:p>
            <a:r>
              <a:rPr lang="en-AU" dirty="0">
                <a:solidFill>
                  <a:srgbClr val="FF0000"/>
                </a:solidFill>
              </a:rPr>
              <a:t>I</a:t>
            </a:r>
            <a:r>
              <a:rPr lang="en-AU" dirty="0"/>
              <a:t>nner</a:t>
            </a:r>
          </a:p>
          <a:p>
            <a:r>
              <a:rPr lang="en-AU" dirty="0">
                <a:solidFill>
                  <a:srgbClr val="FF0000"/>
                </a:solidFill>
              </a:rPr>
              <a:t>L</a:t>
            </a:r>
            <a:r>
              <a:rPr lang="en-AU" dirty="0"/>
              <a:t>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8172" y="537232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2075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779"/>
            <a:ext cx="8229600" cy="1143000"/>
          </a:xfrm>
        </p:spPr>
        <p:txBody>
          <a:bodyPr/>
          <a:lstStyle/>
          <a:p>
            <a:r>
              <a:rPr lang="en-GB" b="1" dirty="0"/>
              <a:t>Expand these brackets: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78962"/>
                <a:ext cx="8229600" cy="3196952"/>
              </a:xfrm>
            </p:spPr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+4</m:t>
                        </m:r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+7</m:t>
                        </m:r>
                      </m:e>
                    </m:d>
                  </m:oMath>
                </a14:m>
                <a:endParaRPr lang="en-GB" b="0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−5</m:t>
                        </m:r>
                      </m:e>
                    </m:d>
                  </m:oMath>
                </a14:m>
                <a:r>
                  <a:rPr lang="en-GB" baseline="30000" dirty="0"/>
                  <a:t>2</a:t>
                </a:r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+4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+3</m:t>
                        </m:r>
                      </m:e>
                    </m:d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78962"/>
                <a:ext cx="8229600" cy="319695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5157192"/>
            <a:ext cx="1219200" cy="1219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23728" y="4293096"/>
                <a:ext cx="4968552" cy="2430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u="sng" dirty="0">
                    <a:solidFill>
                      <a:srgbClr val="FF0000"/>
                    </a:solidFill>
                  </a:rPr>
                  <a:t>Answers:</a:t>
                </a: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𝟐𝟖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𝟏𝟎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𝟐𝟓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𝟏𝟑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𝟏𝟐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</m:t>
                        </m:r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4293096"/>
                <a:ext cx="4968552" cy="2430858"/>
              </a:xfrm>
              <a:prstGeom prst="rect">
                <a:avLst/>
              </a:prstGeom>
              <a:blipFill rotWithShape="0">
                <a:blip r:embed="rId4"/>
                <a:stretch>
                  <a:fillRect t="-2005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36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110491"/>
                  </p:ext>
                </p:extLst>
              </p:nvPr>
            </p:nvGraphicFramePr>
            <p:xfrm>
              <a:off x="5421048" y="3061817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110491"/>
                  </p:ext>
                </p:extLst>
              </p:nvPr>
            </p:nvGraphicFramePr>
            <p:xfrm>
              <a:off x="5421048" y="3061817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65" t="-8197" r="-20056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8197" r="-10170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136" t="-110000" r="-10170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the HCF?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8405" y="196648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HCF – Highest Common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88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</a:t>
            </a:r>
          </a:p>
          <a:p>
            <a:r>
              <a:rPr lang="en-AU" dirty="0"/>
              <a:t>the HCF using the box method?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93827" y="2557761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827" y="2557761"/>
                <a:ext cx="187179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93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758525" y="3091957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Find the HCF of both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4759" y="2742427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Divide terms by HCF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693827" y="3921738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827" y="3921738"/>
                <a:ext cx="3512244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1563" t="-4717" r="-69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91374"/>
                  </p:ext>
                </p:extLst>
              </p:nvPr>
            </p:nvGraphicFramePr>
            <p:xfrm>
              <a:off x="3599309" y="5438081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91374"/>
                  </p:ext>
                </p:extLst>
              </p:nvPr>
            </p:nvGraphicFramePr>
            <p:xfrm>
              <a:off x="3599309" y="5438081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7495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565" t="-1639" r="-20056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1136" t="-1639" r="-101705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0000" t="-1639" r="-113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565" t="-103333" r="-20056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1136" t="-103333" r="-10170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0000" t="-103333" r="-113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794486" y="4934969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86" y="4934969"/>
                <a:ext cx="224279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217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822698" y="6302177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698" y="6302177"/>
                <a:ext cx="3172061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1181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5" grpId="0"/>
      <p:bldP spid="16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4766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063119"/>
            <a:ext cx="188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</a:t>
            </a:r>
          </a:p>
          <a:p>
            <a:r>
              <a:rPr lang="en-AU" dirty="0"/>
              <a:t>the HCF using a factor tree?</a:t>
            </a:r>
          </a:p>
        </p:txBody>
      </p:sp>
      <p:pic>
        <p:nvPicPr>
          <p:cNvPr id="12" name="Picture 11" descr="CommonFactorSeven550x416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132" y="2069789"/>
            <a:ext cx="5544616" cy="4193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704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pic>
        <p:nvPicPr>
          <p:cNvPr id="16" name="Picture 15" descr="CommonFactorNine550x405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29" y="2057445"/>
            <a:ext cx="6062896" cy="44644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99930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Factorise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57200" y="1178962"/>
                <a:ext cx="8229600" cy="319695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4</m:t>
                    </m:r>
                    <m:r>
                      <a:rPr lang="en-CA" b="0" i="1" smtClean="0">
                        <a:latin typeface="Cambria Math" charset="0"/>
                      </a:rPr>
                      <m:t>𝑥𝑦</m:t>
                    </m:r>
                    <m:r>
                      <a:rPr lang="en-CA" b="0" i="1" smtClean="0">
                        <a:latin typeface="Cambria Math" charset="0"/>
                      </a:rPr>
                      <m:t>+8</m:t>
                    </m:r>
                    <m:r>
                      <a:rPr lang="en-CA" b="0" i="1" smtClean="0">
                        <a:latin typeface="Cambria Math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−10</m:t>
                    </m:r>
                    <m:r>
                      <a:rPr lang="en-CA" b="0" i="1" smtClean="0">
                        <a:latin typeface="Cambria Math" charset="0"/>
                      </a:rPr>
                      <m:t>𝑎𝑏</m:t>
                    </m:r>
                    <m:r>
                      <a:rPr lang="en-CA" b="0" i="1" smtClean="0">
                        <a:latin typeface="Cambria Math" charset="0"/>
                      </a:rPr>
                      <m:t> −5</m:t>
                    </m:r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15</m:t>
                    </m:r>
                    <m:r>
                      <a:rPr lang="en-CA" b="0" i="1" smtClean="0">
                        <a:latin typeface="Cambria Math" charset="0"/>
                      </a:rPr>
                      <m:t>𝑎𝑏</m:t>
                    </m:r>
                    <m:r>
                      <a:rPr lang="en-CA" b="0" i="1" smtClean="0">
                        <a:latin typeface="Cambria Math" charset="0"/>
                      </a:rPr>
                      <m:t> −25</m:t>
                    </m:r>
                    <m:r>
                      <a:rPr lang="en-CA" b="0" i="1" smtClean="0">
                        <a:latin typeface="Cambria Math" charset="0"/>
                      </a:rPr>
                      <m:t>𝑎𝑏𝑐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78962"/>
                <a:ext cx="8229600" cy="319695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067944" y="243854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8786" y="242501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0523" y="242501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4164" y="242501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7196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42618"/>
            <a:ext cx="1454193" cy="12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</a:t>
            </a:r>
            <a:r>
              <a:rPr lang="en-US" dirty="0" err="1"/>
              <a:t>factorise</a:t>
            </a:r>
            <a:r>
              <a:rPr lang="en-US" dirty="0"/>
              <a:t> quadratic equations?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5737" y="2032747"/>
            <a:ext cx="7159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Regardless of the method we use, the steps are the same. Take: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We need to find two numbers that </a:t>
            </a:r>
            <a:r>
              <a:rPr lang="en-US" sz="2400" u="sng" dirty="0"/>
              <a:t>multiply to +8 </a:t>
            </a:r>
            <a:r>
              <a:rPr lang="en-US" sz="2400" dirty="0"/>
              <a:t>and </a:t>
            </a:r>
            <a:r>
              <a:rPr lang="en-US" sz="2400" u="sng" dirty="0"/>
              <a:t>add to +6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List all factors of 8: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52555" y="2401143"/>
                <a:ext cx="18212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charset="0"/>
                        </a:rPr>
                        <m:t>+6</m:t>
                      </m:r>
                      <m:r>
                        <a:rPr lang="en-GB" sz="2400" i="1">
                          <a:latin typeface="Cambria Math" charset="0"/>
                        </a:rPr>
                        <m:t>𝑥</m:t>
                      </m:r>
                      <m:r>
                        <a:rPr lang="en-GB" sz="2400" i="1">
                          <a:latin typeface="Cambria Math" charset="0"/>
                        </a:rPr>
                        <m:t>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555" y="2401143"/>
                <a:ext cx="1821268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312499" y="4020029"/>
            <a:ext cx="33144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+1 and +8</a:t>
            </a:r>
          </a:p>
          <a:p>
            <a:pPr algn="ctr"/>
            <a:r>
              <a:rPr lang="en-GB" sz="2400" dirty="0"/>
              <a:t>-1 and -8</a:t>
            </a:r>
          </a:p>
          <a:p>
            <a:pPr algn="ctr"/>
            <a:r>
              <a:rPr lang="en-GB" sz="2400" dirty="0"/>
              <a:t>+2 and +4</a:t>
            </a:r>
          </a:p>
          <a:p>
            <a:pPr algn="ctr"/>
            <a:r>
              <a:rPr lang="en-GB" sz="2400" dirty="0"/>
              <a:t>-2 and -4</a:t>
            </a:r>
          </a:p>
        </p:txBody>
      </p:sp>
      <p:sp>
        <p:nvSpPr>
          <p:cNvPr id="14" name="Oval 13"/>
          <p:cNvSpPr/>
          <p:nvPr/>
        </p:nvSpPr>
        <p:spPr>
          <a:xfrm>
            <a:off x="6011320" y="4825782"/>
            <a:ext cx="1916783" cy="3372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8772" y="4897175"/>
                <a:ext cx="42428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00206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772" y="4897175"/>
                <a:ext cx="4242884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402431" y="5950880"/>
                <a:ext cx="7060364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i="1" dirty="0"/>
                  <a:t>Can you now 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charset="0"/>
                      </a:rPr>
                      <m:t>+9</m:t>
                    </m:r>
                    <m:r>
                      <a:rPr lang="en-GB" sz="2400" b="0" i="1" smtClean="0">
                        <a:latin typeface="Cambria Math" charset="0"/>
                      </a:rPr>
                      <m:t>𝑥</m:t>
                    </m:r>
                    <m:r>
                      <a:rPr lang="en-GB" sz="2400" b="0" i="1" smtClean="0">
                        <a:latin typeface="Cambria Math" charset="0"/>
                      </a:rPr>
                      <m:t>+20?</m:t>
                    </m:r>
                  </m:oMath>
                </a14:m>
                <a:endParaRPr lang="en-GB" sz="2400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31" y="5950880"/>
                <a:ext cx="7060364" cy="470000"/>
              </a:xfrm>
              <a:prstGeom prst="rect">
                <a:avLst/>
              </a:prstGeom>
              <a:blipFill rotWithShape="0">
                <a:blip r:embed="rId4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32313" y="6304302"/>
                <a:ext cx="39375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FF000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𝟓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313" y="6304302"/>
                <a:ext cx="3937511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9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7085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Binomial Expressions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14" y="1091239"/>
            <a:ext cx="8817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techniques can I use to expand expressions with brackets and how do I factorise binomial and </a:t>
            </a:r>
            <a:r>
              <a:rPr lang="en-AU" sz="2400"/>
              <a:t>quadratic equations?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793751" y="1975484"/>
                <a:ext cx="8229600" cy="1143000"/>
              </a:xfrm>
              <a:prstGeom prst="rect">
                <a:avLst/>
              </a:prstGeom>
            </p:spPr>
            <p:txBody>
              <a:bodyPr/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400" dirty="0">
                    <a:latin typeface="+mn-lt"/>
                  </a:rPr>
                  <a:t>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GB" sz="240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GB" sz="2400" i="1" smtClean="0">
                        <a:latin typeface="Cambria Math" charset="0"/>
                      </a:rPr>
                      <m:t>−10</m:t>
                    </m:r>
                    <m:r>
                      <a:rPr lang="en-GB" sz="2400" i="1" smtClean="0">
                        <a:latin typeface="Cambria Math" charset="0"/>
                      </a:rPr>
                      <m:t>𝑥</m:t>
                    </m:r>
                    <m:r>
                      <a:rPr lang="en-GB" sz="2400" i="1" smtClean="0">
                        <a:latin typeface="Cambria Math" charset="0"/>
                      </a:rPr>
                      <m:t>+16</m:t>
                    </m:r>
                  </m:oMath>
                </a14:m>
                <a:endParaRPr lang="en-GB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1" y="1975484"/>
                <a:ext cx="8229600" cy="1143000"/>
              </a:xfrm>
              <a:prstGeom prst="rect">
                <a:avLst/>
              </a:prstGeom>
              <a:blipFill rotWithShape="0">
                <a:blip r:embed="rId2"/>
                <a:stretch>
                  <a:fillRect t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311402" y="2357129"/>
            <a:ext cx="37085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Pairs of numbers that multiply to make “+16”:</a:t>
            </a:r>
          </a:p>
          <a:p>
            <a:pPr algn="ctr"/>
            <a:r>
              <a:rPr lang="en-GB" sz="2400" dirty="0"/>
              <a:t>+1 and +16</a:t>
            </a:r>
          </a:p>
          <a:p>
            <a:pPr algn="ctr"/>
            <a:r>
              <a:rPr lang="en-GB" sz="2400" dirty="0"/>
              <a:t>-1 and -16</a:t>
            </a:r>
          </a:p>
          <a:p>
            <a:pPr algn="ctr"/>
            <a:r>
              <a:rPr lang="en-GB" sz="2400" dirty="0"/>
              <a:t>+2 and +8</a:t>
            </a:r>
          </a:p>
          <a:p>
            <a:pPr algn="ctr"/>
            <a:r>
              <a:rPr lang="en-GB" sz="2400" dirty="0"/>
              <a:t>-2 and -8</a:t>
            </a:r>
          </a:p>
          <a:p>
            <a:pPr algn="ctr"/>
            <a:r>
              <a:rPr lang="en-GB" sz="2400" dirty="0"/>
              <a:t>+4 and +4</a:t>
            </a:r>
          </a:p>
          <a:p>
            <a:pPr algn="ctr"/>
            <a:r>
              <a:rPr lang="en-GB" sz="2400" dirty="0"/>
              <a:t>-4 and 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9764" y="3381709"/>
            <a:ext cx="3515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/>
              <a:t>Which pair adds to make “-10”?</a:t>
            </a:r>
          </a:p>
        </p:txBody>
      </p:sp>
      <p:sp>
        <p:nvSpPr>
          <p:cNvPr id="28" name="Oval 27"/>
          <p:cNvSpPr/>
          <p:nvPr/>
        </p:nvSpPr>
        <p:spPr>
          <a:xfrm>
            <a:off x="2157562" y="4172605"/>
            <a:ext cx="2016224" cy="5106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81578" y="5895906"/>
                <a:ext cx="7488832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i="1" dirty="0"/>
                  <a:t>Can you now factorise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charset="0"/>
                      </a:rPr>
                      <m:t>−7</m:t>
                    </m:r>
                    <m:r>
                      <a:rPr lang="en-GB" sz="2400" b="0" i="1" smtClean="0">
                        <a:latin typeface="Cambria Math" charset="0"/>
                      </a:rPr>
                      <m:t>𝑥</m:t>
                    </m:r>
                    <m:r>
                      <a:rPr lang="en-GB" sz="2400" b="0" i="1" smtClean="0">
                        <a:latin typeface="Cambria Math" charset="0"/>
                      </a:rPr>
                      <m:t>+6?</m:t>
                    </m:r>
                  </m:oMath>
                </a14:m>
                <a:endParaRPr lang="en-GB" sz="2400" i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578" y="5895906"/>
                <a:ext cx="7488832" cy="470000"/>
              </a:xfrm>
              <a:prstGeom prst="rect">
                <a:avLst/>
              </a:prstGeom>
              <a:blipFill rotWithShape="0">
                <a:blip r:embed="rId3"/>
                <a:stretch>
                  <a:fillRect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58365" y="5388526"/>
                <a:ext cx="45003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00206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𝟖</m:t>
                    </m:r>
                    <m:r>
                      <a:rPr lang="en-GB" sz="24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365" y="5388526"/>
                <a:ext cx="4500369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820318" y="6365906"/>
                <a:ext cx="41764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b="1" dirty="0">
                    <a:solidFill>
                      <a:srgbClr val="FF0000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)(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𝒙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−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𝟔</m:t>
                    </m:r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318" y="6365906"/>
                <a:ext cx="4176464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48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 animBg="1"/>
      <p:bldP spid="29" grpId="0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Factorising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 your whiteboards, factorise the following quadratic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35696" y="3276409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+ 6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+ 9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276409"/>
                <a:ext cx="4392488" cy="707886"/>
              </a:xfrm>
              <a:prstGeom prst="rect">
                <a:avLst/>
              </a:prstGeom>
              <a:blipFill>
                <a:blip r:embed="rId3"/>
                <a:stretch>
                  <a:fillRect t="-14530" b="-35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94202" y="2605807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+ 12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+ 32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202" y="2605807"/>
                <a:ext cx="4392488" cy="707886"/>
              </a:xfrm>
              <a:prstGeom prst="rect">
                <a:avLst/>
              </a:prstGeom>
              <a:blipFill>
                <a:blip r:embed="rId4"/>
                <a:stretch>
                  <a:fillRect t="-14530" b="-35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94202" y="4621651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+ 6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27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202" y="4621651"/>
                <a:ext cx="4392488" cy="707886"/>
              </a:xfrm>
              <a:prstGeom prst="rect">
                <a:avLst/>
              </a:prstGeom>
              <a:blipFill>
                <a:blip r:embed="rId5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71800" y="6088879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- 15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+ 36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6088879"/>
                <a:ext cx="4392488" cy="707886"/>
              </a:xfrm>
              <a:prstGeom prst="rect">
                <a:avLst/>
              </a:prstGeom>
              <a:blipFill>
                <a:blip r:embed="rId6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71800" y="5336094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 - 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30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5336094"/>
                <a:ext cx="4392488" cy="707886"/>
              </a:xfrm>
              <a:prstGeom prst="rect">
                <a:avLst/>
              </a:prstGeom>
              <a:blipFill>
                <a:blip r:embed="rId7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35696" y="3914909"/>
                <a:ext cx="43924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4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4000" dirty="0"/>
                  <a:t> - 7</a:t>
                </a:r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/>
                  <a:t> – 44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914909"/>
                <a:ext cx="4392488" cy="707886"/>
              </a:xfrm>
              <a:prstGeom prst="rect">
                <a:avLst/>
              </a:prstGeom>
              <a:blipFill>
                <a:blip r:embed="rId8"/>
                <a:stretch>
                  <a:fillRect t="-14655" b="-370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2352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4634" y="87216"/>
            <a:ext cx="8037766" cy="80791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n-US" sz="4800" b="1">
                <a:ln w="10541" cmpd="sng">
                  <a:solidFill>
                    <a:srgbClr val="7030A0"/>
                  </a:solidFill>
                  <a:prstDash val="solid"/>
                </a:ln>
                <a:solidFill>
                  <a:srgbClr val="7030A0"/>
                </a:solidFill>
              </a:rPr>
              <a:t>On the LHS of your INB...</a:t>
            </a:r>
            <a:endParaRPr lang="en-US" sz="4800" b="1" dirty="0">
              <a:ln w="10541" cmpd="sng">
                <a:solidFill>
                  <a:srgbClr val="7030A0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4634" y="895130"/>
            <a:ext cx="83978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(1)Factorise the following quadratic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7984" y="1494426"/>
            <a:ext cx="2913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(a) x</a:t>
            </a:r>
            <a:r>
              <a:rPr lang="en-GB" sz="3000" baseline="30000" dirty="0"/>
              <a:t>2</a:t>
            </a:r>
            <a:r>
              <a:rPr lang="en-GB" sz="3000" dirty="0"/>
              <a:t> - 6x + 8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634" y="4355012"/>
            <a:ext cx="8903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(2) I think of a number. I add 6 to it. I multiply the result by the original number and subtract 5. Write this down as a factorised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686" y="2093722"/>
            <a:ext cx="2913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(b) x</a:t>
            </a:r>
            <a:r>
              <a:rPr lang="en-GB" sz="3000" baseline="30000" dirty="0"/>
              <a:t>2</a:t>
            </a:r>
            <a:r>
              <a:rPr lang="en-GB" sz="3000" dirty="0"/>
              <a:t> + x - 12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686" y="2647720"/>
            <a:ext cx="2913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(c) x</a:t>
            </a:r>
            <a:r>
              <a:rPr lang="en-GB" sz="3000" baseline="30000" dirty="0"/>
              <a:t>2</a:t>
            </a:r>
            <a:r>
              <a:rPr lang="en-GB" sz="3000" dirty="0"/>
              <a:t> - 7x - 30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686" y="3201718"/>
            <a:ext cx="37514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(d) 3x</a:t>
            </a:r>
            <a:r>
              <a:rPr lang="en-GB" sz="3000" baseline="30000" dirty="0"/>
              <a:t>2</a:t>
            </a:r>
            <a:r>
              <a:rPr lang="en-GB" sz="3000" dirty="0"/>
              <a:t> + 18x + 24 = 0</a:t>
            </a:r>
          </a:p>
        </p:txBody>
      </p:sp>
    </p:spTree>
    <p:extLst>
      <p:ext uri="{BB962C8B-B14F-4D97-AF65-F5344CB8AC3E}">
        <p14:creationId xmlns:p14="http://schemas.microsoft.com/office/powerpoint/2010/main" val="1446548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B4A29EC729234B338FF0CB31877515B2"/>
  <p:tag name="SLIDETYPE" val="Q"/>
  <p:tag name="DEMOGRAPHIC" val="False"/>
  <p:tag name="SPEEDSCORING" val="False"/>
  <p:tag name="VALUES" val="Incorrect¤Incorrect¤Correct¤Incorrect"/>
  <p:tag name="SLIDEORDER" val="5"/>
  <p:tag name="SLIDEGUID" val="58AEEDC1616543EF88B5E58F9747618A"/>
  <p:tag name="QUESTIONALIAS" val="Which statement demonstrates the distributive property incorrectly? "/>
  <p:tag name="ANSWERSALIAS" val="3(x + y + z) = 3x + 3y + 3z¤(a + b) c = ac + bc¤5(2 + 3x) = 10 + 3x¤6(3k - 4) = 18k - 24"/>
  <p:tag name="TOTALRESPONSES" val="22"/>
  <p:tag name="SLICED" val="False"/>
  <p:tag name="RESPONSES" val="COM12,1,32,2;3;-;3;3;3;3;2;4;3;-;3;-;3;-;-;3;3;3;3;-;-;3;-;-;3;3;3;-;1;3;3;"/>
  <p:tag name="CHARTSTRINGSTD" val="1 2 18 1"/>
  <p:tag name="CHARTSTRINGREV" val="1 18 2 1"/>
  <p:tag name="CHARTSTRINGSTDPER" val="0.0454545454545455 0.0909090909090909 0.818181818181818 0.0454545454545455"/>
  <p:tag name="CHARTSTRINGREVPER" val="0.0454545454545455 0.818181818181818 0.0909090909090909 0.0454545454545455"/>
  <p:tag name="RESPONSESGATHER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91"/>
  <p:tag name="FONTSIZE" val="32"/>
  <p:tag name="BULLETTYPE" val="ppBulletArabicPeriod"/>
  <p:tag name="ANSWERTEXT" val="3(x + y + z) = 3x + 3y + 3z&#10;(a + b) c = ac + bc&#10;5(2 + 3x) = 10 + 3x&#10;6(3k - 4) = 18k - 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4623</TotalTime>
  <Words>1032</Words>
  <Application>Microsoft Office PowerPoint</Application>
  <PresentationFormat>On-screen Show (4:3)</PresentationFormat>
  <Paragraphs>215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My Algebra - Quadratics Interactive Notebook</vt:lpstr>
      <vt:lpstr>PowerPoint Presentation</vt:lpstr>
      <vt:lpstr>Which statement demonstrates the distributive property incorrectly? </vt:lpstr>
      <vt:lpstr>PowerPoint Presentation</vt:lpstr>
      <vt:lpstr>PowerPoint Presentation</vt:lpstr>
      <vt:lpstr>Expand these brackets: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Factorising Method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108</cp:revision>
  <dcterms:created xsi:type="dcterms:W3CDTF">2014-05-14T02:58:57Z</dcterms:created>
  <dcterms:modified xsi:type="dcterms:W3CDTF">2018-02-06T00:49:25Z</dcterms:modified>
</cp:coreProperties>
</file>
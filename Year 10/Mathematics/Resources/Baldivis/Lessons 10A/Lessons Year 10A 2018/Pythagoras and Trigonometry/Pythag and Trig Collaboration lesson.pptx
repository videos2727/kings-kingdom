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47" r:id="rId2"/>
    <p:sldId id="329" r:id="rId3"/>
    <p:sldId id="349" r:id="rId4"/>
    <p:sldId id="350" r:id="rId5"/>
    <p:sldId id="352" r:id="rId6"/>
    <p:sldId id="355" r:id="rId7"/>
    <p:sldId id="351" r:id="rId8"/>
    <p:sldId id="353" r:id="rId9"/>
    <p:sldId id="35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69" d="100"/>
          <a:sy n="69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6/09/2018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6/09/2018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068960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>Topic: Basic</a:t>
            </a:r>
            <a:r>
              <a:rPr lang="en-US" altLang="en-US" sz="6000" b="1" dirty="0" smtClean="0">
                <a:solidFill>
                  <a:schemeClr val="accent2"/>
                </a:solidFill>
                <a:latin typeface="Charlesworth" pitchFamily="82" charset="0"/>
              </a:rPr>
              <a:t> </a:t>
            </a:r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>Trigonometry</a:t>
            </a:r>
            <a:b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/>
            </a:r>
            <a:b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>EQ: How can I use trig ratios to find sides and angles</a:t>
            </a:r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>?</a:t>
            </a:r>
            <a: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  <a:t/>
            </a:r>
            <a:br>
              <a:rPr lang="en-US" altLang="en-US" sz="6000" b="1" dirty="0" smtClean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dirty="0" smtClean="0">
              <a:solidFill>
                <a:schemeClr val="tx1"/>
              </a:solidFill>
              <a:latin typeface="Charlesworth" pitchFamily="82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86400"/>
            <a:ext cx="3276600" cy="152400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514600" y="4038600"/>
            <a:ext cx="388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Charlesworth" pitchFamily="8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0" y="620688"/>
            <a:ext cx="7626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>
                <a:solidFill>
                  <a:srgbClr val="FF0000"/>
                </a:solidFill>
              </a:rPr>
              <a:t>YOU DO NOT NEED TO WRITE NEW CORNELL NOTES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6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9000" tmFilter="0, 0; .2, .5; .8, .5; 1, 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9500" autoRev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3200" y="274638"/>
            <a:ext cx="5930900" cy="1143000"/>
          </a:xfrm>
        </p:spPr>
        <p:txBody>
          <a:bodyPr/>
          <a:lstStyle/>
          <a:p>
            <a:pPr algn="r" eaLnBrk="1" hangingPunct="1">
              <a:defRPr/>
            </a:pPr>
            <a:r>
              <a:rPr lang="en-GB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Pythagoras’s Theorem</a:t>
            </a: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079" name="AutoShape 4"/>
          <p:cNvSpPr>
            <a:spLocks noChangeArrowheads="1"/>
          </p:cNvSpPr>
          <p:nvPr/>
        </p:nvSpPr>
        <p:spPr bwMode="auto">
          <a:xfrm>
            <a:off x="2771775" y="1989138"/>
            <a:ext cx="2808288" cy="3455987"/>
          </a:xfrm>
          <a:prstGeom prst="rtTriangle">
            <a:avLst/>
          </a:prstGeom>
          <a:solidFill>
            <a:srgbClr val="C0C0C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5"/>
          <p:cNvSpPr txBox="1">
            <a:spLocks noChangeArrowheads="1"/>
          </p:cNvSpPr>
          <p:nvPr/>
        </p:nvSpPr>
        <p:spPr bwMode="auto">
          <a:xfrm>
            <a:off x="3635375" y="551815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a</a:t>
            </a:r>
          </a:p>
        </p:txBody>
      </p:sp>
      <p:sp>
        <p:nvSpPr>
          <p:cNvPr id="3081" name="Text Box 6"/>
          <p:cNvSpPr txBox="1">
            <a:spLocks noChangeArrowheads="1"/>
          </p:cNvSpPr>
          <p:nvPr/>
        </p:nvSpPr>
        <p:spPr bwMode="auto">
          <a:xfrm>
            <a:off x="2122488" y="3357563"/>
            <a:ext cx="546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b</a:t>
            </a:r>
          </a:p>
        </p:txBody>
      </p:sp>
      <p:sp>
        <p:nvSpPr>
          <p:cNvPr id="3082" name="Text Box 7"/>
          <p:cNvSpPr txBox="1">
            <a:spLocks noChangeArrowheads="1"/>
          </p:cNvSpPr>
          <p:nvPr/>
        </p:nvSpPr>
        <p:spPr bwMode="auto">
          <a:xfrm>
            <a:off x="4498975" y="278130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c</a:t>
            </a:r>
          </a:p>
        </p:txBody>
      </p:sp>
      <p:sp>
        <p:nvSpPr>
          <p:cNvPr id="3083" name="AutoShape 8"/>
          <p:cNvSpPr>
            <a:spLocks noChangeArrowheads="1"/>
          </p:cNvSpPr>
          <p:nvPr/>
        </p:nvSpPr>
        <p:spPr bwMode="auto">
          <a:xfrm>
            <a:off x="5436096" y="1900508"/>
            <a:ext cx="3529012" cy="2017712"/>
          </a:xfrm>
          <a:prstGeom prst="cloudCallout">
            <a:avLst>
              <a:gd name="adj1" fmla="val 18375"/>
              <a:gd name="adj2" fmla="val 122148"/>
            </a:avLst>
          </a:prstGeom>
          <a:noFill/>
          <a:ln w="5715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sz="1800">
              <a:latin typeface="Tahoma" charset="0"/>
            </a:endParaRP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792101"/>
              </p:ext>
            </p:extLst>
          </p:nvPr>
        </p:nvGraphicFramePr>
        <p:xfrm>
          <a:off x="5867896" y="2333275"/>
          <a:ext cx="2921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799920" imgH="203040" progId="Equation.DSMT4">
                  <p:embed/>
                </p:oleObj>
              </mc:Choice>
              <mc:Fallback>
                <p:oleObj name="Equation" r:id="rId3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896" y="2333275"/>
                        <a:ext cx="2921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2771775" y="5157192"/>
            <a:ext cx="3600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131840" y="5157192"/>
            <a:ext cx="0" cy="287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5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2109788" y="1595438"/>
            <a:ext cx="4827587" cy="2587625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109788" y="3798888"/>
            <a:ext cx="325437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435225" y="3798888"/>
            <a:ext cx="0" cy="3841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" name="TextBox 18"/>
          <p:cNvSpPr txBox="1">
            <a:spLocks noChangeArrowheads="1"/>
          </p:cNvSpPr>
          <p:nvPr/>
        </p:nvSpPr>
        <p:spPr bwMode="auto">
          <a:xfrm flipH="1">
            <a:off x="5915025" y="3813175"/>
            <a:ext cx="815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θ</a:t>
            </a:r>
          </a:p>
        </p:txBody>
      </p:sp>
      <p:sp>
        <p:nvSpPr>
          <p:cNvPr id="20" name="Arc 19"/>
          <p:cNvSpPr/>
          <p:nvPr/>
        </p:nvSpPr>
        <p:spPr>
          <a:xfrm rot="4536208" flipH="1" flipV="1">
            <a:off x="5527675" y="3387725"/>
            <a:ext cx="1257300" cy="1206500"/>
          </a:xfrm>
          <a:prstGeom prst="arc">
            <a:avLst>
              <a:gd name="adj1" fmla="val 16200000"/>
              <a:gd name="adj2" fmla="val 194209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 rot="1591411">
            <a:off x="3390900" y="2365375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Hypotenuse </a:t>
            </a:r>
            <a:endParaRPr lang="en-US" altLang="en-US" sz="2800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2219325" y="3159125"/>
            <a:ext cx="3235325" cy="6207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81000" y="2881313"/>
            <a:ext cx="18018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Opposite</a:t>
            </a:r>
            <a:endParaRPr lang="en-US" altLang="en-US" sz="2800"/>
          </a:p>
        </p:txBody>
      </p:sp>
      <p:cxnSp>
        <p:nvCxnSpPr>
          <p:cNvPr id="63" name="Curved Connector 62"/>
          <p:cNvCxnSpPr>
            <a:endCxn id="102" idx="0"/>
          </p:cNvCxnSpPr>
          <p:nvPr/>
        </p:nvCxnSpPr>
        <p:spPr>
          <a:xfrm rot="10800000" flipV="1">
            <a:off x="4760913" y="3822700"/>
            <a:ext cx="655637" cy="3524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>
            <a:spLocks noChangeArrowheads="1"/>
          </p:cNvSpPr>
          <p:nvPr/>
        </p:nvSpPr>
        <p:spPr bwMode="auto">
          <a:xfrm>
            <a:off x="3576638" y="4175125"/>
            <a:ext cx="2366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Adjacent</a:t>
            </a:r>
            <a:endParaRPr lang="en-US" altLang="en-US" sz="2800"/>
          </a:p>
        </p:txBody>
      </p:sp>
      <p:sp>
        <p:nvSpPr>
          <p:cNvPr id="7180" name="TextBox 114"/>
          <p:cNvSpPr txBox="1">
            <a:spLocks noChangeArrowheads="1"/>
          </p:cNvSpPr>
          <p:nvPr/>
        </p:nvSpPr>
        <p:spPr bwMode="auto">
          <a:xfrm>
            <a:off x="1417638" y="31750"/>
            <a:ext cx="575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en-US" sz="4800" dirty="0" smtClean="0">
                <a:latin typeface="+mn-lt"/>
              </a:rPr>
              <a:t>Trigonometry</a:t>
            </a:r>
            <a:endParaRPr lang="en-US" altLang="en-US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665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build="allAtOnce"/>
      <p:bldP spid="1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265363" y="4735513"/>
            <a:ext cx="5322887" cy="996950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4775" y="2616200"/>
            <a:ext cx="2819400" cy="1265238"/>
            <a:chOff x="192" y="816"/>
            <a:chExt cx="1776" cy="797"/>
          </a:xfrm>
        </p:grpSpPr>
        <p:sp>
          <p:nvSpPr>
            <p:cNvPr id="10258" name="Text Box 5"/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702030302020204" pitchFamily="66" charset="0"/>
                </a:rPr>
                <a:t>Sin</a:t>
              </a:r>
              <a:r>
                <a:rPr lang="en-GB" altLang="en-US">
                  <a:latin typeface="Comic Sans MS" panose="030F07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</a:t>
              </a:r>
              <a:r>
                <a:rPr lang="en-GB" altLang="en-US">
                  <a:latin typeface="Comic Sans MS" panose="030F0702030302020204" pitchFamily="66" charset="0"/>
                  <a:cs typeface="Times New Roman" panose="02020603050405020304" pitchFamily="18" charset="0"/>
                </a:rPr>
                <a:t>° =</a:t>
              </a:r>
              <a:endParaRPr lang="en-GB" altLang="en-US">
                <a:latin typeface="Comic Sans MS" panose="030F0702030302020204" pitchFamily="66" charset="0"/>
              </a:endParaRPr>
            </a:p>
          </p:txBody>
        </p:sp>
        <p:sp>
          <p:nvSpPr>
            <p:cNvPr id="10259" name="Line 6"/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60" name="Text Box 7"/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>
                  <a:latin typeface="Comic Sans MS" panose="030F0702030302020204" pitchFamily="66" charset="0"/>
                </a:rPr>
                <a:t>pp</a:t>
              </a:r>
            </a:p>
          </p:txBody>
        </p:sp>
        <p:sp>
          <p:nvSpPr>
            <p:cNvPr id="10261" name="Text Box 8"/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FF00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924175" y="2616200"/>
            <a:ext cx="2819400" cy="1265238"/>
            <a:chOff x="192" y="816"/>
            <a:chExt cx="1776" cy="797"/>
          </a:xfrm>
        </p:grpSpPr>
        <p:sp>
          <p:nvSpPr>
            <p:cNvPr id="10254" name="Text Box 10"/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702030302020204" pitchFamily="66" charset="0"/>
                </a:rPr>
                <a:t>Cos</a:t>
              </a:r>
              <a:r>
                <a:rPr lang="en-GB" altLang="en-US">
                  <a:latin typeface="Comic Sans MS" panose="030F07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 </a:t>
              </a:r>
              <a:r>
                <a:rPr lang="en-GB" altLang="en-US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>
                <a:latin typeface="Comic Sans MS" panose="030F0702030302020204" pitchFamily="66" charset="0"/>
              </a:endParaRPr>
            </a:p>
          </p:txBody>
        </p:sp>
        <p:sp>
          <p:nvSpPr>
            <p:cNvPr id="10255" name="Line 11"/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6" name="Text Box 12"/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>
                  <a:latin typeface="Comic Sans MS" panose="030F0702030302020204" pitchFamily="66" charset="0"/>
                </a:rPr>
                <a:t>dj</a:t>
              </a:r>
            </a:p>
          </p:txBody>
        </p:sp>
        <p:sp>
          <p:nvSpPr>
            <p:cNvPr id="10257" name="Text Box 13"/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00CC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819775" y="2616200"/>
            <a:ext cx="2819400" cy="1265238"/>
            <a:chOff x="192" y="816"/>
            <a:chExt cx="1776" cy="797"/>
          </a:xfrm>
        </p:grpSpPr>
        <p:sp>
          <p:nvSpPr>
            <p:cNvPr id="10250" name="Text Box 15"/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702030302020204" pitchFamily="66" charset="0"/>
                </a:rPr>
                <a:t>Tan</a:t>
              </a:r>
              <a:r>
                <a:rPr lang="en-GB" altLang="en-US">
                  <a:latin typeface="Comic Sans MS" panose="030F0702030302020204" pitchFamily="66" charset="0"/>
                </a:rPr>
                <a:t> </a:t>
              </a:r>
              <a:r>
                <a:rPr lang="el-GR" altLang="en-US">
                  <a:latin typeface="Calibri" panose="020F0502020204030204" pitchFamily="34" charset="0"/>
                </a:rPr>
                <a:t>θ</a:t>
              </a:r>
              <a:r>
                <a:rPr lang="en-GB" altLang="en-US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>
                <a:latin typeface="Comic Sans MS" panose="030F0702030302020204" pitchFamily="66" charset="0"/>
              </a:endParaRPr>
            </a:p>
          </p:txBody>
        </p:sp>
        <p:sp>
          <p:nvSpPr>
            <p:cNvPr id="10251" name="Line 16"/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2" name="Text Box 17"/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>
                  <a:latin typeface="Comic Sans MS" panose="030F0702030302020204" pitchFamily="66" charset="0"/>
                </a:rPr>
                <a:t>pp</a:t>
              </a:r>
            </a:p>
          </p:txBody>
        </p:sp>
        <p:sp>
          <p:nvSpPr>
            <p:cNvPr id="10253" name="Text Box 18"/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>
                  <a:solidFill>
                    <a:srgbClr val="CC00CC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>
                  <a:latin typeface="Comic Sans MS" panose="030F0702030302020204" pitchFamily="66" charset="0"/>
                </a:rPr>
                <a:t>dj</a:t>
              </a:r>
            </a:p>
          </p:txBody>
        </p:sp>
      </p:grpSp>
      <p:sp>
        <p:nvSpPr>
          <p:cNvPr id="70673" name="Text Box 20"/>
          <p:cNvSpPr txBox="1">
            <a:spLocks noChangeArrowheads="1"/>
          </p:cNvSpPr>
          <p:nvPr/>
        </p:nvSpPr>
        <p:spPr bwMode="auto">
          <a:xfrm>
            <a:off x="3932238" y="4729163"/>
            <a:ext cx="1600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6000">
                <a:solidFill>
                  <a:srgbClr val="00CC00"/>
                </a:solidFill>
                <a:latin typeface="Comic Sans MS" panose="030F0702030302020204" pitchFamily="66" charset="0"/>
              </a:rPr>
              <a:t>C</a:t>
            </a:r>
            <a:r>
              <a:rPr lang="en-GB" altLang="en-US" sz="6000" baseline="30000">
                <a:solidFill>
                  <a:srgbClr val="00CC00"/>
                </a:solidFill>
                <a:latin typeface="Comic Sans MS" panose="030F0702030302020204" pitchFamily="66" charset="0"/>
              </a:rPr>
              <a:t>A</a:t>
            </a:r>
            <a:r>
              <a:rPr lang="en-GB" altLang="en-US" sz="6000">
                <a:solidFill>
                  <a:srgbClr val="00CC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70674" name="Text Box 21"/>
          <p:cNvSpPr txBox="1">
            <a:spLocks noChangeArrowheads="1"/>
          </p:cNvSpPr>
          <p:nvPr/>
        </p:nvSpPr>
        <p:spPr bwMode="auto">
          <a:xfrm>
            <a:off x="5538788" y="4729163"/>
            <a:ext cx="16637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T</a:t>
            </a:r>
            <a:r>
              <a:rPr lang="en-GB" altLang="en-US" sz="6000" baseline="30000">
                <a:solidFill>
                  <a:srgbClr val="CC00CC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0675" name="Text Box 24"/>
          <p:cNvSpPr txBox="1">
            <a:spLocks noChangeArrowheads="1"/>
          </p:cNvSpPr>
          <p:nvPr/>
        </p:nvSpPr>
        <p:spPr bwMode="auto">
          <a:xfrm>
            <a:off x="2274888" y="4729163"/>
            <a:ext cx="1703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600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GB" altLang="en-US" sz="6000" baseline="30000">
                <a:solidFill>
                  <a:srgbClr val="FF0000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102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Trigonometry Ratios</a:t>
            </a:r>
          </a:p>
        </p:txBody>
      </p:sp>
    </p:spTree>
    <p:extLst>
      <p:ext uri="{BB962C8B-B14F-4D97-AF65-F5344CB8AC3E}">
        <p14:creationId xmlns:p14="http://schemas.microsoft.com/office/powerpoint/2010/main" val="3772456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3" grpId="0"/>
      <p:bldP spid="70674" grpId="0"/>
      <p:bldP spid="706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Powerwrite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</a:t>
            </a:r>
            <a:r>
              <a:rPr lang="en-AU" dirty="0" smtClean="0"/>
              <a:t>is Trigonometry? How is it different to Pythagoras? Where might it be used in life?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pic>
        <p:nvPicPr>
          <p:cNvPr id="4" name="Picture 3" descr="Thinking cap on. A quick illustration below, borrowing Wired's Tired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613109"/>
            <a:ext cx="3627487" cy="420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5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9592" y="620688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Let’s move the tables and chairs…</a:t>
            </a:r>
            <a:endParaRPr lang="en-AU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80612"/>
            <a:ext cx="3946422" cy="2100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9992" y="2996952"/>
            <a:ext cx="3932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Groups of 4 or 6 please</a:t>
            </a:r>
            <a:endParaRPr lang="en-AU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2267744" y="5200818"/>
            <a:ext cx="325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Thank You!</a:t>
            </a:r>
            <a:endParaRPr lang="en-AU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189970"/>
            <a:ext cx="2777131" cy="266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2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600" b="1" u="sng" dirty="0"/>
              <a:t>Learning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GB" sz="7600" dirty="0"/>
              <a:t> To use </a:t>
            </a:r>
            <a:r>
              <a:rPr lang="en-GB" sz="7600" dirty="0" smtClean="0"/>
              <a:t>knowledge of Trigonometry and Pythagoras to work collaboratively and solve problems.</a:t>
            </a:r>
            <a:endParaRPr lang="en-GB" sz="7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53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Marking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Did they answer the question?                     1 mark</a:t>
            </a:r>
          </a:p>
          <a:p>
            <a:r>
              <a:rPr lang="en-AU" dirty="0" smtClean="0"/>
              <a:t>Is there a diagram?                                         1 mark</a:t>
            </a:r>
          </a:p>
          <a:p>
            <a:r>
              <a:rPr lang="en-AU" dirty="0" smtClean="0"/>
              <a:t>Formula                                                             1 mark</a:t>
            </a:r>
          </a:p>
          <a:p>
            <a:r>
              <a:rPr lang="en-AU" dirty="0" smtClean="0"/>
              <a:t>Sufficient Working                                           1 mark</a:t>
            </a:r>
          </a:p>
          <a:p>
            <a:r>
              <a:rPr lang="en-AU" dirty="0"/>
              <a:t>Can you instantly tell where the answer is</a:t>
            </a:r>
            <a:r>
              <a:rPr lang="en-AU" dirty="0" smtClean="0"/>
              <a:t>?</a:t>
            </a:r>
          </a:p>
          <a:p>
            <a:r>
              <a:rPr lang="en-AU" dirty="0" smtClean="0"/>
              <a:t>                                                                            1 mark</a:t>
            </a:r>
          </a:p>
          <a:p>
            <a:r>
              <a:rPr lang="en-AU" dirty="0" smtClean="0"/>
              <a:t>Can you read it?                                               1 mark</a:t>
            </a:r>
          </a:p>
          <a:p>
            <a:r>
              <a:rPr lang="en-AU" dirty="0" smtClean="0"/>
              <a:t>Correct answer?                                              2 marks</a:t>
            </a:r>
          </a:p>
          <a:p>
            <a:r>
              <a:rPr lang="en-AU" dirty="0" smtClean="0"/>
              <a:t>Is it correctly rounded?                                  1 mark</a:t>
            </a:r>
          </a:p>
          <a:p>
            <a:r>
              <a:rPr lang="en-AU" dirty="0" smtClean="0"/>
              <a:t>Have they included units?                             1 mark</a:t>
            </a:r>
          </a:p>
        </p:txBody>
      </p:sp>
    </p:spTree>
    <p:extLst>
      <p:ext uri="{BB962C8B-B14F-4D97-AF65-F5344CB8AC3E}">
        <p14:creationId xmlns:p14="http://schemas.microsoft.com/office/powerpoint/2010/main" val="424713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9592" y="620688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Let’s move the tables and chairs…</a:t>
            </a:r>
            <a:endParaRPr lang="en-AU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80612"/>
            <a:ext cx="3946422" cy="2100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9992" y="2996952"/>
            <a:ext cx="3932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Back to normal please</a:t>
            </a:r>
            <a:endParaRPr lang="en-AU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2267744" y="5200818"/>
            <a:ext cx="325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Thank You!</a:t>
            </a:r>
            <a:endParaRPr lang="en-AU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189970"/>
            <a:ext cx="2777131" cy="266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4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173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Charlesworth</vt:lpstr>
      <vt:lpstr>Comic Sans MS</vt:lpstr>
      <vt:lpstr>Tahoma</vt:lpstr>
      <vt:lpstr>Times New Roman</vt:lpstr>
      <vt:lpstr>Office Theme</vt:lpstr>
      <vt:lpstr>Equation</vt:lpstr>
      <vt:lpstr>Topic: Basic Trigonometry  EQ: How can I use trig ratios to find sides and angles? </vt:lpstr>
      <vt:lpstr>Pythagoras’s Theorem</vt:lpstr>
      <vt:lpstr>PowerPoint Presentation</vt:lpstr>
      <vt:lpstr>Trigonometry Ratios</vt:lpstr>
      <vt:lpstr>Powerwrite</vt:lpstr>
      <vt:lpstr>PowerPoint Presentation</vt:lpstr>
      <vt:lpstr>Learning Objective</vt:lpstr>
      <vt:lpstr>Marking Criteria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stephanie.keen@education.wa.edu.au</cp:lastModifiedBy>
  <cp:revision>104</cp:revision>
  <dcterms:created xsi:type="dcterms:W3CDTF">2014-05-14T02:58:57Z</dcterms:created>
  <dcterms:modified xsi:type="dcterms:W3CDTF">2018-09-06T07:38:58Z</dcterms:modified>
</cp:coreProperties>
</file>
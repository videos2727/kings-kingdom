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30" r:id="rId2"/>
    <p:sldId id="328" r:id="rId3"/>
    <p:sldId id="331" r:id="rId4"/>
    <p:sldId id="332" r:id="rId5"/>
    <p:sldId id="333" r:id="rId6"/>
    <p:sldId id="334" r:id="rId7"/>
    <p:sldId id="335" r:id="rId8"/>
    <p:sldId id="336" r:id="rId9"/>
    <p:sldId id="329" r:id="rId10"/>
    <p:sldId id="303" r:id="rId11"/>
    <p:sldId id="321" r:id="rId12"/>
    <p:sldId id="327" r:id="rId13"/>
    <p:sldId id="339" r:id="rId14"/>
    <p:sldId id="337" r:id="rId15"/>
    <p:sldId id="338" r:id="rId16"/>
    <p:sldId id="344" r:id="rId17"/>
    <p:sldId id="340" r:id="rId18"/>
    <p:sldId id="345" r:id="rId19"/>
    <p:sldId id="341" r:id="rId20"/>
    <p:sldId id="342" r:id="rId21"/>
    <p:sldId id="346" r:id="rId22"/>
    <p:sldId id="343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 varScale="1">
        <p:scale>
          <a:sx n="69" d="100"/>
          <a:sy n="69" d="100"/>
        </p:scale>
        <p:origin x="141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27/08/2018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27/08/2018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2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11" Type="http://schemas.openxmlformats.org/officeDocument/2006/relationships/image" Target="../media/image23.png"/><Relationship Id="rId5" Type="http://schemas.openxmlformats.org/officeDocument/2006/relationships/oleObject" Target="../embeddings/oleObject4.bin"/><Relationship Id="rId15" Type="http://schemas.openxmlformats.org/officeDocument/2006/relationships/image" Target="../media/image29.wmf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6.bin"/><Relationship Id="rId14" Type="http://schemas.openxmlformats.org/officeDocument/2006/relationships/oleObject" Target="../embeddings/oleObject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34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wmf"/><Relationship Id="rId11" Type="http://schemas.openxmlformats.org/officeDocument/2006/relationships/image" Target="../media/image23.png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35.wmf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12.bin"/><Relationship Id="rId14" Type="http://schemas.openxmlformats.org/officeDocument/2006/relationships/oleObject" Target="../embeddings/oleObject14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1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11" Type="http://schemas.openxmlformats.org/officeDocument/2006/relationships/image" Target="../media/image23.png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1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6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3.wmf"/><Relationship Id="rId11" Type="http://schemas.openxmlformats.org/officeDocument/2006/relationships/image" Target="../media/image23.png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00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Pythagoras Theorem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shorter side?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13302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63000" cy="6858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normAutofit fontScale="90000"/>
          </a:bodyPr>
          <a:lstStyle/>
          <a:p>
            <a:r>
              <a:rPr lang="en-US" altLang="en-US" smtClean="0">
                <a:solidFill>
                  <a:schemeClr val="tx1"/>
                </a:solidFill>
              </a:rPr>
              <a:t>What is a right triangle?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286000"/>
            <a:ext cx="8991600" cy="3810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normAutofit lnSpcReduction="10000"/>
          </a:bodyPr>
          <a:lstStyle/>
          <a:p>
            <a:pPr algn="ctr">
              <a:buFontTx/>
              <a:buNone/>
            </a:pPr>
            <a:r>
              <a:rPr lang="en-US" altLang="en-US" sz="4000" smtClean="0"/>
              <a:t>It is a triangle which has an angle that is </a:t>
            </a:r>
            <a:r>
              <a:rPr lang="en-US" altLang="en-US" sz="4000" b="1" smtClean="0">
                <a:solidFill>
                  <a:srgbClr val="00279F"/>
                </a:solidFill>
              </a:rPr>
              <a:t>90</a:t>
            </a:r>
            <a:r>
              <a:rPr lang="en-US" altLang="en-US" sz="4000" smtClean="0"/>
              <a:t> degrees.  </a:t>
            </a:r>
          </a:p>
          <a:p>
            <a:pPr algn="ctr">
              <a:buFontTx/>
              <a:buNone/>
            </a:pPr>
            <a:r>
              <a:rPr lang="en-US" altLang="en-US" sz="4000" smtClean="0"/>
              <a:t>The two sides that make up the right angle are called </a:t>
            </a:r>
            <a:r>
              <a:rPr lang="en-US" altLang="en-US" sz="4000" b="1" u="sng" smtClean="0">
                <a:solidFill>
                  <a:srgbClr val="00279F"/>
                </a:solidFill>
              </a:rPr>
              <a:t>legs</a:t>
            </a:r>
            <a:r>
              <a:rPr lang="en-US" altLang="en-US" sz="4000" smtClean="0"/>
              <a:t>.  </a:t>
            </a:r>
          </a:p>
          <a:p>
            <a:pPr algn="ctr">
              <a:buFontTx/>
              <a:buNone/>
            </a:pPr>
            <a:r>
              <a:rPr lang="en-US" altLang="en-US" sz="4000" smtClean="0"/>
              <a:t>The side opposite the right angle is the </a:t>
            </a:r>
            <a:r>
              <a:rPr lang="en-US" altLang="en-US" sz="4000" b="1" u="sng" smtClean="0">
                <a:solidFill>
                  <a:srgbClr val="00279F"/>
                </a:solidFill>
              </a:rPr>
              <a:t>hypotenuse</a:t>
            </a:r>
            <a:r>
              <a:rPr lang="en-US" altLang="en-US" sz="4000" smtClean="0"/>
              <a:t>.</a:t>
            </a:r>
          </a:p>
        </p:txBody>
      </p:sp>
      <p:sp>
        <p:nvSpPr>
          <p:cNvPr id="3076" name="Freeform 4"/>
          <p:cNvSpPr>
            <a:spLocks/>
          </p:cNvSpPr>
          <p:nvPr/>
        </p:nvSpPr>
        <p:spPr bwMode="auto">
          <a:xfrm>
            <a:off x="3657600" y="609600"/>
            <a:ext cx="1754188" cy="1449388"/>
          </a:xfrm>
          <a:custGeom>
            <a:avLst/>
            <a:gdLst>
              <a:gd name="T0" fmla="*/ 0 w 1105"/>
              <a:gd name="T1" fmla="*/ 0 h 913"/>
              <a:gd name="T2" fmla="*/ 0 w 1105"/>
              <a:gd name="T3" fmla="*/ 1447800 h 913"/>
              <a:gd name="T4" fmla="*/ 1752600 w 1105"/>
              <a:gd name="T5" fmla="*/ 1447800 h 913"/>
              <a:gd name="T6" fmla="*/ 0 w 1105"/>
              <a:gd name="T7" fmla="*/ 0 h 91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5" h="913">
                <a:moveTo>
                  <a:pt x="0" y="0"/>
                </a:moveTo>
                <a:lnTo>
                  <a:pt x="0" y="912"/>
                </a:lnTo>
                <a:lnTo>
                  <a:pt x="1104" y="91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663950" y="1835150"/>
            <a:ext cx="2159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2957513" y="1052513"/>
            <a:ext cx="5524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leg</a:t>
            </a: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4176713" y="2043113"/>
            <a:ext cx="5524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leg</a:t>
            </a: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4633913" y="900113"/>
            <a:ext cx="20701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hypotenuse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1775366" y="1906587"/>
            <a:ext cx="149066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 dirty="0">
                <a:latin typeface="Times New Roman" pitchFamily="18" charset="0"/>
              </a:rPr>
              <a:t>right angle</a:t>
            </a:r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 flipV="1">
            <a:off x="2901950" y="2057400"/>
            <a:ext cx="6731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25348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2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228600"/>
            <a:ext cx="8305800" cy="256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dirty="0">
                <a:solidFill>
                  <a:srgbClr val="000099"/>
                </a:solidFill>
              </a:rPr>
              <a:t>The lengths of the legs are usually called </a:t>
            </a:r>
            <a:r>
              <a:rPr lang="en-US" sz="5400" i="1" dirty="0">
                <a:solidFill>
                  <a:srgbClr val="000099"/>
                </a:solidFill>
              </a:rPr>
              <a:t>a</a:t>
            </a:r>
            <a:r>
              <a:rPr lang="en-US" sz="5400" dirty="0">
                <a:solidFill>
                  <a:srgbClr val="000099"/>
                </a:solidFill>
              </a:rPr>
              <a:t> and </a:t>
            </a:r>
            <a:r>
              <a:rPr lang="en-US" sz="5400" i="1" dirty="0">
                <a:solidFill>
                  <a:srgbClr val="000099"/>
                </a:solidFill>
              </a:rPr>
              <a:t>b</a:t>
            </a:r>
            <a:r>
              <a:rPr lang="en-US" sz="5400" dirty="0">
                <a:solidFill>
                  <a:srgbClr val="000099"/>
                </a:solidFill>
              </a:rPr>
              <a:t>.</a:t>
            </a:r>
            <a:endParaRPr lang="en-US" sz="5400" baseline="40000" dirty="0">
              <a:solidFill>
                <a:srgbClr val="000099"/>
              </a:solidFill>
            </a:endParaRPr>
          </a:p>
          <a:p>
            <a:pPr>
              <a:spcBef>
                <a:spcPct val="50000"/>
              </a:spcBef>
            </a:pPr>
            <a:endParaRPr lang="en-US" sz="5400" baseline="30000" dirty="0"/>
          </a:p>
        </p:txBody>
      </p:sp>
      <p:grpSp>
        <p:nvGrpSpPr>
          <p:cNvPr id="24580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4583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26758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8" grpId="0" autoUpdateAnimBg="0"/>
      <p:bldP spid="2458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2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609600" y="228600"/>
            <a:ext cx="830580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>
                <a:solidFill>
                  <a:srgbClr val="000099"/>
                </a:solidFill>
              </a:rPr>
              <a:t>The side across from the right angle </a:t>
            </a:r>
            <a:endParaRPr lang="en-US" sz="5400" baseline="30000"/>
          </a:p>
        </p:txBody>
      </p:sp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5605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5606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5607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5608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5609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3733800" y="1058863"/>
            <a:ext cx="3733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>
                <a:solidFill>
                  <a:srgbClr val="000099"/>
                </a:solidFill>
              </a:rPr>
              <a:t>is called the</a:t>
            </a:r>
            <a:endParaRPr lang="en-US" sz="5400" baseline="30000"/>
          </a:p>
        </p:txBody>
      </p:sp>
      <p:sp>
        <p:nvSpPr>
          <p:cNvPr id="25618" name="WordArt 18"/>
          <p:cNvSpPr>
            <a:spLocks noChangeAspect="1" noChangeArrowheads="1" noChangeShapeType="1" noTextEdit="1"/>
          </p:cNvSpPr>
          <p:nvPr/>
        </p:nvSpPr>
        <p:spPr bwMode="auto">
          <a:xfrm>
            <a:off x="2590800" y="2209800"/>
            <a:ext cx="5237163" cy="11747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7030A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Black"/>
              </a:rPr>
              <a:t>hypotenuse.</a:t>
            </a:r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 flipV="1">
            <a:off x="3505200" y="4800600"/>
            <a:ext cx="99060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805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9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/>
      <p:bldP spid="25613" grpId="0" animBg="1"/>
      <p:bldP spid="25615" grpId="0" autoUpdateAnimBg="0"/>
      <p:bldP spid="25618" grpId="0"/>
      <p:bldP spid="256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Line 2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457200" y="228600"/>
            <a:ext cx="713913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 dirty="0">
                <a:solidFill>
                  <a:srgbClr val="000099"/>
                </a:solidFill>
              </a:rPr>
              <a:t>And the length of the hypotenuse </a:t>
            </a:r>
            <a:r>
              <a:rPr lang="en-US" sz="5400" dirty="0" smtClean="0">
                <a:solidFill>
                  <a:srgbClr val="000099"/>
                </a:solidFill>
              </a:rPr>
              <a:t>is </a:t>
            </a:r>
            <a:r>
              <a:rPr lang="en-US" sz="5400" dirty="0">
                <a:solidFill>
                  <a:srgbClr val="000099"/>
                </a:solidFill>
              </a:rPr>
              <a:t>usually labeled </a:t>
            </a:r>
            <a:r>
              <a:rPr lang="en-US" sz="5400" i="1" dirty="0">
                <a:solidFill>
                  <a:srgbClr val="000099"/>
                </a:solidFill>
              </a:rPr>
              <a:t>c</a:t>
            </a:r>
            <a:r>
              <a:rPr lang="en-US" sz="5400" dirty="0">
                <a:solidFill>
                  <a:srgbClr val="000099"/>
                </a:solidFill>
              </a:rPr>
              <a:t>.</a:t>
            </a:r>
            <a:endParaRPr lang="en-US" sz="5400" baseline="30000" dirty="0"/>
          </a:p>
        </p:txBody>
      </p:sp>
      <p:grpSp>
        <p:nvGrpSpPr>
          <p:cNvPr id="26628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6629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6630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6631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6632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6633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9208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utoUpdateAnimBg="0"/>
      <p:bldP spid="2663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685800" y="717550"/>
            <a:ext cx="8153400" cy="255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>
                <a:solidFill>
                  <a:srgbClr val="000099"/>
                </a:solidFill>
              </a:rPr>
              <a:t>The relationship Pythagorus discovered is now called The Pythagorean Theorem:</a:t>
            </a:r>
            <a:endParaRPr lang="en-US" sz="5400" baseline="30000"/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7661" name="Group 13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7662" name="Line 14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7663" name="Line 15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7664" name="Group 16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7666" name="Line 18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4719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685800" y="76200"/>
            <a:ext cx="8153400" cy="338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>
                <a:solidFill>
                  <a:srgbClr val="000099"/>
                </a:solidFill>
              </a:rPr>
              <a:t>The Pythagorean Theorem says, given the right triangle with legs </a:t>
            </a:r>
            <a:r>
              <a:rPr lang="en-US" sz="5400" i="1">
                <a:solidFill>
                  <a:srgbClr val="000099"/>
                </a:solidFill>
              </a:rPr>
              <a:t>a</a:t>
            </a:r>
            <a:r>
              <a:rPr lang="en-US" sz="5400">
                <a:solidFill>
                  <a:srgbClr val="000099"/>
                </a:solidFill>
              </a:rPr>
              <a:t> and </a:t>
            </a:r>
            <a:r>
              <a:rPr lang="en-US" sz="5400" i="1">
                <a:solidFill>
                  <a:srgbClr val="000099"/>
                </a:solidFill>
              </a:rPr>
              <a:t>b</a:t>
            </a:r>
            <a:r>
              <a:rPr lang="en-US" sz="5400">
                <a:solidFill>
                  <a:srgbClr val="000099"/>
                </a:solidFill>
              </a:rPr>
              <a:t> and hypotenuse </a:t>
            </a:r>
            <a:r>
              <a:rPr lang="en-US" sz="5400" i="1">
                <a:solidFill>
                  <a:srgbClr val="000099"/>
                </a:solidFill>
              </a:rPr>
              <a:t>c,</a:t>
            </a:r>
          </a:p>
        </p:txBody>
      </p:sp>
      <p:sp>
        <p:nvSpPr>
          <p:cNvPr id="28675" name="Line 3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8677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8678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8679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8680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8681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67874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1676400" y="914400"/>
            <a:ext cx="8153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>
                <a:solidFill>
                  <a:srgbClr val="000099"/>
                </a:solidFill>
              </a:rPr>
              <a:t>then </a:t>
            </a:r>
            <a:endParaRPr lang="en-US" sz="5400" i="1">
              <a:solidFill>
                <a:srgbClr val="000099"/>
              </a:solidFill>
            </a:endParaRPr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9701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grpSp>
        <p:nvGrpSpPr>
          <p:cNvPr id="29703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  <p:graphicFrame>
        <p:nvGraphicFramePr>
          <p:cNvPr id="29710" name="Object 14"/>
          <p:cNvGraphicFramePr>
            <a:graphicFrameLocks noChangeAspect="1"/>
          </p:cNvGraphicFramePr>
          <p:nvPr/>
        </p:nvGraphicFramePr>
        <p:xfrm>
          <a:off x="3200400" y="850900"/>
          <a:ext cx="3759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3" imgW="3759120" imgH="825480" progId="Equation.3">
                  <p:embed/>
                </p:oleObj>
              </mc:Choice>
              <mc:Fallback>
                <p:oleObj name="Equation" r:id="rId3" imgW="37591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850900"/>
                        <a:ext cx="3759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230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73200" y="274638"/>
            <a:ext cx="5930900" cy="1143000"/>
          </a:xfrm>
        </p:spPr>
        <p:txBody>
          <a:bodyPr/>
          <a:lstStyle/>
          <a:p>
            <a:pPr algn="r" eaLnBrk="1" hangingPunct="1">
              <a:defRPr/>
            </a:pPr>
            <a:r>
              <a:rPr lang="en-GB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Pythagoras’s Theorem</a:t>
            </a:r>
          </a:p>
        </p:txBody>
      </p:sp>
      <p:sp>
        <p:nvSpPr>
          <p:cNvPr id="3078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079" name="AutoShape 4"/>
          <p:cNvSpPr>
            <a:spLocks noChangeArrowheads="1"/>
          </p:cNvSpPr>
          <p:nvPr/>
        </p:nvSpPr>
        <p:spPr bwMode="auto">
          <a:xfrm>
            <a:off x="2771775" y="1989138"/>
            <a:ext cx="2808288" cy="3455987"/>
          </a:xfrm>
          <a:prstGeom prst="rtTriangle">
            <a:avLst/>
          </a:prstGeom>
          <a:solidFill>
            <a:srgbClr val="C0C0C0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Text Box 5"/>
          <p:cNvSpPr txBox="1">
            <a:spLocks noChangeArrowheads="1"/>
          </p:cNvSpPr>
          <p:nvPr/>
        </p:nvSpPr>
        <p:spPr bwMode="auto">
          <a:xfrm>
            <a:off x="3635375" y="5518150"/>
            <a:ext cx="4968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a</a:t>
            </a:r>
          </a:p>
        </p:txBody>
      </p:sp>
      <p:sp>
        <p:nvSpPr>
          <p:cNvPr id="3081" name="Text Box 6"/>
          <p:cNvSpPr txBox="1">
            <a:spLocks noChangeArrowheads="1"/>
          </p:cNvSpPr>
          <p:nvPr/>
        </p:nvSpPr>
        <p:spPr bwMode="auto">
          <a:xfrm>
            <a:off x="2122488" y="3357563"/>
            <a:ext cx="5461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b</a:t>
            </a:r>
          </a:p>
        </p:txBody>
      </p:sp>
      <p:sp>
        <p:nvSpPr>
          <p:cNvPr id="3082" name="Text Box 7"/>
          <p:cNvSpPr txBox="1">
            <a:spLocks noChangeArrowheads="1"/>
          </p:cNvSpPr>
          <p:nvPr/>
        </p:nvSpPr>
        <p:spPr bwMode="auto">
          <a:xfrm>
            <a:off x="4498975" y="2781300"/>
            <a:ext cx="4968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c</a:t>
            </a:r>
          </a:p>
        </p:txBody>
      </p:sp>
      <p:sp>
        <p:nvSpPr>
          <p:cNvPr id="3083" name="AutoShape 8"/>
          <p:cNvSpPr>
            <a:spLocks noChangeArrowheads="1"/>
          </p:cNvSpPr>
          <p:nvPr/>
        </p:nvSpPr>
        <p:spPr bwMode="auto">
          <a:xfrm>
            <a:off x="5436096" y="1900508"/>
            <a:ext cx="3529012" cy="2017712"/>
          </a:xfrm>
          <a:prstGeom prst="cloudCallout">
            <a:avLst>
              <a:gd name="adj1" fmla="val 18375"/>
              <a:gd name="adj2" fmla="val 122148"/>
            </a:avLst>
          </a:prstGeom>
          <a:noFill/>
          <a:ln w="57150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en-US" sz="1800">
              <a:latin typeface="Tahoma" charset="0"/>
            </a:endParaRPr>
          </a:p>
        </p:txBody>
      </p:sp>
      <p:graphicFrame>
        <p:nvGraphicFramePr>
          <p:cNvPr id="307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792101"/>
              </p:ext>
            </p:extLst>
          </p:nvPr>
        </p:nvGraphicFramePr>
        <p:xfrm>
          <a:off x="5867896" y="2333275"/>
          <a:ext cx="29210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3" imgW="799920" imgH="203040" progId="Equation.DSMT4">
                  <p:embed/>
                </p:oleObj>
              </mc:Choice>
              <mc:Fallback>
                <p:oleObj name="Equation" r:id="rId3" imgW="799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896" y="2333275"/>
                        <a:ext cx="292100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2771775" y="5157192"/>
            <a:ext cx="3600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131840" y="5157192"/>
            <a:ext cx="0" cy="2879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56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043608" y="570567"/>
                <a:ext cx="5963519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Pythagoras Theorem is about right angles triangles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     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		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AU" b="0" i="1" dirty="0" smtClean="0">
                  <a:latin typeface="Cambria Math" panose="02040503050406030204" pitchFamily="18" charset="0"/>
                </a:endParaRPr>
              </a:p>
              <a:p>
                <a:endParaRPr lang="en-AU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570567"/>
                <a:ext cx="5963519" cy="2893100"/>
              </a:xfrm>
              <a:prstGeom prst="rect">
                <a:avLst/>
              </a:prstGeom>
              <a:blipFill rotWithShape="1">
                <a:blip r:embed="rId2"/>
                <a:stretch>
                  <a:fillRect l="-1022" t="-10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Triangle 20"/>
          <p:cNvSpPr/>
          <p:nvPr/>
        </p:nvSpPr>
        <p:spPr>
          <a:xfrm>
            <a:off x="2627784" y="1121930"/>
            <a:ext cx="2016224" cy="1123674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233511" y="5702061"/>
                <a:ext cx="2768380" cy="405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511" y="5702061"/>
                <a:ext cx="2768380" cy="40549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325004" y="5730947"/>
                <a:ext cx="1445011" cy="34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004" y="5730947"/>
                <a:ext cx="1445011" cy="345416"/>
              </a:xfrm>
              <a:prstGeom prst="rect">
                <a:avLst/>
              </a:prstGeom>
              <a:blipFill rotWithShape="1">
                <a:blip r:embed="rId4"/>
                <a:stretch>
                  <a:fillRect l="-3361" r="-840" b="-5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372200" y="5733256"/>
                <a:ext cx="1446743" cy="343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5733256"/>
                <a:ext cx="1446743" cy="343107"/>
              </a:xfrm>
              <a:prstGeom prst="rect">
                <a:avLst/>
              </a:prstGeom>
              <a:blipFill rotWithShape="1">
                <a:blip r:embed="rId5"/>
                <a:stretch>
                  <a:fillRect l="-1681" r="-840" b="-5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857842" y="4022416"/>
                <a:ext cx="608763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Therefore to find the shorter sides (legs):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             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842" y="4022416"/>
                <a:ext cx="6087638" cy="923330"/>
              </a:xfrm>
              <a:prstGeom prst="rect">
                <a:avLst/>
              </a:prstGeom>
              <a:blipFill rotWithShape="1">
                <a:blip r:embed="rId6"/>
                <a:stretch>
                  <a:fillRect l="-902" t="-33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2627784" y="2017116"/>
            <a:ext cx="222307" cy="222307"/>
            <a:chOff x="1680" y="3120"/>
            <a:chExt cx="240" cy="240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5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Examples</a:t>
            </a:r>
            <a:endParaRPr lang="en-AU" sz="3600" dirty="0"/>
          </a:p>
        </p:txBody>
      </p:sp>
      <p:sp>
        <p:nvSpPr>
          <p:cNvPr id="5" name="Right Triangle 4"/>
          <p:cNvSpPr/>
          <p:nvPr/>
        </p:nvSpPr>
        <p:spPr>
          <a:xfrm>
            <a:off x="1331640" y="1412776"/>
            <a:ext cx="2160240" cy="144016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3568" y="1994356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994356"/>
                <a:ext cx="536172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9091" r="-5682"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51720" y="2984212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2984212"/>
                <a:ext cx="536172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0227" r="-5682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04572" y="1717357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572" y="1717357"/>
                <a:ext cx="18332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9355" r="-96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0" y="2974848"/>
                <a:ext cx="17650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=9+16 </m:t>
                    </m:r>
                  </m:oMath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=25    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974848"/>
                <a:ext cx="1765035" cy="120032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83968" y="4006430"/>
                <a:ext cx="1176028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</m:e>
                      </m:rad>
                    </m:oMath>
                  </m:oMathPara>
                </a14:m>
                <a:endParaRPr lang="en-AU" dirty="0" smtClean="0"/>
              </a:p>
              <a:p>
                <a:r>
                  <a:rPr lang="en-AU" b="0" dirty="0" smtClean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=5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4006430"/>
                <a:ext cx="1176028" cy="68454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1355959" y="2564904"/>
            <a:ext cx="263713" cy="288032"/>
            <a:chOff x="1680" y="3120"/>
            <a:chExt cx="240" cy="2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smtClean="0"/>
              <a:t>Examples</a:t>
            </a:r>
            <a:endParaRPr lang="en-AU" sz="3600" dirty="0"/>
          </a:p>
        </p:txBody>
      </p:sp>
      <p:sp>
        <p:nvSpPr>
          <p:cNvPr id="3" name="Right Triangle 2"/>
          <p:cNvSpPr/>
          <p:nvPr/>
        </p:nvSpPr>
        <p:spPr>
          <a:xfrm rot="7484576">
            <a:off x="631406" y="2765332"/>
            <a:ext cx="2664296" cy="1584176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55508" y="3582799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0.4 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08" y="3582799"/>
                <a:ext cx="840743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5797" r="-4348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720124" y="2132856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.6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124" y="2132856"/>
                <a:ext cx="712503" cy="276999"/>
              </a:xfrm>
              <a:prstGeom prst="rect">
                <a:avLst/>
              </a:prstGeom>
              <a:blipFill rotWithShape="1">
                <a:blip r:embed="rId3"/>
                <a:stretch>
                  <a:fillRect l="-6838" r="-5128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191412" y="2592944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412" y="2592944"/>
                <a:ext cx="183320" cy="276999"/>
              </a:xfrm>
              <a:prstGeom prst="rect">
                <a:avLst/>
              </a:prstGeom>
              <a:blipFill rotWithShape="1">
                <a:blip r:embed="rId4"/>
                <a:stretch>
                  <a:fillRect l="-16129" r="-129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114800" y="2974848"/>
                <a:ext cx="257795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20.4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9.6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 </m:t>
                    </m:r>
                    <m:r>
                      <a:rPr lang="en-AU" b="0" i="1" smtClean="0">
                        <a:latin typeface="Cambria Math"/>
                      </a:rPr>
                      <m:t>=416.16−92.16 </m:t>
                    </m:r>
                  </m:oMath>
                </a14:m>
                <a:endParaRPr lang="en-AU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=324             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974848"/>
                <a:ext cx="2577950" cy="120032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83968" y="4006430"/>
                <a:ext cx="1305101" cy="6789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324</m:t>
                          </m:r>
                        </m:e>
                      </m:rad>
                    </m:oMath>
                  </m:oMathPara>
                </a14:m>
                <a:endParaRPr lang="en-AU" dirty="0" smtClean="0"/>
              </a:p>
              <a:p>
                <a:r>
                  <a:rPr lang="en-AU" b="0" dirty="0" smtClean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=18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4006430"/>
                <a:ext cx="1305101" cy="67896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4"/>
          <p:cNvGrpSpPr>
            <a:grpSpLocks/>
          </p:cNvGrpSpPr>
          <p:nvPr/>
        </p:nvGrpSpPr>
        <p:grpSpPr bwMode="auto">
          <a:xfrm rot="2013339" flipV="1">
            <a:off x="1947564" y="2087132"/>
            <a:ext cx="322796" cy="293250"/>
            <a:chOff x="1680" y="3120"/>
            <a:chExt cx="240" cy="240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</p:spTree>
    <p:extLst>
      <p:ext uri="{BB962C8B-B14F-4D97-AF65-F5344CB8AC3E}">
        <p14:creationId xmlns:p14="http://schemas.microsoft.com/office/powerpoint/2010/main" val="133012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764704"/>
            <a:ext cx="6768752" cy="3221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005064"/>
            <a:ext cx="7848872" cy="2575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3124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836711"/>
            <a:ext cx="7416824" cy="5165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689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" y="1366838"/>
            <a:ext cx="90297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661248"/>
            <a:ext cx="915352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8307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 smtClean="0"/>
              <a:t>Answers</a:t>
            </a:r>
            <a:endParaRPr lang="en-AU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692696"/>
            <a:ext cx="6477011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5229200"/>
            <a:ext cx="1895611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0544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ight Triangle 27"/>
          <p:cNvSpPr/>
          <p:nvPr/>
        </p:nvSpPr>
        <p:spPr>
          <a:xfrm rot="18829116">
            <a:off x="6117431" y="2129632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ectangle 29"/>
          <p:cNvSpPr/>
          <p:nvPr/>
        </p:nvSpPr>
        <p:spPr>
          <a:xfrm rot="18778718">
            <a:off x="7161213" y="4616450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dirty="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5372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5373" name="Rectangle 9"/>
          <p:cNvSpPr>
            <a:spLocks noChangeArrowheads="1"/>
          </p:cNvSpPr>
          <p:nvPr/>
        </p:nvSpPr>
        <p:spPr bwMode="auto">
          <a:xfrm>
            <a:off x="685800" y="1598038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h.</a:t>
            </a:r>
          </a:p>
        </p:txBody>
      </p:sp>
      <p:pic>
        <p:nvPicPr>
          <p:cNvPr id="15376" name="Picture 25" descr="Office Objects 05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ight Triangle 26"/>
          <p:cNvSpPr/>
          <p:nvPr/>
        </p:nvSpPr>
        <p:spPr>
          <a:xfrm>
            <a:off x="5549900" y="3213100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5562600" y="4622800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5379" name="TextBox 30"/>
          <p:cNvSpPr txBox="1">
            <a:spLocks noChangeArrowheads="1"/>
          </p:cNvSpPr>
          <p:nvPr/>
        </p:nvSpPr>
        <p:spPr bwMode="auto">
          <a:xfrm>
            <a:off x="7035800" y="2844800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dirty="0"/>
              <a:t>h</a:t>
            </a:r>
          </a:p>
        </p:txBody>
      </p:sp>
      <p:sp>
        <p:nvSpPr>
          <p:cNvPr id="15380" name="TextBox 32"/>
          <p:cNvSpPr txBox="1">
            <a:spLocks noChangeArrowheads="1"/>
          </p:cNvSpPr>
          <p:nvPr/>
        </p:nvSpPr>
        <p:spPr bwMode="auto">
          <a:xfrm>
            <a:off x="4894263" y="4700588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5381" name="TextBox 33"/>
          <p:cNvSpPr txBox="1">
            <a:spLocks noChangeArrowheads="1"/>
          </p:cNvSpPr>
          <p:nvPr/>
        </p:nvSpPr>
        <p:spPr bwMode="auto">
          <a:xfrm>
            <a:off x="5130800" y="2908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5382" name="TextBox 34"/>
          <p:cNvSpPr txBox="1">
            <a:spLocks noChangeArrowheads="1"/>
          </p:cNvSpPr>
          <p:nvPr/>
        </p:nvSpPr>
        <p:spPr bwMode="auto">
          <a:xfrm>
            <a:off x="8686800" y="308610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5383" name="TextBox 35"/>
          <p:cNvSpPr txBox="1">
            <a:spLocks noChangeArrowheads="1"/>
          </p:cNvSpPr>
          <p:nvPr/>
        </p:nvSpPr>
        <p:spPr bwMode="auto">
          <a:xfrm>
            <a:off x="7226300" y="4775200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5384" name="TextBox 36"/>
          <p:cNvSpPr txBox="1">
            <a:spLocks noChangeArrowheads="1"/>
          </p:cNvSpPr>
          <p:nvPr/>
        </p:nvSpPr>
        <p:spPr bwMode="auto">
          <a:xfrm>
            <a:off x="8051800" y="40132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15385" name="TextBox 37"/>
          <p:cNvSpPr txBox="1">
            <a:spLocks noChangeArrowheads="1"/>
          </p:cNvSpPr>
          <p:nvPr/>
        </p:nvSpPr>
        <p:spPr bwMode="auto">
          <a:xfrm>
            <a:off x="5969000" y="48768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15386" name="TextBox 38"/>
          <p:cNvSpPr txBox="1">
            <a:spLocks noChangeArrowheads="1"/>
          </p:cNvSpPr>
          <p:nvPr/>
        </p:nvSpPr>
        <p:spPr bwMode="auto">
          <a:xfrm>
            <a:off x="4889500" y="37084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9895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ight Triangle 27"/>
          <p:cNvSpPr/>
          <p:nvPr/>
        </p:nvSpPr>
        <p:spPr>
          <a:xfrm rot="18829116">
            <a:off x="6117431" y="2129632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ectangle 29"/>
          <p:cNvSpPr/>
          <p:nvPr/>
        </p:nvSpPr>
        <p:spPr>
          <a:xfrm rot="18778718">
            <a:off x="7161213" y="4616450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dirty="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5372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5373" name="Rectangle 9"/>
          <p:cNvSpPr>
            <a:spLocks noChangeArrowheads="1"/>
          </p:cNvSpPr>
          <p:nvPr/>
        </p:nvSpPr>
        <p:spPr bwMode="auto">
          <a:xfrm>
            <a:off x="685800" y="1598038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h.</a:t>
            </a:r>
          </a:p>
        </p:txBody>
      </p:sp>
      <p:graphicFrame>
        <p:nvGraphicFramePr>
          <p:cNvPr id="110602" name="Object 10"/>
          <p:cNvGraphicFramePr>
            <a:graphicFrameLocks noChangeAspect="1"/>
          </p:cNvGraphicFramePr>
          <p:nvPr/>
        </p:nvGraphicFramePr>
        <p:xfrm>
          <a:off x="1125538" y="3135313"/>
          <a:ext cx="33432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3" imgW="1485720" imgH="228600" progId="Equation.DSMT4">
                  <p:embed/>
                </p:oleObj>
              </mc:Choice>
              <mc:Fallback>
                <p:oleObj name="Equation" r:id="rId3" imgW="1485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3135313"/>
                        <a:ext cx="3343275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3" name="Object 11"/>
          <p:cNvGraphicFramePr>
            <a:graphicFrameLocks noChangeAspect="1"/>
          </p:cNvGraphicFramePr>
          <p:nvPr/>
        </p:nvGraphicFramePr>
        <p:xfrm>
          <a:off x="1125538" y="3859213"/>
          <a:ext cx="2628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5" imgW="1168200" imgH="228600" progId="Equation.DSMT4">
                  <p:embed/>
                </p:oleObj>
              </mc:Choice>
              <mc:Fallback>
                <p:oleObj name="Equation" r:id="rId5" imgW="1168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3859213"/>
                        <a:ext cx="26289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1125538" y="4598988"/>
          <a:ext cx="1690687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Equation" r:id="rId7" imgW="838080" imgH="228600" progId="Equation.DSMT4">
                  <p:embed/>
                </p:oleObj>
              </mc:Choice>
              <mc:Fallback>
                <p:oleObj name="Equation" r:id="rId7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4598988"/>
                        <a:ext cx="1690687" cy="49053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1125538" y="5349875"/>
          <a:ext cx="15875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Equation" r:id="rId9" imgW="787320" imgH="228600" progId="Equation.DSMT4">
                  <p:embed/>
                </p:oleObj>
              </mc:Choice>
              <mc:Fallback>
                <p:oleObj name="Equation" r:id="rId9" imgW="787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5349875"/>
                        <a:ext cx="1587500" cy="49053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76" name="Picture 25" descr="Office Objects 057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ight Triangle 26"/>
          <p:cNvSpPr/>
          <p:nvPr/>
        </p:nvSpPr>
        <p:spPr>
          <a:xfrm>
            <a:off x="5549900" y="3213100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5562600" y="4622800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5379" name="TextBox 30"/>
          <p:cNvSpPr txBox="1">
            <a:spLocks noChangeArrowheads="1"/>
          </p:cNvSpPr>
          <p:nvPr/>
        </p:nvSpPr>
        <p:spPr bwMode="auto">
          <a:xfrm>
            <a:off x="7035800" y="2844800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dirty="0"/>
              <a:t>h</a:t>
            </a:r>
          </a:p>
        </p:txBody>
      </p:sp>
      <p:sp>
        <p:nvSpPr>
          <p:cNvPr id="15380" name="TextBox 32"/>
          <p:cNvSpPr txBox="1">
            <a:spLocks noChangeArrowheads="1"/>
          </p:cNvSpPr>
          <p:nvPr/>
        </p:nvSpPr>
        <p:spPr bwMode="auto">
          <a:xfrm>
            <a:off x="4894263" y="4700588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5381" name="TextBox 33"/>
          <p:cNvSpPr txBox="1">
            <a:spLocks noChangeArrowheads="1"/>
          </p:cNvSpPr>
          <p:nvPr/>
        </p:nvSpPr>
        <p:spPr bwMode="auto">
          <a:xfrm>
            <a:off x="5130800" y="2908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5382" name="TextBox 34"/>
          <p:cNvSpPr txBox="1">
            <a:spLocks noChangeArrowheads="1"/>
          </p:cNvSpPr>
          <p:nvPr/>
        </p:nvSpPr>
        <p:spPr bwMode="auto">
          <a:xfrm>
            <a:off x="8686800" y="308610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5383" name="TextBox 35"/>
          <p:cNvSpPr txBox="1">
            <a:spLocks noChangeArrowheads="1"/>
          </p:cNvSpPr>
          <p:nvPr/>
        </p:nvSpPr>
        <p:spPr bwMode="auto">
          <a:xfrm>
            <a:off x="7226300" y="4775200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5384" name="TextBox 36"/>
          <p:cNvSpPr txBox="1">
            <a:spLocks noChangeArrowheads="1"/>
          </p:cNvSpPr>
          <p:nvPr/>
        </p:nvSpPr>
        <p:spPr bwMode="auto">
          <a:xfrm>
            <a:off x="8051800" y="40132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15385" name="TextBox 37"/>
          <p:cNvSpPr txBox="1">
            <a:spLocks noChangeArrowheads="1"/>
          </p:cNvSpPr>
          <p:nvPr/>
        </p:nvSpPr>
        <p:spPr bwMode="auto">
          <a:xfrm>
            <a:off x="5969000" y="48768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15386" name="TextBox 38"/>
          <p:cNvSpPr txBox="1">
            <a:spLocks noChangeArrowheads="1"/>
          </p:cNvSpPr>
          <p:nvPr/>
        </p:nvSpPr>
        <p:spPr bwMode="auto">
          <a:xfrm>
            <a:off x="4889500" y="37084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  <p:sp>
        <p:nvSpPr>
          <p:cNvPr id="4" name="TextBox 39"/>
          <p:cNvSpPr txBox="1">
            <a:spLocks noChangeArrowheads="1"/>
          </p:cNvSpPr>
          <p:nvPr/>
        </p:nvSpPr>
        <p:spPr bwMode="auto">
          <a:xfrm>
            <a:off x="1015052" y="2249429"/>
            <a:ext cx="3078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 smtClean="0"/>
              <a:t>Answer:</a:t>
            </a:r>
          </a:p>
          <a:p>
            <a:pPr eaLnBrk="1" hangingPunct="1"/>
            <a:r>
              <a:rPr lang="en-GB" sz="2400" dirty="0" smtClean="0"/>
              <a:t>Find </a:t>
            </a:r>
            <a:r>
              <a:rPr lang="en-GB" sz="2400" dirty="0"/>
              <a:t>length BD first</a:t>
            </a:r>
          </a:p>
        </p:txBody>
      </p:sp>
      <p:graphicFrame>
        <p:nvGraphicFramePr>
          <p:cNvPr id="3" name="Object 14"/>
          <p:cNvGraphicFramePr>
            <a:graphicFrameLocks noChangeAspect="1"/>
          </p:cNvGraphicFramePr>
          <p:nvPr/>
        </p:nvGraphicFramePr>
        <p:xfrm>
          <a:off x="1125538" y="6067425"/>
          <a:ext cx="15875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Equation" r:id="rId12" imgW="787320" imgH="177480" progId="Equation.DSMT4">
                  <p:embed/>
                </p:oleObj>
              </mc:Choice>
              <mc:Fallback>
                <p:oleObj name="Equation" r:id="rId12" imgW="787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6067425"/>
                        <a:ext cx="1587500" cy="3825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6"/>
          <p:cNvGraphicFramePr>
            <a:graphicFrameLocks noChangeAspect="1"/>
          </p:cNvGraphicFramePr>
          <p:nvPr/>
        </p:nvGraphicFramePr>
        <p:xfrm>
          <a:off x="6427788" y="3781425"/>
          <a:ext cx="7524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Equation" r:id="rId14" imgW="419040" imgH="177480" progId="Equation.DSMT4">
                  <p:embed/>
                </p:oleObj>
              </mc:Choice>
              <mc:Fallback>
                <p:oleObj name="Equation" r:id="rId14" imgW="419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3781425"/>
                        <a:ext cx="7524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1C1C1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Straight Connector 31"/>
          <p:cNvCxnSpPr/>
          <p:nvPr/>
        </p:nvCxnSpPr>
        <p:spPr>
          <a:xfrm flipH="1">
            <a:off x="5556250" y="3170238"/>
            <a:ext cx="0" cy="167957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10800000" flipH="1" flipV="1">
            <a:off x="5578475" y="3222625"/>
            <a:ext cx="1685925" cy="16398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16200000" flipH="1">
            <a:off x="6365875" y="4006851"/>
            <a:ext cx="3175" cy="168910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01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ight Triangle 27"/>
          <p:cNvSpPr/>
          <p:nvPr/>
        </p:nvSpPr>
        <p:spPr>
          <a:xfrm rot="18829116">
            <a:off x="6117431" y="2129632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ight Triangle 26"/>
          <p:cNvSpPr/>
          <p:nvPr/>
        </p:nvSpPr>
        <p:spPr>
          <a:xfrm>
            <a:off x="5549900" y="3213100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dirty="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6397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6398" name="Rectangle 9"/>
          <p:cNvSpPr>
            <a:spLocks noChangeArrowheads="1"/>
          </p:cNvSpPr>
          <p:nvPr/>
        </p:nvSpPr>
        <p:spPr bwMode="auto">
          <a:xfrm>
            <a:off x="683568" y="1414175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length </a:t>
            </a:r>
            <a:r>
              <a:rPr lang="en-GB" sz="3200" dirty="0" smtClean="0"/>
              <a:t>h.</a:t>
            </a:r>
            <a:endParaRPr lang="en-GB" sz="3200" dirty="0"/>
          </a:p>
        </p:txBody>
      </p:sp>
      <p:graphicFrame>
        <p:nvGraphicFramePr>
          <p:cNvPr id="110602" name="Object 10"/>
          <p:cNvGraphicFramePr>
            <a:graphicFrameLocks noChangeAspect="1"/>
          </p:cNvGraphicFramePr>
          <p:nvPr/>
        </p:nvGraphicFramePr>
        <p:xfrm>
          <a:off x="1268413" y="3082925"/>
          <a:ext cx="33718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Equation" r:id="rId3" imgW="1498320" imgH="228600" progId="Equation.DSMT4">
                  <p:embed/>
                </p:oleObj>
              </mc:Choice>
              <mc:Fallback>
                <p:oleObj name="Equation" r:id="rId3" imgW="1498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3082925"/>
                        <a:ext cx="337185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3" name="Object 11"/>
          <p:cNvGraphicFramePr>
            <a:graphicFrameLocks noChangeAspect="1"/>
          </p:cNvGraphicFramePr>
          <p:nvPr/>
        </p:nvGraphicFramePr>
        <p:xfrm>
          <a:off x="1268413" y="3649663"/>
          <a:ext cx="285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Equation" r:id="rId5" imgW="1269720" imgH="228600" progId="Equation.DSMT4">
                  <p:embed/>
                </p:oleObj>
              </mc:Choice>
              <mc:Fallback>
                <p:oleObj name="Equation" r:id="rId5" imgW="1269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3649663"/>
                        <a:ext cx="28575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1268413" y="4214813"/>
          <a:ext cx="2740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Equation" r:id="rId7" imgW="1358640" imgH="228600" progId="Equation.DSMT4">
                  <p:embed/>
                </p:oleObj>
              </mc:Choice>
              <mc:Fallback>
                <p:oleObj name="Equation" r:id="rId7" imgW="1358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4214813"/>
                        <a:ext cx="2740025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1268413" y="4762500"/>
          <a:ext cx="20240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Equation" r:id="rId9" imgW="1002960" imgH="203040" progId="Equation.DSMT4">
                  <p:embed/>
                </p:oleObj>
              </mc:Choice>
              <mc:Fallback>
                <p:oleObj name="Equation" r:id="rId9" imgW="1002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4762500"/>
                        <a:ext cx="2024062" cy="4381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401" name="Picture 25" descr="Office Objects 057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5562600" y="4622800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ectangle 29"/>
          <p:cNvSpPr/>
          <p:nvPr/>
        </p:nvSpPr>
        <p:spPr>
          <a:xfrm rot="18778718">
            <a:off x="7161213" y="4630737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6404" name="TextBox 30"/>
          <p:cNvSpPr txBox="1">
            <a:spLocks noChangeArrowheads="1"/>
          </p:cNvSpPr>
          <p:nvPr/>
        </p:nvSpPr>
        <p:spPr bwMode="auto">
          <a:xfrm>
            <a:off x="7035800" y="2789238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6405" name="TextBox 32"/>
          <p:cNvSpPr txBox="1">
            <a:spLocks noChangeArrowheads="1"/>
          </p:cNvSpPr>
          <p:nvPr/>
        </p:nvSpPr>
        <p:spPr bwMode="auto">
          <a:xfrm>
            <a:off x="5170488" y="4673600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6406" name="TextBox 33"/>
          <p:cNvSpPr txBox="1">
            <a:spLocks noChangeArrowheads="1"/>
          </p:cNvSpPr>
          <p:nvPr/>
        </p:nvSpPr>
        <p:spPr bwMode="auto">
          <a:xfrm>
            <a:off x="5130800" y="2908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6407" name="TextBox 34"/>
          <p:cNvSpPr txBox="1">
            <a:spLocks noChangeArrowheads="1"/>
          </p:cNvSpPr>
          <p:nvPr/>
        </p:nvSpPr>
        <p:spPr bwMode="auto">
          <a:xfrm>
            <a:off x="8616950" y="3030538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6408" name="TextBox 35"/>
          <p:cNvSpPr txBox="1">
            <a:spLocks noChangeArrowheads="1"/>
          </p:cNvSpPr>
          <p:nvPr/>
        </p:nvSpPr>
        <p:spPr bwMode="auto">
          <a:xfrm>
            <a:off x="7162800" y="4802188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6409" name="TextBox 36"/>
          <p:cNvSpPr txBox="1">
            <a:spLocks noChangeArrowheads="1"/>
          </p:cNvSpPr>
          <p:nvPr/>
        </p:nvSpPr>
        <p:spPr bwMode="auto">
          <a:xfrm>
            <a:off x="8051800" y="40132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16410" name="TextBox 37"/>
          <p:cNvSpPr txBox="1">
            <a:spLocks noChangeArrowheads="1"/>
          </p:cNvSpPr>
          <p:nvPr/>
        </p:nvSpPr>
        <p:spPr bwMode="auto">
          <a:xfrm>
            <a:off x="5969000" y="48768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16411" name="TextBox 38"/>
          <p:cNvSpPr txBox="1">
            <a:spLocks noChangeArrowheads="1"/>
          </p:cNvSpPr>
          <p:nvPr/>
        </p:nvSpPr>
        <p:spPr bwMode="auto">
          <a:xfrm>
            <a:off x="4889500" y="37084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  <p:sp>
        <p:nvSpPr>
          <p:cNvPr id="5" name="TextBox 39"/>
          <p:cNvSpPr txBox="1">
            <a:spLocks noChangeArrowheads="1"/>
          </p:cNvSpPr>
          <p:nvPr/>
        </p:nvSpPr>
        <p:spPr bwMode="auto">
          <a:xfrm>
            <a:off x="990600" y="2552700"/>
            <a:ext cx="1749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Now find h</a:t>
            </a: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1268413" y="5257800"/>
          <a:ext cx="13319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Equation" r:id="rId12" imgW="660240" imgH="228600" progId="Equation.DSMT4">
                  <p:embed/>
                </p:oleObj>
              </mc:Choice>
              <mc:Fallback>
                <p:oleObj name="Equation" r:id="rId12" imgW="660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5257800"/>
                        <a:ext cx="1331912" cy="4921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1268413" y="5808663"/>
          <a:ext cx="27400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Equation" r:id="rId14" imgW="1358640" imgH="203040" progId="Equation.DSMT4">
                  <p:embed/>
                </p:oleObj>
              </mc:Choice>
              <mc:Fallback>
                <p:oleObj name="Equation" r:id="rId14" imgW="1358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5808663"/>
                        <a:ext cx="2740025" cy="4381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Straight Connector 35"/>
          <p:cNvCxnSpPr/>
          <p:nvPr/>
        </p:nvCxnSpPr>
        <p:spPr>
          <a:xfrm rot="5400000">
            <a:off x="7220744" y="3404394"/>
            <a:ext cx="1504950" cy="1468438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Object 26"/>
          <p:cNvGraphicFramePr>
            <a:graphicFrameLocks noChangeAspect="1"/>
          </p:cNvGraphicFramePr>
          <p:nvPr/>
        </p:nvGraphicFramePr>
        <p:xfrm>
          <a:off x="6515100" y="3811588"/>
          <a:ext cx="66675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Equation" r:id="rId16" imgW="419040" imgH="228600" progId="Equation.DSMT4">
                  <p:embed/>
                </p:oleObj>
              </mc:Choice>
              <mc:Fallback>
                <p:oleObj name="Equation" r:id="rId16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3811588"/>
                        <a:ext cx="666750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1C1C1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4" name="Straight Connector 63"/>
          <p:cNvCxnSpPr/>
          <p:nvPr/>
        </p:nvCxnSpPr>
        <p:spPr>
          <a:xfrm flipH="1">
            <a:off x="5556250" y="3170238"/>
            <a:ext cx="0" cy="167957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16200000" flipH="1">
            <a:off x="6365875" y="4006851"/>
            <a:ext cx="3175" cy="168910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27" idx="0"/>
          </p:cNvCxnSpPr>
          <p:nvPr/>
        </p:nvCxnSpPr>
        <p:spPr>
          <a:xfrm rot="10800000">
            <a:off x="5549900" y="3213100"/>
            <a:ext cx="3132138" cy="2016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rot="16200000" flipH="1">
            <a:off x="5584826" y="3182937"/>
            <a:ext cx="1638300" cy="169862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6200000" flipH="1">
            <a:off x="5587207" y="3171031"/>
            <a:ext cx="1663700" cy="17383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06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arallelogram 40"/>
          <p:cNvSpPr/>
          <p:nvPr/>
        </p:nvSpPr>
        <p:spPr>
          <a:xfrm>
            <a:off x="5422900" y="4965700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dirty="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7420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7421" name="Rectangle 9"/>
          <p:cNvSpPr>
            <a:spLocks noChangeArrowheads="1"/>
          </p:cNvSpPr>
          <p:nvPr/>
        </p:nvSpPr>
        <p:spPr bwMode="auto">
          <a:xfrm>
            <a:off x="-250509" y="1706563"/>
            <a:ext cx="93965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pic>
        <p:nvPicPr>
          <p:cNvPr id="17424" name="Picture 25" descr="Office Objects 05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6" name="Straight Connector 45"/>
          <p:cNvCxnSpPr/>
          <p:nvPr/>
        </p:nvCxnSpPr>
        <p:spPr>
          <a:xfrm rot="16200000" flipV="1">
            <a:off x="5149850" y="4095750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7" name="TextBox 32"/>
          <p:cNvSpPr txBox="1">
            <a:spLocks noChangeArrowheads="1"/>
          </p:cNvSpPr>
          <p:nvPr/>
        </p:nvSpPr>
        <p:spPr bwMode="auto">
          <a:xfrm>
            <a:off x="5003800" y="5397500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7428" name="TextBox 33"/>
          <p:cNvSpPr txBox="1">
            <a:spLocks noChangeArrowheads="1"/>
          </p:cNvSpPr>
          <p:nvPr/>
        </p:nvSpPr>
        <p:spPr bwMode="auto">
          <a:xfrm>
            <a:off x="4978400" y="3543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7429" name="TextBox 34"/>
          <p:cNvSpPr txBox="1">
            <a:spLocks noChangeArrowheads="1"/>
          </p:cNvSpPr>
          <p:nvPr/>
        </p:nvSpPr>
        <p:spPr bwMode="auto">
          <a:xfrm>
            <a:off x="7569200" y="364490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7430" name="TextBox 35"/>
          <p:cNvSpPr txBox="1">
            <a:spLocks noChangeArrowheads="1"/>
          </p:cNvSpPr>
          <p:nvPr/>
        </p:nvSpPr>
        <p:spPr bwMode="auto">
          <a:xfrm>
            <a:off x="7531100" y="5435600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7431" name="TextBox 32"/>
          <p:cNvSpPr txBox="1">
            <a:spLocks noChangeArrowheads="1"/>
          </p:cNvSpPr>
          <p:nvPr/>
        </p:nvSpPr>
        <p:spPr bwMode="auto">
          <a:xfrm>
            <a:off x="5600700" y="4584700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17432" name="TextBox 33"/>
          <p:cNvSpPr txBox="1">
            <a:spLocks noChangeArrowheads="1"/>
          </p:cNvSpPr>
          <p:nvPr/>
        </p:nvSpPr>
        <p:spPr bwMode="auto">
          <a:xfrm>
            <a:off x="5600700" y="2832100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17433" name="TextBox 34"/>
          <p:cNvSpPr txBox="1">
            <a:spLocks noChangeArrowheads="1"/>
          </p:cNvSpPr>
          <p:nvPr/>
        </p:nvSpPr>
        <p:spPr bwMode="auto">
          <a:xfrm>
            <a:off x="8166100" y="2832100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17434" name="TextBox 35"/>
          <p:cNvSpPr txBox="1">
            <a:spLocks noChangeArrowheads="1"/>
          </p:cNvSpPr>
          <p:nvPr/>
        </p:nvSpPr>
        <p:spPr bwMode="auto">
          <a:xfrm>
            <a:off x="8162925" y="4678363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7435" name="TextBox 36"/>
          <p:cNvSpPr txBox="1">
            <a:spLocks noChangeArrowheads="1"/>
          </p:cNvSpPr>
          <p:nvPr/>
        </p:nvSpPr>
        <p:spPr bwMode="auto">
          <a:xfrm>
            <a:off x="7937500" y="51181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17436" name="TextBox 37"/>
          <p:cNvSpPr txBox="1">
            <a:spLocks noChangeArrowheads="1"/>
          </p:cNvSpPr>
          <p:nvPr/>
        </p:nvSpPr>
        <p:spPr bwMode="auto">
          <a:xfrm>
            <a:off x="6299200" y="55626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17437" name="TextBox 37"/>
          <p:cNvSpPr txBox="1">
            <a:spLocks noChangeArrowheads="1"/>
          </p:cNvSpPr>
          <p:nvPr/>
        </p:nvSpPr>
        <p:spPr bwMode="auto">
          <a:xfrm>
            <a:off x="8243888" y="3759200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cxnSp>
        <p:nvCxnSpPr>
          <p:cNvPr id="36" name="Straight Connector 35"/>
          <p:cNvCxnSpPr/>
          <p:nvPr/>
        </p:nvCxnSpPr>
        <p:spPr>
          <a:xfrm rot="5400000">
            <a:off x="7261226" y="4079875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5448300" y="3225800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5410200" y="4953000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435600" y="3771900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2" name="Parallelogram 41"/>
          <p:cNvSpPr/>
          <p:nvPr/>
        </p:nvSpPr>
        <p:spPr>
          <a:xfrm>
            <a:off x="5422900" y="3213100"/>
            <a:ext cx="2743200" cy="558800"/>
          </a:xfrm>
          <a:prstGeom prst="parallelogram">
            <a:avLst>
              <a:gd name="adj" fmla="val 107852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0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arallelogram 40"/>
          <p:cNvSpPr/>
          <p:nvPr/>
        </p:nvSpPr>
        <p:spPr>
          <a:xfrm>
            <a:off x="5422900" y="4965700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2" name="Freeform 61"/>
          <p:cNvSpPr/>
          <p:nvPr/>
        </p:nvSpPr>
        <p:spPr>
          <a:xfrm>
            <a:off x="7356475" y="5375275"/>
            <a:ext cx="290513" cy="149225"/>
          </a:xfrm>
          <a:custGeom>
            <a:avLst/>
            <a:gdLst>
              <a:gd name="connsiteX0" fmla="*/ 219075 w 219075"/>
              <a:gd name="connsiteY0" fmla="*/ 4762 h 95250"/>
              <a:gd name="connsiteX1" fmla="*/ 52387 w 219075"/>
              <a:gd name="connsiteY1" fmla="*/ 0 h 95250"/>
              <a:gd name="connsiteX2" fmla="*/ 0 w 219075"/>
              <a:gd name="connsiteY2" fmla="*/ 95250 h 95250"/>
              <a:gd name="connsiteX3" fmla="*/ 161925 w 219075"/>
              <a:gd name="connsiteY3" fmla="*/ 95250 h 95250"/>
              <a:gd name="connsiteX4" fmla="*/ 219075 w 219075"/>
              <a:gd name="connsiteY4" fmla="*/ 4762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" h="95250">
                <a:moveTo>
                  <a:pt x="219075" y="4762"/>
                </a:moveTo>
                <a:lnTo>
                  <a:pt x="52387" y="0"/>
                </a:lnTo>
                <a:lnTo>
                  <a:pt x="0" y="95250"/>
                </a:lnTo>
                <a:lnTo>
                  <a:pt x="161925" y="95250"/>
                </a:lnTo>
                <a:lnTo>
                  <a:pt x="219075" y="4762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3" name="Freeform 62"/>
          <p:cNvSpPr/>
          <p:nvPr/>
        </p:nvSpPr>
        <p:spPr>
          <a:xfrm>
            <a:off x="7966075" y="4738688"/>
            <a:ext cx="204788" cy="238125"/>
          </a:xfrm>
          <a:custGeom>
            <a:avLst/>
            <a:gdLst>
              <a:gd name="connsiteX0" fmla="*/ 145041 w 162661"/>
              <a:gd name="connsiteY0" fmla="*/ 0 h 162030"/>
              <a:gd name="connsiteX1" fmla="*/ 11691 w 162661"/>
              <a:gd name="connsiteY1" fmla="*/ 33337 h 162030"/>
              <a:gd name="connsiteX2" fmla="*/ 16453 w 162661"/>
              <a:gd name="connsiteY2" fmla="*/ 147637 h 162030"/>
              <a:gd name="connsiteX3" fmla="*/ 64078 w 162661"/>
              <a:gd name="connsiteY3" fmla="*/ 142875 h 162030"/>
              <a:gd name="connsiteX4" fmla="*/ 92653 w 162661"/>
              <a:gd name="connsiteY4" fmla="*/ 133350 h 162030"/>
              <a:gd name="connsiteX5" fmla="*/ 106941 w 162661"/>
              <a:gd name="connsiteY5" fmla="*/ 128587 h 162030"/>
              <a:gd name="connsiteX6" fmla="*/ 140278 w 162661"/>
              <a:gd name="connsiteY6" fmla="*/ 128587 h 162030"/>
              <a:gd name="connsiteX7" fmla="*/ 140278 w 162661"/>
              <a:gd name="connsiteY7" fmla="*/ 128587 h 162030"/>
              <a:gd name="connsiteX8" fmla="*/ 145041 w 162661"/>
              <a:gd name="connsiteY8" fmla="*/ 0 h 162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661" h="162030">
                <a:moveTo>
                  <a:pt x="145041" y="0"/>
                </a:moveTo>
                <a:lnTo>
                  <a:pt x="11691" y="33337"/>
                </a:lnTo>
                <a:cubicBezTo>
                  <a:pt x="13278" y="71437"/>
                  <a:pt x="0" y="113236"/>
                  <a:pt x="16453" y="147637"/>
                </a:cubicBezTo>
                <a:cubicBezTo>
                  <a:pt x="23336" y="162030"/>
                  <a:pt x="48397" y="145815"/>
                  <a:pt x="64078" y="142875"/>
                </a:cubicBezTo>
                <a:cubicBezTo>
                  <a:pt x="73946" y="141025"/>
                  <a:pt x="83128" y="136525"/>
                  <a:pt x="92653" y="133350"/>
                </a:cubicBezTo>
                <a:cubicBezTo>
                  <a:pt x="97416" y="131762"/>
                  <a:pt x="101951" y="129141"/>
                  <a:pt x="106941" y="128587"/>
                </a:cubicBezTo>
                <a:cubicBezTo>
                  <a:pt x="153331" y="123433"/>
                  <a:pt x="162661" y="117397"/>
                  <a:pt x="140278" y="128587"/>
                </a:cubicBezTo>
                <a:lnTo>
                  <a:pt x="140278" y="128587"/>
                </a:lnTo>
                <a:lnTo>
                  <a:pt x="145041" y="0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0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8AAB25-DF07-42F0-9138-3CDBEAF21B40}" type="datetime5">
              <a:rPr lang="en-GB"/>
              <a:pPr>
                <a:defRPr/>
              </a:pPr>
              <a:t>27-Aug-18</a:t>
            </a:fld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dirty="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7420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7421" name="Rectangle 9"/>
          <p:cNvSpPr>
            <a:spLocks noChangeArrowheads="1"/>
          </p:cNvSpPr>
          <p:nvPr/>
        </p:nvSpPr>
        <p:spPr bwMode="auto">
          <a:xfrm>
            <a:off x="-250509" y="1556792"/>
            <a:ext cx="93965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graphicFrame>
        <p:nvGraphicFramePr>
          <p:cNvPr id="110602" name="Object 10"/>
          <p:cNvGraphicFramePr>
            <a:graphicFrameLocks noChangeAspect="1"/>
          </p:cNvGraphicFramePr>
          <p:nvPr/>
        </p:nvGraphicFramePr>
        <p:xfrm>
          <a:off x="1055688" y="3084513"/>
          <a:ext cx="34290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3" imgW="1523880" imgH="228600" progId="Equation.DSMT4">
                  <p:embed/>
                </p:oleObj>
              </mc:Choice>
              <mc:Fallback>
                <p:oleObj name="Equation" r:id="rId3" imgW="1523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3084513"/>
                        <a:ext cx="3429000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3" name="Object 11"/>
          <p:cNvGraphicFramePr>
            <a:graphicFrameLocks noChangeAspect="1"/>
          </p:cNvGraphicFramePr>
          <p:nvPr/>
        </p:nvGraphicFramePr>
        <p:xfrm>
          <a:off x="1055688" y="3646488"/>
          <a:ext cx="23431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5" imgW="1041120" imgH="228600" progId="Equation.DSMT4">
                  <p:embed/>
                </p:oleObj>
              </mc:Choice>
              <mc:Fallback>
                <p:oleObj name="Equation" r:id="rId5" imgW="1041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3646488"/>
                        <a:ext cx="2343150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1055688" y="4208463"/>
          <a:ext cx="22018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7" imgW="1091880" imgH="228600" progId="Equation.DSMT4">
                  <p:embed/>
                </p:oleObj>
              </mc:Choice>
              <mc:Fallback>
                <p:oleObj name="Equation" r:id="rId7" imgW="1091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4208463"/>
                        <a:ext cx="2201862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1055688" y="4751388"/>
          <a:ext cx="161448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Equation" r:id="rId9" imgW="799920" imgH="228600" progId="Equation.DSMT4">
                  <p:embed/>
                </p:oleObj>
              </mc:Choice>
              <mc:Fallback>
                <p:oleObj name="Equation" r:id="rId9" imgW="799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4751388"/>
                        <a:ext cx="1614487" cy="4937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24" name="Picture 25" descr="Office Objects 057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39"/>
          <p:cNvSpPr txBox="1">
            <a:spLocks noChangeArrowheads="1"/>
          </p:cNvSpPr>
          <p:nvPr/>
        </p:nvSpPr>
        <p:spPr bwMode="auto">
          <a:xfrm>
            <a:off x="927958" y="2252636"/>
            <a:ext cx="21291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 smtClean="0"/>
              <a:t>Answer:</a:t>
            </a:r>
          </a:p>
          <a:p>
            <a:pPr eaLnBrk="1" hangingPunct="1"/>
            <a:r>
              <a:rPr lang="en-GB" sz="2400" dirty="0" smtClean="0"/>
              <a:t>Find </a:t>
            </a:r>
            <a:r>
              <a:rPr lang="en-GB" sz="2400" dirty="0"/>
              <a:t>AH first</a:t>
            </a: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1055688" y="5300663"/>
          <a:ext cx="16129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12" imgW="799920" imgH="177480" progId="Equation.DSMT4">
                  <p:embed/>
                </p:oleObj>
              </mc:Choice>
              <mc:Fallback>
                <p:oleObj name="Equation" r:id="rId12" imgW="7999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5300663"/>
                        <a:ext cx="1612900" cy="38258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Straight Connector 45"/>
          <p:cNvCxnSpPr/>
          <p:nvPr/>
        </p:nvCxnSpPr>
        <p:spPr>
          <a:xfrm rot="16200000" flipV="1">
            <a:off x="5149850" y="4095750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7" name="TextBox 32"/>
          <p:cNvSpPr txBox="1">
            <a:spLocks noChangeArrowheads="1"/>
          </p:cNvSpPr>
          <p:nvPr/>
        </p:nvSpPr>
        <p:spPr bwMode="auto">
          <a:xfrm>
            <a:off x="5003800" y="5397500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7428" name="TextBox 33"/>
          <p:cNvSpPr txBox="1">
            <a:spLocks noChangeArrowheads="1"/>
          </p:cNvSpPr>
          <p:nvPr/>
        </p:nvSpPr>
        <p:spPr bwMode="auto">
          <a:xfrm>
            <a:off x="4978400" y="3543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7429" name="TextBox 34"/>
          <p:cNvSpPr txBox="1">
            <a:spLocks noChangeArrowheads="1"/>
          </p:cNvSpPr>
          <p:nvPr/>
        </p:nvSpPr>
        <p:spPr bwMode="auto">
          <a:xfrm>
            <a:off x="7569200" y="364490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7430" name="TextBox 35"/>
          <p:cNvSpPr txBox="1">
            <a:spLocks noChangeArrowheads="1"/>
          </p:cNvSpPr>
          <p:nvPr/>
        </p:nvSpPr>
        <p:spPr bwMode="auto">
          <a:xfrm>
            <a:off x="7531100" y="5435600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7431" name="TextBox 32"/>
          <p:cNvSpPr txBox="1">
            <a:spLocks noChangeArrowheads="1"/>
          </p:cNvSpPr>
          <p:nvPr/>
        </p:nvSpPr>
        <p:spPr bwMode="auto">
          <a:xfrm>
            <a:off x="5600700" y="4584700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17432" name="TextBox 33"/>
          <p:cNvSpPr txBox="1">
            <a:spLocks noChangeArrowheads="1"/>
          </p:cNvSpPr>
          <p:nvPr/>
        </p:nvSpPr>
        <p:spPr bwMode="auto">
          <a:xfrm>
            <a:off x="5600700" y="2832100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17433" name="TextBox 34"/>
          <p:cNvSpPr txBox="1">
            <a:spLocks noChangeArrowheads="1"/>
          </p:cNvSpPr>
          <p:nvPr/>
        </p:nvSpPr>
        <p:spPr bwMode="auto">
          <a:xfrm>
            <a:off x="8166100" y="2832100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17434" name="TextBox 35"/>
          <p:cNvSpPr txBox="1">
            <a:spLocks noChangeArrowheads="1"/>
          </p:cNvSpPr>
          <p:nvPr/>
        </p:nvSpPr>
        <p:spPr bwMode="auto">
          <a:xfrm>
            <a:off x="8162925" y="4678363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7435" name="TextBox 36"/>
          <p:cNvSpPr txBox="1">
            <a:spLocks noChangeArrowheads="1"/>
          </p:cNvSpPr>
          <p:nvPr/>
        </p:nvSpPr>
        <p:spPr bwMode="auto">
          <a:xfrm>
            <a:off x="7937500" y="51181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17436" name="TextBox 37"/>
          <p:cNvSpPr txBox="1">
            <a:spLocks noChangeArrowheads="1"/>
          </p:cNvSpPr>
          <p:nvPr/>
        </p:nvSpPr>
        <p:spPr bwMode="auto">
          <a:xfrm>
            <a:off x="6299200" y="55626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17437" name="TextBox 37"/>
          <p:cNvSpPr txBox="1">
            <a:spLocks noChangeArrowheads="1"/>
          </p:cNvSpPr>
          <p:nvPr/>
        </p:nvSpPr>
        <p:spPr bwMode="auto">
          <a:xfrm>
            <a:off x="8243888" y="3759200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 rot="-682468">
            <a:off x="6680200" y="5118100"/>
            <a:ext cx="78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000" dirty="0"/>
              <a:t>10cm</a:t>
            </a:r>
          </a:p>
        </p:txBody>
      </p:sp>
      <p:cxnSp>
        <p:nvCxnSpPr>
          <p:cNvPr id="36" name="Straight Connector 35"/>
          <p:cNvCxnSpPr/>
          <p:nvPr/>
        </p:nvCxnSpPr>
        <p:spPr>
          <a:xfrm rot="5400000">
            <a:off x="7261226" y="4079875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5448300" y="3225800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5410200" y="4953000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435600" y="3771900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2" name="Parallelogram 41"/>
          <p:cNvSpPr/>
          <p:nvPr/>
        </p:nvSpPr>
        <p:spPr>
          <a:xfrm>
            <a:off x="5422900" y="3213100"/>
            <a:ext cx="2743200" cy="558800"/>
          </a:xfrm>
          <a:prstGeom prst="parallelogram">
            <a:avLst>
              <a:gd name="adj" fmla="val 107852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37" name="Straight Connector 36"/>
          <p:cNvCxnSpPr/>
          <p:nvPr/>
        </p:nvCxnSpPr>
        <p:spPr>
          <a:xfrm>
            <a:off x="5422900" y="5527675"/>
            <a:ext cx="2159000" cy="15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7567613" y="4953000"/>
            <a:ext cx="604837" cy="59055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400675" y="4948238"/>
            <a:ext cx="2733675" cy="576262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52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8AAB25-DF07-42F0-9138-3CDBEAF21B40}" type="datetime5">
              <a:rPr lang="en-GB"/>
              <a:pPr>
                <a:defRPr/>
              </a:pPr>
              <a:t>27-Aug-18</a:t>
            </a:fld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8441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8442" name="Rectangle 9"/>
          <p:cNvSpPr>
            <a:spLocks noChangeArrowheads="1"/>
          </p:cNvSpPr>
          <p:nvPr/>
        </p:nvSpPr>
        <p:spPr bwMode="auto">
          <a:xfrm>
            <a:off x="-371400" y="1567081"/>
            <a:ext cx="9515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graphicFrame>
        <p:nvGraphicFramePr>
          <p:cNvPr id="110602" name="Object 10"/>
          <p:cNvGraphicFramePr>
            <a:graphicFrameLocks noChangeAspect="1"/>
          </p:cNvGraphicFramePr>
          <p:nvPr/>
        </p:nvGraphicFramePr>
        <p:xfrm>
          <a:off x="1100138" y="3082925"/>
          <a:ext cx="34575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3" imgW="1536480" imgH="228600" progId="Equation.DSMT4">
                  <p:embed/>
                </p:oleObj>
              </mc:Choice>
              <mc:Fallback>
                <p:oleObj name="Equation" r:id="rId3" imgW="1536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3082925"/>
                        <a:ext cx="3457575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3" name="Object 11"/>
          <p:cNvGraphicFramePr>
            <a:graphicFrameLocks noChangeAspect="1"/>
          </p:cNvGraphicFramePr>
          <p:nvPr/>
        </p:nvGraphicFramePr>
        <p:xfrm>
          <a:off x="1100138" y="3632200"/>
          <a:ext cx="251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Equation" r:id="rId5" imgW="1117440" imgH="228600" progId="Equation.DSMT4">
                  <p:embed/>
                </p:oleObj>
              </mc:Choice>
              <mc:Fallback>
                <p:oleObj name="Equation" r:id="rId5" imgW="1117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3632200"/>
                        <a:ext cx="25146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1100138" y="4179888"/>
          <a:ext cx="23542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Equation" r:id="rId7" imgW="1168200" imgH="228600" progId="Equation.DSMT4">
                  <p:embed/>
                </p:oleObj>
              </mc:Choice>
              <mc:Fallback>
                <p:oleObj name="Equation" r:id="rId7" imgW="1168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4179888"/>
                        <a:ext cx="2354262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1100138" y="4710113"/>
          <a:ext cx="19494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Equation" r:id="rId9" imgW="965160" imgH="241200" progId="Equation.DSMT4">
                  <p:embed/>
                </p:oleObj>
              </mc:Choice>
              <mc:Fallback>
                <p:oleObj name="Equation" r:id="rId9" imgW="965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4710113"/>
                        <a:ext cx="1949450" cy="52228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45" name="Picture 25" descr="Office Objects 057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6" name="TextBox 39"/>
          <p:cNvSpPr txBox="1">
            <a:spLocks noChangeArrowheads="1"/>
          </p:cNvSpPr>
          <p:nvPr/>
        </p:nvSpPr>
        <p:spPr bwMode="auto">
          <a:xfrm>
            <a:off x="1066800" y="2552700"/>
            <a:ext cx="2005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/>
              <a:t>Now find AG</a:t>
            </a: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1100138" y="5273675"/>
          <a:ext cx="353218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12" imgW="1752480" imgH="203040" progId="Equation.DSMT4">
                  <p:embed/>
                </p:oleObj>
              </mc:Choice>
              <mc:Fallback>
                <p:oleObj name="Equation" r:id="rId12" imgW="1752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5273675"/>
                        <a:ext cx="3532187" cy="4365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Parallelogram 36"/>
          <p:cNvSpPr/>
          <p:nvPr/>
        </p:nvSpPr>
        <p:spPr>
          <a:xfrm>
            <a:off x="5422900" y="4965700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8" name="Freeform 37"/>
          <p:cNvSpPr/>
          <p:nvPr/>
        </p:nvSpPr>
        <p:spPr>
          <a:xfrm>
            <a:off x="7951788" y="4738688"/>
            <a:ext cx="204787" cy="238125"/>
          </a:xfrm>
          <a:custGeom>
            <a:avLst/>
            <a:gdLst>
              <a:gd name="connsiteX0" fmla="*/ 145041 w 162661"/>
              <a:gd name="connsiteY0" fmla="*/ 0 h 162030"/>
              <a:gd name="connsiteX1" fmla="*/ 11691 w 162661"/>
              <a:gd name="connsiteY1" fmla="*/ 33337 h 162030"/>
              <a:gd name="connsiteX2" fmla="*/ 16453 w 162661"/>
              <a:gd name="connsiteY2" fmla="*/ 147637 h 162030"/>
              <a:gd name="connsiteX3" fmla="*/ 64078 w 162661"/>
              <a:gd name="connsiteY3" fmla="*/ 142875 h 162030"/>
              <a:gd name="connsiteX4" fmla="*/ 92653 w 162661"/>
              <a:gd name="connsiteY4" fmla="*/ 133350 h 162030"/>
              <a:gd name="connsiteX5" fmla="*/ 106941 w 162661"/>
              <a:gd name="connsiteY5" fmla="*/ 128587 h 162030"/>
              <a:gd name="connsiteX6" fmla="*/ 140278 w 162661"/>
              <a:gd name="connsiteY6" fmla="*/ 128587 h 162030"/>
              <a:gd name="connsiteX7" fmla="*/ 140278 w 162661"/>
              <a:gd name="connsiteY7" fmla="*/ 128587 h 162030"/>
              <a:gd name="connsiteX8" fmla="*/ 145041 w 162661"/>
              <a:gd name="connsiteY8" fmla="*/ 0 h 162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661" h="162030">
                <a:moveTo>
                  <a:pt x="145041" y="0"/>
                </a:moveTo>
                <a:lnTo>
                  <a:pt x="11691" y="33337"/>
                </a:lnTo>
                <a:cubicBezTo>
                  <a:pt x="13278" y="71437"/>
                  <a:pt x="0" y="113236"/>
                  <a:pt x="16453" y="147637"/>
                </a:cubicBezTo>
                <a:cubicBezTo>
                  <a:pt x="23336" y="162030"/>
                  <a:pt x="48397" y="145815"/>
                  <a:pt x="64078" y="142875"/>
                </a:cubicBezTo>
                <a:cubicBezTo>
                  <a:pt x="73946" y="141025"/>
                  <a:pt x="83128" y="136525"/>
                  <a:pt x="92653" y="133350"/>
                </a:cubicBezTo>
                <a:cubicBezTo>
                  <a:pt x="97416" y="131762"/>
                  <a:pt x="101951" y="129141"/>
                  <a:pt x="106941" y="128587"/>
                </a:cubicBezTo>
                <a:cubicBezTo>
                  <a:pt x="153331" y="123433"/>
                  <a:pt x="162661" y="117397"/>
                  <a:pt x="140278" y="128587"/>
                </a:cubicBezTo>
                <a:lnTo>
                  <a:pt x="140278" y="128587"/>
                </a:lnTo>
                <a:lnTo>
                  <a:pt x="145041" y="0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9" name="Freeform 38"/>
          <p:cNvSpPr/>
          <p:nvPr/>
        </p:nvSpPr>
        <p:spPr>
          <a:xfrm>
            <a:off x="7356475" y="5348288"/>
            <a:ext cx="239713" cy="176212"/>
          </a:xfrm>
          <a:custGeom>
            <a:avLst/>
            <a:gdLst>
              <a:gd name="connsiteX0" fmla="*/ 219075 w 219075"/>
              <a:gd name="connsiteY0" fmla="*/ 4762 h 95250"/>
              <a:gd name="connsiteX1" fmla="*/ 52387 w 219075"/>
              <a:gd name="connsiteY1" fmla="*/ 0 h 95250"/>
              <a:gd name="connsiteX2" fmla="*/ 0 w 219075"/>
              <a:gd name="connsiteY2" fmla="*/ 95250 h 95250"/>
              <a:gd name="connsiteX3" fmla="*/ 161925 w 219075"/>
              <a:gd name="connsiteY3" fmla="*/ 95250 h 95250"/>
              <a:gd name="connsiteX4" fmla="*/ 219075 w 219075"/>
              <a:gd name="connsiteY4" fmla="*/ 4762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" h="95250">
                <a:moveTo>
                  <a:pt x="219075" y="4762"/>
                </a:moveTo>
                <a:lnTo>
                  <a:pt x="52387" y="0"/>
                </a:lnTo>
                <a:lnTo>
                  <a:pt x="0" y="95250"/>
                </a:lnTo>
                <a:lnTo>
                  <a:pt x="161925" y="95250"/>
                </a:lnTo>
                <a:lnTo>
                  <a:pt x="219075" y="4762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40" name="Straight Connector 39"/>
          <p:cNvCxnSpPr/>
          <p:nvPr/>
        </p:nvCxnSpPr>
        <p:spPr>
          <a:xfrm rot="16200000" flipV="1">
            <a:off x="5149850" y="4095750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2" name="TextBox 32"/>
          <p:cNvSpPr txBox="1">
            <a:spLocks noChangeArrowheads="1"/>
          </p:cNvSpPr>
          <p:nvPr/>
        </p:nvSpPr>
        <p:spPr bwMode="auto">
          <a:xfrm>
            <a:off x="5003800" y="5397500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8453" name="TextBox 33"/>
          <p:cNvSpPr txBox="1">
            <a:spLocks noChangeArrowheads="1"/>
          </p:cNvSpPr>
          <p:nvPr/>
        </p:nvSpPr>
        <p:spPr bwMode="auto">
          <a:xfrm>
            <a:off x="4978400" y="3543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8454" name="TextBox 34"/>
          <p:cNvSpPr txBox="1">
            <a:spLocks noChangeArrowheads="1"/>
          </p:cNvSpPr>
          <p:nvPr/>
        </p:nvSpPr>
        <p:spPr bwMode="auto">
          <a:xfrm>
            <a:off x="7569200" y="364490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8455" name="TextBox 35"/>
          <p:cNvSpPr txBox="1">
            <a:spLocks noChangeArrowheads="1"/>
          </p:cNvSpPr>
          <p:nvPr/>
        </p:nvSpPr>
        <p:spPr bwMode="auto">
          <a:xfrm>
            <a:off x="7531100" y="5435600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8456" name="TextBox 32"/>
          <p:cNvSpPr txBox="1">
            <a:spLocks noChangeArrowheads="1"/>
          </p:cNvSpPr>
          <p:nvPr/>
        </p:nvSpPr>
        <p:spPr bwMode="auto">
          <a:xfrm>
            <a:off x="5600700" y="4584700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18457" name="TextBox 33"/>
          <p:cNvSpPr txBox="1">
            <a:spLocks noChangeArrowheads="1"/>
          </p:cNvSpPr>
          <p:nvPr/>
        </p:nvSpPr>
        <p:spPr bwMode="auto">
          <a:xfrm>
            <a:off x="5600700" y="2832100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18458" name="TextBox 34"/>
          <p:cNvSpPr txBox="1">
            <a:spLocks noChangeArrowheads="1"/>
          </p:cNvSpPr>
          <p:nvPr/>
        </p:nvSpPr>
        <p:spPr bwMode="auto">
          <a:xfrm>
            <a:off x="8166100" y="2832100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18459" name="TextBox 35"/>
          <p:cNvSpPr txBox="1">
            <a:spLocks noChangeArrowheads="1"/>
          </p:cNvSpPr>
          <p:nvPr/>
        </p:nvSpPr>
        <p:spPr bwMode="auto">
          <a:xfrm>
            <a:off x="8177213" y="4664075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8460" name="TextBox 36"/>
          <p:cNvSpPr txBox="1">
            <a:spLocks noChangeArrowheads="1"/>
          </p:cNvSpPr>
          <p:nvPr/>
        </p:nvSpPr>
        <p:spPr bwMode="auto">
          <a:xfrm>
            <a:off x="7937500" y="51181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18461" name="TextBox 37"/>
          <p:cNvSpPr txBox="1">
            <a:spLocks noChangeArrowheads="1"/>
          </p:cNvSpPr>
          <p:nvPr/>
        </p:nvSpPr>
        <p:spPr bwMode="auto">
          <a:xfrm>
            <a:off x="6299200" y="55626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18462" name="TextBox 37"/>
          <p:cNvSpPr txBox="1">
            <a:spLocks noChangeArrowheads="1"/>
          </p:cNvSpPr>
          <p:nvPr/>
        </p:nvSpPr>
        <p:spPr bwMode="auto">
          <a:xfrm>
            <a:off x="8243888" y="3759200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sp>
        <p:nvSpPr>
          <p:cNvPr id="18463" name="TextBox 37"/>
          <p:cNvSpPr txBox="1">
            <a:spLocks noChangeArrowheads="1"/>
          </p:cNvSpPr>
          <p:nvPr/>
        </p:nvSpPr>
        <p:spPr bwMode="auto">
          <a:xfrm rot="-682468">
            <a:off x="6680200" y="5118100"/>
            <a:ext cx="78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000"/>
              <a:t>10cm</a:t>
            </a:r>
          </a:p>
        </p:txBody>
      </p:sp>
      <p:cxnSp>
        <p:nvCxnSpPr>
          <p:cNvPr id="53" name="Straight Connector 52"/>
          <p:cNvCxnSpPr/>
          <p:nvPr/>
        </p:nvCxnSpPr>
        <p:spPr>
          <a:xfrm rot="5400000">
            <a:off x="7261226" y="4079875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5448300" y="3225800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5410200" y="4953000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5435600" y="3771900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2" name="Parallelogram 61"/>
          <p:cNvSpPr/>
          <p:nvPr/>
        </p:nvSpPr>
        <p:spPr>
          <a:xfrm>
            <a:off x="5422900" y="3213100"/>
            <a:ext cx="2743200" cy="558800"/>
          </a:xfrm>
          <a:prstGeom prst="parallelogram">
            <a:avLst>
              <a:gd name="adj" fmla="val 101421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63" name="Straight Connector 62"/>
          <p:cNvCxnSpPr/>
          <p:nvPr/>
        </p:nvCxnSpPr>
        <p:spPr>
          <a:xfrm>
            <a:off x="5422900" y="5527675"/>
            <a:ext cx="2159000" cy="15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7567613" y="4953000"/>
            <a:ext cx="604837" cy="59055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5400675" y="4948238"/>
            <a:ext cx="2733675" cy="576262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456238" y="4924425"/>
            <a:ext cx="2744787" cy="5953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5424488" y="3227388"/>
            <a:ext cx="2749550" cy="2287587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rot="5400000" flipH="1" flipV="1">
            <a:off x="7295357" y="4080669"/>
            <a:ext cx="1758950" cy="1587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02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2180</TotalTime>
  <Words>352</Words>
  <Application>Microsoft Office PowerPoint</Application>
  <PresentationFormat>On-screen Show (4:3)</PresentationFormat>
  <Paragraphs>159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Office Theme</vt:lpstr>
      <vt:lpstr>Equation</vt:lpstr>
      <vt:lpstr>PowerPoint Presentation</vt:lpstr>
      <vt:lpstr>What is a right triangle?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Pythagoras’s Theorem</vt:lpstr>
      <vt:lpstr>PowerPoint Presentation</vt:lpstr>
      <vt:lpstr>Examples</vt:lpstr>
      <vt:lpstr>Examples</vt:lpstr>
      <vt:lpstr>Questions</vt:lpstr>
      <vt:lpstr>Questions</vt:lpstr>
      <vt:lpstr>Questions</vt:lpstr>
      <vt:lpstr>PowerPoint Presentation</vt:lpstr>
      <vt:lpstr>Solving Real-Life Problems</vt:lpstr>
      <vt:lpstr>Solving Real-Life Problems</vt:lpstr>
      <vt:lpstr>Solving Real-Life Problems</vt:lpstr>
      <vt:lpstr>Solving Real-Life Problems</vt:lpstr>
      <vt:lpstr>Solving Real-Life Problems</vt:lpstr>
      <vt:lpstr>Solving Real-Life Problems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stephanie.keen@education.wa.edu.au</cp:lastModifiedBy>
  <cp:revision>99</cp:revision>
  <dcterms:created xsi:type="dcterms:W3CDTF">2014-05-14T02:58:57Z</dcterms:created>
  <dcterms:modified xsi:type="dcterms:W3CDTF">2018-08-27T13:34:57Z</dcterms:modified>
</cp:coreProperties>
</file>
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72" r:id="rId4"/>
    <p:sldId id="273" r:id="rId5"/>
    <p:sldId id="260" r:id="rId6"/>
    <p:sldId id="284" r:id="rId7"/>
    <p:sldId id="275" r:id="rId8"/>
    <p:sldId id="276" r:id="rId9"/>
    <p:sldId id="274" r:id="rId10"/>
    <p:sldId id="285" r:id="rId11"/>
    <p:sldId id="277" r:id="rId12"/>
    <p:sldId id="278" r:id="rId13"/>
    <p:sldId id="262" r:id="rId14"/>
    <p:sldId id="279" r:id="rId15"/>
    <p:sldId id="280" r:id="rId16"/>
    <p:sldId id="281" r:id="rId17"/>
    <p:sldId id="282" r:id="rId18"/>
    <p:sldId id="283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4F826-AA2C-405B-8638-856FCA2D7E4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513B-D2C1-4F35-BF8D-E0035A761E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17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48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16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4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999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1574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878-8717-40DC-A0EF-705A17CAF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13B9C-ACF8-475C-841E-F1F5BB27E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DC89-6585-492F-9BA9-8FF926E8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A03A5-020C-40FF-85AD-04280267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7393B-0285-4A56-9E6E-53E39BB5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115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2B3C-A84C-40B5-9266-75CA46D0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77A9-2CB6-46F0-9A16-3E64BA7B5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3299E-20E8-4545-A582-E709952C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90E1D-A112-4282-8B3E-B81773A0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0DD4-FEBE-43DE-ABD5-D0D50FD7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803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7653-7FAF-4F19-94AD-B4617EF5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68C87-493A-4CA9-A4FB-2597FB460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55B79-33D7-4E57-9A62-FB5FB738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CE06E-5E39-482B-8BC9-EAD07AC9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29D3F-7193-4B38-ADED-6F4A24F7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055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1E73-9247-491D-BE3B-769FB8F8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2AE69-5F06-4AED-A738-3A3C38D6F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17F17-F6E7-4315-9C68-108A6BA58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F531C-6CDF-45B8-831E-1299EC5A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CEEFC-8A70-4D68-B45A-B6F78EDF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0B7EA-256C-4475-9C12-8FD23536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68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1477-76BC-4557-B876-D6734F6A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69766-9980-4E01-8999-799674CDC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1785A-AA98-4CBE-8DF4-8E2C9AF5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AB2FC-D116-4F81-8259-BA572335D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21DA9-4F32-4920-B626-71018C3CB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C170E-D07A-4E2D-8809-47460CAF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5669C-508A-4637-9DED-56E25DFA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F7F39-EA79-4477-985A-80B69200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65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B9C4-28D0-4E98-8A61-F03D056E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90494-A944-4BF1-8C9E-5E615A58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C096B-50BB-4FD1-8905-527B549E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235E4-B659-4A1B-9839-32C6F127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71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E5E84-B0C6-4C02-8EA3-BBE16981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71529-8ACA-437A-91F3-0BD977CB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E8200-2B25-474E-AF44-7FE3CFA5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29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A815-36D1-44F6-95FE-39899154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D063-2A41-474A-8687-B82C40FE6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89D05-9A9F-46E8-B0F0-C4B32381C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CA1F7-A2FB-44D1-9597-9995F595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2262C-7100-426F-8515-218ECFBE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E9259-8F54-47B0-A14C-80DBF18D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06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A143-C017-4CB2-87CA-0F2456FB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83C17-C2F6-4277-A177-9192DEDB9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07A4F-53A0-4803-89ED-FA98D1630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C1CA5-B276-4D58-9EF4-1DDA5146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53635-BBBB-4722-806A-98F31ED3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674C9-F75A-43F6-B593-6CA03522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006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BBCD-6348-4F10-9D50-30FD4F69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7472F-1525-4389-987E-268577E1D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49804-B70B-4E2C-8FF1-301345D1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75F1-847D-490E-A801-4D849371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11F3-71AC-4FB3-B22B-25CCE401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5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71FB7-9458-403F-A498-62BCC26A5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69505-25B9-48FB-8301-F134FF697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4F2B-37E2-46CD-9E3F-8ABBEBA8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E45D-BE92-4F43-89BA-9345C0D6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25A1E-AAAA-4E90-9020-6314D076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94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4A872-F69B-4D9F-A1AB-AF3ED5A0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8B047-C4A7-4970-B23C-5F281C6FA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52F78-3CF2-420B-8BEF-DC229CE23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D5E8F-CF10-4D92-8388-9852D142D82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ED5FF-9DC9-451A-939B-04F8F91F7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7A420-47BA-4E03-99D9-C7828053F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98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</a:t>
            </a:r>
          </a:p>
          <a:p>
            <a:pPr marL="0" indent="0">
              <a:buNone/>
            </a:pPr>
            <a:endParaRPr lang="en-AU" dirty="0"/>
          </a:p>
          <a:p>
            <a:r>
              <a:rPr lang="en-GB" dirty="0"/>
              <a:t> find the surface area of cylinders, spheres and cones.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41309-FAF9-4C98-AB9B-8C32170A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162" y="3643054"/>
            <a:ext cx="4623234" cy="266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1812270" y="2487957"/>
            <a:ext cx="248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shape?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2DC93-619B-415D-8BEF-534F7B6F19CA}"/>
              </a:ext>
            </a:extLst>
          </p:cNvPr>
          <p:cNvSpPr/>
          <p:nvPr/>
        </p:nvSpPr>
        <p:spPr>
          <a:xfrm>
            <a:off x="4960776" y="233036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The surface area of a shape is how much space is visible on the outside (if you dunked the shape into a pot of paint, it’s the area that would become coloured).</a:t>
            </a:r>
          </a:p>
        </p:txBody>
      </p:sp>
      <p:pic>
        <p:nvPicPr>
          <p:cNvPr id="15" name="Picture 2" descr="http://images.clipartpanda.com/paint-bucket-clip-art-black-and-white-7caKx6edi.png">
            <a:extLst>
              <a:ext uri="{FF2B5EF4-FFF2-40B4-BE49-F238E27FC236}">
                <a16:creationId xmlns:a16="http://schemas.microsoft.com/office/drawing/2014/main" id="{7D5F7CE1-EB71-4C67-98BA-058819729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346" y="3103133"/>
            <a:ext cx="3190767" cy="31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BECED14-309F-40DC-8602-7BC3CF1CFCF7}"/>
              </a:ext>
            </a:extLst>
          </p:cNvPr>
          <p:cNvSpPr/>
          <p:nvPr/>
        </p:nvSpPr>
        <p:spPr>
          <a:xfrm>
            <a:off x="10379729" y="4063277"/>
            <a:ext cx="1080120" cy="108012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51B18-E3AD-41B6-9074-474467CF14E4}"/>
              </a:ext>
            </a:extLst>
          </p:cNvPr>
          <p:cNvSpPr/>
          <p:nvPr/>
        </p:nvSpPr>
        <p:spPr>
          <a:xfrm>
            <a:off x="4583832" y="3671694"/>
            <a:ext cx="5228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The surface area of a 3D shape is the area of its 2D net, so let’s see if we can deconstruct some of our shapes.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64 -2.59259E-6 L -0.07864 -0.2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6" grpId="3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0056" y="1434627"/>
            <a:ext cx="3816424" cy="504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Now we know that a cylinder’s net is made up of two circles and a rectangle, but what are the dimensions?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height of the rectangle is the height of the original cylinder, but what about the width?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 the width, we need to know the circumference of the circular ends.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21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this knowledge, our surface area formula for a cylinder is</a:t>
                </a:r>
              </a:p>
              <a:p>
                <a:pPr marL="0" indent="0">
                  <a:buNone/>
                </a:pPr>
                <a:endParaRPr lang="en-GB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𝑟h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  <a:blipFill>
                <a:blip r:embed="rId2"/>
                <a:stretch>
                  <a:fillRect l="-2556" t="-16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cylinder?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Calculate the surface area of a cylinder with radius 3cm and height 5cm.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Formula =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Substitute in our values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Surface area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×3×5+2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 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30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=48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/>
                  <a:t>cm</a:t>
                </a:r>
                <a:r>
                  <a:rPr lang="en-GB" sz="2000" baseline="30000" dirty="0"/>
                  <a:t>2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  <a:blipFill>
                <a:blip r:embed="rId3"/>
                <a:stretch>
                  <a:fillRect l="-1795" t="-1749" r="-898" b="-109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owchart: Magnetic Disk 17">
            <a:extLst>
              <a:ext uri="{FF2B5EF4-FFF2-40B4-BE49-F238E27FC236}">
                <a16:creationId xmlns:a16="http://schemas.microsoft.com/office/drawing/2014/main" id="{D2E54B92-887D-4FFB-B615-279FADC48763}"/>
              </a:ext>
            </a:extLst>
          </p:cNvPr>
          <p:cNvSpPr/>
          <p:nvPr/>
        </p:nvSpPr>
        <p:spPr>
          <a:xfrm>
            <a:off x="4775237" y="2327378"/>
            <a:ext cx="1721900" cy="4291475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547E12-2DA2-4B61-9160-0F5EA9722FF5}"/>
              </a:ext>
            </a:extLst>
          </p:cNvPr>
          <p:cNvPicPr/>
          <p:nvPr/>
        </p:nvPicPr>
        <p:blipFill rotWithShape="1">
          <a:blip r:embed="rId2"/>
          <a:srcRect l="29913" t="15157" r="31955" b="52136"/>
          <a:stretch/>
        </p:blipFill>
        <p:spPr bwMode="auto">
          <a:xfrm>
            <a:off x="1890091" y="1001158"/>
            <a:ext cx="8353839" cy="49093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374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2024" y="1600201"/>
            <a:ext cx="38987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Unfortunately, a sphere has no actual 2D net, only close approximations.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Fortunately, we get away with being given the formula again (as proof or derivation is relatively tricky).</a:t>
            </a:r>
          </a:p>
        </p:txBody>
      </p:sp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9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33868" y="1966912"/>
                <a:ext cx="389877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The formula for a sphere’s surface area is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Once again, the only information we need is the radius.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3868" y="1966912"/>
                <a:ext cx="3898776" cy="4525963"/>
              </a:xfrm>
              <a:blipFill>
                <a:blip r:embed="rId2"/>
                <a:stretch>
                  <a:fillRect l="-2504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96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sphere?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Calculate the surface area of a sphere with radius 10cm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Formula =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4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Substitute in our values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Surface area 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400" dirty="0">
                    <a:ea typeface="Cambria Math"/>
                  </a:rPr>
                </a:br>
                <a:r>
                  <a:rPr lang="en-GB" sz="2400" dirty="0">
                    <a:ea typeface="Cambria Math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=400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  <a:blipFill>
                <a:blip r:embed="rId3"/>
                <a:stretch>
                  <a:fillRect l="-3286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8" descr="https://openclipart.org/image/2400px/svg_to_png/151285/sphere.png">
            <a:extLst>
              <a:ext uri="{FF2B5EF4-FFF2-40B4-BE49-F238E27FC236}">
                <a16:creationId xmlns:a16="http://schemas.microsoft.com/office/drawing/2014/main" id="{47FD2B29-934D-4066-BF1F-2B718576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2760492"/>
            <a:ext cx="2889953" cy="303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52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71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Similarly to our cylinder, we can deconstruct a cone to a 2D net and use its area to give us the surface area of the cone.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As we’ve got a circular base, we can easily work out the surface area for that part, but what about the curved surface?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The curved surface has an area of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000" i="1">
                          <a:latin typeface="Cambria Math"/>
                          <a:ea typeface="Cambria Math"/>
                        </a:rPr>
                        <m:t>𝑟𝑙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where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𝑟</m:t>
                    </m:r>
                  </m:oMath>
                </a14:m>
                <a:r>
                  <a:rPr lang="en-GB" sz="2000" dirty="0"/>
                  <a:t> is the radius of the base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𝑙</m:t>
                    </m:r>
                  </m:oMath>
                </a14:m>
                <a:r>
                  <a:rPr lang="en-GB" sz="2000" dirty="0"/>
                  <a:t> is the slant height of the cone.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  <a:blipFill>
                <a:blip r:embed="rId2"/>
                <a:stretch>
                  <a:fillRect l="-1592" t="-2022" r="-2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Up-Down Arrow 4"/>
          <p:cNvSpPr/>
          <p:nvPr/>
        </p:nvSpPr>
        <p:spPr>
          <a:xfrm rot="20019637">
            <a:off x="4854267" y="1773232"/>
            <a:ext cx="360040" cy="3659739"/>
          </a:xfrm>
          <a:prstGeom prst="upDownArrow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83832" y="2998694"/>
                <a:ext cx="12076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998694"/>
                <a:ext cx="120765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79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what we’ve now derived, the total surface area of a cone is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𝑟𝑙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 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𝑙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  <a:blipFill>
                <a:blip r:embed="rId2"/>
                <a:stretch>
                  <a:fillRect l="-2389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90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8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cone?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119DEA9-8516-4F48-9FC2-DE944DBEAA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6613" y="2332037"/>
                <a:ext cx="3826768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Calculate the surface area of a cone with radius 4cm and slant height 6cm.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𝑙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Substitute in our values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Surface area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6+4</m:t>
                        </m:r>
                      </m:e>
                    </m:d>
                  </m:oMath>
                </a14:m>
                <a:br>
                  <a:rPr lang="en-GB" sz="2400" dirty="0">
                    <a:ea typeface="Cambria Math"/>
                  </a:rPr>
                </a:br>
                <a:r>
                  <a:rPr lang="en-GB" sz="2400" dirty="0">
                    <a:ea typeface="Cambria Math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119DEA9-8516-4F48-9FC2-DE944DBEA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613" y="2332037"/>
                <a:ext cx="3826768" cy="4525963"/>
              </a:xfrm>
              <a:prstGeom prst="rect">
                <a:avLst/>
              </a:prstGeom>
              <a:blipFill>
                <a:blip r:embed="rId3"/>
                <a:stretch>
                  <a:fillRect l="-2548" t="-1887" r="-7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0" descr="http://icons.iconarchive.com/icons/jj-maxer/icon-practice/256/taper-cone-icon.png">
            <a:extLst>
              <a:ext uri="{FF2B5EF4-FFF2-40B4-BE49-F238E27FC236}">
                <a16:creationId xmlns:a16="http://schemas.microsoft.com/office/drawing/2014/main" id="{BA3E668C-AE45-44DB-BD7C-3AC96B2D0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159" y="2332037"/>
            <a:ext cx="3228421" cy="322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628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Turn- Task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Grab your white boards or blank pieces of papers and keep your formulae prepared in front of you.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Calculate the surface area for the upcoming shapes (keep </a:t>
            </a:r>
            <a:r>
              <a:rPr lang="el-GR" dirty="0"/>
              <a:t>π</a:t>
            </a:r>
            <a:r>
              <a:rPr lang="en-GB" dirty="0"/>
              <a:t> as </a:t>
            </a:r>
            <a:r>
              <a:rPr lang="el-GR" dirty="0"/>
              <a:t>π</a:t>
            </a:r>
            <a:r>
              <a:rPr lang="en-GB" dirty="0"/>
              <a:t> in your answers).</a:t>
            </a:r>
          </a:p>
        </p:txBody>
      </p:sp>
    </p:spTree>
    <p:extLst>
      <p:ext uri="{BB962C8B-B14F-4D97-AF65-F5344CB8AC3E}">
        <p14:creationId xmlns:p14="http://schemas.microsoft.com/office/powerpoint/2010/main" val="4178989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cylinder with radius 3cm and height 9cm.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>
                  <a:ea typeface="Cambria Math"/>
                </a:endParaRP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54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=72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  <a:blipFill>
                <a:blip r:embed="rId2"/>
                <a:stretch>
                  <a:fillRect l="-2146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owchart: Magnetic Disk 3"/>
          <p:cNvSpPr/>
          <p:nvPr/>
        </p:nvSpPr>
        <p:spPr>
          <a:xfrm>
            <a:off x="2351584" y="1546951"/>
            <a:ext cx="2232248" cy="4608512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4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23992" y="1423318"/>
                <a:ext cx="4392488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sphere with radius 5cm.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  <a:ea typeface="Cambria Math"/>
                      </a:rPr>
                      <m:t>=4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/>
                        <a:ea typeface="Cambria Math"/>
                      </a:rPr>
                      <m:t>=100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23992" y="1423318"/>
                <a:ext cx="4392488" cy="4525963"/>
              </a:xfrm>
              <a:blipFill>
                <a:blip r:embed="rId2"/>
                <a:stretch>
                  <a:fillRect l="-2080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67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600201"/>
                <a:ext cx="439248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cone with base radius 4cm and slant height 7cm.</a:t>
                </a:r>
              </a:p>
              <a:p>
                <a:pPr marL="0" indent="0">
                  <a:buNone/>
                </a:pPr>
                <a:endParaRPr lang="en-GB" sz="2400" baseline="30000" dirty="0"/>
              </a:p>
              <a:p>
                <a:pPr marL="0" indent="0">
                  <a:buNone/>
                </a:pPr>
                <a:endParaRPr lang="en-GB" sz="2400" baseline="300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b="1" u="sng" dirty="0"/>
                  <a:t>Answer</a:t>
                </a:r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2000" dirty="0"/>
                  <a:t>Formula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𝑟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𝑙</m:t>
                        </m:r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</m:d>
                  </m:oMath>
                </a14:m>
                <a:endParaRPr lang="en-GB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</a:rPr>
                      <m:t>4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(4+7)</m:t>
                    </m:r>
                  </m:oMath>
                </a14:m>
                <a:endParaRPr lang="en-GB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Cambria Math"/>
                      </a:rPr>
                      <m:t>=44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/>
                  <a:t>cm</a:t>
                </a:r>
                <a:r>
                  <a:rPr lang="en-GB" sz="20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600201"/>
                <a:ext cx="4392488" cy="4525963"/>
              </a:xfrm>
              <a:blipFill>
                <a:blip r:embed="rId2"/>
                <a:stretch>
                  <a:fillRect l="-2080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13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600201"/>
                <a:ext cx="41148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volume of a hemisphere with radius 9cm.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Curved surface area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=162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GB" sz="2400" dirty="0">
                  <a:ea typeface="Cambria Math"/>
                </a:endParaRPr>
              </a:p>
              <a:p>
                <a:pPr marL="0" indent="0">
                  <a:buNone/>
                </a:pPr>
                <a:endParaRPr lang="en-GB" sz="2400" baseline="30000" dirty="0"/>
              </a:p>
              <a:p>
                <a:pPr marL="0" indent="0">
                  <a:buNone/>
                </a:pPr>
                <a:r>
                  <a:rPr lang="en-GB" sz="2400" dirty="0"/>
                  <a:t>Base surface area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=81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Total surface area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162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+81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=243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600201"/>
                <a:ext cx="4114800" cy="4525963"/>
              </a:xfrm>
              <a:blipFill>
                <a:blip r:embed="rId2"/>
                <a:stretch>
                  <a:fillRect l="-1926" t="-2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 descr="http://res.cloudinary.com/dk-find-out/image/upload/q_80,w_640/hemisphere_rfwg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41" y="2459104"/>
            <a:ext cx="4488433" cy="321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53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5EAA-027F-49EE-A8E7-90E7776A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56" y="332656"/>
            <a:ext cx="6707088" cy="202034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Your Turn- Task 2 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215C8-2CBB-4864-97FA-387F75C5170D}"/>
              </a:ext>
            </a:extLst>
          </p:cNvPr>
          <p:cNvSpPr txBox="1"/>
          <p:nvPr/>
        </p:nvSpPr>
        <p:spPr>
          <a:xfrm>
            <a:off x="1560945" y="1708727"/>
            <a:ext cx="6474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through the exercises p 22-26 Black MAWA Essential Mathematics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089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777</Words>
  <Application>Microsoft Office PowerPoint</Application>
  <PresentationFormat>Widescreen</PresentationFormat>
  <Paragraphs>151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Lesson objective</vt:lpstr>
      <vt:lpstr>PowerPoint Presentation</vt:lpstr>
      <vt:lpstr>Surface Area - Cylinder</vt:lpstr>
      <vt:lpstr>Surface Area - Cylinder</vt:lpstr>
      <vt:lpstr>PowerPoint Presentation</vt:lpstr>
      <vt:lpstr>PowerPoint Presentation</vt:lpstr>
      <vt:lpstr>Surface Area - Sphere</vt:lpstr>
      <vt:lpstr>Surface Area - Sphere</vt:lpstr>
      <vt:lpstr>PowerPoint Presentation</vt:lpstr>
      <vt:lpstr>PowerPoint Presentation</vt:lpstr>
      <vt:lpstr>Surface Area - Cone</vt:lpstr>
      <vt:lpstr>Surface Area - Cone</vt:lpstr>
      <vt:lpstr>PowerPoint Presentation</vt:lpstr>
      <vt:lpstr>Your Turn- Task 1 </vt:lpstr>
      <vt:lpstr>Question 1</vt:lpstr>
      <vt:lpstr>Question 2</vt:lpstr>
      <vt:lpstr>Question 3</vt:lpstr>
      <vt:lpstr>Question 4</vt:lpstr>
      <vt:lpstr>Your Turn- Task 2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Sarah James</dc:creator>
  <cp:lastModifiedBy>KEEN Stephanie [Baldivis Secondary College]</cp:lastModifiedBy>
  <cp:revision>6</cp:revision>
  <dcterms:created xsi:type="dcterms:W3CDTF">2018-02-24T10:40:28Z</dcterms:created>
  <dcterms:modified xsi:type="dcterms:W3CDTF">2018-03-26T23:57:21Z</dcterms:modified>
</cp:coreProperties>
</file>
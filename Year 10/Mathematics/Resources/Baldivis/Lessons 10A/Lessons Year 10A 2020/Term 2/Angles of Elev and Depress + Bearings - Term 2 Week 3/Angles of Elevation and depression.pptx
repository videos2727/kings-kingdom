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323" r:id="rId6"/>
    <p:sldId id="324" r:id="rId7"/>
    <p:sldId id="325" r:id="rId8"/>
    <p:sldId id="326" r:id="rId9"/>
    <p:sldId id="327" r:id="rId10"/>
    <p:sldId id="328" r:id="rId11"/>
    <p:sldId id="357" r:id="rId12"/>
    <p:sldId id="329" r:id="rId13"/>
    <p:sldId id="330" r:id="rId14"/>
    <p:sldId id="358" r:id="rId15"/>
    <p:sldId id="3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2" autoAdjust="0"/>
    <p:restoredTop sz="94156"/>
  </p:normalViewPr>
  <p:slideViewPr>
    <p:cSldViewPr snapToGrid="0">
      <p:cViewPr varScale="1">
        <p:scale>
          <a:sx n="62" d="100"/>
          <a:sy n="62" d="100"/>
        </p:scale>
        <p:origin x="23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4/27/20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Angles of Depression and Elevation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is the difference between the two and how can they be solved using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726781" y="2299898"/>
            <a:ext cx="2880320" cy="1440160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239436" y="3442091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934693" y="273194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3532" y="365811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14cm</a:t>
            </a:r>
          </a:p>
        </p:txBody>
      </p:sp>
      <p:sp>
        <p:nvSpPr>
          <p:cNvPr id="8" name="Arc 7"/>
          <p:cNvSpPr/>
          <p:nvPr/>
        </p:nvSpPr>
        <p:spPr>
          <a:xfrm rot="14893385">
            <a:off x="3650657" y="3250121"/>
            <a:ext cx="576064" cy="72008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50917" y="3206386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27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917" y="3206386"/>
                <a:ext cx="72008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 rot="13336269">
            <a:off x="8039467" y="1982248"/>
            <a:ext cx="864096" cy="2232248"/>
            <a:chOff x="6300192" y="1052736"/>
            <a:chExt cx="864096" cy="2232248"/>
          </a:xfrm>
        </p:grpSpPr>
        <p:sp>
          <p:nvSpPr>
            <p:cNvPr id="10" name="Right Triangle 9"/>
            <p:cNvSpPr/>
            <p:nvPr/>
          </p:nvSpPr>
          <p:spPr>
            <a:xfrm>
              <a:off x="6300192" y="1052736"/>
              <a:ext cx="864096" cy="2232248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00192" y="3068960"/>
              <a:ext cx="216024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Arc 12"/>
          <p:cNvSpPr/>
          <p:nvPr/>
        </p:nvSpPr>
        <p:spPr>
          <a:xfrm>
            <a:off x="8111475" y="3539534"/>
            <a:ext cx="360040" cy="40105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7535411" y="264042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11cm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9587" y="1838233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2cm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53987" y="3218490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987" y="3218490"/>
                <a:ext cx="72008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 rot="20318469">
            <a:off x="3268100" y="4019854"/>
            <a:ext cx="4968552" cy="1944216"/>
            <a:chOff x="971600" y="4293096"/>
            <a:chExt cx="4968552" cy="1944216"/>
          </a:xfrm>
        </p:grpSpPr>
        <p:sp>
          <p:nvSpPr>
            <p:cNvPr id="17" name="Right Triangle 16"/>
            <p:cNvSpPr/>
            <p:nvPr/>
          </p:nvSpPr>
          <p:spPr>
            <a:xfrm>
              <a:off x="971600" y="4293096"/>
              <a:ext cx="4968552" cy="1944216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71600" y="5949280"/>
              <a:ext cx="288032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Arc 19"/>
          <p:cNvSpPr/>
          <p:nvPr/>
        </p:nvSpPr>
        <p:spPr>
          <a:xfrm rot="5400000">
            <a:off x="2838225" y="4643338"/>
            <a:ext cx="828092" cy="720080"/>
          </a:xfrm>
          <a:prstGeom prst="arc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2543814" y="5841333"/>
            <a:ext cx="87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31cm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296113" y="4589332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13" y="4589332"/>
                <a:ext cx="72008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19865" y="5291424"/>
                <a:ext cx="720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79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65" y="5291424"/>
                <a:ext cx="72008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666365" y="2027590"/>
            <a:ext cx="536656" cy="53665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2496581" y="4464599"/>
            <a:ext cx="536656" cy="53665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7594523" y="1986604"/>
            <a:ext cx="536656" cy="53665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itle 1"/>
          <p:cNvSpPr txBox="1">
            <a:spLocks/>
          </p:cNvSpPr>
          <p:nvPr/>
        </p:nvSpPr>
        <p:spPr bwMode="black">
          <a:xfrm>
            <a:off x="1432560" y="6187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>
                <a:latin typeface="+mn-lt"/>
              </a:rPr>
              <a:t>Starter </a:t>
            </a:r>
            <a:endParaRPr lang="en-GB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3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buNone/>
            </a:pPr>
            <a:r>
              <a:rPr lang="en-GB" dirty="0">
                <a:solidFill>
                  <a:schemeClr val="tx2"/>
                </a:solidFill>
              </a:rPr>
              <a:t>Learning Objectives:</a:t>
            </a:r>
          </a:p>
          <a:p>
            <a:pPr>
              <a:buNone/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Able to find the length of a side using trigonometry</a:t>
            </a:r>
          </a:p>
          <a:p>
            <a:r>
              <a:rPr lang="en-GB" dirty="0">
                <a:solidFill>
                  <a:schemeClr val="tx2"/>
                </a:solidFill>
              </a:rPr>
              <a:t>Able to find an angle using trigonometry</a:t>
            </a:r>
          </a:p>
          <a:p>
            <a:r>
              <a:rPr lang="en-GB" dirty="0">
                <a:solidFill>
                  <a:schemeClr val="tx2"/>
                </a:solidFill>
              </a:rPr>
              <a:t>Able to apply this to worded problems including angles of elevation and 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  depression</a:t>
            </a:r>
          </a:p>
        </p:txBody>
      </p:sp>
      <p:sp>
        <p:nvSpPr>
          <p:cNvPr id="7" name="Oval 6"/>
          <p:cNvSpPr/>
          <p:nvPr/>
        </p:nvSpPr>
        <p:spPr>
          <a:xfrm>
            <a:off x="1064136" y="319431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1064136" y="3772629"/>
            <a:ext cx="432048" cy="43204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1064136" y="4350946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51265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4" t="19375" r="18711" b="35080"/>
          <a:stretch/>
        </p:blipFill>
        <p:spPr bwMode="auto">
          <a:xfrm>
            <a:off x="1487488" y="692696"/>
            <a:ext cx="9361040" cy="429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8184232" y="2842322"/>
            <a:ext cx="2664296" cy="137876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54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  <p:pic>
        <p:nvPicPr>
          <p:cNvPr id="9" name="Content Placeholder 8" descr="A picture containing knife&#10;&#10;Description automatically generated">
            <a:extLst>
              <a:ext uri="{FF2B5EF4-FFF2-40B4-BE49-F238E27FC236}">
                <a16:creationId xmlns:a16="http://schemas.microsoft.com/office/drawing/2014/main" id="{17A0D5D6-57A4-0E42-A8A4-37CA32DD3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8" y="2111470"/>
            <a:ext cx="5816600" cy="1511300"/>
          </a:xfrm>
        </p:spPr>
      </p:pic>
      <p:pic>
        <p:nvPicPr>
          <p:cNvPr id="15" name="Picture 14" descr="A picture containing room, knife&#10;&#10;Description automatically generated">
            <a:extLst>
              <a:ext uri="{FF2B5EF4-FFF2-40B4-BE49-F238E27FC236}">
                <a16:creationId xmlns:a16="http://schemas.microsoft.com/office/drawing/2014/main" id="{F2C1B85E-804F-9E40-8C09-BBC52BEC0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0" y="3622770"/>
            <a:ext cx="5092700" cy="1066800"/>
          </a:xfrm>
          <a:prstGeom prst="rect">
            <a:avLst/>
          </a:prstGeom>
        </p:spPr>
      </p:pic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3A5EFA5-EC3C-C448-8200-A95C5AFCA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22" y="2644870"/>
            <a:ext cx="4533900" cy="1955800"/>
          </a:xfrm>
          <a:prstGeom prst="rect">
            <a:avLst/>
          </a:prstGeom>
        </p:spPr>
      </p:pic>
      <p:pic>
        <p:nvPicPr>
          <p:cNvPr id="19" name="Picture 18" descr="A picture containing knife&#10;&#10;Description automatically generated">
            <a:extLst>
              <a:ext uri="{FF2B5EF4-FFF2-40B4-BE49-F238E27FC236}">
                <a16:creationId xmlns:a16="http://schemas.microsoft.com/office/drawing/2014/main" id="{C1C081BB-90EF-334A-8D6B-2DC54F777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434" y="5134070"/>
            <a:ext cx="90043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8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G_024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370" y="2014996"/>
            <a:ext cx="6059554" cy="4525963"/>
          </a:xfrm>
        </p:spPr>
      </p:pic>
      <p:sp>
        <p:nvSpPr>
          <p:cNvPr id="5" name="TextBox 4"/>
          <p:cNvSpPr txBox="1"/>
          <p:nvPr/>
        </p:nvSpPr>
        <p:spPr>
          <a:xfrm>
            <a:off x="4054746" y="2303028"/>
            <a:ext cx="2664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How can I work out the height of the London Eye?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542578" y="5687403"/>
            <a:ext cx="2880320" cy="57606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 flipH="1" flipV="1">
            <a:off x="1138422" y="4283247"/>
            <a:ext cx="28083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6200000" flipH="1">
            <a:off x="2290550" y="3131119"/>
            <a:ext cx="3384376" cy="288032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42578" y="5471379"/>
            <a:ext cx="288032" cy="7200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2722598" y="5651399"/>
            <a:ext cx="21602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2542579" y="5471379"/>
            <a:ext cx="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4622628" y="5717481"/>
            <a:ext cx="321972" cy="399245"/>
          </a:xfrm>
          <a:custGeom>
            <a:avLst/>
            <a:gdLst>
              <a:gd name="connsiteX0" fmla="*/ 321972 w 321972"/>
              <a:gd name="connsiteY0" fmla="*/ 0 h 399245"/>
              <a:gd name="connsiteX1" fmla="*/ 64394 w 321972"/>
              <a:gd name="connsiteY1" fmla="*/ 90152 h 399245"/>
              <a:gd name="connsiteX2" fmla="*/ 0 w 321972"/>
              <a:gd name="connsiteY2" fmla="*/ 399245 h 399245"/>
              <a:gd name="connsiteX3" fmla="*/ 0 w 321972"/>
              <a:gd name="connsiteY3" fmla="*/ 399245 h 3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972" h="399245">
                <a:moveTo>
                  <a:pt x="321972" y="0"/>
                </a:moveTo>
                <a:cubicBezTo>
                  <a:pt x="220014" y="11805"/>
                  <a:pt x="118056" y="23611"/>
                  <a:pt x="64394" y="90152"/>
                </a:cubicBezTo>
                <a:cubicBezTo>
                  <a:pt x="10732" y="156693"/>
                  <a:pt x="0" y="399245"/>
                  <a:pt x="0" y="399245"/>
                </a:cubicBezTo>
                <a:lnTo>
                  <a:pt x="0" y="399245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3118642" y="5903428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113.3m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681" y="575941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50</a:t>
            </a:r>
            <a:r>
              <a:rPr lang="en-GB" sz="2400" b="1" baseline="30000" dirty="0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1050" y="2375035"/>
            <a:ext cx="26997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tan</a:t>
            </a:r>
            <a:r>
              <a:rPr lang="az-Cyrl-AZ" sz="2400" dirty="0"/>
              <a:t>Ѳ</a:t>
            </a:r>
            <a:r>
              <a:rPr lang="en-GB" sz="2400" dirty="0"/>
              <a:t> = 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tan50 =</a:t>
            </a:r>
          </a:p>
          <a:p>
            <a:endParaRPr lang="en-GB" sz="2400" dirty="0"/>
          </a:p>
          <a:p>
            <a:r>
              <a:rPr lang="en-GB" sz="2400" dirty="0"/>
              <a:t>h = 113.3tan50</a:t>
            </a:r>
          </a:p>
          <a:p>
            <a:endParaRPr lang="en-GB" sz="2400" dirty="0"/>
          </a:p>
          <a:p>
            <a:r>
              <a:rPr lang="en-GB" sz="2400" dirty="0"/>
              <a:t>h = 134.67m (2dp)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7154" y="2231020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Opposite</a:t>
            </a:r>
          </a:p>
          <a:p>
            <a:pPr algn="ctr"/>
            <a:r>
              <a:rPr lang="en-GB" sz="2400" dirty="0"/>
              <a:t>Adjacent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7943178" y="2629968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27154" y="3311140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h</a:t>
            </a:r>
          </a:p>
          <a:p>
            <a:pPr algn="ctr"/>
            <a:r>
              <a:rPr lang="en-GB" sz="2400" dirty="0"/>
              <a:t>113.3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871170" y="3710088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7605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 animBg="1"/>
      <p:bldP spid="23" grpId="0"/>
      <p:bldP spid="24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0791_400685712608_508557608_3948267_4668168_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9730" y="2074928"/>
            <a:ext cx="6057051" cy="4525963"/>
          </a:xfrm>
        </p:spPr>
      </p:pic>
      <p:sp>
        <p:nvSpPr>
          <p:cNvPr id="5" name="TextBox 4"/>
          <p:cNvSpPr txBox="1"/>
          <p:nvPr/>
        </p:nvSpPr>
        <p:spPr>
          <a:xfrm>
            <a:off x="7292417" y="2074927"/>
            <a:ext cx="2376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If I stand 140m from </a:t>
            </a:r>
            <a:r>
              <a:rPr lang="en-GB" sz="2800" dirty="0" err="1"/>
              <a:t>Horseguard’s</a:t>
            </a:r>
            <a:r>
              <a:rPr lang="en-GB" sz="2800" dirty="0"/>
              <a:t> Parade, the building is 60m tall, what is my angle of elevation?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05025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D988B170-435C-E74B-B374-F80737784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172" y="1879600"/>
            <a:ext cx="9982200" cy="497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F268D8-1F9D-DA44-ADE2-3D3C04C5777E}"/>
              </a:ext>
            </a:extLst>
          </p:cNvPr>
          <p:cNvSpPr txBox="1"/>
          <p:nvPr/>
        </p:nvSpPr>
        <p:spPr>
          <a:xfrm>
            <a:off x="463296" y="670560"/>
            <a:ext cx="4315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91301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98575" y="1929348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want to work out how far away the beach is from where I’m standing. I know I’m currently 53m above sea level.</a:t>
            </a:r>
          </a:p>
        </p:txBody>
      </p:sp>
      <p:pic>
        <p:nvPicPr>
          <p:cNvPr id="17" name="Content Placeholder 16" descr="44764_405754687608_508557608_4077127_4475833_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0160" y="3154317"/>
            <a:ext cx="8229600" cy="3628349"/>
          </a:xfrm>
        </p:spPr>
      </p:pic>
      <p:cxnSp>
        <p:nvCxnSpPr>
          <p:cNvPr id="19" name="Straight Connector 18"/>
          <p:cNvCxnSpPr/>
          <p:nvPr/>
        </p:nvCxnSpPr>
        <p:spPr>
          <a:xfrm>
            <a:off x="3142792" y="5313723"/>
            <a:ext cx="3384377" cy="95875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514990" y="5032079"/>
            <a:ext cx="0" cy="1240401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142791" y="5025691"/>
            <a:ext cx="3384376" cy="28803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3889272" y="5250732"/>
            <a:ext cx="118056" cy="244699"/>
          </a:xfrm>
          <a:custGeom>
            <a:avLst/>
            <a:gdLst>
              <a:gd name="connsiteX0" fmla="*/ 12879 w 118056"/>
              <a:gd name="connsiteY0" fmla="*/ 0 h 244699"/>
              <a:gd name="connsiteX1" fmla="*/ 115910 w 118056"/>
              <a:gd name="connsiteY1" fmla="*/ 154547 h 244699"/>
              <a:gd name="connsiteX2" fmla="*/ 0 w 118056"/>
              <a:gd name="connsiteY2" fmla="*/ 244699 h 244699"/>
              <a:gd name="connsiteX3" fmla="*/ 0 w 118056"/>
              <a:gd name="connsiteY3" fmla="*/ 244699 h 24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056" h="244699">
                <a:moveTo>
                  <a:pt x="12879" y="0"/>
                </a:moveTo>
                <a:cubicBezTo>
                  <a:pt x="65467" y="56882"/>
                  <a:pt x="118056" y="113764"/>
                  <a:pt x="115910" y="154547"/>
                </a:cubicBezTo>
                <a:cubicBezTo>
                  <a:pt x="113764" y="195330"/>
                  <a:pt x="0" y="244699"/>
                  <a:pt x="0" y="244699"/>
                </a:cubicBezTo>
                <a:lnTo>
                  <a:pt x="0" y="244699"/>
                </a:ln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4006887" y="516970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21</a:t>
            </a:r>
            <a:r>
              <a:rPr lang="en-GB" sz="2400" b="1" baseline="30000" dirty="0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7167" y="537142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53m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8575" y="2661156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need to know my angle of depression.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6239134" y="5341148"/>
            <a:ext cx="288034" cy="3193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53882" y="5055188"/>
            <a:ext cx="0" cy="31789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926289" y="3206368"/>
                <a:ext cx="2699792" cy="3232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tan</a:t>
                </a:r>
                <a:r>
                  <a:rPr lang="az-Cyrl-AZ" sz="2400" dirty="0"/>
                  <a:t>Ѳ</a:t>
                </a:r>
                <a:r>
                  <a:rPr lang="en-GB" sz="2400" dirty="0"/>
                  <a:t> = 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tan21 =</a:t>
                </a:r>
              </a:p>
              <a:p>
                <a:endParaRPr lang="en-GB" sz="2400" dirty="0">
                  <a:solidFill>
                    <a:srgbClr val="FFFF00"/>
                  </a:solidFill>
                </a:endParaRPr>
              </a:p>
              <a:p>
                <a:r>
                  <a:rPr lang="en-GB" sz="2400" dirty="0">
                    <a:solidFill>
                      <a:srgbClr val="FFFF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FF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rgbClr val="FFFF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53</m:t>
                        </m:r>
                      </m:num>
                      <m:den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𝑡𝑎𝑛</m:t>
                        </m:r>
                        <m:r>
                          <a:rPr lang="en-GB" sz="24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21</m:t>
                        </m:r>
                      </m:den>
                    </m:f>
                  </m:oMath>
                </a14:m>
                <a:endParaRPr lang="en-GB" sz="2400" dirty="0">
                  <a:solidFill>
                    <a:srgbClr val="FFFF00"/>
                  </a:solidFill>
                </a:endParaRPr>
              </a:p>
              <a:p>
                <a:endParaRPr lang="en-GB" sz="2400" dirty="0">
                  <a:solidFill>
                    <a:srgbClr val="FFFF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FF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rgbClr val="FFFF00"/>
                    </a:solidFill>
                  </a:rPr>
                  <a:t> = 138.1m (2dp) 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289" y="3206368"/>
                <a:ext cx="2699792" cy="3232680"/>
              </a:xfrm>
              <a:prstGeom prst="rect">
                <a:avLst/>
              </a:prstGeom>
              <a:blipFill rotWithShape="0">
                <a:blip r:embed="rId3"/>
                <a:stretch>
                  <a:fillRect l="-3386" t="-1509" b="-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7858807" y="3081476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Opposite</a:t>
            </a:r>
          </a:p>
          <a:p>
            <a:pPr algn="ctr"/>
            <a:r>
              <a:rPr lang="en-GB" sz="2400" dirty="0"/>
              <a:t>Adjacent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8074831" y="3480424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858807" y="4161596"/>
                <a:ext cx="10081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53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807" y="4161596"/>
                <a:ext cx="1008112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>
            <a:off x="8039335" y="4560544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26967" y="4737660"/>
                <a:ext cx="432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FFFF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67" y="4737660"/>
                <a:ext cx="432048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4591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 animBg="1"/>
      <p:bldP spid="27" grpId="0"/>
      <p:bldP spid="28" grpId="0"/>
      <p:bldP spid="29" grpId="0"/>
      <p:bldP spid="43" grpId="0"/>
      <p:bldP spid="45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2455" y="1975945"/>
            <a:ext cx="10762593" cy="4550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Solve the following by drawing a diagram and applying trig rules: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b="1" u="sng" dirty="0"/>
              <a:t>EXAMPLE 1:</a:t>
            </a:r>
            <a:r>
              <a:rPr lang="en-GB" b="1" dirty="0"/>
              <a:t> </a:t>
            </a:r>
            <a:r>
              <a:rPr lang="en-GB" dirty="0"/>
              <a:t>A boat is at sea and sees the light of a lighthouse in the distance. The captain knows the lighthouse is 86m tall. Given his angle of elevation when looking at the light is 13</a:t>
            </a:r>
            <a:r>
              <a:rPr lang="en-GB" baseline="30000" dirty="0"/>
              <a:t>o</a:t>
            </a:r>
            <a:r>
              <a:rPr lang="en-GB" dirty="0"/>
              <a:t>, how far away is the boat from the lighthouse?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EXAMPLE 2:</a:t>
            </a:r>
            <a:r>
              <a:rPr lang="en-GB" dirty="0"/>
              <a:t> While cleaning a hall, a cleaner spots a mouse on the floor 12m away. Given the woman is 1.6m tall, what is her angle of depression?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29284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635930-FEF5-2D48-BEB2-9C49EDECB9CE}"/>
              </a:ext>
            </a:extLst>
          </p:cNvPr>
          <p:cNvSpPr txBox="1"/>
          <p:nvPr/>
        </p:nvSpPr>
        <p:spPr>
          <a:xfrm>
            <a:off x="659239" y="714103"/>
            <a:ext cx="4315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Extension</a:t>
            </a:r>
          </a:p>
        </p:txBody>
      </p:sp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48A2B5B7-0604-014C-93AA-C53FE7F01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4" y="2819400"/>
            <a:ext cx="11947652" cy="239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1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Angles of Elevation and Depression</a:t>
            </a:r>
            <a:br>
              <a:rPr lang="en-US" dirty="0"/>
            </a:br>
            <a:r>
              <a:rPr lang="en-US" dirty="0"/>
              <a:t>EQ: What is the difference between them and how can they be solved with trigonometry?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3D2027-09C3-8E4D-BBF2-AE53D81A3315}"/>
              </a:ext>
            </a:extLst>
          </p:cNvPr>
          <p:cNvSpPr txBox="1">
            <a:spLocks/>
          </p:cNvSpPr>
          <p:nvPr/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Complete your summary</a:t>
            </a:r>
          </a:p>
          <a:p>
            <a:r>
              <a:rPr lang="en-US" sz="2800"/>
              <a:t>Complete angles of Elevation and Depression worksheet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87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465</Words>
  <Application>Microsoft Macintosh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Cambria Math</vt:lpstr>
      <vt:lpstr>Wingdings</vt:lpstr>
      <vt:lpstr>Education 16x9</vt:lpstr>
      <vt:lpstr>Topic: Angles of Depression and Elevation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2020-04-27T00:38:46Z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
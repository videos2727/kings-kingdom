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332" r:id="rId5"/>
    <p:sldId id="348" r:id="rId6"/>
    <p:sldId id="333" r:id="rId7"/>
    <p:sldId id="334" r:id="rId8"/>
    <p:sldId id="335" r:id="rId9"/>
    <p:sldId id="336" r:id="rId10"/>
    <p:sldId id="351" r:id="rId11"/>
    <p:sldId id="355" r:id="rId12"/>
    <p:sldId id="356" r:id="rId13"/>
    <p:sldId id="352" r:id="rId14"/>
    <p:sldId id="353" r:id="rId15"/>
    <p:sldId id="337" r:id="rId16"/>
    <p:sldId id="338" r:id="rId17"/>
    <p:sldId id="339" r:id="rId18"/>
    <p:sldId id="340" r:id="rId19"/>
    <p:sldId id="344" r:id="rId20"/>
    <p:sldId id="343" r:id="rId21"/>
    <p:sldId id="345" r:id="rId22"/>
    <p:sldId id="346" r:id="rId23"/>
    <p:sldId id="331" r:id="rId24"/>
    <p:sldId id="354" r:id="rId25"/>
    <p:sldId id="35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07" autoAdjust="0"/>
    <p:restoredTop sz="94170"/>
  </p:normalViewPr>
  <p:slideViewPr>
    <p:cSldViewPr snapToGrid="0">
      <p:cViewPr varScale="1">
        <p:scale>
          <a:sx n="105" d="100"/>
          <a:sy n="105" d="100"/>
        </p:scale>
        <p:origin x="200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4/27/20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4/27/20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18B84D-11BA-4065-82C1-30429F86B9BD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8167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4/27/20</a:t>
            </a:fld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4/27/20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4/27/20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4/27/20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4/27/20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4/27/20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4/27/20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896" y="2465294"/>
            <a:ext cx="5389895" cy="4392706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4/27/20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4/27/20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4/27/20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4/27/20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75826" y="44624"/>
            <a:ext cx="6062540" cy="1143000"/>
          </a:xfrm>
        </p:spPr>
        <p:txBody>
          <a:bodyPr/>
          <a:lstStyle>
            <a:lvl1pPr algn="r">
              <a:defRPr>
                <a:solidFill>
                  <a:srgbClr val="00B050"/>
                </a:solidFill>
              </a:defRPr>
            </a:lvl1pPr>
          </a:lstStyle>
          <a:p>
            <a:r>
              <a:rPr lang="en-US" dirty="0"/>
              <a:t>Lesson Title</a:t>
            </a:r>
            <a:endParaRPr lang="en-GB" dirty="0"/>
          </a:p>
        </p:txBody>
      </p:sp>
      <p:sp>
        <p:nvSpPr>
          <p:cNvPr id="7" name="Date Placeholder 3"/>
          <p:cNvSpPr txBox="1">
            <a:spLocks/>
          </p:cNvSpPr>
          <p:nvPr userDrawn="1"/>
        </p:nvSpPr>
        <p:spPr>
          <a:xfrm>
            <a:off x="262592" y="332657"/>
            <a:ext cx="4897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584E384-4DE3-47FA-AB97-65249CC4AC27}" type="datetime2">
              <a:rPr lang="en-GB" sz="2800" smtClean="0"/>
              <a:pPr/>
              <a:t>Monday, 27 April 2020</a:t>
            </a:fld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727897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75826" y="44624"/>
            <a:ext cx="6062540" cy="1143000"/>
          </a:xfrm>
        </p:spPr>
        <p:txBody>
          <a:bodyPr/>
          <a:lstStyle>
            <a:lvl1pPr algn="r">
              <a:defRPr>
                <a:solidFill>
                  <a:srgbClr val="00B050"/>
                </a:solidFill>
              </a:defRPr>
            </a:lvl1pPr>
          </a:lstStyle>
          <a:p>
            <a:r>
              <a:rPr lang="en-US" dirty="0"/>
              <a:t>Lesson Title</a:t>
            </a:r>
            <a:endParaRPr lang="en-GB" dirty="0"/>
          </a:p>
        </p:txBody>
      </p:sp>
      <p:sp>
        <p:nvSpPr>
          <p:cNvPr id="7" name="Date Placeholder 3"/>
          <p:cNvSpPr txBox="1">
            <a:spLocks/>
          </p:cNvSpPr>
          <p:nvPr userDrawn="1"/>
        </p:nvSpPr>
        <p:spPr>
          <a:xfrm>
            <a:off x="262592" y="332657"/>
            <a:ext cx="4897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584E384-4DE3-47FA-AB97-65249CC4AC27}" type="datetime2">
              <a:rPr lang="en-GB" sz="2800" smtClean="0"/>
              <a:pPr/>
              <a:t>Monday, 27 April 2020</a:t>
            </a:fld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88029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75826" y="44624"/>
            <a:ext cx="6062540" cy="1143000"/>
          </a:xfrm>
        </p:spPr>
        <p:txBody>
          <a:bodyPr/>
          <a:lstStyle>
            <a:lvl1pPr algn="r">
              <a:defRPr>
                <a:solidFill>
                  <a:srgbClr val="00B050"/>
                </a:solidFill>
              </a:defRPr>
            </a:lvl1pPr>
          </a:lstStyle>
          <a:p>
            <a:r>
              <a:rPr lang="en-US" dirty="0"/>
              <a:t>Lesson Title</a:t>
            </a:r>
            <a:endParaRPr lang="en-GB" dirty="0"/>
          </a:p>
        </p:txBody>
      </p:sp>
      <p:sp>
        <p:nvSpPr>
          <p:cNvPr id="7" name="Date Placeholder 3"/>
          <p:cNvSpPr txBox="1">
            <a:spLocks/>
          </p:cNvSpPr>
          <p:nvPr userDrawn="1"/>
        </p:nvSpPr>
        <p:spPr>
          <a:xfrm>
            <a:off x="262592" y="332657"/>
            <a:ext cx="4897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584E384-4DE3-47FA-AB97-65249CC4AC27}" type="datetime2">
              <a:rPr lang="en-GB" sz="2800" smtClean="0"/>
              <a:pPr/>
              <a:t>Monday, 27 April 2020</a:t>
            </a:fld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6704200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75826" y="44624"/>
            <a:ext cx="6062540" cy="1143000"/>
          </a:xfrm>
        </p:spPr>
        <p:txBody>
          <a:bodyPr/>
          <a:lstStyle>
            <a:lvl1pPr algn="r">
              <a:defRPr>
                <a:solidFill>
                  <a:srgbClr val="00B050"/>
                </a:solidFill>
              </a:defRPr>
            </a:lvl1pPr>
          </a:lstStyle>
          <a:p>
            <a:r>
              <a:rPr lang="en-US" dirty="0"/>
              <a:t>Lesson Title</a:t>
            </a:r>
            <a:endParaRPr lang="en-GB" dirty="0"/>
          </a:p>
        </p:txBody>
      </p:sp>
      <p:sp>
        <p:nvSpPr>
          <p:cNvPr id="7" name="Date Placeholder 3"/>
          <p:cNvSpPr txBox="1">
            <a:spLocks/>
          </p:cNvSpPr>
          <p:nvPr userDrawn="1"/>
        </p:nvSpPr>
        <p:spPr>
          <a:xfrm>
            <a:off x="262592" y="332657"/>
            <a:ext cx="4897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584E384-4DE3-47FA-AB97-65249CC4AC27}" type="datetime2">
              <a:rPr lang="en-GB" sz="2800" smtClean="0"/>
              <a:pPr/>
              <a:t>Monday, 27 April 2020</a:t>
            </a:fld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45348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75826" y="44624"/>
            <a:ext cx="6062540" cy="1143000"/>
          </a:xfrm>
        </p:spPr>
        <p:txBody>
          <a:bodyPr/>
          <a:lstStyle>
            <a:lvl1pPr algn="r">
              <a:defRPr>
                <a:solidFill>
                  <a:srgbClr val="00B050"/>
                </a:solidFill>
              </a:defRPr>
            </a:lvl1pPr>
          </a:lstStyle>
          <a:p>
            <a:r>
              <a:rPr lang="en-US" dirty="0"/>
              <a:t>Lesson Title</a:t>
            </a:r>
            <a:endParaRPr lang="en-GB" dirty="0"/>
          </a:p>
        </p:txBody>
      </p:sp>
      <p:sp>
        <p:nvSpPr>
          <p:cNvPr id="7" name="Date Placeholder 3"/>
          <p:cNvSpPr txBox="1">
            <a:spLocks/>
          </p:cNvSpPr>
          <p:nvPr userDrawn="1"/>
        </p:nvSpPr>
        <p:spPr>
          <a:xfrm>
            <a:off x="262592" y="332657"/>
            <a:ext cx="4897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584E384-4DE3-47FA-AB97-65249CC4AC27}" type="datetime2">
              <a:rPr lang="en-GB" sz="2800" smtClean="0"/>
              <a:pPr/>
              <a:t>Monday, 27 April 2020</a:t>
            </a:fld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1406146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75826" y="44624"/>
            <a:ext cx="6062540" cy="1143000"/>
          </a:xfrm>
        </p:spPr>
        <p:txBody>
          <a:bodyPr/>
          <a:lstStyle>
            <a:lvl1pPr algn="r">
              <a:defRPr>
                <a:solidFill>
                  <a:srgbClr val="00B050"/>
                </a:solidFill>
              </a:defRPr>
            </a:lvl1pPr>
          </a:lstStyle>
          <a:p>
            <a:r>
              <a:rPr lang="en-US" dirty="0"/>
              <a:t>Lesson Title</a:t>
            </a:r>
            <a:endParaRPr lang="en-GB" dirty="0"/>
          </a:p>
        </p:txBody>
      </p:sp>
      <p:sp>
        <p:nvSpPr>
          <p:cNvPr id="7" name="Date Placeholder 3"/>
          <p:cNvSpPr txBox="1">
            <a:spLocks/>
          </p:cNvSpPr>
          <p:nvPr userDrawn="1"/>
        </p:nvSpPr>
        <p:spPr>
          <a:xfrm>
            <a:off x="262592" y="332657"/>
            <a:ext cx="4897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584E384-4DE3-47FA-AB97-65249CC4AC27}" type="datetime2">
              <a:rPr lang="en-GB" sz="2800" smtClean="0"/>
              <a:pPr/>
              <a:t>Monday, 27 April 2020</a:t>
            </a:fld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989903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</a:t>
            </a:r>
          </a:p>
          <a:p>
            <a:pPr lvl="6"/>
            <a:r>
              <a:t>Seventh</a:t>
            </a:r>
          </a:p>
          <a:p>
            <a:pPr lvl="7"/>
            <a:r>
              <a:t>Eighth</a:t>
            </a:r>
          </a:p>
          <a:p>
            <a:pPr lvl="8"/>
            <a:r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/>
              <a:t>4/27/20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jpeg"/><Relationship Id="rId11" Type="http://schemas.openxmlformats.org/officeDocument/2006/relationships/image" Target="../media/image32.png"/><Relationship Id="rId5" Type="http://schemas.openxmlformats.org/officeDocument/2006/relationships/image" Target="../media/image16.png"/><Relationship Id="rId10" Type="http://schemas.openxmlformats.org/officeDocument/2006/relationships/image" Target="../media/image31.png"/><Relationship Id="rId4" Type="http://schemas.openxmlformats.org/officeDocument/2006/relationships/image" Target="../media/image15.png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0.png"/><Relationship Id="rId7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7.jpeg"/><Relationship Id="rId11" Type="http://schemas.openxmlformats.org/officeDocument/2006/relationships/image" Target="../media/image37.png"/><Relationship Id="rId5" Type="http://schemas.openxmlformats.org/officeDocument/2006/relationships/image" Target="../media/image15.png"/><Relationship Id="rId10" Type="http://schemas.openxmlformats.org/officeDocument/2006/relationships/image" Target="../media/image36.png"/><Relationship Id="rId4" Type="http://schemas.openxmlformats.org/officeDocument/2006/relationships/image" Target="../media/image14.png"/><Relationship Id="rId9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2.png"/><Relationship Id="rId7" Type="http://schemas.openxmlformats.org/officeDocument/2006/relationships/image" Target="../media/image17.jpeg"/><Relationship Id="rId12" Type="http://schemas.openxmlformats.org/officeDocument/2006/relationships/image" Target="../media/image24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5.png"/><Relationship Id="rId11" Type="http://schemas.openxmlformats.org/officeDocument/2006/relationships/image" Target="../media/image230.png"/><Relationship Id="rId5" Type="http://schemas.openxmlformats.org/officeDocument/2006/relationships/image" Target="../media/image14.png"/><Relationship Id="rId10" Type="http://schemas.openxmlformats.org/officeDocument/2006/relationships/image" Target="../media/image220.png"/><Relationship Id="rId4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Topic: Bearings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How do bearings relate to trigonometry?</a:t>
            </a:r>
          </a:p>
        </p:txBody>
      </p:sp>
    </p:spTree>
    <p:extLst>
      <p:ext uri="{BB962C8B-B14F-4D97-AF65-F5344CB8AC3E}">
        <p14:creationId xmlns:p14="http://schemas.microsoft.com/office/powerpoint/2010/main" val="11657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171452" y="5949282"/>
            <a:ext cx="11781200" cy="86409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0" y="1095459"/>
            <a:ext cx="12192000" cy="48496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0" y="0"/>
            <a:ext cx="7200124" cy="90872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7109460" y="-4222"/>
            <a:ext cx="5082540" cy="908723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14350" y="354330"/>
            <a:ext cx="608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LO: Trigonometry &amp; Bearings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528" y="1077992"/>
            <a:ext cx="75106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Bearings are ALWAYS given from the North, and can be anything from 0° to 360°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124" y="1880897"/>
            <a:ext cx="6048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90° is usually given as due ….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063" y="2496450"/>
            <a:ext cx="515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180° is usually given as due…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1309" y="3081267"/>
            <a:ext cx="2736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West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1309" y="2519318"/>
            <a:ext cx="2736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South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4088" y="1942452"/>
            <a:ext cx="2736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East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1844" y="3045581"/>
            <a:ext cx="5040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270° is usually given as due…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1452" y="3826784"/>
            <a:ext cx="824947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Bearings always have 3 figures, so a 0 (or 2) is placed at the from of angles less than 100°</a:t>
            </a:r>
          </a:p>
          <a:p>
            <a:r>
              <a:rPr lang="en-GB" sz="3200" dirty="0" err="1"/>
              <a:t>e.g</a:t>
            </a:r>
            <a:r>
              <a:rPr lang="en-GB" sz="3200" dirty="0"/>
              <a:t>   47° is given as    047°</a:t>
            </a:r>
          </a:p>
          <a:p>
            <a:r>
              <a:rPr lang="en-GB" sz="3200" dirty="0"/>
              <a:t>           2° is given as    002°     </a:t>
            </a:r>
          </a:p>
          <a:p>
            <a:r>
              <a:rPr lang="en-GB" sz="3200" dirty="0"/>
              <a:t>              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970" y="6217920"/>
            <a:ext cx="923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Keywords: angle, length, kilometres, bearing, distance</a:t>
            </a:r>
            <a:r>
              <a:rPr lang="en-GB" baseline="0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4349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C619C8-CF90-3943-A8E6-E59A3A7F5576}" type="slidenum">
              <a:rPr lang="en-US" altLang="x-none"/>
              <a:pPr/>
              <a:t>3</a:t>
            </a:fld>
            <a:endParaRPr lang="en-US" altLang="x-none"/>
          </a:p>
        </p:txBody>
      </p:sp>
      <p:sp>
        <p:nvSpPr>
          <p:cNvPr id="5126" name="WordArt 6"/>
          <p:cNvSpPr>
            <a:spLocks noChangeArrowheads="1" noChangeShapeType="1" noTextEdit="1"/>
          </p:cNvSpPr>
          <p:nvPr/>
        </p:nvSpPr>
        <p:spPr bwMode="auto">
          <a:xfrm>
            <a:off x="4064000" y="57151"/>
            <a:ext cx="1951038" cy="7858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0066CC"/>
                </a:solidFill>
                <a:effectLst>
                  <a:outerShdw blurRad="63500" dist="38099" dir="2700000" algn="ctr" rotWithShape="0">
                    <a:srgbClr val="990000">
                      <a:alpha val="74998"/>
                    </a:srgbClr>
                  </a:outerShdw>
                </a:effectLst>
                <a:latin typeface="Impact" charset="0"/>
                <a:ea typeface="Impact" charset="0"/>
                <a:cs typeface="Impact" charset="0"/>
              </a:rPr>
              <a:t>Compass</a:t>
            </a:r>
          </a:p>
        </p:txBody>
      </p:sp>
      <p:sp>
        <p:nvSpPr>
          <p:cNvPr id="5200" name="WordArt 80"/>
          <p:cNvSpPr>
            <a:spLocks noChangeArrowheads="1" noChangeShapeType="1" noTextEdit="1"/>
          </p:cNvSpPr>
          <p:nvPr/>
        </p:nvSpPr>
        <p:spPr bwMode="auto">
          <a:xfrm>
            <a:off x="6224589" y="57151"/>
            <a:ext cx="1951037" cy="7858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0066CC"/>
                </a:solidFill>
                <a:effectLst>
                  <a:outerShdw blurRad="63500" dist="38099" dir="2700000" algn="ctr" rotWithShape="0">
                    <a:srgbClr val="990000">
                      <a:alpha val="74998"/>
                    </a:srgbClr>
                  </a:outerShdw>
                </a:effectLst>
                <a:latin typeface="Impact" charset="0"/>
                <a:ea typeface="Impact" charset="0"/>
                <a:cs typeface="Impact" charset="0"/>
              </a:rPr>
              <a:t>Bearing</a:t>
            </a:r>
          </a:p>
        </p:txBody>
      </p:sp>
      <p:pic>
        <p:nvPicPr>
          <p:cNvPr id="5216" name="Picture 96" descr="1195427182853813009liftarn_Compas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4546601"/>
            <a:ext cx="172085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17" name="Picture 97" descr="12284172531342817835CoD_fsfe_Wind_rose_ic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1181100"/>
            <a:ext cx="4305300" cy="43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18" name="AutoShape 98"/>
          <p:cNvSpPr>
            <a:spLocks noChangeArrowheads="1"/>
          </p:cNvSpPr>
          <p:nvPr/>
        </p:nvSpPr>
        <p:spPr bwMode="auto">
          <a:xfrm>
            <a:off x="7170739" y="1219200"/>
            <a:ext cx="2695575" cy="819150"/>
          </a:xfrm>
          <a:prstGeom prst="beve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/>
              <a:t>Cardinal Points</a:t>
            </a:r>
          </a:p>
        </p:txBody>
      </p:sp>
      <p:sp>
        <p:nvSpPr>
          <p:cNvPr id="5219" name="AutoShape 99"/>
          <p:cNvSpPr>
            <a:spLocks noChangeArrowheads="1"/>
          </p:cNvSpPr>
          <p:nvPr/>
        </p:nvSpPr>
        <p:spPr bwMode="auto">
          <a:xfrm>
            <a:off x="7164389" y="2212975"/>
            <a:ext cx="2695575" cy="819150"/>
          </a:xfrm>
          <a:prstGeom prst="beve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/>
              <a:t>Ordinal Points</a:t>
            </a:r>
          </a:p>
        </p:txBody>
      </p:sp>
      <p:sp>
        <p:nvSpPr>
          <p:cNvPr id="5220" name="AutoShape 100"/>
          <p:cNvSpPr>
            <a:spLocks noChangeArrowheads="1"/>
          </p:cNvSpPr>
          <p:nvPr/>
        </p:nvSpPr>
        <p:spPr bwMode="auto">
          <a:xfrm>
            <a:off x="7158039" y="3206750"/>
            <a:ext cx="2695575" cy="819150"/>
          </a:xfrm>
          <a:prstGeom prst="beve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/>
              <a:t>Extra Points</a:t>
            </a:r>
          </a:p>
        </p:txBody>
      </p:sp>
      <p:sp>
        <p:nvSpPr>
          <p:cNvPr id="5221" name="Oval 101"/>
          <p:cNvSpPr>
            <a:spLocks noChangeArrowheads="1"/>
          </p:cNvSpPr>
          <p:nvPr/>
        </p:nvSpPr>
        <p:spPr bwMode="auto">
          <a:xfrm>
            <a:off x="3706814" y="1136650"/>
            <a:ext cx="561975" cy="5461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2" name="Oval 102"/>
          <p:cNvSpPr>
            <a:spLocks noChangeArrowheads="1"/>
          </p:cNvSpPr>
          <p:nvPr/>
        </p:nvSpPr>
        <p:spPr bwMode="auto">
          <a:xfrm>
            <a:off x="5621339" y="3035300"/>
            <a:ext cx="561975" cy="5461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" name="Oval 103"/>
          <p:cNvSpPr>
            <a:spLocks noChangeArrowheads="1"/>
          </p:cNvSpPr>
          <p:nvPr/>
        </p:nvSpPr>
        <p:spPr bwMode="auto">
          <a:xfrm>
            <a:off x="3725864" y="4981575"/>
            <a:ext cx="561975" cy="5461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" name="Oval 104"/>
          <p:cNvSpPr>
            <a:spLocks noChangeArrowheads="1"/>
          </p:cNvSpPr>
          <p:nvPr/>
        </p:nvSpPr>
        <p:spPr bwMode="auto">
          <a:xfrm>
            <a:off x="1814514" y="3022600"/>
            <a:ext cx="561975" cy="5461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5" name="Text Box 105"/>
          <p:cNvSpPr txBox="1">
            <a:spLocks noChangeArrowheads="1"/>
          </p:cNvSpPr>
          <p:nvPr/>
        </p:nvSpPr>
        <p:spPr bwMode="auto">
          <a:xfrm>
            <a:off x="10158414" y="616267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AU" altLang="x-none"/>
          </a:p>
        </p:txBody>
      </p:sp>
      <p:sp>
        <p:nvSpPr>
          <p:cNvPr id="5226" name="Oval 106"/>
          <p:cNvSpPr>
            <a:spLocks noChangeArrowheads="1"/>
          </p:cNvSpPr>
          <p:nvPr/>
        </p:nvSpPr>
        <p:spPr bwMode="auto">
          <a:xfrm>
            <a:off x="4810126" y="1806575"/>
            <a:ext cx="561975" cy="546100"/>
          </a:xfrm>
          <a:prstGeom prst="ellipse">
            <a:avLst/>
          </a:prstGeom>
          <a:noFill/>
          <a:ln w="5715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7" name="Oval 107"/>
          <p:cNvSpPr>
            <a:spLocks noChangeArrowheads="1"/>
          </p:cNvSpPr>
          <p:nvPr/>
        </p:nvSpPr>
        <p:spPr bwMode="auto">
          <a:xfrm>
            <a:off x="4824414" y="4276725"/>
            <a:ext cx="561975" cy="546100"/>
          </a:xfrm>
          <a:prstGeom prst="ellipse">
            <a:avLst/>
          </a:prstGeom>
          <a:noFill/>
          <a:ln w="5715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8" name="Oval 108"/>
          <p:cNvSpPr>
            <a:spLocks noChangeArrowheads="1"/>
          </p:cNvSpPr>
          <p:nvPr/>
        </p:nvSpPr>
        <p:spPr bwMode="auto">
          <a:xfrm>
            <a:off x="2584451" y="4286250"/>
            <a:ext cx="561975" cy="546100"/>
          </a:xfrm>
          <a:prstGeom prst="ellipse">
            <a:avLst/>
          </a:prstGeom>
          <a:noFill/>
          <a:ln w="5715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9" name="Oval 109"/>
          <p:cNvSpPr>
            <a:spLocks noChangeArrowheads="1"/>
          </p:cNvSpPr>
          <p:nvPr/>
        </p:nvSpPr>
        <p:spPr bwMode="auto">
          <a:xfrm>
            <a:off x="2551114" y="1787525"/>
            <a:ext cx="561975" cy="546100"/>
          </a:xfrm>
          <a:prstGeom prst="ellipse">
            <a:avLst/>
          </a:prstGeom>
          <a:noFill/>
          <a:ln w="5715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30" name="Text Box 110"/>
          <p:cNvSpPr txBox="1">
            <a:spLocks noChangeArrowheads="1"/>
          </p:cNvSpPr>
          <p:nvPr/>
        </p:nvSpPr>
        <p:spPr bwMode="auto">
          <a:xfrm>
            <a:off x="2615942" y="5792788"/>
            <a:ext cx="2640531" cy="369332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x-none">
                <a:solidFill>
                  <a:schemeClr val="bg1"/>
                </a:solidFill>
              </a:rPr>
              <a:t>Is  ‘</a:t>
            </a:r>
            <a:r>
              <a:rPr lang="en-US" altLang="x-none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WS’</a:t>
            </a:r>
            <a:r>
              <a:rPr lang="en-US" altLang="x-none">
                <a:solidFill>
                  <a:schemeClr val="bg1"/>
                </a:solidFill>
              </a:rPr>
              <a:t> the same as ‘</a:t>
            </a:r>
            <a:r>
              <a:rPr lang="en-US" altLang="x-none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SW’</a:t>
            </a:r>
            <a:r>
              <a:rPr lang="en-US" altLang="x-none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5231" name="AutoShape 111"/>
          <p:cNvSpPr>
            <a:spLocks noChangeArrowheads="1"/>
          </p:cNvSpPr>
          <p:nvPr/>
        </p:nvSpPr>
        <p:spPr bwMode="auto">
          <a:xfrm>
            <a:off x="6105526" y="5775325"/>
            <a:ext cx="512763" cy="496888"/>
          </a:xfrm>
          <a:prstGeom prst="beve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</a:p>
        </p:txBody>
      </p:sp>
      <p:sp>
        <p:nvSpPr>
          <p:cNvPr id="5232" name="Text Box 112"/>
          <p:cNvSpPr txBox="1">
            <a:spLocks noChangeArrowheads="1"/>
          </p:cNvSpPr>
          <p:nvPr/>
        </p:nvSpPr>
        <p:spPr bwMode="auto">
          <a:xfrm>
            <a:off x="6640513" y="5824538"/>
            <a:ext cx="4932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Yes</a:t>
            </a:r>
          </a:p>
        </p:txBody>
      </p:sp>
      <p:sp>
        <p:nvSpPr>
          <p:cNvPr id="5233" name="Text Box 113"/>
          <p:cNvSpPr txBox="1">
            <a:spLocks noChangeArrowheads="1"/>
          </p:cNvSpPr>
          <p:nvPr/>
        </p:nvSpPr>
        <p:spPr bwMode="auto">
          <a:xfrm>
            <a:off x="4175126" y="1881188"/>
            <a:ext cx="6014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NNE</a:t>
            </a:r>
          </a:p>
        </p:txBody>
      </p:sp>
      <p:sp>
        <p:nvSpPr>
          <p:cNvPr id="5234" name="Text Box 114"/>
          <p:cNvSpPr txBox="1">
            <a:spLocks noChangeArrowheads="1"/>
          </p:cNvSpPr>
          <p:nvPr/>
        </p:nvSpPr>
        <p:spPr bwMode="auto">
          <a:xfrm>
            <a:off x="5041900" y="2620963"/>
            <a:ext cx="5613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ENE</a:t>
            </a:r>
          </a:p>
        </p:txBody>
      </p:sp>
      <p:sp>
        <p:nvSpPr>
          <p:cNvPr id="5235" name="Text Box 115"/>
          <p:cNvSpPr txBox="1">
            <a:spLocks noChangeArrowheads="1"/>
          </p:cNvSpPr>
          <p:nvPr/>
        </p:nvSpPr>
        <p:spPr bwMode="auto">
          <a:xfrm>
            <a:off x="5035551" y="3662363"/>
            <a:ext cx="51603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ESE</a:t>
            </a:r>
          </a:p>
        </p:txBody>
      </p:sp>
      <p:sp>
        <p:nvSpPr>
          <p:cNvPr id="5236" name="Text Box 116"/>
          <p:cNvSpPr txBox="1">
            <a:spLocks noChangeArrowheads="1"/>
          </p:cNvSpPr>
          <p:nvPr/>
        </p:nvSpPr>
        <p:spPr bwMode="auto">
          <a:xfrm>
            <a:off x="4108451" y="4354513"/>
            <a:ext cx="51488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SSE</a:t>
            </a:r>
          </a:p>
        </p:txBody>
      </p:sp>
      <p:sp>
        <p:nvSpPr>
          <p:cNvPr id="5237" name="Text Box 117"/>
          <p:cNvSpPr txBox="1">
            <a:spLocks noChangeArrowheads="1"/>
          </p:cNvSpPr>
          <p:nvPr/>
        </p:nvSpPr>
        <p:spPr bwMode="auto">
          <a:xfrm>
            <a:off x="3197226" y="4364038"/>
            <a:ext cx="61106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SSW</a:t>
            </a:r>
          </a:p>
        </p:txBody>
      </p:sp>
      <p:sp>
        <p:nvSpPr>
          <p:cNvPr id="5238" name="Text Box 118"/>
          <p:cNvSpPr txBox="1">
            <a:spLocks noChangeArrowheads="1"/>
          </p:cNvSpPr>
          <p:nvPr/>
        </p:nvSpPr>
        <p:spPr bwMode="auto">
          <a:xfrm>
            <a:off x="2127251" y="3627438"/>
            <a:ext cx="7111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WSW</a:t>
            </a:r>
          </a:p>
        </p:txBody>
      </p:sp>
      <p:sp>
        <p:nvSpPr>
          <p:cNvPr id="5239" name="Text Box 119"/>
          <p:cNvSpPr txBox="1">
            <a:spLocks noChangeArrowheads="1"/>
          </p:cNvSpPr>
          <p:nvPr/>
        </p:nvSpPr>
        <p:spPr bwMode="auto">
          <a:xfrm>
            <a:off x="2152650" y="2652713"/>
            <a:ext cx="7569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WNW</a:t>
            </a:r>
          </a:p>
        </p:txBody>
      </p:sp>
      <p:sp>
        <p:nvSpPr>
          <p:cNvPr id="5240" name="Text Box 120"/>
          <p:cNvSpPr txBox="1">
            <a:spLocks noChangeArrowheads="1"/>
          </p:cNvSpPr>
          <p:nvPr/>
        </p:nvSpPr>
        <p:spPr bwMode="auto">
          <a:xfrm>
            <a:off x="3130550" y="1900238"/>
            <a:ext cx="6992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NNW</a:t>
            </a:r>
          </a:p>
        </p:txBody>
      </p:sp>
      <p:sp>
        <p:nvSpPr>
          <p:cNvPr id="5241" name="Text Box 121"/>
          <p:cNvSpPr txBox="1">
            <a:spLocks noChangeArrowheads="1"/>
          </p:cNvSpPr>
          <p:nvPr/>
        </p:nvSpPr>
        <p:spPr bwMode="auto">
          <a:xfrm>
            <a:off x="7662815" y="4016375"/>
            <a:ext cx="16844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x-none" b="1">
                <a:effectLst>
                  <a:outerShdw blurRad="38100" dist="38100" dir="2700000" algn="tl">
                    <a:srgbClr val="FFFFFF"/>
                  </a:outerShdw>
                </a:effectLst>
              </a:rPr>
              <a:t>Toggle Switches</a:t>
            </a:r>
          </a:p>
        </p:txBody>
      </p:sp>
    </p:spTree>
    <p:extLst>
      <p:ext uri="{BB962C8B-B14F-4D97-AF65-F5344CB8AC3E}">
        <p14:creationId xmlns:p14="http://schemas.microsoft.com/office/powerpoint/2010/main" val="1765811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2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18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52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 nodeType="clickPar">
                      <p:stCondLst>
                        <p:cond delay="0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19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5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 nodeType="clickPar">
                      <p:stCondLst>
                        <p:cond delay="0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31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2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 nodeType="clickPar">
                      <p:stCondLst>
                        <p:cond delay="0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1" nodeType="afterEffect" nodePh="1">
                                  <p:stCondLst>
                                    <p:cond delay="10000"/>
                                  </p:stCondLst>
                                  <p:endCondLst>
                                    <p:cond evt="begin" delay="0">
                                      <p:tn val="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20"/>
                  </p:tgtEl>
                </p:cond>
              </p:nextCondLst>
            </p:seq>
          </p:childTnLst>
        </p:cTn>
      </p:par>
    </p:tnLst>
    <p:bldLst>
      <p:bldP spid="5221" grpId="0" animBg="1"/>
      <p:bldP spid="5222" grpId="0" animBg="1"/>
      <p:bldP spid="5223" grpId="0" animBg="1"/>
      <p:bldP spid="5224" grpId="0" animBg="1"/>
      <p:bldP spid="5225" grpId="0"/>
      <p:bldP spid="5225" grpId="1"/>
      <p:bldP spid="5226" grpId="0" animBg="1"/>
      <p:bldP spid="5227" grpId="0" animBg="1"/>
      <p:bldP spid="5228" grpId="0" animBg="1"/>
      <p:bldP spid="5229" grpId="0" animBg="1"/>
      <p:bldP spid="5232" grpId="0"/>
      <p:bldP spid="5233" grpId="0"/>
      <p:bldP spid="5234" grpId="0"/>
      <p:bldP spid="5235" grpId="0"/>
      <p:bldP spid="5236" grpId="0"/>
      <p:bldP spid="5237" grpId="0"/>
      <p:bldP spid="5238" grpId="0"/>
      <p:bldP spid="5239" grpId="0"/>
      <p:bldP spid="52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0B2D25-747D-6742-B6F0-02CDADFDA3CB}" type="slidenum">
              <a:rPr lang="en-US" altLang="x-none"/>
              <a:pPr/>
              <a:t>4</a:t>
            </a:fld>
            <a:endParaRPr lang="en-US" altLang="x-none"/>
          </a:p>
        </p:txBody>
      </p:sp>
      <p:grpSp>
        <p:nvGrpSpPr>
          <p:cNvPr id="7176" name="Group 8"/>
          <p:cNvGrpSpPr>
            <a:grpSpLocks/>
          </p:cNvGrpSpPr>
          <p:nvPr/>
        </p:nvGrpSpPr>
        <p:grpSpPr bwMode="auto">
          <a:xfrm>
            <a:off x="3324225" y="630238"/>
            <a:ext cx="5118100" cy="5135562"/>
            <a:chOff x="1192" y="495"/>
            <a:chExt cx="3224" cy="3235"/>
          </a:xfrm>
        </p:grpSpPr>
        <p:sp>
          <p:nvSpPr>
            <p:cNvPr id="7175" name="Oval 7"/>
            <p:cNvSpPr>
              <a:spLocks noChangeArrowheads="1"/>
            </p:cNvSpPr>
            <p:nvPr/>
          </p:nvSpPr>
          <p:spPr bwMode="auto">
            <a:xfrm>
              <a:off x="1546" y="849"/>
              <a:ext cx="2749" cy="2769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174" name="Group 6"/>
            <p:cNvGrpSpPr>
              <a:grpSpLocks/>
            </p:cNvGrpSpPr>
            <p:nvPr/>
          </p:nvGrpSpPr>
          <p:grpSpPr bwMode="auto">
            <a:xfrm>
              <a:off x="1192" y="495"/>
              <a:ext cx="3224" cy="3235"/>
              <a:chOff x="1192" y="495"/>
              <a:chExt cx="3224" cy="3235"/>
            </a:xfrm>
          </p:grpSpPr>
          <p:pic>
            <p:nvPicPr>
              <p:cNvPr id="7172" name="Picture 4" descr="11970846131937118159RobA_Modern_Compass_Rose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23" y="590"/>
                <a:ext cx="3093" cy="31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173" name="Rectangle 5"/>
              <p:cNvSpPr>
                <a:spLocks noChangeArrowheads="1"/>
              </p:cNvSpPr>
              <p:nvPr/>
            </p:nvSpPr>
            <p:spPr bwMode="auto">
              <a:xfrm>
                <a:off x="1192" y="495"/>
                <a:ext cx="395" cy="19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7202" name="Arc 34"/>
          <p:cNvSpPr>
            <a:spLocks/>
          </p:cNvSpPr>
          <p:nvPr/>
        </p:nvSpPr>
        <p:spPr bwMode="auto">
          <a:xfrm>
            <a:off x="6096000" y="3049589"/>
            <a:ext cx="381000" cy="6318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35858"/>
              <a:gd name="T2" fmla="*/ 16225 w 21600"/>
              <a:gd name="T3" fmla="*/ 35858 h 35858"/>
              <a:gd name="T4" fmla="*/ 0 w 21600"/>
              <a:gd name="T5" fmla="*/ 21600 h 358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35858" fill="none" extrusionOk="0">
                <a:moveTo>
                  <a:pt x="0" y="-1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6847"/>
                  <a:pt x="19689" y="31916"/>
                  <a:pt x="16225" y="35858"/>
                </a:cubicBezTo>
              </a:path>
              <a:path w="21600" h="35858" stroke="0" extrusionOk="0">
                <a:moveTo>
                  <a:pt x="0" y="-1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6847"/>
                  <a:pt x="19689" y="31916"/>
                  <a:pt x="16225" y="35858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03" name="Text Box 35"/>
          <p:cNvSpPr txBox="1">
            <a:spLocks noChangeArrowheads="1"/>
          </p:cNvSpPr>
          <p:nvPr/>
        </p:nvSpPr>
        <p:spPr bwMode="auto">
          <a:xfrm>
            <a:off x="7096126" y="4475163"/>
            <a:ext cx="61747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135</a:t>
            </a:r>
            <a:r>
              <a:rPr lang="en-US" altLang="x-none" baseline="30000"/>
              <a:t>o</a:t>
            </a:r>
            <a:endParaRPr lang="en-US" altLang="x-none"/>
          </a:p>
        </p:txBody>
      </p:sp>
      <p:sp>
        <p:nvSpPr>
          <p:cNvPr id="7170" name="WordArt 2"/>
          <p:cNvSpPr>
            <a:spLocks noChangeArrowheads="1" noChangeShapeType="1" noTextEdit="1"/>
          </p:cNvSpPr>
          <p:nvPr/>
        </p:nvSpPr>
        <p:spPr bwMode="auto">
          <a:xfrm>
            <a:off x="4579939" y="165101"/>
            <a:ext cx="3044825" cy="5635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0066CC"/>
                </a:solidFill>
                <a:effectLst>
                  <a:outerShdw blurRad="63500" dist="38099" dir="2700000" algn="ctr" rotWithShape="0">
                    <a:srgbClr val="990000">
                      <a:alpha val="74998"/>
                    </a:srgbClr>
                  </a:outerShdw>
                </a:effectLst>
                <a:latin typeface="Impact" charset="0"/>
                <a:ea typeface="Impact" charset="0"/>
                <a:cs typeface="Impact" charset="0"/>
              </a:rPr>
              <a:t>True Bearing</a:t>
            </a:r>
          </a:p>
        </p:txBody>
      </p:sp>
      <p:sp>
        <p:nvSpPr>
          <p:cNvPr id="7177" name="Text Box 9"/>
          <p:cNvSpPr txBox="1">
            <a:spLocks noChangeArrowheads="1"/>
          </p:cNvSpPr>
          <p:nvPr/>
        </p:nvSpPr>
        <p:spPr bwMode="auto">
          <a:xfrm>
            <a:off x="2435280" y="1157289"/>
            <a:ext cx="182075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x-none"/>
              <a:t>Always measured</a:t>
            </a:r>
          </a:p>
          <a:p>
            <a:pPr algn="ctr"/>
            <a:r>
              <a:rPr lang="en-US" altLang="x-none"/>
              <a:t>from </a:t>
            </a:r>
            <a:r>
              <a:rPr lang="en-US" altLang="x-none" b="1">
                <a:solidFill>
                  <a:srgbClr val="FF0000"/>
                </a:solidFill>
              </a:rPr>
              <a:t>North</a:t>
            </a:r>
            <a:r>
              <a:rPr lang="en-US" altLang="x-none"/>
              <a:t>.</a:t>
            </a:r>
          </a:p>
        </p:txBody>
      </p:sp>
      <p:sp>
        <p:nvSpPr>
          <p:cNvPr id="7178" name="Text Box 10"/>
          <p:cNvSpPr txBox="1">
            <a:spLocks noChangeArrowheads="1"/>
          </p:cNvSpPr>
          <p:nvPr/>
        </p:nvSpPr>
        <p:spPr bwMode="auto">
          <a:xfrm>
            <a:off x="8281732" y="1150939"/>
            <a:ext cx="14975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x-none"/>
              <a:t>In a </a:t>
            </a:r>
            <a:r>
              <a:rPr lang="en-US" altLang="x-none" b="1">
                <a:solidFill>
                  <a:srgbClr val="FF0000"/>
                </a:solidFill>
              </a:rPr>
              <a:t>clockwise</a:t>
            </a:r>
          </a:p>
          <a:p>
            <a:pPr algn="ctr"/>
            <a:r>
              <a:rPr lang="en-US" altLang="x-none"/>
              <a:t>direction.</a:t>
            </a:r>
          </a:p>
        </p:txBody>
      </p:sp>
      <p:sp>
        <p:nvSpPr>
          <p:cNvPr id="7182" name="AutoShape 14"/>
          <p:cNvSpPr>
            <a:spLocks noChangeArrowheads="1"/>
          </p:cNvSpPr>
          <p:nvPr/>
        </p:nvSpPr>
        <p:spPr bwMode="auto">
          <a:xfrm>
            <a:off x="8696325" y="1989138"/>
            <a:ext cx="755650" cy="303212"/>
          </a:xfrm>
          <a:prstGeom prst="beve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b="1">
                <a:solidFill>
                  <a:srgbClr val="FF0000"/>
                </a:solidFill>
              </a:rPr>
              <a:t>Press</a:t>
            </a:r>
          </a:p>
        </p:txBody>
      </p:sp>
      <p:sp>
        <p:nvSpPr>
          <p:cNvPr id="7184" name="Text Box 16"/>
          <p:cNvSpPr txBox="1">
            <a:spLocks noChangeArrowheads="1"/>
          </p:cNvSpPr>
          <p:nvPr/>
        </p:nvSpPr>
        <p:spPr bwMode="auto">
          <a:xfrm>
            <a:off x="1720850" y="5214938"/>
            <a:ext cx="405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/>
              <a:t>Eg</a:t>
            </a:r>
          </a:p>
        </p:txBody>
      </p:sp>
      <p:sp>
        <p:nvSpPr>
          <p:cNvPr id="7185" name="AutoShape 17"/>
          <p:cNvSpPr>
            <a:spLocks noChangeArrowheads="1"/>
          </p:cNvSpPr>
          <p:nvPr/>
        </p:nvSpPr>
        <p:spPr bwMode="auto">
          <a:xfrm>
            <a:off x="2246313" y="5854700"/>
            <a:ext cx="914400" cy="528638"/>
          </a:xfrm>
          <a:prstGeom prst="beve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/>
              <a:t>75</a:t>
            </a:r>
            <a:r>
              <a:rPr lang="en-US" altLang="x-none" baseline="30000"/>
              <a:t>o</a:t>
            </a:r>
            <a:endParaRPr lang="en-US" altLang="x-none"/>
          </a:p>
        </p:txBody>
      </p:sp>
      <p:sp>
        <p:nvSpPr>
          <p:cNvPr id="7186" name="AutoShape 18"/>
          <p:cNvSpPr>
            <a:spLocks noChangeArrowheads="1"/>
          </p:cNvSpPr>
          <p:nvPr/>
        </p:nvSpPr>
        <p:spPr bwMode="auto">
          <a:xfrm>
            <a:off x="3382963" y="5864225"/>
            <a:ext cx="914400" cy="528638"/>
          </a:xfrm>
          <a:prstGeom prst="beve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/>
              <a:t>135</a:t>
            </a:r>
            <a:r>
              <a:rPr lang="en-US" altLang="x-none" baseline="30000"/>
              <a:t>o</a:t>
            </a:r>
            <a:endParaRPr lang="en-US" altLang="x-none"/>
          </a:p>
        </p:txBody>
      </p:sp>
      <p:sp>
        <p:nvSpPr>
          <p:cNvPr id="7187" name="AutoShape 19"/>
          <p:cNvSpPr>
            <a:spLocks noChangeArrowheads="1"/>
          </p:cNvSpPr>
          <p:nvPr/>
        </p:nvSpPr>
        <p:spPr bwMode="auto">
          <a:xfrm>
            <a:off x="4519613" y="5873750"/>
            <a:ext cx="914400" cy="528638"/>
          </a:xfrm>
          <a:prstGeom prst="beve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/>
              <a:t>345</a:t>
            </a:r>
            <a:r>
              <a:rPr lang="en-US" altLang="x-none" baseline="30000"/>
              <a:t>o</a:t>
            </a:r>
            <a:endParaRPr lang="en-US" altLang="x-none"/>
          </a:p>
        </p:txBody>
      </p:sp>
      <p:sp>
        <p:nvSpPr>
          <p:cNvPr id="7188" name="AutoShape 20"/>
          <p:cNvSpPr>
            <a:spLocks noChangeArrowheads="1"/>
          </p:cNvSpPr>
          <p:nvPr/>
        </p:nvSpPr>
        <p:spPr bwMode="auto">
          <a:xfrm>
            <a:off x="5656263" y="5883275"/>
            <a:ext cx="914400" cy="528638"/>
          </a:xfrm>
          <a:prstGeom prst="beve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/>
              <a:t>300</a:t>
            </a:r>
            <a:r>
              <a:rPr lang="en-US" altLang="x-none" baseline="30000"/>
              <a:t>o</a:t>
            </a:r>
            <a:endParaRPr lang="en-US" altLang="x-none"/>
          </a:p>
        </p:txBody>
      </p:sp>
      <p:sp>
        <p:nvSpPr>
          <p:cNvPr id="7189" name="AutoShape 21"/>
          <p:cNvSpPr>
            <a:spLocks noChangeArrowheads="1"/>
          </p:cNvSpPr>
          <p:nvPr/>
        </p:nvSpPr>
        <p:spPr bwMode="auto">
          <a:xfrm>
            <a:off x="6792913" y="5892800"/>
            <a:ext cx="914400" cy="528638"/>
          </a:xfrm>
          <a:prstGeom prst="beve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/>
              <a:t>105</a:t>
            </a:r>
            <a:r>
              <a:rPr lang="en-US" altLang="x-none" baseline="30000"/>
              <a:t>o</a:t>
            </a:r>
            <a:endParaRPr lang="en-US" altLang="x-none"/>
          </a:p>
        </p:txBody>
      </p:sp>
      <p:sp>
        <p:nvSpPr>
          <p:cNvPr id="7190" name="AutoShape 22"/>
          <p:cNvSpPr>
            <a:spLocks noChangeArrowheads="1"/>
          </p:cNvSpPr>
          <p:nvPr/>
        </p:nvSpPr>
        <p:spPr bwMode="auto">
          <a:xfrm>
            <a:off x="7929563" y="5902325"/>
            <a:ext cx="914400" cy="528638"/>
          </a:xfrm>
          <a:prstGeom prst="beve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/>
              <a:t>30</a:t>
            </a:r>
            <a:r>
              <a:rPr lang="en-US" altLang="x-none" baseline="30000"/>
              <a:t>o</a:t>
            </a:r>
            <a:endParaRPr lang="en-US" altLang="x-none"/>
          </a:p>
        </p:txBody>
      </p:sp>
      <p:sp>
        <p:nvSpPr>
          <p:cNvPr id="7191" name="AutoShape 23"/>
          <p:cNvSpPr>
            <a:spLocks noChangeArrowheads="1"/>
          </p:cNvSpPr>
          <p:nvPr/>
        </p:nvSpPr>
        <p:spPr bwMode="auto">
          <a:xfrm>
            <a:off x="9066213" y="5911850"/>
            <a:ext cx="914400" cy="528638"/>
          </a:xfrm>
          <a:prstGeom prst="beve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/>
              <a:t>210</a:t>
            </a:r>
            <a:r>
              <a:rPr lang="en-US" altLang="x-none" baseline="30000"/>
              <a:t>o</a:t>
            </a:r>
            <a:endParaRPr lang="en-US" altLang="x-none"/>
          </a:p>
        </p:txBody>
      </p:sp>
      <p:grpSp>
        <p:nvGrpSpPr>
          <p:cNvPr id="7181" name="Group 13"/>
          <p:cNvGrpSpPr>
            <a:grpSpLocks/>
          </p:cNvGrpSpPr>
          <p:nvPr/>
        </p:nvGrpSpPr>
        <p:grpSpPr bwMode="auto">
          <a:xfrm>
            <a:off x="6061076" y="1749426"/>
            <a:ext cx="22225" cy="3281363"/>
            <a:chOff x="2876" y="1119"/>
            <a:chExt cx="14" cy="2067"/>
          </a:xfrm>
        </p:grpSpPr>
        <p:sp>
          <p:nvSpPr>
            <p:cNvPr id="7179" name="Line 11"/>
            <p:cNvSpPr>
              <a:spLocks noChangeShapeType="1"/>
            </p:cNvSpPr>
            <p:nvPr/>
          </p:nvSpPr>
          <p:spPr bwMode="auto">
            <a:xfrm flipH="1" flipV="1">
              <a:off x="2880" y="1119"/>
              <a:ext cx="10" cy="1041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0" name="Line 12"/>
            <p:cNvSpPr>
              <a:spLocks noChangeShapeType="1"/>
            </p:cNvSpPr>
            <p:nvPr/>
          </p:nvSpPr>
          <p:spPr bwMode="auto">
            <a:xfrm flipH="1" flipV="1">
              <a:off x="2876" y="2145"/>
              <a:ext cx="10" cy="1041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FF0000"/>
                  </a:solidFill>
                  <a:round/>
                  <a:headEnd/>
                  <a:tailEnd type="arrow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183" name="Oval 15"/>
          <p:cNvSpPr>
            <a:spLocks noChangeArrowheads="1"/>
          </p:cNvSpPr>
          <p:nvPr/>
        </p:nvSpPr>
        <p:spPr bwMode="auto">
          <a:xfrm>
            <a:off x="5991225" y="3316289"/>
            <a:ext cx="209550" cy="2238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01" name="Line 33"/>
          <p:cNvSpPr>
            <a:spLocks noChangeShapeType="1"/>
          </p:cNvSpPr>
          <p:nvPr/>
        </p:nvSpPr>
        <p:spPr bwMode="auto">
          <a:xfrm>
            <a:off x="6096000" y="3429001"/>
            <a:ext cx="1181100" cy="113347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209" name="Group 41"/>
          <p:cNvGrpSpPr>
            <a:grpSpLocks/>
          </p:cNvGrpSpPr>
          <p:nvPr/>
        </p:nvGrpSpPr>
        <p:grpSpPr bwMode="auto">
          <a:xfrm>
            <a:off x="5994400" y="1741488"/>
            <a:ext cx="2209800" cy="1763712"/>
            <a:chOff x="4332" y="2280"/>
            <a:chExt cx="1392" cy="1111"/>
          </a:xfrm>
        </p:grpSpPr>
        <p:grpSp>
          <p:nvGrpSpPr>
            <p:cNvPr id="7199" name="Group 31"/>
            <p:cNvGrpSpPr>
              <a:grpSpLocks/>
            </p:cNvGrpSpPr>
            <p:nvPr/>
          </p:nvGrpSpPr>
          <p:grpSpPr bwMode="auto">
            <a:xfrm>
              <a:off x="4390" y="2280"/>
              <a:ext cx="1334" cy="1050"/>
              <a:chOff x="2880" y="1118"/>
              <a:chExt cx="1334" cy="1050"/>
            </a:xfrm>
          </p:grpSpPr>
          <p:grpSp>
            <p:nvGrpSpPr>
              <p:cNvPr id="7197" name="Group 29"/>
              <p:cNvGrpSpPr>
                <a:grpSpLocks/>
              </p:cNvGrpSpPr>
              <p:nvPr/>
            </p:nvGrpSpPr>
            <p:grpSpPr bwMode="auto">
              <a:xfrm>
                <a:off x="2880" y="1118"/>
                <a:ext cx="984" cy="1050"/>
                <a:chOff x="2880" y="1118"/>
                <a:chExt cx="984" cy="1050"/>
              </a:xfrm>
            </p:grpSpPr>
            <p:sp>
              <p:nvSpPr>
                <p:cNvPr id="7196" name="Arc 28"/>
                <p:cNvSpPr>
                  <a:spLocks/>
                </p:cNvSpPr>
                <p:nvPr/>
              </p:nvSpPr>
              <p:spPr bwMode="auto">
                <a:xfrm>
                  <a:off x="2880" y="1927"/>
                  <a:ext cx="213" cy="234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0746"/>
                    <a:gd name="T1" fmla="*/ 0 h 21600"/>
                    <a:gd name="T2" fmla="*/ 20746 w 20746"/>
                    <a:gd name="T3" fmla="*/ 15586 h 21600"/>
                    <a:gd name="T4" fmla="*/ 0 w 20746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746" h="21600" fill="none" extrusionOk="0">
                      <a:moveTo>
                        <a:pt x="0" y="-1"/>
                      </a:moveTo>
                      <a:cubicBezTo>
                        <a:pt x="9613" y="-1"/>
                        <a:pt x="18069" y="6353"/>
                        <a:pt x="20745" y="15586"/>
                      </a:cubicBezTo>
                    </a:path>
                    <a:path w="20746" h="21600" stroke="0" extrusionOk="0">
                      <a:moveTo>
                        <a:pt x="0" y="-1"/>
                      </a:moveTo>
                      <a:cubicBezTo>
                        <a:pt x="9613" y="-1"/>
                        <a:pt x="18069" y="6353"/>
                        <a:pt x="20745" y="15586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76200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7195" name="Group 27"/>
                <p:cNvGrpSpPr>
                  <a:grpSpLocks/>
                </p:cNvGrpSpPr>
                <p:nvPr/>
              </p:nvGrpSpPr>
              <p:grpSpPr bwMode="auto">
                <a:xfrm>
                  <a:off x="2880" y="1118"/>
                  <a:ext cx="984" cy="1050"/>
                  <a:chOff x="2880" y="1118"/>
                  <a:chExt cx="984" cy="1050"/>
                </a:xfrm>
              </p:grpSpPr>
              <p:sp>
                <p:nvSpPr>
                  <p:cNvPr id="7193" name="Line 2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80" y="1118"/>
                    <a:ext cx="0" cy="1050"/>
                  </a:xfrm>
                  <a:prstGeom prst="line">
                    <a:avLst/>
                  </a:prstGeom>
                  <a:noFill/>
                  <a:ln w="76200">
                    <a:solidFill>
                      <a:srgbClr val="FF0000"/>
                    </a:solidFill>
                    <a:round/>
                    <a:headEnd/>
                    <a:tailEnd type="arrow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194" name="Line 2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80" y="1896"/>
                    <a:ext cx="984" cy="264"/>
                  </a:xfrm>
                  <a:prstGeom prst="line">
                    <a:avLst/>
                  </a:prstGeom>
                  <a:noFill/>
                  <a:ln w="76200">
                    <a:solidFill>
                      <a:srgbClr val="FF0000"/>
                    </a:solidFill>
                    <a:round/>
                    <a:headEnd/>
                    <a:tailEnd type="arrow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7198" name="Text Box 30"/>
              <p:cNvSpPr txBox="1">
                <a:spLocks noChangeArrowheads="1"/>
              </p:cNvSpPr>
              <p:nvPr/>
            </p:nvSpPr>
            <p:spPr bwMode="auto">
              <a:xfrm>
                <a:off x="3854" y="1763"/>
                <a:ext cx="360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x-none" sz="1600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075</a:t>
                </a:r>
                <a:r>
                  <a:rPr lang="en-US" altLang="x-none" sz="1600" b="1" baseline="4000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o</a:t>
                </a:r>
              </a:p>
            </p:txBody>
          </p:sp>
        </p:grpSp>
        <p:sp>
          <p:nvSpPr>
            <p:cNvPr id="7208" name="Oval 40"/>
            <p:cNvSpPr>
              <a:spLocks noChangeArrowheads="1"/>
            </p:cNvSpPr>
            <p:nvPr/>
          </p:nvSpPr>
          <p:spPr bwMode="auto">
            <a:xfrm>
              <a:off x="4332" y="3250"/>
              <a:ext cx="132" cy="14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210" name="Group 42"/>
          <p:cNvGrpSpPr>
            <a:grpSpLocks/>
          </p:cNvGrpSpPr>
          <p:nvPr/>
        </p:nvGrpSpPr>
        <p:grpSpPr bwMode="auto">
          <a:xfrm>
            <a:off x="5965825" y="1776414"/>
            <a:ext cx="209550" cy="1716087"/>
            <a:chOff x="236" y="1398"/>
            <a:chExt cx="132" cy="1081"/>
          </a:xfrm>
        </p:grpSpPr>
        <p:sp>
          <p:nvSpPr>
            <p:cNvPr id="7200" name="Line 32"/>
            <p:cNvSpPr>
              <a:spLocks noChangeShapeType="1"/>
            </p:cNvSpPr>
            <p:nvPr/>
          </p:nvSpPr>
          <p:spPr bwMode="auto">
            <a:xfrm flipV="1">
              <a:off x="306" y="1398"/>
              <a:ext cx="0" cy="1026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5" name="Oval 37"/>
            <p:cNvSpPr>
              <a:spLocks noChangeArrowheads="1"/>
            </p:cNvSpPr>
            <p:nvPr/>
          </p:nvSpPr>
          <p:spPr bwMode="auto">
            <a:xfrm>
              <a:off x="236" y="2338"/>
              <a:ext cx="132" cy="14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207" name="Text Box 39"/>
          <p:cNvSpPr txBox="1">
            <a:spLocks noChangeArrowheads="1"/>
          </p:cNvSpPr>
          <p:nvPr/>
        </p:nvSpPr>
        <p:spPr bwMode="auto">
          <a:xfrm>
            <a:off x="10398126" y="539273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AU" altLang="x-none"/>
          </a:p>
        </p:txBody>
      </p:sp>
      <p:sp>
        <p:nvSpPr>
          <p:cNvPr id="7211" name="Arc 43"/>
          <p:cNvSpPr>
            <a:spLocks/>
          </p:cNvSpPr>
          <p:nvPr/>
        </p:nvSpPr>
        <p:spPr bwMode="auto">
          <a:xfrm>
            <a:off x="5716588" y="3049588"/>
            <a:ext cx="762000" cy="760412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21600 w 43200"/>
              <a:gd name="T1" fmla="*/ 0 h 43200"/>
              <a:gd name="T2" fmla="*/ 13797 w 43200"/>
              <a:gd name="T3" fmla="*/ 1459 h 43200"/>
              <a:gd name="T4" fmla="*/ 21600 w 43200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600" y="-1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2681"/>
                  <a:pt x="5480" y="4680"/>
                  <a:pt x="13796" y="1458"/>
                </a:cubicBezTo>
              </a:path>
              <a:path w="43200" h="43200" stroke="0" extrusionOk="0">
                <a:moveTo>
                  <a:pt x="21600" y="-1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2681"/>
                  <a:pt x="5480" y="4680"/>
                  <a:pt x="13796" y="1458"/>
                </a:cubicBezTo>
                <a:lnTo>
                  <a:pt x="21600" y="21600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12" name="Text Box 44"/>
          <p:cNvSpPr txBox="1">
            <a:spLocks noChangeArrowheads="1"/>
          </p:cNvSpPr>
          <p:nvPr/>
        </p:nvSpPr>
        <p:spPr bwMode="auto">
          <a:xfrm>
            <a:off x="5140326" y="1376363"/>
            <a:ext cx="61747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345</a:t>
            </a:r>
            <a:r>
              <a:rPr lang="en-US" altLang="x-none" baseline="30000"/>
              <a:t>o</a:t>
            </a:r>
            <a:endParaRPr lang="en-US" altLang="x-none"/>
          </a:p>
        </p:txBody>
      </p:sp>
      <p:sp>
        <p:nvSpPr>
          <p:cNvPr id="7213" name="Line 45"/>
          <p:cNvSpPr>
            <a:spLocks noChangeShapeType="1"/>
          </p:cNvSpPr>
          <p:nvPr/>
        </p:nvSpPr>
        <p:spPr bwMode="auto">
          <a:xfrm flipH="1" flipV="1">
            <a:off x="5626100" y="1793876"/>
            <a:ext cx="469900" cy="163512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7" name="Arc 49"/>
          <p:cNvSpPr>
            <a:spLocks/>
          </p:cNvSpPr>
          <p:nvPr/>
        </p:nvSpPr>
        <p:spPr bwMode="auto">
          <a:xfrm>
            <a:off x="5716588" y="3049588"/>
            <a:ext cx="762000" cy="760412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21600 w 43200"/>
              <a:gd name="T1" fmla="*/ 0 h 43200"/>
              <a:gd name="T2" fmla="*/ 3539 w 43200"/>
              <a:gd name="T3" fmla="*/ 9753 h 43200"/>
              <a:gd name="T4" fmla="*/ 21600 w 43200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600" y="-1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7390"/>
                  <a:pt x="1230" y="13272"/>
                  <a:pt x="3538" y="9752"/>
                </a:cubicBezTo>
              </a:path>
              <a:path w="43200" h="43200" stroke="0" extrusionOk="0">
                <a:moveTo>
                  <a:pt x="21600" y="-1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7390"/>
                  <a:pt x="1230" y="13272"/>
                  <a:pt x="3538" y="9752"/>
                </a:cubicBezTo>
                <a:lnTo>
                  <a:pt x="21600" y="21600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18" name="Text Box 50"/>
          <p:cNvSpPr txBox="1">
            <a:spLocks noChangeArrowheads="1"/>
          </p:cNvSpPr>
          <p:nvPr/>
        </p:nvSpPr>
        <p:spPr bwMode="auto">
          <a:xfrm>
            <a:off x="4124326" y="2214563"/>
            <a:ext cx="61747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300</a:t>
            </a:r>
            <a:r>
              <a:rPr lang="en-US" altLang="x-none" baseline="30000"/>
              <a:t>o</a:t>
            </a:r>
            <a:endParaRPr lang="en-US" altLang="x-none"/>
          </a:p>
        </p:txBody>
      </p:sp>
      <p:sp>
        <p:nvSpPr>
          <p:cNvPr id="7219" name="Line 51"/>
          <p:cNvSpPr>
            <a:spLocks noChangeShapeType="1"/>
          </p:cNvSpPr>
          <p:nvPr/>
        </p:nvSpPr>
        <p:spPr bwMode="auto">
          <a:xfrm flipH="1" flipV="1">
            <a:off x="4648200" y="2568576"/>
            <a:ext cx="1435100" cy="84772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0" name="Arc 52"/>
          <p:cNvSpPr>
            <a:spLocks/>
          </p:cNvSpPr>
          <p:nvPr/>
        </p:nvSpPr>
        <p:spPr bwMode="auto">
          <a:xfrm>
            <a:off x="6096000" y="3028950"/>
            <a:ext cx="381000" cy="47625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7096"/>
              <a:gd name="T2" fmla="*/ 20889 w 21600"/>
              <a:gd name="T3" fmla="*/ 27096 h 27096"/>
              <a:gd name="T4" fmla="*/ 0 w 21600"/>
              <a:gd name="T5" fmla="*/ 21600 h 270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7096" fill="none" extrusionOk="0">
                <a:moveTo>
                  <a:pt x="0" y="-1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3454"/>
                  <a:pt x="21361" y="25302"/>
                  <a:pt x="20889" y="27096"/>
                </a:cubicBezTo>
              </a:path>
              <a:path w="21600" h="27096" stroke="0" extrusionOk="0">
                <a:moveTo>
                  <a:pt x="0" y="-1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3454"/>
                  <a:pt x="21361" y="25302"/>
                  <a:pt x="20889" y="27096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21" name="Text Box 53"/>
          <p:cNvSpPr txBox="1">
            <a:spLocks noChangeArrowheads="1"/>
          </p:cNvSpPr>
          <p:nvPr/>
        </p:nvSpPr>
        <p:spPr bwMode="auto">
          <a:xfrm>
            <a:off x="7575551" y="3651250"/>
            <a:ext cx="61747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105</a:t>
            </a:r>
            <a:r>
              <a:rPr lang="en-US" altLang="x-none" baseline="30000"/>
              <a:t>o</a:t>
            </a:r>
            <a:endParaRPr lang="en-US" altLang="x-none"/>
          </a:p>
        </p:txBody>
      </p:sp>
      <p:sp>
        <p:nvSpPr>
          <p:cNvPr id="7222" name="Line 54"/>
          <p:cNvSpPr>
            <a:spLocks noChangeShapeType="1"/>
          </p:cNvSpPr>
          <p:nvPr/>
        </p:nvSpPr>
        <p:spPr bwMode="auto">
          <a:xfrm>
            <a:off x="6096000" y="3429000"/>
            <a:ext cx="1595438" cy="4064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3" name="Arc 55"/>
          <p:cNvSpPr>
            <a:spLocks/>
          </p:cNvSpPr>
          <p:nvPr/>
        </p:nvSpPr>
        <p:spPr bwMode="auto">
          <a:xfrm>
            <a:off x="6096001" y="3027363"/>
            <a:ext cx="193675" cy="37941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10921"/>
              <a:gd name="T1" fmla="*/ 0 h 21600"/>
              <a:gd name="T2" fmla="*/ 10921 w 10921"/>
              <a:gd name="T3" fmla="*/ 2964 h 21600"/>
              <a:gd name="T4" fmla="*/ 0 w 10921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921" h="21600" fill="none" extrusionOk="0">
                <a:moveTo>
                  <a:pt x="0" y="-1"/>
                </a:moveTo>
                <a:cubicBezTo>
                  <a:pt x="3839" y="-1"/>
                  <a:pt x="7608" y="1023"/>
                  <a:pt x="10920" y="2964"/>
                </a:cubicBezTo>
              </a:path>
              <a:path w="10921" h="21600" stroke="0" extrusionOk="0">
                <a:moveTo>
                  <a:pt x="0" y="-1"/>
                </a:moveTo>
                <a:cubicBezTo>
                  <a:pt x="3839" y="-1"/>
                  <a:pt x="7608" y="1023"/>
                  <a:pt x="10920" y="2964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24" name="Text Box 56"/>
          <p:cNvSpPr txBox="1">
            <a:spLocks noChangeArrowheads="1"/>
          </p:cNvSpPr>
          <p:nvPr/>
        </p:nvSpPr>
        <p:spPr bwMode="auto">
          <a:xfrm>
            <a:off x="6689726" y="1549400"/>
            <a:ext cx="61747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030</a:t>
            </a:r>
            <a:r>
              <a:rPr lang="en-US" altLang="x-none" baseline="30000"/>
              <a:t>o</a:t>
            </a:r>
            <a:endParaRPr lang="en-US" altLang="x-none"/>
          </a:p>
        </p:txBody>
      </p:sp>
      <p:sp>
        <p:nvSpPr>
          <p:cNvPr id="7225" name="Line 57"/>
          <p:cNvSpPr>
            <a:spLocks noChangeShapeType="1"/>
          </p:cNvSpPr>
          <p:nvPr/>
        </p:nvSpPr>
        <p:spPr bwMode="auto">
          <a:xfrm flipV="1">
            <a:off x="6096001" y="1941514"/>
            <a:ext cx="823913" cy="1487487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6" name="Text Box 58"/>
          <p:cNvSpPr txBox="1">
            <a:spLocks noChangeArrowheads="1"/>
          </p:cNvSpPr>
          <p:nvPr/>
        </p:nvSpPr>
        <p:spPr bwMode="auto">
          <a:xfrm>
            <a:off x="4757739" y="4762500"/>
            <a:ext cx="61747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210</a:t>
            </a:r>
            <a:r>
              <a:rPr lang="en-US" altLang="x-none" baseline="30000"/>
              <a:t>o</a:t>
            </a:r>
            <a:endParaRPr lang="en-US" altLang="x-none"/>
          </a:p>
        </p:txBody>
      </p:sp>
      <p:sp>
        <p:nvSpPr>
          <p:cNvPr id="7227" name="Line 59"/>
          <p:cNvSpPr>
            <a:spLocks noChangeShapeType="1"/>
          </p:cNvSpPr>
          <p:nvPr/>
        </p:nvSpPr>
        <p:spPr bwMode="auto">
          <a:xfrm flipH="1">
            <a:off x="5238750" y="3429000"/>
            <a:ext cx="857250" cy="14097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8" name="Arc 60"/>
          <p:cNvSpPr>
            <a:spLocks/>
          </p:cNvSpPr>
          <p:nvPr/>
        </p:nvSpPr>
        <p:spPr bwMode="auto">
          <a:xfrm>
            <a:off x="5908676" y="3048001"/>
            <a:ext cx="550863" cy="760413"/>
          </a:xfrm>
          <a:custGeom>
            <a:avLst/>
            <a:gdLst>
              <a:gd name="G0" fmla="+- 9600 0 0"/>
              <a:gd name="G1" fmla="+- 21600 0 0"/>
              <a:gd name="G2" fmla="+- 21600 0 0"/>
              <a:gd name="T0" fmla="*/ 9600 w 31200"/>
              <a:gd name="T1" fmla="*/ 0 h 43200"/>
              <a:gd name="T2" fmla="*/ 0 w 31200"/>
              <a:gd name="T3" fmla="*/ 40949 h 43200"/>
              <a:gd name="T4" fmla="*/ 9600 w 31200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1200" h="43200" fill="none" extrusionOk="0">
                <a:moveTo>
                  <a:pt x="9600" y="-1"/>
                </a:moveTo>
                <a:cubicBezTo>
                  <a:pt x="21529" y="0"/>
                  <a:pt x="31200" y="9670"/>
                  <a:pt x="31200" y="21600"/>
                </a:cubicBezTo>
                <a:cubicBezTo>
                  <a:pt x="31200" y="33529"/>
                  <a:pt x="21529" y="43200"/>
                  <a:pt x="9600" y="43200"/>
                </a:cubicBezTo>
                <a:cubicBezTo>
                  <a:pt x="6269" y="43199"/>
                  <a:pt x="2983" y="42429"/>
                  <a:pt x="-1" y="40949"/>
                </a:cubicBezTo>
              </a:path>
              <a:path w="31200" h="43200" stroke="0" extrusionOk="0">
                <a:moveTo>
                  <a:pt x="9600" y="-1"/>
                </a:moveTo>
                <a:cubicBezTo>
                  <a:pt x="21529" y="0"/>
                  <a:pt x="31200" y="9670"/>
                  <a:pt x="31200" y="21600"/>
                </a:cubicBezTo>
                <a:cubicBezTo>
                  <a:pt x="31200" y="33529"/>
                  <a:pt x="21529" y="43200"/>
                  <a:pt x="9600" y="43200"/>
                </a:cubicBezTo>
                <a:cubicBezTo>
                  <a:pt x="6269" y="43199"/>
                  <a:pt x="2983" y="42429"/>
                  <a:pt x="-1" y="40949"/>
                </a:cubicBezTo>
                <a:lnTo>
                  <a:pt x="9600" y="21600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270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7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 nodeType="clickPar">
                      <p:stCondLst>
                        <p:cond delay="0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6" dur="2000" fill="hold"/>
                                        <p:tgtEl>
                                          <p:spTgt spid="71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" presetClass="entr" presetSubtype="0" fill="hold" grpId="0" nodeType="after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82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71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 nodeType="clickPar">
                      <p:stCondLst>
                        <p:cond delay="0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1" nodeType="afterEffect" nodePh="1">
                                  <p:stCondLst>
                                    <p:cond delay="5000"/>
                                  </p:stCondLst>
                                  <p:endCondLst>
                                    <p:cond evt="begin" delay="0">
                                      <p:tn val="4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85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7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 nodeType="clickPar">
                      <p:stCondLst>
                        <p:cond delay="0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2" nodeType="afterEffect" nodePh="1">
                                  <p:stCondLst>
                                    <p:cond delay="5000"/>
                                  </p:stCondLst>
                                  <p:endCondLst>
                                    <p:cond evt="begin" delay="0">
                                      <p:tn val="6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8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7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 nodeType="clickPar">
                      <p:stCondLst>
                        <p:cond delay="0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3" nodeType="afterEffect" nodePh="1">
                                  <p:stCondLst>
                                    <p:cond delay="5000"/>
                                  </p:stCondLst>
                                  <p:endCondLst>
                                    <p:cond evt="begin" delay="0">
                                      <p:tn val="7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87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7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 nodeType="clickPar">
                      <p:stCondLst>
                        <p:cond delay="0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4" nodeType="afterEffect" nodePh="1">
                                  <p:stCondLst>
                                    <p:cond delay="5000"/>
                                  </p:stCondLst>
                                  <p:endCondLst>
                                    <p:cond evt="begin" delay="0">
                                      <p:tn val="8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88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71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 nodeType="clickPar">
                      <p:stCondLst>
                        <p:cond delay="0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5" nodeType="afterEffect" nodePh="1">
                                  <p:stCondLst>
                                    <p:cond delay="5000"/>
                                  </p:stCondLst>
                                  <p:endCondLst>
                                    <p:cond evt="begin" delay="0">
                                      <p:tn val="10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8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7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 nodeType="clickPar">
                      <p:stCondLst>
                        <p:cond delay="0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6" nodeType="afterEffect" nodePh="1">
                                  <p:stCondLst>
                                    <p:cond delay="5000"/>
                                  </p:stCondLst>
                                  <p:endCondLst>
                                    <p:cond evt="begin" delay="0">
                                      <p:tn val="11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90"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7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 nodeType="clickPar">
                      <p:stCondLst>
                        <p:cond delay="0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7" nodeType="afterEffect" nodePh="1">
                                  <p:stCondLst>
                                    <p:cond delay="4000"/>
                                  </p:stCondLst>
                                  <p:endCondLst>
                                    <p:cond evt="begin" delay="0">
                                      <p:tn val="1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91"/>
                  </p:tgtEl>
                </p:cond>
              </p:nextCondLst>
            </p:seq>
          </p:childTnLst>
        </p:cTn>
      </p:par>
    </p:tnLst>
    <p:bldLst>
      <p:bldP spid="7202" grpId="0" animBg="1"/>
      <p:bldP spid="7203" grpId="0"/>
      <p:bldP spid="7184" grpId="0"/>
      <p:bldP spid="7185" grpId="0" animBg="1"/>
      <p:bldP spid="7186" grpId="0" animBg="1"/>
      <p:bldP spid="7187" grpId="0" animBg="1"/>
      <p:bldP spid="7188" grpId="0" animBg="1"/>
      <p:bldP spid="7189" grpId="0" animBg="1"/>
      <p:bldP spid="7190" grpId="0" animBg="1"/>
      <p:bldP spid="7191" grpId="0" animBg="1"/>
      <p:bldP spid="7183" grpId="0" animBg="1"/>
      <p:bldP spid="7201" grpId="0" animBg="1"/>
      <p:bldP spid="7207" grpId="0"/>
      <p:bldP spid="7207" grpId="1"/>
      <p:bldP spid="7207" grpId="2"/>
      <p:bldP spid="7207" grpId="3"/>
      <p:bldP spid="7207" grpId="4"/>
      <p:bldP spid="7207" grpId="5"/>
      <p:bldP spid="7207" grpId="6"/>
      <p:bldP spid="7207" grpId="7"/>
      <p:bldP spid="7211" grpId="0" animBg="1"/>
      <p:bldP spid="7212" grpId="0"/>
      <p:bldP spid="7213" grpId="0" animBg="1"/>
      <p:bldP spid="7217" grpId="0" animBg="1"/>
      <p:bldP spid="7218" grpId="0"/>
      <p:bldP spid="7219" grpId="0" animBg="1"/>
      <p:bldP spid="7220" grpId="0" animBg="1"/>
      <p:bldP spid="7221" grpId="0"/>
      <p:bldP spid="7222" grpId="0" animBg="1"/>
      <p:bldP spid="7223" grpId="0" animBg="1"/>
      <p:bldP spid="7224" grpId="0"/>
      <p:bldP spid="7225" grpId="0" animBg="1"/>
      <p:bldP spid="7226" grpId="0"/>
      <p:bldP spid="7227" grpId="0" animBg="1"/>
      <p:bldP spid="72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1EE21E-568A-A942-AF41-684F93A49178}" type="slidenum">
              <a:rPr lang="en-US" altLang="x-none"/>
              <a:pPr/>
              <a:t>5</a:t>
            </a:fld>
            <a:endParaRPr lang="en-US" altLang="x-none"/>
          </a:p>
        </p:txBody>
      </p:sp>
      <p:pic>
        <p:nvPicPr>
          <p:cNvPr id="6146" name="Picture 2" descr="1194983899606690431network_could_nicolas_cl_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0" y="4746625"/>
            <a:ext cx="2744788" cy="207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1194983899606690431network_could_nicolas_cl_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779964"/>
            <a:ext cx="2744788" cy="207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1194983899606690431network_could_nicolas_cl_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214" y="0"/>
            <a:ext cx="2744787" cy="207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 descr="1194983899606690431network_could_nicolas_cl_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2744788" cy="207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1197149273653485660urwald_wind_rose_compass_ro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650" y="628650"/>
            <a:ext cx="5537200" cy="553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1" name="WordArt 7"/>
          <p:cNvSpPr>
            <a:spLocks noChangeArrowheads="1" noChangeShapeType="1" noTextEdit="1"/>
          </p:cNvSpPr>
          <p:nvPr/>
        </p:nvSpPr>
        <p:spPr bwMode="auto">
          <a:xfrm>
            <a:off x="1549400" y="1"/>
            <a:ext cx="1951038" cy="7858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0066CC"/>
                </a:solidFill>
                <a:effectLst>
                  <a:outerShdw blurRad="63500" dist="38099" dir="2700000" algn="ctr" rotWithShape="0">
                    <a:srgbClr val="990000">
                      <a:alpha val="74998"/>
                    </a:srgbClr>
                  </a:outerShdw>
                </a:effectLst>
                <a:latin typeface="Impact" charset="0"/>
                <a:ea typeface="Impact" charset="0"/>
                <a:cs typeface="Impact" charset="0"/>
              </a:rPr>
              <a:t>Compass</a:t>
            </a:r>
          </a:p>
        </p:txBody>
      </p:sp>
      <p:sp>
        <p:nvSpPr>
          <p:cNvPr id="6152" name="Text Box 8"/>
          <p:cNvSpPr txBox="1">
            <a:spLocks noChangeArrowheads="1"/>
          </p:cNvSpPr>
          <p:nvPr/>
        </p:nvSpPr>
        <p:spPr bwMode="auto">
          <a:xfrm>
            <a:off x="5880100" y="228600"/>
            <a:ext cx="3369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effectLst>
                  <a:outerShdw blurRad="38100" dist="38100" dir="2700000" algn="tl">
                    <a:srgbClr val="FFFFFF"/>
                  </a:outerShdw>
                </a:effectLst>
              </a:rPr>
              <a:t>N</a:t>
            </a:r>
            <a:endParaRPr lang="en-US" altLang="x-none" b="1" baseline="420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153" name="Text Box 9"/>
          <p:cNvSpPr txBox="1">
            <a:spLocks noChangeArrowheads="1"/>
          </p:cNvSpPr>
          <p:nvPr/>
        </p:nvSpPr>
        <p:spPr bwMode="auto">
          <a:xfrm>
            <a:off x="3594101" y="1155700"/>
            <a:ext cx="54694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effectLst>
                  <a:outerShdw blurRad="38100" dist="38100" dir="2700000" algn="tl">
                    <a:srgbClr val="FFFFFF"/>
                  </a:outerShdw>
                </a:effectLst>
              </a:rPr>
              <a:t>NW</a:t>
            </a:r>
            <a:endParaRPr lang="en-US" altLang="x-none" b="1" baseline="420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154" name="Text Box 10"/>
          <p:cNvSpPr txBox="1">
            <a:spLocks noChangeArrowheads="1"/>
          </p:cNvSpPr>
          <p:nvPr/>
        </p:nvSpPr>
        <p:spPr bwMode="auto">
          <a:xfrm>
            <a:off x="4660900" y="812800"/>
            <a:ext cx="6992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effectLst>
                  <a:outerShdw blurRad="38100" dist="38100" dir="2700000" algn="tl">
                    <a:srgbClr val="FFFFFF"/>
                  </a:outerShdw>
                </a:effectLst>
              </a:rPr>
              <a:t>NNW</a:t>
            </a:r>
            <a:endParaRPr lang="en-US" altLang="x-none" b="1" baseline="420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155" name="Text Box 11"/>
          <p:cNvSpPr txBox="1">
            <a:spLocks noChangeArrowheads="1"/>
          </p:cNvSpPr>
          <p:nvPr/>
        </p:nvSpPr>
        <p:spPr bwMode="auto">
          <a:xfrm>
            <a:off x="2870200" y="2247900"/>
            <a:ext cx="7569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effectLst>
                  <a:outerShdw blurRad="38100" dist="38100" dir="2700000" algn="tl">
                    <a:srgbClr val="FFFFFF"/>
                  </a:outerShdw>
                </a:effectLst>
              </a:rPr>
              <a:t>WNW</a:t>
            </a:r>
            <a:endParaRPr lang="en-US" altLang="x-none" b="1" baseline="420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156" name="Text Box 12"/>
          <p:cNvSpPr txBox="1">
            <a:spLocks noChangeArrowheads="1"/>
          </p:cNvSpPr>
          <p:nvPr/>
        </p:nvSpPr>
        <p:spPr bwMode="auto">
          <a:xfrm>
            <a:off x="2921000" y="3200400"/>
            <a:ext cx="3946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effectLst>
                  <a:outerShdw blurRad="38100" dist="38100" dir="2700000" algn="tl">
                    <a:srgbClr val="FFFFFF"/>
                  </a:outerShdw>
                </a:effectLst>
              </a:rPr>
              <a:t>W</a:t>
            </a:r>
            <a:endParaRPr lang="en-US" altLang="x-none" b="1" baseline="420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157" name="Text Box 13"/>
          <p:cNvSpPr txBox="1">
            <a:spLocks noChangeArrowheads="1"/>
          </p:cNvSpPr>
          <p:nvPr/>
        </p:nvSpPr>
        <p:spPr bwMode="auto">
          <a:xfrm>
            <a:off x="3594101" y="5270500"/>
            <a:ext cx="50206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effectLst>
                  <a:outerShdw blurRad="38100" dist="38100" dir="2700000" algn="tl">
                    <a:srgbClr val="FFFFFF"/>
                  </a:outerShdw>
                </a:effectLst>
              </a:rPr>
              <a:t>SW</a:t>
            </a:r>
            <a:endParaRPr lang="en-US" altLang="x-none" b="1" baseline="420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158" name="Text Box 14"/>
          <p:cNvSpPr txBox="1">
            <a:spLocks noChangeArrowheads="1"/>
          </p:cNvSpPr>
          <p:nvPr/>
        </p:nvSpPr>
        <p:spPr bwMode="auto">
          <a:xfrm>
            <a:off x="2933701" y="4229100"/>
            <a:ext cx="7111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effectLst>
                  <a:outerShdw blurRad="38100" dist="38100" dir="2700000" algn="tl">
                    <a:srgbClr val="FFFFFF"/>
                  </a:outerShdw>
                </a:effectLst>
              </a:rPr>
              <a:t>WSW</a:t>
            </a:r>
            <a:endParaRPr lang="en-US" altLang="x-none" b="1" baseline="420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159" name="Text Box 15"/>
          <p:cNvSpPr txBox="1">
            <a:spLocks noChangeArrowheads="1"/>
          </p:cNvSpPr>
          <p:nvPr/>
        </p:nvSpPr>
        <p:spPr bwMode="auto">
          <a:xfrm>
            <a:off x="4622801" y="5664200"/>
            <a:ext cx="61106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effectLst>
                  <a:outerShdw blurRad="38100" dist="38100" dir="2700000" algn="tl">
                    <a:srgbClr val="FFFFFF"/>
                  </a:outerShdw>
                </a:effectLst>
              </a:rPr>
              <a:t>SSW</a:t>
            </a:r>
            <a:endParaRPr lang="en-US" altLang="x-none" b="1" baseline="420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160" name="Text Box 16"/>
          <p:cNvSpPr txBox="1">
            <a:spLocks noChangeArrowheads="1"/>
          </p:cNvSpPr>
          <p:nvPr/>
        </p:nvSpPr>
        <p:spPr bwMode="auto">
          <a:xfrm>
            <a:off x="5872163" y="6121400"/>
            <a:ext cx="29367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effectLst>
                  <a:outerShdw blurRad="38100" dist="38100" dir="2700000" algn="tl">
                    <a:srgbClr val="FFFFFF"/>
                  </a:outerShdw>
                </a:effectLst>
              </a:rPr>
              <a:t>S</a:t>
            </a:r>
            <a:endParaRPr lang="en-US" altLang="x-none" b="1" baseline="420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161" name="Text Box 17"/>
          <p:cNvSpPr txBox="1">
            <a:spLocks noChangeArrowheads="1"/>
          </p:cNvSpPr>
          <p:nvPr/>
        </p:nvSpPr>
        <p:spPr bwMode="auto">
          <a:xfrm>
            <a:off x="7848600" y="5308600"/>
            <a:ext cx="405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effectLst>
                  <a:outerShdw blurRad="38100" dist="38100" dir="2700000" algn="tl">
                    <a:srgbClr val="FFFFFF"/>
                  </a:outerShdw>
                </a:effectLst>
              </a:rPr>
              <a:t>SE</a:t>
            </a:r>
            <a:endParaRPr lang="en-US" altLang="x-none" b="1" baseline="420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162" name="Text Box 18"/>
          <p:cNvSpPr txBox="1">
            <a:spLocks noChangeArrowheads="1"/>
          </p:cNvSpPr>
          <p:nvPr/>
        </p:nvSpPr>
        <p:spPr bwMode="auto">
          <a:xfrm>
            <a:off x="6692901" y="5638800"/>
            <a:ext cx="51488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effectLst>
                  <a:outerShdw blurRad="38100" dist="38100" dir="2700000" algn="tl">
                    <a:srgbClr val="FFFFFF"/>
                  </a:outerShdw>
                </a:effectLst>
              </a:rPr>
              <a:t>SSE</a:t>
            </a:r>
            <a:endParaRPr lang="en-US" altLang="x-none" b="1" baseline="420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163" name="Text Box 19"/>
          <p:cNvSpPr txBox="1">
            <a:spLocks noChangeArrowheads="1"/>
          </p:cNvSpPr>
          <p:nvPr/>
        </p:nvSpPr>
        <p:spPr bwMode="auto">
          <a:xfrm>
            <a:off x="8242301" y="4279900"/>
            <a:ext cx="51603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effectLst>
                  <a:outerShdw blurRad="38100" dist="38100" dir="2700000" algn="tl">
                    <a:srgbClr val="FFFFFF"/>
                  </a:outerShdw>
                </a:effectLst>
              </a:rPr>
              <a:t>ESE</a:t>
            </a:r>
            <a:endParaRPr lang="en-US" altLang="x-none" b="1" baseline="420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164" name="Text Box 20"/>
          <p:cNvSpPr txBox="1">
            <a:spLocks noChangeArrowheads="1"/>
          </p:cNvSpPr>
          <p:nvPr/>
        </p:nvSpPr>
        <p:spPr bwMode="auto">
          <a:xfrm>
            <a:off x="8910624" y="3200400"/>
            <a:ext cx="2968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x-none" b="1">
                <a:effectLst>
                  <a:outerShdw blurRad="38100" dist="38100" dir="2700000" algn="tl">
                    <a:srgbClr val="FFFFFF"/>
                  </a:outerShdw>
                </a:effectLst>
              </a:rPr>
              <a:t>E</a:t>
            </a:r>
            <a:endParaRPr lang="en-US" altLang="x-none" b="1" baseline="420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165" name="Text Box 21"/>
          <p:cNvSpPr txBox="1">
            <a:spLocks noChangeArrowheads="1"/>
          </p:cNvSpPr>
          <p:nvPr/>
        </p:nvSpPr>
        <p:spPr bwMode="auto">
          <a:xfrm>
            <a:off x="8191500" y="2184400"/>
            <a:ext cx="5613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effectLst>
                  <a:outerShdw blurRad="38100" dist="38100" dir="2700000" algn="tl">
                    <a:srgbClr val="FFFFFF"/>
                  </a:outerShdw>
                </a:effectLst>
              </a:rPr>
              <a:t>ENE</a:t>
            </a:r>
            <a:endParaRPr lang="en-US" altLang="x-none" b="1" baseline="420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166" name="Text Box 22"/>
          <p:cNvSpPr txBox="1">
            <a:spLocks noChangeArrowheads="1"/>
          </p:cNvSpPr>
          <p:nvPr/>
        </p:nvSpPr>
        <p:spPr bwMode="auto">
          <a:xfrm>
            <a:off x="6667501" y="850900"/>
            <a:ext cx="6014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effectLst>
                  <a:outerShdw blurRad="38100" dist="38100" dir="2700000" algn="tl">
                    <a:srgbClr val="FFFFFF"/>
                  </a:outerShdw>
                </a:effectLst>
              </a:rPr>
              <a:t>NNE</a:t>
            </a:r>
            <a:endParaRPr lang="en-US" altLang="x-none" b="1" baseline="420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167" name="Text Box 23"/>
          <p:cNvSpPr txBox="1">
            <a:spLocks noChangeArrowheads="1"/>
          </p:cNvSpPr>
          <p:nvPr/>
        </p:nvSpPr>
        <p:spPr bwMode="auto">
          <a:xfrm>
            <a:off x="7950200" y="1104900"/>
            <a:ext cx="449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b="1">
                <a:effectLst>
                  <a:outerShdw blurRad="38100" dist="38100" dir="2700000" algn="tl">
                    <a:srgbClr val="FFFFFF"/>
                  </a:outerShdw>
                </a:effectLst>
              </a:rPr>
              <a:t>NE</a:t>
            </a:r>
            <a:endParaRPr lang="en-US" altLang="x-none" b="1" baseline="420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168" name="Text Box 24"/>
          <p:cNvSpPr txBox="1">
            <a:spLocks noChangeArrowheads="1"/>
          </p:cNvSpPr>
          <p:nvPr/>
        </p:nvSpPr>
        <p:spPr bwMode="auto">
          <a:xfrm>
            <a:off x="4691826" y="2968625"/>
            <a:ext cx="2809936" cy="92333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x-none">
                <a:solidFill>
                  <a:schemeClr val="bg1"/>
                </a:solidFill>
              </a:rPr>
              <a:t>Press </a:t>
            </a:r>
            <a:r>
              <a:rPr lang="en-US" altLang="x-none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ctrl-A</a:t>
            </a:r>
          </a:p>
          <a:p>
            <a:pPr algn="ctr"/>
            <a:r>
              <a:rPr lang="en-US" altLang="x-none">
                <a:solidFill>
                  <a:schemeClr val="bg1"/>
                </a:solidFill>
              </a:rPr>
              <a:t>then click on a letter</a:t>
            </a:r>
          </a:p>
          <a:p>
            <a:pPr algn="ctr"/>
            <a:r>
              <a:rPr lang="en-US" altLang="x-none">
                <a:solidFill>
                  <a:schemeClr val="bg1"/>
                </a:solidFill>
              </a:rPr>
              <a:t>to see the </a:t>
            </a:r>
            <a:r>
              <a:rPr lang="en-US" altLang="x-none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Compass Bearing</a:t>
            </a:r>
          </a:p>
        </p:txBody>
      </p:sp>
      <p:sp>
        <p:nvSpPr>
          <p:cNvPr id="6169" name="AutoShape 25"/>
          <p:cNvSpPr>
            <a:spLocks noChangeArrowheads="1"/>
          </p:cNvSpPr>
          <p:nvPr/>
        </p:nvSpPr>
        <p:spPr bwMode="auto">
          <a:xfrm>
            <a:off x="5588000" y="152400"/>
            <a:ext cx="990600" cy="444500"/>
          </a:xfrm>
          <a:prstGeom prst="roundRect">
            <a:avLst>
              <a:gd name="adj" fmla="val 16667"/>
            </a:avLst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b="1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170" name="WordArt 26"/>
          <p:cNvSpPr>
            <a:spLocks noChangeArrowheads="1" noChangeShapeType="1" noTextEdit="1"/>
          </p:cNvSpPr>
          <p:nvPr/>
        </p:nvSpPr>
        <p:spPr bwMode="auto">
          <a:xfrm>
            <a:off x="8653464" y="1"/>
            <a:ext cx="1951037" cy="7858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0066CC"/>
                </a:solidFill>
                <a:effectLst>
                  <a:outerShdw blurRad="63500" dist="38099" dir="2700000" algn="ctr" rotWithShape="0">
                    <a:srgbClr val="990000">
                      <a:alpha val="74998"/>
                    </a:srgbClr>
                  </a:outerShdw>
                </a:effectLst>
                <a:latin typeface="Impact" charset="0"/>
                <a:ea typeface="Impact" charset="0"/>
                <a:cs typeface="Impact" charset="0"/>
              </a:rPr>
              <a:t>Bearing</a:t>
            </a:r>
          </a:p>
        </p:txBody>
      </p:sp>
      <p:sp>
        <p:nvSpPr>
          <p:cNvPr id="6171" name="AutoShape 27"/>
          <p:cNvSpPr>
            <a:spLocks noChangeArrowheads="1"/>
          </p:cNvSpPr>
          <p:nvPr/>
        </p:nvSpPr>
        <p:spPr bwMode="auto">
          <a:xfrm>
            <a:off x="4635500" y="736600"/>
            <a:ext cx="990600" cy="444500"/>
          </a:xfrm>
          <a:prstGeom prst="roundRect">
            <a:avLst>
              <a:gd name="adj" fmla="val 16667"/>
            </a:avLst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b="1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172" name="AutoShape 28"/>
          <p:cNvSpPr>
            <a:spLocks noChangeArrowheads="1"/>
          </p:cNvSpPr>
          <p:nvPr/>
        </p:nvSpPr>
        <p:spPr bwMode="auto">
          <a:xfrm>
            <a:off x="3263900" y="1054100"/>
            <a:ext cx="990600" cy="444500"/>
          </a:xfrm>
          <a:prstGeom prst="roundRect">
            <a:avLst>
              <a:gd name="adj" fmla="val 16667"/>
            </a:avLst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b="1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173" name="AutoShape 29"/>
          <p:cNvSpPr>
            <a:spLocks noChangeArrowheads="1"/>
          </p:cNvSpPr>
          <p:nvPr/>
        </p:nvSpPr>
        <p:spPr bwMode="auto">
          <a:xfrm>
            <a:off x="2870200" y="2222500"/>
            <a:ext cx="990600" cy="444500"/>
          </a:xfrm>
          <a:prstGeom prst="roundRect">
            <a:avLst>
              <a:gd name="adj" fmla="val 16667"/>
            </a:avLst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b="1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174" name="AutoShape 30"/>
          <p:cNvSpPr>
            <a:spLocks noChangeArrowheads="1"/>
          </p:cNvSpPr>
          <p:nvPr/>
        </p:nvSpPr>
        <p:spPr bwMode="auto">
          <a:xfrm>
            <a:off x="2349500" y="3200400"/>
            <a:ext cx="990600" cy="444500"/>
          </a:xfrm>
          <a:prstGeom prst="roundRect">
            <a:avLst>
              <a:gd name="adj" fmla="val 16667"/>
            </a:avLst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b="1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175" name="AutoShape 31"/>
          <p:cNvSpPr>
            <a:spLocks noChangeArrowheads="1"/>
          </p:cNvSpPr>
          <p:nvPr/>
        </p:nvSpPr>
        <p:spPr bwMode="auto">
          <a:xfrm>
            <a:off x="2895600" y="4178300"/>
            <a:ext cx="990600" cy="444500"/>
          </a:xfrm>
          <a:prstGeom prst="roundRect">
            <a:avLst>
              <a:gd name="adj" fmla="val 16667"/>
            </a:avLst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b="1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176" name="AutoShape 32"/>
          <p:cNvSpPr>
            <a:spLocks noChangeArrowheads="1"/>
          </p:cNvSpPr>
          <p:nvPr/>
        </p:nvSpPr>
        <p:spPr bwMode="auto">
          <a:xfrm>
            <a:off x="3263900" y="5346700"/>
            <a:ext cx="990600" cy="444500"/>
          </a:xfrm>
          <a:prstGeom prst="roundRect">
            <a:avLst>
              <a:gd name="adj" fmla="val 16667"/>
            </a:avLst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b="1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177" name="AutoShape 33"/>
          <p:cNvSpPr>
            <a:spLocks noChangeArrowheads="1"/>
          </p:cNvSpPr>
          <p:nvPr/>
        </p:nvSpPr>
        <p:spPr bwMode="auto">
          <a:xfrm>
            <a:off x="4521200" y="5613400"/>
            <a:ext cx="990600" cy="444500"/>
          </a:xfrm>
          <a:prstGeom prst="roundRect">
            <a:avLst>
              <a:gd name="adj" fmla="val 16667"/>
            </a:avLst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b="1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6178" name="AutoShape 34"/>
          <p:cNvSpPr>
            <a:spLocks noChangeArrowheads="1"/>
          </p:cNvSpPr>
          <p:nvPr/>
        </p:nvSpPr>
        <p:spPr bwMode="auto">
          <a:xfrm>
            <a:off x="5562600" y="6210300"/>
            <a:ext cx="990600" cy="444500"/>
          </a:xfrm>
          <a:prstGeom prst="roundRect">
            <a:avLst>
              <a:gd name="adj" fmla="val 16667"/>
            </a:avLst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b="1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6179" name="AutoShape 35"/>
          <p:cNvSpPr>
            <a:spLocks noChangeArrowheads="1"/>
          </p:cNvSpPr>
          <p:nvPr/>
        </p:nvSpPr>
        <p:spPr bwMode="auto">
          <a:xfrm>
            <a:off x="6464300" y="5638800"/>
            <a:ext cx="990600" cy="444500"/>
          </a:xfrm>
          <a:prstGeom prst="roundRect">
            <a:avLst>
              <a:gd name="adj" fmla="val 16667"/>
            </a:avLst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b="1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6180" name="AutoShape 36"/>
          <p:cNvSpPr>
            <a:spLocks noChangeArrowheads="1"/>
          </p:cNvSpPr>
          <p:nvPr/>
        </p:nvSpPr>
        <p:spPr bwMode="auto">
          <a:xfrm>
            <a:off x="7861300" y="5359400"/>
            <a:ext cx="990600" cy="444500"/>
          </a:xfrm>
          <a:prstGeom prst="roundRect">
            <a:avLst>
              <a:gd name="adj" fmla="val 16667"/>
            </a:avLst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b="1">
                <a:solidFill>
                  <a:schemeClr val="bg1"/>
                </a:solidFill>
              </a:rPr>
              <a:t>K</a:t>
            </a:r>
          </a:p>
        </p:txBody>
      </p:sp>
      <p:sp>
        <p:nvSpPr>
          <p:cNvPr id="6181" name="AutoShape 37"/>
          <p:cNvSpPr>
            <a:spLocks noChangeArrowheads="1"/>
          </p:cNvSpPr>
          <p:nvPr/>
        </p:nvSpPr>
        <p:spPr bwMode="auto">
          <a:xfrm>
            <a:off x="8293100" y="4254500"/>
            <a:ext cx="990600" cy="444500"/>
          </a:xfrm>
          <a:prstGeom prst="roundRect">
            <a:avLst>
              <a:gd name="adj" fmla="val 16667"/>
            </a:avLst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b="1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6182" name="AutoShape 38"/>
          <p:cNvSpPr>
            <a:spLocks noChangeArrowheads="1"/>
          </p:cNvSpPr>
          <p:nvPr/>
        </p:nvSpPr>
        <p:spPr bwMode="auto">
          <a:xfrm>
            <a:off x="8890000" y="3200400"/>
            <a:ext cx="990600" cy="444500"/>
          </a:xfrm>
          <a:prstGeom prst="roundRect">
            <a:avLst>
              <a:gd name="adj" fmla="val 16667"/>
            </a:avLst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b="1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6183" name="AutoShape 39"/>
          <p:cNvSpPr>
            <a:spLocks noChangeArrowheads="1"/>
          </p:cNvSpPr>
          <p:nvPr/>
        </p:nvSpPr>
        <p:spPr bwMode="auto">
          <a:xfrm>
            <a:off x="8293100" y="2209800"/>
            <a:ext cx="990600" cy="444500"/>
          </a:xfrm>
          <a:prstGeom prst="roundRect">
            <a:avLst>
              <a:gd name="adj" fmla="val 16667"/>
            </a:avLst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b="1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6184" name="AutoShape 40"/>
          <p:cNvSpPr>
            <a:spLocks noChangeArrowheads="1"/>
          </p:cNvSpPr>
          <p:nvPr/>
        </p:nvSpPr>
        <p:spPr bwMode="auto">
          <a:xfrm>
            <a:off x="7937500" y="1028700"/>
            <a:ext cx="990600" cy="444500"/>
          </a:xfrm>
          <a:prstGeom prst="roundRect">
            <a:avLst>
              <a:gd name="adj" fmla="val 16667"/>
            </a:avLst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b="1">
                <a:solidFill>
                  <a:schemeClr val="bg1"/>
                </a:solidFill>
              </a:rPr>
              <a:t>O</a:t>
            </a:r>
          </a:p>
        </p:txBody>
      </p:sp>
      <p:sp>
        <p:nvSpPr>
          <p:cNvPr id="6185" name="AutoShape 41"/>
          <p:cNvSpPr>
            <a:spLocks noChangeArrowheads="1"/>
          </p:cNvSpPr>
          <p:nvPr/>
        </p:nvSpPr>
        <p:spPr bwMode="auto">
          <a:xfrm>
            <a:off x="6616700" y="762000"/>
            <a:ext cx="990600" cy="444500"/>
          </a:xfrm>
          <a:prstGeom prst="roundRect">
            <a:avLst>
              <a:gd name="adj" fmla="val 16667"/>
            </a:avLst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x-none" b="1">
                <a:solidFill>
                  <a:schemeClr val="bg1"/>
                </a:solidFill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940190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33333E-6 -1.11111E-6 C 0.68854 0.04676 1.37708 0.09352 1.29583 0.21111 C 1.21458 0.3287 -0.19028 0.62315 -0.4875 0.70556 " pathEditMode="relative" ptsTypes="aaA">
                                      <p:cBhvr>
                                        <p:cTn id="6" dur="2000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6.94444E-6 -2.22222E-6 C 0.25972 0.0463 0.65694 0.36389 0.43333 0.45556 C 0.20972 0.54722 -1.08195 0.59607 -1.34167 0.55 C -1.6014 0.50347 -1.34792 0.27107 -1.12501 0.17778 C -0.90192 0.08426 -0.25973 -0.0463 -6.94444E-6 -2.22222E-6 Z " pathEditMode="relative" ptsTypes="aaaaa">
                                      <p:cBhvr>
                                        <p:cTn id="8" dur="200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7.77778E-6 -5.92593E-6 C -0.36388 0.01018 -1.24374 0.05092 -1.46666 -0.07223 C -1.68958 -0.19561 -1.70138 -0.72871 -1.33749 -0.73889 C -0.9736 -0.74908 0.49445 -0.25764 0.71667 -0.13334 C 0.9389 -0.00926 0.3639 -0.01019 7.77778E-6 -5.92593E-6 Z " pathEditMode="relative" ptsTypes="aaaaa">
                                      <p:cBhvr>
                                        <p:cTn id="10" dur="200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46945E-18 -3.7037E-6 C -0.14514 -0.11666 -0.68542 -0.23889 -0.7625 -0.34467 C -0.83958 -0.45 -0.69236 -0.51203 -0.4625 -0.63333 C -0.23264 -0.75463 0.35486 -1.13611 0.61667 -1.07222 C 0.87847 -1.00833 1.11528 -0.44444 1.10833 -0.25 C 1.10139 -0.05555 0.74167 -0.00648 0.57483 0.09445 C 0.40816 0.19537 0.20625 0.3713 0.10833 0.35556 C 0.01042 0.33982 0.14514 0.11667 -3.46945E-18 -3.7037E-6 Z " pathEditMode="relative" ptsTypes="aaaaaaaa">
                                      <p:cBhvr>
                                        <p:cTn id="12" dur="2000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5" presetClass="exit" presetSubtype="1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4" dur="2000"/>
                                        <p:tgtEl>
                                          <p:spTgt spid="6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61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 nodeType="clickPar">
                      <p:stCondLst>
                        <p:cond delay="0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2000"/>
                                        <p:tgtEl>
                                          <p:spTgt spid="6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69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61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 nodeType="clickPar">
                      <p:stCondLst>
                        <p:cond delay="0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2000"/>
                                        <p:tgtEl>
                                          <p:spTgt spid="6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71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61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 nodeType="clickPar">
                      <p:stCondLst>
                        <p:cond delay="0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2000"/>
                                        <p:tgtEl>
                                          <p:spTgt spid="6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72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61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 nodeType="clickPar">
                      <p:stCondLst>
                        <p:cond delay="0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000"/>
                                        <p:tgtEl>
                                          <p:spTgt spid="6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73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61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 nodeType="clickPar">
                      <p:stCondLst>
                        <p:cond delay="0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2000"/>
                                        <p:tgtEl>
                                          <p:spTgt spid="6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74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1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 nodeType="clickPar">
                      <p:stCondLst>
                        <p:cond delay="0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2000"/>
                                        <p:tgtEl>
                                          <p:spTgt spid="6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75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6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 nodeType="clickPar">
                      <p:stCondLst>
                        <p:cond delay="0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2000"/>
                                        <p:tgtEl>
                                          <p:spTgt spid="6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76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6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 nodeType="clickPar">
                      <p:stCondLst>
                        <p:cond delay="0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2000"/>
                                        <p:tgtEl>
                                          <p:spTgt spid="6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77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61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 nodeType="clickPar">
                      <p:stCondLst>
                        <p:cond delay="0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2000"/>
                                        <p:tgtEl>
                                          <p:spTgt spid="6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78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61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 nodeType="clickPar">
                      <p:stCondLst>
                        <p:cond delay="0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2000"/>
                                        <p:tgtEl>
                                          <p:spTgt spid="6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79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61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 nodeType="clickPar">
                      <p:stCondLst>
                        <p:cond delay="0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2000"/>
                                        <p:tgtEl>
                                          <p:spTgt spid="6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80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6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 nodeType="clickPar">
                      <p:stCondLst>
                        <p:cond delay="0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2000"/>
                                        <p:tgtEl>
                                          <p:spTgt spid="6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81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6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 nodeType="clickPar">
                      <p:stCondLst>
                        <p:cond delay="0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2000"/>
                                        <p:tgtEl>
                                          <p:spTgt spid="6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82"/>
                  </p:tgtEl>
                </p:cond>
              </p:nextCondLst>
            </p:seq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61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 nodeType="clickPar">
                      <p:stCondLst>
                        <p:cond delay="0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2000"/>
                                        <p:tgtEl>
                                          <p:spTgt spid="6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83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61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 nodeType="clickPar">
                      <p:stCondLst>
                        <p:cond delay="0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2000"/>
                                        <p:tgtEl>
                                          <p:spTgt spid="6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84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61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 nodeType="clickPar">
                      <p:stCondLst>
                        <p:cond delay="0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2000"/>
                                        <p:tgtEl>
                                          <p:spTgt spid="6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85"/>
                  </p:tgtEl>
                </p:cond>
              </p:nextCondLst>
            </p:seq>
          </p:childTnLst>
        </p:cTn>
      </p:par>
    </p:tnLst>
    <p:bldLst>
      <p:bldP spid="6168" grpId="0" animBg="1"/>
      <p:bldP spid="6169" grpId="0" animBg="1"/>
      <p:bldP spid="6171" grpId="0" animBg="1"/>
      <p:bldP spid="6172" grpId="0" animBg="1"/>
      <p:bldP spid="6173" grpId="0" animBg="1"/>
      <p:bldP spid="6174" grpId="0" animBg="1"/>
      <p:bldP spid="6175" grpId="0" animBg="1"/>
      <p:bldP spid="6176" grpId="0" animBg="1"/>
      <p:bldP spid="6177" grpId="0" animBg="1"/>
      <p:bldP spid="6178" grpId="0" animBg="1"/>
      <p:bldP spid="6179" grpId="0" animBg="1"/>
      <p:bldP spid="6180" grpId="0" animBg="1"/>
      <p:bldP spid="6181" grpId="0" animBg="1"/>
      <p:bldP spid="6182" grpId="0" animBg="1"/>
      <p:bldP spid="6183" grpId="0" animBg="1"/>
      <p:bldP spid="6184" grpId="0" animBg="1"/>
      <p:bldP spid="618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849E9-1281-2043-9B0C-A5D0CD1871FC}" type="slidenum">
              <a:rPr lang="en-US" altLang="x-none"/>
              <a:pPr/>
              <a:t>6</a:t>
            </a:fld>
            <a:endParaRPr lang="en-US" altLang="x-none"/>
          </a:p>
        </p:txBody>
      </p:sp>
      <p:sp>
        <p:nvSpPr>
          <p:cNvPr id="20484" name="WordArt 4"/>
          <p:cNvSpPr>
            <a:spLocks noChangeArrowheads="1" noChangeShapeType="1" noTextEdit="1"/>
          </p:cNvSpPr>
          <p:nvPr/>
        </p:nvSpPr>
        <p:spPr bwMode="auto">
          <a:xfrm>
            <a:off x="4579939" y="165101"/>
            <a:ext cx="3044825" cy="5635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0066CC"/>
                </a:solidFill>
                <a:effectLst>
                  <a:outerShdw blurRad="63500" dist="38099" dir="2700000" algn="ctr" rotWithShape="0">
                    <a:srgbClr val="990000">
                      <a:alpha val="74998"/>
                    </a:srgbClr>
                  </a:outerShdw>
                </a:effectLst>
                <a:latin typeface="Impact" charset="0"/>
                <a:ea typeface="Impact" charset="0"/>
                <a:cs typeface="Impact" charset="0"/>
              </a:rPr>
              <a:t>Exercises</a:t>
            </a:r>
          </a:p>
        </p:txBody>
      </p:sp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1676401" y="1106488"/>
            <a:ext cx="4227513" cy="4849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tabLst>
                <a:tab pos="1438275" algn="ctr"/>
                <a:tab pos="3133725" algn="ctr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800100" indent="-342900">
              <a:tabLst>
                <a:tab pos="1438275" algn="ctr"/>
                <a:tab pos="3133725" algn="ctr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257300" indent="-342900">
              <a:tabLst>
                <a:tab pos="1438275" algn="ctr"/>
                <a:tab pos="3133725" algn="ctr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714500" indent="-342900">
              <a:tabLst>
                <a:tab pos="1438275" algn="ctr"/>
                <a:tab pos="3133725" algn="ctr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171700" indent="-342900">
              <a:tabLst>
                <a:tab pos="1438275" algn="ctr"/>
                <a:tab pos="3133725" algn="ctr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tabLst>
                <a:tab pos="1438275" algn="ctr"/>
                <a:tab pos="3133725" algn="ctr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tabLst>
                <a:tab pos="1438275" algn="ctr"/>
                <a:tab pos="3133725" algn="ctr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tabLst>
                <a:tab pos="1438275" algn="ctr"/>
                <a:tab pos="3133725" algn="ctr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tabLst>
                <a:tab pos="1438275" algn="ctr"/>
                <a:tab pos="3133725" algn="ctr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US" altLang="x-none">
                <a:latin typeface="Comic Sans MS" charset="0"/>
              </a:rPr>
              <a:t>	     </a:t>
            </a:r>
            <a:r>
              <a:rPr lang="en-US" altLang="x-none" sz="3600" b="1">
                <a:effectLst>
                  <a:outerShdw blurRad="38100" dist="38100" dir="2700000" algn="tl">
                    <a:srgbClr val="FFFFFF"/>
                  </a:outerShdw>
                </a:effectLst>
                <a:latin typeface="Comic Sans MS" charset="0"/>
              </a:rPr>
              <a:t>True  Compass</a:t>
            </a:r>
          </a:p>
          <a:p>
            <a:pPr>
              <a:buFontTx/>
              <a:buAutoNum type="alphaLcParenR"/>
            </a:pPr>
            <a:endParaRPr lang="en-US" altLang="x-none">
              <a:latin typeface="Comic Sans MS" charset="0"/>
            </a:endParaRPr>
          </a:p>
          <a:p>
            <a:pPr>
              <a:buFontTx/>
              <a:buAutoNum type="alphaLcParenR"/>
            </a:pPr>
            <a:r>
              <a:rPr lang="en-US" altLang="x-none">
                <a:latin typeface="Comic Sans MS" charset="0"/>
              </a:rPr>
              <a:t> </a:t>
            </a:r>
            <a:r>
              <a:rPr lang="en-US" altLang="x-none" sz="2800">
                <a:latin typeface="Comic Sans MS" charset="0"/>
              </a:rPr>
              <a:t>	N	0</a:t>
            </a:r>
            <a:r>
              <a:rPr lang="en-US" altLang="x-none" sz="2800" baseline="30000">
                <a:latin typeface="Comic Sans MS" charset="0"/>
              </a:rPr>
              <a:t>o</a:t>
            </a:r>
            <a:endParaRPr lang="en-US" altLang="x-none" sz="2800">
              <a:latin typeface="Comic Sans MS" charset="0"/>
            </a:endParaRPr>
          </a:p>
          <a:p>
            <a:endParaRPr lang="en-US" altLang="x-none" sz="2800">
              <a:latin typeface="Comic Sans MS" charset="0"/>
            </a:endParaRPr>
          </a:p>
          <a:p>
            <a:pPr>
              <a:buFontTx/>
              <a:buAutoNum type="alphaLcParenR" startAt="2"/>
            </a:pPr>
            <a:r>
              <a:rPr lang="en-US" altLang="x-none" sz="2800">
                <a:latin typeface="Comic Sans MS" charset="0"/>
              </a:rPr>
              <a:t> 	SW	225</a:t>
            </a:r>
            <a:r>
              <a:rPr lang="en-US" altLang="x-none" sz="2800" baseline="30000">
                <a:latin typeface="Comic Sans MS" charset="0"/>
              </a:rPr>
              <a:t>o</a:t>
            </a:r>
            <a:endParaRPr lang="en-US" altLang="x-none" sz="2800">
              <a:latin typeface="Comic Sans MS" charset="0"/>
            </a:endParaRPr>
          </a:p>
          <a:p>
            <a:endParaRPr lang="en-US" altLang="x-none" sz="2800">
              <a:latin typeface="Comic Sans MS" charset="0"/>
            </a:endParaRPr>
          </a:p>
          <a:p>
            <a:pPr>
              <a:buFontTx/>
              <a:buAutoNum type="alphaLcParenR" startAt="3"/>
            </a:pPr>
            <a:r>
              <a:rPr lang="en-US" altLang="x-none" sz="2800">
                <a:latin typeface="Comic Sans MS" charset="0"/>
              </a:rPr>
              <a:t> 	E	090</a:t>
            </a:r>
            <a:r>
              <a:rPr lang="en-US" altLang="x-none" sz="2800" baseline="30000">
                <a:latin typeface="Comic Sans MS" charset="0"/>
              </a:rPr>
              <a:t>o</a:t>
            </a:r>
            <a:endParaRPr lang="en-US" altLang="x-none" sz="2800">
              <a:latin typeface="Comic Sans MS" charset="0"/>
            </a:endParaRPr>
          </a:p>
          <a:p>
            <a:endParaRPr lang="en-US" altLang="x-none" sz="2800">
              <a:latin typeface="Comic Sans MS" charset="0"/>
            </a:endParaRPr>
          </a:p>
          <a:p>
            <a:pPr>
              <a:buFontTx/>
              <a:buAutoNum type="alphaLcParenR" startAt="4"/>
            </a:pPr>
            <a:r>
              <a:rPr lang="en-US" altLang="x-none" sz="2800">
                <a:latin typeface="Comic Sans MS" charset="0"/>
              </a:rPr>
              <a:t> 	NE	045</a:t>
            </a:r>
            <a:r>
              <a:rPr lang="en-US" altLang="x-none" sz="2800" baseline="30000">
                <a:latin typeface="Comic Sans MS" charset="0"/>
              </a:rPr>
              <a:t>o</a:t>
            </a:r>
            <a:endParaRPr lang="en-US" altLang="x-none" sz="2800">
              <a:latin typeface="Comic Sans MS" charset="0"/>
            </a:endParaRPr>
          </a:p>
          <a:p>
            <a:pPr>
              <a:buFontTx/>
              <a:buAutoNum type="alphaLcParenR" startAt="4"/>
            </a:pPr>
            <a:endParaRPr lang="en-US" altLang="x-none" sz="2800">
              <a:latin typeface="Comic Sans MS" charset="0"/>
            </a:endParaRPr>
          </a:p>
          <a:p>
            <a:r>
              <a:rPr lang="en-US" altLang="x-none" sz="2800">
                <a:latin typeface="Comic Sans MS" charset="0"/>
              </a:rPr>
              <a:t>e) 	NNE	022.5</a:t>
            </a:r>
            <a:r>
              <a:rPr lang="en-US" altLang="x-none" sz="2800" baseline="30000">
                <a:latin typeface="Comic Sans MS" charset="0"/>
              </a:rPr>
              <a:t>o</a:t>
            </a:r>
            <a:endParaRPr lang="en-US" altLang="x-none" sz="2800">
              <a:latin typeface="Comic Sans MS" charset="0"/>
            </a:endParaRPr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6286501" y="1106488"/>
            <a:ext cx="4227513" cy="4849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tabLst>
                <a:tab pos="1438275" algn="ctr"/>
                <a:tab pos="3133725" algn="ctr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800100" indent="-342900">
              <a:tabLst>
                <a:tab pos="1438275" algn="ctr"/>
                <a:tab pos="3133725" algn="ctr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257300" indent="-342900">
              <a:tabLst>
                <a:tab pos="1438275" algn="ctr"/>
                <a:tab pos="3133725" algn="ctr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714500" indent="-342900">
              <a:tabLst>
                <a:tab pos="1438275" algn="ctr"/>
                <a:tab pos="3133725" algn="ctr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171700" indent="-342900">
              <a:tabLst>
                <a:tab pos="1438275" algn="ctr"/>
                <a:tab pos="3133725" algn="ctr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tabLst>
                <a:tab pos="1438275" algn="ctr"/>
                <a:tab pos="3133725" algn="ctr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tabLst>
                <a:tab pos="1438275" algn="ctr"/>
                <a:tab pos="3133725" algn="ctr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tabLst>
                <a:tab pos="1438275" algn="ctr"/>
                <a:tab pos="3133725" algn="ctr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tabLst>
                <a:tab pos="1438275" algn="ctr"/>
                <a:tab pos="3133725" algn="ctr"/>
              </a:tabLs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n-US" altLang="x-none">
                <a:latin typeface="Comic Sans MS" charset="0"/>
              </a:rPr>
              <a:t>	     </a:t>
            </a:r>
            <a:r>
              <a:rPr lang="en-US" altLang="x-none" sz="3600" b="1">
                <a:effectLst>
                  <a:outerShdw blurRad="38100" dist="38100" dir="2700000" algn="tl">
                    <a:srgbClr val="FFFFFF"/>
                  </a:outerShdw>
                </a:effectLst>
                <a:latin typeface="Comic Sans MS" charset="0"/>
              </a:rPr>
              <a:t>True  Compass</a:t>
            </a:r>
          </a:p>
          <a:p>
            <a:pPr>
              <a:buFontTx/>
              <a:buAutoNum type="alphaLcParenR"/>
            </a:pPr>
            <a:endParaRPr lang="en-US" altLang="x-none">
              <a:latin typeface="Comic Sans MS" charset="0"/>
            </a:endParaRPr>
          </a:p>
          <a:p>
            <a:r>
              <a:rPr lang="en-US" altLang="x-none" sz="2800">
                <a:latin typeface="Comic Sans MS" charset="0"/>
              </a:rPr>
              <a:t>f) 	NW	315</a:t>
            </a:r>
            <a:r>
              <a:rPr lang="en-US" altLang="x-none" sz="2800" baseline="30000">
                <a:latin typeface="Comic Sans MS" charset="0"/>
              </a:rPr>
              <a:t>o</a:t>
            </a:r>
            <a:endParaRPr lang="en-US" altLang="x-none" sz="2800">
              <a:latin typeface="Comic Sans MS" charset="0"/>
            </a:endParaRPr>
          </a:p>
          <a:p>
            <a:endParaRPr lang="en-US" altLang="x-none" sz="2800">
              <a:latin typeface="Comic Sans MS" charset="0"/>
            </a:endParaRPr>
          </a:p>
          <a:p>
            <a:r>
              <a:rPr lang="en-US" altLang="x-none" sz="2800">
                <a:latin typeface="Comic Sans MS" charset="0"/>
              </a:rPr>
              <a:t>g)		S	180</a:t>
            </a:r>
            <a:r>
              <a:rPr lang="en-US" altLang="x-none" sz="2800" baseline="30000">
                <a:latin typeface="Comic Sans MS" charset="0"/>
              </a:rPr>
              <a:t>o</a:t>
            </a:r>
            <a:endParaRPr lang="en-US" altLang="x-none" sz="2800">
              <a:latin typeface="Comic Sans MS" charset="0"/>
            </a:endParaRPr>
          </a:p>
          <a:p>
            <a:endParaRPr lang="en-US" altLang="x-none" sz="2800">
              <a:latin typeface="Comic Sans MS" charset="0"/>
            </a:endParaRPr>
          </a:p>
          <a:p>
            <a:r>
              <a:rPr lang="en-US" altLang="x-none" sz="2800">
                <a:latin typeface="Comic Sans MS" charset="0"/>
              </a:rPr>
              <a:t>h)		SE	135</a:t>
            </a:r>
            <a:r>
              <a:rPr lang="en-US" altLang="x-none" sz="2800" baseline="30000">
                <a:latin typeface="Comic Sans MS" charset="0"/>
              </a:rPr>
              <a:t>o</a:t>
            </a:r>
            <a:endParaRPr lang="en-US" altLang="x-none" sz="2800">
              <a:latin typeface="Comic Sans MS" charset="0"/>
            </a:endParaRPr>
          </a:p>
          <a:p>
            <a:endParaRPr lang="en-US" altLang="x-none" sz="2800">
              <a:latin typeface="Comic Sans MS" charset="0"/>
            </a:endParaRPr>
          </a:p>
          <a:p>
            <a:r>
              <a:rPr lang="en-US" altLang="x-none" sz="2800">
                <a:latin typeface="Comic Sans MS" charset="0"/>
              </a:rPr>
              <a:t>i)		W	270</a:t>
            </a:r>
            <a:r>
              <a:rPr lang="en-US" altLang="x-none" sz="2800" baseline="30000">
                <a:latin typeface="Comic Sans MS" charset="0"/>
              </a:rPr>
              <a:t>o</a:t>
            </a:r>
            <a:endParaRPr lang="en-US" altLang="x-none" sz="2800">
              <a:latin typeface="Comic Sans MS" charset="0"/>
            </a:endParaRPr>
          </a:p>
          <a:p>
            <a:pPr>
              <a:buFontTx/>
              <a:buChar char="•"/>
            </a:pPr>
            <a:endParaRPr lang="en-US" altLang="x-none" sz="2800">
              <a:latin typeface="Comic Sans MS" charset="0"/>
            </a:endParaRPr>
          </a:p>
          <a:p>
            <a:r>
              <a:rPr lang="en-US" altLang="x-none" sz="2800">
                <a:latin typeface="Comic Sans MS" charset="0"/>
              </a:rPr>
              <a:t>j)		ESE	112.5</a:t>
            </a:r>
            <a:r>
              <a:rPr lang="en-US" altLang="x-none" sz="2800" baseline="30000">
                <a:latin typeface="Comic Sans MS" charset="0"/>
              </a:rPr>
              <a:t>o</a:t>
            </a:r>
            <a:r>
              <a:rPr lang="en-US" altLang="x-none" sz="2800">
                <a:latin typeface="Comic Sans MS" charset="0"/>
              </a:rPr>
              <a:t>	</a:t>
            </a:r>
          </a:p>
        </p:txBody>
      </p:sp>
      <p:sp>
        <p:nvSpPr>
          <p:cNvPr id="20487" name="AutoShape 7"/>
          <p:cNvSpPr>
            <a:spLocks noChangeArrowheads="1"/>
          </p:cNvSpPr>
          <p:nvPr/>
        </p:nvSpPr>
        <p:spPr bwMode="auto">
          <a:xfrm>
            <a:off x="4238625" y="5430838"/>
            <a:ext cx="1295400" cy="519112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8" name="AutoShape 8"/>
          <p:cNvSpPr>
            <a:spLocks noChangeArrowheads="1"/>
          </p:cNvSpPr>
          <p:nvPr/>
        </p:nvSpPr>
        <p:spPr bwMode="auto">
          <a:xfrm>
            <a:off x="4240213" y="4589463"/>
            <a:ext cx="1295400" cy="5191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9" name="AutoShape 9"/>
          <p:cNvSpPr>
            <a:spLocks noChangeArrowheads="1"/>
          </p:cNvSpPr>
          <p:nvPr/>
        </p:nvSpPr>
        <p:spPr bwMode="auto">
          <a:xfrm>
            <a:off x="4241800" y="3748088"/>
            <a:ext cx="1295400" cy="519112"/>
          </a:xfrm>
          <a:prstGeom prst="roundRect">
            <a:avLst>
              <a:gd name="adj" fmla="val 16667"/>
            </a:avLst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0" name="AutoShape 10"/>
          <p:cNvSpPr>
            <a:spLocks noChangeArrowheads="1"/>
          </p:cNvSpPr>
          <p:nvPr/>
        </p:nvSpPr>
        <p:spPr bwMode="auto">
          <a:xfrm>
            <a:off x="4243388" y="2906713"/>
            <a:ext cx="1295400" cy="519112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1" name="AutoShape 11"/>
          <p:cNvSpPr>
            <a:spLocks noChangeArrowheads="1"/>
          </p:cNvSpPr>
          <p:nvPr/>
        </p:nvSpPr>
        <p:spPr bwMode="auto">
          <a:xfrm>
            <a:off x="4244975" y="2065338"/>
            <a:ext cx="1295400" cy="5191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2" name="AutoShape 12"/>
          <p:cNvSpPr>
            <a:spLocks noChangeArrowheads="1"/>
          </p:cNvSpPr>
          <p:nvPr/>
        </p:nvSpPr>
        <p:spPr bwMode="auto">
          <a:xfrm>
            <a:off x="7197725" y="5432426"/>
            <a:ext cx="1295400" cy="519113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3" name="AutoShape 13"/>
          <p:cNvSpPr>
            <a:spLocks noChangeArrowheads="1"/>
          </p:cNvSpPr>
          <p:nvPr/>
        </p:nvSpPr>
        <p:spPr bwMode="auto">
          <a:xfrm>
            <a:off x="7199313" y="4591051"/>
            <a:ext cx="1295400" cy="519113"/>
          </a:xfrm>
          <a:prstGeom prst="roundRect">
            <a:avLst>
              <a:gd name="adj" fmla="val 16667"/>
            </a:avLst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4" name="AutoShape 14"/>
          <p:cNvSpPr>
            <a:spLocks noChangeArrowheads="1"/>
          </p:cNvSpPr>
          <p:nvPr/>
        </p:nvSpPr>
        <p:spPr bwMode="auto">
          <a:xfrm>
            <a:off x="7200900" y="3749676"/>
            <a:ext cx="1295400" cy="51911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5" name="AutoShape 15"/>
          <p:cNvSpPr>
            <a:spLocks noChangeArrowheads="1"/>
          </p:cNvSpPr>
          <p:nvPr/>
        </p:nvSpPr>
        <p:spPr bwMode="auto">
          <a:xfrm>
            <a:off x="7202488" y="2908301"/>
            <a:ext cx="1295400" cy="519113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6" name="AutoShape 16"/>
          <p:cNvSpPr>
            <a:spLocks noChangeArrowheads="1"/>
          </p:cNvSpPr>
          <p:nvPr/>
        </p:nvSpPr>
        <p:spPr bwMode="auto">
          <a:xfrm>
            <a:off x="7204075" y="2066926"/>
            <a:ext cx="1295400" cy="519113"/>
          </a:xfrm>
          <a:prstGeom prst="roundRect">
            <a:avLst>
              <a:gd name="adj" fmla="val 16667"/>
            </a:avLst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23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4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6" dur="1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48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4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 nodeType="clickPar">
                      <p:stCondLst>
                        <p:cond delay="0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2" dur="1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48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04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 nodeType="clickPar">
                      <p:stCondLst>
                        <p:cond delay="0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8" dur="1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48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04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 nodeType="clickPar">
                      <p:stCondLst>
                        <p:cond delay="0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4" dur="1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49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04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 nodeType="clickPar">
                      <p:stCondLst>
                        <p:cond delay="0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30" dur="1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491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04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 nodeType="clickPar">
                      <p:stCondLst>
                        <p:cond delay="0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36" dur="1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492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04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 nodeType="clickPar">
                      <p:stCondLst>
                        <p:cond delay="0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42" dur="1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493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04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 nodeType="clickPar">
                      <p:stCondLst>
                        <p:cond delay="0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48" dur="1"/>
                                        <p:tgtEl>
                                          <p:spTgt spid="2049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494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04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 nodeType="clickPar">
                      <p:stCondLst>
                        <p:cond delay="0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54" dur="1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49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204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 nodeType="clickPar">
                      <p:stCondLst>
                        <p:cond delay="0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60" dur="1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496"/>
                  </p:tgtEl>
                </p:cond>
              </p:nextCondLst>
            </p:seq>
          </p:childTnLst>
        </p:cTn>
      </p:par>
    </p:tnLst>
    <p:bldLst>
      <p:bldP spid="20487" grpId="0" animBg="1"/>
      <p:bldP spid="20488" grpId="0" animBg="1"/>
      <p:bldP spid="20489" grpId="0" animBg="1"/>
      <p:bldP spid="20490" grpId="0" animBg="1"/>
      <p:bldP spid="20491" grpId="0" animBg="1"/>
      <p:bldP spid="20492" grpId="0" animBg="1"/>
      <p:bldP spid="20493" grpId="0" animBg="1"/>
      <p:bldP spid="20494" grpId="0" animBg="1"/>
      <p:bldP spid="20495" grpId="0" animBg="1"/>
      <p:bldP spid="2049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89"/>
          <p:cNvSpPr/>
          <p:nvPr/>
        </p:nvSpPr>
        <p:spPr>
          <a:xfrm>
            <a:off x="1532130" y="11284"/>
            <a:ext cx="2352126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/>
          <p:cNvSpPr txBox="1"/>
          <p:nvPr/>
        </p:nvSpPr>
        <p:spPr>
          <a:xfrm>
            <a:off x="5926871" y="5651979"/>
            <a:ext cx="1475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?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85051" y="1396280"/>
            <a:ext cx="201622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4800" dirty="0"/>
              <a:t>Step 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84257" y="2132857"/>
            <a:ext cx="650519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3600" b="1" dirty="0">
                <a:ln>
                  <a:solidFill>
                    <a:srgbClr val="FF0000"/>
                  </a:solidFill>
                </a:ln>
              </a:rPr>
              <a:t>Draw your initial bearing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509157" y="1"/>
            <a:ext cx="2352126" cy="148478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TextBox 67"/>
          <p:cNvSpPr txBox="1"/>
          <p:nvPr/>
        </p:nvSpPr>
        <p:spPr>
          <a:xfrm>
            <a:off x="1459023" y="11284"/>
            <a:ext cx="288032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85050" y="11285"/>
            <a:ext cx="67826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 beach(B) is on a bearing of 064° from the Airport (A), at a distance of 20km. How far east is the beach from the Airport?</a:t>
            </a:r>
          </a:p>
        </p:txBody>
      </p:sp>
      <p:grpSp>
        <p:nvGrpSpPr>
          <p:cNvPr id="70" name="Group 69"/>
          <p:cNvGrpSpPr/>
          <p:nvPr/>
        </p:nvGrpSpPr>
        <p:grpSpPr>
          <a:xfrm>
            <a:off x="4390497" y="3155598"/>
            <a:ext cx="4238800" cy="2504126"/>
            <a:chOff x="2866497" y="3155598"/>
            <a:chExt cx="4238800" cy="2504126"/>
          </a:xfrm>
        </p:grpSpPr>
        <p:sp>
          <p:nvSpPr>
            <p:cNvPr id="71" name="Oval 70"/>
            <p:cNvSpPr/>
            <p:nvPr/>
          </p:nvSpPr>
          <p:spPr>
            <a:xfrm>
              <a:off x="3325294" y="5279031"/>
              <a:ext cx="296590" cy="23816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Oval 71"/>
            <p:cNvSpPr/>
            <p:nvPr/>
          </p:nvSpPr>
          <p:spPr>
            <a:xfrm>
              <a:off x="5839838" y="3298125"/>
              <a:ext cx="296590" cy="23816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2866497" y="5136504"/>
              <a:ext cx="9175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/>
                <a:t>A</a:t>
              </a:r>
            </a:p>
          </p:txBody>
        </p:sp>
        <p:cxnSp>
          <p:nvCxnSpPr>
            <p:cNvPr id="74" name="Straight Arrow Connector 73"/>
            <p:cNvCxnSpPr/>
            <p:nvPr/>
          </p:nvCxnSpPr>
          <p:spPr>
            <a:xfrm flipV="1">
              <a:off x="3473849" y="4007820"/>
              <a:ext cx="0" cy="127121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3466973" y="4564031"/>
              <a:ext cx="9175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/>
                <a:t>064°</a:t>
              </a:r>
            </a:p>
          </p:txBody>
        </p:sp>
        <p:cxnSp>
          <p:nvCxnSpPr>
            <p:cNvPr id="76" name="Straight Connector 75"/>
            <p:cNvCxnSpPr/>
            <p:nvPr/>
          </p:nvCxnSpPr>
          <p:spPr>
            <a:xfrm flipV="1">
              <a:off x="3580328" y="3417209"/>
              <a:ext cx="2407805" cy="206330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Arc 76"/>
            <p:cNvSpPr/>
            <p:nvPr/>
          </p:nvSpPr>
          <p:spPr>
            <a:xfrm rot="1512298">
              <a:off x="3438355" y="5005184"/>
              <a:ext cx="455218" cy="262637"/>
            </a:xfrm>
            <a:prstGeom prst="arc">
              <a:avLst>
                <a:gd name="adj1" fmla="val 11516399"/>
                <a:gd name="adj2" fmla="val 245748"/>
              </a:avLst>
            </a:prstGeom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8" name="TextBox 77"/>
            <p:cNvSpPr txBox="1"/>
            <p:nvPr/>
          </p:nvSpPr>
          <p:spPr>
            <a:xfrm rot="19179275">
              <a:off x="4374492" y="4412179"/>
              <a:ext cx="14475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/>
                <a:t>20km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6187703" y="3155598"/>
              <a:ext cx="9175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/>
                <a:t>B</a:t>
              </a: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1691435" y="154244"/>
            <a:ext cx="1998492" cy="1168000"/>
            <a:chOff x="2745150" y="3155598"/>
            <a:chExt cx="4360147" cy="2761520"/>
          </a:xfrm>
        </p:grpSpPr>
        <p:sp>
          <p:nvSpPr>
            <p:cNvPr id="81" name="Oval 80"/>
            <p:cNvSpPr/>
            <p:nvPr/>
          </p:nvSpPr>
          <p:spPr>
            <a:xfrm>
              <a:off x="3325294" y="5279031"/>
              <a:ext cx="296590" cy="23816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2" name="Oval 81"/>
            <p:cNvSpPr/>
            <p:nvPr/>
          </p:nvSpPr>
          <p:spPr>
            <a:xfrm>
              <a:off x="5839838" y="3298125"/>
              <a:ext cx="296590" cy="23816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2745150" y="5043901"/>
              <a:ext cx="917594" cy="873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A</a:t>
              </a:r>
            </a:p>
          </p:txBody>
        </p:sp>
        <p:cxnSp>
          <p:nvCxnSpPr>
            <p:cNvPr id="84" name="Straight Arrow Connector 83"/>
            <p:cNvCxnSpPr/>
            <p:nvPr/>
          </p:nvCxnSpPr>
          <p:spPr>
            <a:xfrm flipH="1" flipV="1">
              <a:off x="3473587" y="3592207"/>
              <a:ext cx="262" cy="16868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/>
          </p:nvSpPr>
          <p:spPr>
            <a:xfrm>
              <a:off x="3334980" y="4283651"/>
              <a:ext cx="1496456" cy="873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064°</a:t>
              </a:r>
            </a:p>
          </p:txBody>
        </p:sp>
        <p:cxnSp>
          <p:nvCxnSpPr>
            <p:cNvPr id="86" name="Straight Connector 85"/>
            <p:cNvCxnSpPr/>
            <p:nvPr/>
          </p:nvCxnSpPr>
          <p:spPr>
            <a:xfrm flipV="1">
              <a:off x="3580328" y="3417209"/>
              <a:ext cx="2407805" cy="206330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Arc 86"/>
            <p:cNvSpPr/>
            <p:nvPr/>
          </p:nvSpPr>
          <p:spPr>
            <a:xfrm rot="1512298">
              <a:off x="3438355" y="5005184"/>
              <a:ext cx="455218" cy="262637"/>
            </a:xfrm>
            <a:prstGeom prst="arc">
              <a:avLst>
                <a:gd name="adj1" fmla="val 11516399"/>
                <a:gd name="adj2" fmla="val 245748"/>
              </a:avLst>
            </a:prstGeom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8" name="TextBox 87"/>
            <p:cNvSpPr txBox="1"/>
            <p:nvPr/>
          </p:nvSpPr>
          <p:spPr>
            <a:xfrm rot="19179275">
              <a:off x="4230970" y="4047238"/>
              <a:ext cx="2654445" cy="873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20km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6187703" y="3155598"/>
              <a:ext cx="917594" cy="873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9843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3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3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xit" presetSubtype="9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3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3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" presetClass="exit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30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30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xit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3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3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30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0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3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  <p:bldP spid="28" grpId="0"/>
      <p:bldP spid="28" grpId="1"/>
      <p:bldP spid="65" grpId="0"/>
      <p:bldP spid="66" grpId="0"/>
      <p:bldP spid="66" grpId="1"/>
      <p:bldP spid="66" grpId="2"/>
      <p:bldP spid="67" grpId="0" animBg="1"/>
      <p:bldP spid="68" grpId="0" animBg="1"/>
      <p:bldP spid="6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885050" y="11285"/>
            <a:ext cx="67826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 beach(B) is on a bearing of 064° from the Airport (A), at a distance of 20km. How far east is the beach from the Airport?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85051" y="1396280"/>
            <a:ext cx="201622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4800" dirty="0"/>
              <a:t>Step 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05008" y="2109971"/>
            <a:ext cx="650519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3600" b="1" dirty="0">
                <a:ln>
                  <a:solidFill>
                    <a:srgbClr val="FF0000"/>
                  </a:solidFill>
                </a:ln>
              </a:rPr>
              <a:t>Complete the triangle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51141" y="-130875"/>
            <a:ext cx="2352126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Rounded Rectangle 67"/>
          <p:cNvSpPr/>
          <p:nvPr/>
        </p:nvSpPr>
        <p:spPr>
          <a:xfrm>
            <a:off x="1509157" y="1"/>
            <a:ext cx="2352126" cy="148478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TextBox 68"/>
          <p:cNvSpPr txBox="1"/>
          <p:nvPr/>
        </p:nvSpPr>
        <p:spPr>
          <a:xfrm>
            <a:off x="1459023" y="11284"/>
            <a:ext cx="288032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85050" y="11285"/>
            <a:ext cx="67826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 beach(B) is on a bearing of 064° from the Airport (A), at a distance of 20km. How far east is the beach from the Airport?</a:t>
            </a:r>
          </a:p>
        </p:txBody>
      </p:sp>
      <p:grpSp>
        <p:nvGrpSpPr>
          <p:cNvPr id="71" name="Group 70"/>
          <p:cNvGrpSpPr/>
          <p:nvPr/>
        </p:nvGrpSpPr>
        <p:grpSpPr>
          <a:xfrm>
            <a:off x="1691435" y="154244"/>
            <a:ext cx="1998492" cy="1168000"/>
            <a:chOff x="2745150" y="3155598"/>
            <a:chExt cx="4360147" cy="2761520"/>
          </a:xfrm>
        </p:grpSpPr>
        <p:sp>
          <p:nvSpPr>
            <p:cNvPr id="72" name="Oval 71"/>
            <p:cNvSpPr/>
            <p:nvPr/>
          </p:nvSpPr>
          <p:spPr>
            <a:xfrm>
              <a:off x="3325294" y="5279031"/>
              <a:ext cx="296590" cy="23816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3" name="Oval 72"/>
            <p:cNvSpPr/>
            <p:nvPr/>
          </p:nvSpPr>
          <p:spPr>
            <a:xfrm>
              <a:off x="5839838" y="3298125"/>
              <a:ext cx="296590" cy="23816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2745150" y="5043901"/>
              <a:ext cx="917594" cy="873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A</a:t>
              </a:r>
            </a:p>
          </p:txBody>
        </p:sp>
        <p:cxnSp>
          <p:nvCxnSpPr>
            <p:cNvPr id="75" name="Straight Arrow Connector 74"/>
            <p:cNvCxnSpPr/>
            <p:nvPr/>
          </p:nvCxnSpPr>
          <p:spPr>
            <a:xfrm flipH="1" flipV="1">
              <a:off x="3473587" y="3592207"/>
              <a:ext cx="262" cy="16868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/>
            <p:cNvSpPr txBox="1"/>
            <p:nvPr/>
          </p:nvSpPr>
          <p:spPr>
            <a:xfrm>
              <a:off x="3334980" y="4283651"/>
              <a:ext cx="1496456" cy="873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064°</a:t>
              </a:r>
            </a:p>
          </p:txBody>
        </p:sp>
        <p:cxnSp>
          <p:nvCxnSpPr>
            <p:cNvPr id="77" name="Straight Connector 76"/>
            <p:cNvCxnSpPr/>
            <p:nvPr/>
          </p:nvCxnSpPr>
          <p:spPr>
            <a:xfrm flipV="1">
              <a:off x="3580328" y="3417209"/>
              <a:ext cx="2407805" cy="206330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Arc 77"/>
            <p:cNvSpPr/>
            <p:nvPr/>
          </p:nvSpPr>
          <p:spPr>
            <a:xfrm rot="1512298">
              <a:off x="3438355" y="5005184"/>
              <a:ext cx="455218" cy="262637"/>
            </a:xfrm>
            <a:prstGeom prst="arc">
              <a:avLst>
                <a:gd name="adj1" fmla="val 11516399"/>
                <a:gd name="adj2" fmla="val 245748"/>
              </a:avLst>
            </a:prstGeom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TextBox 78"/>
            <p:cNvSpPr txBox="1"/>
            <p:nvPr/>
          </p:nvSpPr>
          <p:spPr>
            <a:xfrm rot="19179275">
              <a:off x="4230970" y="4047238"/>
              <a:ext cx="2654445" cy="873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20km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6187703" y="3155598"/>
              <a:ext cx="917594" cy="873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B</a:t>
              </a: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4390497" y="3155598"/>
            <a:ext cx="4238800" cy="2504126"/>
            <a:chOff x="2866497" y="3155598"/>
            <a:chExt cx="4238800" cy="2504128"/>
          </a:xfrm>
        </p:grpSpPr>
        <p:sp>
          <p:nvSpPr>
            <p:cNvPr id="82" name="Oval 81"/>
            <p:cNvSpPr/>
            <p:nvPr/>
          </p:nvSpPr>
          <p:spPr>
            <a:xfrm>
              <a:off x="3325294" y="5279031"/>
              <a:ext cx="296590" cy="23816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3" name="Oval 82"/>
            <p:cNvSpPr/>
            <p:nvPr/>
          </p:nvSpPr>
          <p:spPr>
            <a:xfrm>
              <a:off x="5839838" y="3298125"/>
              <a:ext cx="296590" cy="23816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866497" y="5136506"/>
              <a:ext cx="9175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/>
                <a:t>A</a:t>
              </a:r>
            </a:p>
          </p:txBody>
        </p:sp>
        <p:cxnSp>
          <p:nvCxnSpPr>
            <p:cNvPr id="85" name="Straight Arrow Connector 84"/>
            <p:cNvCxnSpPr/>
            <p:nvPr/>
          </p:nvCxnSpPr>
          <p:spPr>
            <a:xfrm flipV="1">
              <a:off x="3473849" y="4007820"/>
              <a:ext cx="0" cy="127121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/>
            <p:cNvSpPr txBox="1"/>
            <p:nvPr/>
          </p:nvSpPr>
          <p:spPr>
            <a:xfrm>
              <a:off x="3466973" y="4564032"/>
              <a:ext cx="9175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/>
                <a:t>064°</a:t>
              </a:r>
            </a:p>
          </p:txBody>
        </p:sp>
        <p:cxnSp>
          <p:nvCxnSpPr>
            <p:cNvPr id="87" name="Straight Connector 86"/>
            <p:cNvCxnSpPr/>
            <p:nvPr/>
          </p:nvCxnSpPr>
          <p:spPr>
            <a:xfrm flipV="1">
              <a:off x="3580328" y="3417209"/>
              <a:ext cx="2407805" cy="206330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Arc 87"/>
            <p:cNvSpPr/>
            <p:nvPr/>
          </p:nvSpPr>
          <p:spPr>
            <a:xfrm rot="1512298">
              <a:off x="3438355" y="5005184"/>
              <a:ext cx="455218" cy="262637"/>
            </a:xfrm>
            <a:prstGeom prst="arc">
              <a:avLst>
                <a:gd name="adj1" fmla="val 11516399"/>
                <a:gd name="adj2" fmla="val 245748"/>
              </a:avLst>
            </a:prstGeom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9" name="TextBox 88"/>
            <p:cNvSpPr txBox="1"/>
            <p:nvPr/>
          </p:nvSpPr>
          <p:spPr>
            <a:xfrm rot="19179275">
              <a:off x="4374492" y="4412180"/>
              <a:ext cx="14475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/>
                <a:t>20km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6187703" y="3155598"/>
              <a:ext cx="9175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/>
                <a:t>B</a:t>
              </a:r>
            </a:p>
          </p:txBody>
        </p:sp>
      </p:grpSp>
      <p:sp>
        <p:nvSpPr>
          <p:cNvPr id="91" name="TextBox 90"/>
          <p:cNvSpPr txBox="1"/>
          <p:nvPr/>
        </p:nvSpPr>
        <p:spPr>
          <a:xfrm>
            <a:off x="5926871" y="5651979"/>
            <a:ext cx="1475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?</a:t>
            </a:r>
          </a:p>
        </p:txBody>
      </p:sp>
      <p:cxnSp>
        <p:nvCxnSpPr>
          <p:cNvPr id="92" name="Straight Connector 91"/>
          <p:cNvCxnSpPr/>
          <p:nvPr/>
        </p:nvCxnSpPr>
        <p:spPr>
          <a:xfrm>
            <a:off x="5104329" y="5540273"/>
            <a:ext cx="2407805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7512133" y="3440285"/>
            <a:ext cx="0" cy="2099989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/>
          <p:cNvSpPr/>
          <p:nvPr/>
        </p:nvSpPr>
        <p:spPr>
          <a:xfrm>
            <a:off x="1532925" y="1629759"/>
            <a:ext cx="2352126" cy="148478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TextBox 94"/>
          <p:cNvSpPr txBox="1"/>
          <p:nvPr/>
        </p:nvSpPr>
        <p:spPr>
          <a:xfrm>
            <a:off x="1540967" y="1488822"/>
            <a:ext cx="288032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grpSp>
        <p:nvGrpSpPr>
          <p:cNvPr id="96" name="Group 95"/>
          <p:cNvGrpSpPr/>
          <p:nvPr/>
        </p:nvGrpSpPr>
        <p:grpSpPr>
          <a:xfrm>
            <a:off x="1747055" y="1666238"/>
            <a:ext cx="2270150" cy="1613551"/>
            <a:chOff x="2866497" y="3155598"/>
            <a:chExt cx="4238800" cy="3140765"/>
          </a:xfrm>
        </p:grpSpPr>
        <p:grpSp>
          <p:nvGrpSpPr>
            <p:cNvPr id="97" name="Group 96"/>
            <p:cNvGrpSpPr/>
            <p:nvPr/>
          </p:nvGrpSpPr>
          <p:grpSpPr>
            <a:xfrm>
              <a:off x="2866497" y="3155598"/>
              <a:ext cx="4238800" cy="2759720"/>
              <a:chOff x="2866497" y="3155598"/>
              <a:chExt cx="4238800" cy="2759720"/>
            </a:xfrm>
          </p:grpSpPr>
          <p:sp>
            <p:nvSpPr>
              <p:cNvPr id="101" name="Oval 100"/>
              <p:cNvSpPr/>
              <p:nvPr/>
            </p:nvSpPr>
            <p:spPr>
              <a:xfrm>
                <a:off x="3325294" y="5279031"/>
                <a:ext cx="296590" cy="23816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00"/>
              </a:p>
            </p:txBody>
          </p:sp>
          <p:sp>
            <p:nvSpPr>
              <p:cNvPr id="102" name="Oval 101"/>
              <p:cNvSpPr/>
              <p:nvPr/>
            </p:nvSpPr>
            <p:spPr>
              <a:xfrm>
                <a:off x="5839838" y="3298125"/>
                <a:ext cx="296590" cy="238167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00"/>
              </a:p>
            </p:txBody>
          </p:sp>
          <p:sp>
            <p:nvSpPr>
              <p:cNvPr id="103" name="TextBox 102"/>
              <p:cNvSpPr txBox="1"/>
              <p:nvPr/>
            </p:nvSpPr>
            <p:spPr>
              <a:xfrm>
                <a:off x="2866497" y="5136507"/>
                <a:ext cx="917595" cy="77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A</a:t>
                </a:r>
              </a:p>
            </p:txBody>
          </p:sp>
          <p:cxnSp>
            <p:nvCxnSpPr>
              <p:cNvPr id="104" name="Straight Arrow Connector 103"/>
              <p:cNvCxnSpPr/>
              <p:nvPr/>
            </p:nvCxnSpPr>
            <p:spPr>
              <a:xfrm flipH="1" flipV="1">
                <a:off x="3439844" y="3606542"/>
                <a:ext cx="34005" cy="1672489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TextBox 104"/>
              <p:cNvSpPr txBox="1"/>
              <p:nvPr/>
            </p:nvSpPr>
            <p:spPr>
              <a:xfrm>
                <a:off x="3450029" y="4124973"/>
                <a:ext cx="2251595" cy="77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064°</a:t>
                </a:r>
              </a:p>
            </p:txBody>
          </p:sp>
          <p:cxnSp>
            <p:nvCxnSpPr>
              <p:cNvPr id="106" name="Straight Connector 105"/>
              <p:cNvCxnSpPr/>
              <p:nvPr/>
            </p:nvCxnSpPr>
            <p:spPr>
              <a:xfrm flipV="1">
                <a:off x="3580328" y="3417209"/>
                <a:ext cx="2407805" cy="2063300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Arc 106"/>
              <p:cNvSpPr/>
              <p:nvPr/>
            </p:nvSpPr>
            <p:spPr>
              <a:xfrm rot="1512298">
                <a:off x="3438355" y="5005184"/>
                <a:ext cx="455218" cy="262637"/>
              </a:xfrm>
              <a:prstGeom prst="arc">
                <a:avLst>
                  <a:gd name="adj1" fmla="val 11516399"/>
                  <a:gd name="adj2" fmla="val 245748"/>
                </a:avLst>
              </a:prstGeom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2000"/>
              </a:p>
            </p:txBody>
          </p:sp>
          <p:sp>
            <p:nvSpPr>
              <p:cNvPr id="108" name="TextBox 107"/>
              <p:cNvSpPr txBox="1"/>
              <p:nvPr/>
            </p:nvSpPr>
            <p:spPr>
              <a:xfrm rot="19179275">
                <a:off x="4194056" y="4112708"/>
                <a:ext cx="1447559" cy="77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20km</a:t>
                </a:r>
              </a:p>
            </p:txBody>
          </p:sp>
          <p:sp>
            <p:nvSpPr>
              <p:cNvPr id="109" name="TextBox 108"/>
              <p:cNvSpPr txBox="1"/>
              <p:nvPr/>
            </p:nvSpPr>
            <p:spPr>
              <a:xfrm>
                <a:off x="6187702" y="3155598"/>
                <a:ext cx="917595" cy="77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B</a:t>
                </a:r>
              </a:p>
            </p:txBody>
          </p:sp>
        </p:grpSp>
        <p:sp>
          <p:nvSpPr>
            <p:cNvPr id="98" name="TextBox 97"/>
            <p:cNvSpPr txBox="1"/>
            <p:nvPr/>
          </p:nvSpPr>
          <p:spPr>
            <a:xfrm>
              <a:off x="4287353" y="5517552"/>
              <a:ext cx="1475100" cy="778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?</a:t>
              </a:r>
            </a:p>
          </p:txBody>
        </p:sp>
        <p:cxnSp>
          <p:nvCxnSpPr>
            <p:cNvPr id="99" name="Straight Connector 98"/>
            <p:cNvCxnSpPr/>
            <p:nvPr/>
          </p:nvCxnSpPr>
          <p:spPr>
            <a:xfrm>
              <a:off x="3580327" y="5492741"/>
              <a:ext cx="2407805" cy="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>
              <a:off x="5988133" y="3440284"/>
              <a:ext cx="0" cy="209999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491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xit" presetSubtype="9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3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3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3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3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9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30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30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xit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3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3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xit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3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3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xit" presetSubtype="3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53" presetClass="exit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0" dur="3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2" dur="3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66" grpId="0"/>
      <p:bldP spid="66" grpId="1"/>
      <p:bldP spid="66" grpId="2"/>
      <p:bldP spid="91" grpId="0"/>
      <p:bldP spid="91" grpId="1"/>
      <p:bldP spid="91" grpId="2"/>
      <p:bldP spid="94" grpId="0" animBg="1"/>
      <p:bldP spid="9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85051" y="1396280"/>
            <a:ext cx="201622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4800" dirty="0"/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7407" y="2100612"/>
            <a:ext cx="6505195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3600" b="1" dirty="0">
                <a:ln>
                  <a:solidFill>
                    <a:srgbClr val="FF0000"/>
                  </a:solidFill>
                </a:ln>
              </a:rPr>
              <a:t>Use angle facts to find an angle in the triangle </a:t>
            </a:r>
          </a:p>
        </p:txBody>
      </p:sp>
      <p:sp>
        <p:nvSpPr>
          <p:cNvPr id="4" name="Rectangle 3"/>
          <p:cNvSpPr/>
          <p:nvPr/>
        </p:nvSpPr>
        <p:spPr>
          <a:xfrm>
            <a:off x="1532130" y="11284"/>
            <a:ext cx="2352126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ounded Rectangle 4"/>
          <p:cNvSpPr/>
          <p:nvPr/>
        </p:nvSpPr>
        <p:spPr>
          <a:xfrm>
            <a:off x="1509157" y="1"/>
            <a:ext cx="2352126" cy="148478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459023" y="11284"/>
            <a:ext cx="288032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5050" y="11285"/>
            <a:ext cx="67826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 beach(B) is on a bearing of 064° from the Airport (A), at a distance of 20km. How far east is the beach from the Airport?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691435" y="154244"/>
            <a:ext cx="1998492" cy="1168000"/>
            <a:chOff x="2745150" y="3155598"/>
            <a:chExt cx="4360147" cy="2761520"/>
          </a:xfrm>
        </p:grpSpPr>
        <p:sp>
          <p:nvSpPr>
            <p:cNvPr id="9" name="Oval 8"/>
            <p:cNvSpPr/>
            <p:nvPr/>
          </p:nvSpPr>
          <p:spPr>
            <a:xfrm>
              <a:off x="3325294" y="5279031"/>
              <a:ext cx="296590" cy="23816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Oval 9"/>
            <p:cNvSpPr/>
            <p:nvPr/>
          </p:nvSpPr>
          <p:spPr>
            <a:xfrm>
              <a:off x="5839838" y="3298125"/>
              <a:ext cx="296590" cy="23816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745150" y="5043901"/>
              <a:ext cx="917594" cy="873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A</a:t>
              </a: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 flipH="1" flipV="1">
              <a:off x="3473587" y="3592207"/>
              <a:ext cx="262" cy="16868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3334980" y="4283651"/>
              <a:ext cx="1496456" cy="873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064°</a:t>
              </a:r>
            </a:p>
          </p:txBody>
        </p:sp>
        <p:cxnSp>
          <p:nvCxnSpPr>
            <p:cNvPr id="14" name="Straight Connector 13"/>
            <p:cNvCxnSpPr/>
            <p:nvPr/>
          </p:nvCxnSpPr>
          <p:spPr>
            <a:xfrm flipV="1">
              <a:off x="3580328" y="3417209"/>
              <a:ext cx="2407805" cy="206330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Arc 14"/>
            <p:cNvSpPr/>
            <p:nvPr/>
          </p:nvSpPr>
          <p:spPr>
            <a:xfrm rot="1512298">
              <a:off x="3438355" y="5005184"/>
              <a:ext cx="455218" cy="262637"/>
            </a:xfrm>
            <a:prstGeom prst="arc">
              <a:avLst>
                <a:gd name="adj1" fmla="val 11516399"/>
                <a:gd name="adj2" fmla="val 245748"/>
              </a:avLst>
            </a:prstGeom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/>
            <p:cNvSpPr txBox="1"/>
            <p:nvPr/>
          </p:nvSpPr>
          <p:spPr>
            <a:xfrm rot="19179275">
              <a:off x="4230970" y="4047238"/>
              <a:ext cx="2654445" cy="873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20km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187703" y="3155598"/>
              <a:ext cx="917594" cy="873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B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390497" y="3155598"/>
            <a:ext cx="4238800" cy="2504126"/>
            <a:chOff x="2866497" y="3155598"/>
            <a:chExt cx="4238800" cy="2504128"/>
          </a:xfrm>
        </p:grpSpPr>
        <p:sp>
          <p:nvSpPr>
            <p:cNvPr id="19" name="Oval 18"/>
            <p:cNvSpPr/>
            <p:nvPr/>
          </p:nvSpPr>
          <p:spPr>
            <a:xfrm>
              <a:off x="3325294" y="5279031"/>
              <a:ext cx="296590" cy="23816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Oval 19"/>
            <p:cNvSpPr/>
            <p:nvPr/>
          </p:nvSpPr>
          <p:spPr>
            <a:xfrm>
              <a:off x="5839838" y="3298125"/>
              <a:ext cx="296590" cy="23816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866497" y="5136506"/>
              <a:ext cx="9175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/>
                <a:t>A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 flipV="1">
              <a:off x="3473849" y="4007820"/>
              <a:ext cx="0" cy="127121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3466973" y="4564032"/>
              <a:ext cx="9175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/>
                <a:t>064°</a:t>
              </a:r>
            </a:p>
          </p:txBody>
        </p:sp>
        <p:cxnSp>
          <p:nvCxnSpPr>
            <p:cNvPr id="24" name="Straight Connector 23"/>
            <p:cNvCxnSpPr/>
            <p:nvPr/>
          </p:nvCxnSpPr>
          <p:spPr>
            <a:xfrm flipV="1">
              <a:off x="3580328" y="3417209"/>
              <a:ext cx="2407805" cy="206330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Arc 24"/>
            <p:cNvSpPr/>
            <p:nvPr/>
          </p:nvSpPr>
          <p:spPr>
            <a:xfrm rot="1512298">
              <a:off x="3438355" y="5005184"/>
              <a:ext cx="455218" cy="262637"/>
            </a:xfrm>
            <a:prstGeom prst="arc">
              <a:avLst>
                <a:gd name="adj1" fmla="val 11516399"/>
                <a:gd name="adj2" fmla="val 245748"/>
              </a:avLst>
            </a:prstGeom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/>
            <p:cNvSpPr txBox="1"/>
            <p:nvPr/>
          </p:nvSpPr>
          <p:spPr>
            <a:xfrm rot="19179275">
              <a:off x="4374492" y="4412180"/>
              <a:ext cx="14475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/>
                <a:t>20km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187703" y="3155598"/>
              <a:ext cx="9175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/>
                <a:t>B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5926871" y="5651979"/>
            <a:ext cx="1475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?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5104329" y="5540273"/>
            <a:ext cx="2407805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7512133" y="3440285"/>
            <a:ext cx="0" cy="2099989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532925" y="1629759"/>
            <a:ext cx="2352126" cy="148478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/>
          <p:cNvSpPr txBox="1"/>
          <p:nvPr/>
        </p:nvSpPr>
        <p:spPr>
          <a:xfrm>
            <a:off x="1540967" y="1488822"/>
            <a:ext cx="288032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1718373" y="1626485"/>
            <a:ext cx="2270150" cy="1613551"/>
            <a:chOff x="2866497" y="3155598"/>
            <a:chExt cx="4238800" cy="3140765"/>
          </a:xfrm>
        </p:grpSpPr>
        <p:grpSp>
          <p:nvGrpSpPr>
            <p:cNvPr id="34" name="Group 33"/>
            <p:cNvGrpSpPr/>
            <p:nvPr/>
          </p:nvGrpSpPr>
          <p:grpSpPr>
            <a:xfrm>
              <a:off x="2866497" y="3155598"/>
              <a:ext cx="4238800" cy="2759720"/>
              <a:chOff x="2866497" y="3155598"/>
              <a:chExt cx="4238800" cy="2759720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3325294" y="5279031"/>
                <a:ext cx="296590" cy="23816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00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5839838" y="3298125"/>
                <a:ext cx="296590" cy="238167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00"/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2866497" y="5136507"/>
                <a:ext cx="917595" cy="77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A</a:t>
                </a:r>
              </a:p>
            </p:txBody>
          </p:sp>
          <p:cxnSp>
            <p:nvCxnSpPr>
              <p:cNvPr id="41" name="Straight Arrow Connector 40"/>
              <p:cNvCxnSpPr/>
              <p:nvPr/>
            </p:nvCxnSpPr>
            <p:spPr>
              <a:xfrm flipH="1" flipV="1">
                <a:off x="3439844" y="3606542"/>
                <a:ext cx="34005" cy="1672489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Box 41"/>
              <p:cNvSpPr txBox="1"/>
              <p:nvPr/>
            </p:nvSpPr>
            <p:spPr>
              <a:xfrm>
                <a:off x="3450029" y="4124973"/>
                <a:ext cx="2251595" cy="77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064°</a:t>
                </a:r>
              </a:p>
            </p:txBody>
          </p:sp>
          <p:cxnSp>
            <p:nvCxnSpPr>
              <p:cNvPr id="43" name="Straight Connector 42"/>
              <p:cNvCxnSpPr/>
              <p:nvPr/>
            </p:nvCxnSpPr>
            <p:spPr>
              <a:xfrm flipV="1">
                <a:off x="3580328" y="3417209"/>
                <a:ext cx="2407805" cy="2063300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Arc 43"/>
              <p:cNvSpPr/>
              <p:nvPr/>
            </p:nvSpPr>
            <p:spPr>
              <a:xfrm rot="1512298">
                <a:off x="3438355" y="5005184"/>
                <a:ext cx="455218" cy="262637"/>
              </a:xfrm>
              <a:prstGeom prst="arc">
                <a:avLst>
                  <a:gd name="adj1" fmla="val 11516399"/>
                  <a:gd name="adj2" fmla="val 245748"/>
                </a:avLst>
              </a:prstGeom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2000"/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 rot="19179275">
                <a:off x="4194056" y="4112708"/>
                <a:ext cx="1447559" cy="77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20km</a:t>
                </a: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6187702" y="3155598"/>
                <a:ext cx="917595" cy="77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B</a:t>
                </a:r>
              </a:p>
            </p:txBody>
          </p:sp>
        </p:grpSp>
        <p:sp>
          <p:nvSpPr>
            <p:cNvPr id="35" name="TextBox 34"/>
            <p:cNvSpPr txBox="1"/>
            <p:nvPr/>
          </p:nvSpPr>
          <p:spPr>
            <a:xfrm>
              <a:off x="4287353" y="5517552"/>
              <a:ext cx="1475100" cy="778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?</a:t>
              </a:r>
            </a:p>
          </p:txBody>
        </p:sp>
        <p:cxnSp>
          <p:nvCxnSpPr>
            <p:cNvPr id="36" name="Straight Connector 35"/>
            <p:cNvCxnSpPr/>
            <p:nvPr/>
          </p:nvCxnSpPr>
          <p:spPr>
            <a:xfrm>
              <a:off x="3580327" y="5492741"/>
              <a:ext cx="2407805" cy="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5988133" y="3440284"/>
              <a:ext cx="0" cy="209999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/>
          <p:cNvSpPr txBox="1"/>
          <p:nvPr/>
        </p:nvSpPr>
        <p:spPr>
          <a:xfrm>
            <a:off x="5308294" y="5087440"/>
            <a:ext cx="917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 26°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543081" y="3245321"/>
            <a:ext cx="2352126" cy="148478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TextBox 48"/>
          <p:cNvSpPr txBox="1"/>
          <p:nvPr/>
        </p:nvSpPr>
        <p:spPr>
          <a:xfrm>
            <a:off x="1551123" y="3104384"/>
            <a:ext cx="288032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1728529" y="3242047"/>
            <a:ext cx="2270150" cy="1613551"/>
            <a:chOff x="2866497" y="3155598"/>
            <a:chExt cx="4238800" cy="3140765"/>
          </a:xfrm>
        </p:grpSpPr>
        <p:grpSp>
          <p:nvGrpSpPr>
            <p:cNvPr id="51" name="Group 50"/>
            <p:cNvGrpSpPr/>
            <p:nvPr/>
          </p:nvGrpSpPr>
          <p:grpSpPr>
            <a:xfrm>
              <a:off x="2866497" y="3155598"/>
              <a:ext cx="4238800" cy="2759720"/>
              <a:chOff x="2866497" y="3155598"/>
              <a:chExt cx="4238800" cy="2759720"/>
            </a:xfrm>
          </p:grpSpPr>
          <p:sp>
            <p:nvSpPr>
              <p:cNvPr id="55" name="Oval 54"/>
              <p:cNvSpPr/>
              <p:nvPr/>
            </p:nvSpPr>
            <p:spPr>
              <a:xfrm>
                <a:off x="3325294" y="5279031"/>
                <a:ext cx="296590" cy="23816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00"/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5839838" y="3298125"/>
                <a:ext cx="296590" cy="238167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00"/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2866497" y="5136507"/>
                <a:ext cx="917595" cy="77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A</a:t>
                </a:r>
              </a:p>
            </p:txBody>
          </p:sp>
          <p:cxnSp>
            <p:nvCxnSpPr>
              <p:cNvPr id="58" name="Straight Arrow Connector 57"/>
              <p:cNvCxnSpPr/>
              <p:nvPr/>
            </p:nvCxnSpPr>
            <p:spPr>
              <a:xfrm flipH="1" flipV="1">
                <a:off x="3439844" y="3606542"/>
                <a:ext cx="34005" cy="1672489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TextBox 58"/>
              <p:cNvSpPr txBox="1"/>
              <p:nvPr/>
            </p:nvSpPr>
            <p:spPr>
              <a:xfrm>
                <a:off x="3450029" y="4124973"/>
                <a:ext cx="2251595" cy="77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064°</a:t>
                </a:r>
              </a:p>
            </p:txBody>
          </p:sp>
          <p:cxnSp>
            <p:nvCxnSpPr>
              <p:cNvPr id="60" name="Straight Connector 59"/>
              <p:cNvCxnSpPr/>
              <p:nvPr/>
            </p:nvCxnSpPr>
            <p:spPr>
              <a:xfrm flipV="1">
                <a:off x="3580328" y="3417209"/>
                <a:ext cx="2407805" cy="2063300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Arc 60"/>
              <p:cNvSpPr/>
              <p:nvPr/>
            </p:nvSpPr>
            <p:spPr>
              <a:xfrm rot="1512298">
                <a:off x="3438355" y="5005184"/>
                <a:ext cx="455218" cy="262637"/>
              </a:xfrm>
              <a:prstGeom prst="arc">
                <a:avLst>
                  <a:gd name="adj1" fmla="val 11516399"/>
                  <a:gd name="adj2" fmla="val 245748"/>
                </a:avLst>
              </a:prstGeom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2000"/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 rot="19179275">
                <a:off x="4362805" y="3904145"/>
                <a:ext cx="1447559" cy="77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20km</a:t>
                </a: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6187702" y="3155598"/>
                <a:ext cx="917595" cy="77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B</a:t>
                </a:r>
              </a:p>
            </p:txBody>
          </p:sp>
        </p:grpSp>
        <p:sp>
          <p:nvSpPr>
            <p:cNvPr id="52" name="TextBox 51"/>
            <p:cNvSpPr txBox="1"/>
            <p:nvPr/>
          </p:nvSpPr>
          <p:spPr>
            <a:xfrm>
              <a:off x="4287353" y="5517552"/>
              <a:ext cx="1475100" cy="778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?</a:t>
              </a:r>
            </a:p>
          </p:txBody>
        </p:sp>
        <p:cxnSp>
          <p:nvCxnSpPr>
            <p:cNvPr id="53" name="Straight Connector 52"/>
            <p:cNvCxnSpPr/>
            <p:nvPr/>
          </p:nvCxnSpPr>
          <p:spPr>
            <a:xfrm>
              <a:off x="3580327" y="5492741"/>
              <a:ext cx="2407805" cy="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5988133" y="3440284"/>
              <a:ext cx="0" cy="209999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TextBox 63"/>
          <p:cNvSpPr txBox="1"/>
          <p:nvPr/>
        </p:nvSpPr>
        <p:spPr>
          <a:xfrm>
            <a:off x="2249572" y="4119223"/>
            <a:ext cx="1205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26°</a:t>
            </a:r>
          </a:p>
        </p:txBody>
      </p:sp>
    </p:spTree>
    <p:extLst>
      <p:ext uri="{BB962C8B-B14F-4D97-AF65-F5344CB8AC3E}">
        <p14:creationId xmlns:p14="http://schemas.microsoft.com/office/powerpoint/2010/main" val="640830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3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3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3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3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3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3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3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3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3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3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53" presetClass="exit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3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0" dur="3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" dur="3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3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53" presetClass="exit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7" dur="3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9" dur="3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3" grpId="1"/>
      <p:bldP spid="3" grpId="2"/>
      <p:bldP spid="28" grpId="0"/>
      <p:bldP spid="28" grpId="1"/>
      <p:bldP spid="47" grpId="0"/>
      <p:bldP spid="47" grpId="1"/>
      <p:bldP spid="47" grpId="2"/>
      <p:bldP spid="48" grpId="0" animBg="1"/>
      <p:bldP spid="49" grpId="0" animBg="1"/>
      <p:bldP spid="6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61283" y="1313763"/>
            <a:ext cx="201622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4800" dirty="0"/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50592" y="1974436"/>
            <a:ext cx="678033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3600" b="1" dirty="0">
                <a:ln>
                  <a:solidFill>
                    <a:srgbClr val="FF0000"/>
                  </a:solidFill>
                </a:ln>
              </a:rPr>
              <a:t>Label all relevant sides and choose correct trig 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532130" y="11284"/>
            <a:ext cx="2352126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ounded Rectangle 4"/>
          <p:cNvSpPr/>
          <p:nvPr/>
        </p:nvSpPr>
        <p:spPr>
          <a:xfrm>
            <a:off x="1509157" y="1"/>
            <a:ext cx="2352126" cy="148478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459023" y="11284"/>
            <a:ext cx="288032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5050" y="1"/>
            <a:ext cx="67826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 beach(B) is on a bearing of 064° from the Airport (A), at a distance of 20km. How far east is the beach from the Airport?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691435" y="154244"/>
            <a:ext cx="1998492" cy="1168000"/>
            <a:chOff x="2745150" y="3155598"/>
            <a:chExt cx="4360147" cy="2761520"/>
          </a:xfrm>
        </p:grpSpPr>
        <p:sp>
          <p:nvSpPr>
            <p:cNvPr id="9" name="Oval 8"/>
            <p:cNvSpPr/>
            <p:nvPr/>
          </p:nvSpPr>
          <p:spPr>
            <a:xfrm>
              <a:off x="3325294" y="5279031"/>
              <a:ext cx="296590" cy="23816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Oval 9"/>
            <p:cNvSpPr/>
            <p:nvPr/>
          </p:nvSpPr>
          <p:spPr>
            <a:xfrm>
              <a:off x="5839838" y="3298125"/>
              <a:ext cx="296590" cy="23816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745150" y="5043901"/>
              <a:ext cx="917594" cy="873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A</a:t>
              </a: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 flipH="1" flipV="1">
              <a:off x="3473587" y="3592207"/>
              <a:ext cx="262" cy="16868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3334980" y="4283651"/>
              <a:ext cx="1496456" cy="873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064°</a:t>
              </a:r>
            </a:p>
          </p:txBody>
        </p:sp>
        <p:cxnSp>
          <p:nvCxnSpPr>
            <p:cNvPr id="14" name="Straight Connector 13"/>
            <p:cNvCxnSpPr/>
            <p:nvPr/>
          </p:nvCxnSpPr>
          <p:spPr>
            <a:xfrm flipV="1">
              <a:off x="3580328" y="3417209"/>
              <a:ext cx="2407805" cy="206330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Arc 14"/>
            <p:cNvSpPr/>
            <p:nvPr/>
          </p:nvSpPr>
          <p:spPr>
            <a:xfrm rot="1512298">
              <a:off x="3438355" y="5005184"/>
              <a:ext cx="455218" cy="262637"/>
            </a:xfrm>
            <a:prstGeom prst="arc">
              <a:avLst>
                <a:gd name="adj1" fmla="val 11516399"/>
                <a:gd name="adj2" fmla="val 245748"/>
              </a:avLst>
            </a:prstGeom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/>
            <p:cNvSpPr txBox="1"/>
            <p:nvPr/>
          </p:nvSpPr>
          <p:spPr>
            <a:xfrm rot="19179275">
              <a:off x="4230970" y="4047238"/>
              <a:ext cx="2654445" cy="873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20km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187703" y="3155598"/>
              <a:ext cx="917594" cy="873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B</a:t>
              </a:r>
            </a:p>
          </p:txBody>
        </p:sp>
      </p:grpSp>
      <p:sp>
        <p:nvSpPr>
          <p:cNvPr id="31" name="Rounded Rectangle 30"/>
          <p:cNvSpPr/>
          <p:nvPr/>
        </p:nvSpPr>
        <p:spPr>
          <a:xfrm>
            <a:off x="1532925" y="1629759"/>
            <a:ext cx="2352126" cy="148478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/>
          <p:cNvSpPr txBox="1"/>
          <p:nvPr/>
        </p:nvSpPr>
        <p:spPr>
          <a:xfrm>
            <a:off x="1540967" y="1488822"/>
            <a:ext cx="288032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1718373" y="1626485"/>
            <a:ext cx="2270150" cy="1613551"/>
            <a:chOff x="2866497" y="3155598"/>
            <a:chExt cx="4238800" cy="3140765"/>
          </a:xfrm>
        </p:grpSpPr>
        <p:grpSp>
          <p:nvGrpSpPr>
            <p:cNvPr id="34" name="Group 33"/>
            <p:cNvGrpSpPr/>
            <p:nvPr/>
          </p:nvGrpSpPr>
          <p:grpSpPr>
            <a:xfrm>
              <a:off x="2866497" y="3155598"/>
              <a:ext cx="4238800" cy="2759720"/>
              <a:chOff x="2866497" y="3155598"/>
              <a:chExt cx="4238800" cy="2759720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3325294" y="5279031"/>
                <a:ext cx="296590" cy="23816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00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5839838" y="3298125"/>
                <a:ext cx="296590" cy="238167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00"/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2866497" y="5136507"/>
                <a:ext cx="917595" cy="77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A</a:t>
                </a:r>
              </a:p>
            </p:txBody>
          </p:sp>
          <p:cxnSp>
            <p:nvCxnSpPr>
              <p:cNvPr id="41" name="Straight Arrow Connector 40"/>
              <p:cNvCxnSpPr/>
              <p:nvPr/>
            </p:nvCxnSpPr>
            <p:spPr>
              <a:xfrm flipH="1" flipV="1">
                <a:off x="3439844" y="3606542"/>
                <a:ext cx="34005" cy="1672489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Box 41"/>
              <p:cNvSpPr txBox="1"/>
              <p:nvPr/>
            </p:nvSpPr>
            <p:spPr>
              <a:xfrm>
                <a:off x="3450029" y="4124973"/>
                <a:ext cx="2251595" cy="77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064°</a:t>
                </a:r>
              </a:p>
            </p:txBody>
          </p:sp>
          <p:cxnSp>
            <p:nvCxnSpPr>
              <p:cNvPr id="43" name="Straight Connector 42"/>
              <p:cNvCxnSpPr/>
              <p:nvPr/>
            </p:nvCxnSpPr>
            <p:spPr>
              <a:xfrm flipV="1">
                <a:off x="3580328" y="3417209"/>
                <a:ext cx="2407805" cy="2063300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Arc 43"/>
              <p:cNvSpPr/>
              <p:nvPr/>
            </p:nvSpPr>
            <p:spPr>
              <a:xfrm rot="1512298">
                <a:off x="3438355" y="5005184"/>
                <a:ext cx="455218" cy="262637"/>
              </a:xfrm>
              <a:prstGeom prst="arc">
                <a:avLst>
                  <a:gd name="adj1" fmla="val 11516399"/>
                  <a:gd name="adj2" fmla="val 245748"/>
                </a:avLst>
              </a:prstGeom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2000"/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 rot="19179275">
                <a:off x="4194056" y="4112708"/>
                <a:ext cx="1447559" cy="77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20km</a:t>
                </a: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6187702" y="3155598"/>
                <a:ext cx="917595" cy="77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B</a:t>
                </a:r>
              </a:p>
            </p:txBody>
          </p:sp>
        </p:grpSp>
        <p:sp>
          <p:nvSpPr>
            <p:cNvPr id="35" name="TextBox 34"/>
            <p:cNvSpPr txBox="1"/>
            <p:nvPr/>
          </p:nvSpPr>
          <p:spPr>
            <a:xfrm>
              <a:off x="4287353" y="5517552"/>
              <a:ext cx="1475100" cy="778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?</a:t>
              </a:r>
            </a:p>
          </p:txBody>
        </p:sp>
        <p:cxnSp>
          <p:nvCxnSpPr>
            <p:cNvPr id="36" name="Straight Connector 35"/>
            <p:cNvCxnSpPr/>
            <p:nvPr/>
          </p:nvCxnSpPr>
          <p:spPr>
            <a:xfrm>
              <a:off x="3580327" y="5492741"/>
              <a:ext cx="2407805" cy="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5988133" y="3440284"/>
              <a:ext cx="0" cy="209999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ounded Rectangle 47"/>
          <p:cNvSpPr/>
          <p:nvPr/>
        </p:nvSpPr>
        <p:spPr>
          <a:xfrm>
            <a:off x="1543081" y="3245321"/>
            <a:ext cx="2352126" cy="148478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TextBox 48"/>
          <p:cNvSpPr txBox="1"/>
          <p:nvPr/>
        </p:nvSpPr>
        <p:spPr>
          <a:xfrm>
            <a:off x="1551123" y="3104384"/>
            <a:ext cx="288032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1728529" y="3242047"/>
            <a:ext cx="2270150" cy="1613551"/>
            <a:chOff x="2866497" y="3155598"/>
            <a:chExt cx="4238800" cy="3140765"/>
          </a:xfrm>
        </p:grpSpPr>
        <p:grpSp>
          <p:nvGrpSpPr>
            <p:cNvPr id="51" name="Group 50"/>
            <p:cNvGrpSpPr/>
            <p:nvPr/>
          </p:nvGrpSpPr>
          <p:grpSpPr>
            <a:xfrm>
              <a:off x="2866497" y="3155598"/>
              <a:ext cx="4238800" cy="2759720"/>
              <a:chOff x="2866497" y="3155598"/>
              <a:chExt cx="4238800" cy="2759720"/>
            </a:xfrm>
          </p:grpSpPr>
          <p:sp>
            <p:nvSpPr>
              <p:cNvPr id="55" name="Oval 54"/>
              <p:cNvSpPr/>
              <p:nvPr/>
            </p:nvSpPr>
            <p:spPr>
              <a:xfrm>
                <a:off x="3325294" y="5279031"/>
                <a:ext cx="296590" cy="23816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00"/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5839838" y="3298125"/>
                <a:ext cx="296590" cy="238167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00"/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2866497" y="5136507"/>
                <a:ext cx="917595" cy="77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A</a:t>
                </a:r>
              </a:p>
            </p:txBody>
          </p:sp>
          <p:cxnSp>
            <p:nvCxnSpPr>
              <p:cNvPr id="58" name="Straight Arrow Connector 57"/>
              <p:cNvCxnSpPr/>
              <p:nvPr/>
            </p:nvCxnSpPr>
            <p:spPr>
              <a:xfrm flipH="1" flipV="1">
                <a:off x="3439844" y="3606542"/>
                <a:ext cx="34005" cy="1672489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TextBox 58"/>
              <p:cNvSpPr txBox="1"/>
              <p:nvPr/>
            </p:nvSpPr>
            <p:spPr>
              <a:xfrm>
                <a:off x="3450029" y="4124973"/>
                <a:ext cx="2251595" cy="77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064°</a:t>
                </a:r>
              </a:p>
            </p:txBody>
          </p:sp>
          <p:cxnSp>
            <p:nvCxnSpPr>
              <p:cNvPr id="60" name="Straight Connector 59"/>
              <p:cNvCxnSpPr/>
              <p:nvPr/>
            </p:nvCxnSpPr>
            <p:spPr>
              <a:xfrm flipV="1">
                <a:off x="3580328" y="3417209"/>
                <a:ext cx="2407805" cy="2063300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Arc 60"/>
              <p:cNvSpPr/>
              <p:nvPr/>
            </p:nvSpPr>
            <p:spPr>
              <a:xfrm rot="1512298">
                <a:off x="3438355" y="5005184"/>
                <a:ext cx="455218" cy="262637"/>
              </a:xfrm>
              <a:prstGeom prst="arc">
                <a:avLst>
                  <a:gd name="adj1" fmla="val 11516399"/>
                  <a:gd name="adj2" fmla="val 245748"/>
                </a:avLst>
              </a:prstGeom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2000"/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 rot="19179275">
                <a:off x="4362805" y="3904145"/>
                <a:ext cx="1447559" cy="77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20km</a:t>
                </a: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6187702" y="3155598"/>
                <a:ext cx="917595" cy="77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B</a:t>
                </a:r>
              </a:p>
            </p:txBody>
          </p:sp>
        </p:grpSp>
        <p:sp>
          <p:nvSpPr>
            <p:cNvPr id="52" name="TextBox 51"/>
            <p:cNvSpPr txBox="1"/>
            <p:nvPr/>
          </p:nvSpPr>
          <p:spPr>
            <a:xfrm>
              <a:off x="4287353" y="5517552"/>
              <a:ext cx="1475100" cy="778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?</a:t>
              </a:r>
            </a:p>
          </p:txBody>
        </p:sp>
        <p:cxnSp>
          <p:nvCxnSpPr>
            <p:cNvPr id="53" name="Straight Connector 52"/>
            <p:cNvCxnSpPr/>
            <p:nvPr/>
          </p:nvCxnSpPr>
          <p:spPr>
            <a:xfrm>
              <a:off x="3580327" y="5492741"/>
              <a:ext cx="2407805" cy="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5988133" y="3440284"/>
              <a:ext cx="0" cy="209999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TextBox 63"/>
          <p:cNvSpPr txBox="1"/>
          <p:nvPr/>
        </p:nvSpPr>
        <p:spPr>
          <a:xfrm>
            <a:off x="2249572" y="4119223"/>
            <a:ext cx="1205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26°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4390497" y="3155598"/>
            <a:ext cx="4238800" cy="2504126"/>
            <a:chOff x="2866497" y="3155598"/>
            <a:chExt cx="4238800" cy="2504128"/>
          </a:xfrm>
        </p:grpSpPr>
        <p:sp>
          <p:nvSpPr>
            <p:cNvPr id="19" name="Oval 18"/>
            <p:cNvSpPr/>
            <p:nvPr/>
          </p:nvSpPr>
          <p:spPr>
            <a:xfrm>
              <a:off x="3325294" y="5279031"/>
              <a:ext cx="296590" cy="23816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Oval 19"/>
            <p:cNvSpPr/>
            <p:nvPr/>
          </p:nvSpPr>
          <p:spPr>
            <a:xfrm>
              <a:off x="5839838" y="3298125"/>
              <a:ext cx="296590" cy="23816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866497" y="5136506"/>
              <a:ext cx="9175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/>
                <a:t>A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 flipV="1">
              <a:off x="3473849" y="4007820"/>
              <a:ext cx="0" cy="127121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3466973" y="4564032"/>
              <a:ext cx="9175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/>
                <a:t>064°</a:t>
              </a:r>
            </a:p>
          </p:txBody>
        </p:sp>
        <p:cxnSp>
          <p:nvCxnSpPr>
            <p:cNvPr id="24" name="Straight Connector 23"/>
            <p:cNvCxnSpPr/>
            <p:nvPr/>
          </p:nvCxnSpPr>
          <p:spPr>
            <a:xfrm flipV="1">
              <a:off x="3580328" y="3417209"/>
              <a:ext cx="2407805" cy="206330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Arc 24"/>
            <p:cNvSpPr/>
            <p:nvPr/>
          </p:nvSpPr>
          <p:spPr>
            <a:xfrm rot="1512298">
              <a:off x="3438355" y="5005184"/>
              <a:ext cx="455218" cy="262637"/>
            </a:xfrm>
            <a:prstGeom prst="arc">
              <a:avLst>
                <a:gd name="adj1" fmla="val 11516399"/>
                <a:gd name="adj2" fmla="val 245748"/>
              </a:avLst>
            </a:prstGeom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/>
            <p:cNvSpPr txBox="1"/>
            <p:nvPr/>
          </p:nvSpPr>
          <p:spPr>
            <a:xfrm rot="19179275">
              <a:off x="4374492" y="4412180"/>
              <a:ext cx="14475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/>
                <a:t>20km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187703" y="3155598"/>
              <a:ext cx="9175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/>
                <a:t>B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5926871" y="5651979"/>
            <a:ext cx="1475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?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5104329" y="5540273"/>
            <a:ext cx="2407805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7512133" y="3440285"/>
            <a:ext cx="0" cy="2099989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308294" y="5087440"/>
            <a:ext cx="917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 26°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12134" y="4259727"/>
            <a:ext cx="658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 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56041" y="5540273"/>
            <a:ext cx="658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 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63905" y="3746209"/>
            <a:ext cx="658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 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29298" y="3508594"/>
            <a:ext cx="23962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Have </a:t>
            </a:r>
            <a:r>
              <a:rPr lang="en-GB" sz="2800" b="1" dirty="0" err="1">
                <a:solidFill>
                  <a:srgbClr val="FF0000"/>
                </a:solidFill>
              </a:rPr>
              <a:t>Hyp</a:t>
            </a:r>
            <a:endParaRPr lang="en-GB" sz="2800" b="1" dirty="0">
              <a:solidFill>
                <a:srgbClr val="FF0000"/>
              </a:solidFill>
            </a:endParaRPr>
          </a:p>
          <a:p>
            <a:r>
              <a:rPr lang="en-GB" sz="2800" b="1" dirty="0">
                <a:solidFill>
                  <a:srgbClr val="FF0000"/>
                </a:solidFill>
              </a:rPr>
              <a:t>Want </a:t>
            </a:r>
            <a:r>
              <a:rPr lang="en-GB" sz="2800" b="1" dirty="0" err="1">
                <a:solidFill>
                  <a:srgbClr val="FF0000"/>
                </a:solidFill>
              </a:rPr>
              <a:t>Adj</a:t>
            </a:r>
            <a:endParaRPr lang="en-GB" sz="2800" b="1" dirty="0">
              <a:solidFill>
                <a:srgbClr val="FF0000"/>
              </a:solidFill>
            </a:endParaRPr>
          </a:p>
          <a:p>
            <a:r>
              <a:rPr lang="en-GB" sz="2800" b="1" dirty="0">
                <a:solidFill>
                  <a:srgbClr val="FF0000"/>
                </a:solidFill>
              </a:rPr>
              <a:t>Use Cos ratio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540967" y="4920757"/>
            <a:ext cx="2352126" cy="148478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TextBox 71"/>
          <p:cNvSpPr txBox="1"/>
          <p:nvPr/>
        </p:nvSpPr>
        <p:spPr>
          <a:xfrm>
            <a:off x="1574357" y="4782947"/>
            <a:ext cx="288032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grpSp>
        <p:nvGrpSpPr>
          <p:cNvPr id="74" name="Group 73"/>
          <p:cNvGrpSpPr/>
          <p:nvPr/>
        </p:nvGrpSpPr>
        <p:grpSpPr>
          <a:xfrm>
            <a:off x="1438751" y="4912624"/>
            <a:ext cx="4089507" cy="1502596"/>
            <a:chOff x="2866497" y="3647713"/>
            <a:chExt cx="6214130" cy="2657456"/>
          </a:xfrm>
        </p:grpSpPr>
        <p:grpSp>
          <p:nvGrpSpPr>
            <p:cNvPr id="75" name="Group 74"/>
            <p:cNvGrpSpPr/>
            <p:nvPr/>
          </p:nvGrpSpPr>
          <p:grpSpPr>
            <a:xfrm>
              <a:off x="2866497" y="3647713"/>
              <a:ext cx="3522273" cy="2141983"/>
              <a:chOff x="2866497" y="3647713"/>
              <a:chExt cx="3522273" cy="2141985"/>
            </a:xfrm>
          </p:grpSpPr>
          <p:sp>
            <p:nvSpPr>
              <p:cNvPr id="84" name="Oval 83"/>
              <p:cNvSpPr/>
              <p:nvPr/>
            </p:nvSpPr>
            <p:spPr>
              <a:xfrm>
                <a:off x="3325294" y="5279031"/>
                <a:ext cx="296590" cy="23816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5" name="Oval 84"/>
              <p:cNvSpPr/>
              <p:nvPr/>
            </p:nvSpPr>
            <p:spPr>
              <a:xfrm>
                <a:off x="5322882" y="3754675"/>
                <a:ext cx="296590" cy="238167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2866497" y="5136506"/>
                <a:ext cx="917595" cy="653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</a:t>
                </a:r>
              </a:p>
            </p:txBody>
          </p:sp>
          <p:cxnSp>
            <p:nvCxnSpPr>
              <p:cNvPr id="87" name="Straight Arrow Connector 86"/>
              <p:cNvCxnSpPr/>
              <p:nvPr/>
            </p:nvCxnSpPr>
            <p:spPr>
              <a:xfrm flipV="1">
                <a:off x="3473849" y="4007820"/>
                <a:ext cx="0" cy="127121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TextBox 87"/>
              <p:cNvSpPr txBox="1"/>
              <p:nvPr/>
            </p:nvSpPr>
            <p:spPr>
              <a:xfrm>
                <a:off x="3447333" y="4484344"/>
                <a:ext cx="917594" cy="11430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064°</a:t>
                </a:r>
              </a:p>
            </p:txBody>
          </p:sp>
          <p:cxnSp>
            <p:nvCxnSpPr>
              <p:cNvPr id="89" name="Straight Connector 88"/>
              <p:cNvCxnSpPr>
                <a:endCxn id="85" idx="3"/>
              </p:cNvCxnSpPr>
              <p:nvPr/>
            </p:nvCxnSpPr>
            <p:spPr>
              <a:xfrm flipV="1">
                <a:off x="3407728" y="3957964"/>
                <a:ext cx="1958588" cy="1563023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Arc 89"/>
              <p:cNvSpPr/>
              <p:nvPr/>
            </p:nvSpPr>
            <p:spPr>
              <a:xfrm rot="1512298">
                <a:off x="3438355" y="5005184"/>
                <a:ext cx="455218" cy="262637"/>
              </a:xfrm>
              <a:prstGeom prst="arc">
                <a:avLst>
                  <a:gd name="adj1" fmla="val 11516399"/>
                  <a:gd name="adj2" fmla="val 245748"/>
                </a:avLst>
              </a:prstGeom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 rot="19179275">
                <a:off x="4374493" y="4347193"/>
                <a:ext cx="1447559" cy="653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20km</a:t>
                </a:r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5471176" y="3647713"/>
                <a:ext cx="917594" cy="653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B</a:t>
                </a:r>
              </a:p>
            </p:txBody>
          </p:sp>
        </p:grpSp>
        <p:sp>
          <p:nvSpPr>
            <p:cNvPr id="76" name="TextBox 75"/>
            <p:cNvSpPr txBox="1"/>
            <p:nvPr/>
          </p:nvSpPr>
          <p:spPr>
            <a:xfrm>
              <a:off x="4402870" y="5651977"/>
              <a:ext cx="1475101" cy="653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?</a:t>
              </a:r>
            </a:p>
          </p:txBody>
        </p:sp>
        <p:cxnSp>
          <p:nvCxnSpPr>
            <p:cNvPr id="77" name="Straight Connector 76"/>
            <p:cNvCxnSpPr/>
            <p:nvPr/>
          </p:nvCxnSpPr>
          <p:spPr>
            <a:xfrm flipV="1">
              <a:off x="3439427" y="5480508"/>
              <a:ext cx="1966430" cy="36691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5414096" y="3877923"/>
              <a:ext cx="2" cy="1709985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3784293" y="4975070"/>
              <a:ext cx="917596" cy="653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 26°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5414096" y="3912801"/>
              <a:ext cx="658368" cy="653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 O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3921563" y="5463100"/>
              <a:ext cx="658368" cy="653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 A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4439905" y="3746209"/>
              <a:ext cx="658368" cy="653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 H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113545" y="4582715"/>
              <a:ext cx="3967082" cy="16329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   Have </a:t>
              </a:r>
              <a:r>
                <a:rPr lang="en-GB" b="1" dirty="0" err="1">
                  <a:solidFill>
                    <a:srgbClr val="FF0000"/>
                  </a:solidFill>
                </a:rPr>
                <a:t>Hyp</a:t>
              </a:r>
              <a:endParaRPr lang="en-GB" b="1" dirty="0">
                <a:solidFill>
                  <a:srgbClr val="FF0000"/>
                </a:solidFill>
              </a:endParaRPr>
            </a:p>
            <a:p>
              <a:r>
                <a:rPr lang="en-GB" b="1" dirty="0">
                  <a:solidFill>
                    <a:srgbClr val="FF0000"/>
                  </a:solidFill>
                </a:rPr>
                <a:t>   Want </a:t>
              </a:r>
              <a:r>
                <a:rPr lang="en-GB" b="1" dirty="0" err="1">
                  <a:solidFill>
                    <a:srgbClr val="FF0000"/>
                  </a:solidFill>
                </a:rPr>
                <a:t>Adj</a:t>
              </a:r>
              <a:endParaRPr lang="en-GB" b="1" dirty="0">
                <a:solidFill>
                  <a:srgbClr val="FF0000"/>
                </a:solidFill>
              </a:endParaRPr>
            </a:p>
            <a:p>
              <a:r>
                <a:rPr lang="en-GB" b="1" dirty="0">
                  <a:solidFill>
                    <a:srgbClr val="FF0000"/>
                  </a:solidFill>
                </a:rPr>
                <a:t>   Use Cos ratio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804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1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24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4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3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53" presetClass="exit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3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" presetClass="exit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3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3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" presetClass="exit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" dur="30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30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" presetClass="exit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" dur="3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3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" presetClass="exit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" dur="30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30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" presetClass="exit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" dur="3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3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" presetClass="exit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1" dur="3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3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" presetClass="exit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5" dur="3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3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" presetClass="exit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" dur="3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3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2" presetClass="exit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" dur="3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3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53" presetClass="exit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7" dur="3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3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9" dur="3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53" presetClass="exit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2" dur="30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0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4" dur="3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53" presetClass="exit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7" dur="3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3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9" dur="3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53" presetClass="exit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2" dur="30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30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4" dur="3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7" dur="3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9" dur="3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2" dur="3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3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4" dur="3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7" dur="3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3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9" dur="3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2" dur="3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3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4" dur="3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7" dur="3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3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9" dur="3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3" grpId="1"/>
      <p:bldP spid="3" grpId="2"/>
      <p:bldP spid="28" grpId="0"/>
      <p:bldP spid="28" grpId="1"/>
      <p:bldP spid="47" grpId="0"/>
      <p:bldP spid="47" grpId="1"/>
      <p:bldP spid="65" grpId="0"/>
      <p:bldP spid="65" grpId="1"/>
      <p:bldP spid="65" grpId="2"/>
      <p:bldP spid="66" grpId="0"/>
      <p:bldP spid="66" grpId="1"/>
      <p:bldP spid="66" grpId="2"/>
      <p:bldP spid="67" grpId="0"/>
      <p:bldP spid="67" grpId="1"/>
      <p:bldP spid="67" grpId="2"/>
      <p:bldP spid="68" grpId="0"/>
      <p:bldP spid="68" grpId="1"/>
      <p:bldP spid="68" grpId="2"/>
      <p:bldP spid="70" grpId="0" animBg="1"/>
      <p:bldP spid="7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ounded Rectangle 42"/>
          <p:cNvSpPr/>
          <p:nvPr/>
        </p:nvSpPr>
        <p:spPr>
          <a:xfrm>
            <a:off x="3997759" y="2955103"/>
            <a:ext cx="6530828" cy="1858227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4276955" y="2948797"/>
                <a:ext cx="5688632" cy="23096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Cos26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CA" sz="32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CA" sz="3200" b="0" i="1" smtClean="0">
                            <a:latin typeface="Cambria Math" panose="02040503050406030204" pitchFamily="18" charset="0"/>
                          </a:rPr>
                          <m:t>𝑘𝑚</m:t>
                        </m:r>
                      </m:den>
                    </m:f>
                  </m:oMath>
                </a14:m>
                <a:endParaRPr lang="en-GB" sz="3200" dirty="0"/>
              </a:p>
              <a:p>
                <a:endParaRPr lang="en-GB" sz="3200" dirty="0"/>
              </a:p>
              <a:p>
                <a:r>
                  <a:rPr lang="en-GB" sz="3200" dirty="0"/>
                  <a:t>A = Cos26 x 20km = 17.98km </a:t>
                </a:r>
              </a:p>
              <a:p>
                <a:endParaRPr lang="en-GB" sz="3200" dirty="0"/>
              </a:p>
            </p:txBody>
          </p:sp>
        </mc:Choice>
        <mc:Fallback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955" y="2948797"/>
                <a:ext cx="5688632" cy="2309671"/>
              </a:xfrm>
              <a:prstGeom prst="rect">
                <a:avLst/>
              </a:prstGeom>
              <a:blipFill>
                <a:blip r:embed="rId2"/>
                <a:stretch>
                  <a:fillRect l="-26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1532130" y="11284"/>
            <a:ext cx="2352126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ounded Rectangle 24"/>
          <p:cNvSpPr/>
          <p:nvPr/>
        </p:nvSpPr>
        <p:spPr>
          <a:xfrm>
            <a:off x="1509157" y="1"/>
            <a:ext cx="2352126" cy="148478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/>
          <p:cNvSpPr txBox="1"/>
          <p:nvPr/>
        </p:nvSpPr>
        <p:spPr>
          <a:xfrm>
            <a:off x="1459023" y="11284"/>
            <a:ext cx="288032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1691435" y="154244"/>
            <a:ext cx="1998492" cy="1168000"/>
            <a:chOff x="2745150" y="3155598"/>
            <a:chExt cx="4360147" cy="2761520"/>
          </a:xfrm>
        </p:grpSpPr>
        <p:sp>
          <p:nvSpPr>
            <p:cNvPr id="30" name="Oval 29"/>
            <p:cNvSpPr/>
            <p:nvPr/>
          </p:nvSpPr>
          <p:spPr>
            <a:xfrm>
              <a:off x="3325294" y="5279031"/>
              <a:ext cx="296590" cy="23816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Oval 31"/>
            <p:cNvSpPr/>
            <p:nvPr/>
          </p:nvSpPr>
          <p:spPr>
            <a:xfrm>
              <a:off x="5839838" y="3298125"/>
              <a:ext cx="296590" cy="23816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745150" y="5043901"/>
              <a:ext cx="917594" cy="873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A</a:t>
              </a:r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 flipH="1" flipV="1">
              <a:off x="3473587" y="3592207"/>
              <a:ext cx="262" cy="16868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3334980" y="4283651"/>
              <a:ext cx="1496456" cy="873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064°</a:t>
              </a:r>
            </a:p>
          </p:txBody>
        </p:sp>
        <p:cxnSp>
          <p:nvCxnSpPr>
            <p:cNvPr id="48" name="Straight Connector 47"/>
            <p:cNvCxnSpPr/>
            <p:nvPr/>
          </p:nvCxnSpPr>
          <p:spPr>
            <a:xfrm flipV="1">
              <a:off x="3580328" y="3417209"/>
              <a:ext cx="2407805" cy="206330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Arc 48"/>
            <p:cNvSpPr/>
            <p:nvPr/>
          </p:nvSpPr>
          <p:spPr>
            <a:xfrm rot="1512298">
              <a:off x="3438355" y="5005184"/>
              <a:ext cx="455218" cy="262637"/>
            </a:xfrm>
            <a:prstGeom prst="arc">
              <a:avLst>
                <a:gd name="adj1" fmla="val 11516399"/>
                <a:gd name="adj2" fmla="val 245748"/>
              </a:avLst>
            </a:prstGeom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TextBox 49"/>
            <p:cNvSpPr txBox="1"/>
            <p:nvPr/>
          </p:nvSpPr>
          <p:spPr>
            <a:xfrm rot="19179275">
              <a:off x="4253424" y="3759865"/>
              <a:ext cx="2654445" cy="873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20km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187703" y="3155598"/>
              <a:ext cx="917594" cy="873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B</a:t>
              </a:r>
            </a:p>
          </p:txBody>
        </p:sp>
      </p:grpSp>
      <p:sp>
        <p:nvSpPr>
          <p:cNvPr id="52" name="Rounded Rectangle 51"/>
          <p:cNvSpPr/>
          <p:nvPr/>
        </p:nvSpPr>
        <p:spPr>
          <a:xfrm>
            <a:off x="1532925" y="1629759"/>
            <a:ext cx="2352126" cy="148478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TextBox 52"/>
          <p:cNvSpPr txBox="1"/>
          <p:nvPr/>
        </p:nvSpPr>
        <p:spPr>
          <a:xfrm>
            <a:off x="1540967" y="1488822"/>
            <a:ext cx="288032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grpSp>
        <p:nvGrpSpPr>
          <p:cNvPr id="54" name="Group 53"/>
          <p:cNvGrpSpPr/>
          <p:nvPr/>
        </p:nvGrpSpPr>
        <p:grpSpPr>
          <a:xfrm>
            <a:off x="1718373" y="1626485"/>
            <a:ext cx="2270150" cy="1613551"/>
            <a:chOff x="2866497" y="3155598"/>
            <a:chExt cx="4238800" cy="3140765"/>
          </a:xfrm>
        </p:grpSpPr>
        <p:grpSp>
          <p:nvGrpSpPr>
            <p:cNvPr id="55" name="Group 54"/>
            <p:cNvGrpSpPr/>
            <p:nvPr/>
          </p:nvGrpSpPr>
          <p:grpSpPr>
            <a:xfrm>
              <a:off x="2866497" y="3155598"/>
              <a:ext cx="4238800" cy="2759720"/>
              <a:chOff x="2866497" y="3155598"/>
              <a:chExt cx="4238800" cy="2759720"/>
            </a:xfrm>
          </p:grpSpPr>
          <p:sp>
            <p:nvSpPr>
              <p:cNvPr id="59" name="Oval 58"/>
              <p:cNvSpPr/>
              <p:nvPr/>
            </p:nvSpPr>
            <p:spPr>
              <a:xfrm>
                <a:off x="3325294" y="5279031"/>
                <a:ext cx="296590" cy="23816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00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5839838" y="3298125"/>
                <a:ext cx="296590" cy="238167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00"/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2866497" y="5136507"/>
                <a:ext cx="917595" cy="77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A</a:t>
                </a:r>
              </a:p>
            </p:txBody>
          </p:sp>
          <p:cxnSp>
            <p:nvCxnSpPr>
              <p:cNvPr id="62" name="Straight Arrow Connector 61"/>
              <p:cNvCxnSpPr/>
              <p:nvPr/>
            </p:nvCxnSpPr>
            <p:spPr>
              <a:xfrm flipH="1" flipV="1">
                <a:off x="3439844" y="3606542"/>
                <a:ext cx="34005" cy="1672489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TextBox 62"/>
              <p:cNvSpPr txBox="1"/>
              <p:nvPr/>
            </p:nvSpPr>
            <p:spPr>
              <a:xfrm>
                <a:off x="3450029" y="4124973"/>
                <a:ext cx="2251595" cy="77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064°</a:t>
                </a:r>
              </a:p>
            </p:txBody>
          </p:sp>
          <p:cxnSp>
            <p:nvCxnSpPr>
              <p:cNvPr id="64" name="Straight Connector 63"/>
              <p:cNvCxnSpPr/>
              <p:nvPr/>
            </p:nvCxnSpPr>
            <p:spPr>
              <a:xfrm flipV="1">
                <a:off x="3580328" y="3417209"/>
                <a:ext cx="2407805" cy="2063300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Arc 64"/>
              <p:cNvSpPr/>
              <p:nvPr/>
            </p:nvSpPr>
            <p:spPr>
              <a:xfrm rot="1512298">
                <a:off x="3438355" y="5005184"/>
                <a:ext cx="455218" cy="262637"/>
              </a:xfrm>
              <a:prstGeom prst="arc">
                <a:avLst>
                  <a:gd name="adj1" fmla="val 11516399"/>
                  <a:gd name="adj2" fmla="val 245748"/>
                </a:avLst>
              </a:prstGeom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2000"/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 rot="19179275">
                <a:off x="4445256" y="4016388"/>
                <a:ext cx="1447559" cy="77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20km</a:t>
                </a: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6187702" y="3155598"/>
                <a:ext cx="917595" cy="77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B</a:t>
                </a:r>
              </a:p>
            </p:txBody>
          </p:sp>
        </p:grpSp>
        <p:sp>
          <p:nvSpPr>
            <p:cNvPr id="56" name="TextBox 55"/>
            <p:cNvSpPr txBox="1"/>
            <p:nvPr/>
          </p:nvSpPr>
          <p:spPr>
            <a:xfrm>
              <a:off x="4287353" y="5517552"/>
              <a:ext cx="1475100" cy="778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?</a:t>
              </a:r>
            </a:p>
          </p:txBody>
        </p:sp>
        <p:cxnSp>
          <p:nvCxnSpPr>
            <p:cNvPr id="57" name="Straight Connector 56"/>
            <p:cNvCxnSpPr/>
            <p:nvPr/>
          </p:nvCxnSpPr>
          <p:spPr>
            <a:xfrm>
              <a:off x="3580327" y="5492741"/>
              <a:ext cx="2407805" cy="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5988133" y="3440284"/>
              <a:ext cx="0" cy="209999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Rounded Rectangle 67"/>
          <p:cNvSpPr/>
          <p:nvPr/>
        </p:nvSpPr>
        <p:spPr>
          <a:xfrm>
            <a:off x="1543081" y="3245321"/>
            <a:ext cx="2352126" cy="148478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TextBox 68"/>
          <p:cNvSpPr txBox="1"/>
          <p:nvPr/>
        </p:nvSpPr>
        <p:spPr>
          <a:xfrm>
            <a:off x="1551123" y="3104384"/>
            <a:ext cx="288032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grpSp>
        <p:nvGrpSpPr>
          <p:cNvPr id="70" name="Group 69"/>
          <p:cNvGrpSpPr/>
          <p:nvPr/>
        </p:nvGrpSpPr>
        <p:grpSpPr>
          <a:xfrm>
            <a:off x="1728529" y="3242047"/>
            <a:ext cx="2270150" cy="1613551"/>
            <a:chOff x="2866497" y="3155598"/>
            <a:chExt cx="4238800" cy="3140765"/>
          </a:xfrm>
        </p:grpSpPr>
        <p:grpSp>
          <p:nvGrpSpPr>
            <p:cNvPr id="71" name="Group 70"/>
            <p:cNvGrpSpPr/>
            <p:nvPr/>
          </p:nvGrpSpPr>
          <p:grpSpPr>
            <a:xfrm>
              <a:off x="2866497" y="3155598"/>
              <a:ext cx="4238800" cy="2759720"/>
              <a:chOff x="2866497" y="3155598"/>
              <a:chExt cx="4238800" cy="2759720"/>
            </a:xfrm>
          </p:grpSpPr>
          <p:sp>
            <p:nvSpPr>
              <p:cNvPr id="75" name="Oval 74"/>
              <p:cNvSpPr/>
              <p:nvPr/>
            </p:nvSpPr>
            <p:spPr>
              <a:xfrm>
                <a:off x="3325294" y="5279031"/>
                <a:ext cx="296590" cy="23816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00"/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5839838" y="3298125"/>
                <a:ext cx="296590" cy="238167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00"/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2866497" y="5136507"/>
                <a:ext cx="917595" cy="77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A</a:t>
                </a:r>
              </a:p>
            </p:txBody>
          </p:sp>
          <p:cxnSp>
            <p:nvCxnSpPr>
              <p:cNvPr id="78" name="Straight Arrow Connector 77"/>
              <p:cNvCxnSpPr/>
              <p:nvPr/>
            </p:nvCxnSpPr>
            <p:spPr>
              <a:xfrm flipH="1" flipV="1">
                <a:off x="3439844" y="3606542"/>
                <a:ext cx="34005" cy="1672489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/>
              <p:cNvSpPr txBox="1"/>
              <p:nvPr/>
            </p:nvSpPr>
            <p:spPr>
              <a:xfrm>
                <a:off x="3450029" y="4124973"/>
                <a:ext cx="2251595" cy="77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064°</a:t>
                </a:r>
              </a:p>
            </p:txBody>
          </p:sp>
          <p:cxnSp>
            <p:nvCxnSpPr>
              <p:cNvPr id="80" name="Straight Connector 79"/>
              <p:cNvCxnSpPr/>
              <p:nvPr/>
            </p:nvCxnSpPr>
            <p:spPr>
              <a:xfrm flipV="1">
                <a:off x="3580328" y="3417209"/>
                <a:ext cx="2407805" cy="2063300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Arc 80"/>
              <p:cNvSpPr/>
              <p:nvPr/>
            </p:nvSpPr>
            <p:spPr>
              <a:xfrm rot="1512298">
                <a:off x="3438355" y="5005184"/>
                <a:ext cx="455218" cy="262637"/>
              </a:xfrm>
              <a:prstGeom prst="arc">
                <a:avLst>
                  <a:gd name="adj1" fmla="val 11516399"/>
                  <a:gd name="adj2" fmla="val 245748"/>
                </a:avLst>
              </a:prstGeom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2000"/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 rot="19179275">
                <a:off x="4479140" y="3997308"/>
                <a:ext cx="1447559" cy="77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20km</a:t>
                </a: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6187702" y="3155598"/>
                <a:ext cx="917595" cy="778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B</a:t>
                </a:r>
              </a:p>
            </p:txBody>
          </p:sp>
        </p:grpSp>
        <p:sp>
          <p:nvSpPr>
            <p:cNvPr id="72" name="TextBox 71"/>
            <p:cNvSpPr txBox="1"/>
            <p:nvPr/>
          </p:nvSpPr>
          <p:spPr>
            <a:xfrm>
              <a:off x="4287353" y="5517552"/>
              <a:ext cx="1475100" cy="778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?</a:t>
              </a:r>
            </a:p>
          </p:txBody>
        </p:sp>
        <p:cxnSp>
          <p:nvCxnSpPr>
            <p:cNvPr id="73" name="Straight Connector 72"/>
            <p:cNvCxnSpPr/>
            <p:nvPr/>
          </p:nvCxnSpPr>
          <p:spPr>
            <a:xfrm>
              <a:off x="3580327" y="5492741"/>
              <a:ext cx="2407805" cy="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5988133" y="3440284"/>
              <a:ext cx="0" cy="209999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Box 83"/>
          <p:cNvSpPr txBox="1"/>
          <p:nvPr/>
        </p:nvSpPr>
        <p:spPr>
          <a:xfrm>
            <a:off x="2249572" y="4119223"/>
            <a:ext cx="1205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26°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540967" y="4920757"/>
            <a:ext cx="2352126" cy="148478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TextBox 85"/>
          <p:cNvSpPr txBox="1"/>
          <p:nvPr/>
        </p:nvSpPr>
        <p:spPr>
          <a:xfrm>
            <a:off x="1574357" y="4782947"/>
            <a:ext cx="288032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grpSp>
        <p:nvGrpSpPr>
          <p:cNvPr id="87" name="Group 86"/>
          <p:cNvGrpSpPr/>
          <p:nvPr/>
        </p:nvGrpSpPr>
        <p:grpSpPr>
          <a:xfrm>
            <a:off x="1463362" y="4947229"/>
            <a:ext cx="4089507" cy="1502596"/>
            <a:chOff x="2866497" y="3647713"/>
            <a:chExt cx="6214130" cy="2657456"/>
          </a:xfrm>
        </p:grpSpPr>
        <p:grpSp>
          <p:nvGrpSpPr>
            <p:cNvPr id="88" name="Group 87"/>
            <p:cNvGrpSpPr/>
            <p:nvPr/>
          </p:nvGrpSpPr>
          <p:grpSpPr>
            <a:xfrm>
              <a:off x="2866497" y="3647713"/>
              <a:ext cx="3522273" cy="2141983"/>
              <a:chOff x="2866497" y="3647713"/>
              <a:chExt cx="3522273" cy="2141985"/>
            </a:xfrm>
          </p:grpSpPr>
          <p:sp>
            <p:nvSpPr>
              <p:cNvPr id="97" name="Oval 96"/>
              <p:cNvSpPr/>
              <p:nvPr/>
            </p:nvSpPr>
            <p:spPr>
              <a:xfrm>
                <a:off x="3325294" y="5279031"/>
                <a:ext cx="296590" cy="23816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8" name="Oval 97"/>
              <p:cNvSpPr/>
              <p:nvPr/>
            </p:nvSpPr>
            <p:spPr>
              <a:xfrm>
                <a:off x="5322882" y="3754675"/>
                <a:ext cx="296590" cy="238167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2866497" y="5136506"/>
                <a:ext cx="917595" cy="653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</a:t>
                </a:r>
              </a:p>
            </p:txBody>
          </p:sp>
          <p:cxnSp>
            <p:nvCxnSpPr>
              <p:cNvPr id="100" name="Straight Arrow Connector 99"/>
              <p:cNvCxnSpPr/>
              <p:nvPr/>
            </p:nvCxnSpPr>
            <p:spPr>
              <a:xfrm flipV="1">
                <a:off x="3473849" y="4007820"/>
                <a:ext cx="0" cy="127121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TextBox 100"/>
              <p:cNvSpPr txBox="1"/>
              <p:nvPr/>
            </p:nvSpPr>
            <p:spPr>
              <a:xfrm>
                <a:off x="3447333" y="4484344"/>
                <a:ext cx="917594" cy="11430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064°</a:t>
                </a:r>
              </a:p>
            </p:txBody>
          </p:sp>
          <p:cxnSp>
            <p:nvCxnSpPr>
              <p:cNvPr id="102" name="Straight Connector 101"/>
              <p:cNvCxnSpPr>
                <a:endCxn id="98" idx="3"/>
              </p:cNvCxnSpPr>
              <p:nvPr/>
            </p:nvCxnSpPr>
            <p:spPr>
              <a:xfrm flipV="1">
                <a:off x="3407728" y="3957964"/>
                <a:ext cx="1958588" cy="1563023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" name="Arc 102"/>
              <p:cNvSpPr/>
              <p:nvPr/>
            </p:nvSpPr>
            <p:spPr>
              <a:xfrm rot="1512298">
                <a:off x="3438355" y="5005184"/>
                <a:ext cx="455218" cy="262637"/>
              </a:xfrm>
              <a:prstGeom prst="arc">
                <a:avLst>
                  <a:gd name="adj1" fmla="val 11516399"/>
                  <a:gd name="adj2" fmla="val 245748"/>
                </a:avLst>
              </a:prstGeom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4" name="TextBox 103"/>
              <p:cNvSpPr txBox="1"/>
              <p:nvPr/>
            </p:nvSpPr>
            <p:spPr>
              <a:xfrm rot="19179275">
                <a:off x="4190946" y="4197074"/>
                <a:ext cx="1447559" cy="653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20km</a:t>
                </a:r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5471176" y="3647713"/>
                <a:ext cx="917594" cy="653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B</a:t>
                </a:r>
              </a:p>
            </p:txBody>
          </p:sp>
        </p:grpSp>
        <p:sp>
          <p:nvSpPr>
            <p:cNvPr id="89" name="TextBox 88"/>
            <p:cNvSpPr txBox="1"/>
            <p:nvPr/>
          </p:nvSpPr>
          <p:spPr>
            <a:xfrm>
              <a:off x="4402870" y="5651977"/>
              <a:ext cx="1475101" cy="653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?</a:t>
              </a:r>
            </a:p>
          </p:txBody>
        </p:sp>
        <p:cxnSp>
          <p:nvCxnSpPr>
            <p:cNvPr id="90" name="Straight Connector 89"/>
            <p:cNvCxnSpPr/>
            <p:nvPr/>
          </p:nvCxnSpPr>
          <p:spPr>
            <a:xfrm flipV="1">
              <a:off x="3439427" y="5480508"/>
              <a:ext cx="1966430" cy="36691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/>
          </p:nvCxnSpPr>
          <p:spPr>
            <a:xfrm>
              <a:off x="5414096" y="3877923"/>
              <a:ext cx="2" cy="1709985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/>
            <p:cNvSpPr txBox="1"/>
            <p:nvPr/>
          </p:nvSpPr>
          <p:spPr>
            <a:xfrm>
              <a:off x="3784293" y="4975070"/>
              <a:ext cx="917596" cy="653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 26°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5414096" y="3912801"/>
              <a:ext cx="658368" cy="653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 O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3921563" y="5463100"/>
              <a:ext cx="658368" cy="653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 A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4439905" y="3746209"/>
              <a:ext cx="658368" cy="653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 H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5113545" y="4582715"/>
              <a:ext cx="3967082" cy="16329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   Got H</a:t>
              </a:r>
            </a:p>
            <a:p>
              <a:r>
                <a:rPr lang="en-GB" b="1" dirty="0">
                  <a:solidFill>
                    <a:srgbClr val="FF0000"/>
                  </a:solidFill>
                </a:rPr>
                <a:t>   Want A</a:t>
              </a:r>
            </a:p>
            <a:p>
              <a:r>
                <a:rPr lang="en-GB" b="1" dirty="0">
                  <a:solidFill>
                    <a:srgbClr val="FF0000"/>
                  </a:solidFill>
                </a:rPr>
                <a:t>Use CAH</a:t>
              </a:r>
            </a:p>
          </p:txBody>
        </p:sp>
      </p:grpSp>
      <p:sp>
        <p:nvSpPr>
          <p:cNvPr id="106" name="TextBox 105"/>
          <p:cNvSpPr txBox="1"/>
          <p:nvPr/>
        </p:nvSpPr>
        <p:spPr>
          <a:xfrm>
            <a:off x="3885050" y="1"/>
            <a:ext cx="67826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 beach(B) is on a bearing of 064° from the Airport (A), at a distance of 20km. How far east is the beach from the Airport?</a:t>
            </a:r>
          </a:p>
        </p:txBody>
      </p:sp>
    </p:spTree>
    <p:extLst>
      <p:ext uri="{BB962C8B-B14F-4D97-AF65-F5344CB8AC3E}">
        <p14:creationId xmlns:p14="http://schemas.microsoft.com/office/powerpoint/2010/main" val="465827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/>
          <p:cNvCxnSpPr/>
          <p:nvPr/>
        </p:nvCxnSpPr>
        <p:spPr>
          <a:xfrm flipV="1">
            <a:off x="1912071" y="2869343"/>
            <a:ext cx="4243213" cy="343461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19228" y="6002125"/>
            <a:ext cx="492843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0B050"/>
                </a:solidFill>
              </a:rPr>
              <a:t>A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6155283" y="2869342"/>
            <a:ext cx="0" cy="3429176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799216" y="6144652"/>
            <a:ext cx="296590" cy="238167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6006988" y="2750259"/>
            <a:ext cx="296590" cy="23816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1947771" y="4885567"/>
            <a:ext cx="0" cy="1271211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912070" y="5370458"/>
            <a:ext cx="917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B050"/>
                </a:solidFill>
              </a:rPr>
              <a:t>064°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6045" y="3789041"/>
            <a:ext cx="14475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0B050"/>
                </a:solidFill>
              </a:rPr>
              <a:t>20km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5771" y="2492898"/>
            <a:ext cx="9175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B050"/>
                </a:solidFill>
              </a:rPr>
              <a:t>B</a:t>
            </a:r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2095807" y="6263735"/>
            <a:ext cx="4059477" cy="1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79377" y="2013160"/>
            <a:ext cx="105851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The beach(B) is on a bearing of 064° from the Airport (A), at a distance of 20km. How far east is the beach from the Airport?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8990" y="6237313"/>
            <a:ext cx="14475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accent4">
                    <a:lumMod val="75000"/>
                  </a:schemeClr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85567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0" grpId="0" animBg="1"/>
      <p:bldP spid="11" grpId="0" animBg="1"/>
      <p:bldP spid="14" grpId="0"/>
      <p:bldP spid="17" grpId="0"/>
      <p:bldP spid="18" grpId="0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395295" y="1739694"/>
            <a:ext cx="105851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The beach(B) is on a bearing of 064° from the Airport (A), at a distance of 20km. How far east is the beach from the Airport?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243" y="2392484"/>
            <a:ext cx="4648915" cy="3533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635" y="3073654"/>
            <a:ext cx="466145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571" y="3921952"/>
            <a:ext cx="474008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701" y="5466309"/>
            <a:ext cx="457159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2" descr="http://www.hazemagazine.co.uk/wp-content/uploads/2014/07/soh-cah-toa-triangles.jpg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9545" y="2732411"/>
            <a:ext cx="3492388" cy="92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http://vector-magz.com/wp-content/uploads/2013/09/curved-arrow-clip-art3-300x131.png"/>
          <p:cNvPicPr>
            <a:picLocks noChangeAspect="1" noChangeArrowheads="1"/>
          </p:cNvPicPr>
          <p:nvPr/>
        </p:nvPicPr>
        <p:blipFill rotWithShape="1"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35" t="-7852" b="-1"/>
          <a:stretch/>
        </p:blipFill>
        <p:spPr bwMode="auto">
          <a:xfrm rot="1558441" flipH="1" flipV="1">
            <a:off x="1718749" y="5494765"/>
            <a:ext cx="1012122" cy="1003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30"/>
          <p:cNvSpPr/>
          <p:nvPr/>
        </p:nvSpPr>
        <p:spPr>
          <a:xfrm>
            <a:off x="2521789" y="6236714"/>
            <a:ext cx="1975822" cy="52905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90 – 64 = 26</a:t>
            </a:r>
            <a:r>
              <a:rPr lang="en-GB" sz="2000" dirty="0">
                <a:latin typeface="Calibri"/>
              </a:rPr>
              <a:t>⁰</a:t>
            </a:r>
            <a:endParaRPr lang="en-GB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2024280" y="4945862"/>
            <a:ext cx="917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accent4">
                    <a:lumMod val="75000"/>
                  </a:schemeClr>
                </a:solidFill>
              </a:rPr>
              <a:t>26°</a:t>
            </a:r>
          </a:p>
        </p:txBody>
      </p:sp>
      <p:pic>
        <p:nvPicPr>
          <p:cNvPr id="33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6859" y="5431348"/>
            <a:ext cx="530752" cy="52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6256" y="2623038"/>
            <a:ext cx="530752" cy="52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8315" y="3044086"/>
            <a:ext cx="530752" cy="52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Multiply 35"/>
          <p:cNvSpPr/>
          <p:nvPr/>
        </p:nvSpPr>
        <p:spPr>
          <a:xfrm>
            <a:off x="6535351" y="2732411"/>
            <a:ext cx="961538" cy="901707"/>
          </a:xfrm>
          <a:prstGeom prst="mathMultiply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7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7833" y="3141597"/>
            <a:ext cx="539431" cy="499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7293" y="3022479"/>
            <a:ext cx="539431" cy="499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Multiply 38"/>
          <p:cNvSpPr/>
          <p:nvPr/>
        </p:nvSpPr>
        <p:spPr>
          <a:xfrm>
            <a:off x="8954752" y="2796061"/>
            <a:ext cx="961538" cy="901707"/>
          </a:xfrm>
          <a:prstGeom prst="mathMultiply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0" name="Picture 2" descr="http://www.hazemagazine.co.uk/wp-content/uploads/2014/07/soh-cah-toa-triangles.jpg"/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59" r="32482"/>
          <a:stretch/>
        </p:blipFill>
        <p:spPr bwMode="auto">
          <a:xfrm>
            <a:off x="6317915" y="3995932"/>
            <a:ext cx="1178974" cy="92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Oval 40"/>
          <p:cNvSpPr/>
          <p:nvPr/>
        </p:nvSpPr>
        <p:spPr>
          <a:xfrm>
            <a:off x="6619371" y="4023551"/>
            <a:ext cx="576063" cy="542246"/>
          </a:xfrm>
          <a:prstGeom prst="ellipse">
            <a:avLst/>
          </a:prstGeom>
          <a:solidFill>
            <a:schemeClr val="accent1">
              <a:lumMod val="7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7496890" y="4135284"/>
                <a:ext cx="3567663" cy="522546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dirty="0">
                          <a:latin typeface="Cambria Math"/>
                        </a:rPr>
                        <m:t>𝑨𝒅𝒋𝒂𝒄𝒆𝒏𝒕</m:t>
                      </m:r>
                      <m:r>
                        <a:rPr lang="en-GB" sz="2000" b="1" i="1" dirty="0">
                          <a:latin typeface="Cambria Math"/>
                        </a:rPr>
                        <m:t>=</m:t>
                      </m:r>
                      <m:r>
                        <a:rPr lang="en-GB" sz="2000" b="1" i="1" dirty="0">
                          <a:latin typeface="Cambria Math"/>
                        </a:rPr>
                        <m:t>𝒄𝒐𝒔</m:t>
                      </m:r>
                      <m:d>
                        <m:dPr>
                          <m:ctrlPr>
                            <a:rPr lang="en-GB" sz="20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1" i="1" dirty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GB" sz="2000" b="1" i="1" dirty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GB" sz="2000" b="1" i="1" dirty="0">
                          <a:latin typeface="Cambria Math"/>
                          <a:ea typeface="Cambria Math"/>
                        </a:rPr>
                        <m:t>𝒉𝒚𝒑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6890" y="4135284"/>
                <a:ext cx="3567663" cy="522546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6793176" y="5106269"/>
                <a:ext cx="3567663" cy="72008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dirty="0">
                          <a:latin typeface="Cambria Math"/>
                        </a:rPr>
                        <m:t>𝑨𝒅𝒋𝒂𝒄𝒆𝒏𝒕</m:t>
                      </m:r>
                      <m:r>
                        <a:rPr lang="en-GB" sz="2000" b="1" i="1" dirty="0">
                          <a:latin typeface="Cambria Math"/>
                        </a:rPr>
                        <m:t>=</m:t>
                      </m:r>
                      <m:r>
                        <a:rPr lang="en-GB" sz="2000" b="1" i="1" dirty="0">
                          <a:latin typeface="Cambria Math"/>
                        </a:rPr>
                        <m:t>𝒄𝒐𝒔</m:t>
                      </m:r>
                      <m:d>
                        <m:dPr>
                          <m:ctrlPr>
                            <a:rPr lang="en-GB" sz="20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1" i="1" dirty="0">
                              <a:latin typeface="Cambria Math"/>
                            </a:rPr>
                            <m:t>𝟐𝟔</m:t>
                          </m:r>
                        </m:e>
                      </m:d>
                      <m:r>
                        <a:rPr lang="en-GB" sz="2000" b="1" i="1" dirty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GB" sz="2000" b="1" dirty="0">
                          <a:latin typeface="Cambria Math"/>
                          <a:ea typeface="Cambria Math"/>
                        </a:rPr>
                        <m:t>𝟐𝟎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176" y="5106269"/>
                <a:ext cx="3567663" cy="72008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6793177" y="5926354"/>
                <a:ext cx="3567663" cy="72008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dirty="0">
                          <a:latin typeface="Cambria Math"/>
                        </a:rPr>
                        <m:t>𝑨𝒅𝒋𝒂𝒄𝒆𝒏𝒕</m:t>
                      </m:r>
                      <m:r>
                        <a:rPr lang="en-GB" sz="2000" b="1" i="1" dirty="0">
                          <a:latin typeface="Cambria Math"/>
                        </a:rPr>
                        <m:t>=</m:t>
                      </m:r>
                      <m:r>
                        <a:rPr lang="en-GB" sz="2000" b="1" i="1" dirty="0">
                          <a:latin typeface="Cambria Math"/>
                        </a:rPr>
                        <m:t>𝟏𝟖</m:t>
                      </m:r>
                      <m:r>
                        <a:rPr lang="en-GB" sz="2000" b="1" i="1" dirty="0">
                          <a:latin typeface="Cambria Math"/>
                        </a:rPr>
                        <m:t>𝒌𝒎</m:t>
                      </m:r>
                      <m:r>
                        <a:rPr lang="en-GB" sz="2000" b="1" i="1" dirty="0">
                          <a:latin typeface="Cambria Math"/>
                        </a:rPr>
                        <m:t> (</m:t>
                      </m:r>
                      <m:r>
                        <a:rPr lang="en-GB" sz="2000" b="1" i="1" dirty="0">
                          <a:latin typeface="Cambria Math"/>
                        </a:rPr>
                        <m:t>𝟐</m:t>
                      </m:r>
                      <m:r>
                        <a:rPr lang="en-GB" sz="2000" b="1" i="1" dirty="0">
                          <a:latin typeface="Cambria Math"/>
                        </a:rPr>
                        <m:t>𝒅𝒑</m:t>
                      </m:r>
                      <m:r>
                        <a:rPr lang="en-GB" sz="2000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177" y="5926354"/>
                <a:ext cx="3567663" cy="720080"/>
              </a:xfrm>
              <a:prstGeom prst="rect">
                <a:avLst/>
              </a:prstGeom>
              <a:blipFill rotWithShape="0">
                <a:blip r:embed="rId11"/>
                <a:stretch>
                  <a:fillRect t="-33051" b="-483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8815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/>
      <p:bldP spid="36" grpId="0" animBg="1"/>
      <p:bldP spid="39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Connector 48"/>
          <p:cNvCxnSpPr/>
          <p:nvPr/>
        </p:nvCxnSpPr>
        <p:spPr>
          <a:xfrm flipV="1">
            <a:off x="1600583" y="4057391"/>
            <a:ext cx="4243213" cy="2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1380279" y="1814741"/>
            <a:ext cx="907300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b="1" i="1" dirty="0">
                <a:solidFill>
                  <a:schemeClr val="accent4">
                    <a:lumMod val="75000"/>
                  </a:schemeClr>
                </a:solidFill>
                <a:latin typeface="Gill Sans MT" panose="020B0502020104020203" pitchFamily="34" charset="0"/>
              </a:rPr>
              <a:t>A plane flies for 150km on a bearing of 099</a:t>
            </a:r>
            <a:r>
              <a:rPr lang="en-GB" sz="3200" b="1" i="1" baseline="30000" dirty="0">
                <a:solidFill>
                  <a:schemeClr val="accent4">
                    <a:lumMod val="75000"/>
                  </a:schemeClr>
                </a:solidFill>
                <a:latin typeface="Gill Sans MT" panose="020B0502020104020203" pitchFamily="34" charset="0"/>
              </a:rPr>
              <a:t>o</a:t>
            </a:r>
            <a:r>
              <a:rPr lang="en-GB" sz="3200" b="1" i="1" dirty="0">
                <a:solidFill>
                  <a:schemeClr val="accent4">
                    <a:lumMod val="75000"/>
                  </a:schemeClr>
                </a:solidFill>
                <a:latin typeface="Gill Sans MT" panose="020B0502020104020203" pitchFamily="34" charset="0"/>
              </a:rPr>
              <a:t>.</a:t>
            </a:r>
          </a:p>
        </p:txBody>
      </p:sp>
      <p:sp>
        <p:nvSpPr>
          <p:cNvPr id="25" name="Oval 24"/>
          <p:cNvSpPr/>
          <p:nvPr/>
        </p:nvSpPr>
        <p:spPr>
          <a:xfrm>
            <a:off x="1452287" y="3954689"/>
            <a:ext cx="296590" cy="238167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/>
          <p:cNvSpPr txBox="1"/>
          <p:nvPr/>
        </p:nvSpPr>
        <p:spPr>
          <a:xfrm>
            <a:off x="887437" y="3795782"/>
            <a:ext cx="492843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0B050"/>
                </a:solidFill>
              </a:rPr>
              <a:t>A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1600583" y="4073771"/>
            <a:ext cx="4243213" cy="53010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892448" y="4342261"/>
            <a:ext cx="14475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0B050"/>
                </a:solidFill>
              </a:rPr>
              <a:t>150km</a:t>
            </a:r>
          </a:p>
        </p:txBody>
      </p:sp>
      <p:cxnSp>
        <p:nvCxnSpPr>
          <p:cNvPr id="45" name="Straight Arrow Connector 44"/>
          <p:cNvCxnSpPr/>
          <p:nvPr/>
        </p:nvCxnSpPr>
        <p:spPr>
          <a:xfrm flipV="1">
            <a:off x="1600582" y="2683478"/>
            <a:ext cx="0" cy="1271211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04215" y="2521533"/>
            <a:ext cx="115212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4">
                    <a:lumMod val="75000"/>
                  </a:schemeClr>
                </a:solidFill>
              </a:rPr>
              <a:t>North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43909" y="3563850"/>
            <a:ext cx="917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B050"/>
                </a:solidFill>
              </a:rPr>
              <a:t>099°</a:t>
            </a:r>
          </a:p>
        </p:txBody>
      </p:sp>
      <p:sp>
        <p:nvSpPr>
          <p:cNvPr id="5" name="Rectangle 4"/>
          <p:cNvSpPr/>
          <p:nvPr/>
        </p:nvSpPr>
        <p:spPr>
          <a:xfrm>
            <a:off x="6563761" y="3914143"/>
            <a:ext cx="4104456" cy="55742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How far east has it travelled?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67731" y="3595727"/>
            <a:ext cx="115212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4">
                    <a:lumMod val="75000"/>
                  </a:schemeClr>
                </a:solidFill>
              </a:rPr>
              <a:t>East</a:t>
            </a:r>
          </a:p>
        </p:txBody>
      </p:sp>
      <p:cxnSp>
        <p:nvCxnSpPr>
          <p:cNvPr id="51" name="Straight Connector 50"/>
          <p:cNvCxnSpPr/>
          <p:nvPr/>
        </p:nvCxnSpPr>
        <p:spPr>
          <a:xfrm>
            <a:off x="5814119" y="4057351"/>
            <a:ext cx="0" cy="546521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4" descr="http://vector-magz.com/wp-content/uploads/2013/09/curved-arrow-clip-art3-300x131.png"/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35" t="-7852" b="-1"/>
          <a:stretch/>
        </p:blipFill>
        <p:spPr bwMode="auto">
          <a:xfrm rot="20041559" flipV="1">
            <a:off x="1761767" y="4101700"/>
            <a:ext cx="1012122" cy="1003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Rectangle 52"/>
          <p:cNvSpPr/>
          <p:nvPr/>
        </p:nvSpPr>
        <p:spPr>
          <a:xfrm>
            <a:off x="968432" y="4631756"/>
            <a:ext cx="987911" cy="52905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9</a:t>
            </a:r>
            <a:r>
              <a:rPr lang="en-GB" sz="2000" dirty="0">
                <a:latin typeface="Calibri"/>
              </a:rPr>
              <a:t>⁰</a:t>
            </a:r>
            <a:endParaRPr lang="en-GB" sz="2000" dirty="0"/>
          </a:p>
        </p:txBody>
      </p:sp>
      <p:pic>
        <p:nvPicPr>
          <p:cNvPr id="55" name="Picture 2" descr="http://www.clipartbest.com/cliparts/Kcn/aaE/KcnaaEKc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3086" y="1822876"/>
            <a:ext cx="1218914" cy="94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5374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8" grpId="0"/>
      <p:bldP spid="30" grpId="0"/>
      <p:bldP spid="46" grpId="0"/>
      <p:bldP spid="47" grpId="0"/>
      <p:bldP spid="5" grpId="0" animBg="1"/>
      <p:bldP spid="50" grpId="0"/>
      <p:bldP spid="5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160" y="2436741"/>
            <a:ext cx="4929790" cy="1922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668193" y="1750882"/>
            <a:ext cx="907300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b="1" i="1" dirty="0">
                <a:solidFill>
                  <a:schemeClr val="accent4">
                    <a:lumMod val="75000"/>
                  </a:schemeClr>
                </a:solidFill>
                <a:latin typeface="Gill Sans MT" panose="020B0502020104020203" pitchFamily="34" charset="0"/>
              </a:rPr>
              <a:t>A plane flies for 150km on a bearing of 099</a:t>
            </a:r>
            <a:r>
              <a:rPr lang="en-GB" sz="3200" b="1" i="1" baseline="30000" dirty="0">
                <a:solidFill>
                  <a:schemeClr val="accent4">
                    <a:lumMod val="75000"/>
                  </a:schemeClr>
                </a:solidFill>
                <a:latin typeface="Gill Sans MT" panose="020B0502020104020203" pitchFamily="34" charset="0"/>
              </a:rPr>
              <a:t>o</a:t>
            </a:r>
            <a:r>
              <a:rPr lang="en-GB" sz="3200" b="1" i="1" dirty="0">
                <a:solidFill>
                  <a:schemeClr val="accent4">
                    <a:lumMod val="75000"/>
                  </a:schemeClr>
                </a:solidFill>
                <a:latin typeface="Gill Sans MT" panose="020B0502020104020203" pitchFamily="34" charset="0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89688" y="2657797"/>
            <a:ext cx="4104456" cy="5574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How far east has it travelled?</a:t>
            </a:r>
          </a:p>
        </p:txBody>
      </p:sp>
      <p:pic>
        <p:nvPicPr>
          <p:cNvPr id="2050" name="Picture 2" descr="http://www.clipartbest.com/cliparts/Kcn/aaE/KcnaaEKc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1816" y="889739"/>
            <a:ext cx="1218914" cy="94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8243" y="4222532"/>
            <a:ext cx="466145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624" y="3491161"/>
            <a:ext cx="474008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" descr="http://www.hazemagazine.co.uk/wp-content/uploads/2014/07/soh-cah-toa-triangles.jpg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193" y="5287062"/>
            <a:ext cx="3492388" cy="92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6402" y="5641352"/>
            <a:ext cx="530752" cy="52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303" y="2692907"/>
            <a:ext cx="457159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917" y="2554423"/>
            <a:ext cx="530752" cy="52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55" y="5180722"/>
            <a:ext cx="530752" cy="52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829" y="5552706"/>
            <a:ext cx="530752" cy="52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Multiply 36"/>
          <p:cNvSpPr/>
          <p:nvPr/>
        </p:nvSpPr>
        <p:spPr>
          <a:xfrm>
            <a:off x="1823647" y="5363164"/>
            <a:ext cx="961538" cy="901707"/>
          </a:xfrm>
          <a:prstGeom prst="mathMultiply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8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746" y="4094887"/>
            <a:ext cx="539431" cy="499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162" y="5602108"/>
            <a:ext cx="539431" cy="499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Multiply 39"/>
          <p:cNvSpPr/>
          <p:nvPr/>
        </p:nvSpPr>
        <p:spPr>
          <a:xfrm>
            <a:off x="4149060" y="5310077"/>
            <a:ext cx="961538" cy="901707"/>
          </a:xfrm>
          <a:prstGeom prst="mathMultiply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1" name="Picture 2" descr="http://www.hazemagazine.co.uk/wp-content/uploads/2014/07/soh-cah-toa-triangles.jpg"/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71" r="32599"/>
          <a:stretch/>
        </p:blipFill>
        <p:spPr bwMode="auto">
          <a:xfrm>
            <a:off x="6671210" y="3538321"/>
            <a:ext cx="1216407" cy="92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Oval 41"/>
          <p:cNvSpPr/>
          <p:nvPr/>
        </p:nvSpPr>
        <p:spPr>
          <a:xfrm>
            <a:off x="6991381" y="3549515"/>
            <a:ext cx="576063" cy="542246"/>
          </a:xfrm>
          <a:prstGeom prst="ellipse">
            <a:avLst/>
          </a:prstGeom>
          <a:solidFill>
            <a:schemeClr val="accent1">
              <a:lumMod val="7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7887617" y="3676820"/>
                <a:ext cx="2899487" cy="522546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>
                          <a:latin typeface="Cambria Math"/>
                        </a:rPr>
                        <m:t>𝑨𝒅𝒋𝒂𝒄𝒆𝒏𝒕</m:t>
                      </m:r>
                      <m:r>
                        <a:rPr lang="en-GB" b="1" i="1" dirty="0">
                          <a:latin typeface="Cambria Math"/>
                        </a:rPr>
                        <m:t>=</m:t>
                      </m:r>
                      <m:r>
                        <a:rPr lang="en-GB" b="1" i="1" dirty="0">
                          <a:latin typeface="Cambria Math"/>
                        </a:rPr>
                        <m:t>𝒄𝒐𝒔</m:t>
                      </m:r>
                      <m:d>
                        <m:d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dirty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GB" b="1" i="1" dirty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GB" b="1" i="1" dirty="0">
                          <a:latin typeface="Cambria Math"/>
                          <a:ea typeface="Cambria Math"/>
                        </a:rPr>
                        <m:t>𝒉𝒚𝒑</m:t>
                      </m:r>
                    </m:oMath>
                  </m:oMathPara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617" y="3676820"/>
                <a:ext cx="2899487" cy="522546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6693085" y="4717378"/>
                <a:ext cx="4101060" cy="522546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>
                          <a:latin typeface="Cambria Math"/>
                        </a:rPr>
                        <m:t>𝑨𝒅𝒋𝒂𝒄𝒆𝒏𝒕</m:t>
                      </m:r>
                      <m:r>
                        <a:rPr lang="en-GB" b="1" i="1" dirty="0">
                          <a:latin typeface="Cambria Math"/>
                        </a:rPr>
                        <m:t>=</m:t>
                      </m:r>
                      <m:r>
                        <a:rPr lang="en-GB" b="1" i="1" dirty="0">
                          <a:latin typeface="Cambria Math"/>
                        </a:rPr>
                        <m:t>𝒄𝒐𝒔</m:t>
                      </m:r>
                      <m:r>
                        <a:rPr lang="en-GB" b="1" i="1" dirty="0">
                          <a:latin typeface="Cambria Math"/>
                        </a:rPr>
                        <m:t>(</m:t>
                      </m:r>
                      <m:r>
                        <a:rPr lang="en-GB" b="1" i="1" dirty="0">
                          <a:latin typeface="Cambria Math"/>
                        </a:rPr>
                        <m:t>𝟗</m:t>
                      </m:r>
                      <m:r>
                        <a:rPr lang="en-GB" b="1" i="1" dirty="0">
                          <a:latin typeface="Cambria Math"/>
                        </a:rPr>
                        <m:t>)×</m:t>
                      </m:r>
                      <m:r>
                        <a:rPr lang="en-GB" b="1" i="1" dirty="0">
                          <a:latin typeface="Cambria Math"/>
                          <a:ea typeface="Cambria Math"/>
                        </a:rPr>
                        <m:t>𝟏𝟓𝟎</m:t>
                      </m:r>
                    </m:oMath>
                  </m:oMathPara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3085" y="4717378"/>
                <a:ext cx="4101060" cy="522546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6693086" y="5454292"/>
                <a:ext cx="4101060" cy="522546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>
                          <a:latin typeface="Cambria Math"/>
                        </a:rPr>
                        <m:t>𝑨𝒅𝒋𝒂𝒄𝒆𝒏𝒕</m:t>
                      </m:r>
                      <m:r>
                        <a:rPr lang="en-GB" b="1" i="1" dirty="0">
                          <a:latin typeface="Cambria Math"/>
                        </a:rPr>
                        <m:t>=</m:t>
                      </m:r>
                      <m:r>
                        <a:rPr lang="en-GB" b="1" i="1" dirty="0">
                          <a:latin typeface="Cambria Math"/>
                        </a:rPr>
                        <m:t>𝟏𝟒𝟖</m:t>
                      </m:r>
                      <m:r>
                        <a:rPr lang="en-GB" b="1" i="1" dirty="0">
                          <a:latin typeface="Cambria Math"/>
                        </a:rPr>
                        <m:t>.</m:t>
                      </m:r>
                      <m:r>
                        <a:rPr lang="en-GB" b="1" i="1" dirty="0">
                          <a:latin typeface="Cambria Math"/>
                        </a:rPr>
                        <m:t>𝟏𝟓</m:t>
                      </m:r>
                      <m:r>
                        <a:rPr lang="en-GB" b="1" i="1" dirty="0">
                          <a:latin typeface="Cambria Math"/>
                        </a:rPr>
                        <m:t>𝒌𝒎</m:t>
                      </m:r>
                      <m:r>
                        <a:rPr lang="en-GB" b="1" i="1" dirty="0">
                          <a:latin typeface="Cambria Math"/>
                        </a:rPr>
                        <m:t> (</m:t>
                      </m:r>
                      <m:r>
                        <a:rPr lang="en-GB" b="1" i="1" dirty="0">
                          <a:latin typeface="Cambria Math"/>
                        </a:rPr>
                        <m:t>𝟐</m:t>
                      </m:r>
                      <m:r>
                        <a:rPr lang="en-GB" b="1" i="1" dirty="0">
                          <a:latin typeface="Cambria Math"/>
                        </a:rPr>
                        <m:t>𝒅𝒑</m:t>
                      </m:r>
                      <m:r>
                        <a:rPr lang="en-GB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3086" y="5454292"/>
                <a:ext cx="4101060" cy="522546"/>
              </a:xfrm>
              <a:prstGeom prst="rect">
                <a:avLst/>
              </a:prstGeom>
              <a:blipFill rotWithShape="0">
                <a:blip r:embed="rId11"/>
                <a:stretch>
                  <a:fillRect t="-54118" b="-7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Connector 53"/>
          <p:cNvCxnSpPr/>
          <p:nvPr/>
        </p:nvCxnSpPr>
        <p:spPr>
          <a:xfrm>
            <a:off x="6405052" y="2436740"/>
            <a:ext cx="0" cy="382813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16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0" grpId="0" animBg="1"/>
      <p:bldP spid="42" grpId="0" animBg="1"/>
      <p:bldP spid="43" grpId="0" animBg="1"/>
      <p:bldP spid="44" grpId="0" animBg="1"/>
      <p:bldP spid="4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www.clipartbest.com/cliparts/Kcn/aaE/KcnaaEKc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3086" y="2375882"/>
            <a:ext cx="1218914" cy="94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/>
          <p:cNvSpPr/>
          <p:nvPr/>
        </p:nvSpPr>
        <p:spPr>
          <a:xfrm>
            <a:off x="2135560" y="1268760"/>
            <a:ext cx="7336952" cy="86409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 ship sails on a bearing of 120° for 50 km. 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</a:rPr>
              <a:t>How far east has it travelled?</a:t>
            </a:r>
          </a:p>
        </p:txBody>
      </p:sp>
      <p:cxnSp>
        <p:nvCxnSpPr>
          <p:cNvPr id="29" name="Straight Connector 28"/>
          <p:cNvCxnSpPr/>
          <p:nvPr/>
        </p:nvCxnSpPr>
        <p:spPr>
          <a:xfrm flipV="1">
            <a:off x="4229052" y="4637073"/>
            <a:ext cx="4243213" cy="2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080756" y="4534371"/>
            <a:ext cx="296590" cy="238167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TextBox 44"/>
          <p:cNvSpPr txBox="1"/>
          <p:nvPr/>
        </p:nvSpPr>
        <p:spPr>
          <a:xfrm>
            <a:off x="3515906" y="4375464"/>
            <a:ext cx="492843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0B050"/>
                </a:solidFill>
              </a:rPr>
              <a:t>A</a:t>
            </a:r>
          </a:p>
        </p:txBody>
      </p:sp>
      <p:cxnSp>
        <p:nvCxnSpPr>
          <p:cNvPr id="46" name="Straight Connector 45"/>
          <p:cNvCxnSpPr/>
          <p:nvPr/>
        </p:nvCxnSpPr>
        <p:spPr>
          <a:xfrm>
            <a:off x="4229052" y="4653454"/>
            <a:ext cx="4213537" cy="136783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626878" y="5498068"/>
            <a:ext cx="14475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0B050"/>
                </a:solidFill>
              </a:rPr>
              <a:t>50km</a:t>
            </a:r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4229051" y="3263160"/>
            <a:ext cx="0" cy="1271211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251861" y="3320540"/>
            <a:ext cx="115212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4">
                    <a:lumMod val="75000"/>
                  </a:schemeClr>
                </a:solidFill>
              </a:rPr>
              <a:t>North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72378" y="4143532"/>
            <a:ext cx="917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B050"/>
                </a:solidFill>
              </a:rPr>
              <a:t>120°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96200" y="4175409"/>
            <a:ext cx="115212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4">
                    <a:lumMod val="75000"/>
                  </a:schemeClr>
                </a:solidFill>
              </a:rPr>
              <a:t>East</a:t>
            </a:r>
          </a:p>
        </p:txBody>
      </p:sp>
      <p:cxnSp>
        <p:nvCxnSpPr>
          <p:cNvPr id="53" name="Straight Connector 52"/>
          <p:cNvCxnSpPr/>
          <p:nvPr/>
        </p:nvCxnSpPr>
        <p:spPr>
          <a:xfrm flipH="1">
            <a:off x="8432506" y="4637032"/>
            <a:ext cx="10083" cy="1384256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Picture 4" descr="http://vector-magz.com/wp-content/uploads/2013/09/curved-arrow-clip-art3-300x131.png"/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35" t="-7852" b="-1"/>
          <a:stretch/>
        </p:blipFill>
        <p:spPr bwMode="auto">
          <a:xfrm rot="20041559" flipV="1">
            <a:off x="4277728" y="4749103"/>
            <a:ext cx="1012122" cy="1003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Rectangle 55"/>
          <p:cNvSpPr/>
          <p:nvPr/>
        </p:nvSpPr>
        <p:spPr>
          <a:xfrm>
            <a:off x="3462980" y="5302947"/>
            <a:ext cx="987911" cy="52905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30</a:t>
            </a:r>
            <a:r>
              <a:rPr lang="en-GB" sz="2000" dirty="0">
                <a:latin typeface="Calibri"/>
              </a:rPr>
              <a:t>⁰</a:t>
            </a:r>
            <a:endParaRPr lang="en-GB" sz="2000" dirty="0"/>
          </a:p>
        </p:txBody>
      </p:sp>
      <p:sp>
        <p:nvSpPr>
          <p:cNvPr id="57" name="Rectangle 56"/>
          <p:cNvSpPr/>
          <p:nvPr/>
        </p:nvSpPr>
        <p:spPr>
          <a:xfrm>
            <a:off x="2135560" y="2276873"/>
            <a:ext cx="7336952" cy="5574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Sketch your diagram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4826" y="1268760"/>
            <a:ext cx="10629726" cy="86409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 ship sails on a bearing of 120° for 50 km. How far east has it travelled?</a:t>
            </a:r>
          </a:p>
        </p:txBody>
      </p:sp>
    </p:spTree>
    <p:extLst>
      <p:ext uri="{BB962C8B-B14F-4D97-AF65-F5344CB8AC3E}">
        <p14:creationId xmlns:p14="http://schemas.microsoft.com/office/powerpoint/2010/main" val="1908089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45" grpId="0"/>
      <p:bldP spid="47" grpId="0"/>
      <p:bldP spid="50" grpId="0"/>
      <p:bldP spid="51" grpId="0"/>
      <p:bldP spid="52" grpId="0"/>
      <p:bldP spid="5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672064" y="260648"/>
            <a:ext cx="4392488" cy="86409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Independent task</a:t>
            </a:r>
          </a:p>
        </p:txBody>
      </p:sp>
      <p:pic>
        <p:nvPicPr>
          <p:cNvPr id="2050" name="Picture 2" descr="http://www.clipartbest.com/cliparts/Kcn/aaE/KcnaaEKc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2527" y="260648"/>
            <a:ext cx="1218914" cy="94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/>
          <p:cNvSpPr/>
          <p:nvPr/>
        </p:nvSpPr>
        <p:spPr>
          <a:xfrm>
            <a:off x="434826" y="1268760"/>
            <a:ext cx="10629726" cy="86409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 ship sails on a bearing of 120° for 50 km. How far east has it travelled?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75632" y="3744919"/>
            <a:ext cx="14475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0B050"/>
                </a:solidFill>
              </a:rPr>
              <a:t>50km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531" y="2976334"/>
            <a:ext cx="4256088" cy="142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4" descr="http://vector-magz.com/wp-content/uploads/2013/09/curved-arrow-clip-art3-300x131.png"/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35" t="-7852" b="-1"/>
          <a:stretch/>
        </p:blipFill>
        <p:spPr bwMode="auto">
          <a:xfrm rot="20041559" flipV="1">
            <a:off x="1028148" y="3093752"/>
            <a:ext cx="1012122" cy="1003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20"/>
          <p:cNvSpPr/>
          <p:nvPr/>
        </p:nvSpPr>
        <p:spPr>
          <a:xfrm>
            <a:off x="434827" y="3763207"/>
            <a:ext cx="987911" cy="52905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30</a:t>
            </a:r>
            <a:r>
              <a:rPr lang="en-GB" sz="2000" dirty="0">
                <a:latin typeface="Calibri"/>
              </a:rPr>
              <a:t>⁰</a:t>
            </a:r>
            <a:endParaRPr lang="en-GB" sz="2000" dirty="0"/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504" y="4242433"/>
            <a:ext cx="466145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8639" y="3424829"/>
            <a:ext cx="474008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2" descr="http://www.hazemagazine.co.uk/wp-content/uploads/2014/07/soh-cah-toa-triangles.jpg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721" y="5135878"/>
            <a:ext cx="3492388" cy="92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411" y="2485701"/>
            <a:ext cx="457159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1760" y="2330312"/>
            <a:ext cx="530752" cy="52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Straight Connector 26"/>
          <p:cNvCxnSpPr/>
          <p:nvPr/>
        </p:nvCxnSpPr>
        <p:spPr>
          <a:xfrm>
            <a:off x="5977830" y="2330311"/>
            <a:ext cx="0" cy="426607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171" y="5075482"/>
            <a:ext cx="530752" cy="52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180" y="5409949"/>
            <a:ext cx="530752" cy="52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Multiply 32"/>
          <p:cNvSpPr/>
          <p:nvPr/>
        </p:nvSpPr>
        <p:spPr>
          <a:xfrm>
            <a:off x="1668826" y="5158628"/>
            <a:ext cx="961538" cy="901707"/>
          </a:xfrm>
          <a:prstGeom prst="mathMultiply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4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517" y="4153560"/>
            <a:ext cx="539431" cy="499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4208" y="5432701"/>
            <a:ext cx="539431" cy="499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Multiply 35"/>
          <p:cNvSpPr/>
          <p:nvPr/>
        </p:nvSpPr>
        <p:spPr>
          <a:xfrm>
            <a:off x="4016480" y="5158628"/>
            <a:ext cx="961538" cy="901707"/>
          </a:xfrm>
          <a:prstGeom prst="mathMultiply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7" name="Picture 2" descr="http://www.hazemagazine.co.uk/wp-content/uploads/2014/07/soh-cah-toa-triangles.jpg"/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71" r="32599"/>
          <a:stretch/>
        </p:blipFill>
        <p:spPr bwMode="auto">
          <a:xfrm>
            <a:off x="6744114" y="3110270"/>
            <a:ext cx="1216407" cy="92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Oval 37"/>
          <p:cNvSpPr/>
          <p:nvPr/>
        </p:nvSpPr>
        <p:spPr>
          <a:xfrm>
            <a:off x="7126533" y="3157171"/>
            <a:ext cx="576063" cy="542246"/>
          </a:xfrm>
          <a:prstGeom prst="ellipse">
            <a:avLst/>
          </a:prstGeom>
          <a:solidFill>
            <a:schemeClr val="accent1">
              <a:lumMod val="7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8022769" y="3284476"/>
                <a:ext cx="2899487" cy="522546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>
                          <a:latin typeface="Cambria Math"/>
                        </a:rPr>
                        <m:t>𝑨𝒅𝒋𝒂𝒄𝒆𝒏𝒕</m:t>
                      </m:r>
                      <m:r>
                        <a:rPr lang="en-GB" b="1" i="1" dirty="0">
                          <a:latin typeface="Cambria Math"/>
                        </a:rPr>
                        <m:t>=</m:t>
                      </m:r>
                      <m:r>
                        <a:rPr lang="en-GB" b="1" i="1" dirty="0">
                          <a:latin typeface="Cambria Math"/>
                        </a:rPr>
                        <m:t>𝒄𝒐𝒔</m:t>
                      </m:r>
                      <m:d>
                        <m:d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dirty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GB" b="1" i="1" dirty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GB" b="1" i="1" dirty="0">
                          <a:latin typeface="Cambria Math"/>
                          <a:ea typeface="Cambria Math"/>
                        </a:rPr>
                        <m:t>𝒉𝒚𝒑</m:t>
                      </m:r>
                    </m:oMath>
                  </m:oMathPara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1974" y="3284476"/>
                <a:ext cx="2899487" cy="522546"/>
              </a:xfrm>
              <a:prstGeom prst="rect">
                <a:avLst/>
              </a:prstGeom>
              <a:blipFill rotWithShape="1">
                <a:blip r:embed="rId10"/>
                <a:stretch>
                  <a:fillRect l="-10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6806362" y="4221088"/>
                <a:ext cx="3754135" cy="522546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dirty="0">
                          <a:latin typeface="Cambria Math"/>
                        </a:rPr>
                        <m:t>𝑨𝒅𝒋𝒂𝒄𝒆𝒏𝒕</m:t>
                      </m:r>
                      <m:r>
                        <a:rPr lang="en-GB" sz="2000" b="1" i="1" dirty="0">
                          <a:latin typeface="Cambria Math"/>
                        </a:rPr>
                        <m:t>=</m:t>
                      </m:r>
                      <m:r>
                        <a:rPr lang="en-GB" sz="2000" b="1" i="1" dirty="0">
                          <a:latin typeface="Cambria Math"/>
                        </a:rPr>
                        <m:t>𝒄𝒐𝒔</m:t>
                      </m:r>
                      <m:d>
                        <m:dPr>
                          <m:ctrlPr>
                            <a:rPr lang="en-GB" sz="20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1" i="1" dirty="0">
                              <a:latin typeface="Cambria Math"/>
                            </a:rPr>
                            <m:t>𝟑𝟎</m:t>
                          </m:r>
                        </m:e>
                      </m:d>
                      <m:r>
                        <a:rPr lang="en-GB" sz="2000" b="1" i="1" dirty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GB" sz="2000" b="1" i="1" dirty="0">
                          <a:latin typeface="Cambria Math"/>
                          <a:ea typeface="Cambria Math"/>
                        </a:rPr>
                        <m:t>𝟓𝟎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5567" y="4221088"/>
                <a:ext cx="3754135" cy="522546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6817019" y="4914480"/>
                <a:ext cx="3754135" cy="522546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dirty="0">
                          <a:latin typeface="Cambria Math"/>
                        </a:rPr>
                        <m:t>𝑨𝒅𝒋𝒂𝒄𝒆𝒏𝒕</m:t>
                      </m:r>
                      <m:r>
                        <a:rPr lang="en-GB" sz="2000" b="1" i="1" dirty="0">
                          <a:latin typeface="Cambria Math"/>
                        </a:rPr>
                        <m:t>=</m:t>
                      </m:r>
                      <m:r>
                        <a:rPr lang="en-GB" sz="2000" b="1" i="1" dirty="0">
                          <a:latin typeface="Cambria Math"/>
                        </a:rPr>
                        <m:t>𝟒𝟑</m:t>
                      </m:r>
                      <m:r>
                        <a:rPr lang="en-GB" sz="2000" b="1" i="1" dirty="0">
                          <a:latin typeface="Cambria Math"/>
                        </a:rPr>
                        <m:t>.</m:t>
                      </m:r>
                      <m:r>
                        <a:rPr lang="en-GB" sz="2000" b="1" i="1" dirty="0">
                          <a:latin typeface="Cambria Math"/>
                        </a:rPr>
                        <m:t>𝟑</m:t>
                      </m:r>
                      <m:r>
                        <a:rPr lang="en-GB" sz="2000" b="1" i="1" dirty="0">
                          <a:latin typeface="Cambria Math"/>
                        </a:rPr>
                        <m:t>𝒌𝒎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224" y="4914480"/>
                <a:ext cx="3754135" cy="522546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/>
          <p:cNvSpPr txBox="1"/>
          <p:nvPr/>
        </p:nvSpPr>
        <p:spPr>
          <a:xfrm>
            <a:off x="4727848" y="2596842"/>
            <a:ext cx="115212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4">
                    <a:lumMod val="75000"/>
                  </a:schemeClr>
                </a:solidFill>
              </a:rPr>
              <a:t>East</a:t>
            </a:r>
          </a:p>
        </p:txBody>
      </p:sp>
    </p:spTree>
    <p:extLst>
      <p:ext uri="{BB962C8B-B14F-4D97-AF65-F5344CB8AC3E}">
        <p14:creationId xmlns:p14="http://schemas.microsoft.com/office/powerpoint/2010/main" val="754328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6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882" y="1016000"/>
            <a:ext cx="88646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283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893" y="2855749"/>
            <a:ext cx="9125044" cy="131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588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practice</a:t>
            </a: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908" y="2252217"/>
            <a:ext cx="9543392" cy="19630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5118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practice</a:t>
            </a:r>
          </a:p>
        </p:txBody>
      </p:sp>
      <p:pic>
        <p:nvPicPr>
          <p:cNvPr id="6" name="Picture 5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3"/>
          <a:stretch/>
        </p:blipFill>
        <p:spPr bwMode="auto">
          <a:xfrm>
            <a:off x="1280160" y="1639615"/>
            <a:ext cx="9125081" cy="508700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11248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0" y="5998464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5998464"/>
            <a:ext cx="1455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Summary: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black">
          <a:xfrm>
            <a:off x="252248" y="542990"/>
            <a:ext cx="11771586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</a:t>
            </a:r>
            <a:r>
              <a:rPr lang="en-GB" dirty="0"/>
              <a:t>Bearings</a:t>
            </a:r>
            <a:br>
              <a:rPr lang="en-US" dirty="0"/>
            </a:br>
            <a:r>
              <a:rPr lang="en-US" dirty="0"/>
              <a:t>EQ: How do bearings relate to trigonometry?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A1EDB8-E366-CD4D-940E-06A2B5A678A0}"/>
              </a:ext>
            </a:extLst>
          </p:cNvPr>
          <p:cNvSpPr txBox="1"/>
          <p:nvPr/>
        </p:nvSpPr>
        <p:spPr>
          <a:xfrm>
            <a:off x="1048512" y="2377440"/>
            <a:ext cx="8839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Complete 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Complete Angles of </a:t>
            </a:r>
            <a:r>
              <a:rPr lang="en-US" sz="3200" dirty="0" err="1"/>
              <a:t>Elev</a:t>
            </a:r>
            <a:r>
              <a:rPr lang="en-US" sz="3200" dirty="0"/>
              <a:t> and </a:t>
            </a:r>
            <a:r>
              <a:rPr lang="en-US" sz="3200"/>
              <a:t>Bearings Worksheet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80658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ucation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ucation_16x9.potx" id="{AA5F22BC-61EA-4F01-AB22-75117871E196}" vid="{BD0EB374-1DDC-4F15-88A9-D386288C58A6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F7A874A-6E55-415B-9061-8B2D43DC2F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BC99BC-3A63-4255-9D4F-38C5B80A319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896FEF9-821E-45A6-82F2-0B1CE4CD8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1008</Words>
  <Application>Microsoft Macintosh PowerPoint</Application>
  <PresentationFormat>Widescreen</PresentationFormat>
  <Paragraphs>308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Cambria Math</vt:lpstr>
      <vt:lpstr>Comic Sans MS</vt:lpstr>
      <vt:lpstr>Gill Sans MT</vt:lpstr>
      <vt:lpstr>Impact</vt:lpstr>
      <vt:lpstr>Wingdings</vt:lpstr>
      <vt:lpstr>Education 16x9</vt:lpstr>
      <vt:lpstr>Topic: Bearings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Some practice</vt:lpstr>
      <vt:lpstr>Some practice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2012-09-21T18:31:34Z</dcterms:created>
  <dcterms:modified xsi:type="dcterms:W3CDTF">2020-04-27T00:42:38Z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
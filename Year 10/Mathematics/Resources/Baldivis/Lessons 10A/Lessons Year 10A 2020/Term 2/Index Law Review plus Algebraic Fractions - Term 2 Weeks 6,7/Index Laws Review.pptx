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50" r:id="rId6"/>
    <p:sldId id="351" r:id="rId7"/>
    <p:sldId id="352" r:id="rId8"/>
    <p:sldId id="353" r:id="rId9"/>
    <p:sldId id="354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0" autoAdjust="0"/>
    <p:restoredTop sz="92867" autoAdjust="0"/>
  </p:normalViewPr>
  <p:slideViewPr>
    <p:cSldViewPr>
      <p:cViewPr varScale="1">
        <p:scale>
          <a:sx n="117" d="100"/>
          <a:sy n="117" d="100"/>
        </p:scale>
        <p:origin x="27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26/2/20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26/2/20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/>
              <a:t>Interactive Workbook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DC97F90-DEA2-1B48-A739-9DB1EBD29B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5094" y="1919593"/>
                <a:ext cx="6085378" cy="4389724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Indices have two parts- the index and the base:</a:t>
                </a: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Like terms have the exact same variables. Ex – 2x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and x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are like terms</a:t>
                </a: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=2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, while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</a:p>
              <a:p>
                <a:pPr lvl="1"/>
                <a:endParaRPr lang="en-AU" baseline="300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are not like terms, so you cannot add(+) or subtract (-) them. </a:t>
                </a: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DC97F90-DEA2-1B48-A739-9DB1EBD29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094" y="1919593"/>
                <a:ext cx="6085378" cy="4389724"/>
              </a:xfrm>
              <a:prstGeom prst="rect">
                <a:avLst/>
              </a:prstGeom>
              <a:blipFill>
                <a:blip r:embed="rId2"/>
                <a:stretch>
                  <a:fillRect l="-1040" t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8C73FEA-7D3C-EC4F-850A-8C61EB2BC36E}"/>
              </a:ext>
            </a:extLst>
          </p:cNvPr>
          <p:cNvSpPr txBox="1"/>
          <p:nvPr/>
        </p:nvSpPr>
        <p:spPr>
          <a:xfrm>
            <a:off x="59702" y="1901411"/>
            <a:ext cx="2394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What is an index?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1E9D7B-95B9-8648-BC80-0683F2D3CB16}"/>
              </a:ext>
            </a:extLst>
          </p:cNvPr>
          <p:cNvSpPr txBox="1"/>
          <p:nvPr/>
        </p:nvSpPr>
        <p:spPr>
          <a:xfrm>
            <a:off x="119514" y="4054153"/>
            <a:ext cx="2512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What is a like term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269F96-DF07-AC45-8ED8-6A284AB4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451043"/>
            <a:ext cx="2081666" cy="102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8DC0F2D-A78A-A64D-8BAF-697BE245A605}"/>
              </a:ext>
            </a:extLst>
          </p:cNvPr>
          <p:cNvSpPr txBox="1">
            <a:spLocks/>
          </p:cNvSpPr>
          <p:nvPr/>
        </p:nvSpPr>
        <p:spPr>
          <a:xfrm>
            <a:off x="381503" y="1919953"/>
            <a:ext cx="8438970" cy="387461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There are laws that govern how we solve problems with indices, these are called index laws. </a:t>
            </a:r>
          </a:p>
          <a:p>
            <a:pPr marL="0" indent="0">
              <a:buNone/>
            </a:pPr>
            <a:r>
              <a:rPr lang="en-AU" sz="1650" b="1" dirty="0">
                <a:latin typeface="Cambria Math" charset="0"/>
                <a:ea typeface="Cambria Math" charset="0"/>
                <a:cs typeface="Cambria Math" charset="0"/>
              </a:rPr>
              <a:t>Index law 1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: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m</a:t>
            </a:r>
            <a:r>
              <a:rPr lang="en-AU" sz="1800" baseline="30000" dirty="0">
                <a:latin typeface="Cambria Math" charset="0"/>
                <a:ea typeface="Cambria Math" charset="0"/>
                <a:cs typeface="Cambria Math" charset="0"/>
              </a:rPr>
              <a:t>  </a:t>
            </a:r>
            <a:r>
              <a:rPr lang="en-AU" sz="1800" dirty="0">
                <a:latin typeface="Cambria Math" charset="0"/>
                <a:ea typeface="Cambria Math" charset="0"/>
                <a:cs typeface="Cambria Math" charset="0"/>
              </a:rPr>
              <a:t>x a</a:t>
            </a:r>
            <a:r>
              <a:rPr lang="en-AU" sz="1800" baseline="30000" dirty="0">
                <a:latin typeface="Cambria Math" charset="0"/>
                <a:ea typeface="Cambria Math" charset="0"/>
                <a:cs typeface="Cambria Math" charset="0"/>
              </a:rPr>
              <a:t>n </a:t>
            </a:r>
            <a:r>
              <a:rPr lang="en-AU" sz="1800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AU" sz="1800" dirty="0" err="1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sz="1800" baseline="30000" dirty="0" err="1">
                <a:latin typeface="Cambria Math" charset="0"/>
                <a:ea typeface="Cambria Math" charset="0"/>
                <a:cs typeface="Cambria Math" charset="0"/>
              </a:rPr>
              <a:t>m+n</a:t>
            </a:r>
            <a:r>
              <a:rPr lang="en-AU" sz="1800" baseline="30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endParaRPr lang="en-AU" sz="1650" dirty="0">
              <a:latin typeface="Cambria Math" charset="0"/>
              <a:ea typeface="Cambria Math" charset="0"/>
              <a:cs typeface="Cambria Math" charset="0"/>
            </a:endParaRPr>
          </a:p>
          <a:p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When multiplying two indices together, you add them – you can only add like bases</a:t>
            </a:r>
            <a:endParaRPr lang="en-AU" sz="1650" u="sng" dirty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x 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= 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3+4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=y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7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REMEMBER: if there is and “a” and a “b”, only multiply “a” by “a” and “b” by “b” </a:t>
            </a:r>
            <a:r>
              <a:rPr lang="en-AU" sz="1650" dirty="0" err="1">
                <a:latin typeface="Cambria Math" charset="0"/>
                <a:ea typeface="Cambria Math" charset="0"/>
                <a:cs typeface="Cambria Math" charset="0"/>
              </a:rPr>
              <a:t>eg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: 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x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b becomes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2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b =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=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4+2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x 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3+1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</a:t>
            </a:r>
          </a:p>
          <a:p>
            <a:pPr marL="0" indent="0">
              <a:buNone/>
            </a:pP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	=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6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 </a:t>
            </a:r>
          </a:p>
          <a:p>
            <a:pPr marL="0" indent="0">
              <a:buNone/>
            </a:pPr>
            <a:endParaRPr lang="en-AU" sz="1650" dirty="0">
              <a:latin typeface="Cambria Math" charset="0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510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4204BE5-ACBA-3C42-8942-D4424234A7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528" y="1811726"/>
                <a:ext cx="8568952" cy="2193338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1650" b="1" dirty="0">
                    <a:latin typeface="Cambria Math" charset="0"/>
                    <a:ea typeface="Cambria Math" charset="0"/>
                    <a:cs typeface="Cambria Math" charset="0"/>
                  </a:rPr>
                  <a:t>Index law 2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AU" sz="1650" i="1">
                        <a:latin typeface="Cambria Math" charset="0"/>
                        <a:ea typeface="Cambria Math" charset="0"/>
                        <a:cs typeface="Cambria Math" charset="0"/>
                      </a:rPr>
                      <m:t> ÷</m:t>
                    </m:r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−</m:t>
                        </m:r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sz="165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Multiplication and division are opposites in  mathematics, and in index laws</a:t>
                </a:r>
              </a:p>
              <a:p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When dividing the same bases, subtract the indices</a:t>
                </a:r>
              </a:p>
              <a:p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Fractions are also governed by index law 2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24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7 </m:t>
                        </m:r>
                      </m:sup>
                    </m:sSup>
                    <m:r>
                      <a:rPr lang="en-AU" sz="1650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7−3</m:t>
                        </m:r>
                      </m:sup>
                    </m:sSup>
                  </m:oMath>
                </a14:m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endParaRPr lang="en-AU" sz="165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4204BE5-ACBA-3C42-8942-D4424234A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811726"/>
                <a:ext cx="8568952" cy="2193338"/>
              </a:xfrm>
              <a:prstGeom prst="rect">
                <a:avLst/>
              </a:prstGeom>
              <a:blipFill>
                <a:blip r:embed="rId2"/>
                <a:stretch>
                  <a:fillRect l="-592" t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7A0F9C-532C-2C46-94B1-FFBBB4ED354A}"/>
              </a:ext>
            </a:extLst>
          </p:cNvPr>
          <p:cNvSpPr txBox="1">
            <a:spLocks/>
          </p:cNvSpPr>
          <p:nvPr/>
        </p:nvSpPr>
        <p:spPr>
          <a:xfrm>
            <a:off x="323528" y="4005064"/>
            <a:ext cx="8568952" cy="24482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50" b="1" dirty="0">
                <a:latin typeface="Cambria Math" charset="0"/>
                <a:ea typeface="Cambria Math" charset="0"/>
                <a:cs typeface="Cambria Math" charset="0"/>
              </a:rPr>
              <a:t>Index law 3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: (a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m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n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= a 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m x n </a:t>
            </a:r>
          </a:p>
          <a:p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When there are indices inside and outside of a brackets, they multiply.</a:t>
            </a:r>
          </a:p>
          <a:p>
            <a:r>
              <a:rPr lang="en-AU" sz="1650" dirty="0" err="1">
                <a:latin typeface="Cambria Math" charset="0"/>
                <a:ea typeface="Cambria Math" charset="0"/>
                <a:cs typeface="Cambria Math" charset="0"/>
              </a:rPr>
              <a:t>Eg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; (x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 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- think about what </a:t>
            </a:r>
            <a:r>
              <a:rPr lang="en-AU" sz="1650" dirty="0" err="1">
                <a:latin typeface="Cambria Math" charset="0"/>
                <a:ea typeface="Cambria Math" charset="0"/>
                <a:cs typeface="Cambria Math" charset="0"/>
              </a:rPr>
              <a:t>indicies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mean.</a:t>
            </a:r>
          </a:p>
          <a:p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means </a:t>
            </a:r>
            <a:r>
              <a:rPr lang="en-AU" sz="1650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sz="1650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u="sng" dirty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</a:t>
            </a:r>
            <a:r>
              <a:rPr lang="en-AU" sz="1650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sz="1650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u="sng" dirty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</a:t>
            </a:r>
            <a:r>
              <a:rPr lang="en-AU" sz="1650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sz="1650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u="sng" dirty="0">
                <a:latin typeface="Cambria Math" charset="0"/>
                <a:ea typeface="Cambria Math" charset="0"/>
                <a:cs typeface="Cambria Math" charset="0"/>
              </a:rPr>
              <a:t>),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then use the first index law, </a:t>
            </a:r>
          </a:p>
          <a:p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4+4+4 =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12</a:t>
            </a:r>
            <a:endParaRPr lang="en-AU" sz="1650" dirty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4 + 4 +4 is the same as 4 x 3, therefore we can use the third law to simplify that if an index is inside the bracket, you multiply by the index outside the brackets. </a:t>
            </a:r>
          </a:p>
          <a:p>
            <a:endParaRPr lang="en-AU" sz="1650" u="sng" baseline="30000" dirty="0">
              <a:latin typeface="Cambria Math" charset="0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1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86932C6-CB01-864A-8CB1-1DBFB50E0E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513" y="1630458"/>
                <a:ext cx="8903837" cy="1993412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1650" b="1" dirty="0">
                    <a:latin typeface="Cambria Math" charset="0"/>
                    <a:ea typeface="Cambria Math" charset="0"/>
                    <a:cs typeface="Cambria Math" charset="0"/>
                  </a:rPr>
                  <a:t>Index law 4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: (</a:t>
                </a:r>
                <a14:m>
                  <m:oMath xmlns:m="http://schemas.openxmlformats.org/officeDocument/2006/math">
                    <m:r>
                      <a:rPr lang="en-AU" sz="1650" i="1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sz="1650" i="1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sz="1650" i="1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sSup>
                      <m:sSupPr>
                        <m:ctrlPr>
                          <a:rPr lang="en-AU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 = a</a:t>
                </a:r>
                <a:r>
                  <a:rPr lang="en-AU" sz="165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 x b</a:t>
                </a:r>
                <a:r>
                  <a:rPr lang="en-AU" sz="1650" baseline="30000" dirty="0">
                    <a:latin typeface="Cambria Math" charset="0"/>
                    <a:ea typeface="Cambria Math" charset="0"/>
                    <a:cs typeface="Cambria Math" charset="0"/>
                  </a:rPr>
                  <a:t>2 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= a</a:t>
                </a:r>
                <a:r>
                  <a:rPr lang="en-AU" sz="165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b</a:t>
                </a:r>
                <a:r>
                  <a:rPr lang="en-AU" sz="165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AU" sz="165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f>
                      <m:fPr>
                        <m:ctrlPr>
                          <a:rPr lang="bg-BG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num>
                      <m:den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AU" sz="1650" baseline="30000" dirty="0">
                    <a:latin typeface="Cambria Math" charset="0"/>
                    <a:ea typeface="Cambria Math" charset="0"/>
                    <a:cs typeface="Cambria Math" charset="0"/>
                  </a:rPr>
                  <a:t>3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165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sz="1650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165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AU" sz="165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sz="1650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165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AU" sz="165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1650" b="1" baseline="30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</a:p>
              <a:p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Combined with index law 3, this law tells us that if we have more than one variable in the brackets, both are raised to the index outside. </a:t>
                </a:r>
              </a:p>
              <a:p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e.g. </a:t>
                </a:r>
              </a:p>
              <a:p>
                <a:pPr lvl="1"/>
                <a:r>
                  <a:rPr lang="en-AU" sz="1500" dirty="0">
                    <a:latin typeface="Cambria Math" charset="0"/>
                    <a:ea typeface="Cambria Math" charset="0"/>
                    <a:cs typeface="Cambria Math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AU" sz="15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2</m:t>
                    </m:r>
                    <m:r>
                      <a:rPr lang="en-AU" sz="1500" i="1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CA" sz="15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 </m:t>
                    </m:r>
                  </m:oMath>
                </a14:m>
                <a:r>
                  <a:rPr lang="en-AU" sz="150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AU" sz="15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2×2</m:t>
                        </m:r>
                      </m:sup>
                    </m:sSup>
                    <m:r>
                      <a:rPr lang="en-AU" sz="15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AU" sz="15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2×2</m:t>
                        </m:r>
                      </m:sup>
                    </m:sSup>
                  </m:oMath>
                </a14:m>
                <a:endParaRPr lang="en-AU" sz="15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r>
                  <a:rPr lang="en-AU" sz="150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AU" sz="1500" i="1">
                        <a:latin typeface="Cambria Math" charset="0"/>
                        <a:ea typeface="Cambria Math" charset="0"/>
                        <a:cs typeface="Cambria Math" charset="0"/>
                      </a:rPr>
                      <m:t>9</m:t>
                    </m:r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sz="1500" dirty="0">
                    <a:latin typeface="Cambria Math" charset="0"/>
                    <a:ea typeface="Cambria Math" charset="0"/>
                    <a:cs typeface="Cambria Math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AU" sz="1500" i="1">
                        <a:latin typeface="Cambria Math" charset="0"/>
                        <a:ea typeface="Cambria Math" charset="0"/>
                        <a:cs typeface="Cambria Math" charset="0"/>
                      </a:rPr>
                      <m:t>4</m:t>
                    </m:r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  <m:r>
                      <a:rPr lang="en-CA" sz="15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 </m:t>
                    </m:r>
                  </m:oMath>
                </a14:m>
                <a:r>
                  <a:rPr lang="en-AU" sz="1500" dirty="0">
                    <a:latin typeface="Cambria Math" charset="0"/>
                    <a:ea typeface="Cambria Math" charset="0"/>
                    <a:cs typeface="Cambria Math" charset="0"/>
                  </a:rPr>
                  <a:t>=36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endParaRPr lang="en-AU" sz="150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86932C6-CB01-864A-8CB1-1DBFB50E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3" y="1630458"/>
                <a:ext cx="8903837" cy="1993412"/>
              </a:xfrm>
              <a:prstGeom prst="rect">
                <a:avLst/>
              </a:prstGeo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5252C3D-5C90-F24B-837C-60F593006E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513" y="3653958"/>
                <a:ext cx="6881648" cy="3018094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1650" b="1" dirty="0">
                    <a:latin typeface="Cambria Math" charset="0"/>
                    <a:ea typeface="Cambria Math" charset="0"/>
                    <a:cs typeface="Cambria Math" charset="0"/>
                  </a:rPr>
                  <a:t>Index law 5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: y </a:t>
                </a:r>
                <a:r>
                  <a:rPr lang="en-AU" sz="1650" baseline="30000" dirty="0">
                    <a:latin typeface="Cambria Math" charset="0"/>
                    <a:ea typeface="Cambria Math" charset="0"/>
                    <a:cs typeface="Cambria Math" charset="0"/>
                  </a:rPr>
                  <a:t>-3 </a:t>
                </a:r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165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sz="165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sz="165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165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sz="165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AU" sz="1650" u="sng" baseline="300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r>
                  <a:rPr lang="en-AU" sz="1650" dirty="0">
                    <a:latin typeface="Cambria Math" charset="0"/>
                    <a:ea typeface="Cambria Math" charset="0"/>
                    <a:cs typeface="Cambria Math" charset="0"/>
                  </a:rPr>
                  <a:t>When there is a negative index, we can write it below a one to make it positive. </a:t>
                </a:r>
              </a:p>
              <a:p>
                <a:endParaRPr lang="en-AU" sz="165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5252C3D-5C90-F24B-837C-60F593006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3" y="3653958"/>
                <a:ext cx="6881648" cy="3018094"/>
              </a:xfrm>
              <a:prstGeom prst="rect">
                <a:avLst/>
              </a:prstGeom>
              <a:blipFill>
                <a:blip r:embed="rId3"/>
                <a:stretch>
                  <a:fillRect l="-737" t="-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7AC2AE-44EF-D142-ADA1-DC1F126E2BA6}"/>
                  </a:ext>
                </a:extLst>
              </p:cNvPr>
              <p:cNvSpPr txBox="1"/>
              <p:nvPr/>
            </p:nvSpPr>
            <p:spPr>
              <a:xfrm>
                <a:off x="971600" y="4653136"/>
                <a:ext cx="3169895" cy="1573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>
                    <a:latin typeface="Cambria Math" charset="0"/>
                    <a:ea typeface="Cambria Math" charset="0"/>
                    <a:cs typeface="Cambria Math" charset="0"/>
                  </a:rPr>
                  <a:t>The example on the right shows how this process of cancelling negative indices can be used to create the positive below a one.  </a:t>
                </a:r>
                <a:r>
                  <a:rPr lang="en-AU" sz="1500" dirty="0"/>
                  <a:t> </a:t>
                </a:r>
              </a:p>
              <a:p>
                <a:endParaRPr lang="en-AU" sz="1500" dirty="0"/>
              </a:p>
              <a:p>
                <a:r>
                  <a:rPr lang="en-AU" sz="1500" dirty="0"/>
                  <a:t>Also-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1500" i="1">
                            <a:latin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sz="1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1500" i="1"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1500" i="1">
                                <a:latin typeface="Cambria Math" charset="0"/>
                              </a:rPr>
                              <m:t>−3</m:t>
                            </m:r>
                          </m:sup>
                        </m:sSup>
                      </m:den>
                    </m:f>
                    <m:r>
                      <a:rPr lang="en-AU" sz="15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1500" i="1">
                            <a:latin typeface="Cambria Math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15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7AC2AE-44EF-D142-ADA1-DC1F126E2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653136"/>
                <a:ext cx="3169895" cy="1573636"/>
              </a:xfrm>
              <a:prstGeom prst="rect">
                <a:avLst/>
              </a:prstGeom>
              <a:blipFill>
                <a:blip r:embed="rId4"/>
                <a:stretch>
                  <a:fillRect l="-800" r="-1600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C6B759E7-A24F-EC42-A482-C7CEA6FA2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096" y="4438521"/>
            <a:ext cx="4066840" cy="228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5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28EC6-E726-7A47-A99E-F0E08CB182E3}"/>
                  </a:ext>
                </a:extLst>
              </p:cNvPr>
              <p:cNvSpPr txBox="1"/>
              <p:nvPr/>
            </p:nvSpPr>
            <p:spPr>
              <a:xfrm>
                <a:off x="323528" y="1844824"/>
                <a:ext cx="8208912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5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Law 6</a:t>
                </a:r>
                <a:r>
                  <a:rPr lang="en-US" sz="16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CA" sz="16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5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Any base raised to the power of zero = 1.</a:t>
                </a:r>
              </a:p>
              <a:p>
                <a:endParaRPr lang="en-US" sz="165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16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Ex) 2</a:t>
                </a:r>
                <a:r>
                  <a:rPr lang="en-US" sz="165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16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 	2,000,000</a:t>
                </a:r>
                <a:r>
                  <a:rPr lang="en-US" sz="165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16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		a</a:t>
                </a:r>
                <a:r>
                  <a:rPr lang="en-US" sz="165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16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 	but…	6b</a:t>
                </a:r>
                <a:r>
                  <a:rPr lang="en-US" sz="165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165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6	why?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28EC6-E726-7A47-A99E-F0E08CB18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844824"/>
                <a:ext cx="8208912" cy="854080"/>
              </a:xfrm>
              <a:prstGeom prst="rect">
                <a:avLst/>
              </a:prstGeom>
              <a:blipFill>
                <a:blip r:embed="rId2"/>
                <a:stretch>
                  <a:fillRect l="-309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60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AC2457-FBA8-D74E-875A-E0B958D9E722}"/>
              </a:ext>
            </a:extLst>
          </p:cNvPr>
          <p:cNvSpPr txBox="1"/>
          <p:nvPr/>
        </p:nvSpPr>
        <p:spPr>
          <a:xfrm>
            <a:off x="1434336" y="1916832"/>
            <a:ext cx="654102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Complete Chapter 3 Worksheet B</a:t>
            </a:r>
          </a:p>
          <a:p>
            <a:pPr algn="ctr"/>
            <a:endParaRPr lang="en-US" sz="3600" b="1" dirty="0"/>
          </a:p>
          <a:p>
            <a:pPr algn="ctr"/>
            <a:r>
              <a:rPr lang="en-US" sz="3600" b="1" dirty="0"/>
              <a:t>Questions 1 - 8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46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698</Words>
  <Application>Microsoft Macintosh PowerPoint</Application>
  <PresentationFormat>On-screen Show (4:3)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My Number Interactive Workbook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80</cp:revision>
  <dcterms:created xsi:type="dcterms:W3CDTF">2014-05-14T02:58:57Z</dcterms:created>
  <dcterms:modified xsi:type="dcterms:W3CDTF">2020-02-26T12:13:39Z</dcterms:modified>
</cp:coreProperties>
</file>
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gif" ContentType="image/gif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8" r:id="rId2"/>
    <p:sldId id="336" r:id="rId3"/>
    <p:sldId id="330" r:id="rId4"/>
    <p:sldId id="338" r:id="rId5"/>
    <p:sldId id="321" r:id="rId6"/>
    <p:sldId id="339" r:id="rId7"/>
    <p:sldId id="340" r:id="rId8"/>
    <p:sldId id="261" r:id="rId9"/>
    <p:sldId id="341" r:id="rId10"/>
    <p:sldId id="351" r:id="rId11"/>
    <p:sldId id="352" r:id="rId12"/>
    <p:sldId id="353" r:id="rId13"/>
    <p:sldId id="285" r:id="rId14"/>
    <p:sldId id="350" r:id="rId15"/>
    <p:sldId id="342" r:id="rId16"/>
    <p:sldId id="354" r:id="rId17"/>
    <p:sldId id="355" r:id="rId18"/>
    <p:sldId id="348" r:id="rId19"/>
    <p:sldId id="349" r:id="rId20"/>
    <p:sldId id="28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0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0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37DE9-E843-4D08-A94A-BB5A10981DBE}" type="datetimeFigureOut">
              <a:rPr lang="en-AU" smtClean="0"/>
              <a:t>20/2/18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77AA-7CC8-43C9-8713-D5D8B1C37A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521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399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7343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461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9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47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4347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65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26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7891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1928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17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0464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0408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85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2340B6-225B-49BB-8988-BAB44A03D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7489C88-1697-4DDC-A559-7208A6C27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44CF110-B2A4-483A-ADA0-2141C99C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E4A8F45-1C76-435C-B753-7CA166E3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D96ABF9-0EE7-441D-AD83-19C48B97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752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79B018-4B84-4718-9142-DABDFE22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D569AE-B3C5-4BB2-9AA4-03357A19D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CF32225-FB2C-4C40-8F62-48D7FE59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8220E53-56EE-48EF-ABF0-59F5AEB7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DFBC6BC-CAA6-4FD9-928F-04D2DCB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0525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00749B-81AF-476E-8EEF-FE77A675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B5B3446-944A-448E-BCB8-4B747FF04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89EE5F3-D0AC-40B7-8786-16D46087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31122D2-1BA7-4131-A86D-B1A8BAFC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4BF178-CDE9-450D-8852-2511C3E5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4468BA-1A45-48DE-A696-66D3CB8D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03E659-E10D-48C1-B0C3-08FE9D4A9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06FBCD3-398D-4588-8CC0-C2B429CD5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EF1EFCE-7663-4CA3-88EB-786802A76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20/2/18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2CD65C5-0BED-470C-AA0D-6AE63730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9553F79-B6C7-40B6-9E04-29A6C35F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157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FACC35-708F-48A7-AC2B-D346EDD5F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3A8C90A-72C2-4AAA-AD90-9AE3EC08D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B27D173-ECD3-4DBB-8D7B-38F22B05E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400CA80-B5B3-4F7A-B3D9-07F3C8388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63E796C-57B7-45D1-AE36-E182E2AD2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89177FB-FF08-418F-9217-EA3F6C73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20/2/18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3661780-D977-4531-91F7-9B8DB63A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BC2436E-E0F0-450D-9191-594FF163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422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1D83D4-2F53-4730-B63B-8C2E2E66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88E1F5F-59DF-4792-874D-A7B28CE7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20/2/18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424AF79-AF61-4264-848D-EEE3C0A0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52EF858-59AB-4742-BD96-AF33F5C2D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453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3B1E2E6-BC2C-4957-AB1D-9B08278F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20/2/18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E6BF7F9-0E55-46E1-94EA-349999535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EE4FAB8-48BF-4C89-A71A-2048D0B3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166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A248BA-C20E-4F92-8CC2-2E8CE2F75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4DCCC6-F73C-48A2-9432-16E9D7E32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60D8BD0-A270-4EF5-9B04-2304872E3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F38046E-4A60-48C3-AC6F-E511609B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20/2/18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22538C3-5B19-4598-BFF7-AB7A9E9A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8B049C1-16E6-44A9-8838-EF4C500A7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3505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DE12B8-770C-4768-8AA8-9D74B6A6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9F4F4D2-6377-4EC6-BD22-E52F6C88A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D157770-25F4-457E-B556-4CE6A64E6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F6A36EA-DD80-4279-85D1-C40D129C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20/2/18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83B5086-F432-4B9A-8187-799F3547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8BFFCB0-54BE-41DF-93BB-17ECB4E4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56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FD31A7-17DD-41D2-87DC-65449493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26E4FA2-E59C-4308-96D1-AC91844D7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14FF240-EF90-4D4A-9CE8-F5C42210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DB9A025-0C68-42FF-B9EA-F7F771630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A5D0BB-E363-4F66-8543-8E3EE833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471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9C41EB6-B3C3-4059-9E19-8956A74BF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BFE6F54-857C-4234-ABA5-0A3C0472D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C02E581-0726-48E2-8477-37301DA7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DBE622A-3BA9-4606-BD67-CD715A10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C06DE7C-67AA-4711-86D5-3D7FCF37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9193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02294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4620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61068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066801"/>
            <a:ext cx="10972800" cy="5059363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58772F0-F6BF-4CE9-BBEB-E0074B6D7434}" type="datetimeFigureOut">
              <a:rPr lang="en-US"/>
              <a:pPr>
                <a:defRPr/>
              </a:pPr>
              <a:t>2/21/18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5620EAB-18E5-4DDD-BD2E-04ED4223D5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176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1D936E8-ABBC-4DA3-AB30-F850AFE75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D803025-19B6-4842-8DB1-6A818347C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A8802F2-F5D8-4B94-93DB-380A1AC06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6A46E-9B69-4DAE-8B8B-23D1D6F6BA1F}" type="datetimeFigureOut">
              <a:rPr lang="en-AU" smtClean="0"/>
              <a:t>20/2/18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1E83A1D-E167-43BA-BBCD-2A3015D32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A59E973-8FEE-46B5-BA55-3836D2C8E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388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6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24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23.wmf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9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23.wmf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34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23.wmf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43.png"/><Relationship Id="rId5" Type="http://schemas.openxmlformats.org/officeDocument/2006/relationships/oleObject" Target="../embeddings/oleObject4.bin"/><Relationship Id="rId6" Type="http://schemas.openxmlformats.org/officeDocument/2006/relationships/image" Target="../media/image23.wmf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4" Type="http://schemas.openxmlformats.org/officeDocument/2006/relationships/image" Target="../media/image290.png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7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4" Type="http://schemas.openxmlformats.org/officeDocument/2006/relationships/image" Target="../media/image320.png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0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xmlns="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 smtClean="0">
                <a:solidFill>
                  <a:srgbClr val="7C7F91"/>
                </a:solidFill>
                <a:latin typeface="Kiwi School Handwriting" panose="00000500000000000000" pitchFamily="2" charset="0"/>
              </a:rPr>
              <a:t>Maths</a:t>
            </a:r>
            <a:r>
              <a:rPr lang="en-US" sz="3200" b="1" smtClean="0">
                <a:solidFill>
                  <a:srgbClr val="7C7F91"/>
                </a:solidFill>
                <a:latin typeface="Kiwi School Handwriting" panose="00000500000000000000" pitchFamily="2" charset="0"/>
              </a:rPr>
              <a:t> 10A</a:t>
            </a:r>
            <a:endParaRPr lang="en-US" sz="3200" b="1" dirty="0">
              <a:solidFill>
                <a:srgbClr val="7C7F91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xmlns="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 smtClean="0">
                <a:latin typeface="Kiwi School Handwriting" panose="00000500000000000000" pitchFamily="2" charset="0"/>
              </a:rPr>
              <a:t>Surds</a:t>
            </a:r>
            <a:br>
              <a:rPr lang="en-AU" b="1" dirty="0" smtClean="0">
                <a:latin typeface="Kiwi School Handwriting" panose="00000500000000000000" pitchFamily="2" charset="0"/>
              </a:rPr>
            </a:br>
            <a:r>
              <a:rPr lang="en-AU" b="1" dirty="0" smtClean="0">
                <a:latin typeface="Kiwi School Handwriting" panose="00000500000000000000" pitchFamily="2" charset="0"/>
              </a:rPr>
              <a:t>(I know, finally!!!)</a:t>
            </a:r>
            <a:endParaRPr lang="en-AU" b="1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94688" y="1663368"/>
            <a:ext cx="86807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Chalkduster" charset="0"/>
                <a:ea typeface="Chalkduster" charset="0"/>
                <a:cs typeface="Chalkduster" charset="0"/>
              </a:rPr>
              <a:t>Complete Learning Log for last Topic </a:t>
            </a:r>
            <a:r>
              <a:rPr lang="mr-IN" sz="3200" dirty="0">
                <a:latin typeface="Chalkduster" charset="0"/>
                <a:ea typeface="Chalkduster" charset="0"/>
                <a:cs typeface="Chalkduster" charset="0"/>
              </a:rPr>
              <a:t>–</a:t>
            </a:r>
            <a:r>
              <a:rPr lang="en-US" sz="3200" dirty="0">
                <a:latin typeface="Chalkduster" charset="0"/>
                <a:ea typeface="Chalkduster" charset="0"/>
                <a:cs typeface="Chalkduster" charset="0"/>
              </a:rPr>
              <a:t> Index Laws/Algebraic Fractions</a:t>
            </a:r>
            <a:endParaRPr lang="en-US" sz="3200" dirty="0">
              <a:latin typeface="Chalkduster" charset="0"/>
              <a:ea typeface="Chalkduster" charset="0"/>
              <a:cs typeface="Chalkdus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231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xmlns="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252" y="8118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xmlns="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41432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57112AE9-5545-418C-8488-4C5A364DCE26}"/>
              </a:ext>
            </a:extLst>
          </p:cNvPr>
          <p:cNvSpPr txBox="1"/>
          <p:nvPr/>
        </p:nvSpPr>
        <p:spPr>
          <a:xfrm>
            <a:off x="10468477" y="5987852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5510" y="1591767"/>
            <a:ext cx="1105110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200" dirty="0" smtClean="0"/>
              <a:t>To learn what a surd is and, equally important, what isn’t a surd</a:t>
            </a:r>
          </a:p>
          <a:p>
            <a:pPr marL="285750" indent="-285750">
              <a:buFont typeface="Arial" charset="0"/>
              <a:buChar char="•"/>
            </a:pPr>
            <a:endParaRPr lang="en-US" sz="3200" dirty="0" smtClean="0"/>
          </a:p>
          <a:p>
            <a:pPr marL="285750" indent="-285750">
              <a:buFont typeface="Arial" charset="0"/>
              <a:buChar char="•"/>
            </a:pPr>
            <a:r>
              <a:rPr lang="en-US" sz="3200" dirty="0" smtClean="0"/>
              <a:t>To further expand and solidify our mathematical vocabulary</a:t>
            </a:r>
          </a:p>
          <a:p>
            <a:pPr marL="285750" indent="-285750">
              <a:buFont typeface="Arial" charset="0"/>
              <a:buChar char="•"/>
            </a:pPr>
            <a:endParaRPr lang="en-US" sz="3200" dirty="0" smtClean="0"/>
          </a:p>
          <a:p>
            <a:pPr marL="285750" indent="-285750">
              <a:buFont typeface="Arial" charset="0"/>
              <a:buChar char="•"/>
            </a:pPr>
            <a:r>
              <a:rPr lang="en-US" sz="3200" dirty="0" smtClean="0"/>
              <a:t>To apply the four basic operations to surds</a:t>
            </a:r>
          </a:p>
          <a:p>
            <a:pPr marL="285750" indent="-285750">
              <a:buFont typeface="Arial" charset="0"/>
              <a:buChar char="•"/>
            </a:pPr>
            <a:endParaRPr lang="en-US" sz="3200" dirty="0" smtClean="0"/>
          </a:p>
          <a:p>
            <a:pPr marL="285750" indent="-285750">
              <a:buFont typeface="Arial" charset="0"/>
              <a:buChar char="•"/>
            </a:pPr>
            <a:r>
              <a:rPr lang="en-US" sz="3200" dirty="0" smtClean="0"/>
              <a:t>To be able to properly express surds mathematically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24065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08169" y="587296"/>
            <a:ext cx="2088232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altLang="en-US" sz="3600" b="1" dirty="0" smtClean="0">
                <a:latin typeface="Comic Sans MS" panose="030F0702030302020204" pitchFamily="66" charset="0"/>
              </a:rPr>
              <a:t>Starter</a:t>
            </a:r>
            <a:endParaRPr lang="en-GB" altLang="en-US" sz="3600" b="1" dirty="0">
              <a:latin typeface="Comic Sans MS" panose="030F0702030302020204" pitchFamily="66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7501" y="1492682"/>
            <a:ext cx="2382988" cy="515032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ounded Rectangle 20"/>
          <p:cNvSpPr/>
          <p:nvPr/>
        </p:nvSpPr>
        <p:spPr>
          <a:xfrm>
            <a:off x="4200054" y="1455911"/>
            <a:ext cx="2736304" cy="511508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ounded Rectangle 21"/>
          <p:cNvSpPr/>
          <p:nvPr/>
        </p:nvSpPr>
        <p:spPr>
          <a:xfrm>
            <a:off x="7608169" y="1492682"/>
            <a:ext cx="3384376" cy="507831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973806" y="1627414"/>
            <a:ext cx="196511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Comic Sans MS" pitchFamily="66" charset="0"/>
              </a:rPr>
              <a:t>2</a:t>
            </a:r>
            <a:r>
              <a:rPr lang="en-GB" sz="3600" baseline="30000" dirty="0">
                <a:latin typeface="Comic Sans MS" pitchFamily="66" charset="0"/>
              </a:rPr>
              <a:t>2</a:t>
            </a:r>
            <a:r>
              <a:rPr lang="en-GB" sz="3600" dirty="0">
                <a:latin typeface="Comic Sans MS" pitchFamily="66" charset="0"/>
              </a:rPr>
              <a:t> = </a:t>
            </a:r>
          </a:p>
          <a:p>
            <a:endParaRPr lang="en-US" sz="3600" dirty="0">
              <a:latin typeface="Comic Sans MS" pitchFamily="66" charset="0"/>
            </a:endParaRPr>
          </a:p>
          <a:p>
            <a:r>
              <a:rPr lang="en-US" sz="3600" dirty="0">
                <a:latin typeface="Comic Sans MS" pitchFamily="66" charset="0"/>
              </a:rPr>
              <a:t>5</a:t>
            </a:r>
            <a:r>
              <a:rPr lang="en-US" sz="3600" baseline="30000" dirty="0">
                <a:latin typeface="Comic Sans MS" pitchFamily="66" charset="0"/>
              </a:rPr>
              <a:t>2</a:t>
            </a:r>
            <a:r>
              <a:rPr lang="en-US" sz="3600" dirty="0">
                <a:latin typeface="Comic Sans MS" pitchFamily="66" charset="0"/>
              </a:rPr>
              <a:t> = </a:t>
            </a:r>
          </a:p>
          <a:p>
            <a:endParaRPr lang="en-US" sz="3600" dirty="0">
              <a:latin typeface="Comic Sans MS" pitchFamily="66" charset="0"/>
            </a:endParaRPr>
          </a:p>
          <a:p>
            <a:r>
              <a:rPr lang="en-US" sz="3600" dirty="0">
                <a:latin typeface="Comic Sans MS" pitchFamily="66" charset="0"/>
              </a:rPr>
              <a:t>9</a:t>
            </a:r>
            <a:r>
              <a:rPr lang="en-US" sz="3600" baseline="30000" dirty="0">
                <a:latin typeface="Comic Sans MS" pitchFamily="66" charset="0"/>
              </a:rPr>
              <a:t>2</a:t>
            </a:r>
            <a:r>
              <a:rPr lang="en-US" sz="3600" dirty="0">
                <a:latin typeface="Comic Sans MS" pitchFamily="66" charset="0"/>
              </a:rPr>
              <a:t> = </a:t>
            </a:r>
          </a:p>
          <a:p>
            <a:endParaRPr lang="en-US" sz="3600" dirty="0">
              <a:latin typeface="Comic Sans MS" pitchFamily="66" charset="0"/>
            </a:endParaRPr>
          </a:p>
          <a:p>
            <a:r>
              <a:rPr lang="en-US" sz="3600" dirty="0">
                <a:latin typeface="Comic Sans MS" pitchFamily="66" charset="0"/>
              </a:rPr>
              <a:t>4</a:t>
            </a:r>
            <a:r>
              <a:rPr lang="en-US" sz="3600" baseline="30000" dirty="0">
                <a:latin typeface="Comic Sans MS" pitchFamily="66" charset="0"/>
              </a:rPr>
              <a:t>2</a:t>
            </a:r>
            <a:r>
              <a:rPr lang="en-US" sz="3600" dirty="0">
                <a:latin typeface="Comic Sans MS" pitchFamily="66" charset="0"/>
              </a:rPr>
              <a:t> = </a:t>
            </a:r>
          </a:p>
          <a:p>
            <a:endParaRPr lang="en-US" sz="3600" dirty="0">
              <a:latin typeface="Comic Sans MS" pitchFamily="66" charset="0"/>
            </a:endParaRPr>
          </a:p>
          <a:p>
            <a:r>
              <a:rPr lang="en-US" sz="3600" dirty="0">
                <a:latin typeface="Comic Sans MS" pitchFamily="66" charset="0"/>
              </a:rPr>
              <a:t>11</a:t>
            </a:r>
            <a:r>
              <a:rPr lang="en-US" sz="3600" baseline="30000" dirty="0">
                <a:latin typeface="Comic Sans MS" pitchFamily="66" charset="0"/>
              </a:rPr>
              <a:t>2</a:t>
            </a:r>
            <a:r>
              <a:rPr lang="en-US" sz="3600" dirty="0">
                <a:latin typeface="Comic Sans MS" pitchFamily="66" charset="0"/>
              </a:rPr>
              <a:t> =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4093" y="764705"/>
            <a:ext cx="3449660" cy="48837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529703" y="747627"/>
            <a:ext cx="3024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smtClean="0">
                <a:latin typeface="Comic Sans MS" pitchFamily="66" charset="0"/>
              </a:rPr>
              <a:t>LHS of INB</a:t>
            </a:r>
            <a:endParaRPr lang="en-GB" sz="3200" dirty="0">
              <a:latin typeface="Comic Sans MS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4447309" y="1696904"/>
                <a:ext cx="1965115" cy="475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2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3200" i="1">
                            <a:latin typeface="Cambria Math"/>
                          </a:rPr>
                          <m:t>81</m:t>
                        </m:r>
                      </m:e>
                    </m:rad>
                  </m:oMath>
                </a14:m>
                <a:r>
                  <a:rPr lang="en-GB" sz="3200" dirty="0">
                    <a:latin typeface="Comic Sans MS" pitchFamily="66" charset="0"/>
                  </a:rPr>
                  <a:t> =  </a:t>
                </a:r>
              </a:p>
              <a:p>
                <a:endParaRPr lang="en-US" sz="3200" dirty="0">
                  <a:latin typeface="Comic Sans MS" pitchFamily="66" charset="0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2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3200" i="1">
                            <a:latin typeface="Cambria Math"/>
                          </a:rPr>
                          <m:t>64</m:t>
                        </m:r>
                      </m:e>
                    </m:rad>
                  </m:oMath>
                </a14:m>
                <a:r>
                  <a:rPr lang="en-GB" sz="3200" dirty="0">
                    <a:latin typeface="Comic Sans MS" pitchFamily="66" charset="0"/>
                  </a:rPr>
                  <a:t> =  </a:t>
                </a:r>
              </a:p>
              <a:p>
                <a:endParaRPr lang="en-US" sz="3200" dirty="0">
                  <a:latin typeface="Comic Sans MS" pitchFamily="66" charset="0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2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3200" i="1">
                            <a:latin typeface="Cambria Math"/>
                          </a:rPr>
                          <m:t>36</m:t>
                        </m:r>
                      </m:e>
                    </m:rad>
                  </m:oMath>
                </a14:m>
                <a:r>
                  <a:rPr lang="en-GB" sz="3200" dirty="0">
                    <a:latin typeface="Comic Sans MS" pitchFamily="66" charset="0"/>
                  </a:rPr>
                  <a:t> =  </a:t>
                </a:r>
                <a:endParaRPr lang="en-US" sz="3200" dirty="0">
                  <a:latin typeface="Comic Sans MS" pitchFamily="66" charset="0"/>
                </a:endParaRPr>
              </a:p>
              <a:p>
                <a:endParaRPr lang="en-US" sz="3200" dirty="0">
                  <a:latin typeface="Comic Sans MS" pitchFamily="66" charset="0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2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3200" i="1">
                            <a:latin typeface="Cambria Math"/>
                          </a:rPr>
                          <m:t>4</m:t>
                        </m:r>
                      </m:e>
                    </m:rad>
                  </m:oMath>
                </a14:m>
                <a:r>
                  <a:rPr lang="en-GB" sz="3200" dirty="0">
                    <a:latin typeface="Comic Sans MS" pitchFamily="66" charset="0"/>
                  </a:rPr>
                  <a:t> =  </a:t>
                </a:r>
              </a:p>
              <a:p>
                <a:endParaRPr lang="en-US" sz="3200" dirty="0">
                  <a:latin typeface="Comic Sans MS" pitchFamily="66" charset="0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2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3200" i="1">
                            <a:latin typeface="Cambria Math"/>
                          </a:rPr>
                          <m:t>100</m:t>
                        </m:r>
                      </m:e>
                    </m:rad>
                  </m:oMath>
                </a14:m>
                <a:r>
                  <a:rPr lang="en-GB" sz="3200" dirty="0">
                    <a:latin typeface="Comic Sans MS" pitchFamily="66" charset="0"/>
                  </a:rPr>
                  <a:t> =  </a:t>
                </a: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309" y="1696904"/>
                <a:ext cx="1965115" cy="4756430"/>
              </a:xfrm>
              <a:prstGeom prst="rect">
                <a:avLst/>
              </a:prstGeom>
              <a:blipFill rotWithShape="0">
                <a:blip r:embed="rId2"/>
                <a:stretch>
                  <a:fillRect t="-640" b="-3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://2.bp.blogspot.com/_xjcwwA-nj8k/THsQNywhyYI/AAAAAAAAAvU/ifMcN2Eipjc/s320/calc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691" y="551898"/>
            <a:ext cx="843460" cy="831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7803294" y="1719346"/>
                <a:ext cx="3189251" cy="475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2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3200" i="1">
                            <a:latin typeface="Cambria Math"/>
                          </a:rPr>
                          <m:t>81</m:t>
                        </m:r>
                      </m:e>
                    </m:rad>
                  </m:oMath>
                </a14:m>
                <a:r>
                  <a:rPr lang="en-GB" sz="3200" dirty="0">
                    <a:latin typeface="Comic Sans MS" pitchFamily="66" charset="0"/>
                  </a:rPr>
                  <a:t> x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2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3200" i="1">
                            <a:latin typeface="Cambria Math"/>
                          </a:rPr>
                          <m:t>81</m:t>
                        </m:r>
                      </m:e>
                    </m:rad>
                    <m:r>
                      <a:rPr lang="en-US" sz="3200" i="1">
                        <a:latin typeface="Cambria Math"/>
                      </a:rPr>
                      <m:t> </m:t>
                    </m:r>
                  </m:oMath>
                </a14:m>
                <a:r>
                  <a:rPr lang="en-GB" sz="3200" dirty="0">
                    <a:latin typeface="Comic Sans MS" pitchFamily="66" charset="0"/>
                  </a:rPr>
                  <a:t> =  </a:t>
                </a:r>
              </a:p>
              <a:p>
                <a:endParaRPr lang="en-US" sz="3200" dirty="0">
                  <a:latin typeface="Comic Sans MS" pitchFamily="66" charset="0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2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3200" i="1">
                            <a:latin typeface="Cambria Math"/>
                          </a:rPr>
                          <m:t>64</m:t>
                        </m:r>
                      </m:e>
                    </m:rad>
                  </m:oMath>
                </a14:m>
                <a:r>
                  <a:rPr lang="en-GB" sz="3200" dirty="0">
                    <a:latin typeface="Comic Sans MS" pitchFamily="66" charset="0"/>
                  </a:rPr>
                  <a:t> </a:t>
                </a:r>
                <a:r>
                  <a:rPr lang="en-GB" sz="3200" dirty="0">
                    <a:latin typeface="Comic Sans MS" pitchFamily="66" charset="0"/>
                  </a:rPr>
                  <a:t>x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2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3200" i="1">
                            <a:latin typeface="Cambria Math"/>
                          </a:rPr>
                          <m:t>64</m:t>
                        </m:r>
                      </m:e>
                    </m:rad>
                    <m:r>
                      <a:rPr lang="en-US" sz="3200" i="1">
                        <a:latin typeface="Cambria Math"/>
                      </a:rPr>
                      <m:t> </m:t>
                    </m:r>
                  </m:oMath>
                </a14:m>
                <a:r>
                  <a:rPr lang="en-GB" sz="3200" dirty="0">
                    <a:latin typeface="Comic Sans MS" pitchFamily="66" charset="0"/>
                  </a:rPr>
                  <a:t> =  </a:t>
                </a:r>
                <a:endParaRPr lang="en-GB" sz="3200" dirty="0">
                  <a:latin typeface="Comic Sans MS" pitchFamily="66" charset="0"/>
                </a:endParaRPr>
              </a:p>
              <a:p>
                <a:endParaRPr lang="en-US" sz="3200" dirty="0">
                  <a:latin typeface="Comic Sans MS" pitchFamily="66" charset="0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2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3200" i="1">
                            <a:latin typeface="Cambria Math"/>
                          </a:rPr>
                          <m:t>20</m:t>
                        </m:r>
                      </m:e>
                    </m:rad>
                  </m:oMath>
                </a14:m>
                <a:r>
                  <a:rPr lang="en-GB" sz="3200" dirty="0">
                    <a:latin typeface="Comic Sans MS" pitchFamily="66" charset="0"/>
                  </a:rPr>
                  <a:t> </a:t>
                </a:r>
                <a:r>
                  <a:rPr lang="en-GB" sz="3200" dirty="0">
                    <a:latin typeface="Comic Sans MS" pitchFamily="66" charset="0"/>
                  </a:rPr>
                  <a:t>x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2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3200" i="1">
                            <a:latin typeface="Cambria Math"/>
                          </a:rPr>
                          <m:t>20</m:t>
                        </m:r>
                      </m:e>
                    </m:rad>
                    <m:r>
                      <a:rPr lang="en-US" sz="3200" i="1">
                        <a:latin typeface="Cambria Math"/>
                      </a:rPr>
                      <m:t> </m:t>
                    </m:r>
                  </m:oMath>
                </a14:m>
                <a:r>
                  <a:rPr lang="en-GB" sz="3200" dirty="0">
                    <a:latin typeface="Comic Sans MS" pitchFamily="66" charset="0"/>
                  </a:rPr>
                  <a:t> =  </a:t>
                </a:r>
                <a:endParaRPr lang="en-US" sz="3200" dirty="0">
                  <a:latin typeface="Comic Sans MS" pitchFamily="66" charset="0"/>
                </a:endParaRPr>
              </a:p>
              <a:p>
                <a:endParaRPr lang="en-US" sz="3200" dirty="0">
                  <a:latin typeface="Comic Sans MS" pitchFamily="66" charset="0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2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3200" i="1">
                            <a:latin typeface="Cambria Math"/>
                          </a:rPr>
                          <m:t>5</m:t>
                        </m:r>
                      </m:e>
                    </m:rad>
                  </m:oMath>
                </a14:m>
                <a:r>
                  <a:rPr lang="en-GB" sz="3200" dirty="0">
                    <a:latin typeface="Comic Sans MS" pitchFamily="66" charset="0"/>
                  </a:rPr>
                  <a:t> </a:t>
                </a:r>
                <a:r>
                  <a:rPr lang="en-GB" sz="3200" dirty="0">
                    <a:latin typeface="Comic Sans MS" pitchFamily="66" charset="0"/>
                  </a:rPr>
                  <a:t>x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2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3200" i="1">
                            <a:latin typeface="Cambria Math"/>
                          </a:rPr>
                          <m:t>5</m:t>
                        </m:r>
                      </m:e>
                    </m:rad>
                    <m:r>
                      <a:rPr lang="en-US" sz="3200" i="1">
                        <a:latin typeface="Cambria Math"/>
                      </a:rPr>
                      <m:t> </m:t>
                    </m:r>
                  </m:oMath>
                </a14:m>
                <a:r>
                  <a:rPr lang="en-GB" sz="3200" dirty="0">
                    <a:latin typeface="Comic Sans MS" pitchFamily="66" charset="0"/>
                  </a:rPr>
                  <a:t> =  </a:t>
                </a:r>
                <a:endParaRPr lang="en-GB" sz="3200" dirty="0">
                  <a:latin typeface="Comic Sans MS" pitchFamily="66" charset="0"/>
                </a:endParaRPr>
              </a:p>
              <a:p>
                <a:endParaRPr lang="en-US" sz="3200" dirty="0">
                  <a:latin typeface="Comic Sans MS" pitchFamily="66" charset="0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2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3200" i="1">
                            <a:latin typeface="Cambria Math"/>
                          </a:rPr>
                          <m:t>43</m:t>
                        </m:r>
                      </m:e>
                    </m:rad>
                  </m:oMath>
                </a14:m>
                <a:r>
                  <a:rPr lang="en-GB" sz="3200" dirty="0">
                    <a:latin typeface="Comic Sans MS" pitchFamily="66" charset="0"/>
                  </a:rPr>
                  <a:t> </a:t>
                </a:r>
                <a:r>
                  <a:rPr lang="en-GB" sz="3200" dirty="0">
                    <a:latin typeface="Comic Sans MS" pitchFamily="66" charset="0"/>
                  </a:rPr>
                  <a:t>x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2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3200" i="1">
                            <a:latin typeface="Cambria Math"/>
                          </a:rPr>
                          <m:t>43</m:t>
                        </m:r>
                      </m:e>
                    </m:rad>
                    <m:r>
                      <a:rPr lang="en-US" sz="3200" i="1">
                        <a:latin typeface="Cambria Math"/>
                      </a:rPr>
                      <m:t> </m:t>
                    </m:r>
                  </m:oMath>
                </a14:m>
                <a:r>
                  <a:rPr lang="en-GB" sz="3200" dirty="0">
                    <a:latin typeface="Comic Sans MS" pitchFamily="66" charset="0"/>
                  </a:rPr>
                  <a:t> =  </a:t>
                </a:r>
                <a:endParaRPr lang="en-GB" sz="32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3294" y="1719346"/>
                <a:ext cx="3189251" cy="4756430"/>
              </a:xfrm>
              <a:prstGeom prst="rect">
                <a:avLst/>
              </a:prstGeom>
              <a:blipFill rotWithShape="0">
                <a:blip r:embed="rId4"/>
                <a:stretch>
                  <a:fillRect t="-641" b="-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2179893" y="1623746"/>
            <a:ext cx="11730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itchFamily="66" charset="0"/>
              </a:rPr>
              <a:t>4</a:t>
            </a:r>
          </a:p>
          <a:p>
            <a:endParaRPr lang="en-US" sz="3600" b="1" dirty="0">
              <a:solidFill>
                <a:srgbClr val="FF0000"/>
              </a:solidFill>
              <a:latin typeface="Comic Sans MS" pitchFamily="66" charset="0"/>
            </a:endParaRPr>
          </a:p>
          <a:p>
            <a:r>
              <a:rPr lang="en-US" sz="3600" b="1" dirty="0">
                <a:solidFill>
                  <a:srgbClr val="FF0000"/>
                </a:solidFill>
                <a:latin typeface="Comic Sans MS" pitchFamily="66" charset="0"/>
              </a:rPr>
              <a:t>25</a:t>
            </a:r>
          </a:p>
          <a:p>
            <a:endParaRPr lang="en-US" sz="3600" b="1" dirty="0">
              <a:solidFill>
                <a:srgbClr val="FF0000"/>
              </a:solidFill>
              <a:latin typeface="Comic Sans MS" pitchFamily="66" charset="0"/>
            </a:endParaRPr>
          </a:p>
          <a:p>
            <a:r>
              <a:rPr lang="en-US" sz="3600" b="1" dirty="0">
                <a:solidFill>
                  <a:srgbClr val="FF0000"/>
                </a:solidFill>
                <a:latin typeface="Comic Sans MS" pitchFamily="66" charset="0"/>
              </a:rPr>
              <a:t>81</a:t>
            </a:r>
          </a:p>
          <a:p>
            <a:endParaRPr lang="en-US" sz="3600" b="1" dirty="0">
              <a:solidFill>
                <a:srgbClr val="FF0000"/>
              </a:solidFill>
              <a:latin typeface="Comic Sans MS" pitchFamily="66" charset="0"/>
            </a:endParaRPr>
          </a:p>
          <a:p>
            <a:r>
              <a:rPr lang="en-US" sz="3600" b="1" dirty="0">
                <a:solidFill>
                  <a:srgbClr val="FF0000"/>
                </a:solidFill>
                <a:latin typeface="Comic Sans MS" pitchFamily="66" charset="0"/>
              </a:rPr>
              <a:t>16</a:t>
            </a:r>
          </a:p>
          <a:p>
            <a:endParaRPr lang="en-US" sz="3600" b="1" dirty="0">
              <a:solidFill>
                <a:srgbClr val="FF0000"/>
              </a:solidFill>
              <a:latin typeface="Comic Sans MS" pitchFamily="66" charset="0"/>
            </a:endParaRPr>
          </a:p>
          <a:p>
            <a:r>
              <a:rPr lang="en-US" sz="3600" b="1" dirty="0">
                <a:solidFill>
                  <a:srgbClr val="FF0000"/>
                </a:solidFill>
                <a:latin typeface="Comic Sans MS" pitchFamily="66" charset="0"/>
              </a:rPr>
              <a:t>121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13901" y="1674462"/>
            <a:ext cx="117302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9</a:t>
            </a:r>
          </a:p>
          <a:p>
            <a:endParaRPr lang="en-US" sz="3400" b="1" dirty="0">
              <a:solidFill>
                <a:schemeClr val="accent6">
                  <a:lumMod val="75000"/>
                </a:schemeClr>
              </a:solidFill>
              <a:latin typeface="Comic Sans MS" pitchFamily="66" charset="0"/>
            </a:endParaRPr>
          </a:p>
          <a:p>
            <a:r>
              <a:rPr lang="en-US" sz="3400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8</a:t>
            </a:r>
          </a:p>
          <a:p>
            <a:endParaRPr lang="en-US" sz="3400" b="1" dirty="0">
              <a:solidFill>
                <a:schemeClr val="accent6">
                  <a:lumMod val="75000"/>
                </a:schemeClr>
              </a:solidFill>
              <a:latin typeface="Comic Sans MS" pitchFamily="66" charset="0"/>
            </a:endParaRPr>
          </a:p>
          <a:p>
            <a:r>
              <a:rPr lang="en-US" sz="3400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6</a:t>
            </a:r>
          </a:p>
          <a:p>
            <a:endParaRPr lang="en-US" sz="3400" b="1" dirty="0">
              <a:solidFill>
                <a:schemeClr val="accent6">
                  <a:lumMod val="75000"/>
                </a:schemeClr>
              </a:solidFill>
              <a:latin typeface="Comic Sans MS" pitchFamily="66" charset="0"/>
            </a:endParaRPr>
          </a:p>
          <a:p>
            <a:r>
              <a:rPr lang="en-US" sz="3400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2</a:t>
            </a:r>
          </a:p>
          <a:p>
            <a:endParaRPr lang="en-US" sz="3400" b="1" dirty="0">
              <a:solidFill>
                <a:schemeClr val="accent6">
                  <a:lumMod val="75000"/>
                </a:schemeClr>
              </a:solidFill>
              <a:latin typeface="Comic Sans MS" pitchFamily="66" charset="0"/>
            </a:endParaRPr>
          </a:p>
          <a:p>
            <a:r>
              <a:rPr lang="en-US" sz="3400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72870" y="1759617"/>
            <a:ext cx="117302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>
                <a:solidFill>
                  <a:srgbClr val="00B050"/>
                </a:solidFill>
                <a:latin typeface="Comic Sans MS" pitchFamily="66" charset="0"/>
              </a:rPr>
              <a:t>81</a:t>
            </a:r>
          </a:p>
          <a:p>
            <a:endParaRPr lang="en-US" sz="3400" b="1" dirty="0">
              <a:solidFill>
                <a:srgbClr val="00B050"/>
              </a:solidFill>
              <a:latin typeface="Comic Sans MS" pitchFamily="66" charset="0"/>
            </a:endParaRPr>
          </a:p>
          <a:p>
            <a:r>
              <a:rPr lang="en-US" sz="3400" b="1" dirty="0">
                <a:solidFill>
                  <a:srgbClr val="00B050"/>
                </a:solidFill>
                <a:latin typeface="Comic Sans MS" pitchFamily="66" charset="0"/>
              </a:rPr>
              <a:t>64</a:t>
            </a:r>
          </a:p>
          <a:p>
            <a:endParaRPr lang="en-US" sz="3400" b="1" dirty="0">
              <a:solidFill>
                <a:srgbClr val="00B050"/>
              </a:solidFill>
              <a:latin typeface="Comic Sans MS" pitchFamily="66" charset="0"/>
            </a:endParaRPr>
          </a:p>
          <a:p>
            <a:r>
              <a:rPr lang="en-US" sz="3400" b="1" dirty="0">
                <a:solidFill>
                  <a:srgbClr val="00B050"/>
                </a:solidFill>
                <a:latin typeface="Comic Sans MS" pitchFamily="66" charset="0"/>
              </a:rPr>
              <a:t>20</a:t>
            </a:r>
          </a:p>
          <a:p>
            <a:endParaRPr lang="en-US" sz="3400" b="1" dirty="0">
              <a:solidFill>
                <a:srgbClr val="00B050"/>
              </a:solidFill>
              <a:latin typeface="Comic Sans MS" pitchFamily="66" charset="0"/>
            </a:endParaRPr>
          </a:p>
          <a:p>
            <a:r>
              <a:rPr lang="en-US" sz="3400" b="1" dirty="0">
                <a:solidFill>
                  <a:srgbClr val="00B050"/>
                </a:solidFill>
                <a:latin typeface="Comic Sans MS" pitchFamily="66" charset="0"/>
              </a:rPr>
              <a:t>5</a:t>
            </a:r>
          </a:p>
          <a:p>
            <a:endParaRPr lang="en-US" sz="3400" b="1" dirty="0">
              <a:solidFill>
                <a:srgbClr val="00B050"/>
              </a:solidFill>
              <a:latin typeface="Comic Sans MS" pitchFamily="66" charset="0"/>
            </a:endParaRPr>
          </a:p>
          <a:p>
            <a:r>
              <a:rPr lang="en-US" sz="3400" b="1" dirty="0">
                <a:solidFill>
                  <a:srgbClr val="00B050"/>
                </a:solidFill>
                <a:latin typeface="Comic Sans MS" pitchFamily="66" charset="0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71452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344362" y="1451148"/>
            <a:ext cx="50798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Surds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surds and what are some key properties of them?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88" y="1581814"/>
            <a:ext cx="1439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halkduster" charset="0"/>
                <a:ea typeface="Chalkduster" charset="0"/>
                <a:cs typeface="Chalkduster" charset="0"/>
              </a:rPr>
              <a:t>First, a</a:t>
            </a:r>
          </a:p>
          <a:p>
            <a:r>
              <a:rPr lang="en-US" sz="2400" dirty="0" smtClean="0">
                <a:latin typeface="Chalkduster" charset="0"/>
                <a:ea typeface="Chalkduster" charset="0"/>
                <a:cs typeface="Chalkduster" charset="0"/>
              </a:rPr>
              <a:t>review:</a:t>
            </a:r>
            <a:endParaRPr lang="en-US" sz="2400" dirty="0">
              <a:latin typeface="Chalkduster" charset="0"/>
              <a:ea typeface="Chalkduster" charset="0"/>
              <a:cs typeface="Chalkduster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41173" y="55559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763" y="1518678"/>
            <a:ext cx="9657923" cy="527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547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313186" y="1451149"/>
            <a:ext cx="50798" cy="5449137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Surds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surds and what are some key properties of them?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41173" y="55559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-64802" y="1581814"/>
            <a:ext cx="13287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Rational</a:t>
            </a:r>
          </a:p>
          <a:p>
            <a:r>
              <a:rPr lang="en-US" sz="2400" dirty="0" smtClean="0"/>
              <a:t>Numbers</a:t>
            </a:r>
            <a:endParaRPr lang="en-US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-34815" y="2602446"/>
            <a:ext cx="13299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Irrational</a:t>
            </a:r>
          </a:p>
          <a:p>
            <a:r>
              <a:rPr lang="en-US" sz="2400" dirty="0" smtClean="0"/>
              <a:t>Numbers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1453660" y="1583473"/>
                <a:ext cx="10686002" cy="9862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A rational number (</a:t>
                </a:r>
                <a:r>
                  <a:rPr lang="en-US" sz="2400" i="1" dirty="0" smtClean="0"/>
                  <a:t>ratio</a:t>
                </a:r>
                <a:r>
                  <a:rPr lang="en-US" sz="2400" dirty="0" smtClean="0"/>
                  <a:t>-</a:t>
                </a:r>
                <a:r>
                  <a:rPr lang="en-US" sz="2400" dirty="0" err="1" smtClean="0"/>
                  <a:t>nal</a:t>
                </a:r>
                <a:r>
                  <a:rPr lang="en-US" sz="2400" dirty="0" smtClean="0"/>
                  <a:t>) is a number that can be expressed as a ratio of </a:t>
                </a:r>
              </a:p>
              <a:p>
                <a:r>
                  <a:rPr lang="en-US" sz="2400" dirty="0" smtClean="0"/>
                  <a:t>two whole numbers in the form: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i="1" smtClean="0"/>
                        </m:ctrlPr>
                      </m:fPr>
                      <m:num>
                        <m:r>
                          <a:rPr lang="en-CA" sz="2400" b="0" i="1" smtClean="0"/>
                          <m:t>𝑎</m:t>
                        </m:r>
                      </m:num>
                      <m:den>
                        <m:r>
                          <a:rPr lang="en-CA" sz="2400" b="0" i="1" smtClean="0"/>
                          <m:t>𝑏</m:t>
                        </m:r>
                      </m:den>
                    </m:f>
                    <m:r>
                      <a:rPr lang="en-CA" sz="2400" b="0" i="0" smtClean="0"/>
                      <m:t>, </m:t>
                    </m:r>
                    <m:r>
                      <m:rPr>
                        <m:sty m:val="p"/>
                      </m:rPr>
                      <a:rPr lang="en-CA" sz="2400" b="0" i="0" smtClean="0"/>
                      <m:t>where</m:t>
                    </m:r>
                    <m:r>
                      <a:rPr lang="en-CA" sz="2400" b="0" i="0" smtClean="0"/>
                      <m:t> </m:t>
                    </m:r>
                    <m:r>
                      <m:rPr>
                        <m:sty m:val="p"/>
                      </m:rPr>
                      <a:rPr lang="en-CA" sz="2400" b="0" i="0" smtClean="0"/>
                      <m:t>b</m:t>
                    </m:r>
                    <m:r>
                      <a:rPr lang="en-CA" sz="2400" b="0" i="0" smtClean="0"/>
                      <m:t> </m:t>
                    </m:r>
                    <m:r>
                      <a:rPr lang="en-CA" sz="2400" b="0" i="1" smtClean="0">
                        <a:ea typeface="Cambria Math" charset="0"/>
                        <a:cs typeface="Cambria Math" charset="0"/>
                      </a:rPr>
                      <m:t>≠0</m:t>
                    </m:r>
                    <m:r>
                      <a:rPr lang="en-CA" sz="2400" b="0" i="0" smtClean="0"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 sz="2400" b="0" i="0" smtClean="0">
                        <a:ea typeface="Cambria Math" charset="0"/>
                        <a:cs typeface="Cambria Math" charset="0"/>
                      </a:rPr>
                      <m:t>Examples</m:t>
                    </m:r>
                    <m:r>
                      <a:rPr lang="en-CA" sz="2400" b="0" i="0" smtClean="0">
                        <a:ea typeface="Cambria Math" charset="0"/>
                        <a:cs typeface="Cambria Math" charset="0"/>
                      </a:rPr>
                      <m:t>: </m:t>
                    </m:r>
                    <m:f>
                      <m:fPr>
                        <m:ctrlPr>
                          <a:rPr lang="mr-IN" sz="2400" b="0" i="1" smtClean="0"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CA" sz="2400" b="0" i="1" smtClean="0">
                            <a:ea typeface="Cambria Math" charset="0"/>
                            <a:cs typeface="Cambria Math" charset="0"/>
                          </a:rPr>
                          <m:t>1</m:t>
                        </m:r>
                      </m:num>
                      <m:den>
                        <m:r>
                          <a:rPr lang="en-CA" sz="2400" b="0" i="1" smtClean="0">
                            <a:ea typeface="Cambria Math" charset="0"/>
                            <a:cs typeface="Cambria Math" charset="0"/>
                          </a:rPr>
                          <m:t>5</m:t>
                        </m:r>
                      </m:den>
                    </m:f>
                    <m:r>
                      <a:rPr lang="en-CA" sz="2400" b="0" i="1" smtClean="0">
                        <a:ea typeface="Cambria Math" charset="0"/>
                        <a:cs typeface="Cambria Math" charset="0"/>
                      </a:rPr>
                      <m:t>, </m:t>
                    </m:r>
                    <m:f>
                      <m:fPr>
                        <m:ctrlPr>
                          <a:rPr lang="mr-IN" sz="2400" b="0" i="1" smtClean="0"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CA" sz="2400" b="0" i="1" smtClean="0">
                            <a:ea typeface="Cambria Math" charset="0"/>
                            <a:cs typeface="Cambria Math" charset="0"/>
                          </a:rPr>
                          <m:t>2</m:t>
                        </m:r>
                      </m:num>
                      <m:den>
                        <m:r>
                          <a:rPr lang="en-CA" sz="2400" b="0" i="1" smtClean="0">
                            <a:ea typeface="Cambria Math" charset="0"/>
                            <a:cs typeface="Cambria Math" charset="0"/>
                          </a:rPr>
                          <m:t>7</m:t>
                        </m:r>
                      </m:den>
                    </m:f>
                    <m:r>
                      <a:rPr lang="en-CA" sz="2400" b="0" i="1" smtClean="0">
                        <a:ea typeface="Cambria Math" charset="0"/>
                        <a:cs typeface="Cambria Math" charset="0"/>
                      </a:rPr>
                      <m:t>, </m:t>
                    </m:r>
                    <m:f>
                      <m:fPr>
                        <m:ctrlPr>
                          <a:rPr lang="mr-IN" sz="2400" b="0" i="1" smtClean="0"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CA" sz="2400" b="0" i="1" smtClean="0">
                            <a:ea typeface="Cambria Math" charset="0"/>
                            <a:cs typeface="Cambria Math" charset="0"/>
                          </a:rPr>
                          <m:t>9</m:t>
                        </m:r>
                      </m:num>
                      <m:den>
                        <m:r>
                          <a:rPr lang="en-CA" sz="2400" b="0" i="1" smtClean="0">
                            <a:ea typeface="Cambria Math" charset="0"/>
                            <a:cs typeface="Cambria Math" charset="0"/>
                          </a:rPr>
                          <m:t>4</m:t>
                        </m:r>
                      </m:den>
                    </m:f>
                    <m:r>
                      <a:rPr lang="en-CA" sz="2400" b="0" i="1" smtClean="0">
                        <a:ea typeface="Cambria Math" charset="0"/>
                        <a:cs typeface="Cambria Math" charset="0"/>
                      </a:rPr>
                      <m:t>, 7, −6, 0.35, 1.</m:t>
                    </m:r>
                    <m:acc>
                      <m:accPr>
                        <m:chr m:val="̇"/>
                        <m:ctrlPr>
                          <a:rPr lang="en-CA" sz="2400" b="0" i="1" smtClean="0"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CA" sz="2400" b="0" i="1" smtClean="0">
                            <a:ea typeface="Cambria Math" charset="0"/>
                            <a:cs typeface="Cambria Math" charset="0"/>
                          </a:rPr>
                          <m:t>3</m:t>
                        </m:r>
                      </m:e>
                    </m:acc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3660" y="1583473"/>
                <a:ext cx="10686002" cy="986296"/>
              </a:xfrm>
              <a:prstGeom prst="rect">
                <a:avLst/>
              </a:prstGeom>
              <a:blipFill rotWithShape="0">
                <a:blip r:embed="rId3"/>
                <a:stretch>
                  <a:fillRect l="-856" t="-4938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-34815" y="4132978"/>
            <a:ext cx="14687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So, what </a:t>
            </a:r>
          </a:p>
          <a:p>
            <a:r>
              <a:rPr lang="en-US" sz="2400" dirty="0" smtClean="0"/>
              <a:t>are</a:t>
            </a:r>
            <a:r>
              <a:rPr lang="en-US" sz="2400" dirty="0"/>
              <a:t> </a:t>
            </a:r>
            <a:r>
              <a:rPr lang="en-US" sz="2400" dirty="0" smtClean="0"/>
              <a:t>surds?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1447688" y="2614447"/>
                <a:ext cx="10660607" cy="1050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An irrational number (</a:t>
                </a:r>
                <a:r>
                  <a:rPr lang="en-US" sz="2400" dirty="0" err="1" smtClean="0"/>
                  <a:t>ir</a:t>
                </a:r>
                <a:r>
                  <a:rPr lang="en-US" sz="2400" dirty="0" smtClean="0"/>
                  <a:t>-</a:t>
                </a:r>
                <a:r>
                  <a:rPr lang="en-US" sz="2400" i="1" dirty="0" smtClean="0"/>
                  <a:t>ratio</a:t>
                </a:r>
                <a:r>
                  <a:rPr lang="en-US" sz="2400" dirty="0" smtClean="0"/>
                  <a:t>-</a:t>
                </a:r>
                <a:r>
                  <a:rPr lang="en-US" sz="2400" dirty="0" err="1" smtClean="0"/>
                  <a:t>nal</a:t>
                </a:r>
                <a:r>
                  <a:rPr lang="en-US" sz="2400" dirty="0" smtClean="0"/>
                  <a:t>) is a number that </a:t>
                </a:r>
                <a:r>
                  <a:rPr lang="en-US" sz="2400" b="1" dirty="0" smtClean="0"/>
                  <a:t>cannot</a:t>
                </a:r>
                <a:r>
                  <a:rPr lang="en-US" sz="2400" dirty="0" smtClean="0"/>
                  <a:t> be expressed as a ratio of two whole numbers in the form: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sz="2400" b="0" i="1" smtClean="0">
                            <a:latin typeface="Cambria Math" charset="0"/>
                          </a:rPr>
                          <m:t>𝑎</m:t>
                        </m:r>
                      </m:num>
                      <m:den>
                        <m:r>
                          <a:rPr lang="en-CA" sz="2400" b="0" i="1" smtClean="0">
                            <a:latin typeface="Cambria Math" charset="0"/>
                          </a:rPr>
                          <m:t>𝑏</m:t>
                        </m:r>
                      </m:den>
                    </m:f>
                    <m:r>
                      <a:rPr lang="en-CA" sz="2400" b="0" i="0" smtClean="0">
                        <a:latin typeface="Cambria Math" charset="0"/>
                      </a:rPr>
                      <m:t>, </m:t>
                    </m:r>
                    <m:r>
                      <m:rPr>
                        <m:sty m:val="p"/>
                      </m:rPr>
                      <a:rPr lang="en-CA" sz="2400" b="0" i="0" smtClean="0">
                        <a:latin typeface="Cambria Math" charset="0"/>
                      </a:rPr>
                      <m:t>where</m:t>
                    </m:r>
                    <m:r>
                      <a:rPr lang="en-CA" sz="2400" b="0" i="0" smtClean="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 sz="2400" b="0" i="0" smtClean="0">
                        <a:latin typeface="Cambria Math" charset="0"/>
                      </a:rPr>
                      <m:t>b</m:t>
                    </m:r>
                    <m:r>
                      <a:rPr lang="en-CA" sz="2400" b="0" i="0" smtClean="0">
                        <a:latin typeface="Cambria Math" charset="0"/>
                      </a:rPr>
                      <m:t> </m:t>
                    </m:r>
                    <m:r>
                      <a:rPr lang="en-CA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≠0</m:t>
                    </m:r>
                    <m:r>
                      <a:rPr lang="en-CA" sz="24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 sz="24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Examples</m:t>
                    </m:r>
                    <m:r>
                      <a:rPr lang="en-CA" sz="24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: </m:t>
                    </m:r>
                    <m:rad>
                      <m:radPr>
                        <m:degHide m:val="on"/>
                        <m:ctrlPr>
                          <a:rPr lang="en-CA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radPr>
                      <m:deg/>
                      <m:e>
                        <m:r>
                          <a:rPr lang="en-CA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7</m:t>
                        </m:r>
                      </m:e>
                    </m:rad>
                    <m:r>
                      <a:rPr lang="en-CA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 </m:t>
                    </m:r>
                    <m:rad>
                      <m:radPr>
                        <m:degHide m:val="on"/>
                        <m:ctrlPr>
                          <a:rPr lang="en-CA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radPr>
                      <m:deg/>
                      <m:e>
                        <m:r>
                          <a:rPr lang="en-CA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13</m:t>
                        </m:r>
                      </m:e>
                    </m:rad>
                    <m:r>
                      <a:rPr lang="en-CA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 5</m:t>
                    </m:r>
                    <m:rad>
                      <m:radPr>
                        <m:degHide m:val="on"/>
                        <m:ctrlPr>
                          <a:rPr lang="en-CA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radPr>
                      <m:deg/>
                      <m:e>
                        <m:r>
                          <a:rPr lang="en-CA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21</m:t>
                        </m:r>
                      </m:e>
                    </m:rad>
                    <m:r>
                      <a:rPr lang="en-CA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 </m:t>
                    </m:r>
                    <m:f>
                      <m:fPr>
                        <m:ctrlPr>
                          <a:rPr lang="mr-IN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mr-IN" sz="24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radPr>
                          <m:deg/>
                          <m:e>
                            <m:r>
                              <a:rPr lang="en-CA" sz="24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CA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9</m:t>
                        </m:r>
                      </m:den>
                    </m:f>
                    <m:r>
                      <a:rPr lang="en-CA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 </m:t>
                    </m:r>
                    <m:r>
                      <a:rPr lang="en-CA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𝜋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688" y="2614447"/>
                <a:ext cx="10660607" cy="1050800"/>
              </a:xfrm>
              <a:prstGeom prst="rect">
                <a:avLst/>
              </a:prstGeom>
              <a:blipFill rotWithShape="0">
                <a:blip r:embed="rId4"/>
                <a:stretch>
                  <a:fillRect l="-858" t="-4651" r="-858" b="-5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1447688" y="4126937"/>
            <a:ext cx="10437066" cy="889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1646" tIns="40823" rIns="81646" bIns="40823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Arial Unicode MS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Arial Unicode MS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Arial Unicode MS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Arial Unicode MS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Arial Unicode MS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Arial Unicode MS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Arial Unicode MS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Arial Unicode MS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Arial Unicode MS" charset="0"/>
                <a:cs typeface="Arial Unicode MS" charset="0"/>
              </a:defRPr>
            </a:lvl9pPr>
          </a:lstStyle>
          <a:p>
            <a:r>
              <a:rPr lang="en-GB" altLang="x-none" sz="2400" dirty="0">
                <a:latin typeface="+mn-lt"/>
              </a:rPr>
              <a:t>A </a:t>
            </a:r>
            <a:r>
              <a:rPr lang="en-GB" altLang="x-none" sz="2400" b="1" dirty="0">
                <a:latin typeface="+mn-lt"/>
              </a:rPr>
              <a:t>surd</a:t>
            </a:r>
            <a:r>
              <a:rPr lang="en-GB" altLang="x-none" sz="2400" dirty="0">
                <a:latin typeface="+mn-lt"/>
              </a:rPr>
              <a:t> is </a:t>
            </a:r>
            <a:r>
              <a:rPr lang="en-GB" altLang="x-none" sz="2400" dirty="0" smtClean="0">
                <a:latin typeface="+mn-lt"/>
              </a:rPr>
              <a:t>an irrational number that is represented by a root sign or a radical sign. In other words, a surd is a </a:t>
            </a:r>
            <a:r>
              <a:rPr lang="en-GB" altLang="x-none" sz="2400" dirty="0">
                <a:latin typeface="+mn-lt"/>
              </a:rPr>
              <a:t>square root which cannot be reduced to a whole number.</a:t>
            </a:r>
          </a:p>
        </p:txBody>
      </p:sp>
      <p:sp>
        <p:nvSpPr>
          <p:cNvPr id="25" name="Text Box 6"/>
          <p:cNvSpPr txBox="1">
            <a:spLocks noChangeArrowheads="1"/>
          </p:cNvSpPr>
          <p:nvPr/>
        </p:nvSpPr>
        <p:spPr bwMode="auto">
          <a:xfrm>
            <a:off x="1447688" y="5026121"/>
            <a:ext cx="7737552" cy="1798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1646" tIns="40823" rIns="81646" bIns="40823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Arial Unicode MS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Arial Unicode MS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Arial Unicode MS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Arial Unicode MS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Arial Unicode MS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Arial Unicode MS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Arial Unicode MS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Arial Unicode MS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Arial Unicode MS" charset="0"/>
                <a:cs typeface="Arial Unicode MS" charset="0"/>
              </a:defRPr>
            </a:lvl9pPr>
          </a:lstStyle>
          <a:p>
            <a:r>
              <a:rPr lang="en-GB" altLang="x-none" sz="2400" u="sng" dirty="0">
                <a:latin typeface="+mn-lt"/>
              </a:rPr>
              <a:t>Examples</a:t>
            </a:r>
            <a:r>
              <a:rPr lang="en-GB" altLang="x-none" sz="2400" dirty="0">
                <a:latin typeface="+mn-lt"/>
              </a:rPr>
              <a:t>: </a:t>
            </a:r>
          </a:p>
          <a:p>
            <a:r>
              <a:rPr lang="en-GB" altLang="x-none" sz="2400" b="1" dirty="0">
                <a:latin typeface="+mn-lt"/>
                <a:ea typeface="Arial" charset="0"/>
                <a:cs typeface="Arial" charset="0"/>
              </a:rPr>
              <a:t>√2</a:t>
            </a:r>
            <a:r>
              <a:rPr lang="en-GB" altLang="x-none" sz="2400" dirty="0">
                <a:latin typeface="+mn-lt"/>
                <a:ea typeface="Arial" charset="0"/>
                <a:cs typeface="Arial" charset="0"/>
              </a:rPr>
              <a:t> is a surd. </a:t>
            </a:r>
          </a:p>
          <a:p>
            <a:r>
              <a:rPr lang="en-GB" altLang="x-none" sz="2400" b="1" dirty="0">
                <a:latin typeface="+mn-lt"/>
                <a:ea typeface="Arial" charset="0"/>
                <a:cs typeface="Arial" charset="0"/>
              </a:rPr>
              <a:t>√5</a:t>
            </a:r>
            <a:r>
              <a:rPr lang="en-GB" altLang="x-none" sz="2400" dirty="0">
                <a:latin typeface="+mn-lt"/>
                <a:ea typeface="Arial" charset="0"/>
                <a:cs typeface="Arial" charset="0"/>
              </a:rPr>
              <a:t> is a surd.</a:t>
            </a:r>
          </a:p>
          <a:p>
            <a:r>
              <a:rPr lang="en-GB" altLang="x-none" sz="2400" b="1" dirty="0">
                <a:latin typeface="+mn-lt"/>
                <a:ea typeface="Arial" charset="0"/>
                <a:cs typeface="Arial" charset="0"/>
              </a:rPr>
              <a:t>√81</a:t>
            </a:r>
            <a:r>
              <a:rPr lang="en-GB" altLang="x-none" sz="2400" dirty="0">
                <a:latin typeface="+mn-lt"/>
                <a:ea typeface="Arial" charset="0"/>
                <a:cs typeface="Arial" charset="0"/>
              </a:rPr>
              <a:t> </a:t>
            </a:r>
            <a:r>
              <a:rPr lang="en-GB" altLang="x-none" sz="2400" i="1" dirty="0">
                <a:latin typeface="+mn-lt"/>
                <a:ea typeface="Arial" charset="0"/>
                <a:cs typeface="Arial" charset="0"/>
              </a:rPr>
              <a:t>looks like</a:t>
            </a:r>
            <a:r>
              <a:rPr lang="en-GB" altLang="x-none" sz="2400" dirty="0">
                <a:latin typeface="+mn-lt"/>
                <a:ea typeface="Arial" charset="0"/>
                <a:cs typeface="Arial" charset="0"/>
              </a:rPr>
              <a:t> a surd, but isn't really...</a:t>
            </a:r>
          </a:p>
        </p:txBody>
      </p:sp>
    </p:spTree>
    <p:extLst>
      <p:ext uri="{BB962C8B-B14F-4D97-AF65-F5344CB8AC3E}">
        <p14:creationId xmlns:p14="http://schemas.microsoft.com/office/powerpoint/2010/main" val="124937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/>
      <p:bldP spid="19" grpId="0"/>
      <p:bldP spid="21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147317" y="1451149"/>
            <a:ext cx="50798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Surds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surds and what are some key properties of them?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41173" y="55559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729" y="1490915"/>
            <a:ext cx="10058400" cy="18013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729" y="3207020"/>
            <a:ext cx="5295900" cy="2146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629" y="3204252"/>
            <a:ext cx="5334000" cy="2095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729" y="5176006"/>
            <a:ext cx="5346700" cy="1498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429" y="5176000"/>
            <a:ext cx="53721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308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205557" y="1451149"/>
            <a:ext cx="50798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Surds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surds and what are some key properties of them?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41173" y="55559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692" y="1581814"/>
            <a:ext cx="10634444" cy="161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0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205557" y="1451149"/>
            <a:ext cx="50798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Surds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surds and what are some key properties of them?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41173" y="55559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724" y="1525279"/>
            <a:ext cx="8813800" cy="1257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849" y="2820623"/>
            <a:ext cx="3251200" cy="19685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904" y="4967101"/>
            <a:ext cx="10058400" cy="166035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173" y="2801257"/>
            <a:ext cx="643890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3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205557" y="1451149"/>
            <a:ext cx="50798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Surds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surds and what are some key properties of them?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41173" y="55559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724" y="1525279"/>
            <a:ext cx="8247380" cy="11764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412" y="2791758"/>
            <a:ext cx="9236820" cy="203020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670" y="5130132"/>
            <a:ext cx="9631291" cy="163912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53471" y="1628658"/>
            <a:ext cx="182588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halkduster" charset="0"/>
                <a:ea typeface="Chalkduster" charset="0"/>
                <a:cs typeface="Chalkduster" charset="0"/>
              </a:rPr>
              <a:t>Do e) and e)</a:t>
            </a:r>
          </a:p>
          <a:p>
            <a:r>
              <a:rPr lang="en-US" sz="2800" dirty="0" smtClean="0">
                <a:latin typeface="Chalkduster" charset="0"/>
                <a:ea typeface="Chalkduster" charset="0"/>
                <a:cs typeface="Chalkduster" charset="0"/>
              </a:rPr>
              <a:t>on your own!!!!</a:t>
            </a:r>
            <a:endParaRPr lang="en-US" sz="2800" dirty="0">
              <a:latin typeface="Chalkduster" charset="0"/>
              <a:ea typeface="Chalkduster" charset="0"/>
              <a:cs typeface="Chalkdus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68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87" y="547116"/>
            <a:ext cx="10955671" cy="303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76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28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508139" y="1451149"/>
            <a:ext cx="50798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Surds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surds and what are some key properties of them?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41173" y="55559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56" y="1475091"/>
            <a:ext cx="2978698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halkduster" charset="0"/>
                <a:ea typeface="Chalkduster" charset="0"/>
                <a:cs typeface="Chalkduster" charset="0"/>
              </a:rPr>
              <a:t>How to simplify surds</a:t>
            </a:r>
            <a:endParaRPr lang="en-US" sz="2400" dirty="0">
              <a:latin typeface="Chalkduster" charset="0"/>
              <a:ea typeface="Chalkduster" charset="0"/>
              <a:cs typeface="Chalkduster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309560" y="1810834"/>
            <a:ext cx="4728428" cy="46805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3480072" y="1954851"/>
            <a:ext cx="42693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omic Sans MS" pitchFamily="66" charset="0"/>
              </a:rPr>
              <a:t>How do we simplify surds?</a:t>
            </a:r>
            <a:endParaRPr lang="en-US" sz="2800" dirty="0">
              <a:latin typeface="Comic Sans MS" pitchFamily="66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54012" y="1581814"/>
            <a:ext cx="3780890" cy="490954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8352516" y="1904334"/>
                <a:ext cx="3357880" cy="7242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600" dirty="0">
                    <a:latin typeface="Comic Sans MS" pitchFamily="66" charset="0"/>
                  </a:rPr>
                  <a:t>Simplify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6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3600" i="1">
                            <a:latin typeface="Cambria Math"/>
                          </a:rPr>
                          <m:t>360</m:t>
                        </m:r>
                      </m:e>
                    </m:rad>
                  </m:oMath>
                </a14:m>
                <a:r>
                  <a:rPr lang="en-GB" sz="3600" dirty="0">
                    <a:latin typeface="Comic Sans MS" pitchFamily="66" charset="0"/>
                  </a:rPr>
                  <a:t> </a:t>
                </a:r>
                <a:endParaRPr lang="en-GB" sz="36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2516" y="1904334"/>
                <a:ext cx="3357880" cy="724237"/>
              </a:xfrm>
              <a:prstGeom prst="rect">
                <a:avLst/>
              </a:prstGeom>
              <a:blipFill rotWithShape="0">
                <a:blip r:embed="rId4"/>
                <a:stretch>
                  <a:fillRect l="-5445" t="-5042" b="-277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266093"/>
              </p:ext>
            </p:extLst>
          </p:nvPr>
        </p:nvGraphicFramePr>
        <p:xfrm>
          <a:off x="3429477" y="2916664"/>
          <a:ext cx="4242795" cy="6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Equation" r:id="rId5" imgW="1524000" imgH="228600" progId="Equation.3">
                  <p:embed/>
                </p:oleObj>
              </mc:Choice>
              <mc:Fallback>
                <p:oleObj name="Equation" r:id="rId5" imgW="1524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477" y="2916664"/>
                        <a:ext cx="4242795" cy="6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381568" y="3683043"/>
            <a:ext cx="4656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omic Sans MS" panose="030F0702030302020204" pitchFamily="66" charset="0"/>
              </a:rPr>
              <a:t>1. Look </a:t>
            </a:r>
            <a:r>
              <a:rPr lang="en-GB" sz="2800" dirty="0">
                <a:latin typeface="Comic Sans MS" panose="030F0702030302020204" pitchFamily="66" charset="0"/>
              </a:rPr>
              <a:t>for a </a:t>
            </a:r>
            <a:r>
              <a:rPr lang="en-GB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factor</a:t>
            </a:r>
            <a:r>
              <a:rPr lang="en-GB" sz="2800" dirty="0">
                <a:latin typeface="Comic Sans MS" panose="030F0702030302020204" pitchFamily="66" charset="0"/>
              </a:rPr>
              <a:t> that is a </a:t>
            </a:r>
            <a:r>
              <a:rPr lang="en-GB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square </a:t>
            </a:r>
            <a:r>
              <a:rPr lang="en-GB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number</a:t>
            </a:r>
            <a:r>
              <a:rPr lang="en-GB" sz="2800" dirty="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7468" y="4673152"/>
            <a:ext cx="4656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omic Sans MS" panose="030F0702030302020204" pitchFamily="66" charset="0"/>
              </a:rPr>
              <a:t>2. Use the rule to </a:t>
            </a:r>
            <a:r>
              <a:rPr lang="en-GB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split your square roots</a:t>
            </a:r>
            <a:r>
              <a:rPr lang="en-GB" sz="2800" dirty="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7468" y="5680102"/>
            <a:ext cx="4656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omic Sans MS" panose="030F0702030302020204" pitchFamily="66" charset="0"/>
              </a:rPr>
              <a:t>3. </a:t>
            </a:r>
            <a:r>
              <a:rPr lang="en-GB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Simplify</a:t>
            </a:r>
            <a:r>
              <a:rPr lang="en-GB" sz="2800" dirty="0">
                <a:latin typeface="Comic Sans MS" panose="030F0702030302020204" pitchFamily="66" charset="0"/>
              </a:rPr>
              <a:t> your answer.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8784564" y="2818947"/>
                <a:ext cx="3357880" cy="833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44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4400" i="1">
                            <a:latin typeface="Cambria Math"/>
                          </a:rPr>
                          <m:t>36</m:t>
                        </m:r>
                        <m:r>
                          <a:rPr lang="en-US" sz="4400" i="1">
                            <a:latin typeface="Cambria Math"/>
                            <a:ea typeface="Cambria Math"/>
                          </a:rPr>
                          <m:t>×10</m:t>
                        </m:r>
                      </m:e>
                    </m:rad>
                  </m:oMath>
                </a14:m>
                <a:r>
                  <a:rPr lang="en-GB" sz="4400" dirty="0">
                    <a:latin typeface="Comic Sans MS" pitchFamily="66" charset="0"/>
                  </a:rPr>
                  <a:t> </a:t>
                </a:r>
                <a:endParaRPr lang="en-GB" sz="44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4564" y="2818947"/>
                <a:ext cx="3357880" cy="83311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8614052" y="3711846"/>
                <a:ext cx="3357880" cy="8352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44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4400" i="1">
                            <a:latin typeface="Cambria Math"/>
                          </a:rPr>
                          <m:t>36</m:t>
                        </m:r>
                      </m:e>
                    </m:rad>
                  </m:oMath>
                </a14:m>
                <a:r>
                  <a:rPr lang="en-GB" sz="4400" dirty="0">
                    <a:latin typeface="Comic Sans MS" pitchFamily="66" charset="0"/>
                  </a:rPr>
                  <a:t> x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44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4400" i="1">
                            <a:latin typeface="Cambria Math"/>
                          </a:rPr>
                          <m:t>10</m:t>
                        </m:r>
                      </m:e>
                    </m:rad>
                  </m:oMath>
                </a14:m>
                <a:endParaRPr lang="en-GB" sz="44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052" y="3711846"/>
                <a:ext cx="3357880" cy="835293"/>
              </a:xfrm>
              <a:prstGeom prst="rect">
                <a:avLst/>
              </a:prstGeom>
              <a:blipFill rotWithShape="0">
                <a:blip r:embed="rId8"/>
                <a:stretch>
                  <a:fillRect t="-7299" b="-34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9288620" y="4503934"/>
                <a:ext cx="2277760" cy="8352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i="1">
                        <a:latin typeface="Cambria Math"/>
                      </a:rPr>
                      <m:t>6</m:t>
                    </m:r>
                  </m:oMath>
                </a14:m>
                <a:r>
                  <a:rPr lang="en-GB" sz="4400" dirty="0">
                    <a:latin typeface="Comic Sans MS" pitchFamily="66" charset="0"/>
                  </a:rPr>
                  <a:t> x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44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4400" i="1">
                            <a:latin typeface="Cambria Math"/>
                          </a:rPr>
                          <m:t>10</m:t>
                        </m:r>
                      </m:e>
                    </m:rad>
                  </m:oMath>
                </a14:m>
                <a:endParaRPr lang="en-GB" sz="44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8620" y="4503934"/>
                <a:ext cx="2277760" cy="835293"/>
              </a:xfrm>
              <a:prstGeom prst="rect">
                <a:avLst/>
              </a:prstGeom>
              <a:blipFill rotWithShape="0">
                <a:blip r:embed="rId9"/>
                <a:stretch>
                  <a:fillRect t="-7299" b="-34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9262124" y="5339227"/>
                <a:ext cx="2277760" cy="849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>
                          <a:solidFill>
                            <a:srgbClr val="FF0000"/>
                          </a:solidFill>
                          <a:latin typeface="Cambria Math"/>
                        </a:rPr>
                        <m:t>𝟔</m:t>
                      </m:r>
                      <m:rad>
                        <m:radPr>
                          <m:degHide m:val="on"/>
                          <m:ctrlPr>
                            <a:rPr lang="en-GB" sz="4400" b="1" i="1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4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𝟏𝟎</m:t>
                          </m:r>
                        </m:e>
                      </m:rad>
                    </m:oMath>
                  </m:oMathPara>
                </a14:m>
                <a:endParaRPr lang="en-GB" sz="4400" b="1" dirty="0">
                  <a:solidFill>
                    <a:srgbClr val="FF0000"/>
                  </a:solidFill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2124" y="5339227"/>
                <a:ext cx="2277760" cy="84907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8854" y="2709681"/>
            <a:ext cx="2458878" cy="120032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 smtClean="0">
                <a:ea typeface="Chalkduster" charset="0"/>
                <a:cs typeface="Chalkduster" charset="0"/>
              </a:rPr>
              <a:t>Remember this</a:t>
            </a:r>
          </a:p>
          <a:p>
            <a:r>
              <a:rPr lang="en-US" sz="2400" dirty="0" smtClean="0">
                <a:ea typeface="Chalkduster" charset="0"/>
                <a:cs typeface="Chalkduster" charset="0"/>
              </a:rPr>
              <a:t>general rule. We’ll</a:t>
            </a:r>
          </a:p>
          <a:p>
            <a:r>
              <a:rPr lang="en-US" sz="2400" dirty="0" smtClean="0">
                <a:ea typeface="Chalkduster" charset="0"/>
                <a:cs typeface="Chalkduster" charset="0"/>
              </a:rPr>
              <a:t>see it again soon!</a:t>
            </a:r>
            <a:endParaRPr lang="en-US" sz="2400" dirty="0">
              <a:ea typeface="Chalkduster" charset="0"/>
              <a:cs typeface="Chalkduster" charset="0"/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2537478" y="3142505"/>
            <a:ext cx="617099" cy="3346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96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5" grpId="0"/>
      <p:bldP spid="26" grpId="0"/>
      <p:bldP spid="27" grpId="0"/>
      <p:bldP spid="28" grpId="0"/>
      <p:bldP spid="29" grpId="0"/>
      <p:bldP spid="5" grpId="0" animBg="1"/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205557" y="1451149"/>
            <a:ext cx="50798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Surds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surds and what are some key properties of them?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41173" y="55559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1727612" y="1916832"/>
            <a:ext cx="4728428" cy="46805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1898124" y="2060849"/>
            <a:ext cx="42693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omic Sans MS" pitchFamily="66" charset="0"/>
              </a:rPr>
              <a:t>How do we simplify surds?</a:t>
            </a:r>
            <a:endParaRPr lang="en-US" sz="2800" dirty="0">
              <a:latin typeface="Comic Sans MS" pitchFamily="66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672064" y="1687812"/>
            <a:ext cx="3780890" cy="490954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770568" y="2010332"/>
                <a:ext cx="3357880" cy="698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600" dirty="0">
                    <a:latin typeface="Comic Sans MS" pitchFamily="66" charset="0"/>
                  </a:rPr>
                  <a:t>Simplify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6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3600" i="1">
                            <a:latin typeface="Cambria Math"/>
                          </a:rPr>
                          <m:t>200</m:t>
                        </m:r>
                      </m:e>
                    </m:rad>
                  </m:oMath>
                </a14:m>
                <a:r>
                  <a:rPr lang="en-GB" sz="3600" dirty="0">
                    <a:latin typeface="Comic Sans MS" pitchFamily="66" charset="0"/>
                  </a:rPr>
                  <a:t> </a:t>
                </a:r>
                <a:endParaRPr lang="en-GB" sz="36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0568" y="2010332"/>
                <a:ext cx="3357880" cy="698589"/>
              </a:xfrm>
              <a:prstGeom prst="rect">
                <a:avLst/>
              </a:prstGeom>
              <a:blipFill rotWithShape="0">
                <a:blip r:embed="rId4"/>
                <a:stretch>
                  <a:fillRect l="-5636" t="-614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492164"/>
              </p:ext>
            </p:extLst>
          </p:nvPr>
        </p:nvGraphicFramePr>
        <p:xfrm>
          <a:off x="1847529" y="3022662"/>
          <a:ext cx="4242795" cy="6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5" imgW="1524000" imgH="228600" progId="Equation.3">
                  <p:embed/>
                </p:oleObj>
              </mc:Choice>
              <mc:Fallback>
                <p:oleObj name="Equation" r:id="rId5" imgW="1524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9" y="3022662"/>
                        <a:ext cx="4242795" cy="6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799620" y="3789041"/>
            <a:ext cx="4656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omic Sans MS" panose="030F0702030302020204" pitchFamily="66" charset="0"/>
              </a:rPr>
              <a:t>1. Look </a:t>
            </a:r>
            <a:r>
              <a:rPr lang="en-GB" sz="2800" dirty="0">
                <a:latin typeface="Comic Sans MS" panose="030F0702030302020204" pitchFamily="66" charset="0"/>
              </a:rPr>
              <a:t>for a </a:t>
            </a:r>
            <a:r>
              <a:rPr lang="en-GB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factor</a:t>
            </a:r>
            <a:r>
              <a:rPr lang="en-GB" sz="2800" dirty="0">
                <a:latin typeface="Comic Sans MS" panose="030F0702030302020204" pitchFamily="66" charset="0"/>
              </a:rPr>
              <a:t> that is a </a:t>
            </a:r>
            <a:r>
              <a:rPr lang="en-GB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square </a:t>
            </a:r>
            <a:r>
              <a:rPr lang="en-GB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number</a:t>
            </a:r>
            <a:r>
              <a:rPr lang="en-GB" sz="2800" dirty="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5520" y="4779150"/>
            <a:ext cx="4656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omic Sans MS" panose="030F0702030302020204" pitchFamily="66" charset="0"/>
              </a:rPr>
              <a:t>2. Use the rule to </a:t>
            </a:r>
            <a:r>
              <a:rPr lang="en-GB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split your square roots</a:t>
            </a:r>
            <a:r>
              <a:rPr lang="en-GB" sz="2800" dirty="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5520" y="5786100"/>
            <a:ext cx="4656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omic Sans MS" panose="030F0702030302020204" pitchFamily="66" charset="0"/>
              </a:rPr>
              <a:t>3. </a:t>
            </a:r>
            <a:r>
              <a:rPr lang="en-GB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Simplify</a:t>
            </a:r>
            <a:r>
              <a:rPr lang="en-GB" sz="2800" dirty="0">
                <a:latin typeface="Comic Sans MS" panose="030F0702030302020204" pitchFamily="66" charset="0"/>
              </a:rPr>
              <a:t> your answer.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7202616" y="2924945"/>
                <a:ext cx="3357880" cy="833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44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4400" i="1">
                            <a:latin typeface="Cambria Math"/>
                          </a:rPr>
                          <m:t>100</m:t>
                        </m:r>
                        <m:r>
                          <a:rPr lang="en-US" sz="4400" i="1">
                            <a:latin typeface="Cambria Math"/>
                            <a:ea typeface="Cambria Math"/>
                          </a:rPr>
                          <m:t>×2</m:t>
                        </m:r>
                      </m:e>
                    </m:rad>
                  </m:oMath>
                </a14:m>
                <a:r>
                  <a:rPr lang="en-GB" sz="4400" dirty="0">
                    <a:latin typeface="Comic Sans MS" pitchFamily="66" charset="0"/>
                  </a:rPr>
                  <a:t> </a:t>
                </a:r>
                <a:endParaRPr lang="en-GB" sz="44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616" y="2924945"/>
                <a:ext cx="3357880" cy="83311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7032104" y="3817844"/>
                <a:ext cx="3357880" cy="8352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44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4400" i="1">
                            <a:latin typeface="Cambria Math"/>
                          </a:rPr>
                          <m:t>100</m:t>
                        </m:r>
                      </m:e>
                    </m:rad>
                  </m:oMath>
                </a14:m>
                <a:r>
                  <a:rPr lang="en-GB" sz="4400" dirty="0">
                    <a:latin typeface="Comic Sans MS" pitchFamily="66" charset="0"/>
                  </a:rPr>
                  <a:t> x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44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endParaRPr lang="en-GB" sz="44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104" y="3817844"/>
                <a:ext cx="3357880" cy="835293"/>
              </a:xfrm>
              <a:prstGeom prst="rect">
                <a:avLst/>
              </a:prstGeom>
              <a:blipFill rotWithShape="0">
                <a:blip r:embed="rId8"/>
                <a:stretch>
                  <a:fillRect t="-6569" b="-34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7706672" y="4609932"/>
                <a:ext cx="2277760" cy="8352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i="1">
                        <a:latin typeface="Cambria Math"/>
                      </a:rPr>
                      <m:t>10</m:t>
                    </m:r>
                  </m:oMath>
                </a14:m>
                <a:r>
                  <a:rPr lang="en-GB" sz="4400" dirty="0">
                    <a:latin typeface="Comic Sans MS" pitchFamily="66" charset="0"/>
                  </a:rPr>
                  <a:t> x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44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endParaRPr lang="en-GB" sz="44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6672" y="4609932"/>
                <a:ext cx="2277760" cy="835293"/>
              </a:xfrm>
              <a:prstGeom prst="rect">
                <a:avLst/>
              </a:prstGeom>
              <a:blipFill rotWithShape="0">
                <a:blip r:embed="rId9"/>
                <a:stretch>
                  <a:fillRect t="-6569" b="-34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7680176" y="5445225"/>
                <a:ext cx="2277760" cy="849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>
                          <a:solidFill>
                            <a:srgbClr val="FF0000"/>
                          </a:solidFill>
                          <a:latin typeface="Cambria Math"/>
                        </a:rPr>
                        <m:t>𝟏𝟎</m:t>
                      </m:r>
                      <m:rad>
                        <m:radPr>
                          <m:degHide m:val="on"/>
                          <m:ctrlPr>
                            <a:rPr lang="en-GB" sz="4400" b="1" i="1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4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GB" sz="4400" b="1" dirty="0">
                  <a:solidFill>
                    <a:srgbClr val="FF0000"/>
                  </a:solidFill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176" y="5445225"/>
                <a:ext cx="2277760" cy="84907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154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1" grpId="0"/>
      <p:bldP spid="22" grpId="0"/>
      <p:bldP spid="23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205557" y="1451149"/>
            <a:ext cx="50798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Surds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surds and what are some key properties of them?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41173" y="55559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1727612" y="1916832"/>
            <a:ext cx="4728428" cy="46805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1898124" y="2060849"/>
            <a:ext cx="42693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omic Sans MS" pitchFamily="66" charset="0"/>
              </a:rPr>
              <a:t>How do we simplify surds?</a:t>
            </a:r>
            <a:endParaRPr lang="en-US" sz="2800" dirty="0">
              <a:latin typeface="Comic Sans MS" pitchFamily="66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672064" y="1687812"/>
            <a:ext cx="3780890" cy="490954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7130608" y="1645674"/>
                <a:ext cx="3357880" cy="6311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>
                    <a:latin typeface="Comic Sans MS" pitchFamily="66" charset="0"/>
                  </a:rPr>
                  <a:t>Simplify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2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3200" i="1">
                            <a:latin typeface="Cambria Math"/>
                          </a:rPr>
                          <m:t>300</m:t>
                        </m:r>
                      </m:e>
                    </m:rad>
                  </m:oMath>
                </a14:m>
                <a:r>
                  <a:rPr lang="en-GB" sz="3200" dirty="0">
                    <a:latin typeface="Comic Sans MS" pitchFamily="66" charset="0"/>
                  </a:rPr>
                  <a:t> </a:t>
                </a:r>
                <a:endParaRPr lang="en-GB" sz="32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608" y="1645674"/>
                <a:ext cx="3357880" cy="631198"/>
              </a:xfrm>
              <a:prstGeom prst="rect">
                <a:avLst/>
              </a:prstGeom>
              <a:blipFill rotWithShape="0">
                <a:blip r:embed="rId4"/>
                <a:stretch>
                  <a:fillRect l="-4719" t="-4808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496325"/>
              </p:ext>
            </p:extLst>
          </p:nvPr>
        </p:nvGraphicFramePr>
        <p:xfrm>
          <a:off x="1847529" y="3022662"/>
          <a:ext cx="4242795" cy="6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Equation" r:id="rId5" imgW="1524000" imgH="228600" progId="Equation.3">
                  <p:embed/>
                </p:oleObj>
              </mc:Choice>
              <mc:Fallback>
                <p:oleObj name="Equation" r:id="rId5" imgW="1524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9" y="3022662"/>
                        <a:ext cx="4242795" cy="6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799620" y="3789041"/>
            <a:ext cx="4656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omic Sans MS" panose="030F0702030302020204" pitchFamily="66" charset="0"/>
              </a:rPr>
              <a:t>1. Look </a:t>
            </a:r>
            <a:r>
              <a:rPr lang="en-GB" sz="2800" dirty="0">
                <a:latin typeface="Comic Sans MS" panose="030F0702030302020204" pitchFamily="66" charset="0"/>
              </a:rPr>
              <a:t>for a </a:t>
            </a:r>
            <a:r>
              <a:rPr lang="en-GB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factor</a:t>
            </a:r>
            <a:r>
              <a:rPr lang="en-GB" sz="2800" dirty="0">
                <a:latin typeface="Comic Sans MS" panose="030F0702030302020204" pitchFamily="66" charset="0"/>
              </a:rPr>
              <a:t> that is a </a:t>
            </a:r>
            <a:r>
              <a:rPr lang="en-GB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square </a:t>
            </a:r>
            <a:r>
              <a:rPr lang="en-GB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number</a:t>
            </a:r>
            <a:r>
              <a:rPr lang="en-GB" sz="2800" dirty="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75520" y="4779150"/>
            <a:ext cx="4656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omic Sans MS" panose="030F0702030302020204" pitchFamily="66" charset="0"/>
              </a:rPr>
              <a:t>2. Use the rule to </a:t>
            </a:r>
            <a:r>
              <a:rPr lang="en-GB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split your square roots</a:t>
            </a:r>
            <a:r>
              <a:rPr lang="en-GB" sz="2800" dirty="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5520" y="5786100"/>
            <a:ext cx="4656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omic Sans MS" panose="030F0702030302020204" pitchFamily="66" charset="0"/>
              </a:rPr>
              <a:t>3. </a:t>
            </a:r>
            <a:r>
              <a:rPr lang="en-GB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Simplify</a:t>
            </a:r>
            <a:r>
              <a:rPr lang="en-GB" sz="2800" dirty="0">
                <a:latin typeface="Comic Sans MS" panose="030F0702030302020204" pitchFamily="66" charset="0"/>
              </a:rPr>
              <a:t> your answer.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6672064" y="2276873"/>
                <a:ext cx="3780890" cy="568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28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2800" i="1">
                            <a:latin typeface="Cambria Math"/>
                          </a:rPr>
                          <m:t>25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×12</m:t>
                        </m:r>
                      </m:e>
                    </m:rad>
                  </m:oMath>
                </a14:m>
                <a:r>
                  <a:rPr lang="en-GB" sz="2800" dirty="0">
                    <a:latin typeface="Comic Sans MS" pitchFamily="66" charset="0"/>
                  </a:rPr>
                  <a:t> </a:t>
                </a:r>
                <a:endParaRPr lang="en-GB" sz="28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064" y="2276873"/>
                <a:ext cx="3780890" cy="56816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6672064" y="2780929"/>
                <a:ext cx="3780890" cy="568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28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2800" i="1">
                            <a:latin typeface="Cambria Math"/>
                          </a:rPr>
                          <m:t>25</m:t>
                        </m:r>
                      </m:e>
                    </m:rad>
                  </m:oMath>
                </a14:m>
                <a:r>
                  <a:rPr lang="en-GB" sz="2800" dirty="0">
                    <a:latin typeface="Comic Sans MS" pitchFamily="66" charset="0"/>
                  </a:rPr>
                  <a:t> x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28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2800" i="1">
                            <a:latin typeface="Cambria Math"/>
                          </a:rPr>
                          <m:t>12</m:t>
                        </m:r>
                      </m:e>
                    </m:rad>
                  </m:oMath>
                </a14:m>
                <a:endParaRPr lang="en-GB" sz="28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064" y="2780929"/>
                <a:ext cx="3780890" cy="568169"/>
              </a:xfrm>
              <a:prstGeom prst="rect">
                <a:avLst/>
              </a:prstGeom>
              <a:blipFill rotWithShape="0">
                <a:blip r:embed="rId8"/>
                <a:stretch>
                  <a:fillRect t="-2151" b="-30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6672064" y="3284985"/>
                <a:ext cx="3780890" cy="565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5</m:t>
                    </m:r>
                  </m:oMath>
                </a14:m>
                <a:r>
                  <a:rPr lang="en-GB" sz="2800" dirty="0">
                    <a:latin typeface="Comic Sans MS" pitchFamily="66" charset="0"/>
                  </a:rPr>
                  <a:t> x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28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2800" i="1">
                            <a:latin typeface="Cambria Math"/>
                          </a:rPr>
                          <m:t>12</m:t>
                        </m:r>
                      </m:e>
                    </m:rad>
                  </m:oMath>
                </a14:m>
                <a:endParaRPr lang="en-GB" sz="28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064" y="3284985"/>
                <a:ext cx="3780890" cy="565155"/>
              </a:xfrm>
              <a:prstGeom prst="rect">
                <a:avLst/>
              </a:prstGeom>
              <a:blipFill rotWithShape="0">
                <a:blip r:embed="rId9"/>
                <a:stretch>
                  <a:fillRect t="-4301" b="-29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6672064" y="3789041"/>
                <a:ext cx="3780890" cy="565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𝟓</m:t>
                    </m:r>
                    <m:rad>
                      <m:radPr>
                        <m:degHide m:val="on"/>
                        <m:ctrlPr>
                          <a:rPr lang="en-GB" sz="2800" b="1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𝟏𝟐</m:t>
                        </m:r>
                      </m:e>
                    </m:rad>
                  </m:oMath>
                </a14:m>
                <a:r>
                  <a:rPr lang="en-GB" sz="2800" b="1" dirty="0">
                    <a:solidFill>
                      <a:srgbClr val="FF0000"/>
                    </a:solidFill>
                    <a:latin typeface="Comic Sans MS" pitchFamily="66" charset="0"/>
                  </a:rPr>
                  <a:t> ???</a:t>
                </a:r>
                <a:endParaRPr lang="en-GB" sz="2800" b="1" dirty="0">
                  <a:solidFill>
                    <a:srgbClr val="FF0000"/>
                  </a:solidFill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064" y="3789041"/>
                <a:ext cx="3780890" cy="565155"/>
              </a:xfrm>
              <a:prstGeom prst="rect">
                <a:avLst/>
              </a:prstGeom>
              <a:blipFill rotWithShape="0">
                <a:blip r:embed="rId10"/>
                <a:stretch>
                  <a:fillRect t="-434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6672064" y="4314587"/>
                <a:ext cx="3780890" cy="563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5</m:t>
                    </m:r>
                  </m:oMath>
                </a14:m>
                <a:r>
                  <a:rPr lang="en-GB" sz="2800" dirty="0">
                    <a:latin typeface="Comic Sans MS" pitchFamily="66" charset="0"/>
                  </a:rPr>
                  <a:t> x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28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2800" i="1">
                            <a:latin typeface="Cambria Math"/>
                          </a:rPr>
                          <m:t>4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×3</m:t>
                        </m:r>
                      </m:e>
                    </m:rad>
                  </m:oMath>
                </a14:m>
                <a:endParaRPr lang="en-GB" sz="28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064" y="4314587"/>
                <a:ext cx="3780890" cy="563744"/>
              </a:xfrm>
              <a:prstGeom prst="rect">
                <a:avLst/>
              </a:prstGeom>
              <a:blipFill rotWithShape="0">
                <a:blip r:embed="rId11"/>
                <a:stretch>
                  <a:fillRect t="-434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6672064" y="4877571"/>
                <a:ext cx="3780890" cy="564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5</m:t>
                    </m:r>
                  </m:oMath>
                </a14:m>
                <a:r>
                  <a:rPr lang="en-GB" sz="2800" dirty="0">
                    <a:latin typeface="Comic Sans MS" pitchFamily="66" charset="0"/>
                  </a:rPr>
                  <a:t> x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28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2800" i="1">
                            <a:latin typeface="Cambria Math"/>
                          </a:rPr>
                          <m:t>4</m:t>
                        </m:r>
                      </m:e>
                    </m:rad>
                  </m:oMath>
                </a14:m>
                <a:r>
                  <a:rPr lang="en-GB" sz="2800" dirty="0">
                    <a:latin typeface="Comic Sans MS" pitchFamily="66" charset="0"/>
                  </a:rPr>
                  <a:t> x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28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2800" i="1">
                            <a:latin typeface="Cambria Math"/>
                          </a:rPr>
                          <m:t>3</m:t>
                        </m:r>
                      </m:e>
                    </m:rad>
                  </m:oMath>
                </a14:m>
                <a:endParaRPr lang="en-GB" sz="28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064" y="4877571"/>
                <a:ext cx="3780890" cy="564385"/>
              </a:xfrm>
              <a:prstGeom prst="rect">
                <a:avLst/>
              </a:prstGeom>
              <a:blipFill rotWithShape="0">
                <a:blip r:embed="rId12"/>
                <a:stretch>
                  <a:fillRect t="-3226" b="-29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6672064" y="5381626"/>
                <a:ext cx="3780890" cy="563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5</m:t>
                    </m:r>
                  </m:oMath>
                </a14:m>
                <a:r>
                  <a:rPr lang="en-GB" sz="2800" dirty="0">
                    <a:latin typeface="Comic Sans MS" pitchFamily="66" charset="0"/>
                  </a:rPr>
                  <a:t> x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2</m:t>
                    </m:r>
                  </m:oMath>
                </a14:m>
                <a:r>
                  <a:rPr lang="en-GB" sz="2800" dirty="0">
                    <a:latin typeface="Comic Sans MS" pitchFamily="66" charset="0"/>
                  </a:rPr>
                  <a:t> x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28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2800" i="1">
                            <a:latin typeface="Cambria Math"/>
                          </a:rPr>
                          <m:t>3</m:t>
                        </m:r>
                      </m:e>
                    </m:rad>
                  </m:oMath>
                </a14:m>
                <a:endParaRPr lang="en-GB" sz="28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064" y="5381626"/>
                <a:ext cx="3780890" cy="563744"/>
              </a:xfrm>
              <a:prstGeom prst="rect">
                <a:avLst/>
              </a:prstGeom>
              <a:blipFill rotWithShape="0">
                <a:blip r:embed="rId13"/>
                <a:stretch>
                  <a:fillRect t="-434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/>
              <p:cNvSpPr txBox="1"/>
              <p:nvPr/>
            </p:nvSpPr>
            <p:spPr>
              <a:xfrm>
                <a:off x="6672064" y="5888181"/>
                <a:ext cx="3780890" cy="711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600" b="1" i="1">
                          <a:solidFill>
                            <a:srgbClr val="FF0000"/>
                          </a:solidFill>
                          <a:latin typeface="Cambria Math"/>
                        </a:rPr>
                        <m:t>𝟏𝟎</m:t>
                      </m:r>
                      <m:rad>
                        <m:radPr>
                          <m:degHide m:val="on"/>
                          <m:ctrlPr>
                            <a:rPr lang="en-GB" sz="3600" b="1" i="1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36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GB" sz="3600" b="1" dirty="0">
                  <a:solidFill>
                    <a:srgbClr val="FF0000"/>
                  </a:solidFill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064" y="5888181"/>
                <a:ext cx="3780890" cy="71167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16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640141" y="1451149"/>
            <a:ext cx="50798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Surds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surds and what are some key properties of them?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41173" y="55559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1081436" y="1896377"/>
            <a:ext cx="4728428" cy="46805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1251948" y="2040394"/>
            <a:ext cx="42693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omic Sans MS" pitchFamily="66" charset="0"/>
              </a:rPr>
              <a:t>How do we simplify surds?</a:t>
            </a:r>
            <a:endParaRPr lang="en-US" sz="2800" dirty="0">
              <a:latin typeface="Comic Sans MS" pitchFamily="66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025888" y="1667357"/>
            <a:ext cx="3780890" cy="490954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281121" y="1699804"/>
                <a:ext cx="3357880" cy="7242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600" dirty="0" smtClean="0">
                    <a:latin typeface="Comic Sans MS" pitchFamily="66" charset="0"/>
                  </a:rPr>
                  <a:t>Simplify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6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CA" sz="3600" b="0" i="1" smtClean="0">
                            <a:latin typeface="Cambria Math" charset="0"/>
                          </a:rPr>
                          <m:t>150</m:t>
                        </m:r>
                      </m:e>
                    </m:rad>
                  </m:oMath>
                </a14:m>
                <a:r>
                  <a:rPr lang="en-GB" sz="3600" dirty="0">
                    <a:latin typeface="Comic Sans MS" pitchFamily="66" charset="0"/>
                  </a:rPr>
                  <a:t> </a:t>
                </a:r>
                <a:endParaRPr lang="en-GB" sz="36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121" y="1699804"/>
                <a:ext cx="3357880" cy="724237"/>
              </a:xfrm>
              <a:prstGeom prst="rect">
                <a:avLst/>
              </a:prstGeom>
              <a:blipFill rotWithShape="0">
                <a:blip r:embed="rId4"/>
                <a:stretch>
                  <a:fillRect l="-5445" t="-5042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446897"/>
              </p:ext>
            </p:extLst>
          </p:nvPr>
        </p:nvGraphicFramePr>
        <p:xfrm>
          <a:off x="1201353" y="3002207"/>
          <a:ext cx="4242795" cy="6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5" imgW="1524000" imgH="228600" progId="Equation.3">
                  <p:embed/>
                </p:oleObj>
              </mc:Choice>
              <mc:Fallback>
                <p:oleObj name="Equation" r:id="rId5" imgW="1524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353" y="3002207"/>
                        <a:ext cx="4242795" cy="6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153444" y="3768586"/>
            <a:ext cx="4656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omic Sans MS" panose="030F0702030302020204" pitchFamily="66" charset="0"/>
              </a:rPr>
              <a:t>1. Look </a:t>
            </a:r>
            <a:r>
              <a:rPr lang="en-GB" sz="2800" dirty="0">
                <a:latin typeface="Comic Sans MS" panose="030F0702030302020204" pitchFamily="66" charset="0"/>
              </a:rPr>
              <a:t>for a </a:t>
            </a:r>
            <a:r>
              <a:rPr lang="en-GB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factor</a:t>
            </a:r>
            <a:r>
              <a:rPr lang="en-GB" sz="2800" dirty="0">
                <a:latin typeface="Comic Sans MS" panose="030F0702030302020204" pitchFamily="66" charset="0"/>
              </a:rPr>
              <a:t> that is a </a:t>
            </a:r>
            <a:r>
              <a:rPr lang="en-GB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square </a:t>
            </a:r>
            <a:r>
              <a:rPr lang="en-GB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number</a:t>
            </a:r>
            <a:r>
              <a:rPr lang="en-GB" sz="2800" dirty="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344" y="4758695"/>
            <a:ext cx="4656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omic Sans MS" panose="030F0702030302020204" pitchFamily="66" charset="0"/>
              </a:rPr>
              <a:t>2. Use the rule to </a:t>
            </a:r>
            <a:r>
              <a:rPr lang="en-GB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split your square roots</a:t>
            </a:r>
            <a:r>
              <a:rPr lang="en-GB" sz="2800" dirty="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344" y="5765645"/>
            <a:ext cx="4656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omic Sans MS" panose="030F0702030302020204" pitchFamily="66" charset="0"/>
              </a:rPr>
              <a:t>3. </a:t>
            </a:r>
            <a:r>
              <a:rPr lang="en-GB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Simplify</a:t>
            </a:r>
            <a:r>
              <a:rPr lang="en-GB" sz="2800" dirty="0">
                <a:latin typeface="Comic Sans MS" panose="030F0702030302020204" pitchFamily="66" charset="0"/>
              </a:rPr>
              <a:t> your answer.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556910" y="2403335"/>
                <a:ext cx="3357880" cy="833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4400" i="1" smtClean="0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CA" sz="4400" b="0" i="1" smtClean="0">
                            <a:latin typeface="Cambria Math" charset="0"/>
                          </a:rPr>
                          <m:t>15 </m:t>
                        </m:r>
                        <m:r>
                          <a:rPr lang="en-CA" sz="4400" b="0" i="1" smtClean="0">
                            <a:latin typeface="Cambria Math" charset="0"/>
                          </a:rPr>
                          <m:t>𝑥</m:t>
                        </m:r>
                        <m:r>
                          <a:rPr lang="en-CA" sz="4400" b="0" i="1" smtClean="0">
                            <a:latin typeface="Cambria Math" charset="0"/>
                          </a:rPr>
                          <m:t> 10</m:t>
                        </m:r>
                      </m:e>
                    </m:rad>
                  </m:oMath>
                </a14:m>
                <a:r>
                  <a:rPr lang="en-GB" sz="4400" dirty="0">
                    <a:latin typeface="Comic Sans MS" pitchFamily="66" charset="0"/>
                  </a:rPr>
                  <a:t> </a:t>
                </a:r>
                <a:endParaRPr lang="en-GB" sz="44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910" y="2403335"/>
                <a:ext cx="3357880" cy="83311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6496504" y="4112379"/>
                <a:ext cx="3357880" cy="864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4400" i="1" smtClean="0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CA" sz="4400" b="0" i="1" smtClean="0">
                            <a:latin typeface="Cambria Math" charset="0"/>
                          </a:rPr>
                          <m:t>25</m:t>
                        </m:r>
                      </m:e>
                    </m:rad>
                  </m:oMath>
                </a14:m>
                <a:r>
                  <a:rPr lang="en-GB" sz="4400" dirty="0">
                    <a:latin typeface="Comic Sans MS" pitchFamily="66" charset="0"/>
                  </a:rPr>
                  <a:t> x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44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CA" sz="4400" b="0" i="1" smtClean="0">
                            <a:latin typeface="Cambria Math" charset="0"/>
                          </a:rPr>
                          <m:t>6</m:t>
                        </m:r>
                      </m:e>
                    </m:rad>
                  </m:oMath>
                </a14:m>
                <a:endParaRPr lang="en-GB" sz="44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504" y="4112379"/>
                <a:ext cx="3357880" cy="864532"/>
              </a:xfrm>
              <a:prstGeom prst="rect">
                <a:avLst/>
              </a:prstGeom>
              <a:blipFill rotWithShape="0">
                <a:blip r:embed="rId8"/>
                <a:stretch>
                  <a:fillRect t="-6383" b="-3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6901654" y="4842906"/>
                <a:ext cx="2277760" cy="864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sz="4400" b="0" i="1" smtClean="0">
                        <a:latin typeface="Cambria Math" charset="0"/>
                      </a:rPr>
                      <m:t>5</m:t>
                    </m:r>
                  </m:oMath>
                </a14:m>
                <a:r>
                  <a:rPr lang="en-GB" sz="4400" dirty="0" smtClean="0">
                    <a:latin typeface="Comic Sans MS" pitchFamily="66" charset="0"/>
                  </a:rPr>
                  <a:t> </a:t>
                </a:r>
                <a:r>
                  <a:rPr lang="en-GB" sz="4400" dirty="0">
                    <a:latin typeface="Comic Sans MS" pitchFamily="66" charset="0"/>
                  </a:rPr>
                  <a:t>x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4400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CA" sz="4400" b="0" i="1" smtClean="0">
                            <a:latin typeface="Cambria Math" charset="0"/>
                          </a:rPr>
                          <m:t>6</m:t>
                        </m:r>
                      </m:e>
                    </m:rad>
                  </m:oMath>
                </a14:m>
                <a:endParaRPr lang="en-GB" sz="44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1654" y="4842906"/>
                <a:ext cx="2277760" cy="864532"/>
              </a:xfrm>
              <a:prstGeom prst="rect">
                <a:avLst/>
              </a:prstGeom>
              <a:blipFill rotWithShape="0">
                <a:blip r:embed="rId9"/>
                <a:stretch>
                  <a:fillRect t="-6338" b="-29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6777453" y="5625914"/>
                <a:ext cx="2277760" cy="864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sz="4400" b="1" dirty="0" smtClean="0">
                    <a:solidFill>
                      <a:srgbClr val="FF0000"/>
                    </a:solidFill>
                  </a:rPr>
                  <a:t>    5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4400" b="1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CA" sz="4400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𝟔</m:t>
                        </m:r>
                      </m:e>
                    </m:rad>
                  </m:oMath>
                </a14:m>
                <a:endParaRPr lang="en-GB" sz="4400" b="1" dirty="0">
                  <a:solidFill>
                    <a:srgbClr val="FF0000"/>
                  </a:solidFill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453" y="5625914"/>
                <a:ext cx="2277760" cy="864532"/>
              </a:xfrm>
              <a:prstGeom prst="rect">
                <a:avLst/>
              </a:prstGeom>
              <a:blipFill rotWithShape="0">
                <a:blip r:embed="rId10"/>
                <a:stretch>
                  <a:fillRect t="-7042" b="-29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6664922" y="3215742"/>
                <a:ext cx="3357880" cy="833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4400" i="1" smtClean="0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CA" sz="4400" b="0" i="1" smtClean="0">
                            <a:latin typeface="Cambria Math" charset="0"/>
                          </a:rPr>
                          <m:t>25 </m:t>
                        </m:r>
                        <m:r>
                          <a:rPr lang="en-CA" sz="4400" b="0" i="1" smtClean="0">
                            <a:latin typeface="Cambria Math" charset="0"/>
                          </a:rPr>
                          <m:t>𝑥</m:t>
                        </m:r>
                        <m:r>
                          <a:rPr lang="en-CA" sz="4400" b="0" i="1" smtClean="0">
                            <a:latin typeface="Cambria Math" charset="0"/>
                          </a:rPr>
                          <m:t> 6</m:t>
                        </m:r>
                      </m:e>
                    </m:rad>
                  </m:oMath>
                </a14:m>
                <a:r>
                  <a:rPr lang="en-GB" sz="4400" dirty="0">
                    <a:latin typeface="Comic Sans MS" pitchFamily="66" charset="0"/>
                  </a:rPr>
                  <a:t> </a:t>
                </a:r>
                <a:endParaRPr lang="en-GB" sz="4400" dirty="0">
                  <a:latin typeface="Comic Sans MS" pitchFamily="66" charset="0"/>
                </a:endParaRP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922" y="3215742"/>
                <a:ext cx="3357880" cy="833113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Left Arrow 1"/>
          <p:cNvSpPr/>
          <p:nvPr/>
        </p:nvSpPr>
        <p:spPr>
          <a:xfrm>
            <a:off x="9016322" y="2623386"/>
            <a:ext cx="779051" cy="38543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903386" y="2084918"/>
            <a:ext cx="225023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We’ve hit a road</a:t>
            </a:r>
          </a:p>
          <a:p>
            <a:r>
              <a:rPr lang="en-US" sz="2400" dirty="0" smtClean="0"/>
              <a:t>block. These are</a:t>
            </a:r>
          </a:p>
          <a:p>
            <a:r>
              <a:rPr lang="en-US" sz="2400" dirty="0" smtClean="0"/>
              <a:t>both factors of</a:t>
            </a:r>
          </a:p>
          <a:p>
            <a:r>
              <a:rPr lang="en-US" sz="2400" dirty="0" smtClean="0"/>
              <a:t>150, but are not</a:t>
            </a:r>
          </a:p>
          <a:p>
            <a:r>
              <a:rPr lang="en-US" sz="2400" b="1" dirty="0" smtClean="0"/>
              <a:t>square numbers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2111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1" grpId="0"/>
      <p:bldP spid="22" grpId="0"/>
      <p:bldP spid="23" grpId="0"/>
      <p:bldP spid="25" grpId="0"/>
      <p:bldP spid="26" grpId="0"/>
      <p:bldP spid="2" grpId="0" animBg="1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1775520" y="908720"/>
            <a:ext cx="8640960" cy="187220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1775520" y="908720"/>
            <a:ext cx="8640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u="sng" dirty="0">
                <a:latin typeface="Comic Sans MS" pitchFamily="66" charset="0"/>
              </a:rPr>
              <a:t>Individual work </a:t>
            </a:r>
          </a:p>
          <a:p>
            <a:pPr algn="ctr"/>
            <a:r>
              <a:rPr lang="en-GB" sz="3600" dirty="0">
                <a:latin typeface="Comic Sans MS" pitchFamily="66" charset="0"/>
              </a:rPr>
              <a:t>Express these in their simplest form. (simplify them).</a:t>
            </a:r>
            <a:endParaRPr lang="en-GB" sz="3600" dirty="0">
              <a:ln>
                <a:solidFill>
                  <a:sysClr val="windowText" lastClr="000000"/>
                </a:solidFill>
              </a:ln>
              <a:solidFill>
                <a:srgbClr val="00B050"/>
              </a:solidFill>
              <a:latin typeface="Comic Sans MS" pitchFamily="66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4799856" y="2924944"/>
            <a:ext cx="2664296" cy="374441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ounded Rectangle 4"/>
          <p:cNvSpPr/>
          <p:nvPr/>
        </p:nvSpPr>
        <p:spPr>
          <a:xfrm>
            <a:off x="1847528" y="2924944"/>
            <a:ext cx="2664296" cy="374441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ounded Rectangle 7"/>
          <p:cNvSpPr/>
          <p:nvPr/>
        </p:nvSpPr>
        <p:spPr>
          <a:xfrm>
            <a:off x="7752184" y="2924944"/>
            <a:ext cx="2664296" cy="374441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919536" y="3068960"/>
                <a:ext cx="2592288" cy="3207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60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/>
                            </a:rPr>
                            <m:t>50</m:t>
                          </m:r>
                        </m:e>
                      </m:rad>
                    </m:oMath>
                  </m:oMathPara>
                </a14:m>
                <a:endParaRPr lang="en-US" sz="600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60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/>
                            </a:rPr>
                            <m:t>54</m:t>
                          </m:r>
                        </m:e>
                      </m:rad>
                    </m:oMath>
                  </m:oMathPara>
                </a14:m>
                <a:endParaRPr lang="en-US" sz="600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60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/>
                            </a:rPr>
                            <m:t>44</m:t>
                          </m:r>
                        </m:e>
                      </m:rad>
                    </m:oMath>
                  </m:oMathPara>
                </a14:m>
                <a:endParaRPr lang="en-US" sz="60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068960"/>
                <a:ext cx="2592288" cy="320716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015880" y="3174168"/>
                <a:ext cx="2592288" cy="3207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60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/>
                            </a:rPr>
                            <m:t>72</m:t>
                          </m:r>
                        </m:e>
                      </m:rad>
                    </m:oMath>
                  </m:oMathPara>
                </a14:m>
                <a:endParaRPr lang="en-US" sz="600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60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/>
                            </a:rPr>
                            <m:t>180</m:t>
                          </m:r>
                        </m:e>
                      </m:rad>
                    </m:oMath>
                  </m:oMathPara>
                </a14:m>
                <a:endParaRPr lang="en-US" sz="600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60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/>
                            </a:rPr>
                            <m:t>128</m:t>
                          </m:r>
                        </m:e>
                      </m:rad>
                    </m:oMath>
                  </m:oMathPara>
                </a14:m>
                <a:endParaRPr lang="en-US" sz="60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3174168"/>
                <a:ext cx="2592288" cy="320716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040216" y="3212976"/>
                <a:ext cx="2592288" cy="3207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60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/>
                            </a:rPr>
                            <m:t>350</m:t>
                          </m:r>
                        </m:e>
                      </m:rad>
                    </m:oMath>
                  </m:oMathPara>
                </a14:m>
                <a:endParaRPr lang="en-US" sz="600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60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/>
                            </a:rPr>
                            <m:t>108</m:t>
                          </m:r>
                        </m:e>
                      </m:rad>
                    </m:oMath>
                  </m:oMathPara>
                </a14:m>
                <a:endParaRPr lang="en-US" sz="600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60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/>
                            </a:rPr>
                            <m:t>252</m:t>
                          </m:r>
                        </m:e>
                      </m:rad>
                    </m:oMath>
                  </m:oMathPara>
                </a14:m>
                <a:endParaRPr lang="en-US" sz="60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16" y="3212976"/>
                <a:ext cx="2592288" cy="320716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278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1775520" y="908720"/>
            <a:ext cx="8640960" cy="187220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1775520" y="908720"/>
            <a:ext cx="8640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u="sng" dirty="0">
                <a:latin typeface="Comic Sans MS" pitchFamily="66" charset="0"/>
              </a:rPr>
              <a:t>Individual work </a:t>
            </a:r>
          </a:p>
          <a:p>
            <a:pPr algn="ctr"/>
            <a:r>
              <a:rPr lang="en-GB" sz="3600" dirty="0">
                <a:latin typeface="Comic Sans MS" pitchFamily="66" charset="0"/>
              </a:rPr>
              <a:t>Express these in their simplest form. (simplify them). </a:t>
            </a:r>
            <a:r>
              <a:rPr lang="en-GB" sz="3600" b="1" dirty="0">
                <a:solidFill>
                  <a:srgbClr val="FF0000"/>
                </a:solidFill>
                <a:latin typeface="Comic Sans MS" pitchFamily="66" charset="0"/>
              </a:rPr>
              <a:t>ANSWERS</a:t>
            </a:r>
            <a:endParaRPr lang="en-GB" sz="3600" b="1" dirty="0">
              <a:ln>
                <a:solidFill>
                  <a:sysClr val="windowText" lastClr="000000"/>
                </a:solidFill>
              </a:ln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4799856" y="2924944"/>
            <a:ext cx="2664296" cy="374441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ounded Rectangle 4"/>
          <p:cNvSpPr/>
          <p:nvPr/>
        </p:nvSpPr>
        <p:spPr>
          <a:xfrm>
            <a:off x="1847528" y="2924944"/>
            <a:ext cx="2664296" cy="374441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ounded Rectangle 7"/>
          <p:cNvSpPr/>
          <p:nvPr/>
        </p:nvSpPr>
        <p:spPr>
          <a:xfrm>
            <a:off x="7752184" y="2924944"/>
            <a:ext cx="2664296" cy="374441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207568" y="3120948"/>
                <a:ext cx="2592288" cy="3188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6000" i="1">
                          <a:latin typeface="Cambria Math"/>
                        </a:rPr>
                        <m:t>5</m:t>
                      </m:r>
                      <m:rad>
                        <m:radPr>
                          <m:degHide m:val="on"/>
                          <m:ctrlPr>
                            <a:rPr lang="en-GB" sz="60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sz="6000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6000" i="1">
                          <a:latin typeface="Cambria Math"/>
                        </a:rPr>
                        <m:t>3</m:t>
                      </m:r>
                      <m:rad>
                        <m:radPr>
                          <m:degHide m:val="on"/>
                          <m:ctrlPr>
                            <a:rPr lang="en-GB" sz="60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/>
                            </a:rPr>
                            <m:t>6</m:t>
                          </m:r>
                        </m:e>
                      </m:rad>
                    </m:oMath>
                  </m:oMathPara>
                </a14:m>
                <a:endParaRPr lang="en-US" sz="6000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6000" i="1">
                          <a:latin typeface="Cambria Math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GB" sz="60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/>
                            </a:rPr>
                            <m:t>11</m:t>
                          </m:r>
                        </m:e>
                      </m:rad>
                    </m:oMath>
                  </m:oMathPara>
                </a14:m>
                <a:endParaRPr lang="en-US" sz="60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120947"/>
                <a:ext cx="2592288" cy="318837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015880" y="3174168"/>
                <a:ext cx="2592288" cy="331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6000" i="1">
                          <a:latin typeface="Cambria Math"/>
                        </a:rPr>
                        <m:t>6</m:t>
                      </m:r>
                      <m:rad>
                        <m:radPr>
                          <m:degHide m:val="on"/>
                          <m:ctrlPr>
                            <a:rPr lang="en-GB" sz="60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sz="600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6000" i="1">
                          <a:latin typeface="Cambria Math"/>
                        </a:rPr>
                        <m:t>6</m:t>
                      </m:r>
                      <m:rad>
                        <m:radPr>
                          <m:degHide m:val="on"/>
                          <m:ctrlPr>
                            <a:rPr lang="en-GB" sz="60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n-US" sz="600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6000" i="1">
                          <a:latin typeface="Cambria Math"/>
                        </a:rPr>
                        <m:t>8</m:t>
                      </m:r>
                      <m:rad>
                        <m:radPr>
                          <m:degHide m:val="on"/>
                          <m:ctrlPr>
                            <a:rPr lang="en-GB" sz="60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sz="60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3174168"/>
                <a:ext cx="2592288" cy="331687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040216" y="3212976"/>
                <a:ext cx="2592288" cy="3225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6000" i="1">
                          <a:latin typeface="Cambria Math"/>
                        </a:rPr>
                        <m:t>5</m:t>
                      </m:r>
                      <m:rad>
                        <m:radPr>
                          <m:degHide m:val="on"/>
                          <m:ctrlPr>
                            <a:rPr lang="en-GB" sz="60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/>
                            </a:rPr>
                            <m:t>14</m:t>
                          </m:r>
                        </m:e>
                      </m:rad>
                    </m:oMath>
                  </m:oMathPara>
                </a14:m>
                <a:endParaRPr lang="en-US" sz="600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6000" i="1">
                          <a:latin typeface="Cambria Math"/>
                        </a:rPr>
                        <m:t>6</m:t>
                      </m:r>
                      <m:rad>
                        <m:radPr>
                          <m:degHide m:val="on"/>
                          <m:ctrlPr>
                            <a:rPr lang="en-GB" sz="60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US" sz="600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6000" i="1">
                          <a:latin typeface="Cambria Math"/>
                        </a:rPr>
                        <m:t>6</m:t>
                      </m:r>
                      <m:rad>
                        <m:radPr>
                          <m:degHide m:val="on"/>
                          <m:ctrlPr>
                            <a:rPr lang="en-GB" sz="60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/>
                            </a:rPr>
                            <m:t>7</m:t>
                          </m:r>
                        </m:e>
                      </m:rad>
                    </m:oMath>
                  </m:oMathPara>
                </a14:m>
                <a:endParaRPr lang="en-US" sz="60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16" y="3212976"/>
                <a:ext cx="2592288" cy="322594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97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2231136" y="1109472"/>
            <a:ext cx="7858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latin typeface="Chalkduster" charset="0"/>
                <a:ea typeface="Chalkduster" charset="0"/>
                <a:cs typeface="Chalkduster" charset="0"/>
              </a:rPr>
              <a:t>Complete Surds Exit Ticket 1</a:t>
            </a:r>
            <a:endParaRPr lang="en-US" sz="3600" dirty="0">
              <a:latin typeface="Chalkduster" charset="0"/>
              <a:ea typeface="Chalkduster" charset="0"/>
              <a:cs typeface="Chalkdus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37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4108</TotalTime>
  <Words>954</Words>
  <Application>Microsoft Macintosh PowerPoint</Application>
  <PresentationFormat>Widescreen</PresentationFormat>
  <Paragraphs>232</Paragraphs>
  <Slides>20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Calibri Light</vt:lpstr>
      <vt:lpstr>Cambria Math</vt:lpstr>
      <vt:lpstr>Chalkduster</vt:lpstr>
      <vt:lpstr>Comic Sans MS</vt:lpstr>
      <vt:lpstr>Kiwi School Handwriting</vt:lpstr>
      <vt:lpstr>Mangal</vt:lpstr>
      <vt:lpstr>Arial</vt:lpstr>
      <vt:lpstr>Arial Unicode MS</vt:lpstr>
      <vt:lpstr>Calibri</vt:lpstr>
      <vt:lpstr>Office Theme</vt:lpstr>
      <vt:lpstr>Equation</vt:lpstr>
      <vt:lpstr>Equation.3</vt:lpstr>
      <vt:lpstr>Surds (I know, finally!!!)</vt:lpstr>
      <vt:lpstr>PowerPoint Presentation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 you understand? Fists of Five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Converting Percent, Decimals and Fractions</dc:title>
  <dc:creator>Nine Labuschagne</dc:creator>
  <cp:lastModifiedBy>SUMMERS Brad [Baldivis Secondary College]</cp:lastModifiedBy>
  <cp:revision>79</cp:revision>
  <dcterms:created xsi:type="dcterms:W3CDTF">2018-02-06T06:15:13Z</dcterms:created>
  <dcterms:modified xsi:type="dcterms:W3CDTF">2018-02-22T02:53:06Z</dcterms:modified>
</cp:coreProperties>
</file>
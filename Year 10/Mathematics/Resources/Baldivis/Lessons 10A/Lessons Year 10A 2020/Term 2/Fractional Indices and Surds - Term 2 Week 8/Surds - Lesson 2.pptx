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8" r:id="rId2"/>
    <p:sldId id="386" r:id="rId3"/>
    <p:sldId id="387" r:id="rId4"/>
    <p:sldId id="388" r:id="rId5"/>
    <p:sldId id="350" r:id="rId6"/>
    <p:sldId id="332" r:id="rId7"/>
    <p:sldId id="334" r:id="rId8"/>
    <p:sldId id="335" r:id="rId9"/>
    <p:sldId id="333" r:id="rId10"/>
    <p:sldId id="378" r:id="rId11"/>
    <p:sldId id="391" r:id="rId12"/>
    <p:sldId id="392" r:id="rId13"/>
    <p:sldId id="261" r:id="rId14"/>
    <p:sldId id="381" r:id="rId15"/>
    <p:sldId id="382" r:id="rId16"/>
    <p:sldId id="285" r:id="rId17"/>
    <p:sldId id="383" r:id="rId18"/>
    <p:sldId id="38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127" autoAdjust="0"/>
    <p:restoredTop sz="94660"/>
  </p:normalViewPr>
  <p:slideViewPr>
    <p:cSldViewPr snapToGrid="0">
      <p:cViewPr varScale="1">
        <p:scale>
          <a:sx n="49" d="100"/>
          <a:sy n="49" d="100"/>
        </p:scale>
        <p:origin x="200" y="1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437DE9-E843-4D08-A94A-BB5A10981DBE}" type="datetimeFigureOut">
              <a:rPr lang="en-AU" smtClean="0"/>
              <a:t>19/6/20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277AA-7CC8-43C9-8713-D5D8B1C37A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5214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399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17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0902050F-AFFD-664F-9DA7-0F8FF134089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2B1E9C9F-9B52-FB4A-B3FA-F1520495BA31}" type="slidenum">
              <a:rPr lang="en-US" altLang="en-US" sz="1200"/>
              <a:pPr algn="r" eaLnBrk="1" hangingPunct="1"/>
              <a:t>6</a:t>
            </a:fld>
            <a:endParaRPr lang="en-US" altLang="en-US" sz="12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C03FBB78-955C-414A-9811-6527F09E2A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804A5420-2E4A-2449-8EB1-8666D4FB15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565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E7262325-44BB-8542-8965-AACF3F12F62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E7441496-FF06-B24B-80D4-24EC610A4307}" type="slidenum">
              <a:rPr lang="en-US" altLang="en-US" sz="1200"/>
              <a:pPr algn="r" eaLnBrk="1" hangingPunct="1"/>
              <a:t>7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85B33535-9C7D-4C49-9E7A-4529C3F74C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DBF95DF-153E-884F-A7DF-CFB9245E52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3795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D804AEA1-45F1-554B-97A9-9BE336B8A5C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935CE8D2-7E45-8246-9537-1A49C4C8BFD3}" type="slidenum">
              <a:rPr lang="en-US" altLang="en-US" sz="1200">
                <a:solidFill>
                  <a:srgbClr val="000000"/>
                </a:solidFill>
              </a:rPr>
              <a:pPr algn="r" eaLnBrk="1" hangingPunct="1"/>
              <a:t>8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938DA2E7-8567-364D-B1C5-8D4165610B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39E6B641-1D26-6D4F-9D92-0982FD2F2A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1630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1650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6B4D0BAC-2E4C-5B4D-9BB3-71AF85A8DD7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20593FB4-6E38-E444-910F-ACC57E1491F1}" type="slidenum">
              <a:rPr lang="en-US" altLang="en-US" sz="1200"/>
              <a:pPr algn="r" eaLnBrk="1" hangingPunct="1"/>
              <a:t>11</a:t>
            </a:fld>
            <a:endParaRPr lang="en-US" altLang="en-US" sz="12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B04DC743-74F0-3243-AD7F-C94492BB6D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BC278D32-0B0D-7B41-AE59-AD0B970999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8882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F6F62E20-572A-1E48-811E-1EB7A39676B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8028FFBD-4ABB-1C4E-AE39-4ADDA6F2D825}" type="slidenum">
              <a:rPr lang="en-US" altLang="en-US" sz="1200"/>
              <a:pPr algn="r" eaLnBrk="1" hangingPunct="1"/>
              <a:t>12</a:t>
            </a:fld>
            <a:endParaRPr lang="en-US" altLang="en-US" sz="12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21641CCE-9F23-B741-AADC-250E122D8E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47937D65-5D9B-2D4A-A5FC-3527A68E14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2779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4347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1928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340B6-225B-49BB-8988-BAB44A03D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489C88-1697-4DDC-A559-7208A6C27A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CF110-B2A4-483A-ADA0-2141C99C0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19/6/20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A8F45-1C76-435C-B753-7CA166E31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6ABF9-0EE7-441D-AD83-19C48B97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7524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9B018-4B84-4718-9142-DABDFE222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569AE-B3C5-4BB2-9AA4-03357A19D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32225-FB2C-4C40-8F62-48D7FE590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19/6/20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20E53-56EE-48EF-ABF0-59F5AEB7D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BC6BC-CAA6-4FD9-928F-04D2DCB0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0525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749B-81AF-476E-8EEF-FE77A6755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5B3446-944A-448E-BCB8-4B747FF04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EE5F3-D0AC-40B7-8786-16D460872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19/6/20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122D2-1BA7-4131-A86D-B1A8BAFC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BF178-CDE9-450D-8852-2511C3E5B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7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468BA-1A45-48DE-A696-66D3CB8D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3E659-E10D-48C1-B0C3-08FE9D4A90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6FBCD3-398D-4588-8CC0-C2B429CD50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F1EFCE-7663-4CA3-88EB-786802A76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19/6/20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D65C5-0BED-470C-AA0D-6AE637307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53F79-B6C7-40B6-9E04-29A6C35F7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4157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ACC35-708F-48A7-AC2B-D346EDD5F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8C90A-72C2-4AAA-AD90-9AE3EC08D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27D173-ECD3-4DBB-8D7B-38F22B05EC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0CA80-B5B3-4F7A-B3D9-07F3C8388B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3E796C-57B7-45D1-AE36-E182E2AD29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9177FB-FF08-418F-9217-EA3F6C73A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19/6/20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661780-D977-4531-91F7-9B8DB63AE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C2436E-E0F0-450D-9191-594FF1637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422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D83D4-2F53-4730-B63B-8C2E2E66B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8E1F5F-59DF-4792-874D-A7B28CE7C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19/6/20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24AF79-AF61-4264-848D-EEE3C0A0D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2EF858-59AB-4742-BD96-AF33F5C2D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4538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B1E2E6-BC2C-4957-AB1D-9B08278F1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19/6/20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6BF7F9-0E55-46E1-94EA-349999535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4FAB8-48BF-4C89-A71A-2048D0B3A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166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48BA-C20E-4F92-8CC2-2E8CE2F75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DCCC6-F73C-48A2-9432-16E9D7E32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D8BD0-A270-4EF5-9B04-2304872E3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8046E-4A60-48C3-AC6F-E511609B1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19/6/20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2538C3-5B19-4598-BFF7-AB7A9E9AC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B049C1-16E6-44A9-8838-EF4C500A7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3505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E12B8-770C-4768-8AA8-9D74B6A64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F4F4D2-6377-4EC6-BD22-E52F6C88AF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157770-25F4-457E-B556-4CE6A64E6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A36EA-DD80-4279-85D1-C40D129C3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19/6/20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3B5086-F432-4B9A-8187-799F3547B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FFCB0-54BE-41DF-93BB-17ECB4E46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0560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D31A7-17DD-41D2-87DC-654494938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6E4FA2-E59C-4308-96D1-AC91844D7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FF240-EF90-4D4A-9CE8-F5C422108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19/6/20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9A025-0C68-42FF-B9EA-F7F771630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5D0BB-E363-4F66-8543-8E3EE8331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471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C41EB6-B3C3-4059-9E19-8956A74BF9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FE6F54-857C-4234-ABA5-0A3C0472D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2E581-0726-48E2-8477-37301DA78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19/6/20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E622A-3BA9-4606-BD67-CD715A109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6DE7C-67AA-4711-86D5-3D7FCF37C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9193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02294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461068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D936E8-ABBC-4DA3-AB30-F850AFE75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03025-19B6-4842-8DB1-6A818347C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802F2-F5D8-4B94-93DB-380A1AC06D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6A46E-9B69-4DAE-8B8B-23D1D6F6BA1F}" type="datetimeFigureOut">
              <a:rPr lang="en-AU" smtClean="0"/>
              <a:t>19/6/20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83A1D-E167-43BA-BBCD-2A3015D325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9E973-8FEE-46B5-BA55-3836D2C8E8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3882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26" Type="http://schemas.openxmlformats.org/officeDocument/2006/relationships/image" Target="../media/image34.png"/><Relationship Id="rId3" Type="http://schemas.openxmlformats.org/officeDocument/2006/relationships/image" Target="../media/image11.png"/><Relationship Id="rId21" Type="http://schemas.openxmlformats.org/officeDocument/2006/relationships/image" Target="../media/image29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33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29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2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28" Type="http://schemas.openxmlformats.org/officeDocument/2006/relationships/image" Target="../media/image36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31" Type="http://schemas.openxmlformats.org/officeDocument/2006/relationships/image" Target="../media/image39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30.png"/><Relationship Id="rId27" Type="http://schemas.openxmlformats.org/officeDocument/2006/relationships/image" Target="../media/image35.png"/><Relationship Id="rId30" Type="http://schemas.openxmlformats.org/officeDocument/2006/relationships/image" Target="../media/image3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26" Type="http://schemas.openxmlformats.org/officeDocument/2006/relationships/image" Target="../media/image63.png"/><Relationship Id="rId39" Type="http://schemas.openxmlformats.org/officeDocument/2006/relationships/image" Target="../media/image76.png"/><Relationship Id="rId21" Type="http://schemas.openxmlformats.org/officeDocument/2006/relationships/image" Target="../media/image58.png"/><Relationship Id="rId34" Type="http://schemas.openxmlformats.org/officeDocument/2006/relationships/image" Target="../media/image71.png"/><Relationship Id="rId42" Type="http://schemas.openxmlformats.org/officeDocument/2006/relationships/image" Target="../media/image79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53.png"/><Relationship Id="rId20" Type="http://schemas.openxmlformats.org/officeDocument/2006/relationships/image" Target="../media/image57.png"/><Relationship Id="rId29" Type="http://schemas.openxmlformats.org/officeDocument/2006/relationships/image" Target="../media/image66.png"/><Relationship Id="rId41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24" Type="http://schemas.openxmlformats.org/officeDocument/2006/relationships/image" Target="../media/image61.png"/><Relationship Id="rId32" Type="http://schemas.openxmlformats.org/officeDocument/2006/relationships/image" Target="../media/image69.png"/><Relationship Id="rId37" Type="http://schemas.openxmlformats.org/officeDocument/2006/relationships/image" Target="../media/image74.png"/><Relationship Id="rId40" Type="http://schemas.openxmlformats.org/officeDocument/2006/relationships/image" Target="../media/image77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23" Type="http://schemas.openxmlformats.org/officeDocument/2006/relationships/image" Target="../media/image60.png"/><Relationship Id="rId28" Type="http://schemas.openxmlformats.org/officeDocument/2006/relationships/image" Target="../media/image65.png"/><Relationship Id="rId36" Type="http://schemas.openxmlformats.org/officeDocument/2006/relationships/image" Target="../media/image73.png"/><Relationship Id="rId10" Type="http://schemas.openxmlformats.org/officeDocument/2006/relationships/image" Target="../media/image47.png"/><Relationship Id="rId19" Type="http://schemas.openxmlformats.org/officeDocument/2006/relationships/image" Target="../media/image56.png"/><Relationship Id="rId31" Type="http://schemas.openxmlformats.org/officeDocument/2006/relationships/image" Target="../media/image68.png"/><Relationship Id="rId44" Type="http://schemas.openxmlformats.org/officeDocument/2006/relationships/image" Target="../media/image81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Relationship Id="rId22" Type="http://schemas.openxmlformats.org/officeDocument/2006/relationships/image" Target="../media/image59.png"/><Relationship Id="rId27" Type="http://schemas.openxmlformats.org/officeDocument/2006/relationships/image" Target="../media/image64.png"/><Relationship Id="rId30" Type="http://schemas.openxmlformats.org/officeDocument/2006/relationships/image" Target="../media/image67.png"/><Relationship Id="rId35" Type="http://schemas.openxmlformats.org/officeDocument/2006/relationships/image" Target="../media/image72.png"/><Relationship Id="rId43" Type="http://schemas.openxmlformats.org/officeDocument/2006/relationships/image" Target="../media/image80.png"/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5" Type="http://schemas.openxmlformats.org/officeDocument/2006/relationships/image" Target="../media/image62.png"/><Relationship Id="rId33" Type="http://schemas.openxmlformats.org/officeDocument/2006/relationships/image" Target="../media/image70.png"/><Relationship Id="rId38" Type="http://schemas.openxmlformats.org/officeDocument/2006/relationships/image" Target="../media/image75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2.png"/><Relationship Id="rId18" Type="http://schemas.openxmlformats.org/officeDocument/2006/relationships/image" Target="../media/image97.png"/><Relationship Id="rId26" Type="http://schemas.openxmlformats.org/officeDocument/2006/relationships/image" Target="../media/image105.png"/><Relationship Id="rId39" Type="http://schemas.openxmlformats.org/officeDocument/2006/relationships/image" Target="../media/image118.png"/><Relationship Id="rId21" Type="http://schemas.openxmlformats.org/officeDocument/2006/relationships/image" Target="../media/image100.png"/><Relationship Id="rId34" Type="http://schemas.openxmlformats.org/officeDocument/2006/relationships/image" Target="../media/image113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17" Type="http://schemas.openxmlformats.org/officeDocument/2006/relationships/image" Target="../media/image96.png"/><Relationship Id="rId25" Type="http://schemas.openxmlformats.org/officeDocument/2006/relationships/image" Target="../media/image104.png"/><Relationship Id="rId33" Type="http://schemas.openxmlformats.org/officeDocument/2006/relationships/image" Target="../media/image112.png"/><Relationship Id="rId38" Type="http://schemas.openxmlformats.org/officeDocument/2006/relationships/image" Target="../media/image11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95.png"/><Relationship Id="rId20" Type="http://schemas.openxmlformats.org/officeDocument/2006/relationships/image" Target="../media/image99.png"/><Relationship Id="rId29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24" Type="http://schemas.openxmlformats.org/officeDocument/2006/relationships/image" Target="../media/image103.png"/><Relationship Id="rId32" Type="http://schemas.openxmlformats.org/officeDocument/2006/relationships/image" Target="../media/image111.png"/><Relationship Id="rId37" Type="http://schemas.openxmlformats.org/officeDocument/2006/relationships/image" Target="../media/image116.png"/><Relationship Id="rId5" Type="http://schemas.openxmlformats.org/officeDocument/2006/relationships/image" Target="../media/image84.png"/><Relationship Id="rId15" Type="http://schemas.openxmlformats.org/officeDocument/2006/relationships/image" Target="../media/image94.png"/><Relationship Id="rId23" Type="http://schemas.openxmlformats.org/officeDocument/2006/relationships/image" Target="../media/image102.png"/><Relationship Id="rId28" Type="http://schemas.openxmlformats.org/officeDocument/2006/relationships/image" Target="../media/image107.png"/><Relationship Id="rId36" Type="http://schemas.openxmlformats.org/officeDocument/2006/relationships/image" Target="../media/image115.png"/><Relationship Id="rId10" Type="http://schemas.openxmlformats.org/officeDocument/2006/relationships/image" Target="../media/image89.png"/><Relationship Id="rId19" Type="http://schemas.openxmlformats.org/officeDocument/2006/relationships/image" Target="../media/image98.png"/><Relationship Id="rId31" Type="http://schemas.openxmlformats.org/officeDocument/2006/relationships/image" Target="../media/image110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Relationship Id="rId14" Type="http://schemas.openxmlformats.org/officeDocument/2006/relationships/image" Target="../media/image93.png"/><Relationship Id="rId22" Type="http://schemas.openxmlformats.org/officeDocument/2006/relationships/image" Target="../media/image101.png"/><Relationship Id="rId27" Type="http://schemas.openxmlformats.org/officeDocument/2006/relationships/image" Target="../media/image106.png"/><Relationship Id="rId30" Type="http://schemas.openxmlformats.org/officeDocument/2006/relationships/image" Target="../media/image109.png"/><Relationship Id="rId35" Type="http://schemas.openxmlformats.org/officeDocument/2006/relationships/image" Target="../media/image114.png"/><Relationship Id="rId8" Type="http://schemas.openxmlformats.org/officeDocument/2006/relationships/image" Target="../media/image87.png"/><Relationship Id="rId3" Type="http://schemas.openxmlformats.org/officeDocument/2006/relationships/image" Target="../media/image8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129.png"/><Relationship Id="rId18" Type="http://schemas.openxmlformats.org/officeDocument/2006/relationships/image" Target="../media/image134.png"/><Relationship Id="rId3" Type="http://schemas.openxmlformats.org/officeDocument/2006/relationships/image" Target="../media/image119.png"/><Relationship Id="rId21" Type="http://schemas.openxmlformats.org/officeDocument/2006/relationships/image" Target="../media/image137.png"/><Relationship Id="rId7" Type="http://schemas.openxmlformats.org/officeDocument/2006/relationships/image" Target="../media/image123.png"/><Relationship Id="rId12" Type="http://schemas.openxmlformats.org/officeDocument/2006/relationships/image" Target="../media/image128.png"/><Relationship Id="rId17" Type="http://schemas.openxmlformats.org/officeDocument/2006/relationships/image" Target="../media/image133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32.png"/><Relationship Id="rId20" Type="http://schemas.openxmlformats.org/officeDocument/2006/relationships/image" Target="../media/image1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2.png"/><Relationship Id="rId11" Type="http://schemas.openxmlformats.org/officeDocument/2006/relationships/image" Target="../media/image127.png"/><Relationship Id="rId5" Type="http://schemas.openxmlformats.org/officeDocument/2006/relationships/image" Target="../media/image121.png"/><Relationship Id="rId15" Type="http://schemas.openxmlformats.org/officeDocument/2006/relationships/image" Target="../media/image131.png"/><Relationship Id="rId10" Type="http://schemas.openxmlformats.org/officeDocument/2006/relationships/image" Target="../media/image126.png"/><Relationship Id="rId19" Type="http://schemas.openxmlformats.org/officeDocument/2006/relationships/image" Target="../media/image135.png"/><Relationship Id="rId4" Type="http://schemas.openxmlformats.org/officeDocument/2006/relationships/image" Target="../media/image120.png"/><Relationship Id="rId9" Type="http://schemas.openxmlformats.org/officeDocument/2006/relationships/image" Target="../media/image125.png"/><Relationship Id="rId14" Type="http://schemas.openxmlformats.org/officeDocument/2006/relationships/image" Target="../media/image130.png"/><Relationship Id="rId22" Type="http://schemas.openxmlformats.org/officeDocument/2006/relationships/image" Target="../media/image13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13" Type="http://schemas.openxmlformats.org/officeDocument/2006/relationships/image" Target="../media/image149.png"/><Relationship Id="rId18" Type="http://schemas.openxmlformats.org/officeDocument/2006/relationships/image" Target="../media/image154.png"/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12" Type="http://schemas.openxmlformats.org/officeDocument/2006/relationships/image" Target="../media/image148.png"/><Relationship Id="rId17" Type="http://schemas.openxmlformats.org/officeDocument/2006/relationships/image" Target="../media/image153.png"/><Relationship Id="rId2" Type="http://schemas.openxmlformats.org/officeDocument/2006/relationships/image" Target="../media/image10.png"/><Relationship Id="rId16" Type="http://schemas.openxmlformats.org/officeDocument/2006/relationships/image" Target="../media/image1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png"/><Relationship Id="rId11" Type="http://schemas.openxmlformats.org/officeDocument/2006/relationships/image" Target="../media/image147.png"/><Relationship Id="rId5" Type="http://schemas.openxmlformats.org/officeDocument/2006/relationships/image" Target="../media/image141.png"/><Relationship Id="rId15" Type="http://schemas.openxmlformats.org/officeDocument/2006/relationships/image" Target="../media/image151.png"/><Relationship Id="rId10" Type="http://schemas.openxmlformats.org/officeDocument/2006/relationships/image" Target="../media/image146.png"/><Relationship Id="rId4" Type="http://schemas.openxmlformats.org/officeDocument/2006/relationships/image" Target="../media/image140.png"/><Relationship Id="rId9" Type="http://schemas.openxmlformats.org/officeDocument/2006/relationships/image" Target="../media/image145.png"/><Relationship Id="rId14" Type="http://schemas.openxmlformats.org/officeDocument/2006/relationships/image" Target="../media/image15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8.png"/><Relationship Id="rId18" Type="http://schemas.openxmlformats.org/officeDocument/2006/relationships/image" Target="../media/image163.png"/><Relationship Id="rId26" Type="http://schemas.openxmlformats.org/officeDocument/2006/relationships/image" Target="../media/image171.png"/><Relationship Id="rId3" Type="http://schemas.openxmlformats.org/officeDocument/2006/relationships/image" Target="../media/image40.png"/><Relationship Id="rId21" Type="http://schemas.openxmlformats.org/officeDocument/2006/relationships/image" Target="../media/image166.png"/><Relationship Id="rId34" Type="http://schemas.openxmlformats.org/officeDocument/2006/relationships/image" Target="../media/image179.png"/><Relationship Id="rId7" Type="http://schemas.openxmlformats.org/officeDocument/2006/relationships/image" Target="../media/image44.png"/><Relationship Id="rId12" Type="http://schemas.openxmlformats.org/officeDocument/2006/relationships/image" Target="../media/image157.png"/><Relationship Id="rId17" Type="http://schemas.openxmlformats.org/officeDocument/2006/relationships/image" Target="../media/image162.png"/><Relationship Id="rId25" Type="http://schemas.openxmlformats.org/officeDocument/2006/relationships/image" Target="../media/image170.png"/><Relationship Id="rId33" Type="http://schemas.openxmlformats.org/officeDocument/2006/relationships/image" Target="../media/image17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61.png"/><Relationship Id="rId20" Type="http://schemas.openxmlformats.org/officeDocument/2006/relationships/image" Target="../media/image165.png"/><Relationship Id="rId29" Type="http://schemas.openxmlformats.org/officeDocument/2006/relationships/image" Target="../media/image1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156.png"/><Relationship Id="rId24" Type="http://schemas.openxmlformats.org/officeDocument/2006/relationships/image" Target="../media/image169.png"/><Relationship Id="rId32" Type="http://schemas.openxmlformats.org/officeDocument/2006/relationships/image" Target="../media/image177.png"/><Relationship Id="rId5" Type="http://schemas.openxmlformats.org/officeDocument/2006/relationships/image" Target="../media/image42.png"/><Relationship Id="rId15" Type="http://schemas.openxmlformats.org/officeDocument/2006/relationships/image" Target="../media/image160.png"/><Relationship Id="rId23" Type="http://schemas.openxmlformats.org/officeDocument/2006/relationships/image" Target="../media/image168.png"/><Relationship Id="rId28" Type="http://schemas.openxmlformats.org/officeDocument/2006/relationships/image" Target="../media/image173.png"/><Relationship Id="rId10" Type="http://schemas.openxmlformats.org/officeDocument/2006/relationships/image" Target="../media/image155.png"/><Relationship Id="rId19" Type="http://schemas.openxmlformats.org/officeDocument/2006/relationships/image" Target="../media/image164.png"/><Relationship Id="rId31" Type="http://schemas.openxmlformats.org/officeDocument/2006/relationships/image" Target="../media/image176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159.png"/><Relationship Id="rId22" Type="http://schemas.openxmlformats.org/officeDocument/2006/relationships/image" Target="../media/image167.png"/><Relationship Id="rId27" Type="http://schemas.openxmlformats.org/officeDocument/2006/relationships/image" Target="../media/image172.png"/><Relationship Id="rId30" Type="http://schemas.openxmlformats.org/officeDocument/2006/relationships/image" Target="../media/image175.png"/><Relationship Id="rId35" Type="http://schemas.openxmlformats.org/officeDocument/2006/relationships/image" Target="../media/image180.png"/><Relationship Id="rId8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6382" y="1608790"/>
            <a:ext cx="9446339" cy="2884942"/>
          </a:xfrm>
        </p:spPr>
        <p:txBody>
          <a:bodyPr>
            <a:normAutofit fontScale="90000"/>
          </a:bodyPr>
          <a:lstStyle/>
          <a:p>
            <a:r>
              <a:rPr lang="en-AU" b="1" dirty="0">
                <a:latin typeface="Chalkduster" charset="0"/>
                <a:ea typeface="Chalkduster" charset="0"/>
                <a:cs typeface="Chalkduster" charset="0"/>
              </a:rPr>
              <a:t>Topic: Surds</a:t>
            </a:r>
            <a:br>
              <a:rPr lang="en-AU" b="1" dirty="0">
                <a:latin typeface="Chalkduster" charset="0"/>
                <a:ea typeface="Chalkduster" charset="0"/>
                <a:cs typeface="Chalkduster" charset="0"/>
              </a:rPr>
            </a:br>
            <a:r>
              <a:rPr lang="en-AU" b="1" dirty="0">
                <a:latin typeface="Chalkduster" charset="0"/>
                <a:ea typeface="Chalkduster" charset="0"/>
                <a:cs typeface="Chalkduster" charset="0"/>
              </a:rPr>
              <a:t>EQ: How do we apply basic operations to surds?</a:t>
            </a:r>
            <a:br>
              <a:rPr lang="en-AU" b="1" dirty="0"/>
            </a:br>
            <a:endParaRPr lang="en-AU" b="1" dirty="0">
              <a:latin typeface="Kiwi School Handwriting" panose="00000500000000000000" pitchFamily="2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135560" y="332657"/>
            <a:ext cx="7772400" cy="14700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 fontScale="97500"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 kern="1200">
                <a:solidFill>
                  <a:srgbClr val="7C7F91"/>
                </a:solidFill>
                <a:latin typeface="+mj-lt"/>
                <a:ea typeface="+mj-ea"/>
                <a:cs typeface="+mj-c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699425" y="3426774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9425" y="3426774"/>
                <a:ext cx="1368152" cy="1446550"/>
              </a:xfrm>
              <a:prstGeom prst="rect">
                <a:avLst/>
              </a:prstGeom>
              <a:blipFill>
                <a:blip r:embed="rId3"/>
                <a:stretch>
                  <a:fillRect l="-1835" r="-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0591085" y="3380027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1085" y="3380027"/>
                <a:ext cx="1368152" cy="144655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411923" y="520289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8800" b="0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0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923" y="5202890"/>
                <a:ext cx="1368152" cy="144655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0" y="166870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668700"/>
                <a:ext cx="1368152" cy="144655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897823" y="-22247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7823" y="-222473"/>
                <a:ext cx="1368152" cy="144655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10934166" y="1364933"/>
            <a:ext cx="13681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6600" dirty="0">
                <a:solidFill>
                  <a:srgbClr val="FFFF00"/>
                </a:solidFill>
              </a:rPr>
              <a:t>-1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421910" y="345634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6600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23</m:t>
                      </m:r>
                    </m:oMath>
                  </m:oMathPara>
                </a14:m>
                <a:endParaRPr lang="en-AU" sz="6600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910" y="345634"/>
                <a:ext cx="1368152" cy="1107996"/>
              </a:xfrm>
              <a:prstGeom prst="rect">
                <a:avLst/>
              </a:prstGeom>
              <a:blipFill>
                <a:blip r:embed="rId8"/>
                <a:stretch>
                  <a:fillRect l="-4587" r="-4587" b="-34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8868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8308" y="3909817"/>
                <a:ext cx="1368152" cy="1107996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0213747" y="537216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6600" b="0" i="1" smtClean="0">
                          <a:latin typeface="Cambria Math" charset="0"/>
                        </a:rPr>
                        <m:t>−10</m:t>
                      </m:r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3747" y="5372167"/>
                <a:ext cx="1368152" cy="1107996"/>
              </a:xfrm>
              <a:prstGeom prst="rect">
                <a:avLst/>
              </a:prstGeom>
              <a:blipFill rotWithShape="0">
                <a:blip r:embed="rId10"/>
                <a:stretch>
                  <a:fillRect r="-16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ubtitle 2"/>
          <p:cNvSpPr txBox="1">
            <a:spLocks/>
          </p:cNvSpPr>
          <p:nvPr/>
        </p:nvSpPr>
        <p:spPr>
          <a:xfrm>
            <a:off x="421910" y="3909817"/>
            <a:ext cx="4215502" cy="2599009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5100" dirty="0">
                <a:latin typeface="Chalkduster" charset="0"/>
                <a:ea typeface="Chalkduster" charset="0"/>
                <a:cs typeface="Chalkduster" charset="0"/>
              </a:rPr>
              <a:t>Name:  </a:t>
            </a:r>
          </a:p>
          <a:p>
            <a:pPr marL="0" indent="0">
              <a:buNone/>
            </a:pPr>
            <a:r>
              <a:rPr lang="en-AU" sz="5100" dirty="0">
                <a:latin typeface="Chalkduster" charset="0"/>
                <a:ea typeface="Chalkduster" charset="0"/>
                <a:cs typeface="Chalkduster" charset="0"/>
              </a:rPr>
              <a:t>Class: </a:t>
            </a:r>
          </a:p>
          <a:p>
            <a:pPr marL="0" indent="0">
              <a:buNone/>
            </a:pPr>
            <a:r>
              <a:rPr lang="en-AU" sz="5100" dirty="0">
                <a:latin typeface="Chalkduster" charset="0"/>
                <a:ea typeface="Chalkduster" charset="0"/>
                <a:cs typeface="Chalkduster" charset="0"/>
              </a:rPr>
              <a:t>Teacher: </a:t>
            </a:r>
          </a:p>
          <a:p>
            <a:pPr marL="0" indent="0">
              <a:buNone/>
            </a:pPr>
            <a:r>
              <a:rPr lang="en-AU" sz="5100" dirty="0">
                <a:latin typeface="Chalkduster" charset="0"/>
                <a:ea typeface="Chalkduster" charset="0"/>
                <a:cs typeface="Chalkduster" charset="0"/>
              </a:rPr>
              <a:t>Semester 1</a:t>
            </a:r>
          </a:p>
          <a:p>
            <a:pPr marL="0" indent="0">
              <a:buNone/>
            </a:pPr>
            <a:r>
              <a:rPr lang="en-AU" sz="5100" dirty="0">
                <a:latin typeface="Chalkduster" charset="0"/>
                <a:ea typeface="Chalkduster" charset="0"/>
                <a:cs typeface="Chalkduster" charset="0"/>
              </a:rPr>
              <a:t>Term 1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Interactive Notebooks!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457634"/>
            <a:ext cx="7886700" cy="5177342"/>
          </a:xfrm>
        </p:spPr>
        <p:txBody>
          <a:bodyPr>
            <a:normAutofit/>
          </a:bodyPr>
          <a:lstStyle/>
          <a:p>
            <a:r>
              <a:rPr lang="en-US" dirty="0"/>
              <a:t>Cover Page</a:t>
            </a:r>
          </a:p>
          <a:p>
            <a:r>
              <a:rPr lang="en-US" dirty="0"/>
              <a:t>Contents Page</a:t>
            </a:r>
          </a:p>
          <a:p>
            <a:r>
              <a:rPr lang="en-US" dirty="0"/>
              <a:t>Glossary</a:t>
            </a:r>
          </a:p>
          <a:p>
            <a:r>
              <a:rPr lang="en-US" dirty="0"/>
              <a:t>24/7/30</a:t>
            </a:r>
          </a:p>
          <a:p>
            <a:r>
              <a:rPr lang="en-US" dirty="0"/>
              <a:t>EQ</a:t>
            </a:r>
          </a:p>
          <a:p>
            <a:r>
              <a:rPr lang="en-US" dirty="0"/>
              <a:t>Questions</a:t>
            </a:r>
          </a:p>
          <a:p>
            <a:r>
              <a:rPr lang="en-US" dirty="0"/>
              <a:t>Notes</a:t>
            </a:r>
          </a:p>
          <a:p>
            <a:r>
              <a:rPr lang="en-US" dirty="0"/>
              <a:t>Summaries</a:t>
            </a:r>
          </a:p>
          <a:p>
            <a:r>
              <a:rPr lang="en-US" dirty="0"/>
              <a:t>Work page</a:t>
            </a:r>
          </a:p>
          <a:p>
            <a:r>
              <a:rPr lang="en-US" dirty="0"/>
              <a:t>Presentation!!!</a:t>
            </a:r>
            <a:endParaRPr lang="en-AU" dirty="0"/>
          </a:p>
        </p:txBody>
      </p:sp>
      <p:pic>
        <p:nvPicPr>
          <p:cNvPr id="2050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7218" y="1332741"/>
            <a:ext cx="3389972" cy="4268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 rot="20602649">
            <a:off x="5765911" y="4362736"/>
            <a:ext cx="4750425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Your book, your responsibility!</a:t>
            </a:r>
          </a:p>
        </p:txBody>
      </p:sp>
    </p:spTree>
    <p:extLst>
      <p:ext uri="{BB962C8B-B14F-4D97-AF65-F5344CB8AC3E}">
        <p14:creationId xmlns:p14="http://schemas.microsoft.com/office/powerpoint/2010/main" val="504141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000" y="266700"/>
            <a:ext cx="6350000" cy="631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354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Box 40">
            <a:extLst>
              <a:ext uri="{FF2B5EF4-FFF2-40B4-BE49-F238E27FC236}">
                <a16:creationId xmlns:a16="http://schemas.microsoft.com/office/drawing/2014/main" id="{11F90255-F304-B140-ADB2-93464DCFC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3573463"/>
            <a:ext cx="2162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u="sng">
                <a:solidFill>
                  <a:srgbClr val="660066"/>
                </a:solidFill>
              </a:rPr>
              <a:t>EXTENSION</a:t>
            </a:r>
            <a:endParaRPr lang="en-US" altLang="en-US" sz="2400" b="1" u="sng">
              <a:solidFill>
                <a:srgbClr val="660066"/>
              </a:solidFill>
            </a:endParaRPr>
          </a:p>
        </p:txBody>
      </p:sp>
      <p:sp>
        <p:nvSpPr>
          <p:cNvPr id="68" name="Text Box 40">
            <a:extLst>
              <a:ext uri="{FF2B5EF4-FFF2-40B4-BE49-F238E27FC236}">
                <a16:creationId xmlns:a16="http://schemas.microsoft.com/office/drawing/2014/main" id="{FE00257B-0F50-4141-BCA0-1AAEFE62D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" y="981075"/>
            <a:ext cx="2160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u="sng">
                <a:solidFill>
                  <a:srgbClr val="FF0000"/>
                </a:solidFill>
              </a:rPr>
              <a:t>TASK</a:t>
            </a:r>
            <a:endParaRPr lang="en-US" altLang="en-US" sz="2400" b="1" u="sng">
              <a:solidFill>
                <a:srgbClr val="FF0000"/>
              </a:solidFill>
            </a:endParaRPr>
          </a:p>
        </p:txBody>
      </p:sp>
      <p:sp>
        <p:nvSpPr>
          <p:cNvPr id="69" name="TextBox 1">
            <a:extLst>
              <a:ext uri="{FF2B5EF4-FFF2-40B4-BE49-F238E27FC236}">
                <a16:creationId xmlns:a16="http://schemas.microsoft.com/office/drawing/2014/main" id="{33A1239E-1FE6-B348-88F1-900B302AB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1812925"/>
            <a:ext cx="652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1)</a:t>
            </a:r>
          </a:p>
        </p:txBody>
      </p:sp>
      <p:sp>
        <p:nvSpPr>
          <p:cNvPr id="70" name="TextBox 32">
            <a:extLst>
              <a:ext uri="{FF2B5EF4-FFF2-40B4-BE49-F238E27FC236}">
                <a16:creationId xmlns:a16="http://schemas.microsoft.com/office/drawing/2014/main" id="{FDC3850B-D668-FF49-8A1E-A2235C278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3013" y="1798638"/>
            <a:ext cx="6524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2)</a:t>
            </a:r>
          </a:p>
        </p:txBody>
      </p:sp>
      <p:sp>
        <p:nvSpPr>
          <p:cNvPr id="71" name="TextBox 36">
            <a:extLst>
              <a:ext uri="{FF2B5EF4-FFF2-40B4-BE49-F238E27FC236}">
                <a16:creationId xmlns:a16="http://schemas.microsoft.com/office/drawing/2014/main" id="{20551233-F2BB-1A47-8AB7-1846DDE39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2375" y="1792288"/>
            <a:ext cx="6540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3)</a:t>
            </a:r>
          </a:p>
        </p:txBody>
      </p:sp>
      <p:sp>
        <p:nvSpPr>
          <p:cNvPr id="72" name="TextBox 40">
            <a:extLst>
              <a:ext uri="{FF2B5EF4-FFF2-40B4-BE49-F238E27FC236}">
                <a16:creationId xmlns:a16="http://schemas.microsoft.com/office/drawing/2014/main" id="{937C3E86-C8E1-3541-9F41-98F316DC9C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3325" y="1804988"/>
            <a:ext cx="41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4)</a:t>
            </a:r>
            <a:r>
              <a:rPr lang="en-US" altLang="en-US" sz="2000"/>
              <a:t>   </a:t>
            </a:r>
          </a:p>
        </p:txBody>
      </p:sp>
      <p:sp>
        <p:nvSpPr>
          <p:cNvPr id="73" name="TextBox 41">
            <a:extLst>
              <a:ext uri="{FF2B5EF4-FFF2-40B4-BE49-F238E27FC236}">
                <a16:creationId xmlns:a16="http://schemas.microsoft.com/office/drawing/2014/main" id="{C7903CE0-5088-5341-942F-2AD0D1575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" y="1352550"/>
            <a:ext cx="47656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/>
              <a:t>Simplify the following surds:</a:t>
            </a:r>
          </a:p>
        </p:txBody>
      </p:sp>
      <p:sp>
        <p:nvSpPr>
          <p:cNvPr id="74" name="TextBox 41">
            <a:extLst>
              <a:ext uri="{FF2B5EF4-FFF2-40B4-BE49-F238E27FC236}">
                <a16:creationId xmlns:a16="http://schemas.microsoft.com/office/drawing/2014/main" id="{32AABA2A-AF8A-AE42-8D1C-466A992EA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250" y="1803400"/>
            <a:ext cx="642938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5) </a:t>
            </a:r>
          </a:p>
        </p:txBody>
      </p:sp>
      <p:sp>
        <p:nvSpPr>
          <p:cNvPr id="75" name="TextBox 41">
            <a:extLst>
              <a:ext uri="{FF2B5EF4-FFF2-40B4-BE49-F238E27FC236}">
                <a16:creationId xmlns:a16="http://schemas.microsoft.com/office/drawing/2014/main" id="{24413545-9C42-4F48-B492-6F79F4CCE3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6013" y="1808163"/>
            <a:ext cx="642937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6) </a:t>
            </a:r>
          </a:p>
        </p:txBody>
      </p:sp>
      <p:sp>
        <p:nvSpPr>
          <p:cNvPr id="76" name="TextBox 41">
            <a:extLst>
              <a:ext uri="{FF2B5EF4-FFF2-40B4-BE49-F238E27FC236}">
                <a16:creationId xmlns:a16="http://schemas.microsoft.com/office/drawing/2014/main" id="{A7849D9A-C92F-1A45-8F82-7900140485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0950" y="1798638"/>
            <a:ext cx="6429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7) </a:t>
            </a:r>
          </a:p>
        </p:txBody>
      </p:sp>
      <p:pic>
        <p:nvPicPr>
          <p:cNvPr id="77" name="Picture 79">
            <a:extLst>
              <a:ext uri="{FF2B5EF4-FFF2-40B4-BE49-F238E27FC236}">
                <a16:creationId xmlns:a16="http://schemas.microsoft.com/office/drawing/2014/main" id="{B0215C00-20D6-274B-B8F7-AAC01E8B4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2900" y="1065213"/>
            <a:ext cx="48387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8" name="Rectangle 77">
            <a:extLst>
              <a:ext uri="{FF2B5EF4-FFF2-40B4-BE49-F238E27FC236}">
                <a16:creationId xmlns:a16="http://schemas.microsoft.com/office/drawing/2014/main" id="{15D3A434-3599-5D46-B82E-22CA943CDC5F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23528" y="1732261"/>
            <a:ext cx="811569" cy="505203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B6BD3E0-82B7-6544-8404-344D808D7188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534016" y="1726478"/>
            <a:ext cx="811569" cy="505203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36DD5C9-EEB6-DC4D-B55B-275225426FF2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752319" y="1740126"/>
            <a:ext cx="811569" cy="505203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BAB5916-638D-0943-811E-668E6A68FF4E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048463" y="1740126"/>
            <a:ext cx="811569" cy="505203"/>
          </a:xfrm>
          <a:prstGeom prst="rect">
            <a:avLst/>
          </a:prstGeom>
          <a:blipFill rotWithShape="1">
            <a:blip r:embed="rId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5CF62C2-624B-5B4B-B722-49BEE4F27634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200591" y="1740126"/>
            <a:ext cx="811569" cy="503856"/>
          </a:xfrm>
          <a:prstGeom prst="rect">
            <a:avLst/>
          </a:prstGeom>
          <a:blipFill rotWithShape="1">
            <a:blip r:embed="rId7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C63660E-E100-FA4A-B92F-4FBA37B423E0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470833" y="1744094"/>
            <a:ext cx="981487" cy="505203"/>
          </a:xfrm>
          <a:prstGeom prst="rect">
            <a:avLst/>
          </a:prstGeom>
          <a:blipFill rotWithShape="1">
            <a:blip r:embed="rId8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35D64FD-6C62-2A44-95B5-03734316F488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838985" y="1740126"/>
            <a:ext cx="981487" cy="505203"/>
          </a:xfrm>
          <a:prstGeom prst="rect">
            <a:avLst/>
          </a:prstGeom>
          <a:blipFill rotWithShape="1">
            <a:blip r:embed="rId9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85" name="TextBox 41">
            <a:extLst>
              <a:ext uri="{FF2B5EF4-FFF2-40B4-BE49-F238E27FC236}">
                <a16:creationId xmlns:a16="http://schemas.microsoft.com/office/drawing/2014/main" id="{3374228C-442E-EF4F-9259-2DDC6AA2C761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35496" y="3944560"/>
            <a:ext cx="8903163" cy="865814"/>
          </a:xfrm>
          <a:prstGeom prst="rect">
            <a:avLst/>
          </a:prstGeom>
          <a:blipFill rotWithShape="1">
            <a:blip r:embed="rId10"/>
            <a:stretch>
              <a:fillRect l="-1096" t="-1408" r="-753" b="-15493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E8039A7-EC99-4E46-B8A6-E9D7C4484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" y="2286000"/>
            <a:ext cx="5445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=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C72211D-98E0-6142-928E-51231A3910F7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51520" y="2280341"/>
            <a:ext cx="877420" cy="429605"/>
          </a:xfrm>
          <a:prstGeom prst="rect">
            <a:avLst/>
          </a:prstGeom>
          <a:blipFill rotWithShape="1">
            <a:blip r:embed="rId11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2FEDE05-DA1F-A64D-9D2C-0CFAE81A9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88" y="2801938"/>
            <a:ext cx="5461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7030A0"/>
                </a:solidFill>
              </a:rPr>
              <a:t>=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F1B30BB-B2C2-0549-96C3-8484E98F6AF7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61298" y="2783884"/>
            <a:ext cx="649665" cy="429092"/>
          </a:xfrm>
          <a:prstGeom prst="rect">
            <a:avLst/>
          </a:prstGeom>
          <a:blipFill rotWithShape="1">
            <a:blip r:embed="rId12"/>
            <a:stretch>
              <a:fillRect l="-10377" b="-25714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96C33B0-0CCB-3948-AF7C-0946742751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6188" y="2282825"/>
            <a:ext cx="5445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=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612BBF9-699D-4E4A-A399-E84E849C5BFD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440824" y="2276872"/>
            <a:ext cx="1020087" cy="430118"/>
          </a:xfrm>
          <a:prstGeom prst="rect">
            <a:avLst/>
          </a:prstGeom>
          <a:blipFill rotWithShape="1">
            <a:blip r:embed="rId1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B3589B3-C80C-2147-80A9-0D777F5F14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1425" y="2798763"/>
            <a:ext cx="5461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7030A0"/>
                </a:solidFill>
              </a:rPr>
              <a:t>=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3C1549BC-97C1-A54D-BABE-68C3D97C1515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450602" y="2780415"/>
            <a:ext cx="649665" cy="430118"/>
          </a:xfrm>
          <a:prstGeom prst="rect">
            <a:avLst/>
          </a:prstGeom>
          <a:blipFill rotWithShape="1">
            <a:blip r:embed="rId14"/>
            <a:stretch>
              <a:fillRect l="-10280" b="-23944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A8876ED-3DDB-A740-A7A5-EC46F1706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9525" y="2282825"/>
            <a:ext cx="5461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=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6F26F5D-89F6-4847-A3BD-1CAB12ACD478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744828" y="2276872"/>
            <a:ext cx="1020087" cy="430118"/>
          </a:xfrm>
          <a:prstGeom prst="rect">
            <a:avLst/>
          </a:prstGeom>
          <a:blipFill rotWithShape="1">
            <a:blip r:embed="rId1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9BBFBB5-258C-2C42-8F92-9BC381ABC6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6350" y="2798763"/>
            <a:ext cx="5445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7030A0"/>
                </a:solidFill>
              </a:rPr>
              <a:t>=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55723DF-0302-EF45-9D50-F02F50E0B8F8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754606" y="2780415"/>
            <a:ext cx="649665" cy="430118"/>
          </a:xfrm>
          <a:prstGeom prst="rect">
            <a:avLst/>
          </a:prstGeom>
          <a:blipFill rotWithShape="1">
            <a:blip r:embed="rId16"/>
            <a:stretch>
              <a:fillRect l="-10377" b="-23944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F19F9CC-0CCE-4D44-9613-5AF9CFCEB0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2063" y="2286000"/>
            <a:ext cx="5445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=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C20AA05-09A4-1E48-87A6-A4DC46866115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996260" y="2280341"/>
            <a:ext cx="1020087" cy="432298"/>
          </a:xfrm>
          <a:prstGeom prst="rect">
            <a:avLst/>
          </a:prstGeom>
          <a:blipFill rotWithShape="1">
            <a:blip r:embed="rId17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7781DB7-5A92-F44D-97C1-590E232989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7300" y="2801938"/>
            <a:ext cx="5461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7030A0"/>
                </a:solidFill>
              </a:rPr>
              <a:t>=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5C1282C-3874-5F4D-B6DF-DECD87F80DF4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006038" y="2783884"/>
            <a:ext cx="649665" cy="432298"/>
          </a:xfrm>
          <a:prstGeom prst="rect">
            <a:avLst/>
          </a:prstGeom>
          <a:blipFill rotWithShape="1">
            <a:blip r:embed="rId18"/>
            <a:stretch>
              <a:fillRect l="-9346" b="-25352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1CE8DE2-9E6D-3C46-9752-1CA999139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3488" y="2282825"/>
            <a:ext cx="5445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=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16E0CC24-D9E4-F042-B8FD-8FB63F7E4481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237812" y="2276872"/>
            <a:ext cx="1020087" cy="430118"/>
          </a:xfrm>
          <a:prstGeom prst="rect">
            <a:avLst/>
          </a:prstGeom>
          <a:blipFill rotWithShape="1">
            <a:blip r:embed="rId19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DDF8776-B14A-0140-9D4E-EE1C816CE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725" y="2798763"/>
            <a:ext cx="5461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7030A0"/>
                </a:solidFill>
              </a:rPr>
              <a:t>=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144C4C4E-41F7-D642-92DC-E57FE7B20867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247590" y="2780415"/>
            <a:ext cx="803553" cy="430118"/>
          </a:xfrm>
          <a:prstGeom prst="rect">
            <a:avLst/>
          </a:prstGeom>
          <a:blipFill rotWithShape="1">
            <a:blip r:embed="rId20"/>
            <a:stretch>
              <a:fillRect l="-8333" b="-23944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D187A87-1CB8-8C4C-A243-A9789460F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8725" y="2282825"/>
            <a:ext cx="5445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=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F2997112-C374-DD46-9755-3144A8D3EF63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502892" y="2276872"/>
            <a:ext cx="1162754" cy="429092"/>
          </a:xfrm>
          <a:prstGeom prst="rect">
            <a:avLst/>
          </a:prstGeom>
          <a:blipFill rotWithShape="1">
            <a:blip r:embed="rId21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E84842D-7AD7-914C-8464-8ECA0F6153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3963" y="2798763"/>
            <a:ext cx="5461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7030A0"/>
                </a:solidFill>
              </a:rPr>
              <a:t>=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789F573A-B609-B749-80B2-5F3512A81E08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512670" y="2780415"/>
            <a:ext cx="792333" cy="428964"/>
          </a:xfrm>
          <a:prstGeom prst="rect">
            <a:avLst/>
          </a:prstGeom>
          <a:blipFill rotWithShape="1">
            <a:blip r:embed="rId22"/>
            <a:stretch>
              <a:fillRect l="-7692" b="-25714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D75B126-4AF0-3141-B9D3-A98980ABF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9375" y="2282825"/>
            <a:ext cx="5461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=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8D56445-FB87-1445-8854-6A7ECF482E27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894248" y="2276872"/>
            <a:ext cx="1020087" cy="429092"/>
          </a:xfrm>
          <a:prstGeom prst="rect">
            <a:avLst/>
          </a:prstGeom>
          <a:blipFill rotWithShape="1">
            <a:blip r:embed="rId2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7758C98-A953-9E45-B205-1CBD55DFA7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2798763"/>
            <a:ext cx="5445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7030A0"/>
                </a:solidFill>
              </a:rPr>
              <a:t>=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ED7B8C84-93ED-C343-B9C2-9C9D1C11F8E9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904026" y="2780415"/>
            <a:ext cx="649665" cy="429092"/>
          </a:xfrm>
          <a:prstGeom prst="rect">
            <a:avLst/>
          </a:prstGeom>
          <a:blipFill rotWithShape="1">
            <a:blip r:embed="rId24"/>
            <a:stretch>
              <a:fillRect l="-10377" b="-25714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E23B5D3C-DD8B-9045-BBEF-A2A7A3A1EAD7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931539" y="4725144"/>
            <a:ext cx="840422" cy="505203"/>
          </a:xfrm>
          <a:prstGeom prst="rect">
            <a:avLst/>
          </a:prstGeom>
          <a:blipFill rotWithShape="1">
            <a:blip r:embed="rId2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15" name="TextBox 112">
            <a:extLst>
              <a:ext uri="{FF2B5EF4-FFF2-40B4-BE49-F238E27FC236}">
                <a16:creationId xmlns:a16="http://schemas.microsoft.com/office/drawing/2014/main" id="{3723D12D-FDF4-BB48-90A7-D3F422775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50" y="4805363"/>
            <a:ext cx="5461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/>
              <a:t>=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794484D-781B-1745-8418-A8F0A7DCB30F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846357" y="4738792"/>
            <a:ext cx="1013675" cy="496996"/>
          </a:xfrm>
          <a:prstGeom prst="rect">
            <a:avLst/>
          </a:prstGeom>
          <a:blipFill rotWithShape="1">
            <a:blip r:embed="rId2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01D209E-CF54-CB4E-BFD2-1BA6ED15D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7125" y="5148263"/>
            <a:ext cx="5445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>
                <a:solidFill>
                  <a:srgbClr val="7030A0"/>
                </a:solidFill>
              </a:rPr>
              <a:t>=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00BE2490-D2DD-604F-9483-96AC0C207D35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865568" y="5078596"/>
            <a:ext cx="728213" cy="496483"/>
          </a:xfrm>
          <a:prstGeom prst="rect">
            <a:avLst/>
          </a:prstGeom>
          <a:blipFill rotWithShape="1">
            <a:blip r:embed="rId27"/>
            <a:stretch>
              <a:fillRect l="-12500" t="-2439" b="-26829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758B441-1A16-644B-BF34-3AC67549E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7125" y="5508625"/>
            <a:ext cx="5445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>
                <a:solidFill>
                  <a:srgbClr val="7030A0"/>
                </a:solidFill>
              </a:rPr>
              <a:t>=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F7FB0A1F-016B-DE4E-8F5F-4E87E2B75089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874850" y="5425501"/>
            <a:ext cx="1561245" cy="513602"/>
          </a:xfrm>
          <a:prstGeom prst="rect">
            <a:avLst/>
          </a:prstGeom>
          <a:blipFill rotWithShape="1">
            <a:blip r:embed="rId28"/>
            <a:stretch>
              <a:fillRect l="-6250" t="-1190" b="-25000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B32799C-66DE-E243-9941-EBE683D5A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9825" y="5822950"/>
            <a:ext cx="546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>
                <a:solidFill>
                  <a:srgbClr val="7030A0"/>
                </a:solidFill>
              </a:rPr>
              <a:t>=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AE2B09E6-AEEA-504D-B9DB-356C9E63230E}"/>
              </a:ext>
            </a:extLst>
          </p:cNvPr>
          <p:cNvGrpSpPr>
            <a:grpSpLocks/>
          </p:cNvGrpSpPr>
          <p:nvPr/>
        </p:nvGrpSpPr>
        <p:grpSpPr bwMode="auto">
          <a:xfrm>
            <a:off x="3883025" y="5740400"/>
            <a:ext cx="1865313" cy="498475"/>
            <a:chOff x="3882984" y="5885142"/>
            <a:chExt cx="1864871" cy="497637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CDDBFA76-CBEE-F347-862F-8C4D1BD703A4}"/>
                </a:ext>
              </a:extLst>
            </p:cNvPr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3882984" y="5885142"/>
              <a:ext cx="1864871" cy="497637"/>
            </a:xfrm>
            <a:prstGeom prst="rect">
              <a:avLst/>
            </a:prstGeom>
            <a:blipFill rotWithShape="1">
              <a:blip r:embed="rId29"/>
              <a:stretch>
                <a:fillRect l="-5229" t="-1235" b="-29630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en-GB">
                  <a:noFill/>
                  <a:latin typeface="Arial" charset="0"/>
                  <a:cs typeface="Arial" charset="0"/>
                </a:rPr>
                <a:t> </a:t>
              </a:r>
            </a:p>
          </p:txBody>
        </p:sp>
        <p:sp>
          <p:nvSpPr>
            <p:cNvPr id="124" name="Rectangle 4">
              <a:extLst>
                <a:ext uri="{FF2B5EF4-FFF2-40B4-BE49-F238E27FC236}">
                  <a16:creationId xmlns:a16="http://schemas.microsoft.com/office/drawing/2014/main" id="{DF981896-DD68-5E47-9A88-DF1D5A29BC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6304" y="5919663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 sz="2400">
                  <a:solidFill>
                    <a:srgbClr val="7030A0"/>
                  </a:solidFill>
                </a:rPr>
                <a:t>x</a:t>
              </a:r>
              <a:endParaRPr lang="en-GB" altLang="en-US"/>
            </a:p>
          </p:txBody>
        </p:sp>
      </p:grpSp>
      <p:sp>
        <p:nvSpPr>
          <p:cNvPr id="125" name="TextBox 124">
            <a:extLst>
              <a:ext uri="{FF2B5EF4-FFF2-40B4-BE49-F238E27FC236}">
                <a16:creationId xmlns:a16="http://schemas.microsoft.com/office/drawing/2014/main" id="{80F1C2A0-9E01-D64E-8A7F-36933E1A4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9825" y="6137275"/>
            <a:ext cx="546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>
                <a:solidFill>
                  <a:srgbClr val="7030A0"/>
                </a:solidFill>
              </a:rPr>
              <a:t>=</a:t>
            </a:r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3565ED5B-C9A1-8F4B-B36A-36D32CC74108}"/>
              </a:ext>
            </a:extLst>
          </p:cNvPr>
          <p:cNvGrpSpPr>
            <a:grpSpLocks/>
          </p:cNvGrpSpPr>
          <p:nvPr/>
        </p:nvGrpSpPr>
        <p:grpSpPr bwMode="auto">
          <a:xfrm>
            <a:off x="3883025" y="6054725"/>
            <a:ext cx="1865313" cy="514350"/>
            <a:chOff x="3882984" y="5885142"/>
            <a:chExt cx="1864871" cy="513602"/>
          </a:xfrm>
        </p:grpSpPr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36CFB0D-604B-D84F-90B9-6EF7ADB6ED1D}"/>
                </a:ext>
              </a:extLst>
            </p:cNvPr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3882984" y="5885142"/>
              <a:ext cx="1864871" cy="513602"/>
            </a:xfrm>
            <a:prstGeom prst="rect">
              <a:avLst/>
            </a:prstGeom>
            <a:blipFill rotWithShape="1">
              <a:blip r:embed="rId30"/>
              <a:stretch>
                <a:fillRect l="-5229" t="-1176" b="-23529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en-GB">
                  <a:noFill/>
                  <a:latin typeface="Arial" charset="0"/>
                  <a:cs typeface="Arial" charset="0"/>
                </a:rPr>
                <a:t> </a:t>
              </a:r>
            </a:p>
          </p:txBody>
        </p:sp>
        <p:sp>
          <p:nvSpPr>
            <p:cNvPr id="128" name="Rectangle 128">
              <a:extLst>
                <a:ext uri="{FF2B5EF4-FFF2-40B4-BE49-F238E27FC236}">
                  <a16:creationId xmlns:a16="http://schemas.microsoft.com/office/drawing/2014/main" id="{DAA34D1B-E9FB-C641-92AB-1944058D8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0360" y="5919663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 sz="2400">
                  <a:solidFill>
                    <a:srgbClr val="7030A0"/>
                  </a:solidFill>
                </a:rPr>
                <a:t>x</a:t>
              </a:r>
              <a:endParaRPr lang="en-GB" altLang="en-US"/>
            </a:p>
          </p:txBody>
        </p: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5E1CC05E-2445-F643-AEB6-1703E5DC48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4113" y="6467475"/>
            <a:ext cx="5445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>
                <a:solidFill>
                  <a:srgbClr val="7030A0"/>
                </a:solidFill>
              </a:rPr>
              <a:t>=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6816F38E-8E1C-0343-8E98-05B3A33C5F7A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911735" y="6376166"/>
            <a:ext cx="742639" cy="497637"/>
          </a:xfrm>
          <a:prstGeom prst="rect">
            <a:avLst/>
          </a:prstGeom>
          <a:blipFill rotWithShape="1">
            <a:blip r:embed="rId31"/>
            <a:stretch>
              <a:fillRect l="-13115" t="-1220" b="-28049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32" name="Rectangle 9">
            <a:extLst>
              <a:ext uri="{FF2B5EF4-FFF2-40B4-BE49-F238E27FC236}">
                <a16:creationId xmlns:a16="http://schemas.microsoft.com/office/drawing/2014/main" id="{B446E084-92D7-AA49-B814-0539984E8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4867" y="173228"/>
            <a:ext cx="5051425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600" dirty="0">
                <a:solidFill>
                  <a:srgbClr val="336699"/>
                </a:solidFill>
                <a:latin typeface="Franklin Gothic Demi Cond" panose="020B0603020102020204" pitchFamily="34" charset="0"/>
              </a:rPr>
              <a:t>Starter</a:t>
            </a:r>
          </a:p>
        </p:txBody>
      </p:sp>
    </p:spTree>
    <p:extLst>
      <p:ext uri="{BB962C8B-B14F-4D97-AF65-F5344CB8AC3E}">
        <p14:creationId xmlns:p14="http://schemas.microsoft.com/office/powerpoint/2010/main" val="3389144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88" grpId="0"/>
      <p:bldP spid="90" grpId="0"/>
      <p:bldP spid="92" grpId="0"/>
      <p:bldP spid="94" grpId="0"/>
      <p:bldP spid="96" grpId="0"/>
      <p:bldP spid="98" grpId="0"/>
      <p:bldP spid="100" grpId="0"/>
      <p:bldP spid="102" grpId="0"/>
      <p:bldP spid="104" grpId="0"/>
      <p:bldP spid="106" grpId="0"/>
      <p:bldP spid="108" grpId="0"/>
      <p:bldP spid="110" grpId="0"/>
      <p:bldP spid="112" grpId="0"/>
      <p:bldP spid="117" grpId="0"/>
      <p:bldP spid="119" grpId="0"/>
      <p:bldP spid="121" grpId="0"/>
      <p:bldP spid="125" grpId="0"/>
      <p:bldP spid="1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025236" y="1451149"/>
            <a:ext cx="14155" cy="4585855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1210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Surds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do we apply basic operations to surds?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451149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41173" y="55559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0" y="6037004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91345" y="6083399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>
                <a:solidFill>
                  <a:srgbClr val="FF5050"/>
                </a:solidFill>
                <a:latin typeface="Kiwi School Handwriting" panose="00000500000000000000" pitchFamily="2" charset="0"/>
              </a:rPr>
              <a:t>Summary: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096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Line 4">
            <a:extLst>
              <a:ext uri="{FF2B5EF4-FFF2-40B4-BE49-F238E27FC236}">
                <a16:creationId xmlns:a16="http://schemas.microsoft.com/office/drawing/2014/main" id="{075ED70B-2003-D04A-8CAF-D84A95076D1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98107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5C43CD3-922D-864E-88C8-D215D156F8F7}"/>
              </a:ext>
            </a:extLst>
          </p:cNvPr>
          <p:cNvSpPr/>
          <p:nvPr/>
        </p:nvSpPr>
        <p:spPr>
          <a:xfrm>
            <a:off x="3024166" y="1"/>
            <a:ext cx="1643074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Effective Participator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87137F6-8A51-5443-BD4C-0AFACB274CC5}"/>
              </a:ext>
            </a:extLst>
          </p:cNvPr>
          <p:cNvSpPr/>
          <p:nvPr/>
        </p:nvSpPr>
        <p:spPr>
          <a:xfrm>
            <a:off x="7810512" y="1"/>
            <a:ext cx="1500188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Self Manager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C6640BE-1C43-1D4A-8FD4-EE5E130AD49F}"/>
              </a:ext>
            </a:extLst>
          </p:cNvPr>
          <p:cNvSpPr/>
          <p:nvPr/>
        </p:nvSpPr>
        <p:spPr>
          <a:xfrm>
            <a:off x="4667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Independent Enquirer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3F1BFFB-0533-7247-B3EA-22FAC80E9D59}"/>
              </a:ext>
            </a:extLst>
          </p:cNvPr>
          <p:cNvSpPr/>
          <p:nvPr/>
        </p:nvSpPr>
        <p:spPr>
          <a:xfrm>
            <a:off x="1524000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Creative Thinker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0CC7478-A6DA-8B42-ABAD-6027EE5E6159}"/>
              </a:ext>
            </a:extLst>
          </p:cNvPr>
          <p:cNvSpPr/>
          <p:nvPr/>
        </p:nvSpPr>
        <p:spPr>
          <a:xfrm>
            <a:off x="9310710" y="1"/>
            <a:ext cx="1357290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/>
              <a:t>Team Worker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9C62913-7227-F941-B58B-C7B48BC20AD1}"/>
              </a:ext>
            </a:extLst>
          </p:cNvPr>
          <p:cNvSpPr/>
          <p:nvPr/>
        </p:nvSpPr>
        <p:spPr>
          <a:xfrm>
            <a:off x="6310314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/>
              <a:t>Reflective Learner</a:t>
            </a:r>
          </a:p>
        </p:txBody>
      </p:sp>
      <p:sp>
        <p:nvSpPr>
          <p:cNvPr id="5141" name="Rectangle 9">
            <a:extLst>
              <a:ext uri="{FF2B5EF4-FFF2-40B4-BE49-F238E27FC236}">
                <a16:creationId xmlns:a16="http://schemas.microsoft.com/office/drawing/2014/main" id="{EC95EABB-084B-ED44-8849-F919E1A7C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28626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336699"/>
                </a:solidFill>
                <a:latin typeface="Franklin Gothic Demi Cond" panose="020B0603020102020204" pitchFamily="34" charset="0"/>
              </a:rPr>
              <a:t>PLT Skills</a:t>
            </a:r>
          </a:p>
        </p:txBody>
      </p:sp>
      <p:sp>
        <p:nvSpPr>
          <p:cNvPr id="5142" name="Rectangle 2">
            <a:extLst>
              <a:ext uri="{FF2B5EF4-FFF2-40B4-BE49-F238E27FC236}">
                <a16:creationId xmlns:a16="http://schemas.microsoft.com/office/drawing/2014/main" id="{7E924947-CC17-1C4C-A189-D9DE2E712E5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881814" y="142875"/>
            <a:ext cx="3786187" cy="1143000"/>
          </a:xfrm>
        </p:spPr>
        <p:txBody>
          <a:bodyPr/>
          <a:lstStyle/>
          <a:p>
            <a:pPr algn="r" eaLnBrk="1" hangingPunct="1"/>
            <a:r>
              <a:rPr lang="en-US" altLang="en-US" sz="2400">
                <a:solidFill>
                  <a:srgbClr val="336699"/>
                </a:solidFill>
                <a:latin typeface="Franklin Gothic Demi Cond" panose="020B0603020102020204" pitchFamily="34" charset="0"/>
              </a:rPr>
              <a:t>Which ones are you using?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1365D4B0-563C-014F-B867-1A009A44BFFF}"/>
              </a:ext>
            </a:extLst>
          </p:cNvPr>
          <p:cNvSpPr/>
          <p:nvPr/>
        </p:nvSpPr>
        <p:spPr>
          <a:xfrm>
            <a:off x="1524000" y="571500"/>
            <a:ext cx="1214438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AD394216-D3DF-7446-A84A-A47A3CE2ADDA}"/>
              </a:ext>
            </a:extLst>
          </p:cNvPr>
          <p:cNvSpPr/>
          <p:nvPr/>
        </p:nvSpPr>
        <p:spPr>
          <a:xfrm>
            <a:off x="7453314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5145" name="Title 1">
            <a:extLst>
              <a:ext uri="{FF2B5EF4-FFF2-40B4-BE49-F238E27FC236}">
                <a16:creationId xmlns:a16="http://schemas.microsoft.com/office/drawing/2014/main" id="{36F8503F-F10A-4A40-943B-4DF1432EFEDD}"/>
              </a:ext>
            </a:extLst>
          </p:cNvPr>
          <p:cNvSpPr txBox="1">
            <a:spLocks/>
          </p:cNvSpPr>
          <p:nvPr/>
        </p:nvSpPr>
        <p:spPr bwMode="auto">
          <a:xfrm>
            <a:off x="1035050" y="484189"/>
            <a:ext cx="82296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altLang="en-US" sz="3200" b="1" u="sng">
                <a:solidFill>
                  <a:schemeClr val="tx2"/>
                </a:solidFill>
              </a:rPr>
              <a:t>SUMS WITH SURDS</a:t>
            </a:r>
            <a:endParaRPr lang="en-GB" altLang="en-US" sz="3200">
              <a:solidFill>
                <a:schemeClr val="tx2"/>
              </a:solidFill>
            </a:endParaRPr>
          </a:p>
        </p:txBody>
      </p:sp>
      <p:sp>
        <p:nvSpPr>
          <p:cNvPr id="5146" name="Text Box 40">
            <a:extLst>
              <a:ext uri="{FF2B5EF4-FFF2-40B4-BE49-F238E27FC236}">
                <a16:creationId xmlns:a16="http://schemas.microsoft.com/office/drawing/2014/main" id="{E52DFB12-B0E4-E945-904A-FE165256A2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887" y="1989138"/>
            <a:ext cx="2160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u="sng">
                <a:solidFill>
                  <a:srgbClr val="FF0000"/>
                </a:solidFill>
              </a:rPr>
              <a:t>EXAMPLES</a:t>
            </a:r>
            <a:endParaRPr lang="en-US" altLang="en-US" sz="2400" b="1" u="sng">
              <a:solidFill>
                <a:srgbClr val="FF0000"/>
              </a:solidFill>
            </a:endParaRPr>
          </a:p>
        </p:txBody>
      </p:sp>
      <p:sp>
        <p:nvSpPr>
          <p:cNvPr id="5147" name="Text Box 5">
            <a:extLst>
              <a:ext uri="{FF2B5EF4-FFF2-40B4-BE49-F238E27FC236}">
                <a16:creationId xmlns:a16="http://schemas.microsoft.com/office/drawing/2014/main" id="{350B5EF3-DF29-9341-963A-6ECAE73C5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7" y="2452688"/>
            <a:ext cx="9001126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/>
              <a:t>Simplify the following surds:</a:t>
            </a:r>
            <a:endParaRPr lang="en-US" altLang="en-US" sz="2400"/>
          </a:p>
        </p:txBody>
      </p:sp>
      <p:sp>
        <p:nvSpPr>
          <p:cNvPr id="5148" name="Text Box 7">
            <a:extLst>
              <a:ext uri="{FF2B5EF4-FFF2-40B4-BE49-F238E27FC236}">
                <a16:creationId xmlns:a16="http://schemas.microsoft.com/office/drawing/2014/main" id="{1A10D135-14E8-1B4F-95BF-C2A5965D3F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1939" y="2852738"/>
            <a:ext cx="5730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>
                <a:solidFill>
                  <a:srgbClr val="FF0000"/>
                </a:solidFill>
              </a:rPr>
              <a:t>(a)</a:t>
            </a:r>
            <a:r>
              <a:rPr lang="en-GB" altLang="en-US"/>
              <a:t> </a:t>
            </a:r>
            <a:endParaRPr lang="en-US" altLang="en-US"/>
          </a:p>
        </p:txBody>
      </p:sp>
      <p:grpSp>
        <p:nvGrpSpPr>
          <p:cNvPr id="5171" name="Group 26">
            <a:extLst>
              <a:ext uri="{FF2B5EF4-FFF2-40B4-BE49-F238E27FC236}">
                <a16:creationId xmlns:a16="http://schemas.microsoft.com/office/drawing/2014/main" id="{B164FF5D-4BF9-294C-B9C1-4C667037790C}"/>
              </a:ext>
            </a:extLst>
          </p:cNvPr>
          <p:cNvGrpSpPr>
            <a:grpSpLocks/>
          </p:cNvGrpSpPr>
          <p:nvPr/>
        </p:nvGrpSpPr>
        <p:grpSpPr bwMode="auto">
          <a:xfrm>
            <a:off x="5591175" y="1700213"/>
            <a:ext cx="4891088" cy="487362"/>
            <a:chOff x="3065937" y="1604799"/>
            <a:chExt cx="4891065" cy="486925"/>
          </a:xfrm>
        </p:grpSpPr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A7A411F3-7E6D-B74A-8B4E-A03815870DA4}"/>
                </a:ext>
              </a:extLst>
            </p:cNvPr>
            <p:cNvCxnSpPr/>
            <p:nvPr/>
          </p:nvCxnSpPr>
          <p:spPr bwMode="auto">
            <a:xfrm flipH="1" flipV="1">
              <a:off x="3065937" y="1604799"/>
              <a:ext cx="708022" cy="282322"/>
            </a:xfrm>
            <a:prstGeom prst="straightConnector1">
              <a:avLst/>
            </a:prstGeom>
            <a:ln w="25400">
              <a:solidFill>
                <a:srgbClr val="16AA1D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22" name="TextBox 21">
              <a:extLst>
                <a:ext uri="{FF2B5EF4-FFF2-40B4-BE49-F238E27FC236}">
                  <a16:creationId xmlns:a16="http://schemas.microsoft.com/office/drawing/2014/main" id="{E0549FFD-6BD4-1B4D-8820-CA6CD0A72D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1552" y="1722580"/>
              <a:ext cx="4235450" cy="369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LEARN THESE OFF BY HEART</a:t>
              </a:r>
            </a:p>
          </p:txBody>
        </p:sp>
      </p:grpSp>
      <p:sp>
        <p:nvSpPr>
          <p:cNvPr id="5150" name="Text Box 7">
            <a:extLst>
              <a:ext uri="{FF2B5EF4-FFF2-40B4-BE49-F238E27FC236}">
                <a16:creationId xmlns:a16="http://schemas.microsoft.com/office/drawing/2014/main" id="{93B83608-D2A9-DF43-B2C7-1F051E1FDC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4" y="2825751"/>
            <a:ext cx="5730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>
                <a:solidFill>
                  <a:srgbClr val="FF0000"/>
                </a:solidFill>
              </a:rPr>
              <a:t>(b)</a:t>
            </a:r>
            <a:r>
              <a:rPr lang="en-GB" altLang="en-US"/>
              <a:t> </a:t>
            </a:r>
            <a:endParaRPr lang="en-US" altLang="en-US"/>
          </a:p>
        </p:txBody>
      </p:sp>
      <p:sp>
        <p:nvSpPr>
          <p:cNvPr id="5151" name="Text Box 7">
            <a:extLst>
              <a:ext uri="{FF2B5EF4-FFF2-40B4-BE49-F238E27FC236}">
                <a16:creationId xmlns:a16="http://schemas.microsoft.com/office/drawing/2014/main" id="{306A4E8C-E6A5-1B4F-8E7D-8A49773F6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9325" y="2822576"/>
            <a:ext cx="5730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>
                <a:solidFill>
                  <a:srgbClr val="FF0000"/>
                </a:solidFill>
              </a:rPr>
              <a:t>(c)</a:t>
            </a:r>
            <a:r>
              <a:rPr lang="en-GB" altLang="en-US"/>
              <a:t> </a:t>
            </a:r>
            <a:endParaRPr lang="en-US" altLang="en-US"/>
          </a:p>
        </p:txBody>
      </p:sp>
      <p:sp>
        <p:nvSpPr>
          <p:cNvPr id="5152" name="Text Box 7">
            <a:extLst>
              <a:ext uri="{FF2B5EF4-FFF2-40B4-BE49-F238E27FC236}">
                <a16:creationId xmlns:a16="http://schemas.microsoft.com/office/drawing/2014/main" id="{2E56A744-7852-8543-BFFE-C6EA0F172F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7726" y="2835276"/>
            <a:ext cx="6016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>
                <a:solidFill>
                  <a:srgbClr val="FF0000"/>
                </a:solidFill>
              </a:rPr>
              <a:t>(d)</a:t>
            </a:r>
            <a:r>
              <a:rPr lang="en-GB" altLang="en-US"/>
              <a:t> </a:t>
            </a:r>
            <a:endParaRPr lang="en-US" altLang="en-US"/>
          </a:p>
        </p:txBody>
      </p:sp>
      <p:sp>
        <p:nvSpPr>
          <p:cNvPr id="5153" name="Text Box 7">
            <a:extLst>
              <a:ext uri="{FF2B5EF4-FFF2-40B4-BE49-F238E27FC236}">
                <a16:creationId xmlns:a16="http://schemas.microsoft.com/office/drawing/2014/main" id="{EC3D57B7-215D-DC4D-9DCD-B04DD7E5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8925" y="4365626"/>
            <a:ext cx="571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>
                <a:solidFill>
                  <a:srgbClr val="FF0000"/>
                </a:solidFill>
              </a:rPr>
              <a:t>(e)</a:t>
            </a:r>
            <a:r>
              <a:rPr lang="en-GB" altLang="en-US"/>
              <a:t> </a:t>
            </a:r>
            <a:endParaRPr lang="en-US" altLang="en-US"/>
          </a:p>
        </p:txBody>
      </p:sp>
      <p:sp>
        <p:nvSpPr>
          <p:cNvPr id="67" name="TextBox 12">
            <a:extLst>
              <a:ext uri="{FF2B5EF4-FFF2-40B4-BE49-F238E27FC236}">
                <a16:creationId xmlns:a16="http://schemas.microsoft.com/office/drawing/2014/main" id="{2CB0D48C-CD2E-EA44-A063-9AB7294C63A2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703513" y="1052737"/>
            <a:ext cx="796131" cy="641073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68" name="TextBox 12">
            <a:extLst>
              <a:ext uri="{FF2B5EF4-FFF2-40B4-BE49-F238E27FC236}">
                <a16:creationId xmlns:a16="http://schemas.microsoft.com/office/drawing/2014/main" id="{A84A4A17-7876-1044-98B5-636D0D29E95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715668" y="1052736"/>
            <a:ext cx="796131" cy="642868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EA801D1-F19C-6549-8779-EACA53CB682B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741362" y="1044292"/>
            <a:ext cx="1058495" cy="642868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62E2C3E-B676-E645-9AEF-9549073594BD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965498" y="1057941"/>
            <a:ext cx="1058495" cy="652871"/>
          </a:xfrm>
          <a:prstGeom prst="rect">
            <a:avLst/>
          </a:prstGeom>
          <a:blipFill rotWithShape="1">
            <a:blip r:embed="rId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BC19739-F842-4743-BFE1-B8FC4F81C3C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261642" y="1057940"/>
            <a:ext cx="1058495" cy="642868"/>
          </a:xfrm>
          <a:prstGeom prst="rect">
            <a:avLst/>
          </a:prstGeom>
          <a:blipFill rotWithShape="1">
            <a:blip r:embed="rId7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9072BF3-CB53-0442-A22E-872ABEB273B6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608169" y="1044292"/>
            <a:ext cx="1058495" cy="642868"/>
          </a:xfrm>
          <a:prstGeom prst="rect">
            <a:avLst/>
          </a:prstGeom>
          <a:blipFill rotWithShape="1">
            <a:blip r:embed="rId8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5587256-E57D-F34F-91FF-E294C5BAF89D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968710" y="1046630"/>
            <a:ext cx="1303755" cy="642868"/>
          </a:xfrm>
          <a:prstGeom prst="rect">
            <a:avLst/>
          </a:prstGeom>
          <a:blipFill rotWithShape="1">
            <a:blip r:embed="rId9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5429A7F6-6734-AD49-B275-F741F42C393D}"/>
              </a:ext>
            </a:extLst>
          </p:cNvPr>
          <p:cNvSpPr/>
          <p:nvPr/>
        </p:nvSpPr>
        <p:spPr>
          <a:xfrm>
            <a:off x="1703389" y="1087438"/>
            <a:ext cx="8701087" cy="584200"/>
          </a:xfrm>
          <a:prstGeom prst="roundRect">
            <a:avLst/>
          </a:prstGeom>
          <a:solidFill>
            <a:srgbClr val="92D050">
              <a:alpha val="2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2C526-057D-384F-8BFB-40EA1F695A1F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887997" y="2825641"/>
            <a:ext cx="1770965" cy="505203"/>
          </a:xfrm>
          <a:prstGeom prst="rect">
            <a:avLst/>
          </a:prstGeom>
          <a:blipFill rotWithShape="1">
            <a:blip r:embed="rId10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91EA1A1-22E7-C341-AFAD-21DA9E9F79F4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077948" y="2821872"/>
            <a:ext cx="1770965" cy="512704"/>
          </a:xfrm>
          <a:prstGeom prst="rect">
            <a:avLst/>
          </a:prstGeom>
          <a:blipFill rotWithShape="1">
            <a:blip r:embed="rId11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8BAED30-938E-F240-9072-52D10A8793E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253664" y="2811993"/>
            <a:ext cx="2163160" cy="505203"/>
          </a:xfrm>
          <a:prstGeom prst="rect">
            <a:avLst/>
          </a:prstGeom>
          <a:blipFill rotWithShape="1">
            <a:blip r:embed="rId1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356BDE1-26C3-9348-9B5A-AD79D54FC427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557920" y="2810846"/>
            <a:ext cx="2163160" cy="505203"/>
          </a:xfrm>
          <a:prstGeom prst="rect">
            <a:avLst/>
          </a:prstGeom>
          <a:blipFill rotWithShape="1">
            <a:blip r:embed="rId1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BA1C75-6BC9-824E-8801-04E9AA74E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3375" y="3676650"/>
            <a:ext cx="5461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=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79695F-CF1F-8243-A4D6-CE32D1033759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915768" y="3571870"/>
            <a:ext cx="840422" cy="505203"/>
          </a:xfrm>
          <a:prstGeom prst="rect">
            <a:avLst/>
          </a:prstGeom>
          <a:blipFill rotWithShape="1">
            <a:blip r:embed="rId1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AA9621D-1EE1-0147-96F5-D3FCC7BA9C50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3314701"/>
            <a:ext cx="2095500" cy="339725"/>
            <a:chOff x="304896" y="3315203"/>
            <a:chExt cx="2095029" cy="33855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6DF85BB-FEE3-4649-A342-3BCA6257F454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304896" y="3315203"/>
              <a:ext cx="2095029" cy="338554"/>
            </a:xfrm>
            <a:prstGeom prst="rect">
              <a:avLst/>
            </a:prstGeom>
            <a:blipFill rotWithShape="1">
              <a:blip r:embed="rId15"/>
              <a:stretch>
                <a:fillRect l="-1453" t="-5455" b="-23636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en-GB">
                  <a:noFill/>
                  <a:latin typeface="Arial" charset="0"/>
                  <a:cs typeface="Arial" charset="0"/>
                </a:rPr>
                <a:t> 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CFDA7B0-E29F-0242-B955-F7D4D5651BA3}"/>
                </a:ext>
              </a:extLst>
            </p:cNvPr>
            <p:cNvSpPr/>
            <p:nvPr/>
          </p:nvSpPr>
          <p:spPr>
            <a:xfrm>
              <a:off x="304896" y="3361082"/>
              <a:ext cx="1829977" cy="237304"/>
            </a:xfrm>
            <a:prstGeom prst="rect">
              <a:avLst/>
            </a:prstGeom>
            <a:solidFill>
              <a:srgbClr val="FF0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4D7F588-E97D-C844-B8CF-EBA26CE91BD3}"/>
              </a:ext>
            </a:extLst>
          </p:cNvPr>
          <p:cNvGrpSpPr>
            <a:grpSpLocks/>
          </p:cNvGrpSpPr>
          <p:nvPr/>
        </p:nvGrpSpPr>
        <p:grpSpPr bwMode="auto">
          <a:xfrm>
            <a:off x="4157663" y="3306764"/>
            <a:ext cx="2093912" cy="339725"/>
            <a:chOff x="296391" y="3306556"/>
            <a:chExt cx="2095029" cy="338554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DB72725-4997-3845-ADD2-FD32C07CB263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296391" y="3306556"/>
              <a:ext cx="2095029" cy="338554"/>
            </a:xfrm>
            <a:prstGeom prst="rect">
              <a:avLst/>
            </a:prstGeom>
            <a:blipFill rotWithShape="1">
              <a:blip r:embed="rId16"/>
              <a:stretch>
                <a:fillRect l="-1744" t="-5455" b="-23636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en-GB">
                  <a:noFill/>
                  <a:latin typeface="Arial" charset="0"/>
                  <a:cs typeface="Arial" charset="0"/>
                </a:rPr>
                <a:t> 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C6C1CF53-1FA3-7C4C-90F1-425765887F86}"/>
                </a:ext>
              </a:extLst>
            </p:cNvPr>
            <p:cNvSpPr/>
            <p:nvPr/>
          </p:nvSpPr>
          <p:spPr>
            <a:xfrm>
              <a:off x="304332" y="3361926"/>
              <a:ext cx="1831364" cy="237304"/>
            </a:xfrm>
            <a:prstGeom prst="rect">
              <a:avLst/>
            </a:prstGeom>
            <a:solidFill>
              <a:srgbClr val="FF0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5EDE6BD9-AAC4-8847-8F95-15FAC8380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9688" y="3676650"/>
            <a:ext cx="546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=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EBAA897-2CBF-7448-B84D-0BF456A10183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161811" y="3573016"/>
            <a:ext cx="742639" cy="500202"/>
          </a:xfrm>
          <a:prstGeom prst="rect">
            <a:avLst/>
          </a:prstGeom>
          <a:blipFill rotWithShape="1">
            <a:blip r:embed="rId17"/>
            <a:stretch>
              <a:fillRect l="-13115" t="-1220" b="-28049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412E5BA-B05A-E14A-8AF3-9D25C3C96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7913" y="3281364"/>
            <a:ext cx="5445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=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2D239ED-42E1-DF40-922F-C1A9C6270CE5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384032" y="3284984"/>
            <a:ext cx="967188" cy="361766"/>
          </a:xfrm>
          <a:prstGeom prst="rect">
            <a:avLst/>
          </a:prstGeom>
          <a:blipFill rotWithShape="1">
            <a:blip r:embed="rId18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3506EA-E979-504A-86FA-CCA0D737717A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239158" y="3305037"/>
            <a:ext cx="369011" cy="307777"/>
          </a:xfrm>
          <a:prstGeom prst="rect">
            <a:avLst/>
          </a:prstGeom>
          <a:blipFill rotWithShape="1">
            <a:blip r:embed="rId19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1010D76-82C0-5C45-B67E-40ED732A03A3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446717" y="3284984"/>
            <a:ext cx="739561" cy="361766"/>
          </a:xfrm>
          <a:prstGeom prst="rect">
            <a:avLst/>
          </a:prstGeom>
          <a:blipFill rotWithShape="1">
            <a:blip r:embed="rId20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748DDF4-27E2-F547-B803-0F9CA920F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4738" y="3667125"/>
            <a:ext cx="5445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=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D027B95-38C7-0C49-BBB3-9979DBDD008F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731258" y="3670564"/>
            <a:ext cx="660887" cy="361766"/>
          </a:xfrm>
          <a:prstGeom prst="rect">
            <a:avLst/>
          </a:prstGeom>
          <a:blipFill rotWithShape="1">
            <a:blip r:embed="rId21"/>
            <a:stretch>
              <a:fillRect l="-4587" b="-22034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D46AE93-B42D-7C44-B83E-94AB3EAC078E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235611" y="3690617"/>
            <a:ext cx="369011" cy="307777"/>
          </a:xfrm>
          <a:prstGeom prst="rect">
            <a:avLst/>
          </a:prstGeom>
          <a:blipFill rotWithShape="1">
            <a:blip r:embed="rId19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F1FFB351-932E-A84D-AE87-AF7ADE8B7E22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497762" y="3670564"/>
            <a:ext cx="547073" cy="361766"/>
          </a:xfrm>
          <a:prstGeom prst="rect">
            <a:avLst/>
          </a:prstGeom>
          <a:blipFill rotWithShape="1">
            <a:blip r:embed="rId22"/>
            <a:stretch>
              <a:fillRect l="-6667" b="-22034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7AE91C0-D4F5-C443-8568-72ABCE3AD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2676" y="4346575"/>
            <a:ext cx="5445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=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80F85FC4-D78D-BE4E-9E29-7F48F04AA06B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460778" y="4228662"/>
            <a:ext cx="914161" cy="496483"/>
          </a:xfrm>
          <a:prstGeom prst="rect">
            <a:avLst/>
          </a:prstGeom>
          <a:blipFill rotWithShape="1">
            <a:blip r:embed="rId23"/>
            <a:stretch>
              <a:fillRect l="-10667" t="-2469" b="-28395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4CFDB7F-7F37-954A-8E3F-02B1BAE8B4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1" y="3284539"/>
            <a:ext cx="5445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=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631A852-FCCC-0541-B132-216EF7CCCB0B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943192" y="3288752"/>
            <a:ext cx="739561" cy="362600"/>
          </a:xfrm>
          <a:prstGeom prst="rect">
            <a:avLst/>
          </a:prstGeom>
          <a:blipFill rotWithShape="1">
            <a:blip r:embed="rId2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9051B76-8C62-DB4A-A961-625BABDB2FD4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610745" y="3308805"/>
            <a:ext cx="369011" cy="307777"/>
          </a:xfrm>
          <a:prstGeom prst="rect">
            <a:avLst/>
          </a:prstGeom>
          <a:blipFill rotWithShape="1">
            <a:blip r:embed="rId2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CE8D81C-710A-1B44-BA81-744AF167879B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892944" y="3288752"/>
            <a:ext cx="739561" cy="362600"/>
          </a:xfrm>
          <a:prstGeom prst="rect">
            <a:avLst/>
          </a:prstGeom>
          <a:blipFill rotWithShape="1">
            <a:blip r:embed="rId2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9552287-5A7F-AD47-B851-7985711A1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1076" y="3670300"/>
            <a:ext cx="5445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=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B9D3970-DC03-6C46-ACAD-ECC985CE55ED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122032" y="3674332"/>
            <a:ext cx="547073" cy="362600"/>
          </a:xfrm>
          <a:prstGeom prst="rect">
            <a:avLst/>
          </a:prstGeom>
          <a:blipFill rotWithShape="1">
            <a:blip r:embed="rId27"/>
            <a:stretch>
              <a:fillRect l="-5556" b="-22034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D9E7BA9-8F56-714C-B4CB-D2C2D33905BA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681838" y="3694385"/>
            <a:ext cx="369011" cy="307777"/>
          </a:xfrm>
          <a:prstGeom prst="rect">
            <a:avLst/>
          </a:prstGeom>
          <a:blipFill rotWithShape="1">
            <a:blip r:embed="rId28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44B50A5-9BB4-9C43-84B9-FC9BEAF0178D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012229" y="3674332"/>
            <a:ext cx="547073" cy="362600"/>
          </a:xfrm>
          <a:prstGeom prst="rect">
            <a:avLst/>
          </a:prstGeom>
          <a:blipFill rotWithShape="1">
            <a:blip r:embed="rId29"/>
            <a:stretch>
              <a:fillRect l="-5556" b="-22034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127D0E8-6D41-7442-946B-B278DE902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9013" y="4332288"/>
            <a:ext cx="5445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=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EA5A031-9CC4-4542-8545-31E4A0E567FC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907005" y="4213860"/>
            <a:ext cx="742639" cy="497637"/>
          </a:xfrm>
          <a:prstGeom prst="rect">
            <a:avLst/>
          </a:prstGeom>
          <a:blipFill rotWithShape="1">
            <a:blip r:embed="rId30"/>
            <a:stretch>
              <a:fillRect l="-12295" t="-1220" b="-28049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2D7E7A48-AFDE-8549-A4B9-4CB4F24BC65B}"/>
              </a:ext>
            </a:extLst>
          </p:cNvPr>
          <p:cNvGrpSpPr>
            <a:grpSpLocks/>
          </p:cNvGrpSpPr>
          <p:nvPr/>
        </p:nvGrpSpPr>
        <p:grpSpPr bwMode="auto">
          <a:xfrm>
            <a:off x="6465888" y="3978275"/>
            <a:ext cx="2095500" cy="338138"/>
            <a:chOff x="241799" y="3310324"/>
            <a:chExt cx="2095029" cy="338554"/>
          </a:xfrm>
        </p:grpSpPr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DFE4D488-023F-AA4D-97ED-2D186744AFAA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241799" y="3310324"/>
              <a:ext cx="2095029" cy="338554"/>
            </a:xfrm>
            <a:prstGeom prst="rect">
              <a:avLst/>
            </a:prstGeom>
            <a:blipFill rotWithShape="1">
              <a:blip r:embed="rId31"/>
              <a:stretch>
                <a:fillRect l="-1749" t="-5455" b="-23636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en-GB">
                  <a:noFill/>
                  <a:latin typeface="Arial" charset="0"/>
                  <a:cs typeface="Arial" charset="0"/>
                </a:rPr>
                <a:t> 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F01790BC-6519-D545-A347-D52EC68327EF}"/>
                </a:ext>
              </a:extLst>
            </p:cNvPr>
            <p:cNvSpPr/>
            <p:nvPr/>
          </p:nvSpPr>
          <p:spPr>
            <a:xfrm>
              <a:off x="305285" y="3361186"/>
              <a:ext cx="1829976" cy="238418"/>
            </a:xfrm>
            <a:prstGeom prst="rect">
              <a:avLst/>
            </a:prstGeom>
            <a:solidFill>
              <a:srgbClr val="FF0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96F4E48E-9569-574B-8EB9-AC35A0A2F398}"/>
              </a:ext>
            </a:extLst>
          </p:cNvPr>
          <p:cNvGrpSpPr>
            <a:grpSpLocks/>
          </p:cNvGrpSpPr>
          <p:nvPr/>
        </p:nvGrpSpPr>
        <p:grpSpPr bwMode="auto">
          <a:xfrm>
            <a:off x="8721725" y="3981451"/>
            <a:ext cx="2095500" cy="339725"/>
            <a:chOff x="269095" y="3314394"/>
            <a:chExt cx="2095029" cy="338554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234ADC8A-D189-8E44-8270-5C759252C2C5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269095" y="3314394"/>
              <a:ext cx="2095029" cy="338554"/>
            </a:xfrm>
            <a:prstGeom prst="rect">
              <a:avLst/>
            </a:prstGeom>
            <a:blipFill rotWithShape="1">
              <a:blip r:embed="rId32"/>
              <a:stretch>
                <a:fillRect l="-1744" t="-5357" b="-21429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en-GB">
                  <a:noFill/>
                  <a:latin typeface="Arial" charset="0"/>
                  <a:cs typeface="Arial" charset="0"/>
                </a:rPr>
                <a:t> 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4719DA20-D0A9-724A-A86F-08FE5FAA347C}"/>
                </a:ext>
              </a:extLst>
            </p:cNvPr>
            <p:cNvSpPr/>
            <p:nvPr/>
          </p:nvSpPr>
          <p:spPr>
            <a:xfrm>
              <a:off x="305600" y="3361855"/>
              <a:ext cx="1829976" cy="237304"/>
            </a:xfrm>
            <a:prstGeom prst="rect">
              <a:avLst/>
            </a:prstGeom>
            <a:solidFill>
              <a:srgbClr val="FF0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82517F5B-2932-A94C-B1AE-7687ED1888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4650" y="4832350"/>
            <a:ext cx="546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=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06DE59B6-CCBE-424A-A891-ED4AFCA55142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871278" y="4836340"/>
            <a:ext cx="739561" cy="362600"/>
          </a:xfrm>
          <a:prstGeom prst="rect">
            <a:avLst/>
          </a:prstGeom>
          <a:blipFill rotWithShape="1">
            <a:blip r:embed="rId3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2691AFA3-FEFC-3747-BB88-9ABF104CBF21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495601" y="4856393"/>
            <a:ext cx="369011" cy="307777"/>
          </a:xfrm>
          <a:prstGeom prst="rect">
            <a:avLst/>
          </a:prstGeom>
          <a:blipFill rotWithShape="1">
            <a:blip r:embed="rId3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EB197868-E075-754E-B382-820481DFADED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725273" y="4836340"/>
            <a:ext cx="853375" cy="362600"/>
          </a:xfrm>
          <a:prstGeom prst="rect">
            <a:avLst/>
          </a:prstGeom>
          <a:blipFill rotWithShape="1">
            <a:blip r:embed="rId3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D2E6F87-E621-C849-A590-87DC16AEBED1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503712" y="4900812"/>
            <a:ext cx="328936" cy="261610"/>
          </a:xfrm>
          <a:prstGeom prst="rect">
            <a:avLst/>
          </a:prstGeom>
          <a:blipFill rotWithShape="1">
            <a:blip r:embed="rId3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CB28F856-DE09-974B-AF4F-CC3C9CE1BBB9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719737" y="4832573"/>
            <a:ext cx="853375" cy="364267"/>
          </a:xfrm>
          <a:prstGeom prst="rect">
            <a:avLst/>
          </a:prstGeom>
          <a:blipFill rotWithShape="1">
            <a:blip r:embed="rId37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88CDE69-5D91-3D41-8E5D-5E425752E6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4650" y="5207000"/>
            <a:ext cx="5461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=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8C457999-912E-F846-9D7C-A5635CDD6CF3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990124" y="5210029"/>
            <a:ext cx="604781" cy="367601"/>
          </a:xfrm>
          <a:prstGeom prst="rect">
            <a:avLst/>
          </a:prstGeom>
          <a:blipFill rotWithShape="1">
            <a:blip r:embed="rId38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B6C8DB77-9C9D-5243-B3B7-8C5DF49C06F4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495601" y="5230081"/>
            <a:ext cx="369011" cy="307777"/>
          </a:xfrm>
          <a:prstGeom prst="rect">
            <a:avLst/>
          </a:prstGeom>
          <a:blipFill rotWithShape="1">
            <a:blip r:embed="rId3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DB8EE99E-09B4-4740-9BEB-DFA9CC51C6F1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892817" y="5223676"/>
            <a:ext cx="547073" cy="362600"/>
          </a:xfrm>
          <a:prstGeom prst="rect">
            <a:avLst/>
          </a:prstGeom>
          <a:blipFill rotWithShape="1">
            <a:blip r:embed="rId39"/>
            <a:stretch>
              <a:fillRect l="-6742" b="-22034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7BD58945-3A87-5F49-B670-171CB74A2182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503712" y="5274500"/>
            <a:ext cx="328936" cy="261610"/>
          </a:xfrm>
          <a:prstGeom prst="rect">
            <a:avLst/>
          </a:prstGeom>
          <a:blipFill rotWithShape="1">
            <a:blip r:embed="rId40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BD3AE69A-CD7C-EF46-9334-0A308AE17B6A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863753" y="5206260"/>
            <a:ext cx="547073" cy="362600"/>
          </a:xfrm>
          <a:prstGeom prst="rect">
            <a:avLst/>
          </a:prstGeom>
          <a:blipFill rotWithShape="1">
            <a:blip r:embed="rId41"/>
            <a:stretch>
              <a:fillRect l="-6667" b="-20000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CC22A43-7672-904D-9A23-83EC6C9C1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126" y="5953125"/>
            <a:ext cx="5445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=</a:t>
            </a:r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6CC10B13-1965-FB47-92DD-B82FD9F17E6E}"/>
              </a:ext>
            </a:extLst>
          </p:cNvPr>
          <p:cNvGrpSpPr>
            <a:grpSpLocks/>
          </p:cNvGrpSpPr>
          <p:nvPr/>
        </p:nvGrpSpPr>
        <p:grpSpPr bwMode="auto">
          <a:xfrm>
            <a:off x="1938338" y="5589589"/>
            <a:ext cx="2457450" cy="338137"/>
            <a:chOff x="269095" y="3314394"/>
            <a:chExt cx="2456824" cy="338554"/>
          </a:xfrm>
        </p:grpSpPr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D3E8FDA-84B5-2045-99D0-226E59416768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269095" y="3314394"/>
              <a:ext cx="2456824" cy="338554"/>
            </a:xfrm>
            <a:prstGeom prst="rect">
              <a:avLst/>
            </a:prstGeom>
            <a:blipFill rotWithShape="1">
              <a:blip r:embed="rId42"/>
              <a:stretch>
                <a:fillRect l="-1489" t="-5455" b="-23636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en-GB">
                  <a:noFill/>
                  <a:latin typeface="Arial" charset="0"/>
                  <a:cs typeface="Arial" charset="0"/>
                </a:rPr>
                <a:t> 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9A4A054E-16A0-5341-B7C3-94E487FB7A08}"/>
                </a:ext>
              </a:extLst>
            </p:cNvPr>
            <p:cNvSpPr/>
            <p:nvPr/>
          </p:nvSpPr>
          <p:spPr>
            <a:xfrm>
              <a:off x="277030" y="3328699"/>
              <a:ext cx="2379057" cy="289281"/>
            </a:xfrm>
            <a:prstGeom prst="rect">
              <a:avLst/>
            </a:prstGeom>
            <a:solidFill>
              <a:srgbClr val="FF0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</p:grpSp>
      <p:sp>
        <p:nvSpPr>
          <p:cNvPr id="134" name="Rectangle 133">
            <a:extLst>
              <a:ext uri="{FF2B5EF4-FFF2-40B4-BE49-F238E27FC236}">
                <a16:creationId xmlns:a16="http://schemas.microsoft.com/office/drawing/2014/main" id="{05B344E2-A089-8A48-8794-A8F61122BC83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951570" y="5865098"/>
            <a:ext cx="742639" cy="497637"/>
          </a:xfrm>
          <a:prstGeom prst="rect">
            <a:avLst/>
          </a:prstGeom>
          <a:blipFill rotWithShape="1">
            <a:blip r:embed="rId43"/>
            <a:stretch>
              <a:fillRect l="-12295" t="-1220" b="-28049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CC602C-833D-4F4B-91AE-501DE8311A37}"/>
              </a:ext>
            </a:extLst>
          </p:cNvPr>
          <p:cNvCxnSpPr/>
          <p:nvPr/>
        </p:nvCxnSpPr>
        <p:spPr>
          <a:xfrm>
            <a:off x="9728200" y="2989264"/>
            <a:ext cx="0" cy="2063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85E9D9E-B97D-4A4C-9841-88D57BCB228E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933185" y="4342543"/>
            <a:ext cx="3476035" cy="534185"/>
          </a:xfrm>
          <a:prstGeom prst="rect">
            <a:avLst/>
          </a:prstGeom>
          <a:blipFill rotWithShape="1">
            <a:blip r:embed="rId44"/>
            <a:stretch>
              <a:fillRect t="-3409" b="-26136"/>
            </a:stretch>
          </a:blipFill>
        </p:spPr>
        <p:txBody>
          <a:bodyPr/>
          <a:lstStyle/>
          <a:p>
            <a:r>
              <a:rPr lang="en-GB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158628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2" grpId="0"/>
      <p:bldP spid="84" grpId="0"/>
      <p:bldP spid="88" grpId="0"/>
      <p:bldP spid="93" grpId="0"/>
      <p:bldP spid="97" grpId="0"/>
      <p:bldP spid="101" grpId="0"/>
      <p:bldP spid="105" grpId="0"/>
      <p:bldP spid="113" grpId="0"/>
      <p:bldP spid="120" grpId="0"/>
      <p:bldP spid="1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A4854BEA-448F-FA4E-96F0-A92CC944E39F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568162" y="1669744"/>
            <a:ext cx="1770965" cy="436402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6147" name="Line 4">
            <a:extLst>
              <a:ext uri="{FF2B5EF4-FFF2-40B4-BE49-F238E27FC236}">
                <a16:creationId xmlns:a16="http://schemas.microsoft.com/office/drawing/2014/main" id="{FB71741F-F6F0-7C4B-9FEC-8C46A46C89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100012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A590500-E670-8641-A801-163B3BAA97A4}"/>
              </a:ext>
            </a:extLst>
          </p:cNvPr>
          <p:cNvSpPr/>
          <p:nvPr/>
        </p:nvSpPr>
        <p:spPr>
          <a:xfrm>
            <a:off x="3024166" y="1"/>
            <a:ext cx="1643074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Effective Participator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334D630-7E41-CF4E-BD32-B34AF75200EC}"/>
              </a:ext>
            </a:extLst>
          </p:cNvPr>
          <p:cNvSpPr/>
          <p:nvPr/>
        </p:nvSpPr>
        <p:spPr>
          <a:xfrm>
            <a:off x="7810512" y="1"/>
            <a:ext cx="1500188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Self Manager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F97BF0D-9491-2342-A261-DEE1E3B9BE42}"/>
              </a:ext>
            </a:extLst>
          </p:cNvPr>
          <p:cNvSpPr/>
          <p:nvPr/>
        </p:nvSpPr>
        <p:spPr>
          <a:xfrm>
            <a:off x="4667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Independent Enquirer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523B23E-FC95-BF46-91EF-2196CD671D96}"/>
              </a:ext>
            </a:extLst>
          </p:cNvPr>
          <p:cNvSpPr/>
          <p:nvPr/>
        </p:nvSpPr>
        <p:spPr>
          <a:xfrm>
            <a:off x="1524000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Creative Thinker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88341F7-943E-0D41-B6FD-74FDDCBF2CC3}"/>
              </a:ext>
            </a:extLst>
          </p:cNvPr>
          <p:cNvSpPr/>
          <p:nvPr/>
        </p:nvSpPr>
        <p:spPr>
          <a:xfrm>
            <a:off x="9310710" y="1"/>
            <a:ext cx="1357290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/>
              <a:t>Team Worker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AA0D13C-384B-6F41-A169-658B5E91C29F}"/>
              </a:ext>
            </a:extLst>
          </p:cNvPr>
          <p:cNvSpPr/>
          <p:nvPr/>
        </p:nvSpPr>
        <p:spPr>
          <a:xfrm>
            <a:off x="6310314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/>
              <a:t>Reflective Learner</a:t>
            </a:r>
          </a:p>
        </p:txBody>
      </p:sp>
      <p:sp>
        <p:nvSpPr>
          <p:cNvPr id="6166" name="Rectangle 9">
            <a:extLst>
              <a:ext uri="{FF2B5EF4-FFF2-40B4-BE49-F238E27FC236}">
                <a16:creationId xmlns:a16="http://schemas.microsoft.com/office/drawing/2014/main" id="{9DF8B204-319D-AB4E-B2E6-AD872C13C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28626"/>
            <a:ext cx="1500188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336699"/>
                </a:solidFill>
                <a:latin typeface="Franklin Gothic Demi Cond" panose="020B0603020102020204" pitchFamily="34" charset="0"/>
              </a:rPr>
              <a:t>PLT Skills</a:t>
            </a:r>
          </a:p>
        </p:txBody>
      </p:sp>
      <p:sp>
        <p:nvSpPr>
          <p:cNvPr id="6167" name="Rectangle 2">
            <a:extLst>
              <a:ext uri="{FF2B5EF4-FFF2-40B4-BE49-F238E27FC236}">
                <a16:creationId xmlns:a16="http://schemas.microsoft.com/office/drawing/2014/main" id="{9409D543-001A-D742-ABE2-B2055009FE7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881814" y="142875"/>
            <a:ext cx="3786187" cy="1143000"/>
          </a:xfrm>
        </p:spPr>
        <p:txBody>
          <a:bodyPr/>
          <a:lstStyle/>
          <a:p>
            <a:pPr algn="r" eaLnBrk="1" hangingPunct="1"/>
            <a:r>
              <a:rPr lang="en-US" altLang="en-US" sz="2400">
                <a:solidFill>
                  <a:srgbClr val="336699"/>
                </a:solidFill>
                <a:latin typeface="Franklin Gothic Demi Cond" panose="020B0603020102020204" pitchFamily="34" charset="0"/>
              </a:rPr>
              <a:t>Which ones are you using?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382469F7-CFCD-CE4B-AB60-38E140670C31}"/>
              </a:ext>
            </a:extLst>
          </p:cNvPr>
          <p:cNvSpPr/>
          <p:nvPr/>
        </p:nvSpPr>
        <p:spPr>
          <a:xfrm>
            <a:off x="1524000" y="571500"/>
            <a:ext cx="1214438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D35CC86-7C48-8B4C-B922-BFE2192E4599}"/>
              </a:ext>
            </a:extLst>
          </p:cNvPr>
          <p:cNvSpPr/>
          <p:nvPr/>
        </p:nvSpPr>
        <p:spPr>
          <a:xfrm>
            <a:off x="7453314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6170" name="Text Box 40">
            <a:extLst>
              <a:ext uri="{FF2B5EF4-FFF2-40B4-BE49-F238E27FC236}">
                <a16:creationId xmlns:a16="http://schemas.microsoft.com/office/drawing/2014/main" id="{167679F4-768E-7248-A951-453A3CE4A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8926" y="981076"/>
            <a:ext cx="1465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u="sng">
                <a:solidFill>
                  <a:srgbClr val="FF0000"/>
                </a:solidFill>
              </a:rPr>
              <a:t>TASK 1 </a:t>
            </a:r>
            <a:endParaRPr lang="en-US" altLang="en-US" sz="2400" b="1" u="sng">
              <a:solidFill>
                <a:srgbClr val="FF0000"/>
              </a:solidFill>
            </a:endParaRPr>
          </a:p>
        </p:txBody>
      </p:sp>
      <p:sp>
        <p:nvSpPr>
          <p:cNvPr id="6171" name="Text Box 5">
            <a:extLst>
              <a:ext uri="{FF2B5EF4-FFF2-40B4-BE49-F238E27FC236}">
                <a16:creationId xmlns:a16="http://schemas.microsoft.com/office/drawing/2014/main" id="{C56F3C5A-8278-0E44-A06D-F877498DC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8926" y="1341438"/>
            <a:ext cx="14652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000"/>
              <a:t>Simplify:</a:t>
            </a:r>
            <a:endParaRPr lang="en-US" altLang="en-US" sz="2000"/>
          </a:p>
        </p:txBody>
      </p:sp>
      <p:sp>
        <p:nvSpPr>
          <p:cNvPr id="6172" name="Title 1">
            <a:extLst>
              <a:ext uri="{FF2B5EF4-FFF2-40B4-BE49-F238E27FC236}">
                <a16:creationId xmlns:a16="http://schemas.microsoft.com/office/drawing/2014/main" id="{C715482C-A9F6-7540-B439-45E958799666}"/>
              </a:ext>
            </a:extLst>
          </p:cNvPr>
          <p:cNvSpPr txBox="1">
            <a:spLocks/>
          </p:cNvSpPr>
          <p:nvPr/>
        </p:nvSpPr>
        <p:spPr bwMode="auto">
          <a:xfrm>
            <a:off x="1035050" y="484189"/>
            <a:ext cx="82296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altLang="en-US" sz="3200" b="1" u="sng">
                <a:solidFill>
                  <a:schemeClr val="tx2"/>
                </a:solidFill>
              </a:rPr>
              <a:t>SUMS WITH SURDS</a:t>
            </a:r>
            <a:endParaRPr lang="en-GB" altLang="en-US" sz="3200">
              <a:solidFill>
                <a:schemeClr val="tx2"/>
              </a:solidFill>
            </a:endParaRPr>
          </a:p>
        </p:txBody>
      </p:sp>
      <p:sp>
        <p:nvSpPr>
          <p:cNvPr id="6173" name="TextBox 1">
            <a:extLst>
              <a:ext uri="{FF2B5EF4-FFF2-40B4-BE49-F238E27FC236}">
                <a16:creationId xmlns:a16="http://schemas.microsoft.com/office/drawing/2014/main" id="{4F9AABE4-3228-D745-A6F4-4B601F9E91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7651" y="1700213"/>
            <a:ext cx="652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1)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8B8D3E2-F434-9D40-A488-B76946FAF78E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564965" y="2039079"/>
            <a:ext cx="1770965" cy="442685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6175" name="TextBox 1">
            <a:extLst>
              <a:ext uri="{FF2B5EF4-FFF2-40B4-BE49-F238E27FC236}">
                <a16:creationId xmlns:a16="http://schemas.microsoft.com/office/drawing/2014/main" id="{C0D6FBD8-8B91-BD4E-9229-FA2ED6E5B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4476" y="2055813"/>
            <a:ext cx="652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2)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CD4BCF-80B6-0A47-A877-D7B8682FDD1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551317" y="2436294"/>
            <a:ext cx="1770965" cy="434414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6177" name="TextBox 1">
            <a:extLst>
              <a:ext uri="{FF2B5EF4-FFF2-40B4-BE49-F238E27FC236}">
                <a16:creationId xmlns:a16="http://schemas.microsoft.com/office/drawing/2014/main" id="{C93A8BB9-433D-CC48-81B8-A17AFFE3D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1776" y="2454275"/>
            <a:ext cx="652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3)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9D12B2-831F-4E4F-BB47-3B96DBE173A5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691804" y="2819862"/>
            <a:ext cx="1883917" cy="436402"/>
          </a:xfrm>
          <a:prstGeom prst="rect">
            <a:avLst/>
          </a:prstGeom>
          <a:blipFill rotWithShape="1">
            <a:blip r:embed="rId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6179" name="TextBox 1">
            <a:extLst>
              <a:ext uri="{FF2B5EF4-FFF2-40B4-BE49-F238E27FC236}">
                <a16:creationId xmlns:a16="http://schemas.microsoft.com/office/drawing/2014/main" id="{5C418D29-F61C-BD41-823A-E947D4D9F5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7013" y="2859088"/>
            <a:ext cx="652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4)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DFD65C4-A43A-084E-ABE0-266B7A51F232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617856" y="3185680"/>
            <a:ext cx="2116724" cy="436402"/>
          </a:xfrm>
          <a:prstGeom prst="rect">
            <a:avLst/>
          </a:prstGeom>
          <a:blipFill rotWithShape="1">
            <a:blip r:embed="rId7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6181" name="TextBox 1">
            <a:extLst>
              <a:ext uri="{FF2B5EF4-FFF2-40B4-BE49-F238E27FC236}">
                <a16:creationId xmlns:a16="http://schemas.microsoft.com/office/drawing/2014/main" id="{E05F0C50-A036-5E4D-B358-894E4D1A78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8126" y="3216275"/>
            <a:ext cx="652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5)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007529F-2A89-094E-A373-D527BC4B47D9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665146" y="3527718"/>
            <a:ext cx="1910574" cy="436402"/>
          </a:xfrm>
          <a:prstGeom prst="rect">
            <a:avLst/>
          </a:prstGeom>
          <a:blipFill rotWithShape="1">
            <a:blip r:embed="rId8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6183" name="TextBox 1">
            <a:extLst>
              <a:ext uri="{FF2B5EF4-FFF2-40B4-BE49-F238E27FC236}">
                <a16:creationId xmlns:a16="http://schemas.microsoft.com/office/drawing/2014/main" id="{2E47CC64-2E18-E041-B17C-6C02791FC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4951" y="3571875"/>
            <a:ext cx="652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6)</a:t>
            </a:r>
          </a:p>
        </p:txBody>
      </p:sp>
      <p:sp>
        <p:nvSpPr>
          <p:cNvPr id="6184" name="Text Box 40">
            <a:extLst>
              <a:ext uri="{FF2B5EF4-FFF2-40B4-BE49-F238E27FC236}">
                <a16:creationId xmlns:a16="http://schemas.microsoft.com/office/drawing/2014/main" id="{5DFB4A08-17BD-E94F-9D74-984553516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2576" y="4000501"/>
            <a:ext cx="14652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u="sng">
                <a:solidFill>
                  <a:srgbClr val="FF0000"/>
                </a:solidFill>
              </a:rPr>
              <a:t>TASK 2 </a:t>
            </a:r>
            <a:endParaRPr lang="en-US" altLang="en-US" sz="2400" b="1" u="sng">
              <a:solidFill>
                <a:srgbClr val="FF0000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DC4B1EC-81AF-1142-8089-FA1881745009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612635" y="4694080"/>
            <a:ext cx="1770965" cy="436402"/>
          </a:xfrm>
          <a:prstGeom prst="rect">
            <a:avLst/>
          </a:prstGeom>
          <a:blipFill rotWithShape="1">
            <a:blip r:embed="rId9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6186" name="TextBox 1">
            <a:extLst>
              <a:ext uri="{FF2B5EF4-FFF2-40B4-BE49-F238E27FC236}">
                <a16:creationId xmlns:a16="http://schemas.microsoft.com/office/drawing/2014/main" id="{E68BE191-7964-7245-BFD3-D4001017C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2101" y="4724400"/>
            <a:ext cx="652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1)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FFD400E-2170-5243-9DFD-F630141A25D2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636734" y="5063414"/>
            <a:ext cx="1770965" cy="436402"/>
          </a:xfrm>
          <a:prstGeom prst="rect">
            <a:avLst/>
          </a:prstGeom>
          <a:blipFill rotWithShape="1">
            <a:blip r:embed="rId10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6188" name="TextBox 1">
            <a:extLst>
              <a:ext uri="{FF2B5EF4-FFF2-40B4-BE49-F238E27FC236}">
                <a16:creationId xmlns:a16="http://schemas.microsoft.com/office/drawing/2014/main" id="{01365D8C-F0AC-E945-AB37-83AF57BCE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8926" y="5081588"/>
            <a:ext cx="652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2)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9D46A3F-67CA-DE4C-85B9-C34E947AD8A5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595790" y="5460630"/>
            <a:ext cx="1770965" cy="436402"/>
          </a:xfrm>
          <a:prstGeom prst="rect">
            <a:avLst/>
          </a:prstGeom>
          <a:blipFill rotWithShape="1">
            <a:blip r:embed="rId11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6190" name="TextBox 1">
            <a:extLst>
              <a:ext uri="{FF2B5EF4-FFF2-40B4-BE49-F238E27FC236}">
                <a16:creationId xmlns:a16="http://schemas.microsoft.com/office/drawing/2014/main" id="{854B1D41-F28E-6248-A090-C4D01AC88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6226" y="5478463"/>
            <a:ext cx="652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3)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C229E32-CA3E-7749-8878-6FB3720F8ACA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718279" y="6224456"/>
            <a:ext cx="1883917" cy="442685"/>
          </a:xfrm>
          <a:prstGeom prst="rect">
            <a:avLst/>
          </a:prstGeom>
          <a:blipFill rotWithShape="1">
            <a:blip r:embed="rId1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6192" name="TextBox 1">
            <a:extLst>
              <a:ext uri="{FF2B5EF4-FFF2-40B4-BE49-F238E27FC236}">
                <a16:creationId xmlns:a16="http://schemas.microsoft.com/office/drawing/2014/main" id="{5C4591CB-D289-484F-B306-9E795E2D6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463" y="5883275"/>
            <a:ext cx="6524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4)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D6EE660-AC60-9447-8019-D93A0462FF6D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473840" y="5832560"/>
            <a:ext cx="2116724" cy="436402"/>
          </a:xfrm>
          <a:prstGeom prst="rect">
            <a:avLst/>
          </a:prstGeom>
          <a:blipFill rotWithShape="1">
            <a:blip r:embed="rId1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6194" name="TextBox 1">
            <a:extLst>
              <a:ext uri="{FF2B5EF4-FFF2-40B4-BE49-F238E27FC236}">
                <a16:creationId xmlns:a16="http://schemas.microsoft.com/office/drawing/2014/main" id="{E04DFE2F-A63C-FB4A-92DC-9FEF1D18E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2576" y="6240463"/>
            <a:ext cx="652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5)</a:t>
            </a:r>
          </a:p>
        </p:txBody>
      </p:sp>
      <p:sp>
        <p:nvSpPr>
          <p:cNvPr id="6195" name="Text Box 5">
            <a:extLst>
              <a:ext uri="{FF2B5EF4-FFF2-40B4-BE49-F238E27FC236}">
                <a16:creationId xmlns:a16="http://schemas.microsoft.com/office/drawing/2014/main" id="{C11722FD-AA49-504C-B9A0-5C246A62A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3376" y="4348163"/>
            <a:ext cx="14652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000"/>
              <a:t>Simplify:</a:t>
            </a:r>
            <a:endParaRPr lang="en-US" altLang="en-US" sz="2000"/>
          </a:p>
        </p:txBody>
      </p:sp>
      <p:sp>
        <p:nvSpPr>
          <p:cNvPr id="6196" name="Text Box 40">
            <a:extLst>
              <a:ext uri="{FF2B5EF4-FFF2-40B4-BE49-F238E27FC236}">
                <a16:creationId xmlns:a16="http://schemas.microsoft.com/office/drawing/2014/main" id="{8E5F520C-C00C-234A-8535-93B9335174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4238" y="981076"/>
            <a:ext cx="14652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u="sng">
                <a:solidFill>
                  <a:srgbClr val="FF0000"/>
                </a:solidFill>
              </a:rPr>
              <a:t>TASK 3 </a:t>
            </a:r>
            <a:endParaRPr lang="en-US" altLang="en-US" sz="2400" b="1" u="sng">
              <a:solidFill>
                <a:srgbClr val="FF0000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FFD43CF-6192-E540-ACEC-910F2874142E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092166" y="1675033"/>
            <a:ext cx="1770965" cy="442685"/>
          </a:xfrm>
          <a:prstGeom prst="rect">
            <a:avLst/>
          </a:prstGeom>
          <a:blipFill rotWithShape="1">
            <a:blip r:embed="rId1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6198" name="TextBox 1">
            <a:extLst>
              <a:ext uri="{FF2B5EF4-FFF2-40B4-BE49-F238E27FC236}">
                <a16:creationId xmlns:a16="http://schemas.microsoft.com/office/drawing/2014/main" id="{805BB8BB-7156-6944-9798-674FF685C1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3763" y="1706563"/>
            <a:ext cx="6524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1)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32B4350-6239-EA45-B277-CADD908FE65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142652" y="2044366"/>
            <a:ext cx="1770965" cy="436402"/>
          </a:xfrm>
          <a:prstGeom prst="rect">
            <a:avLst/>
          </a:prstGeom>
          <a:blipFill rotWithShape="1">
            <a:blip r:embed="rId1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6200" name="TextBox 1">
            <a:extLst>
              <a:ext uri="{FF2B5EF4-FFF2-40B4-BE49-F238E27FC236}">
                <a16:creationId xmlns:a16="http://schemas.microsoft.com/office/drawing/2014/main" id="{8F52C92B-A2DB-0F4B-AC52-15915775F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0588" y="2062163"/>
            <a:ext cx="6524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2)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4CBA658-1540-6D47-B419-AAFAF81D868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129004" y="2441583"/>
            <a:ext cx="1770965" cy="442685"/>
          </a:xfrm>
          <a:prstGeom prst="rect">
            <a:avLst/>
          </a:prstGeom>
          <a:blipFill rotWithShape="1">
            <a:blip r:embed="rId1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6202" name="TextBox 1">
            <a:extLst>
              <a:ext uri="{FF2B5EF4-FFF2-40B4-BE49-F238E27FC236}">
                <a16:creationId xmlns:a16="http://schemas.microsoft.com/office/drawing/2014/main" id="{723F9932-A131-E841-B4DD-941021B03F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6301" y="2459038"/>
            <a:ext cx="652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3)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120D37B-B858-3947-9161-CE1130B8F56D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187364" y="2813513"/>
            <a:ext cx="1883917" cy="442685"/>
          </a:xfrm>
          <a:prstGeom prst="rect">
            <a:avLst/>
          </a:prstGeom>
          <a:blipFill rotWithShape="1">
            <a:blip r:embed="rId17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6204" name="TextBox 1">
            <a:extLst>
              <a:ext uri="{FF2B5EF4-FFF2-40B4-BE49-F238E27FC236}">
                <a16:creationId xmlns:a16="http://schemas.microsoft.com/office/drawing/2014/main" id="{55424D3B-9439-304A-9761-5ABD0B8D7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3126" y="2863850"/>
            <a:ext cx="652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4)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37313BF-FAFF-EA49-BD0C-4992FDCC7E2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067508" y="3190968"/>
            <a:ext cx="2116724" cy="436402"/>
          </a:xfrm>
          <a:prstGeom prst="rect">
            <a:avLst/>
          </a:prstGeom>
          <a:blipFill rotWithShape="1">
            <a:blip r:embed="rId18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6206" name="TextBox 1">
            <a:extLst>
              <a:ext uri="{FF2B5EF4-FFF2-40B4-BE49-F238E27FC236}">
                <a16:creationId xmlns:a16="http://schemas.microsoft.com/office/drawing/2014/main" id="{AC7B3D34-6267-C44F-A8D8-F1A340D7C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4238" y="3222625"/>
            <a:ext cx="6524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5)</a:t>
            </a:r>
          </a:p>
        </p:txBody>
      </p:sp>
      <p:sp>
        <p:nvSpPr>
          <p:cNvPr id="6207" name="Text Box 5">
            <a:extLst>
              <a:ext uri="{FF2B5EF4-FFF2-40B4-BE49-F238E27FC236}">
                <a16:creationId xmlns:a16="http://schemas.microsoft.com/office/drawing/2014/main" id="{3F165142-F94E-554D-95C4-FA1339D38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3451" y="1328738"/>
            <a:ext cx="14652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000"/>
              <a:t>Simplify:</a:t>
            </a:r>
            <a:endParaRPr lang="en-US" altLang="en-US" sz="2000"/>
          </a:p>
        </p:txBody>
      </p:sp>
      <p:sp>
        <p:nvSpPr>
          <p:cNvPr id="6208" name="Text Box 40">
            <a:extLst>
              <a:ext uri="{FF2B5EF4-FFF2-40B4-BE49-F238E27FC236}">
                <a16:creationId xmlns:a16="http://schemas.microsoft.com/office/drawing/2014/main" id="{1C149AFE-FCC7-3942-8481-0D77FA94C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01" y="3702051"/>
            <a:ext cx="22780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u="sng">
                <a:solidFill>
                  <a:srgbClr val="7030A0"/>
                </a:solidFill>
              </a:rPr>
              <a:t>EXTENSION</a:t>
            </a:r>
            <a:endParaRPr lang="en-US" altLang="en-US" sz="2400" b="1" u="sng">
              <a:solidFill>
                <a:srgbClr val="7030A0"/>
              </a:solidFill>
            </a:endParaRPr>
          </a:p>
        </p:txBody>
      </p:sp>
      <p:pic>
        <p:nvPicPr>
          <p:cNvPr id="6209" name="Picture 74">
            <a:extLst>
              <a:ext uri="{FF2B5EF4-FFF2-40B4-BE49-F238E27FC236}">
                <a16:creationId xmlns:a16="http://schemas.microsoft.com/office/drawing/2014/main" id="{5D1C1120-33D5-144D-A8AB-1645741D4F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27" t="13492" r="3288" b="5170"/>
          <a:stretch>
            <a:fillRect/>
          </a:stretch>
        </p:blipFill>
        <p:spPr bwMode="auto">
          <a:xfrm>
            <a:off x="6481764" y="4422776"/>
            <a:ext cx="2854325" cy="243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210" name="TextBox 1">
            <a:extLst>
              <a:ext uri="{FF2B5EF4-FFF2-40B4-BE49-F238E27FC236}">
                <a16:creationId xmlns:a16="http://schemas.microsoft.com/office/drawing/2014/main" id="{72D95880-DF3D-C04B-A371-3DC043187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8538" y="4459288"/>
            <a:ext cx="6524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7030A0"/>
                </a:solidFill>
              </a:rPr>
              <a:t>1)</a:t>
            </a:r>
          </a:p>
        </p:txBody>
      </p:sp>
      <p:sp>
        <p:nvSpPr>
          <p:cNvPr id="6211" name="TextBox 1">
            <a:extLst>
              <a:ext uri="{FF2B5EF4-FFF2-40B4-BE49-F238E27FC236}">
                <a16:creationId xmlns:a16="http://schemas.microsoft.com/office/drawing/2014/main" id="{B556CEB0-9A88-DB41-934F-117CFD652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5363" y="5099050"/>
            <a:ext cx="6524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7030A0"/>
                </a:solidFill>
              </a:rPr>
              <a:t>2)</a:t>
            </a:r>
          </a:p>
        </p:txBody>
      </p:sp>
      <p:sp>
        <p:nvSpPr>
          <p:cNvPr id="6212" name="TextBox 1">
            <a:extLst>
              <a:ext uri="{FF2B5EF4-FFF2-40B4-BE49-F238E27FC236}">
                <a16:creationId xmlns:a16="http://schemas.microsoft.com/office/drawing/2014/main" id="{53306DCB-A5EC-1B43-BE02-235942659E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1238" y="5746750"/>
            <a:ext cx="6524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7030A0"/>
                </a:solidFill>
              </a:rPr>
              <a:t>3)</a:t>
            </a:r>
          </a:p>
        </p:txBody>
      </p:sp>
      <p:sp>
        <p:nvSpPr>
          <p:cNvPr id="6213" name="TextBox 1">
            <a:extLst>
              <a:ext uri="{FF2B5EF4-FFF2-40B4-BE49-F238E27FC236}">
                <a16:creationId xmlns:a16="http://schemas.microsoft.com/office/drawing/2014/main" id="{92DA72B0-3453-4949-B705-567ACFBEA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8063" y="6394450"/>
            <a:ext cx="6524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7030A0"/>
                </a:solidFill>
              </a:rPr>
              <a:t>4)</a:t>
            </a:r>
          </a:p>
        </p:txBody>
      </p:sp>
      <p:sp>
        <p:nvSpPr>
          <p:cNvPr id="6214" name="Text Box 5">
            <a:extLst>
              <a:ext uri="{FF2B5EF4-FFF2-40B4-BE49-F238E27FC236}">
                <a16:creationId xmlns:a16="http://schemas.microsoft.com/office/drawing/2014/main" id="{7D283149-0E34-B34B-A399-2FC5E32FE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7901" y="4065588"/>
            <a:ext cx="14652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000"/>
              <a:t>Simplify:</a:t>
            </a:r>
            <a:endParaRPr lang="en-US" altLang="en-US" sz="200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077C929B-BDE2-DD43-A9C0-08F089FFE2EE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071665" y="1668028"/>
            <a:ext cx="1029577" cy="429092"/>
          </a:xfrm>
          <a:prstGeom prst="rect">
            <a:avLst/>
          </a:prstGeom>
          <a:blipFill rotWithShape="1">
            <a:blip r:embed="rId20"/>
            <a:stretch>
              <a:fillRect l="-6509" t="-1429" r="-592" b="-24286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7F672FD2-C732-D342-A8B1-B4E904FDCE7E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071665" y="2063804"/>
            <a:ext cx="890115" cy="432298"/>
          </a:xfrm>
          <a:prstGeom prst="rect">
            <a:avLst/>
          </a:prstGeom>
          <a:blipFill rotWithShape="1">
            <a:blip r:embed="rId21"/>
            <a:stretch>
              <a:fillRect l="-7534" r="-685" b="-25714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DFD0C78A-CA7B-444A-B261-143420238398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071665" y="2420638"/>
            <a:ext cx="1029577" cy="428964"/>
          </a:xfrm>
          <a:prstGeom prst="rect">
            <a:avLst/>
          </a:prstGeom>
          <a:blipFill rotWithShape="1">
            <a:blip r:embed="rId22"/>
            <a:stretch>
              <a:fillRect l="-6509" t="-1429" r="-592" b="-24286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781498D-9921-7243-9DA9-ECA43D579D13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386992" y="2794576"/>
            <a:ext cx="1044004" cy="430118"/>
          </a:xfrm>
          <a:prstGeom prst="rect">
            <a:avLst/>
          </a:prstGeom>
          <a:blipFill rotWithShape="1">
            <a:blip r:embed="rId23"/>
            <a:stretch>
              <a:fillRect l="-6433" t="-1408" b="-22535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C1D03805-CFB5-8B4A-8C0A-1AB6571B9543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445352" y="3154616"/>
            <a:ext cx="1266822" cy="429092"/>
          </a:xfrm>
          <a:prstGeom prst="rect">
            <a:avLst/>
          </a:prstGeom>
          <a:blipFill rotWithShape="1">
            <a:blip r:embed="rId24"/>
            <a:stretch>
              <a:fillRect l="-4808" t="-1408" r="-481" b="-22535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D2F7C432-F177-9D44-8B0F-B5C6C786D99D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431705" y="3501008"/>
            <a:ext cx="1029577" cy="429092"/>
          </a:xfrm>
          <a:prstGeom prst="rect">
            <a:avLst/>
          </a:prstGeom>
          <a:blipFill rotWithShape="1">
            <a:blip r:embed="rId25"/>
            <a:stretch>
              <a:fillRect l="-6509" t="-1408" r="-592" b="-22535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74E93B3A-7CC8-EA42-B5A7-A90EFF12BF67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085312" y="4680432"/>
            <a:ext cx="1044004" cy="429092"/>
          </a:xfrm>
          <a:prstGeom prst="rect">
            <a:avLst/>
          </a:prstGeom>
          <a:blipFill rotWithShape="1">
            <a:blip r:embed="rId26"/>
            <a:stretch>
              <a:fillRect l="-5848" t="-1429" r="-585" b="-24286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155DE47D-7997-F948-8D85-A0045FD6D0AF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130025" y="5042225"/>
            <a:ext cx="890115" cy="429092"/>
          </a:xfrm>
          <a:prstGeom prst="rect">
            <a:avLst/>
          </a:prstGeom>
          <a:blipFill rotWithShape="1">
            <a:blip r:embed="rId27"/>
            <a:stretch>
              <a:fillRect l="-6849" t="-1408" r="-685" b="-22535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DE132148-4686-874A-9F90-6336E75A0AB1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993195" y="5448219"/>
            <a:ext cx="750655" cy="429092"/>
          </a:xfrm>
          <a:prstGeom prst="rect">
            <a:avLst/>
          </a:prstGeom>
          <a:blipFill rotWithShape="1">
            <a:blip r:embed="rId28"/>
            <a:stretch>
              <a:fillRect l="-8130" t="-1429" b="-24286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AC191C-ADBF-4740-BDE5-322C18372AC3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6205539"/>
            <a:ext cx="2222500" cy="434975"/>
            <a:chOff x="1742223" y="5805264"/>
            <a:chExt cx="2222549" cy="436061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D2D74A89-12D8-B340-9D6B-0307BDC81C1F}"/>
                </a:ext>
              </a:extLst>
            </p:cNvPr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1742223" y="5809027"/>
              <a:ext cx="2222549" cy="432298"/>
            </a:xfrm>
            <a:prstGeom prst="rect">
              <a:avLst/>
            </a:prstGeom>
            <a:blipFill rotWithShape="1">
              <a:blip r:embed="rId29"/>
              <a:stretch>
                <a:fillRect l="-2740" b="-25714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en-GB">
                  <a:noFill/>
                  <a:latin typeface="Arial" charset="0"/>
                  <a:cs typeface="Arial" charset="0"/>
                </a:rPr>
                <a:t> 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DDD63E8-C678-5B4E-9957-CBFA2FDB5305}"/>
                </a:ext>
              </a:extLst>
            </p:cNvPr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2843808" y="5805264"/>
              <a:ext cx="646459" cy="429092"/>
            </a:xfrm>
            <a:prstGeom prst="rect">
              <a:avLst/>
            </a:prstGeom>
            <a:blipFill rotWithShape="1">
              <a:blip r:embed="rId30"/>
              <a:stretch>
                <a:fillRect l="-9434" t="-1429" r="-943" b="-24286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en-GB">
                  <a:noFill/>
                  <a:latin typeface="Arial" charset="0"/>
                  <a:cs typeface="Arial" charset="0"/>
                </a:rPr>
                <a:t> </a:t>
              </a:r>
            </a:p>
          </p:txBody>
        </p:sp>
      </p:grpSp>
      <p:sp>
        <p:nvSpPr>
          <p:cNvPr id="141" name="Rectangle 140">
            <a:extLst>
              <a:ext uri="{FF2B5EF4-FFF2-40B4-BE49-F238E27FC236}">
                <a16:creationId xmlns:a16="http://schemas.microsoft.com/office/drawing/2014/main" id="{1D727658-3292-104F-9469-827C1122D308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161088" y="5813814"/>
            <a:ext cx="1044004" cy="430118"/>
          </a:xfrm>
          <a:prstGeom prst="rect">
            <a:avLst/>
          </a:prstGeom>
          <a:blipFill rotWithShape="1">
            <a:blip r:embed="rId31"/>
            <a:stretch>
              <a:fillRect l="-6433" t="-1429" b="-24286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DF27E030-9681-304F-ACE2-6BC604E4E866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711241" y="1673848"/>
            <a:ext cx="890115" cy="432298"/>
          </a:xfrm>
          <a:prstGeom prst="rect">
            <a:avLst/>
          </a:prstGeom>
          <a:blipFill rotWithShape="1">
            <a:blip r:embed="rId32"/>
            <a:stretch>
              <a:fillRect l="-7534" r="-685" b="-25714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C31DC853-CFD0-9444-B364-8FF5479B1396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738537" y="2017644"/>
            <a:ext cx="1029577" cy="430118"/>
          </a:xfrm>
          <a:prstGeom prst="rect">
            <a:avLst/>
          </a:prstGeom>
          <a:blipFill rotWithShape="1">
            <a:blip r:embed="rId33"/>
            <a:stretch>
              <a:fillRect l="-5917" t="-1408" r="-1183" b="-22535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E89E37C3-DBAD-4D4D-814B-007945AB443F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683092" y="2419484"/>
            <a:ext cx="1029577" cy="430118"/>
          </a:xfrm>
          <a:prstGeom prst="rect">
            <a:avLst/>
          </a:prstGeom>
          <a:blipFill rotWithShape="1">
            <a:blip r:embed="rId34"/>
            <a:stretch>
              <a:fillRect l="-5917" t="-1429" r="-1183" b="-24286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2E0F248C-FCCD-C44A-84C6-71A84C8A2768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927265" y="2782858"/>
            <a:ext cx="1112933" cy="432298"/>
          </a:xfrm>
          <a:prstGeom prst="rect">
            <a:avLst/>
          </a:prstGeom>
          <a:blipFill rotWithShape="1">
            <a:blip r:embed="rId35"/>
            <a:stretch>
              <a:fillRect l="-5464" r="-1093" b="-25714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2C3AD336-7804-FB4C-9C58-F56F8BC9E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4013" y="3171825"/>
            <a:ext cx="71846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000" b="1">
                <a:solidFill>
                  <a:srgbClr val="FF0000"/>
                </a:solidFill>
                <a:latin typeface="Cambria Math" panose="02040503050406030204" pitchFamily="18" charset="0"/>
              </a:rPr>
              <a:t>= 16</a:t>
            </a:r>
            <a:endParaRPr lang="en-GB" altLang="en-US" sz="1600" b="1">
              <a:solidFill>
                <a:srgbClr val="7030A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D613C5-6EE6-CD42-B74B-FFDF870F40ED}"/>
              </a:ext>
            </a:extLst>
          </p:cNvPr>
          <p:cNvGrpSpPr>
            <a:grpSpLocks/>
          </p:cNvGrpSpPr>
          <p:nvPr/>
        </p:nvGrpSpPr>
        <p:grpSpPr bwMode="auto">
          <a:xfrm>
            <a:off x="8940801" y="4443414"/>
            <a:ext cx="1173163" cy="407987"/>
            <a:chOff x="7416739" y="4444082"/>
            <a:chExt cx="1173482" cy="406736"/>
          </a:xfrm>
        </p:grpSpPr>
        <p:pic>
          <p:nvPicPr>
            <p:cNvPr id="6241" name="Picture 3">
              <a:extLst>
                <a:ext uri="{FF2B5EF4-FFF2-40B4-BE49-F238E27FC236}">
                  <a16:creationId xmlns:a16="http://schemas.microsoft.com/office/drawing/2014/main" id="{9BAA9C82-02F5-FB46-8C6B-FCDC47A635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630" t="64442" r="41336" b="31894"/>
            <a:stretch>
              <a:fillRect/>
            </a:stretch>
          </p:blipFill>
          <p:spPr bwMode="auto">
            <a:xfrm>
              <a:off x="7786700" y="4444082"/>
              <a:ext cx="803521" cy="4067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242" name="TextBox 3">
              <a:extLst>
                <a:ext uri="{FF2B5EF4-FFF2-40B4-BE49-F238E27FC236}">
                  <a16:creationId xmlns:a16="http://schemas.microsoft.com/office/drawing/2014/main" id="{3704C806-53E3-B043-B0EC-120DECEF2D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16739" y="4444082"/>
              <a:ext cx="53548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 sz="2000">
                  <a:solidFill>
                    <a:srgbClr val="7030A0"/>
                  </a:solidFill>
                </a:rPr>
                <a:t>=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7D42C5F-56CE-2F49-8085-3149988D11A3}"/>
              </a:ext>
            </a:extLst>
          </p:cNvPr>
          <p:cNvGrpSpPr>
            <a:grpSpLocks/>
          </p:cNvGrpSpPr>
          <p:nvPr/>
        </p:nvGrpSpPr>
        <p:grpSpPr bwMode="auto">
          <a:xfrm>
            <a:off x="8985250" y="5029200"/>
            <a:ext cx="1682750" cy="457200"/>
            <a:chOff x="7461605" y="5029516"/>
            <a:chExt cx="1682395" cy="456652"/>
          </a:xfrm>
        </p:grpSpPr>
        <p:pic>
          <p:nvPicPr>
            <p:cNvPr id="6239" name="Picture 4">
              <a:extLst>
                <a:ext uri="{FF2B5EF4-FFF2-40B4-BE49-F238E27FC236}">
                  <a16:creationId xmlns:a16="http://schemas.microsoft.com/office/drawing/2014/main" id="{13632501-77C3-2A42-9AFC-124D83CB61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884" t="69090" r="35420" b="27946"/>
            <a:stretch>
              <a:fillRect/>
            </a:stretch>
          </p:blipFill>
          <p:spPr bwMode="auto">
            <a:xfrm>
              <a:off x="7786710" y="5029516"/>
              <a:ext cx="1357290" cy="4311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240" name="TextBox 154">
              <a:extLst>
                <a:ext uri="{FF2B5EF4-FFF2-40B4-BE49-F238E27FC236}">
                  <a16:creationId xmlns:a16="http://schemas.microsoft.com/office/drawing/2014/main" id="{8E1D1BFC-84C4-6940-B5A5-EEF3257459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1605" y="5086058"/>
              <a:ext cx="53548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 sz="2000">
                  <a:solidFill>
                    <a:srgbClr val="7030A0"/>
                  </a:solidFill>
                </a:rPr>
                <a:t>=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EF7126B-2D8E-8F4C-97AF-0AE76E3D8020}"/>
              </a:ext>
            </a:extLst>
          </p:cNvPr>
          <p:cNvGrpSpPr>
            <a:grpSpLocks/>
          </p:cNvGrpSpPr>
          <p:nvPr/>
        </p:nvGrpSpPr>
        <p:grpSpPr bwMode="auto">
          <a:xfrm>
            <a:off x="9024938" y="5629276"/>
            <a:ext cx="1643062" cy="531813"/>
            <a:chOff x="7500205" y="5628718"/>
            <a:chExt cx="1643795" cy="532038"/>
          </a:xfrm>
        </p:grpSpPr>
        <p:pic>
          <p:nvPicPr>
            <p:cNvPr id="6237" name="Picture 5">
              <a:extLst>
                <a:ext uri="{FF2B5EF4-FFF2-40B4-BE49-F238E27FC236}">
                  <a16:creationId xmlns:a16="http://schemas.microsoft.com/office/drawing/2014/main" id="{2C5E1BDA-64A1-F240-BD8D-14B1E1D828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618" t="73418" r="35458" b="23146"/>
            <a:stretch>
              <a:fillRect/>
            </a:stretch>
          </p:blipFill>
          <p:spPr bwMode="auto">
            <a:xfrm>
              <a:off x="7798984" y="5628718"/>
              <a:ext cx="1345016" cy="5320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238" name="TextBox 155">
              <a:extLst>
                <a:ext uri="{FF2B5EF4-FFF2-40B4-BE49-F238E27FC236}">
                  <a16:creationId xmlns:a16="http://schemas.microsoft.com/office/drawing/2014/main" id="{6A1F3D50-6C48-0B46-AF14-C45155609C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00205" y="5737898"/>
              <a:ext cx="53548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 sz="2000">
                  <a:solidFill>
                    <a:srgbClr val="7030A0"/>
                  </a:solidFill>
                </a:rPr>
                <a:t>=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E4E64DF-5883-D842-801F-AFD2CEB15425}"/>
              </a:ext>
            </a:extLst>
          </p:cNvPr>
          <p:cNvGrpSpPr>
            <a:grpSpLocks/>
          </p:cNvGrpSpPr>
          <p:nvPr/>
        </p:nvGrpSpPr>
        <p:grpSpPr bwMode="auto">
          <a:xfrm>
            <a:off x="9247188" y="6338888"/>
            <a:ext cx="1371600" cy="411162"/>
            <a:chOff x="7722575" y="6338564"/>
            <a:chExt cx="1372422" cy="411810"/>
          </a:xfrm>
        </p:grpSpPr>
        <p:pic>
          <p:nvPicPr>
            <p:cNvPr id="6235" name="Picture 6">
              <a:extLst>
                <a:ext uri="{FF2B5EF4-FFF2-40B4-BE49-F238E27FC236}">
                  <a16:creationId xmlns:a16="http://schemas.microsoft.com/office/drawing/2014/main" id="{0540A0F5-E75E-3F4F-9AD1-6F03F4CDF3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379" t="78015" r="32675" b="19266"/>
            <a:stretch>
              <a:fillRect/>
            </a:stretch>
          </p:blipFill>
          <p:spPr bwMode="auto">
            <a:xfrm>
              <a:off x="7929874" y="6338564"/>
              <a:ext cx="1165123" cy="3945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236" name="TextBox 156">
              <a:extLst>
                <a:ext uri="{FF2B5EF4-FFF2-40B4-BE49-F238E27FC236}">
                  <a16:creationId xmlns:a16="http://schemas.microsoft.com/office/drawing/2014/main" id="{344F824F-EF2B-F445-A923-1E1B190131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22575" y="6350264"/>
              <a:ext cx="53548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 sz="2000">
                  <a:solidFill>
                    <a:srgbClr val="7030A0"/>
                  </a:solidFill>
                </a:rPr>
                <a:t>=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0980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Line 4">
            <a:extLst>
              <a:ext uri="{FF2B5EF4-FFF2-40B4-BE49-F238E27FC236}">
                <a16:creationId xmlns:a16="http://schemas.microsoft.com/office/drawing/2014/main" id="{71E2BDA6-9BC1-F24A-A730-9D34F7AC787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98107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A6C2ABF-AD88-F444-B1D9-13B0287F78D7}"/>
              </a:ext>
            </a:extLst>
          </p:cNvPr>
          <p:cNvSpPr/>
          <p:nvPr/>
        </p:nvSpPr>
        <p:spPr>
          <a:xfrm>
            <a:off x="3024166" y="1"/>
            <a:ext cx="1643074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Effective Participator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27E1201-89D5-CD4E-9E60-65BCB4A1B69D}"/>
              </a:ext>
            </a:extLst>
          </p:cNvPr>
          <p:cNvSpPr/>
          <p:nvPr/>
        </p:nvSpPr>
        <p:spPr>
          <a:xfrm>
            <a:off x="7810512" y="1"/>
            <a:ext cx="1500188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Self Manager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74BAE83-0096-8849-B18F-0FFB6D677372}"/>
              </a:ext>
            </a:extLst>
          </p:cNvPr>
          <p:cNvSpPr/>
          <p:nvPr/>
        </p:nvSpPr>
        <p:spPr>
          <a:xfrm>
            <a:off x="4667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Independent Enquirer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F1CE96A-95E3-B44B-99EB-9D503F6F6C8B}"/>
              </a:ext>
            </a:extLst>
          </p:cNvPr>
          <p:cNvSpPr/>
          <p:nvPr/>
        </p:nvSpPr>
        <p:spPr>
          <a:xfrm>
            <a:off x="1524000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Creative Thinker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9CC297B-3E14-F944-9E5A-7EAC8E2A5075}"/>
              </a:ext>
            </a:extLst>
          </p:cNvPr>
          <p:cNvSpPr/>
          <p:nvPr/>
        </p:nvSpPr>
        <p:spPr>
          <a:xfrm>
            <a:off x="9310710" y="1"/>
            <a:ext cx="1357290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Team Worker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7BE76E1-F16F-C544-B7BD-26D4DC008AC0}"/>
              </a:ext>
            </a:extLst>
          </p:cNvPr>
          <p:cNvSpPr/>
          <p:nvPr/>
        </p:nvSpPr>
        <p:spPr>
          <a:xfrm>
            <a:off x="6310314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Reflective Learner</a:t>
            </a:r>
          </a:p>
        </p:txBody>
      </p:sp>
      <p:sp>
        <p:nvSpPr>
          <p:cNvPr id="7189" name="Rectangle 9">
            <a:extLst>
              <a:ext uri="{FF2B5EF4-FFF2-40B4-BE49-F238E27FC236}">
                <a16:creationId xmlns:a16="http://schemas.microsoft.com/office/drawing/2014/main" id="{8E185CA7-C50B-9D43-82B2-CC08B7B18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28626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336699"/>
                </a:solidFill>
                <a:latin typeface="Franklin Gothic Demi Cond" panose="020B0603020102020204" pitchFamily="34" charset="0"/>
              </a:rPr>
              <a:t>PLT Skills</a:t>
            </a:r>
          </a:p>
        </p:txBody>
      </p:sp>
      <p:sp>
        <p:nvSpPr>
          <p:cNvPr id="7190" name="Rectangle 2">
            <a:extLst>
              <a:ext uri="{FF2B5EF4-FFF2-40B4-BE49-F238E27FC236}">
                <a16:creationId xmlns:a16="http://schemas.microsoft.com/office/drawing/2014/main" id="{00CDC423-A416-1648-991D-B7CFF9EF5A0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881814" y="142875"/>
            <a:ext cx="3786187" cy="1143000"/>
          </a:xfrm>
        </p:spPr>
        <p:txBody>
          <a:bodyPr/>
          <a:lstStyle/>
          <a:p>
            <a:pPr algn="r" eaLnBrk="1" hangingPunct="1"/>
            <a:r>
              <a:rPr lang="en-US" altLang="en-US" sz="2400">
                <a:solidFill>
                  <a:srgbClr val="336699"/>
                </a:solidFill>
                <a:latin typeface="Franklin Gothic Demi Cond" panose="020B0603020102020204" pitchFamily="34" charset="0"/>
              </a:rPr>
              <a:t>Which ones are you using?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08AA37D9-7E98-E64C-8FE0-2654F296BA76}"/>
              </a:ext>
            </a:extLst>
          </p:cNvPr>
          <p:cNvSpPr/>
          <p:nvPr/>
        </p:nvSpPr>
        <p:spPr>
          <a:xfrm>
            <a:off x="1524000" y="571500"/>
            <a:ext cx="1214438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57F960C-2C57-034E-8033-641313F7139E}"/>
              </a:ext>
            </a:extLst>
          </p:cNvPr>
          <p:cNvSpPr/>
          <p:nvPr/>
        </p:nvSpPr>
        <p:spPr>
          <a:xfrm>
            <a:off x="7453314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193" name="Text Box 6">
            <a:extLst>
              <a:ext uri="{FF2B5EF4-FFF2-40B4-BE49-F238E27FC236}">
                <a16:creationId xmlns:a16="http://schemas.microsoft.com/office/drawing/2014/main" id="{E76E608A-A884-A248-B0BF-99482064B8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8713" y="1557338"/>
            <a:ext cx="9144001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400" b="1" u="sng">
                <a:solidFill>
                  <a:srgbClr val="FF0000"/>
                </a:solidFill>
              </a:rPr>
              <a:t>MINI-PLENARY</a:t>
            </a:r>
            <a:endParaRPr lang="en-US" altLang="en-US" sz="2400" b="1" u="sng">
              <a:solidFill>
                <a:srgbClr val="FF0000"/>
              </a:solidFill>
            </a:endParaRPr>
          </a:p>
        </p:txBody>
      </p:sp>
      <p:sp>
        <p:nvSpPr>
          <p:cNvPr id="7194" name="TextBox 1">
            <a:extLst>
              <a:ext uri="{FF2B5EF4-FFF2-40B4-BE49-F238E27FC236}">
                <a16:creationId xmlns:a16="http://schemas.microsoft.com/office/drawing/2014/main" id="{5C37B484-2CCC-0545-A4E6-8FF374C7D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1" y="1997076"/>
            <a:ext cx="8137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400">
                <a:solidFill>
                  <a:srgbClr val="000000"/>
                </a:solidFill>
              </a:rPr>
              <a:t>Simplify the following surd:</a:t>
            </a:r>
          </a:p>
        </p:txBody>
      </p:sp>
      <p:sp>
        <p:nvSpPr>
          <p:cNvPr id="7195" name="Title 1">
            <a:extLst>
              <a:ext uri="{FF2B5EF4-FFF2-40B4-BE49-F238E27FC236}">
                <a16:creationId xmlns:a16="http://schemas.microsoft.com/office/drawing/2014/main" id="{D252CBA4-6C12-B947-9B9B-4C5B0214C433}"/>
              </a:ext>
            </a:extLst>
          </p:cNvPr>
          <p:cNvSpPr txBox="1">
            <a:spLocks/>
          </p:cNvSpPr>
          <p:nvPr/>
        </p:nvSpPr>
        <p:spPr bwMode="auto">
          <a:xfrm>
            <a:off x="1035050" y="484189"/>
            <a:ext cx="82296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altLang="en-US" sz="3200" b="1" u="sng">
                <a:solidFill>
                  <a:schemeClr val="tx2"/>
                </a:solidFill>
              </a:rPr>
              <a:t>SUMS WITH SURDS</a:t>
            </a:r>
            <a:endParaRPr lang="en-GB" altLang="en-US" sz="3200">
              <a:solidFill>
                <a:schemeClr val="tx2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63C372A-D663-2A4C-A36F-E8AD62C44519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866348" y="2859355"/>
            <a:ext cx="2206886" cy="500202"/>
          </a:xfrm>
          <a:prstGeom prst="rect">
            <a:avLst/>
          </a:prstGeom>
          <a:blipFill rotWithShape="1">
            <a:blip r:embed="rId3"/>
            <a:stretch>
              <a:fillRect l="-4144" t="-1220" b="-28049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pic>
        <p:nvPicPr>
          <p:cNvPr id="7197" name="Picture 2">
            <a:extLst>
              <a:ext uri="{FF2B5EF4-FFF2-40B4-BE49-F238E27FC236}">
                <a16:creationId xmlns:a16="http://schemas.microsoft.com/office/drawing/2014/main" id="{97F79A45-3119-424D-B76A-BF2F35E3B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8200" y="1108075"/>
            <a:ext cx="4840288" cy="45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BB9A0D4C-6012-5D4F-98D3-891FEFF45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738" y="3467100"/>
            <a:ext cx="5445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=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C6AC2D-B278-B04C-8BF3-09E08E3110BA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156583" y="3360846"/>
            <a:ext cx="1889492" cy="512704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7AB7AD-8332-0C4F-91FC-CD6B57BF098E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920921" y="3397937"/>
            <a:ext cx="498855" cy="461665"/>
          </a:xfrm>
          <a:prstGeom prst="rect">
            <a:avLst/>
          </a:prstGeom>
          <a:blipFill rotWithShape="1">
            <a:blip r:embed="rId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AAFDF8B-BDAA-004D-A803-861B7DA9697E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260097" y="3367501"/>
            <a:ext cx="1889492" cy="512704"/>
          </a:xfrm>
          <a:prstGeom prst="rect">
            <a:avLst/>
          </a:prstGeom>
          <a:blipFill rotWithShape="1">
            <a:blip r:embed="rId7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3F89A27-43CE-7A4C-86D1-03FE05F0E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7150" y="3940175"/>
            <a:ext cx="5461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=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8AEB33D-E550-F24F-BD82-2683BCA0FD7E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138137" y="3856304"/>
            <a:ext cx="1013675" cy="500202"/>
          </a:xfrm>
          <a:prstGeom prst="rect">
            <a:avLst/>
          </a:prstGeom>
          <a:blipFill rotWithShape="1">
            <a:blip r:embed="rId8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9CD3BE6-03AD-7745-8138-87226A9A0713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002233" y="3894842"/>
            <a:ext cx="498855" cy="461665"/>
          </a:xfrm>
          <a:prstGeom prst="rect">
            <a:avLst/>
          </a:prstGeom>
          <a:blipFill rotWithShape="1">
            <a:blip r:embed="rId9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ADEE0CF-5382-C64C-B430-BC22ECED9E68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348624" y="3861048"/>
            <a:ext cx="1183594" cy="500202"/>
          </a:xfrm>
          <a:prstGeom prst="rect">
            <a:avLst/>
          </a:prstGeom>
          <a:blipFill rotWithShape="1">
            <a:blip r:embed="rId10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17DBDB4-651E-F142-976B-4AC39EBFD674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397681" y="3903440"/>
            <a:ext cx="498855" cy="461665"/>
          </a:xfrm>
          <a:prstGeom prst="rect">
            <a:avLst/>
          </a:prstGeom>
          <a:blipFill rotWithShape="1">
            <a:blip r:embed="rId11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B17C2D9-36CE-274D-95E2-CEF0FCC3266E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730425" y="3861048"/>
            <a:ext cx="1013675" cy="500202"/>
          </a:xfrm>
          <a:prstGeom prst="rect">
            <a:avLst/>
          </a:prstGeom>
          <a:blipFill rotWithShape="1">
            <a:blip r:embed="rId1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5BBE846-69A4-654C-A0B2-A1AB5C77D94F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594521" y="3899586"/>
            <a:ext cx="498855" cy="461665"/>
          </a:xfrm>
          <a:prstGeom prst="rect">
            <a:avLst/>
          </a:prstGeom>
          <a:blipFill rotWithShape="1">
            <a:blip r:embed="rId1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B074BF3-F10B-BE4D-B27B-F6DAF93FE080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940912" y="3865792"/>
            <a:ext cx="1183594" cy="500202"/>
          </a:xfrm>
          <a:prstGeom prst="rect">
            <a:avLst/>
          </a:prstGeom>
          <a:blipFill rotWithShape="1">
            <a:blip r:embed="rId1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9BE8937-15F4-AE48-9008-B00EC11D5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3976" y="4443413"/>
            <a:ext cx="5445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=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555871B-7FD7-364D-9764-02DE621413FA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134590" y="4359470"/>
            <a:ext cx="728213" cy="500202"/>
          </a:xfrm>
          <a:prstGeom prst="rect">
            <a:avLst/>
          </a:prstGeom>
          <a:blipFill rotWithShape="1">
            <a:blip r:embed="rId15"/>
            <a:stretch>
              <a:fillRect l="-12500" t="-1220" b="-28049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2F33EB4-1AD6-CC45-B4C7-DADBD70A094C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673257" y="4398008"/>
            <a:ext cx="498855" cy="461665"/>
          </a:xfrm>
          <a:prstGeom prst="rect">
            <a:avLst/>
          </a:prstGeom>
          <a:blipFill rotWithShape="1">
            <a:blip r:embed="rId1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2AAFC92-79A3-A842-A1C3-37B72A300AAE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019649" y="4364214"/>
            <a:ext cx="728213" cy="500202"/>
          </a:xfrm>
          <a:prstGeom prst="rect">
            <a:avLst/>
          </a:prstGeom>
          <a:blipFill rotWithShape="1">
            <a:blip r:embed="rId17"/>
            <a:stretch>
              <a:fillRect l="-12500" t="-1220" b="-28049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89212DB-9CC5-3546-B068-1F63877EDC8E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568417" y="4406606"/>
            <a:ext cx="498855" cy="461665"/>
          </a:xfrm>
          <a:prstGeom prst="rect">
            <a:avLst/>
          </a:prstGeom>
          <a:blipFill rotWithShape="1">
            <a:blip r:embed="rId18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0E3419C-8AF9-8841-836A-932C03BA61B5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901160" y="4364214"/>
            <a:ext cx="811568" cy="512704"/>
          </a:xfrm>
          <a:prstGeom prst="rect">
            <a:avLst/>
          </a:prstGeom>
          <a:blipFill rotWithShape="1">
            <a:blip r:embed="rId19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9BA0D6B-9B15-614E-B18E-FD5E98DB51B2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528049" y="4402752"/>
            <a:ext cx="498855" cy="461665"/>
          </a:xfrm>
          <a:prstGeom prst="rect">
            <a:avLst/>
          </a:prstGeom>
          <a:blipFill rotWithShape="1">
            <a:blip r:embed="rId20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8598D68-2D64-B144-A932-94E1F0B004D9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874441" y="4368958"/>
            <a:ext cx="728213" cy="500202"/>
          </a:xfrm>
          <a:prstGeom prst="rect">
            <a:avLst/>
          </a:prstGeom>
          <a:blipFill rotWithShape="1">
            <a:blip r:embed="rId21"/>
            <a:stretch>
              <a:fillRect l="-13445" t="-1220" b="-28049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5BE3EF1-5BF5-CA4B-A753-08A96F78B9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6675" y="4932363"/>
            <a:ext cx="5461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7030A0"/>
                </a:solidFill>
              </a:rPr>
              <a:t>=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416A8F2-D4BF-9D41-9CAC-2CBA272CF358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165433" y="4787358"/>
            <a:ext cx="914161" cy="500202"/>
          </a:xfrm>
          <a:prstGeom prst="rect">
            <a:avLst/>
          </a:prstGeom>
          <a:blipFill rotWithShape="1">
            <a:blip r:embed="rId22"/>
            <a:stretch>
              <a:fillRect l="-10000" t="-1220" b="-28049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357439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65" grpId="0"/>
      <p:bldP spid="73" grpId="0"/>
      <p:bldP spid="8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4">
            <a:extLst>
              <a:ext uri="{FF2B5EF4-FFF2-40B4-BE49-F238E27FC236}">
                <a16:creationId xmlns:a16="http://schemas.microsoft.com/office/drawing/2014/main" id="{A73D3855-0F46-C848-B11C-B2C104A9B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3600" b="1" u="sng"/>
              <a:t>PLENARY ACTIVITY</a:t>
            </a:r>
            <a:endParaRPr lang="en-US" altLang="en-US" sz="3600" b="1" u="sng"/>
          </a:p>
        </p:txBody>
      </p:sp>
      <p:sp>
        <p:nvSpPr>
          <p:cNvPr id="9219" name="TextBox 4">
            <a:extLst>
              <a:ext uri="{FF2B5EF4-FFF2-40B4-BE49-F238E27FC236}">
                <a16:creationId xmlns:a16="http://schemas.microsoft.com/office/drawing/2014/main" id="{2F9063AE-F1C6-2843-BFEE-EF83DF99E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4989" y="1331913"/>
            <a:ext cx="34559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000"/>
              <a:t>Simplify fully: </a:t>
            </a:r>
          </a:p>
        </p:txBody>
      </p:sp>
      <p:sp>
        <p:nvSpPr>
          <p:cNvPr id="9220" name="TextBox 18">
            <a:extLst>
              <a:ext uri="{FF2B5EF4-FFF2-40B4-BE49-F238E27FC236}">
                <a16:creationId xmlns:a16="http://schemas.microsoft.com/office/drawing/2014/main" id="{2C4E6E93-261B-604E-BAD0-56E7D59A4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6" y="2700338"/>
            <a:ext cx="4321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000"/>
              <a:t>You </a:t>
            </a:r>
            <a:r>
              <a:rPr lang="en-GB" altLang="en-US" sz="2000" b="1">
                <a:solidFill>
                  <a:srgbClr val="FF0000"/>
                </a:solidFill>
              </a:rPr>
              <a:t>must</a:t>
            </a:r>
            <a:r>
              <a:rPr lang="en-GB" altLang="en-US" sz="2000" b="1"/>
              <a:t> </a:t>
            </a:r>
            <a:r>
              <a:rPr lang="en-GB" altLang="en-US" sz="2000"/>
              <a:t>show your working.</a:t>
            </a:r>
          </a:p>
        </p:txBody>
      </p:sp>
      <p:pic>
        <p:nvPicPr>
          <p:cNvPr id="20" name="Picture 79">
            <a:extLst>
              <a:ext uri="{FF2B5EF4-FFF2-40B4-BE49-F238E27FC236}">
                <a16:creationId xmlns:a16="http://schemas.microsoft.com/office/drawing/2014/main" id="{872285EA-919F-4244-B311-5FBEBF9F7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9438" y="692151"/>
            <a:ext cx="48387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2AF868E-C49D-9647-8ADD-2638D4EE9924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982475" y="1444457"/>
            <a:ext cx="3819474" cy="505203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EBDF7E-B97A-1D48-BC29-3DFF40081DEC}"/>
              </a:ext>
            </a:extLst>
          </p:cNvPr>
          <p:cNvCxnSpPr/>
          <p:nvPr/>
        </p:nvCxnSpPr>
        <p:spPr>
          <a:xfrm>
            <a:off x="4511675" y="1949450"/>
            <a:ext cx="28082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53849A9-CD7D-7A48-A771-710F6650D402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425238" y="1949660"/>
            <a:ext cx="981487" cy="505203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043EF9-CB52-A444-9564-4F7AFE46D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8438" y="3454400"/>
            <a:ext cx="5445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=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5A13B2D-F02F-FF4D-AB8E-56BF3F98413B}"/>
              </a:ext>
            </a:extLst>
          </p:cNvPr>
          <p:cNvCxnSpPr/>
          <p:nvPr/>
        </p:nvCxnSpPr>
        <p:spPr>
          <a:xfrm>
            <a:off x="4662489" y="3598863"/>
            <a:ext cx="308927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5E328462-4E99-634D-917E-359917396FF8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632217" y="3571870"/>
            <a:ext cx="1183594" cy="505203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6B24AD-573E-DA48-B301-85634E1FB7C6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614896" y="3139822"/>
            <a:ext cx="1353512" cy="505203"/>
          </a:xfrm>
          <a:prstGeom prst="rect">
            <a:avLst/>
          </a:prstGeom>
          <a:blipFill rotWithShape="1">
            <a:blip r:embed="rId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F3661F-9B80-0F4B-9E6D-F09A9CBDFAFF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763257" y="3142416"/>
            <a:ext cx="498855" cy="461665"/>
          </a:xfrm>
          <a:prstGeom prst="rect">
            <a:avLst/>
          </a:prstGeom>
          <a:blipFill rotWithShape="1">
            <a:blip r:embed="rId7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5A1032-CF1F-C644-A752-9D9C479ED90A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018430" y="3139822"/>
            <a:ext cx="1013675" cy="505203"/>
          </a:xfrm>
          <a:prstGeom prst="rect">
            <a:avLst/>
          </a:prstGeom>
          <a:blipFill rotWithShape="1">
            <a:blip r:embed="rId8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CA751A-1C0B-1E49-ABE7-07F42C5067D0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833497" y="3153632"/>
            <a:ext cx="498855" cy="461665"/>
          </a:xfrm>
          <a:prstGeom prst="rect">
            <a:avLst/>
          </a:prstGeom>
          <a:blipFill rotWithShape="1">
            <a:blip r:embed="rId9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A88B0F-113B-F14D-9E53-2D533A4D16FB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110220" y="3137390"/>
            <a:ext cx="641650" cy="505203"/>
          </a:xfrm>
          <a:prstGeom prst="rect">
            <a:avLst/>
          </a:prstGeom>
          <a:blipFill rotWithShape="1">
            <a:blip r:embed="rId10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988422B-8C4D-634A-8263-6512382BE0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8438" y="4391025"/>
            <a:ext cx="5445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=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DA55628-6180-1C45-BCED-7BC6F074B2C7}"/>
              </a:ext>
            </a:extLst>
          </p:cNvPr>
          <p:cNvCxnSpPr/>
          <p:nvPr/>
        </p:nvCxnSpPr>
        <p:spPr>
          <a:xfrm>
            <a:off x="4613275" y="4535488"/>
            <a:ext cx="280828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995BF0D4-9406-7142-828D-1EB8AC92C636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769368" y="4494326"/>
            <a:ext cx="811568" cy="505203"/>
          </a:xfrm>
          <a:prstGeom prst="rect">
            <a:avLst/>
          </a:prstGeom>
          <a:blipFill rotWithShape="1">
            <a:blip r:embed="rId11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D7EEB88-562B-A04A-B869-98643C6124DE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614897" y="4075926"/>
            <a:ext cx="981487" cy="505203"/>
          </a:xfrm>
          <a:prstGeom prst="rect">
            <a:avLst/>
          </a:prstGeom>
          <a:blipFill rotWithShape="1">
            <a:blip r:embed="rId1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3FF89BA-C233-8C4C-8DDD-B3B4B050F4D4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416865" y="4092168"/>
            <a:ext cx="498855" cy="461665"/>
          </a:xfrm>
          <a:prstGeom prst="rect">
            <a:avLst/>
          </a:prstGeom>
          <a:blipFill rotWithShape="1">
            <a:blip r:embed="rId1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FAC7F61-133B-684A-9C81-C4BCBFE08BFF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825385" y="4075926"/>
            <a:ext cx="728213" cy="496483"/>
          </a:xfrm>
          <a:prstGeom prst="rect">
            <a:avLst/>
          </a:prstGeom>
          <a:blipFill rotWithShape="1">
            <a:blip r:embed="rId14"/>
            <a:stretch>
              <a:fillRect l="-13445" t="-2469" b="-28395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A3F23AE-DA6E-A14B-B1B7-506114EB8CEC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459809" y="4089736"/>
            <a:ext cx="498855" cy="461665"/>
          </a:xfrm>
          <a:prstGeom prst="rect">
            <a:avLst/>
          </a:prstGeom>
          <a:blipFill rotWithShape="1">
            <a:blip r:embed="rId1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40A1D32-E8E2-7F45-9602-73BEADB1A945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736532" y="4073494"/>
            <a:ext cx="641650" cy="505203"/>
          </a:xfrm>
          <a:prstGeom prst="rect">
            <a:avLst/>
          </a:prstGeom>
          <a:blipFill rotWithShape="1">
            <a:blip r:embed="rId1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20D9F2-D79F-FD40-BA87-FC20DBE2B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8438" y="5281614"/>
            <a:ext cx="5445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=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85141EB-6E96-0B43-9C1B-0DF87370D77B}"/>
              </a:ext>
            </a:extLst>
          </p:cNvPr>
          <p:cNvCxnSpPr/>
          <p:nvPr/>
        </p:nvCxnSpPr>
        <p:spPr>
          <a:xfrm>
            <a:off x="4583114" y="5426075"/>
            <a:ext cx="108267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A556691A-BBDF-D74A-A336-14FBB94FFA2F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741496" y="5385718"/>
            <a:ext cx="811568" cy="505203"/>
          </a:xfrm>
          <a:prstGeom prst="rect">
            <a:avLst/>
          </a:prstGeom>
          <a:blipFill rotWithShape="1">
            <a:blip r:embed="rId17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CBFA531-5A99-0747-83BA-6E94CF93E5B6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614897" y="4967318"/>
            <a:ext cx="981487" cy="505203"/>
          </a:xfrm>
          <a:prstGeom prst="rect">
            <a:avLst/>
          </a:prstGeom>
          <a:blipFill rotWithShape="1">
            <a:blip r:embed="rId18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217C0A3-8C93-4B4F-AFE9-B00D3582F7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1138" y="6083300"/>
            <a:ext cx="546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7030A0"/>
                </a:solidFill>
              </a:rPr>
              <a:t>=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A5A85F-58EC-3D4B-B190-43BB70A49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7601" y="6003926"/>
            <a:ext cx="18335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800" b="1">
                <a:solidFill>
                  <a:srgbClr val="7030A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107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6" grpId="0"/>
      <p:bldP spid="44" grpId="0"/>
      <p:bldP spid="52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025236" y="1451149"/>
            <a:ext cx="14156" cy="5406851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1210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Surds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do we apply basic operations to surds?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451149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41173" y="55559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Line 4">
            <a:extLst>
              <a:ext uri="{FF2B5EF4-FFF2-40B4-BE49-F238E27FC236}">
                <a16:creationId xmlns:a16="http://schemas.microsoft.com/office/drawing/2014/main" id="{210C4660-D408-7B4F-99F2-41EC2986EDE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98107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02B8706-5915-114B-8D2E-E19B1CF34673}"/>
              </a:ext>
            </a:extLst>
          </p:cNvPr>
          <p:cNvSpPr/>
          <p:nvPr/>
        </p:nvSpPr>
        <p:spPr>
          <a:xfrm>
            <a:off x="3024166" y="1"/>
            <a:ext cx="1643074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Effective Participator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05EEDA5-2A26-7E45-B124-6151DDFB4C6A}"/>
              </a:ext>
            </a:extLst>
          </p:cNvPr>
          <p:cNvSpPr/>
          <p:nvPr/>
        </p:nvSpPr>
        <p:spPr>
          <a:xfrm>
            <a:off x="7810512" y="1"/>
            <a:ext cx="1500188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Self Manager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B028AEC-D57F-784E-B5BE-6F57BD89A6FE}"/>
              </a:ext>
            </a:extLst>
          </p:cNvPr>
          <p:cNvSpPr/>
          <p:nvPr/>
        </p:nvSpPr>
        <p:spPr>
          <a:xfrm>
            <a:off x="4667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Independent Enquirer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9A85886-0E70-2546-B5BB-0A337A32956B}"/>
              </a:ext>
            </a:extLst>
          </p:cNvPr>
          <p:cNvSpPr/>
          <p:nvPr/>
        </p:nvSpPr>
        <p:spPr>
          <a:xfrm>
            <a:off x="1524000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Creative Thinker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69825EF-3920-7A4B-98F9-6A956C9DB1EF}"/>
              </a:ext>
            </a:extLst>
          </p:cNvPr>
          <p:cNvSpPr/>
          <p:nvPr/>
        </p:nvSpPr>
        <p:spPr>
          <a:xfrm>
            <a:off x="9310710" y="1"/>
            <a:ext cx="1357290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/>
              <a:t>Team Worker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A7AB465-B7DE-DB48-A0D9-3187EC77DBE9}"/>
              </a:ext>
            </a:extLst>
          </p:cNvPr>
          <p:cNvSpPr/>
          <p:nvPr/>
        </p:nvSpPr>
        <p:spPr>
          <a:xfrm>
            <a:off x="6310314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/>
              <a:t>Reflective Learner</a:t>
            </a:r>
          </a:p>
        </p:txBody>
      </p:sp>
      <p:sp>
        <p:nvSpPr>
          <p:cNvPr id="5141" name="Rectangle 9">
            <a:extLst>
              <a:ext uri="{FF2B5EF4-FFF2-40B4-BE49-F238E27FC236}">
                <a16:creationId xmlns:a16="http://schemas.microsoft.com/office/drawing/2014/main" id="{BF9F8329-8825-114A-B125-8AD033FB6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28626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336699"/>
                </a:solidFill>
                <a:latin typeface="Franklin Gothic Demi Cond" panose="020B0603020102020204" pitchFamily="34" charset="0"/>
              </a:rPr>
              <a:t>PLT Skills</a:t>
            </a:r>
          </a:p>
        </p:txBody>
      </p:sp>
      <p:sp>
        <p:nvSpPr>
          <p:cNvPr id="5142" name="Rectangle 2">
            <a:extLst>
              <a:ext uri="{FF2B5EF4-FFF2-40B4-BE49-F238E27FC236}">
                <a16:creationId xmlns:a16="http://schemas.microsoft.com/office/drawing/2014/main" id="{82342753-F312-004E-B772-65CC622AD07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881814" y="142875"/>
            <a:ext cx="3786187" cy="1143000"/>
          </a:xfrm>
        </p:spPr>
        <p:txBody>
          <a:bodyPr/>
          <a:lstStyle/>
          <a:p>
            <a:pPr algn="r" eaLnBrk="1" hangingPunct="1"/>
            <a:r>
              <a:rPr lang="en-US" altLang="en-US" sz="2400">
                <a:solidFill>
                  <a:srgbClr val="336699"/>
                </a:solidFill>
                <a:latin typeface="Franklin Gothic Demi Cond" panose="020B0603020102020204" pitchFamily="34" charset="0"/>
              </a:rPr>
              <a:t>Which ones are you using?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FA8F0DFA-D918-B942-896C-6374D4321F26}"/>
              </a:ext>
            </a:extLst>
          </p:cNvPr>
          <p:cNvSpPr/>
          <p:nvPr/>
        </p:nvSpPr>
        <p:spPr>
          <a:xfrm>
            <a:off x="1524000" y="571500"/>
            <a:ext cx="1214438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E1577A5-B0EF-9E45-8DC9-98D770A70486}"/>
              </a:ext>
            </a:extLst>
          </p:cNvPr>
          <p:cNvSpPr/>
          <p:nvPr/>
        </p:nvSpPr>
        <p:spPr>
          <a:xfrm>
            <a:off x="7453314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5145" name="Title 1">
            <a:extLst>
              <a:ext uri="{FF2B5EF4-FFF2-40B4-BE49-F238E27FC236}">
                <a16:creationId xmlns:a16="http://schemas.microsoft.com/office/drawing/2014/main" id="{EEB46DE7-5592-B449-B264-4C4A9C5EDB60}"/>
              </a:ext>
            </a:extLst>
          </p:cNvPr>
          <p:cNvSpPr txBox="1">
            <a:spLocks/>
          </p:cNvSpPr>
          <p:nvPr/>
        </p:nvSpPr>
        <p:spPr bwMode="auto">
          <a:xfrm>
            <a:off x="1035050" y="484189"/>
            <a:ext cx="82296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altLang="en-US" sz="3200" b="1" u="sng">
                <a:solidFill>
                  <a:schemeClr val="tx2"/>
                </a:solidFill>
              </a:rPr>
              <a:t>SIMPLIFYING SURDS</a:t>
            </a:r>
            <a:endParaRPr lang="en-GB" altLang="en-US" sz="3200">
              <a:solidFill>
                <a:schemeClr val="tx2"/>
              </a:solidFill>
            </a:endParaRPr>
          </a:p>
        </p:txBody>
      </p:sp>
      <p:sp>
        <p:nvSpPr>
          <p:cNvPr id="5146" name="Text Box 40">
            <a:extLst>
              <a:ext uri="{FF2B5EF4-FFF2-40B4-BE49-F238E27FC236}">
                <a16:creationId xmlns:a16="http://schemas.microsoft.com/office/drawing/2014/main" id="{282D9A8A-1603-5B4B-A94E-BD268340D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887" y="1989138"/>
            <a:ext cx="2160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u="sng">
                <a:solidFill>
                  <a:srgbClr val="FF0000"/>
                </a:solidFill>
              </a:rPr>
              <a:t>EXAMPLES</a:t>
            </a:r>
            <a:endParaRPr lang="en-US" altLang="en-US" sz="2400" b="1" u="sng">
              <a:solidFill>
                <a:srgbClr val="FF0000"/>
              </a:solidFill>
            </a:endParaRPr>
          </a:p>
        </p:txBody>
      </p:sp>
      <p:sp>
        <p:nvSpPr>
          <p:cNvPr id="5147" name="Text Box 5">
            <a:extLst>
              <a:ext uri="{FF2B5EF4-FFF2-40B4-BE49-F238E27FC236}">
                <a16:creationId xmlns:a16="http://schemas.microsoft.com/office/drawing/2014/main" id="{5BE350C9-D809-CA43-9227-A7F6F181A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7" y="2349501"/>
            <a:ext cx="9001126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/>
              <a:t>Simplify each of these following surds fully:</a:t>
            </a:r>
            <a:endParaRPr lang="en-US" altLang="en-US" sz="2400"/>
          </a:p>
        </p:txBody>
      </p:sp>
      <p:sp>
        <p:nvSpPr>
          <p:cNvPr id="5148" name="Text Box 7">
            <a:extLst>
              <a:ext uri="{FF2B5EF4-FFF2-40B4-BE49-F238E27FC236}">
                <a16:creationId xmlns:a16="http://schemas.microsoft.com/office/drawing/2014/main" id="{6BB4897E-8688-6C44-AE30-B878F7D53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7" y="2751138"/>
            <a:ext cx="5730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>
                <a:solidFill>
                  <a:srgbClr val="FF0000"/>
                </a:solidFill>
              </a:rPr>
              <a:t>(a)</a:t>
            </a:r>
            <a:r>
              <a:rPr lang="en-GB" altLang="en-US"/>
              <a:t> </a:t>
            </a:r>
            <a:endParaRPr lang="en-US" altLang="en-US"/>
          </a:p>
        </p:txBody>
      </p:sp>
      <p:sp>
        <p:nvSpPr>
          <p:cNvPr id="5201" name="TextBox 12">
            <a:extLst>
              <a:ext uri="{FF2B5EF4-FFF2-40B4-BE49-F238E27FC236}">
                <a16:creationId xmlns:a16="http://schemas.microsoft.com/office/drawing/2014/main" id="{DF3DD82F-D974-454D-8723-7E7DE995392F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703513" y="1052737"/>
            <a:ext cx="796131" cy="641073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>
                <a:noFill/>
                <a:latin typeface="Arial" charset="0"/>
                <a:cs typeface="Arial" charset="0"/>
              </a:rPr>
              <a:t> </a:t>
            </a:r>
          </a:p>
        </p:txBody>
      </p:sp>
      <p:grpSp>
        <p:nvGrpSpPr>
          <p:cNvPr id="5171" name="Group 26">
            <a:extLst>
              <a:ext uri="{FF2B5EF4-FFF2-40B4-BE49-F238E27FC236}">
                <a16:creationId xmlns:a16="http://schemas.microsoft.com/office/drawing/2014/main" id="{1C437435-FAD4-B744-954E-E7AE6BE8318F}"/>
              </a:ext>
            </a:extLst>
          </p:cNvPr>
          <p:cNvGrpSpPr>
            <a:grpSpLocks/>
          </p:cNvGrpSpPr>
          <p:nvPr/>
        </p:nvGrpSpPr>
        <p:grpSpPr bwMode="auto">
          <a:xfrm>
            <a:off x="5591175" y="1700213"/>
            <a:ext cx="4891088" cy="487362"/>
            <a:chOff x="3065937" y="1604799"/>
            <a:chExt cx="4891065" cy="486925"/>
          </a:xfrm>
        </p:grpSpPr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DF630B9D-4496-E648-9214-CB48BE234173}"/>
                </a:ext>
              </a:extLst>
            </p:cNvPr>
            <p:cNvCxnSpPr/>
            <p:nvPr/>
          </p:nvCxnSpPr>
          <p:spPr bwMode="auto">
            <a:xfrm flipH="1" flipV="1">
              <a:off x="3065937" y="1604799"/>
              <a:ext cx="708022" cy="282322"/>
            </a:xfrm>
            <a:prstGeom prst="straightConnector1">
              <a:avLst/>
            </a:prstGeom>
            <a:ln w="25400">
              <a:solidFill>
                <a:srgbClr val="16AA1D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44" name="TextBox 21">
              <a:extLst>
                <a:ext uri="{FF2B5EF4-FFF2-40B4-BE49-F238E27FC236}">
                  <a16:creationId xmlns:a16="http://schemas.microsoft.com/office/drawing/2014/main" id="{3507EB57-4464-A94F-A1B6-56B974886A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1552" y="1722580"/>
              <a:ext cx="4235450" cy="369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LEARN THESE OFF BY HEART</a:t>
              </a:r>
            </a:p>
          </p:txBody>
        </p:sp>
      </p:grpSp>
      <p:sp>
        <p:nvSpPr>
          <p:cNvPr id="87" name="TextBox 12">
            <a:extLst>
              <a:ext uri="{FF2B5EF4-FFF2-40B4-BE49-F238E27FC236}">
                <a16:creationId xmlns:a16="http://schemas.microsoft.com/office/drawing/2014/main" id="{ECD9F569-8992-6F46-A012-373001BBCAF5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715668" y="1052736"/>
            <a:ext cx="796131" cy="642868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>
                <a:noFill/>
                <a:latin typeface="Arial" charset="0"/>
                <a:cs typeface="Arial" charset="0"/>
              </a:rPr>
              <a:t> </a:t>
            </a:r>
          </a:p>
        </p:txBody>
      </p:sp>
      <p:sp>
        <p:nvSpPr>
          <p:cNvPr id="5152" name="Text Box 7">
            <a:extLst>
              <a:ext uri="{FF2B5EF4-FFF2-40B4-BE49-F238E27FC236}">
                <a16:creationId xmlns:a16="http://schemas.microsoft.com/office/drawing/2014/main" id="{819D5BC0-29D1-234F-A63A-C7A5546A6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9514" y="2751138"/>
            <a:ext cx="5730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>
                <a:solidFill>
                  <a:srgbClr val="FF0000"/>
                </a:solidFill>
              </a:rPr>
              <a:t>(b)</a:t>
            </a:r>
            <a:r>
              <a:rPr lang="en-GB" altLang="en-US"/>
              <a:t> </a:t>
            </a:r>
            <a:endParaRPr lang="en-US" altLang="en-US"/>
          </a:p>
        </p:txBody>
      </p:sp>
      <p:sp>
        <p:nvSpPr>
          <p:cNvPr id="5153" name="Text Box 7">
            <a:extLst>
              <a:ext uri="{FF2B5EF4-FFF2-40B4-BE49-F238E27FC236}">
                <a16:creationId xmlns:a16="http://schemas.microsoft.com/office/drawing/2014/main" id="{66E32C15-99F8-0946-A783-088E5FF6C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3275" y="2751138"/>
            <a:ext cx="5730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>
                <a:solidFill>
                  <a:srgbClr val="FF0000"/>
                </a:solidFill>
              </a:rPr>
              <a:t>(c)</a:t>
            </a:r>
            <a:r>
              <a:rPr lang="en-GB" altLang="en-US"/>
              <a:t> </a:t>
            </a:r>
            <a:endParaRPr lang="en-US" altLang="en-US"/>
          </a:p>
        </p:txBody>
      </p:sp>
      <p:sp>
        <p:nvSpPr>
          <p:cNvPr id="5154" name="Text Box 7">
            <a:extLst>
              <a:ext uri="{FF2B5EF4-FFF2-40B4-BE49-F238E27FC236}">
                <a16:creationId xmlns:a16="http://schemas.microsoft.com/office/drawing/2014/main" id="{6D2FCC0B-7029-154F-96DA-B7E1A814A8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6726" y="2736851"/>
            <a:ext cx="6016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>
                <a:solidFill>
                  <a:srgbClr val="FF0000"/>
                </a:solidFill>
              </a:rPr>
              <a:t>(d)</a:t>
            </a:r>
            <a:r>
              <a:rPr lang="en-GB" altLang="en-US"/>
              <a:t> </a:t>
            </a:r>
            <a:endParaRPr lang="en-US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D531A4-EAF2-2440-915E-2C9FB5073C55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741362" y="1044292"/>
            <a:ext cx="1058495" cy="642868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CB0DC22-19E1-5747-BCD1-CB806325CA2F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965498" y="1057941"/>
            <a:ext cx="1058495" cy="652871"/>
          </a:xfrm>
          <a:prstGeom prst="rect">
            <a:avLst/>
          </a:prstGeom>
          <a:blipFill rotWithShape="1">
            <a:blip r:embed="rId6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6630599-9810-0342-96EB-F84BC7A98F15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261642" y="1057940"/>
            <a:ext cx="1058495" cy="642868"/>
          </a:xfrm>
          <a:prstGeom prst="rect">
            <a:avLst/>
          </a:prstGeom>
          <a:blipFill rotWithShape="1">
            <a:blip r:embed="rId7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CD49ED3-82E3-C041-AA8A-28B9C164AAFE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608169" y="1044292"/>
            <a:ext cx="1058495" cy="642868"/>
          </a:xfrm>
          <a:prstGeom prst="rect">
            <a:avLst/>
          </a:prstGeom>
          <a:blipFill rotWithShape="1">
            <a:blip r:embed="rId8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AE58143-4A80-6746-B74C-7CA714E39634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968710" y="1046630"/>
            <a:ext cx="1303755" cy="642868"/>
          </a:xfrm>
          <a:prstGeom prst="rect">
            <a:avLst/>
          </a:prstGeom>
          <a:blipFill rotWithShape="1">
            <a:blip r:embed="rId9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5692BA3-70DD-1742-A5CC-75B44FDA7DC8}"/>
              </a:ext>
            </a:extLst>
          </p:cNvPr>
          <p:cNvSpPr/>
          <p:nvPr/>
        </p:nvSpPr>
        <p:spPr>
          <a:xfrm>
            <a:off x="1703389" y="1087438"/>
            <a:ext cx="8701087" cy="584200"/>
          </a:xfrm>
          <a:prstGeom prst="roundRect">
            <a:avLst/>
          </a:prstGeom>
          <a:solidFill>
            <a:srgbClr val="92D050">
              <a:alpha val="2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A8D8F9-FA56-A441-B8C8-16D721B69605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862236" y="2722569"/>
            <a:ext cx="907749" cy="505203"/>
          </a:xfrm>
          <a:prstGeom prst="rect">
            <a:avLst/>
          </a:prstGeom>
          <a:blipFill rotWithShape="1">
            <a:blip r:embed="rId10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E686743-BD25-3744-A389-09D97E0E2367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797281" y="2722569"/>
            <a:ext cx="878895" cy="505203"/>
          </a:xfrm>
          <a:prstGeom prst="rect">
            <a:avLst/>
          </a:prstGeom>
          <a:blipFill rotWithShape="1">
            <a:blip r:embed="rId11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5163" name="TextBox 3">
            <a:extLst>
              <a:ext uri="{FF2B5EF4-FFF2-40B4-BE49-F238E27FC236}">
                <a16:creationId xmlns:a16="http://schemas.microsoft.com/office/drawing/2014/main" id="{DCAD77DD-7B53-1B42-90FA-54148DDEB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8739" y="2765426"/>
            <a:ext cx="454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/>
              <a:t>x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A46F115-8E5F-B648-A8A0-DB458532B82A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079777" y="2722569"/>
            <a:ext cx="878895" cy="505203"/>
          </a:xfrm>
          <a:prstGeom prst="rect">
            <a:avLst/>
          </a:prstGeom>
          <a:blipFill rotWithShape="1">
            <a:blip r:embed="rId12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842FE0B-45E6-5B48-8340-80E355D8CAE2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014822" y="2722568"/>
            <a:ext cx="878895" cy="503856"/>
          </a:xfrm>
          <a:prstGeom prst="rect">
            <a:avLst/>
          </a:prstGeom>
          <a:blipFill rotWithShape="1">
            <a:blip r:embed="rId13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5166" name="TextBox 76">
            <a:extLst>
              <a:ext uri="{FF2B5EF4-FFF2-40B4-BE49-F238E27FC236}">
                <a16:creationId xmlns:a16="http://schemas.microsoft.com/office/drawing/2014/main" id="{3F7BB2AB-6D57-8946-9A5F-E49327C19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6476" y="2765426"/>
            <a:ext cx="454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/>
              <a:t>x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A461AEA-BE6B-704E-9BF6-1E98BD68A70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240017" y="2708920"/>
            <a:ext cx="1048813" cy="512704"/>
          </a:xfrm>
          <a:prstGeom prst="rect">
            <a:avLst/>
          </a:prstGeom>
          <a:blipFill rotWithShape="1">
            <a:blip r:embed="rId14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7FE865E-28C1-6344-92C6-F02FF93010EA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291690" y="2708920"/>
            <a:ext cx="878895" cy="512704"/>
          </a:xfrm>
          <a:prstGeom prst="rect">
            <a:avLst/>
          </a:prstGeom>
          <a:blipFill rotWithShape="1">
            <a:blip r:embed="rId15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5169" name="TextBox 79">
            <a:extLst>
              <a:ext uri="{FF2B5EF4-FFF2-40B4-BE49-F238E27FC236}">
                <a16:creationId xmlns:a16="http://schemas.microsoft.com/office/drawing/2014/main" id="{37F0764B-BF0A-BB4C-9BC9-D4228E23B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9776" y="2751138"/>
            <a:ext cx="4540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/>
              <a:t>÷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1B4CD63-7F7D-6045-80A0-B3E841874CA7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472264" y="2708921"/>
            <a:ext cx="1218732" cy="505203"/>
          </a:xfrm>
          <a:prstGeom prst="rect">
            <a:avLst/>
          </a:prstGeom>
          <a:blipFill rotWithShape="1">
            <a:blip r:embed="rId16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C5621F6-1A25-8142-98B7-1A8EC5C75D64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681602" y="2708921"/>
            <a:ext cx="878895" cy="505203"/>
          </a:xfrm>
          <a:prstGeom prst="rect">
            <a:avLst/>
          </a:prstGeom>
          <a:blipFill rotWithShape="1">
            <a:blip r:embed="rId17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5172" name="TextBox 82">
            <a:extLst>
              <a:ext uri="{FF2B5EF4-FFF2-40B4-BE49-F238E27FC236}">
                <a16:creationId xmlns:a16="http://schemas.microsoft.com/office/drawing/2014/main" id="{988F4C07-7E98-4746-AA77-6CD19E613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3725" y="2751138"/>
            <a:ext cx="4524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/>
              <a:t>÷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037B12-B196-9949-95CD-866BD7B1C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1300" y="3348038"/>
            <a:ext cx="336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=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9FD07E9-C043-2143-83A9-EE678D715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6" y="3284538"/>
            <a:ext cx="4540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66B2447-2A11-A548-A534-9BE0119D7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4" y="3268663"/>
            <a:ext cx="452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1B4ED9D-A8B6-DC47-A62F-AD21154782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214" y="3284538"/>
            <a:ext cx="452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05C6339-AAB0-2F4A-AB15-4309530D9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6339" y="3284538"/>
            <a:ext cx="4540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058E34-D3B3-1645-BF46-81A4F8B0ECC5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567609" y="3242894"/>
            <a:ext cx="708977" cy="505203"/>
          </a:xfrm>
          <a:prstGeom prst="rect">
            <a:avLst/>
          </a:prstGeom>
          <a:blipFill rotWithShape="1">
            <a:blip r:embed="rId18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3216F66-86BF-E542-A50A-5F246F4019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9589" y="3284538"/>
            <a:ext cx="4540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B3E572-42D5-4947-BED0-6E8C30C3A8A2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170969" y="3256542"/>
            <a:ext cx="708977" cy="505203"/>
          </a:xfrm>
          <a:prstGeom prst="rect">
            <a:avLst/>
          </a:prstGeom>
          <a:blipFill rotWithShape="1">
            <a:blip r:embed="rId19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DFD1776-F9FF-FD48-B6AB-609802BB9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1300" y="3892550"/>
            <a:ext cx="336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=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4CC71D8-79FB-9E4A-802F-55817B0A2D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7200" y="3817938"/>
            <a:ext cx="539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FF0000"/>
                </a:solidFill>
              </a:rPr>
              <a:t>15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BD1D340-56FD-2F49-A937-5246E2975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4550" y="3806826"/>
            <a:ext cx="4524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4FD468E-84C7-334A-B8D0-B8D9B317526C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265929" y="3776267"/>
            <a:ext cx="708977" cy="505203"/>
          </a:xfrm>
          <a:prstGeom prst="rect">
            <a:avLst/>
          </a:prstGeom>
          <a:blipFill rotWithShape="1">
            <a:blip r:embed="rId20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F4A662C-2ADE-5940-8D6B-167FF549D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1300" y="4451350"/>
            <a:ext cx="336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7030A0"/>
                </a:solidFill>
              </a:rPr>
              <a:t>=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66E78B6-91D2-E04D-9AF8-66C82FD81C21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693632" y="4363958"/>
            <a:ext cx="1092094" cy="505203"/>
          </a:xfrm>
          <a:prstGeom prst="rect">
            <a:avLst/>
          </a:prstGeom>
          <a:blipFill rotWithShape="1">
            <a:blip r:embed="rId21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DC55487-918E-E541-8341-D4A66D722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8888" y="3348038"/>
            <a:ext cx="336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=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6FE5DEA-B9F2-E84D-B1EF-CB2E3B18F4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4001" y="3284538"/>
            <a:ext cx="4540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8C0CA8A-29C4-B245-8037-D5B276AD2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9901" y="3268663"/>
            <a:ext cx="4540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87ED784-3DA0-F546-BBC5-D373CDBB86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1" y="3284538"/>
            <a:ext cx="4540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E527CE1-85BE-2D4C-9C3B-A480361A2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6939" y="3284538"/>
            <a:ext cx="4540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CC1BAEC8-3C06-8F4A-BB10-618EEA6096A4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855672" y="3242894"/>
            <a:ext cx="708977" cy="505203"/>
          </a:xfrm>
          <a:prstGeom prst="rect">
            <a:avLst/>
          </a:prstGeom>
          <a:blipFill rotWithShape="1">
            <a:blip r:embed="rId22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C51F600-4DFC-2C40-B0EF-517311FAE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8764" y="3284538"/>
            <a:ext cx="452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993E77D-D9A0-2347-A264-F3B9D5A7B762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459032" y="3256541"/>
            <a:ext cx="708977" cy="503856"/>
          </a:xfrm>
          <a:prstGeom prst="rect">
            <a:avLst/>
          </a:prstGeom>
          <a:blipFill rotWithShape="1">
            <a:blip r:embed="rId23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5556755-4F66-204B-9285-B001C30D2F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8888" y="3892550"/>
            <a:ext cx="336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=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369738D-2989-1348-9BD4-C2C444E3DC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4788" y="3817938"/>
            <a:ext cx="539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FF0000"/>
                </a:solidFill>
              </a:rPr>
              <a:t> 6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E39E705-0791-7F43-AED4-D1B07ACFA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4989" y="3806826"/>
            <a:ext cx="454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F25F8A68-43D0-154B-B31F-1A03E591F7BA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497026" y="3776267"/>
            <a:ext cx="878895" cy="505203"/>
          </a:xfrm>
          <a:prstGeom prst="rect">
            <a:avLst/>
          </a:prstGeom>
          <a:blipFill rotWithShape="1">
            <a:blip r:embed="rId24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2C2AD5FE-A276-0842-9A10-F2FC0CFB1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2538" y="5621338"/>
            <a:ext cx="336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7030A0"/>
                </a:solidFill>
              </a:rPr>
              <a:t>=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E5668AF-6FF2-1742-B00D-03B62D33E60A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106402" y="5516085"/>
            <a:ext cx="981487" cy="497572"/>
          </a:xfrm>
          <a:prstGeom prst="rect">
            <a:avLst/>
          </a:prstGeom>
          <a:blipFill rotWithShape="1">
            <a:blip r:embed="rId25"/>
            <a:stretch>
              <a:fillRect l="-9938" t="-1235" b="-29630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2588D276-3928-744A-B450-2C57997BD8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2538" y="4456113"/>
            <a:ext cx="336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=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7DB806A-70DA-0F49-AF44-94761C6BF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9" y="4394201"/>
            <a:ext cx="454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C6CDC130-FB91-5E4E-8E3A-2594D0CF9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4514" y="4394201"/>
            <a:ext cx="454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07C04ED2-D90B-D546-8627-368C3420071A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511825" y="4351657"/>
            <a:ext cx="878895" cy="505203"/>
          </a:xfrm>
          <a:prstGeom prst="rect">
            <a:avLst/>
          </a:prstGeom>
          <a:blipFill rotWithShape="1">
            <a:blip r:embed="rId26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1E67A3F1-3A5B-D44B-8561-0D5DD588A30F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044400" y="4365305"/>
            <a:ext cx="708977" cy="505203"/>
          </a:xfrm>
          <a:prstGeom prst="rect">
            <a:avLst/>
          </a:prstGeom>
          <a:blipFill rotWithShape="1">
            <a:blip r:embed="rId27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518A9F0E-8AE8-FC4C-AF8E-88468E7C5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2538" y="5030788"/>
            <a:ext cx="336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=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81F15B1B-7072-844F-8E3D-3114E324B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9" y="4968876"/>
            <a:ext cx="454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C763397-D828-E147-91C0-D22BE11E4C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4514" y="4968876"/>
            <a:ext cx="454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D7ECA899-A86D-F94F-9188-D386F7DA5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114" y="4968876"/>
            <a:ext cx="3571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E76E7D40-A4D4-6B4C-9DCB-94E6A523661A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710349" y="4926374"/>
            <a:ext cx="708977" cy="505203"/>
          </a:xfrm>
          <a:prstGeom prst="rect">
            <a:avLst/>
          </a:prstGeom>
          <a:blipFill rotWithShape="1">
            <a:blip r:embed="rId28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DCB56819-0890-F840-B7CC-0242B1218F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0" y="3540125"/>
            <a:ext cx="336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=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B66209B-EE8B-5742-93E2-71B42EA0E663}"/>
              </a:ext>
            </a:extLst>
          </p:cNvPr>
          <p:cNvGrpSpPr>
            <a:grpSpLocks/>
          </p:cNvGrpSpPr>
          <p:nvPr/>
        </p:nvGrpSpPr>
        <p:grpSpPr bwMode="auto">
          <a:xfrm>
            <a:off x="6405564" y="3219451"/>
            <a:ext cx="1004887" cy="512763"/>
            <a:chOff x="4932040" y="3067813"/>
            <a:chExt cx="1005411" cy="512704"/>
          </a:xfrm>
        </p:grpSpPr>
        <p:sp>
          <p:nvSpPr>
            <p:cNvPr id="5241" name="Rectangle 136">
              <a:extLst>
                <a:ext uri="{FF2B5EF4-FFF2-40B4-BE49-F238E27FC236}">
                  <a16:creationId xmlns:a16="http://schemas.microsoft.com/office/drawing/2014/main" id="{7FC8BE08-5A60-5442-93F5-AD91A29652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2040" y="3109904"/>
              <a:ext cx="3561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89D72872-5FC1-384C-A391-5F5008D0F4EA}"/>
                </a:ext>
              </a:extLst>
            </p:cNvPr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058556" y="3067813"/>
              <a:ext cx="878895" cy="512704"/>
            </a:xfrm>
            <a:prstGeom prst="rect">
              <a:avLst/>
            </a:prstGeom>
            <a:blipFill rotWithShape="1">
              <a:blip r:embed="rId29"/>
              <a:stretch>
                <a:fillRect/>
              </a:stretch>
            </a:blipFill>
          </p:spPr>
          <p:txBody>
            <a:bodyPr/>
            <a:lstStyle/>
            <a:p>
              <a:r>
                <a:rPr lang="en-US">
                  <a:noFill/>
                </a:rPr>
                <a:t> </a:t>
              </a:r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39C6A3D-E1B2-7049-B8A0-3762351D8848}"/>
              </a:ext>
            </a:extLst>
          </p:cNvPr>
          <p:cNvCxnSpPr/>
          <p:nvPr/>
        </p:nvCxnSpPr>
        <p:spPr>
          <a:xfrm flipV="1">
            <a:off x="6437313" y="3646489"/>
            <a:ext cx="823912" cy="1428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954E6953-4A68-B543-8D87-F2055BB333E9}"/>
              </a:ext>
            </a:extLst>
          </p:cNvPr>
          <p:cNvGrpSpPr>
            <a:grpSpLocks/>
          </p:cNvGrpSpPr>
          <p:nvPr/>
        </p:nvGrpSpPr>
        <p:grpSpPr bwMode="auto">
          <a:xfrm>
            <a:off x="6430963" y="3594101"/>
            <a:ext cx="838200" cy="512763"/>
            <a:chOff x="4955242" y="3067813"/>
            <a:chExt cx="838193" cy="512704"/>
          </a:xfrm>
        </p:grpSpPr>
        <p:sp>
          <p:nvSpPr>
            <p:cNvPr id="5239" name="Rectangle 141">
              <a:extLst>
                <a:ext uri="{FF2B5EF4-FFF2-40B4-BE49-F238E27FC236}">
                  <a16:creationId xmlns:a16="http://schemas.microsoft.com/office/drawing/2014/main" id="{0F0507C4-B7F1-6345-81AF-EE433CDD96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5242" y="3109904"/>
              <a:ext cx="3561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38776A36-01B3-314E-805C-9CFB4E842F1D}"/>
                </a:ext>
              </a:extLst>
            </p:cNvPr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084459" y="3067813"/>
              <a:ext cx="708976" cy="512704"/>
            </a:xfrm>
            <a:prstGeom prst="rect">
              <a:avLst/>
            </a:prstGeom>
            <a:blipFill rotWithShape="1">
              <a:blip r:embed="rId30"/>
              <a:stretch>
                <a:fillRect/>
              </a:stretch>
            </a:blipFill>
          </p:spPr>
          <p:txBody>
            <a:bodyPr/>
            <a:lstStyle/>
            <a:p>
              <a:r>
                <a:rPr lang="en-US">
                  <a:noFill/>
                </a:rPr>
                <a:t> </a:t>
              </a:r>
            </a:p>
          </p:txBody>
        </p:sp>
      </p:grpSp>
      <p:sp>
        <p:nvSpPr>
          <p:cNvPr id="145" name="TextBox 144">
            <a:extLst>
              <a:ext uri="{FF2B5EF4-FFF2-40B4-BE49-F238E27FC236}">
                <a16:creationId xmlns:a16="http://schemas.microsoft.com/office/drawing/2014/main" id="{F5638FAB-2C1D-634D-A615-40D4627B1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0" y="4178300"/>
            <a:ext cx="336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=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5B7A4886-AD46-AB4E-9CC6-6C781D5A2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339" y="4149726"/>
            <a:ext cx="454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B63E70E1-7DCF-5440-8A40-87274694DE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0514" y="4133851"/>
            <a:ext cx="454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0E305E13-9223-9A43-B32C-213F48E4EFC3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801282" y="4102599"/>
            <a:ext cx="708977" cy="512704"/>
          </a:xfrm>
          <a:prstGeom prst="rect">
            <a:avLst/>
          </a:prstGeom>
          <a:blipFill rotWithShape="1">
            <a:blip r:embed="rId31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30CA8E55-D7E2-F847-B7AC-00EA94474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9013" y="4757738"/>
            <a:ext cx="336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7030A0"/>
                </a:solidFill>
              </a:rPr>
              <a:t>=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0DE39125-95E4-7F4F-8BCE-6B7612EFA561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383362" y="4651989"/>
            <a:ext cx="809965" cy="500202"/>
          </a:xfrm>
          <a:prstGeom prst="rect">
            <a:avLst/>
          </a:prstGeom>
          <a:blipFill rotWithShape="1">
            <a:blip r:embed="rId32"/>
            <a:stretch>
              <a:fillRect l="-11278" t="-1220" b="-28049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E36E1DA-942C-2049-9411-380D421B8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8025" y="3435350"/>
            <a:ext cx="336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=</a:t>
            </a: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102EFF2F-2D9B-2B4D-9BF2-48BA428ABE76}"/>
              </a:ext>
            </a:extLst>
          </p:cNvPr>
          <p:cNvGrpSpPr>
            <a:grpSpLocks/>
          </p:cNvGrpSpPr>
          <p:nvPr/>
        </p:nvGrpSpPr>
        <p:grpSpPr bwMode="auto">
          <a:xfrm>
            <a:off x="8669339" y="3113088"/>
            <a:ext cx="1171575" cy="506412"/>
            <a:chOff x="4932040" y="3067813"/>
            <a:chExt cx="1171281" cy="505203"/>
          </a:xfrm>
        </p:grpSpPr>
        <p:sp>
          <p:nvSpPr>
            <p:cNvPr id="5237" name="Rectangle 153">
              <a:extLst>
                <a:ext uri="{FF2B5EF4-FFF2-40B4-BE49-F238E27FC236}">
                  <a16:creationId xmlns:a16="http://schemas.microsoft.com/office/drawing/2014/main" id="{6F5ABBFB-DBFB-F743-A36F-A123B040EA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2040" y="3109904"/>
              <a:ext cx="52770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>
                  <a:solidFill>
                    <a:srgbClr val="FF0000"/>
                  </a:solidFill>
                </a:rPr>
                <a:t>20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90C7C4EB-7DA1-8841-82CC-902263338D7B}"/>
                </a:ext>
              </a:extLst>
            </p:cNvPr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224426" y="3067813"/>
              <a:ext cx="878895" cy="505203"/>
            </a:xfrm>
            <a:prstGeom prst="rect">
              <a:avLst/>
            </a:prstGeom>
            <a:blipFill rotWithShape="1">
              <a:blip r:embed="rId33"/>
              <a:stretch>
                <a:fillRect/>
              </a:stretch>
            </a:blipFill>
          </p:spPr>
          <p:txBody>
            <a:bodyPr/>
            <a:lstStyle/>
            <a:p>
              <a:r>
                <a:rPr lang="en-US">
                  <a:noFill/>
                </a:rPr>
                <a:t> </a:t>
              </a:r>
            </a:p>
          </p:txBody>
        </p:sp>
      </p:grp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8B1C9580-66C1-1F45-A751-B26313D9954A}"/>
              </a:ext>
            </a:extLst>
          </p:cNvPr>
          <p:cNvCxnSpPr/>
          <p:nvPr/>
        </p:nvCxnSpPr>
        <p:spPr>
          <a:xfrm flipV="1">
            <a:off x="8701088" y="3548063"/>
            <a:ext cx="1008062" cy="635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C3723836-6E15-504C-81BF-5A1371569B4F}"/>
              </a:ext>
            </a:extLst>
          </p:cNvPr>
          <p:cNvGrpSpPr>
            <a:grpSpLocks/>
          </p:cNvGrpSpPr>
          <p:nvPr/>
        </p:nvGrpSpPr>
        <p:grpSpPr bwMode="auto">
          <a:xfrm>
            <a:off x="8836026" y="3487738"/>
            <a:ext cx="860425" cy="506412"/>
            <a:chOff x="5096360" y="3067813"/>
            <a:chExt cx="860244" cy="505203"/>
          </a:xfrm>
        </p:grpSpPr>
        <p:sp>
          <p:nvSpPr>
            <p:cNvPr id="5235" name="Rectangle 157">
              <a:extLst>
                <a:ext uri="{FF2B5EF4-FFF2-40B4-BE49-F238E27FC236}">
                  <a16:creationId xmlns:a16="http://schemas.microsoft.com/office/drawing/2014/main" id="{DB3595BE-A259-654E-BFDF-EA59D16784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6360" y="3109904"/>
              <a:ext cx="3561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84561CF2-58DF-4E47-90A8-71CCEE0BC731}"/>
                </a:ext>
              </a:extLst>
            </p:cNvPr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247628" y="3067813"/>
              <a:ext cx="708976" cy="505203"/>
            </a:xfrm>
            <a:prstGeom prst="rect">
              <a:avLst/>
            </a:prstGeom>
            <a:blipFill rotWithShape="1">
              <a:blip r:embed="rId34"/>
              <a:stretch>
                <a:fillRect/>
              </a:stretch>
            </a:blipFill>
          </p:spPr>
          <p:txBody>
            <a:bodyPr/>
            <a:lstStyle/>
            <a:p>
              <a:r>
                <a:rPr lang="en-US">
                  <a:noFill/>
                </a:rPr>
                <a:t> </a:t>
              </a:r>
            </a:p>
          </p:txBody>
        </p:sp>
      </p:grpSp>
      <p:sp>
        <p:nvSpPr>
          <p:cNvPr id="160" name="TextBox 159">
            <a:extLst>
              <a:ext uri="{FF2B5EF4-FFF2-40B4-BE49-F238E27FC236}">
                <a16:creationId xmlns:a16="http://schemas.microsoft.com/office/drawing/2014/main" id="{753C53BD-4DB1-C742-AF7E-A525193E0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3263" y="4181475"/>
            <a:ext cx="336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=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5AC22768-BDCA-FF49-952D-D19B1E6DF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2351" y="4151313"/>
            <a:ext cx="4540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2D6ECEA5-D2A4-7944-B2A1-8DAA9B928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7939" y="4135438"/>
            <a:ext cx="4540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187805F1-2481-5D42-8C37-56F555876E1F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059432" y="4104369"/>
            <a:ext cx="878895" cy="505203"/>
          </a:xfrm>
          <a:prstGeom prst="rect">
            <a:avLst/>
          </a:prstGeom>
          <a:blipFill rotWithShape="1">
            <a:blip r:embed="rId35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A40F594-DF6F-BA4D-B7CC-C6D30E1609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8025" y="4724400"/>
            <a:ext cx="336550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=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EC607A2D-75B7-C64C-B5E8-EBC8851BEF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7114" y="4695826"/>
            <a:ext cx="454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DA0A836F-1C31-AE4D-B31B-CD9AB5A38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4289" y="4679951"/>
            <a:ext cx="454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6309B7ED-EBA6-6143-AAE5-B4F6ABFBC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70989" y="4695826"/>
            <a:ext cx="454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D9DA9454-A5B6-1A4C-8F76-573821C0F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8025" y="5260975"/>
            <a:ext cx="336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7030A0"/>
                </a:solidFill>
              </a:rPr>
              <a:t>=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3D9CE5AD-39A8-B64A-A2FB-E2AE2FAB2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6163" y="5199063"/>
            <a:ext cx="539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7030A0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079949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 nodeType="clickPar">
                      <p:stCondLst>
                        <p:cond delay="indefinite"/>
                      </p:stCondLst>
                      <p:childTnLst>
                        <p:par>
                          <p:cTn id="2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 nodeType="clickPar">
                      <p:stCondLst>
                        <p:cond delay="indefinite"/>
                      </p:stCondLst>
                      <p:childTnLst>
                        <p:par>
                          <p:cTn id="2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 nodeType="clickPar">
                      <p:stCondLst>
                        <p:cond delay="indefinite"/>
                      </p:stCondLst>
                      <p:childTnLst>
                        <p:par>
                          <p:cTn id="2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 nodeType="clickPar">
                      <p:stCondLst>
                        <p:cond delay="indefinite"/>
                      </p:stCondLst>
                      <p:childTnLst>
                        <p:par>
                          <p:cTn id="2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 nodeType="clickPar">
                      <p:stCondLst>
                        <p:cond delay="indefinite"/>
                      </p:stCondLst>
                      <p:childTnLst>
                        <p:par>
                          <p:cTn id="2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5" grpId="0"/>
      <p:bldP spid="86" grpId="0"/>
      <p:bldP spid="94" grpId="0"/>
      <p:bldP spid="95" grpId="0"/>
      <p:bldP spid="96" grpId="0"/>
      <p:bldP spid="97" grpId="0"/>
      <p:bldP spid="98" grpId="0"/>
      <p:bldP spid="99" grpId="0"/>
      <p:bldP spid="101" grpId="0"/>
      <p:bldP spid="103" grpId="0"/>
      <p:bldP spid="104" grpId="0"/>
      <p:bldP spid="105" grpId="0"/>
      <p:bldP spid="106" grpId="0"/>
      <p:bldP spid="107" grpId="0"/>
      <p:bldP spid="109" grpId="0"/>
      <p:bldP spid="111" grpId="0"/>
      <p:bldP spid="112" grpId="0"/>
      <p:bldP spid="113" grpId="0"/>
      <p:bldP spid="115" grpId="0"/>
      <p:bldP spid="118" grpId="0"/>
      <p:bldP spid="121" grpId="0"/>
      <p:bldP spid="122" grpId="0"/>
      <p:bldP spid="128" grpId="0"/>
      <p:bldP spid="130" grpId="0"/>
      <p:bldP spid="131" grpId="0"/>
      <p:bldP spid="133" grpId="0"/>
      <p:bldP spid="136" grpId="0"/>
      <p:bldP spid="145" grpId="0"/>
      <p:bldP spid="146" grpId="0"/>
      <p:bldP spid="148" grpId="0"/>
      <p:bldP spid="150" grpId="0"/>
      <p:bldP spid="152" grpId="0"/>
      <p:bldP spid="160" grpId="0"/>
      <p:bldP spid="161" grpId="0"/>
      <p:bldP spid="162" grpId="0"/>
      <p:bldP spid="164" grpId="0"/>
      <p:bldP spid="165" grpId="0"/>
      <p:bldP spid="166" grpId="0"/>
      <p:bldP spid="167" grpId="0"/>
      <p:bldP spid="168" grpId="0"/>
      <p:bldP spid="16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Line 4">
            <a:extLst>
              <a:ext uri="{FF2B5EF4-FFF2-40B4-BE49-F238E27FC236}">
                <a16:creationId xmlns:a16="http://schemas.microsoft.com/office/drawing/2014/main" id="{BFAF5A2F-AE92-B043-BC2C-AA3D93710DA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1052513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F40C028-D3B8-4144-9597-EB34D83FB9D9}"/>
              </a:ext>
            </a:extLst>
          </p:cNvPr>
          <p:cNvSpPr/>
          <p:nvPr/>
        </p:nvSpPr>
        <p:spPr>
          <a:xfrm>
            <a:off x="3024166" y="1"/>
            <a:ext cx="1643074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Effective Participator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E7D78BB-6994-1B44-A7A9-FBEF087EEB9F}"/>
              </a:ext>
            </a:extLst>
          </p:cNvPr>
          <p:cNvSpPr/>
          <p:nvPr/>
        </p:nvSpPr>
        <p:spPr>
          <a:xfrm>
            <a:off x="7810512" y="1"/>
            <a:ext cx="1500188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Self Manager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B64B49D-724B-0C4B-B162-77068459C886}"/>
              </a:ext>
            </a:extLst>
          </p:cNvPr>
          <p:cNvSpPr/>
          <p:nvPr/>
        </p:nvSpPr>
        <p:spPr>
          <a:xfrm>
            <a:off x="4667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Independent Enquirer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7999A31A-AEC9-6A44-9283-737F078793A2}"/>
              </a:ext>
            </a:extLst>
          </p:cNvPr>
          <p:cNvSpPr/>
          <p:nvPr/>
        </p:nvSpPr>
        <p:spPr>
          <a:xfrm>
            <a:off x="1524000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Creative Thinker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2BC0863-A45E-AF4F-8B2A-AA5A05FFD232}"/>
              </a:ext>
            </a:extLst>
          </p:cNvPr>
          <p:cNvSpPr/>
          <p:nvPr/>
        </p:nvSpPr>
        <p:spPr>
          <a:xfrm>
            <a:off x="9310710" y="1"/>
            <a:ext cx="1357290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/>
              <a:t>Team Worker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DFA12B3-77F3-4848-9E5F-F214DDBF2AE1}"/>
              </a:ext>
            </a:extLst>
          </p:cNvPr>
          <p:cNvSpPr/>
          <p:nvPr/>
        </p:nvSpPr>
        <p:spPr>
          <a:xfrm>
            <a:off x="6310314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/>
              <a:t>Reflective Learner</a:t>
            </a:r>
          </a:p>
        </p:txBody>
      </p:sp>
      <p:sp>
        <p:nvSpPr>
          <p:cNvPr id="6165" name="Rectangle 9">
            <a:extLst>
              <a:ext uri="{FF2B5EF4-FFF2-40B4-BE49-F238E27FC236}">
                <a16:creationId xmlns:a16="http://schemas.microsoft.com/office/drawing/2014/main" id="{90876E54-9CA0-8D42-BCF9-C2C623889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28626"/>
            <a:ext cx="1500188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336699"/>
                </a:solidFill>
                <a:latin typeface="Franklin Gothic Demi Cond" panose="020B0603020102020204" pitchFamily="34" charset="0"/>
              </a:rPr>
              <a:t>PLT Skills</a:t>
            </a:r>
          </a:p>
        </p:txBody>
      </p:sp>
      <p:sp>
        <p:nvSpPr>
          <p:cNvPr id="6166" name="Rectangle 2">
            <a:extLst>
              <a:ext uri="{FF2B5EF4-FFF2-40B4-BE49-F238E27FC236}">
                <a16:creationId xmlns:a16="http://schemas.microsoft.com/office/drawing/2014/main" id="{D62516C4-94E0-C94B-B7CD-CC9BD580B71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881814" y="142875"/>
            <a:ext cx="3786187" cy="1143000"/>
          </a:xfrm>
        </p:spPr>
        <p:txBody>
          <a:bodyPr/>
          <a:lstStyle/>
          <a:p>
            <a:pPr algn="r" eaLnBrk="1" hangingPunct="1"/>
            <a:r>
              <a:rPr lang="en-US" altLang="en-US" sz="2400">
                <a:solidFill>
                  <a:srgbClr val="336699"/>
                </a:solidFill>
                <a:latin typeface="Franklin Gothic Demi Cond" panose="020B0603020102020204" pitchFamily="34" charset="0"/>
              </a:rPr>
              <a:t>Which ones are you using?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2E14FDFD-F6F9-ED45-8865-848A85A60B00}"/>
              </a:ext>
            </a:extLst>
          </p:cNvPr>
          <p:cNvSpPr/>
          <p:nvPr/>
        </p:nvSpPr>
        <p:spPr>
          <a:xfrm>
            <a:off x="1524000" y="571500"/>
            <a:ext cx="1214438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96CBDA1C-DDB7-C345-A561-A469BB2237C8}"/>
              </a:ext>
            </a:extLst>
          </p:cNvPr>
          <p:cNvSpPr/>
          <p:nvPr/>
        </p:nvSpPr>
        <p:spPr>
          <a:xfrm>
            <a:off x="7453314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6169" name="Text Box 40">
            <a:extLst>
              <a:ext uri="{FF2B5EF4-FFF2-40B4-BE49-F238E27FC236}">
                <a16:creationId xmlns:a16="http://schemas.microsoft.com/office/drawing/2014/main" id="{593ACAB6-CC35-914D-872E-D3A844409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950" y="1643064"/>
            <a:ext cx="13922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u="sng">
                <a:solidFill>
                  <a:srgbClr val="FF0000"/>
                </a:solidFill>
              </a:rPr>
              <a:t>TASK 1 </a:t>
            </a:r>
            <a:endParaRPr lang="en-US" altLang="en-US" sz="2400" b="1" u="sng">
              <a:solidFill>
                <a:srgbClr val="FF0000"/>
              </a:solidFill>
            </a:endParaRPr>
          </a:p>
        </p:txBody>
      </p:sp>
      <p:sp>
        <p:nvSpPr>
          <p:cNvPr id="6170" name="Text Box 5">
            <a:extLst>
              <a:ext uri="{FF2B5EF4-FFF2-40B4-BE49-F238E27FC236}">
                <a16:creationId xmlns:a16="http://schemas.microsoft.com/office/drawing/2014/main" id="{F6EA487A-0ECC-AA40-8B5A-489D0A2DF2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8926" y="1166813"/>
            <a:ext cx="9001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/>
              <a:t>Write each of the following surds in their simplest form:</a:t>
            </a:r>
            <a:endParaRPr lang="en-US" altLang="en-US" sz="2400"/>
          </a:p>
        </p:txBody>
      </p:sp>
      <p:sp>
        <p:nvSpPr>
          <p:cNvPr id="6171" name="Title 1">
            <a:extLst>
              <a:ext uri="{FF2B5EF4-FFF2-40B4-BE49-F238E27FC236}">
                <a16:creationId xmlns:a16="http://schemas.microsoft.com/office/drawing/2014/main" id="{F412CCAF-2FE2-994B-A068-7BAE2417F1B4}"/>
              </a:ext>
            </a:extLst>
          </p:cNvPr>
          <p:cNvSpPr txBox="1">
            <a:spLocks/>
          </p:cNvSpPr>
          <p:nvPr/>
        </p:nvSpPr>
        <p:spPr bwMode="auto">
          <a:xfrm>
            <a:off x="1035050" y="484189"/>
            <a:ext cx="82296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altLang="en-US" sz="3200" b="1" u="sng">
                <a:solidFill>
                  <a:schemeClr val="tx2"/>
                </a:solidFill>
              </a:rPr>
              <a:t>SIMPLIFYING SURDS</a:t>
            </a:r>
            <a:endParaRPr lang="en-GB" altLang="en-US" sz="3200">
              <a:solidFill>
                <a:schemeClr val="tx2"/>
              </a:solidFill>
            </a:endParaRPr>
          </a:p>
        </p:txBody>
      </p:sp>
      <p:sp>
        <p:nvSpPr>
          <p:cNvPr id="6172" name="Rectangle 1">
            <a:extLst>
              <a:ext uri="{FF2B5EF4-FFF2-40B4-BE49-F238E27FC236}">
                <a16:creationId xmlns:a16="http://schemas.microsoft.com/office/drawing/2014/main" id="{496E8730-B03E-5A4F-BEB7-ED8A7260B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951" y="2105025"/>
            <a:ext cx="1871663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a) </a:t>
            </a:r>
            <a:r>
              <a:rPr lang="en-US" altLang="en-US" sz="2000"/>
              <a:t>2√18 × 3√2 </a:t>
            </a:r>
          </a:p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b) </a:t>
            </a:r>
            <a:r>
              <a:rPr lang="en-US" altLang="en-US" sz="2000"/>
              <a:t>4√24 × 2√5 </a:t>
            </a:r>
          </a:p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c) </a:t>
            </a:r>
            <a:r>
              <a:rPr lang="en-US" altLang="en-US" sz="2000"/>
              <a:t>3√12 × 3√3</a:t>
            </a:r>
          </a:p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d) </a:t>
            </a:r>
            <a:r>
              <a:rPr lang="en-US" altLang="en-US" sz="2000"/>
              <a:t>2√8 × 2√8</a:t>
            </a:r>
          </a:p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e) </a:t>
            </a:r>
            <a:r>
              <a:rPr lang="en-US" altLang="en-US" sz="2000"/>
              <a:t>2√27 × 4√8 </a:t>
            </a:r>
          </a:p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f) </a:t>
            </a:r>
            <a:r>
              <a:rPr lang="en-US" altLang="en-US" sz="2000"/>
              <a:t>2√48 × 3√8 </a:t>
            </a:r>
          </a:p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g) </a:t>
            </a:r>
            <a:r>
              <a:rPr lang="en-US" altLang="en-US" sz="2000"/>
              <a:t>2√45 × 3√3 </a:t>
            </a:r>
          </a:p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h) </a:t>
            </a:r>
            <a:r>
              <a:rPr lang="en-US" altLang="en-US" sz="2000"/>
              <a:t>2√63 × 2√7</a:t>
            </a:r>
          </a:p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i) </a:t>
            </a:r>
            <a:r>
              <a:rPr lang="en-US" altLang="en-US" sz="2000"/>
              <a:t>2√32 × 4√2 </a:t>
            </a:r>
          </a:p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j) </a:t>
            </a:r>
            <a:r>
              <a:rPr lang="en-US" altLang="en-US" sz="2000"/>
              <a:t>√1000 × √10 </a:t>
            </a:r>
          </a:p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k) </a:t>
            </a:r>
            <a:r>
              <a:rPr lang="en-US" altLang="en-US" sz="2000"/>
              <a:t>√250 × √10 </a:t>
            </a:r>
          </a:p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l) </a:t>
            </a:r>
            <a:r>
              <a:rPr lang="en-US" altLang="en-US" sz="2000"/>
              <a:t>2√98 × 2√2</a:t>
            </a:r>
          </a:p>
        </p:txBody>
      </p:sp>
      <p:sp>
        <p:nvSpPr>
          <p:cNvPr id="6173" name="Rectangle 3">
            <a:extLst>
              <a:ext uri="{FF2B5EF4-FFF2-40B4-BE49-F238E27FC236}">
                <a16:creationId xmlns:a16="http://schemas.microsoft.com/office/drawing/2014/main" id="{7367F4B4-0B6B-614C-A7D8-C65FEF3E2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0614" y="2105025"/>
            <a:ext cx="1781175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a) </a:t>
            </a:r>
            <a:r>
              <a:rPr lang="en-US" altLang="en-US" sz="2000"/>
              <a:t>4√2 × 5√3 </a:t>
            </a:r>
          </a:p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b) </a:t>
            </a:r>
            <a:r>
              <a:rPr lang="en-US" altLang="en-US" sz="2000"/>
              <a:t>2√5 × 3√3 </a:t>
            </a:r>
          </a:p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c) </a:t>
            </a:r>
            <a:r>
              <a:rPr lang="en-US" altLang="en-US" sz="2000"/>
              <a:t>4√2 × 3√2 </a:t>
            </a:r>
          </a:p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d) </a:t>
            </a:r>
            <a:r>
              <a:rPr lang="en-US" altLang="en-US" sz="2000"/>
              <a:t>2√2 × 2√8</a:t>
            </a:r>
          </a:p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e) </a:t>
            </a:r>
            <a:r>
              <a:rPr lang="en-US" altLang="en-US" sz="2000"/>
              <a:t>2√5 × 3√8 </a:t>
            </a:r>
          </a:p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f) </a:t>
            </a:r>
            <a:r>
              <a:rPr lang="en-US" altLang="en-US" sz="2000"/>
              <a:t>3√3 × 2√3 </a:t>
            </a:r>
          </a:p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g) </a:t>
            </a:r>
            <a:r>
              <a:rPr lang="en-US" altLang="en-US" sz="2000"/>
              <a:t>2√6 × 5√2 </a:t>
            </a:r>
          </a:p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h) </a:t>
            </a:r>
            <a:r>
              <a:rPr lang="en-US" altLang="en-US" sz="2000"/>
              <a:t>5√7 × 2√3</a:t>
            </a:r>
          </a:p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i) </a:t>
            </a:r>
            <a:r>
              <a:rPr lang="en-US" altLang="en-US" sz="2000"/>
              <a:t>2√2 × 3√7 </a:t>
            </a:r>
          </a:p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j) </a:t>
            </a:r>
            <a:r>
              <a:rPr lang="en-US" altLang="en-US" sz="2000"/>
              <a:t>2√2 × 3√18 </a:t>
            </a:r>
          </a:p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k) </a:t>
            </a:r>
            <a:r>
              <a:rPr lang="en-US" altLang="en-US" sz="2000"/>
              <a:t>2√6 × 2√6</a:t>
            </a:r>
          </a:p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l) </a:t>
            </a:r>
            <a:r>
              <a:rPr lang="en-US" altLang="en-US" sz="2000"/>
              <a:t>4√5 × 3√6</a:t>
            </a:r>
          </a:p>
        </p:txBody>
      </p:sp>
      <p:sp>
        <p:nvSpPr>
          <p:cNvPr id="6174" name="Rectangle 4">
            <a:extLst>
              <a:ext uri="{FF2B5EF4-FFF2-40B4-BE49-F238E27FC236}">
                <a16:creationId xmlns:a16="http://schemas.microsoft.com/office/drawing/2014/main" id="{BA6B6AB5-299A-DC4C-BDB0-293BD9BD3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8300" y="2105025"/>
            <a:ext cx="1919288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a) </a:t>
            </a:r>
            <a:r>
              <a:rPr lang="en-US" altLang="en-US" sz="2000"/>
              <a:t>6√12 ÷ 2√3 </a:t>
            </a:r>
          </a:p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b) </a:t>
            </a:r>
            <a:r>
              <a:rPr lang="en-US" altLang="en-US" sz="2000"/>
              <a:t>3√15 ÷ √3 </a:t>
            </a:r>
          </a:p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c) </a:t>
            </a:r>
            <a:r>
              <a:rPr lang="en-US" altLang="en-US" sz="2000"/>
              <a:t>6√12 ÷ √2 </a:t>
            </a:r>
          </a:p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d) </a:t>
            </a:r>
            <a:r>
              <a:rPr lang="en-US" altLang="en-US" sz="2000"/>
              <a:t>4√24 ÷ 2√8</a:t>
            </a:r>
          </a:p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e) </a:t>
            </a:r>
            <a:r>
              <a:rPr lang="en-US" altLang="en-US" sz="2000"/>
              <a:t>12√40 ÷ 3√8 </a:t>
            </a:r>
          </a:p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f) </a:t>
            </a:r>
            <a:r>
              <a:rPr lang="en-US" altLang="en-US" sz="2000"/>
              <a:t>5√3 ÷ √3 </a:t>
            </a:r>
          </a:p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g) </a:t>
            </a:r>
            <a:r>
              <a:rPr lang="en-US" altLang="en-US" sz="2000"/>
              <a:t>14√6 ÷ 2√2 </a:t>
            </a:r>
          </a:p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h) </a:t>
            </a:r>
            <a:r>
              <a:rPr lang="en-US" altLang="en-US" sz="2000"/>
              <a:t>4√21 ÷ 2√3</a:t>
            </a:r>
          </a:p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i) </a:t>
            </a:r>
            <a:r>
              <a:rPr lang="en-US" altLang="en-US" sz="2000"/>
              <a:t>9√28 ÷ 3√7 </a:t>
            </a:r>
          </a:p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j) </a:t>
            </a:r>
            <a:r>
              <a:rPr lang="en-US" altLang="en-US" sz="2000"/>
              <a:t>12√56 ÷ 6√8 </a:t>
            </a:r>
          </a:p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k) </a:t>
            </a:r>
            <a:r>
              <a:rPr lang="en-US" altLang="en-US" sz="2000"/>
              <a:t>25√6 ÷ 5√6 </a:t>
            </a:r>
          </a:p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l) </a:t>
            </a:r>
            <a:r>
              <a:rPr lang="en-US" altLang="en-US" sz="2000"/>
              <a:t>32√54 ÷ 4√6</a:t>
            </a:r>
          </a:p>
        </p:txBody>
      </p:sp>
      <p:sp>
        <p:nvSpPr>
          <p:cNvPr id="6175" name="Text Box 40">
            <a:extLst>
              <a:ext uri="{FF2B5EF4-FFF2-40B4-BE49-F238E27FC236}">
                <a16:creationId xmlns:a16="http://schemas.microsoft.com/office/drawing/2014/main" id="{877B8AA1-D641-B348-8D8F-1A531657ED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2676" y="1643064"/>
            <a:ext cx="13938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u="sng">
                <a:solidFill>
                  <a:srgbClr val="FF0000"/>
                </a:solidFill>
              </a:rPr>
              <a:t>TASK 2 </a:t>
            </a:r>
            <a:endParaRPr lang="en-US" altLang="en-US" sz="2400" b="1" u="sng">
              <a:solidFill>
                <a:srgbClr val="FF0000"/>
              </a:solidFill>
            </a:endParaRPr>
          </a:p>
        </p:txBody>
      </p:sp>
      <p:sp>
        <p:nvSpPr>
          <p:cNvPr id="6176" name="Text Box 40">
            <a:extLst>
              <a:ext uri="{FF2B5EF4-FFF2-40B4-BE49-F238E27FC236}">
                <a16:creationId xmlns:a16="http://schemas.microsoft.com/office/drawing/2014/main" id="{BAC68BD6-DEED-F543-9A15-6951A2357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8300" y="1643064"/>
            <a:ext cx="13922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u="sng">
                <a:solidFill>
                  <a:srgbClr val="FF0000"/>
                </a:solidFill>
              </a:rPr>
              <a:t>TASK 3 </a:t>
            </a:r>
            <a:endParaRPr lang="en-US" altLang="en-US" sz="2400" b="1" u="sng">
              <a:solidFill>
                <a:srgbClr val="FF0000"/>
              </a:solidFill>
            </a:endParaRPr>
          </a:p>
        </p:txBody>
      </p:sp>
      <p:sp>
        <p:nvSpPr>
          <p:cNvPr id="6177" name="Rectangle 5">
            <a:extLst>
              <a:ext uri="{FF2B5EF4-FFF2-40B4-BE49-F238E27FC236}">
                <a16:creationId xmlns:a16="http://schemas.microsoft.com/office/drawing/2014/main" id="{36E13916-E59F-D249-8F77-279D58127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5876" y="2074863"/>
            <a:ext cx="2708275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7030A0"/>
                </a:solidFill>
              </a:rPr>
              <a:t>a) </a:t>
            </a:r>
            <a:r>
              <a:rPr lang="en-US" altLang="en-US" sz="2000"/>
              <a:t>4√2 × √3 ÷ 2√2 </a:t>
            </a:r>
          </a:p>
          <a:p>
            <a:pPr eaLnBrk="1" hangingPunct="1"/>
            <a:r>
              <a:rPr lang="en-US" altLang="en-US" sz="2000" b="1">
                <a:solidFill>
                  <a:srgbClr val="7030A0"/>
                </a:solidFill>
              </a:rPr>
              <a:t>b) </a:t>
            </a:r>
            <a:r>
              <a:rPr lang="en-US" altLang="en-US" sz="2000"/>
              <a:t>4√5 × √3 ÷√15 </a:t>
            </a:r>
          </a:p>
          <a:p>
            <a:pPr eaLnBrk="1" hangingPunct="1"/>
            <a:r>
              <a:rPr lang="en-US" altLang="en-US" sz="2000" b="1">
                <a:solidFill>
                  <a:srgbClr val="7030A0"/>
                </a:solidFill>
              </a:rPr>
              <a:t>c) </a:t>
            </a:r>
            <a:r>
              <a:rPr lang="en-US" altLang="en-US" sz="2000"/>
              <a:t>2√32 × 3√2 ÷ 2√8</a:t>
            </a:r>
          </a:p>
          <a:p>
            <a:pPr eaLnBrk="1" hangingPunct="1"/>
            <a:r>
              <a:rPr lang="en-US" altLang="en-US" sz="2000" b="1">
                <a:solidFill>
                  <a:srgbClr val="7030A0"/>
                </a:solidFill>
              </a:rPr>
              <a:t>d) </a:t>
            </a:r>
            <a:r>
              <a:rPr lang="en-US" altLang="en-US" sz="2000"/>
              <a:t>6√2 × 2√8 ÷ 3√8 </a:t>
            </a:r>
          </a:p>
          <a:p>
            <a:pPr eaLnBrk="1" hangingPunct="1"/>
            <a:r>
              <a:rPr lang="en-US" altLang="en-US" sz="2000" b="1">
                <a:solidFill>
                  <a:srgbClr val="7030A0"/>
                </a:solidFill>
              </a:rPr>
              <a:t>e) </a:t>
            </a:r>
            <a:r>
              <a:rPr lang="en-US" altLang="en-US" sz="2000"/>
              <a:t>3√5 × 4√8 ÷ 2√8 </a:t>
            </a:r>
          </a:p>
          <a:p>
            <a:pPr eaLnBrk="1" hangingPunct="1"/>
            <a:r>
              <a:rPr lang="en-US" altLang="en-US" sz="2000" b="1">
                <a:solidFill>
                  <a:srgbClr val="7030A0"/>
                </a:solidFill>
              </a:rPr>
              <a:t>f) </a:t>
            </a:r>
            <a:r>
              <a:rPr lang="en-US" altLang="en-US" sz="2000"/>
              <a:t>12√3 × 4√3 ÷ 2√3</a:t>
            </a:r>
          </a:p>
          <a:p>
            <a:pPr eaLnBrk="1" hangingPunct="1"/>
            <a:r>
              <a:rPr lang="en-US" altLang="en-US" sz="2000" b="1">
                <a:solidFill>
                  <a:srgbClr val="7030A0"/>
                </a:solidFill>
              </a:rPr>
              <a:t>g) </a:t>
            </a:r>
            <a:r>
              <a:rPr lang="en-US" altLang="en-US" sz="2000"/>
              <a:t>3√8 × 3√12 ÷ 3√48 </a:t>
            </a:r>
          </a:p>
          <a:p>
            <a:pPr eaLnBrk="1" hangingPunct="1"/>
            <a:r>
              <a:rPr lang="en-US" altLang="en-US" sz="2000" b="1">
                <a:solidFill>
                  <a:srgbClr val="7030A0"/>
                </a:solidFill>
              </a:rPr>
              <a:t>h) </a:t>
            </a:r>
            <a:r>
              <a:rPr lang="en-US" altLang="en-US" sz="2000"/>
              <a:t>4√7 × 2√3 ÷ 8√3 </a:t>
            </a:r>
          </a:p>
          <a:p>
            <a:pPr eaLnBrk="1" hangingPunct="1"/>
            <a:r>
              <a:rPr lang="en-US" altLang="en-US" sz="2000" b="1">
                <a:solidFill>
                  <a:srgbClr val="7030A0"/>
                </a:solidFill>
              </a:rPr>
              <a:t>i) </a:t>
            </a:r>
            <a:r>
              <a:rPr lang="en-US" altLang="en-US" sz="2000"/>
              <a:t>15√2 × 2√7 ÷ 3√2</a:t>
            </a:r>
          </a:p>
          <a:p>
            <a:pPr eaLnBrk="1" hangingPunct="1"/>
            <a:r>
              <a:rPr lang="en-US" altLang="en-US" sz="2000" b="1">
                <a:solidFill>
                  <a:srgbClr val="7030A0"/>
                </a:solidFill>
              </a:rPr>
              <a:t>j) </a:t>
            </a:r>
            <a:r>
              <a:rPr lang="en-US" altLang="en-US" sz="2000"/>
              <a:t>8√2 × 2√18 ÷ 4√3 </a:t>
            </a:r>
          </a:p>
          <a:p>
            <a:pPr eaLnBrk="1" hangingPunct="1"/>
            <a:r>
              <a:rPr lang="en-US" altLang="en-US" sz="2000" b="1">
                <a:solidFill>
                  <a:srgbClr val="7030A0"/>
                </a:solidFill>
              </a:rPr>
              <a:t>k) </a:t>
            </a:r>
            <a:r>
              <a:rPr lang="en-US" altLang="en-US" sz="2000"/>
              <a:t>5√6 × 5√6 ÷ 5√3 </a:t>
            </a:r>
          </a:p>
          <a:p>
            <a:pPr eaLnBrk="1" hangingPunct="1"/>
            <a:r>
              <a:rPr lang="en-US" altLang="en-US" sz="2000" b="1">
                <a:solidFill>
                  <a:srgbClr val="7030A0"/>
                </a:solidFill>
              </a:rPr>
              <a:t>l) </a:t>
            </a:r>
            <a:r>
              <a:rPr lang="en-US" altLang="en-US" sz="2000"/>
              <a:t>2√5 × 3√6 ÷ √30</a:t>
            </a:r>
          </a:p>
        </p:txBody>
      </p:sp>
      <p:sp>
        <p:nvSpPr>
          <p:cNvPr id="6178" name="Text Box 40">
            <a:extLst>
              <a:ext uri="{FF2B5EF4-FFF2-40B4-BE49-F238E27FC236}">
                <a16:creationId xmlns:a16="http://schemas.microsoft.com/office/drawing/2014/main" id="{F27861F8-8E49-A146-B625-E045500C4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4926" y="1628776"/>
            <a:ext cx="23352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u="sng">
                <a:solidFill>
                  <a:srgbClr val="7030A0"/>
                </a:solidFill>
              </a:rPr>
              <a:t>EXTENTION </a:t>
            </a:r>
            <a:endParaRPr lang="en-US" altLang="en-US" sz="2400" b="1" u="sng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28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308" y="7988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54285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877949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you understand? 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287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09500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825338" y="1921365"/>
            <a:ext cx="26281" cy="40491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3310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Measures of 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6541" y="2071499"/>
            <a:ext cx="17460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are outliers?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71" y="1078503"/>
            <a:ext cx="106103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outliers and how do they affect the measures of location </a:t>
            </a:r>
            <a:r>
              <a:rPr lang="en-AU" sz="2400"/>
              <a:t>and spread we’ve learned about?</a:t>
            </a:r>
            <a:endParaRPr lang="en-AU" sz="2400" dirty="0"/>
          </a:p>
        </p:txBody>
      </p:sp>
      <p:cxnSp>
        <p:nvCxnSpPr>
          <p:cNvPr id="40" name="Straight Connector 39"/>
          <p:cNvCxnSpPr/>
          <p:nvPr/>
        </p:nvCxnSpPr>
        <p:spPr>
          <a:xfrm>
            <a:off x="0" y="5970494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36541" y="6040337"/>
            <a:ext cx="1524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Summary: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181085" y="3279287"/>
            <a:ext cx="643516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Complete your Summary!!!</a:t>
            </a:r>
          </a:p>
        </p:txBody>
      </p:sp>
      <p:sp>
        <p:nvSpPr>
          <p:cNvPr id="5" name="Down Arrow 4"/>
          <p:cNvSpPr/>
          <p:nvPr/>
        </p:nvSpPr>
        <p:spPr>
          <a:xfrm>
            <a:off x="2605414" y="4715370"/>
            <a:ext cx="1164920" cy="102155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164976" y="2102054"/>
            <a:ext cx="95474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Outliers</a:t>
            </a:r>
            <a:r>
              <a:rPr lang="en-US" sz="2400" dirty="0"/>
              <a:t> are unusual values. When we see outliers, we need to find out: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400" dirty="0"/>
              <a:t>Are they mistakes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400" dirty="0"/>
              <a:t>Should we delete them</a:t>
            </a:r>
          </a:p>
        </p:txBody>
      </p:sp>
    </p:spTree>
    <p:extLst>
      <p:ext uri="{BB962C8B-B14F-4D97-AF65-F5344CB8AC3E}">
        <p14:creationId xmlns:p14="http://schemas.microsoft.com/office/powerpoint/2010/main" val="658731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5935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6698</TotalTime>
  <Words>1261</Words>
  <Application>Microsoft Macintosh PowerPoint</Application>
  <PresentationFormat>Widescreen</PresentationFormat>
  <Paragraphs>511</Paragraphs>
  <Slides>18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Chalkduster</vt:lpstr>
      <vt:lpstr>Franklin Gothic Demi Cond</vt:lpstr>
      <vt:lpstr>Kiwi School Handwriting</vt:lpstr>
      <vt:lpstr>Office Theme</vt:lpstr>
      <vt:lpstr>Topic: Surds EQ: How do we apply basic operations to surds? </vt:lpstr>
      <vt:lpstr>Interactive Notebooks!</vt:lpstr>
      <vt:lpstr>PowerPoint Presentation</vt:lpstr>
      <vt:lpstr>PowerPoint Presentation</vt:lpstr>
      <vt:lpstr>PowerPoint Presentation</vt:lpstr>
      <vt:lpstr>Which ones are you using?</vt:lpstr>
      <vt:lpstr>Which ones are you using?</vt:lpstr>
      <vt:lpstr>Which ones are you using?</vt:lpstr>
      <vt:lpstr>PowerPoint Presentation</vt:lpstr>
      <vt:lpstr>PowerPoint Presentation</vt:lpstr>
      <vt:lpstr>Which ones are you using?</vt:lpstr>
      <vt:lpstr>Which ones are you using?</vt:lpstr>
      <vt:lpstr>PowerPoint Presentation</vt:lpstr>
      <vt:lpstr>Notes Review</vt:lpstr>
      <vt:lpstr>Homework</vt:lpstr>
      <vt:lpstr>Do you understand? Fists of Five</vt:lpstr>
      <vt:lpstr>PowerPoint Presentation</vt:lpstr>
      <vt:lpstr>Notes Review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Converting Percent, Decimals and Fractions</dc:title>
  <dc:creator>Nine Labuschagne</dc:creator>
  <cp:lastModifiedBy>SUMMERS Brad [Baldivis Secondary College]</cp:lastModifiedBy>
  <cp:revision>106</cp:revision>
  <dcterms:created xsi:type="dcterms:W3CDTF">2018-02-06T06:15:13Z</dcterms:created>
  <dcterms:modified xsi:type="dcterms:W3CDTF">2020-06-19T01:04:42Z</dcterms:modified>
</cp:coreProperties>
</file>
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8" r:id="rId5"/>
    <p:sldId id="295" r:id="rId6"/>
    <p:sldId id="319" r:id="rId7"/>
    <p:sldId id="337" r:id="rId8"/>
    <p:sldId id="338" r:id="rId9"/>
    <p:sldId id="347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5" autoAdjust="0"/>
    <p:restoredTop sz="87635"/>
  </p:normalViewPr>
  <p:slideViewPr>
    <p:cSldViewPr snapToGrid="0">
      <p:cViewPr varScale="1">
        <p:scale>
          <a:sx n="80" d="100"/>
          <a:sy n="80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4/28/20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4/28/20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000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399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Pythagoras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can I use Pythagoras Theorem to solve problems in 3-D?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74175998-B0E9-A74D-A021-78A726E3B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135" y="3663951"/>
            <a:ext cx="44577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FDD61-0939-6E45-AD96-ADA7218CF77E}"/>
              </a:ext>
            </a:extLst>
          </p:cNvPr>
          <p:cNvCxnSpPr/>
          <p:nvPr/>
        </p:nvCxnSpPr>
        <p:spPr>
          <a:xfrm>
            <a:off x="5790573" y="4051301"/>
            <a:ext cx="0" cy="13684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17">
            <a:extLst>
              <a:ext uri="{FF2B5EF4-FFF2-40B4-BE49-F238E27FC236}">
                <a16:creationId xmlns:a16="http://schemas.microsoft.com/office/drawing/2014/main" id="{C44454AE-4F54-F349-A7E9-1AAD92FF5C8B}"/>
              </a:ext>
            </a:extLst>
          </p:cNvPr>
          <p:cNvGrpSpPr>
            <a:grpSpLocks/>
          </p:cNvGrpSpPr>
          <p:nvPr/>
        </p:nvGrpSpPr>
        <p:grpSpPr bwMode="auto">
          <a:xfrm>
            <a:off x="5574673" y="2540001"/>
            <a:ext cx="2303462" cy="1368425"/>
            <a:chOff x="3851920" y="2276872"/>
            <a:chExt cx="2304256" cy="136815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52D3D5F-EA52-DC4D-BF27-3BFDDC57F4DE}"/>
                </a:ext>
              </a:extLst>
            </p:cNvPr>
            <p:cNvCxnSpPr/>
            <p:nvPr/>
          </p:nvCxnSpPr>
          <p:spPr>
            <a:xfrm>
              <a:off x="3851920" y="2276872"/>
              <a:ext cx="23042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5B7354-278C-4F42-A20D-769B46BC4339}"/>
                </a:ext>
              </a:extLst>
            </p:cNvPr>
            <p:cNvCxnSpPr/>
            <p:nvPr/>
          </p:nvCxnSpPr>
          <p:spPr>
            <a:xfrm>
              <a:off x="6156176" y="2276872"/>
              <a:ext cx="0" cy="13681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50743D-5C40-7642-8F82-228CB901F3C7}"/>
                </a:ext>
              </a:extLst>
            </p:cNvPr>
            <p:cNvCxnSpPr/>
            <p:nvPr/>
          </p:nvCxnSpPr>
          <p:spPr>
            <a:xfrm>
              <a:off x="3851920" y="2276872"/>
              <a:ext cx="0" cy="1368152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67BF115-566E-544C-AECA-718A3FB72978}"/>
                </a:ext>
              </a:extLst>
            </p:cNvPr>
            <p:cNvCxnSpPr/>
            <p:nvPr/>
          </p:nvCxnSpPr>
          <p:spPr>
            <a:xfrm>
              <a:off x="3851920" y="3645024"/>
              <a:ext cx="230425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7D489C8-175E-BF46-85FC-F3B4C7DF5495}"/>
              </a:ext>
            </a:extLst>
          </p:cNvPr>
          <p:cNvCxnSpPr/>
          <p:nvPr/>
        </p:nvCxnSpPr>
        <p:spPr>
          <a:xfrm flipV="1">
            <a:off x="5790573" y="3908425"/>
            <a:ext cx="2087562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D4102B-DFC7-FA4B-A02A-1713060BE321}"/>
              </a:ext>
            </a:extLst>
          </p:cNvPr>
          <p:cNvCxnSpPr/>
          <p:nvPr/>
        </p:nvCxnSpPr>
        <p:spPr>
          <a:xfrm flipV="1">
            <a:off x="5790573" y="2540000"/>
            <a:ext cx="2087562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7FC030-9C60-3944-B7F6-1DDA9D525742}"/>
              </a:ext>
            </a:extLst>
          </p:cNvPr>
          <p:cNvCxnSpPr/>
          <p:nvPr/>
        </p:nvCxnSpPr>
        <p:spPr>
          <a:xfrm flipV="1">
            <a:off x="3485523" y="3908425"/>
            <a:ext cx="2089150" cy="15113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7FFA0F1-76D6-AF43-843D-E48D752F68C7}"/>
              </a:ext>
            </a:extLst>
          </p:cNvPr>
          <p:cNvCxnSpPr/>
          <p:nvPr/>
        </p:nvCxnSpPr>
        <p:spPr>
          <a:xfrm flipV="1">
            <a:off x="3485523" y="2540000"/>
            <a:ext cx="2089150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23">
            <a:extLst>
              <a:ext uri="{FF2B5EF4-FFF2-40B4-BE49-F238E27FC236}">
                <a16:creationId xmlns:a16="http://schemas.microsoft.com/office/drawing/2014/main" id="{4BEB7453-F18D-194D-B344-B41EF5070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185" y="5419726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005A7B83-B60E-B245-AD73-33D35D902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310" y="2251076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H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BA24CEED-2620-0542-B483-732278A24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573" y="3979862"/>
            <a:ext cx="290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F</a:t>
            </a: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C68A08D5-C8C0-814B-822C-B30D06C83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161" y="3835401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F7C167C6-545C-1244-905F-2FAE65792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4673" y="3475037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737921FF-AB97-5347-AC2D-0BD007812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161" y="2324100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G</a:t>
            </a:r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DB3A7530-7771-DB44-A1D3-E2AE63452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160" y="3763962"/>
            <a:ext cx="306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45" name="TextBox 31">
            <a:extLst>
              <a:ext uri="{FF2B5EF4-FFF2-40B4-BE49-F238E27FC236}">
                <a16:creationId xmlns:a16="http://schemas.microsoft.com/office/drawing/2014/main" id="{32C4EFF8-A420-2445-9503-095FB963E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1648" y="5491162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7189BB-EE88-4840-B3E7-F7A0E1E0D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9799" y="5969001"/>
            <a:ext cx="207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Find Length AG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7B1E4C-4D21-FD41-8948-983DBFE4473B}"/>
              </a:ext>
            </a:extLst>
          </p:cNvPr>
          <p:cNvCxnSpPr/>
          <p:nvPr/>
        </p:nvCxnSpPr>
        <p:spPr>
          <a:xfrm flipV="1">
            <a:off x="3485523" y="2552701"/>
            <a:ext cx="4360862" cy="2867025"/>
          </a:xfrm>
          <a:prstGeom prst="line">
            <a:avLst/>
          </a:prstGeom>
          <a:ln w="38100">
            <a:solidFill>
              <a:srgbClr val="FC27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DCE8682-3325-1A4B-A753-BB83F5A463FB}"/>
              </a:ext>
            </a:extLst>
          </p:cNvPr>
          <p:cNvSpPr/>
          <p:nvPr/>
        </p:nvSpPr>
        <p:spPr>
          <a:xfrm>
            <a:off x="3485523" y="4051301"/>
            <a:ext cx="2305050" cy="13684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grpSp>
        <p:nvGrpSpPr>
          <p:cNvPr id="49" name="Group 47">
            <a:extLst>
              <a:ext uri="{FF2B5EF4-FFF2-40B4-BE49-F238E27FC236}">
                <a16:creationId xmlns:a16="http://schemas.microsoft.com/office/drawing/2014/main" id="{364FE84F-6EB1-E14D-BD6F-20349DA6CF29}"/>
              </a:ext>
            </a:extLst>
          </p:cNvPr>
          <p:cNvGrpSpPr>
            <a:grpSpLocks/>
          </p:cNvGrpSpPr>
          <p:nvPr/>
        </p:nvGrpSpPr>
        <p:grpSpPr bwMode="auto">
          <a:xfrm>
            <a:off x="8856035" y="1960562"/>
            <a:ext cx="2286000" cy="3632200"/>
            <a:chOff x="5981700" y="1193800"/>
            <a:chExt cx="2286000" cy="3632200"/>
          </a:xfrm>
        </p:grpSpPr>
        <p:sp>
          <p:nvSpPr>
            <p:cNvPr id="50" name="Right Triangle 49">
              <a:extLst>
                <a:ext uri="{FF2B5EF4-FFF2-40B4-BE49-F238E27FC236}">
                  <a16:creationId xmlns:a16="http://schemas.microsoft.com/office/drawing/2014/main" id="{BC824509-1D29-0445-A7AC-5A3706183C55}"/>
                </a:ext>
              </a:extLst>
            </p:cNvPr>
            <p:cNvSpPr/>
            <p:nvPr/>
          </p:nvSpPr>
          <p:spPr>
            <a:xfrm rot="16200000">
              <a:off x="5308600" y="1866900"/>
              <a:ext cx="3632200" cy="2286000"/>
            </a:xfrm>
            <a:prstGeom prst="rt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8701311-E933-274B-9C9D-D83F5B418957}"/>
                </a:ext>
              </a:extLst>
            </p:cNvPr>
            <p:cNvSpPr/>
            <p:nvPr/>
          </p:nvSpPr>
          <p:spPr>
            <a:xfrm>
              <a:off x="8039100" y="4584700"/>
              <a:ext cx="2159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1FE16DE-A190-1247-B102-EB2F54106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099" y="6375400"/>
            <a:ext cx="485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First: Find length AC using Pythagoras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512E65-667A-4845-9088-57D37595E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585" y="5572126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E88D5D-E962-7444-874A-3CA2CC14F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3285" y="5559426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695954-930E-664C-9E2F-ACD4A0AAC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5985" y="1647826"/>
            <a:ext cx="306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862748-4144-4643-8488-92DED4A7AA82}"/>
              </a:ext>
            </a:extLst>
          </p:cNvPr>
          <p:cNvCxnSpPr/>
          <p:nvPr/>
        </p:nvCxnSpPr>
        <p:spPr>
          <a:xfrm flipV="1">
            <a:off x="3496635" y="3890962"/>
            <a:ext cx="4394200" cy="1511300"/>
          </a:xfrm>
          <a:prstGeom prst="line">
            <a:avLst/>
          </a:prstGeom>
          <a:ln w="28575">
            <a:solidFill>
              <a:srgbClr val="FC27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33">
            <a:extLst>
              <a:ext uri="{FF2B5EF4-FFF2-40B4-BE49-F238E27FC236}">
                <a16:creationId xmlns:a16="http://schemas.microsoft.com/office/drawing/2014/main" id="{0BA97BB2-6C11-4048-A6A2-5887EAE29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636" y="544671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5cm</a:t>
            </a:r>
          </a:p>
        </p:txBody>
      </p:sp>
      <p:sp>
        <p:nvSpPr>
          <p:cNvPr id="58" name="Rectangle 35">
            <a:extLst>
              <a:ext uri="{FF2B5EF4-FFF2-40B4-BE49-F238E27FC236}">
                <a16:creationId xmlns:a16="http://schemas.microsoft.com/office/drawing/2014/main" id="{DD53CC1A-C640-F644-AE8A-9961AB50A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836" y="463391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6cm</a:t>
            </a:r>
          </a:p>
        </p:txBody>
      </p:sp>
      <p:sp>
        <p:nvSpPr>
          <p:cNvPr id="59" name="Rectangle 36">
            <a:extLst>
              <a:ext uri="{FF2B5EF4-FFF2-40B4-BE49-F238E27FC236}">
                <a16:creationId xmlns:a16="http://schemas.microsoft.com/office/drawing/2014/main" id="{785649C3-50F9-A74D-91BD-4B3C651B2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336" y="437991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3cm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ABF18B-EA88-7B41-95A2-5C8083B1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9136" y="558641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5cm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E50A615-FCAE-D44D-99F7-F57F9759C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4736" y="347821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6cm</a:t>
            </a:r>
          </a:p>
        </p:txBody>
      </p:sp>
      <p:grpSp>
        <p:nvGrpSpPr>
          <p:cNvPr id="62" name="Group 43">
            <a:extLst>
              <a:ext uri="{FF2B5EF4-FFF2-40B4-BE49-F238E27FC236}">
                <a16:creationId xmlns:a16="http://schemas.microsoft.com/office/drawing/2014/main" id="{1B63FBAF-6DF3-E341-8A45-A0BE52A83D0F}"/>
              </a:ext>
            </a:extLst>
          </p:cNvPr>
          <p:cNvGrpSpPr>
            <a:grpSpLocks/>
          </p:cNvGrpSpPr>
          <p:nvPr/>
        </p:nvGrpSpPr>
        <p:grpSpPr bwMode="auto">
          <a:xfrm>
            <a:off x="8594099" y="6273800"/>
            <a:ext cx="3024187" cy="584200"/>
            <a:chOff x="5719763" y="5507038"/>
            <a:chExt cx="3024546" cy="584775"/>
          </a:xfrm>
        </p:grpSpPr>
        <p:sp>
          <p:nvSpPr>
            <p:cNvPr id="63" name="TextBox 40">
              <a:extLst>
                <a:ext uri="{FF2B5EF4-FFF2-40B4-BE49-F238E27FC236}">
                  <a16:creationId xmlns:a16="http://schemas.microsoft.com/office/drawing/2014/main" id="{5A1F72A8-E1DF-1049-8E9B-2145EE7FB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9763" y="5507038"/>
              <a:ext cx="302454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AC = </a:t>
              </a:r>
              <a:r>
                <a:rPr lang="en-GB" altLang="en-US"/>
                <a:t>√</a:t>
              </a:r>
              <a:r>
                <a:rPr lang="en-GB" altLang="en-US" sz="2400"/>
                <a:t>5</a:t>
              </a:r>
              <a:r>
                <a:rPr lang="en-GB" altLang="en-US" sz="2400" baseline="30000"/>
                <a:t>2</a:t>
              </a:r>
              <a:r>
                <a:rPr lang="en-GB" altLang="en-US" sz="2400"/>
                <a:t>+6</a:t>
              </a:r>
              <a:r>
                <a:rPr lang="en-GB" altLang="en-US" sz="2400" baseline="30000"/>
                <a:t>2</a:t>
              </a:r>
              <a:r>
                <a:rPr lang="en-GB" altLang="en-US" sz="2400"/>
                <a:t>   =  7.8cm 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9828ED4-3BC0-EA48-B247-B10320865306}"/>
                </a:ext>
              </a:extLst>
            </p:cNvPr>
            <p:cNvCxnSpPr/>
            <p:nvPr/>
          </p:nvCxnSpPr>
          <p:spPr>
            <a:xfrm>
              <a:off x="6591403" y="5664355"/>
              <a:ext cx="77479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D994B97-C641-9442-9A59-EF0A525C9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72" y="1895146"/>
            <a:ext cx="2271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Cuboid Question</a:t>
            </a:r>
          </a:p>
        </p:txBody>
      </p: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85185E-6 L 0.33195 -1.85185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2" grpId="0"/>
      <p:bldP spid="53" grpId="0"/>
      <p:bldP spid="54" grpId="0"/>
      <p:bldP spid="55" grpId="0"/>
      <p:bldP spid="60" grpId="0"/>
      <p:bldP spid="61" grpId="0"/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4AA8E4ED-FBDB-214F-AA6D-A33D1F711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377" y="2354374"/>
            <a:ext cx="4405312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99F8EE8-0FC8-2D45-87E0-C5A520D0C591}"/>
              </a:ext>
            </a:extLst>
          </p:cNvPr>
          <p:cNvCxnSpPr/>
          <p:nvPr/>
        </p:nvCxnSpPr>
        <p:spPr>
          <a:xfrm>
            <a:off x="4812377" y="3879962"/>
            <a:ext cx="0" cy="13684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17">
            <a:extLst>
              <a:ext uri="{FF2B5EF4-FFF2-40B4-BE49-F238E27FC236}">
                <a16:creationId xmlns:a16="http://schemas.microsoft.com/office/drawing/2014/main" id="{5B3ACAFF-47E8-8940-BF23-033052DA03CC}"/>
              </a:ext>
            </a:extLst>
          </p:cNvPr>
          <p:cNvGrpSpPr>
            <a:grpSpLocks/>
          </p:cNvGrpSpPr>
          <p:nvPr/>
        </p:nvGrpSpPr>
        <p:grpSpPr bwMode="auto">
          <a:xfrm>
            <a:off x="4596477" y="2368662"/>
            <a:ext cx="2303462" cy="1368425"/>
            <a:chOff x="3851920" y="2276872"/>
            <a:chExt cx="2304256" cy="1368152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4EE9C33-1A2E-5D46-A395-270A4DE8CB5F}"/>
                </a:ext>
              </a:extLst>
            </p:cNvPr>
            <p:cNvCxnSpPr/>
            <p:nvPr/>
          </p:nvCxnSpPr>
          <p:spPr>
            <a:xfrm>
              <a:off x="3851920" y="2276872"/>
              <a:ext cx="23042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3277589-BC1F-274F-B2E9-B352639EC63A}"/>
                </a:ext>
              </a:extLst>
            </p:cNvPr>
            <p:cNvCxnSpPr/>
            <p:nvPr/>
          </p:nvCxnSpPr>
          <p:spPr>
            <a:xfrm>
              <a:off x="6156176" y="2276872"/>
              <a:ext cx="0" cy="13681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3BF895F-5C5E-0A4D-BAAD-3169249173D5}"/>
                </a:ext>
              </a:extLst>
            </p:cNvPr>
            <p:cNvCxnSpPr/>
            <p:nvPr/>
          </p:nvCxnSpPr>
          <p:spPr>
            <a:xfrm>
              <a:off x="3851920" y="2276872"/>
              <a:ext cx="0" cy="1368152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C843107-3115-924C-8CCA-666939396EFA}"/>
                </a:ext>
              </a:extLst>
            </p:cNvPr>
            <p:cNvCxnSpPr/>
            <p:nvPr/>
          </p:nvCxnSpPr>
          <p:spPr>
            <a:xfrm>
              <a:off x="3851920" y="3645024"/>
              <a:ext cx="230425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FAB97C-0BFA-A34B-9914-E780A9A6AAA9}"/>
              </a:ext>
            </a:extLst>
          </p:cNvPr>
          <p:cNvCxnSpPr/>
          <p:nvPr/>
        </p:nvCxnSpPr>
        <p:spPr>
          <a:xfrm flipV="1">
            <a:off x="4812377" y="3737086"/>
            <a:ext cx="2087562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9E1B2C-7518-8544-8EC9-23974D31B721}"/>
              </a:ext>
            </a:extLst>
          </p:cNvPr>
          <p:cNvCxnSpPr/>
          <p:nvPr/>
        </p:nvCxnSpPr>
        <p:spPr>
          <a:xfrm flipV="1">
            <a:off x="4812377" y="2368661"/>
            <a:ext cx="2087562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3AF2C51-04EF-AA47-8650-2D0BFBACECD7}"/>
              </a:ext>
            </a:extLst>
          </p:cNvPr>
          <p:cNvCxnSpPr/>
          <p:nvPr/>
        </p:nvCxnSpPr>
        <p:spPr>
          <a:xfrm flipV="1">
            <a:off x="2507327" y="3737086"/>
            <a:ext cx="2089150" cy="15113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1F0739C-AF90-0442-9B33-5AEFCB17FB57}"/>
              </a:ext>
            </a:extLst>
          </p:cNvPr>
          <p:cNvCxnSpPr/>
          <p:nvPr/>
        </p:nvCxnSpPr>
        <p:spPr>
          <a:xfrm flipV="1">
            <a:off x="2507327" y="2368661"/>
            <a:ext cx="2089150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23">
            <a:extLst>
              <a:ext uri="{FF2B5EF4-FFF2-40B4-BE49-F238E27FC236}">
                <a16:creationId xmlns:a16="http://schemas.microsoft.com/office/drawing/2014/main" id="{43F7B6F1-3664-FD47-86E2-42CA6487B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989" y="5248387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78" name="TextBox 25">
            <a:extLst>
              <a:ext uri="{FF2B5EF4-FFF2-40B4-BE49-F238E27FC236}">
                <a16:creationId xmlns:a16="http://schemas.microsoft.com/office/drawing/2014/main" id="{D36FEF1F-7D6B-B348-BCF8-45748D2D5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6114" y="2079737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H</a:t>
            </a:r>
          </a:p>
        </p:txBody>
      </p:sp>
      <p:sp>
        <p:nvSpPr>
          <p:cNvPr id="79" name="TextBox 26">
            <a:extLst>
              <a:ext uri="{FF2B5EF4-FFF2-40B4-BE49-F238E27FC236}">
                <a16:creationId xmlns:a16="http://schemas.microsoft.com/office/drawing/2014/main" id="{00EFBE05-788E-6C47-B07F-E8102A81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377" y="3808523"/>
            <a:ext cx="290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F</a:t>
            </a:r>
          </a:p>
        </p:txBody>
      </p:sp>
      <p:sp>
        <p:nvSpPr>
          <p:cNvPr id="80" name="TextBox 27">
            <a:extLst>
              <a:ext uri="{FF2B5EF4-FFF2-40B4-BE49-F238E27FC236}">
                <a16:creationId xmlns:a16="http://schemas.microsoft.com/office/drawing/2014/main" id="{0EC2FE03-A141-2642-B12E-AF25598D1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965" y="3664062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81" name="TextBox 28">
            <a:extLst>
              <a:ext uri="{FF2B5EF4-FFF2-40B4-BE49-F238E27FC236}">
                <a16:creationId xmlns:a16="http://schemas.microsoft.com/office/drawing/2014/main" id="{4BE7D1EE-6C30-E54B-A9C1-2E9F76C26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477" y="3303698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82" name="TextBox 29">
            <a:extLst>
              <a:ext uri="{FF2B5EF4-FFF2-40B4-BE49-F238E27FC236}">
                <a16:creationId xmlns:a16="http://schemas.microsoft.com/office/drawing/2014/main" id="{BC65D076-F1E6-4C46-A559-2FBE4CC9E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965" y="2152761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G</a:t>
            </a:r>
          </a:p>
        </p:txBody>
      </p:sp>
      <p:sp>
        <p:nvSpPr>
          <p:cNvPr id="83" name="TextBox 30">
            <a:extLst>
              <a:ext uri="{FF2B5EF4-FFF2-40B4-BE49-F238E27FC236}">
                <a16:creationId xmlns:a16="http://schemas.microsoft.com/office/drawing/2014/main" id="{3EEF99DA-A835-0E43-98D8-55F2869AF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964" y="3592623"/>
            <a:ext cx="306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84" name="TextBox 31">
            <a:extLst>
              <a:ext uri="{FF2B5EF4-FFF2-40B4-BE49-F238E27FC236}">
                <a16:creationId xmlns:a16="http://schemas.microsoft.com/office/drawing/2014/main" id="{10574B1C-ED6E-ED4C-82CD-48002DD2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3452" y="5319823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C9E4988-AD54-9B4E-9B77-C20F7CEC2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1602" y="5797661"/>
            <a:ext cx="2813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Next: Find Length AG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5CFF2C2-EEC1-A147-A9FF-90A7C0BB3DC5}"/>
              </a:ext>
            </a:extLst>
          </p:cNvPr>
          <p:cNvCxnSpPr/>
          <p:nvPr/>
        </p:nvCxnSpPr>
        <p:spPr>
          <a:xfrm flipV="1">
            <a:off x="2507327" y="2381362"/>
            <a:ext cx="4360862" cy="2867025"/>
          </a:xfrm>
          <a:prstGeom prst="line">
            <a:avLst/>
          </a:prstGeom>
          <a:ln w="38100">
            <a:solidFill>
              <a:srgbClr val="FC27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E5F17076-AE04-DA42-98F3-C6B26C34A981}"/>
              </a:ext>
            </a:extLst>
          </p:cNvPr>
          <p:cNvSpPr/>
          <p:nvPr/>
        </p:nvSpPr>
        <p:spPr>
          <a:xfrm>
            <a:off x="2507327" y="3879962"/>
            <a:ext cx="2305050" cy="13684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180E542-8E16-A746-9E9D-44DBA6871E66}"/>
              </a:ext>
            </a:extLst>
          </p:cNvPr>
          <p:cNvCxnSpPr/>
          <p:nvPr/>
        </p:nvCxnSpPr>
        <p:spPr>
          <a:xfrm flipV="1">
            <a:off x="2529553" y="3719624"/>
            <a:ext cx="4383087" cy="1546225"/>
          </a:xfrm>
          <a:prstGeom prst="line">
            <a:avLst/>
          </a:prstGeom>
          <a:ln w="28575">
            <a:solidFill>
              <a:srgbClr val="FC27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33">
            <a:extLst>
              <a:ext uri="{FF2B5EF4-FFF2-40B4-BE49-F238E27FC236}">
                <a16:creationId xmlns:a16="http://schemas.microsoft.com/office/drawing/2014/main" id="{A9486B62-1E86-3946-AA9E-A289DBA53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440" y="5275373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5cm</a:t>
            </a:r>
          </a:p>
        </p:txBody>
      </p:sp>
      <p:sp>
        <p:nvSpPr>
          <p:cNvPr id="90" name="Rectangle 35">
            <a:extLst>
              <a:ext uri="{FF2B5EF4-FFF2-40B4-BE49-F238E27FC236}">
                <a16:creationId xmlns:a16="http://schemas.microsoft.com/office/drawing/2014/main" id="{0BE749B6-56DB-E746-BCBA-269E7CC4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640" y="4462573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6cm</a:t>
            </a:r>
          </a:p>
        </p:txBody>
      </p:sp>
      <p:sp>
        <p:nvSpPr>
          <p:cNvPr id="91" name="Rectangle 36">
            <a:extLst>
              <a:ext uri="{FF2B5EF4-FFF2-40B4-BE49-F238E27FC236}">
                <a16:creationId xmlns:a16="http://schemas.microsoft.com/office/drawing/2014/main" id="{CFA01F9B-2B6A-5947-B149-AE57FF482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140" y="4208573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3cm</a:t>
            </a:r>
          </a:p>
        </p:txBody>
      </p:sp>
      <p:grpSp>
        <p:nvGrpSpPr>
          <p:cNvPr id="92" name="Group 47">
            <a:extLst>
              <a:ext uri="{FF2B5EF4-FFF2-40B4-BE49-F238E27FC236}">
                <a16:creationId xmlns:a16="http://schemas.microsoft.com/office/drawing/2014/main" id="{E016124A-3B85-804C-BEA8-67F2422588A5}"/>
              </a:ext>
            </a:extLst>
          </p:cNvPr>
          <p:cNvGrpSpPr>
            <a:grpSpLocks/>
          </p:cNvGrpSpPr>
          <p:nvPr/>
        </p:nvGrpSpPr>
        <p:grpSpPr bwMode="auto">
          <a:xfrm rot="16200000" flipH="1">
            <a:off x="7973884" y="2947305"/>
            <a:ext cx="1490662" cy="3286125"/>
            <a:chOff x="5981700" y="1193800"/>
            <a:chExt cx="2286000" cy="3632200"/>
          </a:xfrm>
        </p:grpSpPr>
        <p:sp>
          <p:nvSpPr>
            <p:cNvPr id="93" name="Right Triangle 92">
              <a:extLst>
                <a:ext uri="{FF2B5EF4-FFF2-40B4-BE49-F238E27FC236}">
                  <a16:creationId xmlns:a16="http://schemas.microsoft.com/office/drawing/2014/main" id="{8C86228B-DFDE-8C42-8457-55F3D87BD7B6}"/>
                </a:ext>
              </a:extLst>
            </p:cNvPr>
            <p:cNvSpPr/>
            <p:nvPr/>
          </p:nvSpPr>
          <p:spPr>
            <a:xfrm rot="16200000">
              <a:off x="5308601" y="1866899"/>
              <a:ext cx="3632200" cy="2286000"/>
            </a:xfrm>
            <a:prstGeom prst="rt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229A453-975C-CA43-8953-9563EE80A2DE}"/>
                </a:ext>
              </a:extLst>
            </p:cNvPr>
            <p:cNvSpPr/>
            <p:nvPr/>
          </p:nvSpPr>
          <p:spPr>
            <a:xfrm>
              <a:off x="8038857" y="4583853"/>
              <a:ext cx="216672" cy="229863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BF861C6B-8CBC-9443-BF84-56B03D71B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977" y="5357923"/>
            <a:ext cx="81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7.8cm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DD57BF9-B5F5-BB42-B121-F5A0B24C6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427" y="4248262"/>
            <a:ext cx="620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3cm</a:t>
            </a:r>
          </a:p>
        </p:txBody>
      </p:sp>
      <p:grpSp>
        <p:nvGrpSpPr>
          <p:cNvPr id="97" name="Group 55">
            <a:extLst>
              <a:ext uri="{FF2B5EF4-FFF2-40B4-BE49-F238E27FC236}">
                <a16:creationId xmlns:a16="http://schemas.microsoft.com/office/drawing/2014/main" id="{276E9234-937B-2044-B049-96D1B439CEE9}"/>
              </a:ext>
            </a:extLst>
          </p:cNvPr>
          <p:cNvGrpSpPr>
            <a:grpSpLocks/>
          </p:cNvGrpSpPr>
          <p:nvPr/>
        </p:nvGrpSpPr>
        <p:grpSpPr bwMode="auto">
          <a:xfrm>
            <a:off x="5618828" y="5723048"/>
            <a:ext cx="3286125" cy="584200"/>
            <a:chOff x="5719763" y="5507038"/>
            <a:chExt cx="3287438" cy="584775"/>
          </a:xfrm>
        </p:grpSpPr>
        <p:sp>
          <p:nvSpPr>
            <p:cNvPr id="98" name="TextBox 56">
              <a:extLst>
                <a:ext uri="{FF2B5EF4-FFF2-40B4-BE49-F238E27FC236}">
                  <a16:creationId xmlns:a16="http://schemas.microsoft.com/office/drawing/2014/main" id="{D2CF77E2-931B-EE4A-A69D-7EA7B6370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9763" y="5507038"/>
              <a:ext cx="328743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AG = </a:t>
              </a:r>
              <a:r>
                <a:rPr lang="en-GB" altLang="en-US"/>
                <a:t>√</a:t>
              </a:r>
              <a:r>
                <a:rPr lang="en-GB" altLang="en-US" sz="2400"/>
                <a:t>3</a:t>
              </a:r>
              <a:r>
                <a:rPr lang="en-GB" altLang="en-US" sz="2400" baseline="30000"/>
                <a:t>2</a:t>
              </a:r>
              <a:r>
                <a:rPr lang="en-GB" altLang="en-US" sz="2400"/>
                <a:t>+7.8</a:t>
              </a:r>
              <a:r>
                <a:rPr lang="en-GB" altLang="en-US" sz="2400" baseline="30000"/>
                <a:t>2</a:t>
              </a:r>
              <a:r>
                <a:rPr lang="en-GB" altLang="en-US" sz="2400"/>
                <a:t>   =  8.4cm </a:t>
              </a: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237F3F2-D7A4-5B4B-B501-D98D60829920}"/>
                </a:ext>
              </a:extLst>
            </p:cNvPr>
            <p:cNvCxnSpPr/>
            <p:nvPr/>
          </p:nvCxnSpPr>
          <p:spPr>
            <a:xfrm>
              <a:off x="6591648" y="5664356"/>
              <a:ext cx="99099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458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49769E-6 L 0.36997 0.1803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0" y="901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95" grpId="0"/>
      <p:bldP spid="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2ED14EC-AA65-DA4B-A307-1DED01054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196" y="3828722"/>
            <a:ext cx="357187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9">
            <a:extLst>
              <a:ext uri="{FF2B5EF4-FFF2-40B4-BE49-F238E27FC236}">
                <a16:creationId xmlns:a16="http://schemas.microsoft.com/office/drawing/2014/main" id="{D170C861-7255-1B48-BD1B-2867CF98C682}"/>
              </a:ext>
            </a:extLst>
          </p:cNvPr>
          <p:cNvGrpSpPr>
            <a:grpSpLocks/>
          </p:cNvGrpSpPr>
          <p:nvPr/>
        </p:nvGrpSpPr>
        <p:grpSpPr bwMode="auto">
          <a:xfrm>
            <a:off x="1902333" y="2499985"/>
            <a:ext cx="4416425" cy="2925762"/>
            <a:chOff x="601834" y="1758462"/>
            <a:chExt cx="4434400" cy="2918387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E4A2A47-901F-6D40-AE57-B7B84BDBF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676" y="1758462"/>
              <a:ext cx="4406558" cy="2918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E825BEB0-10C7-544D-8ECC-ACD52100B3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834" y="3390314"/>
              <a:ext cx="2114551" cy="1273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7388D0-7118-7D4A-9B2D-E8D2C804F549}"/>
              </a:ext>
            </a:extLst>
          </p:cNvPr>
          <p:cNvCxnSpPr/>
          <p:nvPr/>
        </p:nvCxnSpPr>
        <p:spPr>
          <a:xfrm>
            <a:off x="4199445" y="4039861"/>
            <a:ext cx="0" cy="13684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17">
            <a:extLst>
              <a:ext uri="{FF2B5EF4-FFF2-40B4-BE49-F238E27FC236}">
                <a16:creationId xmlns:a16="http://schemas.microsoft.com/office/drawing/2014/main" id="{C9E16283-530A-F046-84A6-5F26DFFD7CAC}"/>
              </a:ext>
            </a:extLst>
          </p:cNvPr>
          <p:cNvGrpSpPr>
            <a:grpSpLocks/>
          </p:cNvGrpSpPr>
          <p:nvPr/>
        </p:nvGrpSpPr>
        <p:grpSpPr bwMode="auto">
          <a:xfrm>
            <a:off x="3983545" y="2528561"/>
            <a:ext cx="2303462" cy="1368425"/>
            <a:chOff x="3851920" y="2276872"/>
            <a:chExt cx="2304256" cy="136815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9396BDB-86D9-0B4D-A3DD-6E6C7FE048F1}"/>
                </a:ext>
              </a:extLst>
            </p:cNvPr>
            <p:cNvCxnSpPr/>
            <p:nvPr/>
          </p:nvCxnSpPr>
          <p:spPr>
            <a:xfrm>
              <a:off x="3851920" y="2276872"/>
              <a:ext cx="23042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1D62D9-3D6F-C648-AD71-5458596A44CD}"/>
                </a:ext>
              </a:extLst>
            </p:cNvPr>
            <p:cNvCxnSpPr/>
            <p:nvPr/>
          </p:nvCxnSpPr>
          <p:spPr>
            <a:xfrm>
              <a:off x="6156176" y="2276872"/>
              <a:ext cx="0" cy="136815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5863139-6FF0-194A-A378-0A376E446326}"/>
                </a:ext>
              </a:extLst>
            </p:cNvPr>
            <p:cNvCxnSpPr/>
            <p:nvPr/>
          </p:nvCxnSpPr>
          <p:spPr>
            <a:xfrm>
              <a:off x="3851920" y="2276872"/>
              <a:ext cx="0" cy="1368152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7E23F0-9F5C-0147-9185-92D4DDB958C9}"/>
                </a:ext>
              </a:extLst>
            </p:cNvPr>
            <p:cNvCxnSpPr/>
            <p:nvPr/>
          </p:nvCxnSpPr>
          <p:spPr>
            <a:xfrm>
              <a:off x="3851920" y="3645024"/>
              <a:ext cx="230425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C85F5D-5880-1E46-80CD-06EC0E5F9447}"/>
              </a:ext>
            </a:extLst>
          </p:cNvPr>
          <p:cNvCxnSpPr/>
          <p:nvPr/>
        </p:nvCxnSpPr>
        <p:spPr>
          <a:xfrm flipV="1">
            <a:off x="4199445" y="3896985"/>
            <a:ext cx="2087562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CC608E-F1CD-C040-AAEA-EC5F4802B0CE}"/>
              </a:ext>
            </a:extLst>
          </p:cNvPr>
          <p:cNvCxnSpPr/>
          <p:nvPr/>
        </p:nvCxnSpPr>
        <p:spPr>
          <a:xfrm flipV="1">
            <a:off x="4199445" y="2528560"/>
            <a:ext cx="2087562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43D86B-4781-044D-AFD8-1EF12B5171C4}"/>
              </a:ext>
            </a:extLst>
          </p:cNvPr>
          <p:cNvCxnSpPr/>
          <p:nvPr/>
        </p:nvCxnSpPr>
        <p:spPr>
          <a:xfrm flipV="1">
            <a:off x="1894395" y="3896985"/>
            <a:ext cx="2089150" cy="15113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6713CE-50CA-6B48-B4AC-614F3B42EA77}"/>
              </a:ext>
            </a:extLst>
          </p:cNvPr>
          <p:cNvCxnSpPr/>
          <p:nvPr/>
        </p:nvCxnSpPr>
        <p:spPr>
          <a:xfrm flipV="1">
            <a:off x="1894395" y="2528560"/>
            <a:ext cx="2089150" cy="1511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23">
            <a:extLst>
              <a:ext uri="{FF2B5EF4-FFF2-40B4-BE49-F238E27FC236}">
                <a16:creationId xmlns:a16="http://schemas.microsoft.com/office/drawing/2014/main" id="{CF4621CE-417F-8D48-9AC0-180ECB2A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057" y="5408286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75C5532C-7E48-7849-ACD8-41D680317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182" y="2239636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H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F71BA1B1-D5C4-FA48-A882-12F50C0D8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9445" y="3968422"/>
            <a:ext cx="290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F</a:t>
            </a:r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674688DD-E181-024C-8A6B-FA62233B8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033" y="3823961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80BA5056-2704-904C-B0FD-F292EC6CE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545" y="3463597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22" name="TextBox 29">
            <a:extLst>
              <a:ext uri="{FF2B5EF4-FFF2-40B4-BE49-F238E27FC236}">
                <a16:creationId xmlns:a16="http://schemas.microsoft.com/office/drawing/2014/main" id="{EF7E1897-1787-9940-B072-B0195FF94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033" y="2312660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G</a:t>
            </a: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02CD4FA5-0725-D14B-9BA2-D38EEE4E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032" y="3752522"/>
            <a:ext cx="306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24" name="TextBox 31">
            <a:extLst>
              <a:ext uri="{FF2B5EF4-FFF2-40B4-BE49-F238E27FC236}">
                <a16:creationId xmlns:a16="http://schemas.microsoft.com/office/drawing/2014/main" id="{96C7A527-0843-B148-9539-E57B05CB5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520" y="5479722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AC3FF2-B996-6342-9F6A-CC6F10C15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808" y="1723698"/>
            <a:ext cx="2100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Find Angle CAG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3FCE561-637E-E04A-BE99-B392C853367C}"/>
              </a:ext>
            </a:extLst>
          </p:cNvPr>
          <p:cNvCxnSpPr/>
          <p:nvPr/>
        </p:nvCxnSpPr>
        <p:spPr>
          <a:xfrm flipV="1">
            <a:off x="1894395" y="2541261"/>
            <a:ext cx="4360862" cy="2867025"/>
          </a:xfrm>
          <a:prstGeom prst="line">
            <a:avLst/>
          </a:prstGeom>
          <a:ln w="38100">
            <a:solidFill>
              <a:srgbClr val="FC27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4842BB0-202D-A546-9C3C-C2D85B19F3D8}"/>
              </a:ext>
            </a:extLst>
          </p:cNvPr>
          <p:cNvSpPr/>
          <p:nvPr/>
        </p:nvSpPr>
        <p:spPr>
          <a:xfrm>
            <a:off x="1894395" y="4039861"/>
            <a:ext cx="2305050" cy="13684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8AFAC1C-C7A4-B24E-AA34-CCFABD8F1510}"/>
              </a:ext>
            </a:extLst>
          </p:cNvPr>
          <p:cNvCxnSpPr/>
          <p:nvPr/>
        </p:nvCxnSpPr>
        <p:spPr>
          <a:xfrm flipV="1">
            <a:off x="1916621" y="3879523"/>
            <a:ext cx="4383087" cy="1546225"/>
          </a:xfrm>
          <a:prstGeom prst="line">
            <a:avLst/>
          </a:prstGeom>
          <a:ln w="28575">
            <a:solidFill>
              <a:srgbClr val="FC27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33">
            <a:extLst>
              <a:ext uri="{FF2B5EF4-FFF2-40B4-BE49-F238E27FC236}">
                <a16:creationId xmlns:a16="http://schemas.microsoft.com/office/drawing/2014/main" id="{917EC4F3-9384-0248-84CA-C2BB41375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508" y="543527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5cm</a:t>
            </a:r>
          </a:p>
        </p:txBody>
      </p:sp>
      <p:sp>
        <p:nvSpPr>
          <p:cNvPr id="31" name="Rectangle 35">
            <a:extLst>
              <a:ext uri="{FF2B5EF4-FFF2-40B4-BE49-F238E27FC236}">
                <a16:creationId xmlns:a16="http://schemas.microsoft.com/office/drawing/2014/main" id="{74DB748C-9E49-A949-8F88-EFB6F814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708" y="462247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6cm</a:t>
            </a:r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D276ABBB-5501-0E4C-AA74-303A3BD2E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208" y="4368472"/>
            <a:ext cx="620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3cm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964B18-B04A-0541-B47F-7D1A7575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7045" y="5517822"/>
            <a:ext cx="81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7.8cm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4F6CC9-456A-B046-A6ED-5496F7180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6495" y="4408161"/>
            <a:ext cx="620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3cm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8815E3-2317-D14D-9242-AD89D2C71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657" y="6054398"/>
            <a:ext cx="60721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Find length AC as before then find the angle as: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073EEBC5-90BD-7549-A93C-F8799E5CDBCA}"/>
              </a:ext>
            </a:extLst>
          </p:cNvPr>
          <p:cNvSpPr/>
          <p:nvPr/>
        </p:nvSpPr>
        <p:spPr>
          <a:xfrm rot="3088810">
            <a:off x="3001677" y="4059704"/>
            <a:ext cx="917575" cy="1071563"/>
          </a:xfrm>
          <a:prstGeom prst="arc">
            <a:avLst>
              <a:gd name="adj1" fmla="val 15431742"/>
              <a:gd name="adj2" fmla="val 1953207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168A78-100C-5A40-9002-D3EA3189B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3845" y="6079798"/>
            <a:ext cx="7588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tan</a:t>
            </a:r>
            <a:r>
              <a:rPr lang="en-GB" altLang="en-US" sz="2400" baseline="30000"/>
              <a:t>-1</a:t>
            </a:r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735AAED7-BE84-024C-95BA-428393BB6FB6}"/>
              </a:ext>
            </a:extLst>
          </p:cNvPr>
          <p:cNvSpPr/>
          <p:nvPr/>
        </p:nvSpPr>
        <p:spPr>
          <a:xfrm>
            <a:off x="8426956" y="6071859"/>
            <a:ext cx="84138" cy="604838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39" name="Left Bracket 38">
            <a:extLst>
              <a:ext uri="{FF2B5EF4-FFF2-40B4-BE49-F238E27FC236}">
                <a16:creationId xmlns:a16="http://schemas.microsoft.com/office/drawing/2014/main" id="{1AF0FC9C-4574-C942-9A49-80AD027896A5}"/>
              </a:ext>
            </a:extLst>
          </p:cNvPr>
          <p:cNvSpPr/>
          <p:nvPr/>
        </p:nvSpPr>
        <p:spPr>
          <a:xfrm flipH="1">
            <a:off x="9212770" y="6070273"/>
            <a:ext cx="84137" cy="604837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2CB9B-D361-B04B-8822-0414392AD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3956" y="5938510"/>
            <a:ext cx="571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7.8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53AC779-512A-424A-85F2-8B8F25E3EA30}"/>
              </a:ext>
            </a:extLst>
          </p:cNvPr>
          <p:cNvCxnSpPr>
            <a:stCxn id="40" idx="1"/>
            <a:endCxn id="40" idx="3"/>
          </p:cNvCxnSpPr>
          <p:nvPr/>
        </p:nvCxnSpPr>
        <p:spPr>
          <a:xfrm>
            <a:off x="8553956" y="6354434"/>
            <a:ext cx="5715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FD1A349-D8CE-4C4C-9D66-1EBBE7C2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2345" y="6121072"/>
            <a:ext cx="827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= 21</a:t>
            </a:r>
            <a:r>
              <a:rPr lang="en-GB" altLang="en-US" sz="2400" baseline="3000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44880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09158E-6 L 0.41146 0.1209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3" y="60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3" grpId="0"/>
      <p:bldP spid="34" grpId="0"/>
      <p:bldP spid="35" grpId="0"/>
      <p:bldP spid="37" grpId="0"/>
      <p:bldP spid="38" grpId="0" animBg="1"/>
      <p:bldP spid="39" grpId="0" animBg="1"/>
      <p:bldP spid="40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04CD-98EF-EC41-ADA0-2B337D75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508890"/>
            <a:ext cx="9628632" cy="1362113"/>
          </a:xfrm>
        </p:spPr>
        <p:txBody>
          <a:bodyPr/>
          <a:lstStyle/>
          <a:p>
            <a:r>
              <a:rPr lang="en-US" dirty="0"/>
              <a:t>Your Turn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DBEDE0D0-3558-854C-84C1-0FCD0DAD8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70" y="2851149"/>
            <a:ext cx="10145972" cy="241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CAFC2-4FEB-8743-A14C-ED19040C6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689" y="1925338"/>
            <a:ext cx="4335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Square Based Pyramid Question</a:t>
            </a:r>
          </a:p>
        </p:txBody>
      </p:sp>
      <p:sp>
        <p:nvSpPr>
          <p:cNvPr id="4" name="TextBox 25">
            <a:extLst>
              <a:ext uri="{FF2B5EF4-FFF2-40B4-BE49-F238E27FC236}">
                <a16:creationId xmlns:a16="http://schemas.microsoft.com/office/drawing/2014/main" id="{F0FA81BA-3D9F-F147-815D-6CF77896E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981" y="2054225"/>
            <a:ext cx="34353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This is a square based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pyramid, where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lengths of the sides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 the square are 20.6cm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and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 height is 14.75cm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X is the middle of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Arial" panose="020B0604020202020204" pitchFamily="34" charset="0"/>
              </a:rPr>
              <a:t>	square 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8815-8A5D-C84C-B030-65EDD0284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982" y="2641601"/>
            <a:ext cx="2036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Find Length AE</a:t>
            </a:r>
          </a:p>
        </p:txBody>
      </p:sp>
      <p:grpSp>
        <p:nvGrpSpPr>
          <p:cNvPr id="6" name="Group 51">
            <a:extLst>
              <a:ext uri="{FF2B5EF4-FFF2-40B4-BE49-F238E27FC236}">
                <a16:creationId xmlns:a16="http://schemas.microsoft.com/office/drawing/2014/main" id="{A1DB3A7D-3362-ED42-87E8-9A57E93D4B83}"/>
              </a:ext>
            </a:extLst>
          </p:cNvPr>
          <p:cNvGrpSpPr>
            <a:grpSpLocks/>
          </p:cNvGrpSpPr>
          <p:nvPr/>
        </p:nvGrpSpPr>
        <p:grpSpPr bwMode="auto">
          <a:xfrm>
            <a:off x="2492169" y="2325688"/>
            <a:ext cx="5707062" cy="4532312"/>
            <a:chOff x="478595" y="1665654"/>
            <a:chExt cx="5706477" cy="4532564"/>
          </a:xfrm>
        </p:grpSpPr>
        <p:grpSp>
          <p:nvGrpSpPr>
            <p:cNvPr id="7" name="Group 38">
              <a:extLst>
                <a:ext uri="{FF2B5EF4-FFF2-40B4-BE49-F238E27FC236}">
                  <a16:creationId xmlns:a16="http://schemas.microsoft.com/office/drawing/2014/main" id="{CBC17E4F-AFD6-4945-9C27-A9233666A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317" y="2039815"/>
              <a:ext cx="5154272" cy="3784210"/>
              <a:chOff x="2332893" y="2039815"/>
              <a:chExt cx="3522318" cy="1913207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EF06C88-1A05-E14D-B21F-FC8D3F16D2B6}"/>
                  </a:ext>
                </a:extLst>
              </p:cNvPr>
              <p:cNvCxnSpPr/>
              <p:nvPr/>
            </p:nvCxnSpPr>
            <p:spPr>
              <a:xfrm>
                <a:off x="2335331" y="3952780"/>
                <a:ext cx="229316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EBDF9A0-AA7C-994D-8470-AA1FE8B3827B}"/>
                  </a:ext>
                </a:extLst>
              </p:cNvPr>
              <p:cNvCxnSpPr/>
              <p:nvPr/>
            </p:nvCxnSpPr>
            <p:spPr>
              <a:xfrm flipV="1">
                <a:off x="4614395" y="3240833"/>
                <a:ext cx="1240956" cy="71194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56A7483-2259-0244-A726-A30A5D47AD31}"/>
                  </a:ext>
                </a:extLst>
              </p:cNvPr>
              <p:cNvCxnSpPr/>
              <p:nvPr/>
            </p:nvCxnSpPr>
            <p:spPr>
              <a:xfrm flipV="1">
                <a:off x="2333162" y="3232806"/>
                <a:ext cx="1265906" cy="7175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32F43CC-3031-9E44-BE30-EAF2EF904DC6}"/>
                  </a:ext>
                </a:extLst>
              </p:cNvPr>
              <p:cNvCxnSpPr/>
              <p:nvPr/>
            </p:nvCxnSpPr>
            <p:spPr>
              <a:xfrm>
                <a:off x="3584965" y="3247254"/>
                <a:ext cx="2270386" cy="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A92591F-7F8A-434C-903E-24036A8FC188}"/>
                  </a:ext>
                </a:extLst>
              </p:cNvPr>
              <p:cNvCxnSpPr/>
              <p:nvPr/>
            </p:nvCxnSpPr>
            <p:spPr>
              <a:xfrm flipV="1">
                <a:off x="4136019" y="2040073"/>
                <a:ext cx="0" cy="1504963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31980B8-BD56-A84A-AC83-BB629508AEC1}"/>
                  </a:ext>
                </a:extLst>
              </p:cNvPr>
              <p:cNvCxnSpPr/>
              <p:nvPr/>
            </p:nvCxnSpPr>
            <p:spPr>
              <a:xfrm>
                <a:off x="4136019" y="2068165"/>
                <a:ext cx="464274" cy="188461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3477009-DE7D-0247-B8FD-7736B488A061}"/>
                  </a:ext>
                </a:extLst>
              </p:cNvPr>
              <p:cNvCxnSpPr/>
              <p:nvPr/>
            </p:nvCxnSpPr>
            <p:spPr>
              <a:xfrm>
                <a:off x="4136019" y="2054521"/>
                <a:ext cx="1713908" cy="11927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BB00CB9-D848-4E40-9596-250D7EBC578A}"/>
                  </a:ext>
                </a:extLst>
              </p:cNvPr>
              <p:cNvCxnSpPr/>
              <p:nvPr/>
            </p:nvCxnSpPr>
            <p:spPr>
              <a:xfrm flipV="1">
                <a:off x="2335331" y="2068165"/>
                <a:ext cx="1786587" cy="18701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C2DBC2B-BA6E-F64B-A6C4-06400EDD5CBA}"/>
                  </a:ext>
                </a:extLst>
              </p:cNvPr>
              <p:cNvCxnSpPr/>
              <p:nvPr/>
            </p:nvCxnSpPr>
            <p:spPr>
              <a:xfrm flipV="1">
                <a:off x="3573033" y="2054521"/>
                <a:ext cx="562986" cy="1180693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23">
              <a:extLst>
                <a:ext uri="{FF2B5EF4-FFF2-40B4-BE49-F238E27FC236}">
                  <a16:creationId xmlns:a16="http://schemas.microsoft.com/office/drawing/2014/main" id="{4510DA78-A980-5045-820C-5AB8C16D9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95" y="5778379"/>
              <a:ext cx="3238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A</a:t>
              </a:r>
            </a:p>
          </p:txBody>
        </p:sp>
        <p:sp>
          <p:nvSpPr>
            <p:cNvPr id="9" name="TextBox 25">
              <a:extLst>
                <a:ext uri="{FF2B5EF4-FFF2-40B4-BE49-F238E27FC236}">
                  <a16:creationId xmlns:a16="http://schemas.microsoft.com/office/drawing/2014/main" id="{1CE7F4E7-85C8-0947-A9A2-6F6C8B070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3513" y="4944966"/>
              <a:ext cx="8803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20.6cm</a:t>
              </a:r>
            </a:p>
          </p:txBody>
        </p:sp>
        <p:sp>
          <p:nvSpPr>
            <p:cNvPr id="10" name="TextBox 26">
              <a:extLst>
                <a:ext uri="{FF2B5EF4-FFF2-40B4-BE49-F238E27FC236}">
                  <a16:creationId xmlns:a16="http://schemas.microsoft.com/office/drawing/2014/main" id="{97EA6F07-9C85-1F48-8FEC-4FD9BF40D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592" y="1665654"/>
              <a:ext cx="2968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E</a:t>
              </a:r>
            </a:p>
          </p:txBody>
        </p:sp>
        <p:sp>
          <p:nvSpPr>
            <p:cNvPr id="11" name="TextBox 28">
              <a:extLst>
                <a:ext uri="{FF2B5EF4-FFF2-40B4-BE49-F238E27FC236}">
                  <a16:creationId xmlns:a16="http://schemas.microsoft.com/office/drawing/2014/main" id="{A8662C27-1D60-A249-B7B7-039F4FCE9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5427" y="4100976"/>
              <a:ext cx="3302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D</a:t>
              </a:r>
            </a:p>
          </p:txBody>
        </p:sp>
        <p:sp>
          <p:nvSpPr>
            <p:cNvPr id="12" name="TextBox 29">
              <a:extLst>
                <a:ext uri="{FF2B5EF4-FFF2-40B4-BE49-F238E27FC236}">
                  <a16:creationId xmlns:a16="http://schemas.microsoft.com/office/drawing/2014/main" id="{EC015DC0-CEED-2F48-B8CD-629736816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739" y="4863245"/>
              <a:ext cx="30956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X</a:t>
              </a:r>
            </a:p>
          </p:txBody>
        </p:sp>
        <p:sp>
          <p:nvSpPr>
            <p:cNvPr id="13" name="TextBox 30">
              <a:extLst>
                <a:ext uri="{FF2B5EF4-FFF2-40B4-BE49-F238E27FC236}">
                  <a16:creationId xmlns:a16="http://schemas.microsoft.com/office/drawing/2014/main" id="{6A986415-DB30-FC4D-A371-5B048E060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8684" y="4192954"/>
              <a:ext cx="30638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C</a:t>
              </a:r>
            </a:p>
          </p:txBody>
        </p:sp>
        <p:sp>
          <p:nvSpPr>
            <p:cNvPr id="14" name="TextBox 31">
              <a:extLst>
                <a:ext uri="{FF2B5EF4-FFF2-40B4-BE49-F238E27FC236}">
                  <a16:creationId xmlns:a16="http://schemas.microsoft.com/office/drawing/2014/main" id="{AE7B26A6-833D-DE4D-B685-66ED17A6A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1541" y="5821680"/>
              <a:ext cx="3238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B</a:t>
              </a:r>
            </a:p>
          </p:txBody>
        </p:sp>
        <p:sp>
          <p:nvSpPr>
            <p:cNvPr id="15" name="TextBox 25">
              <a:extLst>
                <a:ext uri="{FF2B5EF4-FFF2-40B4-BE49-F238E27FC236}">
                  <a16:creationId xmlns:a16="http://schemas.microsoft.com/office/drawing/2014/main" id="{79EA2D1E-D2E7-614E-80F0-5A51AAA0B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531" y="5828886"/>
              <a:ext cx="8803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20.6cm</a:t>
              </a:r>
            </a:p>
          </p:txBody>
        </p:sp>
        <p:sp>
          <p:nvSpPr>
            <p:cNvPr id="16" name="TextBox 25">
              <a:extLst>
                <a:ext uri="{FF2B5EF4-FFF2-40B4-BE49-F238E27FC236}">
                  <a16:creationId xmlns:a16="http://schemas.microsoft.com/office/drawing/2014/main" id="{9555352D-6E6C-4B43-883A-0F54B5A4E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772680" y="3563987"/>
              <a:ext cx="7136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14.75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169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91C0DC-B4EB-C54A-888A-731B79B5D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468" y="4961318"/>
            <a:ext cx="5154612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BC09A9C-CBCE-DE46-923B-F2953B2CD193}"/>
              </a:ext>
            </a:extLst>
          </p:cNvPr>
          <p:cNvGrpSpPr>
            <a:grpSpLocks/>
          </p:cNvGrpSpPr>
          <p:nvPr/>
        </p:nvGrpSpPr>
        <p:grpSpPr bwMode="auto">
          <a:xfrm>
            <a:off x="2490719" y="2607056"/>
            <a:ext cx="5191125" cy="3784600"/>
            <a:chOff x="2332893" y="2039815"/>
            <a:chExt cx="3547403" cy="191320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7AB4D91-FE67-E340-AE53-CF5888735610}"/>
                </a:ext>
              </a:extLst>
            </p:cNvPr>
            <p:cNvCxnSpPr/>
            <p:nvPr/>
          </p:nvCxnSpPr>
          <p:spPr>
            <a:xfrm>
              <a:off x="2335063" y="3953022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488ADAD-04A5-F249-A84C-7BD1D89DC6B4}"/>
                </a:ext>
              </a:extLst>
            </p:cNvPr>
            <p:cNvCxnSpPr/>
            <p:nvPr/>
          </p:nvCxnSpPr>
          <p:spPr>
            <a:xfrm flipV="1">
              <a:off x="4614296" y="3235569"/>
              <a:ext cx="1266000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D38E922-4DF1-244B-A644-05983A2EB111}"/>
                </a:ext>
              </a:extLst>
            </p:cNvPr>
            <p:cNvCxnSpPr/>
            <p:nvPr/>
          </p:nvCxnSpPr>
          <p:spPr>
            <a:xfrm flipV="1">
              <a:off x="2332893" y="3233162"/>
              <a:ext cx="1265999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F372B25-9F3C-4F47-96B3-249722C29199}"/>
                </a:ext>
              </a:extLst>
            </p:cNvPr>
            <p:cNvCxnSpPr/>
            <p:nvPr/>
          </p:nvCxnSpPr>
          <p:spPr>
            <a:xfrm>
              <a:off x="3584790" y="3247607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A2F3080-C683-2E41-8EFB-F21AB097133E}"/>
                </a:ext>
              </a:extLst>
            </p:cNvPr>
            <p:cNvCxnSpPr/>
            <p:nvPr/>
          </p:nvCxnSpPr>
          <p:spPr>
            <a:xfrm flipV="1">
              <a:off x="4135885" y="2039815"/>
              <a:ext cx="0" cy="150552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F3C762-FDC9-5840-800E-EE069F583700}"/>
                </a:ext>
              </a:extLst>
            </p:cNvPr>
            <p:cNvCxnSpPr/>
            <p:nvPr/>
          </p:nvCxnSpPr>
          <p:spPr>
            <a:xfrm>
              <a:off x="4135885" y="2067903"/>
              <a:ext cx="464308" cy="1885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3D424B9-56DA-2146-93E9-317A98F469CD}"/>
                </a:ext>
              </a:extLst>
            </p:cNvPr>
            <p:cNvCxnSpPr/>
            <p:nvPr/>
          </p:nvCxnSpPr>
          <p:spPr>
            <a:xfrm>
              <a:off x="4135885" y="2054260"/>
              <a:ext cx="1714036" cy="11933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2B1D9B-E282-624C-89A7-4730C7BC88F9}"/>
                </a:ext>
              </a:extLst>
            </p:cNvPr>
            <p:cNvCxnSpPr/>
            <p:nvPr/>
          </p:nvCxnSpPr>
          <p:spPr>
            <a:xfrm flipV="1">
              <a:off x="2335063" y="2067903"/>
              <a:ext cx="1786719" cy="18706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5320AB-0337-D34F-897E-01EA10A3FDDD}"/>
                </a:ext>
              </a:extLst>
            </p:cNvPr>
            <p:cNvCxnSpPr/>
            <p:nvPr/>
          </p:nvCxnSpPr>
          <p:spPr>
            <a:xfrm flipV="1">
              <a:off x="3572856" y="2054260"/>
              <a:ext cx="563029" cy="118130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23">
            <a:extLst>
              <a:ext uri="{FF2B5EF4-FFF2-40B4-BE49-F238E27FC236}">
                <a16:creationId xmlns:a16="http://schemas.microsoft.com/office/drawing/2014/main" id="{FB75A8DD-5628-454E-8EBA-B4BC2D8F6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580" y="6345618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71D5D78B-2F85-6949-AA42-9A7062250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006" y="2283207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16" name="TextBox 28">
            <a:extLst>
              <a:ext uri="{FF2B5EF4-FFF2-40B4-BE49-F238E27FC236}">
                <a16:creationId xmlns:a16="http://schemas.microsoft.com/office/drawing/2014/main" id="{42687DAA-2F13-064E-A1E9-21489805F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655" y="4669218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215B356A-B4AC-404D-8BCA-45B30919B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481" y="5431218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18" name="TextBox 30">
            <a:extLst>
              <a:ext uri="{FF2B5EF4-FFF2-40B4-BE49-F238E27FC236}">
                <a16:creationId xmlns:a16="http://schemas.microsoft.com/office/drawing/2014/main" id="{4393E00C-C2F4-C04F-9681-70A5AD93B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255" y="4759706"/>
            <a:ext cx="306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19" name="TextBox 31">
            <a:extLst>
              <a:ext uri="{FF2B5EF4-FFF2-40B4-BE49-F238E27FC236}">
                <a16:creationId xmlns:a16="http://schemas.microsoft.com/office/drawing/2014/main" id="{0DC421F3-36B6-BD44-BC48-8880B034A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868" y="6388482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42089A-C476-AF47-BA05-F1F76E435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894" y="2291937"/>
            <a:ext cx="2036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Find Length AE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3FE17548-E8A4-6A48-9236-A70B85477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06" y="5470906"/>
            <a:ext cx="881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20.6cm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FBE3DCF8-0BA2-8747-97B4-E5D4CABD6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81" y="6396418"/>
            <a:ext cx="881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20.6cm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759E250C-A150-9342-926F-8A1C3B0FE36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74312" y="4131850"/>
            <a:ext cx="7127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14.75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C67E66-BE31-BB48-A058-C5CD3C86B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0" y="1839740"/>
            <a:ext cx="4852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First: Find length AC using Pythagoras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6EABCC-53E0-0F4E-B585-0342835454BE}"/>
              </a:ext>
            </a:extLst>
          </p:cNvPr>
          <p:cNvCxnSpPr/>
          <p:nvPr/>
        </p:nvCxnSpPr>
        <p:spPr>
          <a:xfrm flipV="1">
            <a:off x="2511356" y="4991482"/>
            <a:ext cx="5114925" cy="13858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47">
            <a:extLst>
              <a:ext uri="{FF2B5EF4-FFF2-40B4-BE49-F238E27FC236}">
                <a16:creationId xmlns:a16="http://schemas.microsoft.com/office/drawing/2014/main" id="{908B1D18-2914-054A-8D7B-9F3264F724A1}"/>
              </a:ext>
            </a:extLst>
          </p:cNvPr>
          <p:cNvGrpSpPr>
            <a:grpSpLocks/>
          </p:cNvGrpSpPr>
          <p:nvPr/>
        </p:nvGrpSpPr>
        <p:grpSpPr bwMode="auto">
          <a:xfrm>
            <a:off x="8299380" y="2395918"/>
            <a:ext cx="2490788" cy="2552700"/>
            <a:chOff x="5981700" y="1193800"/>
            <a:chExt cx="2286000" cy="363220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A374CE1E-99DB-C546-B0D2-848278F115EE}"/>
                </a:ext>
              </a:extLst>
            </p:cNvPr>
            <p:cNvSpPr/>
            <p:nvPr/>
          </p:nvSpPr>
          <p:spPr>
            <a:xfrm rot="16200000">
              <a:off x="5308600" y="1866900"/>
              <a:ext cx="3632200" cy="2286000"/>
            </a:xfrm>
            <a:prstGeom prst="rt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0082BD7-82E8-294E-9591-FB44CE7AA59E}"/>
                </a:ext>
              </a:extLst>
            </p:cNvPr>
            <p:cNvSpPr/>
            <p:nvPr/>
          </p:nvSpPr>
          <p:spPr>
            <a:xfrm>
              <a:off x="8038954" y="4584306"/>
              <a:ext cx="215633" cy="22814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F7A0C33-C12C-1A48-B592-836D95211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056" y="4850193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A87550-9920-CE4B-9520-F0DA916F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0456" y="4875593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F71FCA-2DC4-5A4E-96F9-F2A002C24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5321" y="2380283"/>
            <a:ext cx="41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8B280D-C9AA-A34F-9BEB-7506CC64A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756" y="4953382"/>
            <a:ext cx="1050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20.6cm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0DC54-EBAC-404F-947C-86F413392DD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398056" y="3543681"/>
            <a:ext cx="117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20.6cm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22325D-B9F0-354B-8DFA-65CC78C3D6D7}"/>
              </a:ext>
            </a:extLst>
          </p:cNvPr>
          <p:cNvCxnSpPr/>
          <p:nvPr/>
        </p:nvCxnSpPr>
        <p:spPr>
          <a:xfrm flipV="1">
            <a:off x="2506593" y="2662619"/>
            <a:ext cx="2614612" cy="37004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47D77F8-6320-254E-879B-8174E2EBDE3D}"/>
              </a:ext>
            </a:extLst>
          </p:cNvPr>
          <p:cNvGrpSpPr>
            <a:grpSpLocks/>
          </p:cNvGrpSpPr>
          <p:nvPr/>
        </p:nvGrpSpPr>
        <p:grpSpPr bwMode="auto">
          <a:xfrm>
            <a:off x="6510268" y="2214943"/>
            <a:ext cx="3986212" cy="584200"/>
            <a:chOff x="5719763" y="5507038"/>
            <a:chExt cx="3986348" cy="58477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AB615D-C80C-C542-B041-2FE358601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9763" y="5507038"/>
              <a:ext cx="398634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AG = </a:t>
              </a:r>
              <a:r>
                <a:rPr lang="en-GB" altLang="en-US"/>
                <a:t>√</a:t>
              </a:r>
              <a:r>
                <a:rPr lang="en-GB" altLang="en-US" sz="2400"/>
                <a:t>20.6</a:t>
              </a:r>
              <a:r>
                <a:rPr lang="en-GB" altLang="en-US" sz="2400" baseline="30000"/>
                <a:t>2</a:t>
              </a:r>
              <a:r>
                <a:rPr lang="en-GB" altLang="en-US" sz="2400"/>
                <a:t>+20.6</a:t>
              </a:r>
              <a:r>
                <a:rPr lang="en-GB" altLang="en-US" sz="2400" baseline="30000"/>
                <a:t>2</a:t>
              </a:r>
              <a:r>
                <a:rPr lang="en-GB" altLang="en-US" sz="2400"/>
                <a:t>   =  29.1cm 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3318566-E806-E143-9E73-F37CCF6E6F31}"/>
                </a:ext>
              </a:extLst>
            </p:cNvPr>
            <p:cNvCxnSpPr/>
            <p:nvPr/>
          </p:nvCxnSpPr>
          <p:spPr>
            <a:xfrm>
              <a:off x="6591330" y="5664356"/>
              <a:ext cx="151452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737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0.40278 -0.2981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39" y="-1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30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A400C-95A0-544A-B9E9-3B2CE1838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987" y="2795727"/>
            <a:ext cx="2641600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AB5EB26-F822-B34C-ADFC-F5F7073A9831}"/>
              </a:ext>
            </a:extLst>
          </p:cNvPr>
          <p:cNvGrpSpPr>
            <a:grpSpLocks/>
          </p:cNvGrpSpPr>
          <p:nvPr/>
        </p:nvGrpSpPr>
        <p:grpSpPr bwMode="auto">
          <a:xfrm>
            <a:off x="1219063" y="2729051"/>
            <a:ext cx="5191125" cy="3784600"/>
            <a:chOff x="2332893" y="2039815"/>
            <a:chExt cx="3547403" cy="191320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EE6E434-4C67-8145-80AB-7DE927E4A9AC}"/>
                </a:ext>
              </a:extLst>
            </p:cNvPr>
            <p:cNvCxnSpPr/>
            <p:nvPr/>
          </p:nvCxnSpPr>
          <p:spPr>
            <a:xfrm>
              <a:off x="2335063" y="3953022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1985F9-F705-8A4B-8C17-0CAA14A37B32}"/>
                </a:ext>
              </a:extLst>
            </p:cNvPr>
            <p:cNvCxnSpPr/>
            <p:nvPr/>
          </p:nvCxnSpPr>
          <p:spPr>
            <a:xfrm flipV="1">
              <a:off x="4614297" y="3235569"/>
              <a:ext cx="1265999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592C0A-8B7F-CA41-807E-23FDC3B34083}"/>
                </a:ext>
              </a:extLst>
            </p:cNvPr>
            <p:cNvCxnSpPr/>
            <p:nvPr/>
          </p:nvCxnSpPr>
          <p:spPr>
            <a:xfrm flipV="1">
              <a:off x="2332893" y="3233162"/>
              <a:ext cx="1266000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248A784-3735-8A4A-A467-805D17F40732}"/>
                </a:ext>
              </a:extLst>
            </p:cNvPr>
            <p:cNvCxnSpPr/>
            <p:nvPr/>
          </p:nvCxnSpPr>
          <p:spPr>
            <a:xfrm>
              <a:off x="3584790" y="3247607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B04451-0B76-7E44-A73E-6FFB315770B8}"/>
                </a:ext>
              </a:extLst>
            </p:cNvPr>
            <p:cNvCxnSpPr/>
            <p:nvPr/>
          </p:nvCxnSpPr>
          <p:spPr>
            <a:xfrm flipV="1">
              <a:off x="4135885" y="2039815"/>
              <a:ext cx="0" cy="150552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4F8DCFD-C625-2E4C-9D22-56E069CCFFCE}"/>
                </a:ext>
              </a:extLst>
            </p:cNvPr>
            <p:cNvCxnSpPr/>
            <p:nvPr/>
          </p:nvCxnSpPr>
          <p:spPr>
            <a:xfrm>
              <a:off x="4135885" y="2067903"/>
              <a:ext cx="464308" cy="1885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A431E5B-8738-7E48-8BC1-827591C885C1}"/>
                </a:ext>
              </a:extLst>
            </p:cNvPr>
            <p:cNvCxnSpPr/>
            <p:nvPr/>
          </p:nvCxnSpPr>
          <p:spPr>
            <a:xfrm>
              <a:off x="4135885" y="2054260"/>
              <a:ext cx="1714036" cy="11933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A4D21FE-AD18-3E48-91C7-7AC93C76F8CD}"/>
                </a:ext>
              </a:extLst>
            </p:cNvPr>
            <p:cNvCxnSpPr/>
            <p:nvPr/>
          </p:nvCxnSpPr>
          <p:spPr>
            <a:xfrm flipV="1">
              <a:off x="2335063" y="2067903"/>
              <a:ext cx="1786720" cy="18706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6FB4C9-C5C0-C942-B252-0CEA70D13277}"/>
                </a:ext>
              </a:extLst>
            </p:cNvPr>
            <p:cNvCxnSpPr/>
            <p:nvPr/>
          </p:nvCxnSpPr>
          <p:spPr>
            <a:xfrm flipV="1">
              <a:off x="3572857" y="2054260"/>
              <a:ext cx="563028" cy="118130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23">
            <a:extLst>
              <a:ext uri="{FF2B5EF4-FFF2-40B4-BE49-F238E27FC236}">
                <a16:creationId xmlns:a16="http://schemas.microsoft.com/office/drawing/2014/main" id="{B56B2E2E-36EC-FF46-A9DD-AB041AB9C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925" y="6467613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FB8DAFDE-5D8E-A045-9762-705750BEE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313" y="2354402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16" name="TextBox 28">
            <a:extLst>
              <a:ext uri="{FF2B5EF4-FFF2-40B4-BE49-F238E27FC236}">
                <a16:creationId xmlns:a16="http://schemas.microsoft.com/office/drawing/2014/main" id="{290C7CC9-BC50-8A41-AC2E-1740395A4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5587" y="4789627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5D87BA91-4D5A-0643-894E-61B166B94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413" y="5551626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18" name="TextBox 30">
            <a:extLst>
              <a:ext uri="{FF2B5EF4-FFF2-40B4-BE49-F238E27FC236}">
                <a16:creationId xmlns:a16="http://schemas.microsoft.com/office/drawing/2014/main" id="{41FEB860-8B59-8A45-A86B-4ABAFB7CE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601" y="4881701"/>
            <a:ext cx="306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19" name="TextBox 31">
            <a:extLst>
              <a:ext uri="{FF2B5EF4-FFF2-40B4-BE49-F238E27FC236}">
                <a16:creationId xmlns:a16="http://schemas.microsoft.com/office/drawing/2014/main" id="{F412BD11-5D77-844A-8477-8935A806A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212" y="6510477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A964233D-7E1A-0A4D-9596-EAC531DAF50A}"/>
              </a:ext>
            </a:extLst>
          </p:cNvPr>
          <p:cNvSpPr txBox="1">
            <a:spLocks noChangeArrowheads="1"/>
          </p:cNvSpPr>
          <p:nvPr/>
        </p:nvSpPr>
        <p:spPr bwMode="auto">
          <a:xfrm rot="20613846">
            <a:off x="3460613" y="5794513"/>
            <a:ext cx="881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29.1cm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4FF7D3AD-2668-F742-B345-64840E5BF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1913" y="6518413"/>
            <a:ext cx="87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20.6cm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1E45CAE9-486A-084B-B047-3D2C2811CF8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303451" y="4253052"/>
            <a:ext cx="712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14.75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7F1B2F-F3EC-B84F-824D-A649196C5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51" y="1916251"/>
            <a:ext cx="4954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Next: Find Length AE using Pythagoras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EAD09A-3590-8F4F-B394-7754729A47F3}"/>
              </a:ext>
            </a:extLst>
          </p:cNvPr>
          <p:cNvCxnSpPr/>
          <p:nvPr/>
        </p:nvCxnSpPr>
        <p:spPr>
          <a:xfrm flipV="1">
            <a:off x="1244463" y="5126177"/>
            <a:ext cx="5114925" cy="13858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090FC95-1CBD-A546-B178-D0B8D09B4509}"/>
              </a:ext>
            </a:extLst>
          </p:cNvPr>
          <p:cNvCxnSpPr/>
          <p:nvPr/>
        </p:nvCxnSpPr>
        <p:spPr>
          <a:xfrm flipV="1">
            <a:off x="1265100" y="2746514"/>
            <a:ext cx="2614612" cy="37004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922818-D68D-D940-B6F6-8BACAB135F7A}"/>
              </a:ext>
            </a:extLst>
          </p:cNvPr>
          <p:cNvGrpSpPr>
            <a:grpSpLocks/>
          </p:cNvGrpSpPr>
          <p:nvPr/>
        </p:nvGrpSpPr>
        <p:grpSpPr bwMode="auto">
          <a:xfrm>
            <a:off x="6816587" y="2517913"/>
            <a:ext cx="2224088" cy="2463800"/>
            <a:chOff x="5981700" y="1193800"/>
            <a:chExt cx="2286000" cy="363220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11730C94-DC46-2F4B-8DAB-4627E8E09C8B}"/>
                </a:ext>
              </a:extLst>
            </p:cNvPr>
            <p:cNvSpPr/>
            <p:nvPr/>
          </p:nvSpPr>
          <p:spPr>
            <a:xfrm rot="16200000">
              <a:off x="5308600" y="1866900"/>
              <a:ext cx="3632200" cy="2286000"/>
            </a:xfrm>
            <a:prstGeom prst="rt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C403B9-DDA1-A348-86FA-E0A9AEA57870}"/>
                </a:ext>
              </a:extLst>
            </p:cNvPr>
            <p:cNvSpPr/>
            <p:nvPr/>
          </p:nvSpPr>
          <p:spPr>
            <a:xfrm>
              <a:off x="8039263" y="4584946"/>
              <a:ext cx="215383" cy="229353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7E5D1EE-0C67-1443-B883-E1DD3F8FD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463" y="4959488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0DFE5C-6FD4-434B-88C5-058BAE62D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663" y="4972188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97D92D-A4BE-BA4E-8F50-D51F753C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263" y="4948377"/>
            <a:ext cx="1050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14.6cm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6EB687-D940-0246-916B-E2B9533A875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648563" y="3538676"/>
            <a:ext cx="117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14.75cm</a:t>
            </a:r>
          </a:p>
        </p:txBody>
      </p:sp>
      <p:grpSp>
        <p:nvGrpSpPr>
          <p:cNvPr id="34" name="Group 35">
            <a:extLst>
              <a:ext uri="{FF2B5EF4-FFF2-40B4-BE49-F238E27FC236}">
                <a16:creationId xmlns:a16="http://schemas.microsoft.com/office/drawing/2014/main" id="{7B16604C-336C-3B4B-A61A-94FF48BA14AF}"/>
              </a:ext>
            </a:extLst>
          </p:cNvPr>
          <p:cNvGrpSpPr>
            <a:grpSpLocks/>
          </p:cNvGrpSpPr>
          <p:nvPr/>
        </p:nvGrpSpPr>
        <p:grpSpPr bwMode="auto">
          <a:xfrm>
            <a:off x="6359388" y="6210647"/>
            <a:ext cx="4141787" cy="584200"/>
            <a:chOff x="5719763" y="5507038"/>
            <a:chExt cx="4141839" cy="584775"/>
          </a:xfrm>
        </p:grpSpPr>
        <p:sp>
          <p:nvSpPr>
            <p:cNvPr id="35" name="TextBox 36">
              <a:extLst>
                <a:ext uri="{FF2B5EF4-FFF2-40B4-BE49-F238E27FC236}">
                  <a16:creationId xmlns:a16="http://schemas.microsoft.com/office/drawing/2014/main" id="{1629B0B7-0CD5-3B47-B6BB-69638E786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9763" y="5507038"/>
              <a:ext cx="414183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 dirty="0"/>
                <a:t>AG = </a:t>
              </a:r>
              <a:r>
                <a:rPr lang="en-GB" altLang="en-US" dirty="0"/>
                <a:t>√</a:t>
              </a:r>
              <a:r>
                <a:rPr lang="en-GB" altLang="en-US" sz="2400" dirty="0"/>
                <a:t>14.6</a:t>
              </a:r>
              <a:r>
                <a:rPr lang="en-GB" altLang="en-US" sz="2400" baseline="30000" dirty="0"/>
                <a:t>2</a:t>
              </a:r>
              <a:r>
                <a:rPr lang="en-GB" altLang="en-US" sz="2400" dirty="0"/>
                <a:t>+14.75</a:t>
              </a:r>
              <a:r>
                <a:rPr lang="en-GB" altLang="en-US" sz="2400" baseline="30000" dirty="0"/>
                <a:t>2</a:t>
              </a:r>
              <a:r>
                <a:rPr lang="en-GB" altLang="en-US" sz="2400" dirty="0"/>
                <a:t>   =  20.8cm 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371F39A-1FB8-E940-9853-D2A086120FF5}"/>
                </a:ext>
              </a:extLst>
            </p:cNvPr>
            <p:cNvCxnSpPr/>
            <p:nvPr/>
          </p:nvCxnSpPr>
          <p:spPr>
            <a:xfrm>
              <a:off x="6591311" y="5664356"/>
              <a:ext cx="151449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57A330D-CE2A-2549-A851-26ABBE204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063" y="2216288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E3B143-02A9-AB4B-B9BC-00B72DFC9BB7}"/>
              </a:ext>
            </a:extLst>
          </p:cNvPr>
          <p:cNvCxnSpPr>
            <a:endCxn id="32" idx="2"/>
          </p:cNvCxnSpPr>
          <p:nvPr/>
        </p:nvCxnSpPr>
        <p:spPr>
          <a:xfrm flipH="1" flipV="1">
            <a:off x="7789725" y="5318263"/>
            <a:ext cx="4762" cy="4000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E46C287-BB11-634E-A25F-1EE921906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450" y="5751652"/>
            <a:ext cx="3117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0000"/>
                </a:solidFill>
              </a:rPr>
              <a:t>Note: ½ of AC    ½ x 29.1 = 14.6</a:t>
            </a:r>
          </a:p>
        </p:txBody>
      </p:sp>
    </p:spTree>
    <p:extLst>
      <p:ext uri="{BB962C8B-B14F-4D97-AF65-F5344CB8AC3E}">
        <p14:creationId xmlns:p14="http://schemas.microsoft.com/office/powerpoint/2010/main" val="256889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7037E-6 L 0.60139 -0.0037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69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0" grpId="0"/>
      <p:bldP spid="31" grpId="0"/>
      <p:bldP spid="32" grpId="0"/>
      <p:bldP spid="33" grpId="0"/>
      <p:bldP spid="37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grpSp>
        <p:nvGrpSpPr>
          <p:cNvPr id="3" name="Group 47">
            <a:extLst>
              <a:ext uri="{FF2B5EF4-FFF2-40B4-BE49-F238E27FC236}">
                <a16:creationId xmlns:a16="http://schemas.microsoft.com/office/drawing/2014/main" id="{04A4C258-42D1-5C40-9079-A1FCBC8F01B1}"/>
              </a:ext>
            </a:extLst>
          </p:cNvPr>
          <p:cNvGrpSpPr>
            <a:grpSpLocks/>
          </p:cNvGrpSpPr>
          <p:nvPr/>
        </p:nvGrpSpPr>
        <p:grpSpPr bwMode="auto">
          <a:xfrm>
            <a:off x="7081630" y="2451652"/>
            <a:ext cx="2224088" cy="2463800"/>
            <a:chOff x="5981700" y="1193800"/>
            <a:chExt cx="2286000" cy="3632200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C4B7CD6F-1EF0-0E4B-A351-503E6B6A1056}"/>
                </a:ext>
              </a:extLst>
            </p:cNvPr>
            <p:cNvSpPr/>
            <p:nvPr/>
          </p:nvSpPr>
          <p:spPr>
            <a:xfrm rot="16200000">
              <a:off x="5308600" y="1866900"/>
              <a:ext cx="3632200" cy="2286000"/>
            </a:xfrm>
            <a:prstGeom prst="rt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162F3F-BB12-9A43-A978-7CB9DD83AF5A}"/>
                </a:ext>
              </a:extLst>
            </p:cNvPr>
            <p:cNvSpPr/>
            <p:nvPr/>
          </p:nvSpPr>
          <p:spPr>
            <a:xfrm>
              <a:off x="8039263" y="4584946"/>
              <a:ext cx="215383" cy="229353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GB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CF15D4A-C3E6-CB4B-B1DC-E3283BF9FEFC}"/>
              </a:ext>
            </a:extLst>
          </p:cNvPr>
          <p:cNvSpPr/>
          <p:nvPr/>
        </p:nvSpPr>
        <p:spPr>
          <a:xfrm>
            <a:off x="6687930" y="4231240"/>
            <a:ext cx="1295400" cy="1143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DFE74-884C-6144-9075-907D7A0D59AE}"/>
              </a:ext>
            </a:extLst>
          </p:cNvPr>
          <p:cNvSpPr/>
          <p:nvPr/>
        </p:nvSpPr>
        <p:spPr>
          <a:xfrm>
            <a:off x="6775244" y="4945615"/>
            <a:ext cx="1252537" cy="78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D4F363-6A6B-C94B-A51F-21E58E6C8E20}"/>
              </a:ext>
            </a:extLst>
          </p:cNvPr>
          <p:cNvSpPr/>
          <p:nvPr/>
        </p:nvSpPr>
        <p:spPr>
          <a:xfrm rot="18626683">
            <a:off x="6352968" y="4042327"/>
            <a:ext cx="1250950" cy="78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2D2F839-9305-BD4B-8796-4CA34CDCD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030" y="2729466"/>
            <a:ext cx="2641600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">
            <a:extLst>
              <a:ext uri="{FF2B5EF4-FFF2-40B4-BE49-F238E27FC236}">
                <a16:creationId xmlns:a16="http://schemas.microsoft.com/office/drawing/2014/main" id="{703995D9-4CD9-B74A-B65C-B0D91FB4D66A}"/>
              </a:ext>
            </a:extLst>
          </p:cNvPr>
          <p:cNvGrpSpPr>
            <a:grpSpLocks/>
          </p:cNvGrpSpPr>
          <p:nvPr/>
        </p:nvGrpSpPr>
        <p:grpSpPr bwMode="auto">
          <a:xfrm>
            <a:off x="1484106" y="2662790"/>
            <a:ext cx="5191125" cy="3784600"/>
            <a:chOff x="2332893" y="2039815"/>
            <a:chExt cx="3547403" cy="191320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C3BC98-E557-9B46-9D7A-5B775C0E8300}"/>
                </a:ext>
              </a:extLst>
            </p:cNvPr>
            <p:cNvCxnSpPr/>
            <p:nvPr/>
          </p:nvCxnSpPr>
          <p:spPr>
            <a:xfrm flipV="1">
              <a:off x="2332893" y="3233162"/>
              <a:ext cx="1266000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CAA738-C28E-8D49-96D9-0AB3AFF325F0}"/>
                </a:ext>
              </a:extLst>
            </p:cNvPr>
            <p:cNvCxnSpPr/>
            <p:nvPr/>
          </p:nvCxnSpPr>
          <p:spPr>
            <a:xfrm>
              <a:off x="2335063" y="3953022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4BFF433-33A9-204B-8497-AC4EABD15543}"/>
                </a:ext>
              </a:extLst>
            </p:cNvPr>
            <p:cNvCxnSpPr/>
            <p:nvPr/>
          </p:nvCxnSpPr>
          <p:spPr>
            <a:xfrm flipV="1">
              <a:off x="4614297" y="3235569"/>
              <a:ext cx="1265999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4947EDE-CF4F-DB48-9849-B990A530B1AF}"/>
                </a:ext>
              </a:extLst>
            </p:cNvPr>
            <p:cNvCxnSpPr/>
            <p:nvPr/>
          </p:nvCxnSpPr>
          <p:spPr>
            <a:xfrm>
              <a:off x="3584790" y="3247607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F013-F7BC-2243-8FC5-D8361B916529}"/>
                </a:ext>
              </a:extLst>
            </p:cNvPr>
            <p:cNvCxnSpPr/>
            <p:nvPr/>
          </p:nvCxnSpPr>
          <p:spPr>
            <a:xfrm flipV="1">
              <a:off x="4135885" y="2039815"/>
              <a:ext cx="0" cy="150552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82C594-5DD2-2443-979D-597F5F639831}"/>
                </a:ext>
              </a:extLst>
            </p:cNvPr>
            <p:cNvCxnSpPr/>
            <p:nvPr/>
          </p:nvCxnSpPr>
          <p:spPr>
            <a:xfrm>
              <a:off x="4135885" y="2067903"/>
              <a:ext cx="464308" cy="1885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B32B13-FB0E-4E40-852C-8B416EAAC9C7}"/>
                </a:ext>
              </a:extLst>
            </p:cNvPr>
            <p:cNvCxnSpPr/>
            <p:nvPr/>
          </p:nvCxnSpPr>
          <p:spPr>
            <a:xfrm>
              <a:off x="4135885" y="2054260"/>
              <a:ext cx="1714036" cy="11933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AE9D472-4547-7F49-9205-DABB7D2EE342}"/>
                </a:ext>
              </a:extLst>
            </p:cNvPr>
            <p:cNvCxnSpPr/>
            <p:nvPr/>
          </p:nvCxnSpPr>
          <p:spPr>
            <a:xfrm flipV="1">
              <a:off x="2335063" y="2067903"/>
              <a:ext cx="1786720" cy="18706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5974AC-2A6D-C940-B317-AF451A105571}"/>
                </a:ext>
              </a:extLst>
            </p:cNvPr>
            <p:cNvCxnSpPr/>
            <p:nvPr/>
          </p:nvCxnSpPr>
          <p:spPr>
            <a:xfrm flipV="1">
              <a:off x="3572857" y="2054260"/>
              <a:ext cx="563028" cy="118130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8FCEACB9-1241-E746-BA31-0B58AF775FD0}"/>
              </a:ext>
            </a:extLst>
          </p:cNvPr>
          <p:cNvSpPr/>
          <p:nvPr/>
        </p:nvSpPr>
        <p:spPr>
          <a:xfrm>
            <a:off x="1176130" y="5499652"/>
            <a:ext cx="1295400" cy="1143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D0D91B-AD01-5A46-9D4D-54A4D0624B8F}"/>
              </a:ext>
            </a:extLst>
          </p:cNvPr>
          <p:cNvSpPr/>
          <p:nvPr/>
        </p:nvSpPr>
        <p:spPr>
          <a:xfrm rot="20694194">
            <a:off x="1404730" y="6348965"/>
            <a:ext cx="1250950" cy="78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30574A-C8D1-0940-92DA-E95D0083544E}"/>
              </a:ext>
            </a:extLst>
          </p:cNvPr>
          <p:cNvCxnSpPr/>
          <p:nvPr/>
        </p:nvCxnSpPr>
        <p:spPr>
          <a:xfrm flipV="1">
            <a:off x="1509506" y="5059916"/>
            <a:ext cx="5114925" cy="13858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6">
            <a:extLst>
              <a:ext uri="{FF2B5EF4-FFF2-40B4-BE49-F238E27FC236}">
                <a16:creationId xmlns:a16="http://schemas.microsoft.com/office/drawing/2014/main" id="{AD47FBC0-BC95-6B46-B0F1-C244BA8A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356" y="2288141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9BD5EBEB-2EF3-B74A-8231-630103391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630" y="4723366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9A79A07A-2D4E-9147-85DF-8B1581AB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456" y="5485365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27" name="TextBox 30">
            <a:extLst>
              <a:ext uri="{FF2B5EF4-FFF2-40B4-BE49-F238E27FC236}">
                <a16:creationId xmlns:a16="http://schemas.microsoft.com/office/drawing/2014/main" id="{B5507EA8-BFAA-F747-BE42-CCBAF0562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3644" y="4815440"/>
            <a:ext cx="306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C</a:t>
            </a:r>
          </a:p>
        </p:txBody>
      </p:sp>
      <p:sp>
        <p:nvSpPr>
          <p:cNvPr id="28" name="TextBox 31">
            <a:extLst>
              <a:ext uri="{FF2B5EF4-FFF2-40B4-BE49-F238E27FC236}">
                <a16:creationId xmlns:a16="http://schemas.microsoft.com/office/drawing/2014/main" id="{E867E0E8-2857-5840-8CED-1A048A4D2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255" y="6444216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6961049E-A592-DF4B-ADC1-C49649C5A85E}"/>
              </a:ext>
            </a:extLst>
          </p:cNvPr>
          <p:cNvSpPr txBox="1">
            <a:spLocks noChangeArrowheads="1"/>
          </p:cNvSpPr>
          <p:nvPr/>
        </p:nvSpPr>
        <p:spPr bwMode="auto">
          <a:xfrm rot="20613846">
            <a:off x="3725656" y="5728252"/>
            <a:ext cx="881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29.1cm</a:t>
            </a:r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AA3B26BB-7E88-8147-9EA0-E72F36A57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956" y="6452152"/>
            <a:ext cx="87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20.6cm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411326DC-30D9-6248-99B5-0FA928F6AC7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568494" y="4186791"/>
            <a:ext cx="712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14.75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36F605-C35F-C74C-A41E-4A5A57E08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094" y="1849990"/>
            <a:ext cx="49799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Find the angle AE makes with the base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9894EA9-90F4-204D-B5CC-0CC81E413A38}"/>
              </a:ext>
            </a:extLst>
          </p:cNvPr>
          <p:cNvCxnSpPr/>
          <p:nvPr/>
        </p:nvCxnSpPr>
        <p:spPr>
          <a:xfrm flipV="1">
            <a:off x="1530143" y="2680253"/>
            <a:ext cx="2614612" cy="37004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1">
            <a:extLst>
              <a:ext uri="{FF2B5EF4-FFF2-40B4-BE49-F238E27FC236}">
                <a16:creationId xmlns:a16="http://schemas.microsoft.com/office/drawing/2014/main" id="{00730F42-EA76-DB43-B284-899B90E94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0506" y="4893227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399DD466-471C-124A-B773-5741E72C5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8706" y="4905927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6CFE5AC1-AC94-FE4B-B5DB-C2D202BEC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306" y="4882116"/>
            <a:ext cx="1050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14.6cm</a:t>
            </a: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9876C70B-43BF-8940-8BE6-C4F03100C91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8913606" y="3472415"/>
            <a:ext cx="1177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14.75cm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D8CB69CC-2C75-CB4D-8357-122FE5EAC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106" y="2150027"/>
            <a:ext cx="442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A830206-BB9D-C643-8E8C-C5A771753CC0}"/>
              </a:ext>
            </a:extLst>
          </p:cNvPr>
          <p:cNvSpPr/>
          <p:nvPr/>
        </p:nvSpPr>
        <p:spPr>
          <a:xfrm rot="650639">
            <a:off x="1595230" y="5563152"/>
            <a:ext cx="876300" cy="10541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1B76F6F-C29F-C744-80F3-9F891F746C8C}"/>
              </a:ext>
            </a:extLst>
          </p:cNvPr>
          <p:cNvCxnSpPr/>
          <p:nvPr/>
        </p:nvCxnSpPr>
        <p:spPr>
          <a:xfrm>
            <a:off x="1449181" y="6447390"/>
            <a:ext cx="33559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77E5F19-92C9-4E4A-A49D-DCA67E7741A6}"/>
              </a:ext>
            </a:extLst>
          </p:cNvPr>
          <p:cNvSpPr/>
          <p:nvPr/>
        </p:nvSpPr>
        <p:spPr>
          <a:xfrm rot="18286894">
            <a:off x="815768" y="5385352"/>
            <a:ext cx="1250950" cy="78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TextBox 23">
            <a:extLst>
              <a:ext uri="{FF2B5EF4-FFF2-40B4-BE49-F238E27FC236}">
                <a16:creationId xmlns:a16="http://schemas.microsoft.com/office/drawing/2014/main" id="{C71DF3A4-09B4-1C48-9A0F-B86A8CFE3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2968" y="6401352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6F6E3ADA-4E35-3843-9006-676D0D13B48C}"/>
              </a:ext>
            </a:extLst>
          </p:cNvPr>
          <p:cNvSpPr/>
          <p:nvPr/>
        </p:nvSpPr>
        <p:spPr>
          <a:xfrm rot="650639">
            <a:off x="7107030" y="4294740"/>
            <a:ext cx="876300" cy="1054100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AA8943FC-5EB0-B742-8500-16541885F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355" y="5132941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0220D9D-9FC7-F44A-BC4C-054E26A8CE0E}"/>
              </a:ext>
            </a:extLst>
          </p:cNvPr>
          <p:cNvCxnSpPr/>
          <p:nvPr/>
        </p:nvCxnSpPr>
        <p:spPr>
          <a:xfrm flipH="1">
            <a:off x="7081630" y="4918627"/>
            <a:ext cx="16906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C948FC-5648-C740-BC5C-351451405E69}"/>
              </a:ext>
            </a:extLst>
          </p:cNvPr>
          <p:cNvCxnSpPr/>
          <p:nvPr/>
        </p:nvCxnSpPr>
        <p:spPr>
          <a:xfrm flipH="1">
            <a:off x="7067344" y="3866115"/>
            <a:ext cx="962025" cy="1071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CFDA9BD-43EE-4848-AFFC-FBD25C9A4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243" y="6017178"/>
            <a:ext cx="7604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tan</a:t>
            </a:r>
            <a:r>
              <a:rPr lang="en-GB" altLang="en-US" sz="2400" baseline="30000"/>
              <a:t>-1</a:t>
            </a:r>
          </a:p>
        </p:txBody>
      </p:sp>
      <p:sp>
        <p:nvSpPr>
          <p:cNvPr id="48" name="Left Bracket 47">
            <a:extLst>
              <a:ext uri="{FF2B5EF4-FFF2-40B4-BE49-F238E27FC236}">
                <a16:creationId xmlns:a16="http://schemas.microsoft.com/office/drawing/2014/main" id="{668042A2-8DF2-0449-9A54-F48D519B7F44}"/>
              </a:ext>
            </a:extLst>
          </p:cNvPr>
          <p:cNvSpPr/>
          <p:nvPr/>
        </p:nvSpPr>
        <p:spPr>
          <a:xfrm>
            <a:off x="7167355" y="6010827"/>
            <a:ext cx="84138" cy="604838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90E40424-BD55-2A41-835E-468FEE360990}"/>
              </a:ext>
            </a:extLst>
          </p:cNvPr>
          <p:cNvSpPr/>
          <p:nvPr/>
        </p:nvSpPr>
        <p:spPr>
          <a:xfrm flipH="1">
            <a:off x="8150018" y="6021941"/>
            <a:ext cx="87312" cy="604837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1C189D-3F7E-1348-A9C4-5EB62EE0B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2930" y="5890178"/>
            <a:ext cx="8842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14.75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14.6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2B85187-74FA-B04B-A44E-84C9A2C0B79F}"/>
              </a:ext>
            </a:extLst>
          </p:cNvPr>
          <p:cNvCxnSpPr>
            <a:stCxn id="50" idx="1"/>
            <a:endCxn id="50" idx="3"/>
          </p:cNvCxnSpPr>
          <p:nvPr/>
        </p:nvCxnSpPr>
        <p:spPr>
          <a:xfrm>
            <a:off x="7322930" y="6306102"/>
            <a:ext cx="8842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FEF8DC9-9939-0246-A649-835294400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330" y="6060040"/>
            <a:ext cx="827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= 45</a:t>
            </a:r>
            <a:r>
              <a:rPr lang="en-GB" altLang="en-US" sz="2400" baseline="30000"/>
              <a:t>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8E0760-F63E-504F-8F0A-E04533D18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9306" y="5523467"/>
            <a:ext cx="2762665" cy="124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>
                <a:solidFill>
                  <a:srgbClr val="FF0000"/>
                </a:solidFill>
              </a:rPr>
              <a:t>Angles given to a suitable degree of accuracy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>
                <a:solidFill>
                  <a:srgbClr val="FF0000"/>
                </a:solidFill>
              </a:rPr>
              <a:t>To the nearest whole number</a:t>
            </a:r>
          </a:p>
        </p:txBody>
      </p:sp>
    </p:spTree>
    <p:extLst>
      <p:ext uri="{BB962C8B-B14F-4D97-AF65-F5344CB8AC3E}">
        <p14:creationId xmlns:p14="http://schemas.microsoft.com/office/powerpoint/2010/main" val="272368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 animBg="1"/>
      <p:bldP spid="32" grpId="0"/>
      <p:bldP spid="47" grpId="0"/>
      <p:bldP spid="48" grpId="0" animBg="1"/>
      <p:bldP spid="49" grpId="0" animBg="1"/>
      <p:bldP spid="50" grpId="0"/>
      <p:bldP spid="52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6C7294-E0C5-104B-9626-D76ACED78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327" y="2635631"/>
            <a:ext cx="17145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7F5BC92-5D61-104A-BCE5-28F0F95D462E}"/>
              </a:ext>
            </a:extLst>
          </p:cNvPr>
          <p:cNvGrpSpPr>
            <a:grpSpLocks/>
          </p:cNvGrpSpPr>
          <p:nvPr/>
        </p:nvGrpSpPr>
        <p:grpSpPr bwMode="auto">
          <a:xfrm>
            <a:off x="877078" y="2551494"/>
            <a:ext cx="5191125" cy="3784600"/>
            <a:chOff x="2332893" y="2039815"/>
            <a:chExt cx="3547403" cy="191320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FF29D9-D42C-8148-9E25-D0481EF82E6F}"/>
                </a:ext>
              </a:extLst>
            </p:cNvPr>
            <p:cNvCxnSpPr/>
            <p:nvPr/>
          </p:nvCxnSpPr>
          <p:spPr>
            <a:xfrm>
              <a:off x="2335063" y="3953022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4BB7BE-2B0B-C44A-B646-30C9E948F950}"/>
                </a:ext>
              </a:extLst>
            </p:cNvPr>
            <p:cNvCxnSpPr/>
            <p:nvPr/>
          </p:nvCxnSpPr>
          <p:spPr>
            <a:xfrm flipV="1">
              <a:off x="4614297" y="3235569"/>
              <a:ext cx="1265999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4E7F53-684C-3744-9694-B011715F5DC8}"/>
                </a:ext>
              </a:extLst>
            </p:cNvPr>
            <p:cNvCxnSpPr/>
            <p:nvPr/>
          </p:nvCxnSpPr>
          <p:spPr>
            <a:xfrm flipV="1">
              <a:off x="2332893" y="3233162"/>
              <a:ext cx="1266000" cy="7174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C68B828-4E2A-9943-9A76-AD5DEFA5C7D8}"/>
                </a:ext>
              </a:extLst>
            </p:cNvPr>
            <p:cNvCxnSpPr/>
            <p:nvPr/>
          </p:nvCxnSpPr>
          <p:spPr>
            <a:xfrm>
              <a:off x="3584790" y="3247607"/>
              <a:ext cx="22933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063B65-E38F-BE41-8C00-461998DFB0C9}"/>
                </a:ext>
              </a:extLst>
            </p:cNvPr>
            <p:cNvCxnSpPr/>
            <p:nvPr/>
          </p:nvCxnSpPr>
          <p:spPr>
            <a:xfrm flipV="1">
              <a:off x="4135885" y="2039815"/>
              <a:ext cx="0" cy="150552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27DABD-52D5-314B-90B8-6E8483021A22}"/>
                </a:ext>
              </a:extLst>
            </p:cNvPr>
            <p:cNvCxnSpPr/>
            <p:nvPr/>
          </p:nvCxnSpPr>
          <p:spPr>
            <a:xfrm>
              <a:off x="4135885" y="2067903"/>
              <a:ext cx="464308" cy="1885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FEC229C-84F6-964F-9446-3ECFFCE6D270}"/>
                </a:ext>
              </a:extLst>
            </p:cNvPr>
            <p:cNvCxnSpPr/>
            <p:nvPr/>
          </p:nvCxnSpPr>
          <p:spPr>
            <a:xfrm>
              <a:off x="4135885" y="2054260"/>
              <a:ext cx="1714036" cy="11933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7A8496D-2933-6046-8E9C-D2CB4B99A026}"/>
                </a:ext>
              </a:extLst>
            </p:cNvPr>
            <p:cNvCxnSpPr/>
            <p:nvPr/>
          </p:nvCxnSpPr>
          <p:spPr>
            <a:xfrm flipV="1">
              <a:off x="2335063" y="2067903"/>
              <a:ext cx="1786720" cy="187067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8A80EA-4FD2-3D49-9FA6-D2E830E6D804}"/>
                </a:ext>
              </a:extLst>
            </p:cNvPr>
            <p:cNvCxnSpPr/>
            <p:nvPr/>
          </p:nvCxnSpPr>
          <p:spPr>
            <a:xfrm flipV="1">
              <a:off x="3572857" y="2054260"/>
              <a:ext cx="563028" cy="118130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23">
            <a:extLst>
              <a:ext uri="{FF2B5EF4-FFF2-40B4-BE49-F238E27FC236}">
                <a16:creationId xmlns:a16="http://schemas.microsoft.com/office/drawing/2014/main" id="{96BE7A3B-C9A6-784A-AE7E-EEBFDE44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40" y="6290056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A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6AC2A7F3-2FD4-C947-A9B2-3EDA0073F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127" y="5456620"/>
            <a:ext cx="38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M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1499B6A9-9440-0C44-82BF-570794C33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5328" y="2176845"/>
            <a:ext cx="296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8DBC512E-7F17-A047-84C7-CB2E0D59D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602" y="4612070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D</a:t>
            </a: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30B29FAF-3E4D-BD47-AF67-CCF38E22F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428" y="5374069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D3BFC86B-E5A8-134E-BED8-D78C1E225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719" y="4729664"/>
            <a:ext cx="306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/>
              <a:t>C</a:t>
            </a: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51526784-7760-D749-BBE5-05EED3734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227" y="6332920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B</a:t>
            </a:r>
          </a:p>
        </p:txBody>
      </p:sp>
      <p:sp>
        <p:nvSpPr>
          <p:cNvPr id="21" name="TextBox 25">
            <a:extLst>
              <a:ext uri="{FF2B5EF4-FFF2-40B4-BE49-F238E27FC236}">
                <a16:creationId xmlns:a16="http://schemas.microsoft.com/office/drawing/2014/main" id="{9A2B1B18-B979-A646-BE2F-93EBAA63A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715" y="5821745"/>
            <a:ext cx="881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20.6cm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748217A2-BA25-D54E-B78F-5D01815F5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928" y="6340856"/>
            <a:ext cx="879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20.6cm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30FBF978-F1B8-4143-9D36-B1727C9CC19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961466" y="4075495"/>
            <a:ext cx="712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14.75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F8421B-1D3C-C74E-93D5-658D1985D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03073"/>
            <a:ext cx="641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Find the length EM where M is the midpoint of BC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E4412C-D327-4447-A6A5-935002CF0CB0}"/>
              </a:ext>
            </a:extLst>
          </p:cNvPr>
          <p:cNvCxnSpPr/>
          <p:nvPr/>
        </p:nvCxnSpPr>
        <p:spPr>
          <a:xfrm>
            <a:off x="3521852" y="2607056"/>
            <a:ext cx="1701800" cy="2954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99DC76-CBAD-7242-A59F-32E48D05FDA1}"/>
              </a:ext>
            </a:extLst>
          </p:cNvPr>
          <p:cNvCxnSpPr/>
          <p:nvPr/>
        </p:nvCxnSpPr>
        <p:spPr>
          <a:xfrm flipV="1">
            <a:off x="3550427" y="5534406"/>
            <a:ext cx="1646238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96DD2A-17FF-5847-8D2A-14637AEEC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2799661"/>
            <a:ext cx="2549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Make triangle EXM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5763FC-3E8C-D047-A423-16F5A2F46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3252" y="5345494"/>
            <a:ext cx="442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35EB53-FAD7-4740-8339-C8BDEBE64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050" y="5519606"/>
            <a:ext cx="44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/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0FD4E1-8A4F-C648-93CD-D3E79EB0D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1391" y="5638388"/>
            <a:ext cx="1050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10.3cm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6F135-B2CC-EE47-95A5-543789DEFA4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159806" y="3747451"/>
            <a:ext cx="117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>
                <a:latin typeface="Arial" panose="020B0604020202020204" pitchFamily="34" charset="0"/>
              </a:rPr>
              <a:t>14.75cm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96E52D-F0D1-004F-B60A-C7A08BD5E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92" y="2290453"/>
            <a:ext cx="442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/>
              <a:t>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EB96B9-E6F3-A447-9A4C-4E45991ED5FE}"/>
              </a:ext>
            </a:extLst>
          </p:cNvPr>
          <p:cNvCxnSpPr>
            <a:cxnSpLocks/>
          </p:cNvCxnSpPr>
          <p:nvPr/>
        </p:nvCxnSpPr>
        <p:spPr>
          <a:xfrm flipV="1">
            <a:off x="8995236" y="5940969"/>
            <a:ext cx="1" cy="2506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E381CF2-9BDC-0549-B320-410A62EE6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92" y="6124325"/>
            <a:ext cx="311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 dirty="0">
                <a:solidFill>
                  <a:srgbClr val="FF0000"/>
                </a:solidFill>
              </a:rPr>
              <a:t>Note: ½ of BC    ½ x 20.6 = 10.3</a:t>
            </a:r>
          </a:p>
        </p:txBody>
      </p:sp>
      <p:grpSp>
        <p:nvGrpSpPr>
          <p:cNvPr id="36" name="Group 37">
            <a:extLst>
              <a:ext uri="{FF2B5EF4-FFF2-40B4-BE49-F238E27FC236}">
                <a16:creationId xmlns:a16="http://schemas.microsoft.com/office/drawing/2014/main" id="{D62BAE5D-641B-4242-9143-025C2AFF76AD}"/>
              </a:ext>
            </a:extLst>
          </p:cNvPr>
          <p:cNvGrpSpPr>
            <a:grpSpLocks/>
          </p:cNvGrpSpPr>
          <p:nvPr/>
        </p:nvGrpSpPr>
        <p:grpSpPr bwMode="auto">
          <a:xfrm>
            <a:off x="4739664" y="1914198"/>
            <a:ext cx="7350975" cy="4972416"/>
            <a:chOff x="754740" y="5664356"/>
            <a:chExt cx="7351066" cy="4977310"/>
          </a:xfrm>
        </p:grpSpPr>
        <p:sp>
          <p:nvSpPr>
            <p:cNvPr id="37" name="TextBox 38">
              <a:extLst>
                <a:ext uri="{FF2B5EF4-FFF2-40B4-BE49-F238E27FC236}">
                  <a16:creationId xmlns:a16="http://schemas.microsoft.com/office/drawing/2014/main" id="{392647B9-75F9-2943-AB60-4FDDFFE09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740" y="10056891"/>
              <a:ext cx="414183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 dirty="0"/>
                <a:t>AG = </a:t>
              </a:r>
              <a:r>
                <a:rPr lang="en-GB" altLang="en-US" dirty="0"/>
                <a:t>√</a:t>
              </a:r>
              <a:r>
                <a:rPr lang="en-GB" altLang="en-US" sz="2400" dirty="0"/>
                <a:t>20.6</a:t>
              </a:r>
              <a:r>
                <a:rPr lang="en-GB" altLang="en-US" sz="2400" baseline="30000" dirty="0"/>
                <a:t>2</a:t>
              </a:r>
              <a:r>
                <a:rPr lang="en-GB" altLang="en-US" sz="2400" dirty="0"/>
                <a:t>+14.75</a:t>
              </a:r>
              <a:r>
                <a:rPr lang="en-GB" altLang="en-US" sz="2400" baseline="30000" dirty="0"/>
                <a:t>2</a:t>
              </a:r>
              <a:r>
                <a:rPr lang="en-GB" altLang="en-US" sz="2400" dirty="0"/>
                <a:t>   =  25.3cm 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CD898C-78B4-A44D-AF08-0F572E599C58}"/>
                </a:ext>
              </a:extLst>
            </p:cNvPr>
            <p:cNvCxnSpPr/>
            <p:nvPr/>
          </p:nvCxnSpPr>
          <p:spPr>
            <a:xfrm>
              <a:off x="6591312" y="5664356"/>
              <a:ext cx="151449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996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5.3654E-7 L 0.36841 -5.3654E-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29" grpId="0"/>
      <p:bldP spid="30" grpId="0"/>
      <p:bldP spid="31" grpId="0"/>
      <p:bldP spid="32" grpId="0"/>
      <p:bldP spid="33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909E3C2-71C6-D34D-A235-711F174B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80E2F1-62CF-B441-8279-19CF0D7B6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917" y="2476500"/>
            <a:ext cx="17145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53AA91E-5E60-CD4C-98F0-53668EA4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806" y="2420939"/>
            <a:ext cx="25558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5">
            <a:extLst>
              <a:ext uri="{FF2B5EF4-FFF2-40B4-BE49-F238E27FC236}">
                <a16:creationId xmlns:a16="http://schemas.microsoft.com/office/drawing/2014/main" id="{787A0106-D165-E44C-84A0-71D219E01DA4}"/>
              </a:ext>
            </a:extLst>
          </p:cNvPr>
          <p:cNvGrpSpPr>
            <a:grpSpLocks/>
          </p:cNvGrpSpPr>
          <p:nvPr/>
        </p:nvGrpSpPr>
        <p:grpSpPr bwMode="auto">
          <a:xfrm>
            <a:off x="2585530" y="2017713"/>
            <a:ext cx="5707062" cy="4525962"/>
            <a:chOff x="478595" y="1665654"/>
            <a:chExt cx="5706477" cy="452591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163A5F-1037-5D4A-8F70-6BBF3CD132AE}"/>
                </a:ext>
              </a:extLst>
            </p:cNvPr>
            <p:cNvCxnSpPr/>
            <p:nvPr/>
          </p:nvCxnSpPr>
          <p:spPr>
            <a:xfrm>
              <a:off x="692885" y="5823272"/>
              <a:ext cx="335563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29A0C39-1D2A-8A46-A74F-E379867A8988}"/>
                </a:ext>
              </a:extLst>
            </p:cNvPr>
            <p:cNvCxnSpPr/>
            <p:nvPr/>
          </p:nvCxnSpPr>
          <p:spPr>
            <a:xfrm flipV="1">
              <a:off x="4027881" y="4405650"/>
              <a:ext cx="1852422" cy="14176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0A5EC9-0906-774E-882C-76A2E4977726}"/>
                </a:ext>
              </a:extLst>
            </p:cNvPr>
            <p:cNvCxnSpPr/>
            <p:nvPr/>
          </p:nvCxnSpPr>
          <p:spPr>
            <a:xfrm flipV="1">
              <a:off x="689710" y="4400887"/>
              <a:ext cx="1852423" cy="141921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F5CA98D-152F-B54C-83F0-6EEBBF1D9EA3}"/>
                </a:ext>
              </a:extLst>
            </p:cNvPr>
            <p:cNvCxnSpPr/>
            <p:nvPr/>
          </p:nvCxnSpPr>
          <p:spPr>
            <a:xfrm>
              <a:off x="2521498" y="4427875"/>
              <a:ext cx="335563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5CA6CB-0B68-DF44-A691-E22B97BDB537}"/>
                </a:ext>
              </a:extLst>
            </p:cNvPr>
            <p:cNvCxnSpPr/>
            <p:nvPr/>
          </p:nvCxnSpPr>
          <p:spPr>
            <a:xfrm flipV="1">
              <a:off x="3327865" y="2040300"/>
              <a:ext cx="0" cy="297653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3E22DA-D7AC-5A45-A82A-78CEEF3CEFAF}"/>
                </a:ext>
              </a:extLst>
            </p:cNvPr>
            <p:cNvCxnSpPr/>
            <p:nvPr/>
          </p:nvCxnSpPr>
          <p:spPr>
            <a:xfrm>
              <a:off x="3327865" y="2095861"/>
              <a:ext cx="679380" cy="372741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CAD7D6-C051-1D4C-8FB9-5A34BB519453}"/>
                </a:ext>
              </a:extLst>
            </p:cNvPr>
            <p:cNvCxnSpPr/>
            <p:nvPr/>
          </p:nvCxnSpPr>
          <p:spPr>
            <a:xfrm>
              <a:off x="3327865" y="2067287"/>
              <a:ext cx="2507993" cy="2360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E730D9-8765-4746-8763-572E239A2A4E}"/>
                </a:ext>
              </a:extLst>
            </p:cNvPr>
            <p:cNvCxnSpPr/>
            <p:nvPr/>
          </p:nvCxnSpPr>
          <p:spPr>
            <a:xfrm flipV="1">
              <a:off x="692885" y="2095861"/>
              <a:ext cx="2614345" cy="370042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08C345-D07F-C64C-A513-9564EE92C2E3}"/>
                </a:ext>
              </a:extLst>
            </p:cNvPr>
            <p:cNvCxnSpPr/>
            <p:nvPr/>
          </p:nvCxnSpPr>
          <p:spPr>
            <a:xfrm flipV="1">
              <a:off x="2504037" y="2067287"/>
              <a:ext cx="823828" cy="233836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23">
              <a:extLst>
                <a:ext uri="{FF2B5EF4-FFF2-40B4-BE49-F238E27FC236}">
                  <a16:creationId xmlns:a16="http://schemas.microsoft.com/office/drawing/2014/main" id="{9A4DFA9F-38C9-B948-B725-980A720AD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95" y="5778379"/>
              <a:ext cx="3238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A</a:t>
              </a:r>
            </a:p>
          </p:txBody>
        </p:sp>
        <p:sp>
          <p:nvSpPr>
            <p:cNvPr id="16" name="TextBox 25">
              <a:extLst>
                <a:ext uri="{FF2B5EF4-FFF2-40B4-BE49-F238E27FC236}">
                  <a16:creationId xmlns:a16="http://schemas.microsoft.com/office/drawing/2014/main" id="{6DC9017A-5E54-AD42-9F8C-A4111FFAB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3513" y="4944966"/>
              <a:ext cx="3866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M</a:t>
              </a:r>
            </a:p>
          </p:txBody>
        </p:sp>
        <p:sp>
          <p:nvSpPr>
            <p:cNvPr id="17" name="TextBox 26">
              <a:extLst>
                <a:ext uri="{FF2B5EF4-FFF2-40B4-BE49-F238E27FC236}">
                  <a16:creationId xmlns:a16="http://schemas.microsoft.com/office/drawing/2014/main" id="{FF050FCD-06EC-D947-98F3-9ADF336AC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592" y="1665654"/>
              <a:ext cx="2968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E</a:t>
              </a:r>
            </a:p>
          </p:txBody>
        </p:sp>
        <p:sp>
          <p:nvSpPr>
            <p:cNvPr id="18" name="TextBox 28">
              <a:extLst>
                <a:ext uri="{FF2B5EF4-FFF2-40B4-BE49-F238E27FC236}">
                  <a16:creationId xmlns:a16="http://schemas.microsoft.com/office/drawing/2014/main" id="{1B739D65-FBD0-0546-97F8-C2C7BA1D0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5427" y="4100976"/>
              <a:ext cx="3302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D</a:t>
              </a:r>
            </a:p>
          </p:txBody>
        </p:sp>
        <p:sp>
          <p:nvSpPr>
            <p:cNvPr id="19" name="TextBox 29">
              <a:extLst>
                <a:ext uri="{FF2B5EF4-FFF2-40B4-BE49-F238E27FC236}">
                  <a16:creationId xmlns:a16="http://schemas.microsoft.com/office/drawing/2014/main" id="{7DA6CE46-9302-4C4F-8422-5057767B7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739" y="4863245"/>
              <a:ext cx="30956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X</a:t>
              </a:r>
            </a:p>
          </p:txBody>
        </p:sp>
        <p:sp>
          <p:nvSpPr>
            <p:cNvPr id="20" name="TextBox 30">
              <a:extLst>
                <a:ext uri="{FF2B5EF4-FFF2-40B4-BE49-F238E27FC236}">
                  <a16:creationId xmlns:a16="http://schemas.microsoft.com/office/drawing/2014/main" id="{1B7B63A9-1F7B-6F48-BEB9-6E922C21F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8684" y="4192954"/>
              <a:ext cx="30638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C</a:t>
              </a:r>
            </a:p>
          </p:txBody>
        </p:sp>
        <p:sp>
          <p:nvSpPr>
            <p:cNvPr id="21" name="TextBox 31">
              <a:extLst>
                <a:ext uri="{FF2B5EF4-FFF2-40B4-BE49-F238E27FC236}">
                  <a16:creationId xmlns:a16="http://schemas.microsoft.com/office/drawing/2014/main" id="{EC05F541-E9DD-6B48-BEE1-297D9CB5C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1541" y="5821680"/>
              <a:ext cx="3238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b="1"/>
                <a:t>B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5450FD0-8AA0-D94B-887E-36ED7B793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17" y="1736980"/>
            <a:ext cx="6789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Find the angle that the face EBC makes with the base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868FA1-0628-3749-850C-9F451B82BCFD}"/>
              </a:ext>
            </a:extLst>
          </p:cNvPr>
          <p:cNvCxnSpPr/>
          <p:nvPr/>
        </p:nvCxnSpPr>
        <p:spPr>
          <a:xfrm flipV="1">
            <a:off x="5470017" y="5375275"/>
            <a:ext cx="1646238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0C7AE4-BBFA-B04E-BD3D-30B25493EE1E}"/>
              </a:ext>
            </a:extLst>
          </p:cNvPr>
          <p:cNvCxnSpPr/>
          <p:nvPr/>
        </p:nvCxnSpPr>
        <p:spPr>
          <a:xfrm>
            <a:off x="5441442" y="2447925"/>
            <a:ext cx="1701800" cy="2954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6BB3A7E6-8326-A245-9E5B-1FA6B5A9FD56}"/>
              </a:ext>
            </a:extLst>
          </p:cNvPr>
          <p:cNvSpPr/>
          <p:nvPr/>
        </p:nvSpPr>
        <p:spPr>
          <a:xfrm rot="15097008">
            <a:off x="6440774" y="4699795"/>
            <a:ext cx="969963" cy="1012825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0F39A819-CD18-9045-8B01-C4BCD9E49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3030" y="5351464"/>
            <a:ext cx="385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M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AA770FF0-F1FC-DD41-8CFE-BC27649C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7230" y="2071689"/>
            <a:ext cx="296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4D09232-C173-E740-B6E4-E7D2CCEC7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9743" y="5268913"/>
            <a:ext cx="30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X</a:t>
            </a:r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E6C29FE0-2E78-7E4A-8F73-C9E4F465C3E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881056" y="3916364"/>
            <a:ext cx="712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14.75</a:t>
            </a:r>
          </a:p>
        </p:txBody>
      </p:sp>
      <p:sp>
        <p:nvSpPr>
          <p:cNvPr id="31" name="Rectangle 39">
            <a:extLst>
              <a:ext uri="{FF2B5EF4-FFF2-40B4-BE49-F238E27FC236}">
                <a16:creationId xmlns:a16="http://schemas.microsoft.com/office/drawing/2014/main" id="{E317E4AE-985F-5948-B2CC-9CA6199D5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243" y="5370514"/>
            <a:ext cx="1052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10.3cm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B3F33B50-2895-794D-85C5-03D0E3A0364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102093" y="3719513"/>
            <a:ext cx="712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b="1"/>
              <a:t>14.75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5683A6-B518-E349-9E64-864E3F150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5568" y="5343525"/>
            <a:ext cx="1050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10.3cm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3967B2-5D90-9C4B-AD88-9CA636B0D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1531" y="6154738"/>
            <a:ext cx="758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tan</a:t>
            </a:r>
            <a:r>
              <a:rPr lang="en-GB" altLang="en-US" sz="2400" baseline="30000"/>
              <a:t>-1</a:t>
            </a: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18945B4A-F5FF-514A-99CD-C028F412ADB0}"/>
              </a:ext>
            </a:extLst>
          </p:cNvPr>
          <p:cNvSpPr/>
          <p:nvPr/>
        </p:nvSpPr>
        <p:spPr>
          <a:xfrm>
            <a:off x="8184642" y="6148389"/>
            <a:ext cx="84138" cy="604837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5886B299-AAF7-1C49-9300-163EF8A7CB6C}"/>
              </a:ext>
            </a:extLst>
          </p:cNvPr>
          <p:cNvSpPr/>
          <p:nvPr/>
        </p:nvSpPr>
        <p:spPr>
          <a:xfrm flipH="1">
            <a:off x="9167305" y="6159500"/>
            <a:ext cx="87312" cy="604838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>
              <a:latin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0B3E21-2CBB-A843-8FD3-A8AC2E6A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0217" y="6027738"/>
            <a:ext cx="8826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14.75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10.3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99C3B8-551D-5440-998A-4CA46B042292}"/>
              </a:ext>
            </a:extLst>
          </p:cNvPr>
          <p:cNvCxnSpPr>
            <a:stCxn id="37" idx="1"/>
            <a:endCxn id="37" idx="3"/>
          </p:cNvCxnSpPr>
          <p:nvPr/>
        </p:nvCxnSpPr>
        <p:spPr>
          <a:xfrm>
            <a:off x="8340217" y="6443663"/>
            <a:ext cx="8826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DBD2F23-FCB9-EE4C-992B-B83D2EF66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1617" y="6197601"/>
            <a:ext cx="8270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= 55</a:t>
            </a:r>
            <a:r>
              <a:rPr lang="en-GB" altLang="en-US" sz="2400" baseline="3000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94263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3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5.3654E-7 L 0.36841 -5.3654E-7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2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27382E-6 L 0.36562 -4.27382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/>
      <p:bldP spid="28" grpId="0"/>
      <p:bldP spid="29" grpId="0"/>
      <p:bldP spid="32" grpId="0"/>
      <p:bldP spid="33" grpId="0"/>
      <p:bldP spid="34" grpId="0"/>
      <p:bldP spid="35" grpId="0" animBg="1"/>
      <p:bldP spid="36" grpId="0" animBg="1"/>
      <p:bldP spid="37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77849D9A-A88C-9C4F-B289-4CE0F2F9C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29" y="1989222"/>
            <a:ext cx="9979742" cy="460896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644A96-F0E6-FD43-93CB-B08DF43E6C3B}"/>
              </a:ext>
            </a:extLst>
          </p:cNvPr>
          <p:cNvSpPr txBox="1">
            <a:spLocks/>
          </p:cNvSpPr>
          <p:nvPr/>
        </p:nvSpPr>
        <p:spPr bwMode="black">
          <a:xfrm>
            <a:off x="192505" y="508890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Your 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9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Pythagoras Theorem</a:t>
            </a:r>
            <a:br>
              <a:rPr lang="en-US" dirty="0"/>
            </a:br>
            <a:r>
              <a:rPr lang="en-US" dirty="0"/>
              <a:t>EQ: How can I use Pythagoras Theorem to solve problems in 3-D?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7CF16-EFEF-4347-9558-A3CEA669D324}"/>
              </a:ext>
            </a:extLst>
          </p:cNvPr>
          <p:cNvSpPr txBox="1"/>
          <p:nvPr/>
        </p:nvSpPr>
        <p:spPr>
          <a:xfrm>
            <a:off x="984600" y="2743200"/>
            <a:ext cx="77503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</a:t>
            </a:r>
            <a:r>
              <a:rPr lang="en-US" sz="3600" dirty="0" err="1"/>
              <a:t>Pythag</a:t>
            </a:r>
            <a:r>
              <a:rPr lang="en-US" sz="3600" dirty="0"/>
              <a:t> with 3D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</p:spTree>
    <p:extLst>
      <p:ext uri="{BB962C8B-B14F-4D97-AF65-F5344CB8AC3E}">
        <p14:creationId xmlns:p14="http://schemas.microsoft.com/office/powerpoint/2010/main" val="90825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570</Words>
  <Application>Microsoft Macintosh PowerPoint</Application>
  <PresentationFormat>Widescreen</PresentationFormat>
  <Paragraphs>189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Education 16x9</vt:lpstr>
      <vt:lpstr>Topic: Pythagoras Theorem</vt:lpstr>
      <vt:lpstr>Topic: Pythagoras Theorem EQ: How can I use Pythagoras Theorem to solve problems in 3-D?</vt:lpstr>
      <vt:lpstr>Topic: Pythagoras Theorem EQ: How can I use Pythagoras Theorem to solve problems in 3-D?</vt:lpstr>
      <vt:lpstr>Topic: Pythagoras Theorem EQ: How can I use Pythagoras Theorem to solve problems in 3-D?</vt:lpstr>
      <vt:lpstr>Topic: Pythagoras Theorem EQ: How can I use Pythagoras Theorem to solve problems in 3-D?</vt:lpstr>
      <vt:lpstr>Your Turn</vt:lpstr>
      <vt:lpstr>Topic: Pythagoras Theorem EQ: How can I use Pythagoras Theorem to solve problems in 3-D?</vt:lpstr>
      <vt:lpstr>Topic: Pythagoras Theorem EQ: How can I use Pythagoras Theorem to solve problems in 3-D?</vt:lpstr>
      <vt:lpstr>Topic: Pythagoras Theorem EQ: How can I use Pythagoras Theorem to solve problems in 3-D?</vt:lpstr>
      <vt:lpstr>Topic: Pythagoras Theorem EQ: How can I use Pythagoras Theorem to solve problems in 3-D?</vt:lpstr>
      <vt:lpstr>Topic: Pythagoras Theorem EQ: How can I use Pythagoras Theorem to solve problems in 3-D?</vt:lpstr>
      <vt:lpstr>Topic: Pythagoras Theorem EQ: How can I use Pythagoras Theorem to solve problems in 3-D?</vt:lpstr>
      <vt:lpstr>PowerPoint Presentation</vt:lpstr>
      <vt:lpstr>Topic: Pythagoras Theorem EQ: How can I use Pythagoras Theorem to solve problems in 3-D?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2020-04-28T05:34:59Z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
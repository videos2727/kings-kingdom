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30" r:id="rId2"/>
    <p:sldId id="328" r:id="rId3"/>
    <p:sldId id="331" r:id="rId4"/>
    <p:sldId id="332" r:id="rId5"/>
    <p:sldId id="334" r:id="rId6"/>
    <p:sldId id="335" r:id="rId7"/>
    <p:sldId id="336" r:id="rId8"/>
    <p:sldId id="303" r:id="rId9"/>
    <p:sldId id="321" r:id="rId10"/>
    <p:sldId id="327" r:id="rId11"/>
    <p:sldId id="339" r:id="rId12"/>
    <p:sldId id="337" r:id="rId13"/>
    <p:sldId id="338" r:id="rId14"/>
    <p:sldId id="344" r:id="rId15"/>
    <p:sldId id="345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30" autoAdjust="0"/>
    <p:restoredTop sz="95909" autoAdjust="0"/>
  </p:normalViewPr>
  <p:slideViewPr>
    <p:cSldViewPr>
      <p:cViewPr varScale="1">
        <p:scale>
          <a:sx n="109" d="100"/>
          <a:sy n="109" d="100"/>
        </p:scale>
        <p:origin x="1472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28/4/20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28/4/20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70080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915816" y="1700808"/>
            <a:ext cx="0" cy="515719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200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Pythagoras Theorem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What are the conditions needed to use Pythagoras’ Theorem ?  </a:t>
            </a:r>
          </a:p>
        </p:txBody>
      </p:sp>
    </p:spTree>
    <p:extLst>
      <p:ext uri="{BB962C8B-B14F-4D97-AF65-F5344CB8AC3E}">
        <p14:creationId xmlns:p14="http://schemas.microsoft.com/office/powerpoint/2010/main" val="1133028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7653" y="827400"/>
            <a:ext cx="8763000" cy="6858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fontScale="90000"/>
          </a:bodyPr>
          <a:lstStyle/>
          <a:p>
            <a:r>
              <a:rPr lang="en-US" altLang="en-US">
                <a:solidFill>
                  <a:schemeClr val="tx1"/>
                </a:solidFill>
              </a:rPr>
              <a:t>What is a right triangle?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3" y="3037200"/>
            <a:ext cx="8991600" cy="38100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>
            <a:normAutofit lnSpcReduction="10000"/>
          </a:bodyPr>
          <a:lstStyle/>
          <a:p>
            <a:pPr algn="ctr">
              <a:buFontTx/>
              <a:buNone/>
            </a:pPr>
            <a:r>
              <a:rPr lang="en-US" altLang="en-US" sz="4000"/>
              <a:t>It is a triangle which has an angle that is </a:t>
            </a:r>
            <a:r>
              <a:rPr lang="en-US" altLang="en-US" sz="4000" b="1">
                <a:solidFill>
                  <a:srgbClr val="00279F"/>
                </a:solidFill>
              </a:rPr>
              <a:t>90</a:t>
            </a:r>
            <a:r>
              <a:rPr lang="en-US" altLang="en-US" sz="4000"/>
              <a:t> degrees.  </a:t>
            </a:r>
          </a:p>
          <a:p>
            <a:pPr algn="ctr">
              <a:buFontTx/>
              <a:buNone/>
            </a:pPr>
            <a:r>
              <a:rPr lang="en-US" altLang="en-US" sz="4000"/>
              <a:t>The two sides that make up the right angle are called </a:t>
            </a:r>
            <a:r>
              <a:rPr lang="en-US" altLang="en-US" sz="4000" b="1" u="sng">
                <a:solidFill>
                  <a:srgbClr val="00279F"/>
                </a:solidFill>
              </a:rPr>
              <a:t>legs</a:t>
            </a:r>
            <a:r>
              <a:rPr lang="en-US" altLang="en-US" sz="4000"/>
              <a:t>.  </a:t>
            </a:r>
          </a:p>
          <a:p>
            <a:pPr algn="ctr">
              <a:buFontTx/>
              <a:buNone/>
            </a:pPr>
            <a:r>
              <a:rPr lang="en-US" altLang="en-US" sz="4000"/>
              <a:t>The side opposite the right angle is the </a:t>
            </a:r>
            <a:r>
              <a:rPr lang="en-US" altLang="en-US" sz="4000" b="1" u="sng">
                <a:solidFill>
                  <a:srgbClr val="00279F"/>
                </a:solidFill>
              </a:rPr>
              <a:t>hypotenuse</a:t>
            </a:r>
            <a:r>
              <a:rPr lang="en-US" altLang="en-US" sz="4000"/>
              <a:t>.</a:t>
            </a:r>
          </a:p>
        </p:txBody>
      </p:sp>
      <p:sp>
        <p:nvSpPr>
          <p:cNvPr id="3076" name="Freeform 4"/>
          <p:cNvSpPr>
            <a:spLocks/>
          </p:cNvSpPr>
          <p:nvPr/>
        </p:nvSpPr>
        <p:spPr bwMode="auto">
          <a:xfrm>
            <a:off x="3686653" y="1360800"/>
            <a:ext cx="1754188" cy="1449388"/>
          </a:xfrm>
          <a:custGeom>
            <a:avLst/>
            <a:gdLst>
              <a:gd name="T0" fmla="*/ 0 w 1105"/>
              <a:gd name="T1" fmla="*/ 0 h 913"/>
              <a:gd name="T2" fmla="*/ 0 w 1105"/>
              <a:gd name="T3" fmla="*/ 1447800 h 913"/>
              <a:gd name="T4" fmla="*/ 1752600 w 1105"/>
              <a:gd name="T5" fmla="*/ 1447800 h 913"/>
              <a:gd name="T6" fmla="*/ 0 w 1105"/>
              <a:gd name="T7" fmla="*/ 0 h 913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105" h="913">
                <a:moveTo>
                  <a:pt x="0" y="0"/>
                </a:moveTo>
                <a:lnTo>
                  <a:pt x="0" y="912"/>
                </a:lnTo>
                <a:lnTo>
                  <a:pt x="1104" y="912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  <a:ln w="12700" cap="rnd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3077" name="Rectangle 5"/>
          <p:cNvSpPr>
            <a:spLocks noChangeArrowheads="1"/>
          </p:cNvSpPr>
          <p:nvPr/>
        </p:nvSpPr>
        <p:spPr bwMode="auto">
          <a:xfrm>
            <a:off x="3693003" y="2586350"/>
            <a:ext cx="215900" cy="2159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8" name="Rectangle 6"/>
          <p:cNvSpPr>
            <a:spLocks noChangeArrowheads="1"/>
          </p:cNvSpPr>
          <p:nvPr/>
        </p:nvSpPr>
        <p:spPr bwMode="auto">
          <a:xfrm>
            <a:off x="2986566" y="18037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79" name="Rectangle 7"/>
          <p:cNvSpPr>
            <a:spLocks noChangeArrowheads="1"/>
          </p:cNvSpPr>
          <p:nvPr/>
        </p:nvSpPr>
        <p:spPr bwMode="auto">
          <a:xfrm>
            <a:off x="4205766" y="2794313"/>
            <a:ext cx="55245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leg</a:t>
            </a:r>
          </a:p>
        </p:txBody>
      </p:sp>
      <p:sp>
        <p:nvSpPr>
          <p:cNvPr id="3080" name="Rectangle 8"/>
          <p:cNvSpPr>
            <a:spLocks noChangeArrowheads="1"/>
          </p:cNvSpPr>
          <p:nvPr/>
        </p:nvSpPr>
        <p:spPr bwMode="auto">
          <a:xfrm>
            <a:off x="4662966" y="1651313"/>
            <a:ext cx="2070100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7" tIns="44450" rIns="90487" bIns="44450">
            <a:spAutoFit/>
          </a:bodyPr>
          <a:lstStyle/>
          <a:p>
            <a:r>
              <a:rPr lang="en-US" altLang="en-US">
                <a:latin typeface="Times New Roman" pitchFamily="18" charset="0"/>
              </a:rPr>
              <a:t>hypotenuse</a:t>
            </a:r>
          </a:p>
        </p:txBody>
      </p:sp>
      <p:sp>
        <p:nvSpPr>
          <p:cNvPr id="3081" name="Rectangle 9"/>
          <p:cNvSpPr>
            <a:spLocks noChangeArrowheads="1"/>
          </p:cNvSpPr>
          <p:nvPr/>
        </p:nvSpPr>
        <p:spPr bwMode="auto">
          <a:xfrm>
            <a:off x="1804419" y="2657787"/>
            <a:ext cx="14906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7" tIns="44450" rIns="90487" bIns="44450">
            <a:spAutoFit/>
          </a:bodyPr>
          <a:lstStyle/>
          <a:p>
            <a:r>
              <a:rPr lang="en-US" altLang="en-US" dirty="0">
                <a:latin typeface="Times New Roman" pitchFamily="18" charset="0"/>
              </a:rPr>
              <a:t>right angle</a:t>
            </a:r>
          </a:p>
        </p:txBody>
      </p:sp>
      <p:sp>
        <p:nvSpPr>
          <p:cNvPr id="3082" name="Line 10"/>
          <p:cNvSpPr>
            <a:spLocks noChangeShapeType="1"/>
          </p:cNvSpPr>
          <p:nvPr/>
        </p:nvSpPr>
        <p:spPr bwMode="auto">
          <a:xfrm flipV="1">
            <a:off x="2931003" y="2808600"/>
            <a:ext cx="673100" cy="76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4F26A4-CAB1-274C-9DBC-22BC8AD2E8BA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25348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3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Line 2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762000" y="1340644"/>
            <a:ext cx="83058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 lengths of the two shorter sides are the legs</a:t>
            </a:r>
            <a:endParaRPr lang="en-US" sz="5400" baseline="40000" dirty="0">
              <a:solidFill>
                <a:srgbClr val="000099"/>
              </a:solidFill>
            </a:endParaRPr>
          </a:p>
          <a:p>
            <a:pPr>
              <a:spcBef>
                <a:spcPct val="50000"/>
              </a:spcBef>
            </a:pPr>
            <a:endParaRPr lang="en-US" sz="5400" baseline="30000" dirty="0"/>
          </a:p>
        </p:txBody>
      </p:sp>
      <p:grpSp>
        <p:nvGrpSpPr>
          <p:cNvPr id="2458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458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458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458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458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4589" name="Text Box 13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EC83B17-0EE5-DC45-8E21-8B34C6171162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4267584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4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79" grpId="0" autoUpdateAnimBg="0"/>
      <p:bldP spid="24588" grpId="0" autoUpdateAnimBg="0"/>
      <p:bldP spid="2458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Line 2"/>
          <p:cNvSpPr>
            <a:spLocks noChangeShapeType="1"/>
          </p:cNvSpPr>
          <p:nvPr/>
        </p:nvSpPr>
        <p:spPr bwMode="auto">
          <a:xfrm rot="16200000" flipV="1">
            <a:off x="4527129" y="482342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03" name="Text Box 3"/>
          <p:cNvSpPr txBox="1">
            <a:spLocks noChangeArrowheads="1"/>
          </p:cNvSpPr>
          <p:nvPr/>
        </p:nvSpPr>
        <p:spPr bwMode="auto">
          <a:xfrm>
            <a:off x="192460" y="1265282"/>
            <a:ext cx="83058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side across from the right angle is called the: </a:t>
            </a:r>
            <a:endParaRPr lang="en-US" sz="4800" baseline="30000" dirty="0"/>
          </a:p>
        </p:txBody>
      </p:sp>
      <p:grpSp>
        <p:nvGrpSpPr>
          <p:cNvPr id="25604" name="Group 4"/>
          <p:cNvGrpSpPr>
            <a:grpSpLocks/>
          </p:cNvGrpSpPr>
          <p:nvPr/>
        </p:nvGrpSpPr>
        <p:grpSpPr bwMode="auto">
          <a:xfrm>
            <a:off x="3430960" y="5554470"/>
            <a:ext cx="381000" cy="381000"/>
            <a:chOff x="1680" y="3120"/>
            <a:chExt cx="240" cy="240"/>
          </a:xfrm>
        </p:grpSpPr>
        <p:sp>
          <p:nvSpPr>
            <p:cNvPr id="25605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6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5607" name="Group 7"/>
          <p:cNvGrpSpPr>
            <a:grpSpLocks/>
          </p:cNvGrpSpPr>
          <p:nvPr/>
        </p:nvGrpSpPr>
        <p:grpSpPr bwMode="auto">
          <a:xfrm rot="5652">
            <a:off x="3430960" y="3725670"/>
            <a:ext cx="381000" cy="2209800"/>
            <a:chOff x="912" y="2352"/>
            <a:chExt cx="240" cy="1392"/>
          </a:xfrm>
        </p:grpSpPr>
        <p:sp>
          <p:nvSpPr>
            <p:cNvPr id="25608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5609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5610" name="Text Box 10"/>
          <p:cNvSpPr txBox="1">
            <a:spLocks noChangeArrowheads="1"/>
          </p:cNvSpPr>
          <p:nvPr/>
        </p:nvSpPr>
        <p:spPr bwMode="auto">
          <a:xfrm>
            <a:off x="2668960" y="433527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5611" name="Text Box 11"/>
          <p:cNvSpPr txBox="1">
            <a:spLocks noChangeArrowheads="1"/>
          </p:cNvSpPr>
          <p:nvPr/>
        </p:nvSpPr>
        <p:spPr bwMode="auto">
          <a:xfrm>
            <a:off x="4345360" y="593547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5613" name="Line 13"/>
          <p:cNvSpPr>
            <a:spLocks noChangeShapeType="1"/>
          </p:cNvSpPr>
          <p:nvPr/>
        </p:nvSpPr>
        <p:spPr bwMode="auto">
          <a:xfrm rot="5652">
            <a:off x="3430960" y="372567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5618" name="WordArt 18"/>
          <p:cNvSpPr>
            <a:spLocks noChangeAspect="1" noChangeArrowheads="1" noChangeShapeType="1" noTextEdit="1"/>
          </p:cNvSpPr>
          <p:nvPr/>
        </p:nvSpPr>
        <p:spPr bwMode="auto">
          <a:xfrm>
            <a:off x="3925871" y="3076612"/>
            <a:ext cx="5237163" cy="1174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7030A0"/>
                </a:solidFill>
                <a:effectLst>
                  <a:outerShdw dist="35921" dir="2700000" algn="ctr" rotWithShape="0">
                    <a:srgbClr val="808080"/>
                  </a:outerShdw>
                </a:effectLst>
                <a:latin typeface="Arial Black"/>
              </a:rPr>
              <a:t>hypotenuse</a:t>
            </a:r>
          </a:p>
        </p:txBody>
      </p:sp>
      <p:sp>
        <p:nvSpPr>
          <p:cNvPr id="25619" name="Line 19"/>
          <p:cNvSpPr>
            <a:spLocks noChangeShapeType="1"/>
          </p:cNvSpPr>
          <p:nvPr/>
        </p:nvSpPr>
        <p:spPr bwMode="auto">
          <a:xfrm flipV="1">
            <a:off x="3507160" y="4868670"/>
            <a:ext cx="990600" cy="990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AU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03570B40-6A1D-BF41-88B3-1839D45D214E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858055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9" presetClass="entr" presetSubtype="1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0" fill="hold"/>
                                        <p:tgtEl>
                                          <p:spTgt spid="256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8" presetID="9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3" grpId="0" autoUpdateAnimBg="0"/>
      <p:bldP spid="25613" grpId="0" animBg="1"/>
      <p:bldP spid="25618" grpId="0"/>
      <p:bldP spid="256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611560" y="1158179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relationship </a:t>
            </a:r>
            <a:r>
              <a:rPr lang="en-US" sz="4800" dirty="0" err="1">
                <a:solidFill>
                  <a:srgbClr val="000099"/>
                </a:solidFill>
              </a:rPr>
              <a:t>Pythagorus</a:t>
            </a:r>
            <a:r>
              <a:rPr lang="en-US" sz="4800" dirty="0">
                <a:solidFill>
                  <a:srgbClr val="000099"/>
                </a:solidFill>
              </a:rPr>
              <a:t> discovered is now called The Pythagorean Theorem:</a:t>
            </a:r>
            <a:endParaRPr lang="en-US" sz="4800" baseline="30000" dirty="0"/>
          </a:p>
        </p:txBody>
      </p:sp>
      <p:sp>
        <p:nvSpPr>
          <p:cNvPr id="27660" name="Line 12"/>
          <p:cNvSpPr>
            <a:spLocks noChangeShapeType="1"/>
          </p:cNvSpPr>
          <p:nvPr/>
        </p:nvSpPr>
        <p:spPr bwMode="auto">
          <a:xfrm rot="16200000" flipV="1">
            <a:off x="4450929" y="49077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7661" name="Group 13"/>
          <p:cNvGrpSpPr>
            <a:grpSpLocks/>
          </p:cNvGrpSpPr>
          <p:nvPr/>
        </p:nvGrpSpPr>
        <p:grpSpPr bwMode="auto">
          <a:xfrm>
            <a:off x="3354760" y="5638800"/>
            <a:ext cx="381000" cy="381000"/>
            <a:chOff x="1680" y="3120"/>
            <a:chExt cx="240" cy="240"/>
          </a:xfrm>
        </p:grpSpPr>
        <p:sp>
          <p:nvSpPr>
            <p:cNvPr id="27662" name="Line 14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3" name="Line 15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7664" name="Group 16"/>
          <p:cNvGrpSpPr>
            <a:grpSpLocks/>
          </p:cNvGrpSpPr>
          <p:nvPr/>
        </p:nvGrpSpPr>
        <p:grpSpPr bwMode="auto">
          <a:xfrm rot="5652">
            <a:off x="3354760" y="3810000"/>
            <a:ext cx="381000" cy="2209800"/>
            <a:chOff x="912" y="2352"/>
            <a:chExt cx="240" cy="1392"/>
          </a:xfrm>
        </p:grpSpPr>
        <p:sp>
          <p:nvSpPr>
            <p:cNvPr id="27665" name="Line 17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7666" name="Line 18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2592760" y="44196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7668" name="Text Box 20"/>
          <p:cNvSpPr txBox="1">
            <a:spLocks noChangeArrowheads="1"/>
          </p:cNvSpPr>
          <p:nvPr/>
        </p:nvSpPr>
        <p:spPr bwMode="auto">
          <a:xfrm>
            <a:off x="4269160" y="60198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7669" name="Line 21"/>
          <p:cNvSpPr>
            <a:spLocks noChangeShapeType="1"/>
          </p:cNvSpPr>
          <p:nvPr/>
        </p:nvSpPr>
        <p:spPr bwMode="auto">
          <a:xfrm rot="5652">
            <a:off x="3354760" y="38100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7670" name="Text Box 22"/>
          <p:cNvSpPr txBox="1">
            <a:spLocks noChangeArrowheads="1"/>
          </p:cNvSpPr>
          <p:nvPr/>
        </p:nvSpPr>
        <p:spPr bwMode="auto">
          <a:xfrm>
            <a:off x="4573960" y="40386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59BE3CB-8243-BB43-BE32-534ADBE909E7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4719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683568" y="1060245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>
                <a:solidFill>
                  <a:srgbClr val="000099"/>
                </a:solidFill>
              </a:rPr>
              <a:t>The Pythagorean Theorem says, given the right triangle with legs </a:t>
            </a:r>
            <a:r>
              <a:rPr lang="en-US" sz="4800" i="1" dirty="0">
                <a:solidFill>
                  <a:srgbClr val="000099"/>
                </a:solidFill>
              </a:rPr>
              <a:t>a</a:t>
            </a:r>
            <a:r>
              <a:rPr lang="en-US" sz="4800" dirty="0">
                <a:solidFill>
                  <a:srgbClr val="000099"/>
                </a:solidFill>
              </a:rPr>
              <a:t> and </a:t>
            </a:r>
            <a:r>
              <a:rPr lang="en-US" sz="4800" i="1" dirty="0">
                <a:solidFill>
                  <a:srgbClr val="000099"/>
                </a:solidFill>
              </a:rPr>
              <a:t>b</a:t>
            </a:r>
            <a:r>
              <a:rPr lang="en-US" sz="4800" dirty="0">
                <a:solidFill>
                  <a:srgbClr val="000099"/>
                </a:solidFill>
              </a:rPr>
              <a:t> and hypotenuse </a:t>
            </a:r>
            <a:r>
              <a:rPr lang="en-US" sz="4800" i="1" dirty="0">
                <a:solidFill>
                  <a:srgbClr val="000099"/>
                </a:solidFill>
              </a:rPr>
              <a:t>c,</a:t>
            </a:r>
          </a:p>
        </p:txBody>
      </p:sp>
      <p:sp>
        <p:nvSpPr>
          <p:cNvPr id="28675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8676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8677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78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grpSp>
        <p:nvGrpSpPr>
          <p:cNvPr id="28679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8680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8681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8682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8683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8684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8685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39229B9-D7EB-2444-9F3D-E65426E40F54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67874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838200" y="2259830"/>
            <a:ext cx="81534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dirty="0">
                <a:solidFill>
                  <a:srgbClr val="000099"/>
                </a:solidFill>
              </a:rPr>
              <a:t>then </a:t>
            </a:r>
            <a:endParaRPr lang="en-US" sz="5400" i="1" dirty="0">
              <a:solidFill>
                <a:srgbClr val="000099"/>
              </a:solidFill>
            </a:endParaRPr>
          </a:p>
        </p:txBody>
      </p:sp>
      <p:sp>
        <p:nvSpPr>
          <p:cNvPr id="29699" name="Line 3"/>
          <p:cNvSpPr>
            <a:spLocks noChangeShapeType="1"/>
          </p:cNvSpPr>
          <p:nvPr/>
        </p:nvSpPr>
        <p:spPr bwMode="auto">
          <a:xfrm rot="16200000" flipV="1">
            <a:off x="4525169" y="4755357"/>
            <a:ext cx="1587" cy="22225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3429000" y="5486400"/>
            <a:ext cx="381000" cy="381000"/>
            <a:chOff x="1680" y="3120"/>
            <a:chExt cx="240" cy="240"/>
          </a:xfrm>
        </p:grpSpPr>
        <p:sp>
          <p:nvSpPr>
            <p:cNvPr id="29701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9702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grpSp>
        <p:nvGrpSpPr>
          <p:cNvPr id="29703" name="Group 7"/>
          <p:cNvGrpSpPr>
            <a:grpSpLocks/>
          </p:cNvGrpSpPr>
          <p:nvPr/>
        </p:nvGrpSpPr>
        <p:grpSpPr bwMode="auto">
          <a:xfrm rot="5652">
            <a:off x="3429000" y="3657600"/>
            <a:ext cx="381000" cy="2209800"/>
            <a:chOff x="912" y="2352"/>
            <a:chExt cx="240" cy="1392"/>
          </a:xfrm>
        </p:grpSpPr>
        <p:sp>
          <p:nvSpPr>
            <p:cNvPr id="29704" name="Line 8"/>
            <p:cNvSpPr>
              <a:spLocks noChangeShapeType="1"/>
            </p:cNvSpPr>
            <p:nvPr/>
          </p:nvSpPr>
          <p:spPr bwMode="auto">
            <a:xfrm>
              <a:off x="912" y="2352"/>
              <a:ext cx="0" cy="1392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  <p:sp>
          <p:nvSpPr>
            <p:cNvPr id="29705" name="Line 9"/>
            <p:cNvSpPr>
              <a:spLocks noChangeShapeType="1"/>
            </p:cNvSpPr>
            <p:nvPr/>
          </p:nvSpPr>
          <p:spPr bwMode="auto">
            <a:xfrm>
              <a:off x="912" y="3744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/>
            </a:p>
          </p:txBody>
        </p:sp>
      </p:grpSp>
      <p:sp>
        <p:nvSpPr>
          <p:cNvPr id="29706" name="Text Box 10"/>
          <p:cNvSpPr txBox="1">
            <a:spLocks noChangeArrowheads="1"/>
          </p:cNvSpPr>
          <p:nvPr/>
        </p:nvSpPr>
        <p:spPr bwMode="auto">
          <a:xfrm>
            <a:off x="2667000" y="4267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29707" name="Text Box 11"/>
          <p:cNvSpPr txBox="1">
            <a:spLocks noChangeArrowheads="1"/>
          </p:cNvSpPr>
          <p:nvPr/>
        </p:nvSpPr>
        <p:spPr bwMode="auto">
          <a:xfrm>
            <a:off x="4343400" y="58674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b</a:t>
            </a:r>
          </a:p>
        </p:txBody>
      </p:sp>
      <p:sp>
        <p:nvSpPr>
          <p:cNvPr id="29708" name="Line 12"/>
          <p:cNvSpPr>
            <a:spLocks noChangeShapeType="1"/>
          </p:cNvSpPr>
          <p:nvPr/>
        </p:nvSpPr>
        <p:spPr bwMode="auto">
          <a:xfrm rot="5652">
            <a:off x="3429000" y="3657600"/>
            <a:ext cx="2209800" cy="2209800"/>
          </a:xfrm>
          <a:prstGeom prst="line">
            <a:avLst/>
          </a:prstGeom>
          <a:ln>
            <a:headEnd/>
            <a:tailE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AU"/>
          </a:p>
        </p:txBody>
      </p:sp>
      <p:sp>
        <p:nvSpPr>
          <p:cNvPr id="29709" name="Text Box 13"/>
          <p:cNvSpPr txBox="1">
            <a:spLocks noChangeArrowheads="1"/>
          </p:cNvSpPr>
          <p:nvPr/>
        </p:nvSpPr>
        <p:spPr bwMode="auto">
          <a:xfrm>
            <a:off x="4648200" y="3886200"/>
            <a:ext cx="11430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5400" i="1">
                <a:solidFill>
                  <a:srgbClr val="000099"/>
                </a:solidFill>
              </a:rPr>
              <a:t>c</a:t>
            </a:r>
          </a:p>
        </p:txBody>
      </p:sp>
      <p:graphicFrame>
        <p:nvGraphicFramePr>
          <p:cNvPr id="2971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5948336"/>
              </p:ext>
            </p:extLst>
          </p:nvPr>
        </p:nvGraphicFramePr>
        <p:xfrm>
          <a:off x="3220062" y="2189950"/>
          <a:ext cx="37592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Equation" r:id="rId3" imgW="3759120" imgH="825480" progId="Equation.3">
                  <p:embed/>
                </p:oleObj>
              </mc:Choice>
              <mc:Fallback>
                <p:oleObj name="Equation" r:id="rId3" imgW="3759120" imgH="82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0062" y="2189950"/>
                        <a:ext cx="37592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itle 1">
            <a:extLst>
              <a:ext uri="{FF2B5EF4-FFF2-40B4-BE49-F238E27FC236}">
                <a16:creationId xmlns:a16="http://schemas.microsoft.com/office/drawing/2014/main" id="{F2FEBE38-4A4D-9646-8C09-5BF403A42AD6}"/>
              </a:ext>
            </a:extLst>
          </p:cNvPr>
          <p:cNvSpPr txBox="1">
            <a:spLocks/>
          </p:cNvSpPr>
          <p:nvPr/>
        </p:nvSpPr>
        <p:spPr>
          <a:xfrm>
            <a:off x="158128" y="0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592309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77501" y="1052736"/>
                <a:ext cx="5963519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000" dirty="0"/>
                  <a:t>Pythagoras Theorem is about right angles triangles</a:t>
                </a:r>
                <a:r>
                  <a:rPr lang="en-AU" dirty="0"/>
                  <a:t>.</a:t>
                </a:r>
              </a:p>
              <a:p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                        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AU" dirty="0"/>
              </a:p>
              <a:p>
                <a:r>
                  <a:rPr lang="en-AU" dirty="0"/>
                  <a:t>                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AU" dirty="0"/>
                  <a:t> </a:t>
                </a:r>
              </a:p>
              <a:p>
                <a:endParaRPr lang="en-AU" dirty="0"/>
              </a:p>
              <a:p>
                <a:r>
                  <a:rPr lang="en-AU" dirty="0"/>
                  <a:t>		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501" y="1052736"/>
                <a:ext cx="5963519" cy="2893100"/>
              </a:xfrm>
              <a:prstGeom prst="rect">
                <a:avLst/>
              </a:prstGeom>
              <a:blipFill>
                <a:blip r:embed="rId2"/>
                <a:stretch>
                  <a:fillRect l="-1062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ight Triangle 20"/>
          <p:cNvSpPr/>
          <p:nvPr/>
        </p:nvSpPr>
        <p:spPr>
          <a:xfrm>
            <a:off x="2461677" y="1604099"/>
            <a:ext cx="2016224" cy="1123674"/>
          </a:xfrm>
          <a:prstGeom prst="rtTriangl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67404" y="6184230"/>
                <a:ext cx="2768380" cy="4054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− </m:t>
                        </m:r>
                        <m:sSup>
                          <m:sSupPr>
                            <m:ctrlPr>
                              <a:rPr lang="en-A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AU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7404" y="6184230"/>
                <a:ext cx="2768380" cy="405496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158897" y="6213116"/>
                <a:ext cx="1445011" cy="34541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AU" b="0" i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8897" y="6213116"/>
                <a:ext cx="1445011" cy="345416"/>
              </a:xfrm>
              <a:prstGeom prst="rect">
                <a:avLst/>
              </a:prstGeom>
              <a:blipFill>
                <a:blip r:embed="rId4"/>
                <a:stretch>
                  <a:fillRect l="-2609" r="-870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6206093" y="6215425"/>
                <a:ext cx="1446743" cy="34310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sSup>
                            <m:sSupPr>
                              <m:ctrlP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A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6093" y="6215425"/>
                <a:ext cx="1446743" cy="343107"/>
              </a:xfrm>
              <a:prstGeom prst="rect">
                <a:avLst/>
              </a:prstGeom>
              <a:blipFill>
                <a:blip r:embed="rId5"/>
                <a:stretch>
                  <a:fillRect l="-1739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1691735" y="4504585"/>
                <a:ext cx="6087638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Therefore to find the shorter sides (legs):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                    </m:t>
                          </m:r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𝑎𝑛𝑑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         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A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   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735" y="4504585"/>
                <a:ext cx="6087638" cy="923330"/>
              </a:xfrm>
              <a:prstGeom prst="rect">
                <a:avLst/>
              </a:prstGeom>
              <a:blipFill>
                <a:blip r:embed="rId6"/>
                <a:stretch>
                  <a:fillRect l="-624" t="-274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>
            <a:off x="2461677" y="2499285"/>
            <a:ext cx="222307" cy="222307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25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76FF69C5-9D29-EB48-A7AD-00D6D020E435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54" y="1313550"/>
            <a:ext cx="3528392" cy="1168640"/>
          </a:xfrm>
        </p:spPr>
        <p:txBody>
          <a:bodyPr>
            <a:normAutofit/>
          </a:bodyPr>
          <a:lstStyle/>
          <a:p>
            <a:r>
              <a:rPr lang="en-AU" sz="3600" dirty="0"/>
              <a:t>Examples</a:t>
            </a:r>
          </a:p>
        </p:txBody>
      </p:sp>
      <p:sp>
        <p:nvSpPr>
          <p:cNvPr id="5" name="Right Triangle 4"/>
          <p:cNvSpPr/>
          <p:nvPr/>
        </p:nvSpPr>
        <p:spPr>
          <a:xfrm>
            <a:off x="2195736" y="2924944"/>
            <a:ext cx="2160240" cy="1440160"/>
          </a:xfrm>
          <a:prstGeom prst="rtTriangle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547664" y="3506524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3 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7664" y="3506524"/>
                <a:ext cx="536172" cy="276999"/>
              </a:xfrm>
              <a:prstGeom prst="rect">
                <a:avLst/>
              </a:prstGeom>
              <a:blipFill>
                <a:blip r:embed="rId2"/>
                <a:stretch>
                  <a:fillRect l="-6977" t="-9091" r="-4651" b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915816" y="4496380"/>
                <a:ext cx="53617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816" y="4496380"/>
                <a:ext cx="536172" cy="276999"/>
              </a:xfrm>
              <a:prstGeom prst="rect">
                <a:avLst/>
              </a:prstGeom>
              <a:blipFill>
                <a:blip r:embed="rId3"/>
                <a:stretch>
                  <a:fillRect l="-9302" t="-4348" r="-4651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68668" y="3229525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8668" y="3229525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978896" y="4487016"/>
                <a:ext cx="1765035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=9+16 </m:t>
                    </m:r>
                  </m:oMath>
                </a14:m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=25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896" y="4487016"/>
                <a:ext cx="1765035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148064" y="5518598"/>
                <a:ext cx="1176028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25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=5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5518598"/>
                <a:ext cx="1176028" cy="684546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4"/>
          <p:cNvGrpSpPr>
            <a:grpSpLocks/>
          </p:cNvGrpSpPr>
          <p:nvPr/>
        </p:nvGrpSpPr>
        <p:grpSpPr bwMode="auto">
          <a:xfrm>
            <a:off x="2220055" y="4077072"/>
            <a:ext cx="263713" cy="288032"/>
            <a:chOff x="1680" y="3120"/>
            <a:chExt cx="240" cy="240"/>
          </a:xfrm>
        </p:grpSpPr>
        <p:sp>
          <p:nvSpPr>
            <p:cNvPr id="10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9079EEF0-4F10-884B-B70E-5202A96247F4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73836" y="1045187"/>
            <a:ext cx="3744416" cy="909030"/>
          </a:xfrm>
        </p:spPr>
        <p:txBody>
          <a:bodyPr>
            <a:normAutofit/>
          </a:bodyPr>
          <a:lstStyle/>
          <a:p>
            <a:r>
              <a:rPr lang="en-AU" sz="3600" dirty="0"/>
              <a:t>Examples</a:t>
            </a:r>
          </a:p>
        </p:txBody>
      </p:sp>
      <p:sp>
        <p:nvSpPr>
          <p:cNvPr id="3" name="Right Triangle 2"/>
          <p:cNvSpPr/>
          <p:nvPr/>
        </p:nvSpPr>
        <p:spPr>
          <a:xfrm rot="7484576">
            <a:off x="944590" y="2894821"/>
            <a:ext cx="2664296" cy="1584176"/>
          </a:xfrm>
          <a:prstGeom prst="rtTriangl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368692" y="3712288"/>
                <a:ext cx="8407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0.4 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8692" y="3712288"/>
                <a:ext cx="840743" cy="276999"/>
              </a:xfrm>
              <a:prstGeom prst="rect">
                <a:avLst/>
              </a:prstGeom>
              <a:blipFill>
                <a:blip r:embed="rId2"/>
                <a:stretch>
                  <a:fillRect l="-5970" t="-4348" r="-1493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33308" y="2262345"/>
                <a:ext cx="71250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9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.6 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308" y="2262345"/>
                <a:ext cx="712503" cy="276999"/>
              </a:xfrm>
              <a:prstGeom prst="rect">
                <a:avLst/>
              </a:prstGeom>
              <a:blipFill>
                <a:blip r:embed="rId3"/>
                <a:stretch>
                  <a:fillRect l="-7018" t="-4348" r="-3509" b="-347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504596" y="2722433"/>
                <a:ext cx="1833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4596" y="2722433"/>
                <a:ext cx="183320" cy="276999"/>
              </a:xfrm>
              <a:prstGeom prst="rect">
                <a:avLst/>
              </a:prstGeom>
              <a:blipFill>
                <a:blip r:embed="rId4"/>
                <a:stretch>
                  <a:fillRect l="-12500" r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27984" y="3104337"/>
                <a:ext cx="2577950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20.4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 </m:t>
                      </m:r>
                      <m:sSup>
                        <m:sSupPr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9.6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b="0" dirty="0"/>
              </a:p>
              <a:p>
                <a:r>
                  <a:rPr lang="en-AU" dirty="0"/>
                  <a:t>         </a:t>
                </a:r>
                <a14:m>
                  <m:oMath xmlns:m="http://schemas.openxmlformats.org/officeDocument/2006/math">
                    <m:r>
                      <a:rPr lang="en-AU" b="0" i="0" smtClean="0">
                        <a:latin typeface="Cambria Math"/>
                      </a:rPr>
                      <m:t>  </m:t>
                    </m:r>
                    <m:r>
                      <a:rPr lang="en-AU" b="0" i="1" smtClean="0">
                        <a:latin typeface="Cambria Math"/>
                      </a:rPr>
                      <m:t>=416.16−92.16 </m:t>
                    </m:r>
                  </m:oMath>
                </a14:m>
                <a:endParaRPr lang="en-AU" b="0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=324             </m:t>
                      </m:r>
                    </m:oMath>
                  </m:oMathPara>
                </a14:m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3104337"/>
                <a:ext cx="2577950" cy="12003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597152" y="4135919"/>
                <a:ext cx="1305101" cy="67896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lang="en-AU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b="0" i="1" smtClean="0">
                              <a:latin typeface="Cambria Math"/>
                            </a:rPr>
                            <m:t>324</m:t>
                          </m:r>
                        </m:e>
                      </m:rad>
                    </m:oMath>
                  </m:oMathPara>
                </a14:m>
                <a:endParaRPr lang="en-AU" dirty="0"/>
              </a:p>
              <a:p>
                <a:r>
                  <a:rPr lang="en-AU" b="0" dirty="0"/>
                  <a:t>  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=18 </m:t>
                    </m:r>
                    <m:r>
                      <a:rPr lang="en-AU" b="0" i="1" smtClean="0">
                        <a:latin typeface="Cambria Math"/>
                      </a:rPr>
                      <m:t>𝑐𝑚</m:t>
                    </m:r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152" y="4135919"/>
                <a:ext cx="1305101" cy="678968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4"/>
          <p:cNvGrpSpPr>
            <a:grpSpLocks/>
          </p:cNvGrpSpPr>
          <p:nvPr/>
        </p:nvGrpSpPr>
        <p:grpSpPr bwMode="auto">
          <a:xfrm rot="2013339" flipV="1">
            <a:off x="2260748" y="2216621"/>
            <a:ext cx="322796" cy="293250"/>
            <a:chOff x="1680" y="3120"/>
            <a:chExt cx="240" cy="240"/>
          </a:xfrm>
        </p:grpSpPr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1920" y="3120"/>
              <a:ext cx="0" cy="24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  <p:sp>
          <p:nvSpPr>
            <p:cNvPr id="19" name="Line 6"/>
            <p:cNvSpPr>
              <a:spLocks noChangeShapeType="1"/>
            </p:cNvSpPr>
            <p:nvPr/>
          </p:nvSpPr>
          <p:spPr bwMode="auto">
            <a:xfrm>
              <a:off x="1680" y="3120"/>
              <a:ext cx="240" cy="0"/>
            </a:xfrm>
            <a:prstGeom prst="line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/>
            <a:lstStyle/>
            <a:p>
              <a:endParaRPr lang="en-AU" b="1"/>
            </a:p>
          </p:txBody>
        </p:sp>
      </p:grpSp>
      <p:sp>
        <p:nvSpPr>
          <p:cNvPr id="15" name="Title 1">
            <a:extLst>
              <a:ext uri="{FF2B5EF4-FFF2-40B4-BE49-F238E27FC236}">
                <a16:creationId xmlns:a16="http://schemas.microsoft.com/office/drawing/2014/main" id="{F11BEA52-2691-8A42-A10E-37A715803227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620F8C9-3F9F-BD43-A3A0-4A780AFDF965}"/>
              </a:ext>
            </a:extLst>
          </p:cNvPr>
          <p:cNvSpPr txBox="1">
            <a:spLocks/>
          </p:cNvSpPr>
          <p:nvPr/>
        </p:nvSpPr>
        <p:spPr>
          <a:xfrm>
            <a:off x="1455280" y="5456826"/>
            <a:ext cx="7011300" cy="8347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600" dirty="0"/>
              <a:t>Now you try the following questions:</a:t>
            </a:r>
          </a:p>
        </p:txBody>
      </p:sp>
    </p:spTree>
    <p:extLst>
      <p:ext uri="{BB962C8B-B14F-4D97-AF65-F5344CB8AC3E}">
        <p14:creationId xmlns:p14="http://schemas.microsoft.com/office/powerpoint/2010/main" val="1330123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764704"/>
            <a:ext cx="6768752" cy="32218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4005064"/>
            <a:ext cx="7848872" cy="2575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50C91FB1-A85E-B747-9F1B-7E8047D8FAB3}"/>
              </a:ext>
            </a:extLst>
          </p:cNvPr>
          <p:cNvSpPr txBox="1">
            <a:spLocks/>
          </p:cNvSpPr>
          <p:nvPr/>
        </p:nvSpPr>
        <p:spPr>
          <a:xfrm>
            <a:off x="0" y="-243408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1231243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0"/>
            <a:ext cx="7416824" cy="51650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D8F7A869-9D39-2D40-89EF-70AF994CA74A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2876893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" y="1366838"/>
            <a:ext cx="9029700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5661248"/>
            <a:ext cx="9153525" cy="638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4C90521-4D92-3B45-9D4E-759BC171087E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6830752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14409" y="1916832"/>
            <a:ext cx="6477011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5229200"/>
            <a:ext cx="1895611" cy="648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E8E01B6-75D3-3644-83F6-E5B1DD474E98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</p:spTree>
    <p:extLst>
      <p:ext uri="{BB962C8B-B14F-4D97-AF65-F5344CB8AC3E}">
        <p14:creationId xmlns:p14="http://schemas.microsoft.com/office/powerpoint/2010/main" val="3905442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B1FFD-0C29-FE4F-ACEA-5B91959CC5C0}"/>
              </a:ext>
            </a:extLst>
          </p:cNvPr>
          <p:cNvSpPr txBox="1">
            <a:spLocks/>
          </p:cNvSpPr>
          <p:nvPr/>
        </p:nvSpPr>
        <p:spPr>
          <a:xfrm>
            <a:off x="34283" y="-104933"/>
            <a:ext cx="10656544" cy="12573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400" dirty="0"/>
              <a:t>Topic: Pythagoras’ Theorem</a:t>
            </a:r>
            <a:br>
              <a:rPr lang="en-US" sz="2400" dirty="0"/>
            </a:br>
            <a:r>
              <a:rPr lang="en-US" sz="2400" dirty="0"/>
              <a:t>EQ: What are the conditions needed to use Pythagoras’ Theorem?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E059E-DB23-F743-86E1-697533F24DF0}"/>
              </a:ext>
            </a:extLst>
          </p:cNvPr>
          <p:cNvSpPr txBox="1"/>
          <p:nvPr/>
        </p:nvSpPr>
        <p:spPr>
          <a:xfrm>
            <a:off x="539553" y="1412776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 Freefall Pythagoras </a:t>
            </a:r>
            <a:r>
              <a:rPr lang="en-US"/>
              <a:t>- Problems Worksheet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582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2367</TotalTime>
  <Words>511</Words>
  <Application>Microsoft Macintosh PowerPoint</Application>
  <PresentationFormat>On-screen Show (4:3)</PresentationFormat>
  <Paragraphs>83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Cambria Math</vt:lpstr>
      <vt:lpstr>Times New Roman</vt:lpstr>
      <vt:lpstr>Office Theme</vt:lpstr>
      <vt:lpstr>Equation</vt:lpstr>
      <vt:lpstr>PowerPoint Presentation</vt:lpstr>
      <vt:lpstr>What is a right triangle?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SUMMERS Brad [Baldivis Secondary College]</cp:lastModifiedBy>
  <cp:revision>104</cp:revision>
  <dcterms:created xsi:type="dcterms:W3CDTF">2014-05-14T02:58:57Z</dcterms:created>
  <dcterms:modified xsi:type="dcterms:W3CDTF">2020-04-28T04:24:27Z</dcterms:modified>
</cp:coreProperties>
</file>
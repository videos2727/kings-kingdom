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8" r:id="rId5"/>
    <p:sldId id="295" r:id="rId6"/>
    <p:sldId id="319" r:id="rId7"/>
    <p:sldId id="326" r:id="rId8"/>
    <p:sldId id="327" r:id="rId9"/>
    <p:sldId id="331" r:id="rId10"/>
    <p:sldId id="328" r:id="rId11"/>
    <p:sldId id="330" r:id="rId12"/>
    <p:sldId id="336" r:id="rId13"/>
    <p:sldId id="334" r:id="rId14"/>
    <p:sldId id="335" r:id="rId15"/>
    <p:sldId id="329" r:id="rId16"/>
    <p:sldId id="32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04" autoAdjust="0"/>
    <p:restoredTop sz="94719"/>
  </p:normalViewPr>
  <p:slideViewPr>
    <p:cSldViewPr snapToGrid="0">
      <p:cViewPr varScale="1">
        <p:scale>
          <a:sx n="103" d="100"/>
          <a:sy n="103" d="100"/>
        </p:scale>
        <p:origin x="19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5/1/20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5/1/20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5/1/20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5/1/20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5/1/20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5/1/20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5/1/20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5/1/20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emf"/><Relationship Id="rId11" Type="http://schemas.openxmlformats.org/officeDocument/2006/relationships/image" Target="../media/image26.emf"/><Relationship Id="rId5" Type="http://schemas.openxmlformats.org/officeDocument/2006/relationships/image" Target="../media/image20.emf"/><Relationship Id="rId10" Type="http://schemas.openxmlformats.org/officeDocument/2006/relationships/image" Target="../media/image25.emf"/><Relationship Id="rId4" Type="http://schemas.openxmlformats.org/officeDocument/2006/relationships/image" Target="../media/image19.emf"/><Relationship Id="rId9" Type="http://schemas.openxmlformats.org/officeDocument/2006/relationships/image" Target="../media/image2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emf"/><Relationship Id="rId11" Type="http://schemas.openxmlformats.org/officeDocument/2006/relationships/image" Target="../media/image26.emf"/><Relationship Id="rId5" Type="http://schemas.openxmlformats.org/officeDocument/2006/relationships/image" Target="../media/image30.emf"/><Relationship Id="rId10" Type="http://schemas.openxmlformats.org/officeDocument/2006/relationships/image" Target="../media/image35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Trigonometry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What are the key trigonometric relationships I need to know?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182615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13" name="AutoShape 11">
            <a:extLst>
              <a:ext uri="{FF2B5EF4-FFF2-40B4-BE49-F238E27FC236}">
                <a16:creationId xmlns:a16="http://schemas.microsoft.com/office/drawing/2014/main" id="{6499503B-85F5-A042-A278-1D6C359ED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471" y="3314216"/>
            <a:ext cx="4038600" cy="2667000"/>
          </a:xfrm>
          <a:prstGeom prst="rtTriangle">
            <a:avLst/>
          </a:prstGeom>
          <a:solidFill>
            <a:srgbClr val="00FF99">
              <a:alpha val="50195"/>
            </a:srgbClr>
          </a:solidFill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77FF5A-0F74-EC44-9576-39069038B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796" y="3026878"/>
            <a:ext cx="18415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Times New Roman" panose="02020603050405020304" pitchFamily="18" charset="0"/>
            </a:endParaRP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07A2F74E-64BC-B74A-81F1-7944E88E0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239" y="2005256"/>
            <a:ext cx="8724900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Comic Sans MS" panose="030F0902030302020204" pitchFamily="66" charset="0"/>
              </a:rPr>
              <a:t>Trigonometry means “triangle” and “measurement”.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DD28D2FD-C290-CA47-AF03-C324DE837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364" y="3161752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B8A982B5-04F6-3E4E-920C-FF4B14229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3071" y="6057416"/>
            <a:ext cx="1728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92075" tIns="46038" rIns="92075" bIns="46038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TW" sz="2800" dirty="0">
                <a:latin typeface="Comic Sans MS" panose="030F0902030302020204" pitchFamily="66" charset="0"/>
                <a:ea typeface="PMingLiU" panose="02020500000000000000" pitchFamily="18" charset="-120"/>
              </a:rPr>
              <a:t>Adjacent</a:t>
            </a:r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C1A38389-C387-8F42-9672-4FEEFDCE0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9071" y="3758716"/>
            <a:ext cx="611188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eaVert" wrap="none" lIns="92075" tIns="46038" rIns="92075" bIns="46038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TW" sz="2800" dirty="0">
                <a:latin typeface="Comic Sans MS" panose="030F0902030302020204" pitchFamily="66" charset="0"/>
                <a:ea typeface="PMingLiU" panose="02020500000000000000" pitchFamily="18" charset="-120"/>
              </a:rPr>
              <a:t>Opposite</a:t>
            </a: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2BCD897F-68B2-B34D-A6E9-ED8644FC2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4761" y="5509728"/>
            <a:ext cx="473075" cy="5222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92075" tIns="46038" rIns="92075" bIns="46038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1" lang="en-US" altLang="zh-TW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PMingLiU" pitchFamily="18" charset="-120"/>
              </a:rPr>
              <a:t>a</a:t>
            </a:r>
            <a:r>
              <a:rPr kumimoji="1" lang="en-US" altLang="zh-TW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PMingLiU" pitchFamily="18" charset="-120"/>
                <a:cs typeface="Times New Roman" pitchFamily="18" charset="0"/>
              </a:rPr>
              <a:t>°</a:t>
            </a:r>
            <a:endParaRPr kumimoji="1" lang="en-US" altLang="zh-TW" sz="2800" dirty="0">
              <a:effectLst>
                <a:outerShdw blurRad="38100" dist="38100" dir="2700000" algn="tl">
                  <a:srgbClr val="000000"/>
                </a:outerShdw>
              </a:effectLst>
              <a:ea typeface="PMingLiU" pitchFamily="18" charset="-12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9A49BD-746F-CE4D-B7A8-FB1C7F1B9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471" y="5600216"/>
            <a:ext cx="381000" cy="381000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id="{87F2189E-BC7F-D442-8091-CEBE852B6927}"/>
              </a:ext>
            </a:extLst>
          </p:cNvPr>
          <p:cNvSpPr txBox="1">
            <a:spLocks noChangeArrowheads="1"/>
          </p:cNvSpPr>
          <p:nvPr/>
        </p:nvSpPr>
        <p:spPr bwMode="auto">
          <a:xfrm rot="2163625">
            <a:off x="4000671" y="4152416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TW" sz="2800" dirty="0">
                <a:latin typeface="Comic Sans MS" panose="030F0902030302020204" pitchFamily="66" charset="0"/>
                <a:ea typeface="PMingLiU" panose="02020500000000000000" pitchFamily="18" charset="-120"/>
              </a:rPr>
              <a:t>hypotenuse</a:t>
            </a:r>
          </a:p>
        </p:txBody>
      </p:sp>
      <p:sp>
        <p:nvSpPr>
          <p:cNvPr id="22" name="AutoShape 14">
            <a:extLst>
              <a:ext uri="{FF2B5EF4-FFF2-40B4-BE49-F238E27FC236}">
                <a16:creationId xmlns:a16="http://schemas.microsoft.com/office/drawing/2014/main" id="{13F715BC-2280-4443-8D7F-5A108FF79E66}"/>
              </a:ext>
            </a:extLst>
          </p:cNvPr>
          <p:cNvSpPr>
            <a:spLocks noChangeArrowheads="1"/>
          </p:cNvSpPr>
          <p:nvPr/>
        </p:nvSpPr>
        <p:spPr bwMode="auto">
          <a:xfrm rot="1262297">
            <a:off x="3246609" y="4857266"/>
            <a:ext cx="2667000" cy="457200"/>
          </a:xfrm>
          <a:prstGeom prst="leftArrow">
            <a:avLst>
              <a:gd name="adj1" fmla="val 26963"/>
              <a:gd name="adj2" fmla="val 12115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" name="Line 15">
            <a:extLst>
              <a:ext uri="{FF2B5EF4-FFF2-40B4-BE49-F238E27FC236}">
                <a16:creationId xmlns:a16="http://schemas.microsoft.com/office/drawing/2014/main" id="{9B57E4A7-3A2B-D549-8D55-A06E56B84B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51409" y="5304941"/>
            <a:ext cx="381000" cy="304800"/>
          </a:xfrm>
          <a:prstGeom prst="line">
            <a:avLst/>
          </a:prstGeom>
          <a:noFill/>
          <a:ln w="762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defRPr/>
            </a:pPr>
            <a:endParaRPr lang="en-GB"/>
          </a:p>
        </p:txBody>
      </p:sp>
      <p:sp>
        <p:nvSpPr>
          <p:cNvPr id="24" name="Text Box 16">
            <a:extLst>
              <a:ext uri="{FF2B5EF4-FFF2-40B4-BE49-F238E27FC236}">
                <a16:creationId xmlns:a16="http://schemas.microsoft.com/office/drawing/2014/main" id="{E185C3B7-AF41-6C43-B4D1-4A5681BB6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239" y="2560884"/>
            <a:ext cx="77724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Comic Sans MS" panose="030F0902030302020204" pitchFamily="66" charset="0"/>
              </a:rPr>
              <a:t>We will be using right-angled triangles.</a:t>
            </a:r>
          </a:p>
        </p:txBody>
      </p:sp>
    </p:spTree>
    <p:extLst>
      <p:ext uri="{BB962C8B-B14F-4D97-AF65-F5344CB8AC3E}">
        <p14:creationId xmlns:p14="http://schemas.microsoft.com/office/powerpoint/2010/main" val="153530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1" grpId="0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CACC95-7BD4-7041-80DB-422BB09D0A5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1019128" y="1705782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9pPr>
          </a:lstStyle>
          <a:p>
            <a:pPr eaLnBrk="1" hangingPunct="1"/>
            <a:r>
              <a:rPr lang="en-US" altLang="en-US" u="sng" dirty="0"/>
              <a:t>Parts of a Right Triangle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FAF07-7EA5-6C45-AF92-047CECE71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920" y="3165487"/>
            <a:ext cx="3975100" cy="188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62798315-1387-D94D-933F-C2BC69A16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3908" y="4951412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b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103FE2-8D28-E848-B0C8-0777F1563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720" y="4352937"/>
            <a:ext cx="479425" cy="70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0D1045-5945-AC44-B98D-F28326A02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479" y="4994286"/>
            <a:ext cx="20574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67D338-CAEA-2241-9894-1A0D33CA5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120" y="4748224"/>
            <a:ext cx="38576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B2B194-B084-BC47-A6DB-150D57ECE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20" y="3757624"/>
            <a:ext cx="2209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D7056D-0E98-7042-A1FE-C391066DE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055" y="2837482"/>
            <a:ext cx="3841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BEABCB-1C78-CA48-9AA4-41C021AD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7920" y="3300424"/>
            <a:ext cx="20383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 Box 18">
            <a:extLst>
              <a:ext uri="{FF2B5EF4-FFF2-40B4-BE49-F238E27FC236}">
                <a16:creationId xmlns:a16="http://schemas.microsoft.com/office/drawing/2014/main" id="{07E4BA1A-7905-7542-816E-5AF7F5FEF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531" y="5318125"/>
            <a:ext cx="3886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 dirty="0"/>
              <a:t>The </a:t>
            </a:r>
            <a:r>
              <a:rPr lang="en-US" altLang="en-US" sz="1800" dirty="0"/>
              <a:t>adjacent side </a:t>
            </a:r>
            <a:r>
              <a:rPr lang="en-US" altLang="en-US" sz="1800" b="0" dirty="0"/>
              <a:t>is the side next to Angle A.</a:t>
            </a:r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CBD923C0-393A-4F41-B1F3-930ED931D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531" y="4181958"/>
            <a:ext cx="3886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 dirty="0"/>
              <a:t>The </a:t>
            </a:r>
            <a:r>
              <a:rPr lang="en-US" altLang="en-US" sz="1800" dirty="0"/>
              <a:t>opposite side </a:t>
            </a:r>
            <a:r>
              <a:rPr lang="en-US" altLang="en-US" sz="1800" b="0" dirty="0"/>
              <a:t>is the side that is on the opposite side of the triangle from Angle A.</a:t>
            </a:r>
          </a:p>
        </p:txBody>
      </p:sp>
      <p:sp>
        <p:nvSpPr>
          <p:cNvPr id="16" name="Text Box 20">
            <a:extLst>
              <a:ext uri="{FF2B5EF4-FFF2-40B4-BE49-F238E27FC236}">
                <a16:creationId xmlns:a16="http://schemas.microsoft.com/office/drawing/2014/main" id="{65E8959A-52F3-634B-B1CE-5B216622B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531" y="3123548"/>
            <a:ext cx="3886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 dirty="0"/>
              <a:t>The </a:t>
            </a:r>
            <a:r>
              <a:rPr lang="en-US" altLang="en-US" sz="1800" dirty="0"/>
              <a:t>hypotenuse</a:t>
            </a:r>
            <a:r>
              <a:rPr lang="en-US" altLang="en-US" sz="1800" b="0" dirty="0"/>
              <a:t> will always be the longest side, and opposite from the right angle. </a:t>
            </a: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754BEC90-1E43-5543-B9A7-759BFC1DB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2920" y="4291024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18" name="AutoShape 22">
            <a:extLst>
              <a:ext uri="{FF2B5EF4-FFF2-40B4-BE49-F238E27FC236}">
                <a16:creationId xmlns:a16="http://schemas.microsoft.com/office/drawing/2014/main" id="{6495EFC4-23B3-CA4B-8A9A-89569C0A0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9520" y="4595824"/>
            <a:ext cx="381000" cy="3048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872863-7C8C-F144-B6A3-F5850EA12D66}"/>
              </a:ext>
            </a:extLst>
          </p:cNvPr>
          <p:cNvSpPr txBox="1"/>
          <p:nvPr/>
        </p:nvSpPr>
        <p:spPr>
          <a:xfrm>
            <a:off x="7920531" y="2360141"/>
            <a:ext cx="3447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Imagine that you are at Angle A, looking at the triangle:</a:t>
            </a:r>
          </a:p>
        </p:txBody>
      </p:sp>
    </p:spTree>
    <p:extLst>
      <p:ext uri="{BB962C8B-B14F-4D97-AF65-F5344CB8AC3E}">
        <p14:creationId xmlns:p14="http://schemas.microsoft.com/office/powerpoint/2010/main" val="268970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8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963865B4-09DE-9D46-B6AE-3BF4C4D42573}"/>
              </a:ext>
            </a:extLst>
          </p:cNvPr>
          <p:cNvSpPr/>
          <p:nvPr/>
        </p:nvSpPr>
        <p:spPr>
          <a:xfrm>
            <a:off x="3137205" y="3380032"/>
            <a:ext cx="4827587" cy="2587625"/>
          </a:xfrm>
          <a:prstGeom prst="rt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3636DF6-9986-9440-90B1-7ADC99F47931}"/>
              </a:ext>
            </a:extLst>
          </p:cNvPr>
          <p:cNvCxnSpPr/>
          <p:nvPr/>
        </p:nvCxnSpPr>
        <p:spPr>
          <a:xfrm flipH="1" flipV="1">
            <a:off x="3137205" y="5583482"/>
            <a:ext cx="325437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B93DEA-1072-484F-A34B-3F40A5831732}"/>
              </a:ext>
            </a:extLst>
          </p:cNvPr>
          <p:cNvCxnSpPr/>
          <p:nvPr/>
        </p:nvCxnSpPr>
        <p:spPr>
          <a:xfrm flipV="1">
            <a:off x="3462642" y="5583482"/>
            <a:ext cx="0" cy="38417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8">
            <a:extLst>
              <a:ext uri="{FF2B5EF4-FFF2-40B4-BE49-F238E27FC236}">
                <a16:creationId xmlns:a16="http://schemas.microsoft.com/office/drawing/2014/main" id="{42A97ABE-FA3E-0044-99A4-A731364B73F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942442" y="5597769"/>
            <a:ext cx="815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θ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321C5121-8EF1-F845-9248-AD7A2096DE9B}"/>
              </a:ext>
            </a:extLst>
          </p:cNvPr>
          <p:cNvSpPr/>
          <p:nvPr/>
        </p:nvSpPr>
        <p:spPr>
          <a:xfrm rot="4536208" flipH="1" flipV="1">
            <a:off x="6555092" y="5172319"/>
            <a:ext cx="1257300" cy="1206500"/>
          </a:xfrm>
          <a:prstGeom prst="arc">
            <a:avLst>
              <a:gd name="adj1" fmla="val 16200000"/>
              <a:gd name="adj2" fmla="val 1942092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F0B7359-6AE2-5443-A3FE-84B115DE712E}"/>
              </a:ext>
            </a:extLst>
          </p:cNvPr>
          <p:cNvSpPr txBox="1">
            <a:spLocks noChangeArrowheads="1"/>
          </p:cNvSpPr>
          <p:nvPr/>
        </p:nvSpPr>
        <p:spPr bwMode="auto">
          <a:xfrm rot="1591411">
            <a:off x="4418317" y="4149969"/>
            <a:ext cx="2381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Hypotenuse </a:t>
            </a:r>
            <a:endParaRPr lang="en-US" altLang="en-US" sz="28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83B0FF-345A-FE4E-829E-CA9E4192D3A4}"/>
              </a:ext>
            </a:extLst>
          </p:cNvPr>
          <p:cNvCxnSpPr/>
          <p:nvPr/>
        </p:nvCxnSpPr>
        <p:spPr>
          <a:xfrm flipH="1" flipV="1">
            <a:off x="3246742" y="4943719"/>
            <a:ext cx="3235325" cy="6207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8">
            <a:extLst>
              <a:ext uri="{FF2B5EF4-FFF2-40B4-BE49-F238E27FC236}">
                <a16:creationId xmlns:a16="http://schemas.microsoft.com/office/drawing/2014/main" id="{FE2F04FD-4C58-B940-A789-3B426C063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417" y="4665907"/>
            <a:ext cx="18018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Opposite</a:t>
            </a:r>
            <a:endParaRPr lang="en-US" altLang="en-US" sz="2800"/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BB43CE9E-4411-F843-97BF-73EB58A60973}"/>
              </a:ext>
            </a:extLst>
          </p:cNvPr>
          <p:cNvCxnSpPr/>
          <p:nvPr/>
        </p:nvCxnSpPr>
        <p:spPr>
          <a:xfrm rot="10800000" flipV="1">
            <a:off x="5788330" y="5607294"/>
            <a:ext cx="655637" cy="352425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0">
            <a:extLst>
              <a:ext uri="{FF2B5EF4-FFF2-40B4-BE49-F238E27FC236}">
                <a16:creationId xmlns:a16="http://schemas.microsoft.com/office/drawing/2014/main" id="{9CDECBBD-4151-4048-845F-A1E46DBC6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4055" y="5959719"/>
            <a:ext cx="2366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Adjacent</a:t>
            </a:r>
            <a:endParaRPr lang="en-US" altLang="en-US" sz="2800"/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236A9B40-F06C-9440-867A-8E42F3636982}"/>
              </a:ext>
            </a:extLst>
          </p:cNvPr>
          <p:cNvCxnSpPr/>
          <p:nvPr/>
        </p:nvCxnSpPr>
        <p:spPr>
          <a:xfrm rot="10800000" flipV="1">
            <a:off x="5788330" y="5607294"/>
            <a:ext cx="655637" cy="352425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14">
            <a:extLst>
              <a:ext uri="{FF2B5EF4-FFF2-40B4-BE49-F238E27FC236}">
                <a16:creationId xmlns:a16="http://schemas.microsoft.com/office/drawing/2014/main" id="{23D87539-A67E-0A44-BFD7-696ED080F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42" y="1817153"/>
            <a:ext cx="12056758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4800" b="1" dirty="0"/>
              <a:t>Important to know: </a:t>
            </a:r>
            <a:r>
              <a:rPr lang="en-AU" altLang="en-US" sz="2800" dirty="0"/>
              <a:t>How you label the sides of the triangle depends on what angle you are viewing from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69159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14D415-041A-4A47-B71F-762594BEE70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1279036" y="1479252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9pPr>
          </a:lstStyle>
          <a:p>
            <a:pPr eaLnBrk="1" hangingPunct="1"/>
            <a:r>
              <a:rPr lang="en-US" altLang="en-US" u="sng" dirty="0"/>
              <a:t>Parts of a Right Triangle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498590-169B-D049-95AA-1E77417A9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339" y="2856857"/>
            <a:ext cx="3975100" cy="188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Text Box 4">
            <a:extLst>
              <a:ext uri="{FF2B5EF4-FFF2-40B4-BE49-F238E27FC236}">
                <a16:creationId xmlns:a16="http://schemas.microsoft.com/office/drawing/2014/main" id="{23E646C2-F1C3-9A4E-A26B-136345AD5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2225" y="4850056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b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7D3640-54FB-F444-953F-11C9D6544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139" y="4044307"/>
            <a:ext cx="479425" cy="70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843C8C-9299-A747-B072-08A80070D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7439" y="4744394"/>
            <a:ext cx="20574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A83FDA-4466-5243-B2E2-46455BD80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539" y="4439594"/>
            <a:ext cx="38576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A8EE9B-DC7D-CE49-AF45-14536A4AA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39" y="3448994"/>
            <a:ext cx="2209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E9785C-6687-6D47-8D48-E087DBA85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539" y="2534594"/>
            <a:ext cx="3841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79FCE4-370E-4144-8965-018E6477F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339" y="2991794"/>
            <a:ext cx="20383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 Box 12">
            <a:extLst>
              <a:ext uri="{FF2B5EF4-FFF2-40B4-BE49-F238E27FC236}">
                <a16:creationId xmlns:a16="http://schemas.microsoft.com/office/drawing/2014/main" id="{D6AA7906-589E-D34D-9CE6-A4C84FD01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189" y="4688161"/>
            <a:ext cx="3886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 dirty="0"/>
              <a:t>From Angle B the </a:t>
            </a:r>
            <a:r>
              <a:rPr lang="en-US" altLang="en-US" sz="1800" dirty="0"/>
              <a:t>adjacent side </a:t>
            </a:r>
            <a:r>
              <a:rPr lang="en-US" altLang="en-US" sz="1800" b="0" dirty="0"/>
              <a:t>is the side next to Angle B.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14EADDDD-49E8-CA4D-BAB4-520EC85FF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189" y="3291170"/>
            <a:ext cx="3886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 dirty="0"/>
              <a:t>From Angle B the </a:t>
            </a:r>
            <a:r>
              <a:rPr lang="en-US" altLang="en-US" sz="1800" dirty="0"/>
              <a:t>opposite side </a:t>
            </a:r>
            <a:r>
              <a:rPr lang="en-US" altLang="en-US" sz="1800" b="0" dirty="0"/>
              <a:t>is the side that is on the opposite side of the triangle.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4BBE7A92-5AEC-9C47-A752-4B2297256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939" y="4058594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6BAB72BC-A6B4-9349-841B-9897DE15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959" y="3206797"/>
            <a:ext cx="381000" cy="3048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A6B016-DF06-6545-8E0F-9ED2203C7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039" y="4688161"/>
            <a:ext cx="2209800" cy="461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95A4641-CE47-304E-957B-28C1D8E18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39" y="3488682"/>
            <a:ext cx="2209800" cy="46208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C7D7DD-7D04-EF4B-AAA0-E7E4B4BBF628}"/>
              </a:ext>
            </a:extLst>
          </p:cNvPr>
          <p:cNvSpPr txBox="1"/>
          <p:nvPr/>
        </p:nvSpPr>
        <p:spPr>
          <a:xfrm>
            <a:off x="8143189" y="2236573"/>
            <a:ext cx="3620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imagine that we have moved from Angle A to Angle B:</a:t>
            </a:r>
          </a:p>
        </p:txBody>
      </p:sp>
    </p:spTree>
    <p:extLst>
      <p:ext uri="{BB962C8B-B14F-4D97-AF65-F5344CB8AC3E}">
        <p14:creationId xmlns:p14="http://schemas.microsoft.com/office/powerpoint/2010/main" val="31512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4D7CA113-7A75-174E-B000-4385410C5EF4}"/>
              </a:ext>
            </a:extLst>
          </p:cNvPr>
          <p:cNvSpPr/>
          <p:nvPr/>
        </p:nvSpPr>
        <p:spPr>
          <a:xfrm>
            <a:off x="3051541" y="3427718"/>
            <a:ext cx="4827587" cy="2587625"/>
          </a:xfrm>
          <a:prstGeom prst="rt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7FE146F-F6F7-E347-8071-354BB4BDC99A}"/>
              </a:ext>
            </a:extLst>
          </p:cNvPr>
          <p:cNvCxnSpPr/>
          <p:nvPr/>
        </p:nvCxnSpPr>
        <p:spPr>
          <a:xfrm flipH="1" flipV="1">
            <a:off x="3051541" y="5631168"/>
            <a:ext cx="325437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C889F4-645F-EE41-936E-2C2FFBB692FB}"/>
              </a:ext>
            </a:extLst>
          </p:cNvPr>
          <p:cNvCxnSpPr/>
          <p:nvPr/>
        </p:nvCxnSpPr>
        <p:spPr>
          <a:xfrm flipV="1">
            <a:off x="3376978" y="5631168"/>
            <a:ext cx="0" cy="38417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8">
            <a:extLst>
              <a:ext uri="{FF2B5EF4-FFF2-40B4-BE49-F238E27FC236}">
                <a16:creationId xmlns:a16="http://schemas.microsoft.com/office/drawing/2014/main" id="{F3626CA6-1C6E-184E-B07E-086E5C88FAA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051541" y="3570593"/>
            <a:ext cx="8143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θ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99C0495B-E98C-DF41-94D1-776206B8B011}"/>
              </a:ext>
            </a:extLst>
          </p:cNvPr>
          <p:cNvSpPr/>
          <p:nvPr/>
        </p:nvSpPr>
        <p:spPr>
          <a:xfrm rot="6023899">
            <a:off x="1618028" y="2437118"/>
            <a:ext cx="2006600" cy="1924050"/>
          </a:xfrm>
          <a:prstGeom prst="arc">
            <a:avLst>
              <a:gd name="adj1" fmla="val 16378219"/>
              <a:gd name="adj2" fmla="val 190658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73A59BF9-502C-5B42-88CC-791413AAFE0E}"/>
              </a:ext>
            </a:extLst>
          </p:cNvPr>
          <p:cNvSpPr txBox="1">
            <a:spLocks noChangeArrowheads="1"/>
          </p:cNvSpPr>
          <p:nvPr/>
        </p:nvSpPr>
        <p:spPr bwMode="auto">
          <a:xfrm rot="1631080">
            <a:off x="4332653" y="4211943"/>
            <a:ext cx="2381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Hypotenuse </a:t>
            </a:r>
            <a:endParaRPr lang="en-US" altLang="en-US" sz="28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86F698-927C-0E46-A723-DDF3E0AA0BE4}"/>
              </a:ext>
            </a:extLst>
          </p:cNvPr>
          <p:cNvCxnSpPr/>
          <p:nvPr/>
        </p:nvCxnSpPr>
        <p:spPr>
          <a:xfrm>
            <a:off x="3351578" y="4205593"/>
            <a:ext cx="1190625" cy="16176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8">
            <a:extLst>
              <a:ext uri="{FF2B5EF4-FFF2-40B4-BE49-F238E27FC236}">
                <a16:creationId xmlns:a16="http://schemas.microsoft.com/office/drawing/2014/main" id="{CEFA7C6E-7C29-5643-ABA9-FF0AC2D8D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528" y="6005818"/>
            <a:ext cx="2028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Opposite</a:t>
            </a:r>
            <a:endParaRPr lang="en-US" altLang="en-US" sz="2800"/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F8E02E1E-1D06-B84B-92F9-ED690FC5D949}"/>
              </a:ext>
            </a:extLst>
          </p:cNvPr>
          <p:cNvCxnSpPr/>
          <p:nvPr/>
        </p:nvCxnSpPr>
        <p:spPr>
          <a:xfrm rot="5400000">
            <a:off x="2882472" y="4374662"/>
            <a:ext cx="534987" cy="196850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0">
            <a:extLst>
              <a:ext uri="{FF2B5EF4-FFF2-40B4-BE49-F238E27FC236}">
                <a16:creationId xmlns:a16="http://schemas.microsoft.com/office/drawing/2014/main" id="{6E2A1589-7846-3641-8CEA-B65BD73CD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066" y="4480230"/>
            <a:ext cx="17684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2800"/>
              <a:t>Adjacent </a:t>
            </a:r>
            <a:endParaRPr lang="en-US" altLang="en-US" sz="2800"/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B0683F07-9DBD-5B48-8C41-44ED0277A3EE}"/>
              </a:ext>
            </a:extLst>
          </p:cNvPr>
          <p:cNvCxnSpPr/>
          <p:nvPr/>
        </p:nvCxnSpPr>
        <p:spPr>
          <a:xfrm rot="5400000">
            <a:off x="2882472" y="4374662"/>
            <a:ext cx="534987" cy="196850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14">
            <a:extLst>
              <a:ext uri="{FF2B5EF4-FFF2-40B4-BE49-F238E27FC236}">
                <a16:creationId xmlns:a16="http://schemas.microsoft.com/office/drawing/2014/main" id="{2CCFBF17-2B12-AA43-9D5E-4A14F5866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9391" y="1864030"/>
            <a:ext cx="57594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4800"/>
              <a:t>Important to know:</a:t>
            </a:r>
            <a:endParaRPr lang="en-US" altLang="en-US" sz="4800"/>
          </a:p>
        </p:txBody>
      </p:sp>
    </p:spTree>
    <p:extLst>
      <p:ext uri="{BB962C8B-B14F-4D97-AF65-F5344CB8AC3E}">
        <p14:creationId xmlns:p14="http://schemas.microsoft.com/office/powerpoint/2010/main" val="198991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DE66F8-04C3-344E-95A0-FD66D0CF770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52248" y="1637606"/>
            <a:ext cx="11473536" cy="173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9pPr>
          </a:lstStyle>
          <a:p>
            <a:pPr eaLnBrk="1" hangingPunct="1"/>
            <a:r>
              <a:rPr lang="en-US" altLang="en-US" dirty="0"/>
              <a:t>Trigonometry Ratios</a:t>
            </a:r>
          </a:p>
          <a:p>
            <a:pPr marL="571500" indent="-571500" algn="l" eaLnBrk="1" hangingPunct="1">
              <a:buFont typeface="Arial" panose="020B0604020202020204" pitchFamily="34" charset="0"/>
              <a:buChar char="•"/>
            </a:pPr>
            <a:r>
              <a:rPr lang="en-US" altLang="en-US" sz="2400" dirty="0"/>
              <a:t>The main trigonometric ratios are sine, cosine and tangent, abbreviated sin, cos, tan</a:t>
            </a:r>
          </a:p>
          <a:p>
            <a:pPr marL="571500" indent="-571500" algn="l" eaLnBrk="1" hangingPunct="1">
              <a:buFont typeface="Arial" panose="020B0604020202020204" pitchFamily="34" charset="0"/>
              <a:buChar char="•"/>
            </a:pPr>
            <a:r>
              <a:rPr lang="en-US" altLang="en-US" sz="2400" dirty="0"/>
              <a:t>They are simply one side of a right-angled triangle divided by another, as below:</a:t>
            </a:r>
          </a:p>
        </p:txBody>
      </p:sp>
      <p:pic>
        <p:nvPicPr>
          <p:cNvPr id="20" name="Picture 19" descr="A screenshot of a cell phone&#10;&#10;Description automatically generated">
            <a:extLst>
              <a:ext uri="{FF2B5EF4-FFF2-40B4-BE49-F238E27FC236}">
                <a16:creationId xmlns:a16="http://schemas.microsoft.com/office/drawing/2014/main" id="{9DA8AB48-DE81-2C4F-87D6-2840FEA05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224" y="3261620"/>
            <a:ext cx="80010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60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5A1FF-0CF5-CE45-9C53-5C7341374C2D}"/>
              </a:ext>
            </a:extLst>
          </p:cNvPr>
          <p:cNvSpPr txBox="1"/>
          <p:nvPr/>
        </p:nvSpPr>
        <p:spPr>
          <a:xfrm>
            <a:off x="252248" y="4565892"/>
            <a:ext cx="4015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But what does this 0.57 mean?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C2D4B6-206A-7A47-84F5-2A35F3836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48" y="2025408"/>
            <a:ext cx="8928100" cy="533400"/>
          </a:xfrm>
          <a:prstGeom prst="rect">
            <a:avLst/>
          </a:prstGeom>
        </p:spPr>
      </p:pic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4DF7C164-F408-AA42-9431-A23D379C3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48" y="2654300"/>
            <a:ext cx="8877300" cy="1549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A824F2-EC07-2444-9C17-753908FEA174}"/>
                  </a:ext>
                </a:extLst>
              </p:cNvPr>
              <p:cNvSpPr txBox="1"/>
              <p:nvPr/>
            </p:nvSpPr>
            <p:spPr>
              <a:xfrm>
                <a:off x="277648" y="5134303"/>
                <a:ext cx="1146127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It means that even if we have a larger triangle, or turn it around, that angle </a:t>
                </a:r>
                <a:r>
                  <a:rPr lang="en-US" sz="2400" b="1" dirty="0"/>
                  <a:t>will always have that ratio. </a:t>
                </a:r>
                <a:r>
                  <a:rPr lang="en-US" sz="2400" dirty="0"/>
                  <a:t>For a right-angle triangle, viewed from an angle of 35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/>
                  <a:t> the opposite side will always be 0.57 times as long as the hypotenuse.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A824F2-EC07-2444-9C17-753908FEA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48" y="5134303"/>
                <a:ext cx="11461271" cy="1200329"/>
              </a:xfrm>
              <a:prstGeom prst="rect">
                <a:avLst/>
              </a:prstGeom>
              <a:blipFill>
                <a:blip r:embed="rId4"/>
                <a:stretch>
                  <a:fillRect l="-775" t="-3125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194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C9E6F8-D478-634C-A18A-E9DD14CE73C6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008520" y="2719136"/>
            <a:ext cx="9144000" cy="2286000"/>
          </a:xfrm>
          <a:prstGeom prst="rect">
            <a:avLst/>
          </a:prstGeom>
          <a:solidFill>
            <a:srgbClr val="FFFFC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2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Finding sin, cos, and tan.</a:t>
            </a:r>
            <a:br>
              <a:rPr lang="en-US" altLang="en-US" sz="6200" b="1" dirty="0">
                <a:solidFill>
                  <a:schemeClr val="tx2"/>
                </a:solidFill>
                <a:latin typeface="Berlin Sans FB Demi" panose="020E0602020502020306" pitchFamily="34" charset="77"/>
              </a:rPr>
            </a:br>
            <a:r>
              <a:rPr lang="en-US" altLang="en-US" sz="4000" i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(Just writing a ratio or decimal.)</a:t>
            </a:r>
          </a:p>
        </p:txBody>
      </p:sp>
    </p:spTree>
    <p:extLst>
      <p:ext uri="{BB962C8B-B14F-4D97-AF65-F5344CB8AC3E}">
        <p14:creationId xmlns:p14="http://schemas.microsoft.com/office/powerpoint/2010/main" val="216998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Text Box 1028">
            <a:extLst>
              <a:ext uri="{FF2B5EF4-FFF2-40B4-BE49-F238E27FC236}">
                <a16:creationId xmlns:a16="http://schemas.microsoft.com/office/drawing/2014/main" id="{C7EEAD9F-00EB-D543-B4FC-77C0B01DB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5" y="1897914"/>
            <a:ext cx="9968246" cy="72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Comic Sans MS" panose="030F0902030302020204" pitchFamily="66" charset="0"/>
              </a:rPr>
              <a:t>Find the sine, the cosine, and the tangent of angle A.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Comic Sans MS" panose="030F0902030302020204" pitchFamily="66" charset="0"/>
              </a:rPr>
              <a:t>Give a fraction and decimal answer (round to 4 places).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9B4D7-A774-AD49-971B-CF1F09B82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9997" y="3000751"/>
            <a:ext cx="1928813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4B7024-FD6A-5D46-A223-564992159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422" y="3000751"/>
            <a:ext cx="1125538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149E5F-9806-7749-A098-DF5978B2B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622" y="3381751"/>
            <a:ext cx="1254125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F8F5E1-AE90-F94A-A986-4EE6B0A4F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19" y="4157219"/>
            <a:ext cx="1960562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A86348-D891-AA4E-85EC-717CF457B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281" y="4233419"/>
            <a:ext cx="1123950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1B2ECC-9D45-1847-92CB-667AC98FD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881" y="4614419"/>
            <a:ext cx="1254125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C9D918-941B-1841-BF84-F387C5447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022" y="5359301"/>
            <a:ext cx="1962150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AA9B08-FFD1-4547-AA7E-C389A76C9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022" y="5352951"/>
            <a:ext cx="674687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A6B9CC-C7AE-F545-9774-C27F41723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422" y="5664101"/>
            <a:ext cx="868362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" name="AutoShape 1044">
            <a:extLst>
              <a:ext uri="{FF2B5EF4-FFF2-40B4-BE49-F238E27FC236}">
                <a16:creationId xmlns:a16="http://schemas.microsoft.com/office/drawing/2014/main" id="{F7D68216-A8D8-EF44-84CD-A200CEC1E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238" y="2749926"/>
            <a:ext cx="2133600" cy="2362200"/>
          </a:xfrm>
          <a:prstGeom prst="rtTriangle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E61503-1343-A942-A808-21C224FCE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238" y="4807326"/>
            <a:ext cx="304800" cy="3048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16" name="Text Box 1046">
            <a:extLst>
              <a:ext uri="{FF2B5EF4-FFF2-40B4-BE49-F238E27FC236}">
                <a16:creationId xmlns:a16="http://schemas.microsoft.com/office/drawing/2014/main" id="{0D3D3990-B7A3-5642-A75E-BD3F37764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3740526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9</a:t>
            </a:r>
          </a:p>
        </p:txBody>
      </p:sp>
      <p:sp>
        <p:nvSpPr>
          <p:cNvPr id="17" name="Text Box 1047">
            <a:extLst>
              <a:ext uri="{FF2B5EF4-FFF2-40B4-BE49-F238E27FC236}">
                <a16:creationId xmlns:a16="http://schemas.microsoft.com/office/drawing/2014/main" id="{30ED2BFF-ECB0-9D49-8C90-E3AC14117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038" y="5264526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6</a:t>
            </a:r>
          </a:p>
        </p:txBody>
      </p:sp>
      <p:sp>
        <p:nvSpPr>
          <p:cNvPr id="18" name="Text Box 1048">
            <a:extLst>
              <a:ext uri="{FF2B5EF4-FFF2-40B4-BE49-F238E27FC236}">
                <a16:creationId xmlns:a16="http://schemas.microsoft.com/office/drawing/2014/main" id="{A5CEF387-6382-D74F-B495-04A5B41BF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838" y="3511926"/>
            <a:ext cx="990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10.8</a:t>
            </a:r>
          </a:p>
        </p:txBody>
      </p:sp>
      <p:sp>
        <p:nvSpPr>
          <p:cNvPr id="19" name="Text Box 1049">
            <a:extLst>
              <a:ext uri="{FF2B5EF4-FFF2-40B4-BE49-F238E27FC236}">
                <a16:creationId xmlns:a16="http://schemas.microsoft.com/office/drawing/2014/main" id="{7A26C75E-AF4E-6C41-9A8C-832AEDAFE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9738" y="4837488"/>
            <a:ext cx="381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 dirty="0"/>
              <a:t>A</a:t>
            </a:r>
          </a:p>
        </p:txBody>
      </p:sp>
      <p:sp>
        <p:nvSpPr>
          <p:cNvPr id="21" name="Text Box 1051">
            <a:extLst>
              <a:ext uri="{FF2B5EF4-FFF2-40B4-BE49-F238E27FC236}">
                <a16:creationId xmlns:a16="http://schemas.microsoft.com/office/drawing/2014/main" id="{74B02552-F20A-8643-8BDA-719206424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5802924"/>
            <a:ext cx="3048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22" name="Picture 21" descr="MCj00787170000[1]">
            <a:extLst>
              <a:ext uri="{FF2B5EF4-FFF2-40B4-BE49-F238E27FC236}">
                <a16:creationId xmlns:a16="http://schemas.microsoft.com/office/drawing/2014/main" id="{7957D861-912B-9447-B6AA-213314360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638" y="4511257"/>
            <a:ext cx="29845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 Box 1055">
            <a:extLst>
              <a:ext uri="{FF2B5EF4-FFF2-40B4-BE49-F238E27FC236}">
                <a16:creationId xmlns:a16="http://schemas.microsoft.com/office/drawing/2014/main" id="{728107BD-C490-3844-AB20-E80C6E9CA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8880" y="6104183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Century Gothic" panose="020B0502020202020204" pitchFamily="34" charset="0"/>
              </a:rPr>
              <a:t>Now, figure out your ratios.</a:t>
            </a:r>
          </a:p>
        </p:txBody>
      </p:sp>
    </p:spTree>
    <p:extLst>
      <p:ext uri="{BB962C8B-B14F-4D97-AF65-F5344CB8AC3E}">
        <p14:creationId xmlns:p14="http://schemas.microsoft.com/office/powerpoint/2010/main" val="76954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3EBEA0A-120D-EA49-BB91-3BA9DE5E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24E2176-EA33-654C-8C48-B4F4E890C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448" y="2231776"/>
            <a:ext cx="3276600" cy="1676400"/>
          </a:xfrm>
          <a:prstGeom prst="rtTriangle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CE918B-FD56-2C44-AA3C-63939C6B9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448" y="3527176"/>
            <a:ext cx="381000" cy="381000"/>
          </a:xfrm>
          <a:prstGeom prst="rect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FCE4CA28-35C7-D841-83F8-28DDB2E3D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048" y="3725281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3AF25E08-B8AA-D94D-BE66-52D77590E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248" y="2384176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24.5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0C649C89-43E3-C244-9709-582376732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648" y="4060576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23.1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350F5CDA-B740-FA4D-B430-A0AC8710D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" y="2841376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8.2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197E49-6297-E54C-AF80-DA6D3B28B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2604" y="3765516"/>
            <a:ext cx="1928813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D0E31F-3927-C141-AB33-033CCF3DB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829" y="3759166"/>
            <a:ext cx="1157288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680383-FBDF-4B48-9893-6B8CB9502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2229" y="4140166"/>
            <a:ext cx="1285875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1493CE-68D0-DB42-9611-07BE099D5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573" y="4710225"/>
            <a:ext cx="1962150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A44D48-72B9-334D-9ED5-F29CC0F9A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0323" y="4710225"/>
            <a:ext cx="1157288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5D913E-BD4E-644B-9E3A-B1D46A050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923" y="5167425"/>
            <a:ext cx="1254125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CCB980-A99C-3C4B-AEF6-0C3EE004C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267" y="5597784"/>
            <a:ext cx="1962150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7ABA35-C542-4247-AC76-00F10F580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067" y="5673984"/>
            <a:ext cx="1125538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0E30F83-DB2A-1745-87B2-CDFE57CED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4792" y="6054984"/>
            <a:ext cx="1285875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9" name="Text Box 21">
            <a:extLst>
              <a:ext uri="{FF2B5EF4-FFF2-40B4-BE49-F238E27FC236}">
                <a16:creationId xmlns:a16="http://schemas.microsoft.com/office/drawing/2014/main" id="{6835ADB7-1935-7A46-8085-EC731DCDC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011" y="2363607"/>
            <a:ext cx="3962400" cy="1292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600">
                <a:latin typeface="Comic Sans MS" panose="030F0902030302020204" pitchFamily="66" charset="0"/>
              </a:rPr>
              <a:t>Give a fraction and decimal answer (round to 4 decimal places).</a:t>
            </a: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CA363910-9ECA-D94D-BBD1-F72BF9731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95" y="4756116"/>
            <a:ext cx="3048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21" name="Picture 20" descr="MCj00787170000[1]">
            <a:extLst>
              <a:ext uri="{FF2B5EF4-FFF2-40B4-BE49-F238E27FC236}">
                <a16:creationId xmlns:a16="http://schemas.microsoft.com/office/drawing/2014/main" id="{8C984880-792B-F242-B6F1-2E4957E0D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367" y="3501884"/>
            <a:ext cx="1920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 Box 25">
            <a:extLst>
              <a:ext uri="{FF2B5EF4-FFF2-40B4-BE49-F238E27FC236}">
                <a16:creationId xmlns:a16="http://schemas.microsoft.com/office/drawing/2014/main" id="{0315F1BB-5A74-3D44-8FBB-A6B8E2639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95" y="5817061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Century Gothic" panose="020B0502020202020204" pitchFamily="34" charset="0"/>
              </a:rPr>
              <a:t>Now, figure out your ratios.</a:t>
            </a: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AA616A07-A6EA-7D49-A4AC-004320523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" y="1763088"/>
            <a:ext cx="91440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Comic Sans MS" panose="030F0902030302020204" pitchFamily="66" charset="0"/>
              </a:rPr>
              <a:t>Find the sine, the cosine, and the tangent of  angle A.</a:t>
            </a:r>
          </a:p>
        </p:txBody>
      </p:sp>
    </p:spTree>
    <p:extLst>
      <p:ext uri="{BB962C8B-B14F-4D97-AF65-F5344CB8AC3E}">
        <p14:creationId xmlns:p14="http://schemas.microsoft.com/office/powerpoint/2010/main" val="150325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600" y="2743200"/>
            <a:ext cx="81214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600" dirty="0"/>
              <a:t>Homework: </a:t>
            </a:r>
            <a:r>
              <a:rPr lang="en-US" sz="3600" dirty="0" err="1"/>
              <a:t>Mathspace</a:t>
            </a:r>
            <a:r>
              <a:rPr lang="en-US" sz="3600" dirty="0"/>
              <a:t> Task – Trig Ratios</a:t>
            </a:r>
          </a:p>
          <a:p>
            <a:pPr marL="285750" indent="-285750">
              <a:buFont typeface="Arial" charset="0"/>
              <a:buChar char="•"/>
            </a:pPr>
            <a:endParaRPr lang="en-US" sz="3600" dirty="0"/>
          </a:p>
          <a:p>
            <a:pPr marL="285750" indent="-285750">
              <a:buFont typeface="Arial" charset="0"/>
              <a:buChar char="•"/>
            </a:pPr>
            <a:r>
              <a:rPr lang="en-US" sz="3600" dirty="0"/>
              <a:t>Complete your summary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8C3D60-1117-344E-914F-97AFB589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</p:spTree>
    <p:extLst>
      <p:ext uri="{BB962C8B-B14F-4D97-AF65-F5344CB8AC3E}">
        <p14:creationId xmlns:p14="http://schemas.microsoft.com/office/powerpoint/2010/main" val="96189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606</Words>
  <Application>Microsoft Macintosh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Berlin Sans FB Demi</vt:lpstr>
      <vt:lpstr>Calibri</vt:lpstr>
      <vt:lpstr>Cambria Math</vt:lpstr>
      <vt:lpstr>Century Gothic</vt:lpstr>
      <vt:lpstr>Comic Sans MS</vt:lpstr>
      <vt:lpstr>Times New Roman</vt:lpstr>
      <vt:lpstr>Wingdings</vt:lpstr>
      <vt:lpstr>Education 16x9</vt:lpstr>
      <vt:lpstr>Topic: Trigonometry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  <vt:lpstr>Topic: Trigonometry EQ: What are the key trigonometric ratios I need to know?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2020-05-03T07:26:17Z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
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0" r:id="rId3"/>
    <p:sldId id="276" r:id="rId4"/>
    <p:sldId id="275" r:id="rId5"/>
    <p:sldId id="266" r:id="rId6"/>
    <p:sldId id="267" r:id="rId7"/>
    <p:sldId id="268" r:id="rId8"/>
    <p:sldId id="273" r:id="rId9"/>
    <p:sldId id="274" r:id="rId10"/>
  </p:sldIdLst>
  <p:sldSz cx="9144000" cy="6858000" type="screen4x3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813" autoAdjust="0"/>
    <p:restoredTop sz="90929"/>
  </p:normalViewPr>
  <p:slideViewPr>
    <p:cSldViewPr>
      <p:cViewPr>
        <p:scale>
          <a:sx n="60" d="100"/>
          <a:sy n="60" d="100"/>
        </p:scale>
        <p:origin x="-1954" y="-5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5FCF60B-676D-4C59-BBA6-92A9E1C37F8B}" type="datetimeFigureOut">
              <a:rPr lang="en-US"/>
              <a:pPr>
                <a:defRPr/>
              </a:pPr>
              <a:t>7/25/2016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7138"/>
            <a:ext cx="2971800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47138"/>
            <a:ext cx="2971800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9B89A7E-7513-477F-ACFA-A9EFA7803D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55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1B50F11-1ED2-40E6-B8B5-7DC544F4EDAB}" type="datetimeFigureOut">
              <a:rPr lang="en-US"/>
              <a:pPr>
                <a:defRPr/>
              </a:pPr>
              <a:t>7/25/2016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1725" y="698500"/>
            <a:ext cx="4654550" cy="3492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24363"/>
            <a:ext cx="54864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7138"/>
            <a:ext cx="2971800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47138"/>
            <a:ext cx="2971800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37627C0-32E2-45F7-8907-1B3858ADFA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62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215E9-469E-4918-B890-55907B8BC3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4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A17BB7-EF3B-45F1-AE50-E10691B65A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914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18E208-D6BF-4D9D-9248-6C1A8F06D6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84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57EDF-7F7A-4497-AA2E-F553B0B531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50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7883A-A749-410A-A532-125D408A35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70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955B06-17FB-4FE0-BDC8-C42CB8A107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05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8343B-32A0-41A3-A2CC-CEF3C4CDE5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7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7FB504-4712-4738-9682-FBCB301872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1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321A03-BCB2-4807-AAA2-A87351C492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28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CDB55-17B0-4C1D-B140-D2CC59E2E1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83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70DA41-1B2C-4067-811A-E5A397EB3E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202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245C1C-4D2A-4F17-B93C-FDD1672BE9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6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C154131-6C94-4A43-8D42-7383D9560C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772400" cy="685800"/>
          </a:xfrm>
        </p:spPr>
        <p:txBody>
          <a:bodyPr/>
          <a:lstStyle/>
          <a:p>
            <a:pPr eaLnBrk="1" hangingPunct="1"/>
            <a:r>
              <a:rPr lang="en-US" dirty="0" smtClean="0"/>
              <a:t>Topic: Compound Interest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da-DK" dirty="0"/>
              <a:t>sammensatte interesse/andel</a:t>
            </a:r>
            <a:r>
              <a:rPr lang="en-US" dirty="0" smtClean="0"/>
              <a:t>)</a:t>
            </a:r>
          </a:p>
        </p:txBody>
      </p:sp>
      <p:sp>
        <p:nvSpPr>
          <p:cNvPr id="3075" name="Rectangle 2"/>
          <p:cNvSpPr txBox="1">
            <a:spLocks noChangeArrowheads="1"/>
          </p:cNvSpPr>
          <p:nvPr/>
        </p:nvSpPr>
        <p:spPr bwMode="auto">
          <a:xfrm>
            <a:off x="631825" y="2133600"/>
            <a:ext cx="7772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4400">
                <a:solidFill>
                  <a:schemeClr val="tx2"/>
                </a:solidFill>
              </a:rPr>
              <a:t>EQ: How do I calculate the final amount if compounded daily?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7" t="17223" r="30833" b="38148"/>
          <a:stretch/>
        </p:blipFill>
        <p:spPr bwMode="auto">
          <a:xfrm>
            <a:off x="304799" y="304800"/>
            <a:ext cx="8256159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96" t="20371" r="26875" b="16111"/>
          <a:stretch/>
        </p:blipFill>
        <p:spPr bwMode="auto">
          <a:xfrm>
            <a:off x="457200" y="380999"/>
            <a:ext cx="6934200" cy="6082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2504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85800"/>
          </a:xfrm>
        </p:spPr>
        <p:txBody>
          <a:bodyPr/>
          <a:lstStyle/>
          <a:p>
            <a:pPr eaLnBrk="1" hangingPunct="1"/>
            <a:r>
              <a:rPr lang="en-US" smtClean="0"/>
              <a:t>Compound Interest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9248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4000" b="1" u="sng" dirty="0" smtClean="0"/>
              <a:t>Simple interest </a:t>
            </a:r>
            <a:r>
              <a:rPr lang="en-US" sz="4000" dirty="0" smtClean="0"/>
              <a:t>is interest paid </a:t>
            </a:r>
            <a:r>
              <a:rPr lang="en-US" sz="4000" b="1" dirty="0" smtClean="0"/>
              <a:t>only</a:t>
            </a:r>
            <a:r>
              <a:rPr lang="en-US" sz="4000" dirty="0" smtClean="0"/>
              <a:t> on the </a:t>
            </a:r>
            <a:r>
              <a:rPr lang="en-US" sz="4000" b="1" dirty="0" smtClean="0"/>
              <a:t>principal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lang="en-US" sz="2400" dirty="0" smtClean="0"/>
          </a:p>
          <a:p>
            <a:pPr>
              <a:spcBef>
                <a:spcPct val="50000"/>
              </a:spcBef>
            </a:pPr>
            <a:r>
              <a:rPr lang="en-US" sz="4000" b="1" u="sng" dirty="0" smtClean="0">
                <a:latin typeface="Times New Roman" pitchFamily="18" charset="0"/>
                <a:cs typeface="Times New Roman" pitchFamily="18" charset="0"/>
              </a:rPr>
              <a:t>Compound interest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is interest paid not only on the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principal (</a:t>
            </a:r>
            <a:r>
              <a:rPr lang="da-DK" sz="4000" b="1" dirty="0" smtClean="0"/>
              <a:t>rektor/penge)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, but also on the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interest (</a:t>
            </a:r>
            <a:r>
              <a:rPr lang="da-DK" sz="4000" b="1" dirty="0" smtClean="0"/>
              <a:t>interesse/andel)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that has already been earned. 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176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-3175"/>
            <a:ext cx="7772400" cy="47244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sz="3300" b="1" u="sng" dirty="0" smtClean="0"/>
              <a:t>Compound interest formula</a:t>
            </a:r>
          </a:p>
          <a:p>
            <a:pPr marL="0" indent="0" eaLnBrk="1" hangingPunct="1">
              <a:buFontTx/>
              <a:buNone/>
            </a:pPr>
            <a:r>
              <a:rPr lang="en-US" sz="3300" dirty="0" smtClean="0"/>
              <a:t>Compounded Annually (</a:t>
            </a:r>
            <a:r>
              <a:rPr lang="da-DK" sz="3600" dirty="0"/>
              <a:t>forværret </a:t>
            </a:r>
            <a:r>
              <a:rPr lang="da-DK" sz="3600" dirty="0" smtClean="0"/>
              <a:t>årligt)</a:t>
            </a:r>
            <a:r>
              <a:rPr lang="en-US" sz="3300" dirty="0" smtClean="0"/>
              <a:t>:</a:t>
            </a:r>
          </a:p>
          <a:p>
            <a:pPr marL="0" indent="0" eaLnBrk="1" hangingPunct="1">
              <a:buFontTx/>
              <a:buNone/>
            </a:pPr>
            <a:r>
              <a:rPr lang="en-US" sz="3300" dirty="0" smtClean="0"/>
              <a:t/>
            </a:r>
            <a:br>
              <a:rPr lang="en-US" sz="3300" dirty="0" smtClean="0"/>
            </a:br>
            <a:r>
              <a:rPr lang="en-US" sz="2000" dirty="0" smtClean="0"/>
              <a:t> </a:t>
            </a:r>
            <a:r>
              <a:rPr lang="en-US" sz="3300" dirty="0" smtClean="0"/>
              <a:t/>
            </a:r>
            <a:br>
              <a:rPr lang="en-US" sz="3300" dirty="0" smtClean="0"/>
            </a:br>
            <a:r>
              <a:rPr lang="en-US" sz="3300" dirty="0" smtClean="0"/>
              <a:t>Compounded n times a year:</a:t>
            </a:r>
          </a:p>
          <a:p>
            <a:pPr marL="0" indent="0" eaLnBrk="1" hangingPunct="1">
              <a:buFontTx/>
              <a:buNone/>
            </a:pPr>
            <a:endParaRPr lang="en-US" sz="3300" dirty="0" smtClean="0"/>
          </a:p>
          <a:p>
            <a:pPr marL="0" indent="0" eaLnBrk="1" hangingPunct="1">
              <a:buFontTx/>
              <a:buNone/>
            </a:pPr>
            <a:r>
              <a:rPr lang="en-US" sz="2000" dirty="0" smtClean="0"/>
              <a:t> </a:t>
            </a:r>
            <a:r>
              <a:rPr lang="en-US" sz="2800" dirty="0" smtClean="0"/>
              <a:t> </a:t>
            </a:r>
            <a:r>
              <a:rPr lang="en-US" sz="3300" dirty="0" smtClean="0"/>
              <a:t/>
            </a:r>
            <a:br>
              <a:rPr lang="en-US" sz="3300" dirty="0" smtClean="0"/>
            </a:br>
            <a:r>
              <a:rPr lang="en-US" sz="3300" dirty="0" smtClean="0"/>
              <a:t>A = the final dollar value</a:t>
            </a:r>
            <a:br>
              <a:rPr lang="en-US" sz="3300" dirty="0" smtClean="0"/>
            </a:br>
            <a:r>
              <a:rPr lang="en-US" sz="3300" dirty="0" smtClean="0"/>
              <a:t>P = principal</a:t>
            </a:r>
            <a:br>
              <a:rPr lang="en-US" sz="3300" dirty="0" smtClean="0"/>
            </a:br>
            <a:r>
              <a:rPr lang="en-US" sz="3300" dirty="0" smtClean="0"/>
              <a:t>r = interest rate per period of compounding</a:t>
            </a:r>
          </a:p>
          <a:p>
            <a:pPr marL="0" indent="0" eaLnBrk="1" hangingPunct="1">
              <a:buFontTx/>
              <a:buNone/>
            </a:pPr>
            <a:r>
              <a:rPr lang="en-US" sz="3300" dirty="0" smtClean="0"/>
              <a:t>t = time</a:t>
            </a:r>
            <a:br>
              <a:rPr lang="en-US" sz="3300" dirty="0" smtClean="0"/>
            </a:br>
            <a:r>
              <a:rPr lang="en-US" sz="3300" dirty="0" smtClean="0"/>
              <a:t>n = number of periods</a:t>
            </a:r>
            <a:br>
              <a:rPr lang="en-US" sz="3300" dirty="0" smtClean="0"/>
            </a:br>
            <a:r>
              <a:rPr lang="en-US" sz="3300" dirty="0" smtClean="0"/>
              <a:t>I = interest earned</a:t>
            </a:r>
            <a:endParaRPr lang="en-US" dirty="0" smtClean="0">
              <a:sym typeface="Symbol" pitchFamily="18" charset="2"/>
            </a:endParaRPr>
          </a:p>
        </p:txBody>
      </p:sp>
      <p:graphicFrame>
        <p:nvGraphicFramePr>
          <p:cNvPr id="5123" name="Object 4"/>
          <p:cNvGraphicFramePr>
            <a:graphicFrameLocks noChangeAspect="1"/>
          </p:cNvGraphicFramePr>
          <p:nvPr/>
        </p:nvGraphicFramePr>
        <p:xfrm>
          <a:off x="1447800" y="1219200"/>
          <a:ext cx="511333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Equation" r:id="rId3" imgW="1612900" imgH="228600" progId="Equation.3">
                  <p:embed/>
                </p:oleObj>
              </mc:Choice>
              <mc:Fallback>
                <p:oleObj name="Equation" r:id="rId3" imgW="16129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219200"/>
                        <a:ext cx="5113338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2"/>
          <p:cNvGraphicFramePr>
            <a:graphicFrameLocks noChangeAspect="1"/>
          </p:cNvGraphicFramePr>
          <p:nvPr/>
        </p:nvGraphicFramePr>
        <p:xfrm>
          <a:off x="838200" y="2514600"/>
          <a:ext cx="5394325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" name="Equation" r:id="rId5" imgW="1701800" imgH="368300" progId="Equation.3">
                  <p:embed/>
                </p:oleObj>
              </mc:Choice>
              <mc:Fallback>
                <p:oleObj name="Equation" r:id="rId5" imgW="1701800" imgH="368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514600"/>
                        <a:ext cx="5394325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10" name="Group 98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960711714"/>
              </p:ext>
            </p:extLst>
          </p:nvPr>
        </p:nvGraphicFramePr>
        <p:xfrm>
          <a:off x="762000" y="990600"/>
          <a:ext cx="7696200" cy="5195888"/>
        </p:xfrm>
        <a:graphic>
          <a:graphicData uri="http://schemas.openxmlformats.org/drawingml/2006/table">
            <a:tbl>
              <a:tblPr/>
              <a:tblGrid>
                <a:gridCol w="2057400"/>
                <a:gridCol w="1600200"/>
                <a:gridCol w="1752600"/>
                <a:gridCol w="2286000"/>
              </a:tblGrid>
              <a:tr h="822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Period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Interest</a:t>
                      </a:r>
                      <a:b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Credited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Times</a:t>
                      </a:r>
                      <a:b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Credited</a:t>
                      </a:r>
                      <a:b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per year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Rate per</a:t>
                      </a:r>
                      <a:b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compounding </a:t>
                      </a:r>
                      <a:b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period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Annual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Semi-annual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 months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3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Quarterly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quarter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Monthly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month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Daily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183" name="Object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496220"/>
              </p:ext>
            </p:extLst>
          </p:nvPr>
        </p:nvGraphicFramePr>
        <p:xfrm>
          <a:off x="6419850" y="2895600"/>
          <a:ext cx="4032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1" name="Equation" r:id="rId3" imgW="126720" imgH="228600" progId="Equation.3">
                  <p:embed/>
                </p:oleObj>
              </mc:Choice>
              <mc:Fallback>
                <p:oleObj name="Equation" r:id="rId3" imgW="126720" imgH="228600" progId="Equation.3">
                  <p:embed/>
                  <p:pic>
                    <p:nvPicPr>
                      <p:cNvPr id="0" name="Object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0" y="2895600"/>
                        <a:ext cx="4032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84" name="Object 1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240514"/>
              </p:ext>
            </p:extLst>
          </p:nvPr>
        </p:nvGraphicFramePr>
        <p:xfrm>
          <a:off x="6419850" y="3733800"/>
          <a:ext cx="4032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2" name="Equation" r:id="rId5" imgW="126720" imgH="228600" progId="Equation.3">
                  <p:embed/>
                </p:oleObj>
              </mc:Choice>
              <mc:Fallback>
                <p:oleObj name="Equation" r:id="rId5" imgW="126720" imgH="228600" progId="Equation.3">
                  <p:embed/>
                  <p:pic>
                    <p:nvPicPr>
                      <p:cNvPr id="0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0" y="3733800"/>
                        <a:ext cx="4032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85" name="Object 1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3366082"/>
              </p:ext>
            </p:extLst>
          </p:nvPr>
        </p:nvGraphicFramePr>
        <p:xfrm>
          <a:off x="6400800" y="4572000"/>
          <a:ext cx="48418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3" name="Equation" r:id="rId7" imgW="152280" imgH="228600" progId="Equation.3">
                  <p:embed/>
                </p:oleObj>
              </mc:Choice>
              <mc:Fallback>
                <p:oleObj name="Equation" r:id="rId7" imgW="152280" imgH="228600" progId="Equation.3">
                  <p:embed/>
                  <p:pic>
                    <p:nvPicPr>
                      <p:cNvPr id="0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572000"/>
                        <a:ext cx="484188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429645"/>
              </p:ext>
            </p:extLst>
          </p:nvPr>
        </p:nvGraphicFramePr>
        <p:xfrm>
          <a:off x="6324600" y="5410200"/>
          <a:ext cx="6461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4" name="Equation" r:id="rId9" imgW="203040" imgH="228600" progId="Equation.3">
                  <p:embed/>
                </p:oleObj>
              </mc:Choice>
              <mc:Fallback>
                <p:oleObj name="Equation" r:id="rId9" imgW="20304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5410200"/>
                        <a:ext cx="6461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33703" y="172871"/>
            <a:ext cx="7315200" cy="6740307"/>
            <a:chOff x="333703" y="172871"/>
            <a:chExt cx="7315200" cy="6740307"/>
          </a:xfrm>
        </p:grpSpPr>
        <p:sp>
          <p:nvSpPr>
            <p:cNvPr id="2" name="TextBox 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333703" y="172871"/>
              <a:ext cx="7315200" cy="6740307"/>
            </a:xfrm>
            <a:prstGeom prst="rect">
              <a:avLst/>
            </a:prstGeom>
            <a:blipFill rotWithShape="1">
              <a:blip r:embed="rId2"/>
              <a:stretch>
                <a:fillRect l="-1583" t="-814" r="-1000"/>
              </a:stretch>
            </a:blipFill>
          </p:spPr>
          <p:txBody>
            <a:bodyPr/>
            <a:lstStyle/>
            <a:p>
              <a:r>
                <a:rPr lang="en-AU">
                  <a:noFill/>
                </a:rPr>
                <a:t> 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045606" y="584200"/>
              <a:ext cx="30480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AU" sz="2800" dirty="0"/>
                <a:t>6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5562600" y="2971800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7030A0"/>
                </a:solidFill>
              </a:rPr>
              <a:t>Invested - </a:t>
            </a:r>
            <a:r>
              <a:rPr lang="da-DK" b="1" dirty="0">
                <a:solidFill>
                  <a:srgbClr val="7030A0"/>
                </a:solidFill>
              </a:rPr>
              <a:t>investeret</a:t>
            </a:r>
            <a:endParaRPr lang="en-AU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33702" y="172871"/>
            <a:ext cx="8505497" cy="5736763"/>
          </a:xfrm>
          <a:prstGeom prst="rect">
            <a:avLst/>
          </a:prstGeom>
          <a:blipFill rotWithShape="1">
            <a:blip r:embed="rId2"/>
            <a:stretch>
              <a:fillRect l="-1362" t="-956"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3000" y="2131367"/>
            <a:ext cx="36872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a-DK" b="1" dirty="0" smtClean="0">
                <a:solidFill>
                  <a:srgbClr val="7030A0"/>
                </a:solidFill>
              </a:rPr>
              <a:t>Semi-annually - Halvårligt</a:t>
            </a:r>
            <a:endParaRPr lang="en-AU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33702" y="172871"/>
            <a:ext cx="8505497" cy="6121419"/>
          </a:xfrm>
          <a:prstGeom prst="rect">
            <a:avLst/>
          </a:prstGeom>
          <a:blipFill rotWithShape="1">
            <a:blip r:embed="rId2"/>
            <a:stretch>
              <a:fillRect l="-1362" t="-896" r="-72"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1473</TotalTime>
  <Words>96</Words>
  <Application>Microsoft Office PowerPoint</Application>
  <PresentationFormat>On-screen Show (4:3)</PresentationFormat>
  <Paragraphs>38</Paragraphs>
  <Slides>9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Default Design</vt:lpstr>
      <vt:lpstr>Equation</vt:lpstr>
      <vt:lpstr>Topic: Compound Interest (sammensatte interesse/andel)</vt:lpstr>
      <vt:lpstr>PowerPoint Presentation</vt:lpstr>
      <vt:lpstr>PowerPoint Presentation</vt:lpstr>
      <vt:lpstr>Compound Interest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Triton College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13.1 Compound Interest</dc:title>
  <dc:creator>David Hubbard</dc:creator>
  <cp:lastModifiedBy>FRASER-JONES Laura</cp:lastModifiedBy>
  <cp:revision>92</cp:revision>
  <dcterms:created xsi:type="dcterms:W3CDTF">2006-03-21T01:37:56Z</dcterms:created>
  <dcterms:modified xsi:type="dcterms:W3CDTF">2016-07-25T00:21:53Z</dcterms:modified>
</cp:coreProperties>
</file>
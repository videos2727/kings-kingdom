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7" r:id="rId2"/>
    <p:sldId id="288" r:id="rId3"/>
    <p:sldId id="271" r:id="rId4"/>
    <p:sldId id="257" r:id="rId5"/>
    <p:sldId id="280" r:id="rId6"/>
    <p:sldId id="281" r:id="rId7"/>
    <p:sldId id="282" r:id="rId8"/>
    <p:sldId id="283" r:id="rId9"/>
    <p:sldId id="284" r:id="rId10"/>
    <p:sldId id="270" r:id="rId11"/>
    <p:sldId id="273" r:id="rId12"/>
    <p:sldId id="266" r:id="rId13"/>
    <p:sldId id="267" r:id="rId14"/>
    <p:sldId id="268" r:id="rId15"/>
    <p:sldId id="269" r:id="rId16"/>
    <p:sldId id="285" r:id="rId17"/>
    <p:sldId id="286" r:id="rId18"/>
    <p:sldId id="258" r:id="rId19"/>
    <p:sldId id="260" r:id="rId20"/>
    <p:sldId id="261" r:id="rId21"/>
    <p:sldId id="274" r:id="rId22"/>
    <p:sldId id="275" r:id="rId23"/>
    <p:sldId id="276" r:id="rId24"/>
    <p:sldId id="277" r:id="rId25"/>
    <p:sldId id="278" r:id="rId26"/>
    <p:sldId id="279" r:id="rId27"/>
    <p:sldId id="262" r:id="rId28"/>
    <p:sldId id="263" r:id="rId29"/>
    <p:sldId id="26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41" y="-5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3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3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37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4A098-6F47-4615-9A89-2AA166174C87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159CD-7ED5-48BB-A294-66AEBF084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9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1159CD-7ED5-48BB-A294-66AEBF0849D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37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0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305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83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8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67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91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55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21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33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62000" y="6391275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4039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123C0-4E91-4B22-BDB0-26BC1B2DA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10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75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75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7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7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685B3-8C5F-4E44-94D0-02CA8D3B764E}" type="datetimeFigureOut">
              <a:rPr lang="en-GB" smtClean="0"/>
              <a:t>31/10/2016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6224B-28E6-49AA-971E-9CE34A194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61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7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1.wmf"/><Relationship Id="rId9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9.bin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23.wmf"/><Relationship Id="rId9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32.wmf"/><Relationship Id="rId3" Type="http://schemas.openxmlformats.org/officeDocument/2006/relationships/image" Target="../media/image35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0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 smtClean="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 smtClean="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10767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30</a:t>
            </a:r>
            <a:endParaRPr lang="en-AU" sz="16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Date</a:t>
            </a:r>
            <a:endParaRPr lang="en-AU" sz="24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EQ – </a:t>
            </a:r>
            <a:r>
              <a:rPr lang="en-AU" sz="22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How can I determine if a </a:t>
            </a:r>
            <a:r>
              <a:rPr lang="en-AU" sz="2200" dirty="0" smtClean="0">
                <a:solidFill>
                  <a:prstClr val="black"/>
                </a:solidFill>
                <a:latin typeface="Times New Roman" pitchFamily="18" charset="0"/>
              </a:rPr>
              <a:t>pair of triangles </a:t>
            </a:r>
            <a:r>
              <a:rPr lang="en-AU" sz="2200" smtClean="0">
                <a:solidFill>
                  <a:prstClr val="black"/>
                </a:solidFill>
                <a:latin typeface="Times New Roman" pitchFamily="18" charset="0"/>
              </a:rPr>
              <a:t>are similar</a:t>
            </a:r>
            <a:r>
              <a:rPr lang="en-AU" sz="220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? </a:t>
            </a:r>
            <a:endParaRPr lang="en-AU" sz="22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050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Topic: </a:t>
            </a:r>
            <a:r>
              <a:rPr lang="en-AU" sz="28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Similarity and Congruence</a:t>
            </a:r>
            <a:endParaRPr lang="en-AU" sz="28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3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5" t="32416" r="26134" b="18653"/>
          <a:stretch/>
        </p:blipFill>
        <p:spPr bwMode="auto">
          <a:xfrm>
            <a:off x="539552" y="332656"/>
            <a:ext cx="7122835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9552" y="5229200"/>
            <a:ext cx="669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/>
              <a:t> This is the symbol that </a:t>
            </a:r>
            <a:r>
              <a:rPr lang="en-US" dirty="0" smtClean="0"/>
              <a:t>~ means </a:t>
            </a:r>
            <a:r>
              <a:rPr lang="en-US" dirty="0"/>
              <a:t>“similar.”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099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Congruency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Two shapes are said to be </a:t>
            </a:r>
            <a:r>
              <a:rPr lang="en-GB" b="1" u="sng" dirty="0" smtClean="0">
                <a:solidFill>
                  <a:srgbClr val="FF0000"/>
                </a:solidFill>
              </a:rPr>
              <a:t>congruent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if they have the same </a:t>
            </a:r>
            <a:r>
              <a:rPr lang="en-US" dirty="0"/>
              <a:t>shape </a:t>
            </a:r>
            <a:r>
              <a:rPr lang="en-US" b="1" u="sng" dirty="0"/>
              <a:t>and</a:t>
            </a:r>
            <a:r>
              <a:rPr lang="en-US" dirty="0"/>
              <a:t> the same size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7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4" t="14074" r="31459" b="17592"/>
          <a:stretch/>
        </p:blipFill>
        <p:spPr bwMode="auto">
          <a:xfrm>
            <a:off x="1115616" y="332654"/>
            <a:ext cx="6624736" cy="63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81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56" y="1052736"/>
            <a:ext cx="72198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>
                <a:latin typeface="Comic Sans MS" pitchFamily="66" charset="0"/>
              </a:rPr>
              <a:t>Are these triangles congruent? 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79" t="30556" r="8333" b="53703"/>
          <a:stretch>
            <a:fillRect/>
          </a:stretch>
        </p:blipFill>
        <p:spPr bwMode="auto">
          <a:xfrm>
            <a:off x="1019177" y="1844824"/>
            <a:ext cx="7086600" cy="31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1019177" y="2811639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836472" y="2128663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347864" y="2783395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020879" y="2926334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188554" y="3466394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7120344" y="2783395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47864" y="5445222"/>
            <a:ext cx="9637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 smtClean="0">
                <a:latin typeface="Comic Sans MS" pitchFamily="66" charset="0"/>
                <a:sym typeface="Wingdings" pitchFamily="2" charset="2"/>
              </a:rPr>
              <a:t></a:t>
            </a:r>
            <a:endParaRPr lang="en-GB" sz="7200" b="1" dirty="0"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26323" y="5629887"/>
            <a:ext cx="174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SAS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144600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56" y="1052736"/>
            <a:ext cx="72198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>
                <a:latin typeface="Comic Sans MS" pitchFamily="66" charset="0"/>
              </a:rPr>
              <a:t>Are these triangles congruent? 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7" t="30556" r="37500" b="50926"/>
          <a:stretch>
            <a:fillRect/>
          </a:stretch>
        </p:blipFill>
        <p:spPr bwMode="auto">
          <a:xfrm>
            <a:off x="1514477" y="1916832"/>
            <a:ext cx="6096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1514477" y="3479364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2390743" y="1916832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275856" y="3456560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44008" y="3354346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364088" y="1916832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6300192" y="3281772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88214" y="5472236"/>
            <a:ext cx="9637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 smtClean="0">
                <a:latin typeface="Comic Sans MS" pitchFamily="66" charset="0"/>
                <a:sym typeface="Wingdings" pitchFamily="2" charset="2"/>
              </a:rPr>
              <a:t></a:t>
            </a:r>
            <a:endParaRPr lang="en-GB" sz="7200" b="1" dirty="0"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26323" y="5629887"/>
            <a:ext cx="174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SSS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316268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56" y="1052736"/>
            <a:ext cx="72198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>
                <a:latin typeface="Comic Sans MS" pitchFamily="66" charset="0"/>
              </a:rPr>
              <a:t>Are these triangles congruent? 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9" t="29630" r="65973" b="50926"/>
          <a:stretch>
            <a:fillRect/>
          </a:stretch>
        </p:blipFill>
        <p:spPr bwMode="auto">
          <a:xfrm>
            <a:off x="1447800" y="1772816"/>
            <a:ext cx="6172200" cy="341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4860032" y="3645945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2728214" y="2497646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447800" y="2938525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699484" y="3933056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940152" y="2497646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837337" y="3789040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065" y="5445224"/>
            <a:ext cx="9637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 smtClean="0">
                <a:latin typeface="Comic Sans MS" pitchFamily="66" charset="0"/>
                <a:sym typeface="Wingdings" pitchFamily="2" charset="2"/>
              </a:rPr>
              <a:t></a:t>
            </a:r>
            <a:endParaRPr lang="en-GB" sz="7200" b="1" dirty="0"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2477" y="5629886"/>
            <a:ext cx="174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RHS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151492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56" y="1052736"/>
            <a:ext cx="72198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>
                <a:latin typeface="Comic Sans MS" pitchFamily="66" charset="0"/>
              </a:rPr>
              <a:t>Are these triangles congruent? 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1" t="64815" r="32639" b="17593"/>
          <a:stretch>
            <a:fillRect/>
          </a:stretch>
        </p:blipFill>
        <p:spPr bwMode="auto">
          <a:xfrm>
            <a:off x="2057400" y="1772816"/>
            <a:ext cx="5029200" cy="353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 bwMode="auto">
          <a:xfrm>
            <a:off x="4574379" y="1711154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551522" y="1588603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376532" y="1637511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648494" y="4077072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593348" y="4151786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450647" y="4003429"/>
            <a:ext cx="1080120" cy="108012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80614" y="5445224"/>
            <a:ext cx="9637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 smtClean="0">
                <a:latin typeface="Comic Sans MS" pitchFamily="66" charset="0"/>
                <a:sym typeface="Wingdings" pitchFamily="2" charset="2"/>
              </a:rPr>
              <a:t></a:t>
            </a:r>
            <a:endParaRPr lang="en-GB" sz="7200" b="1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6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Two shapes are said to be </a:t>
            </a:r>
            <a:r>
              <a:rPr lang="en-GB" b="1" u="sng" dirty="0" smtClean="0">
                <a:solidFill>
                  <a:srgbClr val="FF0000"/>
                </a:solidFill>
              </a:rPr>
              <a:t>similar</a:t>
            </a:r>
            <a:r>
              <a:rPr lang="en-GB" dirty="0" smtClean="0"/>
              <a:t> if one is an enlargement of the </a:t>
            </a:r>
            <a:r>
              <a:rPr lang="en-GB" dirty="0" smtClean="0"/>
              <a:t>other (same shape different size).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Triangles are similar if their </a:t>
            </a:r>
            <a:r>
              <a:rPr lang="en-GB" b="1" u="sng" dirty="0" smtClean="0">
                <a:solidFill>
                  <a:srgbClr val="FF0000"/>
                </a:solidFill>
              </a:rPr>
              <a:t>corresponding angles</a:t>
            </a:r>
            <a:r>
              <a:rPr lang="en-GB" dirty="0" smtClean="0"/>
              <a:t> are the same</a:t>
            </a:r>
          </a:p>
          <a:p>
            <a:endParaRPr lang="en-GB" dirty="0"/>
          </a:p>
          <a:p>
            <a:r>
              <a:rPr lang="en-GB" dirty="0" smtClean="0"/>
              <a:t>Their corresponding sides are then in the same </a:t>
            </a:r>
            <a:r>
              <a:rPr lang="en-GB" dirty="0" smtClean="0"/>
              <a:t>ratio (scale factor).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10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87" name="Text Box 31"/>
          <p:cNvSpPr txBox="1">
            <a:spLocks noChangeArrowheads="1"/>
          </p:cNvSpPr>
          <p:nvPr/>
        </p:nvSpPr>
        <p:spPr bwMode="auto">
          <a:xfrm>
            <a:off x="533400" y="3962400"/>
            <a:ext cx="8169275" cy="1600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When stating that two figures are similar, use the symbol ~. For the triangles above, you can write </a:t>
            </a:r>
            <a:r>
              <a:rPr lang="en-US" sz="2400" dirty="0">
                <a:solidFill>
                  <a:srgbClr val="000000"/>
                </a:solidFill>
                <a:latin typeface="Times New Roman"/>
                <a:sym typeface="Symbol" pitchFamily="18" charset="2"/>
              </a:rPr>
              <a:t>∆</a:t>
            </a:r>
            <a:r>
              <a:rPr lang="en-US" sz="2400" i="1" dirty="0">
                <a:solidFill>
                  <a:srgbClr val="FF3300"/>
                </a:solidFill>
                <a:latin typeface="Times New Roman"/>
              </a:rPr>
              <a:t>A</a:t>
            </a:r>
            <a:r>
              <a:rPr lang="en-US" sz="2400" i="1" dirty="0">
                <a:solidFill>
                  <a:srgbClr val="333399"/>
                </a:solidFill>
                <a:latin typeface="Times New Roman"/>
              </a:rPr>
              <a:t>B</a:t>
            </a:r>
            <a:r>
              <a:rPr lang="en-US" sz="2400" i="1" dirty="0">
                <a:solidFill>
                  <a:srgbClr val="008000"/>
                </a:solidFill>
                <a:latin typeface="Times New Roman"/>
              </a:rPr>
              <a:t>C</a:t>
            </a:r>
            <a:r>
              <a:rPr lang="en-US" sz="2400" dirty="0">
                <a:solidFill>
                  <a:srgbClr val="333399"/>
                </a:solidFill>
                <a:latin typeface="Times New Roman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~ </a:t>
            </a:r>
            <a:r>
              <a:rPr lang="en-US" sz="2400" dirty="0">
                <a:solidFill>
                  <a:srgbClr val="000000"/>
                </a:solidFill>
                <a:latin typeface="Times New Roman"/>
                <a:sym typeface="Symbol" pitchFamily="18" charset="2"/>
              </a:rPr>
              <a:t>∆</a:t>
            </a:r>
            <a:r>
              <a:rPr lang="en-US" sz="2400" i="1" dirty="0">
                <a:solidFill>
                  <a:srgbClr val="FF3300"/>
                </a:solidFill>
                <a:latin typeface="Times New Roman"/>
              </a:rPr>
              <a:t>D</a:t>
            </a:r>
            <a:r>
              <a:rPr lang="en-US" sz="2400" i="1" dirty="0">
                <a:solidFill>
                  <a:srgbClr val="333399"/>
                </a:solidFill>
                <a:latin typeface="Times New Roman"/>
              </a:rPr>
              <a:t>E</a:t>
            </a:r>
            <a:r>
              <a:rPr lang="en-US" sz="2400" i="1" dirty="0">
                <a:solidFill>
                  <a:srgbClr val="008000"/>
                </a:solidFill>
                <a:latin typeface="Times New Roman"/>
              </a:rPr>
              <a:t>F</a:t>
            </a:r>
            <a:r>
              <a:rPr lang="en-US" sz="2400" i="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Make sure corresponding vertices are in the same order. It would be incorrect to write </a:t>
            </a:r>
            <a:r>
              <a:rPr lang="en-US" sz="2400" dirty="0">
                <a:solidFill>
                  <a:srgbClr val="000000"/>
                </a:solidFill>
                <a:latin typeface="Times New Roman"/>
                <a:sym typeface="Symbol" pitchFamily="18" charset="2"/>
              </a:rPr>
              <a:t>∆</a:t>
            </a:r>
            <a:r>
              <a:rPr lang="en-US" sz="2400" i="1" dirty="0">
                <a:solidFill>
                  <a:srgbClr val="FF3300"/>
                </a:solidFill>
                <a:latin typeface="Times New Roman"/>
              </a:rPr>
              <a:t>A</a:t>
            </a:r>
            <a:r>
              <a:rPr lang="en-US" sz="2400" i="1" dirty="0">
                <a:solidFill>
                  <a:srgbClr val="333399"/>
                </a:solidFill>
                <a:latin typeface="Times New Roman"/>
              </a:rPr>
              <a:t>B</a:t>
            </a:r>
            <a:r>
              <a:rPr lang="en-US" sz="2400" i="1" dirty="0">
                <a:solidFill>
                  <a:srgbClr val="008000"/>
                </a:solidFill>
                <a:latin typeface="Times New Roman"/>
              </a:rPr>
              <a:t>C</a:t>
            </a:r>
            <a:r>
              <a:rPr lang="en-US" sz="2400" i="1" dirty="0">
                <a:solidFill>
                  <a:srgbClr val="000000"/>
                </a:solidFill>
                <a:latin typeface="Times New Roman"/>
              </a:rPr>
              <a:t> ~ </a:t>
            </a:r>
            <a:r>
              <a:rPr lang="en-US" sz="2400" dirty="0">
                <a:solidFill>
                  <a:srgbClr val="000000"/>
                </a:solidFill>
                <a:latin typeface="Times New Roman"/>
                <a:sym typeface="Symbol" pitchFamily="18" charset="2"/>
              </a:rPr>
              <a:t>∆</a:t>
            </a:r>
            <a:r>
              <a:rPr lang="en-US" sz="2400" i="1" dirty="0">
                <a:solidFill>
                  <a:srgbClr val="333399"/>
                </a:solidFill>
                <a:latin typeface="Times New Roman"/>
              </a:rPr>
              <a:t>EF</a:t>
            </a:r>
            <a:r>
              <a:rPr lang="en-US" sz="2400" i="1" dirty="0">
                <a:solidFill>
                  <a:srgbClr val="008000"/>
                </a:solidFill>
                <a:latin typeface="Times New Roman"/>
              </a:rPr>
              <a:t>D</a:t>
            </a:r>
            <a:r>
              <a:rPr lang="en-US" sz="2400" i="1" dirty="0">
                <a:solidFill>
                  <a:srgbClr val="000000"/>
                </a:solidFill>
                <a:latin typeface="Times New Roman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21888" name="Text Box 32"/>
          <p:cNvSpPr txBox="1">
            <a:spLocks noChangeArrowheads="1"/>
          </p:cNvSpPr>
          <p:nvPr/>
        </p:nvSpPr>
        <p:spPr bwMode="auto">
          <a:xfrm>
            <a:off x="555625" y="5638800"/>
            <a:ext cx="8207375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You can use proportions to find missing lengths in similar figures.</a:t>
            </a:r>
          </a:p>
        </p:txBody>
      </p:sp>
      <p:pic>
        <p:nvPicPr>
          <p:cNvPr id="121891" name="Picture 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905000"/>
            <a:ext cx="4533900" cy="2009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21892" name="Picture 3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7800"/>
            <a:ext cx="2943225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21893" name="Picture 3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438400"/>
            <a:ext cx="2352675" cy="1562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33537" y="533400"/>
            <a:ext cx="5791200" cy="1143000"/>
          </a:xfrm>
        </p:spPr>
        <p:txBody>
          <a:bodyPr/>
          <a:lstStyle/>
          <a:p>
            <a:r>
              <a:rPr lang="en-US" dirty="0" smtClean="0"/>
              <a:t>Similar Figures</a:t>
            </a:r>
            <a:endParaRPr 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5916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87" grpId="0"/>
      <p:bldP spid="12188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4400" y="2412824"/>
            <a:ext cx="770595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88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Lucida Calligraphy" pitchFamily="66" charset="0"/>
              </a:rPr>
              <a:t>Scale Factor</a:t>
            </a:r>
            <a:endParaRPr lang="en-US" sz="88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8314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59221"/>
            <a:ext cx="89154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When a figure is dilated, its size is changed by multiplying the length of each side by a </a:t>
            </a:r>
            <a:r>
              <a:rPr lang="en-US" sz="1800" b="1" dirty="0"/>
              <a:t>scale</a:t>
            </a:r>
            <a:r>
              <a:rPr lang="en-US" sz="1800" dirty="0"/>
              <a:t> </a:t>
            </a:r>
            <a:r>
              <a:rPr lang="en-US" sz="1800" b="1" dirty="0"/>
              <a:t>factor</a:t>
            </a:r>
            <a:r>
              <a:rPr lang="en-US" sz="1800" dirty="0"/>
              <a:t>.  All angles remain the same and so the new shape (or image) is similar to the original</a:t>
            </a:r>
            <a:r>
              <a:rPr lang="en-US" sz="1800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Can be found by dividing a new side length by the original side length.</a:t>
            </a:r>
          </a:p>
        </p:txBody>
      </p:sp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35059" y="3501008"/>
            <a:ext cx="914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08080"/>
              </a:buClr>
              <a:buSzPct val="120000"/>
              <a:buFont typeface="Courier New" pitchFamily="49" charset="0"/>
              <a:buChar char="o"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/>
                <a:cs typeface="Tahoma" pitchFamily="34" charset="0"/>
              </a:rPr>
              <a:t>When going from a small shape to a larger shape the scale factor is greater than 1. (Enlargement)</a:t>
            </a: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88067" y="5072787"/>
            <a:ext cx="8965504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08080"/>
              </a:buClr>
              <a:buSzPct val="120000"/>
              <a:buFont typeface="Courier New" pitchFamily="49" charset="0"/>
              <a:buChar char="o"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/>
              </a:rPr>
              <a:t>When going from a large shape to a smaller shape the scale factor is </a:t>
            </a: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/>
              </a:rPr>
              <a:t>less  than 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/>
              </a:rPr>
              <a:t>1. (Reduction)</a:t>
            </a:r>
          </a:p>
        </p:txBody>
      </p:sp>
      <p:sp>
        <p:nvSpPr>
          <p:cNvPr id="2" name="Rectangle 1"/>
          <p:cNvSpPr/>
          <p:nvPr/>
        </p:nvSpPr>
        <p:spPr>
          <a:xfrm>
            <a:off x="634970" y="238594"/>
            <a:ext cx="807144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44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Verdana"/>
              </a:rPr>
              <a:t>How to find Scale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346590" y="2492896"/>
                <a:ext cx="4648200" cy="899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𝑁𝑒𝑤</m:t>
                          </m:r>
                          <m:r>
                            <a:rPr lang="en-AU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 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𝑂𝑙𝑑</m:t>
                          </m:r>
                          <m:r>
                            <a:rPr lang="en-AU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Verdana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590" y="2492896"/>
                <a:ext cx="4648200" cy="89915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223887" y="3997498"/>
                <a:ext cx="2819400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𝐵𝑖𝑔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𝐿𝑖𝑡𝑡𝑙𝑒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Verdana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87" y="3997498"/>
                <a:ext cx="2819400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63888" y="5661247"/>
                <a:ext cx="1679532" cy="985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𝐿𝑖𝑡𝑡𝑙𝑒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𝐵𝑖𝑔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Verdana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5661247"/>
                <a:ext cx="1679532" cy="98591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67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8350" y="10964"/>
            <a:ext cx="8229600" cy="1143000"/>
          </a:xfrm>
        </p:spPr>
        <p:txBody>
          <a:bodyPr/>
          <a:lstStyle/>
          <a:p>
            <a:r>
              <a:rPr lang="en-US" dirty="0"/>
              <a:t>Determining Scale Factor</a:t>
            </a:r>
          </a:p>
        </p:txBody>
      </p:sp>
      <p:sp>
        <p:nvSpPr>
          <p:cNvPr id="9220" name="Freeform 4"/>
          <p:cNvSpPr>
            <a:spLocks/>
          </p:cNvSpPr>
          <p:nvPr/>
        </p:nvSpPr>
        <p:spPr bwMode="auto">
          <a:xfrm>
            <a:off x="4420275" y="1658144"/>
            <a:ext cx="4232275" cy="1328738"/>
          </a:xfrm>
          <a:custGeom>
            <a:avLst/>
            <a:gdLst>
              <a:gd name="T0" fmla="*/ 0 w 2666"/>
              <a:gd name="T1" fmla="*/ 0 h 837"/>
              <a:gd name="T2" fmla="*/ 836 w 2666"/>
              <a:gd name="T3" fmla="*/ 837 h 837"/>
              <a:gd name="T4" fmla="*/ 2666 w 2666"/>
              <a:gd name="T5" fmla="*/ 623 h 837"/>
              <a:gd name="T6" fmla="*/ 0 w 2666"/>
              <a:gd name="T7" fmla="*/ 0 h 8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66" h="837">
                <a:moveTo>
                  <a:pt x="0" y="0"/>
                </a:moveTo>
                <a:lnTo>
                  <a:pt x="836" y="837"/>
                </a:lnTo>
                <a:lnTo>
                  <a:pt x="2666" y="6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21" name="Freeform 5"/>
          <p:cNvSpPr>
            <a:spLocks noChangeAspect="1"/>
          </p:cNvSpPr>
          <p:nvPr/>
        </p:nvSpPr>
        <p:spPr bwMode="auto">
          <a:xfrm>
            <a:off x="1427837" y="2262982"/>
            <a:ext cx="2330450" cy="731837"/>
          </a:xfrm>
          <a:custGeom>
            <a:avLst/>
            <a:gdLst>
              <a:gd name="T0" fmla="*/ 0 w 2666"/>
              <a:gd name="T1" fmla="*/ 0 h 837"/>
              <a:gd name="T2" fmla="*/ 836 w 2666"/>
              <a:gd name="T3" fmla="*/ 837 h 837"/>
              <a:gd name="T4" fmla="*/ 2666 w 2666"/>
              <a:gd name="T5" fmla="*/ 623 h 837"/>
              <a:gd name="T6" fmla="*/ 0 w 2666"/>
              <a:gd name="T7" fmla="*/ 0 h 8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66" h="837">
                <a:moveTo>
                  <a:pt x="0" y="0"/>
                </a:moveTo>
                <a:lnTo>
                  <a:pt x="836" y="837"/>
                </a:lnTo>
                <a:lnTo>
                  <a:pt x="2666" y="6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848525" y="2893219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B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723362" y="2620169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C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116687" y="2070894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A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194850" y="1324769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5506125" y="2955132"/>
            <a:ext cx="352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H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8644612" y="2467769"/>
            <a:ext cx="2905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I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1010325" y="2497932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2 cm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194850" y="2148682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8 cm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2412087" y="2894807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5 cm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6512600" y="2818607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20 cm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2183487" y="2148682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6 cm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6130012" y="1689894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24 cm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474511" y="6019800"/>
            <a:ext cx="8169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These two triangles are similar because the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ratio of corresponding sides is the same.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508675" y="5373216"/>
            <a:ext cx="816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The scale factor from the small triangle to the larger triangle is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4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!</a:t>
            </a:r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>
            <a:off x="1421487" y="2239169"/>
            <a:ext cx="701675" cy="731838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>
            <a:off x="4439325" y="1659732"/>
            <a:ext cx="1325562" cy="1341437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>
            <a:off x="1451650" y="2239169"/>
            <a:ext cx="2287587" cy="549275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>
            <a:off x="4393287" y="1645444"/>
            <a:ext cx="4284663" cy="102235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 flipV="1">
            <a:off x="2167612" y="2788444"/>
            <a:ext cx="1555750" cy="212725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flipV="1">
            <a:off x="5733137" y="2666207"/>
            <a:ext cx="2851150" cy="320675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 flipV="1">
            <a:off x="1681837" y="2421732"/>
            <a:ext cx="25590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V="1">
            <a:off x="2764512" y="1872457"/>
            <a:ext cx="3411538" cy="396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5" name="Line 29"/>
          <p:cNvSpPr>
            <a:spLocks noChangeShapeType="1"/>
          </p:cNvSpPr>
          <p:nvPr/>
        </p:nvSpPr>
        <p:spPr bwMode="auto">
          <a:xfrm flipV="1">
            <a:off x="3175675" y="3031332"/>
            <a:ext cx="3351212" cy="61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246" name="Text Box 30"/>
          <p:cNvSpPr txBox="1">
            <a:spLocks noChangeArrowheads="1"/>
          </p:cNvSpPr>
          <p:nvPr/>
        </p:nvSpPr>
        <p:spPr bwMode="auto">
          <a:xfrm>
            <a:off x="3524925" y="1828007"/>
            <a:ext cx="1112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4</a:t>
            </a: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3175675" y="2178844"/>
            <a:ext cx="1112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4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4164687" y="2758282"/>
            <a:ext cx="1112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4</a:t>
            </a:r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335637" y="3573016"/>
            <a:ext cx="8169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To find the scale factor can you determine what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factor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 was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multiplied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 by a side length to create the corresponding side length?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090499" y="4417946"/>
                <a:ext cx="2393604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Scale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 smtClean="0"/>
                  <a:t> = 4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99" y="4417946"/>
                <a:ext cx="2393604" cy="616964"/>
              </a:xfrm>
              <a:prstGeom prst="rect">
                <a:avLst/>
              </a:prstGeom>
              <a:blipFill rotWithShape="1">
                <a:blip r:embed="rId3"/>
                <a:stretch>
                  <a:fillRect l="-2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27906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9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9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5" dur="10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10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5" dur="10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/>
      <p:bldP spid="9235" grpId="0"/>
      <p:bldP spid="9236" grpId="0" animBg="1"/>
      <p:bldP spid="9237" grpId="0" animBg="1"/>
      <p:bldP spid="9238" grpId="0" animBg="1"/>
      <p:bldP spid="9239" grpId="0" animBg="1"/>
      <p:bldP spid="9240" grpId="0" animBg="1"/>
      <p:bldP spid="9241" grpId="0" animBg="1"/>
      <p:bldP spid="9242" grpId="0" animBg="1"/>
      <p:bldP spid="9244" grpId="0" animBg="1"/>
      <p:bldP spid="9245" grpId="0" animBg="1"/>
      <p:bldP spid="9246" grpId="0"/>
      <p:bldP spid="9247" grpId="0"/>
      <p:bldP spid="9248" grpId="0"/>
      <p:bldP spid="92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5384" y="-14436"/>
            <a:ext cx="8229600" cy="1143000"/>
          </a:xfrm>
        </p:spPr>
        <p:txBody>
          <a:bodyPr/>
          <a:lstStyle/>
          <a:p>
            <a:r>
              <a:rPr lang="en-US" sz="4000" dirty="0"/>
              <a:t>Determining Scale Factor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1990725" y="1227623"/>
            <a:ext cx="2506663" cy="2611437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593850" y="918060"/>
            <a:ext cx="515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W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584325" y="3710473"/>
            <a:ext cx="515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H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459288" y="3726348"/>
            <a:ext cx="515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B</a:t>
            </a:r>
          </a:p>
        </p:txBody>
      </p:sp>
      <p:sp>
        <p:nvSpPr>
          <p:cNvPr id="10249" name="AutoShape 9"/>
          <p:cNvSpPr>
            <a:spLocks noChangeAspect="1" noChangeArrowheads="1"/>
          </p:cNvSpPr>
          <p:nvPr/>
        </p:nvSpPr>
        <p:spPr bwMode="auto">
          <a:xfrm>
            <a:off x="6391275" y="1719748"/>
            <a:ext cx="1316038" cy="13716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6145213" y="1386373"/>
            <a:ext cx="515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R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6056313" y="2980223"/>
            <a:ext cx="515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V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7620000" y="2980223"/>
            <a:ext cx="515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mtClean="0">
                <a:solidFill>
                  <a:srgbClr val="000000"/>
                </a:solidFill>
                <a:latin typeface="Verdana" pitchFamily="34" charset="0"/>
              </a:rPr>
              <a:t>M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6883400" y="1991210"/>
            <a:ext cx="1017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10 cm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5684933" y="2415072"/>
            <a:ext cx="1017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8 cm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6608763" y="3086585"/>
            <a:ext cx="1017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6 cm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2878138" y="1921360"/>
            <a:ext cx="1017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20 cm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075531" y="2467460"/>
            <a:ext cx="1017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16 cm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2589877" y="3824773"/>
            <a:ext cx="1017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12 cm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283075" y="1764198"/>
            <a:ext cx="1017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½ 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3903663" y="2345223"/>
            <a:ext cx="1017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½ 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759325" y="3259623"/>
            <a:ext cx="1017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smtClean="0">
                <a:solidFill>
                  <a:srgbClr val="000000"/>
                </a:solidFill>
                <a:latin typeface="Verdana" pitchFamily="34" charset="0"/>
              </a:rPr>
              <a:t>x ½ 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>
            <a:off x="1976438" y="1211748"/>
            <a:ext cx="0" cy="2640012"/>
          </a:xfrm>
          <a:prstGeom prst="line">
            <a:avLst/>
          </a:prstGeom>
          <a:noFill/>
          <a:ln w="5715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>
            <a:off x="6389688" y="1734035"/>
            <a:ext cx="15875" cy="1385888"/>
          </a:xfrm>
          <a:prstGeom prst="line">
            <a:avLst/>
          </a:prstGeom>
          <a:noFill/>
          <a:ln w="5715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1966913" y="1246673"/>
            <a:ext cx="2506662" cy="2579687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>
            <a:off x="6396038" y="1737210"/>
            <a:ext cx="1298575" cy="1355725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1985963" y="3816835"/>
            <a:ext cx="2476500" cy="1588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 flipV="1">
            <a:off x="6386513" y="3069123"/>
            <a:ext cx="1296987" cy="17462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3733800" y="2104716"/>
            <a:ext cx="3138488" cy="674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 flipV="1">
            <a:off x="1931988" y="2613510"/>
            <a:ext cx="3752945" cy="88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3427413" y="3312010"/>
            <a:ext cx="3154362" cy="693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AU" b="1" smtClean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488915" y="6213702"/>
            <a:ext cx="8169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These two triangles are similar because the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ratio of corresponding sides is the same.</a:t>
            </a: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auto">
          <a:xfrm>
            <a:off x="632618" y="5585831"/>
            <a:ext cx="816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The scale factor from the large triangle to the smaller triangle is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0.5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!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379694" y="4314409"/>
            <a:ext cx="8169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To find the scale factor can you determine what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factor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 was </a:t>
            </a:r>
            <a:r>
              <a:rPr lang="en-US" dirty="0" smtClean="0">
                <a:solidFill>
                  <a:srgbClr val="FF0000"/>
                </a:solidFill>
                <a:latin typeface="Verdana" pitchFamily="34" charset="0"/>
              </a:rPr>
              <a:t>multiplied</a:t>
            </a:r>
            <a:r>
              <a:rPr lang="en-US" dirty="0" smtClean="0">
                <a:solidFill>
                  <a:srgbClr val="000000"/>
                </a:solidFill>
                <a:latin typeface="Verdana" pitchFamily="34" charset="0"/>
              </a:rPr>
              <a:t> by a side length to create the corresponding side length?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2909440" y="4971176"/>
                <a:ext cx="2585964" cy="614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Scale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 smtClean="0"/>
                  <a:t> = 0.5</a:t>
                </a:r>
                <a:endParaRPr lang="en-AU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40" y="4971176"/>
                <a:ext cx="2585964" cy="614655"/>
              </a:xfrm>
              <a:prstGeom prst="rect">
                <a:avLst/>
              </a:prstGeom>
              <a:blipFill rotWithShape="1">
                <a:blip r:embed="rId3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3757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3" grpId="0"/>
      <p:bldP spid="10264" grpId="0"/>
      <p:bldP spid="10265" grpId="0"/>
      <p:bldP spid="10267" grpId="0" animBg="1"/>
      <p:bldP spid="10268" grpId="0" animBg="1"/>
      <p:bldP spid="10269" grpId="0" animBg="1"/>
      <p:bldP spid="10270" grpId="0" animBg="1"/>
      <p:bldP spid="10271" grpId="0" animBg="1"/>
      <p:bldP spid="10272" grpId="0" animBg="1"/>
      <p:bldP spid="10260" grpId="0" animBg="1"/>
      <p:bldP spid="10261" grpId="0" animBg="1"/>
      <p:bldP spid="10262" grpId="0" animBg="1"/>
      <p:bldP spid="32" grpId="0"/>
      <p:bldP spid="33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81000" y="1905000"/>
            <a:ext cx="8226425" cy="76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Arial" charset="0"/>
              </a:rPr>
              <a:t>The two triangles below </a:t>
            </a:r>
            <a:r>
              <a:rPr lang="en-US" sz="2400" dirty="0" smtClean="0">
                <a:latin typeface="Arial" charset="0"/>
              </a:rPr>
              <a:t>are </a:t>
            </a:r>
            <a:r>
              <a:rPr lang="en-US" sz="2400" dirty="0">
                <a:latin typeface="Arial" charset="0"/>
              </a:rPr>
              <a:t>similar, determine the </a:t>
            </a:r>
            <a:r>
              <a:rPr lang="en-US" sz="2400" dirty="0" smtClean="0">
                <a:latin typeface="Arial" charset="0"/>
              </a:rPr>
              <a:t>length of side </a:t>
            </a:r>
            <a:r>
              <a:rPr lang="en-US" sz="2400" i="1" dirty="0" smtClean="0">
                <a:latin typeface="Arial" charset="0"/>
              </a:rPr>
              <a:t>x.</a:t>
            </a:r>
            <a:endParaRPr lang="en-US" sz="3600" dirty="0">
              <a:latin typeface="Arial" charset="0"/>
            </a:endParaRPr>
          </a:p>
        </p:txBody>
      </p:sp>
      <p:pic>
        <p:nvPicPr>
          <p:cNvPr id="8196" name="Picture 3" descr="missxsld1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2895600"/>
            <a:ext cx="6364288" cy="219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4114800" y="5257800"/>
          <a:ext cx="179184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4" imgW="622080" imgH="393480" progId="Equation.3">
                  <p:embed/>
                </p:oleObj>
              </mc:Choice>
              <mc:Fallback>
                <p:oleObj name="Equation" r:id="rId4" imgW="622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257800"/>
                        <a:ext cx="1791840" cy="1133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85800" y="381000"/>
            <a:ext cx="57912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Example: Finding the length of a Side of Similar Triangles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8223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3"/>
          <p:cNvSpPr>
            <a:spLocks noChangeArrowheads="1"/>
          </p:cNvSpPr>
          <p:nvPr/>
        </p:nvSpPr>
        <p:spPr bwMode="auto">
          <a:xfrm>
            <a:off x="234315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9218" name="Object 1024"/>
          <p:cNvGraphicFramePr>
            <a:graphicFrameLocks noChangeAspect="1"/>
          </p:cNvGraphicFramePr>
          <p:nvPr/>
        </p:nvGraphicFramePr>
        <p:xfrm>
          <a:off x="3733800" y="2819400"/>
          <a:ext cx="1912301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3" imgW="622080" imgH="393480" progId="Equation.3">
                  <p:embed/>
                </p:oleObj>
              </mc:Choice>
              <mc:Fallback>
                <p:oleObj name="Equation" r:id="rId3" imgW="622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819400"/>
                        <a:ext cx="1912301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Oval 11"/>
          <p:cNvSpPr>
            <a:spLocks noChangeArrowheads="1"/>
          </p:cNvSpPr>
          <p:nvPr/>
        </p:nvSpPr>
        <p:spPr bwMode="auto">
          <a:xfrm rot="9067393">
            <a:off x="3723739" y="3083134"/>
            <a:ext cx="2013071" cy="651074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 rot="-8920406">
            <a:off x="3545638" y="3105530"/>
            <a:ext cx="2116839" cy="639584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1841" name="Object 1025"/>
          <p:cNvGraphicFramePr>
            <a:graphicFrameLocks noChangeAspect="1"/>
          </p:cNvGraphicFramePr>
          <p:nvPr/>
        </p:nvGraphicFramePr>
        <p:xfrm>
          <a:off x="3352800" y="4114800"/>
          <a:ext cx="2598738" cy="689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5" imgW="812520" imgH="215640" progId="Equation.3">
                  <p:embed/>
                </p:oleObj>
              </mc:Choice>
              <mc:Fallback>
                <p:oleObj name="Equation" r:id="rId5" imgW="8125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14800"/>
                        <a:ext cx="2598738" cy="689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2" name="Object 1026"/>
          <p:cNvGraphicFramePr>
            <a:graphicFrameLocks noChangeAspect="1"/>
          </p:cNvGraphicFramePr>
          <p:nvPr/>
        </p:nvGraphicFramePr>
        <p:xfrm>
          <a:off x="3581400" y="4876800"/>
          <a:ext cx="2443163" cy="588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7" imgW="736560" imgH="177480" progId="Equation.3">
                  <p:embed/>
                </p:oleObj>
              </mc:Choice>
              <mc:Fallback>
                <p:oleObj name="Equation" r:id="rId7" imgW="7365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876800"/>
                        <a:ext cx="2443163" cy="588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3" name="Object 1027"/>
          <p:cNvGraphicFramePr>
            <a:graphicFrameLocks noChangeAspect="1"/>
          </p:cNvGraphicFramePr>
          <p:nvPr/>
        </p:nvGraphicFramePr>
        <p:xfrm>
          <a:off x="3962400" y="5562600"/>
          <a:ext cx="13858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9" imgW="342720" imgH="177480" progId="Equation.3">
                  <p:embed/>
                </p:oleObj>
              </mc:Choice>
              <mc:Fallback>
                <p:oleObj name="Equation" r:id="rId9" imgW="342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562600"/>
                        <a:ext cx="13858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 descr="missxsld14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" y="2743200"/>
            <a:ext cx="2895600" cy="99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Continued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542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1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 animBg="1"/>
      <p:bldP spid="2049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grpSp>
        <p:nvGrpSpPr>
          <p:cNvPr id="62" name="Group 61"/>
          <p:cNvGrpSpPr/>
          <p:nvPr/>
        </p:nvGrpSpPr>
        <p:grpSpPr>
          <a:xfrm>
            <a:off x="179512" y="1196752"/>
            <a:ext cx="3568253" cy="2391132"/>
            <a:chOff x="179512" y="1196752"/>
            <a:chExt cx="3568253" cy="2391132"/>
          </a:xfrm>
        </p:grpSpPr>
        <p:grpSp>
          <p:nvGrpSpPr>
            <p:cNvPr id="10" name="Group 9"/>
            <p:cNvGrpSpPr/>
            <p:nvPr/>
          </p:nvGrpSpPr>
          <p:grpSpPr>
            <a:xfrm>
              <a:off x="683568" y="1628800"/>
              <a:ext cx="2520280" cy="1512168"/>
              <a:chOff x="683568" y="1628800"/>
              <a:chExt cx="2520280" cy="1512168"/>
            </a:xfrm>
          </p:grpSpPr>
          <p:cxnSp>
            <p:nvCxnSpPr>
              <p:cNvPr id="5" name="Straight Connector 4"/>
              <p:cNvCxnSpPr/>
              <p:nvPr/>
            </p:nvCxnSpPr>
            <p:spPr>
              <a:xfrm flipV="1">
                <a:off x="683568" y="1628800"/>
                <a:ext cx="576064" cy="15121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1628800"/>
                <a:ext cx="1944216" cy="15121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683568" y="3140968"/>
                <a:ext cx="25202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43608" y="1196752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A</a:t>
              </a:r>
              <a:endParaRPr lang="en-GB" sz="2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71701" y="2910135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5321" y="2983212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C</a:t>
              </a:r>
              <a:endParaRPr lang="en-GB" sz="2400" dirty="0"/>
            </a:p>
          </p:txBody>
        </p:sp>
        <p:sp>
          <p:nvSpPr>
            <p:cNvPr id="21" name="Arc 20"/>
            <p:cNvSpPr/>
            <p:nvPr/>
          </p:nvSpPr>
          <p:spPr>
            <a:xfrm>
              <a:off x="593857" y="2812247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/>
            <p:cNvSpPr/>
            <p:nvPr/>
          </p:nvSpPr>
          <p:spPr>
            <a:xfrm rot="6202913">
              <a:off x="991695" y="1433958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/>
            <p:cNvSpPr/>
            <p:nvPr/>
          </p:nvSpPr>
          <p:spPr>
            <a:xfrm rot="14393944">
              <a:off x="2642310" y="2669239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71600" y="2643956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70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24000" y="1923219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8</a:t>
              </a:r>
              <a:r>
                <a:rPr lang="en-GB" sz="2400" dirty="0" smtClean="0"/>
                <a:t>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60349" y="2694612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30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9512" y="2060848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5cm</a:t>
              </a:r>
              <a:endParaRPr lang="en-GB" sz="24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060349" y="1927214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9</a:t>
              </a:r>
              <a:r>
                <a:rPr lang="en-GB" sz="2400" dirty="0" smtClean="0"/>
                <a:t>cm</a:t>
              </a:r>
              <a:endParaRPr lang="en-GB" sz="24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81552" y="3126219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8</a:t>
              </a:r>
              <a:r>
                <a:rPr lang="en-GB" sz="2400" dirty="0" smtClean="0"/>
                <a:t>cm</a:t>
              </a:r>
              <a:endParaRPr lang="en-GB" sz="2400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139952" y="1239143"/>
            <a:ext cx="4945971" cy="3227586"/>
            <a:chOff x="4139952" y="1239143"/>
            <a:chExt cx="4945971" cy="3227586"/>
          </a:xfrm>
        </p:grpSpPr>
        <p:grpSp>
          <p:nvGrpSpPr>
            <p:cNvPr id="11" name="Group 10"/>
            <p:cNvGrpSpPr/>
            <p:nvPr/>
          </p:nvGrpSpPr>
          <p:grpSpPr>
            <a:xfrm>
              <a:off x="4572000" y="1628800"/>
              <a:ext cx="3960440" cy="2376264"/>
              <a:chOff x="683568" y="1628800"/>
              <a:chExt cx="2520280" cy="1512168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flipV="1">
                <a:off x="683568" y="1628800"/>
                <a:ext cx="576064" cy="15121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1259632" y="1628800"/>
                <a:ext cx="1944216" cy="15121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83568" y="3140968"/>
                <a:ext cx="25202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5292080" y="1239143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X</a:t>
              </a:r>
              <a:endParaRPr lang="en-GB" sz="24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09859" y="3969322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Y</a:t>
              </a:r>
              <a:endParaRPr lang="en-GB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83968" y="3968884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Z</a:t>
              </a:r>
            </a:p>
          </p:txBody>
        </p:sp>
        <p:sp>
          <p:nvSpPr>
            <p:cNvPr id="22" name="Arc 21"/>
            <p:cNvSpPr/>
            <p:nvPr/>
          </p:nvSpPr>
          <p:spPr>
            <a:xfrm>
              <a:off x="4499992" y="3691091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/>
            <p:cNvSpPr/>
            <p:nvPr/>
          </p:nvSpPr>
          <p:spPr>
            <a:xfrm rot="6202913">
              <a:off x="5198070" y="1433090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Arc 25"/>
            <p:cNvSpPr/>
            <p:nvPr/>
          </p:nvSpPr>
          <p:spPr>
            <a:xfrm rot="14393944">
              <a:off x="7952212" y="3529645"/>
              <a:ext cx="420255" cy="627945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55647" y="3512530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70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66234" y="1923219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8</a:t>
              </a:r>
              <a:r>
                <a:rPr lang="en-GB" sz="2400" dirty="0" smtClean="0"/>
                <a:t>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32004" y="3543399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30</a:t>
              </a:r>
              <a:r>
                <a:rPr lang="en-GB" sz="2400" baseline="30000" dirty="0" smtClean="0"/>
                <a:t>o</a:t>
              </a:r>
              <a:endParaRPr lang="en-GB" sz="2400" baseline="30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39952" y="2502455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15cm</a:t>
              </a:r>
              <a:endParaRPr lang="en-GB" sz="2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23953" y="4005064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24cm</a:t>
              </a:r>
              <a:endParaRPr lang="en-GB" sz="24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44737" y="2444080"/>
              <a:ext cx="924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27cm</a:t>
              </a:r>
              <a:endParaRPr lang="en-GB" sz="2400" dirty="0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35321" y="4437112"/>
            <a:ext cx="820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These two triangles are similar because:</a:t>
            </a:r>
            <a:endParaRPr lang="en-GB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35321" y="4898777"/>
            <a:ext cx="322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Angle ABC = Angle XYZ</a:t>
            </a:r>
            <a:endParaRPr lang="en-GB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335321" y="5360442"/>
            <a:ext cx="322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Angle ACB = Angle XZY</a:t>
            </a:r>
            <a:endParaRPr lang="en-GB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335321" y="5822107"/>
            <a:ext cx="322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Angle BAC = Angle YXZ</a:t>
            </a:r>
            <a:endParaRPr lang="en-GB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3747765" y="5229200"/>
            <a:ext cx="1107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AND</a:t>
            </a:r>
          </a:p>
          <a:p>
            <a:pPr algn="ctr"/>
            <a:r>
              <a:rPr lang="en-GB" sz="3200" dirty="0" smtClean="0"/>
              <a:t>SO</a:t>
            </a:r>
            <a:endParaRPr lang="en-GB" sz="3200" dirty="0"/>
          </a:p>
        </p:txBody>
      </p:sp>
      <p:sp>
        <p:nvSpPr>
          <p:cNvPr id="44" name="TextBox 43"/>
          <p:cNvSpPr txBox="1"/>
          <p:nvPr/>
        </p:nvSpPr>
        <p:spPr>
          <a:xfrm>
            <a:off x="5251690" y="4898777"/>
            <a:ext cx="37127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Triangle XYZ is an enlargement of triangle ABC</a:t>
            </a:r>
          </a:p>
          <a:p>
            <a:endParaRPr lang="en-GB" sz="2400" dirty="0"/>
          </a:p>
          <a:p>
            <a:r>
              <a:rPr lang="en-GB" sz="2400" dirty="0" smtClean="0"/>
              <a:t>Scale factor 3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938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21042" r="21991" b="22916"/>
          <a:stretch/>
        </p:blipFill>
        <p:spPr bwMode="auto">
          <a:xfrm>
            <a:off x="611560" y="1124744"/>
            <a:ext cx="7787640" cy="4099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907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18750" r="16603" b="37500"/>
          <a:stretch/>
        </p:blipFill>
        <p:spPr bwMode="auto">
          <a:xfrm>
            <a:off x="395536" y="1366664"/>
            <a:ext cx="848868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1" t="20262" r="42179" b="73085"/>
          <a:stretch/>
        </p:blipFill>
        <p:spPr bwMode="auto">
          <a:xfrm>
            <a:off x="392048" y="4567064"/>
            <a:ext cx="5194104" cy="486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20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29" y="188640"/>
            <a:ext cx="7696200" cy="11430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3600" b="1" dirty="0" smtClean="0">
                <a:solidFill>
                  <a:schemeClr val="tx1"/>
                </a:solidFill>
                <a:latin typeface="Times New Roman" pitchFamily="18" charset="0"/>
              </a:rPr>
              <a:t>AAA </a:t>
            </a:r>
            <a:r>
              <a:rPr lang="en-US" altLang="en-US" sz="3600" b="1" dirty="0">
                <a:solidFill>
                  <a:schemeClr val="tx1"/>
                </a:solidFill>
                <a:latin typeface="Times New Roman" pitchFamily="18" charset="0"/>
              </a:rPr>
              <a:t>Similarity </a:t>
            </a:r>
            <a:br>
              <a:rPr lang="en-US" altLang="en-US" sz="3600" b="1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en-US" sz="36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altLang="en-US" sz="3600" b="1" dirty="0" smtClean="0">
                <a:solidFill>
                  <a:schemeClr val="tx1"/>
                </a:solidFill>
                <a:latin typeface="Times New Roman" pitchFamily="18" charset="0"/>
              </a:rPr>
              <a:t>Angle-Angle-Angle)</a:t>
            </a:r>
            <a:endParaRPr lang="en-US" altLang="en-US" sz="3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96259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71022708"/>
              </p:ext>
            </p:extLst>
          </p:nvPr>
        </p:nvGraphicFramePr>
        <p:xfrm>
          <a:off x="2278062" y="4876800"/>
          <a:ext cx="20574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3" imgW="635000" imgH="139700" progId="Equation.DSMT36">
                  <p:embed/>
                </p:oleObj>
              </mc:Choice>
              <mc:Fallback>
                <p:oleObj name="Equation" r:id="rId3" imgW="635000" imgH="139700" progId="Equation.DSMT36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2" y="4876800"/>
                        <a:ext cx="20574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2" name="Object 1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012605848"/>
              </p:ext>
            </p:extLst>
          </p:nvPr>
        </p:nvGraphicFramePr>
        <p:xfrm>
          <a:off x="5443537" y="4826000"/>
          <a:ext cx="21351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5" imgW="635000" imgH="139700" progId="Equation.DSMT36">
                  <p:embed/>
                </p:oleObj>
              </mc:Choice>
              <mc:Fallback>
                <p:oleObj name="Equation" r:id="rId5" imgW="635000" imgH="139700" progId="Equation.DSMT36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7" y="4826000"/>
                        <a:ext cx="21351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228600" y="1412776"/>
            <a:ext cx="8610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800" dirty="0">
                <a:latin typeface="Times New Roman" pitchFamily="18" charset="0"/>
              </a:rPr>
              <a:t>If 2 angles of one triangle are congruent to 2 angles of another triangle, then the triangles are similar.</a:t>
            </a:r>
            <a:endParaRPr lang="en-US" altLang="en-US" sz="2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8198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4089"/>
            <a:ext cx="7315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208" name="Group 7"/>
          <p:cNvGrpSpPr>
            <a:grpSpLocks/>
          </p:cNvGrpSpPr>
          <p:nvPr/>
        </p:nvGrpSpPr>
        <p:grpSpPr bwMode="auto">
          <a:xfrm>
            <a:off x="1977126" y="3079792"/>
            <a:ext cx="293489" cy="149225"/>
            <a:chOff x="1542" y="1443"/>
            <a:chExt cx="187" cy="94"/>
          </a:xfrm>
        </p:grpSpPr>
        <p:sp>
          <p:nvSpPr>
            <p:cNvPr id="8212" name="Arc 8"/>
            <p:cNvSpPr>
              <a:spLocks/>
            </p:cNvSpPr>
            <p:nvPr/>
          </p:nvSpPr>
          <p:spPr bwMode="auto">
            <a:xfrm rot="5400000">
              <a:off x="1609" y="1417"/>
              <a:ext cx="53" cy="187"/>
            </a:xfrm>
            <a:custGeom>
              <a:avLst/>
              <a:gdLst>
                <a:gd name="T0" fmla="*/ 0 w 23989"/>
                <a:gd name="T1" fmla="*/ 0 h 41991"/>
                <a:gd name="T2" fmla="*/ 0 w 23989"/>
                <a:gd name="T3" fmla="*/ 0 h 41991"/>
                <a:gd name="T4" fmla="*/ 0 w 23989"/>
                <a:gd name="T5" fmla="*/ 0 h 419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89" h="41991" fill="none" extrusionOk="0">
                  <a:moveTo>
                    <a:pt x="9511" y="-1"/>
                  </a:moveTo>
                  <a:cubicBezTo>
                    <a:pt x="18181" y="3027"/>
                    <a:pt x="23989" y="11207"/>
                    <a:pt x="23989" y="20391"/>
                  </a:cubicBezTo>
                  <a:cubicBezTo>
                    <a:pt x="23989" y="32320"/>
                    <a:pt x="14318" y="41991"/>
                    <a:pt x="2389" y="41991"/>
                  </a:cubicBezTo>
                  <a:cubicBezTo>
                    <a:pt x="1590" y="41991"/>
                    <a:pt x="793" y="41946"/>
                    <a:pt x="-1" y="41858"/>
                  </a:cubicBezTo>
                </a:path>
                <a:path w="23989" h="41991" stroke="0" extrusionOk="0">
                  <a:moveTo>
                    <a:pt x="9511" y="-1"/>
                  </a:moveTo>
                  <a:cubicBezTo>
                    <a:pt x="18181" y="3027"/>
                    <a:pt x="23989" y="11207"/>
                    <a:pt x="23989" y="20391"/>
                  </a:cubicBezTo>
                  <a:cubicBezTo>
                    <a:pt x="23989" y="32320"/>
                    <a:pt x="14318" y="41991"/>
                    <a:pt x="2389" y="41991"/>
                  </a:cubicBezTo>
                  <a:cubicBezTo>
                    <a:pt x="1590" y="41991"/>
                    <a:pt x="793" y="41946"/>
                    <a:pt x="-1" y="41858"/>
                  </a:cubicBezTo>
                  <a:lnTo>
                    <a:pt x="2389" y="20391"/>
                  </a:lnTo>
                  <a:lnTo>
                    <a:pt x="9511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endParaRPr lang="en-AU"/>
            </a:p>
          </p:txBody>
        </p:sp>
        <p:sp>
          <p:nvSpPr>
            <p:cNvPr id="8213" name="Arc 9"/>
            <p:cNvSpPr>
              <a:spLocks/>
            </p:cNvSpPr>
            <p:nvPr/>
          </p:nvSpPr>
          <p:spPr bwMode="auto">
            <a:xfrm rot="5400000">
              <a:off x="1629" y="1393"/>
              <a:ext cx="48" cy="148"/>
            </a:xfrm>
            <a:custGeom>
              <a:avLst/>
              <a:gdLst>
                <a:gd name="T0" fmla="*/ 0 w 21600"/>
                <a:gd name="T1" fmla="*/ 0 h 33162"/>
                <a:gd name="T2" fmla="*/ 0 w 21600"/>
                <a:gd name="T3" fmla="*/ 0 h 33162"/>
                <a:gd name="T4" fmla="*/ 0 w 21600"/>
                <a:gd name="T5" fmla="*/ 0 h 33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3162" fill="none" extrusionOk="0">
                  <a:moveTo>
                    <a:pt x="7122" y="-1"/>
                  </a:moveTo>
                  <a:cubicBezTo>
                    <a:pt x="15792" y="3027"/>
                    <a:pt x="21600" y="11207"/>
                    <a:pt x="21600" y="20391"/>
                  </a:cubicBezTo>
                  <a:cubicBezTo>
                    <a:pt x="21600" y="24984"/>
                    <a:pt x="20135" y="29458"/>
                    <a:pt x="17419" y="33162"/>
                  </a:cubicBezTo>
                </a:path>
                <a:path w="21600" h="33162" stroke="0" extrusionOk="0">
                  <a:moveTo>
                    <a:pt x="7122" y="-1"/>
                  </a:moveTo>
                  <a:cubicBezTo>
                    <a:pt x="15792" y="3027"/>
                    <a:pt x="21600" y="11207"/>
                    <a:pt x="21600" y="20391"/>
                  </a:cubicBezTo>
                  <a:cubicBezTo>
                    <a:pt x="21600" y="24984"/>
                    <a:pt x="20135" y="29458"/>
                    <a:pt x="17419" y="33162"/>
                  </a:cubicBezTo>
                  <a:lnTo>
                    <a:pt x="0" y="20391"/>
                  </a:lnTo>
                  <a:lnTo>
                    <a:pt x="7122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endParaRPr lang="en-AU"/>
            </a:p>
          </p:txBody>
        </p:sp>
      </p:grpSp>
      <p:grpSp>
        <p:nvGrpSpPr>
          <p:cNvPr id="8209" name="Group 10"/>
          <p:cNvGrpSpPr>
            <a:grpSpLocks/>
          </p:cNvGrpSpPr>
          <p:nvPr/>
        </p:nvGrpSpPr>
        <p:grpSpPr bwMode="auto">
          <a:xfrm>
            <a:off x="5618995" y="2912901"/>
            <a:ext cx="376670" cy="152400"/>
            <a:chOff x="1542" y="1443"/>
            <a:chExt cx="187" cy="94"/>
          </a:xfrm>
        </p:grpSpPr>
        <p:sp>
          <p:nvSpPr>
            <p:cNvPr id="8210" name="Arc 11"/>
            <p:cNvSpPr>
              <a:spLocks/>
            </p:cNvSpPr>
            <p:nvPr/>
          </p:nvSpPr>
          <p:spPr bwMode="auto">
            <a:xfrm rot="5400000">
              <a:off x="1609" y="1417"/>
              <a:ext cx="53" cy="187"/>
            </a:xfrm>
            <a:custGeom>
              <a:avLst/>
              <a:gdLst>
                <a:gd name="T0" fmla="*/ 0 w 23989"/>
                <a:gd name="T1" fmla="*/ 0 h 41991"/>
                <a:gd name="T2" fmla="*/ 0 w 23989"/>
                <a:gd name="T3" fmla="*/ 0 h 41991"/>
                <a:gd name="T4" fmla="*/ 0 w 23989"/>
                <a:gd name="T5" fmla="*/ 0 h 419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89" h="41991" fill="none" extrusionOk="0">
                  <a:moveTo>
                    <a:pt x="9511" y="-1"/>
                  </a:moveTo>
                  <a:cubicBezTo>
                    <a:pt x="18181" y="3027"/>
                    <a:pt x="23989" y="11207"/>
                    <a:pt x="23989" y="20391"/>
                  </a:cubicBezTo>
                  <a:cubicBezTo>
                    <a:pt x="23989" y="32320"/>
                    <a:pt x="14318" y="41991"/>
                    <a:pt x="2389" y="41991"/>
                  </a:cubicBezTo>
                  <a:cubicBezTo>
                    <a:pt x="1590" y="41991"/>
                    <a:pt x="793" y="41946"/>
                    <a:pt x="-1" y="41858"/>
                  </a:cubicBezTo>
                </a:path>
                <a:path w="23989" h="41991" stroke="0" extrusionOk="0">
                  <a:moveTo>
                    <a:pt x="9511" y="-1"/>
                  </a:moveTo>
                  <a:cubicBezTo>
                    <a:pt x="18181" y="3027"/>
                    <a:pt x="23989" y="11207"/>
                    <a:pt x="23989" y="20391"/>
                  </a:cubicBezTo>
                  <a:cubicBezTo>
                    <a:pt x="23989" y="32320"/>
                    <a:pt x="14318" y="41991"/>
                    <a:pt x="2389" y="41991"/>
                  </a:cubicBezTo>
                  <a:cubicBezTo>
                    <a:pt x="1590" y="41991"/>
                    <a:pt x="793" y="41946"/>
                    <a:pt x="-1" y="41858"/>
                  </a:cubicBezTo>
                  <a:lnTo>
                    <a:pt x="2389" y="20391"/>
                  </a:lnTo>
                  <a:lnTo>
                    <a:pt x="9511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endParaRPr lang="en-AU"/>
            </a:p>
          </p:txBody>
        </p:sp>
        <p:sp>
          <p:nvSpPr>
            <p:cNvPr id="8211" name="Arc 12"/>
            <p:cNvSpPr>
              <a:spLocks/>
            </p:cNvSpPr>
            <p:nvPr/>
          </p:nvSpPr>
          <p:spPr bwMode="auto">
            <a:xfrm rot="5400000">
              <a:off x="1629" y="1393"/>
              <a:ext cx="48" cy="148"/>
            </a:xfrm>
            <a:custGeom>
              <a:avLst/>
              <a:gdLst>
                <a:gd name="T0" fmla="*/ 0 w 21600"/>
                <a:gd name="T1" fmla="*/ 0 h 33162"/>
                <a:gd name="T2" fmla="*/ 0 w 21600"/>
                <a:gd name="T3" fmla="*/ 0 h 33162"/>
                <a:gd name="T4" fmla="*/ 0 w 21600"/>
                <a:gd name="T5" fmla="*/ 0 h 33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3162" fill="none" extrusionOk="0">
                  <a:moveTo>
                    <a:pt x="7122" y="-1"/>
                  </a:moveTo>
                  <a:cubicBezTo>
                    <a:pt x="15792" y="3027"/>
                    <a:pt x="21600" y="11207"/>
                    <a:pt x="21600" y="20391"/>
                  </a:cubicBezTo>
                  <a:cubicBezTo>
                    <a:pt x="21600" y="24984"/>
                    <a:pt x="20135" y="29458"/>
                    <a:pt x="17419" y="33162"/>
                  </a:cubicBezTo>
                </a:path>
                <a:path w="21600" h="33162" stroke="0" extrusionOk="0">
                  <a:moveTo>
                    <a:pt x="7122" y="-1"/>
                  </a:moveTo>
                  <a:cubicBezTo>
                    <a:pt x="15792" y="3027"/>
                    <a:pt x="21600" y="11207"/>
                    <a:pt x="21600" y="20391"/>
                  </a:cubicBezTo>
                  <a:cubicBezTo>
                    <a:pt x="21600" y="24984"/>
                    <a:pt x="20135" y="29458"/>
                    <a:pt x="17419" y="33162"/>
                  </a:cubicBezTo>
                  <a:lnTo>
                    <a:pt x="0" y="20391"/>
                  </a:lnTo>
                  <a:lnTo>
                    <a:pt x="7122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endParaRPr lang="en-AU"/>
            </a:p>
          </p:txBody>
        </p:sp>
      </p:grpSp>
      <p:sp>
        <p:nvSpPr>
          <p:cNvPr id="8206" name="Arc 14"/>
          <p:cNvSpPr>
            <a:spLocks/>
          </p:cNvSpPr>
          <p:nvPr/>
        </p:nvSpPr>
        <p:spPr bwMode="auto">
          <a:xfrm>
            <a:off x="1457449" y="3608429"/>
            <a:ext cx="75334" cy="188913"/>
          </a:xfrm>
          <a:custGeom>
            <a:avLst/>
            <a:gdLst>
              <a:gd name="T0" fmla="*/ 0 w 21600"/>
              <a:gd name="T1" fmla="*/ 0 h 26702"/>
              <a:gd name="T2" fmla="*/ 0 w 21600"/>
              <a:gd name="T3" fmla="*/ 0 h 26702"/>
              <a:gd name="T4" fmla="*/ 0 w 21600"/>
              <a:gd name="T5" fmla="*/ 0 h 267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6702" fill="none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</a:path>
              <a:path w="21600" h="26702" stroke="0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  <a:lnTo>
                  <a:pt x="0" y="20391"/>
                </a:lnTo>
                <a:lnTo>
                  <a:pt x="7122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207" name="Arc 15"/>
          <p:cNvSpPr>
            <a:spLocks/>
          </p:cNvSpPr>
          <p:nvPr/>
        </p:nvSpPr>
        <p:spPr bwMode="auto">
          <a:xfrm>
            <a:off x="4683957" y="3825916"/>
            <a:ext cx="75334" cy="188913"/>
          </a:xfrm>
          <a:custGeom>
            <a:avLst/>
            <a:gdLst>
              <a:gd name="T0" fmla="*/ 0 w 21600"/>
              <a:gd name="T1" fmla="*/ 0 h 26702"/>
              <a:gd name="T2" fmla="*/ 0 w 21600"/>
              <a:gd name="T3" fmla="*/ 0 h 26702"/>
              <a:gd name="T4" fmla="*/ 0 w 21600"/>
              <a:gd name="T5" fmla="*/ 0 h 267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6702" fill="none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</a:path>
              <a:path w="21600" h="26702" stroke="0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  <a:lnTo>
                  <a:pt x="0" y="20391"/>
                </a:lnTo>
                <a:lnTo>
                  <a:pt x="7122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962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546725"/>
              </p:ext>
            </p:extLst>
          </p:nvPr>
        </p:nvGraphicFramePr>
        <p:xfrm>
          <a:off x="2887662" y="5791200"/>
          <a:ext cx="32099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8" imgW="990600" imgH="152400" progId="Equation.DSMT36">
                  <p:embed/>
                </p:oleObj>
              </mc:Choice>
              <mc:Fallback>
                <p:oleObj name="Equation" r:id="rId8" imgW="990600" imgH="152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2" y="5791200"/>
                        <a:ext cx="32099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4" name="Rectangle 18"/>
          <p:cNvSpPr>
            <a:spLocks noChangeArrowheads="1"/>
          </p:cNvSpPr>
          <p:nvPr/>
        </p:nvSpPr>
        <p:spPr bwMode="auto">
          <a:xfrm>
            <a:off x="373062" y="5638800"/>
            <a:ext cx="205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>
                <a:solidFill>
                  <a:srgbClr val="CC3300"/>
                </a:solidFill>
                <a:latin typeface="Times New Roman" pitchFamily="18" charset="0"/>
              </a:rPr>
              <a:t>Conclusion: </a:t>
            </a:r>
          </a:p>
        </p:txBody>
      </p:sp>
      <p:sp>
        <p:nvSpPr>
          <p:cNvPr id="96275" name="Text Box 19"/>
          <p:cNvSpPr txBox="1">
            <a:spLocks noChangeArrowheads="1"/>
          </p:cNvSpPr>
          <p:nvPr/>
        </p:nvSpPr>
        <p:spPr bwMode="auto">
          <a:xfrm>
            <a:off x="4564062" y="48768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>
                <a:latin typeface="Times New Roman" pitchFamily="18" charset="0"/>
              </a:rPr>
              <a:t>and</a:t>
            </a:r>
          </a:p>
        </p:txBody>
      </p:sp>
      <p:sp>
        <p:nvSpPr>
          <p:cNvPr id="96276" name="Text Box 20"/>
          <p:cNvSpPr txBox="1">
            <a:spLocks noChangeArrowheads="1"/>
          </p:cNvSpPr>
          <p:nvPr/>
        </p:nvSpPr>
        <p:spPr bwMode="auto">
          <a:xfrm>
            <a:off x="449262" y="48768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>
                <a:solidFill>
                  <a:srgbClr val="CC3300"/>
                </a:solidFill>
                <a:latin typeface="Times New Roman" pitchFamily="18" charset="0"/>
              </a:rPr>
              <a:t>Given: </a:t>
            </a:r>
            <a:endParaRPr lang="en-US" sz="2800" b="1">
              <a:latin typeface="Times New Roman" pitchFamily="18" charset="0"/>
            </a:endParaRPr>
          </a:p>
        </p:txBody>
      </p:sp>
      <p:sp>
        <p:nvSpPr>
          <p:cNvPr id="96277" name="Text Box 21"/>
          <p:cNvSpPr txBox="1">
            <a:spLocks noChangeArrowheads="1"/>
          </p:cNvSpPr>
          <p:nvPr/>
        </p:nvSpPr>
        <p:spPr bwMode="auto">
          <a:xfrm>
            <a:off x="6300787" y="5754688"/>
            <a:ext cx="1539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/>
              <a:t>by </a:t>
            </a:r>
            <a:r>
              <a:rPr lang="en-US" altLang="en-US" sz="2800" b="1" dirty="0" smtClean="0"/>
              <a:t>AAA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4749604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96274" grpId="0" autoUpdateAnimBg="0"/>
      <p:bldP spid="96275" grpId="0"/>
      <p:bldP spid="96276" grpId="0"/>
      <p:bldP spid="962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16632"/>
            <a:ext cx="8229600" cy="11430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chemeClr val="tx1"/>
                </a:solidFill>
                <a:latin typeface="Times New Roman" pitchFamily="18" charset="0"/>
              </a:rPr>
              <a:t>SSS Similarity </a:t>
            </a:r>
            <a:br>
              <a:rPr lang="en-US" altLang="en-US" b="1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en-US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altLang="en-US" b="1" dirty="0" smtClean="0">
                <a:solidFill>
                  <a:schemeClr val="tx1"/>
                </a:solidFill>
                <a:latin typeface="Times New Roman" pitchFamily="18" charset="0"/>
              </a:rPr>
              <a:t>Side-Side-Side)</a:t>
            </a:r>
            <a:endParaRPr lang="en-US" alt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97302" name="Object 22"/>
          <p:cNvGraphicFramePr>
            <a:graphicFrameLocks noGrp="1" noChangeAspect="1"/>
          </p:cNvGraphicFramePr>
          <p:nvPr>
            <p:ph idx="1"/>
          </p:nvPr>
        </p:nvGraphicFramePr>
        <p:xfrm>
          <a:off x="2438400" y="5638800"/>
          <a:ext cx="28178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3" imgW="990600" imgH="152400" progId="Equation.DSMT36">
                  <p:embed/>
                </p:oleObj>
              </mc:Choice>
              <mc:Fallback>
                <p:oleObj name="Equation" r:id="rId3" imgW="990600" imgH="152400" progId="Equation.DSMT36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638800"/>
                        <a:ext cx="28178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304800" y="1412776"/>
            <a:ext cx="8458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800" dirty="0">
                <a:latin typeface="Times New Roman" pitchFamily="18" charset="0"/>
              </a:rPr>
              <a:t>If the lengths of the corresponding sides of 2 triangles are proportional, then the triangles are similar.</a:t>
            </a:r>
            <a:endParaRPr lang="en-US" altLang="en-US" sz="2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922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7315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381000" y="4724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>
                <a:solidFill>
                  <a:srgbClr val="CC3300"/>
                </a:solidFill>
                <a:latin typeface="Times New Roman" pitchFamily="18" charset="0"/>
              </a:rPr>
              <a:t>Given: </a:t>
            </a:r>
            <a:endParaRPr lang="en-US" sz="2800" b="1">
              <a:latin typeface="Times New Roman" pitchFamily="18" charset="0"/>
            </a:endParaRPr>
          </a:p>
        </p:txBody>
      </p:sp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304800" y="5562600"/>
            <a:ext cx="205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>
                <a:solidFill>
                  <a:srgbClr val="CC3300"/>
                </a:solidFill>
                <a:latin typeface="Times New Roman" pitchFamily="18" charset="0"/>
              </a:rPr>
              <a:t>Conclusion: </a:t>
            </a:r>
          </a:p>
        </p:txBody>
      </p:sp>
      <p:grpSp>
        <p:nvGrpSpPr>
          <p:cNvPr id="97294" name="Group 14"/>
          <p:cNvGrpSpPr>
            <a:grpSpLocks/>
          </p:cNvGrpSpPr>
          <p:nvPr/>
        </p:nvGrpSpPr>
        <p:grpSpPr bwMode="auto">
          <a:xfrm>
            <a:off x="1752600" y="4648200"/>
            <a:ext cx="2559050" cy="762000"/>
            <a:chOff x="692" y="2880"/>
            <a:chExt cx="2318" cy="789"/>
          </a:xfrm>
        </p:grpSpPr>
        <p:graphicFrame>
          <p:nvGraphicFramePr>
            <p:cNvPr id="9226" name="Object 15"/>
            <p:cNvGraphicFramePr>
              <a:graphicFrameLocks noChangeAspect="1"/>
            </p:cNvGraphicFramePr>
            <p:nvPr/>
          </p:nvGraphicFramePr>
          <p:xfrm>
            <a:off x="1296" y="2905"/>
            <a:ext cx="843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Equation" r:id="rId6" imgW="393700" imgH="355600" progId="Equation.DSMT36">
                    <p:embed/>
                  </p:oleObj>
                </mc:Choice>
                <mc:Fallback>
                  <p:oleObj name="Equation" r:id="rId6" imgW="3937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905"/>
                          <a:ext cx="843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16"/>
            <p:cNvGraphicFramePr>
              <a:graphicFrameLocks noChangeAspect="1"/>
            </p:cNvGraphicFramePr>
            <p:nvPr/>
          </p:nvGraphicFramePr>
          <p:xfrm>
            <a:off x="692" y="2880"/>
            <a:ext cx="618" cy="7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Equation" r:id="rId8" imgW="279400" imgH="355600" progId="Equation.DSMT36">
                    <p:embed/>
                  </p:oleObj>
                </mc:Choice>
                <mc:Fallback>
                  <p:oleObj name="Equation" r:id="rId8" imgW="2794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2880"/>
                          <a:ext cx="618" cy="7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17"/>
            <p:cNvGraphicFramePr>
              <a:graphicFrameLocks noChangeAspect="1"/>
            </p:cNvGraphicFramePr>
            <p:nvPr/>
          </p:nvGraphicFramePr>
          <p:xfrm>
            <a:off x="2155" y="2919"/>
            <a:ext cx="855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Equation" r:id="rId10" imgW="406400" imgH="355600" progId="Equation.DSMT36">
                    <p:embed/>
                  </p:oleObj>
                </mc:Choice>
                <mc:Fallback>
                  <p:oleObj name="Equation" r:id="rId10" imgW="4064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" y="2919"/>
                          <a:ext cx="855" cy="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304" name="Text Box 24"/>
          <p:cNvSpPr txBox="1">
            <a:spLocks noChangeArrowheads="1"/>
          </p:cNvSpPr>
          <p:nvPr/>
        </p:nvSpPr>
        <p:spPr bwMode="auto">
          <a:xfrm>
            <a:off x="5410200" y="5568834"/>
            <a:ext cx="137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/>
              <a:t>by </a:t>
            </a:r>
            <a:r>
              <a:rPr lang="en-US" sz="2800" b="1" dirty="0" smtClean="0"/>
              <a:t>SSS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2251833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/>
      <p:bldP spid="97285" grpId="0"/>
      <p:bldP spid="97286" grpId="0" autoUpdateAnimBg="0"/>
      <p:bldP spid="9730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59933"/>
            <a:ext cx="7315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424" name="Rectangle 1056"/>
          <p:cNvSpPr>
            <a:spLocks noGrp="1" noChangeArrowheads="1"/>
          </p:cNvSpPr>
          <p:nvPr>
            <p:ph type="title"/>
          </p:nvPr>
        </p:nvSpPr>
        <p:spPr>
          <a:xfrm>
            <a:off x="755576" y="116632"/>
            <a:ext cx="80010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4100" b="1" dirty="0" smtClean="0"/>
              <a:t>Example: SSS </a:t>
            </a:r>
            <a:r>
              <a:rPr lang="en-US" altLang="en-US" sz="4100" b="1" dirty="0"/>
              <a:t>Similarity </a:t>
            </a:r>
            <a:br>
              <a:rPr lang="en-US" altLang="en-US" sz="4100" b="1" dirty="0"/>
            </a:br>
            <a:r>
              <a:rPr lang="en-US" altLang="en-US" sz="4100" b="1" dirty="0"/>
              <a:t>(Side-Side-Side)</a:t>
            </a:r>
            <a:endParaRPr lang="en-US" altLang="en-US" sz="4100" dirty="0">
              <a:latin typeface="Times" pitchFamily="18" charset="0"/>
            </a:endParaRPr>
          </a:p>
        </p:txBody>
      </p:sp>
      <p:sp>
        <p:nvSpPr>
          <p:cNvPr id="59396" name="Rectangle 1028"/>
          <p:cNvSpPr>
            <a:spLocks noGrp="1" noChangeArrowheads="1"/>
          </p:cNvSpPr>
          <p:nvPr>
            <p:ph idx="1"/>
          </p:nvPr>
        </p:nvSpPr>
        <p:spPr>
          <a:xfrm>
            <a:off x="912813" y="3700463"/>
            <a:ext cx="1660525" cy="598487"/>
          </a:xfrm>
        </p:spPr>
        <p:txBody>
          <a:bodyPr rtlCol="0">
            <a:normAutofit fontScale="92500" lnSpcReduction="20000"/>
          </a:bodyPr>
          <a:lstStyle/>
          <a:p>
            <a:pPr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en-US" sz="4000" u="sng"/>
              <a:t>Given</a:t>
            </a:r>
            <a:r>
              <a:rPr lang="en-US" altLang="en-US"/>
              <a:t>: </a:t>
            </a:r>
          </a:p>
        </p:txBody>
      </p:sp>
      <p:sp>
        <p:nvSpPr>
          <p:cNvPr id="59400" name="Rectangle 1032"/>
          <p:cNvSpPr>
            <a:spLocks noChangeArrowheads="1"/>
          </p:cNvSpPr>
          <p:nvPr/>
        </p:nvSpPr>
        <p:spPr bwMode="auto">
          <a:xfrm>
            <a:off x="5334000" y="3733800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4000" u="sng"/>
              <a:t>Conclusion</a:t>
            </a:r>
            <a:r>
              <a:rPr lang="en-US" altLang="en-US" sz="3100"/>
              <a:t>: </a:t>
            </a:r>
          </a:p>
        </p:txBody>
      </p:sp>
      <p:graphicFrame>
        <p:nvGraphicFramePr>
          <p:cNvPr id="59401" name="Object 1033"/>
          <p:cNvGraphicFramePr>
            <a:graphicFrameLocks noChangeAspect="1"/>
          </p:cNvGraphicFramePr>
          <p:nvPr/>
        </p:nvGraphicFramePr>
        <p:xfrm>
          <a:off x="5248275" y="4648200"/>
          <a:ext cx="32099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4" imgW="990600" imgH="152400" progId="Equation.DSMT36">
                  <p:embed/>
                </p:oleObj>
              </mc:Choice>
              <mc:Fallback>
                <p:oleObj name="Equation" r:id="rId4" imgW="990600" imgH="152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4648200"/>
                        <a:ext cx="32099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28" name="Group 1060"/>
          <p:cNvGrpSpPr>
            <a:grpSpLocks/>
          </p:cNvGrpSpPr>
          <p:nvPr/>
        </p:nvGrpSpPr>
        <p:grpSpPr bwMode="auto">
          <a:xfrm>
            <a:off x="539552" y="4587805"/>
            <a:ext cx="3679825" cy="1252538"/>
            <a:chOff x="692" y="2880"/>
            <a:chExt cx="2318" cy="789"/>
          </a:xfrm>
        </p:grpSpPr>
        <p:graphicFrame>
          <p:nvGraphicFramePr>
            <p:cNvPr id="10260" name="Object 1057"/>
            <p:cNvGraphicFramePr>
              <a:graphicFrameLocks noChangeAspect="1"/>
            </p:cNvGraphicFramePr>
            <p:nvPr/>
          </p:nvGraphicFramePr>
          <p:xfrm>
            <a:off x="1296" y="2905"/>
            <a:ext cx="843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4" name="Equation" r:id="rId6" imgW="393700" imgH="355600" progId="Equation.DSMT36">
                    <p:embed/>
                  </p:oleObj>
                </mc:Choice>
                <mc:Fallback>
                  <p:oleObj name="Equation" r:id="rId6" imgW="3937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905"/>
                          <a:ext cx="843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" name="Object 1058"/>
            <p:cNvGraphicFramePr>
              <a:graphicFrameLocks noChangeAspect="1"/>
            </p:cNvGraphicFramePr>
            <p:nvPr/>
          </p:nvGraphicFramePr>
          <p:xfrm>
            <a:off x="692" y="2880"/>
            <a:ext cx="618" cy="7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5" name="Equation" r:id="rId8" imgW="279400" imgH="355600" progId="Equation.DSMT36">
                    <p:embed/>
                  </p:oleObj>
                </mc:Choice>
                <mc:Fallback>
                  <p:oleObj name="Equation" r:id="rId8" imgW="2794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2880"/>
                          <a:ext cx="618" cy="7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1059"/>
            <p:cNvGraphicFramePr>
              <a:graphicFrameLocks noChangeAspect="1"/>
            </p:cNvGraphicFramePr>
            <p:nvPr/>
          </p:nvGraphicFramePr>
          <p:xfrm>
            <a:off x="2155" y="2919"/>
            <a:ext cx="855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6" name="Equation" r:id="rId10" imgW="406400" imgH="355600" progId="Equation.DSMT36">
                    <p:embed/>
                  </p:oleObj>
                </mc:Choice>
                <mc:Fallback>
                  <p:oleObj name="Equation" r:id="rId10" imgW="4064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" y="2919"/>
                          <a:ext cx="855" cy="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435" name="Group 1067"/>
          <p:cNvGrpSpPr>
            <a:grpSpLocks/>
          </p:cNvGrpSpPr>
          <p:nvPr/>
        </p:nvGrpSpPr>
        <p:grpSpPr bwMode="auto">
          <a:xfrm>
            <a:off x="1828800" y="1875896"/>
            <a:ext cx="6019800" cy="1570037"/>
            <a:chOff x="1152" y="1392"/>
            <a:chExt cx="3792" cy="989"/>
          </a:xfrm>
        </p:grpSpPr>
        <p:sp>
          <p:nvSpPr>
            <p:cNvPr id="10254" name="Text Box 1061"/>
            <p:cNvSpPr txBox="1">
              <a:spLocks noChangeArrowheads="1"/>
            </p:cNvSpPr>
            <p:nvPr/>
          </p:nvSpPr>
          <p:spPr bwMode="auto">
            <a:xfrm>
              <a:off x="1152" y="1392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5</a:t>
              </a:r>
              <a:endParaRPr lang="en-US" altLang="en-US" sz="2400">
                <a:latin typeface="Times" pitchFamily="18" charset="0"/>
              </a:endParaRPr>
            </a:p>
          </p:txBody>
        </p:sp>
        <p:sp>
          <p:nvSpPr>
            <p:cNvPr id="10255" name="Text Box 1062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11</a:t>
              </a:r>
              <a:endParaRPr lang="en-US" altLang="en-US" sz="2400">
                <a:latin typeface="Times" pitchFamily="18" charset="0"/>
              </a:endParaRPr>
            </a:p>
          </p:txBody>
        </p:sp>
        <p:sp>
          <p:nvSpPr>
            <p:cNvPr id="10256" name="Text Box 1063"/>
            <p:cNvSpPr txBox="1">
              <a:spLocks noChangeArrowheads="1"/>
            </p:cNvSpPr>
            <p:nvPr/>
          </p:nvSpPr>
          <p:spPr bwMode="auto">
            <a:xfrm>
              <a:off x="3936" y="2016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22</a:t>
              </a:r>
              <a:endParaRPr lang="en-US" altLang="en-US" sz="2400">
                <a:latin typeface="Times" pitchFamily="18" charset="0"/>
              </a:endParaRPr>
            </a:p>
          </p:txBody>
        </p:sp>
        <p:sp>
          <p:nvSpPr>
            <p:cNvPr id="10257" name="Text Box 1064"/>
            <p:cNvSpPr txBox="1">
              <a:spLocks noChangeArrowheads="1"/>
            </p:cNvSpPr>
            <p:nvPr/>
          </p:nvSpPr>
          <p:spPr bwMode="auto">
            <a:xfrm>
              <a:off x="2016" y="1411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8</a:t>
              </a:r>
              <a:endParaRPr lang="en-US" altLang="en-US" sz="2400">
                <a:latin typeface="Times" pitchFamily="18" charset="0"/>
              </a:endParaRPr>
            </a:p>
          </p:txBody>
        </p:sp>
        <p:sp>
          <p:nvSpPr>
            <p:cNvPr id="10258" name="Text Box 1065"/>
            <p:cNvSpPr txBox="1">
              <a:spLocks noChangeArrowheads="1"/>
            </p:cNvSpPr>
            <p:nvPr/>
          </p:nvSpPr>
          <p:spPr bwMode="auto">
            <a:xfrm>
              <a:off x="4560" y="1392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16</a:t>
              </a:r>
              <a:endParaRPr lang="en-US" altLang="en-US" sz="2400">
                <a:latin typeface="Times" pitchFamily="18" charset="0"/>
              </a:endParaRPr>
            </a:p>
          </p:txBody>
        </p:sp>
        <p:sp>
          <p:nvSpPr>
            <p:cNvPr id="10259" name="Text Box 1066"/>
            <p:cNvSpPr txBox="1">
              <a:spLocks noChangeArrowheads="1"/>
            </p:cNvSpPr>
            <p:nvPr/>
          </p:nvSpPr>
          <p:spPr bwMode="auto">
            <a:xfrm>
              <a:off x="3168" y="1392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 b="1">
                  <a:latin typeface="Times" pitchFamily="18" charset="0"/>
                </a:rPr>
                <a:t>10</a:t>
              </a:r>
              <a:endParaRPr lang="en-US" altLang="en-US" sz="2400">
                <a:latin typeface="Times" pitchFamily="18" charset="0"/>
              </a:endParaRPr>
            </a:p>
          </p:txBody>
        </p:sp>
      </p:grpSp>
      <p:grpSp>
        <p:nvGrpSpPr>
          <p:cNvPr id="59441" name="Group 1073"/>
          <p:cNvGrpSpPr>
            <a:grpSpLocks/>
          </p:cNvGrpSpPr>
          <p:nvPr/>
        </p:nvGrpSpPr>
        <p:grpSpPr bwMode="auto">
          <a:xfrm>
            <a:off x="707827" y="4586218"/>
            <a:ext cx="3316288" cy="1296987"/>
            <a:chOff x="798" y="2879"/>
            <a:chExt cx="2089" cy="817"/>
          </a:xfrm>
        </p:grpSpPr>
        <p:graphicFrame>
          <p:nvGraphicFramePr>
            <p:cNvPr id="10251" name="Object 1069"/>
            <p:cNvGraphicFramePr>
              <a:graphicFrameLocks noChangeAspect="1"/>
            </p:cNvGraphicFramePr>
            <p:nvPr/>
          </p:nvGraphicFramePr>
          <p:xfrm>
            <a:off x="1308" y="2918"/>
            <a:ext cx="707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7" name="Equation" r:id="rId12" imgW="330200" imgH="355600" progId="Equation.DSMT36">
                    <p:embed/>
                  </p:oleObj>
                </mc:Choice>
                <mc:Fallback>
                  <p:oleObj name="Equation" r:id="rId12" imgW="3302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" y="2918"/>
                          <a:ext cx="707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2" name="Object 1070"/>
            <p:cNvGraphicFramePr>
              <a:graphicFrameLocks noChangeAspect="1"/>
            </p:cNvGraphicFramePr>
            <p:nvPr/>
          </p:nvGraphicFramePr>
          <p:xfrm>
            <a:off x="798" y="2879"/>
            <a:ext cx="450" cy="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" name="Equation" r:id="rId14" imgW="203200" imgH="368300" progId="Equation.DSMT36">
                    <p:embed/>
                  </p:oleObj>
                </mc:Choice>
                <mc:Fallback>
                  <p:oleObj name="Equation" r:id="rId14" imgW="203200" imgH="3683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8" y="2879"/>
                          <a:ext cx="450" cy="8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3" name="Object 1071"/>
            <p:cNvGraphicFramePr>
              <a:graphicFrameLocks noChangeAspect="1"/>
            </p:cNvGraphicFramePr>
            <p:nvPr/>
          </p:nvGraphicFramePr>
          <p:xfrm>
            <a:off x="2166" y="2932"/>
            <a:ext cx="721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" name="Equation" r:id="rId16" imgW="342900" imgH="355600" progId="Equation.DSMT36">
                    <p:embed/>
                  </p:oleObj>
                </mc:Choice>
                <mc:Fallback>
                  <p:oleObj name="Equation" r:id="rId16" imgW="342900" imgH="3556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6" y="2932"/>
                          <a:ext cx="721" cy="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42" name="Text Box 1074"/>
          <p:cNvSpPr txBox="1">
            <a:spLocks noChangeArrowheads="1"/>
          </p:cNvSpPr>
          <p:nvPr/>
        </p:nvSpPr>
        <p:spPr bwMode="auto">
          <a:xfrm>
            <a:off x="6129135" y="5486400"/>
            <a:ext cx="18950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000" dirty="0">
                <a:latin typeface="Times New Roman" pitchFamily="18" charset="0"/>
              </a:rPr>
              <a:t>By SSS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68876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 autoUpdateAnimBg="0"/>
      <p:bldP spid="59400" grpId="0" autoUpdateAnimBg="0"/>
      <p:bldP spid="594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99556"/>
            <a:ext cx="7315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lnSpc>
                <a:spcPct val="75000"/>
              </a:lnSpc>
            </a:pPr>
            <a:r>
              <a:rPr lang="en-US" altLang="en-US" sz="4400" b="1" dirty="0" smtClean="0">
                <a:solidFill>
                  <a:schemeClr val="tx1"/>
                </a:solidFill>
                <a:latin typeface="Times New Roman" pitchFamily="18" charset="0"/>
              </a:rPr>
              <a:t>SAS Similarity </a:t>
            </a:r>
            <a:br>
              <a:rPr lang="en-US" altLang="en-US" sz="4400" b="1" dirty="0" smtClean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en-US" sz="4400" b="1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altLang="en-US" sz="4400" b="1" dirty="0" smtClean="0">
                <a:solidFill>
                  <a:schemeClr val="tx1"/>
                </a:solidFill>
                <a:latin typeface="Times New Roman" pitchFamily="18" charset="0"/>
              </a:rPr>
              <a:t>Side-Angle-Side)</a:t>
            </a:r>
            <a:endParaRPr lang="en-US" altLang="en-US" sz="4400" b="1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9933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048000" y="5883275"/>
          <a:ext cx="27606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" imgW="990600" imgH="152400" progId="Equation.DSMT4">
                  <p:embed/>
                </p:oleObj>
              </mc:Choice>
              <mc:Fallback>
                <p:oleObj name="Equation" r:id="rId4" imgW="990600" imgH="1524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883275"/>
                        <a:ext cx="27606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5" name="Object 1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1055206"/>
              </p:ext>
            </p:extLst>
          </p:nvPr>
        </p:nvGraphicFramePr>
        <p:xfrm>
          <a:off x="2483768" y="4869160"/>
          <a:ext cx="342741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6" imgW="1675673" imgH="393529" progId="Equation.DSMT4">
                  <p:embed/>
                </p:oleObj>
              </mc:Choice>
              <mc:Fallback>
                <p:oleObj name="Equation" r:id="rId6" imgW="1675673" imgH="393529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869160"/>
                        <a:ext cx="342741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79512" y="1556792"/>
            <a:ext cx="8610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 dirty="0">
                <a:latin typeface="Times New Roman" pitchFamily="18" charset="0"/>
              </a:rPr>
              <a:t>If the lengths of 2 sides of a triangle are proportional to the lengths of 2 corresponding sides of another triangle and the included angles are congruent, then the triangles are similar.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104900" y="4952999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 dirty="0">
                <a:solidFill>
                  <a:srgbClr val="CC3300"/>
                </a:solidFill>
                <a:latin typeface="Times New Roman" pitchFamily="18" charset="0"/>
              </a:rPr>
              <a:t>Given: </a:t>
            </a:r>
            <a:endParaRPr lang="en-US" sz="2800" b="1" dirty="0">
              <a:latin typeface="Times New Roman" pitchFamily="18" charset="0"/>
            </a:endParaRPr>
          </a:p>
        </p:txBody>
      </p:sp>
      <p:sp>
        <p:nvSpPr>
          <p:cNvPr id="99334" name="Rectangle 6"/>
          <p:cNvSpPr>
            <a:spLocks noChangeArrowheads="1"/>
          </p:cNvSpPr>
          <p:nvPr/>
        </p:nvSpPr>
        <p:spPr bwMode="auto">
          <a:xfrm>
            <a:off x="990600" y="5791200"/>
            <a:ext cx="205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2800" b="1">
                <a:solidFill>
                  <a:srgbClr val="CC3300"/>
                </a:solidFill>
                <a:latin typeface="Times New Roman" pitchFamily="18" charset="0"/>
              </a:rPr>
              <a:t>Conclusion: </a:t>
            </a:r>
          </a:p>
        </p:txBody>
      </p:sp>
      <p:sp>
        <p:nvSpPr>
          <p:cNvPr id="99346" name="Text Box 18"/>
          <p:cNvSpPr txBox="1">
            <a:spLocks noChangeArrowheads="1"/>
          </p:cNvSpPr>
          <p:nvPr/>
        </p:nvSpPr>
        <p:spPr bwMode="auto">
          <a:xfrm>
            <a:off x="6096000" y="5867400"/>
            <a:ext cx="1401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/>
              <a:t>by </a:t>
            </a:r>
            <a:r>
              <a:rPr lang="en-US" sz="2800" b="1" dirty="0" smtClean="0"/>
              <a:t>SAS</a:t>
            </a:r>
            <a:endParaRPr lang="en-US" sz="2800" b="1" dirty="0"/>
          </a:p>
        </p:txBody>
      </p:sp>
      <p:sp>
        <p:nvSpPr>
          <p:cNvPr id="10" name="Arc 11"/>
          <p:cNvSpPr>
            <a:spLocks/>
          </p:cNvSpPr>
          <p:nvPr/>
        </p:nvSpPr>
        <p:spPr bwMode="auto">
          <a:xfrm>
            <a:off x="1714500" y="4183905"/>
            <a:ext cx="76200" cy="188913"/>
          </a:xfrm>
          <a:custGeom>
            <a:avLst/>
            <a:gdLst>
              <a:gd name="T0" fmla="*/ 0 w 21600"/>
              <a:gd name="T1" fmla="*/ 0 h 26702"/>
              <a:gd name="T2" fmla="*/ 0 w 21600"/>
              <a:gd name="T3" fmla="*/ 0 h 26702"/>
              <a:gd name="T4" fmla="*/ 0 w 21600"/>
              <a:gd name="T5" fmla="*/ 0 h 267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6702" fill="none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</a:path>
              <a:path w="21600" h="26702" stroke="0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  <a:lnTo>
                  <a:pt x="0" y="20391"/>
                </a:lnTo>
                <a:lnTo>
                  <a:pt x="7122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" name="Arc 11"/>
          <p:cNvSpPr>
            <a:spLocks/>
          </p:cNvSpPr>
          <p:nvPr/>
        </p:nvSpPr>
        <p:spPr bwMode="auto">
          <a:xfrm>
            <a:off x="4932040" y="4372818"/>
            <a:ext cx="76200" cy="188913"/>
          </a:xfrm>
          <a:custGeom>
            <a:avLst/>
            <a:gdLst>
              <a:gd name="T0" fmla="*/ 0 w 21600"/>
              <a:gd name="T1" fmla="*/ 0 h 26702"/>
              <a:gd name="T2" fmla="*/ 0 w 21600"/>
              <a:gd name="T3" fmla="*/ 0 h 26702"/>
              <a:gd name="T4" fmla="*/ 0 w 21600"/>
              <a:gd name="T5" fmla="*/ 0 h 267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6702" fill="none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</a:path>
              <a:path w="21600" h="26702" stroke="0" extrusionOk="0">
                <a:moveTo>
                  <a:pt x="7122" y="-1"/>
                </a:moveTo>
                <a:cubicBezTo>
                  <a:pt x="15792" y="3027"/>
                  <a:pt x="21600" y="11207"/>
                  <a:pt x="21600" y="20391"/>
                </a:cubicBezTo>
                <a:cubicBezTo>
                  <a:pt x="21600" y="22529"/>
                  <a:pt x="21282" y="24656"/>
                  <a:pt x="20657" y="26702"/>
                </a:cubicBezTo>
                <a:lnTo>
                  <a:pt x="0" y="20391"/>
                </a:lnTo>
                <a:lnTo>
                  <a:pt x="7122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8155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autoUpdateAnimBg="0"/>
      <p:bldP spid="99333" grpId="0"/>
      <p:bldP spid="99334" grpId="0" autoUpdateAnimBg="0"/>
      <p:bldP spid="993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59681"/>
            <a:ext cx="73152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1" name="Rectangle 3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8001000" cy="11430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>
              <a:lnSpc>
                <a:spcPct val="75000"/>
              </a:lnSpc>
            </a:pPr>
            <a:r>
              <a:rPr lang="en-US" altLang="en-US" sz="4100" b="1" dirty="0" smtClean="0"/>
              <a:t>Example: SAS Similarity </a:t>
            </a:r>
            <a:br>
              <a:rPr lang="en-US" altLang="en-US" sz="4100" b="1" dirty="0" smtClean="0"/>
            </a:br>
            <a:r>
              <a:rPr lang="en-US" altLang="en-US" sz="4100" b="1" dirty="0" smtClean="0"/>
              <a:t>(Side-Angle-Side)</a:t>
            </a:r>
            <a:endParaRPr lang="en-US" altLang="en-US" sz="4100" dirty="0" smtClean="0">
              <a:latin typeface="Times" pitchFamily="18" charset="0"/>
            </a:endParaRPr>
          </a:p>
        </p:txBody>
      </p:sp>
      <p:sp>
        <p:nvSpPr>
          <p:cNvPr id="60420" name="Rectangle 4"/>
          <p:cNvSpPr>
            <a:spLocks noGrp="1" noChangeArrowheads="1"/>
          </p:cNvSpPr>
          <p:nvPr>
            <p:ph idx="1"/>
          </p:nvPr>
        </p:nvSpPr>
        <p:spPr>
          <a:xfrm>
            <a:off x="755576" y="3673177"/>
            <a:ext cx="1660525" cy="598488"/>
          </a:xfrm>
        </p:spPr>
        <p:txBody>
          <a:bodyPr rtlCol="0">
            <a:normAutofit fontScale="92500" lnSpcReduction="20000"/>
          </a:bodyPr>
          <a:lstStyle/>
          <a:p>
            <a:pPr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en-US" sz="4000" u="sng" dirty="0"/>
              <a:t>Given</a:t>
            </a:r>
            <a:r>
              <a:rPr lang="en-US" altLang="en-US" dirty="0"/>
              <a:t>: 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5410200" y="3598333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en-US" sz="4000" u="sng" dirty="0"/>
              <a:t>Conclusion</a:t>
            </a:r>
            <a:r>
              <a:rPr lang="en-US" altLang="en-US" sz="3100" dirty="0"/>
              <a:t>: </a:t>
            </a:r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5324475" y="4648200"/>
          <a:ext cx="32099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4" imgW="990600" imgH="152400" progId="Equation.DSMT36">
                  <p:embed/>
                </p:oleObj>
              </mc:Choice>
              <mc:Fallback>
                <p:oleObj name="Equation" r:id="rId4" imgW="990600" imgH="152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475" y="4648200"/>
                        <a:ext cx="32099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63" name="Group 47"/>
          <p:cNvGrpSpPr>
            <a:grpSpLocks/>
          </p:cNvGrpSpPr>
          <p:nvPr/>
        </p:nvGrpSpPr>
        <p:grpSpPr bwMode="auto">
          <a:xfrm>
            <a:off x="395536" y="4437112"/>
            <a:ext cx="2374900" cy="1981200"/>
            <a:chOff x="1584" y="2448"/>
            <a:chExt cx="1496" cy="1248"/>
          </a:xfrm>
        </p:grpSpPr>
        <p:graphicFrame>
          <p:nvGraphicFramePr>
            <p:cNvPr id="12306" name="Object 5"/>
            <p:cNvGraphicFramePr>
              <a:graphicFrameLocks noChangeAspect="1"/>
            </p:cNvGraphicFramePr>
            <p:nvPr/>
          </p:nvGraphicFramePr>
          <p:xfrm>
            <a:off x="1632" y="2448"/>
            <a:ext cx="144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7" name="Equation" r:id="rId6" imgW="635000" imgH="139700" progId="Equation.DSMT36">
                    <p:embed/>
                  </p:oleObj>
                </mc:Choice>
                <mc:Fallback>
                  <p:oleObj name="Equation" r:id="rId6" imgW="635000" imgH="139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448"/>
                          <a:ext cx="144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07" name="Group 37"/>
            <p:cNvGrpSpPr>
              <a:grpSpLocks/>
            </p:cNvGrpSpPr>
            <p:nvPr/>
          </p:nvGrpSpPr>
          <p:grpSpPr bwMode="auto">
            <a:xfrm>
              <a:off x="1584" y="2907"/>
              <a:ext cx="1496" cy="789"/>
              <a:chOff x="1528" y="2907"/>
              <a:chExt cx="1496" cy="789"/>
            </a:xfrm>
          </p:grpSpPr>
          <p:graphicFrame>
            <p:nvGraphicFramePr>
              <p:cNvPr id="12308" name="Object 35"/>
              <p:cNvGraphicFramePr>
                <a:graphicFrameLocks noChangeAspect="1"/>
              </p:cNvGraphicFramePr>
              <p:nvPr/>
            </p:nvGraphicFramePr>
            <p:xfrm>
              <a:off x="1528" y="2907"/>
              <a:ext cx="618" cy="7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8" name="Equation" r:id="rId8" imgW="279400" imgH="355600" progId="Equation.DSMT36">
                      <p:embed/>
                    </p:oleObj>
                  </mc:Choice>
                  <mc:Fallback>
                    <p:oleObj name="Equation" r:id="rId8" imgW="279400" imgH="355600" progId="Equation.DSMT36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8" y="2907"/>
                            <a:ext cx="618" cy="7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9" name="Object 36"/>
              <p:cNvGraphicFramePr>
                <a:graphicFrameLocks noChangeAspect="1"/>
              </p:cNvGraphicFramePr>
              <p:nvPr/>
            </p:nvGraphicFramePr>
            <p:xfrm>
              <a:off x="2169" y="2946"/>
              <a:ext cx="855" cy="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9" name="Equation" r:id="rId10" imgW="406400" imgH="355600" progId="Equation.DSMT36">
                      <p:embed/>
                    </p:oleObj>
                  </mc:Choice>
                  <mc:Fallback>
                    <p:oleObj name="Equation" r:id="rId10" imgW="406400" imgH="355600" progId="Equation.DSMT36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9" y="2946"/>
                            <a:ext cx="855" cy="7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0464" name="Group 48"/>
          <p:cNvGrpSpPr>
            <a:grpSpLocks/>
          </p:cNvGrpSpPr>
          <p:nvPr/>
        </p:nvGrpSpPr>
        <p:grpSpPr bwMode="auto">
          <a:xfrm>
            <a:off x="1828800" y="2021681"/>
            <a:ext cx="5029200" cy="1570038"/>
            <a:chOff x="1152" y="1392"/>
            <a:chExt cx="3168" cy="989"/>
          </a:xfrm>
        </p:grpSpPr>
        <p:grpSp>
          <p:nvGrpSpPr>
            <p:cNvPr id="12298" name="Group 10"/>
            <p:cNvGrpSpPr>
              <a:grpSpLocks/>
            </p:cNvGrpSpPr>
            <p:nvPr/>
          </p:nvGrpSpPr>
          <p:grpSpPr bwMode="auto">
            <a:xfrm>
              <a:off x="1200" y="1783"/>
              <a:ext cx="2112" cy="256"/>
              <a:chOff x="1200" y="1783"/>
              <a:chExt cx="2112" cy="256"/>
            </a:xfrm>
          </p:grpSpPr>
          <p:sp>
            <p:nvSpPr>
              <p:cNvPr id="12304" name="Arc 11"/>
              <p:cNvSpPr>
                <a:spLocks/>
              </p:cNvSpPr>
              <p:nvPr/>
            </p:nvSpPr>
            <p:spPr bwMode="auto">
              <a:xfrm>
                <a:off x="1200" y="1783"/>
                <a:ext cx="48" cy="119"/>
              </a:xfrm>
              <a:custGeom>
                <a:avLst/>
                <a:gdLst>
                  <a:gd name="T0" fmla="*/ 0 w 21600"/>
                  <a:gd name="T1" fmla="*/ 0 h 26702"/>
                  <a:gd name="T2" fmla="*/ 0 w 21600"/>
                  <a:gd name="T3" fmla="*/ 0 h 26702"/>
                  <a:gd name="T4" fmla="*/ 0 w 21600"/>
                  <a:gd name="T5" fmla="*/ 0 h 2670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6702" fill="none" extrusionOk="0">
                    <a:moveTo>
                      <a:pt x="7122" y="-1"/>
                    </a:moveTo>
                    <a:cubicBezTo>
                      <a:pt x="15792" y="3027"/>
                      <a:pt x="21600" y="11207"/>
                      <a:pt x="21600" y="20391"/>
                    </a:cubicBezTo>
                    <a:cubicBezTo>
                      <a:pt x="21600" y="22529"/>
                      <a:pt x="21282" y="24656"/>
                      <a:pt x="20657" y="26702"/>
                    </a:cubicBezTo>
                  </a:path>
                  <a:path w="21600" h="26702" stroke="0" extrusionOk="0">
                    <a:moveTo>
                      <a:pt x="7122" y="-1"/>
                    </a:moveTo>
                    <a:cubicBezTo>
                      <a:pt x="15792" y="3027"/>
                      <a:pt x="21600" y="11207"/>
                      <a:pt x="21600" y="20391"/>
                    </a:cubicBezTo>
                    <a:cubicBezTo>
                      <a:pt x="21600" y="22529"/>
                      <a:pt x="21282" y="24656"/>
                      <a:pt x="20657" y="26702"/>
                    </a:cubicBezTo>
                    <a:lnTo>
                      <a:pt x="0" y="20391"/>
                    </a:lnTo>
                    <a:lnTo>
                      <a:pt x="7122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2305" name="Arc 12"/>
              <p:cNvSpPr>
                <a:spLocks/>
              </p:cNvSpPr>
              <p:nvPr/>
            </p:nvSpPr>
            <p:spPr bwMode="auto">
              <a:xfrm>
                <a:off x="3264" y="1920"/>
                <a:ext cx="48" cy="119"/>
              </a:xfrm>
              <a:custGeom>
                <a:avLst/>
                <a:gdLst>
                  <a:gd name="T0" fmla="*/ 0 w 21600"/>
                  <a:gd name="T1" fmla="*/ 0 h 26702"/>
                  <a:gd name="T2" fmla="*/ 0 w 21600"/>
                  <a:gd name="T3" fmla="*/ 0 h 26702"/>
                  <a:gd name="T4" fmla="*/ 0 w 21600"/>
                  <a:gd name="T5" fmla="*/ 0 h 2670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6702" fill="none" extrusionOk="0">
                    <a:moveTo>
                      <a:pt x="7122" y="-1"/>
                    </a:moveTo>
                    <a:cubicBezTo>
                      <a:pt x="15792" y="3027"/>
                      <a:pt x="21600" y="11207"/>
                      <a:pt x="21600" y="20391"/>
                    </a:cubicBezTo>
                    <a:cubicBezTo>
                      <a:pt x="21600" y="22529"/>
                      <a:pt x="21282" y="24656"/>
                      <a:pt x="20657" y="26702"/>
                    </a:cubicBezTo>
                  </a:path>
                  <a:path w="21600" h="26702" stroke="0" extrusionOk="0">
                    <a:moveTo>
                      <a:pt x="7122" y="-1"/>
                    </a:moveTo>
                    <a:cubicBezTo>
                      <a:pt x="15792" y="3027"/>
                      <a:pt x="21600" y="11207"/>
                      <a:pt x="21600" y="20391"/>
                    </a:cubicBezTo>
                    <a:cubicBezTo>
                      <a:pt x="21600" y="22529"/>
                      <a:pt x="21282" y="24656"/>
                      <a:pt x="20657" y="26702"/>
                    </a:cubicBezTo>
                    <a:lnTo>
                      <a:pt x="0" y="20391"/>
                    </a:lnTo>
                    <a:lnTo>
                      <a:pt x="7122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12299" name="Group 45"/>
            <p:cNvGrpSpPr>
              <a:grpSpLocks/>
            </p:cNvGrpSpPr>
            <p:nvPr/>
          </p:nvGrpSpPr>
          <p:grpSpPr bwMode="auto">
            <a:xfrm>
              <a:off x="1152" y="1392"/>
              <a:ext cx="3168" cy="989"/>
              <a:chOff x="1152" y="1392"/>
              <a:chExt cx="3168" cy="989"/>
            </a:xfrm>
          </p:grpSpPr>
          <p:sp>
            <p:nvSpPr>
              <p:cNvPr id="12300" name="Text Box 39"/>
              <p:cNvSpPr txBox="1">
                <a:spLocks noChangeArrowheads="1"/>
              </p:cNvSpPr>
              <p:nvPr/>
            </p:nvSpPr>
            <p:spPr bwMode="auto">
              <a:xfrm>
                <a:off x="1152" y="1392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3200" b="1">
                    <a:latin typeface="Times" pitchFamily="18" charset="0"/>
                  </a:rPr>
                  <a:t>5</a:t>
                </a:r>
                <a:endParaRPr lang="en-US" altLang="en-US" sz="2400">
                  <a:latin typeface="Times" pitchFamily="18" charset="0"/>
                </a:endParaRPr>
              </a:p>
            </p:txBody>
          </p:sp>
          <p:sp>
            <p:nvSpPr>
              <p:cNvPr id="12301" name="Text Box 40"/>
              <p:cNvSpPr txBox="1">
                <a:spLocks noChangeArrowheads="1"/>
              </p:cNvSpPr>
              <p:nvPr/>
            </p:nvSpPr>
            <p:spPr bwMode="auto">
              <a:xfrm>
                <a:off x="1584" y="1920"/>
                <a:ext cx="43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3200" b="1">
                    <a:latin typeface="Times" pitchFamily="18" charset="0"/>
                  </a:rPr>
                  <a:t>11</a:t>
                </a:r>
                <a:endParaRPr lang="en-US" altLang="en-US" sz="2400">
                  <a:latin typeface="Times" pitchFamily="18" charset="0"/>
                </a:endParaRPr>
              </a:p>
            </p:txBody>
          </p:sp>
          <p:sp>
            <p:nvSpPr>
              <p:cNvPr id="12302" name="Text Box 41"/>
              <p:cNvSpPr txBox="1">
                <a:spLocks noChangeArrowheads="1"/>
              </p:cNvSpPr>
              <p:nvPr/>
            </p:nvSpPr>
            <p:spPr bwMode="auto">
              <a:xfrm>
                <a:off x="3936" y="2016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3200" b="1">
                    <a:latin typeface="Times" pitchFamily="18" charset="0"/>
                  </a:rPr>
                  <a:t>22</a:t>
                </a:r>
                <a:endParaRPr lang="en-US" altLang="en-US" sz="2400">
                  <a:latin typeface="Times" pitchFamily="18" charset="0"/>
                </a:endParaRPr>
              </a:p>
            </p:txBody>
          </p:sp>
          <p:sp>
            <p:nvSpPr>
              <p:cNvPr id="12303" name="Text Box 44"/>
              <p:cNvSpPr txBox="1">
                <a:spLocks noChangeArrowheads="1"/>
              </p:cNvSpPr>
              <p:nvPr/>
            </p:nvSpPr>
            <p:spPr bwMode="auto">
              <a:xfrm>
                <a:off x="3168" y="1392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3200" b="1">
                    <a:latin typeface="Times" pitchFamily="18" charset="0"/>
                  </a:rPr>
                  <a:t>10</a:t>
                </a:r>
                <a:endParaRPr lang="en-US" altLang="en-US" sz="2400">
                  <a:latin typeface="Times" pitchFamily="18" charset="0"/>
                </a:endParaRPr>
              </a:p>
            </p:txBody>
          </p:sp>
        </p:grpSp>
      </p:grpSp>
      <p:sp>
        <p:nvSpPr>
          <p:cNvPr id="60465" name="Text Box 49"/>
          <p:cNvSpPr txBox="1">
            <a:spLocks noChangeArrowheads="1"/>
          </p:cNvSpPr>
          <p:nvPr/>
        </p:nvSpPr>
        <p:spPr bwMode="auto">
          <a:xfrm>
            <a:off x="5867985" y="5562600"/>
            <a:ext cx="19800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000" dirty="0">
                <a:latin typeface="Times New Roman" pitchFamily="18" charset="0"/>
              </a:rPr>
              <a:t>By SAS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320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 autoUpdateAnimBg="0"/>
      <p:bldP spid="60424" grpId="0" autoUpdateAnimBg="0"/>
      <p:bldP spid="6046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2" t="25001" r="31354" b="6851"/>
          <a:stretch/>
        </p:blipFill>
        <p:spPr bwMode="auto">
          <a:xfrm>
            <a:off x="1259631" y="260648"/>
            <a:ext cx="6749967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918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2" t="17708" r="22108" b="11492"/>
          <a:stretch/>
        </p:blipFill>
        <p:spPr bwMode="auto">
          <a:xfrm>
            <a:off x="323528" y="1267976"/>
            <a:ext cx="7863840" cy="5179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784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1" t="26613" r="41318" b="35000"/>
          <a:stretch/>
        </p:blipFill>
        <p:spPr bwMode="auto">
          <a:xfrm>
            <a:off x="673125" y="1950355"/>
            <a:ext cx="2664296" cy="416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1484784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The two triangles below are similar. Calculate the value of x and 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6293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Similar Triangles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51917"/>
            <a:ext cx="8435566" cy="478539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Show that the triangle APQ is similar to triangle ABC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Hence find the missing length BC</a:t>
            </a:r>
            <a:endParaRPr lang="en-GB" sz="2400" dirty="0"/>
          </a:p>
        </p:txBody>
      </p:sp>
      <p:sp>
        <p:nvSpPr>
          <p:cNvPr id="27" name="Isosceles Triangle 26"/>
          <p:cNvSpPr/>
          <p:nvPr/>
        </p:nvSpPr>
        <p:spPr>
          <a:xfrm>
            <a:off x="1691680" y="2999398"/>
            <a:ext cx="2736304" cy="3060828"/>
          </a:xfrm>
          <a:prstGeom prst="triangle">
            <a:avLst>
              <a:gd name="adj" fmla="val 204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835696" y="5079497"/>
            <a:ext cx="93610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123728" y="6060226"/>
            <a:ext cx="93610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591780" y="5079497"/>
            <a:ext cx="11161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048327" y="2641678"/>
            <a:ext cx="39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</a:t>
            </a:r>
            <a:endParaRPr lang="en-GB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327433" y="5937008"/>
            <a:ext cx="39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2080" y="5938302"/>
            <a:ext cx="39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0029" y="4817887"/>
            <a:ext cx="39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P</a:t>
            </a:r>
            <a:endParaRPr lang="en-GB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707904" y="4817886"/>
            <a:ext cx="397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Q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1115617" y="5088791"/>
            <a:ext cx="211816" cy="1009271"/>
          </a:xfrm>
          <a:prstGeom prst="straightConnector1">
            <a:avLst/>
          </a:prstGeom>
          <a:ln w="28575">
            <a:solidFill>
              <a:srgbClr val="0070C0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1334162" y="2887319"/>
            <a:ext cx="444381" cy="2201472"/>
          </a:xfrm>
          <a:prstGeom prst="straightConnector1">
            <a:avLst/>
          </a:prstGeom>
          <a:ln w="28575">
            <a:solidFill>
              <a:srgbClr val="0070C0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77085" y="5262451"/>
            <a:ext cx="89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</a:t>
            </a:r>
            <a:r>
              <a:rPr lang="en-GB" sz="2000" dirty="0" smtClean="0"/>
              <a:t>cm</a:t>
            </a:r>
            <a:endParaRPr lang="en-GB" sz="2000" dirty="0"/>
          </a:p>
        </p:txBody>
      </p:sp>
      <p:sp>
        <p:nvSpPr>
          <p:cNvPr id="47" name="TextBox 46"/>
          <p:cNvSpPr txBox="1"/>
          <p:nvPr/>
        </p:nvSpPr>
        <p:spPr>
          <a:xfrm>
            <a:off x="944790" y="3850002"/>
            <a:ext cx="89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6cm</a:t>
            </a:r>
            <a:endParaRPr lang="en-GB" sz="2000" dirty="0"/>
          </a:p>
        </p:txBody>
      </p:sp>
      <p:sp>
        <p:nvSpPr>
          <p:cNvPr id="48" name="TextBox 47"/>
          <p:cNvSpPr txBox="1"/>
          <p:nvPr/>
        </p:nvSpPr>
        <p:spPr>
          <a:xfrm>
            <a:off x="2449811" y="5073421"/>
            <a:ext cx="89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5cm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8898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721</Words>
  <Application>Microsoft Office PowerPoint</Application>
  <PresentationFormat>On-screen Show (4:3)</PresentationFormat>
  <Paragraphs>170</Paragraphs>
  <Slides>29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Office Theme</vt:lpstr>
      <vt:lpstr>MathType Equation 3.6</vt:lpstr>
      <vt:lpstr>MathType 5.0 Equation</vt:lpstr>
      <vt:lpstr>Equation</vt:lpstr>
      <vt:lpstr>PowerPoint Presentation</vt:lpstr>
      <vt:lpstr>PowerPoint Presentation</vt:lpstr>
      <vt:lpstr>PowerPoint Presentation</vt:lpstr>
      <vt:lpstr>Congruency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Similarity</vt:lpstr>
      <vt:lpstr>Similar Figures</vt:lpstr>
      <vt:lpstr>PowerPoint Presentation</vt:lpstr>
      <vt:lpstr>PowerPoint Presentation</vt:lpstr>
      <vt:lpstr>Determining Scale Factor</vt:lpstr>
      <vt:lpstr>Determining Scale Factor</vt:lpstr>
      <vt:lpstr>Example: Finding the length of a Side of Similar Triangles</vt:lpstr>
      <vt:lpstr>Example: Continued</vt:lpstr>
      <vt:lpstr>Similar Triangles</vt:lpstr>
      <vt:lpstr>Similar Triangles</vt:lpstr>
      <vt:lpstr>Similar Triangles</vt:lpstr>
      <vt:lpstr>AAA Similarity  (Angle-Angle-Angle)</vt:lpstr>
      <vt:lpstr>SSS Similarity  (Side-Side-Side)</vt:lpstr>
      <vt:lpstr>Example: SSS Similarity  (Side-Side-Side)</vt:lpstr>
      <vt:lpstr>SAS Similarity  (Side-Angle-Side)</vt:lpstr>
      <vt:lpstr>Example: SAS Similarity  (Side-Angle-Side)</vt:lpstr>
      <vt:lpstr>PowerPoint Presentation</vt:lpstr>
      <vt:lpstr>Similar Triangles</vt:lpstr>
      <vt:lpstr>Similar Triangles</vt:lpstr>
      <vt:lpstr>Similar Triangles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 Triangles</dc:title>
  <dc:creator>Daniel Burke</dc:creator>
  <cp:lastModifiedBy>FRASER-JONES Laura</cp:lastModifiedBy>
  <cp:revision>20</cp:revision>
  <dcterms:created xsi:type="dcterms:W3CDTF">2013-01-31T23:16:13Z</dcterms:created>
  <dcterms:modified xsi:type="dcterms:W3CDTF">2016-10-31T06:36:30Z</dcterms:modified>
</cp:coreProperties>
</file>
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32" r:id="rId2"/>
    <p:sldId id="336" r:id="rId3"/>
    <p:sldId id="334" r:id="rId4"/>
    <p:sldId id="333" r:id="rId5"/>
    <p:sldId id="330" r:id="rId6"/>
    <p:sldId id="335" r:id="rId7"/>
    <p:sldId id="329" r:id="rId8"/>
    <p:sldId id="292" r:id="rId9"/>
    <p:sldId id="291" r:id="rId10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672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10/02/2016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10/02/2016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5577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22632" y="2139664"/>
                <a:ext cx="1498914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3</m:t>
                        </m:r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5</m:t>
                        </m:r>
                      </m:den>
                    </m:f>
                    <m:r>
                      <a:rPr lang="en-AU" sz="2400" b="0" i="1" smtClean="0">
                        <a:latin typeface="Cambria Math"/>
                        <a:ea typeface="Cambria Math" pitchFamily="18" charset="0"/>
                      </a:rPr>
                      <m:t>+ </m:t>
                    </m:r>
                    <m:f>
                      <m:fPr>
                        <m:ctrlP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4</m:t>
                        </m:r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b="0" dirty="0" smtClean="0">
                    <a:ea typeface="Cambria Math" pitchFamily="18" charset="0"/>
                  </a:rPr>
                  <a:t>  </a:t>
                </a:r>
                <a:r>
                  <a:rPr lang="en-AU" sz="2400" b="0" dirty="0" smtClean="0">
                    <a:ea typeface="Cambria Math" pitchFamily="18" charset="0"/>
                  </a:rPr>
                  <a:t>=</a:t>
                </a:r>
                <a:endParaRPr lang="en-AU" sz="2400" b="0" dirty="0" smtClean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632" y="2139664"/>
                <a:ext cx="1498914" cy="616964"/>
              </a:xfrm>
              <a:prstGeom prst="rect">
                <a:avLst/>
              </a:prstGeom>
              <a:blipFill rotWithShape="1">
                <a:blip r:embed="rId2"/>
                <a:stretch>
                  <a:fillRect r="-2846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6012161" y="2145899"/>
            <a:ext cx="3011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Don’t forget you must have a common denominator, then add the top line</a:t>
            </a:r>
            <a:r>
              <a:rPr lang="en-AU" sz="1400" dirty="0" smtClean="0"/>
              <a:t>.</a:t>
            </a:r>
            <a:endParaRPr lang="en-AU" sz="140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Simplify when Adding &amp; Subtracting Algebraic Fractions?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234102" y="4124798"/>
                <a:ext cx="1503873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8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 −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102" y="4124798"/>
                <a:ext cx="1503873" cy="61279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009457" y="4322095"/>
            <a:ext cx="3011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Similar to Addition don’t forget you must have a common denominator, then subtract the the top 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5545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 </a:t>
            </a:r>
            <a:r>
              <a:rPr lang="en-AU" sz="2800" dirty="0" smtClean="0"/>
              <a:t>and </a:t>
            </a:r>
            <a:r>
              <a:rPr lang="en-AU" sz="2800" dirty="0" smtClean="0"/>
              <a:t>Subtract Algebraic Fractions</a:t>
            </a: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507784" y="2170222"/>
                <a:ext cx="950136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 pitchFamily="18" charset="0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  <a:ea typeface="Cambria Math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  <a:ea typeface="Cambria Math" pitchFamily="18" charset="0"/>
                            </a:rPr>
                            <m:t>+4</m:t>
                          </m:r>
                          <m:r>
                            <a:rPr lang="en-AU" b="0" i="1" smtClean="0">
                              <a:latin typeface="Cambria Math"/>
                              <a:ea typeface="Cambria Math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000" b="0" dirty="0" smtClean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784" y="2170222"/>
                <a:ext cx="950136" cy="6127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146477" y="2744052"/>
                <a:ext cx="950137" cy="614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  </a:t>
                </a:r>
                <a:r>
                  <a:rPr lang="en-AU" sz="2400" dirty="0" smtClean="0">
                    <a:latin typeface="Cambria Math" pitchFamily="18" charset="0"/>
                    <a:ea typeface="Cambria Math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/>
                            <a:ea typeface="Cambria Math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7</m:t>
                        </m:r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  <a:ea typeface="Cambria Math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400" b="0" dirty="0" smtClean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477" y="2744052"/>
                <a:ext cx="950137" cy="614848"/>
              </a:xfrm>
              <a:prstGeom prst="rect">
                <a:avLst/>
              </a:prstGeom>
              <a:blipFill rotWithShape="1">
                <a:blip r:embed="rId5"/>
                <a:stretch>
                  <a:fillRect b="-69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5933580" y="2897587"/>
            <a:ext cx="3011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 smtClean="0"/>
              <a:t>Note</a:t>
            </a:r>
            <a:r>
              <a:rPr lang="en-AU" sz="1400" b="1" dirty="0" smtClean="0"/>
              <a:t>: don’t make it a mixed numeral</a:t>
            </a:r>
            <a:endParaRPr lang="en-AU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4643408" y="4124798"/>
                <a:ext cx="1164037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8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−6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408" y="4124798"/>
                <a:ext cx="1164037" cy="61279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373141" y="5060759"/>
                <a:ext cx="852285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0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141" y="5060759"/>
                <a:ext cx="852285" cy="61279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83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12" grpId="0"/>
      <p:bldP spid="24" grpId="0"/>
      <p:bldP spid="21" grpId="0"/>
      <p:bldP spid="23" grpId="0"/>
      <p:bldP spid="26" grpId="0"/>
      <p:bldP spid="28" grpId="0"/>
      <p:bldP spid="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5577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6228184" y="1916832"/>
            <a:ext cx="3100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 smtClean="0"/>
              <a:t>Remember</a:t>
            </a:r>
            <a:r>
              <a:rPr lang="en-AU" sz="1600" dirty="0" smtClean="0"/>
              <a:t>: Must </a:t>
            </a:r>
            <a:r>
              <a:rPr lang="en-AU" sz="1600" dirty="0" smtClean="0"/>
              <a:t>be over a common </a:t>
            </a:r>
            <a:r>
              <a:rPr lang="en-AU" sz="1600" dirty="0" smtClean="0"/>
              <a:t>denominator</a:t>
            </a:r>
            <a:r>
              <a:rPr lang="en-AU" sz="1600" i="1" dirty="0" smtClean="0">
                <a:latin typeface="Cambria Math"/>
              </a:rPr>
              <a:t>.</a:t>
            </a:r>
            <a:endParaRPr lang="en-AU" sz="1600" dirty="0" smtClean="0"/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/>
              <a:t>EQ – How do I Simplify when Adding &amp; Subtracting Algebraic Fractions?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5545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 </a:t>
            </a:r>
            <a:r>
              <a:rPr lang="en-AU" sz="2800" dirty="0" smtClean="0"/>
              <a:t>and </a:t>
            </a:r>
            <a:r>
              <a:rPr lang="en-AU" sz="2800" dirty="0" smtClean="0"/>
              <a:t>Subtract Algebraic Fractions</a:t>
            </a: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843808" y="2145180"/>
                <a:ext cx="1265603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2145180"/>
                <a:ext cx="1265603" cy="61831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72990" y="4905619"/>
                <a:ext cx="3274499" cy="812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/>
                          </a:rPr>
                          <m:t>14</m:t>
                        </m:r>
                        <m:r>
                          <a:rPr lang="en-AU" sz="2000" b="0" i="1" smtClean="0">
                            <a:latin typeface="Cambria Math"/>
                          </a:rPr>
                          <m:t>𝑏</m:t>
                        </m:r>
                      </m:num>
                      <m:den>
                        <m:r>
                          <a:rPr lang="en-AU" sz="2000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r>
                  <a:rPr lang="en-AU" sz="2000" dirty="0"/>
                  <a:t> </a:t>
                </a:r>
                <a:r>
                  <a:rPr lang="en-AU" sz="2000" dirty="0" smtClean="0"/>
                  <a:t> </a:t>
                </a:r>
                <a:r>
                  <a:rPr lang="en-AU" dirty="0" smtClean="0"/>
                  <a:t>can be simplified by dividing </a:t>
                </a:r>
                <a:r>
                  <a:rPr lang="en-AU" dirty="0" smtClean="0"/>
                  <a:t>top and bottom </a:t>
                </a:r>
                <a:r>
                  <a:rPr lang="en-AU" dirty="0" smtClean="0"/>
                  <a:t>by 2 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990" y="4905619"/>
                <a:ext cx="3274499" cy="812915"/>
              </a:xfrm>
              <a:prstGeom prst="rect">
                <a:avLst/>
              </a:prstGeom>
              <a:blipFill rotWithShape="1">
                <a:blip r:embed="rId3"/>
                <a:stretch>
                  <a:fillRect l="-1676" r="-2607" b="-11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 flipV="1">
            <a:off x="4476264" y="4318711"/>
            <a:ext cx="1072328" cy="5869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3647998" y="4596496"/>
                <a:ext cx="733149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7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998" y="4596496"/>
                <a:ext cx="733149" cy="61824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6777418" y="2568176"/>
                <a:ext cx="2001591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418" y="2568176"/>
                <a:ext cx="2001591" cy="61824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057821" y="2192451"/>
                <a:ext cx="1028358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AU" i="1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821" y="2192451"/>
                <a:ext cx="1028358" cy="61831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3647998" y="3767686"/>
                <a:ext cx="859786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998" y="3767686"/>
                <a:ext cx="859786" cy="61824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3623937" y="2957926"/>
                <a:ext cx="1265603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937" y="2957926"/>
                <a:ext cx="1265603" cy="61831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482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4" grpId="0"/>
      <p:bldP spid="28" grpId="0"/>
      <p:bldP spid="30" grpId="0"/>
      <p:bldP spid="31" grpId="0"/>
      <p:bldP spid="32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6915" y="162763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539552" y="1627639"/>
            <a:ext cx="0" cy="514470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022360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Simplify when Adding &amp; Subtracting Algebraic Fractions?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981577" y="298231"/>
            <a:ext cx="5545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 </a:t>
            </a:r>
            <a:r>
              <a:rPr lang="en-AU" sz="2800" dirty="0" smtClean="0"/>
              <a:t>and </a:t>
            </a:r>
            <a:r>
              <a:rPr lang="en-AU" sz="2800" dirty="0" smtClean="0"/>
              <a:t>Subtract Algebraic Fractions</a:t>
            </a: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29845" y="2203938"/>
                <a:ext cx="2081083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7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45" y="2203938"/>
                <a:ext cx="2081083" cy="61837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5404492" y="2854318"/>
            <a:ext cx="3271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Then multiply out the top line and of course simplify!! </a:t>
            </a:r>
            <a:endParaRPr lang="en-AU" sz="1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453169" y="4132294"/>
                <a:ext cx="1269130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−27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169" y="4132294"/>
                <a:ext cx="1269130" cy="61279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703141" y="2224402"/>
                <a:ext cx="2483500" cy="629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5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−3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/>
                            </a:rPr>
                            <m:t>−3</m:t>
                          </m:r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7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+4</m:t>
                              </m:r>
                            </m:e>
                          </m:d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141" y="2224402"/>
                <a:ext cx="2483500" cy="62991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425277" y="3247086"/>
                <a:ext cx="2594043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−15−21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−12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277" y="3247086"/>
                <a:ext cx="2594043" cy="61837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5404492" y="4246816"/>
            <a:ext cx="2462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 smtClean="0"/>
              <a:t>Remember</a:t>
            </a:r>
            <a:r>
              <a:rPr lang="en-AU" sz="1600" dirty="0" smtClean="0"/>
              <a:t>: Must </a:t>
            </a:r>
            <a:r>
              <a:rPr lang="en-AU" sz="1600" dirty="0" smtClean="0"/>
              <a:t>be over a common </a:t>
            </a:r>
            <a:r>
              <a:rPr lang="en-AU" sz="1600" dirty="0" smtClean="0"/>
              <a:t>denominator</a:t>
            </a:r>
            <a:r>
              <a:rPr lang="en-AU" sz="1600" i="1" dirty="0" smtClean="0">
                <a:latin typeface="Cambria Math"/>
              </a:rPr>
              <a:t>.</a:t>
            </a:r>
            <a:endParaRPr lang="en-AU" sz="16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5404492" y="4862349"/>
                <a:ext cx="3371230" cy="570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6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AU" sz="16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sz="1600" b="0" i="1" smtClean="0">
                              <a:latin typeface="Cambria Math"/>
                            </a:rPr>
                            <m:t>−3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AU" sz="16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sz="1600" b="0" i="1" smtClean="0">
                                  <a:latin typeface="Cambria Math"/>
                                </a:rPr>
                                <m:t>5</m:t>
                              </m:r>
                              <m:r>
                                <a:rPr lang="en-AU" sz="1600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AU" sz="1600" b="0" i="1" smtClean="0">
                                  <a:latin typeface="Cambria Math"/>
                                </a:rPr>
                                <m:t>−3</m:t>
                              </m:r>
                            </m:e>
                          </m:d>
                          <m:r>
                            <a:rPr lang="en-AU" sz="1600" b="0" i="1" smtClean="0">
                              <a:latin typeface="Cambria Math"/>
                              <a:ea typeface="Cambria Math"/>
                            </a:rPr>
                            <m:t>×5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  <m:r>
                            <a:rPr lang="en-AU" sz="1600" b="0" i="1" smtClean="0">
                              <a:latin typeface="Cambria Math"/>
                              <a:ea typeface="Cambria Math"/>
                            </a:rPr>
                            <m:t>×5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5(5</m:t>
                          </m:r>
                          <m:r>
                            <a:rPr lang="en-AU" sz="16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sz="1600" b="0" i="1" smtClean="0">
                              <a:latin typeface="Cambria Math"/>
                            </a:rPr>
                            <m:t>−3)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sz="1600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492" y="4862349"/>
                <a:ext cx="3371230" cy="57022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404493" y="5467308"/>
                <a:ext cx="3646118" cy="570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6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7</m:t>
                          </m:r>
                          <m:r>
                            <a:rPr lang="en-AU" sz="16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sz="1600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AU" sz="16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sz="1600" b="0" i="1" smtClean="0">
                                  <a:latin typeface="Cambria Math"/>
                                </a:rPr>
                                <m:t>7</m:t>
                              </m:r>
                              <m:r>
                                <a:rPr lang="en-AU" sz="1600" b="0" i="1" smtClean="0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AU" sz="1600" b="0" i="1" smtClean="0">
                                  <a:latin typeface="Cambria Math"/>
                                </a:rPr>
                                <m:t>+4</m:t>
                              </m:r>
                            </m:e>
                          </m:d>
                          <m:r>
                            <a:rPr lang="en-AU" sz="1600" b="0" i="1" smtClean="0">
                              <a:latin typeface="Cambria Math"/>
                              <a:ea typeface="Cambria Math"/>
                            </a:rPr>
                            <m:t>×3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  <a:ea typeface="Cambria Math"/>
                            </a:rPr>
                            <m:t>5×3</m:t>
                          </m:r>
                        </m:den>
                      </m:f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1600" b="0" i="1" smtClean="0">
                              <a:latin typeface="Cambria Math"/>
                            </a:rPr>
                            <m:t>3(7</m:t>
                          </m:r>
                          <m:r>
                            <a:rPr lang="en-AU" sz="16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sz="1600" b="0" i="1" smtClean="0">
                              <a:latin typeface="Cambria Math"/>
                            </a:rPr>
                            <m:t>+4)</m:t>
                          </m:r>
                        </m:num>
                        <m:den>
                          <m:r>
                            <a:rPr lang="en-AU" sz="1600" b="0" i="1" smtClean="0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sz="1600" b="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493" y="5467308"/>
                <a:ext cx="3646118" cy="57022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5268192" y="1745137"/>
            <a:ext cx="20492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 smtClean="0"/>
              <a:t>Don’t forget the - sign</a:t>
            </a:r>
            <a:endParaRPr lang="en-AU" sz="1600" dirty="0" smtClean="0"/>
          </a:p>
        </p:txBody>
      </p:sp>
      <p:cxnSp>
        <p:nvCxnSpPr>
          <p:cNvPr id="24" name="Straight Arrow Connector 23"/>
          <p:cNvCxnSpPr>
            <a:stCxn id="23" idx="1"/>
            <a:endCxn id="18" idx="0"/>
          </p:cNvCxnSpPr>
          <p:nvPr/>
        </p:nvCxnSpPr>
        <p:spPr>
          <a:xfrm flipH="1">
            <a:off x="3944891" y="1914414"/>
            <a:ext cx="1323301" cy="3099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54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1.7 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0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5577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6012161" y="2145899"/>
            <a:ext cx="3011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The 3 on the bottom will cancel with the 6 on the top and then multiply the top line then the bottom line.</a:t>
            </a:r>
            <a:endParaRPr lang="en-AU" sz="1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988248" y="3861048"/>
            <a:ext cx="3011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Similar to Multiplication but you </a:t>
            </a:r>
            <a:r>
              <a:rPr lang="en-AU" sz="1400" dirty="0" smtClean="0"/>
              <a:t>must change the ÷ to </a:t>
            </a:r>
            <a:r>
              <a:rPr lang="en-AU" sz="1400" dirty="0" smtClean="0">
                <a:sym typeface="Symbol"/>
              </a:rPr>
              <a:t></a:t>
            </a:r>
            <a:r>
              <a:rPr lang="en-AU" sz="1400" dirty="0" smtClean="0"/>
              <a:t> then </a:t>
            </a:r>
            <a:r>
              <a:rPr lang="en-AU" sz="1400" dirty="0" smtClean="0"/>
              <a:t>invert (tip upside down) the divisor then cancel.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5862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 </a:t>
            </a:r>
            <a:r>
              <a:rPr lang="en-AU" sz="2800" dirty="0" smtClean="0"/>
              <a:t>and </a:t>
            </a:r>
            <a:r>
              <a:rPr lang="en-AU" sz="2800" dirty="0" smtClean="0"/>
              <a:t>Divide Algebraic Fractions</a:t>
            </a:r>
            <a:endParaRPr lang="en-AU" sz="28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Simplify when Multiplying &amp; Dividing Algebraic Fractions? </a:t>
            </a:r>
            <a:endParaRPr lang="en-AU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59832" y="2222843"/>
                <a:ext cx="1495474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𝑎𝑏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222843"/>
                <a:ext cx="1495474" cy="61831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47460" y="3717032"/>
                <a:ext cx="1607555" cy="647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÷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12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𝑐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21</m:t>
                          </m:r>
                        </m:den>
                      </m:f>
                      <m:r>
                        <a:rPr lang="en-AU" i="1"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AU" i="1" dirty="0" smtClean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460" y="3717032"/>
                <a:ext cx="1607555" cy="6471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4555306" y="2236372"/>
                <a:ext cx="852476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8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306" y="2236372"/>
                <a:ext cx="852476" cy="64819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355015" y="3716006"/>
                <a:ext cx="1362296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7</m:t>
                          </m:r>
                        </m:den>
                      </m:f>
                      <m:r>
                        <a:rPr lang="en-AU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21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12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AU" i="1" dirty="0" smtClean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015" y="3716006"/>
                <a:ext cx="1362296" cy="64819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982580" y="4599712"/>
                <a:ext cx="84914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i="1" dirty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580" y="4599712"/>
                <a:ext cx="849142" cy="64633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11"/>
          <p:cNvSpPr/>
          <p:nvPr/>
        </p:nvSpPr>
        <p:spPr>
          <a:xfrm>
            <a:off x="3215368" y="2145898"/>
            <a:ext cx="802997" cy="724301"/>
          </a:xfrm>
          <a:custGeom>
            <a:avLst/>
            <a:gdLst>
              <a:gd name="connsiteX0" fmla="*/ 683532 w 802997"/>
              <a:gd name="connsiteY0" fmla="*/ 8146 h 732046"/>
              <a:gd name="connsiteX1" fmla="*/ 620032 w 802997"/>
              <a:gd name="connsiteY1" fmla="*/ 71646 h 732046"/>
              <a:gd name="connsiteX2" fmla="*/ 594632 w 802997"/>
              <a:gd name="connsiteY2" fmla="*/ 109746 h 732046"/>
              <a:gd name="connsiteX3" fmla="*/ 556532 w 802997"/>
              <a:gd name="connsiteY3" fmla="*/ 122446 h 732046"/>
              <a:gd name="connsiteX4" fmla="*/ 518432 w 802997"/>
              <a:gd name="connsiteY4" fmla="*/ 147846 h 732046"/>
              <a:gd name="connsiteX5" fmla="*/ 493032 w 802997"/>
              <a:gd name="connsiteY5" fmla="*/ 185946 h 732046"/>
              <a:gd name="connsiteX6" fmla="*/ 416832 w 802997"/>
              <a:gd name="connsiteY6" fmla="*/ 236746 h 732046"/>
              <a:gd name="connsiteX7" fmla="*/ 353332 w 802997"/>
              <a:gd name="connsiteY7" fmla="*/ 287546 h 732046"/>
              <a:gd name="connsiteX8" fmla="*/ 327932 w 802997"/>
              <a:gd name="connsiteY8" fmla="*/ 325646 h 732046"/>
              <a:gd name="connsiteX9" fmla="*/ 251732 w 802997"/>
              <a:gd name="connsiteY9" fmla="*/ 389146 h 732046"/>
              <a:gd name="connsiteX10" fmla="*/ 213632 w 802997"/>
              <a:gd name="connsiteY10" fmla="*/ 401846 h 732046"/>
              <a:gd name="connsiteX11" fmla="*/ 175532 w 802997"/>
              <a:gd name="connsiteY11" fmla="*/ 427246 h 732046"/>
              <a:gd name="connsiteX12" fmla="*/ 137432 w 802997"/>
              <a:gd name="connsiteY12" fmla="*/ 439946 h 732046"/>
              <a:gd name="connsiteX13" fmla="*/ 23132 w 802997"/>
              <a:gd name="connsiteY13" fmla="*/ 528846 h 732046"/>
              <a:gd name="connsiteX14" fmla="*/ 23132 w 802997"/>
              <a:gd name="connsiteY14" fmla="*/ 706646 h 732046"/>
              <a:gd name="connsiteX15" fmla="*/ 99332 w 802997"/>
              <a:gd name="connsiteY15" fmla="*/ 732046 h 732046"/>
              <a:gd name="connsiteX16" fmla="*/ 251732 w 802997"/>
              <a:gd name="connsiteY16" fmla="*/ 719346 h 732046"/>
              <a:gd name="connsiteX17" fmla="*/ 327932 w 802997"/>
              <a:gd name="connsiteY17" fmla="*/ 681246 h 732046"/>
              <a:gd name="connsiteX18" fmla="*/ 366032 w 802997"/>
              <a:gd name="connsiteY18" fmla="*/ 668546 h 732046"/>
              <a:gd name="connsiteX19" fmla="*/ 404132 w 802997"/>
              <a:gd name="connsiteY19" fmla="*/ 643146 h 732046"/>
              <a:gd name="connsiteX20" fmla="*/ 442232 w 802997"/>
              <a:gd name="connsiteY20" fmla="*/ 630446 h 732046"/>
              <a:gd name="connsiteX21" fmla="*/ 518432 w 802997"/>
              <a:gd name="connsiteY21" fmla="*/ 579646 h 732046"/>
              <a:gd name="connsiteX22" fmla="*/ 581932 w 802997"/>
              <a:gd name="connsiteY22" fmla="*/ 516146 h 732046"/>
              <a:gd name="connsiteX23" fmla="*/ 658132 w 802997"/>
              <a:gd name="connsiteY23" fmla="*/ 452646 h 732046"/>
              <a:gd name="connsiteX24" fmla="*/ 696232 w 802997"/>
              <a:gd name="connsiteY24" fmla="*/ 376446 h 732046"/>
              <a:gd name="connsiteX25" fmla="*/ 708932 w 802997"/>
              <a:gd name="connsiteY25" fmla="*/ 338346 h 732046"/>
              <a:gd name="connsiteX26" fmla="*/ 734332 w 802997"/>
              <a:gd name="connsiteY26" fmla="*/ 300246 h 732046"/>
              <a:gd name="connsiteX27" fmla="*/ 747032 w 802997"/>
              <a:gd name="connsiteY27" fmla="*/ 262146 h 732046"/>
              <a:gd name="connsiteX28" fmla="*/ 785132 w 802997"/>
              <a:gd name="connsiteY28" fmla="*/ 236746 h 732046"/>
              <a:gd name="connsiteX29" fmla="*/ 785132 w 802997"/>
              <a:gd name="connsiteY29" fmla="*/ 71646 h 732046"/>
              <a:gd name="connsiteX30" fmla="*/ 759732 w 802997"/>
              <a:gd name="connsiteY30" fmla="*/ 33546 h 732046"/>
              <a:gd name="connsiteX31" fmla="*/ 721632 w 802997"/>
              <a:gd name="connsiteY31" fmla="*/ 20846 h 732046"/>
              <a:gd name="connsiteX32" fmla="*/ 683532 w 802997"/>
              <a:gd name="connsiteY32" fmla="*/ 8146 h 732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02997" h="732046">
                <a:moveTo>
                  <a:pt x="683532" y="8146"/>
                </a:moveTo>
                <a:cubicBezTo>
                  <a:pt x="666599" y="16613"/>
                  <a:pt x="639744" y="49118"/>
                  <a:pt x="620032" y="71646"/>
                </a:cubicBezTo>
                <a:cubicBezTo>
                  <a:pt x="609981" y="83133"/>
                  <a:pt x="606551" y="100211"/>
                  <a:pt x="594632" y="109746"/>
                </a:cubicBezTo>
                <a:cubicBezTo>
                  <a:pt x="584179" y="118109"/>
                  <a:pt x="568506" y="116459"/>
                  <a:pt x="556532" y="122446"/>
                </a:cubicBezTo>
                <a:cubicBezTo>
                  <a:pt x="542880" y="129272"/>
                  <a:pt x="531132" y="139379"/>
                  <a:pt x="518432" y="147846"/>
                </a:cubicBezTo>
                <a:cubicBezTo>
                  <a:pt x="509965" y="160546"/>
                  <a:pt x="504519" y="175895"/>
                  <a:pt x="493032" y="185946"/>
                </a:cubicBezTo>
                <a:cubicBezTo>
                  <a:pt x="470058" y="206048"/>
                  <a:pt x="416832" y="236746"/>
                  <a:pt x="416832" y="236746"/>
                </a:cubicBezTo>
                <a:cubicBezTo>
                  <a:pt x="344039" y="345935"/>
                  <a:pt x="440966" y="217439"/>
                  <a:pt x="353332" y="287546"/>
                </a:cubicBezTo>
                <a:cubicBezTo>
                  <a:pt x="341413" y="297081"/>
                  <a:pt x="337703" y="313920"/>
                  <a:pt x="327932" y="325646"/>
                </a:cubicBezTo>
                <a:cubicBezTo>
                  <a:pt x="307870" y="349721"/>
                  <a:pt x="280275" y="374875"/>
                  <a:pt x="251732" y="389146"/>
                </a:cubicBezTo>
                <a:cubicBezTo>
                  <a:pt x="239758" y="395133"/>
                  <a:pt x="225606" y="395859"/>
                  <a:pt x="213632" y="401846"/>
                </a:cubicBezTo>
                <a:cubicBezTo>
                  <a:pt x="199980" y="408672"/>
                  <a:pt x="189184" y="420420"/>
                  <a:pt x="175532" y="427246"/>
                </a:cubicBezTo>
                <a:cubicBezTo>
                  <a:pt x="163558" y="433233"/>
                  <a:pt x="149134" y="433445"/>
                  <a:pt x="137432" y="439946"/>
                </a:cubicBezTo>
                <a:cubicBezTo>
                  <a:pt x="69074" y="477923"/>
                  <a:pt x="69412" y="482566"/>
                  <a:pt x="23132" y="528846"/>
                </a:cubicBezTo>
                <a:cubicBezTo>
                  <a:pt x="3143" y="588813"/>
                  <a:pt x="-16967" y="632176"/>
                  <a:pt x="23132" y="706646"/>
                </a:cubicBezTo>
                <a:cubicBezTo>
                  <a:pt x="35826" y="730220"/>
                  <a:pt x="99332" y="732046"/>
                  <a:pt x="99332" y="732046"/>
                </a:cubicBezTo>
                <a:cubicBezTo>
                  <a:pt x="150132" y="727813"/>
                  <a:pt x="201203" y="726083"/>
                  <a:pt x="251732" y="719346"/>
                </a:cubicBezTo>
                <a:cubicBezTo>
                  <a:pt x="295262" y="713542"/>
                  <a:pt x="289013" y="700706"/>
                  <a:pt x="327932" y="681246"/>
                </a:cubicBezTo>
                <a:cubicBezTo>
                  <a:pt x="339906" y="675259"/>
                  <a:pt x="354058" y="674533"/>
                  <a:pt x="366032" y="668546"/>
                </a:cubicBezTo>
                <a:cubicBezTo>
                  <a:pt x="379684" y="661720"/>
                  <a:pt x="390480" y="649972"/>
                  <a:pt x="404132" y="643146"/>
                </a:cubicBezTo>
                <a:cubicBezTo>
                  <a:pt x="416106" y="637159"/>
                  <a:pt x="430530" y="636947"/>
                  <a:pt x="442232" y="630446"/>
                </a:cubicBezTo>
                <a:cubicBezTo>
                  <a:pt x="468917" y="615621"/>
                  <a:pt x="518432" y="579646"/>
                  <a:pt x="518432" y="579646"/>
                </a:cubicBezTo>
                <a:cubicBezTo>
                  <a:pt x="564999" y="509796"/>
                  <a:pt x="518432" y="569063"/>
                  <a:pt x="581932" y="516146"/>
                </a:cubicBezTo>
                <a:cubicBezTo>
                  <a:pt x="679718" y="434658"/>
                  <a:pt x="563537" y="515709"/>
                  <a:pt x="658132" y="452646"/>
                </a:cubicBezTo>
                <a:cubicBezTo>
                  <a:pt x="690054" y="356881"/>
                  <a:pt x="646993" y="474923"/>
                  <a:pt x="696232" y="376446"/>
                </a:cubicBezTo>
                <a:cubicBezTo>
                  <a:pt x="702219" y="364472"/>
                  <a:pt x="702945" y="350320"/>
                  <a:pt x="708932" y="338346"/>
                </a:cubicBezTo>
                <a:cubicBezTo>
                  <a:pt x="715758" y="324694"/>
                  <a:pt x="727506" y="313898"/>
                  <a:pt x="734332" y="300246"/>
                </a:cubicBezTo>
                <a:cubicBezTo>
                  <a:pt x="740319" y="288272"/>
                  <a:pt x="738669" y="272599"/>
                  <a:pt x="747032" y="262146"/>
                </a:cubicBezTo>
                <a:cubicBezTo>
                  <a:pt x="756567" y="250227"/>
                  <a:pt x="772432" y="245213"/>
                  <a:pt x="785132" y="236746"/>
                </a:cubicBezTo>
                <a:cubicBezTo>
                  <a:pt x="807874" y="168520"/>
                  <a:pt x="810007" y="179438"/>
                  <a:pt x="785132" y="71646"/>
                </a:cubicBezTo>
                <a:cubicBezTo>
                  <a:pt x="781700" y="56773"/>
                  <a:pt x="771651" y="43081"/>
                  <a:pt x="759732" y="33546"/>
                </a:cubicBezTo>
                <a:cubicBezTo>
                  <a:pt x="749279" y="25183"/>
                  <a:pt x="733606" y="26833"/>
                  <a:pt x="721632" y="20846"/>
                </a:cubicBezTo>
                <a:cubicBezTo>
                  <a:pt x="661439" y="-9250"/>
                  <a:pt x="700465" y="-321"/>
                  <a:pt x="683532" y="8146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Freeform 12"/>
          <p:cNvSpPr/>
          <p:nvPr/>
        </p:nvSpPr>
        <p:spPr>
          <a:xfrm>
            <a:off x="4527267" y="3729176"/>
            <a:ext cx="1008112" cy="635021"/>
          </a:xfrm>
          <a:custGeom>
            <a:avLst/>
            <a:gdLst>
              <a:gd name="connsiteX0" fmla="*/ 698500 w 901808"/>
              <a:gd name="connsiteY0" fmla="*/ 76200 h 635021"/>
              <a:gd name="connsiteX1" fmla="*/ 622300 w 901808"/>
              <a:gd name="connsiteY1" fmla="*/ 101600 h 635021"/>
              <a:gd name="connsiteX2" fmla="*/ 584200 w 901808"/>
              <a:gd name="connsiteY2" fmla="*/ 127000 h 635021"/>
              <a:gd name="connsiteX3" fmla="*/ 495300 w 901808"/>
              <a:gd name="connsiteY3" fmla="*/ 165100 h 635021"/>
              <a:gd name="connsiteX4" fmla="*/ 457200 w 901808"/>
              <a:gd name="connsiteY4" fmla="*/ 203200 h 635021"/>
              <a:gd name="connsiteX5" fmla="*/ 381000 w 901808"/>
              <a:gd name="connsiteY5" fmla="*/ 228600 h 635021"/>
              <a:gd name="connsiteX6" fmla="*/ 342900 w 901808"/>
              <a:gd name="connsiteY6" fmla="*/ 241300 h 635021"/>
              <a:gd name="connsiteX7" fmla="*/ 266700 w 901808"/>
              <a:gd name="connsiteY7" fmla="*/ 292100 h 635021"/>
              <a:gd name="connsiteX8" fmla="*/ 228600 w 901808"/>
              <a:gd name="connsiteY8" fmla="*/ 317500 h 635021"/>
              <a:gd name="connsiteX9" fmla="*/ 165100 w 901808"/>
              <a:gd name="connsiteY9" fmla="*/ 368300 h 635021"/>
              <a:gd name="connsiteX10" fmla="*/ 88900 w 901808"/>
              <a:gd name="connsiteY10" fmla="*/ 419100 h 635021"/>
              <a:gd name="connsiteX11" fmla="*/ 38100 w 901808"/>
              <a:gd name="connsiteY11" fmla="*/ 495300 h 635021"/>
              <a:gd name="connsiteX12" fmla="*/ 12700 w 901808"/>
              <a:gd name="connsiteY12" fmla="*/ 533400 h 635021"/>
              <a:gd name="connsiteX13" fmla="*/ 0 w 901808"/>
              <a:gd name="connsiteY13" fmla="*/ 571500 h 635021"/>
              <a:gd name="connsiteX14" fmla="*/ 12700 w 901808"/>
              <a:gd name="connsiteY14" fmla="*/ 622300 h 635021"/>
              <a:gd name="connsiteX15" fmla="*/ 76200 w 901808"/>
              <a:gd name="connsiteY15" fmla="*/ 635000 h 635021"/>
              <a:gd name="connsiteX16" fmla="*/ 228600 w 901808"/>
              <a:gd name="connsiteY16" fmla="*/ 622300 h 635021"/>
              <a:gd name="connsiteX17" fmla="*/ 304800 w 901808"/>
              <a:gd name="connsiteY17" fmla="*/ 596900 h 635021"/>
              <a:gd name="connsiteX18" fmla="*/ 381000 w 901808"/>
              <a:gd name="connsiteY18" fmla="*/ 546100 h 635021"/>
              <a:gd name="connsiteX19" fmla="*/ 419100 w 901808"/>
              <a:gd name="connsiteY19" fmla="*/ 533400 h 635021"/>
              <a:gd name="connsiteX20" fmla="*/ 495300 w 901808"/>
              <a:gd name="connsiteY20" fmla="*/ 482600 h 635021"/>
              <a:gd name="connsiteX21" fmla="*/ 622300 w 901808"/>
              <a:gd name="connsiteY21" fmla="*/ 431800 h 635021"/>
              <a:gd name="connsiteX22" fmla="*/ 660400 w 901808"/>
              <a:gd name="connsiteY22" fmla="*/ 419100 h 635021"/>
              <a:gd name="connsiteX23" fmla="*/ 736600 w 901808"/>
              <a:gd name="connsiteY23" fmla="*/ 368300 h 635021"/>
              <a:gd name="connsiteX24" fmla="*/ 850900 w 901808"/>
              <a:gd name="connsiteY24" fmla="*/ 317500 h 635021"/>
              <a:gd name="connsiteX25" fmla="*/ 901700 w 901808"/>
              <a:gd name="connsiteY25" fmla="*/ 241300 h 635021"/>
              <a:gd name="connsiteX26" fmla="*/ 863600 w 901808"/>
              <a:gd name="connsiteY26" fmla="*/ 38100 h 635021"/>
              <a:gd name="connsiteX27" fmla="*/ 825500 w 901808"/>
              <a:gd name="connsiteY27" fmla="*/ 12700 h 635021"/>
              <a:gd name="connsiteX28" fmla="*/ 787400 w 901808"/>
              <a:gd name="connsiteY28" fmla="*/ 0 h 635021"/>
              <a:gd name="connsiteX29" fmla="*/ 749300 w 901808"/>
              <a:gd name="connsiteY29" fmla="*/ 12700 h 635021"/>
              <a:gd name="connsiteX30" fmla="*/ 736600 w 901808"/>
              <a:gd name="connsiteY30" fmla="*/ 50800 h 635021"/>
              <a:gd name="connsiteX31" fmla="*/ 698500 w 901808"/>
              <a:gd name="connsiteY31" fmla="*/ 76200 h 63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01808" h="635021">
                <a:moveTo>
                  <a:pt x="698500" y="76200"/>
                </a:moveTo>
                <a:cubicBezTo>
                  <a:pt x="679450" y="84667"/>
                  <a:pt x="646766" y="90726"/>
                  <a:pt x="622300" y="101600"/>
                </a:cubicBezTo>
                <a:cubicBezTo>
                  <a:pt x="608352" y="107799"/>
                  <a:pt x="597452" y="119427"/>
                  <a:pt x="584200" y="127000"/>
                </a:cubicBezTo>
                <a:cubicBezTo>
                  <a:pt x="540258" y="152109"/>
                  <a:pt x="538044" y="150852"/>
                  <a:pt x="495300" y="165100"/>
                </a:cubicBezTo>
                <a:cubicBezTo>
                  <a:pt x="482600" y="177800"/>
                  <a:pt x="472900" y="194478"/>
                  <a:pt x="457200" y="203200"/>
                </a:cubicBezTo>
                <a:cubicBezTo>
                  <a:pt x="433795" y="216203"/>
                  <a:pt x="406400" y="220133"/>
                  <a:pt x="381000" y="228600"/>
                </a:cubicBezTo>
                <a:cubicBezTo>
                  <a:pt x="368300" y="232833"/>
                  <a:pt x="354039" y="233874"/>
                  <a:pt x="342900" y="241300"/>
                </a:cubicBezTo>
                <a:lnTo>
                  <a:pt x="266700" y="292100"/>
                </a:lnTo>
                <a:lnTo>
                  <a:pt x="228600" y="317500"/>
                </a:lnTo>
                <a:cubicBezTo>
                  <a:pt x="181668" y="387898"/>
                  <a:pt x="230052" y="332216"/>
                  <a:pt x="165100" y="368300"/>
                </a:cubicBezTo>
                <a:cubicBezTo>
                  <a:pt x="138415" y="383125"/>
                  <a:pt x="88900" y="419100"/>
                  <a:pt x="88900" y="419100"/>
                </a:cubicBezTo>
                <a:lnTo>
                  <a:pt x="38100" y="495300"/>
                </a:lnTo>
                <a:cubicBezTo>
                  <a:pt x="29633" y="508000"/>
                  <a:pt x="17527" y="518920"/>
                  <a:pt x="12700" y="533400"/>
                </a:cubicBezTo>
                <a:lnTo>
                  <a:pt x="0" y="571500"/>
                </a:lnTo>
                <a:cubicBezTo>
                  <a:pt x="4233" y="588433"/>
                  <a:pt x="-709" y="611126"/>
                  <a:pt x="12700" y="622300"/>
                </a:cubicBezTo>
                <a:cubicBezTo>
                  <a:pt x="29283" y="636119"/>
                  <a:pt x="54614" y="635000"/>
                  <a:pt x="76200" y="635000"/>
                </a:cubicBezTo>
                <a:cubicBezTo>
                  <a:pt x="127176" y="635000"/>
                  <a:pt x="177800" y="626533"/>
                  <a:pt x="228600" y="622300"/>
                </a:cubicBezTo>
                <a:cubicBezTo>
                  <a:pt x="254000" y="613833"/>
                  <a:pt x="282523" y="611752"/>
                  <a:pt x="304800" y="596900"/>
                </a:cubicBezTo>
                <a:cubicBezTo>
                  <a:pt x="330200" y="579967"/>
                  <a:pt x="352040" y="555753"/>
                  <a:pt x="381000" y="546100"/>
                </a:cubicBezTo>
                <a:cubicBezTo>
                  <a:pt x="393700" y="541867"/>
                  <a:pt x="407398" y="539901"/>
                  <a:pt x="419100" y="533400"/>
                </a:cubicBezTo>
                <a:cubicBezTo>
                  <a:pt x="445785" y="518575"/>
                  <a:pt x="466340" y="492253"/>
                  <a:pt x="495300" y="482600"/>
                </a:cubicBezTo>
                <a:cubicBezTo>
                  <a:pt x="668742" y="424786"/>
                  <a:pt x="491492" y="487861"/>
                  <a:pt x="622300" y="431800"/>
                </a:cubicBezTo>
                <a:cubicBezTo>
                  <a:pt x="634605" y="426527"/>
                  <a:pt x="648698" y="425601"/>
                  <a:pt x="660400" y="419100"/>
                </a:cubicBezTo>
                <a:cubicBezTo>
                  <a:pt x="687085" y="404275"/>
                  <a:pt x="707640" y="377953"/>
                  <a:pt x="736600" y="368300"/>
                </a:cubicBezTo>
                <a:cubicBezTo>
                  <a:pt x="827280" y="338073"/>
                  <a:pt x="790523" y="357752"/>
                  <a:pt x="850900" y="317500"/>
                </a:cubicBezTo>
                <a:cubicBezTo>
                  <a:pt x="867833" y="292100"/>
                  <a:pt x="904041" y="271737"/>
                  <a:pt x="901700" y="241300"/>
                </a:cubicBezTo>
                <a:cubicBezTo>
                  <a:pt x="896270" y="170707"/>
                  <a:pt x="917283" y="91783"/>
                  <a:pt x="863600" y="38100"/>
                </a:cubicBezTo>
                <a:cubicBezTo>
                  <a:pt x="852807" y="27307"/>
                  <a:pt x="839152" y="19526"/>
                  <a:pt x="825500" y="12700"/>
                </a:cubicBezTo>
                <a:cubicBezTo>
                  <a:pt x="813526" y="6713"/>
                  <a:pt x="800100" y="4233"/>
                  <a:pt x="787400" y="0"/>
                </a:cubicBezTo>
                <a:cubicBezTo>
                  <a:pt x="774700" y="4233"/>
                  <a:pt x="758766" y="3234"/>
                  <a:pt x="749300" y="12700"/>
                </a:cubicBezTo>
                <a:cubicBezTo>
                  <a:pt x="739834" y="22166"/>
                  <a:pt x="746066" y="41334"/>
                  <a:pt x="736600" y="50800"/>
                </a:cubicBezTo>
                <a:cubicBezTo>
                  <a:pt x="727134" y="60266"/>
                  <a:pt x="717550" y="67733"/>
                  <a:pt x="698500" y="76200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Freeform 16"/>
          <p:cNvSpPr/>
          <p:nvPr/>
        </p:nvSpPr>
        <p:spPr>
          <a:xfrm>
            <a:off x="4429755" y="3717032"/>
            <a:ext cx="1208938" cy="667031"/>
          </a:xfrm>
          <a:custGeom>
            <a:avLst/>
            <a:gdLst>
              <a:gd name="connsiteX0" fmla="*/ 317500 w 1208938"/>
              <a:gd name="connsiteY0" fmla="*/ 114300 h 667031"/>
              <a:gd name="connsiteX1" fmla="*/ 279400 w 1208938"/>
              <a:gd name="connsiteY1" fmla="*/ 50800 h 667031"/>
              <a:gd name="connsiteX2" fmla="*/ 203200 w 1208938"/>
              <a:gd name="connsiteY2" fmla="*/ 0 h 667031"/>
              <a:gd name="connsiteX3" fmla="*/ 127000 w 1208938"/>
              <a:gd name="connsiteY3" fmla="*/ 12700 h 667031"/>
              <a:gd name="connsiteX4" fmla="*/ 76200 w 1208938"/>
              <a:gd name="connsiteY4" fmla="*/ 76200 h 667031"/>
              <a:gd name="connsiteX5" fmla="*/ 0 w 1208938"/>
              <a:gd name="connsiteY5" fmla="*/ 139700 h 667031"/>
              <a:gd name="connsiteX6" fmla="*/ 12700 w 1208938"/>
              <a:gd name="connsiteY6" fmla="*/ 254000 h 667031"/>
              <a:gd name="connsiteX7" fmla="*/ 50800 w 1208938"/>
              <a:gd name="connsiteY7" fmla="*/ 292100 h 667031"/>
              <a:gd name="connsiteX8" fmla="*/ 127000 w 1208938"/>
              <a:gd name="connsiteY8" fmla="*/ 317500 h 667031"/>
              <a:gd name="connsiteX9" fmla="*/ 203200 w 1208938"/>
              <a:gd name="connsiteY9" fmla="*/ 355600 h 667031"/>
              <a:gd name="connsiteX10" fmla="*/ 317500 w 1208938"/>
              <a:gd name="connsiteY10" fmla="*/ 431800 h 667031"/>
              <a:gd name="connsiteX11" fmla="*/ 355600 w 1208938"/>
              <a:gd name="connsiteY11" fmla="*/ 457200 h 667031"/>
              <a:gd name="connsiteX12" fmla="*/ 431800 w 1208938"/>
              <a:gd name="connsiteY12" fmla="*/ 495300 h 667031"/>
              <a:gd name="connsiteX13" fmla="*/ 508000 w 1208938"/>
              <a:gd name="connsiteY13" fmla="*/ 520700 h 667031"/>
              <a:gd name="connsiteX14" fmla="*/ 546100 w 1208938"/>
              <a:gd name="connsiteY14" fmla="*/ 546100 h 667031"/>
              <a:gd name="connsiteX15" fmla="*/ 660400 w 1208938"/>
              <a:gd name="connsiteY15" fmla="*/ 584200 h 667031"/>
              <a:gd name="connsiteX16" fmla="*/ 736600 w 1208938"/>
              <a:gd name="connsiteY16" fmla="*/ 609600 h 667031"/>
              <a:gd name="connsiteX17" fmla="*/ 838200 w 1208938"/>
              <a:gd name="connsiteY17" fmla="*/ 635000 h 667031"/>
              <a:gd name="connsiteX18" fmla="*/ 990600 w 1208938"/>
              <a:gd name="connsiteY18" fmla="*/ 647700 h 667031"/>
              <a:gd name="connsiteX19" fmla="*/ 1193800 w 1208938"/>
              <a:gd name="connsiteY19" fmla="*/ 647700 h 667031"/>
              <a:gd name="connsiteX20" fmla="*/ 1206500 w 1208938"/>
              <a:gd name="connsiteY20" fmla="*/ 546100 h 667031"/>
              <a:gd name="connsiteX21" fmla="*/ 1193800 w 1208938"/>
              <a:gd name="connsiteY21" fmla="*/ 419100 h 667031"/>
              <a:gd name="connsiteX22" fmla="*/ 1117600 w 1208938"/>
              <a:gd name="connsiteY22" fmla="*/ 393700 h 667031"/>
              <a:gd name="connsiteX23" fmla="*/ 876300 w 1208938"/>
              <a:gd name="connsiteY23" fmla="*/ 368300 h 667031"/>
              <a:gd name="connsiteX24" fmla="*/ 838200 w 1208938"/>
              <a:gd name="connsiteY24" fmla="*/ 355600 h 667031"/>
              <a:gd name="connsiteX25" fmla="*/ 685800 w 1208938"/>
              <a:gd name="connsiteY25" fmla="*/ 330200 h 667031"/>
              <a:gd name="connsiteX26" fmla="*/ 647700 w 1208938"/>
              <a:gd name="connsiteY26" fmla="*/ 317500 h 667031"/>
              <a:gd name="connsiteX27" fmla="*/ 571500 w 1208938"/>
              <a:gd name="connsiteY27" fmla="*/ 266700 h 667031"/>
              <a:gd name="connsiteX28" fmla="*/ 355600 w 1208938"/>
              <a:gd name="connsiteY28" fmla="*/ 241300 h 667031"/>
              <a:gd name="connsiteX29" fmla="*/ 317500 w 1208938"/>
              <a:gd name="connsiteY29" fmla="*/ 228600 h 667031"/>
              <a:gd name="connsiteX30" fmla="*/ 304800 w 1208938"/>
              <a:gd name="connsiteY30" fmla="*/ 127000 h 667031"/>
              <a:gd name="connsiteX31" fmla="*/ 317500 w 1208938"/>
              <a:gd name="connsiteY31" fmla="*/ 114300 h 667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08938" h="667031">
                <a:moveTo>
                  <a:pt x="317500" y="114300"/>
                </a:moveTo>
                <a:cubicBezTo>
                  <a:pt x="313267" y="101600"/>
                  <a:pt x="296854" y="68254"/>
                  <a:pt x="279400" y="50800"/>
                </a:cubicBezTo>
                <a:cubicBezTo>
                  <a:pt x="257814" y="29214"/>
                  <a:pt x="203200" y="0"/>
                  <a:pt x="203200" y="0"/>
                </a:cubicBezTo>
                <a:cubicBezTo>
                  <a:pt x="177800" y="4233"/>
                  <a:pt x="151429" y="4557"/>
                  <a:pt x="127000" y="12700"/>
                </a:cubicBezTo>
                <a:cubicBezTo>
                  <a:pt x="66136" y="32988"/>
                  <a:pt x="103923" y="34616"/>
                  <a:pt x="76200" y="76200"/>
                </a:cubicBezTo>
                <a:cubicBezTo>
                  <a:pt x="56643" y="105536"/>
                  <a:pt x="28113" y="120958"/>
                  <a:pt x="0" y="139700"/>
                </a:cubicBezTo>
                <a:cubicBezTo>
                  <a:pt x="4233" y="177800"/>
                  <a:pt x="578" y="217633"/>
                  <a:pt x="12700" y="254000"/>
                </a:cubicBezTo>
                <a:cubicBezTo>
                  <a:pt x="18380" y="271039"/>
                  <a:pt x="35100" y="283378"/>
                  <a:pt x="50800" y="292100"/>
                </a:cubicBezTo>
                <a:cubicBezTo>
                  <a:pt x="74205" y="305103"/>
                  <a:pt x="104723" y="302648"/>
                  <a:pt x="127000" y="317500"/>
                </a:cubicBezTo>
                <a:cubicBezTo>
                  <a:pt x="296140" y="430260"/>
                  <a:pt x="45459" y="267966"/>
                  <a:pt x="203200" y="355600"/>
                </a:cubicBezTo>
                <a:lnTo>
                  <a:pt x="317500" y="431800"/>
                </a:lnTo>
                <a:cubicBezTo>
                  <a:pt x="330200" y="440267"/>
                  <a:pt x="341120" y="452373"/>
                  <a:pt x="355600" y="457200"/>
                </a:cubicBezTo>
                <a:cubicBezTo>
                  <a:pt x="494551" y="503517"/>
                  <a:pt x="284084" y="429648"/>
                  <a:pt x="431800" y="495300"/>
                </a:cubicBezTo>
                <a:cubicBezTo>
                  <a:pt x="456266" y="506174"/>
                  <a:pt x="485723" y="505848"/>
                  <a:pt x="508000" y="520700"/>
                </a:cubicBezTo>
                <a:cubicBezTo>
                  <a:pt x="520700" y="529167"/>
                  <a:pt x="532152" y="539901"/>
                  <a:pt x="546100" y="546100"/>
                </a:cubicBezTo>
                <a:lnTo>
                  <a:pt x="660400" y="584200"/>
                </a:lnTo>
                <a:lnTo>
                  <a:pt x="736600" y="609600"/>
                </a:lnTo>
                <a:cubicBezTo>
                  <a:pt x="777033" y="623078"/>
                  <a:pt x="790831" y="629427"/>
                  <a:pt x="838200" y="635000"/>
                </a:cubicBezTo>
                <a:cubicBezTo>
                  <a:pt x="888827" y="640956"/>
                  <a:pt x="939800" y="643467"/>
                  <a:pt x="990600" y="647700"/>
                </a:cubicBezTo>
                <a:cubicBezTo>
                  <a:pt x="1048323" y="659245"/>
                  <a:pt x="1144438" y="684721"/>
                  <a:pt x="1193800" y="647700"/>
                </a:cubicBezTo>
                <a:cubicBezTo>
                  <a:pt x="1221104" y="627222"/>
                  <a:pt x="1202267" y="579967"/>
                  <a:pt x="1206500" y="546100"/>
                </a:cubicBezTo>
                <a:cubicBezTo>
                  <a:pt x="1202267" y="503767"/>
                  <a:pt x="1215237" y="455849"/>
                  <a:pt x="1193800" y="419100"/>
                </a:cubicBezTo>
                <a:cubicBezTo>
                  <a:pt x="1180309" y="395973"/>
                  <a:pt x="1144167" y="397021"/>
                  <a:pt x="1117600" y="393700"/>
                </a:cubicBezTo>
                <a:cubicBezTo>
                  <a:pt x="969602" y="375200"/>
                  <a:pt x="1049990" y="384090"/>
                  <a:pt x="876300" y="368300"/>
                </a:cubicBezTo>
                <a:cubicBezTo>
                  <a:pt x="863600" y="364067"/>
                  <a:pt x="851371" y="357995"/>
                  <a:pt x="838200" y="355600"/>
                </a:cubicBezTo>
                <a:cubicBezTo>
                  <a:pt x="710648" y="332409"/>
                  <a:pt x="774126" y="355436"/>
                  <a:pt x="685800" y="330200"/>
                </a:cubicBezTo>
                <a:cubicBezTo>
                  <a:pt x="672928" y="326522"/>
                  <a:pt x="659402" y="324001"/>
                  <a:pt x="647700" y="317500"/>
                </a:cubicBezTo>
                <a:cubicBezTo>
                  <a:pt x="621015" y="302675"/>
                  <a:pt x="601840" y="270071"/>
                  <a:pt x="571500" y="266700"/>
                </a:cubicBezTo>
                <a:cubicBezTo>
                  <a:pt x="423279" y="250231"/>
                  <a:pt x="495238" y="258755"/>
                  <a:pt x="355600" y="241300"/>
                </a:cubicBezTo>
                <a:cubicBezTo>
                  <a:pt x="342900" y="237067"/>
                  <a:pt x="322937" y="240833"/>
                  <a:pt x="317500" y="228600"/>
                </a:cubicBezTo>
                <a:cubicBezTo>
                  <a:pt x="303638" y="197411"/>
                  <a:pt x="311493" y="160467"/>
                  <a:pt x="304800" y="127000"/>
                </a:cubicBezTo>
                <a:cubicBezTo>
                  <a:pt x="302944" y="117718"/>
                  <a:pt x="321733" y="127000"/>
                  <a:pt x="317500" y="114300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10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3" grpId="0"/>
      <p:bldP spid="5" grpId="0"/>
      <p:bldP spid="22" grpId="0"/>
      <p:bldP spid="23" grpId="0"/>
      <p:bldP spid="26" grpId="0"/>
      <p:bldP spid="12" grpId="0" animBg="1"/>
      <p:bldP spid="13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957034"/>
            <a:ext cx="0" cy="49009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981577" y="298231"/>
            <a:ext cx="5492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Multiply – Divide Algebraic Fractions</a:t>
            </a:r>
            <a:endParaRPr lang="en-AU" sz="2800" dirty="0"/>
          </a:p>
        </p:txBody>
      </p:sp>
      <p:sp>
        <p:nvSpPr>
          <p:cNvPr id="31" name="TextBox 30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Simplify when Multiplying &amp; Dividing Algebraic Fractions? </a:t>
            </a:r>
            <a:endParaRPr lang="en-AU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267654" y="2185419"/>
                <a:ext cx="2065501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AU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AU" b="0" i="1" dirty="0" smtClean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654" y="2185419"/>
                <a:ext cx="2065501" cy="61837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272622" y="4051427"/>
                <a:ext cx="2039533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AU" i="1" smtClean="0">
                          <a:latin typeface="Cambria Math"/>
                          <a:ea typeface="Cambria Math"/>
                        </a:rPr>
                        <m:t>÷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−7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18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AU" i="1" dirty="0" smtClean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622" y="4051427"/>
                <a:ext cx="2039533" cy="61831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6210893" y="2199138"/>
            <a:ext cx="3011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There is nothing to cancel so multiply top line together and bottom line 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224" y="4357072"/>
            <a:ext cx="19690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/>
              <a:t>Invert the divisor cancel the 18 and 12, then multiply.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859303" y="3037127"/>
                <a:ext cx="2165465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10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−29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−21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303" y="3037127"/>
                <a:ext cx="2165465" cy="64812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246766" y="2199138"/>
                <a:ext cx="1945276" cy="619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(5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+3)(2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−7)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4×5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766" y="2199138"/>
                <a:ext cx="1945276" cy="61997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995936" y="4822645"/>
                <a:ext cx="1439112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3(4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+5)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2(3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−7)</m:t>
                          </m:r>
                        </m:den>
                      </m:f>
                    </m:oMath>
                  </m:oMathPara>
                </a14:m>
                <a:endParaRPr lang="en-AU" b="0" i="1" dirty="0" smtClean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4822645"/>
                <a:ext cx="1439112" cy="66909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220870" y="4067412"/>
                <a:ext cx="1794274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4</m:t>
                          </m:r>
                          <m:r>
                            <a:rPr lang="en-AU" i="1">
                              <a:latin typeface="Cambria Math"/>
                            </a:rPr>
                            <m:t>𝑐</m:t>
                          </m:r>
                          <m:r>
                            <a:rPr lang="en-AU" i="1">
                              <a:latin typeface="Cambria Math"/>
                            </a:rPr>
                            <m:t>+5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18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3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−7</m:t>
                          </m:r>
                        </m:den>
                      </m:f>
                    </m:oMath>
                  </m:oMathPara>
                </a14:m>
                <a:endParaRPr lang="en-AU" i="1" dirty="0" smtClean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870" y="4067412"/>
                <a:ext cx="1794274" cy="61837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995936" y="5577780"/>
                <a:ext cx="1376594" cy="618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+15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𝑐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−14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5577780"/>
                <a:ext cx="1376594" cy="61837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59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1" grpId="0"/>
      <p:bldP spid="17" grpId="0"/>
      <p:bldP spid="19" grpId="0"/>
      <p:bldP spid="22" grpId="0"/>
      <p:bldP spid="23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1.8 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730</Words>
  <Application>Microsoft Office PowerPoint</Application>
  <PresentationFormat>On-screen Show (4:3)</PresentationFormat>
  <Paragraphs>94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PURCELL Laura</cp:lastModifiedBy>
  <cp:revision>102</cp:revision>
  <dcterms:created xsi:type="dcterms:W3CDTF">2014-05-14T02:58:57Z</dcterms:created>
  <dcterms:modified xsi:type="dcterms:W3CDTF">2016-02-10T00:22:33Z</dcterms:modified>
</cp:coreProperties>
</file>
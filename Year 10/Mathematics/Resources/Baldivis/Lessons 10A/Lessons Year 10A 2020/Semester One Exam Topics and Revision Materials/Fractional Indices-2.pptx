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312" r:id="rId2"/>
    <p:sldId id="313" r:id="rId3"/>
    <p:sldId id="309" r:id="rId4"/>
    <p:sldId id="304" r:id="rId5"/>
    <p:sldId id="303" r:id="rId6"/>
    <p:sldId id="306" r:id="rId7"/>
    <p:sldId id="307" r:id="rId8"/>
    <p:sldId id="308" r:id="rId9"/>
    <p:sldId id="310" r:id="rId10"/>
    <p:sldId id="305" r:id="rId11"/>
    <p:sldId id="315" r:id="rId12"/>
    <p:sldId id="314" r:id="rId13"/>
    <p:sldId id="311" r:id="rId14"/>
    <p:sldId id="317" r:id="rId15"/>
    <p:sldId id="318" r:id="rId16"/>
    <p:sldId id="319" r:id="rId17"/>
    <p:sldId id="316" r:id="rId1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4660"/>
  </p:normalViewPr>
  <p:slideViewPr>
    <p:cSldViewPr snapToGrid="0">
      <p:cViewPr>
        <p:scale>
          <a:sx n="60" d="100"/>
          <a:sy n="60" d="100"/>
        </p:scale>
        <p:origin x="-156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957C9-F4D4-4D1F-B8B1-25B11346A1E5}" type="datetimeFigureOut">
              <a:rPr lang="en-AU" smtClean="0"/>
              <a:t>4/04/2016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07FC-2D1D-4D04-B72F-1D7E3D42DF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032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D271-75C6-4A7B-981E-95489D89B893}" type="datetimeFigureOut">
              <a:rPr lang="en-AU" smtClean="0"/>
              <a:t>4/04/2016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BE75-6727-4F64-82F8-DA94106C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0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1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36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6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0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3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3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4/04/2016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98" t="64700" r="22694" b="19829"/>
          <a:stretch/>
        </p:blipFill>
        <p:spPr bwMode="auto">
          <a:xfrm>
            <a:off x="799902" y="331075"/>
            <a:ext cx="3358050" cy="1497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99902" y="1970874"/>
                <a:ext cx="7480574" cy="1751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(2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)(3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6</m:t>
                        </m:r>
                      </m:e>
                    </m:rad>
                  </m:oMath>
                </a14:m>
                <a:r>
                  <a:rPr lang="en-AU" sz="2000" dirty="0" smtClean="0"/>
                  <a:t> - 5)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</m:t>
                    </m:r>
                    <m:r>
                      <a:rPr lang="en-AU" sz="2000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2000" i="1">
                        <a:latin typeface="Cambria Math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6</m:t>
                        </m:r>
                      </m:e>
                    </m:rad>
                  </m:oMath>
                </a14:m>
                <a:r>
                  <a:rPr lang="en-AU" sz="2000" dirty="0" smtClean="0"/>
                  <a:t> +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sz="2000" dirty="0" smtClean="0"/>
                  <a:t> x -5 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x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6</m:t>
                        </m:r>
                      </m:e>
                    </m:rad>
                  </m:oMath>
                </a14:m>
                <a:r>
                  <a:rPr lang="en-AU" sz="2000" dirty="0" smtClean="0"/>
                  <a:t> +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x -5 </a:t>
                </a:r>
              </a:p>
              <a:p>
                <a:r>
                  <a:rPr lang="en-AU" sz="2000" dirty="0"/>
                  <a:t> </a:t>
                </a:r>
                <a:r>
                  <a:rPr lang="en-AU" sz="2000" dirty="0" smtClean="0"/>
                  <a:t>                                       =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18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−10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</a:t>
                </a:r>
              </a:p>
              <a:p>
                <a:r>
                  <a:rPr lang="en-AU" sz="2000" b="0" dirty="0" smtClean="0"/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=18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−10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+6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 </m:t>
                    </m:r>
                  </m:oMath>
                </a14:m>
                <a:endParaRPr lang="en-AU" sz="2000" b="0" i="1" dirty="0" smtClean="0">
                  <a:latin typeface="Cambria Math"/>
                </a:endParaRPr>
              </a:p>
              <a:p>
                <a:r>
                  <a:rPr lang="en-AU" sz="2000" dirty="0" smtClean="0"/>
                  <a:t>                                        =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13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−4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</m:t>
                    </m:r>
                  </m:oMath>
                </a14:m>
                <a:endParaRPr lang="en-AU" sz="2000" dirty="0"/>
              </a:p>
              <a:p>
                <a:endParaRPr lang="en-AU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02" y="1970874"/>
                <a:ext cx="7480574" cy="1751249"/>
              </a:xfrm>
              <a:prstGeom prst="rect">
                <a:avLst/>
              </a:prstGeom>
              <a:blipFill rotWithShape="1">
                <a:blip r:embed="rId3"/>
                <a:stretch>
                  <a:fillRect l="-326" r="-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9902" y="3606424"/>
                <a:ext cx="7323480" cy="17645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(2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 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)(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r>
                  <a:rPr lang="en-AU" sz="2000" dirty="0" smtClean="0"/>
                  <a:t> - 1)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</m:t>
                    </m:r>
                    <m:r>
                      <a:rPr lang="en-AU" sz="2000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r>
                  <a:rPr lang="en-AU" sz="2000" dirty="0" smtClean="0"/>
                  <a:t> +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000" dirty="0" smtClean="0"/>
                  <a:t> x -1 </a:t>
                </a:r>
                <a:r>
                  <a:rPr lang="en-AU" sz="2000" dirty="0"/>
                  <a:t>-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r>
                  <a:rPr lang="en-AU" sz="2000" dirty="0" smtClean="0"/>
                  <a:t> 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x -1 </a:t>
                </a:r>
              </a:p>
              <a:p>
                <a:r>
                  <a:rPr lang="en-AU" sz="2000" dirty="0"/>
                  <a:t> </a:t>
                </a:r>
                <a:r>
                  <a:rPr lang="en-AU" sz="2000" dirty="0" smtClean="0"/>
                  <a:t>                                       =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50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50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</a:t>
                </a:r>
              </a:p>
              <a:p>
                <a:r>
                  <a:rPr lang="en-AU" sz="2000" b="0" dirty="0" smtClean="0"/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=25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 </m:t>
                    </m:r>
                  </m:oMath>
                </a14:m>
                <a:endParaRPr lang="en-AU" sz="2000" b="0" i="1" dirty="0" smtClean="0">
                  <a:latin typeface="Cambria Math"/>
                </a:endParaRPr>
              </a:p>
              <a:p>
                <a:r>
                  <a:rPr lang="en-AU" sz="2000" dirty="0" smtClean="0"/>
                  <a:t>                                        =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/>
                      </a:rPr>
                      <m:t>2</m:t>
                    </m:r>
                    <m:r>
                      <a:rPr lang="en-AU" sz="2000" b="0" i="1" dirty="0" smtClean="0">
                        <a:latin typeface="Cambria Math"/>
                      </a:rPr>
                      <m:t>1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−</m:t>
                    </m:r>
                    <m:r>
                      <a:rPr lang="en-AU" sz="2000" b="0" i="1" smtClean="0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</m:t>
                    </m:r>
                  </m:oMath>
                </a14:m>
                <a:endParaRPr lang="en-AU" sz="2000" dirty="0"/>
              </a:p>
              <a:p>
                <a:endParaRPr lang="en-AU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02" y="3606424"/>
                <a:ext cx="7323480" cy="1764522"/>
              </a:xfrm>
              <a:prstGeom prst="rect">
                <a:avLst/>
              </a:prstGeom>
              <a:blipFill rotWithShape="1">
                <a:blip r:embed="rId4"/>
                <a:stretch>
                  <a:fillRect l="-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2302" y="5226712"/>
                <a:ext cx="7730129" cy="17710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(4− 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)(3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000" dirty="0" smtClean="0"/>
                  <a:t> 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)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=4 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×3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000" dirty="0" smtClean="0"/>
                  <a:t> +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/>
                      </a:rPr>
                      <m:t>4</m:t>
                    </m:r>
                  </m:oMath>
                </a14:m>
                <a:r>
                  <a:rPr lang="en-AU" sz="2000" dirty="0" smtClean="0"/>
                  <a:t>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2000" b="0" i="0" smtClean="0">
                        <a:latin typeface="Cambria Math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r>
                  <a:rPr lang="en-AU" sz="2000" dirty="0" smtClean="0"/>
                  <a:t>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AU" sz="2000" dirty="0" smtClean="0"/>
                  <a:t> 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latin typeface="Cambria Math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000" dirty="0" smtClean="0"/>
                  <a:t> </a:t>
                </a:r>
                <a:r>
                  <a:rPr lang="en-AU" sz="2000" dirty="0"/>
                  <a:t> </a:t>
                </a:r>
                <a:r>
                  <a:rPr lang="en-AU" sz="2000" dirty="0" smtClean="0"/>
                  <a:t>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10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× 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endParaRPr lang="en-AU" sz="2000" dirty="0" smtClean="0"/>
              </a:p>
              <a:p>
                <a:r>
                  <a:rPr lang="en-AU" sz="2000" dirty="0"/>
                  <a:t> </a:t>
                </a:r>
                <a:r>
                  <a:rPr lang="en-AU" sz="2000" dirty="0" smtClean="0"/>
                  <a:t>                                        =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1</m:t>
                    </m:r>
                    <m:r>
                      <a:rPr lang="en-AU" sz="2000" b="0" i="1" smtClean="0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+4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−3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50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20</m:t>
                        </m:r>
                      </m:e>
                    </m:rad>
                  </m:oMath>
                </a14:m>
                <a:r>
                  <a:rPr lang="en-AU" sz="2000" dirty="0" smtClean="0"/>
                  <a:t> </a:t>
                </a:r>
              </a:p>
              <a:p>
                <a:r>
                  <a:rPr lang="en-AU" sz="2000" b="0" dirty="0" smtClean="0"/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=12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+4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−15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 </m:t>
                    </m:r>
                  </m:oMath>
                </a14:m>
                <a:endParaRPr lang="en-AU" sz="2000" b="0" i="1" dirty="0" smtClean="0">
                  <a:latin typeface="Cambria Math"/>
                </a:endParaRPr>
              </a:p>
              <a:p>
                <a:r>
                  <a:rPr lang="en-AU" sz="2000" dirty="0" smtClean="0"/>
                  <a:t>                                         = </a:t>
                </a:r>
                <a14:m>
                  <m:oMath xmlns:m="http://schemas.openxmlformats.org/officeDocument/2006/math">
                    <m:r>
                      <a:rPr lang="en-AU" sz="2000" i="1" dirty="0">
                        <a:latin typeface="Cambria Math"/>
                      </a:rPr>
                      <m:t>1</m:t>
                    </m:r>
                    <m:r>
                      <a:rPr lang="en-AU" sz="2000" b="0" i="1" dirty="0" smtClean="0">
                        <a:latin typeface="Cambria Math"/>
                      </a:rPr>
                      <m:t>0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−</m:t>
                    </m:r>
                    <m:r>
                      <a:rPr lang="en-AU" sz="2000" b="0" i="1" smtClean="0">
                        <a:latin typeface="Cambria Math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</m:t>
                    </m:r>
                  </m:oMath>
                </a14:m>
                <a:endParaRPr lang="en-AU" sz="2000" dirty="0"/>
              </a:p>
              <a:p>
                <a:endParaRPr lang="en-AU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02" y="5226712"/>
                <a:ext cx="7730129" cy="1771062"/>
              </a:xfrm>
              <a:prstGeom prst="rect">
                <a:avLst/>
              </a:prstGeom>
              <a:blipFill rotWithShape="1">
                <a:blip r:embed="rId5"/>
                <a:stretch>
                  <a:fillRect l="-3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6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15311" y="331076"/>
                <a:ext cx="4445876" cy="632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4 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the following as a single surd:</a:t>
                </a:r>
              </a:p>
              <a:p>
                <a:endParaRPr lang="en-AU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dirty="0" smtClean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</a:rPr>
                          <m:t>12</m:t>
                        </m:r>
                      </m:e>
                    </m:rad>
                  </m:oMath>
                </a14:m>
                <a:endParaRPr lang="en-AU" dirty="0" smtClean="0"/>
              </a:p>
              <a:p>
                <a:endParaRPr lang="en-AU" b="0" i="0" dirty="0">
                  <a:latin typeface="Cambria Math"/>
                </a:endParaRPr>
              </a:p>
              <a:p>
                <a:endParaRPr lang="en-AU" dirty="0" smtClean="0"/>
              </a:p>
              <a:p>
                <a:endParaRPr lang="en-AU" dirty="0" smtClean="0"/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50</m:t>
                        </m:r>
                      </m:e>
                    </m:rad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45</m:t>
                        </m:r>
                      </m:e>
                    </m:rad>
                  </m:oMath>
                </a14:m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11</m:t>
                        </m:r>
                      </m:e>
                    </m:rad>
                  </m:oMath>
                </a14:m>
                <a:r>
                  <a:rPr lang="en-AU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44</m:t>
                        </m:r>
                      </m:e>
                    </m:rad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11" y="331076"/>
                <a:ext cx="4445876" cy="6327886"/>
              </a:xfrm>
              <a:prstGeom prst="rect">
                <a:avLst/>
              </a:prstGeom>
              <a:blipFill rotWithShape="1">
                <a:blip r:embed="rId2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412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6860" y="1954655"/>
            <a:ext cx="87155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400" b="1" dirty="0" smtClean="0"/>
              <a:t>Fractional </a:t>
            </a:r>
            <a:r>
              <a:rPr lang="en-AU" sz="2400" b="1" dirty="0"/>
              <a:t>exponents</a:t>
            </a:r>
            <a:r>
              <a:rPr lang="en-AU" sz="2400" dirty="0"/>
              <a:t> can be used instead of using the </a:t>
            </a:r>
            <a:r>
              <a:rPr lang="en-AU" sz="2400" dirty="0" smtClean="0"/>
              <a:t>surds sign </a:t>
            </a:r>
            <a:r>
              <a:rPr lang="en-AU" sz="2400" dirty="0"/>
              <a:t>(√). </a:t>
            </a:r>
            <a:endParaRPr lang="en-AU" sz="2400" dirty="0" smtClean="0"/>
          </a:p>
          <a:p>
            <a:endParaRPr lang="en-AU" sz="2400" dirty="0"/>
          </a:p>
          <a:p>
            <a:r>
              <a:rPr lang="en-AU" sz="2400" dirty="0" smtClean="0">
                <a:solidFill>
                  <a:srgbClr val="7030A0"/>
                </a:solidFill>
              </a:rPr>
              <a:t>We </a:t>
            </a:r>
            <a:r>
              <a:rPr lang="en-AU" sz="2400" dirty="0">
                <a:solidFill>
                  <a:srgbClr val="7030A0"/>
                </a:solidFill>
              </a:rPr>
              <a:t>use fractional exponents because often they are more convenient, and it can make algebraic operations easier to follow.</a:t>
            </a:r>
            <a:r>
              <a:rPr lang="en-AU" sz="24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7901" y="4844955"/>
                <a:ext cx="8433507" cy="1152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</a:t>
                </a:r>
                <a:r>
                  <a:rPr lang="en-AU" sz="2400" b="1" i="1" dirty="0"/>
                  <a:t>n</a:t>
                </a:r>
                <a:r>
                  <a:rPr lang="en-AU" sz="2400" b="1" dirty="0"/>
                  <a:t>-</a:t>
                </a:r>
                <a:r>
                  <a:rPr lang="en-AU" sz="2400" b="1" dirty="0" err="1"/>
                  <a:t>th</a:t>
                </a:r>
                <a:r>
                  <a:rPr lang="en-AU" sz="2400" b="1" dirty="0"/>
                  <a:t> root</a:t>
                </a:r>
                <a:r>
                  <a:rPr lang="en-AU" sz="2400" dirty="0"/>
                  <a:t> of a number can be written using the </a:t>
                </a:r>
                <a:r>
                  <a:rPr lang="en-AU" sz="2400" dirty="0" smtClean="0"/>
                  <a:t>power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AU" sz="2400" b="0" dirty="0" smtClean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deg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00" y="4844955"/>
                <a:ext cx="8433507" cy="1152880"/>
              </a:xfrm>
              <a:prstGeom prst="rect">
                <a:avLst/>
              </a:prstGeom>
              <a:blipFill rotWithShape="1">
                <a:blip r:embed="rId3"/>
                <a:stretch>
                  <a:fillRect l="-1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54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70227" y="2037746"/>
                <a:ext cx="1809164" cy="99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226" y="2037738"/>
                <a:ext cx="1809164" cy="998543"/>
              </a:xfrm>
              <a:prstGeom prst="rect">
                <a:avLst/>
              </a:prstGeom>
              <a:blipFill rotWithShape="1">
                <a:blip r:embed="rId3"/>
                <a:stretch>
                  <a:fillRect l="-5387" t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300793" y="3418530"/>
                <a:ext cx="1324603" cy="865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16 </m:t>
                        </m:r>
                      </m:e>
                    </m:rad>
                    <m:r>
                      <a:rPr lang="en-AU" sz="2400" b="0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	</a:t>
                </a:r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790" y="3418530"/>
                <a:ext cx="1324603" cy="86581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40185" y="2531085"/>
                <a:ext cx="120527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8 </m:t>
                          </m:r>
                        </m:e>
                      </m:rad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82" y="2531077"/>
                <a:ext cx="1205275" cy="50520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179393" y="2525945"/>
            <a:ext cx="1205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rgbClr val="CC00CC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99955" y="3294109"/>
                <a:ext cx="1000836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954" y="3294102"/>
                <a:ext cx="1000836" cy="64889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331789" y="3386134"/>
            <a:ext cx="1205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rgbClr val="CC00CC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86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21269" r="27624" b="45015"/>
          <a:stretch/>
        </p:blipFill>
        <p:spPr bwMode="auto">
          <a:xfrm>
            <a:off x="1089470" y="1119360"/>
            <a:ext cx="10147129" cy="4461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980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92017" y="2340675"/>
                <a:ext cx="8433507" cy="1995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When the exponent is negative:</a:t>
                </a:r>
              </a:p>
              <a:p>
                <a:endParaRPr lang="en-AU" sz="2400" b="0" dirty="0"/>
              </a:p>
              <a:p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AU" sz="2400" i="1"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/>
                                </a:rPr>
                                <m:t>𝑛</m:t>
                              </m:r>
                            </m:deg>
                            <m:e>
                              <m:r>
                                <a:rPr lang="en-AU" sz="2400" i="1">
                                  <a:latin typeface="Cambria Math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014" y="2340675"/>
                <a:ext cx="8433507" cy="1995162"/>
              </a:xfrm>
              <a:prstGeom prst="rect">
                <a:avLst/>
              </a:prstGeom>
              <a:blipFill rotWithShape="1">
                <a:blip r:embed="rId3"/>
                <a:stretch>
                  <a:fillRect l="-1084" t="-2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2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86875" y="2286222"/>
                <a:ext cx="1809164" cy="99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74" y="2286214"/>
                <a:ext cx="1809164" cy="998543"/>
              </a:xfrm>
              <a:prstGeom prst="rect">
                <a:avLst/>
              </a:prstGeom>
              <a:blipFill rotWithShape="1">
                <a:blip r:embed="rId3"/>
                <a:stretch>
                  <a:fillRect l="-5405" t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57425" y="4135067"/>
                <a:ext cx="1324603" cy="1175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ctrlP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4</m:t>
                            </m:r>
                          </m:deg>
                          <m:e>
                            <m: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16 </m:t>
                            </m:r>
                          </m:e>
                        </m:rad>
                      </m:den>
                    </m:f>
                    <m:r>
                      <a:rPr lang="en-AU" sz="2800" b="0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AU" sz="2800" dirty="0" smtClean="0">
                    <a:solidFill>
                      <a:prstClr val="black"/>
                    </a:solidFill>
                  </a:rPr>
                  <a:t>	</a:t>
                </a:r>
                <a:endParaRPr lang="en-AU" sz="4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423" y="4135059"/>
                <a:ext cx="1324603" cy="117596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40185" y="2531085"/>
                <a:ext cx="1205275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8 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82" y="2531077"/>
                <a:ext cx="1205275" cy="8552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79393" y="2525945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90" y="2525945"/>
                <a:ext cx="1205275" cy="78380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30576" y="4146608"/>
                <a:ext cx="1391739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576" y="4146600"/>
                <a:ext cx="1391739" cy="62735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94501" y="4068373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498" y="4068373"/>
                <a:ext cx="1205275" cy="78380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08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55137" r="27624" b="13805"/>
          <a:stretch/>
        </p:blipFill>
        <p:spPr bwMode="auto">
          <a:xfrm>
            <a:off x="916045" y="772517"/>
            <a:ext cx="10587155" cy="4288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51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86875" y="2286222"/>
                <a:ext cx="1809164" cy="1032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9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75" y="2286222"/>
                <a:ext cx="1809164" cy="1032014"/>
              </a:xfrm>
              <a:prstGeom prst="rect">
                <a:avLst/>
              </a:prstGeom>
              <a:blipFill rotWithShape="1">
                <a:blip r:embed="rId3"/>
                <a:stretch>
                  <a:fillRect l="-5405" t="-47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01522" y="2764000"/>
                <a:ext cx="120527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rad>
                        <m:rad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e>
                      </m:rad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522" y="2764000"/>
                <a:ext cx="1205275" cy="50520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19601" y="2783686"/>
                <a:ext cx="1205275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01" y="2783686"/>
                <a:ext cx="1205275" cy="46583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865087" y="2764000"/>
                <a:ext cx="1205275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243</m:t>
                      </m:r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87" y="2764000"/>
                <a:ext cx="1205275" cy="46583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07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784" y="1301727"/>
                <a:ext cx="3597250" cy="659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27</m:t>
                              </m:r>
                            </m:e>
                          </m:rad>
                        </m:e>
                      </m:d>
                      <m:r>
                        <a:rPr lang="en-AU" sz="2400" b="0" i="1" baseline="30000" smtClean="0">
                          <a:solidFill>
                            <a:schemeClr val="tx1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sz="4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4" y="1301727"/>
                <a:ext cx="3597250" cy="65960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4184" y="2596417"/>
                <a:ext cx="8757829" cy="1027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16</m:t>
                        </m:r>
                      </m:e>
                      <m:sup>
                        <m:f>
                          <m:f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AU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sz="2400" i="1">
                            <a:latin typeface="Cambria Math"/>
                          </a:rPr>
                        </m:ctrlPr>
                      </m:dPr>
                      <m:e>
                        <m:rad>
                          <m:radPr>
                            <m:ctrlPr>
                              <a:rPr lang="en-AU" sz="2400" i="1">
                                <a:latin typeface="Cambria Math"/>
                              </a:rPr>
                            </m:ctrlPr>
                          </m:radPr>
                          <m:deg>
                            <m:r>
                              <a:rPr lang="en-AU" sz="2400" b="0" i="1" smtClean="0">
                                <a:latin typeface="Cambria Math"/>
                              </a:rPr>
                              <m:t>2</m:t>
                            </m:r>
                          </m:deg>
                          <m:e>
                            <m:r>
                              <a:rPr lang="en-AU" sz="2400" b="0" i="1" smtClean="0">
                                <a:latin typeface="Cambria Math"/>
                              </a:rPr>
                              <m:t>16</m:t>
                            </m:r>
                          </m:e>
                        </m:rad>
                      </m:e>
                    </m:d>
                    <m:r>
                      <a:rPr lang="en-AU" sz="2400" b="0" i="1" baseline="30000" smtClean="0">
                        <a:latin typeface="Cambria Math"/>
                      </a:rPr>
                      <m:t>3</m:t>
                    </m:r>
                    <m:r>
                      <a:rPr lang="en-AU" sz="24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sz="2400" i="1">
                        <a:latin typeface="Cambria Math"/>
                      </a:rPr>
                      <m:t>=</m:t>
                    </m:r>
                  </m:oMath>
                </a14:m>
                <a:r>
                  <a:rPr lang="en-AU" sz="2400" dirty="0" smtClean="0"/>
                  <a:t>64</a:t>
                </a:r>
                <a:endParaRPr lang="en-AU" sz="2400" dirty="0"/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4" y="2596417"/>
                <a:ext cx="8757829" cy="102707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4185" y="3939489"/>
                <a:ext cx="6550656" cy="657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i="1"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/>
                                </a:rPr>
                                <m:t>4</m:t>
                              </m:r>
                            </m:deg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16</m:t>
                              </m:r>
                            </m:e>
                          </m:rad>
                        </m:e>
                      </m:d>
                      <m:r>
                        <a:rPr lang="en-AU" sz="2400" b="0" i="1" baseline="30000" smtClean="0">
                          <a:latin typeface="Cambria Math"/>
                        </a:rPr>
                        <m:t>3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5" y="3939489"/>
                <a:ext cx="6550656" cy="65774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9104" y="5458568"/>
                <a:ext cx="5795930" cy="1334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25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i="1">
                              <a:latin typeface="Cambria Math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i="1" smtClean="0"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25</m:t>
                              </m:r>
                            </m:e>
                          </m:rad>
                        </m:e>
                      </m:d>
                      <m:r>
                        <a:rPr lang="en-AU" sz="2400" i="1" baseline="30000">
                          <a:latin typeface="Cambria Math"/>
                        </a:rPr>
                        <m:t>3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125</m:t>
                      </m:r>
                    </m:oMath>
                  </m:oMathPara>
                </a14:m>
                <a:endParaRPr lang="en-AU" sz="4400" dirty="0"/>
              </a:p>
              <a:p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04" y="5458568"/>
                <a:ext cx="5795930" cy="13348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68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784" y="1301727"/>
                <a:ext cx="3597250" cy="633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4" y="1301727"/>
                <a:ext cx="3597250" cy="63337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4184" y="2596417"/>
                <a:ext cx="8757829" cy="62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4" y="2596417"/>
                <a:ext cx="8757829" cy="62812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4185" y="3939489"/>
                <a:ext cx="6550656" cy="62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5" y="3939489"/>
                <a:ext cx="6550656" cy="62812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50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764" y="1696114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67770" y="1696114"/>
            <a:ext cx="7431" cy="506807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27527" y="1909221"/>
            <a:ext cx="25922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Index Law:</a:t>
            </a:r>
          </a:p>
          <a:p>
            <a:endParaRPr lang="en-AU" sz="3200" b="1" dirty="0"/>
          </a:p>
          <a:p>
            <a:endParaRPr lang="en-AU" sz="3200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21232" y="2189457"/>
                <a:ext cx="1905722" cy="633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232" y="2189457"/>
                <a:ext cx="1905722" cy="63337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642971" y="2203406"/>
                <a:ext cx="1205275" cy="647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971" y="2203406"/>
                <a:ext cx="1205275" cy="64703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25565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 and Index Laws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apply the index laws to fractional exponents?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549832" y="2201852"/>
                <a:ext cx="1151982" cy="6333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(3 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× </m:t>
                          </m:r>
                          <m:f>
                            <m:fPr>
                              <m:ctrlPr>
                                <a:rPr lang="en-AU" sz="24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832" y="2201852"/>
                <a:ext cx="1151982" cy="63337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24" t="26207" r="15302" b="54483"/>
          <a:stretch/>
        </p:blipFill>
        <p:spPr bwMode="auto">
          <a:xfrm rot="16200000">
            <a:off x="1761385" y="2638397"/>
            <a:ext cx="1828361" cy="1896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340920" y="3380573"/>
                <a:ext cx="1905722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920" y="3380573"/>
                <a:ext cx="1905722" cy="8007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44477" y="3376568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477" y="3376568"/>
                <a:ext cx="1205275" cy="78380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569520" y="3258431"/>
                <a:ext cx="1373838" cy="9813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9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520" y="3258431"/>
                <a:ext cx="1373838" cy="98135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26099" y="4606675"/>
                <a:ext cx="1905722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099" y="4606675"/>
                <a:ext cx="1905722" cy="8007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29656" y="4602670"/>
                <a:ext cx="1205275" cy="78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656" y="4602670"/>
                <a:ext cx="1205275" cy="78489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654699" y="4484533"/>
                <a:ext cx="1373838" cy="9813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9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699" y="4484533"/>
                <a:ext cx="1373838" cy="98135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1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19" grpId="0"/>
      <p:bldP spid="20" grpId="0"/>
      <p:bldP spid="21" grpId="0"/>
      <p:bldP spid="25" grpId="0"/>
      <p:bldP spid="26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1725" r="16207" b="7585"/>
          <a:stretch/>
        </p:blipFill>
        <p:spPr bwMode="auto">
          <a:xfrm>
            <a:off x="893379" y="331075"/>
            <a:ext cx="4687614" cy="6295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83" t="39079" r="14655" b="11495"/>
          <a:stretch/>
        </p:blipFill>
        <p:spPr bwMode="auto">
          <a:xfrm>
            <a:off x="6337737" y="331075"/>
            <a:ext cx="5202621" cy="4335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960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764" y="1696114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67770" y="1696114"/>
            <a:ext cx="7431" cy="506807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27527" y="1909221"/>
            <a:ext cx="25922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Index Law:</a:t>
            </a:r>
          </a:p>
          <a:p>
            <a:endParaRPr lang="en-AU" sz="3200" b="1" dirty="0"/>
          </a:p>
          <a:p>
            <a:endParaRPr lang="en-AU" sz="3200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21232" y="2189457"/>
                <a:ext cx="1905722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×3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232" y="2189457"/>
                <a:ext cx="1905722" cy="6273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25565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 and Index Laws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apply the index laws to fractional exponents?</a:t>
            </a:r>
            <a:endParaRPr lang="en-AU" sz="2400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1" t="20875" r="14212" b="48313"/>
          <a:stretch/>
        </p:blipFill>
        <p:spPr bwMode="auto">
          <a:xfrm rot="16200000">
            <a:off x="2549469" y="1514696"/>
            <a:ext cx="1291974" cy="324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075676" y="2189457"/>
                <a:ext cx="3234972" cy="997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i="1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676" y="2189457"/>
                <a:ext cx="3234972" cy="9974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473632" y="3134951"/>
                <a:ext cx="1905722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÷2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632" y="3134951"/>
                <a:ext cx="1905722" cy="6273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28076" y="3263453"/>
                <a:ext cx="32349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3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076" y="3263453"/>
                <a:ext cx="3234972" cy="830997"/>
              </a:xfrm>
              <a:prstGeom prst="rect">
                <a:avLst/>
              </a:prstGeom>
              <a:blipFill rotWithShape="1">
                <a:blip r:embed="rId7"/>
                <a:stretch>
                  <a:fillRect l="-5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68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75" t="43967" r="16878" b="10991"/>
          <a:stretch/>
        </p:blipFill>
        <p:spPr bwMode="auto">
          <a:xfrm>
            <a:off x="283777" y="362608"/>
            <a:ext cx="5486401" cy="4376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68" t="39762" r="16638" b="18643"/>
          <a:stretch/>
        </p:blipFill>
        <p:spPr bwMode="auto">
          <a:xfrm>
            <a:off x="5927834" y="362608"/>
            <a:ext cx="5845002" cy="4193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837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58" t="57866" r="16880" b="14332"/>
          <a:stretch/>
        </p:blipFill>
        <p:spPr bwMode="auto">
          <a:xfrm>
            <a:off x="614853" y="394137"/>
            <a:ext cx="6747639" cy="3373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324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478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5971</TotalTime>
  <Words>921</Words>
  <Application>Microsoft Office PowerPoint</Application>
  <PresentationFormat>Custom</PresentationFormat>
  <Paragraphs>133</Paragraphs>
  <Slides>17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Riksman</dc:creator>
  <cp:lastModifiedBy>PURCELL Laura</cp:lastModifiedBy>
  <cp:revision>154</cp:revision>
  <cp:lastPrinted>2016-03-17T02:47:32Z</cp:lastPrinted>
  <dcterms:created xsi:type="dcterms:W3CDTF">2015-04-20T06:02:45Z</dcterms:created>
  <dcterms:modified xsi:type="dcterms:W3CDTF">2016-04-04T01:13:26Z</dcterms:modified>
</cp:coreProperties>
</file>
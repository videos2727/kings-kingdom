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sldIdLst>
    <p:sldId id="256" r:id="rId2"/>
    <p:sldId id="268" r:id="rId3"/>
    <p:sldId id="267" r:id="rId4"/>
    <p:sldId id="259" r:id="rId5"/>
    <p:sldId id="260" r:id="rId6"/>
    <p:sldId id="261" r:id="rId7"/>
    <p:sldId id="263" r:id="rId8"/>
    <p:sldId id="265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642" y="-2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3717597-05CB-4D40-B2F2-A0B01008A9D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D5A9A8-30B4-455D-A393-B56F951BB27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85BEE11-D87A-4FC8-B7CE-E47F8D49CD8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2C3BE8-C25A-4A4A-A8B7-790F5090262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D72C87-92D9-4484-8093-5442D3D73CB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698DB8-FC8E-4984-B6F4-40CBD6A6265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98171D-321C-4F4E-BF08-44EE7D94087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D59077-45B7-4DF0-9772-0CEBFDCA6DB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0F73028-BBE4-452F-BC60-82DAC9DB842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D53F204-A399-4E23-86E5-4CC18E75A3D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931B4F-5918-4B13-AD62-C5B010EB104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59CE73DB-02B2-4EA2-B7EB-4501C473A22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600" y="685800"/>
            <a:ext cx="7772400" cy="14478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Topic: Simple Interest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685800" y="2667000"/>
            <a:ext cx="7772400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 anchorCtr="1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5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</a:defRPr>
            </a:lvl9pPr>
          </a:lstStyle>
          <a:p>
            <a:pPr>
              <a:defRPr/>
            </a:pPr>
            <a:r>
              <a:rPr lang="en-US" dirty="0" smtClean="0"/>
              <a:t>EQ: How do I calculate simple interest?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1" name="Text Box 13"/>
          <p:cNvSpPr txBox="1">
            <a:spLocks noChangeArrowheads="1"/>
          </p:cNvSpPr>
          <p:nvPr/>
        </p:nvSpPr>
        <p:spPr bwMode="auto">
          <a:xfrm>
            <a:off x="190500" y="1387475"/>
            <a:ext cx="8077200" cy="173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>
                <a:latin typeface="Verdana" pitchFamily="34" charset="0"/>
              </a:rPr>
              <a:t>When you deposit money into a bank, the bank pays you interest. </a:t>
            </a:r>
          </a:p>
          <a:p>
            <a:pPr>
              <a:spcBef>
                <a:spcPct val="50000"/>
              </a:spcBef>
            </a:pPr>
            <a:r>
              <a:rPr lang="en-US" sz="2400">
                <a:latin typeface="Verdana" pitchFamily="34" charset="0"/>
              </a:rPr>
              <a:t>When you borrow money from a bank, you pay interest to the bank. </a:t>
            </a:r>
          </a:p>
        </p:txBody>
      </p:sp>
      <p:sp>
        <p:nvSpPr>
          <p:cNvPr id="12302" name="Text Box 14"/>
          <p:cNvSpPr txBox="1">
            <a:spLocks noChangeArrowheads="1"/>
          </p:cNvSpPr>
          <p:nvPr/>
        </p:nvSpPr>
        <p:spPr bwMode="auto">
          <a:xfrm>
            <a:off x="419100" y="4664075"/>
            <a:ext cx="487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latin typeface="Verdana" pitchFamily="34" charset="0"/>
              </a:rPr>
              <a:t>		</a:t>
            </a:r>
            <a:r>
              <a:rPr lang="en-US" sz="2800" i="1">
                <a:solidFill>
                  <a:srgbClr val="006600"/>
                </a:solidFill>
                <a:latin typeface="Verdana" pitchFamily="34" charset="0"/>
              </a:rPr>
              <a:t>I</a:t>
            </a:r>
            <a:r>
              <a:rPr lang="en-US" sz="2800">
                <a:solidFill>
                  <a:srgbClr val="006600"/>
                </a:solidFill>
                <a:latin typeface="Verdana" pitchFamily="34" charset="0"/>
              </a:rPr>
              <a:t> </a:t>
            </a:r>
            <a:r>
              <a:rPr lang="en-US" sz="2800">
                <a:latin typeface="Verdana" pitchFamily="34" charset="0"/>
              </a:rPr>
              <a:t>= </a:t>
            </a:r>
            <a:r>
              <a:rPr lang="en-US" sz="2800" i="1">
                <a:solidFill>
                  <a:srgbClr val="006699"/>
                </a:solidFill>
                <a:latin typeface="Verdana" pitchFamily="34" charset="0"/>
              </a:rPr>
              <a:t>P</a:t>
            </a:r>
            <a:r>
              <a:rPr lang="en-US" sz="2800">
                <a:latin typeface="Verdana" pitchFamily="34" charset="0"/>
              </a:rPr>
              <a:t> </a:t>
            </a:r>
            <a:r>
              <a:rPr lang="en-US" sz="2000" baseline="30000">
                <a:latin typeface="Verdana" pitchFamily="34" charset="0"/>
                <a:sym typeface="Webdings" charset="2"/>
              </a:rPr>
              <a:t></a:t>
            </a:r>
            <a:r>
              <a:rPr lang="en-US" sz="2400">
                <a:latin typeface="Verdana" pitchFamily="34" charset="0"/>
                <a:sym typeface="Webdings" charset="2"/>
              </a:rPr>
              <a:t> </a:t>
            </a:r>
            <a:r>
              <a:rPr lang="en-US" sz="2800" i="1">
                <a:solidFill>
                  <a:srgbClr val="FF0000"/>
                </a:solidFill>
                <a:latin typeface="Verdana" pitchFamily="34" charset="0"/>
                <a:sym typeface="Webdings" charset="2"/>
              </a:rPr>
              <a:t>r</a:t>
            </a:r>
            <a:r>
              <a:rPr lang="en-US" sz="2800">
                <a:solidFill>
                  <a:srgbClr val="FF0000"/>
                </a:solidFill>
                <a:latin typeface="Verdana" pitchFamily="34" charset="0"/>
                <a:sym typeface="Webdings" charset="2"/>
              </a:rPr>
              <a:t> </a:t>
            </a:r>
            <a:r>
              <a:rPr lang="en-US" sz="2000" baseline="30000">
                <a:latin typeface="Verdana" pitchFamily="34" charset="0"/>
                <a:sym typeface="Webdings" charset="2"/>
              </a:rPr>
              <a:t></a:t>
            </a:r>
            <a:r>
              <a:rPr lang="en-US" sz="2800">
                <a:latin typeface="Verdana" pitchFamily="34" charset="0"/>
                <a:sym typeface="Webdings" charset="2"/>
              </a:rPr>
              <a:t> </a:t>
            </a:r>
            <a:r>
              <a:rPr lang="en-US" sz="2800" i="1">
                <a:solidFill>
                  <a:srgbClr val="660066"/>
                </a:solidFill>
                <a:latin typeface="Verdana" pitchFamily="34" charset="0"/>
                <a:sym typeface="Webdings" charset="2"/>
              </a:rPr>
              <a:t>t</a:t>
            </a:r>
          </a:p>
        </p:txBody>
      </p:sp>
      <p:grpSp>
        <p:nvGrpSpPr>
          <p:cNvPr id="12316" name="Group 28"/>
          <p:cNvGrpSpPr>
            <a:grpSpLocks/>
          </p:cNvGrpSpPr>
          <p:nvPr/>
        </p:nvGrpSpPr>
        <p:grpSpPr bwMode="auto">
          <a:xfrm>
            <a:off x="495300" y="3241675"/>
            <a:ext cx="3276600" cy="1651000"/>
            <a:chOff x="336" y="1936"/>
            <a:chExt cx="2064" cy="1040"/>
          </a:xfrm>
        </p:grpSpPr>
        <p:sp>
          <p:nvSpPr>
            <p:cNvPr id="12303" name="Text Box 15"/>
            <p:cNvSpPr txBox="1">
              <a:spLocks noChangeArrowheads="1"/>
            </p:cNvSpPr>
            <p:nvPr/>
          </p:nvSpPr>
          <p:spPr bwMode="auto">
            <a:xfrm>
              <a:off x="336" y="1936"/>
              <a:ext cx="2064" cy="7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2400" dirty="0">
                  <a:solidFill>
                    <a:srgbClr val="006600"/>
                  </a:solidFill>
                  <a:latin typeface="Verdana" pitchFamily="34" charset="0"/>
                </a:rPr>
                <a:t>Simple interest </a:t>
              </a:r>
              <a:r>
                <a:rPr lang="en-US" sz="2400" dirty="0">
                  <a:latin typeface="Verdana" pitchFamily="34" charset="0"/>
                </a:rPr>
                <a:t>is money paid only on the principal.</a:t>
              </a:r>
              <a:endParaRPr lang="en-US" sz="2400" dirty="0">
                <a:solidFill>
                  <a:srgbClr val="006600"/>
                </a:solidFill>
                <a:latin typeface="Verdana" pitchFamily="34" charset="0"/>
              </a:endParaRPr>
            </a:p>
          </p:txBody>
        </p:sp>
        <p:sp>
          <p:nvSpPr>
            <p:cNvPr id="12308" name="Line 20"/>
            <p:cNvSpPr>
              <a:spLocks noChangeShapeType="1"/>
            </p:cNvSpPr>
            <p:nvPr/>
          </p:nvSpPr>
          <p:spPr bwMode="auto">
            <a:xfrm>
              <a:off x="1152" y="2736"/>
              <a:ext cx="336" cy="240"/>
            </a:xfrm>
            <a:prstGeom prst="line">
              <a:avLst/>
            </a:prstGeom>
            <a:noFill/>
            <a:ln w="12700">
              <a:solidFill>
                <a:srgbClr val="008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2313" name="Group 25"/>
          <p:cNvGrpSpPr>
            <a:grpSpLocks/>
          </p:cNvGrpSpPr>
          <p:nvPr/>
        </p:nvGrpSpPr>
        <p:grpSpPr bwMode="auto">
          <a:xfrm>
            <a:off x="114300" y="5137150"/>
            <a:ext cx="4724400" cy="1279525"/>
            <a:chOff x="288" y="3120"/>
            <a:chExt cx="2544" cy="806"/>
          </a:xfrm>
        </p:grpSpPr>
        <p:sp>
          <p:nvSpPr>
            <p:cNvPr id="12304" name="Text Box 16"/>
            <p:cNvSpPr txBox="1">
              <a:spLocks noChangeArrowheads="1"/>
            </p:cNvSpPr>
            <p:nvPr/>
          </p:nvSpPr>
          <p:spPr bwMode="auto">
            <a:xfrm>
              <a:off x="288" y="3408"/>
              <a:ext cx="2544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solidFill>
                    <a:srgbClr val="006699"/>
                  </a:solidFill>
                  <a:latin typeface="Verdana" pitchFamily="34" charset="0"/>
                </a:rPr>
                <a:t>Principal</a:t>
              </a:r>
              <a:r>
                <a:rPr lang="en-US" sz="2400" dirty="0">
                  <a:latin typeface="Verdana" pitchFamily="34" charset="0"/>
                </a:rPr>
                <a:t> is the amount of money borrowed or invested.</a:t>
              </a:r>
            </a:p>
          </p:txBody>
        </p:sp>
        <p:sp>
          <p:nvSpPr>
            <p:cNvPr id="12309" name="Line 21"/>
            <p:cNvSpPr>
              <a:spLocks noChangeShapeType="1"/>
            </p:cNvSpPr>
            <p:nvPr/>
          </p:nvSpPr>
          <p:spPr bwMode="auto">
            <a:xfrm flipV="1">
              <a:off x="912" y="3120"/>
              <a:ext cx="1008" cy="336"/>
            </a:xfrm>
            <a:prstGeom prst="line">
              <a:avLst/>
            </a:prstGeom>
            <a:noFill/>
            <a:ln w="12700">
              <a:solidFill>
                <a:srgbClr val="3366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2314" name="Group 26"/>
          <p:cNvGrpSpPr>
            <a:grpSpLocks/>
          </p:cNvGrpSpPr>
          <p:nvPr/>
        </p:nvGrpSpPr>
        <p:grpSpPr bwMode="auto">
          <a:xfrm>
            <a:off x="3771900" y="3444875"/>
            <a:ext cx="3978275" cy="1295400"/>
            <a:chOff x="2592" y="2064"/>
            <a:chExt cx="2506" cy="816"/>
          </a:xfrm>
        </p:grpSpPr>
        <p:sp>
          <p:nvSpPr>
            <p:cNvPr id="12305" name="Text Box 17"/>
            <p:cNvSpPr txBox="1">
              <a:spLocks noChangeArrowheads="1"/>
            </p:cNvSpPr>
            <p:nvPr/>
          </p:nvSpPr>
          <p:spPr bwMode="auto">
            <a:xfrm>
              <a:off x="2880" y="2064"/>
              <a:ext cx="2218" cy="7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2400">
                  <a:solidFill>
                    <a:srgbClr val="FF0000"/>
                  </a:solidFill>
                  <a:latin typeface="Verdana" pitchFamily="34" charset="0"/>
                </a:rPr>
                <a:t>Rate of interest</a:t>
              </a:r>
              <a:r>
                <a:rPr lang="en-US" sz="2400">
                  <a:latin typeface="Verdana" pitchFamily="34" charset="0"/>
                </a:rPr>
                <a:t> is the percent charged or earned.</a:t>
              </a:r>
            </a:p>
          </p:txBody>
        </p:sp>
        <p:sp>
          <p:nvSpPr>
            <p:cNvPr id="12310" name="Line 22"/>
            <p:cNvSpPr>
              <a:spLocks noChangeShapeType="1"/>
            </p:cNvSpPr>
            <p:nvPr/>
          </p:nvSpPr>
          <p:spPr bwMode="auto">
            <a:xfrm flipH="1">
              <a:off x="2592" y="2256"/>
              <a:ext cx="336" cy="624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2315" name="Group 27"/>
          <p:cNvGrpSpPr>
            <a:grpSpLocks/>
          </p:cNvGrpSpPr>
          <p:nvPr/>
        </p:nvGrpSpPr>
        <p:grpSpPr bwMode="auto">
          <a:xfrm>
            <a:off x="4457700" y="4968875"/>
            <a:ext cx="4038600" cy="1339850"/>
            <a:chOff x="3216" y="3120"/>
            <a:chExt cx="2352" cy="844"/>
          </a:xfrm>
        </p:grpSpPr>
        <p:sp>
          <p:nvSpPr>
            <p:cNvPr id="12306" name="Text Box 18"/>
            <p:cNvSpPr txBox="1">
              <a:spLocks noChangeArrowheads="1"/>
            </p:cNvSpPr>
            <p:nvPr/>
          </p:nvSpPr>
          <p:spPr bwMode="auto">
            <a:xfrm>
              <a:off x="3504" y="3216"/>
              <a:ext cx="2064" cy="7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>
                  <a:solidFill>
                    <a:srgbClr val="660066"/>
                  </a:solidFill>
                  <a:latin typeface="Verdana" pitchFamily="34" charset="0"/>
                </a:rPr>
                <a:t>Time</a:t>
              </a:r>
              <a:r>
                <a:rPr lang="en-US" sz="2400">
                  <a:latin typeface="Verdana" pitchFamily="34" charset="0"/>
                </a:rPr>
                <a:t> that the money is borrowed or invested (in years).</a:t>
              </a:r>
            </a:p>
          </p:txBody>
        </p:sp>
        <p:sp>
          <p:nvSpPr>
            <p:cNvPr id="12311" name="Line 23"/>
            <p:cNvSpPr>
              <a:spLocks noChangeShapeType="1"/>
            </p:cNvSpPr>
            <p:nvPr/>
          </p:nvSpPr>
          <p:spPr bwMode="auto">
            <a:xfrm flipH="1" flipV="1">
              <a:off x="3216" y="3120"/>
              <a:ext cx="288" cy="192"/>
            </a:xfrm>
            <a:prstGeom prst="line">
              <a:avLst/>
            </a:prstGeom>
            <a:noFill/>
            <a:ln w="12700">
              <a:solidFill>
                <a:srgbClr val="80008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6" name="Rectangle 2"/>
          <p:cNvSpPr txBox="1">
            <a:spLocks noChangeArrowheads="1"/>
          </p:cNvSpPr>
          <p:nvPr/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4600" kern="1200" cap="none" spc="-100" baseline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mtClean="0"/>
              <a:t>Simple Interest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670257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3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2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3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3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0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Converting</a:t>
            </a:r>
          </a:p>
        </p:txBody>
      </p:sp>
      <p:sp>
        <p:nvSpPr>
          <p:cNvPr id="39941" name="Rectangle 5"/>
          <p:cNvSpPr>
            <a:spLocks noGrp="1" noChangeArrowheads="1"/>
          </p:cNvSpPr>
          <p:nvPr>
            <p:ph sz="half" idx="1"/>
          </p:nvPr>
        </p:nvSpPr>
        <p:spPr>
          <a:xfrm>
            <a:off x="457200" y="1600200"/>
            <a:ext cx="5029200" cy="4456113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US" sz="2400" dirty="0" smtClean="0"/>
              <a:t>Change % to decimal</a:t>
            </a:r>
          </a:p>
          <a:p>
            <a:pPr marL="533400" indent="-533400" eaLnBrk="1" hangingPunct="1">
              <a:lnSpc>
                <a:spcPct val="90000"/>
              </a:lnSpc>
              <a:buFontTx/>
              <a:buNone/>
            </a:pPr>
            <a:endParaRPr lang="en-US" sz="1800" dirty="0" smtClean="0"/>
          </a:p>
          <a:p>
            <a:pPr marL="533400" indent="-533400" eaLnBrk="1" hangingPunct="1">
              <a:lnSpc>
                <a:spcPct val="90000"/>
              </a:lnSpc>
              <a:buFontTx/>
              <a:buNone/>
            </a:pPr>
            <a:r>
              <a:rPr lang="en-US" sz="2400" dirty="0" smtClean="0"/>
              <a:t>1) 12%</a:t>
            </a:r>
          </a:p>
          <a:p>
            <a:pPr marL="533400" indent="-533400" eaLnBrk="1" hangingPunct="1">
              <a:lnSpc>
                <a:spcPct val="90000"/>
              </a:lnSpc>
              <a:buFontTx/>
              <a:buNone/>
            </a:pPr>
            <a:r>
              <a:rPr lang="en-US" sz="2400" dirty="0" smtClean="0"/>
              <a:t>2) 5%</a:t>
            </a:r>
          </a:p>
          <a:p>
            <a:pPr marL="533400" indent="-533400" eaLnBrk="1" hangingPunct="1">
              <a:lnSpc>
                <a:spcPct val="90000"/>
              </a:lnSpc>
              <a:buFontTx/>
              <a:buNone/>
            </a:pPr>
            <a:r>
              <a:rPr lang="en-US" sz="2400" dirty="0" smtClean="0"/>
              <a:t>3) 2 ½ %</a:t>
            </a:r>
          </a:p>
          <a:p>
            <a:pPr marL="533400" indent="-533400" eaLnBrk="1" hangingPunct="1">
              <a:lnSpc>
                <a:spcPct val="90000"/>
              </a:lnSpc>
              <a:buFontTx/>
              <a:buNone/>
            </a:pPr>
            <a:r>
              <a:rPr lang="en-US" sz="2400" dirty="0" smtClean="0"/>
              <a:t>4) 8.5%</a:t>
            </a:r>
          </a:p>
          <a:p>
            <a:pPr marL="533400" indent="-533400" eaLnBrk="1" hangingPunct="1">
              <a:lnSpc>
                <a:spcPct val="90000"/>
              </a:lnSpc>
              <a:buFontTx/>
              <a:buNone/>
            </a:pPr>
            <a:endParaRPr lang="en-US" sz="2400" dirty="0" smtClean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sz="2400" dirty="0" smtClean="0"/>
              <a:t>Change from decimal to </a:t>
            </a:r>
            <a:r>
              <a:rPr lang="en-US" sz="2400" dirty="0" smtClean="0"/>
              <a:t>%        Answers</a:t>
            </a:r>
            <a:endParaRPr lang="en-US" sz="2400" dirty="0" smtClean="0"/>
          </a:p>
          <a:p>
            <a:pPr marL="533400" indent="-533400" eaLnBrk="1" hangingPunct="1">
              <a:lnSpc>
                <a:spcPct val="90000"/>
              </a:lnSpc>
              <a:buFontTx/>
              <a:buNone/>
            </a:pPr>
            <a:r>
              <a:rPr lang="en-US" sz="2400" dirty="0" smtClean="0"/>
              <a:t>5) .098</a:t>
            </a:r>
          </a:p>
          <a:p>
            <a:pPr marL="533400" indent="-533400" eaLnBrk="1" hangingPunct="1">
              <a:lnSpc>
                <a:spcPct val="90000"/>
              </a:lnSpc>
              <a:buFontTx/>
              <a:buNone/>
            </a:pPr>
            <a:r>
              <a:rPr lang="en-US" sz="2400" dirty="0" smtClean="0"/>
              <a:t>6) .455</a:t>
            </a:r>
          </a:p>
          <a:p>
            <a:pPr marL="533400" indent="-533400" eaLnBrk="1" hangingPunct="1">
              <a:lnSpc>
                <a:spcPct val="90000"/>
              </a:lnSpc>
            </a:pPr>
            <a:endParaRPr lang="en-US" dirty="0" smtClean="0"/>
          </a:p>
        </p:txBody>
      </p:sp>
      <p:sp>
        <p:nvSpPr>
          <p:cNvPr id="39942" name="Rectangle 6"/>
          <p:cNvSpPr>
            <a:spLocks noGrp="1" noChangeArrowheads="1"/>
          </p:cNvSpPr>
          <p:nvPr>
            <p:ph sz="half" idx="2"/>
          </p:nvPr>
        </p:nvSpPr>
        <p:spPr/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US" sz="2400" dirty="0" smtClean="0"/>
              <a:t>Answers</a:t>
            </a:r>
          </a:p>
          <a:p>
            <a:pPr marL="533400" indent="-533400" eaLnBrk="1" hangingPunct="1">
              <a:lnSpc>
                <a:spcPct val="90000"/>
              </a:lnSpc>
              <a:buFontTx/>
              <a:buNone/>
            </a:pPr>
            <a:endParaRPr lang="en-US" sz="2000" dirty="0" smtClean="0"/>
          </a:p>
          <a:p>
            <a:pPr marL="533400" indent="-533400" eaLnBrk="1" hangingPunct="1">
              <a:lnSpc>
                <a:spcPct val="90000"/>
              </a:lnSpc>
              <a:buFontTx/>
              <a:buNone/>
            </a:pPr>
            <a:r>
              <a:rPr lang="en-US" sz="2400" dirty="0" smtClean="0"/>
              <a:t>1) .12</a:t>
            </a:r>
          </a:p>
          <a:p>
            <a:pPr marL="533400" indent="-533400" eaLnBrk="1" hangingPunct="1">
              <a:lnSpc>
                <a:spcPct val="90000"/>
              </a:lnSpc>
              <a:buFontTx/>
              <a:buNone/>
            </a:pPr>
            <a:r>
              <a:rPr lang="en-US" sz="2400" dirty="0" smtClean="0"/>
              <a:t>2) .05</a:t>
            </a:r>
          </a:p>
          <a:p>
            <a:pPr marL="533400" indent="-533400" eaLnBrk="1" hangingPunct="1">
              <a:lnSpc>
                <a:spcPct val="90000"/>
              </a:lnSpc>
              <a:buFontTx/>
              <a:buNone/>
            </a:pPr>
            <a:r>
              <a:rPr lang="en-US" sz="2400" dirty="0" smtClean="0"/>
              <a:t>3) .025</a:t>
            </a:r>
          </a:p>
          <a:p>
            <a:pPr marL="533400" indent="-533400" eaLnBrk="1" hangingPunct="1">
              <a:lnSpc>
                <a:spcPct val="90000"/>
              </a:lnSpc>
              <a:buFontTx/>
              <a:buNone/>
            </a:pPr>
            <a:r>
              <a:rPr lang="en-US" sz="2400" dirty="0" smtClean="0"/>
              <a:t>4) .085</a:t>
            </a:r>
          </a:p>
          <a:p>
            <a:pPr marL="533400" indent="-533400" eaLnBrk="1" hangingPunct="1">
              <a:lnSpc>
                <a:spcPct val="90000"/>
              </a:lnSpc>
              <a:buFontTx/>
              <a:buNone/>
            </a:pPr>
            <a:endParaRPr lang="en-US" sz="2400" dirty="0" smtClean="0"/>
          </a:p>
          <a:p>
            <a:pPr marL="533400" indent="-533400" eaLnBrk="1" hangingPunct="1">
              <a:lnSpc>
                <a:spcPct val="90000"/>
              </a:lnSpc>
              <a:buFontTx/>
              <a:buNone/>
            </a:pPr>
            <a:endParaRPr lang="en-US" sz="2000" dirty="0" smtClean="0"/>
          </a:p>
          <a:p>
            <a:pPr marL="533400" indent="-533400" eaLnBrk="1" hangingPunct="1">
              <a:lnSpc>
                <a:spcPct val="90000"/>
              </a:lnSpc>
              <a:buFontTx/>
              <a:buNone/>
            </a:pPr>
            <a:r>
              <a:rPr lang="en-US" sz="2400" dirty="0" smtClean="0"/>
              <a:t>5) 9.8%</a:t>
            </a:r>
          </a:p>
          <a:p>
            <a:pPr marL="533400" indent="-533400" eaLnBrk="1" hangingPunct="1">
              <a:lnSpc>
                <a:spcPct val="90000"/>
              </a:lnSpc>
              <a:buFontTx/>
              <a:buNone/>
            </a:pPr>
            <a:r>
              <a:rPr lang="en-US" sz="2400" dirty="0" smtClean="0"/>
              <a:t>6) 45.5%</a:t>
            </a:r>
          </a:p>
        </p:txBody>
      </p:sp>
      <p:sp>
        <p:nvSpPr>
          <p:cNvPr id="39944" name="AutoShape 8"/>
          <p:cNvSpPr>
            <a:spLocks noChangeArrowheads="1"/>
          </p:cNvSpPr>
          <p:nvPr/>
        </p:nvSpPr>
        <p:spPr bwMode="auto">
          <a:xfrm>
            <a:off x="6019800" y="1320521"/>
            <a:ext cx="2990850" cy="1524000"/>
          </a:xfrm>
          <a:prstGeom prst="leftArrow">
            <a:avLst>
              <a:gd name="adj1" fmla="val 50000"/>
              <a:gd name="adj2" fmla="val 49063"/>
            </a:avLst>
          </a:prstGeom>
          <a:solidFill>
            <a:srgbClr val="00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Move 2 places </a:t>
            </a:r>
          </a:p>
          <a:p>
            <a:pPr algn="ctr"/>
            <a:r>
              <a:rPr lang="en-US"/>
              <a:t>to left &amp; drop % sign</a:t>
            </a:r>
          </a:p>
        </p:txBody>
      </p:sp>
      <p:sp>
        <p:nvSpPr>
          <p:cNvPr id="39945" name="AutoShape 9"/>
          <p:cNvSpPr>
            <a:spLocks noChangeArrowheads="1"/>
          </p:cNvSpPr>
          <p:nvPr/>
        </p:nvSpPr>
        <p:spPr bwMode="auto">
          <a:xfrm>
            <a:off x="1981200" y="5257800"/>
            <a:ext cx="2819400" cy="1600200"/>
          </a:xfrm>
          <a:prstGeom prst="rightArrow">
            <a:avLst>
              <a:gd name="adj1" fmla="val 50000"/>
              <a:gd name="adj2" fmla="val 44048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Move 2 places </a:t>
            </a:r>
          </a:p>
          <a:p>
            <a:pPr algn="ctr"/>
            <a:r>
              <a:rPr lang="en-US"/>
              <a:t>to right &amp; add % sign</a:t>
            </a:r>
          </a:p>
        </p:txBody>
      </p:sp>
    </p:spTree>
    <p:extLst>
      <p:ext uri="{BB962C8B-B14F-4D97-AF65-F5344CB8AC3E}">
        <p14:creationId xmlns:p14="http://schemas.microsoft.com/office/powerpoint/2010/main" val="4249785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99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99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3" dur="2000"/>
                                        <p:tgtEl>
                                          <p:spTgt spid="399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39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99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99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99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99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399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399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55" dur="2000"/>
                                        <p:tgtEl>
                                          <p:spTgt spid="399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60" dur="2000"/>
                                        <p:tgtEl>
                                          <p:spTgt spid="399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6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6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99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399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9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399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3994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399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4" grpId="0" animBg="1"/>
      <p:bldP spid="3994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Find the interest earned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Ray has $750 in a savings account that pays 3% simple interest.  How much interest will he earn in 4 years?</a:t>
            </a:r>
          </a:p>
        </p:txBody>
      </p:sp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2743200" y="3657600"/>
            <a:ext cx="3886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3600"/>
              <a:t>I = 750 x 0.03 x 4</a:t>
            </a:r>
          </a:p>
        </p:txBody>
      </p:sp>
      <p:sp>
        <p:nvSpPr>
          <p:cNvPr id="10245" name="Text Box 5"/>
          <p:cNvSpPr txBox="1">
            <a:spLocks noChangeArrowheads="1"/>
          </p:cNvSpPr>
          <p:nvPr/>
        </p:nvSpPr>
        <p:spPr bwMode="auto">
          <a:xfrm>
            <a:off x="457200" y="5197475"/>
            <a:ext cx="8001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3600" dirty="0">
                <a:solidFill>
                  <a:srgbClr val="7030A0"/>
                </a:solidFill>
              </a:rPr>
              <a:t>Ray will earn $90 interest in 4 years.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4" grpId="0"/>
      <p:bldP spid="1024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Find the interest paid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Cory borrows $1,200 from the bank for a riding lawn mower.  The interest rate is 8% per year.  How much simple interest will he pay if he takes 2 years to repay the loan?</a:t>
            </a:r>
          </a:p>
        </p:txBody>
      </p:sp>
      <p:sp>
        <p:nvSpPr>
          <p:cNvPr id="11268" name="Text Box 4"/>
          <p:cNvSpPr txBox="1">
            <a:spLocks noChangeArrowheads="1"/>
          </p:cNvSpPr>
          <p:nvPr/>
        </p:nvSpPr>
        <p:spPr bwMode="auto">
          <a:xfrm>
            <a:off x="2362200" y="4267200"/>
            <a:ext cx="5105400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3600"/>
              <a:t>I = 1,200 x 0.08% x 2</a:t>
            </a:r>
          </a:p>
        </p:txBody>
      </p:sp>
      <p:sp>
        <p:nvSpPr>
          <p:cNvPr id="11269" name="Text Box 5"/>
          <p:cNvSpPr txBox="1">
            <a:spLocks noChangeArrowheads="1"/>
          </p:cNvSpPr>
          <p:nvPr/>
        </p:nvSpPr>
        <p:spPr bwMode="auto">
          <a:xfrm>
            <a:off x="685800" y="5257800"/>
            <a:ext cx="8001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3600">
                <a:solidFill>
                  <a:srgbClr val="00FF00"/>
                </a:solidFill>
              </a:rPr>
              <a:t>Cory will pay $192 interest in 2 years.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8" grpId="0"/>
      <p:bldP spid="1126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Find the interest earned. 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Kate’s bank offered 4% simple interest on her deposit.  She has $1,500 to invest.  How much interest will she earn in 30 months?</a:t>
            </a:r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914400" y="3505200"/>
            <a:ext cx="762000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3600"/>
              <a:t>30 months is how many years? 30/12 = 2.5 years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1066800" y="4953000"/>
            <a:ext cx="4648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3600"/>
              <a:t>I = 1,500 x 4% x 2.5</a:t>
            </a:r>
          </a:p>
        </p:txBody>
      </p:sp>
      <p:sp>
        <p:nvSpPr>
          <p:cNvPr id="12295" name="Text Box 7"/>
          <p:cNvSpPr txBox="1">
            <a:spLocks noChangeArrowheads="1"/>
          </p:cNvSpPr>
          <p:nvPr/>
        </p:nvSpPr>
        <p:spPr bwMode="auto">
          <a:xfrm>
            <a:off x="0" y="5943600"/>
            <a:ext cx="9144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3600" dirty="0">
                <a:solidFill>
                  <a:srgbClr val="7030A0"/>
                </a:solidFill>
              </a:rPr>
              <a:t>Kate will earn $150 interest in 30 months.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122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122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122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122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3" grpId="0"/>
      <p:bldP spid="12294" grpId="0"/>
      <p:bldP spid="1229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Find the total paid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Henry charged $600 TV on his credit card with an interest rate of 21%.  How much money will he owe after 9 months. </a:t>
            </a:r>
          </a:p>
        </p:txBody>
      </p:sp>
      <p:sp>
        <p:nvSpPr>
          <p:cNvPr id="14340" name="Text Box 4"/>
          <p:cNvSpPr txBox="1">
            <a:spLocks noChangeArrowheads="1"/>
          </p:cNvSpPr>
          <p:nvPr/>
        </p:nvSpPr>
        <p:spPr bwMode="auto">
          <a:xfrm>
            <a:off x="609600" y="3200400"/>
            <a:ext cx="762000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3600"/>
              <a:t>9 months is how many years? 9/12 = .75 years</a:t>
            </a:r>
          </a:p>
        </p:txBody>
      </p:sp>
      <p:sp>
        <p:nvSpPr>
          <p:cNvPr id="14341" name="Text Box 5"/>
          <p:cNvSpPr txBox="1">
            <a:spLocks noChangeArrowheads="1"/>
          </p:cNvSpPr>
          <p:nvPr/>
        </p:nvSpPr>
        <p:spPr bwMode="auto">
          <a:xfrm>
            <a:off x="304800" y="4495800"/>
            <a:ext cx="4648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3600"/>
              <a:t>I = 600 x 21% x .75</a:t>
            </a:r>
          </a:p>
        </p:txBody>
      </p:sp>
      <p:sp>
        <p:nvSpPr>
          <p:cNvPr id="14342" name="Text Box 6"/>
          <p:cNvSpPr txBox="1">
            <a:spLocks noChangeArrowheads="1"/>
          </p:cNvSpPr>
          <p:nvPr/>
        </p:nvSpPr>
        <p:spPr bwMode="auto">
          <a:xfrm>
            <a:off x="4876800" y="4495800"/>
            <a:ext cx="4114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3600"/>
              <a:t>= $94.50 interest</a:t>
            </a:r>
          </a:p>
        </p:txBody>
      </p:sp>
      <p:sp>
        <p:nvSpPr>
          <p:cNvPr id="14343" name="Text Box 7"/>
          <p:cNvSpPr txBox="1">
            <a:spLocks noChangeArrowheads="1"/>
          </p:cNvSpPr>
          <p:nvPr/>
        </p:nvSpPr>
        <p:spPr bwMode="auto">
          <a:xfrm>
            <a:off x="190500" y="5641207"/>
            <a:ext cx="8458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3600">
                <a:solidFill>
                  <a:srgbClr val="7030A0"/>
                </a:solidFill>
              </a:rPr>
              <a:t>Amount paid $600 + $94.50 = $694.50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143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143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143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143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0" grpId="0"/>
      <p:bldP spid="14341" grpId="0"/>
      <p:bldP spid="14342" grpId="0"/>
      <p:bldP spid="1434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AU" dirty="0" smtClean="0"/>
              <a:t>Other S.I. Formulas</a:t>
            </a:r>
            <a:endParaRPr lang="en-AU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540" y="2005701"/>
            <a:ext cx="8228920" cy="284659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Practice / Homework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05000"/>
            <a:ext cx="8229600" cy="4495800"/>
          </a:xfrm>
        </p:spPr>
        <p:txBody>
          <a:bodyPr/>
          <a:lstStyle/>
          <a:p>
            <a:pPr marL="0" indent="0" eaLnBrk="1" hangingPunct="1">
              <a:buNone/>
              <a:defRPr/>
            </a:pPr>
            <a:r>
              <a:rPr lang="en-US" dirty="0" smtClean="0"/>
              <a:t>Tuesday and Wednesday Week 1 Term 3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n-US" dirty="0" smtClean="0"/>
          </a:p>
          <a:p>
            <a:pPr eaLnBrk="1" hangingPunct="1">
              <a:defRPr/>
            </a:pPr>
            <a:r>
              <a:rPr lang="en-US" dirty="0" smtClean="0"/>
              <a:t>Exercise 11.1, 11.2, 11.3 pages 315-316 of textbook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196</TotalTime>
  <Words>423</Words>
  <Application>Microsoft Office PowerPoint</Application>
  <PresentationFormat>On-screen Show (4:3)</PresentationFormat>
  <Paragraphs>59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Adjacency</vt:lpstr>
      <vt:lpstr>Topic: Simple Interest</vt:lpstr>
      <vt:lpstr>PowerPoint Presentation</vt:lpstr>
      <vt:lpstr>Converting</vt:lpstr>
      <vt:lpstr>Find the interest earned</vt:lpstr>
      <vt:lpstr>Find the interest paid</vt:lpstr>
      <vt:lpstr>Find the interest earned. </vt:lpstr>
      <vt:lpstr>Find the total paid</vt:lpstr>
      <vt:lpstr>Other S.I. Formulas</vt:lpstr>
      <vt:lpstr>Practice / Homework</vt:lpstr>
    </vt:vector>
  </TitlesOfParts>
  <Company>VPSB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Interest</dc:title>
  <dc:creator>Administrator</dc:creator>
  <cp:lastModifiedBy>FRASER-JONES Laura</cp:lastModifiedBy>
  <cp:revision>16</cp:revision>
  <dcterms:created xsi:type="dcterms:W3CDTF">2008-01-28T13:09:29Z</dcterms:created>
  <dcterms:modified xsi:type="dcterms:W3CDTF">2016-07-13T08:03:56Z</dcterms:modified>
</cp:coreProperties>
</file>
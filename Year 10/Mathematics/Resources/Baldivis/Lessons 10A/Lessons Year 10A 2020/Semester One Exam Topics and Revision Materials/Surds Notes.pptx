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722" r:id="rId3"/>
  </p:sldMasterIdLst>
  <p:notesMasterIdLst>
    <p:notesMasterId r:id="rId19"/>
  </p:notesMasterIdLst>
  <p:handoutMasterIdLst>
    <p:handoutMasterId r:id="rId20"/>
  </p:handoutMasterIdLst>
  <p:sldIdLst>
    <p:sldId id="278" r:id="rId4"/>
    <p:sldId id="310" r:id="rId5"/>
    <p:sldId id="312" r:id="rId6"/>
    <p:sldId id="315" r:id="rId7"/>
    <p:sldId id="313" r:id="rId8"/>
    <p:sldId id="316" r:id="rId9"/>
    <p:sldId id="314" r:id="rId10"/>
    <p:sldId id="317" r:id="rId11"/>
    <p:sldId id="323" r:id="rId12"/>
    <p:sldId id="326" r:id="rId13"/>
    <p:sldId id="319" r:id="rId14"/>
    <p:sldId id="327" r:id="rId15"/>
    <p:sldId id="324" r:id="rId16"/>
    <p:sldId id="321" r:id="rId17"/>
    <p:sldId id="318" r:id="rId1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>
        <p:scale>
          <a:sx n="60" d="100"/>
          <a:sy n="60" d="100"/>
        </p:scale>
        <p:origin x="-156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57C9-F4D4-4D1F-B8B1-25B11346A1E5}" type="datetimeFigureOut">
              <a:rPr lang="en-AU" smtClean="0"/>
              <a:t>23/03/2016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07FC-2D1D-4D04-B72F-1D7E3D42DF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032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23/03/2016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 descr="scottishfla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567" y="714375"/>
            <a:ext cx="86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3" descr="Office Objects 05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773" y="260350"/>
            <a:ext cx="1926167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422400" y="1997084"/>
            <a:ext cx="94488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2152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22400" y="38862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latin typeface="Comic Sans MS" pitchFamily="66" charset="0"/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  <p:sp>
        <p:nvSpPr>
          <p:cNvPr id="6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AE171749-3C0B-4321-9A0E-8BE0C7C528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916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8772E-F26F-4325-A94F-D9619A02BB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229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EFDCE-2C35-4922-86DD-5945B9F3F4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133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981200"/>
            <a:ext cx="4927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981200"/>
            <a:ext cx="4927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D33E8-D0E9-42E2-B514-512BC521CB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700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849EF-D358-4A41-AE7F-3ADADC2D88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16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32149-B6C4-481A-A1BB-8F7155D39D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7741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B2494-8745-4A10-A98B-5297EE27E7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82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0C81C-C3ED-4B64-8594-28438DDE83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522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0F60E-BFBA-4CD3-9462-B31A5734F2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825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6B958-EE7D-4133-BE93-14116240E1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9403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6200" y="304800"/>
            <a:ext cx="251460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34060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F844F0-7820-4C41-AE04-BB7EDB8266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702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2"/>
            <a:ext cx="10058400" cy="14319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981200"/>
            <a:ext cx="49276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53200" y="1981200"/>
            <a:ext cx="49276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53200" y="4114800"/>
            <a:ext cx="49276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986D9-1A29-4BED-8F90-06846165BD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800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499B6-3047-452A-A0CF-E80F43549BA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0568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C0E9BB-D6D4-424B-9EE3-6717880C7E4C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856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88E5D8-70F4-41B1-B1C7-4C6808D4506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406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8DC976-167F-4295-8DE5-1192AEAB622C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634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32221-B0EB-471C-AB55-587E176B7A51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144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86D1C3-E8F7-4416-B951-2B8971DFE0EE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67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B3FF7A-B830-47FC-9ED9-5A6FDE634B1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9758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BD72B-1AE5-4440-AD35-125FCB45295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7166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910B4C-9705-439E-AA88-5D36FF5A78AF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1035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C4C429-0F05-4C9D-B381-9DE5B3D68A3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9212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6A308-4508-44BB-99EC-1AE4088D89D5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65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6" y="6350"/>
            <a:ext cx="12187767" cy="6851650"/>
            <a:chOff x="0" y="4"/>
            <a:chExt cx="5758" cy="4316"/>
          </a:xfrm>
        </p:grpSpPr>
        <p:sp>
          <p:nvSpPr>
            <p:cNvPr id="1033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200 w 5184"/>
                <a:gd name="T3" fmla="*/ 3159 h 3159"/>
                <a:gd name="T4" fmla="*/ 5200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AU" sz="2400" smtClean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sp>
          <p:nvSpPr>
            <p:cNvPr id="1034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8 w 556"/>
                <a:gd name="T5" fmla="*/ 3159 h 3159"/>
                <a:gd name="T6" fmla="*/ 558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en-AU" sz="2400" smtClean="0">
                <a:solidFill>
                  <a:srgbClr val="FFFFFF"/>
                </a:solidFill>
                <a:latin typeface="Arial Narrow" pitchFamily="34" charset="0"/>
              </a:endParaRPr>
            </a:p>
          </p:txBody>
        </p:sp>
        <p:grpSp>
          <p:nvGrpSpPr>
            <p:cNvPr id="1035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6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037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038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39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39 w 4724"/>
                  <a:gd name="T7" fmla="*/ 12 h 12"/>
                  <a:gd name="T8" fmla="*/ 4739 w 4724"/>
                  <a:gd name="T9" fmla="*/ 0 h 12"/>
                  <a:gd name="T10" fmla="*/ 4739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039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040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20491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AU" sz="240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042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351 w 251"/>
                  <a:gd name="T5" fmla="*/ 12 h 12"/>
                  <a:gd name="T6" fmla="*/ 3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043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2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2 w 251"/>
                  <a:gd name="T7" fmla="*/ 12 h 12"/>
                  <a:gd name="T8" fmla="*/ 252 w 251"/>
                  <a:gd name="T9" fmla="*/ 0 h 12"/>
                  <a:gd name="T10" fmla="*/ 252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AU" sz="2400" smtClean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20494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AU" sz="240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</p:grpSp>
      </p:grpSp>
      <p:sp>
        <p:nvSpPr>
          <p:cNvPr id="20495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2"/>
            <a:ext cx="100584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981200"/>
            <a:ext cx="10058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20497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GB"/>
          </a:p>
        </p:txBody>
      </p:sp>
      <p:sp>
        <p:nvSpPr>
          <p:cNvPr id="20499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60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31FAB5E6-1168-4D12-86EA-4C5081E6D782}" type="slidenum">
              <a:rPr lang="en-GB"/>
              <a:pPr fontAlgn="base"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  <p:pic>
        <p:nvPicPr>
          <p:cNvPr id="1031" name="Picture 21" descr="scottishflag"/>
          <p:cNvPicPr>
            <a:picLocks noChangeAspect="1" noChangeArrowheads="1" noCrop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765175"/>
            <a:ext cx="86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2" descr="Office Objects 057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5639" y="260350"/>
            <a:ext cx="1926167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142268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EEF82A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8556B87-DF5D-4285-BEDE-699B5862D15E}" type="slidenum">
              <a:rPr lang="en-GB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wmf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png"/><Relationship Id="rId5" Type="http://schemas.openxmlformats.org/officeDocument/2006/relationships/image" Target="../media/image22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0.png"/><Relationship Id="rId5" Type="http://schemas.openxmlformats.org/officeDocument/2006/relationships/image" Target="../media/image26.wmf"/><Relationship Id="rId10" Type="http://schemas.openxmlformats.org/officeDocument/2006/relationships/image" Target="../media/image24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26474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" y="48513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3905" y="1954655"/>
            <a:ext cx="104085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b="1" dirty="0" smtClean="0"/>
              <a:t>Surds </a:t>
            </a:r>
            <a:r>
              <a:rPr lang="en-AU" sz="2400" dirty="0" smtClean="0"/>
              <a:t>are numbers left in square root form or cubed root form etc.</a:t>
            </a:r>
          </a:p>
          <a:p>
            <a:endParaRPr lang="en-AU" sz="2400" dirty="0"/>
          </a:p>
          <a:p>
            <a:r>
              <a:rPr lang="en-AU" sz="2400" dirty="0" smtClean="0"/>
              <a:t>Surds are irrational numbers because we do not know their exact value.</a:t>
            </a:r>
          </a:p>
          <a:p>
            <a:endParaRPr lang="en-AU" sz="2400" dirty="0">
              <a:solidFill>
                <a:srgbClr val="7030A0"/>
              </a:solidFill>
            </a:endParaRPr>
          </a:p>
          <a:p>
            <a:r>
              <a:rPr lang="en-AU" sz="2400" dirty="0" smtClean="0"/>
              <a:t>Surds are left in n-</a:t>
            </a:r>
            <a:r>
              <a:rPr lang="en-AU" sz="2400" dirty="0" err="1" smtClean="0"/>
              <a:t>th</a:t>
            </a:r>
            <a:r>
              <a:rPr lang="en-AU" sz="2400" dirty="0" smtClean="0"/>
              <a:t> root form because it is more accurate than writing them as a decimal.</a:t>
            </a:r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302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79718"/>
              </p:ext>
            </p:extLst>
          </p:nvPr>
        </p:nvGraphicFramePr>
        <p:xfrm>
          <a:off x="480483" y="4230674"/>
          <a:ext cx="10541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Equation" r:id="rId3" imgW="419100" imgH="368300" progId="Equation.DSMT4">
                  <p:embed/>
                </p:oleObj>
              </mc:Choice>
              <mc:Fallback>
                <p:oleObj name="Equation" r:id="rId3" imgW="4191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83" y="4230674"/>
                        <a:ext cx="10541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274487" y="374661"/>
            <a:ext cx="5894916" cy="949325"/>
          </a:xfrm>
        </p:spPr>
        <p:txBody>
          <a:bodyPr/>
          <a:lstStyle/>
          <a:p>
            <a:pPr eaLnBrk="1" hangingPunct="1">
              <a:defRPr/>
            </a:pPr>
            <a:r>
              <a:rPr lang="en-GB" sz="4000" smtClean="0">
                <a:solidFill>
                  <a:srgbClr val="FFFF00"/>
                </a:solidFill>
              </a:rPr>
              <a:t>What is a Surd</a:t>
            </a:r>
          </a:p>
        </p:txBody>
      </p:sp>
      <p:pic>
        <p:nvPicPr>
          <p:cNvPr id="6148" name="Picture 6" descr="Office Objects 057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1" y="238125"/>
            <a:ext cx="1926167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2544233" y="1965336"/>
          <a:ext cx="115146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Equation" r:id="rId6" imgW="609336" imgH="380835" progId="Equation.DSMT4">
                  <p:embed/>
                </p:oleObj>
              </mc:Choice>
              <mc:Fallback>
                <p:oleObj name="Equation" r:id="rId6" imgW="609336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233" y="1965336"/>
                        <a:ext cx="1151467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3790953" y="1935174"/>
            <a:ext cx="134408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82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z="4000" smtClean="0">
                <a:solidFill>
                  <a:srgbClr val="EEF82A"/>
                </a:solidFill>
                <a:latin typeface="Comic Sans MS" pitchFamily="66" charset="0"/>
              </a:rPr>
              <a:t>= 6</a:t>
            </a: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9072041" y="1863736"/>
            <a:ext cx="1631951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82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z="4000" smtClean="0">
                <a:solidFill>
                  <a:srgbClr val="EEF82A"/>
                </a:solidFill>
                <a:latin typeface="Comic Sans MS" pitchFamily="66" charset="0"/>
              </a:rPr>
              <a:t>= 12</a:t>
            </a:r>
          </a:p>
        </p:txBody>
      </p:sp>
      <p:graphicFrame>
        <p:nvGraphicFramePr>
          <p:cNvPr id="6152" name="Object 12"/>
          <p:cNvGraphicFramePr>
            <a:graphicFrameLocks noChangeAspect="1"/>
          </p:cNvGraphicFramePr>
          <p:nvPr/>
        </p:nvGraphicFramePr>
        <p:xfrm>
          <a:off x="7169158" y="1871663"/>
          <a:ext cx="180763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Equation" r:id="rId8" imgW="838200" imgH="381000" progId="Equation.DSMT4">
                  <p:embed/>
                </p:oleObj>
              </mc:Choice>
              <mc:Fallback>
                <p:oleObj name="Equation" r:id="rId8" imgW="838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8" y="1871663"/>
                        <a:ext cx="180763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652664"/>
              </p:ext>
            </p:extLst>
          </p:nvPr>
        </p:nvGraphicFramePr>
        <p:xfrm>
          <a:off x="6085167" y="4288330"/>
          <a:ext cx="1407584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Equation" r:id="rId10" imgW="558800" imgH="368300" progId="Equation.DSMT4">
                  <p:embed/>
                </p:oleObj>
              </mc:Choice>
              <mc:Fallback>
                <p:oleObj name="Equation" r:id="rId10" imgW="5588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167" y="4288330"/>
                        <a:ext cx="1407584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4" name="Text Box 18"/>
          <p:cNvSpPr txBox="1">
            <a:spLocks noChangeArrowheads="1"/>
          </p:cNvSpPr>
          <p:nvPr/>
        </p:nvSpPr>
        <p:spPr bwMode="auto">
          <a:xfrm>
            <a:off x="1007533" y="2557474"/>
            <a:ext cx="10363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82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solidFill>
                  <a:srgbClr val="EEF82A"/>
                </a:solidFill>
                <a:latin typeface="Comic Sans MS" pitchFamily="66" charset="0"/>
              </a:rPr>
              <a:t>The above roots have exact values 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solidFill>
                  <a:srgbClr val="EEF82A"/>
                </a:solidFill>
                <a:latin typeface="Comic Sans MS" pitchFamily="66" charset="0"/>
              </a:rPr>
              <a:t>and are called </a:t>
            </a:r>
            <a:r>
              <a:rPr lang="en-GB" u="sng" smtClean="0">
                <a:solidFill>
                  <a:srgbClr val="EEF82A"/>
                </a:solidFill>
                <a:latin typeface="Comic Sans MS" pitchFamily="66" charset="0"/>
              </a:rPr>
              <a:t>rational</a:t>
            </a:r>
          </a:p>
        </p:txBody>
      </p:sp>
      <p:sp>
        <p:nvSpPr>
          <p:cNvPr id="6157" name="Line 19"/>
          <p:cNvSpPr>
            <a:spLocks noChangeShapeType="1"/>
          </p:cNvSpPr>
          <p:nvPr/>
        </p:nvSpPr>
        <p:spPr bwMode="auto">
          <a:xfrm>
            <a:off x="1678519" y="3933825"/>
            <a:ext cx="9410700" cy="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sz="2400" smtClean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96276" name="Text Box 20"/>
          <p:cNvSpPr txBox="1">
            <a:spLocks noChangeArrowheads="1"/>
          </p:cNvSpPr>
          <p:nvPr/>
        </p:nvSpPr>
        <p:spPr bwMode="auto">
          <a:xfrm>
            <a:off x="1102784" y="5016510"/>
            <a:ext cx="10160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82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solidFill>
                  <a:srgbClr val="EEF82A"/>
                </a:solidFill>
                <a:latin typeface="Comic Sans MS" pitchFamily="66" charset="0"/>
              </a:rPr>
              <a:t>These roots do </a:t>
            </a:r>
            <a:r>
              <a:rPr lang="en-GB" smtClean="0">
                <a:solidFill>
                  <a:srgbClr val="FF0000"/>
                </a:solidFill>
                <a:latin typeface="Comic Sans MS" pitchFamily="66" charset="0"/>
              </a:rPr>
              <a:t>NOT</a:t>
            </a:r>
            <a:r>
              <a:rPr lang="en-GB" smtClean="0">
                <a:solidFill>
                  <a:srgbClr val="EEF82A"/>
                </a:solidFill>
                <a:latin typeface="Comic Sans MS" pitchFamily="66" charset="0"/>
              </a:rPr>
              <a:t> have exact values 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solidFill>
                  <a:srgbClr val="EEF82A"/>
                </a:solidFill>
                <a:latin typeface="Comic Sans MS" pitchFamily="66" charset="0"/>
              </a:rPr>
              <a:t>and are called </a:t>
            </a:r>
            <a:r>
              <a:rPr lang="en-GB" u="sng" smtClean="0">
                <a:solidFill>
                  <a:srgbClr val="EEF82A"/>
                </a:solidFill>
                <a:latin typeface="Comic Sans MS" pitchFamily="66" charset="0"/>
              </a:rPr>
              <a:t>irrational</a:t>
            </a:r>
            <a:r>
              <a:rPr lang="en-GB" smtClean="0">
                <a:solidFill>
                  <a:srgbClr val="FFFFFF"/>
                </a:solidFill>
                <a:latin typeface="Comic Sans MS" pitchFamily="66" charset="0"/>
              </a:rPr>
              <a:t> OR</a:t>
            </a:r>
          </a:p>
        </p:txBody>
      </p:sp>
      <p:sp>
        <p:nvSpPr>
          <p:cNvPr id="96277" name="Text Box 21"/>
          <p:cNvSpPr txBox="1">
            <a:spLocks noChangeArrowheads="1"/>
          </p:cNvSpPr>
          <p:nvPr/>
        </p:nvSpPr>
        <p:spPr bwMode="auto">
          <a:xfrm>
            <a:off x="8976785" y="5516563"/>
            <a:ext cx="1826683" cy="523220"/>
          </a:xfrm>
          <a:prstGeom prst="rect">
            <a:avLst/>
          </a:prstGeom>
          <a:solidFill>
            <a:srgbClr val="4D4D4D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z="2800" i="1" u="sng" smtClean="0">
                <a:solidFill>
                  <a:srgbClr val="FF0000"/>
                </a:solidFill>
                <a:latin typeface="Comic Sans MS" pitchFamily="66" charset="0"/>
              </a:rPr>
              <a:t>Surds</a:t>
            </a:r>
            <a:endParaRPr lang="en-GB" sz="2800" smtClean="0">
              <a:solidFill>
                <a:srgbClr val="EEF82A"/>
              </a:solidFill>
              <a:latin typeface="Comic Sans MS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26964" y="4279660"/>
                <a:ext cx="409413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FFFF0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AU" sz="4000" b="0" i="1" smtClean="0">
                          <a:solidFill>
                            <a:srgbClr val="FFFF00"/>
                          </a:solidFill>
                          <a:latin typeface="Cambria Math"/>
                          <a:ea typeface="Cambria Math"/>
                        </a:rPr>
                        <m:t>1.4142356…..</m:t>
                      </m:r>
                    </m:oMath>
                  </m:oMathPara>
                </a14:m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964" y="4279660"/>
                <a:ext cx="4094134" cy="70788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494619" y="4286437"/>
                <a:ext cx="381040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FFFF0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AU" sz="4000" b="0" i="1" smtClean="0">
                          <a:solidFill>
                            <a:srgbClr val="FFFF00"/>
                          </a:solidFill>
                          <a:latin typeface="Cambria Math"/>
                          <a:ea typeface="Cambria Math"/>
                        </a:rPr>
                        <m:t>2.785924…..</m:t>
                      </m:r>
                    </m:oMath>
                  </m:oMathPara>
                </a14:m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4619" y="4286437"/>
                <a:ext cx="3810402" cy="707886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19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74" grpId="0"/>
      <p:bldP spid="96276" grpId="0"/>
      <p:bldP spid="9627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26474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" y="48513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33905" y="1954655"/>
                <a:ext cx="10408551" cy="4256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Surd Rules: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𝑥𝑦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12</m:t>
                          </m:r>
                        </m:e>
                      </m:rad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i="1" smtClean="0">
                          <a:latin typeface="Cambria Math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4</m:t>
                          </m:r>
                        </m:e>
                      </m:rad>
                      <m:r>
                        <a:rPr lang="en-AU" sz="2400" i="1" smtClean="0">
                          <a:latin typeface="Cambria Math"/>
                        </a:rPr>
                        <m:t> </m:t>
                      </m:r>
                      <m:r>
                        <a:rPr lang="en-AU" sz="2400" i="1" smtClean="0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 smtClean="0"/>
              </a:p>
              <a:p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=2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r>
                  <a:rPr lang="en-AU" sz="2400" dirty="0" smtClean="0">
                    <a:solidFill>
                      <a:srgbClr val="7030A0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900" y="1954655"/>
                <a:ext cx="10408550" cy="4256102"/>
              </a:xfrm>
              <a:prstGeom prst="rect">
                <a:avLst/>
              </a:prstGeom>
              <a:blipFill rotWithShape="1">
                <a:blip r:embed="rId3"/>
                <a:stretch>
                  <a:fillRect l="-937" t="-11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302623" y="4072874"/>
            <a:ext cx="51943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82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l" eaLnBrk="1" hangingPunct="1"/>
            <a:r>
              <a:rPr lang="en-GB" dirty="0">
                <a:solidFill>
                  <a:srgbClr val="CC00CC"/>
                </a:solidFill>
                <a:latin typeface="Comic Sans MS" pitchFamily="66" charset="0"/>
              </a:rPr>
              <a:t>To simplify </a:t>
            </a:r>
            <a:r>
              <a:rPr lang="en-GB" b="1" dirty="0">
                <a:solidFill>
                  <a:srgbClr val="CC00CC"/>
                </a:solidFill>
                <a:latin typeface="Comic Sans MS" pitchFamily="66" charset="0"/>
                <a:sym typeface="Symbol" pitchFamily="18" charset="2"/>
              </a:rPr>
              <a:t>12 </a:t>
            </a:r>
            <a:r>
              <a:rPr lang="en-GB" dirty="0">
                <a:solidFill>
                  <a:srgbClr val="CC00CC"/>
                </a:solidFill>
                <a:latin typeface="Comic Sans MS" pitchFamily="66" charset="0"/>
                <a:sym typeface="Symbol" pitchFamily="18" charset="2"/>
              </a:rPr>
              <a:t>we must </a:t>
            </a:r>
            <a:r>
              <a:rPr lang="en-GB" dirty="0">
                <a:solidFill>
                  <a:srgbClr val="CC00CC"/>
                </a:solidFill>
                <a:latin typeface="Comic Sans MS" pitchFamily="66" charset="0"/>
              </a:rPr>
              <a:t> split 12 into factors with at least one being a square number.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302624" y="5294377"/>
            <a:ext cx="46180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F82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l" eaLnBrk="1" hangingPunct="1"/>
            <a:r>
              <a:rPr lang="en-GB" dirty="0">
                <a:solidFill>
                  <a:srgbClr val="CC00CC"/>
                </a:solidFill>
                <a:latin typeface="Comic Sans MS" pitchFamily="66" charset="0"/>
              </a:rPr>
              <a:t>Now simplify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237105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2" t="69396" r="20149" b="15302"/>
          <a:stretch/>
        </p:blipFill>
        <p:spPr bwMode="auto">
          <a:xfrm>
            <a:off x="804045" y="2301773"/>
            <a:ext cx="10239825" cy="1813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56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71315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7745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30183" y="1377458"/>
            <a:ext cx="3716" cy="5480542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" y="18339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84353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" y="1442323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smtClean="0">
                <a:solidFill>
                  <a:prstClr val="black"/>
                </a:solidFill>
              </a:rPr>
              <a:t>Question:</a:t>
            </a:r>
            <a:endParaRPr lang="en-AU" sz="2400" dirty="0" smtClean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48866" y="1465661"/>
                <a:ext cx="10408551" cy="5505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Surd Rules: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𝑥𝑦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4</m:t>
                          </m:r>
                        </m:e>
                      </m:rad>
                      <m:r>
                        <a:rPr lang="en-AU" sz="2400" i="1" smtClean="0">
                          <a:latin typeface="Cambria Math"/>
                        </a:rPr>
                        <m:t> </m:t>
                      </m:r>
                      <m:r>
                        <a:rPr lang="en-AU" sz="2400" i="1" smtClean="0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4 ×3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</a:rPr>
                            <m:t>4</m:t>
                          </m:r>
                        </m:e>
                      </m:rad>
                      <m:r>
                        <a:rPr lang="en-AU" sz="2400" i="1">
                          <a:latin typeface="Cambria Math"/>
                        </a:rPr>
                        <m:t> 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2 ×5 ×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4 ×3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=10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=10×</m:t>
                      </m:r>
                      <m:r>
                        <a:rPr lang="en-AU" sz="24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i="1">
                          <a:latin typeface="Cambria Math"/>
                        </a:rPr>
                        <m:t>2</m:t>
                      </m:r>
                      <m:r>
                        <a:rPr lang="en-AU" sz="2400" b="0" i="1" smtClean="0">
                          <a:latin typeface="Cambria Math"/>
                        </a:rPr>
                        <m:t>0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rad>
                      <m:d>
                        <m:d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r>
                            <a:rPr lang="en-AU" sz="2400" b="0" i="1" smtClean="0"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e>
                      </m:d>
                      <m:r>
                        <a:rPr lang="en-AU" sz="2400" i="1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16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=4+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=4+</m:t>
                      </m:r>
                      <m:r>
                        <a:rPr lang="en-AU" sz="24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400" dirty="0" smtClean="0">
                  <a:solidFill>
                    <a:srgbClr val="7030A0"/>
                  </a:solidFill>
                </a:endParaRPr>
              </a:p>
              <a:p>
                <a:endParaRPr lang="en-AU" sz="24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</m:rad>
                    <m:d>
                      <m:dPr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/>
                              </a:rPr>
                              <m:t>4</m:t>
                            </m:r>
                          </m:e>
                        </m:rad>
                        <m:r>
                          <a:rPr lang="en-AU" sz="2400" i="1">
                            <a:latin typeface="Cambria Math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AU" sz="2400" i="1">
                                <a:latin typeface="Cambria Math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a:rPr lang="en-AU" sz="2400" i="1">
                        <a:latin typeface="Cambria Math"/>
                        <a:ea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20</m:t>
                        </m:r>
                      </m:e>
                    </m:rad>
                    <m:r>
                      <a:rPr lang="en-AU" sz="2400" i="1">
                        <a:latin typeface="Cambria Math"/>
                        <a:ea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15</m:t>
                        </m:r>
                      </m:e>
                    </m:rad>
                    <m:r>
                      <a:rPr lang="en-AU" sz="2400" i="1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4 ×5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AU" sz="2400" i="1">
                        <a:latin typeface="Cambria Math"/>
                        <a:ea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latin typeface="Cambria Math"/>
                            <a:ea typeface="Cambria Math"/>
                          </a:rPr>
                          <m:t>15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=4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</m:rad>
                    <m:r>
                      <a:rPr lang="en-AU" sz="2400" i="1">
                        <a:latin typeface="Cambria Math"/>
                        <a:ea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latin typeface="Cambria Math"/>
                            <a:ea typeface="Cambria Math"/>
                          </a:rPr>
                          <m:t>15</m:t>
                        </m:r>
                      </m:e>
                    </m:rad>
                  </m:oMath>
                </a14:m>
                <a:r>
                  <a:rPr lang="en-AU" sz="2400" dirty="0" smtClean="0">
                    <a:solidFill>
                      <a:srgbClr val="7030A0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861" y="1465661"/>
                <a:ext cx="10408550" cy="5505418"/>
              </a:xfrm>
              <a:prstGeom prst="rect">
                <a:avLst/>
              </a:prstGeom>
              <a:blipFill rotWithShape="1">
                <a:blip r:embed="rId3"/>
                <a:stretch>
                  <a:fillRect l="-878" t="-8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899778" y="2761367"/>
                <a:ext cx="4303449" cy="65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 smtClean="0">
                    <a:solidFill>
                      <a:srgbClr val="CC00CC"/>
                    </a:solidFill>
                  </a:rPr>
                  <a:t>Notes: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3600" i="1">
                            <a:solidFill>
                              <a:srgbClr val="CC00CC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3600" i="1">
                            <a:solidFill>
                              <a:srgbClr val="CC00CC"/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  <m:r>
                      <a:rPr lang="en-AU" sz="3600" i="1">
                        <a:solidFill>
                          <a:srgbClr val="CC00CC"/>
                        </a:solidFill>
                        <a:latin typeface="Cambria Math"/>
                      </a:rPr>
                      <m:t> </m:t>
                    </m:r>
                    <m:r>
                      <a:rPr lang="en-AU" sz="3600" i="1">
                        <a:solidFill>
                          <a:srgbClr val="CC00CC"/>
                        </a:solidFill>
                        <a:latin typeface="Cambria Math"/>
                        <a:ea typeface="Cambria Math"/>
                      </a:rPr>
                      <m:t>× </m:t>
                    </m:r>
                    <m:rad>
                      <m:radPr>
                        <m:degHide m:val="on"/>
                        <m:ctrlPr>
                          <a:rPr lang="en-AU" sz="3600" i="1">
                            <a:solidFill>
                              <a:srgbClr val="CC00CC"/>
                            </a:solidFill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3600" b="0" i="1" smtClean="0">
                            <a:solidFill>
                              <a:srgbClr val="CC00CC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rad>
                    <m:r>
                      <a:rPr lang="en-AU" sz="3600" i="1">
                        <a:solidFill>
                          <a:srgbClr val="CC00CC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3600" b="0" i="1" smtClean="0">
                        <a:solidFill>
                          <a:srgbClr val="CC00CC"/>
                        </a:solidFill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AU" sz="36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773" y="2761363"/>
                <a:ext cx="4303449" cy="652615"/>
              </a:xfrm>
              <a:prstGeom prst="rect">
                <a:avLst/>
              </a:prstGeom>
              <a:blipFill rotWithShape="1">
                <a:blip r:embed="rId4"/>
                <a:stretch>
                  <a:fillRect l="-4391" t="-12150" b="-35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40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9" t="47198" r="17120" b="10776"/>
          <a:stretch/>
        </p:blipFill>
        <p:spPr bwMode="auto">
          <a:xfrm>
            <a:off x="1072057" y="993228"/>
            <a:ext cx="10089931" cy="459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461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71315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7745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30183" y="1377458"/>
            <a:ext cx="3716" cy="5480542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" y="18339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84353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7066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" y="1442323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smtClean="0">
                <a:solidFill>
                  <a:prstClr val="black"/>
                </a:solidFill>
              </a:rPr>
              <a:t>Question:</a:t>
            </a:r>
            <a:endParaRPr lang="en-AU" sz="2400" dirty="0" smtClean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48866" y="1465661"/>
                <a:ext cx="10408551" cy="539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Surd Rules: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+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=(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)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−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400" i="1">
                          <a:latin typeface="Cambria Math"/>
                          <a:ea typeface="Cambria Math"/>
                        </a:rPr>
                        <m:t>=(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)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AU" sz="2400" dirty="0" smtClean="0"/>
              </a:p>
              <a:p>
                <a:endParaRPr lang="en-AU" sz="2400" dirty="0" smtClean="0"/>
              </a:p>
              <a:p>
                <a:r>
                  <a:rPr lang="en-AU" sz="2400" dirty="0" smtClean="0"/>
                  <a:t>Example:</a:t>
                </a:r>
              </a:p>
              <a:p>
                <a:r>
                  <a:rPr lang="en-AU" sz="2400" dirty="0" smtClean="0"/>
                  <a:t>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400" i="1">
                        <a:latin typeface="Cambria Math"/>
                      </a:rPr>
                      <m:t>+</m:t>
                    </m:r>
                    <m:r>
                      <a:rPr lang="en-AU" sz="2400" b="0" i="1" smtClean="0">
                        <a:latin typeface="Cambria Math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AU" sz="2400" dirty="0" smtClean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</m:t>
                          </m:r>
                        </m:e>
                      </m:rad>
                      <m:r>
                        <a:rPr lang="en-AU" sz="2400" i="1"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latin typeface="Cambria Math"/>
                        </a:rPr>
                        <m:t>−8+7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sz="24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8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5 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 −8</m:t>
                      </m:r>
                    </m:oMath>
                  </m:oMathPara>
                </a14:m>
                <a:endParaRPr lang="en-AU" sz="2400" dirty="0" smtClean="0">
                  <a:solidFill>
                    <a:srgbClr val="7030A0"/>
                  </a:solidFill>
                </a:endParaRPr>
              </a:p>
              <a:p>
                <a:endParaRPr lang="en-AU" sz="2400" dirty="0">
                  <a:solidFill>
                    <a:srgbClr val="7030A0"/>
                  </a:solidFill>
                </a:endParaRPr>
              </a:p>
              <a:p>
                <a:r>
                  <a:rPr lang="en-AU" sz="2400" dirty="0" smtClean="0">
                    <a:ea typeface="Cambria Math"/>
                  </a:rPr>
                  <a:t>7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−5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12</m:t>
                        </m:r>
                      </m:e>
                    </m:rad>
                    <m:r>
                      <a:rPr lang="en-AU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 −5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3×4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=7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−5×2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400" i="1">
                        <a:latin typeface="Cambria Math"/>
                        <a:ea typeface="Cambria Math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sz="2400" b="0" i="1" smtClean="0">
                        <a:latin typeface="Cambria Math"/>
                        <a:ea typeface="Cambria Math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AU" sz="24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400" b="0" i="0" smtClean="0">
                        <a:latin typeface="Cambria Math"/>
                        <a:ea typeface="Cambria Math"/>
                      </a:rPr>
                      <m:t>=−3</m:t>
                    </m:r>
                    <m:rad>
                      <m:radPr>
                        <m:degHide m:val="on"/>
                        <m:ctrlPr>
                          <a:rPr lang="en-AU" sz="2400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sz="2400" dirty="0" smtClean="0">
                    <a:solidFill>
                      <a:srgbClr val="7030A0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861" y="1465661"/>
                <a:ext cx="10408550" cy="5393015"/>
              </a:xfrm>
              <a:prstGeom prst="rect">
                <a:avLst/>
              </a:prstGeom>
              <a:blipFill rotWithShape="1">
                <a:blip r:embed="rId3"/>
                <a:stretch>
                  <a:fillRect l="-878" t="-9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155327" y="1673151"/>
            <a:ext cx="6917612" cy="289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dirty="0">
                <a:solidFill>
                  <a:srgbClr val="CC00CC"/>
                </a:solidFill>
              </a:rPr>
              <a:t>Because a surd such as </a:t>
            </a:r>
            <a:r>
              <a:rPr lang="en-GB" sz="2800" b="1" dirty="0">
                <a:solidFill>
                  <a:srgbClr val="CC00CC"/>
                </a:solidFill>
                <a:sym typeface="Symbol" pitchFamily="18" charset="2"/>
              </a:rPr>
              <a:t>2 cannot be calculated exactly it can be treated in the same way as an “x” variable in algebra. The following examples will illustrate this </a:t>
            </a:r>
            <a:r>
              <a:rPr lang="en-GB" sz="2800" b="1" dirty="0" smtClean="0">
                <a:solidFill>
                  <a:srgbClr val="CC00CC"/>
                </a:solidFill>
                <a:sym typeface="Symbol" pitchFamily="18" charset="2"/>
              </a:rPr>
              <a:t>point.</a:t>
            </a:r>
          </a:p>
          <a:p>
            <a:pPr eaLnBrk="1" hangingPunct="1">
              <a:spcBef>
                <a:spcPct val="50000"/>
              </a:spcBef>
            </a:pPr>
            <a:r>
              <a:rPr lang="en-GB" sz="2800" b="1" dirty="0" smtClean="0">
                <a:solidFill>
                  <a:srgbClr val="CC00CC"/>
                </a:solidFill>
                <a:sym typeface="Symbol" pitchFamily="18" charset="2"/>
              </a:rPr>
              <a:t> Uses the same process as collecting like terms!!!!</a:t>
            </a:r>
            <a:endParaRPr lang="en-GB" sz="2800" b="1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5" t="26293" r="15788" b="32759"/>
          <a:stretch/>
        </p:blipFill>
        <p:spPr bwMode="auto">
          <a:xfrm>
            <a:off x="1072057" y="646393"/>
            <a:ext cx="8008883" cy="5434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18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7" name="Text Box 3"/>
          <p:cNvSpPr txBox="1">
            <a:spLocks noChangeArrowheads="1"/>
          </p:cNvSpPr>
          <p:nvPr/>
        </p:nvSpPr>
        <p:spPr bwMode="auto">
          <a:xfrm>
            <a:off x="673104" y="463550"/>
            <a:ext cx="10471149" cy="711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000">
                <a:solidFill>
                  <a:srgbClr val="0000FF"/>
                </a:solidFill>
              </a:rPr>
              <a:t>Rules of surds</a:t>
            </a:r>
          </a:p>
        </p:txBody>
      </p:sp>
      <p:graphicFrame>
        <p:nvGraphicFramePr>
          <p:cNvPr id="262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833996"/>
              </p:ext>
            </p:extLst>
          </p:nvPr>
        </p:nvGraphicFramePr>
        <p:xfrm>
          <a:off x="5203430" y="2464329"/>
          <a:ext cx="307763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3" imgW="838080" imgH="457200" progId="Equation.DSMT4">
                  <p:embed/>
                </p:oleObj>
              </mc:Choice>
              <mc:Fallback>
                <p:oleObj name="Equation" r:id="rId3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430" y="2464329"/>
                        <a:ext cx="307763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3556000" y="1500903"/>
            <a:ext cx="30340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</a:rPr>
              <a:t>We can </a:t>
            </a:r>
            <a:r>
              <a:rPr lang="en-GB" sz="2400" b="1" dirty="0">
                <a:solidFill>
                  <a:srgbClr val="3333CC"/>
                </a:solidFill>
              </a:rPr>
              <a:t>divide</a:t>
            </a:r>
            <a:r>
              <a:rPr lang="en-GB" sz="2400" dirty="0">
                <a:solidFill>
                  <a:srgbClr val="000000"/>
                </a:solidFill>
              </a:rPr>
              <a:t> surds</a:t>
            </a:r>
          </a:p>
        </p:txBody>
      </p:sp>
      <p:sp>
        <p:nvSpPr>
          <p:cNvPr id="262150" name="Text Box 6"/>
          <p:cNvSpPr txBox="1">
            <a:spLocks noChangeArrowheads="1"/>
          </p:cNvSpPr>
          <p:nvPr/>
        </p:nvSpPr>
        <p:spPr bwMode="auto">
          <a:xfrm>
            <a:off x="1984585" y="2835011"/>
            <a:ext cx="301836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800">
                <a:solidFill>
                  <a:srgbClr val="009999"/>
                </a:solidFill>
              </a:rPr>
              <a:t>in general</a:t>
            </a:r>
          </a:p>
        </p:txBody>
      </p:sp>
      <p:sp>
        <p:nvSpPr>
          <p:cNvPr id="262151" name="Text Box 7"/>
          <p:cNvSpPr txBox="1">
            <a:spLocks noChangeArrowheads="1"/>
          </p:cNvSpPr>
          <p:nvPr/>
        </p:nvSpPr>
        <p:spPr bwMode="auto">
          <a:xfrm>
            <a:off x="3147489" y="4673606"/>
            <a:ext cx="44246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400">
                <a:solidFill>
                  <a:srgbClr val="000000"/>
                </a:solidFill>
              </a:rPr>
              <a:t>Note that this works </a:t>
            </a:r>
            <a:r>
              <a:rPr lang="en-GB" sz="2400" b="1">
                <a:solidFill>
                  <a:srgbClr val="FF3300"/>
                </a:solidFill>
              </a:rPr>
              <a:t>both</a:t>
            </a:r>
            <a:r>
              <a:rPr lang="en-GB" sz="2400">
                <a:solidFill>
                  <a:srgbClr val="000000"/>
                </a:solidFill>
              </a:rPr>
              <a:t> ways</a:t>
            </a:r>
          </a:p>
        </p:txBody>
      </p:sp>
      <p:sp>
        <p:nvSpPr>
          <p:cNvPr id="262153" name="Rectangle 9"/>
          <p:cNvSpPr>
            <a:spLocks noChangeArrowheads="1"/>
          </p:cNvSpPr>
          <p:nvPr/>
        </p:nvSpPr>
        <p:spPr bwMode="auto">
          <a:xfrm>
            <a:off x="1670056" y="4529138"/>
            <a:ext cx="8477249" cy="20050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sz="2400">
              <a:solidFill>
                <a:srgbClr val="000000"/>
              </a:solidFill>
            </a:endParaRPr>
          </a:p>
        </p:txBody>
      </p:sp>
      <p:graphicFrame>
        <p:nvGraphicFramePr>
          <p:cNvPr id="262154" name="Object 10"/>
          <p:cNvGraphicFramePr>
            <a:graphicFrameLocks noChangeAspect="1"/>
          </p:cNvGraphicFramePr>
          <p:nvPr/>
        </p:nvGraphicFramePr>
        <p:xfrm>
          <a:off x="4341287" y="5199070"/>
          <a:ext cx="29845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5" imgW="812520" imgH="457200" progId="Equation.DSMT4">
                  <p:embed/>
                </p:oleObj>
              </mc:Choice>
              <mc:Fallback>
                <p:oleObj name="Equation" r:id="rId5" imgW="812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287" y="5199070"/>
                        <a:ext cx="29845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73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1" grpId="0"/>
      <p:bldP spid="2621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71315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7745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30183" y="1377458"/>
            <a:ext cx="3716" cy="5480542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" y="18339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84353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7066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" y="1442323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smtClean="0">
                <a:solidFill>
                  <a:prstClr val="black"/>
                </a:solidFill>
              </a:rPr>
              <a:t>Question:</a:t>
            </a:r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8866" y="1465661"/>
            <a:ext cx="10408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Examples: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530183" y="2065825"/>
                <a:ext cx="3561873" cy="9180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55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÷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55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÷5</m:t>
                          </m:r>
                        </m:e>
                      </m:rad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            = </m:t>
                    </m:r>
                    <m:rad>
                      <m:radPr>
                        <m:degHide m:val="on"/>
                        <m:ctrlPr>
                          <a:rPr lang="en-AU" sz="240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11</m:t>
                        </m:r>
                      </m:e>
                    </m:rad>
                  </m:oMath>
                </a14:m>
                <a:endParaRPr lang="en-AU" sz="2400" dirty="0" smtClean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183" y="2065825"/>
                <a:ext cx="3561873" cy="91800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54795" y="3239988"/>
                <a:ext cx="3112647" cy="17554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120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120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÷10</m:t>
                          </m:r>
                        </m:e>
                      </m:rad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 =2</m:t>
                    </m:r>
                    <m:rad>
                      <m:radPr>
                        <m:degHide m:val="on"/>
                        <m:ctrlPr>
                          <a:rPr lang="en-AU" sz="240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AU" sz="2400" dirty="0" smtClean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795" y="3239988"/>
                <a:ext cx="3112647" cy="175548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170377" y="1870377"/>
                <a:ext cx="5495700" cy="475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9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88</m:t>
                              </m:r>
                            </m:e>
                          </m:rad>
                        </m:num>
                        <m:den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99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9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8</m:t>
                              </m:r>
                            </m:e>
                          </m:rad>
                        </m:num>
                        <m:den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9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sz="2400" i="1" dirty="0" smtClean="0">
                  <a:latin typeface="Cambria Math"/>
                  <a:ea typeface="Cambria Math"/>
                </a:endParaRPr>
              </a:p>
              <a:p>
                <a:r>
                  <a:rPr lang="en-AU" sz="2400" b="0" dirty="0" smtClean="0"/>
                  <a:t> </a:t>
                </a:r>
                <a:endParaRPr lang="en-AU" sz="24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    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9</m:t>
                          </m:r>
                          <m:r>
                            <a:rPr lang="en-AU" sz="240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sz="240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en-AU" sz="2400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    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       </m:t>
                      </m:r>
                    </m:oMath>
                  </m:oMathPara>
                </a14:m>
                <a:endParaRPr lang="en-AU" sz="2400" b="0" i="1" dirty="0" smtClean="0">
                  <a:latin typeface="Cambria Math"/>
                </a:endParaRPr>
              </a:p>
              <a:p>
                <a:r>
                  <a:rPr lang="en-AU" sz="2400" b="0" dirty="0" smtClean="0"/>
                  <a:t> 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sz="24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AU" sz="2400" b="0" dirty="0" smtClean="0"/>
              </a:p>
              <a:p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</m:t>
                    </m:r>
                  </m:oMath>
                </a14:m>
                <a:endParaRPr lang="en-AU" sz="2400" dirty="0" smtClean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77" y="1870377"/>
                <a:ext cx="5495700" cy="47543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754795" y="5312699"/>
                <a:ext cx="3877600" cy="172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15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35</m:t>
                              </m:r>
                            </m:e>
                          </m:rad>
                        </m:num>
                        <m:den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=15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÷5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35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÷5</m:t>
                          </m:r>
                        </m:e>
                      </m:rad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=3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e>
                      </m:rad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</m:t>
                    </m:r>
                  </m:oMath>
                </a14:m>
                <a:endParaRPr lang="en-AU" sz="240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795" y="5312699"/>
                <a:ext cx="3877600" cy="172194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01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/>
      <p:bldP spid="16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23060" r="22815" b="43750"/>
          <a:stretch/>
        </p:blipFill>
        <p:spPr bwMode="auto">
          <a:xfrm>
            <a:off x="198950" y="614854"/>
            <a:ext cx="11993055" cy="335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637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71315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7745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30183" y="1377458"/>
            <a:ext cx="3716" cy="5480542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" y="18339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84353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7066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" y="1442323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smtClean="0">
                <a:solidFill>
                  <a:prstClr val="black"/>
                </a:solidFill>
              </a:rPr>
              <a:t>Question:</a:t>
            </a:r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8866" y="1465661"/>
            <a:ext cx="104085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r>
              <a:rPr lang="en-AU" sz="2400" dirty="0" smtClean="0">
                <a:solidFill>
                  <a:prstClr val="black"/>
                </a:solidFill>
              </a:rPr>
              <a:t>Expanding double brackets: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780133"/>
              </p:ext>
            </p:extLst>
          </p:nvPr>
        </p:nvGraphicFramePr>
        <p:xfrm>
          <a:off x="2221020" y="2411109"/>
          <a:ext cx="32178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4" imgW="1091726" imgH="304668" progId="Equation.DSMT4">
                  <p:embed/>
                </p:oleObj>
              </mc:Choice>
              <mc:Fallback>
                <p:oleObj name="Equation" r:id="rId4" imgW="1091726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020" y="2411109"/>
                        <a:ext cx="32178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820917" y="3598805"/>
                <a:ext cx="8565871" cy="1562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2+ </m:t>
                          </m:r>
                          <m:rad>
                            <m:radPr>
                              <m:degHide m:val="on"/>
                              <m:ctrlPr>
                                <a:rPr lang="en-AU" sz="2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8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  <m:r>
                            <a:rPr lang="en-AU" sz="2800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3+ </m:t>
                          </m:r>
                          <m:rad>
                            <m:radPr>
                              <m:degHide m:val="on"/>
                              <m:ctrlPr>
                                <a:rPr lang="en-AU" sz="2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8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  <m:r>
                            <a:rPr lang="en-AU" sz="2800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AU" sz="2800" b="0" i="1" smtClean="0">
                          <a:latin typeface="Cambria Math"/>
                        </a:rPr>
                        <m:t>=6+2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AU" sz="2800" b="0" i="1" smtClean="0">
                          <a:latin typeface="Cambria Math"/>
                        </a:rPr>
                        <m:t>+3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AU" sz="2800" b="0" i="1" smtClean="0">
                          <a:latin typeface="Cambria Math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sz="2800" b="0" dirty="0" smtClean="0">
                  <a:ea typeface="Cambria Math"/>
                </a:endParaRPr>
              </a:p>
              <a:p>
                <a:r>
                  <a:rPr lang="en-AU" sz="2800" dirty="0" smtClean="0"/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                                            = </m:t>
                    </m:r>
                    <m:r>
                      <a:rPr lang="en-AU" sz="2800" i="1">
                        <a:latin typeface="Cambria Math"/>
                      </a:rPr>
                      <m:t>6+2</m:t>
                    </m:r>
                    <m:rad>
                      <m:radPr>
                        <m:degHide m:val="on"/>
                        <m:ctrlPr>
                          <a:rPr lang="en-AU" sz="28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800" i="1">
                        <a:latin typeface="Cambria Math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AU" sz="28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800" i="1">
                        <a:latin typeface="Cambria Math"/>
                      </a:rPr>
                      <m:t>+ </m:t>
                    </m:r>
                  </m:oMath>
                </a14:m>
                <a:r>
                  <a:rPr lang="en-AU" sz="2800" dirty="0" smtClean="0"/>
                  <a:t> </a:t>
                </a:r>
                <a:r>
                  <a:rPr lang="en-AU" sz="2800" dirty="0" smtClean="0"/>
                  <a:t>2</a:t>
                </a:r>
                <a:endParaRPr lang="en-AU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    =8</m:t>
                      </m:r>
                      <m:r>
                        <a:rPr lang="en-AU" sz="2800" i="1"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latin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AU" sz="28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i="1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917" y="3598805"/>
                <a:ext cx="8565871" cy="156292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576" y="1712839"/>
            <a:ext cx="4492625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378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8" t="58836" r="22694" b="19829"/>
          <a:stretch/>
        </p:blipFill>
        <p:spPr bwMode="auto">
          <a:xfrm>
            <a:off x="756750" y="614854"/>
            <a:ext cx="5871303" cy="3610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100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71315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7745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30183" y="1377458"/>
            <a:ext cx="3716" cy="5480542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" y="183398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Surds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84353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7066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" y="1442323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smtClean="0">
                <a:solidFill>
                  <a:prstClr val="black"/>
                </a:solidFill>
              </a:rPr>
              <a:t>Question:</a:t>
            </a:r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8866" y="1465663"/>
            <a:ext cx="10408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Conjugate Pairs:</a:t>
            </a:r>
          </a:p>
          <a:p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30183" y="1966042"/>
            <a:ext cx="54864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dirty="0"/>
              <a:t>Consider the expression below:</a:t>
            </a: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387624"/>
              </p:ext>
            </p:extLst>
          </p:nvPr>
        </p:nvGraphicFramePr>
        <p:xfrm>
          <a:off x="1599324" y="2423242"/>
          <a:ext cx="2743200" cy="47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4" imgW="1041120" imgH="241200" progId="Equation.3">
                  <p:embed/>
                </p:oleObj>
              </mc:Choice>
              <mc:Fallback>
                <p:oleObj name="Equation" r:id="rId4" imgW="10411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24" y="2423242"/>
                        <a:ext cx="2743200" cy="476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1599324" y="2915280"/>
            <a:ext cx="9753600" cy="83099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dirty="0"/>
              <a:t>This is a conjugate pair. The brackets are identical apart from the sign in each bracket .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571537" y="3746276"/>
            <a:ext cx="10363200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dirty="0"/>
              <a:t>Now observe what happens when the brackets are multiplied out: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5"/>
              <p:cNvSpPr txBox="1">
                <a:spLocks noChangeArrowheads="1"/>
              </p:cNvSpPr>
              <p:nvPr/>
            </p:nvSpPr>
            <p:spPr bwMode="auto">
              <a:xfrm>
                <a:off x="4273383" y="5471042"/>
                <a:ext cx="14224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=−33</m:t>
                      </m:r>
                    </m:oMath>
                  </m:oMathPara>
                </a14:m>
                <a:endParaRPr lang="en-GB" sz="2400" dirty="0"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2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3383" y="5471042"/>
                <a:ext cx="1422400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1554707" y="5873601"/>
            <a:ext cx="10566400" cy="83099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dirty="0"/>
              <a:t>When the brackets are multiplied out the surds </a:t>
            </a:r>
            <a:r>
              <a:rPr lang="en-GB" sz="2400" b="1" i="1" dirty="0" smtClean="0">
                <a:solidFill>
                  <a:srgbClr val="FF0000"/>
                </a:solidFill>
              </a:rPr>
              <a:t>ALWAYS</a:t>
            </a:r>
            <a:r>
              <a:rPr lang="en-GB" sz="2400" dirty="0" smtClean="0">
                <a:solidFill>
                  <a:srgbClr val="FF0000"/>
                </a:solidFill>
              </a:rPr>
              <a:t> </a:t>
            </a:r>
            <a:r>
              <a:rPr lang="en-GB" sz="2400" dirty="0" smtClean="0"/>
              <a:t>cancel </a:t>
            </a:r>
            <a:r>
              <a:rPr lang="en-GB" sz="2400" dirty="0"/>
              <a:t>out and we end up seeing that the expression is rational </a:t>
            </a:r>
            <a:r>
              <a:rPr lang="en-GB" sz="2400" dirty="0" smtClean="0"/>
              <a:t>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815194" y="4461641"/>
                <a:ext cx="3071930" cy="534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rad>
                          <m:r>
                            <a:rPr lang="en-AU" sz="2400" b="0" i="1" smtClean="0">
                              <a:latin typeface="Cambria Math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rad>
                          <m:r>
                            <a:rPr lang="en-AU" sz="2400" b="0" i="1" smtClean="0">
                              <a:latin typeface="Cambria Math"/>
                            </a:rPr>
                            <m:t> −6</m:t>
                          </m:r>
                        </m:e>
                      </m:d>
                      <m:r>
                        <a:rPr lang="en-AU" sz="2400" b="0" i="1" smtClean="0">
                          <a:latin typeface="Cambria Math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194" y="4461641"/>
                <a:ext cx="3071930" cy="53482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637456" y="4491270"/>
                <a:ext cx="4010649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−6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+6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 −36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456" y="4491270"/>
                <a:ext cx="4010649" cy="50520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416053" y="5063454"/>
                <a:ext cx="15114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=3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 −36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53" y="5063454"/>
                <a:ext cx="1511439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576" y="1712839"/>
            <a:ext cx="4492625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19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6182" y="436179"/>
            <a:ext cx="9432159" cy="514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5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himmer">
  <a:themeElements>
    <a:clrScheme name="1_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1_Shimmer">
      <a:majorFont>
        <a:latin typeface="Comic Sans MS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D4D4D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D4D4D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1_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5720</TotalTime>
  <Words>765</Words>
  <Application>Microsoft Office PowerPoint</Application>
  <PresentationFormat>Custom</PresentationFormat>
  <Paragraphs>143</Paragraphs>
  <Slides>15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1_Office Theme</vt:lpstr>
      <vt:lpstr>1_Shimmer</vt:lpstr>
      <vt:lpstr>1_Default Design</vt:lpstr>
      <vt:lpstr>Equation</vt:lpstr>
      <vt:lpstr>PowerPoint Presentation</vt:lpstr>
      <vt:lpstr>What is a Surd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PURCELL Laura</cp:lastModifiedBy>
  <cp:revision>138</cp:revision>
  <cp:lastPrinted>2016-03-17T02:47:32Z</cp:lastPrinted>
  <dcterms:created xsi:type="dcterms:W3CDTF">2015-04-20T06:02:45Z</dcterms:created>
  <dcterms:modified xsi:type="dcterms:W3CDTF">2016-03-23T05:07:07Z</dcterms:modified>
</cp:coreProperties>
</file>
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89" r:id="rId2"/>
    <p:sldId id="306" r:id="rId3"/>
    <p:sldId id="326" r:id="rId4"/>
    <p:sldId id="323" r:id="rId5"/>
    <p:sldId id="325" r:id="rId6"/>
    <p:sldId id="328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1FBB1-E461-4EE2-8064-F0C5B06BD487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0EBA9-1C23-4FC6-AAC6-74DECE9A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59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9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83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9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9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2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9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5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1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8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223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87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5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40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04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9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10" Type="http://schemas.openxmlformats.org/officeDocument/2006/relationships/image" Target="../media/image15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759" y="3500278"/>
            <a:ext cx="9446339" cy="10403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tree diagrams?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Constructs and uses tree diagrams to calculate probabilities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b="1" dirty="0">
                <a:solidFill>
                  <a:srgbClr val="00B050"/>
                </a:solidFill>
              </a:rPr>
              <a:t>B grade and above: </a:t>
            </a:r>
            <a:r>
              <a:rPr lang="en-AU" dirty="0"/>
              <a:t>Constructs and uses tree diagrams to calculate probabilities in situations involving replacement and where there is no replacement</a:t>
            </a:r>
          </a:p>
          <a:p>
            <a:pPr>
              <a:buFontTx/>
              <a:buChar char="-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47762" y="1431895"/>
            <a:ext cx="9570332" cy="5170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Tree diagrams are another useful way of listing the sample space of two or more events. Each outcome is represented on a “branch”.</a:t>
            </a:r>
          </a:p>
          <a:p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Branch probabilities are used to describe the chance of each outcome at each step. </a:t>
            </a:r>
          </a:p>
          <a:p>
            <a:pPr lvl="1"/>
            <a:endParaRPr lang="en-A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The probability of each outcome for the experiment is obtained by multiplying the branch probabilities. </a:t>
            </a:r>
          </a:p>
          <a:p>
            <a:pPr lvl="1"/>
            <a:endParaRPr lang="en-A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 Branch probabilities will depend on whether selection is made with or without replacement.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sz="2400" i="1" dirty="0"/>
              <a:t>For with replacement, probabilities do not change.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sz="2400" i="1" dirty="0"/>
              <a:t>For without replacement, probabilities do change.</a:t>
            </a:r>
            <a:endParaRPr lang="en-US" sz="2400" i="1" dirty="0"/>
          </a:p>
          <a:p>
            <a:endParaRPr lang="en-AU" sz="2000" dirty="0"/>
          </a:p>
          <a:p>
            <a:pPr algn="ctr"/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11/06/2018</a:t>
            </a:r>
          </a:p>
        </p:txBody>
      </p:sp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47762" y="1320485"/>
            <a:ext cx="8364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Example – With Replacement</a:t>
            </a:r>
          </a:p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466" y="2847473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11/06/2018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AB817-B741-49E4-88E8-BC5872D6D322}"/>
                  </a:ext>
                </a:extLst>
              </p:cNvPr>
              <p:cNvSpPr txBox="1"/>
              <p:nvPr/>
            </p:nvSpPr>
            <p:spPr>
              <a:xfrm>
                <a:off x="5592687" y="2730823"/>
                <a:ext cx="6125412" cy="2547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There are four outcomes</a:t>
                </a:r>
              </a:p>
              <a:p>
                <a:r>
                  <a:rPr lang="en-AU" sz="2400" dirty="0"/>
                  <a:t>Heads then Heads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  <a:p>
                <a:r>
                  <a:rPr lang="en-AU" sz="2400" dirty="0"/>
                  <a:t>Heads then Tails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 </a:t>
                </a:r>
              </a:p>
              <a:p>
                <a:r>
                  <a:rPr lang="en-AU" sz="2400" dirty="0"/>
                  <a:t>Tails then Heads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  <a:p>
                <a:r>
                  <a:rPr lang="en-AU" sz="2400" dirty="0"/>
                  <a:t>Tails then Tails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AB817-B741-49E4-88E8-BC5872D6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687" y="2730823"/>
                <a:ext cx="6125412" cy="2547877"/>
              </a:xfrm>
              <a:prstGeom prst="rect">
                <a:avLst/>
              </a:prstGeom>
              <a:blipFill>
                <a:blip r:embed="rId4"/>
                <a:stretch>
                  <a:fillRect l="-1493" t="-1914" b="-11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22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2" y="1642403"/>
            <a:ext cx="2186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combined events?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0D4083-DD38-4F89-BD85-222739106B98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11/06/2018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81CE03-89B7-4F63-91F1-A2B7D12B7C3A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D663E-C875-45B7-BEAA-7225D2327965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9BC6B5-D95F-4B4D-AE49-42B69FF4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4B34AB-6C47-4ACF-A0FE-98A1038A758A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4B34AB-6C47-4ACF-A0FE-98A1038A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C63B894-BA28-4B51-B560-0616E61C9561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DEEC5F-0A3F-479F-8549-870439B659D4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DEEC5F-0A3F-479F-8549-870439B65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A34361-845D-400F-B5F4-6B86C9E3B0F9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A34361-845D-400F-B5F4-6B86C9E3B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CB322-04A4-4F5F-86A0-B1F8308E6A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CB322-04A4-4F5F-86A0-B1F8308E6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0B59FD-47B6-4479-B975-62DEBDB51920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0B59FD-47B6-4479-B975-62DEBDB51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45ADEE-0658-4843-A4A9-94A1B49AC38B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45ADEE-0658-4843-A4A9-94A1B49AC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A112145-9C13-451A-ADF1-DDDA97DFDD07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4C62D-A66D-4AFC-8BFC-EE717FDD5497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4C62D-A66D-4AFC-8BFC-EE717FDD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you calculate the probability from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8339064" y="1495973"/>
            <a:ext cx="61254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u="sng" dirty="0"/>
              <a:t>We know these are the 4 outcomes</a:t>
            </a:r>
          </a:p>
          <a:p>
            <a:r>
              <a:rPr lang="en-AU" dirty="0"/>
              <a:t>Heads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Heads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758368-BB5D-49CC-A1DF-CC3B71358CBC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D00B985-89E0-4CDC-A129-34E3C737FF29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78FEB1A-B37A-477A-99A3-364B444471F6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28/05/2018</a:t>
            </a:r>
          </a:p>
        </p:txBody>
      </p:sp>
    </p:spTree>
    <p:extLst>
      <p:ext uri="{BB962C8B-B14F-4D97-AF65-F5344CB8AC3E}">
        <p14:creationId xmlns:p14="http://schemas.microsoft.com/office/powerpoint/2010/main" val="41190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Tree Diagram Introduction Activity Worksheet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Dwyer Year 10 Text, Exercise 8.1, Questions 1-4, p.104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37FC4A-8E58-4077-80E5-ABF472D1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52</TotalTime>
  <Words>522</Words>
  <Application>Microsoft Office PowerPoint</Application>
  <PresentationFormat>Widescreen</PresentationFormat>
  <Paragraphs>102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BSC Theme</vt:lpstr>
      <vt:lpstr>Probability</vt:lpstr>
      <vt:lpstr>Lesson objective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Magdeline Lum</cp:lastModifiedBy>
  <cp:revision>6</cp:revision>
  <dcterms:created xsi:type="dcterms:W3CDTF">2018-06-02T10:27:40Z</dcterms:created>
  <dcterms:modified xsi:type="dcterms:W3CDTF">2018-06-10T11:30:24Z</dcterms:modified>
</cp:coreProperties>
</file>
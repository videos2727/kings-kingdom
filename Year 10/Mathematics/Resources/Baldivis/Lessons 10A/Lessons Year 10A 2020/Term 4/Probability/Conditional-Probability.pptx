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4"/>
  </p:notesMasterIdLst>
  <p:sldIdLst>
    <p:sldId id="280" r:id="rId2"/>
    <p:sldId id="281" r:id="rId3"/>
    <p:sldId id="310" r:id="rId4"/>
    <p:sldId id="313" r:id="rId5"/>
    <p:sldId id="314" r:id="rId6"/>
    <p:sldId id="315" r:id="rId7"/>
    <p:sldId id="257" r:id="rId8"/>
    <p:sldId id="293" r:id="rId9"/>
    <p:sldId id="316" r:id="rId10"/>
    <p:sldId id="294" r:id="rId11"/>
    <p:sldId id="278" r:id="rId12"/>
    <p:sldId id="284" r:id="rId13"/>
    <p:sldId id="295" r:id="rId14"/>
    <p:sldId id="297" r:id="rId15"/>
    <p:sldId id="30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3" r:id="rId29"/>
    <p:sldId id="272" r:id="rId30"/>
    <p:sldId id="274" r:id="rId31"/>
    <p:sldId id="275" r:id="rId32"/>
    <p:sldId id="27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6:25.127"/>
    </inkml:context>
    <inkml:brush xml:id="br0">
      <inkml:brushProperty name="width" value="0.53333" units="cm"/>
      <inkml:brushProperty name="height" value="1.06667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2932 302 116,'-7'-20'44,"4"17"-24,0 3-15,0 0 11,-1 0-3,1 0 2,-4-3-4,0 0-1,-6 0-6,-4 0-1,-2-6 1,-5 3-2,1-3-2,-4-3 5,0 0 1,-6 3 4,0 0 1,-3-9 3,-5 4 2,1-1-5,-3 3 1,-10-6-7,-1 1-1,5-1 0,-1 3 0,-4 3 2,4 1 1,-3-1-1,0 3 1,-1 0 0,-9 3 1,6 0-2,1 3 1,3 3 0,-7 0 1,3 0-4,-3 3-3,0 0 0,0 3-1,-3 0 2,7 6 1,-1 0-1,6 8 1,2 1 0,-4 0 1,-1-1-5,1-2-1,3-3 3,-3 2 1,-4-2 0,3 3-2,5 0 1,2 6 1,0 3 1,1-1 1,3 1-2,2-1-2,2 4 1,-5-1-1,7-2-3,4 9 0,-3 2 2,-4-2 0,3-4 1,0 1 0,7-4 2,0 4 1,4 6-1,-1-4-2,4-2 1,0 2-1,2 0 0,-2 1 0,4 6-3,1 8 2,6-6 3,-2-2 1,4-4-4,4 7-1,-1-7 3,3 7 1,1-1 2,3 3 0,0-2-2,0 11 1,0-3-2,7-6-1,6-2-2,-7-3 1,1-4 3,7 6 1,-1 1-1,1-4-2,-2 1 3,2-1 2,-1 4 0,4 2 2,-1-3-2,1-2 0,-4-3-6,24 2 1,-7-6 0,3-5 2,-3 11 1,4-5 3,-1-3-1,1-4 0,2-2-3,0-1-2,1 1 3,3-4 0,-3 1-1,-1-3-2,11-3 1,0 9 1,-4 2-1,3-5-1,-2-6-2,-1-4 1,8-2 1,-5 0 2,-3 0-1,0 0 2,1-4-7,9 1-1,-3 0 2,0 0 1,0-3 4,-3-3 1,3 3-1,-4-3-2,1 0 1,-1 0 1,-2 0-1,5-3-1,5 3 1,0-3 1,-1 0-1,-4-3-1,2 3 3,-1-6 0,-4 0-1,-3 0 1,1 0 0,-5-3 1,9 3 0,5 0 0,3 0-2,-3-3-2,1-8-2,3 2 1,-8 0 1,-2-5 0,-4 2-3,-2 0 2,1-2 1,6-1 2,-6-3-1,2 3-1,-1 0 1,0 1-1,-2 2 0,-2-6 0,1-2 0,-3 2 2,-3 1-1,-1-1 2,-3 0-4,0-6 0,-7 3 1,7-5 0,3-6 4,-6 2 2,-1 1-5,-2-4-2,-1-3 2,-3 7 1,0-9 0,0 3-2,-3-1-4,-1 3-2,1-8 3,-4-3 1,1 2 2,-4 1 2,-1-1-3,-2 4 0,0-15 1,0 12 0,-4 5 0,0 3 0,-3 1-3,0-6 2,-3-6 1,0 5 2,-4 0-1,0 1-1,-3 3-2,1-1-1,-5 4-1,1-4 3,-1 4 2,-2 5 2,-1-2-1,1 2-2,-8-2 1,-6-4-1,3 0 0,4 4 2,0 0-1,3 2-1,-4 4 3,1-1 0,3 0-1,0 3 1,-10-5-4,-3 2-2,3 7-3,-3-1-1,-4 3-3,0 1 1,-6-1-8,0 0-2,3 3-28,3 6-11,4 0-74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6:45.264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2923 462 80,'0'-3'30,"0"0"-16,0-15-17,0 15 6,0-3 8,3 3 5,-3-3 3,0 4 1,0-1 2,0 0 3,0-3-4,0 3-3,0 0-10,0-3-3,-3 0 1,-10 0-3,-7 0-2,3-3 2,1 4 0,-1-1 1,1-3 2,-5 3 3,1-3 0,1 0 0,-8 3-3,-3 0-1,0-9-1,0 0 2,-3-3-3,-4 1 0,0 2 3,-3 0 3,1 3-2,-2 0 1,5 4-3,-1 2 0,4 0-6,0 0 1,-7 0-2,3 0 0,0 0 4,-2 3 1,-2 0 1,1 0 0,-3 0 2,0 3 3,3 0-2,0 3 1,3 0-5,0 0-2,1 0 2,-4 0 0,3-3-4,0 3 1,-2 0 2,-1 0 1,3 0-4,-3 3-1,-3 0 3,3 6 1,3-4-3,4 7 1,0-3 0,0 0 2,-1 0-1,-3-4-1,4 4-2,-4 0 1,7 0 1,0-3 2,0 0-3,0 3 0,0 0 3,-3 0 1,0 0 1,3-1 0,0-2-2,0 0-2,3 0 1,0 6 1,1-4-1,3 1 2,-4 3 0,1 0 1,-1-3 0,3-1 0,1 1-2,0 0 1,0 0-2,-1 0-1,1 0 1,3 0 1,0 3-3,0-3 0,0 2 3,-3-2 1,-4 3-1,3 0 1,5 2-2,2 7 2,-3 2-4,0-5 0,3 0 1,1 0 2,2-3-3,1 3 0,0-1 1,0-2 0,2 3 0,1-4 0,1 4 2,2 2 1,-3-2-1,3 0-2,-3 0 1,0 0-1,0 0 0,4-1 0,-4 1 0,-1 0 2,2 2-1,2-5-1,0 8 1,0 7-1,1-9 0,-1 3 2,1-4-1,-1-2-1,0 0 1,4-4-1,0 1 0,-1 0 0,1 5 0,0 4 2,-1-3-1,4-3 2,0 0-2,0-1 2,0 1-2,0 3 2,0-4-4,0 1 0,0-1 1,0 4 0,4 3 2,-1 3 1,0 0-1,4-4-2,-1 1 3,-2-4 0,-1-5-1,4 2-2,3 1 1,0 6-1,-3-3 0,-1 3 2,7-4-1,-2-2-1,-1 0-2,-1-1 1,1 1 1,1 2 2,-2-2-3,1 0 0,1 6 3,2 9 3,0-10-2,4-2-2,-4-1 0,0-2-1,8-3 0,5 2 2,1-2-1,-4 0-1,-3 0-2,4 6 1,-1 2 3,0-2 3,0-3-4,1-1-3,-1 1 1,4 0 0,-4-1 1,3 1 0,-2 0 0,-1-3 2,-3 0-1,0 0 2,0 11-2,3 0-1,-3-2 1,1-9 1,5 2-3,4-2 0,-3-3-1,-4-3 0,0 0 4,1-3 1,2 3-1,1-3-2,-4 3 1,0-7 1,1 1-3,3 3 0,-1 0 1,1-3 2,-1 0-1,-3 0-1,1 0 1,3 0-1,-4-1 0,0 4 2,14 0-3,-7-3 0,0 0 1,0 6 2,0-3-3,0-4 0,0 1 1,0 0 2,3-6-1,1 0-1,-4 0 1,-4-3-1,4 0 0,-3 0 0,-1 0-3,1 0 2,6 1 1,4 2 0,-4 0 0,1-3 2,-1 0-3,0 3 0,0-9-1,1 0 0,2 6 0,5-3 0,-8 3 4,0-3 1,-3 3-4,0-3 1,0 1 2,6-4 1,5 0-4,-5 0 1,-2 0 0,-1-3 2,0 4-3,0-4 0,-3 3 1,3-3 2,-3 0-3,4-9 0,-4 3 3,-4-6 1,-2 4-1,-1-1-2,1 3 1,-5 1-1,2-7 0,5 4 2,4-1 1,-3 3 3,-1 0-3,-3 0-2,1 0 0,0-2-1,-5-7-3,1 3 2,-3 4 1,-1-1 0,2-2 2,-6 5 3,2-3-4,-1 3-1,1-9 2,-1 3 3,7-5-2,-4 2-2,-2 1 0,-1-1-1,1 1-3,-4-4 0,-1 3 2,2 3 0,-5-2 1,4-1 2,-3 1-3,3 2 0,0 3 1,-4-5 0,1 5 0,0 0 2,0-3-3,-1 3 0,1-5-1,-1-6 0,1 2-3,-3 1 1,2-1 2,1 0 3,-4 3 0,11-2-1,-5 5 1,-2-2 1,0-7-3,-4 7-2,1-1 2,-4 3 2,3 3-2,-3-3 0,3 4 1,0-1 2,-3-9-1,0-2-1,0 6 1,0-1-1,0 0 0,0-3 0,-3-2 0,3 2 0,0-2-3,-10-1 2,3 1 1,-3 2 2,4 0-1,-4 3-1,3 1 1,-3-4-1,-3 4 0,-1-7 0,5-2-3,-5 2 2,1 0 1,-1 4 0,1-4 0,-7 4 2,4 2-3,-5-2 0,2-1-1,-1-6 0,-1 9 2,-2 1 0,0-1-3,0 4 2,-4-1-4,-9-2 1,-12-7-14,6-6-5,-5 1-4,-3 2-1,-3 1-9,-4-1-1,-6 4-62,0-16-50,-4-2 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03.954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4944 242 96,'-3'-6'38,"6"6"-20,-3-5-6,3 2 13,-3 3-11,0 0-3,-3-3-5,0 0-1,-1 0-3,-3 0 3,-2 0 1,-1 0-2,-4-3-3,1-3 4,-1 0 1,-5 3 2,-8 1 0,1-7 2,-4 0 1,-4 3-1,-3-9 1,-6 6-4,-4 0 1,1 0-1,-1 0 1,1 3-7,-5 1 0,2 2-3,-4 0 0,-1-3 4,-6 3 3,-7 0 2,7 0 3,3 3-1,-6 0 0,3 0-3,-3 0-1,-1 0-6,-9-2-1,3 2 3,4 0 1,-5 0 0,2 3-2,-1 0-2,-4 0 1,-2 0 1,2 0 2,5 0-1,-1 0-1,-4 0 1,1 0-1,0 0 4,-7 0 2,3 0-5,4 0-2,-1 0 0,-2 3 2,3 3 0,3-1 2,-7 1-2,7 0 2,4 3-2,-1 6-1,0 0 1,4-4 1,0 10-3,3-6 0,-7 3-1,7-3 0,0 0 4,7 0 1,7-1-4,-5 4 1,1-3 0,3 0 2,4 5-3,3-2 0,0 5-6,3 1 0,-3-3 12,-3 3 8,6 0-4,4-1-2,-1 1-7,5-3 0,-1 2 0,3 4 2,4 2-1,-10-2-1,3 0 1,3-3 1,0-4-1,1 1 2,-4-3-2,3-1 2,3 1-2,1 0-1,0 3 1,-3-1-1,2 1 0,-3 0 0,1-3 0,-4 6 2,6-1 3,1 1 2,3-1-3,-3 1-1,3 0-1,0 2 1,0-2 0,-3 12 3,0-4-3,2-2-2,1-1 2,1-5 0,1 0 1,2-1 0,-1-5-2,1 18 1,-1-6 0,4-4 1,-1 4-2,5-1-2,-2 1-2,1-1 1,4-2-1,-1 12 0,4-2 4,-1 2 1,4-7-1,0 1-2,0 0 1,0-4 1,7 10-1,0-4-1,-1-3-2,4 1 1,1 3-1,-2-3 0,5 2 2,-1 12 2,0-3-1,1-8-1,6-3 1,3 0-1,-3-4-3,0 1 2,0 2 1,0 0 0,3-2-3,1 0 2,-1-3 1,10 2 0,4 4 0,0-4 2,-1 1-1,0 17-1,1-11 1,0-3-1,0-4 0,-1-2 2,1-7-1,3 1-1,-3-3 1,-1-1-1,4-2 0,4-3 2,-1 6-1,0 6 2,0-6-2,1 0-1,2-4-2,1-2 1,-4 0-4,1 0 1,-1-1 4,3-2 2,8 0-3,-1 3 1,1-3-2,0 3 0,2-1 2,4 1 0,-7-3 0,0 3 2,11-3-1,-4 0-1,3 0-2,-3-3-1,3 0 2,-3 6 0,0 0 1,-3-3 0,3-1 0,3-2 2,-3 0-1,3-3-1,-3 0 1,4-3 1,-8 0-3,-3 0 0,-2 0 3,2 0 1,3 0-4,1-6 1,-4 0 0,1 0 2,-4 1-1,3 2-1,-3 0 1,-4-3-1,-2 0 0,2 0 2,7-3-1,-2 3-1,-1-3 1,-1 0-1,-2 3 0,0-3 0,3 0 0,-7 0 0,-3 0 0,0-3 0,-4-2-3,8 2 2,2 0 3,1 0 1,0 3-4,0 1 1,-4-1 0,0-3 0,3-3 0,2-2 2,-8 2 1,0 0 1,-3 0-2,2 0-2,9 3 1,-2-3 1,-3 0-1,0 1-1,-3 5 1,1-6 1,1 0-1,-5-5-1,0-7 1,-3 4-1,-1-1-3,0 3 2,3-3 3,5-3 1,-1 4-4,-4-1 1,1 1 0,-1-7 2,-2-2 1,-4 5 1,0-3-2,3 6 1,-3-5-2,-7 2-1,4-2 1,-4-16-1,1 4 0,-4 2 0,-1-3 0,2-2 0,-5 0 0,11 0 0,-1 2 0,-2 0 0,-4 4 0,-4-9 0,1-3 0,-4 2 2,1-3-1,-4 4-1,-1 4-2,2-5-1,-1 1 6,-4 0 3,1 5-6,0 1-1,0-4 0,-1-2 0,-3-1-2,0 1 2,1 3-1,-4 2-2,0 1 3,0-7 0,-4 7 1,1 0 0,-3 5 0,-1 0 0,-3-5 0,0-3 0,-3 2-3,-1 1 0,-9 2-1,-7 0 3,3 4 0,1-3 1,-4-1-3,-3 7 2,-4-1-1,-6 3 0,-8 4 2,-2-1 0,-10 4-5,-4-10 1,1 4 0,3-4 2,-11 3-6,1 3 1,0 1-30,-14-1-11,7 4-79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19.478"/>
    </inkml:context>
    <inkml:brush xml:id="br0">
      <inkml:brushProperty name="width" value="0.53333" units="cm"/>
      <inkml:brushProperty name="height" value="1.06667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988 30 168,'3'-11'63,"0"8"-34,15 0-23,-12 0 15,0 0-13,-2 0-2,-1 0 0,1 3 3,-1 0-4,-3 0 6,0 0 4,0 0-5,-7 0-1,0 3-1,-5 3 2,-2 3-1,1 2 0,-1 1-1,1 0 0,-4 0-2,4 0-1,-4 8-6,1 4 1,-1 2 4,1-5 2,-5 3-5,-2 0 0,0 0 1,0-4 3,-1 1 0,1 6 0,0 2-3,0-2-2,-1-1 1,4 1-1,0 3 0,0 0 2,-4-1-1,-6 9-1,4-2 1,-1-1 1,1-2-3,-1 0 0,4-4 1,-1 1 0,1-4 0,0 7 0,3-1 0,-4 1 0,5 0 0,-1 0 0,3 2 0,-3-3 2,0-2-1,0 14 2,4-5-2,-2-3-1,2-4-2,-1 1 1,4-4 1,-1 6 2,5-5-3,-1 6 0,-1 0-1,5-1 0,0 0 4,-1-2 1,-3-1-1,0 4-2,3 9-2,0-7 1,4-5 3,0 2 1,6-3-6,0 4 0,4 3 1,0-4 1,-1 1 1,1-4 0,0 1 0,0-1 0,-1 1-3,0 3 2,1 5 3,0-3 1,0-2-4,2-4 1,2 1 0,2 3 2,0-4-1,1 4-1,-5-4 1,5-2-1,-4 2 2,7 1 1,-4-3-1,4 0-2,-1 2 1,1 6-1,-1-2 0,5-10 0,-1 4 0,-4-6 0,8 6 0,-4-4 2,6-5-1,-3-1 2,4 4-2,3 6-1,-6-7 1,-1-2 1,-4 0-3,5 0 0,-4 0 1,0-1 0,0-2 0,0 0 2,-4-1-3,2-2 0,1 0 1,-2-3 2,-4-4-1,4 1 2,0 3-4,-7-3 0,3 0 1,-3-3 2,-3 3-1,-1-6-1,-3 0 1,-3-3 1,4 6-1,2-3-1,-6-3-2,0 0 1,0 0 3,0 0 3,0 0-2,0 0 0,0 0 3,0 0 3,0 0-4,0 0-1,0-6 2,0 0-5,0 0-1,0 0 0,0 0 2,0 0-3,0 0-2,0-6-1,-3 3 3,3-2 0,0-1 3,-3 0-1,6 0-1,0-3 1,1 4 1,-1-4-3,1 0-2,2-3-1,1 1 3,3-4-2,0 0-1,0 0 0,3 0 3,0 1 2,1-1 2,5 3-4,-1-2 1,5 2 0,-4-9 0,2-5 0,-5 2 0,1 0-3,0 1 0,2-4-1,2 4 3,-1-1 0,-4-2 1,1 5-3,-1-6 2,1 3 1,3 4 0,3-1 0,-2-2 0,-5 2 0,1 4 2,3-10-1,-4-6-1,5 7-2,-8-1 1,4 1 1,-1-1 0,1 4-3,-4 2 2,7-3 1,0 0 0,0 1 0,0-1 2,-3 1 1,-4-1 1,0 1-2,1-4 1,-5-6-4,2 4 0,-1-1-1,-1 1 0,-2 0 4,0-1 1,0-3-1,-4 1 1,0 5-2,0 1-1,-3-1 1,0 1 1,0 2-3,0-6-2,-3-5 2,0 3 2,0-1 0,-1 1-1,-2-1 1,-1 3-1,-3-5 4,0 3 2,3 2-2,-3 4-3,-3-1 0,-1 0 1,-2 4-1,-1-7-1,1-2 1,-1 2 1,-3 4-3,0-1 0,3 0-1,-3 4 0,4-13 0,-1 13 0,-6-3 2,-7 2 2,3 3-1,1 3 2,-1 3-4,0 1 0,-3-4-6,0 6-3,-3 1-3,-3-4-2,-1-5-8,3 5 0,-3-6-30,1 3-13,6-3-40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39.024"/>
    </inkml:context>
    <inkml:brush xml:id="br0">
      <inkml:brushProperty name="width" value="0.53333" units="cm"/>
      <inkml:brushProperty name="height" value="1.06667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3020 290 64,'-3'-3'24,"-1"3"-12,-2 0-3,2 0 9,1 0-2,-3-3 1,-1 0-7,-3 0-2,0 0 0,0-3 2,-4 0 4,-2 0 1,-7 1 0,-1-1 4,1 0-11,-4 0-2,1-3-2,-4 0 0,0 0 0,-4-8 0,-6-4 0,4 9 0,3-5 0,-1-1 2,-3 6 1,7 3-1,-3-3 1,0 3-2,-1 0 2,1 0-6,0 0-3,-3 0 1,2 0 2,-3 1 2,-3 2 1,4 0 0,3 0 2,-1 3-1,1 0 0,3 0-3,0 3 1,0 0-4,-3 0 0,-1 0 1,4 0 0,-3 0 0,-1 3 2,1 0-3,3 0 0,-3 0 1,-7 0 2,3 0 1,4 0 1,3 0 0,0 2 0,4 1-5,-1 0 1,-3-3 0,0 0 2,0 3-1,0-3-1,0 0 1,0 3-1,0-3 2,0 0 1,4 0-1,-4 6-2,-4 0 1,4 0 1,0 3 1,4 0 3,-1-3-5,0-1-1,0-2 2,1 0 3,-1 6-2,1-3-2,-1 0 0,4-3 1,-1 3-3,4-4-2,-3 4 2,3-3 2,0 3 0,0 0-1,0-3 1,0 0-1,4 0-3,-1 2 2,-3-2 1,0 3 2,0 0 3,0 0 4,3 3-2,1 6-2,2-3 0,-2 0-1,2-1-2,-2-2-2,2 3 1,1-3 1,-1 3-1,2-4-1,1 4 1,-2 0-1,3 0 2,-4 5 1,2-5 1,-2 6 0,1 0-2,-1 3-2,1-4 1,0 1 1,-1-3-1,1-1-1,0-2 5,0 3 1,-1-1-2,1 1-1,0 0-1,-1-3 1,1 6-4,3 3 0,0-4 1,0-2 2,0 0-3,0 0 0,0 2 1,0 1 2,-3-1-3,3 4 0,-1-3 1,5 9 0,-7 0 0,2-1 0,2 1 0,2-7 0,0 1 0,0-4 0,4 1 0,0 0 0,-3 0 0,6 0 2,-4 5-1,4-2 2,0-3-2,0-1 2,4 1-4,2 2 0,0 1 3,1 0 1,0-3-4,3 3-1,0 8 1,0 1 0,0-4 1,0-2 0,0-1 0,0-2 0,0-3 0,4 3 0,-2-3 0,2-4 0,2 7 0,1-3 0,0 2 0,0-2 0,3-1-3,-4 1 2,4-3 3,3 3 1,-6 0-1,3 0-2,0-1-2,0-2 1,0 6 1,-4-1 0,2 4 0,-2-4 0,7-2 0,4 0 0,0-3 0,0 0 2,-1 0-3,1-1 0,-4 1 1,3-3 0,-2-1 2,-1 7 1,4 0-4,3-1-1,-4 1 3,4-3 1,-3 3-3,-1-3 1,1 3-2,-3-4-2,6 4 3,3-3 2,-3 2 0,0-2 2,3 5-2,0 4-1,1 3-2,-1-6 1,0-3 1,4-4 2,-3 1-1,-4 0-1,0-1 1,0-5 1,0 6-3,0-6 0,6-3-1,0 2 0,1 7 2,0-3 0,0-3 0,-1 6 2,4-3-3,-3-3 0,3-3-1,-4 2 0,-3-2 2,1 0 0,-1 0 0,14 3 2,0-1-3,-7 1-2,-4 0 4,1 0 1,-4-3-3,0 0 1,-3-1 0,0 1 2,0-3-3,-3 0 0,3 0 1,-4 0 2,-2 0-1,-4-3 2,0 0-4,0 0 0,-3 0 1,-1 0 0,1 0-3,-1 3 2,8-3-1,3 0 0,-1 0 2,-6 0 0,0 3-3,0-3 2,0 0 1,-3 0 0,-1 0 0,1 0 0,0 6 0,-4-4 2,0 4-1,-2-12-1,-2 9-2,1-3 1,-3 0 1,0 0 2,-7-3-1,0 0-1,6 0 1,-6 0 1,0 0-3,0 0 0,0 0-1,0 0 0,0 0 2,0 0 0,0 0 0,0 0 0,0 0 0,0 0 0,-3 3 0,0-3 2,0 0-1,-1 0 2,1 0-4,-1 0 0,1 0 1,-1 0 0,1-9 2,0 0 1,0 3-1,0 1-2,-1-1 1,1 3-1,-1 0-3,1 0 2,-1 0 1,1 0 2,0 0-1,0-3 2,0 3-4,-1 0 0,1 0-1,-1 0 0,1 0 2,-1 0 2,1-3-1,0 3-1,0 0 1,0 0 1,-1-3-3,1 3-2,-1 0 2,1 0 0,3 0 1,-4 0 2,4 0-1,-3 0-1,3 0 1,-3 0-1,0 0 0,0 0 0,-1 0 0,1 0 2,-1-2-1,1-1 2,-1 3-2,1-3 2,-3 0-2,-4 0 2,-1 0-2,2 0-1,2 0-2,-10-3-1,1 1 2,-4-1 0,6-3 3,1-6-1,-4 4-1,4 2 1,0-3 1,-4 0-1,4 0-1,-1 0 3,1-3 0,3 0-1,-6 4 1,-1-1-2,4-12 2,-1-5-2,1 3 2,3-1 0,0 0 1,0-6-5,0 7 1,0-1 0,0-2 2,0-4-1,3 4 2,0-1-2,1 3-1,0-2 1,-1 2-1,0-14-3,0 3 0,1 2 4,3 0 1,-1 1 0,1 0-2,-1-1 1,4-2-1,0 8 0,0-3 0,4 4 0,-1-1 0,1 1 0,-1-4 2,3-5-3,1 2 0,0 1 1,0 2 0,2 1 4,1 2 2,1 4-2,-2-4-3,1 0 0,4 1 1,-1 2-6,4 4 1,-4-4 1,4 4 3,-4 2-2,0-9 0,0 6 1,1-5 0,2-1 0,-2 4 0,-1-1 0,1 1 2,-1-4-3,0 6 0,7 6 1,4-2 0,2-7 2,-6 4 3,0 2-7,0 1-3,0 2 5,0 0 4,-3 0-2,2 0-1,2-6-5,-5-5 0,1 3 4,0 5 2,2 0-3,2 1-1,-1-1 1,-1 0 0,2 3 1,-1 0 2,-4 1-3,1 2 0,-1-3 1,1 4 0,0-7 2,0 6 1,-4 1-6,0-1 0,3 0 1,2 3 3,1 0-2,1 0 0,-3 6 1,-1-2 2,-2-1-3,-1 3 0,1 0 1,-1 0 2,0 3-1,1-2-1,-5 2 1,2-9 1,-1-6 3,-4 6-7,1 13 2,0-1-1,-4-9-2,0 3 0,-3 3 2,0 0 0,0 3 1,0 0-7,0 3 0,-3 0-10,0 21-33,-1-3-2,4-1-79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7:56.049"/>
    </inkml:context>
    <inkml:brush xml:id="br0">
      <inkml:brushProperty name="width" value="0.53333" units="cm"/>
      <inkml:brushProperty name="height" value="1.06667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138-11 68,'-3'0'27,"3"0"-14,0 0-9,0 0 8,0 0 6,0 0 6,0 0 2,0 0 4,0 0-10,0 0-2,3 0-6,0 0 0,4 0-7,7-2-1,-2 2 0,9 0-5,-1 0-1,-1 0 1,5 0 0,3 0-2,-1 0 2,4 2 1,7 1 2,-1 0 1,1 3 3,3 0-1,0 0 2,0 3-4,4 0-2,-2 0 0,-1 3 1,-5-3-1,1 0-1,9 0-2,-2 0 1,-1 0 1,1-1 0,-5 1 0,1 0 2,4 0-1,-1 6 2,-3 5-2,0-2 2,-7-3-2,0-1-1,-3-2 3,0 0 2,3 0 0,4 0 0,-7 0-3,0 0 1,0-3-2,-3 0 2,-1 3-2,1 0 2,0-1-4,-4 1-2,4 3 2,3 0 2,-4 2 0,-2-2-1,-4 0 1,0-1-1,-4-2 0,5 3 2,-5 0 1,4 0 3,0 0-1,7 3 0,3 0-6,0 2 1,0-2 0,0 5 0,0-2 0,3 6 2,-3-4-1,-4 1-1,4-3 1,0 0-1,0 0 0,-3-4 0,-1 1 0,1 3 2,-3 2-1,-1 1 2,0-1 0,4 1 1,3 0 0,-4 0 0,-2 0-5,-1-1 1,-3 1 0,0-3 0,0 2 0,-3 4 0,0 5 0,-1-5 0,1 0 4,-4 3 5,1-4-3,-2-2-1,2-4-5,-4 7-2,0 2 1,0 1 0,-3-3 1,-1 0 2,1-3-3,3-1 0,0 7 5,-4-4 2,1 1-2,0 5-3,-3 4 2,-1-3 0,-3-7-1,6 1 1,-6-1-2,0-2 2,0-3-2,0-1 2,-3 1-2,3 6 2,0 0-4,0-3 0,-6-1-1,6 1 0,-7-1 2,3 1 2,-3-1 3,4 1 2,0-3-3,-3 12-1,2 2-1,-3-2-2,0-10-2,1 1 1,0 0 1,-1-1 2,0 1-1,-3-6-1,0 0 3,0 15 0,3-10-1,-2 4-2,-2-4 1,-2 1 1,0-1-1,-1 1 2,1 0-4,0 0 0,-7 0 1,3 5 2,-3 7-1,0-10-1,0 1 1,4-7-1,-1 1 2,0 3 1,1-3-4,-1-3 1,1 2 2,-2-2 3,6 3-4,-2-4-1,-2 4 0,-8 0 2,4-4 1,0-2 1,3 0-5,-3 0-1,1 0 3,-2 0 3,-2-3-1,3 0 0,0-3-1,0 2 1,-6 1-4,-11 0 0,10-3 1,4 0 2,0-1-1,2-2 2,2 0 0,-1 0 1,-1 3-5,2-6 1,-4 0 0,-1 0 2,0 0-1,1 0 2,4 0-4,-5 6 0,4-1 3,0-2 3,-3 0-4,-1-3-1,1 9-2,3-3-2,-6-12 5,-7 6 3,6 0-1,3-3 0,1 6-1,0 0-2,0-6-2,2 3 1,1-3 1,1 0 0,-8 0 0,3 3 2,-2 0-3,2 0 0,1-3 1,-3 0 2,-1 0-1,-3 0-1,3 0 1,0 0-1,4 0 0,-14-3 0,7 0 0,4 3 0,-1 0 0,1-3 2,3 3-3,-1-3 0,1-6 1,3 3 0,-3 3 0,-4 0 2,3 0-1,1 0-1,0 0-2,0 3-1,-1-6-1,1 0 3,0 9 2,0-3 2,2-6-1,-6 6-2,4 3-2,-3-3 1,-1 0 1,1 0 2,5 0-3,-2 0 0,0 0 1,0 0 2,2 0-1,-5 0-1,-1 0 1,4 0-1,3 0-3,0-6 2,4 3-1,-2 0 0,2 0 4,-1 1 1,1-1-1,-1 0 1,4 0-2,-1 0-1,1 0 1,-1 0-1,5 0-3,-1 0 0,-1 0 4,5-3 1,0 6-3,2-3 1,1 3 2,-1-3 1,1 0-4,3 0 1,0 0 2,0 0 3,3 0-4,1 1-3,-1-4-2,4 0 0,-1 0 3,4 0 0,1-3 1,-2 0 2,1 0-1,1 1 2,-2-1-4,5 0 0,-1-3 1,-3 0 0,4 3 2,-5 0 1,8-9-4,-4-3-1,1 1 3,2 2 3,1 0-3,-1-2-1,1 2 0,0-3 2,0 1-1,-4-1-1,0-6 1,0-6 1,4 1-1,-4-4 2,1 4-4,-1-6-2,7 5 2,3 0 0,-3-3 1,1 1 2,-2 3-1,1-1-1,1 1 1,-2 2-1,1-15 0,1 4 0,-2-1 2,-2 1 1,0 3-4,2-1 1,8-3 0,-7 1 2,0 3-1,-3-1-1,0 4 1,-1-1-1,1-6 0,-4-5 0,0 3 0,1 0 0,-4 2 0,0 0 2,0-2-3,0 0 0,0 6 1,-3-1 2,-1-3 1,0 4 1,-2-1-2,6-5-2,0 0 1,-4-1 1,-2 3-3,-11 1 0,4 0-1,-3 0-2,-1 2 3,0 0 2,0 4-2,1 2 0,-1 1 1,-3-4 0,3-2 2,-2 2 1,-2 0-1,1 4-2,1-1 1,-5 1-1,1 0-3,-4 2 2,1 6-1,-8-9 0,4 4 2,-3 5 2,3 0-3,-4 4 0,1 2 1,0 0 0,0 4 2,2-4 1,2-6-4,-4 3-1,-7-3 1,3 1 0,3 2-4,1 3 1,0 4-3,0-1 2,6 3-8,-3 0-4,0 3-11,3 1-5,-6-1-20,6 3-8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7-11-20T23:38:25.594"/>
    </inkml:context>
    <inkml:brush xml:id="br0">
      <inkml:brushProperty name="width" value="0.09333" units="cm"/>
      <inkml:brushProperty name="height" value="0.09333" units="cm"/>
      <inkml:brushProperty name="color" value="#ED1C24"/>
      <inkml:brushProperty name="fitToCurve" value="1"/>
    </inkml:brush>
  </inkml:definitions>
  <inkml:trace contextRef="#ctx0" brushRef="#br0">1615 480 80,'-73'-8'33,"36"-19"-18,-13-8-9,17 26 9,-4 0 0,-6-3 4,-13 0-2,-4 3-1,-4 0-6,-2-3-2,-1 3-6,3 0-2,1 0 0,3 4 0,0 2 0,4 0-3,6 0 2,6 3 1,8 0 2,6 3-3,6 0-2,8 2-1,6 1 0,6 3 3,11 0 2,7 9-2,13 3-2,6 0-3,6 3-1,18-1-1,10 1 0,6-1 2,10 4 2,0 5 2,7 4 3,-3-3 4,0 2 2,-14 1-3,1-1-1,-8 6 1,-9 1 2,-11-3-3,-6-7-2,-6-2 6,-11-6 5,-10-4 0,-10-2 1,-12-3-3,-18-7 1,-13-2 0,-13-6 3,-14-3-5,-7-2-1,-12-10-2,-7 3 1,-10 0 0,6-6 1,4 4-4,-1 2-1,5 0-1,6 3 1,-1 6-4,11 0 0,13 0-1,10 9 0,6 0-5,8 9-3,13 0-3,6-1 0,7 4 2,7 3 2,13 2 6,13 1 1,7 12-1,13-3 2,0 2-1,14 3 0,3 4 2,10 5 0,10 7 0,3-7 0,7 0-3,-6-3 0,-12-5 8,-8 0 4,-8-3 7,-9-7 4,-13-2 7,-11-7 6,-13-2-5,-13 0-2,-11-4-8,-12-5-3,-11-3-12,-13-3-1,-10-3-2,-7-3 2,-3-6-3,-6 0 0,-1-8 1,1 2 0,5-3-3,-5 3 2,9 4-6,11 2-3,9 3 1,7 0 0,14 3-8,5 0-3,8 3-1,10 6 2,23 6 6,6 6 6,18 2 2,2 4 3,14 2-1,7 7 1,10 0 4,3 20 1,3-9 1,3 1 0,-9-4-2,-7 1-2,-7 2 3,-9-5 2,-8-4 0,-9-3 2,-14-2 0,-9-3 3,-11 0-1,-13-3 0,-17-4-5,-13-2-1,-13-3 1,-17-4 0,-6 1 2,-11-3 1,-3-3-1,-3 0 1,-4 0-4,4 0 0,10 0-1,2-1-2,8 10-2,14-3-1,8 9-1,12 0 0,12 0-6,13 2-2,11 4 5,20 5 3,10 7 1,15 2 1,25 4-3,16 2-1,17 12 0,10 6 4,7-5-1,0 8 1,-11-6 2,-9-3 2,-11-5-1,-6-4-1,-17 0 3,-9-9 0,-24 4 12,-24-6-4,-12-13 1,-11-8-4,-26 0-3,-7-6-2,-14-12 0,-12-3-2,-4 0-1,-7-9 1,1 3 1,-1 0-1,-3 3 2,11 0-2,5 0-1,7 4-2,4 2 1,10 8 1,7 1 0,5 9-7,8-3 0,10 2-6,6-2-2,7 6 6,10-1 3,13 4 4,11 6 1,6 3-2,20-1 0,6 4-1,11 2 0,16 6 3,0 7 2,10-1-2,4-2-2,7-7 6,-11-3 3,-10-5-1,-13 6 0,-13-7 3,-14-5 3,-13-7 2,-10-2 3,-14-6-5,-12-3-1,-21-9-6,-16-3-1,-17-9-3,-10-6-3,-13-5-1,-7-1 3,-3-2 2,-14-13 2,7 0-4,3 4 1,4-1 0,10 4 2,9 2-1,14 7-1,11 2-6,12 6-1,14 0-6,13 3 1,16 3-3,14 3 0,17 3 3,10 3 5,22 3 2,15 3 0,19 6-3,7 3 0,13 3 4,11 9 4,-4 5 1,13 4-1,0-4 3,-3-3 2,-17 1 2,-3-6 3,-10-3-3,-13-3 1,-18-6-1,-8-4 1,-11-2 4,-11-6 3,-9-6 0,-16-5 1,-14-7-8,-10-18-3,-14-3-5,-9-5-3,-14 0-1,-6-3 0,-4-1 0,1 6 0,2 7 0,1 5 0,10 7-2,3 2 1,13 9-4,17 7 1,10 7-1,13 10 3,24 9 2,13 5 2,13 7-1,7 2 1,10 13 4,10 0 3,-3-1-2,3-6-2,-10-6-3,-7-5 1,-7-6 1,-6-6 2,-13-3 1,-10-6 1,-11-3 6,-9-6 6,-7-3-6,-7-6-3,-13-6-9,-3-6-3,-10 0 2,-4-6 1,0 1-3,-2 2 1,1 4 0,6 2 2,1 3 1,4 6 1,4 3-9,6 6-2,11 6-3,16 12 1,13 6 5,7 2 2,17 1 4,3 2 1,7-2 1,6 6 0,0 2 0,-6-5 2,-1-7-1,-13-2 2,-6-6-2,-10-3-1,-8-4 3,-9-2 0,-6-6 7,-14-17 4,-10-7-7,-10-2-9,-10-1-1,-3-8-1,-4-4 2,1 0 1,-1 4 1,7 5 0,7 4 0,6-1-7,14 9-3,9 7-3,21 8 0,9 9-2,21 2 0,13 25 8,20-4 3,-7 1 4,4 2 2,0-5-1,-14-6 2,-13-3 0,-17-6 3,-13-6 10,-13-6 5,-21-6-5,-16-9 1,-16-9-4,-8-9 0,-9 1-5,-7-1-3,3 1 0,4-1-1,6 10-2,7 2-2,11 6-6,8 3-1,11 3-8,14 3-1,9 3-2,7 3 1,0 0 7,3 0 3,-3 0 5,0 0 1,-3 0 5,-7-3 5,-7 0 8,-3-3 7,-13-3-9,-4 0-3,-6-2-7,0-10-4,-8 3 0,5 1 1,-7-1-1,2 0-1,-2 1-2,4 2 1,5 3-1,4 3-2,7 3-6,3 3-4,6 0 3,8 6 4,2 3-1,4 3 1,4 0-3,9 0 1,7 6-2,-4 2 0,1-2 6,-7 0 4,-4-3 4,-5-4 1,-8-2 4,-10-3 5,-6 0-5,-13-9 0,-11 0-2,-3-5-1,-3-1-3,-1 0-2,4 0 1,0 3-1,7 3-3,3-2 2,13 5-8,4 0-2,6 6-1,11 3 2,5 5 4,22 10 1,2 0 3,7 2 3,6 4 0,8 2-1,3 1 1,2 12-1,8-1 0,3 1 0,0-7 0,-4-3 0,-2-2 2,-11-6 1,-10-6-1,-10-3-2,-9-6 5,-8-3 1,-9-6 4,-7-6 4,-10-3-8,-6-3-1,-8-6-1,-13-9 0,-2 0-5,-1 4 1,0 2 0,3 3 0,7 4-3,7 2 2,9 6-10,18 6-3,19 15-2,14 8 0,23 7 0,16 2 2,14 10 6,10 6 4,13-1 1,-3 0 1,-7-3 2,-13-5 0,-16-9 4,-11-9 2,-16-7 11,-15-8 6,-18-12-1,-14-6-1,-14-8-9,-8-13-5,-18-3-4,-7-2 0,-7-4-2,1-2-1,-4-3-2,1 5 1,9 4 3,7 5 1,11 4-6,12-1-2,17 10-5,10 2 1,10 6-4,13 6-2,10 9 6,4 6 3,19 3 1,8 8 4,3 10 0,-4-7 1,0-2 2,-13-3 3,0-4 0,-4-2 2,-9-6 5,-10-3 2,-11-6 1,-9-9 1,-11-8-6,-9-10-4,-14-2-6,-12-6-2,-8-7-4,-6 0 1,-14 1 3,0 0 1,1-6-2,2-1 2,8 6 1,6 10 2,6 5-12,14 10-6,14 5-5,13 18-2,19 15-7,14 2-2,26 10 11,14 11 7,14 10 4,19 5 2,4 9 5,2 3 1,-2-5 6,0-4 2,-21-12 15,-16-12 9,-20-5-5,-13-9 0,-17-12-3,-20-9-2,-24-9-8,-16-21-5,-10-6-2,-13-11 1,-14-9-5,-9-3-1,-18-1-2,5 4 0,2-14 2,-3 1 2,4 7-1,13 9-1,12 12-2,15 5-1,26 15-9,23 12-1,14 12 3,30 9 0,19 27 4,14-1 4,3 6 3,20 6-5,1 1 1,2 0 1,-16-10 3,-13-6 2,-21-11 1,-15-9 2,-15-10 1,-16-10 3,-20-19 1,-23-11-1,-21-24 1,-26-10-4,-3-2 1,-10-8-5,-1-2 0,-2 10 1,3-8 2,3 7-5,17 10-3,16 9 1,13 9 0,11 5-13,20 6-3,16 4-4,14 11-1,10 6 0,16 9-2,3 9 0,11 6 0,9 3 3,1 20 0,0-5 9,0 0 5,-5 2 7,-8-5 2,3-4 15,-1-2 6,-9-6 13,-11-1 5,-6-5-5,-10-6 1,-10-9-17,-13-8-6,-17-22-9,-17-8-4,-9-9-3,-18-19 1,-12 4-1,-30-17-2,2-4 3,-6 3 2,-3-6 0,-17 6-1,6 1 7,8-8 5,6 11-8,7 8-2,10 11-2,23 13 0,13 12-5,27 8-12,23 10 0,20 8-5,21 9-1,32 15 8,28 11 6,-1 19 6,20 2 2,4-3-6,-4 4 0,-10-3-2,-13-10 1,-13-8 7,-17-13 2,-30-8 12,-27-12 6,-16-8 1,-24-22 3,-26-11-2,-24-10-1,-6-7-8,-14-4-3,-6 5-5,-13-14-1,9 7-1,10 1-2,11 10 1,13 6-1,13 12-7,16 5 0,37 6-24,21 15 4,32 15 1,28 6 7,19 12 5,24 9 3,10 15 2,2 2 1,-9-2 2,0-4 8,-17-6 4,-13-5 1,-23-9 3,-18-6 10,-28-21 11,-31-18-11,-20-8-9,-23-12-4,-24-15-5,-26-7-2,-11-10 1,-2-4-1,-14 3 0,10 0 2,17 9-1,6 6-1,17 12-2,17 9 1,19 11-4,25 9-1,19 9-6,19 9 0,35 9-3,26 12 0,13 9-3,24 12 1,16 5-15,0 4-5,7-4 0,-7 9 0,-16 1 21,-24-15 46,-19-7 25,-25-8-10,-19-24-3,-23-9-11,-27-11-5,-23-7-14,-17-15-5,-20-5-3,-23-3 0,-4-12 0,4 5-2,6 4-2,7 9-2,14 9 1,16 8-1,13 9-2,17 9-11,20 12-5,20 9 2,20 24 0,17 6-3,29 5 1,17 10 2,4 2 1,-3-3 1,2 1 2,-13-10 12,-23-9 6,-17-8 18,-26-9 9,-24-9-3,-16-12 0,-27-9-6,-30-14-4,-13-10-8,-13-5-2,-14-16-4,-14 1-3,4 0 0,7 3 1,3 2-3,-3 4 0,23 6 1,20 14 2,20 7 1,13 8 1,18 6-11,12 12-5,30 9-1,17 6 2,10 8 2,13 9 1,0 13 0,4-4 2,13 4-3,-3-4-1,-4-5 2,-13-1 5,-13-9 0,-21 1 6,-12-12 3,-28-12 10,-12-9 5,-17-9-3,-24-6 0,-19-14-6,-8-10 0,-13-2-5,-2 0 1,-12 2-5,8 6-2,10 7 0,10 2-1,16 1 0,18 14 0,15 3-11,31 15-14,16 9 6,24 11 8,13 15 6,16 1 2,14 6 1,3-4 0,-3 3-2,0-2-4,-16-10 0,-18-5-1,-12-9 3,-21-12 13,-23-12 7,-26-6 6,-21-9 3,-20-9-10,-23-23-5,-9 0-1,-12-3 0,-5 2-1,6 3 1,7 1 0,20 9 1,19 11-4,21 7-1,16 11-3,18 6-3,15 9-5,21 8-2,20 10 2,16 17 3,20 6 0,17 4 1,6 0-2,8-4 1,-11 3-6,-9-6-1,-11-8 7,-17-9 4,-12-9 2,-18-9-1,-19-9 14,-23-12 7,-31-9-4,-10-9 1,-13-14-9,-13-7-3,-10 1-3,6 3 0,1 2-2,9 4 2,11-4-2,9 10-1,17 9-2,14 5 1,12 6-10,11 3-5,16 12 1,17 9 1,20 3 6,10 9 3,10 2 3,13 7 3,-3-1-2,-3 4 0,-11-7 1,-9-5 0,-21-6-5,-16-15 12,-23-3 5,-17-9 5,-23-9 2,-20-5-8,-20-7-4,-1-5 0,-5 2 0,2 4-1,4 2-1,10 6-3,15 6-2,19 1-2,12 8 1,17 6-12,17 6-5,26 6 3,17 14 1,23 4 2,11 6 2,9 5 6,10 1 2,4 17-5,-7-9-3,-3-2 3,-17-9 2,-14-10 3,-13-5 1,-16-7 9,-20-2 5,-21-9 11,-26-9 5,-13-11-13,-20-10-4,-10-2-6,-17-4 1,3 3-4,7 0-2,7 7 0,9 5-1,18 3 0,12 6 2,18 6-12,12 9-3,18 9-1,19 6 3,14 14 2,20 7 1,13 3 2,6-1 2,18 6-5,-11-3 1,-7-2 2,-9-3 1,-10-7 3,-11-9 1,-9-2 1,-21-6 11,-12-4 7,-18-5-3,-6-9 2,-9-3-19,-5 0-6,-9-3 13,6-2 5,4 2-4,10 3-3,6 0-2,7 3-1,4 3-3,12 3 0,24 8-3,7 1 1,13 3-2,7 6 0,9 6-5,1-4 0,-4-2 1,0 0 2,1-10 6,-15 1 1,-9-6 6,-23-18 7,-14-9-4,-9-2 4,-14-7 0,-10-2-4,-6-1-2,-5 0-2,-2-3-3,-4-2 5,8 6 1,2 2-5,7-2 0,7 2-1,-1 3 0,11 3 0,3 0 0,7 3-7,6 4-3,7 2-5,10 6-4,13 3 0,17 6 1,10 3 8,-3 0 3,0 3 5,-11-3 1,-6-1 3,-6-2 1,-35-11 29,-19-13-6,-26-11-1,-24-7-6,-23-2 0,-17-4-8,-7 0-4,-6 1-2,7 3-1,9 12-2,17 5-2,20 6-2,17 6-1,23 9-20,20 15-8,29 6 9,28 9 7,27 8 1,12 18 2,17-3 4,4 1 4,-7-7 1,-10-8-1,-20-7 5,-40-11 19,-27-9 7,-36-12 6,-27-6 5,-27-20-15,-30-7-3,-12-8-10,-21-1-4,6 3-3,5-5 0,9 6-4,20 6 0,20 8 1,17 6 2,26 6-23,27 9-8,27 12 7,26 12 7,27 6-1,34 8 0,9 7 7,13 14 2,-9-9 5,-10-5 3,-21-9 0,-16-7 2,-43-17 31,-34-23-5,-36-10-1,-30-9-9,-31-3-4,-22-8-12,-11-6-1,7 12-2,4-1 0,23 9 0,22 4 0,25 8-9,20 6-2,19 9-10,20 9-4,30 9 11,24 3 6,20 9 0,6 5 3,7 4 3,6 0 3,-5-4 0,-8-2 2,-13-1-4,-13-8 0,-25-6-4,-18-9 16,-27-6 7,-14-9-4,-26-3-3,-17-8-4,-13-4-2,-14-2-3,1 2 1,2 6-2,15 3-1,15 3-2,21 6 1,16 3-10,20 9-3,24 18-2,26 6 2,34 9 3,16 8 2,24 21 3,13-6 4,-10-2-6,-10-7 1,-14 3-2,-16-9 3,-13-5 4,-14-6 3,-16-6 11,-14-7 7,-23-5-1,-13-3 1,-14-6-6,-13-3-3,-3-3-5,0 0-2,-7-3-1,6 0 1,1-6-4,7 9-2,6 0-45,10-6-17,13-15-47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F7648-2113-3042-8478-4F53ED7AE70D}" type="datetimeFigureOut">
              <a:rPr lang="en-US" smtClean="0"/>
              <a:t>10/25/20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C7E78-AD05-2447-AD93-B16D6AF4A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6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4770D2-A62C-404A-935C-C385AACE3672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684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86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764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3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1577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722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99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13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23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55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389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67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862821" y="-127600"/>
            <a:ext cx="437273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50" b="1" i="1" dirty="0">
                <a:solidFill>
                  <a:schemeClr val="tx2">
                    <a:lumMod val="60000"/>
                    <a:lumOff val="40000"/>
                    <a:alpha val="35000"/>
                  </a:schemeClr>
                </a:solidFill>
              </a:rPr>
              <a:t>@</a:t>
            </a:r>
            <a:r>
              <a:rPr lang="en-GB" sz="4050" b="1" i="1" dirty="0" err="1">
                <a:solidFill>
                  <a:schemeClr val="tx2">
                    <a:lumMod val="60000"/>
                    <a:lumOff val="40000"/>
                    <a:alpha val="35000"/>
                  </a:schemeClr>
                </a:solidFill>
              </a:rPr>
              <a:t>westiesworkshop</a:t>
            </a:r>
            <a:endParaRPr lang="en-GB" sz="4050" b="1" i="1" dirty="0">
              <a:solidFill>
                <a:schemeClr val="tx2">
                  <a:lumMod val="60000"/>
                  <a:lumOff val="40000"/>
                  <a:alpha val="35000"/>
                </a:schemeClr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7F943-0518-4CF9-B588-495BDC67F39E}" type="datetimeFigureOut">
              <a:rPr lang="en-GB" smtClean="0"/>
              <a:t>25/10/2020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5FE66-1A7A-4199-AA06-3665D91D43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81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image" Target="../media/image9.pn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0.png"/><Relationship Id="rId7" Type="http://schemas.openxmlformats.org/officeDocument/2006/relationships/image" Target="../media/image1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4" Type="http://schemas.openxmlformats.org/officeDocument/2006/relationships/image" Target="../media/image16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13" Type="http://schemas.openxmlformats.org/officeDocument/2006/relationships/image" Target="../media/image32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12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30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7823517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7823517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7823517" y="836712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 29"/>
          <p:cNvSpPr/>
          <p:nvPr/>
        </p:nvSpPr>
        <p:spPr>
          <a:xfrm>
            <a:off x="2209801" y="4090592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775520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220756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1631504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686652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9616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1775520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220756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631504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1686652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9616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4" name="Oval 13"/>
          <p:cNvSpPr/>
          <p:nvPr/>
        </p:nvSpPr>
        <p:spPr>
          <a:xfrm>
            <a:off x="1775520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220756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631504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1686652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39616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01397" y="11154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31504" y="1"/>
            <a:ext cx="4360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Set notation with Venn diagrams</a:t>
            </a:r>
          </a:p>
        </p:txBody>
      </p:sp>
      <p:sp>
        <p:nvSpPr>
          <p:cNvPr id="27" name="Oval 26"/>
          <p:cNvSpPr/>
          <p:nvPr/>
        </p:nvSpPr>
        <p:spPr>
          <a:xfrm>
            <a:off x="1775520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7878665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1629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5105633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val 36"/>
          <p:cNvSpPr/>
          <p:nvPr/>
        </p:nvSpPr>
        <p:spPr>
          <a:xfrm>
            <a:off x="5537681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961617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/>
          <p:cNvSpPr txBox="1"/>
          <p:nvPr/>
        </p:nvSpPr>
        <p:spPr>
          <a:xfrm>
            <a:off x="5016765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9729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5105633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5537681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/>
          <p:cNvSpPr/>
          <p:nvPr/>
        </p:nvSpPr>
        <p:spPr>
          <a:xfrm>
            <a:off x="4961617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5016765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9729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8399581" y="980728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7967533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5105633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5537681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4961617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/>
          <p:cNvSpPr txBox="1"/>
          <p:nvPr/>
        </p:nvSpPr>
        <p:spPr>
          <a:xfrm>
            <a:off x="5016765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69729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58" name="Oval 57"/>
          <p:cNvSpPr/>
          <p:nvPr/>
        </p:nvSpPr>
        <p:spPr>
          <a:xfrm>
            <a:off x="5105633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5537681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4961617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5016765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69729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59253" y="559714"/>
            <a:ext cx="1201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Basic definitions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89609" y="404665"/>
            <a:ext cx="1733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1. Shade the diagrams to</a:t>
            </a:r>
          </a:p>
          <a:p>
            <a:r>
              <a:rPr lang="en-GB" sz="1200" dirty="0"/>
              <a:t>match the descriptions</a:t>
            </a:r>
          </a:p>
        </p:txBody>
      </p:sp>
      <p:sp>
        <p:nvSpPr>
          <p:cNvPr id="70" name="Oval 69"/>
          <p:cNvSpPr/>
          <p:nvPr/>
        </p:nvSpPr>
        <p:spPr>
          <a:xfrm>
            <a:off x="7967533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8399581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7878665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31629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78665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31629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29769" y="11247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29769" y="3140968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 U B’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631504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TextBox 88"/>
          <p:cNvSpPr txBox="1"/>
          <p:nvPr/>
        </p:nvSpPr>
        <p:spPr>
          <a:xfrm>
            <a:off x="1686652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639616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1" name="Oval 90"/>
          <p:cNvSpPr/>
          <p:nvPr/>
        </p:nvSpPr>
        <p:spPr>
          <a:xfrm>
            <a:off x="1775520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Oval 91"/>
          <p:cNvSpPr/>
          <p:nvPr/>
        </p:nvSpPr>
        <p:spPr>
          <a:xfrm>
            <a:off x="220756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TextBox 92"/>
          <p:cNvSpPr txBox="1"/>
          <p:nvPr/>
        </p:nvSpPr>
        <p:spPr>
          <a:xfrm>
            <a:off x="7751510" y="404665"/>
            <a:ext cx="198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 Describe the shaded areas</a:t>
            </a:r>
          </a:p>
          <a:p>
            <a:r>
              <a:rPr lang="en-GB" sz="1200" dirty="0"/>
              <a:t>using set notation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29770" y="213285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B’</a:t>
            </a:r>
          </a:p>
        </p:txBody>
      </p:sp>
      <p:sp>
        <p:nvSpPr>
          <p:cNvPr id="95" name="Oval 94"/>
          <p:cNvSpPr/>
          <p:nvPr/>
        </p:nvSpPr>
        <p:spPr>
          <a:xfrm>
            <a:off x="7967533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reeform 95"/>
          <p:cNvSpPr/>
          <p:nvPr/>
        </p:nvSpPr>
        <p:spPr>
          <a:xfrm>
            <a:off x="8399582" y="3068961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/>
          <p:cNvSpPr/>
          <p:nvPr/>
        </p:nvSpPr>
        <p:spPr>
          <a:xfrm>
            <a:off x="7967533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/>
          <p:cNvSpPr/>
          <p:nvPr/>
        </p:nvSpPr>
        <p:spPr>
          <a:xfrm>
            <a:off x="8399581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TextBox 96"/>
          <p:cNvSpPr txBox="1"/>
          <p:nvPr/>
        </p:nvSpPr>
        <p:spPr>
          <a:xfrm>
            <a:off x="6329770" y="4149080"/>
            <a:ext cx="752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A’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31504" y="4869161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Question</a:t>
            </a:r>
            <a:endParaRPr lang="en-GB" sz="1200" dirty="0"/>
          </a:p>
          <a:p>
            <a:r>
              <a:rPr lang="en-GB" sz="1200" dirty="0"/>
              <a:t>In a group of 100 students, 50 study Maths, 29 study Biology, and 13 study both.</a:t>
            </a:r>
          </a:p>
        </p:txBody>
      </p:sp>
      <p:grpSp>
        <p:nvGrpSpPr>
          <p:cNvPr id="2" name="Group 103"/>
          <p:cNvGrpSpPr/>
          <p:nvPr/>
        </p:nvGrpSpPr>
        <p:grpSpPr>
          <a:xfrm>
            <a:off x="1703512" y="5373216"/>
            <a:ext cx="1800200" cy="1224136"/>
            <a:chOff x="179512" y="5373216"/>
            <a:chExt cx="1368152" cy="936104"/>
          </a:xfrm>
        </p:grpSpPr>
        <p:sp>
          <p:nvSpPr>
            <p:cNvPr id="99" name="Oval 98"/>
            <p:cNvSpPr/>
            <p:nvPr/>
          </p:nvSpPr>
          <p:spPr>
            <a:xfrm>
              <a:off x="35859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/>
            <p:cNvSpPr/>
            <p:nvPr/>
          </p:nvSpPr>
          <p:spPr>
            <a:xfrm>
              <a:off x="72677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179512" y="537321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54222" y="5428281"/>
              <a:ext cx="257301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M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219308" y="5428281"/>
              <a:ext cx="214662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105" name="TextBox 104"/>
          <p:cNvSpPr txBox="1"/>
          <p:nvPr/>
        </p:nvSpPr>
        <p:spPr>
          <a:xfrm>
            <a:off x="3503712" y="5301209"/>
            <a:ext cx="65527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Draw a Venn diagram and use it to find:</a:t>
            </a:r>
          </a:p>
          <a:p>
            <a:endParaRPr lang="en-GB" sz="1200" dirty="0"/>
          </a:p>
          <a:p>
            <a:r>
              <a:rPr lang="en-GB" sz="1200" dirty="0"/>
              <a:t>P(M) = 		P (M’) =		P(B) =		P(B’) =</a:t>
            </a:r>
          </a:p>
          <a:p>
            <a:endParaRPr lang="en-GB" sz="1200" dirty="0"/>
          </a:p>
          <a:p>
            <a:r>
              <a:rPr lang="en-GB" sz="1200" dirty="0"/>
              <a:t>P(M ∩ B) =		        P(M U B) =		P(M ∩ B’) =</a:t>
            </a:r>
          </a:p>
          <a:p>
            <a:endParaRPr lang="en-GB" sz="1200" dirty="0"/>
          </a:p>
          <a:p>
            <a:r>
              <a:rPr lang="en-GB" sz="1200" dirty="0"/>
              <a:t>Extension: make up some more of your own.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97364" y="2852936"/>
            <a:ext cx="119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B</a:t>
            </a:r>
          </a:p>
          <a:p>
            <a:r>
              <a:rPr lang="en-GB" i="1" dirty="0"/>
              <a:t>Union, or</a:t>
            </a:r>
          </a:p>
          <a:p>
            <a:r>
              <a:rPr lang="en-GB" i="1" dirty="0"/>
              <a:t>(at least 1)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99657" y="3861048"/>
            <a:ext cx="1462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</a:t>
            </a:r>
          </a:p>
          <a:p>
            <a:r>
              <a:rPr lang="en-GB" i="1" dirty="0"/>
              <a:t>Intersect, and</a:t>
            </a:r>
          </a:p>
          <a:p>
            <a:r>
              <a:rPr lang="en-GB" i="1" dirty="0"/>
              <a:t>(both)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85259" y="1844824"/>
            <a:ext cx="1803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</a:t>
            </a:r>
          </a:p>
          <a:p>
            <a:r>
              <a:rPr lang="en-GB" i="1" dirty="0"/>
              <a:t>Complement of A</a:t>
            </a:r>
          </a:p>
          <a:p>
            <a:r>
              <a:rPr lang="en-GB" i="1" dirty="0"/>
              <a:t>Not 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82419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val 103"/>
          <p:cNvSpPr/>
          <p:nvPr/>
        </p:nvSpPr>
        <p:spPr>
          <a:xfrm>
            <a:off x="7968208" y="4005064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TextBox 108"/>
          <p:cNvSpPr txBox="1"/>
          <p:nvPr/>
        </p:nvSpPr>
        <p:spPr>
          <a:xfrm>
            <a:off x="7879340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32304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11" name="Oval 110"/>
          <p:cNvSpPr/>
          <p:nvPr/>
        </p:nvSpPr>
        <p:spPr>
          <a:xfrm>
            <a:off x="8400256" y="4005064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Oval 111"/>
          <p:cNvSpPr/>
          <p:nvPr/>
        </p:nvSpPr>
        <p:spPr>
          <a:xfrm>
            <a:off x="79682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25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Oval 118"/>
          <p:cNvSpPr/>
          <p:nvPr/>
        </p:nvSpPr>
        <p:spPr>
          <a:xfrm>
            <a:off x="510630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Oval 119"/>
          <p:cNvSpPr/>
          <p:nvPr/>
        </p:nvSpPr>
        <p:spPr>
          <a:xfrm>
            <a:off x="5538356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/>
          <p:cNvSpPr/>
          <p:nvPr/>
        </p:nvSpPr>
        <p:spPr>
          <a:xfrm>
            <a:off x="4943872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TextBox 121"/>
          <p:cNvSpPr txBox="1"/>
          <p:nvPr/>
        </p:nvSpPr>
        <p:spPr>
          <a:xfrm>
            <a:off x="5017440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970404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24" name="Oval 123"/>
          <p:cNvSpPr/>
          <p:nvPr/>
        </p:nvSpPr>
        <p:spPr>
          <a:xfrm>
            <a:off x="510630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val 124"/>
          <p:cNvSpPr/>
          <p:nvPr/>
        </p:nvSpPr>
        <p:spPr>
          <a:xfrm>
            <a:off x="5538356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/>
          <p:cNvSpPr/>
          <p:nvPr/>
        </p:nvSpPr>
        <p:spPr>
          <a:xfrm>
            <a:off x="4962292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TextBox 126"/>
          <p:cNvSpPr txBox="1"/>
          <p:nvPr/>
        </p:nvSpPr>
        <p:spPr>
          <a:xfrm>
            <a:off x="5017440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970404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29" name="Oval 128"/>
          <p:cNvSpPr/>
          <p:nvPr/>
        </p:nvSpPr>
        <p:spPr>
          <a:xfrm>
            <a:off x="5106308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Oval 129"/>
          <p:cNvSpPr/>
          <p:nvPr/>
        </p:nvSpPr>
        <p:spPr>
          <a:xfrm>
            <a:off x="553835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ectangle 130"/>
          <p:cNvSpPr/>
          <p:nvPr/>
        </p:nvSpPr>
        <p:spPr>
          <a:xfrm>
            <a:off x="4962292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TextBox 131"/>
          <p:cNvSpPr txBox="1"/>
          <p:nvPr/>
        </p:nvSpPr>
        <p:spPr>
          <a:xfrm>
            <a:off x="5017440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970404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34" name="Oval 133"/>
          <p:cNvSpPr/>
          <p:nvPr/>
        </p:nvSpPr>
        <p:spPr>
          <a:xfrm>
            <a:off x="51063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Oval 134"/>
          <p:cNvSpPr/>
          <p:nvPr/>
        </p:nvSpPr>
        <p:spPr>
          <a:xfrm>
            <a:off x="5538356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/>
          <p:cNvSpPr/>
          <p:nvPr/>
        </p:nvSpPr>
        <p:spPr>
          <a:xfrm>
            <a:off x="4962292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TextBox 136"/>
          <p:cNvSpPr txBox="1"/>
          <p:nvPr/>
        </p:nvSpPr>
        <p:spPr>
          <a:xfrm>
            <a:off x="5017440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970404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43872" y="1844824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/>
          <p:cNvSpPr/>
          <p:nvPr/>
        </p:nvSpPr>
        <p:spPr>
          <a:xfrm>
            <a:off x="4943872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/>
          <p:cNvSpPr/>
          <p:nvPr/>
        </p:nvSpPr>
        <p:spPr>
          <a:xfrm>
            <a:off x="494387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/>
          <p:cNvSpPr/>
          <p:nvPr/>
        </p:nvSpPr>
        <p:spPr>
          <a:xfrm>
            <a:off x="7824192" y="3861048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/>
          <p:cNvSpPr/>
          <p:nvPr/>
        </p:nvSpPr>
        <p:spPr>
          <a:xfrm>
            <a:off x="7824192" y="2852936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/>
          <p:cNvSpPr/>
          <p:nvPr/>
        </p:nvSpPr>
        <p:spPr>
          <a:xfrm>
            <a:off x="7824192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/>
          <p:cNvSpPr/>
          <p:nvPr/>
        </p:nvSpPr>
        <p:spPr>
          <a:xfrm>
            <a:off x="7824192" y="836712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7879340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32304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7" name="Oval 36"/>
          <p:cNvSpPr/>
          <p:nvPr/>
        </p:nvSpPr>
        <p:spPr>
          <a:xfrm>
            <a:off x="5519936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/>
          <p:cNvSpPr/>
          <p:nvPr/>
        </p:nvSpPr>
        <p:spPr>
          <a:xfrm>
            <a:off x="4943872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/>
          <p:cNvSpPr txBox="1"/>
          <p:nvPr/>
        </p:nvSpPr>
        <p:spPr>
          <a:xfrm>
            <a:off x="5015880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51984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46" name="Oval 45"/>
          <p:cNvSpPr/>
          <p:nvPr/>
        </p:nvSpPr>
        <p:spPr>
          <a:xfrm>
            <a:off x="5087888" y="1988840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val 46"/>
          <p:cNvSpPr/>
          <p:nvPr/>
        </p:nvSpPr>
        <p:spPr>
          <a:xfrm>
            <a:off x="5519936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TextBox 48"/>
          <p:cNvSpPr txBox="1"/>
          <p:nvPr/>
        </p:nvSpPr>
        <p:spPr>
          <a:xfrm>
            <a:off x="5015880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1984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8400256" y="980728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Oval 31"/>
          <p:cNvSpPr/>
          <p:nvPr/>
        </p:nvSpPr>
        <p:spPr>
          <a:xfrm>
            <a:off x="796820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5519936" y="2996952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TextBox 55"/>
          <p:cNvSpPr txBox="1"/>
          <p:nvPr/>
        </p:nvSpPr>
        <p:spPr>
          <a:xfrm>
            <a:off x="4999020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51984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58" name="Oval 57"/>
          <p:cNvSpPr/>
          <p:nvPr/>
        </p:nvSpPr>
        <p:spPr>
          <a:xfrm>
            <a:off x="508788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Oval 58"/>
          <p:cNvSpPr/>
          <p:nvPr/>
        </p:nvSpPr>
        <p:spPr>
          <a:xfrm>
            <a:off x="5519936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TextBox 60"/>
          <p:cNvSpPr txBox="1"/>
          <p:nvPr/>
        </p:nvSpPr>
        <p:spPr>
          <a:xfrm>
            <a:off x="4999020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1984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71864" y="404665"/>
            <a:ext cx="17333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1. Shade the diagrams to</a:t>
            </a:r>
          </a:p>
          <a:p>
            <a:r>
              <a:rPr lang="en-GB" sz="1200" dirty="0"/>
              <a:t>match the descriptions</a:t>
            </a:r>
          </a:p>
        </p:txBody>
      </p:sp>
      <p:sp>
        <p:nvSpPr>
          <p:cNvPr id="70" name="Oval 69"/>
          <p:cNvSpPr/>
          <p:nvPr/>
        </p:nvSpPr>
        <p:spPr>
          <a:xfrm>
            <a:off x="7968208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8400256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TextBox 72"/>
          <p:cNvSpPr txBox="1"/>
          <p:nvPr/>
        </p:nvSpPr>
        <p:spPr>
          <a:xfrm>
            <a:off x="7879340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32304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79340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32304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80" name="Oval 79"/>
          <p:cNvSpPr/>
          <p:nvPr/>
        </p:nvSpPr>
        <p:spPr>
          <a:xfrm>
            <a:off x="7968208" y="4005064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TextBox 82"/>
          <p:cNvSpPr txBox="1"/>
          <p:nvPr/>
        </p:nvSpPr>
        <p:spPr>
          <a:xfrm>
            <a:off x="7879340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32304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95" name="Oval 94"/>
          <p:cNvSpPr/>
          <p:nvPr/>
        </p:nvSpPr>
        <p:spPr>
          <a:xfrm>
            <a:off x="796820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Freeform 95"/>
          <p:cNvSpPr/>
          <p:nvPr/>
        </p:nvSpPr>
        <p:spPr>
          <a:xfrm>
            <a:off x="8400257" y="3068961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/>
          <p:cNvSpPr/>
          <p:nvPr/>
        </p:nvSpPr>
        <p:spPr>
          <a:xfrm>
            <a:off x="7968208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val 75"/>
          <p:cNvSpPr/>
          <p:nvPr/>
        </p:nvSpPr>
        <p:spPr>
          <a:xfrm>
            <a:off x="840025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7" name="TextBox 86"/>
          <p:cNvSpPr txBox="1"/>
          <p:nvPr/>
        </p:nvSpPr>
        <p:spPr>
          <a:xfrm>
            <a:off x="9264352" y="1115452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64352" y="1988841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∩ B’ </a:t>
            </a:r>
          </a:p>
          <a:p>
            <a:r>
              <a:rPr lang="en-GB" dirty="0"/>
              <a:t>or (A U B)’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64352" y="4149080"/>
            <a:ext cx="74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U 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264353" y="2998694"/>
            <a:ext cx="1164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 U B’</a:t>
            </a:r>
          </a:p>
          <a:p>
            <a:r>
              <a:rPr lang="en-GB" dirty="0"/>
              <a:t>or (A ∩ B)’</a:t>
            </a:r>
          </a:p>
        </p:txBody>
      </p:sp>
      <p:sp>
        <p:nvSpPr>
          <p:cNvPr id="81" name="Oval 80"/>
          <p:cNvSpPr/>
          <p:nvPr/>
        </p:nvSpPr>
        <p:spPr>
          <a:xfrm>
            <a:off x="8400256" y="4005064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/>
          <p:cNvSpPr/>
          <p:nvPr/>
        </p:nvSpPr>
        <p:spPr>
          <a:xfrm>
            <a:off x="796820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Oval 52"/>
          <p:cNvSpPr/>
          <p:nvPr/>
        </p:nvSpPr>
        <p:spPr>
          <a:xfrm>
            <a:off x="508788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val 102"/>
          <p:cNvSpPr/>
          <p:nvPr/>
        </p:nvSpPr>
        <p:spPr>
          <a:xfrm>
            <a:off x="5519936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val 104"/>
          <p:cNvSpPr/>
          <p:nvPr/>
        </p:nvSpPr>
        <p:spPr>
          <a:xfrm>
            <a:off x="508788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/>
          <p:cNvSpPr/>
          <p:nvPr/>
        </p:nvSpPr>
        <p:spPr>
          <a:xfrm>
            <a:off x="508788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TextBox 105"/>
          <p:cNvSpPr txBox="1"/>
          <p:nvPr/>
        </p:nvSpPr>
        <p:spPr>
          <a:xfrm>
            <a:off x="1631504" y="4869161"/>
            <a:ext cx="828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Question</a:t>
            </a:r>
            <a:endParaRPr lang="en-GB" sz="1200" dirty="0"/>
          </a:p>
          <a:p>
            <a:r>
              <a:rPr lang="en-GB" sz="1200" dirty="0"/>
              <a:t>In a group of 100 students, 50 study Maths, 29 study Biology, and 13 study both.</a:t>
            </a:r>
          </a:p>
        </p:txBody>
      </p:sp>
      <p:grpSp>
        <p:nvGrpSpPr>
          <p:cNvPr id="2" name="Group 106"/>
          <p:cNvGrpSpPr/>
          <p:nvPr/>
        </p:nvGrpSpPr>
        <p:grpSpPr>
          <a:xfrm>
            <a:off x="1703512" y="5373216"/>
            <a:ext cx="1800200" cy="1224136"/>
            <a:chOff x="179512" y="5373216"/>
            <a:chExt cx="1368152" cy="936104"/>
          </a:xfrm>
        </p:grpSpPr>
        <p:sp>
          <p:nvSpPr>
            <p:cNvPr id="108" name="Oval 107"/>
            <p:cNvSpPr/>
            <p:nvPr/>
          </p:nvSpPr>
          <p:spPr>
            <a:xfrm>
              <a:off x="35859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/>
            <p:cNvSpPr/>
            <p:nvPr/>
          </p:nvSpPr>
          <p:spPr>
            <a:xfrm>
              <a:off x="72677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179512" y="537321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54222" y="5428281"/>
              <a:ext cx="257301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M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1219308" y="5428281"/>
              <a:ext cx="214662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113" name="TextBox 112"/>
          <p:cNvSpPr txBox="1"/>
          <p:nvPr/>
        </p:nvSpPr>
        <p:spPr>
          <a:xfrm>
            <a:off x="3503712" y="5301209"/>
            <a:ext cx="71642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Draw a Venn diagram and use it to find:</a:t>
            </a:r>
          </a:p>
          <a:p>
            <a:endParaRPr lang="en-GB" sz="1200" dirty="0"/>
          </a:p>
          <a:p>
            <a:r>
              <a:rPr lang="en-GB" sz="1200" dirty="0"/>
              <a:t>P(M) = 50/100 = 0.5	P (M’) = 50/100 = 0.5	P(B) = 29/100 = 0.29	P(B’) = 71/100 = 0.71</a:t>
            </a:r>
          </a:p>
          <a:p>
            <a:endParaRPr lang="en-GB" sz="1200" dirty="0"/>
          </a:p>
          <a:p>
            <a:r>
              <a:rPr lang="en-GB" sz="1200" dirty="0"/>
              <a:t>P(M ∩ B) = 13/100 = 0.13	      P(M U B) = 66/100 = 0.66	P(M ∩ B’) = 37/100 = 0.37</a:t>
            </a:r>
          </a:p>
          <a:p>
            <a:endParaRPr lang="en-GB" sz="1200" dirty="0"/>
          </a:p>
          <a:p>
            <a:r>
              <a:rPr lang="en-GB" sz="1200" dirty="0"/>
              <a:t>Extension: make up some more of your own.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991544" y="58052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423592" y="58052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55640" y="5805265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143672" y="623731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31504" y="1"/>
            <a:ext cx="5771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Set notation with Venn diagrams – answers </a:t>
            </a:r>
          </a:p>
        </p:txBody>
      </p:sp>
      <p:sp>
        <p:nvSpPr>
          <p:cNvPr id="139" name="Freeform 138"/>
          <p:cNvSpPr/>
          <p:nvPr/>
        </p:nvSpPr>
        <p:spPr>
          <a:xfrm>
            <a:off x="2209801" y="4090592"/>
            <a:ext cx="211931" cy="478631"/>
          </a:xfrm>
          <a:custGeom>
            <a:avLst/>
            <a:gdLst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02394 w 209550"/>
              <a:gd name="connsiteY4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6828 w 209550"/>
              <a:gd name="connsiteY4" fmla="*/ 93340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0 w 209550"/>
              <a:gd name="connsiteY1" fmla="*/ 238125 h 478631"/>
              <a:gd name="connsiteX2" fmla="*/ 104775 w 209550"/>
              <a:gd name="connsiteY2" fmla="*/ 478631 h 478631"/>
              <a:gd name="connsiteX3" fmla="*/ 209550 w 209550"/>
              <a:gd name="connsiteY3" fmla="*/ 219075 h 478631"/>
              <a:gd name="connsiteX4" fmla="*/ 184447 w 209550"/>
              <a:gd name="connsiteY4" fmla="*/ 86196 h 478631"/>
              <a:gd name="connsiteX5" fmla="*/ 102394 w 209550"/>
              <a:gd name="connsiteY5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104775 w 209550"/>
              <a:gd name="connsiteY3" fmla="*/ 478631 h 478631"/>
              <a:gd name="connsiteX4" fmla="*/ 209550 w 209550"/>
              <a:gd name="connsiteY4" fmla="*/ 219075 h 478631"/>
              <a:gd name="connsiteX5" fmla="*/ 184447 w 209550"/>
              <a:gd name="connsiteY5" fmla="*/ 86196 h 478631"/>
              <a:gd name="connsiteX6" fmla="*/ 102394 w 209550"/>
              <a:gd name="connsiteY6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209550 w 209550"/>
              <a:gd name="connsiteY5" fmla="*/ 219075 h 478631"/>
              <a:gd name="connsiteX6" fmla="*/ 184447 w 209550"/>
              <a:gd name="connsiteY6" fmla="*/ 86196 h 478631"/>
              <a:gd name="connsiteX7" fmla="*/ 102394 w 209550"/>
              <a:gd name="connsiteY7" fmla="*/ 0 h 478631"/>
              <a:gd name="connsiteX0" fmla="*/ 102394 w 209550"/>
              <a:gd name="connsiteY0" fmla="*/ 0 h 478631"/>
              <a:gd name="connsiteX1" fmla="*/ 19050 w 209550"/>
              <a:gd name="connsiteY1" fmla="*/ 116681 h 478631"/>
              <a:gd name="connsiteX2" fmla="*/ 0 w 209550"/>
              <a:gd name="connsiteY2" fmla="*/ 238125 h 478631"/>
              <a:gd name="connsiteX3" fmla="*/ 26194 w 209550"/>
              <a:gd name="connsiteY3" fmla="*/ 378618 h 478631"/>
              <a:gd name="connsiteX4" fmla="*/ 104775 w 209550"/>
              <a:gd name="connsiteY4" fmla="*/ 478631 h 478631"/>
              <a:gd name="connsiteX5" fmla="*/ 195263 w 209550"/>
              <a:gd name="connsiteY5" fmla="*/ 361950 h 478631"/>
              <a:gd name="connsiteX6" fmla="*/ 209550 w 209550"/>
              <a:gd name="connsiteY6" fmla="*/ 219075 h 478631"/>
              <a:gd name="connsiteX7" fmla="*/ 184447 w 209550"/>
              <a:gd name="connsiteY7" fmla="*/ 86196 h 478631"/>
              <a:gd name="connsiteX8" fmla="*/ 102394 w 209550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4313"/>
              <a:gd name="connsiteY0" fmla="*/ 0 h 478631"/>
              <a:gd name="connsiteX1" fmla="*/ 19050 w 214313"/>
              <a:gd name="connsiteY1" fmla="*/ 116681 h 478631"/>
              <a:gd name="connsiteX2" fmla="*/ 0 w 214313"/>
              <a:gd name="connsiteY2" fmla="*/ 238125 h 478631"/>
              <a:gd name="connsiteX3" fmla="*/ 26194 w 214313"/>
              <a:gd name="connsiteY3" fmla="*/ 378618 h 478631"/>
              <a:gd name="connsiteX4" fmla="*/ 104775 w 214313"/>
              <a:gd name="connsiteY4" fmla="*/ 478631 h 478631"/>
              <a:gd name="connsiteX5" fmla="*/ 195263 w 214313"/>
              <a:gd name="connsiteY5" fmla="*/ 361950 h 478631"/>
              <a:gd name="connsiteX6" fmla="*/ 209550 w 214313"/>
              <a:gd name="connsiteY6" fmla="*/ 219075 h 478631"/>
              <a:gd name="connsiteX7" fmla="*/ 184447 w 214313"/>
              <a:gd name="connsiteY7" fmla="*/ 86196 h 478631"/>
              <a:gd name="connsiteX8" fmla="*/ 102394 w 214313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4447 w 211931"/>
              <a:gd name="connsiteY7" fmla="*/ 86196 h 478631"/>
              <a:gd name="connsiteX8" fmla="*/ 102394 w 211931"/>
              <a:gd name="connsiteY8" fmla="*/ 0 h 478631"/>
              <a:gd name="connsiteX0" fmla="*/ 102394 w 211931"/>
              <a:gd name="connsiteY0" fmla="*/ 0 h 478631"/>
              <a:gd name="connsiteX1" fmla="*/ 19050 w 211931"/>
              <a:gd name="connsiteY1" fmla="*/ 116681 h 478631"/>
              <a:gd name="connsiteX2" fmla="*/ 0 w 211931"/>
              <a:gd name="connsiteY2" fmla="*/ 238125 h 478631"/>
              <a:gd name="connsiteX3" fmla="*/ 26194 w 211931"/>
              <a:gd name="connsiteY3" fmla="*/ 378618 h 478631"/>
              <a:gd name="connsiteX4" fmla="*/ 104775 w 211931"/>
              <a:gd name="connsiteY4" fmla="*/ 478631 h 478631"/>
              <a:gd name="connsiteX5" fmla="*/ 192881 w 211931"/>
              <a:gd name="connsiteY5" fmla="*/ 359568 h 478631"/>
              <a:gd name="connsiteX6" fmla="*/ 209550 w 211931"/>
              <a:gd name="connsiteY6" fmla="*/ 219075 h 478631"/>
              <a:gd name="connsiteX7" fmla="*/ 182586 w 211931"/>
              <a:gd name="connsiteY7" fmla="*/ 94382 h 478631"/>
              <a:gd name="connsiteX8" fmla="*/ 102394 w 211931"/>
              <a:gd name="connsiteY8" fmla="*/ 0 h 478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1931" h="478631">
                <a:moveTo>
                  <a:pt x="102394" y="0"/>
                </a:moveTo>
                <a:cubicBezTo>
                  <a:pt x="74613" y="38894"/>
                  <a:pt x="58737" y="51593"/>
                  <a:pt x="19050" y="116681"/>
                </a:cubicBezTo>
                <a:cubicBezTo>
                  <a:pt x="3175" y="178594"/>
                  <a:pt x="6350" y="197644"/>
                  <a:pt x="0" y="238125"/>
                </a:cubicBezTo>
                <a:cubicBezTo>
                  <a:pt x="8731" y="284956"/>
                  <a:pt x="7938" y="303212"/>
                  <a:pt x="26194" y="378618"/>
                </a:cubicBezTo>
                <a:cubicBezTo>
                  <a:pt x="61913" y="426244"/>
                  <a:pt x="78581" y="445293"/>
                  <a:pt x="104775" y="478631"/>
                </a:cubicBezTo>
                <a:cubicBezTo>
                  <a:pt x="134938" y="439737"/>
                  <a:pt x="160336" y="412750"/>
                  <a:pt x="192881" y="359568"/>
                </a:cubicBezTo>
                <a:cubicBezTo>
                  <a:pt x="211931" y="295274"/>
                  <a:pt x="204788" y="266700"/>
                  <a:pt x="209550" y="219075"/>
                </a:cubicBezTo>
                <a:cubicBezTo>
                  <a:pt x="201976" y="177163"/>
                  <a:pt x="199685" y="152963"/>
                  <a:pt x="182586" y="94382"/>
                </a:cubicBezTo>
                <a:cubicBezTo>
                  <a:pt x="144916" y="39456"/>
                  <a:pt x="130539" y="31113"/>
                  <a:pt x="102394" y="0"/>
                </a:cubicBezTo>
                <a:close/>
              </a:path>
            </a:pathLst>
          </a:cu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Oval 139"/>
          <p:cNvSpPr/>
          <p:nvPr/>
        </p:nvSpPr>
        <p:spPr>
          <a:xfrm>
            <a:off x="1775520" y="980728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val 140"/>
          <p:cNvSpPr/>
          <p:nvPr/>
        </p:nvSpPr>
        <p:spPr>
          <a:xfrm>
            <a:off x="2207568" y="980728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/>
          <p:cNvSpPr/>
          <p:nvPr/>
        </p:nvSpPr>
        <p:spPr>
          <a:xfrm>
            <a:off x="1631504" y="836712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TextBox 142"/>
          <p:cNvSpPr txBox="1"/>
          <p:nvPr/>
        </p:nvSpPr>
        <p:spPr>
          <a:xfrm>
            <a:off x="1686652" y="836713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39616" y="836713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45" name="Oval 144"/>
          <p:cNvSpPr/>
          <p:nvPr/>
        </p:nvSpPr>
        <p:spPr>
          <a:xfrm>
            <a:off x="1775520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Oval 145"/>
          <p:cNvSpPr/>
          <p:nvPr/>
        </p:nvSpPr>
        <p:spPr>
          <a:xfrm>
            <a:off x="2207568" y="2996952"/>
            <a:ext cx="641810" cy="64807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/>
          <p:cNvSpPr/>
          <p:nvPr/>
        </p:nvSpPr>
        <p:spPr>
          <a:xfrm>
            <a:off x="1631504" y="2852936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TextBox 147"/>
          <p:cNvSpPr txBox="1"/>
          <p:nvPr/>
        </p:nvSpPr>
        <p:spPr>
          <a:xfrm>
            <a:off x="1686652" y="285293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639616" y="2852937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50" name="Oval 149"/>
          <p:cNvSpPr/>
          <p:nvPr/>
        </p:nvSpPr>
        <p:spPr>
          <a:xfrm>
            <a:off x="1775520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Oval 150"/>
          <p:cNvSpPr/>
          <p:nvPr/>
        </p:nvSpPr>
        <p:spPr>
          <a:xfrm>
            <a:off x="2207568" y="4005064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/>
          <p:cNvSpPr/>
          <p:nvPr/>
        </p:nvSpPr>
        <p:spPr>
          <a:xfrm>
            <a:off x="1631504" y="3861048"/>
            <a:ext cx="1368152" cy="93610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TextBox 152"/>
          <p:cNvSpPr txBox="1"/>
          <p:nvPr/>
        </p:nvSpPr>
        <p:spPr>
          <a:xfrm>
            <a:off x="1686652" y="386104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639616" y="3861049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56" name="Oval 155"/>
          <p:cNvSpPr/>
          <p:nvPr/>
        </p:nvSpPr>
        <p:spPr>
          <a:xfrm>
            <a:off x="1775520" y="2996952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Rectangle 157"/>
          <p:cNvSpPr/>
          <p:nvPr/>
        </p:nvSpPr>
        <p:spPr>
          <a:xfrm>
            <a:off x="1631504" y="1844824"/>
            <a:ext cx="1368152" cy="93610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TextBox 158"/>
          <p:cNvSpPr txBox="1"/>
          <p:nvPr/>
        </p:nvSpPr>
        <p:spPr>
          <a:xfrm>
            <a:off x="1686652" y="184482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A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639616" y="1844825"/>
            <a:ext cx="282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B</a:t>
            </a:r>
          </a:p>
        </p:txBody>
      </p:sp>
      <p:sp>
        <p:nvSpPr>
          <p:cNvPr id="161" name="Oval 160"/>
          <p:cNvSpPr/>
          <p:nvPr/>
        </p:nvSpPr>
        <p:spPr>
          <a:xfrm>
            <a:off x="1775520" y="1988840"/>
            <a:ext cx="641810" cy="64807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Oval 161"/>
          <p:cNvSpPr/>
          <p:nvPr/>
        </p:nvSpPr>
        <p:spPr>
          <a:xfrm>
            <a:off x="2207568" y="1988840"/>
            <a:ext cx="641810" cy="64807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TextBox 117"/>
          <p:cNvSpPr txBox="1"/>
          <p:nvPr/>
        </p:nvSpPr>
        <p:spPr>
          <a:xfrm>
            <a:off x="7752185" y="404665"/>
            <a:ext cx="198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2. Describe the shaded areas</a:t>
            </a:r>
          </a:p>
          <a:p>
            <a:r>
              <a:rPr lang="en-GB" sz="1200" dirty="0"/>
              <a:t>using set notation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001397" y="11154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367390" y="112474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367390" y="3140968"/>
            <a:ext cx="753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A U B’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367391" y="2132856"/>
            <a:ext cx="768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B’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367391" y="4149080"/>
            <a:ext cx="752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A’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2997364" y="2852936"/>
            <a:ext cx="11903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U B</a:t>
            </a:r>
          </a:p>
          <a:p>
            <a:r>
              <a:rPr lang="en-GB" i="1" dirty="0"/>
              <a:t>Union, or</a:t>
            </a:r>
          </a:p>
          <a:p>
            <a:r>
              <a:rPr lang="en-GB" i="1" dirty="0"/>
              <a:t>(at least 1)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999657" y="3861048"/>
            <a:ext cx="1462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∩ B</a:t>
            </a:r>
          </a:p>
          <a:p>
            <a:r>
              <a:rPr lang="en-GB" i="1" dirty="0"/>
              <a:t>Intersect, and</a:t>
            </a:r>
          </a:p>
          <a:p>
            <a:r>
              <a:rPr lang="en-GB" i="1" dirty="0"/>
              <a:t>(both)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985259" y="1844824"/>
            <a:ext cx="1803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A’</a:t>
            </a:r>
          </a:p>
          <a:p>
            <a:r>
              <a:rPr lang="en-GB" i="1" dirty="0"/>
              <a:t>Complement of A</a:t>
            </a:r>
          </a:p>
          <a:p>
            <a:r>
              <a:rPr lang="en-GB" i="1" dirty="0"/>
              <a:t>Not 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559253" y="559714"/>
            <a:ext cx="1201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Basic definitions</a:t>
            </a:r>
          </a:p>
        </p:txBody>
      </p:sp>
    </p:spTree>
    <p:extLst>
      <p:ext uri="{BB962C8B-B14F-4D97-AF65-F5344CB8AC3E}">
        <p14:creationId xmlns:p14="http://schemas.microsoft.com/office/powerpoint/2010/main" val="165812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1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55" grpId="0" animBg="1"/>
      <p:bldP spid="60" grpId="0" animBg="1"/>
      <p:bldP spid="37" grpId="0" animBg="1"/>
      <p:bldP spid="38" grpId="0" animBg="1"/>
      <p:bldP spid="39" grpId="0"/>
      <p:bldP spid="40" grpId="0"/>
      <p:bldP spid="46" grpId="0" animBg="1"/>
      <p:bldP spid="47" grpId="0" animBg="1"/>
      <p:bldP spid="49" grpId="0"/>
      <p:bldP spid="50" grpId="0"/>
      <p:bldP spid="54" grpId="0" animBg="1"/>
      <p:bldP spid="56" grpId="0"/>
      <p:bldP spid="57" grpId="0"/>
      <p:bldP spid="58" grpId="0" animBg="1"/>
      <p:bldP spid="59" grpId="0" animBg="1"/>
      <p:bldP spid="61" grpId="0"/>
      <p:bldP spid="62" grpId="0"/>
      <p:bldP spid="87" grpId="0"/>
      <p:bldP spid="98" grpId="0"/>
      <p:bldP spid="99" grpId="0"/>
      <p:bldP spid="100" grpId="0"/>
      <p:bldP spid="53" grpId="0" animBg="1"/>
      <p:bldP spid="103" grpId="0" animBg="1"/>
      <p:bldP spid="105" grpId="0" animBg="1"/>
      <p:bldP spid="36" grpId="0" animBg="1"/>
      <p:bldP spid="113" grpId="0" build="p"/>
      <p:bldP spid="114" grpId="0"/>
      <p:bldP spid="115" grpId="0"/>
      <p:bldP spid="116" grpId="0"/>
      <p:bldP spid="1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080" y="1903877"/>
            <a:ext cx="3384578" cy="16839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59537" y="1585124"/>
            <a:ext cx="414845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Which section represents A?</a:t>
            </a:r>
          </a:p>
          <a:p>
            <a:endParaRPr lang="en-AU" dirty="0"/>
          </a:p>
          <a:p>
            <a:r>
              <a:rPr lang="en-AU" dirty="0"/>
              <a:t>Which section represents B?</a:t>
            </a:r>
          </a:p>
          <a:p>
            <a:endParaRPr lang="en-AU" dirty="0"/>
          </a:p>
          <a:p>
            <a:r>
              <a:rPr lang="en-AU" dirty="0"/>
              <a:t>Which section represents A or B?</a:t>
            </a:r>
          </a:p>
          <a:p>
            <a:endParaRPr lang="en-AU" dirty="0"/>
          </a:p>
          <a:p>
            <a:r>
              <a:rPr lang="en-AU" dirty="0"/>
              <a:t>Which section represents A and B?</a:t>
            </a:r>
          </a:p>
          <a:p>
            <a:endParaRPr lang="en-AU" dirty="0"/>
          </a:p>
          <a:p>
            <a:r>
              <a:rPr lang="en-AU" dirty="0"/>
              <a:t>Which section represents A but not B?</a:t>
            </a:r>
          </a:p>
          <a:p>
            <a:endParaRPr lang="en-AU" dirty="0"/>
          </a:p>
          <a:p>
            <a:r>
              <a:rPr lang="en-AU" dirty="0"/>
              <a:t>Which section represents B but not A?</a:t>
            </a:r>
          </a:p>
          <a:p>
            <a:endParaRPr lang="en-AU" dirty="0"/>
          </a:p>
          <a:p>
            <a:r>
              <a:rPr lang="en-AU" dirty="0"/>
              <a:t>Which section represents neither A or B?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2956262" y="2257147"/>
              <a:ext cx="1281690" cy="979560"/>
            </p14:xfrm>
          </p:contentPart>
        </mc:Choice>
        <mc:Fallback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60189" y="2065337"/>
                <a:ext cx="1473116" cy="1363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/>
              <p14:cNvContentPartPr/>
              <p14:nvPr/>
            </p14:nvContentPartPr>
            <p14:xfrm>
              <a:off x="3671762" y="2209897"/>
              <a:ext cx="1216350" cy="107190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75649" y="2017727"/>
                <a:ext cx="1407856" cy="1456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/>
              <p14:cNvContentPartPr/>
              <p14:nvPr/>
            </p14:nvContentPartPr>
            <p14:xfrm>
              <a:off x="2904152" y="2255527"/>
              <a:ext cx="2041740" cy="110619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08074" y="2064161"/>
                <a:ext cx="2233176" cy="14889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/>
              <p14:cNvContentPartPr/>
              <p14:nvPr/>
            </p14:nvContentPartPr>
            <p14:xfrm>
              <a:off x="3614252" y="2228527"/>
              <a:ext cx="586440" cy="113292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17658" y="2036769"/>
                <a:ext cx="778905" cy="1516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/>
              <p14:cNvContentPartPr/>
              <p14:nvPr/>
            </p14:nvContentPartPr>
            <p14:xfrm>
              <a:off x="2857442" y="2247697"/>
              <a:ext cx="1175040" cy="1118880"/>
            </p14:xfrm>
          </p:contentPart>
        </mc:Choice>
        <mc:Fallback>
          <p:pic>
            <p:nvPicPr>
              <p:cNvPr id="10" name="Ink 9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61234" y="2055755"/>
                <a:ext cx="1366736" cy="1502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/>
              <p14:cNvContentPartPr/>
              <p14:nvPr/>
            </p14:nvContentPartPr>
            <p14:xfrm>
              <a:off x="3993332" y="2220427"/>
              <a:ext cx="997380" cy="1162080"/>
            </p14:xfrm>
          </p:contentPart>
        </mc:Choice>
        <mc:Fallback>
          <p:pic>
            <p:nvPicPr>
              <p:cNvPr id="11" name="Ink 1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97264" y="2029258"/>
                <a:ext cx="1188796" cy="1544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/>
              <p14:cNvContentPartPr/>
              <p14:nvPr/>
            </p14:nvContentPartPr>
            <p14:xfrm>
              <a:off x="2382512" y="1964197"/>
              <a:ext cx="3089610" cy="1540890"/>
            </p14:xfrm>
          </p:contentPart>
        </mc:Choice>
        <mc:Fallback>
          <p:pic>
            <p:nvPicPr>
              <p:cNvPr id="13" name="Ink 12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365595" y="1947264"/>
                <a:ext cx="3122723" cy="1574035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1201" y="1402898"/>
            <a:ext cx="8277943" cy="407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6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12" name="Picture 11" descr="Diagram, venn diagram&#10;&#10;Description automatically generated">
            <a:extLst>
              <a:ext uri="{FF2B5EF4-FFF2-40B4-BE49-F238E27FC236}">
                <a16:creationId xmlns:a16="http://schemas.microsoft.com/office/drawing/2014/main" id="{E84F918E-0925-5B49-B9C3-8893AC0F6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773" y="1417639"/>
            <a:ext cx="7668468" cy="471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4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4" name="Picture 3" descr="A picture containing device&#10;&#10;Description automatically generated">
            <a:extLst>
              <a:ext uri="{FF2B5EF4-FFF2-40B4-BE49-F238E27FC236}">
                <a16:creationId xmlns:a16="http://schemas.microsoft.com/office/drawing/2014/main" id="{D7076046-7435-754D-8DC4-2979527C03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656" y="1254396"/>
            <a:ext cx="5959822" cy="5356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1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3512" y="-28110"/>
            <a:ext cx="8229600" cy="1143000"/>
          </a:xfrm>
        </p:spPr>
        <p:txBody>
          <a:bodyPr/>
          <a:lstStyle/>
          <a:p>
            <a:r>
              <a:rPr lang="en-AU" dirty="0"/>
              <a:t>What have we learnt?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F06F7AD3-5045-934A-AA97-B5B50721D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709" y="866669"/>
            <a:ext cx="5751206" cy="597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3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Picture 22" descr="Image result for probabi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86738"/>
            <a:ext cx="12192000" cy="996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Image result for probabil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58293">
            <a:off x="8395455" y="1298862"/>
            <a:ext cx="2390775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result for conditional probabilit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1759">
            <a:off x="2757005" y="1138536"/>
            <a:ext cx="4572000" cy="3429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6000" b="1" dirty="0"/>
              <a:t>Conditional Probability</a:t>
            </a:r>
          </a:p>
        </p:txBody>
      </p:sp>
      <p:pic>
        <p:nvPicPr>
          <p:cNvPr id="1032" name="Picture 8" descr="https://upload.wikimedia.org/wikipedia/commons/thumb/9/9b/Conditional_probability.svg/220px-Conditional_probability.svg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249603">
            <a:off x="569667" y="4060675"/>
            <a:ext cx="4212404" cy="2986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 result for conditional probabilit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34174">
            <a:off x="6436835" y="4678100"/>
            <a:ext cx="4582274" cy="2291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744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52" y="53752"/>
            <a:ext cx="10302310" cy="1060345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+mn-lt"/>
              </a:rPr>
              <a:t>Conditional probability</a:t>
            </a:r>
            <a:br>
              <a:rPr lang="en-GB" dirty="0">
                <a:latin typeface="+mn-lt"/>
              </a:rPr>
            </a:br>
            <a:r>
              <a:rPr lang="en-GB" sz="2700" dirty="0">
                <a:latin typeface="+mn-lt"/>
              </a:rPr>
              <a:t>EQ: What is Conditional Probability and how does it differ from regular probability?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4871863" y="5633545"/>
                <a:ext cx="3073957" cy="4412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b="1" dirty="0">
                    <a:solidFill>
                      <a:srgbClr val="FF0000"/>
                    </a:solidFill>
                    <a:latin typeface="+mj-lt"/>
                  </a:rPr>
                  <a:t>P (A</a:t>
                </a:r>
                <a:r>
                  <a:rPr lang="en-GB" b="1" dirty="0">
                    <a:solidFill>
                      <a:srgbClr val="FF0000"/>
                    </a:solidFill>
                    <a:latin typeface="+mj-lt"/>
                    <a:cs typeface="Calibri" panose="020F0502020204030204" pitchFamily="34" charset="0"/>
                  </a:rPr>
                  <a:t>│B)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𝐏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𝐀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𝐚𝐧𝐝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𝐁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𝐏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𝐁</m:t>
                        </m:r>
                        <m:r>
                          <a:rPr lang="en-GB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GB" b="1" dirty="0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3" y="5633545"/>
                <a:ext cx="3073957" cy="441211"/>
              </a:xfrm>
              <a:prstGeom prst="rect">
                <a:avLst/>
              </a:prstGeom>
              <a:blipFill>
                <a:blip r:embed="rId2"/>
                <a:stretch>
                  <a:fillRect l="-4527" t="-5556" b="-13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204952" y="1545021"/>
            <a:ext cx="10211527" cy="497919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000" dirty="0"/>
              <a:t>Conditional probability is the probability of an event occurring </a:t>
            </a:r>
            <a:r>
              <a:rPr lang="en-GB" sz="2000" i="1" dirty="0"/>
              <a:t>given that another event has already occurred</a:t>
            </a:r>
            <a:r>
              <a:rPr lang="en-GB" sz="2000" dirty="0"/>
              <a:t>.</a:t>
            </a:r>
          </a:p>
          <a:p>
            <a:pPr>
              <a:lnSpc>
                <a:spcPct val="120000"/>
              </a:lnSpc>
            </a:pPr>
            <a:r>
              <a:rPr lang="en-GB" sz="2000" dirty="0"/>
              <a:t>P(A</a:t>
            </a:r>
            <a:r>
              <a:rPr lang="en-GB" sz="2000" dirty="0">
                <a:cs typeface="Calibri" panose="020F0502020204030204" pitchFamily="34" charset="0"/>
              </a:rPr>
              <a:t>│B) means “the probability of A occurring, given that B has occurred”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cs typeface="Calibri" panose="020F0502020204030204" pitchFamily="34" charset="0"/>
              </a:rPr>
              <a:t>For example, P(</a:t>
            </a:r>
            <a:r>
              <a:rPr lang="en-GB" sz="2000" dirty="0" err="1">
                <a:cs typeface="Calibri" panose="020F0502020204030204" pitchFamily="34" charset="0"/>
              </a:rPr>
              <a:t>snow│summer</a:t>
            </a:r>
            <a:r>
              <a:rPr lang="en-GB" sz="2000" dirty="0">
                <a:cs typeface="Calibri" panose="020F0502020204030204" pitchFamily="34" charset="0"/>
              </a:rPr>
              <a:t>) is much lower than P(</a:t>
            </a:r>
            <a:r>
              <a:rPr lang="en-GB" sz="2000" dirty="0" err="1">
                <a:cs typeface="Calibri" panose="020F0502020204030204" pitchFamily="34" charset="0"/>
              </a:rPr>
              <a:t>snow│winter</a:t>
            </a:r>
            <a:r>
              <a:rPr lang="en-GB" sz="2000" dirty="0"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cs typeface="Calibri" panose="020F0502020204030204" pitchFamily="34" charset="0"/>
              </a:rPr>
              <a:t>The second stage of a “without replacement” tree diagram is an example of conditional probability – the probabilities for the second stage vary depending on the outcome of the first stage</a:t>
            </a:r>
          </a:p>
          <a:p>
            <a:pPr>
              <a:lnSpc>
                <a:spcPct val="120000"/>
              </a:lnSpc>
            </a:pPr>
            <a:r>
              <a:rPr lang="en-GB" sz="2000" dirty="0">
                <a:cs typeface="Calibri" panose="020F0502020204030204" pitchFamily="34" charset="0"/>
              </a:rPr>
              <a:t>Venn diagrams and two-way tables are useful for calculating conditional probabilities.</a:t>
            </a:r>
            <a:endParaRPr lang="en-GB" sz="2000" dirty="0"/>
          </a:p>
          <a:p>
            <a:pPr>
              <a:lnSpc>
                <a:spcPct val="120000"/>
              </a:lnSpc>
            </a:pPr>
            <a:r>
              <a:rPr lang="en-GB" sz="2000" dirty="0">
                <a:cs typeface="Calibri" panose="020F0502020204030204" pitchFamily="34" charset="0"/>
              </a:rPr>
              <a:t>The general formula for calculating conditional probability is</a:t>
            </a:r>
          </a:p>
        </p:txBody>
      </p:sp>
    </p:spTree>
    <p:extLst>
      <p:ext uri="{BB962C8B-B14F-4D97-AF65-F5344CB8AC3E}">
        <p14:creationId xmlns:p14="http://schemas.microsoft.com/office/powerpoint/2010/main" val="23887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Two-way tables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981200" y="1268762"/>
            <a:ext cx="8075240" cy="35366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GB" dirty="0"/>
              <a:t>Fill in the blanks in this table showing ice-cream flavour preferences.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83633" y="1772816"/>
          <a:ext cx="6114805" cy="1872208"/>
        </p:xfrm>
        <a:graphic>
          <a:graphicData uri="http://schemas.openxmlformats.org/drawingml/2006/table">
            <a:tbl>
              <a:tblPr/>
              <a:tblGrid>
                <a:gridCol w="122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Choc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latin typeface="Arial"/>
                          <a:ea typeface="Times New Roman"/>
                          <a:cs typeface="Arial"/>
                        </a:rPr>
                        <a:t>Strawb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Vanilla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Total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Female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7"/>
          <p:cNvSpPr txBox="1">
            <a:spLocks/>
          </p:cNvSpPr>
          <p:nvPr/>
        </p:nvSpPr>
        <p:spPr>
          <a:xfrm>
            <a:off x="1829780" y="3512303"/>
            <a:ext cx="8532440" cy="31409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GB" sz="2000" dirty="0"/>
              <a:t>Now work out: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1. P(C) =				2. P(F) =			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3. P(C∩F) = 				4. P(CUF)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5. P(C’) =				6. P(C’∩F)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7. P(C’UF) =				8. P(C’UF’)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endParaRPr lang="en-GB" sz="2000" dirty="0"/>
          </a:p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endParaRPr lang="en-GB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6528049" y="2204865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24193" y="270892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5920" y="220486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7769" y="2708921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912" y="270892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5228" y="4166197"/>
            <a:ext cx="14061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20/60 = 1/3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8967" y="4168244"/>
            <a:ext cx="15359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32/60 = 8/15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5087" y="4698766"/>
            <a:ext cx="14061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15/60 = 1/4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38968" y="4710638"/>
            <a:ext cx="20810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(32+5)/60 = 37/60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62597" y="5249266"/>
            <a:ext cx="19511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(16+24)/60 = 2/3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8968" y="5261138"/>
            <a:ext cx="20810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(7+10)/60 = 17/60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2596" y="5792474"/>
            <a:ext cx="24689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(32+9+14)/60 = 11/12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8968" y="5804346"/>
            <a:ext cx="17299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1 - 15/60 = 3/4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5611" y="2900844"/>
            <a:ext cx="1584176" cy="1200329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i="1" dirty="0"/>
              <a:t>Can you see how addition law is applied here?</a:t>
            </a:r>
          </a:p>
        </p:txBody>
      </p:sp>
      <p:sp>
        <p:nvSpPr>
          <p:cNvPr id="3" name="Arrow: Right 2"/>
          <p:cNvSpPr/>
          <p:nvPr/>
        </p:nvSpPr>
        <p:spPr>
          <a:xfrm rot="8014146">
            <a:off x="9032229" y="4344548"/>
            <a:ext cx="1035059" cy="2209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70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06090"/>
          </a:xfrm>
        </p:spPr>
        <p:txBody>
          <a:bodyPr>
            <a:normAutofit/>
          </a:bodyPr>
          <a:lstStyle/>
          <a:p>
            <a:r>
              <a:rPr lang="en-GB" dirty="0"/>
              <a:t>Frequency trees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59696" y="1412776"/>
          <a:ext cx="5544616" cy="1584176"/>
        </p:xfrm>
        <a:graphic>
          <a:graphicData uri="http://schemas.openxmlformats.org/drawingml/2006/table">
            <a:tbl>
              <a:tblPr/>
              <a:tblGrid>
                <a:gridCol w="1111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9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9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3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4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000" dirty="0"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Arial"/>
                        </a:rPr>
                        <a:t>Choc</a:t>
                      </a:r>
                      <a:endParaRPr lang="en-GB" sz="20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 err="1">
                          <a:latin typeface="Arial"/>
                          <a:ea typeface="Times New Roman"/>
                          <a:cs typeface="Arial"/>
                        </a:rPr>
                        <a:t>Strawb</a:t>
                      </a:r>
                      <a:endParaRPr lang="en-GB" sz="20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Arial"/>
                        </a:rPr>
                        <a:t>Vanilla</a:t>
                      </a:r>
                      <a:endParaRPr lang="en-GB" sz="20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Arial"/>
                        </a:rPr>
                        <a:t>Total</a:t>
                      </a:r>
                      <a:endParaRPr lang="en-GB" sz="20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Female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4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000" dirty="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ontent Placeholder 7"/>
          <p:cNvSpPr txBox="1">
            <a:spLocks/>
          </p:cNvSpPr>
          <p:nvPr/>
        </p:nvSpPr>
        <p:spPr>
          <a:xfrm>
            <a:off x="1981200" y="1052737"/>
            <a:ext cx="8075240" cy="432047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3200" dirty="0"/>
              <a:t>Convert the data in this 2-way table into a frequency tree.</a:t>
            </a:r>
          </a:p>
        </p:txBody>
      </p:sp>
      <p:sp>
        <p:nvSpPr>
          <p:cNvPr id="5" name="Oval 4"/>
          <p:cNvSpPr/>
          <p:nvPr/>
        </p:nvSpPr>
        <p:spPr>
          <a:xfrm>
            <a:off x="1703512" y="4725144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60</a:t>
            </a:r>
          </a:p>
        </p:txBody>
      </p:sp>
      <p:sp>
        <p:nvSpPr>
          <p:cNvPr id="6" name="Oval 5"/>
          <p:cNvSpPr/>
          <p:nvPr/>
        </p:nvSpPr>
        <p:spPr>
          <a:xfrm>
            <a:off x="3503712" y="3717032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503712" y="5661248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5375920" y="3717032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375920" y="4365104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375920" y="5013176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375920" y="306896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/>
          <p:cNvSpPr/>
          <p:nvPr/>
        </p:nvSpPr>
        <p:spPr>
          <a:xfrm>
            <a:off x="5375920" y="5661248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375920" y="630932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>
            <a:stCxn id="5" idx="7"/>
            <a:endCxn id="6" idx="2"/>
          </p:cNvCxnSpPr>
          <p:nvPr/>
        </p:nvCxnSpPr>
        <p:spPr>
          <a:xfrm flipV="1">
            <a:off x="2256676" y="3969061"/>
            <a:ext cx="1247036" cy="8299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5" idx="5"/>
            <a:endCxn id="7" idx="2"/>
          </p:cNvCxnSpPr>
          <p:nvPr/>
        </p:nvCxnSpPr>
        <p:spPr>
          <a:xfrm>
            <a:off x="2256676" y="5155384"/>
            <a:ext cx="1247036" cy="7578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7"/>
            <a:endCxn id="11" idx="2"/>
          </p:cNvCxnSpPr>
          <p:nvPr/>
        </p:nvCxnSpPr>
        <p:spPr>
          <a:xfrm flipV="1">
            <a:off x="4056876" y="3320989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6" idx="6"/>
            <a:endCxn id="8" idx="2"/>
          </p:cNvCxnSpPr>
          <p:nvPr/>
        </p:nvCxnSpPr>
        <p:spPr>
          <a:xfrm>
            <a:off x="4151784" y="3969060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5"/>
            <a:endCxn id="9" idx="2"/>
          </p:cNvCxnSpPr>
          <p:nvPr/>
        </p:nvCxnSpPr>
        <p:spPr>
          <a:xfrm>
            <a:off x="4056876" y="4147272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7" idx="7"/>
            <a:endCxn id="10" idx="2"/>
          </p:cNvCxnSpPr>
          <p:nvPr/>
        </p:nvCxnSpPr>
        <p:spPr>
          <a:xfrm flipV="1">
            <a:off x="4056876" y="5265205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7" idx="6"/>
            <a:endCxn id="12" idx="2"/>
          </p:cNvCxnSpPr>
          <p:nvPr/>
        </p:nvCxnSpPr>
        <p:spPr>
          <a:xfrm>
            <a:off x="4151784" y="5913276"/>
            <a:ext cx="12241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13" idx="2"/>
          </p:cNvCxnSpPr>
          <p:nvPr/>
        </p:nvCxnSpPr>
        <p:spPr>
          <a:xfrm>
            <a:off x="4056876" y="6091488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567608" y="407707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73926" y="551723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3832" y="320368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9856" y="3933056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5318" y="436510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346" y="514790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8370" y="5877272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83832" y="630932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2024" y="3284985"/>
            <a:ext cx="4572000" cy="30285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GB" dirty="0"/>
              <a:t>Now use the frequency tree to work out: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/>
              <a:t>P(C)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/>
              <a:t>P(C∩F) = 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/>
              <a:t>P(CUF)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/>
              <a:t>P(C’∩F)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/>
              <a:t>P(C’UF) =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38630" y="378904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28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7728" y="573325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32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19936" y="31409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91944" y="378904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19936" y="44371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19936" y="50851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1944" y="573325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19936" y="638132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0602" y="4401979"/>
            <a:ext cx="1572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Same answers </a:t>
            </a:r>
          </a:p>
          <a:p>
            <a:r>
              <a:rPr lang="en-GB" dirty="0">
                <a:solidFill>
                  <a:srgbClr val="FF0000"/>
                </a:solidFill>
              </a:rPr>
              <a:t>as before</a:t>
            </a:r>
          </a:p>
        </p:txBody>
      </p:sp>
    </p:spTree>
    <p:extLst>
      <p:ext uri="{BB962C8B-B14F-4D97-AF65-F5344CB8AC3E}">
        <p14:creationId xmlns:p14="http://schemas.microsoft.com/office/powerpoint/2010/main" val="6667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184" y="188640"/>
            <a:ext cx="8507288" cy="706090"/>
          </a:xfrm>
        </p:spPr>
        <p:txBody>
          <a:bodyPr>
            <a:normAutofit/>
          </a:bodyPr>
          <a:lstStyle/>
          <a:p>
            <a:r>
              <a:rPr lang="en-GB" dirty="0"/>
              <a:t>Probability trees – </a:t>
            </a:r>
            <a:r>
              <a:rPr lang="en-GB" dirty="0">
                <a:solidFill>
                  <a:srgbClr val="0070C0"/>
                </a:solidFill>
              </a:rPr>
              <a:t>with replacement</a:t>
            </a:r>
          </a:p>
        </p:txBody>
      </p:sp>
      <p:sp>
        <p:nvSpPr>
          <p:cNvPr id="4" name="Content Placeholder 7"/>
          <p:cNvSpPr txBox="1">
            <a:spLocks/>
          </p:cNvSpPr>
          <p:nvPr/>
        </p:nvSpPr>
        <p:spPr>
          <a:xfrm>
            <a:off x="1981200" y="1052737"/>
            <a:ext cx="8075240" cy="432047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  <a:defRPr/>
            </a:pPr>
            <a:endParaRPr lang="en-GB" sz="3200" dirty="0"/>
          </a:p>
        </p:txBody>
      </p:sp>
      <p:sp>
        <p:nvSpPr>
          <p:cNvPr id="52" name="TextBox 51"/>
          <p:cNvSpPr txBox="1"/>
          <p:nvPr/>
        </p:nvSpPr>
        <p:spPr>
          <a:xfrm>
            <a:off x="1847529" y="908721"/>
            <a:ext cx="8525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bag contains 10 beads: 7 red and 3 yellow. </a:t>
            </a:r>
          </a:p>
          <a:p>
            <a:r>
              <a:rPr lang="en-GB" dirty="0"/>
              <a:t>A bead is drawn out of the bag and replaced, then a second draw is made.</a:t>
            </a:r>
          </a:p>
          <a:p>
            <a:r>
              <a:rPr lang="en-GB" dirty="0"/>
              <a:t>Use a probability tree to the determine the probability of drawing:</a:t>
            </a:r>
          </a:p>
          <a:p>
            <a:pPr marL="342900" indent="-342900">
              <a:buAutoNum type="alphaLcParenBoth"/>
            </a:pPr>
            <a:r>
              <a:rPr lang="en-GB" dirty="0"/>
              <a:t>Two red beads</a:t>
            </a:r>
          </a:p>
          <a:p>
            <a:pPr marL="342900" indent="-342900">
              <a:buAutoNum type="alphaLcParenBoth"/>
            </a:pPr>
            <a:r>
              <a:rPr lang="en-GB" dirty="0"/>
              <a:t>Two yellow beads</a:t>
            </a:r>
          </a:p>
          <a:p>
            <a:pPr marL="342900" indent="-342900">
              <a:buAutoNum type="alphaLcParenBoth"/>
            </a:pPr>
            <a:r>
              <a:rPr lang="en-GB" dirty="0"/>
              <a:t>One red and one yellow</a:t>
            </a:r>
          </a:p>
          <a:p>
            <a:pPr marL="342900" indent="-342900">
              <a:buAutoNum type="alphaLcParenBoth"/>
            </a:pPr>
            <a:r>
              <a:rPr lang="en-GB" dirty="0"/>
              <a:t>At least one red bead</a:t>
            </a: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7969" y="3068960"/>
            <a:ext cx="1285875" cy="457200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7969" y="4365104"/>
            <a:ext cx="1285875" cy="457200"/>
          </a:xfrm>
          <a:prstGeom prst="rect">
            <a:avLst/>
          </a:prstGeom>
          <a:noFill/>
        </p:spPr>
      </p:pic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7969" y="5013176"/>
            <a:ext cx="1285875" cy="457200"/>
          </a:xfrm>
          <a:prstGeom prst="rect">
            <a:avLst/>
          </a:prstGeom>
          <a:noFill/>
        </p:spPr>
      </p:pic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07969" y="6284168"/>
            <a:ext cx="1285875" cy="457200"/>
          </a:xfrm>
          <a:prstGeom prst="rect">
            <a:avLst/>
          </a:prstGeom>
          <a:noFill/>
        </p:spPr>
      </p:pic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3143672" y="3717032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Oval 53"/>
          <p:cNvSpPr/>
          <p:nvPr/>
        </p:nvSpPr>
        <p:spPr>
          <a:xfrm>
            <a:off x="3143672" y="5661248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Oval 54"/>
          <p:cNvSpPr/>
          <p:nvPr/>
        </p:nvSpPr>
        <p:spPr>
          <a:xfrm>
            <a:off x="5015880" y="4365104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/>
          <p:cNvSpPr/>
          <p:nvPr/>
        </p:nvSpPr>
        <p:spPr>
          <a:xfrm>
            <a:off x="5015880" y="5013176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Oval 56"/>
          <p:cNvSpPr/>
          <p:nvPr/>
        </p:nvSpPr>
        <p:spPr>
          <a:xfrm>
            <a:off x="5015880" y="306896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Oval 57"/>
          <p:cNvSpPr/>
          <p:nvPr/>
        </p:nvSpPr>
        <p:spPr>
          <a:xfrm>
            <a:off x="5015880" y="630932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9" name="Straight Connector 58"/>
          <p:cNvCxnSpPr>
            <a:endCxn id="53" idx="2"/>
          </p:cNvCxnSpPr>
          <p:nvPr/>
        </p:nvCxnSpPr>
        <p:spPr>
          <a:xfrm flipV="1">
            <a:off x="1631504" y="3969060"/>
            <a:ext cx="1512168" cy="10441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endCxn id="54" idx="2"/>
          </p:cNvCxnSpPr>
          <p:nvPr/>
        </p:nvCxnSpPr>
        <p:spPr>
          <a:xfrm>
            <a:off x="1631504" y="5013176"/>
            <a:ext cx="1512168" cy="900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3" idx="7"/>
            <a:endCxn id="57" idx="2"/>
          </p:cNvCxnSpPr>
          <p:nvPr/>
        </p:nvCxnSpPr>
        <p:spPr>
          <a:xfrm flipV="1">
            <a:off x="3696836" y="3320989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53" idx="5"/>
            <a:endCxn id="55" idx="2"/>
          </p:cNvCxnSpPr>
          <p:nvPr/>
        </p:nvCxnSpPr>
        <p:spPr>
          <a:xfrm>
            <a:off x="3696836" y="4147272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54" idx="7"/>
            <a:endCxn id="56" idx="2"/>
          </p:cNvCxnSpPr>
          <p:nvPr/>
        </p:nvCxnSpPr>
        <p:spPr>
          <a:xfrm flipV="1">
            <a:off x="3696836" y="5265205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54" idx="5"/>
            <a:endCxn id="58" idx="2"/>
          </p:cNvCxnSpPr>
          <p:nvPr/>
        </p:nvCxnSpPr>
        <p:spPr>
          <a:xfrm>
            <a:off x="3696836" y="6091488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287688" y="378904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87688" y="57332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pic>
        <p:nvPicPr>
          <p:cNvPr id="67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79576" y="3933056"/>
            <a:ext cx="228600" cy="457200"/>
          </a:xfrm>
          <a:prstGeom prst="rect">
            <a:avLst/>
          </a:prstGeom>
          <a:noFill/>
        </p:spPr>
      </p:pic>
      <p:sp>
        <p:nvSpPr>
          <p:cNvPr id="68" name="TextBox 67"/>
          <p:cNvSpPr txBox="1"/>
          <p:nvPr/>
        </p:nvSpPr>
        <p:spPr>
          <a:xfrm>
            <a:off x="5159896" y="3140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59896" y="443711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59896" y="50851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59896" y="638132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pic>
        <p:nvPicPr>
          <p:cNvPr id="72" name="Picture 10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79576" y="5517232"/>
            <a:ext cx="228600" cy="457200"/>
          </a:xfrm>
          <a:prstGeom prst="rect">
            <a:avLst/>
          </a:prstGeom>
          <a:noFill/>
        </p:spPr>
      </p:pic>
      <p:pic>
        <p:nvPicPr>
          <p:cNvPr id="73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35760" y="3140968"/>
            <a:ext cx="228600" cy="457200"/>
          </a:xfrm>
          <a:prstGeom prst="rect">
            <a:avLst/>
          </a:prstGeom>
          <a:noFill/>
        </p:spPr>
      </p:pic>
      <p:pic>
        <p:nvPicPr>
          <p:cNvPr id="74" name="Picture 10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95192" y="4339952"/>
            <a:ext cx="228600" cy="457200"/>
          </a:xfrm>
          <a:prstGeom prst="rect">
            <a:avLst/>
          </a:prstGeom>
          <a:noFill/>
        </p:spPr>
      </p:pic>
      <p:pic>
        <p:nvPicPr>
          <p:cNvPr id="75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23792" y="5013176"/>
            <a:ext cx="228600" cy="457200"/>
          </a:xfrm>
          <a:prstGeom prst="rect">
            <a:avLst/>
          </a:prstGeom>
          <a:noFill/>
        </p:spPr>
      </p:pic>
      <p:pic>
        <p:nvPicPr>
          <p:cNvPr id="76" name="Picture 10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07768" y="6309320"/>
            <a:ext cx="228600" cy="457200"/>
          </a:xfrm>
          <a:prstGeom prst="rect">
            <a:avLst/>
          </a:prstGeom>
          <a:noFill/>
        </p:spPr>
      </p:pic>
      <p:sp>
        <p:nvSpPr>
          <p:cNvPr id="77" name="Rectangle 76"/>
          <p:cNvSpPr/>
          <p:nvPr/>
        </p:nvSpPr>
        <p:spPr>
          <a:xfrm>
            <a:off x="7589912" y="2996953"/>
            <a:ext cx="3078088" cy="3028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(a) P(RR) = 49/100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(b) P(YY) = 9/100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(c) P(RY or YR) = 42/100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(d) P(RR or RY or YR) 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    = P (anything but YY)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0070C0"/>
                </a:solidFill>
              </a:rPr>
              <a:t>    = 1 – P(YY) = 91/100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35560" y="3429000"/>
            <a:ext cx="93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1</a:t>
            </a:r>
            <a:r>
              <a:rPr lang="en-GB" baseline="30000" dirty="0">
                <a:solidFill>
                  <a:srgbClr val="0070C0"/>
                </a:solidFill>
              </a:rPr>
              <a:t>st</a:t>
            </a:r>
            <a:r>
              <a:rPr lang="en-GB" dirty="0">
                <a:solidFill>
                  <a:srgbClr val="0070C0"/>
                </a:solidFill>
              </a:rPr>
              <a:t> draw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51784" y="2852936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</a:t>
            </a:r>
            <a:r>
              <a:rPr lang="en-GB" baseline="30000" dirty="0">
                <a:solidFill>
                  <a:srgbClr val="0070C0"/>
                </a:solidFill>
              </a:rPr>
              <a:t>nd</a:t>
            </a:r>
            <a:r>
              <a:rPr lang="en-GB" dirty="0">
                <a:solidFill>
                  <a:srgbClr val="0070C0"/>
                </a:solidFill>
              </a:rPr>
              <a:t> draw</a:t>
            </a:r>
          </a:p>
        </p:txBody>
      </p:sp>
    </p:spTree>
    <p:extLst>
      <p:ext uri="{BB962C8B-B14F-4D97-AF65-F5344CB8AC3E}">
        <p14:creationId xmlns:p14="http://schemas.microsoft.com/office/powerpoint/2010/main" val="1488852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8640"/>
            <a:ext cx="9144000" cy="706090"/>
          </a:xfrm>
        </p:spPr>
        <p:txBody>
          <a:bodyPr>
            <a:normAutofit/>
          </a:bodyPr>
          <a:lstStyle/>
          <a:p>
            <a:r>
              <a:rPr lang="en-GB" dirty="0"/>
              <a:t>Probability trees – </a:t>
            </a:r>
            <a:r>
              <a:rPr lang="en-GB" dirty="0">
                <a:solidFill>
                  <a:srgbClr val="FF0000"/>
                </a:solidFill>
              </a:rPr>
              <a:t>without replacement</a:t>
            </a:r>
          </a:p>
        </p:txBody>
      </p:sp>
      <p:sp>
        <p:nvSpPr>
          <p:cNvPr id="4" name="Content Placeholder 7"/>
          <p:cNvSpPr txBox="1">
            <a:spLocks/>
          </p:cNvSpPr>
          <p:nvPr/>
        </p:nvSpPr>
        <p:spPr>
          <a:xfrm>
            <a:off x="1981200" y="1052737"/>
            <a:ext cx="8075240" cy="432047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  <a:defRPr/>
            </a:pPr>
            <a:endParaRPr lang="en-GB" sz="3200" dirty="0"/>
          </a:p>
        </p:txBody>
      </p:sp>
      <p:sp>
        <p:nvSpPr>
          <p:cNvPr id="6" name="Oval 5"/>
          <p:cNvSpPr/>
          <p:nvPr/>
        </p:nvSpPr>
        <p:spPr>
          <a:xfrm>
            <a:off x="3143672" y="3717032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3143672" y="5661248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5015880" y="4365104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/>
          <p:cNvSpPr/>
          <p:nvPr/>
        </p:nvSpPr>
        <p:spPr>
          <a:xfrm>
            <a:off x="5015880" y="5013176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5015880" y="306896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/>
          <p:cNvSpPr/>
          <p:nvPr/>
        </p:nvSpPr>
        <p:spPr>
          <a:xfrm>
            <a:off x="5015880" y="6309320"/>
            <a:ext cx="648072" cy="50405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/>
          <p:cNvCxnSpPr>
            <a:endCxn id="6" idx="2"/>
          </p:cNvCxnSpPr>
          <p:nvPr/>
        </p:nvCxnSpPr>
        <p:spPr>
          <a:xfrm flipV="1">
            <a:off x="1631504" y="3969060"/>
            <a:ext cx="1512168" cy="104411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7" idx="2"/>
          </p:cNvCxnSpPr>
          <p:nvPr/>
        </p:nvCxnSpPr>
        <p:spPr>
          <a:xfrm>
            <a:off x="1631504" y="5013176"/>
            <a:ext cx="1512168" cy="900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6" idx="7"/>
            <a:endCxn id="11" idx="2"/>
          </p:cNvCxnSpPr>
          <p:nvPr/>
        </p:nvCxnSpPr>
        <p:spPr>
          <a:xfrm flipV="1">
            <a:off x="3696836" y="3320989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6" idx="5"/>
            <a:endCxn id="9" idx="2"/>
          </p:cNvCxnSpPr>
          <p:nvPr/>
        </p:nvCxnSpPr>
        <p:spPr>
          <a:xfrm>
            <a:off x="3696836" y="4147272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7" idx="7"/>
            <a:endCxn id="10" idx="2"/>
          </p:cNvCxnSpPr>
          <p:nvPr/>
        </p:nvCxnSpPr>
        <p:spPr>
          <a:xfrm flipV="1">
            <a:off x="3696836" y="5265205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7" idx="5"/>
            <a:endCxn id="13" idx="2"/>
          </p:cNvCxnSpPr>
          <p:nvPr/>
        </p:nvCxnSpPr>
        <p:spPr>
          <a:xfrm>
            <a:off x="3696836" y="6091488"/>
            <a:ext cx="1319044" cy="46986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287688" y="3789040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87688" y="573325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47529" y="908721"/>
            <a:ext cx="852567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bag contains 10 beads: 7 red and 3 yellow. </a:t>
            </a:r>
          </a:p>
          <a:p>
            <a:r>
              <a:rPr lang="en-GB" dirty="0"/>
              <a:t>Two beads are drawn out of the bag (without replacement).</a:t>
            </a:r>
          </a:p>
          <a:p>
            <a:r>
              <a:rPr lang="en-GB" dirty="0"/>
              <a:t>Use a probability tree to the determine the probability of drawing:</a:t>
            </a:r>
          </a:p>
          <a:p>
            <a:pPr marL="342900" indent="-342900">
              <a:buAutoNum type="alphaLcParenBoth"/>
            </a:pPr>
            <a:r>
              <a:rPr lang="en-GB" dirty="0"/>
              <a:t>Two red beads</a:t>
            </a:r>
          </a:p>
          <a:p>
            <a:pPr marL="342900" indent="-342900">
              <a:buAutoNum type="alphaLcParenBoth"/>
            </a:pPr>
            <a:r>
              <a:rPr lang="en-GB" dirty="0"/>
              <a:t>Two yellow beads</a:t>
            </a:r>
          </a:p>
          <a:p>
            <a:pPr marL="342900" indent="-342900">
              <a:buAutoNum type="alphaLcParenBoth"/>
            </a:pPr>
            <a:r>
              <a:rPr lang="en-GB" dirty="0"/>
              <a:t>One red and one yellow</a:t>
            </a:r>
          </a:p>
          <a:p>
            <a:pPr marL="342900" indent="-342900">
              <a:buAutoNum type="alphaLcParenBoth"/>
            </a:pPr>
            <a:r>
              <a:rPr lang="en-GB" dirty="0"/>
              <a:t>At least one red bead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79576" y="3933056"/>
            <a:ext cx="228600" cy="457200"/>
          </a:xfrm>
          <a:prstGeom prst="rect">
            <a:avLst/>
          </a:prstGeom>
          <a:noFill/>
        </p:spPr>
      </p:pic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59896" y="3140968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59896" y="4437112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9896" y="50851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59896" y="6381328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Y</a:t>
            </a: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79576" y="5517232"/>
            <a:ext cx="228600" cy="457200"/>
          </a:xfrm>
          <a:prstGeom prst="rect">
            <a:avLst/>
          </a:prstGeom>
          <a:noFill/>
        </p:spPr>
      </p:pic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81500" y="5060032"/>
            <a:ext cx="114300" cy="457200"/>
          </a:xfrm>
          <a:prstGeom prst="rect">
            <a:avLst/>
          </a:prstGeom>
          <a:noFill/>
        </p:spPr>
      </p:pic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7752184" y="2852936"/>
            <a:ext cx="29158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(a) P(RR) = 7/15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(b) P(YY) = 1/15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(c) P(RY or YR) 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	= P(RY) + P(YR)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	= 14/30 = 7/15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(d) P(RR or RY or YR) 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    = P (anything but YY)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dirty="0">
                <a:solidFill>
                  <a:srgbClr val="FF0000"/>
                </a:solidFill>
              </a:rPr>
              <a:t>    = 1 – P(YY) 	= 14/15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67" name="Picture 19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51784" y="4365104"/>
            <a:ext cx="114300" cy="457200"/>
          </a:xfrm>
          <a:prstGeom prst="rect">
            <a:avLst/>
          </a:prstGeom>
          <a:noFill/>
        </p:spPr>
      </p:pic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74" name="Rectangle 26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75" name="Rectangle 27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77" name="Rectangle 29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78" name="Rectangle 30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80" name="Rectangle 3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81" name="Rectangle 33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83" name="Rectangle 3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84" name="Rectangle 36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86" name="Rectangle 3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85" name="Picture 3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07768" y="6284168"/>
            <a:ext cx="114300" cy="457200"/>
          </a:xfrm>
          <a:prstGeom prst="rect">
            <a:avLst/>
          </a:prstGeom>
          <a:noFill/>
        </p:spPr>
      </p:pic>
      <p:sp>
        <p:nvSpPr>
          <p:cNvPr id="2087" name="Rectangle 39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89" name="Rectangle 4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88" name="Picture 40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65476" y="3187824"/>
            <a:ext cx="114300" cy="457200"/>
          </a:xfrm>
          <a:prstGeom prst="rect">
            <a:avLst/>
          </a:prstGeom>
          <a:noFill/>
        </p:spPr>
      </p:pic>
      <p:sp>
        <p:nvSpPr>
          <p:cNvPr id="2090" name="Rectangle 42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92" name="Rectangle 4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2093" name="Rectangle 45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95" name="Rectangle 47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94" name="Picture 46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35961" y="4365104"/>
            <a:ext cx="1552575" cy="457200"/>
          </a:xfrm>
          <a:prstGeom prst="rect">
            <a:avLst/>
          </a:prstGeom>
          <a:noFill/>
        </p:spPr>
      </p:pic>
      <p:sp>
        <p:nvSpPr>
          <p:cNvPr id="2096" name="Rectangle 48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97" name="Picture 49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35961" y="5013176"/>
            <a:ext cx="1552575" cy="457200"/>
          </a:xfrm>
          <a:prstGeom prst="rect">
            <a:avLst/>
          </a:prstGeom>
          <a:noFill/>
        </p:spPr>
      </p:pic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01" name="Rectangle 53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100" name="Picture 52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35961" y="6309320"/>
            <a:ext cx="1552575" cy="457200"/>
          </a:xfrm>
          <a:prstGeom prst="rect">
            <a:avLst/>
          </a:prstGeom>
          <a:noFill/>
        </p:spPr>
      </p:pic>
      <p:sp>
        <p:nvSpPr>
          <p:cNvPr id="2102" name="Rectangle 54"/>
          <p:cNvSpPr>
            <a:spLocks noChangeArrowheads="1"/>
          </p:cNvSpPr>
          <p:nvPr/>
        </p:nvSpPr>
        <p:spPr bwMode="auto">
          <a:xfrm>
            <a:off x="1524001" y="729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7" name="Horizontal Scroll 106"/>
          <p:cNvSpPr/>
          <p:nvPr/>
        </p:nvSpPr>
        <p:spPr>
          <a:xfrm>
            <a:off x="5951984" y="1916832"/>
            <a:ext cx="2520280" cy="936104"/>
          </a:xfrm>
          <a:prstGeom prst="horizontalScroll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70C0"/>
                </a:solidFill>
              </a:rPr>
              <a:t>Think carefully about the second draw!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5560" y="3429000"/>
            <a:ext cx="936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1</a:t>
            </a:r>
            <a:r>
              <a:rPr lang="en-GB" baseline="30000" dirty="0">
                <a:solidFill>
                  <a:srgbClr val="0070C0"/>
                </a:solidFill>
              </a:rPr>
              <a:t>st</a:t>
            </a:r>
            <a:r>
              <a:rPr lang="en-GB" dirty="0">
                <a:solidFill>
                  <a:srgbClr val="0070C0"/>
                </a:solidFill>
              </a:rPr>
              <a:t> draw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151784" y="2852936"/>
            <a:ext cx="986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2</a:t>
            </a:r>
            <a:r>
              <a:rPr lang="en-GB" baseline="30000" dirty="0">
                <a:solidFill>
                  <a:srgbClr val="0070C0"/>
                </a:solidFill>
              </a:rPr>
              <a:t>nd</a:t>
            </a:r>
            <a:r>
              <a:rPr lang="en-GB" dirty="0">
                <a:solidFill>
                  <a:srgbClr val="0070C0"/>
                </a:solidFill>
              </a:rPr>
              <a:t> draw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4956" y="1196752"/>
            <a:ext cx="1505540" cy="92333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i="1" dirty="0"/>
              <a:t>Relevant exercise:</a:t>
            </a:r>
          </a:p>
          <a:p>
            <a:r>
              <a:rPr lang="en-GB" i="1" dirty="0"/>
              <a:t>p257 M8.11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35961" y="3068960"/>
            <a:ext cx="1743075" cy="514350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9054956" y="15920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(Higher only)</a:t>
            </a:r>
          </a:p>
        </p:txBody>
      </p:sp>
    </p:spTree>
    <p:extLst>
      <p:ext uri="{BB962C8B-B14F-4D97-AF65-F5344CB8AC3E}">
        <p14:creationId xmlns:p14="http://schemas.microsoft.com/office/powerpoint/2010/main" val="3729050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uild="p"/>
      <p:bldP spid="10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4624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/>
              <a:t>Conditional probability</a:t>
            </a:r>
            <a:br>
              <a:rPr lang="en-GB" dirty="0"/>
            </a:br>
            <a:r>
              <a:rPr lang="en-GB" sz="2700" dirty="0"/>
              <a:t>(Higher only)</a:t>
            </a:r>
          </a:p>
        </p:txBody>
      </p:sp>
      <p:grpSp>
        <p:nvGrpSpPr>
          <p:cNvPr id="4" name="Group 106"/>
          <p:cNvGrpSpPr/>
          <p:nvPr/>
        </p:nvGrpSpPr>
        <p:grpSpPr>
          <a:xfrm>
            <a:off x="1756747" y="1736812"/>
            <a:ext cx="1800200" cy="1224136"/>
            <a:chOff x="179512" y="5373216"/>
            <a:chExt cx="1368152" cy="936104"/>
          </a:xfrm>
        </p:grpSpPr>
        <p:sp>
          <p:nvSpPr>
            <p:cNvPr id="5" name="Oval 4"/>
            <p:cNvSpPr/>
            <p:nvPr/>
          </p:nvSpPr>
          <p:spPr>
            <a:xfrm>
              <a:off x="35859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726773" y="5517232"/>
              <a:ext cx="641810" cy="648072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79512" y="5373216"/>
              <a:ext cx="1368152" cy="936104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54222" y="5428281"/>
              <a:ext cx="257301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9308" y="5428281"/>
              <a:ext cx="214662" cy="2353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B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656594" y="1628800"/>
            <a:ext cx="68318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 the Venn diagram to find the probability that:</a:t>
            </a:r>
          </a:p>
          <a:p>
            <a:pPr marL="228600" indent="-228600">
              <a:buAutoNum type="alphaLcParenBoth"/>
            </a:pPr>
            <a:r>
              <a:rPr lang="en-GB" dirty="0"/>
              <a:t> a student studies Biology, given that they study Maths</a:t>
            </a:r>
          </a:p>
          <a:p>
            <a:pPr marL="228600" indent="-228600">
              <a:buAutoNum type="alphaLcParenBoth"/>
            </a:pPr>
            <a:r>
              <a:rPr lang="en-GB" dirty="0"/>
              <a:t> a student studies Maths, given that they don’t study Biology</a:t>
            </a:r>
          </a:p>
          <a:p>
            <a:pPr marL="228600" indent="-228600">
              <a:buAutoNum type="alphaLcParenBoth"/>
            </a:pPr>
            <a:r>
              <a:rPr lang="en-GB" dirty="0"/>
              <a:t> a student studies both Maths and Biology, given that they study at least one of them.</a:t>
            </a:r>
          </a:p>
          <a:p>
            <a:r>
              <a:rPr lang="en-GB" dirty="0"/>
              <a:t>Write your answers using set notation.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4779" y="2168861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6827" y="2168861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8875" y="2168861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96907" y="2600909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0070C0"/>
                </a:solidFill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4739" y="1196752"/>
            <a:ext cx="86742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a group of 100 students, 50 study Maths, 29 study Biology, and 13 study both.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2842" y="3350558"/>
            <a:ext cx="852606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(a) Total number studying Maths = 50</a:t>
            </a:r>
          </a:p>
          <a:p>
            <a:r>
              <a:rPr lang="en-GB" dirty="0"/>
              <a:t>      Of these, the number studying Biology = 13</a:t>
            </a:r>
          </a:p>
          <a:p>
            <a:r>
              <a:rPr lang="en-GB" dirty="0"/>
              <a:t>      So P(B</a:t>
            </a:r>
            <a:r>
              <a:rPr lang="en-GB" dirty="0">
                <a:cs typeface="Calibri" panose="020F0502020204030204" pitchFamily="34" charset="0"/>
              </a:rPr>
              <a:t>│</a:t>
            </a:r>
            <a:r>
              <a:rPr lang="en-GB" dirty="0"/>
              <a:t>M) = </a:t>
            </a:r>
            <a:r>
              <a:rPr lang="en-GB" b="1" dirty="0"/>
              <a:t>13/50</a:t>
            </a:r>
            <a:r>
              <a:rPr lang="en-GB" dirty="0"/>
              <a:t>   or   </a:t>
            </a:r>
            <a:r>
              <a:rPr lang="en-GB" b="1" dirty="0"/>
              <a:t>0.26</a:t>
            </a:r>
          </a:p>
          <a:p>
            <a:r>
              <a:rPr lang="en-GB" dirty="0"/>
              <a:t>(b) Total number NOT studying Biology = 34 + 37 = 71</a:t>
            </a:r>
          </a:p>
          <a:p>
            <a:r>
              <a:rPr lang="en-GB" dirty="0"/>
              <a:t>      Of these, the number studying Maths = 37</a:t>
            </a:r>
          </a:p>
          <a:p>
            <a:r>
              <a:rPr lang="en-GB" dirty="0"/>
              <a:t>      So P(M</a:t>
            </a:r>
            <a:r>
              <a:rPr lang="en-GB" dirty="0">
                <a:cs typeface="Calibri" panose="020F0502020204030204" pitchFamily="34" charset="0"/>
              </a:rPr>
              <a:t>│B’) = </a:t>
            </a:r>
            <a:r>
              <a:rPr lang="en-GB" b="1" dirty="0">
                <a:cs typeface="Calibri" panose="020F0502020204030204" pitchFamily="34" charset="0"/>
              </a:rPr>
              <a:t>37/71</a:t>
            </a:r>
            <a:r>
              <a:rPr lang="en-GB" dirty="0">
                <a:cs typeface="Calibri" panose="020F0502020204030204" pitchFamily="34" charset="0"/>
              </a:rPr>
              <a:t>   or   </a:t>
            </a:r>
            <a:r>
              <a:rPr lang="en-GB" b="1" dirty="0">
                <a:cs typeface="Calibri" panose="020F0502020204030204" pitchFamily="34" charset="0"/>
              </a:rPr>
              <a:t>0.521</a:t>
            </a:r>
            <a:r>
              <a:rPr lang="en-GB" dirty="0">
                <a:cs typeface="Calibri" panose="020F0502020204030204" pitchFamily="34" charset="0"/>
              </a:rPr>
              <a:t> (3 </a:t>
            </a:r>
            <a:r>
              <a:rPr lang="en-GB" dirty="0" err="1">
                <a:cs typeface="Calibri" panose="020F0502020204030204" pitchFamily="34" charset="0"/>
              </a:rPr>
              <a:t>s.f.</a:t>
            </a:r>
            <a:r>
              <a:rPr lang="en-GB" dirty="0">
                <a:cs typeface="Calibri" panose="020F0502020204030204" pitchFamily="34" charset="0"/>
              </a:rPr>
              <a:t>)</a:t>
            </a:r>
          </a:p>
          <a:p>
            <a:r>
              <a:rPr lang="en-GB" dirty="0">
                <a:cs typeface="Calibri" panose="020F0502020204030204" pitchFamily="34" charset="0"/>
              </a:rPr>
              <a:t>(c) Total number studying Maths and/or Biology = 37 + 13 + 16 = 66</a:t>
            </a:r>
          </a:p>
          <a:p>
            <a:r>
              <a:rPr lang="en-GB" dirty="0">
                <a:cs typeface="Calibri" panose="020F0502020204030204" pitchFamily="34" charset="0"/>
              </a:rPr>
              <a:t>      Of these, the number studying both subjects = 13 </a:t>
            </a:r>
          </a:p>
          <a:p>
            <a:r>
              <a:rPr lang="en-GB" dirty="0">
                <a:cs typeface="Calibri" panose="020F0502020204030204" pitchFamily="34" charset="0"/>
              </a:rPr>
              <a:t>      So P((</a:t>
            </a:r>
            <a:r>
              <a:rPr lang="en-GB" dirty="0"/>
              <a:t>M ∩ B</a:t>
            </a:r>
            <a:r>
              <a:rPr lang="en-GB" dirty="0">
                <a:cs typeface="Calibri" panose="020F0502020204030204" pitchFamily="34" charset="0"/>
              </a:rPr>
              <a:t>) │</a:t>
            </a:r>
            <a:r>
              <a:rPr lang="en-GB" dirty="0"/>
              <a:t>(M U B)) = </a:t>
            </a:r>
            <a:r>
              <a:rPr lang="en-GB" b="1" dirty="0"/>
              <a:t>13/66</a:t>
            </a:r>
            <a:r>
              <a:rPr lang="en-GB" dirty="0"/>
              <a:t>   or   </a:t>
            </a:r>
            <a:r>
              <a:rPr lang="en-GB" b="1" dirty="0"/>
              <a:t>0.197</a:t>
            </a:r>
            <a:r>
              <a:rPr lang="en-GB" dirty="0"/>
              <a:t> (3 </a:t>
            </a:r>
            <a:r>
              <a:rPr lang="en-GB" dirty="0" err="1"/>
              <a:t>s.f.</a:t>
            </a:r>
            <a:r>
              <a:rPr lang="en-GB" dirty="0"/>
              <a:t>)</a:t>
            </a:r>
          </a:p>
          <a:p>
            <a:r>
              <a:rPr lang="en-GB" dirty="0"/>
              <a:t>If the Venn diagram shows probabilities rather than frequencies, it still works in exactly the same way – just use the probabilities instead of the frequencies.</a:t>
            </a:r>
          </a:p>
          <a:p>
            <a:r>
              <a:rPr lang="en-GB" dirty="0">
                <a:solidFill>
                  <a:srgbClr val="FF0000"/>
                </a:solidFill>
              </a:rPr>
              <a:t>The value on the top should NEVER be bigger than the value on the bottom!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8499" y="3933057"/>
            <a:ext cx="1368152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i="1" dirty="0"/>
              <a:t>Now try p260 E8.2</a:t>
            </a:r>
          </a:p>
        </p:txBody>
      </p:sp>
    </p:spTree>
    <p:extLst>
      <p:ext uri="{BB962C8B-B14F-4D97-AF65-F5344CB8AC3E}">
        <p14:creationId xmlns:p14="http://schemas.microsoft.com/office/powerpoint/2010/main" val="1326002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54168" y="227385"/>
            <a:ext cx="7427168" cy="1143000"/>
          </a:xfrm>
        </p:spPr>
        <p:txBody>
          <a:bodyPr>
            <a:normAutofit/>
          </a:bodyPr>
          <a:lstStyle/>
          <a:p>
            <a:r>
              <a:rPr lang="en-GB" dirty="0"/>
              <a:t>Conditional probability using two-way tables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40476" y="1530125"/>
            <a:ext cx="8075240" cy="4320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/>
              <a:t>The table is already filled in for you this time.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83633" y="2143333"/>
          <a:ext cx="6114805" cy="1872208"/>
        </p:xfrm>
        <a:graphic>
          <a:graphicData uri="http://schemas.openxmlformats.org/drawingml/2006/table">
            <a:tbl>
              <a:tblPr/>
              <a:tblGrid>
                <a:gridCol w="1225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7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9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GB" sz="2400" dirty="0">
                        <a:latin typeface="Arial"/>
                        <a:ea typeface="Times New Roman"/>
                        <a:cs typeface="Arial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Choc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latin typeface="Arial"/>
                          <a:ea typeface="Times New Roman"/>
                          <a:cs typeface="Arial"/>
                        </a:rPr>
                        <a:t>Strawb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Vanilla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Arial"/>
                        </a:rPr>
                        <a:t>Total</a:t>
                      </a:r>
                      <a:endParaRPr lang="en-GB" sz="24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Female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5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24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Content Placeholder 7"/>
          <p:cNvSpPr txBox="1">
            <a:spLocks/>
          </p:cNvSpPr>
          <p:nvPr/>
        </p:nvSpPr>
        <p:spPr>
          <a:xfrm>
            <a:off x="2040476" y="4077073"/>
            <a:ext cx="8064896" cy="25549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342900">
              <a:lnSpc>
                <a:spcPct val="160000"/>
              </a:lnSpc>
              <a:spcBef>
                <a:spcPct val="20000"/>
              </a:spcBef>
              <a:defRPr/>
            </a:pPr>
            <a:r>
              <a:rPr lang="en-GB" sz="2000" dirty="0"/>
              <a:t>Now work out: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1. P(C) =			2. P(C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│F</a:t>
            </a:r>
            <a:r>
              <a:rPr lang="en-GB" sz="2000" dirty="0"/>
              <a:t>) =			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3. P(F) = 			4. P(F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│C</a:t>
            </a:r>
            <a:r>
              <a:rPr lang="en-GB" sz="2000" dirty="0"/>
              <a:t>) =</a:t>
            </a:r>
          </a:p>
          <a:p>
            <a:pPr marL="342900" indent="-342900">
              <a:lnSpc>
                <a:spcPct val="160000"/>
              </a:lnSpc>
              <a:spcBef>
                <a:spcPct val="20000"/>
              </a:spcBef>
            </a:pPr>
            <a:r>
              <a:rPr lang="en-GB" sz="2000" dirty="0"/>
              <a:t>5. P(C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│F’</a:t>
            </a:r>
            <a:r>
              <a:rPr lang="en-GB" sz="2000" dirty="0"/>
              <a:t>) =			6. P(F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│C’</a:t>
            </a:r>
            <a:r>
              <a:rPr lang="en-GB" sz="2000" dirty="0"/>
              <a:t>) =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4352" y="3101747"/>
            <a:ext cx="1129052" cy="64633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tx1"/>
                </a:solidFill>
              </a:rPr>
              <a:t>Now try p262 q9</a:t>
            </a:r>
          </a:p>
        </p:txBody>
      </p:sp>
      <p:sp>
        <p:nvSpPr>
          <p:cNvPr id="3" name="Rectangle 2"/>
          <p:cNvSpPr/>
          <p:nvPr/>
        </p:nvSpPr>
        <p:spPr>
          <a:xfrm>
            <a:off x="3143672" y="4725144"/>
            <a:ext cx="14061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20/60 = 1/3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3232" y="4725144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15/32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43672" y="5275644"/>
            <a:ext cx="15359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32/60 = 8/15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33231" y="5275644"/>
            <a:ext cx="14061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15/20 = 3/4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0592" y="5826144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5/28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33231" y="5826144"/>
            <a:ext cx="26260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000" dirty="0">
                <a:solidFill>
                  <a:srgbClr val="FF0000"/>
                </a:solidFill>
              </a:rPr>
              <a:t>(7+10)/(16+24) = 17/40</a:t>
            </a:r>
          </a:p>
        </p:txBody>
      </p:sp>
    </p:spTree>
    <p:extLst>
      <p:ext uri="{BB962C8B-B14F-4D97-AF65-F5344CB8AC3E}">
        <p14:creationId xmlns:p14="http://schemas.microsoft.com/office/powerpoint/2010/main" val="3263792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" grpId="0"/>
      <p:bldP spid="17" grpId="0"/>
      <p:bldP spid="18" grpId="0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Independent events and multiplication law</a:t>
            </a:r>
            <a:br>
              <a:rPr lang="en-GB" dirty="0"/>
            </a:br>
            <a:r>
              <a:rPr lang="en-GB" sz="2700" dirty="0"/>
              <a:t>(Higher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83358"/>
            <a:ext cx="8229600" cy="438194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If </a:t>
            </a:r>
            <a:r>
              <a:rPr lang="en-GB" sz="2400" b="1" dirty="0">
                <a:solidFill>
                  <a:srgbClr val="0070C0"/>
                </a:solidFill>
                <a:cs typeface="Calibri" panose="020F0502020204030204" pitchFamily="34" charset="0"/>
              </a:rPr>
              <a:t>P</a:t>
            </a:r>
            <a:r>
              <a:rPr lang="en-GB" sz="2400" b="1" dirty="0">
                <a:solidFill>
                  <a:srgbClr val="0070C0"/>
                </a:solidFill>
              </a:rPr>
              <a:t>(A</a:t>
            </a:r>
            <a:r>
              <a:rPr lang="en-GB" sz="2400" b="1" dirty="0">
                <a:solidFill>
                  <a:srgbClr val="0070C0"/>
                </a:solidFill>
                <a:cs typeface="Calibri" panose="020F0502020204030204" pitchFamily="34" charset="0"/>
              </a:rPr>
              <a:t>│B) = P(A) </a:t>
            </a: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then events A and B are said to be </a:t>
            </a:r>
            <a:r>
              <a:rPr lang="en-GB" sz="2400" b="1" dirty="0">
                <a:solidFill>
                  <a:srgbClr val="0070C0"/>
                </a:solidFill>
                <a:cs typeface="Calibri" panose="020F0502020204030204" pitchFamily="34" charset="0"/>
              </a:rPr>
              <a:t>independent</a:t>
            </a: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.</a:t>
            </a:r>
          </a:p>
          <a:p>
            <a:r>
              <a:rPr lang="en-GB" sz="2400" dirty="0">
                <a:cs typeface="Calibri" panose="020F0502020204030204" pitchFamily="34" charset="0"/>
              </a:rPr>
              <a:t>This means the probability of A occurring is the same regardless of whether or not B has occurred</a:t>
            </a:r>
          </a:p>
          <a:p>
            <a:pPr lvl="1"/>
            <a:r>
              <a:rPr lang="en-GB" sz="2400" dirty="0">
                <a:cs typeface="Calibri" panose="020F0502020204030204" pitchFamily="34" charset="0"/>
              </a:rPr>
              <a:t>Think of a tree diagram </a:t>
            </a:r>
            <a:r>
              <a:rPr lang="en-GB" sz="2400" i="1" dirty="0">
                <a:cs typeface="Calibri" panose="020F0502020204030204" pitchFamily="34" charset="0"/>
              </a:rPr>
              <a:t>with replacement</a:t>
            </a:r>
            <a:r>
              <a:rPr lang="en-GB" sz="2400" dirty="0">
                <a:cs typeface="Calibri" panose="020F0502020204030204" pitchFamily="34" charset="0"/>
              </a:rPr>
              <a:t>: the result of the first stage has no effect on the probabilities in the second stage</a:t>
            </a:r>
          </a:p>
          <a:p>
            <a:r>
              <a:rPr lang="en-GB" sz="2400" dirty="0">
                <a:cs typeface="Calibri" panose="020F0502020204030204" pitchFamily="34" charset="0"/>
              </a:rPr>
              <a:t>If this is the case then P(A</a:t>
            </a:r>
            <a:r>
              <a:rPr lang="en-GB" sz="2400" dirty="0"/>
              <a:t>∩B) = P(A) x P(B) (simplified “</a:t>
            </a:r>
            <a:r>
              <a:rPr lang="en-GB" sz="2400" b="1" dirty="0"/>
              <a:t>multiplication law</a:t>
            </a:r>
            <a:r>
              <a:rPr lang="en-GB" sz="2400" dirty="0"/>
              <a:t>”)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If P</a:t>
            </a:r>
            <a:r>
              <a:rPr lang="en-GB" sz="2400" dirty="0">
                <a:solidFill>
                  <a:srgbClr val="0070C0"/>
                </a:solidFill>
              </a:rPr>
              <a:t>(A</a:t>
            </a: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│B) is NOT equal to P(A) then the events are </a:t>
            </a:r>
            <a:r>
              <a:rPr lang="en-GB" sz="2400" b="1" i="1" dirty="0">
                <a:solidFill>
                  <a:srgbClr val="0070C0"/>
                </a:solidFill>
                <a:cs typeface="Calibri" panose="020F0502020204030204" pitchFamily="34" charset="0"/>
              </a:rPr>
              <a:t>not</a:t>
            </a:r>
            <a:r>
              <a:rPr lang="en-GB" sz="2400" b="1" dirty="0">
                <a:solidFill>
                  <a:srgbClr val="0070C0"/>
                </a:solidFill>
                <a:cs typeface="Calibri" panose="020F0502020204030204" pitchFamily="34" charset="0"/>
              </a:rPr>
              <a:t> independent</a:t>
            </a:r>
            <a:r>
              <a:rPr lang="en-GB" sz="2400" dirty="0">
                <a:solidFill>
                  <a:srgbClr val="0070C0"/>
                </a:solidFill>
                <a:cs typeface="Calibri" panose="020F0502020204030204" pitchFamily="34" charset="0"/>
              </a:rPr>
              <a:t>.</a:t>
            </a:r>
          </a:p>
          <a:p>
            <a:r>
              <a:rPr lang="en-GB" sz="2400" dirty="0">
                <a:cs typeface="Calibri" panose="020F0502020204030204" pitchFamily="34" charset="0"/>
              </a:rPr>
              <a:t>This means that the probability of A depends on whether B has occurred</a:t>
            </a:r>
          </a:p>
          <a:p>
            <a:pPr lvl="1"/>
            <a:r>
              <a:rPr lang="en-GB" sz="2400" dirty="0">
                <a:cs typeface="Calibri" panose="020F0502020204030204" pitchFamily="34" charset="0"/>
              </a:rPr>
              <a:t>Think of a tree diagram </a:t>
            </a:r>
            <a:r>
              <a:rPr lang="en-GB" sz="2400" i="1" dirty="0">
                <a:cs typeface="Calibri" panose="020F0502020204030204" pitchFamily="34" charset="0"/>
              </a:rPr>
              <a:t>without replacement</a:t>
            </a:r>
            <a:r>
              <a:rPr lang="en-GB" sz="2400" dirty="0">
                <a:cs typeface="Calibri" panose="020F0502020204030204" pitchFamily="34" charset="0"/>
              </a:rPr>
              <a:t>: the probabilities in the second stage vary depending on the outcome of the first stage.</a:t>
            </a:r>
          </a:p>
          <a:p>
            <a:r>
              <a:rPr lang="en-GB" sz="2500" dirty="0">
                <a:cs typeface="Calibri" panose="020F0502020204030204" pitchFamily="34" charset="0"/>
              </a:rPr>
              <a:t>If the events are NOT independent then the </a:t>
            </a:r>
            <a:r>
              <a:rPr lang="en-GB" sz="2500" b="1" dirty="0">
                <a:cs typeface="Calibri" panose="020F0502020204030204" pitchFamily="34" charset="0"/>
              </a:rPr>
              <a:t>multiplication law </a:t>
            </a:r>
            <a:r>
              <a:rPr lang="en-GB" sz="2500" dirty="0">
                <a:cs typeface="Calibri" panose="020F0502020204030204" pitchFamily="34" charset="0"/>
              </a:rPr>
              <a:t>becomes P(A∩B) = P(A│B) x P(B)</a:t>
            </a:r>
          </a:p>
          <a:p>
            <a:r>
              <a:rPr lang="en-GB" sz="2500" dirty="0">
                <a:cs typeface="Calibri" panose="020F0502020204030204" pitchFamily="34" charset="0"/>
              </a:rPr>
              <a:t>This is just a rearrangement of the general formula on the conditional probability slide: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079776" y="5916654"/>
                <a:ext cx="2239716" cy="6806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b="1" dirty="0">
                    <a:solidFill>
                      <a:srgbClr val="FF0000"/>
                    </a:solidFill>
                  </a:rPr>
                  <a:t>P (A</a:t>
                </a:r>
                <a:r>
                  <a:rPr lang="en-GB" b="1" dirty="0">
                    <a:solidFill>
                      <a:srgbClr val="FF0000"/>
                    </a:solidFill>
                    <a:cs typeface="Calibri" panose="020F0502020204030204" pitchFamily="34" charset="0"/>
                  </a:rPr>
                  <a:t>│B)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𝐏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𝐀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𝐚𝐧𝐝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𝐁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num>
                      <m:den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𝐏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𝐁</m:t>
                        </m:r>
                        <m:r>
                          <a:rPr lang="en-GB" sz="2400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9776" y="5916654"/>
                <a:ext cx="2239716" cy="680699"/>
              </a:xfrm>
              <a:prstGeom prst="rect">
                <a:avLst/>
              </a:prstGeom>
              <a:blipFill>
                <a:blip r:embed="rId2"/>
                <a:stretch>
                  <a:fillRect l="-2260"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674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Complete the Venn Diagram</a:t>
            </a:r>
          </a:p>
        </p:txBody>
      </p:sp>
      <p:sp>
        <p:nvSpPr>
          <p:cNvPr id="4" name="Oval 3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47821" y="1690690"/>
            <a:ext cx="37595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a class of 20, there are</a:t>
            </a:r>
          </a:p>
          <a:p>
            <a:endParaRPr lang="en-GB" dirty="0"/>
          </a:p>
          <a:p>
            <a:r>
              <a:rPr lang="en-GB" dirty="0"/>
              <a:t>11 boys</a:t>
            </a:r>
          </a:p>
          <a:p>
            <a:endParaRPr lang="en-GB" dirty="0"/>
          </a:p>
          <a:p>
            <a:r>
              <a:rPr lang="en-GB" dirty="0"/>
              <a:t>5 Pupils with glasses</a:t>
            </a:r>
          </a:p>
          <a:p>
            <a:endParaRPr lang="en-GB" dirty="0"/>
          </a:p>
          <a:p>
            <a:r>
              <a:rPr lang="en-GB" dirty="0"/>
              <a:t>3 boys that wear glasses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Where should you start?</a:t>
            </a:r>
          </a:p>
          <a:p>
            <a:endParaRPr lang="en-GB" dirty="0"/>
          </a:p>
          <a:p>
            <a:r>
              <a:rPr lang="en-GB" dirty="0"/>
              <a:t>At the place with most information</a:t>
            </a:r>
          </a:p>
          <a:p>
            <a:endParaRPr lang="en-GB" dirty="0"/>
          </a:p>
          <a:p>
            <a:r>
              <a:rPr lang="en-GB" dirty="0"/>
              <a:t>Then fill in gaps – be careful as there are already 3 in some groups!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05873" y="3718488"/>
            <a:ext cx="345609" cy="64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191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8162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8106" y="269584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831" y="260794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821" y="3365588"/>
            <a:ext cx="2466928" cy="356427"/>
          </a:xfrm>
          <a:prstGeom prst="rect">
            <a:avLst/>
          </a:pr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809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uiExpand="1"/>
      <p:bldP spid="9" grpId="0"/>
      <p:bldP spid="10" grpId="0"/>
      <p:bldP spid="11" grpId="0"/>
      <p:bldP spid="14" grpId="0" animBg="1"/>
      <p:bldP spid="1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46" y="1539190"/>
            <a:ext cx="3982197" cy="4351338"/>
          </a:xfrm>
        </p:spPr>
        <p:txBody>
          <a:bodyPr/>
          <a:lstStyle/>
          <a:p>
            <a:r>
              <a:rPr lang="en-GB" dirty="0"/>
              <a:t>When working with probability, we often use fractions</a:t>
            </a:r>
          </a:p>
          <a:p>
            <a:endParaRPr lang="en-GB" dirty="0"/>
          </a:p>
          <a:p>
            <a:r>
              <a:rPr lang="en-GB" dirty="0"/>
              <a:t>What is the probability of a randomly selected person from the class being a girl that does not wear glasses?</a:t>
            </a:r>
          </a:p>
        </p:txBody>
      </p:sp>
      <p:sp>
        <p:nvSpPr>
          <p:cNvPr id="13" name="Oval 12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8205873" y="3718488"/>
            <a:ext cx="345609" cy="64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8191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8162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8106" y="269584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7831" y="260794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665018" y="5292437"/>
            <a:ext cx="1108363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9847" y="460777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827" y="538904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20</a:t>
            </a:r>
          </a:p>
        </p:txBody>
      </p:sp>
      <p:sp>
        <p:nvSpPr>
          <p:cNvPr id="26" name="Oval 25"/>
          <p:cNvSpPr/>
          <p:nvPr/>
        </p:nvSpPr>
        <p:spPr>
          <a:xfrm>
            <a:off x="10918106" y="26079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2419177" y="4051831"/>
            <a:ext cx="1991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7 people satisfy the condition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17279" y="5019709"/>
            <a:ext cx="172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 of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7455" y="5903423"/>
            <a:ext cx="2826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20 – the total amount being considered in the question</a:t>
            </a:r>
          </a:p>
        </p:txBody>
      </p:sp>
      <p:cxnSp>
        <p:nvCxnSpPr>
          <p:cNvPr id="31" name="Straight Arrow Connector 30"/>
          <p:cNvCxnSpPr>
            <a:stCxn id="27" idx="1"/>
            <a:endCxn id="24" idx="3"/>
          </p:cNvCxnSpPr>
          <p:nvPr/>
        </p:nvCxnSpPr>
        <p:spPr>
          <a:xfrm flipH="1">
            <a:off x="1428551" y="4374997"/>
            <a:ext cx="990626" cy="555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8" idx="1"/>
          </p:cNvCxnSpPr>
          <p:nvPr/>
        </p:nvCxnSpPr>
        <p:spPr>
          <a:xfrm flipH="1">
            <a:off x="1773381" y="5204375"/>
            <a:ext cx="1143898" cy="10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1"/>
            <a:endCxn id="25" idx="3"/>
          </p:cNvCxnSpPr>
          <p:nvPr/>
        </p:nvCxnSpPr>
        <p:spPr>
          <a:xfrm flipH="1" flipV="1">
            <a:off x="1545570" y="5712207"/>
            <a:ext cx="601885" cy="51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61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4" grpId="0"/>
      <p:bldP spid="25" grpId="0"/>
      <p:bldP spid="26" grpId="0" animBg="1"/>
      <p:bldP spid="26" grpId="1" animBg="1"/>
      <p:bldP spid="27" grpId="0"/>
      <p:bldP spid="28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quick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575233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Find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/>
              <a:t>P(B</a:t>
            </a:r>
            <a:r>
              <a:rPr lang="en-GB" sz="3200" dirty="0"/>
              <a:t>∩</a:t>
            </a:r>
            <a:r>
              <a:rPr lang="en-GB" sz="2400" dirty="0"/>
              <a:t>G) 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P(B</a:t>
            </a:r>
            <a:r>
              <a:rPr lang="en-GB" sz="3200" dirty="0"/>
              <a:t>ᴜ</a:t>
            </a:r>
            <a:r>
              <a:rPr lang="en-GB" sz="2400" dirty="0"/>
              <a:t>G)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P(B’</a:t>
            </a:r>
            <a:r>
              <a:rPr lang="en-GB" sz="3200" dirty="0"/>
              <a:t>∩</a:t>
            </a:r>
            <a:r>
              <a:rPr lang="en-GB" sz="2400" dirty="0"/>
              <a:t>G)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8205873" y="3718488"/>
            <a:ext cx="345609" cy="64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8191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8162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8106" y="269584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7831" y="260794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sp>
        <p:nvSpPr>
          <p:cNvPr id="24" name="Oval 23"/>
          <p:cNvSpPr/>
          <p:nvPr/>
        </p:nvSpPr>
        <p:spPr>
          <a:xfrm>
            <a:off x="8160830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9491172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8145048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6831201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9481983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3050317" y="2922408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065476" y="2542972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00555" y="2873807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20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3050317" y="3843965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09744" y="3476387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0555" y="3795364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20</a:t>
            </a:r>
          </a:p>
        </p:txBody>
      </p:sp>
      <p:cxnSp>
        <p:nvCxnSpPr>
          <p:cNvPr id="37" name="Straight Connector 36"/>
          <p:cNvCxnSpPr/>
          <p:nvPr/>
        </p:nvCxnSpPr>
        <p:spPr>
          <a:xfrm>
            <a:off x="2996986" y="4844399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12145" y="446496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47224" y="4795798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4050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0" grpId="0"/>
      <p:bldP spid="31" grpId="0"/>
      <p:bldP spid="35" grpId="0"/>
      <p:bldP spid="36" grpId="0"/>
      <p:bldP spid="38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‘given that’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Sometimes a question may ask you to find the probability of an event, given that something has already happened.</a:t>
            </a:r>
          </a:p>
          <a:p>
            <a:endParaRPr lang="en-GB" dirty="0"/>
          </a:p>
          <a:p>
            <a:r>
              <a:rPr lang="en-GB" dirty="0"/>
              <a:t>This reduces the total amount being considered in the question (the denominator of the fraction)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r>
              <a:rPr lang="en-GB" dirty="0"/>
              <a:t>It can also eliminate some of the amount that would normally satisfy the question (the numerator of the fraction).</a:t>
            </a:r>
          </a:p>
        </p:txBody>
      </p:sp>
    </p:spTree>
    <p:extLst>
      <p:ext uri="{BB962C8B-B14F-4D97-AF65-F5344CB8AC3E}">
        <p14:creationId xmlns:p14="http://schemas.microsoft.com/office/powerpoint/2010/main" val="204906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‘given that’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076704" cy="4351338"/>
          </a:xfrm>
        </p:spPr>
        <p:txBody>
          <a:bodyPr/>
          <a:lstStyle/>
          <a:p>
            <a:r>
              <a:rPr lang="en-GB" dirty="0"/>
              <a:t>Question: Given that a boy is selected, what is the probability that they wear glasses?</a:t>
            </a:r>
          </a:p>
          <a:p>
            <a:endParaRPr lang="en-GB" dirty="0"/>
          </a:p>
          <a:p>
            <a:r>
              <a:rPr lang="en-GB" dirty="0"/>
              <a:t>We are now only considering boys – we can ignore all other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9508162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8106" y="269584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sp>
        <p:nvSpPr>
          <p:cNvPr id="5" name="Oval 4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6848191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05873" y="3718488"/>
            <a:ext cx="345609" cy="64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7831" y="260794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16" name="Freeform 15"/>
          <p:cNvSpPr/>
          <p:nvPr/>
        </p:nvSpPr>
        <p:spPr>
          <a:xfrm>
            <a:off x="7901181" y="3048000"/>
            <a:ext cx="439255" cy="2175164"/>
          </a:xfrm>
          <a:custGeom>
            <a:avLst/>
            <a:gdLst>
              <a:gd name="connsiteX0" fmla="*/ 439255 w 439255"/>
              <a:gd name="connsiteY0" fmla="*/ 0 h 2175164"/>
              <a:gd name="connsiteX1" fmla="*/ 162164 w 439255"/>
              <a:gd name="connsiteY1" fmla="*/ 387927 h 2175164"/>
              <a:gd name="connsiteX2" fmla="*/ 9764 w 439255"/>
              <a:gd name="connsiteY2" fmla="*/ 914400 h 2175164"/>
              <a:gd name="connsiteX3" fmla="*/ 37474 w 439255"/>
              <a:gd name="connsiteY3" fmla="*/ 1440873 h 2175164"/>
              <a:gd name="connsiteX4" fmla="*/ 217583 w 439255"/>
              <a:gd name="connsiteY4" fmla="*/ 1898073 h 2175164"/>
              <a:gd name="connsiteX5" fmla="*/ 439255 w 439255"/>
              <a:gd name="connsiteY5" fmla="*/ 2175164 h 217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255" h="2175164">
                <a:moveTo>
                  <a:pt x="439255" y="0"/>
                </a:moveTo>
                <a:cubicBezTo>
                  <a:pt x="336500" y="117763"/>
                  <a:pt x="233746" y="235527"/>
                  <a:pt x="162164" y="387927"/>
                </a:cubicBezTo>
                <a:cubicBezTo>
                  <a:pt x="90582" y="540327"/>
                  <a:pt x="30546" y="738909"/>
                  <a:pt x="9764" y="914400"/>
                </a:cubicBezTo>
                <a:cubicBezTo>
                  <a:pt x="-11018" y="1089891"/>
                  <a:pt x="2838" y="1276928"/>
                  <a:pt x="37474" y="1440873"/>
                </a:cubicBezTo>
                <a:cubicBezTo>
                  <a:pt x="72110" y="1604818"/>
                  <a:pt x="150620" y="1775691"/>
                  <a:pt x="217583" y="1898073"/>
                </a:cubicBezTo>
                <a:cubicBezTo>
                  <a:pt x="284546" y="2020455"/>
                  <a:pt x="361900" y="2097809"/>
                  <a:pt x="439255" y="2175164"/>
                </a:cubicBezTo>
              </a:path>
            </a:pathLst>
          </a:cu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8145048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8145048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6831201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/>
          <p:cNvCxnSpPr/>
          <p:nvPr/>
        </p:nvCxnSpPr>
        <p:spPr>
          <a:xfrm>
            <a:off x="665018" y="5292437"/>
            <a:ext cx="1108363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9847" y="460777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827" y="5389041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9177" y="4051831"/>
            <a:ext cx="1991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3 people left still have glasses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17279" y="5019709"/>
            <a:ext cx="172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 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7455" y="5903423"/>
            <a:ext cx="2826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amount of boys – the ‘given that’ statement</a:t>
            </a:r>
          </a:p>
        </p:txBody>
      </p:sp>
      <p:cxnSp>
        <p:nvCxnSpPr>
          <p:cNvPr id="27" name="Straight Arrow Connector 26"/>
          <p:cNvCxnSpPr>
            <a:stCxn id="24" idx="1"/>
            <a:endCxn id="22" idx="3"/>
          </p:cNvCxnSpPr>
          <p:nvPr/>
        </p:nvCxnSpPr>
        <p:spPr>
          <a:xfrm flipH="1">
            <a:off x="1428551" y="4374997"/>
            <a:ext cx="990626" cy="555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5" idx="1"/>
          </p:cNvCxnSpPr>
          <p:nvPr/>
        </p:nvCxnSpPr>
        <p:spPr>
          <a:xfrm flipH="1">
            <a:off x="1773381" y="5204375"/>
            <a:ext cx="1143898" cy="10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26" idx="1"/>
            <a:endCxn id="23" idx="3"/>
          </p:cNvCxnSpPr>
          <p:nvPr/>
        </p:nvCxnSpPr>
        <p:spPr>
          <a:xfrm flipH="1" flipV="1">
            <a:off x="1545570" y="5712207"/>
            <a:ext cx="601885" cy="514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41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9" grpId="0"/>
      <p:bldP spid="10" grpId="0"/>
      <p:bldP spid="12" grpId="0"/>
      <p:bldP spid="17" grpId="0" animBg="1"/>
      <p:bldP spid="17" grpId="1" animBg="1"/>
      <p:bldP spid="19" grpId="0" animBg="1"/>
      <p:bldP spid="19" grpId="1" animBg="1"/>
      <p:bldP spid="20" grpId="0" animBg="1"/>
      <p:bldP spid="20" grpId="1" animBg="1"/>
      <p:bldP spid="22" grpId="0"/>
      <p:bldP spid="23" grpId="0"/>
      <p:bldP spid="24" grpId="0"/>
      <p:bldP spid="25" grpId="0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07357"/>
            <a:ext cx="10515600" cy="1325563"/>
          </a:xfrm>
        </p:spPr>
        <p:txBody>
          <a:bodyPr/>
          <a:lstStyle/>
          <a:p>
            <a:r>
              <a:rPr lang="en-GB" dirty="0"/>
              <a:t>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934" y="1277517"/>
            <a:ext cx="4146251" cy="3828940"/>
          </a:xfrm>
        </p:spPr>
        <p:txBody>
          <a:bodyPr/>
          <a:lstStyle/>
          <a:p>
            <a:r>
              <a:rPr lang="en-GB" dirty="0"/>
              <a:t>We use the ‘|’ symbol to mean ‘given that’</a:t>
            </a:r>
          </a:p>
          <a:p>
            <a:r>
              <a:rPr lang="en-GB" dirty="0"/>
              <a:t>P(G|B) means the probability that G happens, given that B has already happened (the previous question).</a:t>
            </a:r>
          </a:p>
          <a:p>
            <a:r>
              <a:rPr lang="en-GB" dirty="0"/>
              <a:t>Note from the previous question that this was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205873" y="3718488"/>
            <a:ext cx="345609" cy="64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8191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8162" y="372201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8106" y="269584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7831" y="260794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665018" y="5292437"/>
            <a:ext cx="1316182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949" y="459780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P(G∩B)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827" y="5389041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7676" y="4143742"/>
            <a:ext cx="19916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Probability both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0244" y="4923105"/>
            <a:ext cx="172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9673" y="5856841"/>
            <a:ext cx="16525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‘given that’ statement</a:t>
            </a:r>
          </a:p>
        </p:txBody>
      </p:sp>
      <p:cxnSp>
        <p:nvCxnSpPr>
          <p:cNvPr id="19" name="Straight Arrow Connector 18"/>
          <p:cNvCxnSpPr>
            <a:stCxn id="16" idx="1"/>
            <a:endCxn id="14" idx="3"/>
          </p:cNvCxnSpPr>
          <p:nvPr/>
        </p:nvCxnSpPr>
        <p:spPr>
          <a:xfrm flipH="1">
            <a:off x="2109609" y="4466908"/>
            <a:ext cx="1188067" cy="4540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7" idx="1"/>
          </p:cNvCxnSpPr>
          <p:nvPr/>
        </p:nvCxnSpPr>
        <p:spPr>
          <a:xfrm flipH="1">
            <a:off x="2109609" y="5107771"/>
            <a:ext cx="2010635" cy="183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8" idx="1"/>
            <a:endCxn id="15" idx="3"/>
          </p:cNvCxnSpPr>
          <p:nvPr/>
        </p:nvCxnSpPr>
        <p:spPr>
          <a:xfrm flipH="1" flipV="1">
            <a:off x="1846934" y="5712207"/>
            <a:ext cx="1422739" cy="467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197762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Oval 22"/>
          <p:cNvSpPr/>
          <p:nvPr/>
        </p:nvSpPr>
        <p:spPr>
          <a:xfrm>
            <a:off x="6831201" y="36764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8170315" y="3665942"/>
            <a:ext cx="435694" cy="855694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400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  <p:bldP spid="15" grpId="0"/>
      <p:bldP spid="16" grpId="0"/>
      <p:bldP spid="17" grpId="0"/>
      <p:bldP spid="18" grpId="0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General you can use the formula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766833" y="2586621"/>
            <a:ext cx="1316182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641764" y="1891988"/>
            <a:ext cx="1545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P(A∩B)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4642" y="2683225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0787" y="2215153"/>
            <a:ext cx="1976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  P(A|B)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46" y="3560241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3813" y="4560167"/>
            <a:ext cx="48285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P(A∩B)   =   P(A|B) x P(B)</a:t>
            </a:r>
          </a:p>
        </p:txBody>
      </p:sp>
    </p:spTree>
    <p:extLst>
      <p:ext uri="{BB962C8B-B14F-4D97-AF65-F5344CB8AC3E}">
        <p14:creationId xmlns:p14="http://schemas.microsoft.com/office/powerpoint/2010/main" val="255204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Similarly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8112215" y="1519821"/>
            <a:ext cx="1316182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87146" y="825188"/>
            <a:ext cx="1545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P(A∩B)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40024" y="1616425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46169" y="1148353"/>
            <a:ext cx="1976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=   P(A|B)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3168565" y="2634223"/>
            <a:ext cx="1316182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43496" y="1939590"/>
            <a:ext cx="1648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P(A’∩B)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6374" y="2730827"/>
            <a:ext cx="954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003" y="2311057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P(A’|B)    =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210130" y="4601563"/>
            <a:ext cx="1316182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85061" y="3906930"/>
            <a:ext cx="1648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P(A∩B’)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7939" y="4698167"/>
            <a:ext cx="106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P(B’)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8" y="4278397"/>
            <a:ext cx="21836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P(A|B’)    =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7" y="5733554"/>
            <a:ext cx="2406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And so on…</a:t>
            </a:r>
          </a:p>
        </p:txBody>
      </p:sp>
    </p:spTree>
    <p:extLst>
      <p:ext uri="{BB962C8B-B14F-4D97-AF65-F5344CB8AC3E}">
        <p14:creationId xmlns:p14="http://schemas.microsoft.com/office/powerpoint/2010/main" val="409850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7" grpId="0"/>
      <p:bldP spid="18" grpId="0"/>
      <p:bldP spid="19" grpId="0"/>
      <p:bldP spid="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have a look at some more examples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the following slides, the Venn diagrams or tree diagrams will all have been completed for you</a:t>
            </a:r>
          </a:p>
          <a:p>
            <a:endParaRPr lang="en-GB" dirty="0"/>
          </a:p>
          <a:p>
            <a:r>
              <a:rPr lang="en-GB" dirty="0"/>
              <a:t>In a test, however, this will normally be asked of you first. </a:t>
            </a:r>
          </a:p>
          <a:p>
            <a:endParaRPr lang="en-GB" dirty="0"/>
          </a:p>
          <a:p>
            <a:r>
              <a:rPr lang="en-GB" dirty="0"/>
              <a:t>You would then use your completed Venn diagrams or tree diagrams to calculate the probabilities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*Note you can always use the formulae to get to an answer quickly, but I like to visualise what is going on in each case – this is more important when dealing with tree diagrams</a:t>
            </a:r>
          </a:p>
        </p:txBody>
      </p:sp>
    </p:spTree>
    <p:extLst>
      <p:ext uri="{BB962C8B-B14F-4D97-AF65-F5344CB8AC3E}">
        <p14:creationId xmlns:p14="http://schemas.microsoft.com/office/powerpoint/2010/main" val="322881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120 Pupils took a selection of subjects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418" y="3017115"/>
            <a:ext cx="2085109" cy="3979430"/>
          </a:xfrm>
        </p:spPr>
        <p:txBody>
          <a:bodyPr>
            <a:normAutofit/>
          </a:bodyPr>
          <a:lstStyle/>
          <a:p>
            <a:r>
              <a:rPr lang="en-GB" dirty="0"/>
              <a:t>Find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a) P(H)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b) P(G|H)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c) P(H’|(HUG))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465407"/>
            <a:ext cx="4204855" cy="1263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48 took Geography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50 took History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23 took both History and Geography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7995869" y="3781123"/>
            <a:ext cx="671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8191" y="372201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8162" y="3722015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8106" y="2695847"/>
            <a:ext cx="652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831" y="2607942"/>
            <a:ext cx="471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20573" y="2627586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G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550536" y="3941522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10275" y="356208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7196" y="3892921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120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564114" y="5104605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523541" y="4737027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352" y="5056004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50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557451" y="6303490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75625" y="5924054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07689" y="6254889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75</a:t>
            </a:r>
          </a:p>
        </p:txBody>
      </p:sp>
      <p:sp>
        <p:nvSpPr>
          <p:cNvPr id="23" name="Oval 22"/>
          <p:cNvSpPr/>
          <p:nvPr/>
        </p:nvSpPr>
        <p:spPr>
          <a:xfrm>
            <a:off x="8042932" y="3732390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Oval 24"/>
          <p:cNvSpPr/>
          <p:nvPr/>
        </p:nvSpPr>
        <p:spPr>
          <a:xfrm>
            <a:off x="6878863" y="3722015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Oval 25"/>
          <p:cNvSpPr/>
          <p:nvPr/>
        </p:nvSpPr>
        <p:spPr>
          <a:xfrm>
            <a:off x="8055838" y="3722015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Oval 26"/>
          <p:cNvSpPr/>
          <p:nvPr/>
        </p:nvSpPr>
        <p:spPr>
          <a:xfrm>
            <a:off x="8030026" y="3719494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Oval 27"/>
          <p:cNvSpPr/>
          <p:nvPr/>
        </p:nvSpPr>
        <p:spPr>
          <a:xfrm>
            <a:off x="6906791" y="3732390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Oval 28"/>
          <p:cNvSpPr/>
          <p:nvPr/>
        </p:nvSpPr>
        <p:spPr>
          <a:xfrm>
            <a:off x="9537842" y="3704470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Oval 29"/>
          <p:cNvSpPr/>
          <p:nvPr/>
        </p:nvSpPr>
        <p:spPr>
          <a:xfrm>
            <a:off x="8069867" y="3746349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Oval 30"/>
          <p:cNvSpPr/>
          <p:nvPr/>
        </p:nvSpPr>
        <p:spPr>
          <a:xfrm>
            <a:off x="6919697" y="3711640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9552262" y="3704470"/>
            <a:ext cx="53554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0" name="Group 39"/>
          <p:cNvGrpSpPr/>
          <p:nvPr/>
        </p:nvGrpSpPr>
        <p:grpSpPr>
          <a:xfrm>
            <a:off x="11032819" y="2795800"/>
            <a:ext cx="447167" cy="458473"/>
            <a:chOff x="3930869" y="3273917"/>
            <a:chExt cx="447167" cy="458473"/>
          </a:xfrm>
        </p:grpSpPr>
        <p:cxnSp>
          <p:nvCxnSpPr>
            <p:cNvPr id="35" name="Straight Connector 34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11043548" y="2787285"/>
            <a:ext cx="447167" cy="458473"/>
            <a:chOff x="3930869" y="3273917"/>
            <a:chExt cx="447167" cy="458473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4" name="Group 43"/>
          <p:cNvGrpSpPr/>
          <p:nvPr/>
        </p:nvGrpSpPr>
        <p:grpSpPr>
          <a:xfrm>
            <a:off x="9622108" y="3810622"/>
            <a:ext cx="447167" cy="458473"/>
            <a:chOff x="3930869" y="3273917"/>
            <a:chExt cx="447167" cy="458473"/>
          </a:xfrm>
        </p:grpSpPr>
        <p:cxnSp>
          <p:nvCxnSpPr>
            <p:cNvPr id="45" name="Straight Connector 44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7" name="Oval 46"/>
          <p:cNvSpPr/>
          <p:nvPr/>
        </p:nvSpPr>
        <p:spPr>
          <a:xfrm>
            <a:off x="1253663" y="4980541"/>
            <a:ext cx="285002" cy="374073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Oval 47"/>
          <p:cNvSpPr/>
          <p:nvPr/>
        </p:nvSpPr>
        <p:spPr>
          <a:xfrm>
            <a:off x="950025" y="4957262"/>
            <a:ext cx="285002" cy="374073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Oval 48"/>
          <p:cNvSpPr/>
          <p:nvPr/>
        </p:nvSpPr>
        <p:spPr>
          <a:xfrm>
            <a:off x="1368155" y="6114082"/>
            <a:ext cx="631849" cy="374073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968661" y="6137127"/>
            <a:ext cx="285002" cy="374073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4221271" y="6303489"/>
            <a:ext cx="4203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*note that we could then simplify a) and c)</a:t>
            </a:r>
          </a:p>
        </p:txBody>
      </p:sp>
    </p:spTree>
    <p:extLst>
      <p:ext uri="{BB962C8B-B14F-4D97-AF65-F5344CB8AC3E}">
        <p14:creationId xmlns:p14="http://schemas.microsoft.com/office/powerpoint/2010/main" val="1295649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/>
      <p:bldP spid="16" grpId="0"/>
      <p:bldP spid="18" grpId="0"/>
      <p:bldP spid="19" grpId="0"/>
      <p:bldP spid="21" grpId="0"/>
      <p:bldP spid="22" grpId="0"/>
      <p:bldP spid="23" grpId="0" animBg="1"/>
      <p:bldP spid="23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3" grpId="0" animBg="1"/>
      <p:bldP spid="33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2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we are already given probabilities?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/>
              <a:t>Follow the same approach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Find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P(B|A’)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P(C|A∩B)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dirty="0"/>
              <a:t>P(B∩C’|AUC)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57156" y="1482427"/>
            <a:ext cx="5788651" cy="5084618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/>
          <p:cNvSpPr/>
          <p:nvPr/>
        </p:nvSpPr>
        <p:spPr>
          <a:xfrm>
            <a:off x="8146261" y="1760490"/>
            <a:ext cx="2924431" cy="3085116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8171487" y="3469510"/>
            <a:ext cx="14914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2165" y="2594419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7259" y="2626499"/>
            <a:ext cx="705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7790" y="2626499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/>
              <a:t>0.05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5798" y="1951028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80358" y="1760490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16" name="Oval 15"/>
          <p:cNvSpPr/>
          <p:nvPr/>
        </p:nvSpPr>
        <p:spPr>
          <a:xfrm>
            <a:off x="7159318" y="3385740"/>
            <a:ext cx="2924431" cy="3085116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6177613" y="1760490"/>
            <a:ext cx="2924431" cy="3085116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9998639" y="5580195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8281" y="3913234"/>
            <a:ext cx="853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0.1</a:t>
            </a:r>
            <a:endParaRPr lang="en-GB" sz="3600" dirty="0"/>
          </a:p>
        </p:txBody>
      </p:sp>
      <p:sp>
        <p:nvSpPr>
          <p:cNvPr id="20" name="TextBox 19"/>
          <p:cNvSpPr txBox="1"/>
          <p:nvPr/>
        </p:nvSpPr>
        <p:spPr>
          <a:xfrm>
            <a:off x="8959028" y="4024838"/>
            <a:ext cx="1499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0.15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7600" y="5161538"/>
            <a:ext cx="14428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6709" y="5092665"/>
            <a:ext cx="879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0.1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2535254" y="4786567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85735" y="4418989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85735" y="4728243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0.25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532479" y="3649530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85735" y="3269693"/>
            <a:ext cx="6383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2717" y="3600929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2945646" y="5935863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5073" y="5568285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5884" y="5887262"/>
            <a:ext cx="508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</a:t>
            </a:r>
          </a:p>
        </p:txBody>
      </p:sp>
      <p:sp>
        <p:nvSpPr>
          <p:cNvPr id="32" name="Oval 31"/>
          <p:cNvSpPr/>
          <p:nvPr/>
        </p:nvSpPr>
        <p:spPr>
          <a:xfrm>
            <a:off x="9521144" y="2582048"/>
            <a:ext cx="661757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val 32"/>
          <p:cNvSpPr/>
          <p:nvPr/>
        </p:nvSpPr>
        <p:spPr>
          <a:xfrm>
            <a:off x="9002980" y="3956639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8221343" y="5038843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6017787" y="5005221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36" name="Group 35"/>
          <p:cNvGrpSpPr/>
          <p:nvPr/>
        </p:nvGrpSpPr>
        <p:grpSpPr>
          <a:xfrm>
            <a:off x="8443857" y="2689686"/>
            <a:ext cx="447167" cy="458473"/>
            <a:chOff x="3930869" y="3273917"/>
            <a:chExt cx="447167" cy="458473"/>
          </a:xfrm>
        </p:grpSpPr>
        <p:cxnSp>
          <p:nvCxnSpPr>
            <p:cNvPr id="37" name="Straight Connector 36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8443857" y="3552042"/>
            <a:ext cx="447167" cy="458473"/>
            <a:chOff x="3930869" y="3273917"/>
            <a:chExt cx="447167" cy="458473"/>
          </a:xfrm>
        </p:grpSpPr>
        <p:cxnSp>
          <p:nvCxnSpPr>
            <p:cNvPr id="40" name="Straight Connector 39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oup 41"/>
          <p:cNvGrpSpPr/>
          <p:nvPr/>
        </p:nvGrpSpPr>
        <p:grpSpPr>
          <a:xfrm>
            <a:off x="7571449" y="4037139"/>
            <a:ext cx="447167" cy="458473"/>
            <a:chOff x="3930869" y="3273917"/>
            <a:chExt cx="447167" cy="458473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5" name="Group 44"/>
          <p:cNvGrpSpPr/>
          <p:nvPr/>
        </p:nvGrpSpPr>
        <p:grpSpPr>
          <a:xfrm>
            <a:off x="7333663" y="2734030"/>
            <a:ext cx="447167" cy="458473"/>
            <a:chOff x="3930869" y="3273917"/>
            <a:chExt cx="447167" cy="458473"/>
          </a:xfrm>
        </p:grpSpPr>
        <p:cxnSp>
          <p:nvCxnSpPr>
            <p:cNvPr id="46" name="Straight Connector 45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Oval 47"/>
          <p:cNvSpPr/>
          <p:nvPr/>
        </p:nvSpPr>
        <p:spPr>
          <a:xfrm>
            <a:off x="9499201" y="2582048"/>
            <a:ext cx="661757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Oval 49"/>
          <p:cNvSpPr/>
          <p:nvPr/>
        </p:nvSpPr>
        <p:spPr>
          <a:xfrm>
            <a:off x="8985468" y="3926991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" name="Straight Connector 50"/>
          <p:cNvCxnSpPr/>
          <p:nvPr/>
        </p:nvCxnSpPr>
        <p:spPr>
          <a:xfrm>
            <a:off x="3930532" y="3640523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959701" y="327926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49799" y="359567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80778" y="3449475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=</a:t>
            </a:r>
          </a:p>
        </p:txBody>
      </p:sp>
      <p:sp>
        <p:nvSpPr>
          <p:cNvPr id="55" name="Oval 54"/>
          <p:cNvSpPr/>
          <p:nvPr/>
        </p:nvSpPr>
        <p:spPr>
          <a:xfrm>
            <a:off x="8322030" y="2555101"/>
            <a:ext cx="661757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Oval 55"/>
          <p:cNvSpPr/>
          <p:nvPr/>
        </p:nvSpPr>
        <p:spPr>
          <a:xfrm>
            <a:off x="8195836" y="3400148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7" name="Group 56"/>
          <p:cNvGrpSpPr/>
          <p:nvPr/>
        </p:nvGrpSpPr>
        <p:grpSpPr>
          <a:xfrm>
            <a:off x="7333663" y="2718606"/>
            <a:ext cx="447167" cy="458473"/>
            <a:chOff x="3930869" y="3273917"/>
            <a:chExt cx="447167" cy="458473"/>
          </a:xfrm>
        </p:grpSpPr>
        <p:cxnSp>
          <p:nvCxnSpPr>
            <p:cNvPr id="58" name="Straight Connector 57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0" name="Group 59"/>
          <p:cNvGrpSpPr/>
          <p:nvPr/>
        </p:nvGrpSpPr>
        <p:grpSpPr>
          <a:xfrm>
            <a:off x="7583914" y="4051584"/>
            <a:ext cx="447167" cy="458473"/>
            <a:chOff x="3930869" y="3273917"/>
            <a:chExt cx="447167" cy="458473"/>
          </a:xfrm>
        </p:grpSpPr>
        <p:cxnSp>
          <p:nvCxnSpPr>
            <p:cNvPr id="61" name="Straight Connector 60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Group 62"/>
          <p:cNvGrpSpPr/>
          <p:nvPr/>
        </p:nvGrpSpPr>
        <p:grpSpPr>
          <a:xfrm>
            <a:off x="9200344" y="4105010"/>
            <a:ext cx="447167" cy="458473"/>
            <a:chOff x="3930869" y="3273917"/>
            <a:chExt cx="447167" cy="458473"/>
          </a:xfrm>
        </p:grpSpPr>
        <p:cxnSp>
          <p:nvCxnSpPr>
            <p:cNvPr id="64" name="Straight Connector 63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9634087" y="2749069"/>
            <a:ext cx="447167" cy="458473"/>
            <a:chOff x="3930869" y="3273917"/>
            <a:chExt cx="447167" cy="458473"/>
          </a:xfrm>
        </p:grpSpPr>
        <p:cxnSp>
          <p:nvCxnSpPr>
            <p:cNvPr id="67" name="Straight Connector 66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9" name="Group 68"/>
          <p:cNvGrpSpPr/>
          <p:nvPr/>
        </p:nvGrpSpPr>
        <p:grpSpPr>
          <a:xfrm>
            <a:off x="6279418" y="5184772"/>
            <a:ext cx="447167" cy="458473"/>
            <a:chOff x="3930869" y="3273917"/>
            <a:chExt cx="447167" cy="458473"/>
          </a:xfrm>
        </p:grpSpPr>
        <p:cxnSp>
          <p:nvCxnSpPr>
            <p:cNvPr id="70" name="Straight Connector 69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2" name="Group 71"/>
          <p:cNvGrpSpPr/>
          <p:nvPr/>
        </p:nvGrpSpPr>
        <p:grpSpPr>
          <a:xfrm>
            <a:off x="8503255" y="5241735"/>
            <a:ext cx="447167" cy="458473"/>
            <a:chOff x="3930869" y="3273917"/>
            <a:chExt cx="447167" cy="458473"/>
          </a:xfrm>
        </p:grpSpPr>
        <p:cxnSp>
          <p:nvCxnSpPr>
            <p:cNvPr id="73" name="Straight Connector 72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5" name="Oval 74"/>
          <p:cNvSpPr/>
          <p:nvPr/>
        </p:nvSpPr>
        <p:spPr>
          <a:xfrm>
            <a:off x="8209541" y="3414556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6" name="Straight Connector 75"/>
          <p:cNvCxnSpPr/>
          <p:nvPr/>
        </p:nvCxnSpPr>
        <p:spPr>
          <a:xfrm>
            <a:off x="3940434" y="4758038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969603" y="4396783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59701" y="471319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0680" y="456699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=</a:t>
            </a:r>
          </a:p>
        </p:txBody>
      </p:sp>
      <p:sp>
        <p:nvSpPr>
          <p:cNvPr id="80" name="Oval 79"/>
          <p:cNvSpPr/>
          <p:nvPr/>
        </p:nvSpPr>
        <p:spPr>
          <a:xfrm>
            <a:off x="8220362" y="5047168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Oval 80"/>
          <p:cNvSpPr/>
          <p:nvPr/>
        </p:nvSpPr>
        <p:spPr>
          <a:xfrm>
            <a:off x="7363252" y="3910939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Oval 81"/>
          <p:cNvSpPr/>
          <p:nvPr/>
        </p:nvSpPr>
        <p:spPr>
          <a:xfrm>
            <a:off x="8179070" y="3397689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Oval 82"/>
          <p:cNvSpPr/>
          <p:nvPr/>
        </p:nvSpPr>
        <p:spPr>
          <a:xfrm>
            <a:off x="8927998" y="3994183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Oval 83"/>
          <p:cNvSpPr/>
          <p:nvPr/>
        </p:nvSpPr>
        <p:spPr>
          <a:xfrm>
            <a:off x="7113656" y="2579582"/>
            <a:ext cx="911831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val 84"/>
          <p:cNvSpPr/>
          <p:nvPr/>
        </p:nvSpPr>
        <p:spPr>
          <a:xfrm>
            <a:off x="8308214" y="2554159"/>
            <a:ext cx="661757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6" name="Group 85"/>
          <p:cNvGrpSpPr/>
          <p:nvPr/>
        </p:nvGrpSpPr>
        <p:grpSpPr>
          <a:xfrm>
            <a:off x="6258206" y="5155815"/>
            <a:ext cx="447167" cy="458473"/>
            <a:chOff x="3930869" y="3273917"/>
            <a:chExt cx="447167" cy="458473"/>
          </a:xfrm>
        </p:grpSpPr>
        <p:cxnSp>
          <p:nvCxnSpPr>
            <p:cNvPr id="87" name="Straight Connector 86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9" name="Group 88"/>
          <p:cNvGrpSpPr/>
          <p:nvPr/>
        </p:nvGrpSpPr>
        <p:grpSpPr>
          <a:xfrm>
            <a:off x="9647439" y="2746901"/>
            <a:ext cx="447167" cy="458473"/>
            <a:chOff x="3930869" y="3273917"/>
            <a:chExt cx="447167" cy="458473"/>
          </a:xfrm>
        </p:grpSpPr>
        <p:cxnSp>
          <p:nvCxnSpPr>
            <p:cNvPr id="90" name="Straight Connector 89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Oval 91"/>
          <p:cNvSpPr/>
          <p:nvPr/>
        </p:nvSpPr>
        <p:spPr>
          <a:xfrm>
            <a:off x="8323187" y="2554159"/>
            <a:ext cx="661757" cy="721172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3" name="Straight Connector 92"/>
          <p:cNvCxnSpPr/>
          <p:nvPr/>
        </p:nvCxnSpPr>
        <p:spPr>
          <a:xfrm>
            <a:off x="4232837" y="5918756"/>
            <a:ext cx="344829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262006" y="555750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52104" y="587390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83083" y="572770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=</a:t>
            </a:r>
          </a:p>
        </p:txBody>
      </p:sp>
      <p:sp>
        <p:nvSpPr>
          <p:cNvPr id="97" name="Oval 96"/>
          <p:cNvSpPr/>
          <p:nvPr/>
        </p:nvSpPr>
        <p:spPr>
          <a:xfrm>
            <a:off x="1413745" y="3336512"/>
            <a:ext cx="386421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Oval 97"/>
          <p:cNvSpPr/>
          <p:nvPr/>
        </p:nvSpPr>
        <p:spPr>
          <a:xfrm>
            <a:off x="1068553" y="3359922"/>
            <a:ext cx="386421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Oval 98"/>
          <p:cNvSpPr/>
          <p:nvPr/>
        </p:nvSpPr>
        <p:spPr>
          <a:xfrm>
            <a:off x="1413745" y="4542076"/>
            <a:ext cx="702409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Oval 99"/>
          <p:cNvSpPr/>
          <p:nvPr/>
        </p:nvSpPr>
        <p:spPr>
          <a:xfrm>
            <a:off x="1066646" y="4531291"/>
            <a:ext cx="386421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Oval 100"/>
          <p:cNvSpPr/>
          <p:nvPr/>
        </p:nvSpPr>
        <p:spPr>
          <a:xfrm>
            <a:off x="1858231" y="5635319"/>
            <a:ext cx="702409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Oval 101"/>
          <p:cNvSpPr/>
          <p:nvPr/>
        </p:nvSpPr>
        <p:spPr>
          <a:xfrm>
            <a:off x="1162593" y="5624534"/>
            <a:ext cx="702409" cy="47150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77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/>
      <p:bldP spid="25" grpId="0"/>
      <p:bldP spid="27" grpId="0"/>
      <p:bldP spid="28" grpId="0"/>
      <p:bldP spid="30" grpId="0"/>
      <p:bldP spid="31" grpId="0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48" grpId="0" animBg="1"/>
      <p:bldP spid="48" grpId="1" animBg="1"/>
      <p:bldP spid="50" grpId="0" animBg="1"/>
      <p:bldP spid="50" grpId="1" animBg="1"/>
      <p:bldP spid="52" grpId="0"/>
      <p:bldP spid="53" grpId="0"/>
      <p:bldP spid="54" grpId="0"/>
      <p:bldP spid="55" grpId="0" animBg="1"/>
      <p:bldP spid="55" grpId="1" animBg="1"/>
      <p:bldP spid="56" grpId="0" animBg="1"/>
      <p:bldP spid="56" grpId="1" animBg="1"/>
      <p:bldP spid="75" grpId="0" animBg="1"/>
      <p:bldP spid="75" grpId="1" animBg="1"/>
      <p:bldP spid="77" grpId="0"/>
      <p:bldP spid="78" grpId="0"/>
      <p:bldP spid="79" grpId="0"/>
      <p:bldP spid="80" grpId="0" animBg="1"/>
      <p:bldP spid="80" grpId="1" animBg="1"/>
      <p:bldP spid="81" grpId="0" animBg="1"/>
      <p:bldP spid="81" grpId="1" animBg="1"/>
      <p:bldP spid="82" grpId="0" animBg="1"/>
      <p:bldP spid="82" grpId="1" animBg="1"/>
      <p:bldP spid="83" grpId="0" animBg="1"/>
      <p:bldP spid="83" grpId="1" animBg="1"/>
      <p:bldP spid="84" grpId="0" animBg="1"/>
      <p:bldP spid="84" grpId="1" animBg="1"/>
      <p:bldP spid="85" grpId="0" animBg="1"/>
      <p:bldP spid="85" grpId="1" animBg="1"/>
      <p:bldP spid="92" grpId="0" animBg="1"/>
      <p:bldP spid="92" grpId="1" animBg="1"/>
      <p:bldP spid="94" grpId="0"/>
      <p:bldP spid="95" grpId="0"/>
      <p:bldP spid="96" grpId="0"/>
      <p:bldP spid="97" grpId="0" animBg="1"/>
      <p:bldP spid="97" grpId="1" animBg="1"/>
      <p:bldP spid="98" grpId="0" animBg="1"/>
      <p:bldP spid="98" grpId="1" animBg="1"/>
      <p:bldP spid="99" grpId="0" animBg="1"/>
      <p:bldP spid="99" grpId="1" animBg="1"/>
      <p:bldP spid="100" grpId="0" animBg="1"/>
      <p:bldP spid="100" grpId="1" animBg="1"/>
      <p:bldP spid="101" grpId="0" animBg="1"/>
      <p:bldP spid="101" grpId="1" animBg="1"/>
      <p:bldP spid="102" grpId="0" animBg="1"/>
      <p:bldP spid="102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7"/>
                <a:ext cx="10515600" cy="945855"/>
              </a:xfrm>
            </p:spPr>
            <p:txBody>
              <a:bodyPr/>
              <a:lstStyle/>
              <a:p>
                <a:r>
                  <a:rPr lang="en-GB" dirty="0"/>
                  <a:t>P(A)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 P(B)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GB" dirty="0"/>
                  <a:t> and P(B|A)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dirty="0"/>
                  <a:t> Find P(A’ ∩ B)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7"/>
                <a:ext cx="10515600" cy="945855"/>
              </a:xfrm>
              <a:blipFill rotWithShape="0">
                <a:blip r:embed="rId2"/>
                <a:stretch>
                  <a:fillRect l="-1565" b="-25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026044" cy="413374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need to start working out some probabilities. Using the given that statement, A has happened – let’s ignore everything else.</a:t>
            </a:r>
          </a:p>
          <a:p>
            <a:pPr marL="0" indent="0">
              <a:buNone/>
            </a:pPr>
            <a:r>
              <a:rPr lang="en-GB" dirty="0"/>
              <a:t>Let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dirty="0">
                <a:cs typeface="Times New Roman" panose="02020603050405020304" pitchFamily="18" charset="0"/>
              </a:rPr>
              <a:t>be the intersection </a:t>
            </a:r>
            <a:r>
              <a:rPr lang="en-GB" dirty="0"/>
              <a:t>of A and B, then</a:t>
            </a:r>
          </a:p>
          <a:p>
            <a:pPr marL="0" indent="0">
              <a:buNone/>
            </a:pPr>
            <a:r>
              <a:rPr lang="en-GB" dirty="0"/>
              <a:t>P(B|A)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10320573" y="2627586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19" name="Oval 18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5877831" y="2607942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</a:t>
            </a:r>
          </a:p>
        </p:txBody>
      </p:sp>
      <p:sp>
        <p:nvSpPr>
          <p:cNvPr id="23" name="Freeform 22"/>
          <p:cNvSpPr/>
          <p:nvPr/>
        </p:nvSpPr>
        <p:spPr>
          <a:xfrm>
            <a:off x="7901181" y="3048000"/>
            <a:ext cx="439255" cy="2175164"/>
          </a:xfrm>
          <a:custGeom>
            <a:avLst/>
            <a:gdLst>
              <a:gd name="connsiteX0" fmla="*/ 439255 w 439255"/>
              <a:gd name="connsiteY0" fmla="*/ 0 h 2175164"/>
              <a:gd name="connsiteX1" fmla="*/ 162164 w 439255"/>
              <a:gd name="connsiteY1" fmla="*/ 387927 h 2175164"/>
              <a:gd name="connsiteX2" fmla="*/ 9764 w 439255"/>
              <a:gd name="connsiteY2" fmla="*/ 914400 h 2175164"/>
              <a:gd name="connsiteX3" fmla="*/ 37474 w 439255"/>
              <a:gd name="connsiteY3" fmla="*/ 1440873 h 2175164"/>
              <a:gd name="connsiteX4" fmla="*/ 217583 w 439255"/>
              <a:gd name="connsiteY4" fmla="*/ 1898073 h 2175164"/>
              <a:gd name="connsiteX5" fmla="*/ 439255 w 439255"/>
              <a:gd name="connsiteY5" fmla="*/ 2175164 h 217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255" h="2175164">
                <a:moveTo>
                  <a:pt x="439255" y="0"/>
                </a:moveTo>
                <a:cubicBezTo>
                  <a:pt x="336500" y="117763"/>
                  <a:pt x="233746" y="235527"/>
                  <a:pt x="162164" y="387927"/>
                </a:cubicBezTo>
                <a:cubicBezTo>
                  <a:pt x="90582" y="540327"/>
                  <a:pt x="30546" y="738909"/>
                  <a:pt x="9764" y="914400"/>
                </a:cubicBezTo>
                <a:cubicBezTo>
                  <a:pt x="-11018" y="1089891"/>
                  <a:pt x="2838" y="1276928"/>
                  <a:pt x="37474" y="1440873"/>
                </a:cubicBezTo>
                <a:cubicBezTo>
                  <a:pt x="72110" y="1604818"/>
                  <a:pt x="150620" y="1775691"/>
                  <a:pt x="217583" y="1898073"/>
                </a:cubicBezTo>
                <a:cubicBezTo>
                  <a:pt x="284546" y="2020455"/>
                  <a:pt x="361900" y="2097809"/>
                  <a:pt x="439255" y="2175164"/>
                </a:cubicBezTo>
              </a:path>
            </a:pathLst>
          </a:cu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/>
          <p:cNvSpPr txBox="1"/>
          <p:nvPr/>
        </p:nvSpPr>
        <p:spPr>
          <a:xfrm>
            <a:off x="8120808" y="3781123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28" name="Straight Connector 27"/>
          <p:cNvCxnSpPr/>
          <p:nvPr/>
        </p:nvCxnSpPr>
        <p:spPr>
          <a:xfrm>
            <a:off x="214082" y="5618113"/>
            <a:ext cx="1108363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58911" y="4933451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3738" y="5677041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2/5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3849" y="5030176"/>
            <a:ext cx="2221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only part of B left</a:t>
            </a:r>
          </a:p>
          <a:p>
            <a:r>
              <a:rPr lang="en-GB" dirty="0"/>
              <a:t>‘what is the probability of B?’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6025" y="5497082"/>
            <a:ext cx="172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Out of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97270" y="5654565"/>
            <a:ext cx="30669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Remember that now the total probability is out of 2/5 -&gt; P(A)</a:t>
            </a:r>
          </a:p>
          <a:p>
            <a:r>
              <a:rPr lang="en-GB" dirty="0"/>
              <a:t>‘given that A has happened…’</a:t>
            </a:r>
          </a:p>
        </p:txBody>
      </p:sp>
      <p:cxnSp>
        <p:nvCxnSpPr>
          <p:cNvPr id="34" name="Straight Arrow Connector 33"/>
          <p:cNvCxnSpPr>
            <a:stCxn id="31" idx="1"/>
            <a:endCxn id="29" idx="3"/>
          </p:cNvCxnSpPr>
          <p:nvPr/>
        </p:nvCxnSpPr>
        <p:spPr>
          <a:xfrm flipH="1" flipV="1">
            <a:off x="948761" y="5256617"/>
            <a:ext cx="1355088" cy="235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32" idx="1"/>
          </p:cNvCxnSpPr>
          <p:nvPr/>
        </p:nvCxnSpPr>
        <p:spPr>
          <a:xfrm flipH="1" flipV="1">
            <a:off x="1433704" y="5615602"/>
            <a:ext cx="1462321" cy="66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3" idx="1"/>
            <a:endCxn id="30" idx="3"/>
          </p:cNvCxnSpPr>
          <p:nvPr/>
        </p:nvCxnSpPr>
        <p:spPr>
          <a:xfrm flipH="1" flipV="1">
            <a:off x="1154415" y="6000207"/>
            <a:ext cx="642855" cy="116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3" idx="0"/>
          </p:cNvCxnSpPr>
          <p:nvPr/>
        </p:nvCxnSpPr>
        <p:spPr>
          <a:xfrm flipH="1" flipV="1">
            <a:off x="1554480" y="4127863"/>
            <a:ext cx="1776277" cy="1526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31" idx="0"/>
          </p:cNvCxnSpPr>
          <p:nvPr/>
        </p:nvCxnSpPr>
        <p:spPr>
          <a:xfrm flipH="1" flipV="1">
            <a:off x="1254034" y="4114800"/>
            <a:ext cx="2160795" cy="9153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568071" y="5294948"/>
                <a:ext cx="922047" cy="878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071" y="5294948"/>
                <a:ext cx="922047" cy="878510"/>
              </a:xfrm>
              <a:prstGeom prst="rect">
                <a:avLst/>
              </a:prstGeom>
              <a:blipFill>
                <a:blip r:embed="rId3"/>
                <a:stretch>
                  <a:fillRect l="-19868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374751" y="2950751"/>
                <a:ext cx="1869423" cy="8792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3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36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GB" sz="3600" dirty="0"/>
                  <a:t>  </a:t>
                </a:r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51" y="2950751"/>
                <a:ext cx="1869423" cy="879215"/>
              </a:xfrm>
              <a:prstGeom prst="rect">
                <a:avLst/>
              </a:prstGeom>
              <a:blipFill>
                <a:blip r:embed="rId4"/>
                <a:stretch>
                  <a:fillRect l="-9772" b="-13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387733" y="4106337"/>
                <a:ext cx="1322798" cy="8781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3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3600" dirty="0"/>
                  <a:t> </a:t>
                </a: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33" y="4106337"/>
                <a:ext cx="1322798" cy="878126"/>
              </a:xfrm>
              <a:prstGeom prst="rect">
                <a:avLst/>
              </a:prstGeom>
              <a:blipFill>
                <a:blip r:embed="rId5"/>
                <a:stretch>
                  <a:fillRect l="-14286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8037068" y="3829216"/>
                <a:ext cx="49404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7068" y="3829216"/>
                <a:ext cx="494046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6671" y="4978733"/>
                <a:ext cx="5336283" cy="8781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So P(A’ ∩ B) = </a:t>
                </a:r>
                <a:r>
                  <a:rPr lang="en-GB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GB" sz="3600" b="0" i="1" dirty="0" smtClean="0">
                        <a:latin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GB" sz="3600" dirty="0"/>
                  <a:t> </a:t>
                </a: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1" y="4978733"/>
                <a:ext cx="5336283" cy="878126"/>
              </a:xfrm>
              <a:prstGeom prst="rect">
                <a:avLst/>
              </a:prstGeom>
              <a:blipFill rotWithShape="0">
                <a:blip r:embed="rId7"/>
                <a:stretch>
                  <a:fillRect l="-3543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2303849" y="5897399"/>
                <a:ext cx="1257659" cy="876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3600" dirty="0"/>
                  <a:t>= </a:t>
                </a:r>
                <a:r>
                  <a:rPr lang="en-GB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849" y="5897399"/>
                <a:ext cx="1257659" cy="876137"/>
              </a:xfrm>
              <a:prstGeom prst="rect">
                <a:avLst/>
              </a:prstGeom>
              <a:blipFill rotWithShape="0">
                <a:blip r:embed="rId8"/>
                <a:stretch>
                  <a:fillRect l="-15049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/>
          <p:cNvCxnSpPr/>
          <p:nvPr/>
        </p:nvCxnSpPr>
        <p:spPr>
          <a:xfrm>
            <a:off x="8025744" y="1090066"/>
            <a:ext cx="1515298" cy="289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9532380" y="3931729"/>
                <a:ext cx="494046" cy="6108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2380" y="3931729"/>
                <a:ext cx="494046" cy="61087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/>
          <p:cNvSpPr txBox="1"/>
          <p:nvPr/>
        </p:nvSpPr>
        <p:spPr>
          <a:xfrm>
            <a:off x="5213726" y="6002370"/>
            <a:ext cx="6687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*Note that we could have found this straight away by using the formula</a:t>
            </a:r>
          </a:p>
          <a:p>
            <a:r>
              <a:rPr lang="en-GB" sz="1600" dirty="0"/>
              <a:t>P(A∩B)   =   P(A|B) x P(B)</a:t>
            </a:r>
          </a:p>
          <a:p>
            <a:endParaRPr lang="en-GB" sz="1600" dirty="0"/>
          </a:p>
        </p:txBody>
      </p:sp>
      <p:sp>
        <p:nvSpPr>
          <p:cNvPr id="37" name="Oval 36"/>
          <p:cNvSpPr/>
          <p:nvPr/>
        </p:nvSpPr>
        <p:spPr>
          <a:xfrm>
            <a:off x="7912486" y="2623230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/>
          <p:cNvSpPr txBox="1"/>
          <p:nvPr/>
        </p:nvSpPr>
        <p:spPr>
          <a:xfrm>
            <a:off x="10316217" y="2636293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599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0.00312 -0.4912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24560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48148E-6 L -0.00248 -0.49445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0" y="-24722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00169 -0.48334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" y="-24167"/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11111E-6 L -0.00677 -0.5081 " pathEditMode="relative" rAng="0" ptsTypes="AA">
                                      <p:cBhvr>
                                        <p:cTn id="141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9" y="-25417"/>
                                    </p:animMotion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  <p:set>
                                      <p:cBhvr>
                                        <p:cTn id="17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15" grpId="0" animBg="1"/>
      <p:bldP spid="18" grpId="0"/>
      <p:bldP spid="27" grpId="0"/>
      <p:bldP spid="27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59" grpId="0"/>
      <p:bldP spid="59" grpId="1"/>
      <p:bldP spid="82" grpId="0"/>
      <p:bldP spid="83" grpId="0"/>
      <p:bldP spid="84" grpId="0"/>
      <p:bldP spid="85" grpId="0"/>
      <p:bldP spid="86" grpId="0"/>
      <p:bldP spid="91" grpId="0"/>
      <p:bldP spid="92" grpId="0"/>
      <p:bldP spid="92" grpId="1"/>
      <p:bldP spid="37" grpId="0" animBg="1"/>
      <p:bldP spid="3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GB" dirty="0"/>
                  <a:t>P(B)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 and P(A'|B') =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GB" dirty="0"/>
                  <a:t> </a:t>
                </a:r>
                <a:br>
                  <a:rPr lang="en-GB" dirty="0"/>
                </a:br>
                <a:r>
                  <a:rPr lang="en-GB" dirty="0"/>
                  <a:t>Work out P(A' ∩ B')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2"/>
                <a:stretch>
                  <a:fillRect l="-1565" b="-110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4559" y="1710334"/>
                <a:ext cx="6112701" cy="239564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Given that B doesn’t happen (note that the probability of this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probability that A doesn’t happen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only section left that is not A is on the outside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Let’s call the probability of this region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559" y="1710334"/>
                <a:ext cx="6112701" cy="2395646"/>
              </a:xfrm>
              <a:blipFill>
                <a:blip r:embed="rId3"/>
                <a:stretch>
                  <a:fillRect l="-499" t="-17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150069" y="2249213"/>
            <a:ext cx="6516413" cy="3710152"/>
          </a:xfrm>
          <a:prstGeom prst="rect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320573" y="2627586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B</a:t>
            </a:r>
          </a:p>
        </p:txBody>
      </p:sp>
      <p:sp>
        <p:nvSpPr>
          <p:cNvPr id="7" name="Oval 6"/>
          <p:cNvSpPr/>
          <p:nvPr/>
        </p:nvSpPr>
        <p:spPr>
          <a:xfrm>
            <a:off x="5917324" y="2627586"/>
            <a:ext cx="2869323" cy="302697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5877831" y="2607942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A</a:t>
            </a:r>
          </a:p>
        </p:txBody>
      </p:sp>
      <p:sp>
        <p:nvSpPr>
          <p:cNvPr id="9" name="Freeform 8"/>
          <p:cNvSpPr/>
          <p:nvPr/>
        </p:nvSpPr>
        <p:spPr>
          <a:xfrm>
            <a:off x="7901181" y="3048000"/>
            <a:ext cx="439255" cy="2175164"/>
          </a:xfrm>
          <a:custGeom>
            <a:avLst/>
            <a:gdLst>
              <a:gd name="connsiteX0" fmla="*/ 439255 w 439255"/>
              <a:gd name="connsiteY0" fmla="*/ 0 h 2175164"/>
              <a:gd name="connsiteX1" fmla="*/ 162164 w 439255"/>
              <a:gd name="connsiteY1" fmla="*/ 387927 h 2175164"/>
              <a:gd name="connsiteX2" fmla="*/ 9764 w 439255"/>
              <a:gd name="connsiteY2" fmla="*/ 914400 h 2175164"/>
              <a:gd name="connsiteX3" fmla="*/ 37474 w 439255"/>
              <a:gd name="connsiteY3" fmla="*/ 1440873 h 2175164"/>
              <a:gd name="connsiteX4" fmla="*/ 217583 w 439255"/>
              <a:gd name="connsiteY4" fmla="*/ 1898073 h 2175164"/>
              <a:gd name="connsiteX5" fmla="*/ 439255 w 439255"/>
              <a:gd name="connsiteY5" fmla="*/ 2175164 h 2175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9255" h="2175164">
                <a:moveTo>
                  <a:pt x="439255" y="0"/>
                </a:moveTo>
                <a:cubicBezTo>
                  <a:pt x="336500" y="117763"/>
                  <a:pt x="233746" y="235527"/>
                  <a:pt x="162164" y="387927"/>
                </a:cubicBezTo>
                <a:cubicBezTo>
                  <a:pt x="90582" y="540327"/>
                  <a:pt x="30546" y="738909"/>
                  <a:pt x="9764" y="914400"/>
                </a:cubicBezTo>
                <a:cubicBezTo>
                  <a:pt x="-11018" y="1089891"/>
                  <a:pt x="2838" y="1276928"/>
                  <a:pt x="37474" y="1440873"/>
                </a:cubicBezTo>
                <a:cubicBezTo>
                  <a:pt x="72110" y="1604818"/>
                  <a:pt x="150620" y="1775691"/>
                  <a:pt x="217583" y="1898073"/>
                </a:cubicBezTo>
                <a:cubicBezTo>
                  <a:pt x="284546" y="2020455"/>
                  <a:pt x="361900" y="2097809"/>
                  <a:pt x="439255" y="2175164"/>
                </a:cubicBezTo>
              </a:path>
            </a:pathLst>
          </a:custGeom>
          <a:noFill/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/>
          <p:cNvSpPr/>
          <p:nvPr/>
        </p:nvSpPr>
        <p:spPr>
          <a:xfrm>
            <a:off x="7903779" y="2627586"/>
            <a:ext cx="2869323" cy="3026979"/>
          </a:xfrm>
          <a:prstGeom prst="ellips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0878806" y="5008234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1506693" y="4517905"/>
            <a:ext cx="1108363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16349" y="4576833"/>
            <a:ext cx="830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3/4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860682" y="4078829"/>
                <a:ext cx="922047" cy="8785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682" y="4078829"/>
                <a:ext cx="922047" cy="878510"/>
              </a:xfrm>
              <a:prstGeom prst="rect">
                <a:avLst/>
              </a:prstGeom>
              <a:blipFill>
                <a:blip r:embed="rId4"/>
                <a:stretch>
                  <a:fillRect l="-19737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1892280" y="3812647"/>
            <a:ext cx="389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533" y="4247842"/>
            <a:ext cx="538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cs typeface="Times New Roman" panose="02020603050405020304" pitchFamily="18" charset="0"/>
              </a:rPr>
              <a:t>So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49874" y="5646077"/>
                <a:ext cx="1627369" cy="8757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GB" sz="36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36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74" y="5646077"/>
                <a:ext cx="1627369" cy="875753"/>
              </a:xfrm>
              <a:prstGeom prst="rect">
                <a:avLst/>
              </a:prstGeom>
              <a:blipFill>
                <a:blip r:embed="rId5"/>
                <a:stretch>
                  <a:fillRect l="-11610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0859754" y="5008234"/>
                <a:ext cx="494046" cy="612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28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9754" y="5008234"/>
                <a:ext cx="494046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187600" y="6159124"/>
            <a:ext cx="6687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*Again we could use the formula, but sometimes it is easier to visualise what is going on. P(A’∩B’)   =   P(A’|B’) x P(B’)</a:t>
            </a:r>
          </a:p>
          <a:p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2786877" y="5687883"/>
                <a:ext cx="909223" cy="8796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3600" i="1" dirty="0"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endParaRPr lang="en-GB" sz="3600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877" y="5687883"/>
                <a:ext cx="909223" cy="879600"/>
              </a:xfrm>
              <a:prstGeom prst="rect">
                <a:avLst/>
              </a:prstGeom>
              <a:blipFill>
                <a:blip r:embed="rId7"/>
                <a:stretch>
                  <a:fillRect l="-20134" b="-131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504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9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5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7" presetClass="emph" presetSubtype="0" fill="remove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4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9" presetClass="emph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animClr clrSpc="rgb" dir="cw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4" grpId="1" animBg="1"/>
      <p:bldP spid="4" grpId="2" animBg="1"/>
      <p:bldP spid="4" grpId="3" animBg="1"/>
      <p:bldP spid="5" grpId="0" animBg="1"/>
      <p:bldP spid="15" grpId="0"/>
      <p:bldP spid="15" grpId="1"/>
      <p:bldP spid="18" grpId="0"/>
      <p:bldP spid="22" grpId="0"/>
      <p:bldP spid="24" grpId="0"/>
      <p:bldP spid="25" grpId="0"/>
      <p:bldP spid="26" grpId="0"/>
      <p:bldP spid="28" grpId="0"/>
      <p:bldP spid="29" grpId="0"/>
      <p:bldP spid="3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9922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While you can always use logic to visually decode questions like this, it is often easier to just use the formula (especially for more complex questions).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04911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is not always the case, however, for tree diagrams.</a:t>
            </a:r>
          </a:p>
        </p:txBody>
      </p:sp>
    </p:spTree>
    <p:extLst>
      <p:ext uri="{BB962C8B-B14F-4D97-AF65-F5344CB8AC3E}">
        <p14:creationId xmlns:p14="http://schemas.microsoft.com/office/powerpoint/2010/main" val="78978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79811" y="-226086"/>
                <a:ext cx="11519770" cy="7290148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The performance of a cyclist in a race is affected by whether it rains or not that day. 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The probability the cyclist crashes is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GB" dirty="0"/>
                  <a:t> when it's raining and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GB" dirty="0"/>
                  <a:t> when it's dry. </a:t>
                </a:r>
                <a:br>
                  <a:rPr lang="en-GB" dirty="0"/>
                </a:br>
                <a:r>
                  <a:rPr lang="en-GB" dirty="0"/>
                  <a:t>On any given day, the probability of rains is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dirty="0"/>
                  <a:t>. </a:t>
                </a:r>
                <a:br>
                  <a:rPr lang="en-GB" dirty="0"/>
                </a:br>
                <a:br>
                  <a:rPr lang="en-GB" dirty="0"/>
                </a:br>
                <a:r>
                  <a:rPr lang="en-GB" dirty="0"/>
                  <a:t>What is the probability it was raining given the cyclist crashes?</a:t>
                </a:r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br>
                  <a:rPr lang="en-GB" dirty="0"/>
                </a:br>
                <a:r>
                  <a:rPr lang="en-GB" sz="2400" dirty="0"/>
                  <a:t>As there are multiple, dependent events we would need to construct a tree diagram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79811" y="-226086"/>
                <a:ext cx="11519770" cy="7290148"/>
              </a:xfrm>
              <a:blipFill>
                <a:blip r:embed="rId2"/>
                <a:stretch>
                  <a:fillRect l="-1429" r="-1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791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4648200" y="1754299"/>
            <a:ext cx="7543800" cy="4802562"/>
            <a:chOff x="96" y="632"/>
            <a:chExt cx="5664" cy="3765"/>
          </a:xfrm>
        </p:grpSpPr>
        <p:grpSp>
          <p:nvGrpSpPr>
            <p:cNvPr id="18" name="Group 5"/>
            <p:cNvGrpSpPr>
              <a:grpSpLocks/>
            </p:cNvGrpSpPr>
            <p:nvPr/>
          </p:nvGrpSpPr>
          <p:grpSpPr bwMode="auto">
            <a:xfrm>
              <a:off x="96" y="632"/>
              <a:ext cx="5664" cy="3765"/>
              <a:chOff x="288" y="637"/>
              <a:chExt cx="5664" cy="3765"/>
            </a:xfrm>
          </p:grpSpPr>
          <p:sp>
            <p:nvSpPr>
              <p:cNvPr id="22" name="Line 7"/>
              <p:cNvSpPr>
                <a:spLocks noChangeShapeType="1"/>
              </p:cNvSpPr>
              <p:nvPr/>
            </p:nvSpPr>
            <p:spPr bwMode="auto">
              <a:xfrm flipV="1">
                <a:off x="288" y="1488"/>
                <a:ext cx="1440" cy="960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Text Box 8"/>
              <p:cNvSpPr txBox="1">
                <a:spLocks noChangeArrowheads="1"/>
              </p:cNvSpPr>
              <p:nvPr/>
            </p:nvSpPr>
            <p:spPr bwMode="auto">
              <a:xfrm>
                <a:off x="1728" y="1344"/>
                <a:ext cx="767" cy="3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chemeClr val="folHlink"/>
                    </a:solidFill>
                  </a:rPr>
                  <a:t>Rains</a:t>
                </a:r>
              </a:p>
            </p:txBody>
          </p:sp>
          <p:sp>
            <p:nvSpPr>
              <p:cNvPr id="24" name="Line 9"/>
              <p:cNvSpPr>
                <a:spLocks noChangeShapeType="1"/>
              </p:cNvSpPr>
              <p:nvPr/>
            </p:nvSpPr>
            <p:spPr bwMode="auto">
              <a:xfrm>
                <a:off x="288" y="2448"/>
                <a:ext cx="1440" cy="960"/>
              </a:xfrm>
              <a:prstGeom prst="line">
                <a:avLst/>
              </a:prstGeom>
              <a:noFill/>
              <a:ln w="5715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Text Box 10"/>
              <p:cNvSpPr txBox="1">
                <a:spLocks noChangeArrowheads="1"/>
              </p:cNvSpPr>
              <p:nvPr/>
            </p:nvSpPr>
            <p:spPr bwMode="auto">
              <a:xfrm>
                <a:off x="1757" y="3241"/>
                <a:ext cx="719" cy="3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rgbClr val="A37A05"/>
                    </a:solidFill>
                  </a:rPr>
                  <a:t>Dry</a:t>
                </a:r>
              </a:p>
            </p:txBody>
          </p:sp>
          <p:grpSp>
            <p:nvGrpSpPr>
              <p:cNvPr id="27" name="Group 12"/>
              <p:cNvGrpSpPr>
                <a:grpSpLocks/>
              </p:cNvGrpSpPr>
              <p:nvPr/>
            </p:nvGrpSpPr>
            <p:grpSpPr bwMode="auto">
              <a:xfrm>
                <a:off x="2496" y="864"/>
                <a:ext cx="1776" cy="1248"/>
                <a:chOff x="2496" y="864"/>
                <a:chExt cx="1776" cy="1248"/>
              </a:xfrm>
            </p:grpSpPr>
            <p:sp>
              <p:nvSpPr>
                <p:cNvPr id="3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496" y="864"/>
                  <a:ext cx="1776" cy="624"/>
                </a:xfrm>
                <a:prstGeom prst="line">
                  <a:avLst/>
                </a:prstGeom>
                <a:no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40" name="Line 14"/>
                <p:cNvSpPr>
                  <a:spLocks noChangeShapeType="1"/>
                </p:cNvSpPr>
                <p:nvPr/>
              </p:nvSpPr>
              <p:spPr bwMode="auto">
                <a:xfrm>
                  <a:off x="2496" y="1488"/>
                  <a:ext cx="1776" cy="624"/>
                </a:xfrm>
                <a:prstGeom prst="line">
                  <a:avLst/>
                </a:prstGeom>
                <a:no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8" name="Text Box 15"/>
              <p:cNvSpPr txBox="1">
                <a:spLocks noChangeArrowheads="1"/>
              </p:cNvSpPr>
              <p:nvPr/>
            </p:nvSpPr>
            <p:spPr bwMode="auto">
              <a:xfrm>
                <a:off x="4273" y="720"/>
                <a:ext cx="767" cy="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chemeClr val="folHlink"/>
                    </a:solidFill>
                  </a:rPr>
                  <a:t>Crash</a:t>
                </a:r>
              </a:p>
            </p:txBody>
          </p:sp>
          <p:sp>
            <p:nvSpPr>
              <p:cNvPr id="29" name="Text Box 16"/>
              <p:cNvSpPr txBox="1">
                <a:spLocks noChangeArrowheads="1"/>
              </p:cNvSpPr>
              <p:nvPr/>
            </p:nvSpPr>
            <p:spPr bwMode="auto">
              <a:xfrm>
                <a:off x="4273" y="1968"/>
                <a:ext cx="1679" cy="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rgbClr val="A37A05"/>
                    </a:solidFill>
                  </a:rPr>
                  <a:t>No Crash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77" y="637"/>
                    <a:ext cx="768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oMath>
                      </m:oMathPara>
                    </a14:m>
                    <a:endParaRPr lang="en-GB" sz="2000" dirty="0">
                      <a:solidFill>
                        <a:schemeClr val="folHlin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0" name="Text 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77" y="637"/>
                    <a:ext cx="768" cy="523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2" name="Group 19"/>
              <p:cNvGrpSpPr>
                <a:grpSpLocks/>
              </p:cNvGrpSpPr>
              <p:nvPr/>
            </p:nvGrpSpPr>
            <p:grpSpPr bwMode="auto">
              <a:xfrm>
                <a:off x="2448" y="2880"/>
                <a:ext cx="1776" cy="1248"/>
                <a:chOff x="2496" y="864"/>
                <a:chExt cx="1776" cy="1248"/>
              </a:xfrm>
            </p:grpSpPr>
            <p:sp>
              <p:nvSpPr>
                <p:cNvPr id="37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2496" y="864"/>
                  <a:ext cx="1776" cy="624"/>
                </a:xfrm>
                <a:prstGeom prst="line">
                  <a:avLst/>
                </a:prstGeom>
                <a:no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8" name="Line 21"/>
                <p:cNvSpPr>
                  <a:spLocks noChangeShapeType="1"/>
                </p:cNvSpPr>
                <p:nvPr/>
              </p:nvSpPr>
              <p:spPr bwMode="auto">
                <a:xfrm>
                  <a:off x="2496" y="1488"/>
                  <a:ext cx="1776" cy="624"/>
                </a:xfrm>
                <a:prstGeom prst="line">
                  <a:avLst/>
                </a:prstGeom>
                <a:noFill/>
                <a:ln w="57150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3" name="Text Box 22"/>
              <p:cNvSpPr txBox="1">
                <a:spLocks noChangeArrowheads="1"/>
              </p:cNvSpPr>
              <p:nvPr/>
            </p:nvSpPr>
            <p:spPr bwMode="auto">
              <a:xfrm>
                <a:off x="4273" y="2736"/>
                <a:ext cx="767" cy="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chemeClr val="folHlink"/>
                    </a:solidFill>
                  </a:rPr>
                  <a:t>Crash</a:t>
                </a:r>
              </a:p>
            </p:txBody>
          </p:sp>
          <p:sp>
            <p:nvSpPr>
              <p:cNvPr id="34" name="Text Box 23"/>
              <p:cNvSpPr txBox="1">
                <a:spLocks noChangeArrowheads="1"/>
              </p:cNvSpPr>
              <p:nvPr/>
            </p:nvSpPr>
            <p:spPr bwMode="auto">
              <a:xfrm>
                <a:off x="4224" y="4034"/>
                <a:ext cx="1680" cy="3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GB" sz="2000" dirty="0">
                    <a:solidFill>
                      <a:srgbClr val="A37A05"/>
                    </a:solidFill>
                  </a:rPr>
                  <a:t>No Crash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952" y="2588"/>
                    <a:ext cx="768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oMath>
                      </m:oMathPara>
                    </a14:m>
                    <a:endParaRPr lang="en-GB" sz="2000" dirty="0">
                      <a:solidFill>
                        <a:schemeClr val="folHlink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 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952" y="2588"/>
                    <a:ext cx="768" cy="52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3879"/>
                    <a:ext cx="912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GB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dirty="0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GB" sz="2000" i="1" dirty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den>
                          </m:f>
                        </m:oMath>
                      </m:oMathPara>
                    </a14:m>
                    <a:endParaRPr lang="en-GB" sz="2000" dirty="0">
                      <a:solidFill>
                        <a:srgbClr val="A37A0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6" name="Text 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880" y="3879"/>
                    <a:ext cx="912" cy="52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527" y="1402"/>
                  <a:ext cx="480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342900" indent="-342900"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0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GB" sz="2000" dirty="0">
                    <a:solidFill>
                      <a:schemeClr val="folHlink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7" y="1402"/>
                  <a:ext cx="480" cy="336"/>
                </a:xfrm>
                <a:prstGeom prst="rect">
                  <a:avLst/>
                </a:prstGeom>
                <a:blipFill>
                  <a:blip r:embed="rId5"/>
                  <a:stretch>
                    <a:fillRect b="-45714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371" y="2982"/>
                  <a:ext cx="865" cy="5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0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000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GB" sz="2000" i="1" dirty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GB" sz="2000" dirty="0">
                    <a:solidFill>
                      <a:srgbClr val="A37A05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 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1" y="2982"/>
                  <a:ext cx="865" cy="5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470115" y="68170"/>
                <a:ext cx="6096000" cy="226651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GB" sz="1600" dirty="0"/>
                  <a:t>The performance of a cyclist in a race is affected by whether it rains or not that day. </a:t>
                </a: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The probability the cyclist crashes is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GB" sz="1600" dirty="0"/>
                  <a:t> when it's raining and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GB" sz="1600" dirty="0"/>
                  <a:t> when it's dry. </a:t>
                </a:r>
                <a:br>
                  <a:rPr lang="en-GB" sz="1600" dirty="0"/>
                </a:br>
                <a:r>
                  <a:rPr lang="en-GB" sz="1600" dirty="0"/>
                  <a:t>On any given day, the probability of rains is 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GB" sz="1600" dirty="0"/>
                  <a:t>. </a:t>
                </a:r>
                <a:br>
                  <a:rPr lang="en-GB" sz="1600" dirty="0"/>
                </a:br>
                <a:br>
                  <a:rPr lang="en-GB" sz="1600" dirty="0"/>
                </a:br>
                <a:r>
                  <a:rPr lang="en-GB" sz="1600" dirty="0"/>
                  <a:t>What is the probability it was raining given the cyclist crashes?</a:t>
                </a: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15" y="68170"/>
                <a:ext cx="6096000" cy="2266518"/>
              </a:xfrm>
              <a:prstGeom prst="rect">
                <a:avLst/>
              </a:prstGeom>
              <a:blipFill>
                <a:blip r:embed="rId7"/>
                <a:stretch>
                  <a:fillRect l="-500" t="-806" b="-241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8460764" y="3258438"/>
                <a:ext cx="494046" cy="616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i="1" dirty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0764" y="3258438"/>
                <a:ext cx="494046" cy="6165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 Box 17"/>
              <p:cNvSpPr txBox="1">
                <a:spLocks noChangeArrowheads="1"/>
              </p:cNvSpPr>
              <p:nvPr/>
            </p:nvSpPr>
            <p:spPr bwMode="auto">
              <a:xfrm>
                <a:off x="10949809" y="1586337"/>
                <a:ext cx="1022888" cy="6671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folHlink"/>
                  </a:solidFill>
                </a:endParaRPr>
              </a:p>
            </p:txBody>
          </p:sp>
        </mc:Choice>
        <mc:Fallback xmlns="">
          <p:sp>
            <p:nvSpPr>
              <p:cNvPr id="58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49809" y="1586337"/>
                <a:ext cx="1022888" cy="6671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 Box 17"/>
              <p:cNvSpPr txBox="1">
                <a:spLocks noChangeArrowheads="1"/>
              </p:cNvSpPr>
              <p:nvPr/>
            </p:nvSpPr>
            <p:spPr bwMode="auto">
              <a:xfrm>
                <a:off x="11046371" y="3393924"/>
                <a:ext cx="1022888" cy="674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folHlink"/>
                  </a:solidFill>
                </a:endParaRPr>
              </a:p>
            </p:txBody>
          </p:sp>
        </mc:Choice>
        <mc:Fallback xmlns="">
          <p:sp>
            <p:nvSpPr>
              <p:cNvPr id="59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46371" y="3393924"/>
                <a:ext cx="1022888" cy="6748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Box 17"/>
              <p:cNvSpPr txBox="1">
                <a:spLocks noChangeArrowheads="1"/>
              </p:cNvSpPr>
              <p:nvPr/>
            </p:nvSpPr>
            <p:spPr bwMode="auto">
              <a:xfrm>
                <a:off x="11073882" y="4250804"/>
                <a:ext cx="1022888" cy="6671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folHlink"/>
                  </a:solidFill>
                </a:endParaRPr>
              </a:p>
            </p:txBody>
          </p:sp>
        </mc:Choice>
        <mc:Fallback xmlns="">
          <p:sp>
            <p:nvSpPr>
              <p:cNvPr id="60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73882" y="4250804"/>
                <a:ext cx="1022888" cy="6671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17"/>
              <p:cNvSpPr txBox="1">
                <a:spLocks noChangeArrowheads="1"/>
              </p:cNvSpPr>
              <p:nvPr/>
            </p:nvSpPr>
            <p:spPr bwMode="auto">
              <a:xfrm>
                <a:off x="11009286" y="5873788"/>
                <a:ext cx="1022888" cy="6671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44</m:t>
                          </m:r>
                        </m:num>
                        <m:den>
                          <m:r>
                            <a:rPr lang="en-GB" sz="2000" b="0" i="1" dirty="0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</m:oMath>
                  </m:oMathPara>
                </a14:m>
                <a:endParaRPr lang="en-GB" sz="2000" dirty="0">
                  <a:solidFill>
                    <a:schemeClr val="folHlink"/>
                  </a:solidFill>
                </a:endParaRPr>
              </a:p>
            </p:txBody>
          </p:sp>
        </mc:Choice>
        <mc:Fallback xmlns="">
          <p:sp>
            <p:nvSpPr>
              <p:cNvPr id="61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09286" y="5873788"/>
                <a:ext cx="1022888" cy="6671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61"/>
          <p:cNvSpPr txBox="1"/>
          <p:nvPr/>
        </p:nvSpPr>
        <p:spPr>
          <a:xfrm>
            <a:off x="291082" y="2603491"/>
            <a:ext cx="4537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First calculate the probabilities of all outcomes – these are the only values we can use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1082" y="3546658"/>
            <a:ext cx="289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Given that the cyclist crashes</a:t>
            </a:r>
          </a:p>
        </p:txBody>
      </p:sp>
      <p:sp>
        <p:nvSpPr>
          <p:cNvPr id="64" name="Oval 63"/>
          <p:cNvSpPr/>
          <p:nvPr/>
        </p:nvSpPr>
        <p:spPr>
          <a:xfrm>
            <a:off x="11082492" y="1479943"/>
            <a:ext cx="702409" cy="87385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/>
          <p:cNvSpPr/>
          <p:nvPr/>
        </p:nvSpPr>
        <p:spPr>
          <a:xfrm>
            <a:off x="11206610" y="4224973"/>
            <a:ext cx="702409" cy="87385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/>
          <p:cNvSpPr/>
          <p:nvPr/>
        </p:nvSpPr>
        <p:spPr>
          <a:xfrm>
            <a:off x="3518115" y="1915953"/>
            <a:ext cx="2314347" cy="505475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8" name="Straight Connector 67"/>
          <p:cNvCxnSpPr/>
          <p:nvPr/>
        </p:nvCxnSpPr>
        <p:spPr>
          <a:xfrm>
            <a:off x="610296" y="5797842"/>
            <a:ext cx="1108363" cy="0"/>
          </a:xfrm>
          <a:prstGeom prst="line">
            <a:avLst/>
          </a:prstGeom>
          <a:ln w="730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25335" y="5100515"/>
            <a:ext cx="10647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7/60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5100" y="5843357"/>
            <a:ext cx="1298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11/60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1323948" y="3562265"/>
            <a:ext cx="447167" cy="458473"/>
            <a:chOff x="3930869" y="3273917"/>
            <a:chExt cx="447167" cy="458473"/>
          </a:xfrm>
        </p:grpSpPr>
        <p:cxnSp>
          <p:nvCxnSpPr>
            <p:cNvPr id="73" name="Straight Connector 72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11323948" y="6001163"/>
            <a:ext cx="447167" cy="458473"/>
            <a:chOff x="3930869" y="3273917"/>
            <a:chExt cx="447167" cy="458473"/>
          </a:xfrm>
        </p:grpSpPr>
        <p:cxnSp>
          <p:nvCxnSpPr>
            <p:cNvPr id="76" name="Straight Connector 75"/>
            <p:cNvCxnSpPr/>
            <p:nvPr/>
          </p:nvCxnSpPr>
          <p:spPr>
            <a:xfrm flipH="1">
              <a:off x="3948545" y="3273917"/>
              <a:ext cx="429491" cy="429491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3930869" y="3273917"/>
              <a:ext cx="400268" cy="458473"/>
            </a:xfrm>
            <a:prstGeom prst="line">
              <a:avLst/>
            </a:prstGeom>
            <a:ln w="1174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8" name="TextBox 77"/>
          <p:cNvSpPr txBox="1"/>
          <p:nvPr/>
        </p:nvSpPr>
        <p:spPr>
          <a:xfrm>
            <a:off x="268678" y="4215036"/>
            <a:ext cx="385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What is the probability it was raining?</a:t>
            </a:r>
          </a:p>
        </p:txBody>
      </p:sp>
      <p:sp>
        <p:nvSpPr>
          <p:cNvPr id="79" name="Oval 78"/>
          <p:cNvSpPr/>
          <p:nvPr/>
        </p:nvSpPr>
        <p:spPr>
          <a:xfrm>
            <a:off x="468783" y="1912462"/>
            <a:ext cx="3208727" cy="505475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Oval 79"/>
          <p:cNvSpPr/>
          <p:nvPr/>
        </p:nvSpPr>
        <p:spPr>
          <a:xfrm>
            <a:off x="11111778" y="1518427"/>
            <a:ext cx="702409" cy="873858"/>
          </a:xfrm>
          <a:prstGeom prst="ellipse">
            <a:avLst/>
          </a:prstGeom>
          <a:solidFill>
            <a:srgbClr val="FFFF00">
              <a:alpha val="4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430748" y="5307783"/>
                <a:ext cx="1013419" cy="872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3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sz="3600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lang="en-GB" sz="3600" dirty="0"/>
                  <a:t> 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0748" y="5307783"/>
                <a:ext cx="1013419" cy="872675"/>
              </a:xfrm>
              <a:prstGeom prst="rect">
                <a:avLst/>
              </a:prstGeom>
              <a:blipFill>
                <a:blip r:embed="rId13"/>
                <a:stretch>
                  <a:fillRect l="-18675" b="-132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9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6" grpId="0" animBg="1"/>
      <p:bldP spid="66" grpId="1" animBg="1"/>
      <p:bldP spid="67" grpId="0" animBg="1"/>
      <p:bldP spid="67" grpId="1" animBg="1"/>
      <p:bldP spid="69" grpId="0"/>
      <p:bldP spid="70" grpId="0"/>
      <p:bldP spid="78" grpId="0"/>
      <p:bldP spid="79" grpId="0" animBg="1"/>
      <p:bldP spid="79" grpId="1" animBg="1"/>
      <p:bldP spid="80" grpId="0" animBg="1"/>
      <p:bldP spid="80" grpId="1" animBg="1"/>
      <p:bldP spid="8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When dealing with given that questions remember to only consider what has already happened.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Fractions are often the best and most accurate way of leaving an answer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Make sure your knowledge of Venn diagrams is spot on so you know which regions the question refers to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Find an approach that works best for you – if that is to simply use the formula then just use the formula (but make sure you check your answers to see if they make sense)</a:t>
            </a:r>
          </a:p>
        </p:txBody>
      </p:sp>
    </p:spTree>
    <p:extLst>
      <p:ext uri="{BB962C8B-B14F-4D97-AF65-F5344CB8AC3E}">
        <p14:creationId xmlns:p14="http://schemas.microsoft.com/office/powerpoint/2010/main" val="396906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FD97C90B-5388-429B-90AA-6AD1E186CF9B}" vid="{2E0E6154-3796-4A07-B8B9-F1683CB36F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4074</TotalTime>
  <Words>3073</Words>
  <Application>Microsoft Macintosh PowerPoint</Application>
  <PresentationFormat>Widescreen</PresentationFormat>
  <Paragraphs>618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Times New Roman</vt:lpstr>
      <vt:lpstr>Theme2</vt:lpstr>
      <vt:lpstr>PowerPoint Presentation</vt:lpstr>
      <vt:lpstr>PowerPoint Presentation</vt:lpstr>
      <vt:lpstr>What have we learnt?</vt:lpstr>
      <vt:lpstr>What have we learnt?</vt:lpstr>
      <vt:lpstr>What have we learnt?</vt:lpstr>
      <vt:lpstr>What have we learnt?</vt:lpstr>
      <vt:lpstr>Conditional Probability</vt:lpstr>
      <vt:lpstr>Conditional probability EQ: What is Conditional Probability and how does it differ from regular probability? </vt:lpstr>
      <vt:lpstr>Two-way tables</vt:lpstr>
      <vt:lpstr>Frequency trees</vt:lpstr>
      <vt:lpstr>Probability trees – with replacement</vt:lpstr>
      <vt:lpstr>Probability trees – without replacement</vt:lpstr>
      <vt:lpstr>Conditional probability (Higher only)</vt:lpstr>
      <vt:lpstr>Conditional probability using two-way tables</vt:lpstr>
      <vt:lpstr>Independent events and multiplication law (Higher only)</vt:lpstr>
      <vt:lpstr>Complete the Venn Diagram</vt:lpstr>
      <vt:lpstr>Working with probability</vt:lpstr>
      <vt:lpstr>Some quick questions</vt:lpstr>
      <vt:lpstr>The ‘given that’ statement</vt:lpstr>
      <vt:lpstr>The ‘given that’ statement</vt:lpstr>
      <vt:lpstr>Notation</vt:lpstr>
      <vt:lpstr>In General you can use the formula</vt:lpstr>
      <vt:lpstr>Similarly</vt:lpstr>
      <vt:lpstr>Let’s have a look at some more examples </vt:lpstr>
      <vt:lpstr>120 Pupils took a selection of subjects</vt:lpstr>
      <vt:lpstr>What if we are already given probabilities?</vt:lpstr>
      <vt:lpstr>P(A) = 2/5 P(B) = 1/6 and P(B|A) = 1/8 Find P(A’ ∩ B)</vt:lpstr>
      <vt:lpstr>P(B) = 1/4 and P(A'|B') = 1/7  Work out P(A' ∩ B')</vt:lpstr>
      <vt:lpstr>While you can always use logic to visually decode questions like this, it is often easier to just use the formula (especially for more complex questions).</vt:lpstr>
      <vt:lpstr>The performance of a cyclist in a race is affected by whether it rains or not that day.   The probability the cyclist crashes is 7/12 when it's raining and 1/12 when it's dry.  On any given day, the probability of rains is 1/5.   What is the probability it was raining given the cyclist crashes?    As there are multiple, dependent events we would need to construct a tree diagram</vt:lpstr>
      <vt:lpstr>PowerPoint Presentation</vt:lpstr>
      <vt:lpstr>Summary</vt:lpstr>
    </vt:vector>
  </TitlesOfParts>
  <Company>King Edward VI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Probability</dc:title>
  <dc:creator>User</dc:creator>
  <cp:lastModifiedBy>SUMMERS Brad [Baldivis Secondary College]</cp:lastModifiedBy>
  <cp:revision>55</cp:revision>
  <dcterms:created xsi:type="dcterms:W3CDTF">2018-01-19T11:06:02Z</dcterms:created>
  <dcterms:modified xsi:type="dcterms:W3CDTF">2020-10-26T02:48:11Z</dcterms:modified>
</cp:coreProperties>
</file>
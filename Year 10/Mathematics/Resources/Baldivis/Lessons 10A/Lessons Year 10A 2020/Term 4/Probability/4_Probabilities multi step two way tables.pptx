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89" r:id="rId2"/>
    <p:sldId id="306" r:id="rId3"/>
    <p:sldId id="288" r:id="rId4"/>
    <p:sldId id="257" r:id="rId5"/>
    <p:sldId id="272" r:id="rId6"/>
    <p:sldId id="290" r:id="rId7"/>
    <p:sldId id="267" r:id="rId8"/>
    <p:sldId id="307" r:id="rId9"/>
    <p:sldId id="300" r:id="rId10"/>
    <p:sldId id="309" r:id="rId11"/>
    <p:sldId id="310" r:id="rId12"/>
    <p:sldId id="311" r:id="rId13"/>
    <p:sldId id="3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26964-588A-49A7-9CC7-CAE78F039A32}" v="2" dt="2018-06-02T10:21:08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" userId="38e27ca1fc287518" providerId="LiveId" clId="{5BB26964-588A-49A7-9CC7-CAE78F039A32}"/>
    <pc:docChg chg="custSel modSld">
      <pc:chgData name="Toby" userId="38e27ca1fc287518" providerId="LiveId" clId="{5BB26964-588A-49A7-9CC7-CAE78F039A32}" dt="2018-06-02T10:21:08.595" v="0" actId="27636"/>
      <pc:docMkLst>
        <pc:docMk/>
      </pc:docMkLst>
      <pc:sldChg chg="modSp">
        <pc:chgData name="Toby" userId="38e27ca1fc287518" providerId="LiveId" clId="{5BB26964-588A-49A7-9CC7-CAE78F039A32}" dt="2018-06-02T10:21:08.595" v="0" actId="27636"/>
        <pc:sldMkLst>
          <pc:docMk/>
          <pc:sldMk cId="506761459" sldId="289"/>
        </pc:sldMkLst>
        <pc:spChg chg="mod">
          <ac:chgData name="Toby" userId="38e27ca1fc287518" providerId="LiveId" clId="{5BB26964-588A-49A7-9CC7-CAE78F039A32}" dt="2018-06-02T10:21:08.595" v="0" actId="27636"/>
          <ac:spMkLst>
            <pc:docMk/>
            <pc:sldMk cId="506761459" sldId="2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A4256-36EA-4BD8-8BF1-F6C58A3FE9CC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57590-DA5C-4AF8-A7C0-DC8A02D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166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27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0837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8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408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6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0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6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3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3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4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8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4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94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712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20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6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70FF1-38DD-4865-8030-05F1F44AB006}" type="datetimeFigureOut">
              <a:rPr lang="en-US" smtClean="0"/>
              <a:t>6/2/2018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1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KTjh-6PFj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664239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800675"/>
            <a:ext cx="9446339" cy="1040326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51759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two-way tables?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Use 2-way tables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dirty="0"/>
              <a:t>Use 2-way tables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B grade and above: </a:t>
            </a:r>
            <a:r>
              <a:rPr lang="en-AU" dirty="0"/>
              <a:t>you will be able to construct and use 2-way tables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EQ: How do I calculate probabilities of combined events using two-way tables?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C06FA-41CC-406E-A392-7AA35EB5D8B3}"/>
              </a:ext>
            </a:extLst>
          </p:cNvPr>
          <p:cNvSpPr/>
          <p:nvPr/>
        </p:nvSpPr>
        <p:spPr>
          <a:xfrm>
            <a:off x="3642001" y="2380696"/>
            <a:ext cx="7322376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an experiment involves 2 or more components, such as flipping a coin twice, we are dealing with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combined events.</a:t>
            </a:r>
          </a:p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outcome for such an event depends on whether or not they are conducted with or without replacement.</a:t>
            </a:r>
          </a:p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this means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if replacement is allowed, then the outcomes from each selection can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selections are made without replacement, then the outcomes from each selection cannot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 makes a big difference whether selections are replaced or not… take a look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https://www.youtube.com/watch?v=uKTjh-6PFjo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at times it is like a relaxation tape……. Sorry!</a:t>
            </a:r>
          </a:p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</a:t>
            </a:r>
            <a:endParaRPr lang="en-AU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3 sets of cards labelled: 1, 2 and 3. Two selections are made each time. </a:t>
            </a:r>
          </a:p>
          <a:p>
            <a:r>
              <a:rPr lang="en-US" dirty="0"/>
              <a:t>Here are the two-way tables showing the outcomes when the card is replaced each time versus when there is no replacement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B3342-F663-4931-90BB-24F2B32E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783" y="4001294"/>
            <a:ext cx="45720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tableun_05_03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386" y="1139875"/>
            <a:ext cx="35829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215680" y="1735088"/>
            <a:ext cx="584200" cy="6858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15680" y="1732806"/>
            <a:ext cx="1447800" cy="400050"/>
          </a:xfrm>
          <a:prstGeom prst="rect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6240016" y="1098626"/>
            <a:ext cx="3652838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has pierced ears.</a:t>
            </a:r>
          </a:p>
          <a:p>
            <a:pPr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is a male with pierced ears.</a:t>
            </a:r>
          </a:p>
          <a:p>
            <a:pPr eaLnBrk="1" hangingPunct="1">
              <a:spcAft>
                <a:spcPts val="2400"/>
              </a:spcAft>
              <a:buFontTx/>
              <a:buAutoNum type="alphaLcParenBoth"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is a male or has pierced ears.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896120" y="3297040"/>
            <a:ext cx="8088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(a) Each student is equally likely to be chosen. 103 students have pierced ears.  So,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P(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pierced ears) =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103/178.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894532" y="4069184"/>
            <a:ext cx="80899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(b) We want to find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(male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 pierced ears), that is,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).  Look at the intersection of the “Male” row and “Yes” column.  There are 19 males with pierced ears.  So,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and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19/178.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919536" y="5273378"/>
            <a:ext cx="80899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 eaLnBrk="1" hangingPunct="1"/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(c) We want to find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(male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 pierced ears), that is,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). There are 90 males in the class and 103 individuals with pierced ears. However, 19 males have pierced ears – don’t count them twice!  </a:t>
            </a:r>
          </a:p>
          <a:p>
            <a:pPr algn="l" eaLnBrk="1" hangingPunct="1"/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= (19 + 71 + 84)/178.  So, 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P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(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or B</a:t>
            </a:r>
            <a:r>
              <a:rPr lang="en-US" altLang="en-US" i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) 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= 174/178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532" y="469250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Consider the following table. Suppose we choose a student at random. Find the probability that the student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B5FEC-C1F3-4F4C-B381-557EA35ABA04}"/>
              </a:ext>
            </a:extLst>
          </p:cNvPr>
          <p:cNvSpPr/>
          <p:nvPr/>
        </p:nvSpPr>
        <p:spPr>
          <a:xfrm>
            <a:off x="1342026" y="35799"/>
            <a:ext cx="38724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Example 2: We will do this together</a:t>
            </a:r>
          </a:p>
        </p:txBody>
      </p:sp>
    </p:spTree>
    <p:extLst>
      <p:ext uri="{BB962C8B-B14F-4D97-AF65-F5344CB8AC3E}">
        <p14:creationId xmlns:p14="http://schemas.microsoft.com/office/powerpoint/2010/main" val="8119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8" grpId="0" animBg="1"/>
      <p:bldP spid="11" grpId="0"/>
      <p:bldP spid="12" grpId="0"/>
      <p:bldP spid="12" grpId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CB1C7-B3B1-430C-B66D-8C4DF02FA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08" y="1584846"/>
            <a:ext cx="5715000" cy="4905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 in situations that involves replacement and no replacement</a:t>
            </a:r>
          </a:p>
        </p:txBody>
      </p:sp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3632" y="4215548"/>
            <a:ext cx="5516715" cy="241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485783" y="114244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3.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16BB19-ECC8-47BA-BE7A-7B1C2C37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862" y="1394232"/>
            <a:ext cx="5805577" cy="2670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7772B5-DFA4-423C-889B-7313EC9B4BA7}"/>
              </a:ext>
            </a:extLst>
          </p:cNvPr>
          <p:cNvSpPr txBox="1"/>
          <p:nvPr/>
        </p:nvSpPr>
        <p:spPr>
          <a:xfrm>
            <a:off x="2639201" y="391473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C11281B-17B0-475B-81C4-A197C80E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60648"/>
            <a:ext cx="7327253" cy="44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958D8B-0E2B-4AB7-BEFE-33EF3B4ACC89}"/>
              </a:ext>
            </a:extLst>
          </p:cNvPr>
          <p:cNvSpPr txBox="1"/>
          <p:nvPr/>
        </p:nvSpPr>
        <p:spPr>
          <a:xfrm>
            <a:off x="775458" y="91371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F155A-B4EA-4B46-B576-F7C7003396E3}"/>
              </a:ext>
            </a:extLst>
          </p:cNvPr>
          <p:cNvSpPr txBox="1"/>
          <p:nvPr/>
        </p:nvSpPr>
        <p:spPr>
          <a:xfrm>
            <a:off x="775458" y="2157467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6.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3411B25-5542-4BE1-BE7C-32494F55C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4869160"/>
            <a:ext cx="703334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218417-5E9E-47E7-ACA9-81754F076FEB}"/>
              </a:ext>
            </a:extLst>
          </p:cNvPr>
          <p:cNvSpPr txBox="1"/>
          <p:nvPr/>
        </p:nvSpPr>
        <p:spPr>
          <a:xfrm>
            <a:off x="844731" y="4769763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94545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This PowerPoint will be on CONNECT to support your revision and study of this topic.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838200" y="232756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677334" y="3022281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Finish off the 7 Questions in this PowerPoint</a:t>
            </a:r>
          </a:p>
          <a:p>
            <a:pPr lvl="1"/>
            <a:r>
              <a:rPr lang="en-US" dirty="0"/>
              <a:t>Write your summary of this topic</a:t>
            </a:r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3592AC-8C2A-450D-98C8-887B2BB7255B}"/>
              </a:ext>
            </a:extLst>
          </p:cNvPr>
          <p:cNvSpPr txBox="1">
            <a:spLocks/>
          </p:cNvSpPr>
          <p:nvPr/>
        </p:nvSpPr>
        <p:spPr>
          <a:xfrm>
            <a:off x="999836" y="418941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Those that want to go further check out the next set of slides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 3: Constructing a table with replacement 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B-Grade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CBDBD-B913-4BCE-A0B7-32BAAB83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200294"/>
            <a:ext cx="5229225" cy="1095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A0AED2-2C09-4328-AA18-F864977C7B5C}"/>
              </a:ext>
            </a:extLst>
          </p:cNvPr>
          <p:cNvSpPr txBox="1"/>
          <p:nvPr/>
        </p:nvSpPr>
        <p:spPr>
          <a:xfrm>
            <a:off x="6444761" y="1126836"/>
            <a:ext cx="1847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Not: </a:t>
            </a:r>
            <a:r>
              <a:rPr lang="en-US" sz="1600" dirty="0" err="1"/>
              <a:t>Pr</a:t>
            </a:r>
            <a:r>
              <a:rPr lang="en-US" sz="1600" dirty="0"/>
              <a:t> in this case is the same as P. Both are shorthand for “probability”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8E56AE-7ED8-4AA7-878F-04CA78247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507744"/>
            <a:ext cx="4754418" cy="41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Constructing two-way tables to calculate probabilities in situations that involves replacement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F5B00-C2F5-4D1D-A1ED-461E21C0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66" y="1695359"/>
            <a:ext cx="3838575" cy="2295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CB95A-2C51-4829-8E8B-79D1F72691D7}"/>
              </a:ext>
            </a:extLst>
          </p:cNvPr>
          <p:cNvSpPr txBox="1"/>
          <p:nvPr/>
        </p:nvSpPr>
        <p:spPr>
          <a:xfrm>
            <a:off x="1176481" y="152608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1.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DB09B-C979-40E3-8654-5729420FC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639" y="4395878"/>
            <a:ext cx="5362575" cy="153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98B6E4-5D2E-48FB-99BF-96C718D76AA2}"/>
              </a:ext>
            </a:extLst>
          </p:cNvPr>
          <p:cNvSpPr txBox="1"/>
          <p:nvPr/>
        </p:nvSpPr>
        <p:spPr>
          <a:xfrm>
            <a:off x="1259608" y="432008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1808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 3: Constructing a table without replacement 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B-Grade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0AED2-2C09-4328-AA18-F864977C7B5C}"/>
              </a:ext>
            </a:extLst>
          </p:cNvPr>
          <p:cNvSpPr txBox="1"/>
          <p:nvPr/>
        </p:nvSpPr>
        <p:spPr>
          <a:xfrm>
            <a:off x="6444761" y="1126836"/>
            <a:ext cx="1847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Not: </a:t>
            </a:r>
            <a:r>
              <a:rPr lang="en-US" sz="1600" dirty="0" err="1"/>
              <a:t>Pr</a:t>
            </a:r>
            <a:r>
              <a:rPr lang="en-US" sz="1600" dirty="0"/>
              <a:t> in this case is the same as P. Both are shorthand for “probability”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8D982B-86D7-4726-93D8-DF4CA8ED9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21" y="1028488"/>
            <a:ext cx="53625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Constructing two-way tables to calculate probabilities in situations that involves no replacement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CB95A-2C51-4829-8E8B-79D1F72691D7}"/>
              </a:ext>
            </a:extLst>
          </p:cNvPr>
          <p:cNvSpPr txBox="1"/>
          <p:nvPr/>
        </p:nvSpPr>
        <p:spPr>
          <a:xfrm>
            <a:off x="1176481" y="152608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8B6E4-5D2E-48FB-99BF-96C718D76AA2}"/>
              </a:ext>
            </a:extLst>
          </p:cNvPr>
          <p:cNvSpPr txBox="1"/>
          <p:nvPr/>
        </p:nvSpPr>
        <p:spPr>
          <a:xfrm>
            <a:off x="1259608" y="432008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8CF05-1C83-48D6-B941-3FD4D1FA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87" y="1738222"/>
            <a:ext cx="5353050" cy="1447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2E84F-B4A6-45CF-BEA5-64695E107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016" y="4320082"/>
            <a:ext cx="54673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697</Words>
  <Application>Microsoft Office PowerPoint</Application>
  <PresentationFormat>Widescreen</PresentationFormat>
  <Paragraphs>83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MS PGothic</vt:lpstr>
      <vt:lpstr>Arial</vt:lpstr>
      <vt:lpstr>Calibri</vt:lpstr>
      <vt:lpstr>DJB Fancy Nancy</vt:lpstr>
      <vt:lpstr>Kiwi School Handwriting</vt:lpstr>
      <vt:lpstr>Trebuchet MS</vt:lpstr>
      <vt:lpstr>Wingdings 3</vt:lpstr>
      <vt:lpstr>Facet</vt:lpstr>
      <vt:lpstr>Probability</vt:lpstr>
      <vt:lpstr>Lesson objective</vt:lpstr>
      <vt:lpstr>PowerPoint Presentation</vt:lpstr>
      <vt:lpstr>Example 1:</vt:lpstr>
      <vt:lpstr>PowerPoint Presentation</vt:lpstr>
      <vt:lpstr>Your turn: Complete this in your Interactive notebook</vt:lpstr>
      <vt:lpstr>PowerPoint Presentation</vt:lpstr>
      <vt:lpstr>PowerPoint Presentation</vt:lpstr>
      <vt:lpstr>Your turn to practice</vt:lpstr>
      <vt:lpstr>PowerPoint Presentation</vt:lpstr>
      <vt:lpstr>Your turn: Complete this in your Interactive notebook</vt:lpstr>
      <vt:lpstr>PowerPoint Presentation</vt:lpstr>
      <vt:lpstr>Your turn: Complete this in your Interactive 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Toby</cp:lastModifiedBy>
  <cp:revision>8</cp:revision>
  <dcterms:created xsi:type="dcterms:W3CDTF">2018-06-02T08:22:36Z</dcterms:created>
  <dcterms:modified xsi:type="dcterms:W3CDTF">2018-06-02T10:21:11Z</dcterms:modified>
</cp:coreProperties>
</file>
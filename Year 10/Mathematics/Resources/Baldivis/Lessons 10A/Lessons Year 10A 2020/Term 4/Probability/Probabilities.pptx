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8" r:id="rId2"/>
    <p:sldId id="311" r:id="rId3"/>
    <p:sldId id="312" r:id="rId4"/>
    <p:sldId id="275" r:id="rId5"/>
    <p:sldId id="268" r:id="rId6"/>
    <p:sldId id="308" r:id="rId7"/>
    <p:sldId id="277" r:id="rId8"/>
    <p:sldId id="280" r:id="rId9"/>
    <p:sldId id="281" r:id="rId10"/>
    <p:sldId id="310" r:id="rId11"/>
    <p:sldId id="313" r:id="rId12"/>
    <p:sldId id="314" r:id="rId13"/>
    <p:sldId id="315" r:id="rId14"/>
    <p:sldId id="271" r:id="rId15"/>
    <p:sldId id="273" r:id="rId16"/>
  </p:sldIdLst>
  <p:sldSz cx="9144000" cy="6858000" type="screen4x3"/>
  <p:notesSz cx="6796088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8" autoAdjust="0"/>
    <p:restoredTop sz="86587" autoAdjust="0"/>
  </p:normalViewPr>
  <p:slideViewPr>
    <p:cSldViewPr>
      <p:cViewPr varScale="1">
        <p:scale>
          <a:sx n="106" d="100"/>
          <a:sy n="106" d="100"/>
        </p:scale>
        <p:origin x="62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7-11-20T23:36:25.127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2932 302 116,'-7'-20'44,"4"17"-24,0 3-15,0 0 11,-1 0-3,1 0 2,-4-3-4,0 0-1,-6 0-6,-4 0-1,-2-6 1,-5 3-2,1-3-2,-4-3 5,0 0 1,-6 3 4,0 0 1,-3-9 3,-5 4 2,1-1-5,-3 3 1,-10-6-7,-1 1-1,5-1 0,-1 3 0,-4 3 2,4 1 1,-3-1-1,0 3 1,-1 0 0,-9 3 1,6 0-2,1 3 1,3 3 0,-7 0 1,3 0-4,-3 3-3,0 0 0,0 3-1,-3 0 2,7 6 1,-1 0-1,6 8 1,2 1 0,-4 0 1,-1-1-5,1-2-1,3-3 3,-3 2 1,-4-2 0,3 3-2,5 0 1,2 6 1,0 3 1,1-1 1,3 1-2,2-1-2,2 4 1,-5-1-1,7-2-3,4 9 0,-3 2 2,-4-2 0,3-4 1,0 1 0,7-4 2,0 4 1,4 6-1,-1-4-2,4-2 1,0 2-1,2 0 0,-2 1 0,4 6-3,1 8 2,6-6 3,-2-2 1,4-4-4,4 7-1,-1-7 3,3 7 1,1-1 2,3 3 0,0-2-2,0 11 1,0-3-2,7-6-1,6-2-2,-7-3 1,1-4 3,7 6 1,-1 1-1,1-4-2,-2 1 3,2-1 2,-1 4 0,4 2 2,-1-3-2,1-2 0,-4-3-6,24 2 1,-7-6 0,3-5 2,-3 11 1,4-5 3,-1-3-1,1-4 0,2-2-3,0-1-2,1 1 3,3-4 0,-3 1-1,-1-3-2,11-3 1,0 9 1,-4 2-1,3-5-1,-2-6-2,-1-4 1,8-2 1,-5 0 2,-3 0-1,0 0 2,1-4-7,9 1-1,-3 0 2,0 0 1,0-3 4,-3-3 1,3 3-1,-4-3-2,1 0 1,-1 0 1,-2 0-1,5-3-1,5 3 1,0-3 1,-1 0-1,-4-3-1,2 3 3,-1-6 0,-4 0-1,-3 0 1,1 0 0,-5-3 1,9 3 0,5 0 0,3 0-2,-3-3-2,1-8-2,3 2 1,-8 0 1,-2-5 0,-4 2-3,-2 0 2,1-2 1,6-1 2,-6-3-1,2 3-1,-1 0 1,0 1-1,-2 2 0,-2-6 0,1-2 0,-3 2 2,-3 1-1,-1-1 2,-3 0-4,0-6 0,-7 3 1,7-5 0,3-6 4,-6 2 2,-1 1-5,-2-4-2,-1-3 2,-3 7 1,0-9 0,0 3-2,-3-1-4,-1 3-2,1-8 3,-4-3 1,1 2 2,-4 1 2,-1-1-3,-2 4 0,0-15 1,0 12 0,-4 5 0,0 3 0,-3 1-3,0-6 2,-3-6 1,0 5 2,-4 0-1,0 1-1,-3 3-2,1-1-1,-5 4-1,1-4 3,-1 4 2,-2 5 2,-1-2-1,1 2-2,-8-2 1,-6-4-1,3 0 0,4 4 2,0 0-1,3 2-1,-4 4 3,1-1 0,3 0-1,0 3 1,-10-5-4,-3 2-2,3 7-3,-3-1-1,-4 3-3,0 1 1,-6-1-8,0 0-2,3 3-28,3 6-11,4 0-74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7-11-20T23:36:45.264"/>
    </inkml:context>
    <inkml:brush xml:id="br0">
      <inkml:brushProperty name="width" value="0.53333" units="cm"/>
      <inkml:brushProperty name="height" value="1.06667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2923 462 80,'0'-3'30,"0"0"-16,0-15-17,0 15 6,0-3 8,3 3 5,-3-3 3,0 4 1,0-1 2,0 0 3,0-3-4,0 3-3,0 0-10,0-3-3,-3 0 1,-10 0-3,-7 0-2,3-3 2,1 4 0,-1-1 1,1-3 2,-5 3 3,1-3 0,1 0 0,-8 3-3,-3 0-1,0-9-1,0 0 2,-3-3-3,-4 1 0,0 2 3,-3 0 3,1 3-2,-2 0 1,5 4-3,-1 2 0,4 0-6,0 0 1,-7 0-2,3 0 0,0 0 4,-2 3 1,-2 0 1,1 0 0,-3 0 2,0 3 3,3 0-2,0 3 1,3 0-5,0 0-2,1 0 2,-4 0 0,3-3-4,0 3 1,-2 0 2,-1 0 1,3 0-4,-3 3-1,-3 0 3,3 6 1,3-4-3,4 7 1,0-3 0,0 0 2,-1 0-1,-3-4-1,4 4-2,-4 0 1,7 0 1,0-3 2,0 0-3,0 3 0,0 0 3,-3 0 1,0 0 1,3-1 0,0-2-2,0 0-2,3 0 1,0 6 1,1-4-1,3 1 2,-4 3 0,1 0 1,-1-3 0,3-1 0,1 1-2,0 0 1,0 0-2,-1 0-1,1 0 1,3 0 1,0 3-3,0-3 0,0 2 3,-3-2 1,-4 3-1,3 0 1,5 2-2,2 7 2,-3 2-4,0-5 0,3 0 1,1 0 2,2-3-3,1 3 0,0-1 1,0-2 0,2 3 0,1-4 0,1 4 2,2 2 1,-3-2-1,3 0-2,-3 0 1,0 0-1,0 0 0,4-1 0,-4 1 0,-1 0 2,2 2-1,2-5-1,0 8 1,0 7-1,1-9 0,-1 3 2,1-4-1,-1-2-1,0 0 1,4-4-1,0 1 0,-1 0 0,1 5 0,0 4 2,-1-3-1,4-3 2,0 0-2,0-1 2,0 1-2,0 3 2,0-4-4,0 1 0,0-1 1,0 4 0,4 3 2,-1 3 1,0 0-1,4-4-2,-1 1 3,-2-4 0,-1-5-1,4 2-2,3 1 1,0 6-1,-3-3 0,-1 3 2,7-4-1,-2-2-1,-1 0-2,-1-1 1,1 1 1,1 2 2,-2-2-3,1 0 0,1 6 3,2 9 3,0-10-2,4-2-2,-4-1 0,0-2-1,8-3 0,5 2 2,1-2-1,-4 0-1,-3 0-2,4 6 1,-1 2 3,0-2 3,0-3-4,1-1-3,-1 1 1,4 0 0,-4-1 1,3 1 0,-2 0 0,-1-3 2,-3 0-1,0 0 2,0 11-2,3 0-1,-3-2 1,1-9 1,5 2-3,4-2 0,-3-3-1,-4-3 0,0 0 4,1-3 1,2 3-1,1-3-2,-4 3 1,0-7 1,1 1-3,3 3 0,-1 0 1,1-3 2,-1 0-1,-3 0-1,1 0 1,3 0-1,-4-1 0,0 4 2,14 0-3,-7-3 0,0 0 1,0 6 2,0-3-3,0-4 0,0 1 1,0 0 2,3-6-1,1 0-1,-4 0 1,-4-3-1,4 0 0,-3 0 0,-1 0-3,1 0 2,6 1 1,4 2 0,-4 0 0,1-3 2,-1 0-3,0 3 0,0-9-1,1 0 0,2 6 0,5-3 0,-8 3 4,0-3 1,-3 3-4,0-3 1,0 1 2,6-4 1,5 0-4,-5 0 1,-2 0 0,-1-3 2,0 4-3,0-4 0,-3 3 1,3-3 2,-3 0-3,4-9 0,-4 3 3,-4-6 1,-2 4-1,-1-1-2,1 3 1,-5 1-1,2-7 0,5 4 2,4-1 1,-3 3 3,-1 0-3,-3 0-2,1 0 0,0-2-1,-5-7-3,1 3 2,-3 4 1,-1-1 0,2-2 2,-6 5 3,2-3-4,-1 3-1,1-9 2,-1 3 3,7-5-2,-4 2-2,-2 1 0,-1-1-1,1 1-3,-4-4 0,-1 3 2,2 3 0,-5-2 1,4-1 2,-3 1-3,3 2 0,0 3 1,-4-5 0,1 5 0,0 0 2,0-3-3,-1 3 0,1-5-1,-1-6 0,1 2-3,-3 1 1,2-1 2,1 0 3,-4 3 0,11-2-1,-5 5 1,-2-2 1,0-7-3,-4 7-2,1-1 2,-4 3 2,3 3-2,-3-3 0,3 4 1,0-1 2,-3-9-1,0-2-1,0 6 1,0-1-1,0 0 0,0-3 0,-3-2 0,3 2 0,0-2-3,-10-1 2,3 1 1,-3 2 2,4 0-1,-4 3-1,3 1 1,-3-4-1,-3 4 0,-1-7 0,5-2-3,-5 2 2,1 0 1,-1 4 0,1-4 0,-7 4 2,4 2-3,-5-2 0,2-1-1,-1-6 0,-1 9 2,-2 1 0,0-1-3,0 4 2,-4-1-4,-9-2 1,-12-7-14,6-6-5,-5 1-4,-3 2-1,-3 1-9,-4-1-1,-6 4-62,0-16-50,-4-2 51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7-11-20T23:37:03.954"/>
    </inkml:context>
    <inkml:brush xml:id="br0">
      <inkml:brushProperty name="width" value="0.53333" units="cm"/>
      <inkml:brushProperty name="height" value="1.06667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4944 242 96,'-3'-6'38,"6"6"-20,-3-5-6,3 2 13,-3 3-11,0 0-3,-3-3-5,0 0-1,-1 0-3,-3 0 3,-2 0 1,-1 0-2,-4-3-3,1-3 4,-1 0 1,-5 3 2,-8 1 0,1-7 2,-4 0 1,-4 3-1,-3-9 1,-6 6-4,-4 0 1,1 0-1,-1 0 1,1 3-7,-5 1 0,2 2-3,-4 0 0,-1-3 4,-6 3 3,-7 0 2,7 0 3,3 3-1,-6 0 0,3 0-3,-3 0-1,-1 0-6,-9-2-1,3 2 3,4 0 1,-5 0 0,2 3-2,-1 0-2,-4 0 1,-2 0 1,2 0 2,5 0-1,-1 0-1,-4 0 1,1 0-1,0 0 4,-7 0 2,3 0-5,4 0-2,-1 0 0,-2 3 2,3 3 0,3-1 2,-7 1-2,7 0 2,4 3-2,-1 6-1,0 0 1,4-4 1,0 10-3,3-6 0,-7 3-1,7-3 0,0 0 4,7 0 1,7-1-4,-5 4 1,1-3 0,3 0 2,4 5-3,3-2 0,0 5-6,3 1 0,-3-3 12,-3 3 8,6 0-4,4-1-2,-1 1-7,5-3 0,-1 2 0,3 4 2,4 2-1,-10-2-1,3 0 1,3-3 1,0-4-1,1 1 2,-4-3-2,3-1 2,3 1-2,1 0-1,0 3 1,-3-1-1,2 1 0,-3 0 0,1-3 0,-4 6 2,6-1 3,1 1 2,3-1-3,-3 1-1,3 0-1,0 2 1,0-2 0,-3 12 3,0-4-3,2-2-2,1-1 2,1-5 0,1 0 1,2-1 0,-1-5-2,1 18 1,-1-6 0,4-4 1,-1 4-2,5-1-2,-2 1-2,1-1 1,4-2-1,-1 12 0,4-2 4,-1 2 1,4-7-1,0 1-2,0 0 1,0-4 1,7 10-1,0-4-1,-1-3-2,4 1 1,1 3-1,-2-3 0,5 2 2,-1 12 2,0-3-1,1-8-1,6-3 1,3 0-1,-3-4-3,0 1 2,0 2 1,0 0 0,3-2-3,1 0 2,-1-3 1,10 2 0,4 4 0,0-4 2,-1 1-1,0 17-1,1-11 1,0-3-1,0-4 0,-1-2 2,1-7-1,3 1-1,-3-3 1,-1-1-1,4-2 0,4-3 2,-1 6-1,0 6 2,0-6-2,1 0-1,2-4-2,1-2 1,-4 0-4,1 0 1,-1-1 4,3-2 2,8 0-3,-1 3 1,1-3-2,0 3 0,2-1 2,4 1 0,-7-3 0,0 3 2,11-3-1,-4 0-1,3 0-2,-3-3-1,3 0 2,-3 6 0,0 0 1,-3-3 0,3-1 0,3-2 2,-3 0-1,3-3-1,-3 0 1,4-3 1,-8 0-3,-3 0 0,-2 0 3,2 0 1,3 0-4,1-6 1,-4 0 0,1 0 2,-4 1-1,3 2-1,-3 0 1,-4-3-1,-2 0 0,2 0 2,7-3-1,-2 3-1,-1-3 1,-1 0-1,-2 3 0,0-3 0,3 0 0,-7 0 0,-3 0 0,0-3 0,-4-2-3,8 2 2,2 0 3,1 0 1,0 3-4,0 1 1,-4-1 0,0-3 0,3-3 0,2-2 2,-8 2 1,0 0 1,-3 0-2,2 0-2,9 3 1,-2-3 1,-3 0-1,0 1-1,-3 5 1,1-6 1,1 0-1,-5-5-1,0-7 1,-3 4-1,-1-1-3,0 3 2,3-3 3,5-3 1,-1 4-4,-4-1 1,1 1 0,-1-7 2,-2-2 1,-4 5 1,0-3-2,3 6 1,-3-5-2,-7 2-1,4-2 1,-4-16-1,1 4 0,-4 2 0,-1-3 0,2-2 0,-5 0 0,11 0 0,-1 2 0,-2 0 0,-4 4 0,-4-9 0,1-3 0,-4 2 2,1-3-1,-4 4-1,-1 4-2,2-5-1,-1 1 6,-4 0 3,1 5-6,0 1-1,0-4 0,-1-2 0,-3-1-2,0 1 2,1 3-1,-4 2-2,0 1 3,0-7 0,-4 7 1,1 0 0,-3 5 0,-1 0 0,-3-5 0,0-3 0,-3 2-3,-1 1 0,-9 2-1,-7 0 3,3 4 0,1-3 1,-4-1-3,-3 7 2,-4-1-1,-6 3 0,-8 4 2,-2-1 0,-10 4-5,-4-10 1,1 4 0,3-4 2,-11 3-6,1 3 1,0 1-30,-14-1-11,7 4-79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7-11-20T23:37:19.478"/>
    </inkml:context>
    <inkml:brush xml:id="br0">
      <inkml:brushProperty name="width" value="0.53333" units="cm"/>
      <inkml:brushProperty name="height" value="1.06667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988 30 168,'3'-11'63,"0"8"-34,15 0-23,-12 0 15,0 0-13,-2 0-2,-1 0 0,1 3 3,-1 0-4,-3 0 6,0 0 4,0 0-5,-7 0-1,0 3-1,-5 3 2,-2 3-1,1 2 0,-1 1-1,1 0 0,-4 0-2,4 0-1,-4 8-6,1 4 1,-1 2 4,1-5 2,-5 3-5,-2 0 0,0 0 1,0-4 3,-1 1 0,1 6 0,0 2-3,0-2-2,-1-1 1,4 1-1,0 3 0,0 0 2,-4-1-1,-6 9-1,4-2 1,-1-1 1,1-2-3,-1 0 0,4-4 1,-1 1 0,1-4 0,0 7 0,3-1 0,-4 1 0,5 0 0,-1 0 0,3 2 0,-3-3 2,0-2-1,0 14 2,4-5-2,-2-3-1,2-4-2,-1 1 1,4-4 1,-1 6 2,5-5-3,-1 6 0,-1 0-1,5-1 0,0 0 4,-1-2 1,-3-1-1,0 4-2,3 9-2,0-7 1,4-5 3,0 2 1,6-3-6,0 4 0,4 3 1,0-4 1,-1 1 1,1-4 0,0 1 0,0-1 0,-1 1-3,0 3 2,1 5 3,0-3 1,0-2-4,2-4 1,2 1 0,2 3 2,0-4-1,1 4-1,-5-4 1,5-2-1,-4 2 2,7 1 1,-4-3-1,4 0-2,-1 2 1,1 6-1,-1-2 0,5-10 0,-1 4 0,-4-6 0,8 6 0,-4-4 2,6-5-1,-3-1 2,4 4-2,3 6-1,-6-7 1,-1-2 1,-4 0-3,5 0 0,-4 0 1,0-1 0,0-2 0,0 0 2,-4-1-3,2-2 0,1 0 1,-2-3 2,-4-4-1,4 1 2,0 3-4,-7-3 0,3 0 1,-3-3 2,-3 3-1,-1-6-1,-3 0 1,-3-3 1,4 6-1,2-3-1,-6-3-2,0 0 1,0 0 3,0 0 3,0 0-2,0 0 0,0 0 3,0 0 3,0 0-4,0 0-1,0-6 2,0 0-5,0 0-1,0 0 0,0 0 2,0 0-3,0 0-2,0-6-1,-3 3 3,3-2 0,0-1 3,-3 0-1,6 0-1,0-3 1,1 4 1,-1-4-3,1 0-2,2-3-1,1 1 3,3-4-2,0 0-1,0 0 0,3 0 3,0 1 2,1-1 2,5 3-4,-1-2 1,5 2 0,-4-9 0,2-5 0,-5 2 0,1 0-3,0 1 0,2-4-1,2 4 3,-1-1 0,-4-2 1,1 5-3,-1-6 2,1 3 1,3 4 0,3-1 0,-2-2 0,-5 2 0,1 4 2,3-10-1,-4-6-1,5 7-2,-8-1 1,4 1 1,-1-1 0,1 4-3,-4 2 2,7-3 1,0 0 0,0 1 0,0-1 2,-3 1 1,-4-1 1,0 1-2,1-4 1,-5-6-4,2 4 0,-1-1-1,-1 1 0,-2 0 4,0-1 1,0-3-1,-4 1 1,0 5-2,0 1-1,-3-1 1,0 1 1,0 2-3,0-6-2,-3-5 2,0 3 2,0-1 0,-1 1-1,-2-1 1,-1 3-1,-3-5 4,0 3 2,3 2-2,-3 4-3,-3-1 0,-1 0 1,-2 4-1,-1-7-1,1-2 1,-1 2 1,-3 4-3,0-1 0,3 0-1,-3 4 0,4-13 0,-1 13 0,-6-3 2,-7 2 2,3 3-1,1 3 2,-1 3-4,0 1 0,-3-4-6,0 6-3,-3 1-3,-3-4-2,-1-5-8,3 5 0,-3-6-30,1 3-13,6-3-40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7-11-20T23:37:39.024"/>
    </inkml:context>
    <inkml:brush xml:id="br0">
      <inkml:brushProperty name="width" value="0.53333" units="cm"/>
      <inkml:brushProperty name="height" value="1.06667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3020 290 64,'-3'-3'24,"-1"3"-12,-2 0-3,2 0 9,1 0-2,-3-3 1,-1 0-7,-3 0-2,0 0 0,0-3 2,-4 0 4,-2 0 1,-7 1 0,-1-1 4,1 0-11,-4 0-2,1-3-2,-4 0 0,0 0 0,-4-8 0,-6-4 0,4 9 0,3-5 0,-1-1 2,-3 6 1,7 3-1,-3-3 1,0 3-2,-1 0 2,1 0-6,0 0-3,-3 0 1,2 0 2,-3 1 2,-3 2 1,4 0 0,3 0 2,-1 3-1,1 0 0,3 0-3,0 3 1,0 0-4,-3 0 0,-1 0 1,4 0 0,-3 0 0,-1 3 2,1 0-3,3 0 0,-3 0 1,-7 0 2,3 0 1,4 0 1,3 0 0,0 2 0,4 1-5,-1 0 1,-3-3 0,0 0 2,0 3-1,0-3-1,0 0 1,0 3-1,0-3 2,0 0 1,4 0-1,-4 6-2,-4 0 1,4 0 1,0 3 1,4 0 3,-1-3-5,0-1-1,0-2 2,1 0 3,-1 6-2,1-3-2,-1 0 0,4-3 1,-1 3-3,4-4-2,-3 4 2,3-3 2,0 3 0,0 0-1,0-3 1,0 0-1,4 0-3,-1 2 2,-3-2 1,0 3 2,0 0 3,0 0 4,3 3-2,1 6-2,2-3 0,-2 0-1,2-1-2,-2-2-2,2 3 1,1-3 1,-1 3-1,2-4-1,1 4 1,-2 0-1,3 0 2,-4 5 1,2-5 1,-2 6 0,1 0-2,-1 3-2,1-4 1,0 1 1,-1-3-1,1-1-1,0-2 5,0 3 1,-1-1-2,1 1-1,0 0-1,-1-3 1,1 6-4,3 3 0,0-4 1,0-2 2,0 0-3,0 0 0,0 2 1,0 1 2,-3-1-3,3 4 0,-1-3 1,5 9 0,-7 0 0,2-1 0,2 1 0,2-7 0,0 1 0,0-4 0,4 1 0,0 0 0,-3 0 0,6 0 2,-4 5-1,4-2 2,0-3-2,0-1 2,4 1-4,2 2 0,0 1 3,1 0 1,0-3-4,3 3-1,0 8 1,0 1 0,0-4 1,0-2 0,0-1 0,0-2 0,0-3 0,4 3 0,-2-3 0,2-4 0,2 7 0,1-3 0,0 2 0,0-2 0,3-1-3,-4 1 2,4-3 3,3 3 1,-6 0-1,3 0-2,0-1-2,0-2 1,0 6 1,-4-1 0,2 4 0,-2-4 0,7-2 0,4 0 0,0-3 0,0 0 2,-1 0-3,1-1 0,-4 1 1,3-3 0,-2-1 2,-1 7 1,4 0-4,3-1-1,-4 1 3,4-3 1,-3 3-3,-1-3 1,1 3-2,-3-4-2,6 4 3,3-3 2,-3 2 0,0-2 2,3 5-2,0 4-1,1 3-2,-1-6 1,0-3 1,4-4 2,-3 1-1,-4 0-1,0-1 1,0-5 1,0 6-3,0-6 0,6-3-1,0 2 0,1 7 2,0-3 0,0-3 0,-1 6 2,4-3-3,-3-3 0,3-3-1,-4 2 0,-3-2 2,1 0 0,-1 0 0,14 3 2,0-1-3,-7 1-2,-4 0 4,1 0 1,-4-3-3,0 0 1,-3-1 0,0 1 2,0-3-3,-3 0 0,3 0 1,-4 0 2,-2 0-1,-4-3 2,0 0-4,0 0 0,-3 0 1,-1 0 0,1 0-3,-1 3 2,8-3-1,3 0 0,-1 0 2,-6 0 0,0 3-3,0-3 2,0 0 1,-3 0 0,-1 0 0,1 0 0,0 6 0,-4-4 2,0 4-1,-2-12-1,-2 9-2,1-3 1,-3 0 1,0 0 2,-7-3-1,0 0-1,6 0 1,-6 0 1,0 0-3,0 0 0,0 0-1,0 0 0,0 0 2,0 0 0,0 0 0,0 0 0,0 0 0,0 0 0,-3 3 0,0-3 2,0 0-1,-1 0 2,1 0-4,-1 0 0,1 0 1,-1 0 0,1-9 2,0 0 1,0 3-1,0 1-2,-1-1 1,1 3-1,-1 0-3,1 0 2,-1 0 1,1 0 2,0 0-1,0-3 2,0 3-4,-1 0 0,1 0-1,-1 0 0,1 0 2,-1 0 2,1-3-1,0 3-1,0 0 1,0 0 1,-1-3-3,1 3-2,-1 0 2,1 0 0,3 0 1,-4 0 2,4 0-1,-3 0-1,3 0 1,-3 0-1,0 0 0,0 0 0,-1 0 0,1 0 2,-1-2-1,1-1 2,-1 3-2,1-3 2,-3 0-2,-4 0 2,-1 0-2,2 0-1,2 0-2,-10-3-1,1 1 2,-4-1 0,6-3 3,1-6-1,-4 4-1,4 2 1,0-3 1,-4 0-1,4 0-1,-1 0 3,1-3 0,3 0-1,-6 4 1,-1-1-2,4-12 2,-1-5-2,1 3 2,3-1 0,0 0 1,0-6-5,0 7 1,0-1 0,0-2 2,0-4-1,3 4 2,0-1-2,1 3-1,0-2 1,-1 2-1,0-14-3,0 3 0,1 2 4,3 0 1,-1 1 0,1 0-2,-1-1 1,4-2-1,0 8 0,0-3 0,4 4 0,-1-1 0,1 1 0,-1-4 2,3-5-3,1 2 0,0 1 1,0 2 0,2 1 4,1 2 2,1 4-2,-2-4-3,1 0 0,4 1 1,-1 2-6,4 4 1,-4-4 1,4 4 3,-4 2-2,0-9 0,0 6 1,1-5 0,2-1 0,-2 4 0,-1-1 0,1 1 2,-1-4-3,0 6 0,7 6 1,4-2 0,2-7 2,-6 4 3,0 2-7,0 1-3,0 2 5,0 0 4,-3 0-2,2 0-1,2-6-5,-5-5 0,1 3 4,0 5 2,2 0-3,2 1-1,-1-1 1,-1 0 0,2 3 1,-1 0 2,-4 1-3,1 2 0,-1-3 1,1 4 0,0-7 2,0 6 1,-4 1-6,0-1 0,3 0 1,2 3 3,1 0-2,1 0 0,-3 6 1,-1-2 2,-2-1-3,-1 3 0,1 0 1,-1 0 2,0 3-1,1-2-1,-5 2 1,2-9 1,-1-6 3,-4 6-7,1 13 2,0-1-1,-4-9-2,0 3 0,-3 3 2,0 0 0,0 3 1,0 0-7,0 3 0,-3 0-10,0 21-33,-1-3-2,4-1-79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7-11-20T23:37:56.049"/>
    </inkml:context>
    <inkml:brush xml:id="br0">
      <inkml:brushProperty name="width" value="0.53333" units="cm"/>
      <inkml:brushProperty name="height" value="1.06667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138-11 68,'-3'0'27,"3"0"-14,0 0-9,0 0 8,0 0 6,0 0 6,0 0 2,0 0 4,0 0-10,0 0-2,3 0-6,0 0 0,4 0-7,7-2-1,-2 2 0,9 0-5,-1 0-1,-1 0 1,5 0 0,3 0-2,-1 0 2,4 2 1,7 1 2,-1 0 1,1 3 3,3 0-1,0 0 2,0 3-4,4 0-2,-2 0 0,-1 3 1,-5-3-1,1 0-1,9 0-2,-2 0 1,-1 0 1,1-1 0,-5 1 0,1 0 2,4 0-1,-1 6 2,-3 5-2,0-2 2,-7-3-2,0-1-1,-3-2 3,0 0 2,3 0 0,4 0 0,-7 0-3,0 0 1,0-3-2,-3 0 2,-1 3-2,1 0 2,0-1-4,-4 1-2,4 3 2,3 0 2,-4 2 0,-2-2-1,-4 0 1,0-1-1,-4-2 0,5 3 2,-5 0 1,4 0 3,0 0-1,7 3 0,3 0-6,0 2 1,0-2 0,0 5 0,0-2 0,3 6 2,-3-4-1,-4 1-1,4-3 1,0 0-1,0 0 0,-3-4 0,-1 1 0,1 3 2,-3 2-1,-1 1 2,0-1 0,4 1 1,3 0 0,-4 0 0,-2 0-5,-1-1 1,-3 1 0,0-3 0,0 2 0,-3 4 0,0 5 0,-1-5 0,1 0 4,-4 3 5,1-4-3,-2-2-1,2-4-5,-4 7-2,0 2 1,0 1 0,-3-3 1,-1 0 2,1-3-3,3-1 0,0 7 5,-4-4 2,1 1-2,0 5-3,-3 4 2,-1-3 0,-3-7-1,6 1 1,-6-1-2,0-2 2,0-3-2,0-1 2,-3 1-2,3 6 2,0 0-4,0-3 0,-6-1-1,6 1 0,-7-1 2,3 1 2,-3-1 3,4 1 2,0-3-3,-3 12-1,2 2-1,-3-2-2,0-10-2,1 1 1,0 0 1,-1-1 2,0 1-1,-3-6-1,0 0 3,0 15 0,3-10-1,-2 4-2,-2-4 1,-2 1 1,0-1-1,-1 1 2,1 0-4,0 0 0,-7 0 1,3 5 2,-3 7-1,0-10-1,0 1 1,4-7-1,-1 1 2,0 3 1,1-3-4,-1-3 1,1 2 2,-2-2 3,6 3-4,-2-4-1,-2 4 0,-8 0 2,4-4 1,0-2 1,3 0-5,-3 0-1,1 0 3,-2 0 3,-2-3-1,3 0 0,0-3-1,0 2 1,-6 1-4,-11 0 0,10-3 1,4 0 2,0-1-1,2-2 2,2 0 0,-1 0 1,-1 3-5,2-6 1,-4 0 0,-1 0 2,0 0-1,1 0 2,4 0-4,-5 6 0,4-1 3,0-2 3,-3 0-4,-1-3-1,1 9-2,3-3-2,-6-12 5,-7 6 3,6 0-1,3-3 0,1 6-1,0 0-2,0-6-2,2 3 1,1-3 1,1 0 0,-8 0 0,3 3 2,-2 0-3,2 0 0,1-3 1,-3 0 2,-1 0-1,-3 0-1,3 0 1,0 0-1,4 0 0,-14-3 0,7 0 0,4 3 0,-1 0 0,1-3 2,3 3-3,-1-3 0,1-6 1,3 3 0,-3 3 0,-4 0 2,3 0-1,1 0-1,0 0-2,0 3-1,-1-6-1,1 0 3,0 9 2,0-3 2,2-6-1,-6 6-2,4 3-2,-3-3 1,-1 0 1,1 0 2,5 0-3,-2 0 0,0 0 1,0 0 2,2 0-1,-5 0-1,-1 0 1,4 0-1,3 0-3,0-6 2,4 3-1,-2 0 0,2 0 4,-1 1 1,1-1-1,-1 0 1,4 0-2,-1 0-1,1 0 1,-1 0-1,5 0-3,-1 0 0,-1 0 4,5-3 1,0 6-3,2-3 1,1 3 2,-1-3 1,1 0-4,3 0 1,0 0 2,0 0 3,3 0-4,1 1-3,-1-4-2,4 0 0,-1 0 3,4 0 0,1-3 1,-2 0 2,1 0-1,1 1 2,-2-1-4,5 0 0,-1-3 1,-3 0 0,4 3 2,-5 0 1,8-9-4,-4-3-1,1 1 3,2 2 3,1 0-3,-1-2-1,1 2 0,0-3 2,0 1-1,-4-1-1,0-6 1,0-6 1,4 1-1,-4-4 2,1 4-4,-1-6-2,7 5 2,3 0 0,-3-3 1,1 1 2,-2 3-1,1-1-1,1 1 1,-2 2-1,1-15 0,1 4 0,-2-1 2,-2 1 1,0 3-4,2-1 1,8-3 0,-7 1 2,0 3-1,-3-1-1,0 4 1,-1-1-1,1-6 0,-4-5 0,0 3 0,1 0 0,-4 2 0,0 0 2,0-2-3,0 0 0,0 6 1,-3-1 2,-1-3 1,0 4 1,-2-1-2,6-5-2,0 0 1,-4-1 1,-2 3-3,-11 1 0,4 0-1,-3 0-2,-1 2 3,0 0 2,0 4-2,1 2 0,-1 1 1,-3-4 0,3-2 2,-2 2 1,-2 0-1,1 4-2,1-1 1,-5 1-1,1 0-3,-4 2 2,1 6-1,-8-9 0,4 4 2,-3 5 2,3 0-3,-4 4 0,1 2 1,0 0 0,0 4 2,2-4 1,2-6-4,-4 3-1,-7-3 1,3 1 0,3 2-4,1 3 1,0 4-3,0-1 2,6 3-8,-3 0-4,0 3-11,3 1-5,-6-1-20,6 3-8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7-11-20T23:38:25.594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 contextRef="#ctx0" brushRef="#br0">1615 480 80,'-73'-8'33,"36"-19"-18,-13-8-9,17 26 9,-4 0 0,-6-3 4,-13 0-2,-4 3-1,-4 0-6,-2-3-2,-1 3-6,3 0-2,1 0 0,3 4 0,0 2 0,4 0-3,6 0 2,6 3 1,8 0 2,6 3-3,6 0-2,8 2-1,6 1 0,6 3 3,11 0 2,7 9-2,13 3-2,6 0-3,6 3-1,18-1-1,10 1 0,6-1 2,10 4 2,0 5 2,7 4 3,-3-3 4,0 2 2,-14 1-3,1-1-1,-8 6 1,-9 1 2,-11-3-3,-6-7-2,-6-2 6,-11-6 5,-10-4 0,-10-2 1,-12-3-3,-18-7 1,-13-2 0,-13-6 3,-14-3-5,-7-2-1,-12-10-2,-7 3 1,-10 0 0,6-6 1,4 4-4,-1 2-1,5 0-1,6 3 1,-1 6-4,11 0 0,13 0-1,10 9 0,6 0-5,8 9-3,13 0-3,6-1 0,7 4 2,7 3 2,13 2 6,13 1 1,7 12-1,13-3 2,0 2-1,14 3 0,3 4 2,10 5 0,10 7 0,3-7 0,7 0-3,-6-3 0,-12-5 8,-8 0 4,-8-3 7,-9-7 4,-13-2 7,-11-7 6,-13-2-5,-13 0-2,-11-4-8,-12-5-3,-11-3-12,-13-3-1,-10-3-2,-7-3 2,-3-6-3,-6 0 0,-1-8 1,1 2 0,5-3-3,-5 3 2,9 4-6,11 2-3,9 3 1,7 0 0,14 3-8,5 0-3,8 3-1,10 6 2,23 6 6,6 6 6,18 2 2,2 4 3,14 2-1,7 7 1,10 0 4,3 20 1,3-9 1,3 1 0,-9-4-2,-7 1-2,-7 2 3,-9-5 2,-8-4 0,-9-3 2,-14-2 0,-9-3 3,-11 0-1,-13-3 0,-17-4-5,-13-2-1,-13-3 1,-17-4 0,-6 1 2,-11-3 1,-3-3-1,-3 0 1,-4 0-4,4 0 0,10 0-1,2-1-2,8 10-2,14-3-1,8 9-1,12 0 0,12 0-6,13 2-2,11 4 5,20 5 3,10 7 1,15 2 1,25 4-3,16 2-1,17 12 0,10 6 4,7-5-1,0 8 1,-11-6 2,-9-3 2,-11-5-1,-6-4-1,-17 0 3,-9-9 0,-24 4 12,-24-6-4,-12-13 1,-11-8-4,-26 0-3,-7-6-2,-14-12 0,-12-3-2,-4 0-1,-7-9 1,1 3 1,-1 0-1,-3 3 2,11 0-2,5 0-1,7 4-2,4 2 1,10 8 1,7 1 0,5 9-7,8-3 0,10 2-6,6-2-2,7 6 6,10-1 3,13 4 4,11 6 1,6 3-2,20-1 0,6 4-1,11 2 0,16 6 3,0 7 2,10-1-2,4-2-2,7-7 6,-11-3 3,-10-5-1,-13 6 0,-13-7 3,-14-5 3,-13-7 2,-10-2 3,-14-6-5,-12-3-1,-21-9-6,-16-3-1,-17-9-3,-10-6-3,-13-5-1,-7-1 3,-3-2 2,-14-13 2,7 0-4,3 4 1,4-1 0,10 4 2,9 2-1,14 7-1,11 2-6,12 6-1,14 0-6,13 3 1,16 3-3,14 3 0,17 3 3,10 3 5,22 3 2,15 3 0,19 6-3,7 3 0,13 3 4,11 9 4,-4 5 1,13 4-1,0-4 3,-3-3 2,-17 1 2,-3-6 3,-10-3-3,-13-3 1,-18-6-1,-8-4 1,-11-2 4,-11-6 3,-9-6 0,-16-5 1,-14-7-8,-10-18-3,-14-3-5,-9-5-3,-14 0-1,-6-3 0,-4-1 0,1 6 0,2 7 0,1 5 0,10 7-2,3 2 1,13 9-4,17 7 1,10 7-1,13 10 3,24 9 2,13 5 2,13 7-1,7 2 1,10 13 4,10 0 3,-3-1-2,3-6-2,-10-6-3,-7-5 1,-7-6 1,-6-6 2,-13-3 1,-10-6 1,-11-3 6,-9-6 6,-7-3-6,-7-6-3,-13-6-9,-3-6-3,-10 0 2,-4-6 1,0 1-3,-2 2 1,1 4 0,6 2 2,1 3 1,4 6 1,4 3-9,6 6-2,11 6-3,16 12 1,13 6 5,7 2 2,17 1 4,3 2 1,7-2 1,6 6 0,0 2 0,-6-5 2,-1-7-1,-13-2 2,-6-6-2,-10-3-1,-8-4 3,-9-2 0,-6-6 7,-14-17 4,-10-7-7,-10-2-9,-10-1-1,-3-8-1,-4-4 2,1 0 1,-1 4 1,7 5 0,7 4 0,6-1-7,14 9-3,9 7-3,21 8 0,9 9-2,21 2 0,13 25 8,20-4 3,-7 1 4,4 2 2,0-5-1,-14-6 2,-13-3 0,-17-6 3,-13-6 10,-13-6 5,-21-6-5,-16-9 1,-16-9-4,-8-9 0,-9 1-5,-7-1-3,3 1 0,4-1-1,6 10-2,7 2-2,11 6-6,8 3-1,11 3-8,14 3-1,9 3-2,7 3 1,0 0 7,3 0 3,-3 0 5,0 0 1,-3 0 5,-7-3 5,-7 0 8,-3-3 7,-13-3-9,-4 0-3,-6-2-7,0-10-4,-8 3 0,5 1 1,-7-1-1,2 0-1,-2 1-2,4 2 1,5 3-1,4 3-2,7 3-6,3 3-4,6 0 3,8 6 4,2 3-1,4 3 1,4 0-3,9 0 1,7 6-2,-4 2 0,1-2 6,-7 0 4,-4-3 4,-5-4 1,-8-2 4,-10-3 5,-6 0-5,-13-9 0,-11 0-2,-3-5-1,-3-1-3,-1 0-2,4 0 1,0 3-1,7 3-3,3-2 2,13 5-8,4 0-2,6 6-1,11 3 2,5 5 4,22 10 1,2 0 3,7 2 3,6 4 0,8 2-1,3 1 1,2 12-1,8-1 0,3 1 0,0-7 0,-4-3 0,-2-2 2,-11-6 1,-10-6-1,-10-3-2,-9-6 5,-8-3 1,-9-6 4,-7-6 4,-10-3-8,-6-3-1,-8-6-1,-13-9 0,-2 0-5,-1 4 1,0 2 0,3 3 0,7 4-3,7 2 2,9 6-10,18 6-3,19 15-2,14 8 0,23 7 0,16 2 2,14 10 6,10 6 4,13-1 1,-3 0 1,-7-3 2,-13-5 0,-16-9 4,-11-9 2,-16-7 11,-15-8 6,-18-12-1,-14-6-1,-14-8-9,-8-13-5,-18-3-4,-7-2 0,-7-4-2,1-2-1,-4-3-2,1 5 1,9 4 3,7 5 1,11 4-6,12-1-2,17 10-5,10 2 1,10 6-4,13 6-2,10 9 6,4 6 3,19 3 1,8 8 4,3 10 0,-4-7 1,0-2 2,-13-3 3,0-4 0,-4-2 2,-9-6 5,-10-3 2,-11-6 1,-9-9 1,-11-8-6,-9-10-4,-14-2-6,-12-6-2,-8-7-4,-6 0 1,-14 1 3,0 0 1,1-6-2,2-1 2,8 6 1,6 10 2,6 5-12,14 10-6,14 5-5,13 18-2,19 15-7,14 2-2,26 10 11,14 11 7,14 10 4,19 5 2,4 9 5,2 3 1,-2-5 6,0-4 2,-21-12 15,-16-12 9,-20-5-5,-13-9 0,-17-12-3,-20-9-2,-24-9-8,-16-21-5,-10-6-2,-13-11 1,-14-9-5,-9-3-1,-18-1-2,5 4 0,2-14 2,-3 1 2,4 7-1,13 9-1,12 12-2,15 5-1,26 15-9,23 12-1,14 12 3,30 9 0,19 27 4,14-1 4,3 6 3,20 6-5,1 1 1,2 0 1,-16-10 3,-13-6 2,-21-11 1,-15-9 2,-15-10 1,-16-10 3,-20-19 1,-23-11-1,-21-24 1,-26-10-4,-3-2 1,-10-8-5,-1-2 0,-2 10 1,3-8 2,3 7-5,17 10-3,16 9 1,13 9 0,11 5-13,20 6-3,16 4-4,14 11-1,10 6 0,16 9-2,3 9 0,11 6 0,9 3 3,1 20 0,0-5 9,0 0 5,-5 2 7,-8-5 2,3-4 15,-1-2 6,-9-6 13,-11-1 5,-6-5-5,-10-6 1,-10-9-17,-13-8-6,-17-22-9,-17-8-4,-9-9-3,-18-19 1,-12 4-1,-30-17-2,2-4 3,-6 3 2,-3-6 0,-17 6-1,6 1 7,8-8 5,6 11-8,7 8-2,10 11-2,23 13 0,13 12-5,27 8-12,23 10 0,20 8-5,21 9-1,32 15 8,28 11 6,-1 19 6,20 2 2,4-3-6,-4 4 0,-10-3-2,-13-10 1,-13-8 7,-17-13 2,-30-8 12,-27-12 6,-16-8 1,-24-22 3,-26-11-2,-24-10-1,-6-7-8,-14-4-3,-6 5-5,-13-14-1,9 7-1,10 1-2,11 10 1,13 6-1,13 12-7,16 5 0,37 6-24,21 15 4,32 15 1,28 6 7,19 12 5,24 9 3,10 15 2,2 2 1,-9-2 2,0-4 8,-17-6 4,-13-5 1,-23-9 3,-18-6 10,-28-21 11,-31-18-11,-20-8-9,-23-12-4,-24-15-5,-26-7-2,-11-10 1,-2-4-1,-14 3 0,10 0 2,17 9-1,6 6-1,17 12-2,17 9 1,19 11-4,25 9-1,19 9-6,19 9 0,35 9-3,26 12 0,13 9-3,24 12 1,16 5-15,0 4-5,7-4 0,-7 9 0,-16 1 21,-24-15 46,-19-7 25,-25-8-10,-19-24-3,-23-9-11,-27-11-5,-23-7-14,-17-15-5,-20-5-3,-23-3 0,-4-12 0,4 5-2,6 4-2,7 9-2,14 9 1,16 8-1,13 9-2,17 9-11,20 12-5,20 9 2,20 24 0,17 6-3,29 5 1,17 10 2,4 2 1,-3-3 1,2 1 2,-13-10 12,-23-9 6,-17-8 18,-26-9 9,-24-9-3,-16-12 0,-27-9-6,-30-14-4,-13-10-8,-13-5-2,-14-16-4,-14 1-3,4 0 0,7 3 1,3 2-3,-3 4 0,23 6 1,20 14 2,20 7 1,13 8 1,18 6-11,12 12-5,30 9-1,17 6 2,10 8 2,13 9 1,0 13 0,4-4 2,13 4-3,-3-4-1,-4-5 2,-13-1 5,-13-9 0,-21 1 6,-12-12 3,-28-12 10,-12-9 5,-17-9-3,-24-6 0,-19-14-6,-8-10 0,-13-2-5,-2 0 1,-12 2-5,8 6-2,10 7 0,10 2-1,16 1 0,18 14 0,15 3-11,31 15-14,16 9 6,24 11 8,13 15 6,16 1 2,14 6 1,3-4 0,-3 3-2,0-2-4,-16-10 0,-18-5-1,-12-9 3,-21-12 13,-23-12 7,-26-6 6,-21-9 3,-20-9-10,-23-23-5,-9 0-1,-12-3 0,-5 2-1,6 3 1,7 1 0,20 9 1,19 11-4,21 7-1,16 11-3,18 6-3,15 9-5,21 8-2,20 10 2,16 17 3,20 6 0,17 4 1,6 0-2,8-4 1,-11 3-6,-9-6-1,-11-8 7,-17-9 4,-12-9 2,-18-9-1,-19-9 14,-23-12 7,-31-9-4,-10-9 1,-13-14-9,-13-7-3,-10 1-3,6 3 0,1 2-2,9 4 2,11-4-2,9 10-1,17 9-2,14 5 1,12 6-10,11 3-5,16 12 1,17 9 1,20 3 6,10 9 3,10 2 3,13 7 3,-3-1-2,-3 4 0,-11-7 1,-9-5 0,-21-6-5,-16-15 12,-23-3 5,-17-9 5,-23-9 2,-20-5-8,-20-7-4,-1-5 0,-5 2 0,2 4-1,4 2-1,10 6-3,15 6-2,19 1-2,12 8 1,17 6-12,17 6-5,26 6 3,17 14 1,23 4 2,11 6 2,9 5 6,10 1 2,4 17-5,-7-9-3,-3-2 3,-17-9 2,-14-10 3,-13-5 1,-16-7 9,-20-2 5,-21-9 11,-26-9 5,-13-11-13,-20-10-4,-10-2-6,-17-4 1,3 3-4,7 0-2,7 7 0,9 5-1,18 3 0,12 6 2,18 6-12,12 9-3,18 9-1,19 6 3,14 14 2,20 7 1,13 3 2,6-1 2,18 6-5,-11-3 1,-7-2 2,-9-3 1,-10-7 3,-11-9 1,-9-2 1,-21-6 11,-12-4 7,-18-5-3,-6-9 2,-9-3-19,-5 0-6,-9-3 13,6-2 5,4 2-4,10 3-3,6 0-2,7 3-1,4 3-3,12 3 0,24 8-3,7 1 1,13 3-2,7 6 0,9 6-5,1-4 0,-4-2 1,0 0 2,1-10 6,-15 1 1,-9-6 6,-23-18 7,-14-9-4,-9-2 4,-14-7 0,-10-2-4,-6-1-2,-5 0-2,-2-3-3,-4-2 5,8 6 1,2 2-5,7-2 0,7 2-1,-1 3 0,11 3 0,3 0 0,7 3-7,6 4-3,7 2-5,10 6-4,13 3 0,17 6 1,10 3 8,-3 0 3,0 3 5,-11-3 1,-6-1 3,-6-2 1,-35-11 29,-19-13-6,-26-11-1,-24-7-6,-23-2 0,-17-4-8,-7 0-4,-6 1-2,7 3-1,9 12-2,17 5-2,20 6-2,17 6-1,23 9-20,20 15-8,29 6 9,28 9 7,27 8 1,12 18 2,17-3 4,4 1 4,-7-7 1,-10-8-1,-20-7 5,-40-11 19,-27-9 7,-36-12 6,-27-6 5,-27-20-15,-30-7-3,-12-8-10,-21-1-4,6 3-3,5-5 0,9 6-4,20 6 0,20 8 1,17 6 2,26 6-23,27 9-8,27 12 7,26 12 7,27 6-1,34 8 0,9 7 7,13 14 2,-9-9 5,-10-5 3,-21-9 0,-16-7 2,-43-17 31,-34-23-5,-36-10-1,-30-9-9,-31-3-4,-22-8-12,-11-6-1,7 12-2,4-1 0,23 9 0,22 4 0,25 8-9,20 6-2,19 9-10,20 9-4,30 9 11,24 3 6,20 9 0,6 5 3,7 4 3,6 0 3,-5-4 0,-8-2 2,-13-1-4,-13-8 0,-25-6-4,-18-9 16,-27-6 7,-14-9-4,-26-3-3,-17-8-4,-13-4-2,-14-2-3,1 2 1,2 6-2,15 3-1,15 3-2,21 6 1,16 3-10,20 9-3,24 18-2,26 6 2,34 9 3,16 8 2,24 21 3,13-6 4,-10-2-6,-10-7 1,-14 3-2,-16-9 3,-13-5 4,-14-6 3,-16-6 11,-14-7 7,-23-5-1,-13-3 1,-14-6-6,-13-3-3,-3-3-5,0 0-2,-7-3-1,6 0 1,1-6-4,7 9-2,6 0-45,10-6-17,13-15-47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2"/>
            <a:ext cx="2944971" cy="496411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547" y="2"/>
            <a:ext cx="2944971" cy="496411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r">
              <a:defRPr sz="1200"/>
            </a:lvl1pPr>
          </a:lstStyle>
          <a:p>
            <a:fld id="{E1606A4F-AB29-4387-8AE3-A56ACBCA8573}" type="datetimeFigureOut">
              <a:rPr lang="en-GB" smtClean="0"/>
              <a:pPr/>
              <a:t>23/10/2020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21" tIns="45661" rIns="91321" bIns="45661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609" y="4715908"/>
            <a:ext cx="5436870" cy="4467701"/>
          </a:xfrm>
          <a:prstGeom prst="rect">
            <a:avLst/>
          </a:prstGeom>
        </p:spPr>
        <p:txBody>
          <a:bodyPr vert="horz" lIns="91321" tIns="45661" rIns="91321" bIns="4566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4" y="9430094"/>
            <a:ext cx="2944971" cy="496411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547" y="9430094"/>
            <a:ext cx="2944971" cy="496411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r">
              <a:defRPr sz="1200"/>
            </a:lvl1pPr>
          </a:lstStyle>
          <a:p>
            <a:fld id="{354770D2-A62C-404A-935C-C385AACE3672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4770D2-A62C-404A-935C-C385AACE3672}" type="slidenum">
              <a:rPr lang="en-GB" smtClean="0"/>
              <a:pPr/>
              <a:t>15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</a:t>
            </a:r>
            <a:r>
              <a:rPr lang="en-US" dirty="0" err="1"/>
              <a:t>gstyle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724C-E7A2-4A6D-A4BD-CDB6C1C03172}" type="datetimeFigureOut">
              <a:rPr lang="en-US" smtClean="0"/>
              <a:pPr/>
              <a:t>10/23/20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3A10D-7D5E-4932-A76F-CD1632FD3D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724C-E7A2-4A6D-A4BD-CDB6C1C03172}" type="datetimeFigureOut">
              <a:rPr lang="en-US" smtClean="0"/>
              <a:pPr/>
              <a:t>10/23/20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3A10D-7D5E-4932-A76F-CD1632FD3D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724C-E7A2-4A6D-A4BD-CDB6C1C03172}" type="datetimeFigureOut">
              <a:rPr lang="en-US" smtClean="0"/>
              <a:pPr/>
              <a:t>10/23/20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3A10D-7D5E-4932-A76F-CD1632FD3D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724C-E7A2-4A6D-A4BD-CDB6C1C03172}" type="datetimeFigureOut">
              <a:rPr lang="en-US" smtClean="0"/>
              <a:pPr/>
              <a:t>10/23/20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3A10D-7D5E-4932-A76F-CD1632FD3D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724C-E7A2-4A6D-A4BD-CDB6C1C03172}" type="datetimeFigureOut">
              <a:rPr lang="en-US" smtClean="0"/>
              <a:pPr/>
              <a:t>10/23/20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3A10D-7D5E-4932-A76F-CD1632FD3D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724C-E7A2-4A6D-A4BD-CDB6C1C03172}" type="datetimeFigureOut">
              <a:rPr lang="en-US" smtClean="0"/>
              <a:pPr/>
              <a:t>10/23/20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3A10D-7D5E-4932-A76F-CD1632FD3D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724C-E7A2-4A6D-A4BD-CDB6C1C03172}" type="datetimeFigureOut">
              <a:rPr lang="en-US" smtClean="0"/>
              <a:pPr/>
              <a:t>10/23/20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3A10D-7D5E-4932-A76F-CD1632FD3D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724C-E7A2-4A6D-A4BD-CDB6C1C03172}" type="datetimeFigureOut">
              <a:rPr lang="en-US" smtClean="0"/>
              <a:pPr/>
              <a:t>10/23/20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3A10D-7D5E-4932-A76F-CD1632FD3D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724C-E7A2-4A6D-A4BD-CDB6C1C03172}" type="datetimeFigureOut">
              <a:rPr lang="en-US" smtClean="0"/>
              <a:pPr/>
              <a:t>10/23/20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3A10D-7D5E-4932-A76F-CD1632FD3D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724C-E7A2-4A6D-A4BD-CDB6C1C03172}" type="datetimeFigureOut">
              <a:rPr lang="en-US" smtClean="0"/>
              <a:pPr/>
              <a:t>10/23/20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3A10D-7D5E-4932-A76F-CD1632FD3D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724C-E7A2-4A6D-A4BD-CDB6C1C03172}" type="datetimeFigureOut">
              <a:rPr lang="en-US" smtClean="0"/>
              <a:pPr/>
              <a:t>10/23/20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3A10D-7D5E-4932-A76F-CD1632FD3D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63724C-E7A2-4A6D-A4BD-CDB6C1C03172}" type="datetimeFigureOut">
              <a:rPr lang="en-US" smtClean="0"/>
              <a:pPr/>
              <a:t>10/23/20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3A10D-7D5E-4932-A76F-CD1632FD3D9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9.png"/><Relationship Id="rId17" Type="http://schemas.openxmlformats.org/officeDocument/2006/relationships/image" Target="../media/image12.png"/><Relationship Id="rId2" Type="http://schemas.openxmlformats.org/officeDocument/2006/relationships/image" Target="../media/image4.png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customXml" Target="../ink/ink4.xml"/><Relationship Id="rId1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22467"/>
            <a:ext cx="7772400" cy="1470025"/>
          </a:xfrm>
        </p:spPr>
        <p:txBody>
          <a:bodyPr/>
          <a:lstStyle/>
          <a:p>
            <a:r>
              <a:rPr lang="en-US" dirty="0"/>
              <a:t>Probability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92492"/>
            <a:ext cx="6400800" cy="1752600"/>
          </a:xfrm>
        </p:spPr>
        <p:txBody>
          <a:bodyPr/>
          <a:lstStyle/>
          <a:p>
            <a:r>
              <a:rPr lang="en-US" dirty="0"/>
              <a:t>EQ: How can I visual displays to calculate probabilities? </a:t>
            </a:r>
          </a:p>
        </p:txBody>
      </p:sp>
    </p:spTree>
    <p:extLst>
      <p:ext uri="{BB962C8B-B14F-4D97-AF65-F5344CB8AC3E}">
        <p14:creationId xmlns:p14="http://schemas.microsoft.com/office/powerpoint/2010/main" val="1679219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37" y="116632"/>
            <a:ext cx="8721601" cy="1440160"/>
          </a:xfrm>
        </p:spPr>
        <p:txBody>
          <a:bodyPr>
            <a:normAutofit/>
          </a:bodyPr>
          <a:lstStyle/>
          <a:p>
            <a:pPr algn="l"/>
            <a:r>
              <a:rPr lang="en-AU" sz="2800" dirty="0"/>
              <a:t>Probability</a:t>
            </a:r>
            <a:br>
              <a:rPr lang="en-AU" sz="2800" dirty="0"/>
            </a:br>
            <a:r>
              <a:rPr lang="en-AU" sz="2800" dirty="0"/>
              <a:t>EQ – </a:t>
            </a:r>
            <a:r>
              <a:rPr lang="en-US" sz="2800" dirty="0"/>
              <a:t>How can I use visual displays to calculate probabilities?</a:t>
            </a:r>
            <a:endParaRPr lang="en-AU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0119" y="2228593"/>
            <a:ext cx="5466806" cy="623021"/>
          </a:xfrm>
        </p:spPr>
        <p:txBody>
          <a:bodyPr>
            <a:normAutofit fontScale="77500" lnSpcReduction="20000"/>
          </a:bodyPr>
          <a:lstStyle/>
          <a:p>
            <a:endParaRPr lang="en-AU" dirty="0"/>
          </a:p>
          <a:p>
            <a:r>
              <a:rPr lang="en-AU" dirty="0"/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45FEFA-40B7-4824-A863-572133C4953D}"/>
              </a:ext>
            </a:extLst>
          </p:cNvPr>
          <p:cNvSpPr txBox="1"/>
          <p:nvPr/>
        </p:nvSpPr>
        <p:spPr>
          <a:xfrm>
            <a:off x="179512" y="1700808"/>
            <a:ext cx="8721601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Task:</a:t>
            </a:r>
          </a:p>
          <a:p>
            <a:r>
              <a:rPr lang="en-AU" sz="2400" dirty="0"/>
              <a:t>From a class of 30 students 12 played cricket (C), 14 played netball(N) and 6 played both.</a:t>
            </a:r>
          </a:p>
          <a:p>
            <a:endParaRPr lang="en-AU" sz="2400" dirty="0"/>
          </a:p>
          <a:p>
            <a:r>
              <a:rPr lang="en-AU" sz="2400" dirty="0"/>
              <a:t>Represent this information in a two way table</a:t>
            </a:r>
          </a:p>
          <a:p>
            <a:endParaRPr lang="en-AU" sz="2400" dirty="0"/>
          </a:p>
          <a:p>
            <a:r>
              <a:rPr lang="en-AU" sz="2400" dirty="0"/>
              <a:t>How many students play neither?</a:t>
            </a:r>
          </a:p>
          <a:p>
            <a:endParaRPr lang="en-AU" sz="2400" dirty="0"/>
          </a:p>
          <a:p>
            <a:r>
              <a:rPr lang="en-AU" sz="2400" dirty="0"/>
              <a:t>Find the probability that a pupil chosen at random plays netball only.</a:t>
            </a:r>
          </a:p>
          <a:p>
            <a:endParaRPr lang="en-AU" sz="2400" dirty="0"/>
          </a:p>
          <a:p>
            <a:r>
              <a:rPr lang="en-AU" sz="2400" dirty="0"/>
              <a:t>Find the probability that a student who plays netball also plays cricket.</a:t>
            </a:r>
          </a:p>
          <a:p>
            <a:pPr marL="342900" indent="-342900">
              <a:buAutoNum type="alphaLcParenR"/>
            </a:pPr>
            <a:endParaRPr lang="en-AU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54774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0119" y="2228593"/>
            <a:ext cx="5466806" cy="623021"/>
          </a:xfrm>
        </p:spPr>
        <p:txBody>
          <a:bodyPr>
            <a:normAutofit fontScale="77500" lnSpcReduction="20000"/>
          </a:bodyPr>
          <a:lstStyle/>
          <a:p>
            <a:endParaRPr lang="en-AU" dirty="0"/>
          </a:p>
          <a:p>
            <a:r>
              <a:rPr lang="en-AU" dirty="0"/>
              <a:t>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445FEFA-40B7-4824-A863-572133C4953D}"/>
                  </a:ext>
                </a:extLst>
              </p:cNvPr>
              <p:cNvSpPr txBox="1"/>
              <p:nvPr/>
            </p:nvSpPr>
            <p:spPr>
              <a:xfrm>
                <a:off x="0" y="1628801"/>
                <a:ext cx="8901113" cy="6370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From a class of 30 students 12 played cricket (C), 14 played netball(N) and 6 played both.</a:t>
                </a:r>
              </a:p>
              <a:p>
                <a:r>
                  <a:rPr lang="en-AU" sz="2400" dirty="0"/>
                  <a:t>Represent this information in a Venn diagram</a:t>
                </a:r>
              </a:p>
              <a:p>
                <a:endParaRPr lang="en-AU" sz="2400" dirty="0"/>
              </a:p>
              <a:p>
                <a:r>
                  <a:rPr lang="en-AU" sz="2400" dirty="0"/>
                  <a:t>A Venn diagram is used to display the relationship between different sets of data.</a:t>
                </a:r>
              </a:p>
              <a:p>
                <a:endParaRPr lang="en-AU" sz="2400" dirty="0"/>
              </a:p>
              <a:p>
                <a:r>
                  <a:rPr lang="en-AU" sz="2400" dirty="0"/>
                  <a:t>The </a:t>
                </a:r>
                <a:r>
                  <a:rPr lang="en-AU" sz="2400" b="1" u="sng" dirty="0"/>
                  <a:t>universal</a:t>
                </a:r>
                <a:r>
                  <a:rPr lang="en-AU" sz="2400" dirty="0"/>
                  <a:t> set contains all the elements under consideration,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endParaRPr lang="en-AU" sz="2400" dirty="0"/>
              </a:p>
              <a:p>
                <a:endParaRPr lang="en-AU" sz="2400" dirty="0"/>
              </a:p>
              <a:p>
                <a:r>
                  <a:rPr lang="en-AU" sz="2400" dirty="0"/>
                  <a:t>The </a:t>
                </a:r>
                <a:r>
                  <a:rPr lang="en-AU" sz="2400" b="1" u="sng" dirty="0"/>
                  <a:t>intersection</a:t>
                </a:r>
                <a:r>
                  <a:rPr lang="en-AU" sz="2400" dirty="0"/>
                  <a:t> of two sets A and B is represented by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AU" sz="2400" dirty="0"/>
                  <a:t>.</a:t>
                </a:r>
              </a:p>
              <a:p>
                <a:endParaRPr lang="en-AU" sz="2400" dirty="0"/>
              </a:p>
              <a:p>
                <a:r>
                  <a:rPr lang="en-AU" sz="2400" dirty="0"/>
                  <a:t>All the elements that belong to either A or B make up the </a:t>
                </a:r>
                <a:r>
                  <a:rPr lang="en-AU" sz="2400" b="1" u="sng" dirty="0"/>
                  <a:t>union</a:t>
                </a:r>
                <a:r>
                  <a:rPr lang="en-AU" sz="2400" dirty="0"/>
                  <a:t>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endParaRPr lang="en-AU" sz="2400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445FEFA-40B7-4824-A863-572133C49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628801"/>
                <a:ext cx="8901113" cy="6370975"/>
              </a:xfrm>
              <a:prstGeom prst="rect">
                <a:avLst/>
              </a:prstGeom>
              <a:blipFill>
                <a:blip r:embed="rId2"/>
                <a:stretch>
                  <a:fillRect l="-1141" t="-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9FC9C171-CC63-954F-8708-DD0A84EAF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37" y="116632"/>
            <a:ext cx="8721601" cy="1440160"/>
          </a:xfrm>
        </p:spPr>
        <p:txBody>
          <a:bodyPr>
            <a:normAutofit/>
          </a:bodyPr>
          <a:lstStyle/>
          <a:p>
            <a:pPr algn="l"/>
            <a:r>
              <a:rPr lang="en-AU" sz="2800" dirty="0"/>
              <a:t>Probability</a:t>
            </a:r>
            <a:br>
              <a:rPr lang="en-AU" sz="2800" dirty="0"/>
            </a:br>
            <a:r>
              <a:rPr lang="en-AU" sz="2800" dirty="0"/>
              <a:t>EQ – </a:t>
            </a:r>
            <a:r>
              <a:rPr lang="en-US" sz="2800" dirty="0"/>
              <a:t>How can I use visual displays to calculate probabilities?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198366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0119" y="2228593"/>
            <a:ext cx="5466806" cy="623021"/>
          </a:xfrm>
        </p:spPr>
        <p:txBody>
          <a:bodyPr>
            <a:normAutofit fontScale="77500" lnSpcReduction="20000"/>
          </a:bodyPr>
          <a:lstStyle/>
          <a:p>
            <a:endParaRPr lang="en-AU" dirty="0"/>
          </a:p>
          <a:p>
            <a:r>
              <a:rPr lang="en-AU" dirty="0"/>
              <a:t>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445FEFA-40B7-4824-A863-572133C4953D}"/>
                  </a:ext>
                </a:extLst>
              </p:cNvPr>
              <p:cNvSpPr txBox="1"/>
              <p:nvPr/>
            </p:nvSpPr>
            <p:spPr>
              <a:xfrm>
                <a:off x="49279" y="1484784"/>
                <a:ext cx="9094721" cy="5847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/>
                  <a:t>A Venn diagram is used to display the relationship between different sets of data.</a:t>
                </a:r>
              </a:p>
              <a:p>
                <a:endParaRPr lang="en-AU" sz="2200" dirty="0"/>
              </a:p>
              <a:p>
                <a:r>
                  <a:rPr lang="en-AU" sz="2200" dirty="0"/>
                  <a:t>The </a:t>
                </a:r>
                <a:r>
                  <a:rPr lang="en-AU" sz="2200" b="1" u="sng" dirty="0"/>
                  <a:t>universal</a:t>
                </a:r>
                <a:r>
                  <a:rPr lang="en-AU" sz="2200" dirty="0"/>
                  <a:t> set contains all the elements under consideration, </a:t>
                </a:r>
                <a14:m>
                  <m:oMath xmlns:m="http://schemas.openxmlformats.org/officeDocument/2006/math">
                    <m:r>
                      <a:rPr lang="en-AU" sz="2200" i="1" dirty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endParaRPr lang="en-AU" sz="2200" dirty="0"/>
              </a:p>
              <a:p>
                <a:endParaRPr lang="en-AU" sz="2200" dirty="0"/>
              </a:p>
              <a:p>
                <a:r>
                  <a:rPr lang="en-AU" sz="2200" dirty="0"/>
                  <a:t>The </a:t>
                </a:r>
                <a:r>
                  <a:rPr lang="en-AU" sz="2200" b="1" u="sng" dirty="0"/>
                  <a:t>intersection</a:t>
                </a:r>
                <a:r>
                  <a:rPr lang="en-AU" sz="2200" dirty="0"/>
                  <a:t> of two sets A and B is represented by </a:t>
                </a:r>
                <a14:m>
                  <m:oMath xmlns:m="http://schemas.openxmlformats.org/officeDocument/2006/math">
                    <m:r>
                      <a:rPr lang="en-AU" sz="2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AU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endParaRPr lang="en-AU" sz="2200" dirty="0"/>
              </a:p>
              <a:p>
                <a:endParaRPr lang="en-AU" sz="2200" dirty="0"/>
              </a:p>
              <a:p>
                <a:r>
                  <a:rPr lang="en-AU" sz="2200" dirty="0"/>
                  <a:t>All the elements that belong to either A or B make up the </a:t>
                </a:r>
                <a:r>
                  <a:rPr lang="en-AU" sz="2200" b="1" u="sng" dirty="0"/>
                  <a:t>union</a:t>
                </a:r>
                <a:r>
                  <a:rPr lang="en-AU" sz="2200" dirty="0"/>
                  <a:t> </a:t>
                </a:r>
                <a14:m>
                  <m:oMath xmlns:m="http://schemas.openxmlformats.org/officeDocument/2006/math">
                    <m:r>
                      <a:rPr lang="en-AU" sz="2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AU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endParaRPr lang="en-AU" sz="2200" dirty="0"/>
              </a:p>
              <a:p>
                <a:endParaRPr lang="en-AU" sz="2200" dirty="0"/>
              </a:p>
              <a:p>
                <a:r>
                  <a:rPr lang="en-AU" sz="2200" dirty="0"/>
                  <a:t>The </a:t>
                </a:r>
                <a:r>
                  <a:rPr lang="en-AU" sz="2200" b="1" u="sng" dirty="0"/>
                  <a:t>complement</a:t>
                </a:r>
                <a:r>
                  <a:rPr lang="en-AU" sz="2200" dirty="0"/>
                  <a:t> of set A is written as A’</a:t>
                </a:r>
              </a:p>
              <a:p>
                <a:endParaRPr lang="en-AU" sz="2200" dirty="0"/>
              </a:p>
              <a:p>
                <a:r>
                  <a:rPr lang="en-AU" sz="2200" dirty="0"/>
                  <a:t>The number of elements in set A is written as n(A)</a:t>
                </a:r>
              </a:p>
              <a:p>
                <a:endParaRPr lang="en-AU" sz="2200" dirty="0"/>
              </a:p>
              <a:p>
                <a:r>
                  <a:rPr lang="en-AU" sz="2200" dirty="0"/>
                  <a:t>Conditional probability – </a:t>
                </a:r>
                <a:r>
                  <a:rPr lang="en-AU" sz="2200" dirty="0" err="1"/>
                  <a:t>Pr</a:t>
                </a:r>
                <a:r>
                  <a:rPr lang="en-AU" sz="2200" dirty="0"/>
                  <a:t>(A|B) represents the probability of A </a:t>
                </a:r>
                <a:r>
                  <a:rPr lang="en-AU" sz="2200" b="1" u="sng" dirty="0"/>
                  <a:t>given</a:t>
                </a:r>
                <a:r>
                  <a:rPr lang="en-AU" sz="2200" dirty="0"/>
                  <a:t> B has occurred</a:t>
                </a:r>
              </a:p>
              <a:p>
                <a:endParaRPr lang="en-AU" sz="2200" dirty="0"/>
              </a:p>
              <a:p>
                <a:endParaRPr lang="en-AU" sz="22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445FEFA-40B7-4824-A863-572133C49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9" y="1484784"/>
                <a:ext cx="9094721" cy="5847755"/>
              </a:xfrm>
              <a:prstGeom prst="rect">
                <a:avLst/>
              </a:prstGeom>
              <a:blipFill>
                <a:blip r:embed="rId2"/>
                <a:stretch>
                  <a:fillRect l="-697" t="-868" r="-6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81A8393D-7B9B-4A43-A3B2-C63F159D6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37" y="116632"/>
            <a:ext cx="8721601" cy="1440160"/>
          </a:xfrm>
        </p:spPr>
        <p:txBody>
          <a:bodyPr>
            <a:normAutofit/>
          </a:bodyPr>
          <a:lstStyle/>
          <a:p>
            <a:pPr algn="l"/>
            <a:r>
              <a:rPr lang="en-AU" sz="2800" dirty="0"/>
              <a:t>Probability</a:t>
            </a:r>
            <a:br>
              <a:rPr lang="en-AU" sz="2800" dirty="0"/>
            </a:br>
            <a:r>
              <a:rPr lang="en-AU" sz="2800" dirty="0"/>
              <a:t>EQ – </a:t>
            </a:r>
            <a:r>
              <a:rPr lang="en-US" sz="2800" dirty="0"/>
              <a:t>How can I use visual displays to calculate probabilities?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58386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35" y="102695"/>
            <a:ext cx="8229600" cy="994122"/>
          </a:xfrm>
        </p:spPr>
        <p:txBody>
          <a:bodyPr/>
          <a:lstStyle/>
          <a:p>
            <a:r>
              <a:rPr lang="en-GB" dirty="0"/>
              <a:t>Venn diagrams and set notation</a:t>
            </a:r>
          </a:p>
        </p:txBody>
      </p:sp>
      <p:sp>
        <p:nvSpPr>
          <p:cNvPr id="4" name="Oval 3"/>
          <p:cNvSpPr/>
          <p:nvPr/>
        </p:nvSpPr>
        <p:spPr>
          <a:xfrm>
            <a:off x="539552" y="1609120"/>
            <a:ext cx="2319927" cy="23239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107504" y="1124744"/>
            <a:ext cx="4320480" cy="316835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107504" y="1155643"/>
            <a:ext cx="1066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U or </a:t>
            </a:r>
            <a:r>
              <a:rPr lang="en-GB" sz="2400" dirty="0">
                <a:latin typeface="Kunstler Script" panose="030304020206070D0D06" pitchFamily="66" charset="0"/>
              </a:rPr>
              <a:t>E</a:t>
            </a:r>
          </a:p>
        </p:txBody>
      </p:sp>
      <p:sp>
        <p:nvSpPr>
          <p:cNvPr id="8" name="Oval 7"/>
          <p:cNvSpPr/>
          <p:nvPr/>
        </p:nvSpPr>
        <p:spPr>
          <a:xfrm>
            <a:off x="1699515" y="1616244"/>
            <a:ext cx="2319927" cy="2323936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/>
          <p:cNvSpPr/>
          <p:nvPr/>
        </p:nvSpPr>
        <p:spPr>
          <a:xfrm>
            <a:off x="539552" y="1653312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/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6086" y="1628800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/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9095" y="1085397"/>
            <a:ext cx="441271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 or </a:t>
            </a:r>
            <a:r>
              <a:rPr lang="en-GB" dirty="0">
                <a:latin typeface="Kunstler Script" panose="030304020206070D0D06" pitchFamily="66" charset="0"/>
              </a:rPr>
              <a:t>E </a:t>
            </a:r>
            <a:r>
              <a:rPr lang="en-GB" dirty="0"/>
              <a:t> is the universal set, i.e. everything we’re interested in.</a:t>
            </a:r>
          </a:p>
          <a:p>
            <a:endParaRPr lang="en-GB" dirty="0"/>
          </a:p>
          <a:p>
            <a:r>
              <a:rPr lang="en-GB" dirty="0"/>
              <a:t>The sample space is all the elements of a particular set, listed like this:</a:t>
            </a:r>
          </a:p>
          <a:p>
            <a:endParaRPr lang="en-GB" dirty="0"/>
          </a:p>
          <a:p>
            <a:r>
              <a:rPr lang="en-GB" dirty="0"/>
              <a:t>The elements (members) of set A:</a:t>
            </a:r>
          </a:p>
          <a:p>
            <a:r>
              <a:rPr lang="en-GB" dirty="0"/>
              <a:t>A = {                                               }</a:t>
            </a:r>
          </a:p>
          <a:p>
            <a:endParaRPr lang="en-GB" dirty="0">
              <a:latin typeface="Kunstler Script" panose="030304020206070D0D06" pitchFamily="66" charset="0"/>
            </a:endParaRPr>
          </a:p>
          <a:p>
            <a:r>
              <a:rPr lang="en-GB" dirty="0"/>
              <a:t>The number of elements in a set is listed as:</a:t>
            </a:r>
          </a:p>
          <a:p>
            <a:endParaRPr lang="en-GB" dirty="0"/>
          </a:p>
          <a:p>
            <a:r>
              <a:rPr lang="en-GB" dirty="0"/>
              <a:t>The number of elements in A, n(A)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0B390F-A440-7745-80FC-52DF3AB55FAE}"/>
              </a:ext>
            </a:extLst>
          </p:cNvPr>
          <p:cNvSpPr txBox="1"/>
          <p:nvPr/>
        </p:nvSpPr>
        <p:spPr>
          <a:xfrm>
            <a:off x="107504" y="5013175"/>
            <a:ext cx="89289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Ex: If A is the set of prime numbers and B is the set of even numbers, place the numbers 1 to 20 on the diagram.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elements of set A are: </a:t>
            </a:r>
            <a:r>
              <a:rPr lang="en-GB" dirty="0"/>
              <a:t>A = {                                               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number of elements in A, n(A) =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E2BCD8-1029-4ADE-B97C-73BFA9AB7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858535"/>
          </a:xfrm>
        </p:spPr>
        <p:txBody>
          <a:bodyPr/>
          <a:lstStyle/>
          <a:p>
            <a:r>
              <a:rPr lang="en-GB" dirty="0"/>
              <a:t>Intersect and union symbols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EC2BFA-D5D4-4B18-9911-E58BDC1198F2}"/>
              </a:ext>
            </a:extLst>
          </p:cNvPr>
          <p:cNvSpPr txBox="1"/>
          <p:nvPr/>
        </p:nvSpPr>
        <p:spPr>
          <a:xfrm>
            <a:off x="315973" y="936236"/>
            <a:ext cx="84570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Imagine that you have two blank copies of the same Venn diagram printed on transparent sheets: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915836-93B3-4BBC-A251-615C3F4CD675}"/>
              </a:ext>
            </a:extLst>
          </p:cNvPr>
          <p:cNvSpPr txBox="1"/>
          <p:nvPr/>
        </p:nvSpPr>
        <p:spPr>
          <a:xfrm>
            <a:off x="316848" y="1725293"/>
            <a:ext cx="37615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Shade the relevant parts of each diagram: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D1CA581-D411-4F55-B858-64233AE62407}"/>
              </a:ext>
            </a:extLst>
          </p:cNvPr>
          <p:cNvSpPr/>
          <p:nvPr/>
        </p:nvSpPr>
        <p:spPr>
          <a:xfrm>
            <a:off x="4372856" y="1704292"/>
            <a:ext cx="641810" cy="648072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9939982-92F7-48EB-A465-D5F1E4CCA1FE}"/>
              </a:ext>
            </a:extLst>
          </p:cNvPr>
          <p:cNvGrpSpPr/>
          <p:nvPr/>
        </p:nvGrpSpPr>
        <p:grpSpPr>
          <a:xfrm>
            <a:off x="4225709" y="1560276"/>
            <a:ext cx="1725879" cy="936104"/>
            <a:chOff x="3437617" y="836712"/>
            <a:chExt cx="1725879" cy="936104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5780561-60EB-4F6C-9522-50F1ED7453E0}"/>
                </a:ext>
              </a:extLst>
            </p:cNvPr>
            <p:cNvSpPr/>
            <p:nvPr/>
          </p:nvSpPr>
          <p:spPr>
            <a:xfrm>
              <a:off x="3581633" y="980728"/>
              <a:ext cx="641810" cy="648072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5B9353E-A6F7-4619-85DD-3623E8B53D4E}"/>
                </a:ext>
              </a:extLst>
            </p:cNvPr>
            <p:cNvSpPr/>
            <p:nvPr/>
          </p:nvSpPr>
          <p:spPr>
            <a:xfrm>
              <a:off x="4013681" y="980728"/>
              <a:ext cx="641810" cy="648072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806723F-29CF-43DB-AE9B-AD7B73DF598C}"/>
                </a:ext>
              </a:extLst>
            </p:cNvPr>
            <p:cNvSpPr/>
            <p:nvPr/>
          </p:nvSpPr>
          <p:spPr>
            <a:xfrm>
              <a:off x="3437617" y="836712"/>
              <a:ext cx="1368152" cy="936104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070F256-3441-4BAE-9AFB-C3B7824553F5}"/>
                </a:ext>
              </a:extLst>
            </p:cNvPr>
            <p:cNvSpPr txBox="1"/>
            <p:nvPr/>
          </p:nvSpPr>
          <p:spPr>
            <a:xfrm>
              <a:off x="3492765" y="836712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A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8EFE195-7336-4C33-A1D1-88975ECF2E9E}"/>
                </a:ext>
              </a:extLst>
            </p:cNvPr>
            <p:cNvSpPr txBox="1"/>
            <p:nvPr/>
          </p:nvSpPr>
          <p:spPr>
            <a:xfrm>
              <a:off x="4445729" y="836712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B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0F4879A-7931-4D89-8F44-82EECC2BA76A}"/>
                </a:ext>
              </a:extLst>
            </p:cNvPr>
            <p:cNvSpPr txBox="1"/>
            <p:nvPr/>
          </p:nvSpPr>
          <p:spPr>
            <a:xfrm>
              <a:off x="4824942" y="895944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A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9918390-8E89-46ED-9033-D29E5173B71D}"/>
              </a:ext>
            </a:extLst>
          </p:cNvPr>
          <p:cNvGrpSpPr/>
          <p:nvPr/>
        </p:nvGrpSpPr>
        <p:grpSpPr>
          <a:xfrm>
            <a:off x="6819944" y="1561525"/>
            <a:ext cx="1711741" cy="936104"/>
            <a:chOff x="3437617" y="836712"/>
            <a:chExt cx="1711741" cy="93610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1096F97-8CE9-4EF1-A202-F3CFD8379D08}"/>
                </a:ext>
              </a:extLst>
            </p:cNvPr>
            <p:cNvSpPr/>
            <p:nvPr/>
          </p:nvSpPr>
          <p:spPr>
            <a:xfrm>
              <a:off x="3581633" y="980728"/>
              <a:ext cx="641810" cy="648072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4B9885C-B262-482D-843F-803BF110F17A}"/>
                </a:ext>
              </a:extLst>
            </p:cNvPr>
            <p:cNvSpPr/>
            <p:nvPr/>
          </p:nvSpPr>
          <p:spPr>
            <a:xfrm>
              <a:off x="4013681" y="980728"/>
              <a:ext cx="641810" cy="648072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97D5A7E-D135-4CCF-A971-6FCD4D98391E}"/>
                </a:ext>
              </a:extLst>
            </p:cNvPr>
            <p:cNvSpPr/>
            <p:nvPr/>
          </p:nvSpPr>
          <p:spPr>
            <a:xfrm>
              <a:off x="3437617" y="836712"/>
              <a:ext cx="1368152" cy="936104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DC46952-ECFC-4E45-9CE5-48890E9626CA}"/>
                </a:ext>
              </a:extLst>
            </p:cNvPr>
            <p:cNvSpPr txBox="1"/>
            <p:nvPr/>
          </p:nvSpPr>
          <p:spPr>
            <a:xfrm>
              <a:off x="3492765" y="836712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A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79C9BC8-92DD-4A98-BD97-DBCD5E47BF4C}"/>
                </a:ext>
              </a:extLst>
            </p:cNvPr>
            <p:cNvSpPr txBox="1"/>
            <p:nvPr/>
          </p:nvSpPr>
          <p:spPr>
            <a:xfrm>
              <a:off x="4445729" y="836712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B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FC64DC4-EBDB-4B23-BD1F-4039CE1CF272}"/>
                </a:ext>
              </a:extLst>
            </p:cNvPr>
            <p:cNvSpPr txBox="1"/>
            <p:nvPr/>
          </p:nvSpPr>
          <p:spPr>
            <a:xfrm>
              <a:off x="4810804" y="1336035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B</a:t>
              </a:r>
            </a:p>
          </p:txBody>
        </p: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F33AC78F-4A34-44C6-B584-3A8F0AD7145D}"/>
              </a:ext>
            </a:extLst>
          </p:cNvPr>
          <p:cNvSpPr/>
          <p:nvPr/>
        </p:nvSpPr>
        <p:spPr>
          <a:xfrm>
            <a:off x="7396008" y="1697540"/>
            <a:ext cx="641810" cy="648072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D2BDEAB-18CB-4504-BB59-B6BC05F9EB7C}"/>
              </a:ext>
            </a:extLst>
          </p:cNvPr>
          <p:cNvSpPr txBox="1"/>
          <p:nvPr/>
        </p:nvSpPr>
        <p:spPr>
          <a:xfrm>
            <a:off x="315973" y="2732277"/>
            <a:ext cx="50745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Now lay the diagrams on top of each other: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4618F38-4B36-45D7-9843-A3CF9490A0A0}"/>
              </a:ext>
            </a:extLst>
          </p:cNvPr>
          <p:cNvGrpSpPr/>
          <p:nvPr/>
        </p:nvGrpSpPr>
        <p:grpSpPr>
          <a:xfrm>
            <a:off x="5508104" y="2596262"/>
            <a:ext cx="1728215" cy="936104"/>
            <a:chOff x="4720642" y="1797779"/>
            <a:chExt cx="1728215" cy="936104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72674FD0-2556-48CE-B446-4FCD18D0DFEC}"/>
                </a:ext>
              </a:extLst>
            </p:cNvPr>
            <p:cNvSpPr/>
            <p:nvPr/>
          </p:nvSpPr>
          <p:spPr>
            <a:xfrm>
              <a:off x="4867789" y="1941795"/>
              <a:ext cx="641810" cy="648072"/>
            </a:xfrm>
            <a:prstGeom prst="ellipse">
              <a:avLst/>
            </a:prstGeom>
            <a:solidFill>
              <a:srgbClr val="FF0000">
                <a:alpha val="40000"/>
              </a:srgb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B3436FF2-A4F0-4238-B3DF-2AAFF334561D}"/>
                </a:ext>
              </a:extLst>
            </p:cNvPr>
            <p:cNvGrpSpPr/>
            <p:nvPr/>
          </p:nvGrpSpPr>
          <p:grpSpPr>
            <a:xfrm>
              <a:off x="4720642" y="1797779"/>
              <a:ext cx="1728215" cy="936104"/>
              <a:chOff x="3437617" y="836712"/>
              <a:chExt cx="1728215" cy="936104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D06644C-9E19-4A78-830B-8C3AFBDB44F0}"/>
                  </a:ext>
                </a:extLst>
              </p:cNvPr>
              <p:cNvSpPr/>
              <p:nvPr/>
            </p:nvSpPr>
            <p:spPr>
              <a:xfrm>
                <a:off x="3581633" y="980728"/>
                <a:ext cx="641810" cy="648072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3A721324-5E43-4D51-A245-9766BE6C1F1F}"/>
                  </a:ext>
                </a:extLst>
              </p:cNvPr>
              <p:cNvSpPr/>
              <p:nvPr/>
            </p:nvSpPr>
            <p:spPr>
              <a:xfrm>
                <a:off x="4013681" y="980728"/>
                <a:ext cx="641810" cy="648072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8EFB0D95-A56C-4F2B-94BA-AEB3D208DF25}"/>
                  </a:ext>
                </a:extLst>
              </p:cNvPr>
              <p:cNvSpPr/>
              <p:nvPr/>
            </p:nvSpPr>
            <p:spPr>
              <a:xfrm>
                <a:off x="3437617" y="836712"/>
                <a:ext cx="1368152" cy="936104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33EBD4A-30F5-40AE-BC8D-2EB4A3A5F4A3}"/>
                  </a:ext>
                </a:extLst>
              </p:cNvPr>
              <p:cNvSpPr txBox="1"/>
              <p:nvPr/>
            </p:nvSpPr>
            <p:spPr>
              <a:xfrm>
                <a:off x="3492765" y="836712"/>
                <a:ext cx="30489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400" dirty="0"/>
                  <a:t>A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30E1A43-2DCF-4C54-B3A6-98F01834EDA6}"/>
                  </a:ext>
                </a:extLst>
              </p:cNvPr>
              <p:cNvSpPr txBox="1"/>
              <p:nvPr/>
            </p:nvSpPr>
            <p:spPr>
              <a:xfrm>
                <a:off x="4445729" y="836712"/>
                <a:ext cx="30489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400" dirty="0"/>
                  <a:t>B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4F81956-09C0-4BF5-B095-EB6C0602E1E4}"/>
                  </a:ext>
                </a:extLst>
              </p:cNvPr>
              <p:cNvSpPr txBox="1"/>
              <p:nvPr/>
            </p:nvSpPr>
            <p:spPr>
              <a:xfrm>
                <a:off x="4827278" y="838082"/>
                <a:ext cx="338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A</a:t>
                </a: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0F6D01D-D936-43F9-8BCF-667550AD8726}"/>
              </a:ext>
            </a:extLst>
          </p:cNvPr>
          <p:cNvGrpSpPr/>
          <p:nvPr/>
        </p:nvGrpSpPr>
        <p:grpSpPr>
          <a:xfrm>
            <a:off x="5508104" y="2596262"/>
            <a:ext cx="1711741" cy="936104"/>
            <a:chOff x="6804248" y="1797779"/>
            <a:chExt cx="1711741" cy="936104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337D71F7-5B50-403B-A133-EC77568EA7E2}"/>
                </a:ext>
              </a:extLst>
            </p:cNvPr>
            <p:cNvGrpSpPr/>
            <p:nvPr/>
          </p:nvGrpSpPr>
          <p:grpSpPr>
            <a:xfrm>
              <a:off x="6804248" y="1797779"/>
              <a:ext cx="1711741" cy="936104"/>
              <a:chOff x="3437617" y="836712"/>
              <a:chExt cx="1711741" cy="936104"/>
            </a:xfrm>
          </p:grpSpPr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8D60EC36-F697-4B58-A889-D771375F31E9}"/>
                  </a:ext>
                </a:extLst>
              </p:cNvPr>
              <p:cNvSpPr/>
              <p:nvPr/>
            </p:nvSpPr>
            <p:spPr>
              <a:xfrm>
                <a:off x="3581633" y="980728"/>
                <a:ext cx="641810" cy="648072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48AE4237-E6BC-4364-A694-803A9397C1B9}"/>
                  </a:ext>
                </a:extLst>
              </p:cNvPr>
              <p:cNvSpPr/>
              <p:nvPr/>
            </p:nvSpPr>
            <p:spPr>
              <a:xfrm>
                <a:off x="4013681" y="980728"/>
                <a:ext cx="641810" cy="648072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A17DF830-BFB3-4728-8D9B-BFB034E925E7}"/>
                  </a:ext>
                </a:extLst>
              </p:cNvPr>
              <p:cNvSpPr/>
              <p:nvPr/>
            </p:nvSpPr>
            <p:spPr>
              <a:xfrm>
                <a:off x="3437617" y="836712"/>
                <a:ext cx="1368152" cy="936104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04B21E8-2128-4132-9B24-672BC0990924}"/>
                  </a:ext>
                </a:extLst>
              </p:cNvPr>
              <p:cNvSpPr txBox="1"/>
              <p:nvPr/>
            </p:nvSpPr>
            <p:spPr>
              <a:xfrm>
                <a:off x="3492765" y="836712"/>
                <a:ext cx="30489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400" dirty="0"/>
                  <a:t>A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ED75E92-9C6D-456D-9A42-618183BFE420}"/>
                  </a:ext>
                </a:extLst>
              </p:cNvPr>
              <p:cNvSpPr txBox="1"/>
              <p:nvPr/>
            </p:nvSpPr>
            <p:spPr>
              <a:xfrm>
                <a:off x="4445729" y="836712"/>
                <a:ext cx="30489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400" dirty="0"/>
                  <a:t>B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2CE25DB-8152-45F3-9902-A9DC829088A1}"/>
                  </a:ext>
                </a:extLst>
              </p:cNvPr>
              <p:cNvSpPr txBox="1"/>
              <p:nvPr/>
            </p:nvSpPr>
            <p:spPr>
              <a:xfrm>
                <a:off x="4810804" y="1309410"/>
                <a:ext cx="338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B</a:t>
                </a:r>
              </a:p>
            </p:txBody>
          </p:sp>
        </p:grp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C8BC9C38-EACD-4E54-B23B-62C33A8F8FDB}"/>
                </a:ext>
              </a:extLst>
            </p:cNvPr>
            <p:cNvSpPr/>
            <p:nvPr/>
          </p:nvSpPr>
          <p:spPr>
            <a:xfrm>
              <a:off x="7380312" y="1933794"/>
              <a:ext cx="641810" cy="648072"/>
            </a:xfrm>
            <a:prstGeom prst="ellipse">
              <a:avLst/>
            </a:prstGeom>
            <a:solidFill>
              <a:srgbClr val="FF0000">
                <a:alpha val="40000"/>
              </a:srgb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B95B611-FCCC-45ED-8C0E-15021CA07078}"/>
              </a:ext>
            </a:extLst>
          </p:cNvPr>
          <p:cNvGrpSpPr/>
          <p:nvPr/>
        </p:nvGrpSpPr>
        <p:grpSpPr>
          <a:xfrm>
            <a:off x="260825" y="4509120"/>
            <a:ext cx="1368152" cy="936104"/>
            <a:chOff x="107504" y="3861048"/>
            <a:chExt cx="1368152" cy="936104"/>
          </a:xfrm>
        </p:grpSpPr>
        <p:sp>
          <p:nvSpPr>
            <p:cNvPr id="63" name="Freeform 29">
              <a:extLst>
                <a:ext uri="{FF2B5EF4-FFF2-40B4-BE49-F238E27FC236}">
                  <a16:creationId xmlns:a16="http://schemas.microsoft.com/office/drawing/2014/main" id="{4D295FC7-FAFC-4080-B16A-6A37CFC59C00}"/>
                </a:ext>
              </a:extLst>
            </p:cNvPr>
            <p:cNvSpPr/>
            <p:nvPr/>
          </p:nvSpPr>
          <p:spPr>
            <a:xfrm>
              <a:off x="685800" y="4090591"/>
              <a:ext cx="211931" cy="478631"/>
            </a:xfrm>
            <a:custGeom>
              <a:avLst/>
              <a:gdLst>
                <a:gd name="connsiteX0" fmla="*/ 102394 w 209550"/>
                <a:gd name="connsiteY0" fmla="*/ 0 h 478631"/>
                <a:gd name="connsiteX1" fmla="*/ 0 w 209550"/>
                <a:gd name="connsiteY1" fmla="*/ 238125 h 478631"/>
                <a:gd name="connsiteX2" fmla="*/ 104775 w 209550"/>
                <a:gd name="connsiteY2" fmla="*/ 478631 h 478631"/>
                <a:gd name="connsiteX3" fmla="*/ 209550 w 209550"/>
                <a:gd name="connsiteY3" fmla="*/ 219075 h 478631"/>
                <a:gd name="connsiteX4" fmla="*/ 102394 w 209550"/>
                <a:gd name="connsiteY4" fmla="*/ 0 h 478631"/>
                <a:gd name="connsiteX0" fmla="*/ 102394 w 209550"/>
                <a:gd name="connsiteY0" fmla="*/ 0 h 478631"/>
                <a:gd name="connsiteX1" fmla="*/ 0 w 209550"/>
                <a:gd name="connsiteY1" fmla="*/ 238125 h 478631"/>
                <a:gd name="connsiteX2" fmla="*/ 104775 w 209550"/>
                <a:gd name="connsiteY2" fmla="*/ 478631 h 478631"/>
                <a:gd name="connsiteX3" fmla="*/ 209550 w 209550"/>
                <a:gd name="connsiteY3" fmla="*/ 219075 h 478631"/>
                <a:gd name="connsiteX4" fmla="*/ 186828 w 209550"/>
                <a:gd name="connsiteY4" fmla="*/ 93340 h 478631"/>
                <a:gd name="connsiteX5" fmla="*/ 102394 w 209550"/>
                <a:gd name="connsiteY5" fmla="*/ 0 h 478631"/>
                <a:gd name="connsiteX0" fmla="*/ 102394 w 209550"/>
                <a:gd name="connsiteY0" fmla="*/ 0 h 478631"/>
                <a:gd name="connsiteX1" fmla="*/ 0 w 209550"/>
                <a:gd name="connsiteY1" fmla="*/ 238125 h 478631"/>
                <a:gd name="connsiteX2" fmla="*/ 104775 w 209550"/>
                <a:gd name="connsiteY2" fmla="*/ 478631 h 478631"/>
                <a:gd name="connsiteX3" fmla="*/ 209550 w 209550"/>
                <a:gd name="connsiteY3" fmla="*/ 219075 h 478631"/>
                <a:gd name="connsiteX4" fmla="*/ 186828 w 209550"/>
                <a:gd name="connsiteY4" fmla="*/ 93340 h 478631"/>
                <a:gd name="connsiteX5" fmla="*/ 102394 w 209550"/>
                <a:gd name="connsiteY5" fmla="*/ 0 h 478631"/>
                <a:gd name="connsiteX0" fmla="*/ 102394 w 209550"/>
                <a:gd name="connsiteY0" fmla="*/ 0 h 478631"/>
                <a:gd name="connsiteX1" fmla="*/ 0 w 209550"/>
                <a:gd name="connsiteY1" fmla="*/ 238125 h 478631"/>
                <a:gd name="connsiteX2" fmla="*/ 104775 w 209550"/>
                <a:gd name="connsiteY2" fmla="*/ 478631 h 478631"/>
                <a:gd name="connsiteX3" fmla="*/ 209550 w 209550"/>
                <a:gd name="connsiteY3" fmla="*/ 219075 h 478631"/>
                <a:gd name="connsiteX4" fmla="*/ 186828 w 209550"/>
                <a:gd name="connsiteY4" fmla="*/ 93340 h 478631"/>
                <a:gd name="connsiteX5" fmla="*/ 102394 w 209550"/>
                <a:gd name="connsiteY5" fmla="*/ 0 h 478631"/>
                <a:gd name="connsiteX0" fmla="*/ 102394 w 209550"/>
                <a:gd name="connsiteY0" fmla="*/ 0 h 478631"/>
                <a:gd name="connsiteX1" fmla="*/ 0 w 209550"/>
                <a:gd name="connsiteY1" fmla="*/ 238125 h 478631"/>
                <a:gd name="connsiteX2" fmla="*/ 104775 w 209550"/>
                <a:gd name="connsiteY2" fmla="*/ 478631 h 478631"/>
                <a:gd name="connsiteX3" fmla="*/ 209550 w 209550"/>
                <a:gd name="connsiteY3" fmla="*/ 219075 h 478631"/>
                <a:gd name="connsiteX4" fmla="*/ 184447 w 209550"/>
                <a:gd name="connsiteY4" fmla="*/ 86196 h 478631"/>
                <a:gd name="connsiteX5" fmla="*/ 102394 w 209550"/>
                <a:gd name="connsiteY5" fmla="*/ 0 h 478631"/>
                <a:gd name="connsiteX0" fmla="*/ 102394 w 209550"/>
                <a:gd name="connsiteY0" fmla="*/ 0 h 478631"/>
                <a:gd name="connsiteX1" fmla="*/ 19050 w 209550"/>
                <a:gd name="connsiteY1" fmla="*/ 116681 h 478631"/>
                <a:gd name="connsiteX2" fmla="*/ 0 w 209550"/>
                <a:gd name="connsiteY2" fmla="*/ 238125 h 478631"/>
                <a:gd name="connsiteX3" fmla="*/ 104775 w 209550"/>
                <a:gd name="connsiteY3" fmla="*/ 478631 h 478631"/>
                <a:gd name="connsiteX4" fmla="*/ 209550 w 209550"/>
                <a:gd name="connsiteY4" fmla="*/ 219075 h 478631"/>
                <a:gd name="connsiteX5" fmla="*/ 184447 w 209550"/>
                <a:gd name="connsiteY5" fmla="*/ 86196 h 478631"/>
                <a:gd name="connsiteX6" fmla="*/ 102394 w 209550"/>
                <a:gd name="connsiteY6" fmla="*/ 0 h 478631"/>
                <a:gd name="connsiteX0" fmla="*/ 102394 w 209550"/>
                <a:gd name="connsiteY0" fmla="*/ 0 h 478631"/>
                <a:gd name="connsiteX1" fmla="*/ 19050 w 209550"/>
                <a:gd name="connsiteY1" fmla="*/ 116681 h 478631"/>
                <a:gd name="connsiteX2" fmla="*/ 0 w 209550"/>
                <a:gd name="connsiteY2" fmla="*/ 238125 h 478631"/>
                <a:gd name="connsiteX3" fmla="*/ 104775 w 209550"/>
                <a:gd name="connsiteY3" fmla="*/ 478631 h 478631"/>
                <a:gd name="connsiteX4" fmla="*/ 209550 w 209550"/>
                <a:gd name="connsiteY4" fmla="*/ 219075 h 478631"/>
                <a:gd name="connsiteX5" fmla="*/ 184447 w 209550"/>
                <a:gd name="connsiteY5" fmla="*/ 86196 h 478631"/>
                <a:gd name="connsiteX6" fmla="*/ 102394 w 209550"/>
                <a:gd name="connsiteY6" fmla="*/ 0 h 478631"/>
                <a:gd name="connsiteX0" fmla="*/ 102394 w 209550"/>
                <a:gd name="connsiteY0" fmla="*/ 0 h 478631"/>
                <a:gd name="connsiteX1" fmla="*/ 19050 w 209550"/>
                <a:gd name="connsiteY1" fmla="*/ 116681 h 478631"/>
                <a:gd name="connsiteX2" fmla="*/ 0 w 209550"/>
                <a:gd name="connsiteY2" fmla="*/ 238125 h 478631"/>
                <a:gd name="connsiteX3" fmla="*/ 104775 w 209550"/>
                <a:gd name="connsiteY3" fmla="*/ 478631 h 478631"/>
                <a:gd name="connsiteX4" fmla="*/ 209550 w 209550"/>
                <a:gd name="connsiteY4" fmla="*/ 219075 h 478631"/>
                <a:gd name="connsiteX5" fmla="*/ 184447 w 209550"/>
                <a:gd name="connsiteY5" fmla="*/ 86196 h 478631"/>
                <a:gd name="connsiteX6" fmla="*/ 102394 w 209550"/>
                <a:gd name="connsiteY6" fmla="*/ 0 h 478631"/>
                <a:gd name="connsiteX0" fmla="*/ 102394 w 209550"/>
                <a:gd name="connsiteY0" fmla="*/ 0 h 478631"/>
                <a:gd name="connsiteX1" fmla="*/ 19050 w 209550"/>
                <a:gd name="connsiteY1" fmla="*/ 116681 h 478631"/>
                <a:gd name="connsiteX2" fmla="*/ 0 w 209550"/>
                <a:gd name="connsiteY2" fmla="*/ 238125 h 478631"/>
                <a:gd name="connsiteX3" fmla="*/ 26194 w 209550"/>
                <a:gd name="connsiteY3" fmla="*/ 378618 h 478631"/>
                <a:gd name="connsiteX4" fmla="*/ 104775 w 209550"/>
                <a:gd name="connsiteY4" fmla="*/ 478631 h 478631"/>
                <a:gd name="connsiteX5" fmla="*/ 209550 w 209550"/>
                <a:gd name="connsiteY5" fmla="*/ 219075 h 478631"/>
                <a:gd name="connsiteX6" fmla="*/ 184447 w 209550"/>
                <a:gd name="connsiteY6" fmla="*/ 86196 h 478631"/>
                <a:gd name="connsiteX7" fmla="*/ 102394 w 209550"/>
                <a:gd name="connsiteY7" fmla="*/ 0 h 478631"/>
                <a:gd name="connsiteX0" fmla="*/ 102394 w 209550"/>
                <a:gd name="connsiteY0" fmla="*/ 0 h 478631"/>
                <a:gd name="connsiteX1" fmla="*/ 19050 w 209550"/>
                <a:gd name="connsiteY1" fmla="*/ 116681 h 478631"/>
                <a:gd name="connsiteX2" fmla="*/ 0 w 209550"/>
                <a:gd name="connsiteY2" fmla="*/ 238125 h 478631"/>
                <a:gd name="connsiteX3" fmla="*/ 26194 w 209550"/>
                <a:gd name="connsiteY3" fmla="*/ 378618 h 478631"/>
                <a:gd name="connsiteX4" fmla="*/ 104775 w 209550"/>
                <a:gd name="connsiteY4" fmla="*/ 478631 h 478631"/>
                <a:gd name="connsiteX5" fmla="*/ 209550 w 209550"/>
                <a:gd name="connsiteY5" fmla="*/ 219075 h 478631"/>
                <a:gd name="connsiteX6" fmla="*/ 184447 w 209550"/>
                <a:gd name="connsiteY6" fmla="*/ 86196 h 478631"/>
                <a:gd name="connsiteX7" fmla="*/ 102394 w 209550"/>
                <a:gd name="connsiteY7" fmla="*/ 0 h 478631"/>
                <a:gd name="connsiteX0" fmla="*/ 102394 w 209550"/>
                <a:gd name="connsiteY0" fmla="*/ 0 h 478631"/>
                <a:gd name="connsiteX1" fmla="*/ 19050 w 209550"/>
                <a:gd name="connsiteY1" fmla="*/ 116681 h 478631"/>
                <a:gd name="connsiteX2" fmla="*/ 0 w 209550"/>
                <a:gd name="connsiteY2" fmla="*/ 238125 h 478631"/>
                <a:gd name="connsiteX3" fmla="*/ 26194 w 209550"/>
                <a:gd name="connsiteY3" fmla="*/ 378618 h 478631"/>
                <a:gd name="connsiteX4" fmla="*/ 104775 w 209550"/>
                <a:gd name="connsiteY4" fmla="*/ 478631 h 478631"/>
                <a:gd name="connsiteX5" fmla="*/ 209550 w 209550"/>
                <a:gd name="connsiteY5" fmla="*/ 219075 h 478631"/>
                <a:gd name="connsiteX6" fmla="*/ 184447 w 209550"/>
                <a:gd name="connsiteY6" fmla="*/ 86196 h 478631"/>
                <a:gd name="connsiteX7" fmla="*/ 102394 w 209550"/>
                <a:gd name="connsiteY7" fmla="*/ 0 h 478631"/>
                <a:gd name="connsiteX0" fmla="*/ 102394 w 209550"/>
                <a:gd name="connsiteY0" fmla="*/ 0 h 478631"/>
                <a:gd name="connsiteX1" fmla="*/ 19050 w 209550"/>
                <a:gd name="connsiteY1" fmla="*/ 116681 h 478631"/>
                <a:gd name="connsiteX2" fmla="*/ 0 w 209550"/>
                <a:gd name="connsiteY2" fmla="*/ 238125 h 478631"/>
                <a:gd name="connsiteX3" fmla="*/ 26194 w 209550"/>
                <a:gd name="connsiteY3" fmla="*/ 378618 h 478631"/>
                <a:gd name="connsiteX4" fmla="*/ 104775 w 209550"/>
                <a:gd name="connsiteY4" fmla="*/ 478631 h 478631"/>
                <a:gd name="connsiteX5" fmla="*/ 195263 w 209550"/>
                <a:gd name="connsiteY5" fmla="*/ 361950 h 478631"/>
                <a:gd name="connsiteX6" fmla="*/ 209550 w 209550"/>
                <a:gd name="connsiteY6" fmla="*/ 219075 h 478631"/>
                <a:gd name="connsiteX7" fmla="*/ 184447 w 209550"/>
                <a:gd name="connsiteY7" fmla="*/ 86196 h 478631"/>
                <a:gd name="connsiteX8" fmla="*/ 102394 w 209550"/>
                <a:gd name="connsiteY8" fmla="*/ 0 h 478631"/>
                <a:gd name="connsiteX0" fmla="*/ 102394 w 214313"/>
                <a:gd name="connsiteY0" fmla="*/ 0 h 478631"/>
                <a:gd name="connsiteX1" fmla="*/ 19050 w 214313"/>
                <a:gd name="connsiteY1" fmla="*/ 116681 h 478631"/>
                <a:gd name="connsiteX2" fmla="*/ 0 w 214313"/>
                <a:gd name="connsiteY2" fmla="*/ 238125 h 478631"/>
                <a:gd name="connsiteX3" fmla="*/ 26194 w 214313"/>
                <a:gd name="connsiteY3" fmla="*/ 378618 h 478631"/>
                <a:gd name="connsiteX4" fmla="*/ 104775 w 214313"/>
                <a:gd name="connsiteY4" fmla="*/ 478631 h 478631"/>
                <a:gd name="connsiteX5" fmla="*/ 195263 w 214313"/>
                <a:gd name="connsiteY5" fmla="*/ 361950 h 478631"/>
                <a:gd name="connsiteX6" fmla="*/ 209550 w 214313"/>
                <a:gd name="connsiteY6" fmla="*/ 219075 h 478631"/>
                <a:gd name="connsiteX7" fmla="*/ 184447 w 214313"/>
                <a:gd name="connsiteY7" fmla="*/ 86196 h 478631"/>
                <a:gd name="connsiteX8" fmla="*/ 102394 w 214313"/>
                <a:gd name="connsiteY8" fmla="*/ 0 h 478631"/>
                <a:gd name="connsiteX0" fmla="*/ 102394 w 214313"/>
                <a:gd name="connsiteY0" fmla="*/ 0 h 478631"/>
                <a:gd name="connsiteX1" fmla="*/ 19050 w 214313"/>
                <a:gd name="connsiteY1" fmla="*/ 116681 h 478631"/>
                <a:gd name="connsiteX2" fmla="*/ 0 w 214313"/>
                <a:gd name="connsiteY2" fmla="*/ 238125 h 478631"/>
                <a:gd name="connsiteX3" fmla="*/ 26194 w 214313"/>
                <a:gd name="connsiteY3" fmla="*/ 378618 h 478631"/>
                <a:gd name="connsiteX4" fmla="*/ 104775 w 214313"/>
                <a:gd name="connsiteY4" fmla="*/ 478631 h 478631"/>
                <a:gd name="connsiteX5" fmla="*/ 195263 w 214313"/>
                <a:gd name="connsiteY5" fmla="*/ 361950 h 478631"/>
                <a:gd name="connsiteX6" fmla="*/ 209550 w 214313"/>
                <a:gd name="connsiteY6" fmla="*/ 219075 h 478631"/>
                <a:gd name="connsiteX7" fmla="*/ 184447 w 214313"/>
                <a:gd name="connsiteY7" fmla="*/ 86196 h 478631"/>
                <a:gd name="connsiteX8" fmla="*/ 102394 w 214313"/>
                <a:gd name="connsiteY8" fmla="*/ 0 h 478631"/>
                <a:gd name="connsiteX0" fmla="*/ 102394 w 211931"/>
                <a:gd name="connsiteY0" fmla="*/ 0 h 478631"/>
                <a:gd name="connsiteX1" fmla="*/ 19050 w 211931"/>
                <a:gd name="connsiteY1" fmla="*/ 116681 h 478631"/>
                <a:gd name="connsiteX2" fmla="*/ 0 w 211931"/>
                <a:gd name="connsiteY2" fmla="*/ 238125 h 478631"/>
                <a:gd name="connsiteX3" fmla="*/ 26194 w 211931"/>
                <a:gd name="connsiteY3" fmla="*/ 378618 h 478631"/>
                <a:gd name="connsiteX4" fmla="*/ 104775 w 211931"/>
                <a:gd name="connsiteY4" fmla="*/ 478631 h 478631"/>
                <a:gd name="connsiteX5" fmla="*/ 192881 w 211931"/>
                <a:gd name="connsiteY5" fmla="*/ 359568 h 478631"/>
                <a:gd name="connsiteX6" fmla="*/ 209550 w 211931"/>
                <a:gd name="connsiteY6" fmla="*/ 219075 h 478631"/>
                <a:gd name="connsiteX7" fmla="*/ 184447 w 211931"/>
                <a:gd name="connsiteY7" fmla="*/ 86196 h 478631"/>
                <a:gd name="connsiteX8" fmla="*/ 102394 w 211931"/>
                <a:gd name="connsiteY8" fmla="*/ 0 h 478631"/>
                <a:gd name="connsiteX0" fmla="*/ 102394 w 211931"/>
                <a:gd name="connsiteY0" fmla="*/ 0 h 478631"/>
                <a:gd name="connsiteX1" fmla="*/ 19050 w 211931"/>
                <a:gd name="connsiteY1" fmla="*/ 116681 h 478631"/>
                <a:gd name="connsiteX2" fmla="*/ 0 w 211931"/>
                <a:gd name="connsiteY2" fmla="*/ 238125 h 478631"/>
                <a:gd name="connsiteX3" fmla="*/ 26194 w 211931"/>
                <a:gd name="connsiteY3" fmla="*/ 378618 h 478631"/>
                <a:gd name="connsiteX4" fmla="*/ 104775 w 211931"/>
                <a:gd name="connsiteY4" fmla="*/ 478631 h 478631"/>
                <a:gd name="connsiteX5" fmla="*/ 192881 w 211931"/>
                <a:gd name="connsiteY5" fmla="*/ 359568 h 478631"/>
                <a:gd name="connsiteX6" fmla="*/ 209550 w 211931"/>
                <a:gd name="connsiteY6" fmla="*/ 219075 h 478631"/>
                <a:gd name="connsiteX7" fmla="*/ 182586 w 211931"/>
                <a:gd name="connsiteY7" fmla="*/ 94382 h 478631"/>
                <a:gd name="connsiteX8" fmla="*/ 102394 w 211931"/>
                <a:gd name="connsiteY8" fmla="*/ 0 h 478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931" h="478631">
                  <a:moveTo>
                    <a:pt x="102394" y="0"/>
                  </a:moveTo>
                  <a:cubicBezTo>
                    <a:pt x="74613" y="38894"/>
                    <a:pt x="58737" y="51593"/>
                    <a:pt x="19050" y="116681"/>
                  </a:cubicBezTo>
                  <a:cubicBezTo>
                    <a:pt x="3175" y="178594"/>
                    <a:pt x="6350" y="197644"/>
                    <a:pt x="0" y="238125"/>
                  </a:cubicBezTo>
                  <a:cubicBezTo>
                    <a:pt x="8731" y="284956"/>
                    <a:pt x="7938" y="303212"/>
                    <a:pt x="26194" y="378618"/>
                  </a:cubicBezTo>
                  <a:cubicBezTo>
                    <a:pt x="61913" y="426244"/>
                    <a:pt x="78581" y="445293"/>
                    <a:pt x="104775" y="478631"/>
                  </a:cubicBezTo>
                  <a:cubicBezTo>
                    <a:pt x="134938" y="439737"/>
                    <a:pt x="160336" y="412750"/>
                    <a:pt x="192881" y="359568"/>
                  </a:cubicBezTo>
                  <a:cubicBezTo>
                    <a:pt x="211931" y="295274"/>
                    <a:pt x="204788" y="266700"/>
                    <a:pt x="209550" y="219075"/>
                  </a:cubicBezTo>
                  <a:cubicBezTo>
                    <a:pt x="201976" y="177163"/>
                    <a:pt x="199685" y="152963"/>
                    <a:pt x="182586" y="94382"/>
                  </a:cubicBezTo>
                  <a:cubicBezTo>
                    <a:pt x="144916" y="39456"/>
                    <a:pt x="130539" y="31113"/>
                    <a:pt x="102394" y="0"/>
                  </a:cubicBezTo>
                  <a:close/>
                </a:path>
              </a:pathLst>
            </a:cu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BE25221A-C9DE-45EC-A26E-FC88C54AF936}"/>
                </a:ext>
              </a:extLst>
            </p:cNvPr>
            <p:cNvSpPr/>
            <p:nvPr/>
          </p:nvSpPr>
          <p:spPr>
            <a:xfrm>
              <a:off x="251520" y="4005064"/>
              <a:ext cx="641810" cy="648072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7235CEC-7BBA-4C0E-994B-A0B90BE3CA0B}"/>
                </a:ext>
              </a:extLst>
            </p:cNvPr>
            <p:cNvSpPr/>
            <p:nvPr/>
          </p:nvSpPr>
          <p:spPr>
            <a:xfrm>
              <a:off x="683568" y="4005064"/>
              <a:ext cx="641810" cy="648072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44775E4A-B5B4-4EC3-A2A6-CF70F60002B7}"/>
                </a:ext>
              </a:extLst>
            </p:cNvPr>
            <p:cNvSpPr/>
            <p:nvPr/>
          </p:nvSpPr>
          <p:spPr>
            <a:xfrm>
              <a:off x="107504" y="3861048"/>
              <a:ext cx="1368152" cy="936104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5340B8C-4628-49DA-BB60-3B28796E317B}"/>
                </a:ext>
              </a:extLst>
            </p:cNvPr>
            <p:cNvSpPr txBox="1"/>
            <p:nvPr/>
          </p:nvSpPr>
          <p:spPr>
            <a:xfrm>
              <a:off x="162652" y="3861048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A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A0A19FF-20BD-423A-8416-B431DE633E4D}"/>
                </a:ext>
              </a:extLst>
            </p:cNvPr>
            <p:cNvSpPr txBox="1"/>
            <p:nvPr/>
          </p:nvSpPr>
          <p:spPr>
            <a:xfrm>
              <a:off x="1115616" y="3861048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B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62F8EDE1-5284-4722-BC96-FE80C6E55F88}"/>
              </a:ext>
            </a:extLst>
          </p:cNvPr>
          <p:cNvSpPr/>
          <p:nvPr/>
        </p:nvSpPr>
        <p:spPr>
          <a:xfrm>
            <a:off x="1641205" y="3370556"/>
            <a:ext cx="537910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/>
              <a:t>A U B (A union B, A or B)</a:t>
            </a:r>
          </a:p>
          <a:p>
            <a:r>
              <a:rPr lang="en-GB" sz="2000" dirty="0"/>
              <a:t>is the whole area where there is ANY shading</a:t>
            </a:r>
          </a:p>
          <a:p>
            <a:r>
              <a:rPr lang="en-GB" sz="2000" i="1" dirty="0">
                <a:solidFill>
                  <a:srgbClr val="0070C0"/>
                </a:solidFill>
              </a:rPr>
              <a:t>- think </a:t>
            </a:r>
            <a:r>
              <a:rPr lang="en-GB" sz="2000" dirty="0">
                <a:solidFill>
                  <a:srgbClr val="0070C0"/>
                </a:solidFill>
              </a:rPr>
              <a:t>U</a:t>
            </a:r>
            <a:r>
              <a:rPr lang="en-GB" sz="2000" i="1" dirty="0">
                <a:solidFill>
                  <a:srgbClr val="0070C0"/>
                </a:solidFill>
              </a:rPr>
              <a:t> for Union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65D8C6-58F7-4D92-840F-66F5ADA95B43}"/>
              </a:ext>
            </a:extLst>
          </p:cNvPr>
          <p:cNvGrpSpPr/>
          <p:nvPr/>
        </p:nvGrpSpPr>
        <p:grpSpPr>
          <a:xfrm>
            <a:off x="260825" y="3421449"/>
            <a:ext cx="1368152" cy="936104"/>
            <a:chOff x="539552" y="4060966"/>
            <a:chExt cx="1368152" cy="936104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ACCCF9D5-0C59-4F32-A2F9-42B018C0CB59}"/>
                </a:ext>
              </a:extLst>
            </p:cNvPr>
            <p:cNvSpPr/>
            <p:nvPr/>
          </p:nvSpPr>
          <p:spPr>
            <a:xfrm>
              <a:off x="683568" y="4204982"/>
              <a:ext cx="641810" cy="64807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C8823C13-6A97-4CED-BB2B-0734B3902230}"/>
                </a:ext>
              </a:extLst>
            </p:cNvPr>
            <p:cNvSpPr/>
            <p:nvPr/>
          </p:nvSpPr>
          <p:spPr>
            <a:xfrm>
              <a:off x="1115616" y="4204982"/>
              <a:ext cx="641810" cy="64807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DF402CCA-1266-4F30-9362-DD26EF18BE03}"/>
                </a:ext>
              </a:extLst>
            </p:cNvPr>
            <p:cNvSpPr/>
            <p:nvPr/>
          </p:nvSpPr>
          <p:spPr>
            <a:xfrm>
              <a:off x="539552" y="4060966"/>
              <a:ext cx="1368152" cy="936104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3912BA0-A023-439E-837A-AABA791CABB6}"/>
                </a:ext>
              </a:extLst>
            </p:cNvPr>
            <p:cNvSpPr txBox="1"/>
            <p:nvPr/>
          </p:nvSpPr>
          <p:spPr>
            <a:xfrm>
              <a:off x="594700" y="4060966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A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00FB62B5-0448-4DA0-A036-6AF0010008A9}"/>
                </a:ext>
              </a:extLst>
            </p:cNvPr>
            <p:cNvSpPr txBox="1"/>
            <p:nvPr/>
          </p:nvSpPr>
          <p:spPr>
            <a:xfrm>
              <a:off x="1547664" y="4060966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B</a:t>
              </a: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01BEB966-9530-4044-A075-AADCB122C18D}"/>
                </a:ext>
              </a:extLst>
            </p:cNvPr>
            <p:cNvSpPr/>
            <p:nvPr/>
          </p:nvSpPr>
          <p:spPr>
            <a:xfrm>
              <a:off x="683568" y="4204982"/>
              <a:ext cx="641810" cy="648072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F6EB61C9-25A7-4928-A942-B25BCEDFEBED}"/>
              </a:ext>
            </a:extLst>
          </p:cNvPr>
          <p:cNvSpPr/>
          <p:nvPr/>
        </p:nvSpPr>
        <p:spPr>
          <a:xfrm>
            <a:off x="1641205" y="4437112"/>
            <a:ext cx="5407249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/>
              <a:t>A ∩ B (A intersect B, A and B)</a:t>
            </a:r>
          </a:p>
          <a:p>
            <a:r>
              <a:rPr lang="en-GB" sz="2000" dirty="0"/>
              <a:t>is the area where BOTH layers are shaded</a:t>
            </a:r>
          </a:p>
          <a:p>
            <a:r>
              <a:rPr lang="en-GB" sz="2000" i="1" dirty="0">
                <a:solidFill>
                  <a:srgbClr val="0070C0"/>
                </a:solidFill>
              </a:rPr>
              <a:t>- think of the ∩ as the N in </a:t>
            </a:r>
            <a:r>
              <a:rPr lang="en-GB" sz="2000" i="1" dirty="0" err="1">
                <a:solidFill>
                  <a:srgbClr val="0070C0"/>
                </a:solidFill>
              </a:rPr>
              <a:t>iNtersection</a:t>
            </a:r>
            <a:r>
              <a:rPr lang="en-GB" sz="2000" i="1" dirty="0">
                <a:solidFill>
                  <a:srgbClr val="0070C0"/>
                </a:solidFill>
              </a:rPr>
              <a:t> or </a:t>
            </a:r>
            <a:r>
              <a:rPr lang="en-GB" sz="2000" i="1" dirty="0" err="1">
                <a:solidFill>
                  <a:srgbClr val="0070C0"/>
                </a:solidFill>
              </a:rPr>
              <a:t>aNd</a:t>
            </a:r>
            <a:endParaRPr lang="en-GB" sz="2000" i="1" dirty="0">
              <a:solidFill>
                <a:srgbClr val="0070C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635AD2F-9402-40D3-95C0-6E41A287B3F4}"/>
              </a:ext>
            </a:extLst>
          </p:cNvPr>
          <p:cNvSpPr txBox="1"/>
          <p:nvPr/>
        </p:nvSpPr>
        <p:spPr>
          <a:xfrm>
            <a:off x="315973" y="5517232"/>
            <a:ext cx="84570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Now try this method to decide what A’ U B and A’ ∩ B will look like.</a:t>
            </a:r>
          </a:p>
          <a:p>
            <a:r>
              <a:rPr lang="en-GB" sz="2000" dirty="0"/>
              <a:t>(A’ means “not A”, i.e. everything except A.) 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28596C1E-8C8C-4DF8-913A-E1F55866D27E}"/>
              </a:ext>
            </a:extLst>
          </p:cNvPr>
          <p:cNvGrpSpPr/>
          <p:nvPr/>
        </p:nvGrpSpPr>
        <p:grpSpPr>
          <a:xfrm>
            <a:off x="6391395" y="6016296"/>
            <a:ext cx="1146682" cy="792088"/>
            <a:chOff x="5673262" y="5661248"/>
            <a:chExt cx="1368152" cy="936104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B2404414-E548-4ABB-9A76-4A0CAAD034CA}"/>
                </a:ext>
              </a:extLst>
            </p:cNvPr>
            <p:cNvSpPr/>
            <p:nvPr/>
          </p:nvSpPr>
          <p:spPr>
            <a:xfrm>
              <a:off x="5673262" y="5661248"/>
              <a:ext cx="1368152" cy="93610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6ECFDE6C-B017-487A-BEEF-573F892B2E23}"/>
                </a:ext>
              </a:extLst>
            </p:cNvPr>
            <p:cNvSpPr/>
            <p:nvPr/>
          </p:nvSpPr>
          <p:spPr>
            <a:xfrm>
              <a:off x="5817278" y="5805264"/>
              <a:ext cx="641810" cy="648072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94190AA-666D-42B5-8CA6-D123A1DA5961}"/>
                </a:ext>
              </a:extLst>
            </p:cNvPr>
            <p:cNvSpPr txBox="1"/>
            <p:nvPr/>
          </p:nvSpPr>
          <p:spPr>
            <a:xfrm>
              <a:off x="5728410" y="5661248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A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7C859FA-B151-418D-AEB8-442885574D5B}"/>
                </a:ext>
              </a:extLst>
            </p:cNvPr>
            <p:cNvSpPr txBox="1"/>
            <p:nvPr/>
          </p:nvSpPr>
          <p:spPr>
            <a:xfrm>
              <a:off x="6681374" y="5661248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B</a:t>
              </a: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1A46D606-E730-4734-BACB-496F5B3AF497}"/>
                </a:ext>
              </a:extLst>
            </p:cNvPr>
            <p:cNvSpPr/>
            <p:nvPr/>
          </p:nvSpPr>
          <p:spPr>
            <a:xfrm>
              <a:off x="6249326" y="5805264"/>
              <a:ext cx="641810" cy="64807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0AC81D80-E981-4F84-8879-D9D309E942E6}"/>
                </a:ext>
              </a:extLst>
            </p:cNvPr>
            <p:cNvSpPr/>
            <p:nvPr/>
          </p:nvSpPr>
          <p:spPr>
            <a:xfrm>
              <a:off x="5817278" y="5805264"/>
              <a:ext cx="641810" cy="648072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A3803070-F1BA-4AAF-B51A-8B7B684119CE}"/>
              </a:ext>
            </a:extLst>
          </p:cNvPr>
          <p:cNvGrpSpPr/>
          <p:nvPr/>
        </p:nvGrpSpPr>
        <p:grpSpPr>
          <a:xfrm>
            <a:off x="7673790" y="6016296"/>
            <a:ext cx="1146682" cy="797080"/>
            <a:chOff x="7245730" y="4502810"/>
            <a:chExt cx="1368152" cy="936104"/>
          </a:xfrm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4351164C-0CCA-4381-9761-357A91DAE164}"/>
                </a:ext>
              </a:extLst>
            </p:cNvPr>
            <p:cNvSpPr/>
            <p:nvPr/>
          </p:nvSpPr>
          <p:spPr>
            <a:xfrm>
              <a:off x="7812043" y="4646826"/>
              <a:ext cx="641810" cy="64807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FB80A87C-0381-493A-A6F0-B981EC6B56A1}"/>
                </a:ext>
              </a:extLst>
            </p:cNvPr>
            <p:cNvSpPr/>
            <p:nvPr/>
          </p:nvSpPr>
          <p:spPr>
            <a:xfrm>
              <a:off x="7245730" y="4502810"/>
              <a:ext cx="1368152" cy="936104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A1DC7DD-3281-471A-A18B-17C8FB0EDCD5}"/>
                </a:ext>
              </a:extLst>
            </p:cNvPr>
            <p:cNvSpPr txBox="1"/>
            <p:nvPr/>
          </p:nvSpPr>
          <p:spPr>
            <a:xfrm>
              <a:off x="7300878" y="4502810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A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4AC94D94-826B-4A05-8CE1-2DCDD1A0C351}"/>
                </a:ext>
              </a:extLst>
            </p:cNvPr>
            <p:cNvSpPr txBox="1"/>
            <p:nvPr/>
          </p:nvSpPr>
          <p:spPr>
            <a:xfrm>
              <a:off x="8253842" y="4502810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B</a:t>
              </a: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44D45E65-194E-4FBF-B373-3F70ABA2EFF5}"/>
                </a:ext>
              </a:extLst>
            </p:cNvPr>
            <p:cNvSpPr/>
            <p:nvPr/>
          </p:nvSpPr>
          <p:spPr>
            <a:xfrm>
              <a:off x="7389746" y="4646826"/>
              <a:ext cx="641810" cy="648072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11434F7D-880E-461F-81E5-5EF05679E9C2}"/>
                </a:ext>
              </a:extLst>
            </p:cNvPr>
            <p:cNvSpPr/>
            <p:nvPr/>
          </p:nvSpPr>
          <p:spPr>
            <a:xfrm>
              <a:off x="7818845" y="4638705"/>
              <a:ext cx="641810" cy="648072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190B94BF-CDFE-49E5-A153-B8F44F050A75}"/>
              </a:ext>
            </a:extLst>
          </p:cNvPr>
          <p:cNvSpPr txBox="1"/>
          <p:nvPr/>
        </p:nvSpPr>
        <p:spPr>
          <a:xfrm>
            <a:off x="5090379" y="6326428"/>
            <a:ext cx="12953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Answers:</a:t>
            </a:r>
          </a:p>
        </p:txBody>
      </p:sp>
    </p:spTree>
    <p:extLst>
      <p:ext uri="{BB962C8B-B14F-4D97-AF65-F5344CB8AC3E}">
        <p14:creationId xmlns:p14="http://schemas.microsoft.com/office/powerpoint/2010/main" val="4054748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  <p:bldP spid="40" grpId="0" animBg="1"/>
      <p:bldP spid="42" grpId="0" animBg="1"/>
      <p:bldP spid="44" grpId="0"/>
      <p:bldP spid="8" grpId="0" build="p"/>
      <p:bldP spid="9" grpId="0" build="p"/>
      <p:bldP spid="75" grpId="0"/>
      <p:bldP spid="9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0119" y="2228593"/>
            <a:ext cx="5466806" cy="623021"/>
          </a:xfrm>
        </p:spPr>
        <p:txBody>
          <a:bodyPr>
            <a:normAutofit fontScale="77500" lnSpcReduction="20000"/>
          </a:bodyPr>
          <a:lstStyle/>
          <a:p>
            <a:endParaRPr lang="en-AU" dirty="0"/>
          </a:p>
          <a:p>
            <a:r>
              <a:rPr lang="en-AU" dirty="0"/>
              <a:t> 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E655F0-6C96-4D44-A666-0D7B09440F67}"/>
              </a:ext>
            </a:extLst>
          </p:cNvPr>
          <p:cNvSpPr/>
          <p:nvPr/>
        </p:nvSpPr>
        <p:spPr>
          <a:xfrm>
            <a:off x="314325" y="2354365"/>
            <a:ext cx="4257675" cy="25217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00C57E5-C1B7-42ED-97BA-044B0529A397}"/>
              </a:ext>
            </a:extLst>
          </p:cNvPr>
          <p:cNvSpPr/>
          <p:nvPr/>
        </p:nvSpPr>
        <p:spPr>
          <a:xfrm>
            <a:off x="960120" y="2614610"/>
            <a:ext cx="1850231" cy="17502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B0B68FD-BA99-4627-A757-9A6A6657DB87}"/>
              </a:ext>
            </a:extLst>
          </p:cNvPr>
          <p:cNvSpPr/>
          <p:nvPr/>
        </p:nvSpPr>
        <p:spPr>
          <a:xfrm>
            <a:off x="2029845" y="2650330"/>
            <a:ext cx="1850231" cy="17502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F7E771-851A-4741-BD9F-4B16202EC6CF}"/>
              </a:ext>
            </a:extLst>
          </p:cNvPr>
          <p:cNvSpPr txBox="1"/>
          <p:nvPr/>
        </p:nvSpPr>
        <p:spPr>
          <a:xfrm>
            <a:off x="1190464" y="2540100"/>
            <a:ext cx="31290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EC1991-BE96-48D0-9393-D78996EACCAD}"/>
              </a:ext>
            </a:extLst>
          </p:cNvPr>
          <p:cNvSpPr txBox="1"/>
          <p:nvPr/>
        </p:nvSpPr>
        <p:spPr>
          <a:xfrm>
            <a:off x="3411444" y="2574615"/>
            <a:ext cx="31290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40CFE4-EE45-41B2-B802-9ADED3922389}"/>
              </a:ext>
            </a:extLst>
          </p:cNvPr>
          <p:cNvSpPr txBox="1"/>
          <p:nvPr/>
        </p:nvSpPr>
        <p:spPr>
          <a:xfrm>
            <a:off x="2330030" y="3386939"/>
            <a:ext cx="33374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1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4EF510-E800-4608-A97C-C0BEF7F5DE8C}"/>
              </a:ext>
            </a:extLst>
          </p:cNvPr>
          <p:cNvSpPr txBox="1"/>
          <p:nvPr/>
        </p:nvSpPr>
        <p:spPr>
          <a:xfrm>
            <a:off x="1549524" y="3380597"/>
            <a:ext cx="33374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1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69FF70-0133-4E53-9AAC-791B8CA1421A}"/>
              </a:ext>
            </a:extLst>
          </p:cNvPr>
          <p:cNvSpPr txBox="1"/>
          <p:nvPr/>
        </p:nvSpPr>
        <p:spPr>
          <a:xfrm>
            <a:off x="3105477" y="3290500"/>
            <a:ext cx="33374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1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DDA7B7-3BC4-4709-988B-13C8B4E41278}"/>
              </a:ext>
            </a:extLst>
          </p:cNvPr>
          <p:cNvSpPr txBox="1"/>
          <p:nvPr/>
        </p:nvSpPr>
        <p:spPr>
          <a:xfrm>
            <a:off x="4180261" y="4364828"/>
            <a:ext cx="33374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100" dirty="0"/>
              <a:t>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4A7BD9F-57DC-4272-8773-5F512B6ECAAB}"/>
                  </a:ext>
                </a:extLst>
              </p:cNvPr>
              <p:cNvSpPr txBox="1"/>
              <p:nvPr/>
            </p:nvSpPr>
            <p:spPr>
              <a:xfrm>
                <a:off x="5108443" y="2574614"/>
                <a:ext cx="1592103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sz="2400" dirty="0"/>
                  <a:t>Find:</a:t>
                </a:r>
              </a:p>
              <a:p>
                <a:pPr marL="257175" indent="-257175">
                  <a:buAutoNum type="arabicParenR"/>
                </a:pPr>
                <a:r>
                  <a:rPr lang="en-AU" sz="2400" dirty="0"/>
                  <a:t>n(A)</a:t>
                </a:r>
              </a:p>
              <a:p>
                <a:pPr marL="257175" indent="-257175">
                  <a:buAutoNum type="arabicParenR"/>
                </a:pPr>
                <a:r>
                  <a:rPr lang="en-AU" sz="2400" dirty="0"/>
                  <a:t>n(A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AU" sz="2400" dirty="0"/>
                  <a:t>B)</a:t>
                </a:r>
              </a:p>
              <a:p>
                <a:pPr marL="257175" indent="-257175">
                  <a:buAutoNum type="arabicParenR"/>
                </a:pPr>
                <a:r>
                  <a:rPr lang="en-AU" sz="2400" dirty="0" err="1"/>
                  <a:t>Pr</a:t>
                </a:r>
                <a:r>
                  <a:rPr lang="en-AU" sz="2400" dirty="0"/>
                  <a:t>(A)</a:t>
                </a:r>
              </a:p>
              <a:p>
                <a:pPr marL="257175" indent="-257175">
                  <a:buAutoNum type="arabicParenR"/>
                </a:pPr>
                <a:r>
                  <a:rPr lang="en-AU" sz="2400" dirty="0" err="1"/>
                  <a:t>Pr</a:t>
                </a:r>
                <a:r>
                  <a:rPr lang="en-AU" sz="2400" dirty="0"/>
                  <a:t>(A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AU" sz="2400" dirty="0"/>
                  <a:t>B)</a:t>
                </a:r>
              </a:p>
              <a:p>
                <a:pPr marL="257175" indent="-257175">
                  <a:buAutoNum type="arabicParenR"/>
                </a:pPr>
                <a:r>
                  <a:rPr lang="en-AU" sz="2400" dirty="0" err="1"/>
                  <a:t>Pr</a:t>
                </a:r>
                <a:r>
                  <a:rPr lang="en-AU" sz="2400" dirty="0"/>
                  <a:t>(B|A)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4A7BD9F-57DC-4272-8773-5F512B6EC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8443" y="2574614"/>
                <a:ext cx="1592103" cy="2308324"/>
              </a:xfrm>
              <a:prstGeom prst="rect">
                <a:avLst/>
              </a:prstGeom>
              <a:blipFill>
                <a:blip r:embed="rId2"/>
                <a:stretch>
                  <a:fillRect l="-6349" t="-2186" r="-4762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itle 1">
            <a:extLst>
              <a:ext uri="{FF2B5EF4-FFF2-40B4-BE49-F238E27FC236}">
                <a16:creationId xmlns:a16="http://schemas.microsoft.com/office/drawing/2014/main" id="{75C41BFD-293E-7A46-8A6B-B062FC39F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37" y="116632"/>
            <a:ext cx="8721601" cy="1440160"/>
          </a:xfrm>
        </p:spPr>
        <p:txBody>
          <a:bodyPr>
            <a:normAutofit/>
          </a:bodyPr>
          <a:lstStyle/>
          <a:p>
            <a:pPr algn="l"/>
            <a:r>
              <a:rPr lang="en-AU" sz="2800" dirty="0"/>
              <a:t>Probability</a:t>
            </a:r>
            <a:br>
              <a:rPr lang="en-AU" sz="2800" dirty="0"/>
            </a:br>
            <a:r>
              <a:rPr lang="en-AU" sz="2800" dirty="0"/>
              <a:t>EQ – </a:t>
            </a:r>
            <a:r>
              <a:rPr lang="en-US" sz="2800" dirty="0"/>
              <a:t>How can I use visual displays to calculate probabilities?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97983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/>
          <p:cNvSpPr/>
          <p:nvPr/>
        </p:nvSpPr>
        <p:spPr>
          <a:xfrm>
            <a:off x="6299517" y="2852936"/>
            <a:ext cx="1368152" cy="93610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Rectangle 71"/>
          <p:cNvSpPr/>
          <p:nvPr/>
        </p:nvSpPr>
        <p:spPr>
          <a:xfrm>
            <a:off x="6299517" y="1844824"/>
            <a:ext cx="1368152" cy="93610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/>
          <p:cNvSpPr/>
          <p:nvPr/>
        </p:nvSpPr>
        <p:spPr>
          <a:xfrm>
            <a:off x="6299517" y="836712"/>
            <a:ext cx="1368152" cy="93610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Freeform 29"/>
          <p:cNvSpPr/>
          <p:nvPr/>
        </p:nvSpPr>
        <p:spPr>
          <a:xfrm>
            <a:off x="685800" y="4090591"/>
            <a:ext cx="211931" cy="478631"/>
          </a:xfrm>
          <a:custGeom>
            <a:avLst/>
            <a:gdLst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02394 w 209550"/>
              <a:gd name="connsiteY4" fmla="*/ 0 h 478631"/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86828 w 209550"/>
              <a:gd name="connsiteY4" fmla="*/ 93340 h 478631"/>
              <a:gd name="connsiteX5" fmla="*/ 102394 w 209550"/>
              <a:gd name="connsiteY5" fmla="*/ 0 h 478631"/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86828 w 209550"/>
              <a:gd name="connsiteY4" fmla="*/ 93340 h 478631"/>
              <a:gd name="connsiteX5" fmla="*/ 102394 w 209550"/>
              <a:gd name="connsiteY5" fmla="*/ 0 h 478631"/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86828 w 209550"/>
              <a:gd name="connsiteY4" fmla="*/ 93340 h 478631"/>
              <a:gd name="connsiteX5" fmla="*/ 102394 w 209550"/>
              <a:gd name="connsiteY5" fmla="*/ 0 h 478631"/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84447 w 209550"/>
              <a:gd name="connsiteY4" fmla="*/ 86196 h 478631"/>
              <a:gd name="connsiteX5" fmla="*/ 102394 w 209550"/>
              <a:gd name="connsiteY5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104775 w 209550"/>
              <a:gd name="connsiteY3" fmla="*/ 478631 h 478631"/>
              <a:gd name="connsiteX4" fmla="*/ 209550 w 209550"/>
              <a:gd name="connsiteY4" fmla="*/ 219075 h 478631"/>
              <a:gd name="connsiteX5" fmla="*/ 184447 w 209550"/>
              <a:gd name="connsiteY5" fmla="*/ 86196 h 478631"/>
              <a:gd name="connsiteX6" fmla="*/ 102394 w 209550"/>
              <a:gd name="connsiteY6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104775 w 209550"/>
              <a:gd name="connsiteY3" fmla="*/ 478631 h 478631"/>
              <a:gd name="connsiteX4" fmla="*/ 209550 w 209550"/>
              <a:gd name="connsiteY4" fmla="*/ 219075 h 478631"/>
              <a:gd name="connsiteX5" fmla="*/ 184447 w 209550"/>
              <a:gd name="connsiteY5" fmla="*/ 86196 h 478631"/>
              <a:gd name="connsiteX6" fmla="*/ 102394 w 209550"/>
              <a:gd name="connsiteY6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104775 w 209550"/>
              <a:gd name="connsiteY3" fmla="*/ 478631 h 478631"/>
              <a:gd name="connsiteX4" fmla="*/ 209550 w 209550"/>
              <a:gd name="connsiteY4" fmla="*/ 219075 h 478631"/>
              <a:gd name="connsiteX5" fmla="*/ 184447 w 209550"/>
              <a:gd name="connsiteY5" fmla="*/ 86196 h 478631"/>
              <a:gd name="connsiteX6" fmla="*/ 102394 w 209550"/>
              <a:gd name="connsiteY6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26194 w 209550"/>
              <a:gd name="connsiteY3" fmla="*/ 378618 h 478631"/>
              <a:gd name="connsiteX4" fmla="*/ 104775 w 209550"/>
              <a:gd name="connsiteY4" fmla="*/ 478631 h 478631"/>
              <a:gd name="connsiteX5" fmla="*/ 209550 w 209550"/>
              <a:gd name="connsiteY5" fmla="*/ 219075 h 478631"/>
              <a:gd name="connsiteX6" fmla="*/ 184447 w 209550"/>
              <a:gd name="connsiteY6" fmla="*/ 86196 h 478631"/>
              <a:gd name="connsiteX7" fmla="*/ 102394 w 209550"/>
              <a:gd name="connsiteY7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26194 w 209550"/>
              <a:gd name="connsiteY3" fmla="*/ 378618 h 478631"/>
              <a:gd name="connsiteX4" fmla="*/ 104775 w 209550"/>
              <a:gd name="connsiteY4" fmla="*/ 478631 h 478631"/>
              <a:gd name="connsiteX5" fmla="*/ 209550 w 209550"/>
              <a:gd name="connsiteY5" fmla="*/ 219075 h 478631"/>
              <a:gd name="connsiteX6" fmla="*/ 184447 w 209550"/>
              <a:gd name="connsiteY6" fmla="*/ 86196 h 478631"/>
              <a:gd name="connsiteX7" fmla="*/ 102394 w 209550"/>
              <a:gd name="connsiteY7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26194 w 209550"/>
              <a:gd name="connsiteY3" fmla="*/ 378618 h 478631"/>
              <a:gd name="connsiteX4" fmla="*/ 104775 w 209550"/>
              <a:gd name="connsiteY4" fmla="*/ 478631 h 478631"/>
              <a:gd name="connsiteX5" fmla="*/ 209550 w 209550"/>
              <a:gd name="connsiteY5" fmla="*/ 219075 h 478631"/>
              <a:gd name="connsiteX6" fmla="*/ 184447 w 209550"/>
              <a:gd name="connsiteY6" fmla="*/ 86196 h 478631"/>
              <a:gd name="connsiteX7" fmla="*/ 102394 w 209550"/>
              <a:gd name="connsiteY7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26194 w 209550"/>
              <a:gd name="connsiteY3" fmla="*/ 378618 h 478631"/>
              <a:gd name="connsiteX4" fmla="*/ 104775 w 209550"/>
              <a:gd name="connsiteY4" fmla="*/ 478631 h 478631"/>
              <a:gd name="connsiteX5" fmla="*/ 195263 w 209550"/>
              <a:gd name="connsiteY5" fmla="*/ 361950 h 478631"/>
              <a:gd name="connsiteX6" fmla="*/ 209550 w 209550"/>
              <a:gd name="connsiteY6" fmla="*/ 219075 h 478631"/>
              <a:gd name="connsiteX7" fmla="*/ 184447 w 209550"/>
              <a:gd name="connsiteY7" fmla="*/ 86196 h 478631"/>
              <a:gd name="connsiteX8" fmla="*/ 102394 w 209550"/>
              <a:gd name="connsiteY8" fmla="*/ 0 h 478631"/>
              <a:gd name="connsiteX0" fmla="*/ 102394 w 214313"/>
              <a:gd name="connsiteY0" fmla="*/ 0 h 478631"/>
              <a:gd name="connsiteX1" fmla="*/ 19050 w 214313"/>
              <a:gd name="connsiteY1" fmla="*/ 116681 h 478631"/>
              <a:gd name="connsiteX2" fmla="*/ 0 w 214313"/>
              <a:gd name="connsiteY2" fmla="*/ 238125 h 478631"/>
              <a:gd name="connsiteX3" fmla="*/ 26194 w 214313"/>
              <a:gd name="connsiteY3" fmla="*/ 378618 h 478631"/>
              <a:gd name="connsiteX4" fmla="*/ 104775 w 214313"/>
              <a:gd name="connsiteY4" fmla="*/ 478631 h 478631"/>
              <a:gd name="connsiteX5" fmla="*/ 195263 w 214313"/>
              <a:gd name="connsiteY5" fmla="*/ 361950 h 478631"/>
              <a:gd name="connsiteX6" fmla="*/ 209550 w 214313"/>
              <a:gd name="connsiteY6" fmla="*/ 219075 h 478631"/>
              <a:gd name="connsiteX7" fmla="*/ 184447 w 214313"/>
              <a:gd name="connsiteY7" fmla="*/ 86196 h 478631"/>
              <a:gd name="connsiteX8" fmla="*/ 102394 w 214313"/>
              <a:gd name="connsiteY8" fmla="*/ 0 h 478631"/>
              <a:gd name="connsiteX0" fmla="*/ 102394 w 214313"/>
              <a:gd name="connsiteY0" fmla="*/ 0 h 478631"/>
              <a:gd name="connsiteX1" fmla="*/ 19050 w 214313"/>
              <a:gd name="connsiteY1" fmla="*/ 116681 h 478631"/>
              <a:gd name="connsiteX2" fmla="*/ 0 w 214313"/>
              <a:gd name="connsiteY2" fmla="*/ 238125 h 478631"/>
              <a:gd name="connsiteX3" fmla="*/ 26194 w 214313"/>
              <a:gd name="connsiteY3" fmla="*/ 378618 h 478631"/>
              <a:gd name="connsiteX4" fmla="*/ 104775 w 214313"/>
              <a:gd name="connsiteY4" fmla="*/ 478631 h 478631"/>
              <a:gd name="connsiteX5" fmla="*/ 195263 w 214313"/>
              <a:gd name="connsiteY5" fmla="*/ 361950 h 478631"/>
              <a:gd name="connsiteX6" fmla="*/ 209550 w 214313"/>
              <a:gd name="connsiteY6" fmla="*/ 219075 h 478631"/>
              <a:gd name="connsiteX7" fmla="*/ 184447 w 214313"/>
              <a:gd name="connsiteY7" fmla="*/ 86196 h 478631"/>
              <a:gd name="connsiteX8" fmla="*/ 102394 w 214313"/>
              <a:gd name="connsiteY8" fmla="*/ 0 h 478631"/>
              <a:gd name="connsiteX0" fmla="*/ 102394 w 211931"/>
              <a:gd name="connsiteY0" fmla="*/ 0 h 478631"/>
              <a:gd name="connsiteX1" fmla="*/ 19050 w 211931"/>
              <a:gd name="connsiteY1" fmla="*/ 116681 h 478631"/>
              <a:gd name="connsiteX2" fmla="*/ 0 w 211931"/>
              <a:gd name="connsiteY2" fmla="*/ 238125 h 478631"/>
              <a:gd name="connsiteX3" fmla="*/ 26194 w 211931"/>
              <a:gd name="connsiteY3" fmla="*/ 378618 h 478631"/>
              <a:gd name="connsiteX4" fmla="*/ 104775 w 211931"/>
              <a:gd name="connsiteY4" fmla="*/ 478631 h 478631"/>
              <a:gd name="connsiteX5" fmla="*/ 192881 w 211931"/>
              <a:gd name="connsiteY5" fmla="*/ 359568 h 478631"/>
              <a:gd name="connsiteX6" fmla="*/ 209550 w 211931"/>
              <a:gd name="connsiteY6" fmla="*/ 219075 h 478631"/>
              <a:gd name="connsiteX7" fmla="*/ 184447 w 211931"/>
              <a:gd name="connsiteY7" fmla="*/ 86196 h 478631"/>
              <a:gd name="connsiteX8" fmla="*/ 102394 w 211931"/>
              <a:gd name="connsiteY8" fmla="*/ 0 h 478631"/>
              <a:gd name="connsiteX0" fmla="*/ 102394 w 211931"/>
              <a:gd name="connsiteY0" fmla="*/ 0 h 478631"/>
              <a:gd name="connsiteX1" fmla="*/ 19050 w 211931"/>
              <a:gd name="connsiteY1" fmla="*/ 116681 h 478631"/>
              <a:gd name="connsiteX2" fmla="*/ 0 w 211931"/>
              <a:gd name="connsiteY2" fmla="*/ 238125 h 478631"/>
              <a:gd name="connsiteX3" fmla="*/ 26194 w 211931"/>
              <a:gd name="connsiteY3" fmla="*/ 378618 h 478631"/>
              <a:gd name="connsiteX4" fmla="*/ 104775 w 211931"/>
              <a:gd name="connsiteY4" fmla="*/ 478631 h 478631"/>
              <a:gd name="connsiteX5" fmla="*/ 192881 w 211931"/>
              <a:gd name="connsiteY5" fmla="*/ 359568 h 478631"/>
              <a:gd name="connsiteX6" fmla="*/ 209550 w 211931"/>
              <a:gd name="connsiteY6" fmla="*/ 219075 h 478631"/>
              <a:gd name="connsiteX7" fmla="*/ 182586 w 211931"/>
              <a:gd name="connsiteY7" fmla="*/ 94382 h 478631"/>
              <a:gd name="connsiteX8" fmla="*/ 102394 w 211931"/>
              <a:gd name="connsiteY8" fmla="*/ 0 h 478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931" h="478631">
                <a:moveTo>
                  <a:pt x="102394" y="0"/>
                </a:moveTo>
                <a:cubicBezTo>
                  <a:pt x="74613" y="38894"/>
                  <a:pt x="58737" y="51593"/>
                  <a:pt x="19050" y="116681"/>
                </a:cubicBezTo>
                <a:cubicBezTo>
                  <a:pt x="3175" y="178594"/>
                  <a:pt x="6350" y="197644"/>
                  <a:pt x="0" y="238125"/>
                </a:cubicBezTo>
                <a:cubicBezTo>
                  <a:pt x="8731" y="284956"/>
                  <a:pt x="7938" y="303212"/>
                  <a:pt x="26194" y="378618"/>
                </a:cubicBezTo>
                <a:cubicBezTo>
                  <a:pt x="61913" y="426244"/>
                  <a:pt x="78581" y="445293"/>
                  <a:pt x="104775" y="478631"/>
                </a:cubicBezTo>
                <a:cubicBezTo>
                  <a:pt x="134938" y="439737"/>
                  <a:pt x="160336" y="412750"/>
                  <a:pt x="192881" y="359568"/>
                </a:cubicBezTo>
                <a:cubicBezTo>
                  <a:pt x="211931" y="295274"/>
                  <a:pt x="204788" y="266700"/>
                  <a:pt x="209550" y="219075"/>
                </a:cubicBezTo>
                <a:cubicBezTo>
                  <a:pt x="201976" y="177163"/>
                  <a:pt x="199685" y="152963"/>
                  <a:pt x="182586" y="94382"/>
                </a:cubicBezTo>
                <a:cubicBezTo>
                  <a:pt x="144916" y="39456"/>
                  <a:pt x="130539" y="31113"/>
                  <a:pt x="102394" y="0"/>
                </a:cubicBezTo>
                <a:close/>
              </a:path>
            </a:pathLst>
          </a:cu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/>
          <p:cNvSpPr/>
          <p:nvPr/>
        </p:nvSpPr>
        <p:spPr>
          <a:xfrm>
            <a:off x="251520" y="980728"/>
            <a:ext cx="641810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/>
          <p:cNvSpPr/>
          <p:nvPr/>
        </p:nvSpPr>
        <p:spPr>
          <a:xfrm>
            <a:off x="683568" y="980728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107504" y="836712"/>
            <a:ext cx="1368152" cy="93610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162652" y="836712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616" y="836712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9" name="Oval 8"/>
          <p:cNvSpPr/>
          <p:nvPr/>
        </p:nvSpPr>
        <p:spPr>
          <a:xfrm>
            <a:off x="251520" y="2996952"/>
            <a:ext cx="641810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683568" y="2996952"/>
            <a:ext cx="641810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107504" y="2852936"/>
            <a:ext cx="1368152" cy="93610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162652" y="2852936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616" y="2852936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14" name="Oval 13"/>
          <p:cNvSpPr/>
          <p:nvPr/>
        </p:nvSpPr>
        <p:spPr>
          <a:xfrm>
            <a:off x="251520" y="4005064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/>
          <p:cNvSpPr/>
          <p:nvPr/>
        </p:nvSpPr>
        <p:spPr>
          <a:xfrm>
            <a:off x="683568" y="4005064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7504" y="3861048"/>
            <a:ext cx="1368152" cy="93610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/>
          <p:cNvSpPr txBox="1"/>
          <p:nvPr/>
        </p:nvSpPr>
        <p:spPr>
          <a:xfrm>
            <a:off x="162652" y="3861048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616" y="3861048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77397" y="1115452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504" y="0"/>
            <a:ext cx="4933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Set notation with Venn diagrams</a:t>
            </a:r>
          </a:p>
        </p:txBody>
      </p:sp>
      <p:sp>
        <p:nvSpPr>
          <p:cNvPr id="27" name="Oval 26"/>
          <p:cNvSpPr/>
          <p:nvPr/>
        </p:nvSpPr>
        <p:spPr>
          <a:xfrm>
            <a:off x="251520" y="2996952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/>
          <p:cNvSpPr txBox="1"/>
          <p:nvPr/>
        </p:nvSpPr>
        <p:spPr>
          <a:xfrm>
            <a:off x="6354665" y="836712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07629" y="836712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36" name="Oval 35"/>
          <p:cNvSpPr/>
          <p:nvPr/>
        </p:nvSpPr>
        <p:spPr>
          <a:xfrm>
            <a:off x="3581633" y="980728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/>
          <p:cNvSpPr/>
          <p:nvPr/>
        </p:nvSpPr>
        <p:spPr>
          <a:xfrm>
            <a:off x="4013681" y="980728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/>
          <p:cNvSpPr/>
          <p:nvPr/>
        </p:nvSpPr>
        <p:spPr>
          <a:xfrm>
            <a:off x="3437617" y="836712"/>
            <a:ext cx="1368152" cy="93610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/>
          <p:cNvSpPr txBox="1"/>
          <p:nvPr/>
        </p:nvSpPr>
        <p:spPr>
          <a:xfrm>
            <a:off x="3492765" y="836712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45729" y="836712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46" name="Oval 45"/>
          <p:cNvSpPr/>
          <p:nvPr/>
        </p:nvSpPr>
        <p:spPr>
          <a:xfrm>
            <a:off x="3581633" y="1988840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Oval 46"/>
          <p:cNvSpPr/>
          <p:nvPr/>
        </p:nvSpPr>
        <p:spPr>
          <a:xfrm>
            <a:off x="4013681" y="1988840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 47"/>
          <p:cNvSpPr/>
          <p:nvPr/>
        </p:nvSpPr>
        <p:spPr>
          <a:xfrm>
            <a:off x="3437617" y="1844824"/>
            <a:ext cx="1368152" cy="93610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TextBox 48"/>
          <p:cNvSpPr txBox="1"/>
          <p:nvPr/>
        </p:nvSpPr>
        <p:spPr>
          <a:xfrm>
            <a:off x="3492765" y="1844824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45729" y="1844824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31" name="Oval 30"/>
          <p:cNvSpPr/>
          <p:nvPr/>
        </p:nvSpPr>
        <p:spPr>
          <a:xfrm>
            <a:off x="6875581" y="980728"/>
            <a:ext cx="641810" cy="64807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Oval 31"/>
          <p:cNvSpPr/>
          <p:nvPr/>
        </p:nvSpPr>
        <p:spPr>
          <a:xfrm>
            <a:off x="6443533" y="980728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Oval 52"/>
          <p:cNvSpPr/>
          <p:nvPr/>
        </p:nvSpPr>
        <p:spPr>
          <a:xfrm>
            <a:off x="3581633" y="2996952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Oval 53"/>
          <p:cNvSpPr/>
          <p:nvPr/>
        </p:nvSpPr>
        <p:spPr>
          <a:xfrm>
            <a:off x="4013681" y="2996952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Rectangle 54"/>
          <p:cNvSpPr/>
          <p:nvPr/>
        </p:nvSpPr>
        <p:spPr>
          <a:xfrm>
            <a:off x="3437617" y="2852936"/>
            <a:ext cx="1368152" cy="93610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TextBox 55"/>
          <p:cNvSpPr txBox="1"/>
          <p:nvPr/>
        </p:nvSpPr>
        <p:spPr>
          <a:xfrm>
            <a:off x="3492765" y="2852936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45729" y="2852936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58" name="Oval 57"/>
          <p:cNvSpPr/>
          <p:nvPr/>
        </p:nvSpPr>
        <p:spPr>
          <a:xfrm>
            <a:off x="3581633" y="4005064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Oval 58"/>
          <p:cNvSpPr/>
          <p:nvPr/>
        </p:nvSpPr>
        <p:spPr>
          <a:xfrm>
            <a:off x="4013681" y="4005064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Rectangle 59"/>
          <p:cNvSpPr/>
          <p:nvPr/>
        </p:nvSpPr>
        <p:spPr>
          <a:xfrm>
            <a:off x="3437617" y="3861048"/>
            <a:ext cx="1368152" cy="93610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TextBox 60"/>
          <p:cNvSpPr txBox="1"/>
          <p:nvPr/>
        </p:nvSpPr>
        <p:spPr>
          <a:xfrm>
            <a:off x="3492765" y="3861048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45729" y="3861048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253" y="559713"/>
            <a:ext cx="12923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Basic definitions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65609" y="404664"/>
            <a:ext cx="18998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1. Shade the diagrams to</a:t>
            </a:r>
          </a:p>
          <a:p>
            <a:r>
              <a:rPr lang="en-GB" sz="1200" dirty="0"/>
              <a:t>match the descriptions</a:t>
            </a:r>
          </a:p>
        </p:txBody>
      </p:sp>
      <p:sp>
        <p:nvSpPr>
          <p:cNvPr id="70" name="Oval 69"/>
          <p:cNvSpPr/>
          <p:nvPr/>
        </p:nvSpPr>
        <p:spPr>
          <a:xfrm>
            <a:off x="6443533" y="1988840"/>
            <a:ext cx="641810" cy="64807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 70"/>
          <p:cNvSpPr/>
          <p:nvPr/>
        </p:nvSpPr>
        <p:spPr>
          <a:xfrm>
            <a:off x="6875581" y="1988840"/>
            <a:ext cx="641810" cy="64807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TextBox 72"/>
          <p:cNvSpPr txBox="1"/>
          <p:nvPr/>
        </p:nvSpPr>
        <p:spPr>
          <a:xfrm>
            <a:off x="6354665" y="1844824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07629" y="1844824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54665" y="2852936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07629" y="2852936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05769" y="1124744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805769" y="3140968"/>
            <a:ext cx="8259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A U B’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7504" y="1844824"/>
            <a:ext cx="1368152" cy="93610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TextBox 88"/>
          <p:cNvSpPr txBox="1"/>
          <p:nvPr/>
        </p:nvSpPr>
        <p:spPr>
          <a:xfrm>
            <a:off x="162652" y="1844824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15616" y="1844824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91" name="Oval 90"/>
          <p:cNvSpPr/>
          <p:nvPr/>
        </p:nvSpPr>
        <p:spPr>
          <a:xfrm>
            <a:off x="251520" y="1988840"/>
            <a:ext cx="641810" cy="64807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" name="Oval 91"/>
          <p:cNvSpPr/>
          <p:nvPr/>
        </p:nvSpPr>
        <p:spPr>
          <a:xfrm>
            <a:off x="683568" y="1988840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TextBox 92"/>
          <p:cNvSpPr txBox="1"/>
          <p:nvPr/>
        </p:nvSpPr>
        <p:spPr>
          <a:xfrm>
            <a:off x="6227509" y="404664"/>
            <a:ext cx="2188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2. Describe the shaded areas</a:t>
            </a:r>
          </a:p>
          <a:p>
            <a:r>
              <a:rPr lang="en-GB" sz="1200" dirty="0"/>
              <a:t>using set notation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805769" y="2132856"/>
            <a:ext cx="825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 ∩ B’</a:t>
            </a:r>
          </a:p>
        </p:txBody>
      </p:sp>
      <p:sp>
        <p:nvSpPr>
          <p:cNvPr id="95" name="Oval 94"/>
          <p:cNvSpPr/>
          <p:nvPr/>
        </p:nvSpPr>
        <p:spPr>
          <a:xfrm>
            <a:off x="6443533" y="1988840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Freeform 95"/>
          <p:cNvSpPr/>
          <p:nvPr/>
        </p:nvSpPr>
        <p:spPr>
          <a:xfrm>
            <a:off x="6875581" y="3068960"/>
            <a:ext cx="211931" cy="478631"/>
          </a:xfrm>
          <a:custGeom>
            <a:avLst/>
            <a:gdLst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02394 w 209550"/>
              <a:gd name="connsiteY4" fmla="*/ 0 h 478631"/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86828 w 209550"/>
              <a:gd name="connsiteY4" fmla="*/ 93340 h 478631"/>
              <a:gd name="connsiteX5" fmla="*/ 102394 w 209550"/>
              <a:gd name="connsiteY5" fmla="*/ 0 h 478631"/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86828 w 209550"/>
              <a:gd name="connsiteY4" fmla="*/ 93340 h 478631"/>
              <a:gd name="connsiteX5" fmla="*/ 102394 w 209550"/>
              <a:gd name="connsiteY5" fmla="*/ 0 h 478631"/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86828 w 209550"/>
              <a:gd name="connsiteY4" fmla="*/ 93340 h 478631"/>
              <a:gd name="connsiteX5" fmla="*/ 102394 w 209550"/>
              <a:gd name="connsiteY5" fmla="*/ 0 h 478631"/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84447 w 209550"/>
              <a:gd name="connsiteY4" fmla="*/ 86196 h 478631"/>
              <a:gd name="connsiteX5" fmla="*/ 102394 w 209550"/>
              <a:gd name="connsiteY5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104775 w 209550"/>
              <a:gd name="connsiteY3" fmla="*/ 478631 h 478631"/>
              <a:gd name="connsiteX4" fmla="*/ 209550 w 209550"/>
              <a:gd name="connsiteY4" fmla="*/ 219075 h 478631"/>
              <a:gd name="connsiteX5" fmla="*/ 184447 w 209550"/>
              <a:gd name="connsiteY5" fmla="*/ 86196 h 478631"/>
              <a:gd name="connsiteX6" fmla="*/ 102394 w 209550"/>
              <a:gd name="connsiteY6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104775 w 209550"/>
              <a:gd name="connsiteY3" fmla="*/ 478631 h 478631"/>
              <a:gd name="connsiteX4" fmla="*/ 209550 w 209550"/>
              <a:gd name="connsiteY4" fmla="*/ 219075 h 478631"/>
              <a:gd name="connsiteX5" fmla="*/ 184447 w 209550"/>
              <a:gd name="connsiteY5" fmla="*/ 86196 h 478631"/>
              <a:gd name="connsiteX6" fmla="*/ 102394 w 209550"/>
              <a:gd name="connsiteY6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104775 w 209550"/>
              <a:gd name="connsiteY3" fmla="*/ 478631 h 478631"/>
              <a:gd name="connsiteX4" fmla="*/ 209550 w 209550"/>
              <a:gd name="connsiteY4" fmla="*/ 219075 h 478631"/>
              <a:gd name="connsiteX5" fmla="*/ 184447 w 209550"/>
              <a:gd name="connsiteY5" fmla="*/ 86196 h 478631"/>
              <a:gd name="connsiteX6" fmla="*/ 102394 w 209550"/>
              <a:gd name="connsiteY6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26194 w 209550"/>
              <a:gd name="connsiteY3" fmla="*/ 378618 h 478631"/>
              <a:gd name="connsiteX4" fmla="*/ 104775 w 209550"/>
              <a:gd name="connsiteY4" fmla="*/ 478631 h 478631"/>
              <a:gd name="connsiteX5" fmla="*/ 209550 w 209550"/>
              <a:gd name="connsiteY5" fmla="*/ 219075 h 478631"/>
              <a:gd name="connsiteX6" fmla="*/ 184447 w 209550"/>
              <a:gd name="connsiteY6" fmla="*/ 86196 h 478631"/>
              <a:gd name="connsiteX7" fmla="*/ 102394 w 209550"/>
              <a:gd name="connsiteY7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26194 w 209550"/>
              <a:gd name="connsiteY3" fmla="*/ 378618 h 478631"/>
              <a:gd name="connsiteX4" fmla="*/ 104775 w 209550"/>
              <a:gd name="connsiteY4" fmla="*/ 478631 h 478631"/>
              <a:gd name="connsiteX5" fmla="*/ 209550 w 209550"/>
              <a:gd name="connsiteY5" fmla="*/ 219075 h 478631"/>
              <a:gd name="connsiteX6" fmla="*/ 184447 w 209550"/>
              <a:gd name="connsiteY6" fmla="*/ 86196 h 478631"/>
              <a:gd name="connsiteX7" fmla="*/ 102394 w 209550"/>
              <a:gd name="connsiteY7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26194 w 209550"/>
              <a:gd name="connsiteY3" fmla="*/ 378618 h 478631"/>
              <a:gd name="connsiteX4" fmla="*/ 104775 w 209550"/>
              <a:gd name="connsiteY4" fmla="*/ 478631 h 478631"/>
              <a:gd name="connsiteX5" fmla="*/ 209550 w 209550"/>
              <a:gd name="connsiteY5" fmla="*/ 219075 h 478631"/>
              <a:gd name="connsiteX6" fmla="*/ 184447 w 209550"/>
              <a:gd name="connsiteY6" fmla="*/ 86196 h 478631"/>
              <a:gd name="connsiteX7" fmla="*/ 102394 w 209550"/>
              <a:gd name="connsiteY7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26194 w 209550"/>
              <a:gd name="connsiteY3" fmla="*/ 378618 h 478631"/>
              <a:gd name="connsiteX4" fmla="*/ 104775 w 209550"/>
              <a:gd name="connsiteY4" fmla="*/ 478631 h 478631"/>
              <a:gd name="connsiteX5" fmla="*/ 195263 w 209550"/>
              <a:gd name="connsiteY5" fmla="*/ 361950 h 478631"/>
              <a:gd name="connsiteX6" fmla="*/ 209550 w 209550"/>
              <a:gd name="connsiteY6" fmla="*/ 219075 h 478631"/>
              <a:gd name="connsiteX7" fmla="*/ 184447 w 209550"/>
              <a:gd name="connsiteY7" fmla="*/ 86196 h 478631"/>
              <a:gd name="connsiteX8" fmla="*/ 102394 w 209550"/>
              <a:gd name="connsiteY8" fmla="*/ 0 h 478631"/>
              <a:gd name="connsiteX0" fmla="*/ 102394 w 214313"/>
              <a:gd name="connsiteY0" fmla="*/ 0 h 478631"/>
              <a:gd name="connsiteX1" fmla="*/ 19050 w 214313"/>
              <a:gd name="connsiteY1" fmla="*/ 116681 h 478631"/>
              <a:gd name="connsiteX2" fmla="*/ 0 w 214313"/>
              <a:gd name="connsiteY2" fmla="*/ 238125 h 478631"/>
              <a:gd name="connsiteX3" fmla="*/ 26194 w 214313"/>
              <a:gd name="connsiteY3" fmla="*/ 378618 h 478631"/>
              <a:gd name="connsiteX4" fmla="*/ 104775 w 214313"/>
              <a:gd name="connsiteY4" fmla="*/ 478631 h 478631"/>
              <a:gd name="connsiteX5" fmla="*/ 195263 w 214313"/>
              <a:gd name="connsiteY5" fmla="*/ 361950 h 478631"/>
              <a:gd name="connsiteX6" fmla="*/ 209550 w 214313"/>
              <a:gd name="connsiteY6" fmla="*/ 219075 h 478631"/>
              <a:gd name="connsiteX7" fmla="*/ 184447 w 214313"/>
              <a:gd name="connsiteY7" fmla="*/ 86196 h 478631"/>
              <a:gd name="connsiteX8" fmla="*/ 102394 w 214313"/>
              <a:gd name="connsiteY8" fmla="*/ 0 h 478631"/>
              <a:gd name="connsiteX0" fmla="*/ 102394 w 214313"/>
              <a:gd name="connsiteY0" fmla="*/ 0 h 478631"/>
              <a:gd name="connsiteX1" fmla="*/ 19050 w 214313"/>
              <a:gd name="connsiteY1" fmla="*/ 116681 h 478631"/>
              <a:gd name="connsiteX2" fmla="*/ 0 w 214313"/>
              <a:gd name="connsiteY2" fmla="*/ 238125 h 478631"/>
              <a:gd name="connsiteX3" fmla="*/ 26194 w 214313"/>
              <a:gd name="connsiteY3" fmla="*/ 378618 h 478631"/>
              <a:gd name="connsiteX4" fmla="*/ 104775 w 214313"/>
              <a:gd name="connsiteY4" fmla="*/ 478631 h 478631"/>
              <a:gd name="connsiteX5" fmla="*/ 195263 w 214313"/>
              <a:gd name="connsiteY5" fmla="*/ 361950 h 478631"/>
              <a:gd name="connsiteX6" fmla="*/ 209550 w 214313"/>
              <a:gd name="connsiteY6" fmla="*/ 219075 h 478631"/>
              <a:gd name="connsiteX7" fmla="*/ 184447 w 214313"/>
              <a:gd name="connsiteY7" fmla="*/ 86196 h 478631"/>
              <a:gd name="connsiteX8" fmla="*/ 102394 w 214313"/>
              <a:gd name="connsiteY8" fmla="*/ 0 h 478631"/>
              <a:gd name="connsiteX0" fmla="*/ 102394 w 211931"/>
              <a:gd name="connsiteY0" fmla="*/ 0 h 478631"/>
              <a:gd name="connsiteX1" fmla="*/ 19050 w 211931"/>
              <a:gd name="connsiteY1" fmla="*/ 116681 h 478631"/>
              <a:gd name="connsiteX2" fmla="*/ 0 w 211931"/>
              <a:gd name="connsiteY2" fmla="*/ 238125 h 478631"/>
              <a:gd name="connsiteX3" fmla="*/ 26194 w 211931"/>
              <a:gd name="connsiteY3" fmla="*/ 378618 h 478631"/>
              <a:gd name="connsiteX4" fmla="*/ 104775 w 211931"/>
              <a:gd name="connsiteY4" fmla="*/ 478631 h 478631"/>
              <a:gd name="connsiteX5" fmla="*/ 192881 w 211931"/>
              <a:gd name="connsiteY5" fmla="*/ 359568 h 478631"/>
              <a:gd name="connsiteX6" fmla="*/ 209550 w 211931"/>
              <a:gd name="connsiteY6" fmla="*/ 219075 h 478631"/>
              <a:gd name="connsiteX7" fmla="*/ 184447 w 211931"/>
              <a:gd name="connsiteY7" fmla="*/ 86196 h 478631"/>
              <a:gd name="connsiteX8" fmla="*/ 102394 w 211931"/>
              <a:gd name="connsiteY8" fmla="*/ 0 h 478631"/>
              <a:gd name="connsiteX0" fmla="*/ 102394 w 211931"/>
              <a:gd name="connsiteY0" fmla="*/ 0 h 478631"/>
              <a:gd name="connsiteX1" fmla="*/ 19050 w 211931"/>
              <a:gd name="connsiteY1" fmla="*/ 116681 h 478631"/>
              <a:gd name="connsiteX2" fmla="*/ 0 w 211931"/>
              <a:gd name="connsiteY2" fmla="*/ 238125 h 478631"/>
              <a:gd name="connsiteX3" fmla="*/ 26194 w 211931"/>
              <a:gd name="connsiteY3" fmla="*/ 378618 h 478631"/>
              <a:gd name="connsiteX4" fmla="*/ 104775 w 211931"/>
              <a:gd name="connsiteY4" fmla="*/ 478631 h 478631"/>
              <a:gd name="connsiteX5" fmla="*/ 192881 w 211931"/>
              <a:gd name="connsiteY5" fmla="*/ 359568 h 478631"/>
              <a:gd name="connsiteX6" fmla="*/ 209550 w 211931"/>
              <a:gd name="connsiteY6" fmla="*/ 219075 h 478631"/>
              <a:gd name="connsiteX7" fmla="*/ 182586 w 211931"/>
              <a:gd name="connsiteY7" fmla="*/ 94382 h 478631"/>
              <a:gd name="connsiteX8" fmla="*/ 102394 w 211931"/>
              <a:gd name="connsiteY8" fmla="*/ 0 h 478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931" h="478631">
                <a:moveTo>
                  <a:pt x="102394" y="0"/>
                </a:moveTo>
                <a:cubicBezTo>
                  <a:pt x="74613" y="38894"/>
                  <a:pt x="58737" y="51593"/>
                  <a:pt x="19050" y="116681"/>
                </a:cubicBezTo>
                <a:cubicBezTo>
                  <a:pt x="3175" y="178594"/>
                  <a:pt x="6350" y="197644"/>
                  <a:pt x="0" y="238125"/>
                </a:cubicBezTo>
                <a:cubicBezTo>
                  <a:pt x="8731" y="284956"/>
                  <a:pt x="7938" y="303212"/>
                  <a:pt x="26194" y="378618"/>
                </a:cubicBezTo>
                <a:cubicBezTo>
                  <a:pt x="61913" y="426244"/>
                  <a:pt x="78581" y="445293"/>
                  <a:pt x="104775" y="478631"/>
                </a:cubicBezTo>
                <a:cubicBezTo>
                  <a:pt x="134938" y="439737"/>
                  <a:pt x="160336" y="412750"/>
                  <a:pt x="192881" y="359568"/>
                </a:cubicBezTo>
                <a:cubicBezTo>
                  <a:pt x="211931" y="295274"/>
                  <a:pt x="204788" y="266700"/>
                  <a:pt x="209550" y="219075"/>
                </a:cubicBezTo>
                <a:cubicBezTo>
                  <a:pt x="201976" y="177163"/>
                  <a:pt x="199685" y="152963"/>
                  <a:pt x="182586" y="94382"/>
                </a:cubicBezTo>
                <a:cubicBezTo>
                  <a:pt x="144916" y="39456"/>
                  <a:pt x="130539" y="31113"/>
                  <a:pt x="102394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Oval 74"/>
          <p:cNvSpPr/>
          <p:nvPr/>
        </p:nvSpPr>
        <p:spPr>
          <a:xfrm>
            <a:off x="6443533" y="2996952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Oval 75"/>
          <p:cNvSpPr/>
          <p:nvPr/>
        </p:nvSpPr>
        <p:spPr>
          <a:xfrm>
            <a:off x="6875581" y="2996952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TextBox 96"/>
          <p:cNvSpPr txBox="1"/>
          <p:nvPr/>
        </p:nvSpPr>
        <p:spPr>
          <a:xfrm>
            <a:off x="4805769" y="4149080"/>
            <a:ext cx="796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 U A’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7504" y="4869160"/>
            <a:ext cx="8280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Question</a:t>
            </a:r>
            <a:endParaRPr lang="en-GB" sz="1200" dirty="0"/>
          </a:p>
          <a:p>
            <a:r>
              <a:rPr lang="en-GB" sz="1200" dirty="0"/>
              <a:t>In a group of 100 students, 50 study Maths, 29 study Biology, and 13 study both.</a:t>
            </a:r>
          </a:p>
        </p:txBody>
      </p:sp>
      <p:grpSp>
        <p:nvGrpSpPr>
          <p:cNvPr id="2" name="Group 103"/>
          <p:cNvGrpSpPr/>
          <p:nvPr/>
        </p:nvGrpSpPr>
        <p:grpSpPr>
          <a:xfrm>
            <a:off x="179512" y="5373216"/>
            <a:ext cx="1800200" cy="1224136"/>
            <a:chOff x="179512" y="5373216"/>
            <a:chExt cx="1368152" cy="936104"/>
          </a:xfrm>
        </p:grpSpPr>
        <p:sp>
          <p:nvSpPr>
            <p:cNvPr id="99" name="Oval 98"/>
            <p:cNvSpPr/>
            <p:nvPr/>
          </p:nvSpPr>
          <p:spPr>
            <a:xfrm>
              <a:off x="358593" y="5517232"/>
              <a:ext cx="641810" cy="648072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0" name="Oval 99"/>
            <p:cNvSpPr/>
            <p:nvPr/>
          </p:nvSpPr>
          <p:spPr>
            <a:xfrm>
              <a:off x="726773" y="5517232"/>
              <a:ext cx="641810" cy="648072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179512" y="5373216"/>
              <a:ext cx="1368152" cy="936104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254222" y="5428281"/>
              <a:ext cx="253647" cy="2353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M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1219308" y="5428281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B</a:t>
              </a:r>
            </a:p>
          </p:txBody>
        </p:sp>
      </p:grpSp>
      <p:sp>
        <p:nvSpPr>
          <p:cNvPr id="105" name="TextBox 104"/>
          <p:cNvSpPr txBox="1"/>
          <p:nvPr/>
        </p:nvSpPr>
        <p:spPr>
          <a:xfrm>
            <a:off x="1979712" y="5301208"/>
            <a:ext cx="65527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Draw a Venn diagram and use it to find:</a:t>
            </a:r>
          </a:p>
          <a:p>
            <a:endParaRPr lang="en-GB" sz="1200" dirty="0"/>
          </a:p>
          <a:p>
            <a:r>
              <a:rPr lang="en-GB" sz="1200" dirty="0"/>
              <a:t>P(M) = 		P (M’) =		P(B) =		P(B’) =</a:t>
            </a:r>
          </a:p>
          <a:p>
            <a:endParaRPr lang="en-GB" sz="1200" dirty="0"/>
          </a:p>
          <a:p>
            <a:r>
              <a:rPr lang="en-GB" sz="1200" dirty="0"/>
              <a:t>P(M ∩ B) =		        P(M U B) =		P(M ∩ B’) =</a:t>
            </a:r>
          </a:p>
          <a:p>
            <a:endParaRPr lang="en-GB" sz="1200" dirty="0"/>
          </a:p>
          <a:p>
            <a:r>
              <a:rPr lang="en-GB" sz="1200" dirty="0"/>
              <a:t>Extension: make up some more of your own.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473364" y="2852936"/>
            <a:ext cx="12747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 U B</a:t>
            </a:r>
          </a:p>
          <a:p>
            <a:r>
              <a:rPr lang="en-GB" i="1" dirty="0"/>
              <a:t>Union, or</a:t>
            </a:r>
          </a:p>
          <a:p>
            <a:r>
              <a:rPr lang="en-GB" i="1" dirty="0"/>
              <a:t>(at least 1)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475656" y="3861048"/>
            <a:ext cx="15824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 ∩ B</a:t>
            </a:r>
          </a:p>
          <a:p>
            <a:r>
              <a:rPr lang="en-GB" i="1" dirty="0"/>
              <a:t>Intersect, and</a:t>
            </a:r>
          </a:p>
          <a:p>
            <a:r>
              <a:rPr lang="en-GB" i="1" dirty="0"/>
              <a:t>(both)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461259" y="1844824"/>
            <a:ext cx="19586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A’</a:t>
            </a:r>
          </a:p>
          <a:p>
            <a:r>
              <a:rPr lang="en-GB" i="1" dirty="0"/>
              <a:t>Complement of A</a:t>
            </a:r>
          </a:p>
          <a:p>
            <a:r>
              <a:rPr lang="en-GB" i="1" dirty="0"/>
              <a:t>Not A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300192" y="3861048"/>
            <a:ext cx="1368152" cy="93610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Oval 103"/>
          <p:cNvSpPr/>
          <p:nvPr/>
        </p:nvSpPr>
        <p:spPr>
          <a:xfrm>
            <a:off x="6444208" y="4005064"/>
            <a:ext cx="641810" cy="64807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9" name="TextBox 108"/>
          <p:cNvSpPr txBox="1"/>
          <p:nvPr/>
        </p:nvSpPr>
        <p:spPr>
          <a:xfrm>
            <a:off x="6355340" y="3861048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308304" y="3861048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111" name="Oval 110"/>
          <p:cNvSpPr/>
          <p:nvPr/>
        </p:nvSpPr>
        <p:spPr>
          <a:xfrm>
            <a:off x="6876256" y="4005064"/>
            <a:ext cx="641810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Oval 111"/>
          <p:cNvSpPr/>
          <p:nvPr/>
        </p:nvSpPr>
        <p:spPr>
          <a:xfrm>
            <a:off x="6444208" y="4005064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Oval 118"/>
          <p:cNvSpPr/>
          <p:nvPr/>
        </p:nvSpPr>
        <p:spPr>
          <a:xfrm>
            <a:off x="3582308" y="980728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Oval 119"/>
          <p:cNvSpPr/>
          <p:nvPr/>
        </p:nvSpPr>
        <p:spPr>
          <a:xfrm>
            <a:off x="4014356" y="980728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Rectangle 120"/>
          <p:cNvSpPr/>
          <p:nvPr/>
        </p:nvSpPr>
        <p:spPr>
          <a:xfrm>
            <a:off x="3419872" y="836712"/>
            <a:ext cx="1368152" cy="93610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2" name="TextBox 121"/>
          <p:cNvSpPr txBox="1"/>
          <p:nvPr/>
        </p:nvSpPr>
        <p:spPr>
          <a:xfrm>
            <a:off x="3493440" y="836712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446404" y="836712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124" name="Oval 123"/>
          <p:cNvSpPr/>
          <p:nvPr/>
        </p:nvSpPr>
        <p:spPr>
          <a:xfrm>
            <a:off x="3582308" y="1988840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5" name="Oval 124"/>
          <p:cNvSpPr/>
          <p:nvPr/>
        </p:nvSpPr>
        <p:spPr>
          <a:xfrm>
            <a:off x="4014356" y="1988840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6" name="Rectangle 125"/>
          <p:cNvSpPr/>
          <p:nvPr/>
        </p:nvSpPr>
        <p:spPr>
          <a:xfrm>
            <a:off x="3438292" y="1844824"/>
            <a:ext cx="1368152" cy="93610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7" name="TextBox 126"/>
          <p:cNvSpPr txBox="1"/>
          <p:nvPr/>
        </p:nvSpPr>
        <p:spPr>
          <a:xfrm>
            <a:off x="3493440" y="1844824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446404" y="1844824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129" name="Oval 128"/>
          <p:cNvSpPr/>
          <p:nvPr/>
        </p:nvSpPr>
        <p:spPr>
          <a:xfrm>
            <a:off x="3582308" y="2996952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0" name="Oval 129"/>
          <p:cNvSpPr/>
          <p:nvPr/>
        </p:nvSpPr>
        <p:spPr>
          <a:xfrm>
            <a:off x="4014356" y="2996952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1" name="Rectangle 130"/>
          <p:cNvSpPr/>
          <p:nvPr/>
        </p:nvSpPr>
        <p:spPr>
          <a:xfrm>
            <a:off x="3438292" y="2852936"/>
            <a:ext cx="1368152" cy="93610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2" name="TextBox 131"/>
          <p:cNvSpPr txBox="1"/>
          <p:nvPr/>
        </p:nvSpPr>
        <p:spPr>
          <a:xfrm>
            <a:off x="3493440" y="2852936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446404" y="2852936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134" name="Oval 133"/>
          <p:cNvSpPr/>
          <p:nvPr/>
        </p:nvSpPr>
        <p:spPr>
          <a:xfrm>
            <a:off x="3582308" y="4005064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5" name="Oval 134"/>
          <p:cNvSpPr/>
          <p:nvPr/>
        </p:nvSpPr>
        <p:spPr>
          <a:xfrm>
            <a:off x="4014356" y="4005064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6" name="Rectangle 135"/>
          <p:cNvSpPr/>
          <p:nvPr/>
        </p:nvSpPr>
        <p:spPr>
          <a:xfrm>
            <a:off x="3438292" y="3861048"/>
            <a:ext cx="1368152" cy="93610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7" name="TextBox 136"/>
          <p:cNvSpPr txBox="1"/>
          <p:nvPr/>
        </p:nvSpPr>
        <p:spPr>
          <a:xfrm>
            <a:off x="3493440" y="3861048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446404" y="3861048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19872" y="1844824"/>
            <a:ext cx="1368152" cy="93610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Rectangle 54"/>
          <p:cNvSpPr/>
          <p:nvPr/>
        </p:nvSpPr>
        <p:spPr>
          <a:xfrm>
            <a:off x="3419872" y="2852936"/>
            <a:ext cx="1368152" cy="93610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Rectangle 59"/>
          <p:cNvSpPr/>
          <p:nvPr/>
        </p:nvSpPr>
        <p:spPr>
          <a:xfrm>
            <a:off x="3419872" y="3861048"/>
            <a:ext cx="1368152" cy="93610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Rectangle 81"/>
          <p:cNvSpPr/>
          <p:nvPr/>
        </p:nvSpPr>
        <p:spPr>
          <a:xfrm>
            <a:off x="6300192" y="3861048"/>
            <a:ext cx="1368152" cy="93610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7" name="Rectangle 76"/>
          <p:cNvSpPr/>
          <p:nvPr/>
        </p:nvSpPr>
        <p:spPr>
          <a:xfrm>
            <a:off x="6300192" y="2852936"/>
            <a:ext cx="1368152" cy="93610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Rectangle 71"/>
          <p:cNvSpPr/>
          <p:nvPr/>
        </p:nvSpPr>
        <p:spPr>
          <a:xfrm>
            <a:off x="6300192" y="1844824"/>
            <a:ext cx="1368152" cy="93610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/>
          <p:cNvSpPr/>
          <p:nvPr/>
        </p:nvSpPr>
        <p:spPr>
          <a:xfrm>
            <a:off x="6300192" y="836712"/>
            <a:ext cx="1368152" cy="93610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/>
          <p:cNvSpPr txBox="1"/>
          <p:nvPr/>
        </p:nvSpPr>
        <p:spPr>
          <a:xfrm>
            <a:off x="6355340" y="836712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08304" y="836712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37" name="Oval 36"/>
          <p:cNvSpPr/>
          <p:nvPr/>
        </p:nvSpPr>
        <p:spPr>
          <a:xfrm>
            <a:off x="3995936" y="980728"/>
            <a:ext cx="641810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/>
          <p:cNvSpPr/>
          <p:nvPr/>
        </p:nvSpPr>
        <p:spPr>
          <a:xfrm>
            <a:off x="3419872" y="836712"/>
            <a:ext cx="1368152" cy="93610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/>
          <p:cNvSpPr txBox="1"/>
          <p:nvPr/>
        </p:nvSpPr>
        <p:spPr>
          <a:xfrm>
            <a:off x="3491880" y="836712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27984" y="836712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46" name="Oval 45"/>
          <p:cNvSpPr/>
          <p:nvPr/>
        </p:nvSpPr>
        <p:spPr>
          <a:xfrm>
            <a:off x="3563888" y="1988840"/>
            <a:ext cx="641810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Oval 46"/>
          <p:cNvSpPr/>
          <p:nvPr/>
        </p:nvSpPr>
        <p:spPr>
          <a:xfrm>
            <a:off x="3995936" y="1988840"/>
            <a:ext cx="641810" cy="64807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TextBox 48"/>
          <p:cNvSpPr txBox="1"/>
          <p:nvPr/>
        </p:nvSpPr>
        <p:spPr>
          <a:xfrm>
            <a:off x="3491880" y="1844824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27984" y="1844824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31" name="Oval 30"/>
          <p:cNvSpPr/>
          <p:nvPr/>
        </p:nvSpPr>
        <p:spPr>
          <a:xfrm>
            <a:off x="6876256" y="980728"/>
            <a:ext cx="641810" cy="64807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Oval 31"/>
          <p:cNvSpPr/>
          <p:nvPr/>
        </p:nvSpPr>
        <p:spPr>
          <a:xfrm>
            <a:off x="6444208" y="980728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Oval 53"/>
          <p:cNvSpPr/>
          <p:nvPr/>
        </p:nvSpPr>
        <p:spPr>
          <a:xfrm>
            <a:off x="3995936" y="2996952"/>
            <a:ext cx="641810" cy="64807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TextBox 55"/>
          <p:cNvSpPr txBox="1"/>
          <p:nvPr/>
        </p:nvSpPr>
        <p:spPr>
          <a:xfrm>
            <a:off x="3475020" y="2852936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27984" y="2852936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58" name="Oval 57"/>
          <p:cNvSpPr/>
          <p:nvPr/>
        </p:nvSpPr>
        <p:spPr>
          <a:xfrm>
            <a:off x="3563888" y="4005064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Oval 58"/>
          <p:cNvSpPr/>
          <p:nvPr/>
        </p:nvSpPr>
        <p:spPr>
          <a:xfrm>
            <a:off x="3995936" y="4005064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TextBox 60"/>
          <p:cNvSpPr txBox="1"/>
          <p:nvPr/>
        </p:nvSpPr>
        <p:spPr>
          <a:xfrm>
            <a:off x="3475020" y="3861048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27984" y="3861048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47864" y="404664"/>
            <a:ext cx="18998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1. Shade the diagrams to</a:t>
            </a:r>
          </a:p>
          <a:p>
            <a:r>
              <a:rPr lang="en-GB" sz="1200" dirty="0"/>
              <a:t>match the descriptions</a:t>
            </a:r>
          </a:p>
        </p:txBody>
      </p:sp>
      <p:sp>
        <p:nvSpPr>
          <p:cNvPr id="70" name="Oval 69"/>
          <p:cNvSpPr/>
          <p:nvPr/>
        </p:nvSpPr>
        <p:spPr>
          <a:xfrm>
            <a:off x="6444208" y="1988840"/>
            <a:ext cx="641810" cy="64807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 70"/>
          <p:cNvSpPr/>
          <p:nvPr/>
        </p:nvSpPr>
        <p:spPr>
          <a:xfrm>
            <a:off x="6876256" y="1988840"/>
            <a:ext cx="641810" cy="64807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TextBox 72"/>
          <p:cNvSpPr txBox="1"/>
          <p:nvPr/>
        </p:nvSpPr>
        <p:spPr>
          <a:xfrm>
            <a:off x="6355340" y="1844824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08304" y="1844824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55340" y="2852936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08304" y="2852936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80" name="Oval 79"/>
          <p:cNvSpPr/>
          <p:nvPr/>
        </p:nvSpPr>
        <p:spPr>
          <a:xfrm>
            <a:off x="6444208" y="4005064"/>
            <a:ext cx="641810" cy="64807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TextBox 82"/>
          <p:cNvSpPr txBox="1"/>
          <p:nvPr/>
        </p:nvSpPr>
        <p:spPr>
          <a:xfrm>
            <a:off x="6355340" y="3861048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08304" y="3861048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95" name="Oval 94"/>
          <p:cNvSpPr/>
          <p:nvPr/>
        </p:nvSpPr>
        <p:spPr>
          <a:xfrm>
            <a:off x="6444208" y="1988840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Freeform 95"/>
          <p:cNvSpPr/>
          <p:nvPr/>
        </p:nvSpPr>
        <p:spPr>
          <a:xfrm>
            <a:off x="6876256" y="3068960"/>
            <a:ext cx="211931" cy="478631"/>
          </a:xfrm>
          <a:custGeom>
            <a:avLst/>
            <a:gdLst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02394 w 209550"/>
              <a:gd name="connsiteY4" fmla="*/ 0 h 478631"/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86828 w 209550"/>
              <a:gd name="connsiteY4" fmla="*/ 93340 h 478631"/>
              <a:gd name="connsiteX5" fmla="*/ 102394 w 209550"/>
              <a:gd name="connsiteY5" fmla="*/ 0 h 478631"/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86828 w 209550"/>
              <a:gd name="connsiteY4" fmla="*/ 93340 h 478631"/>
              <a:gd name="connsiteX5" fmla="*/ 102394 w 209550"/>
              <a:gd name="connsiteY5" fmla="*/ 0 h 478631"/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86828 w 209550"/>
              <a:gd name="connsiteY4" fmla="*/ 93340 h 478631"/>
              <a:gd name="connsiteX5" fmla="*/ 102394 w 209550"/>
              <a:gd name="connsiteY5" fmla="*/ 0 h 478631"/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84447 w 209550"/>
              <a:gd name="connsiteY4" fmla="*/ 86196 h 478631"/>
              <a:gd name="connsiteX5" fmla="*/ 102394 w 209550"/>
              <a:gd name="connsiteY5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104775 w 209550"/>
              <a:gd name="connsiteY3" fmla="*/ 478631 h 478631"/>
              <a:gd name="connsiteX4" fmla="*/ 209550 w 209550"/>
              <a:gd name="connsiteY4" fmla="*/ 219075 h 478631"/>
              <a:gd name="connsiteX5" fmla="*/ 184447 w 209550"/>
              <a:gd name="connsiteY5" fmla="*/ 86196 h 478631"/>
              <a:gd name="connsiteX6" fmla="*/ 102394 w 209550"/>
              <a:gd name="connsiteY6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104775 w 209550"/>
              <a:gd name="connsiteY3" fmla="*/ 478631 h 478631"/>
              <a:gd name="connsiteX4" fmla="*/ 209550 w 209550"/>
              <a:gd name="connsiteY4" fmla="*/ 219075 h 478631"/>
              <a:gd name="connsiteX5" fmla="*/ 184447 w 209550"/>
              <a:gd name="connsiteY5" fmla="*/ 86196 h 478631"/>
              <a:gd name="connsiteX6" fmla="*/ 102394 w 209550"/>
              <a:gd name="connsiteY6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104775 w 209550"/>
              <a:gd name="connsiteY3" fmla="*/ 478631 h 478631"/>
              <a:gd name="connsiteX4" fmla="*/ 209550 w 209550"/>
              <a:gd name="connsiteY4" fmla="*/ 219075 h 478631"/>
              <a:gd name="connsiteX5" fmla="*/ 184447 w 209550"/>
              <a:gd name="connsiteY5" fmla="*/ 86196 h 478631"/>
              <a:gd name="connsiteX6" fmla="*/ 102394 w 209550"/>
              <a:gd name="connsiteY6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26194 w 209550"/>
              <a:gd name="connsiteY3" fmla="*/ 378618 h 478631"/>
              <a:gd name="connsiteX4" fmla="*/ 104775 w 209550"/>
              <a:gd name="connsiteY4" fmla="*/ 478631 h 478631"/>
              <a:gd name="connsiteX5" fmla="*/ 209550 w 209550"/>
              <a:gd name="connsiteY5" fmla="*/ 219075 h 478631"/>
              <a:gd name="connsiteX6" fmla="*/ 184447 w 209550"/>
              <a:gd name="connsiteY6" fmla="*/ 86196 h 478631"/>
              <a:gd name="connsiteX7" fmla="*/ 102394 w 209550"/>
              <a:gd name="connsiteY7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26194 w 209550"/>
              <a:gd name="connsiteY3" fmla="*/ 378618 h 478631"/>
              <a:gd name="connsiteX4" fmla="*/ 104775 w 209550"/>
              <a:gd name="connsiteY4" fmla="*/ 478631 h 478631"/>
              <a:gd name="connsiteX5" fmla="*/ 209550 w 209550"/>
              <a:gd name="connsiteY5" fmla="*/ 219075 h 478631"/>
              <a:gd name="connsiteX6" fmla="*/ 184447 w 209550"/>
              <a:gd name="connsiteY6" fmla="*/ 86196 h 478631"/>
              <a:gd name="connsiteX7" fmla="*/ 102394 w 209550"/>
              <a:gd name="connsiteY7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26194 w 209550"/>
              <a:gd name="connsiteY3" fmla="*/ 378618 h 478631"/>
              <a:gd name="connsiteX4" fmla="*/ 104775 w 209550"/>
              <a:gd name="connsiteY4" fmla="*/ 478631 h 478631"/>
              <a:gd name="connsiteX5" fmla="*/ 209550 w 209550"/>
              <a:gd name="connsiteY5" fmla="*/ 219075 h 478631"/>
              <a:gd name="connsiteX6" fmla="*/ 184447 w 209550"/>
              <a:gd name="connsiteY6" fmla="*/ 86196 h 478631"/>
              <a:gd name="connsiteX7" fmla="*/ 102394 w 209550"/>
              <a:gd name="connsiteY7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26194 w 209550"/>
              <a:gd name="connsiteY3" fmla="*/ 378618 h 478631"/>
              <a:gd name="connsiteX4" fmla="*/ 104775 w 209550"/>
              <a:gd name="connsiteY4" fmla="*/ 478631 h 478631"/>
              <a:gd name="connsiteX5" fmla="*/ 195263 w 209550"/>
              <a:gd name="connsiteY5" fmla="*/ 361950 h 478631"/>
              <a:gd name="connsiteX6" fmla="*/ 209550 w 209550"/>
              <a:gd name="connsiteY6" fmla="*/ 219075 h 478631"/>
              <a:gd name="connsiteX7" fmla="*/ 184447 w 209550"/>
              <a:gd name="connsiteY7" fmla="*/ 86196 h 478631"/>
              <a:gd name="connsiteX8" fmla="*/ 102394 w 209550"/>
              <a:gd name="connsiteY8" fmla="*/ 0 h 478631"/>
              <a:gd name="connsiteX0" fmla="*/ 102394 w 214313"/>
              <a:gd name="connsiteY0" fmla="*/ 0 h 478631"/>
              <a:gd name="connsiteX1" fmla="*/ 19050 w 214313"/>
              <a:gd name="connsiteY1" fmla="*/ 116681 h 478631"/>
              <a:gd name="connsiteX2" fmla="*/ 0 w 214313"/>
              <a:gd name="connsiteY2" fmla="*/ 238125 h 478631"/>
              <a:gd name="connsiteX3" fmla="*/ 26194 w 214313"/>
              <a:gd name="connsiteY3" fmla="*/ 378618 h 478631"/>
              <a:gd name="connsiteX4" fmla="*/ 104775 w 214313"/>
              <a:gd name="connsiteY4" fmla="*/ 478631 h 478631"/>
              <a:gd name="connsiteX5" fmla="*/ 195263 w 214313"/>
              <a:gd name="connsiteY5" fmla="*/ 361950 h 478631"/>
              <a:gd name="connsiteX6" fmla="*/ 209550 w 214313"/>
              <a:gd name="connsiteY6" fmla="*/ 219075 h 478631"/>
              <a:gd name="connsiteX7" fmla="*/ 184447 w 214313"/>
              <a:gd name="connsiteY7" fmla="*/ 86196 h 478631"/>
              <a:gd name="connsiteX8" fmla="*/ 102394 w 214313"/>
              <a:gd name="connsiteY8" fmla="*/ 0 h 478631"/>
              <a:gd name="connsiteX0" fmla="*/ 102394 w 214313"/>
              <a:gd name="connsiteY0" fmla="*/ 0 h 478631"/>
              <a:gd name="connsiteX1" fmla="*/ 19050 w 214313"/>
              <a:gd name="connsiteY1" fmla="*/ 116681 h 478631"/>
              <a:gd name="connsiteX2" fmla="*/ 0 w 214313"/>
              <a:gd name="connsiteY2" fmla="*/ 238125 h 478631"/>
              <a:gd name="connsiteX3" fmla="*/ 26194 w 214313"/>
              <a:gd name="connsiteY3" fmla="*/ 378618 h 478631"/>
              <a:gd name="connsiteX4" fmla="*/ 104775 w 214313"/>
              <a:gd name="connsiteY4" fmla="*/ 478631 h 478631"/>
              <a:gd name="connsiteX5" fmla="*/ 195263 w 214313"/>
              <a:gd name="connsiteY5" fmla="*/ 361950 h 478631"/>
              <a:gd name="connsiteX6" fmla="*/ 209550 w 214313"/>
              <a:gd name="connsiteY6" fmla="*/ 219075 h 478631"/>
              <a:gd name="connsiteX7" fmla="*/ 184447 w 214313"/>
              <a:gd name="connsiteY7" fmla="*/ 86196 h 478631"/>
              <a:gd name="connsiteX8" fmla="*/ 102394 w 214313"/>
              <a:gd name="connsiteY8" fmla="*/ 0 h 478631"/>
              <a:gd name="connsiteX0" fmla="*/ 102394 w 211931"/>
              <a:gd name="connsiteY0" fmla="*/ 0 h 478631"/>
              <a:gd name="connsiteX1" fmla="*/ 19050 w 211931"/>
              <a:gd name="connsiteY1" fmla="*/ 116681 h 478631"/>
              <a:gd name="connsiteX2" fmla="*/ 0 w 211931"/>
              <a:gd name="connsiteY2" fmla="*/ 238125 h 478631"/>
              <a:gd name="connsiteX3" fmla="*/ 26194 w 211931"/>
              <a:gd name="connsiteY3" fmla="*/ 378618 h 478631"/>
              <a:gd name="connsiteX4" fmla="*/ 104775 w 211931"/>
              <a:gd name="connsiteY4" fmla="*/ 478631 h 478631"/>
              <a:gd name="connsiteX5" fmla="*/ 192881 w 211931"/>
              <a:gd name="connsiteY5" fmla="*/ 359568 h 478631"/>
              <a:gd name="connsiteX6" fmla="*/ 209550 w 211931"/>
              <a:gd name="connsiteY6" fmla="*/ 219075 h 478631"/>
              <a:gd name="connsiteX7" fmla="*/ 184447 w 211931"/>
              <a:gd name="connsiteY7" fmla="*/ 86196 h 478631"/>
              <a:gd name="connsiteX8" fmla="*/ 102394 w 211931"/>
              <a:gd name="connsiteY8" fmla="*/ 0 h 478631"/>
              <a:gd name="connsiteX0" fmla="*/ 102394 w 211931"/>
              <a:gd name="connsiteY0" fmla="*/ 0 h 478631"/>
              <a:gd name="connsiteX1" fmla="*/ 19050 w 211931"/>
              <a:gd name="connsiteY1" fmla="*/ 116681 h 478631"/>
              <a:gd name="connsiteX2" fmla="*/ 0 w 211931"/>
              <a:gd name="connsiteY2" fmla="*/ 238125 h 478631"/>
              <a:gd name="connsiteX3" fmla="*/ 26194 w 211931"/>
              <a:gd name="connsiteY3" fmla="*/ 378618 h 478631"/>
              <a:gd name="connsiteX4" fmla="*/ 104775 w 211931"/>
              <a:gd name="connsiteY4" fmla="*/ 478631 h 478631"/>
              <a:gd name="connsiteX5" fmla="*/ 192881 w 211931"/>
              <a:gd name="connsiteY5" fmla="*/ 359568 h 478631"/>
              <a:gd name="connsiteX6" fmla="*/ 209550 w 211931"/>
              <a:gd name="connsiteY6" fmla="*/ 219075 h 478631"/>
              <a:gd name="connsiteX7" fmla="*/ 182586 w 211931"/>
              <a:gd name="connsiteY7" fmla="*/ 94382 h 478631"/>
              <a:gd name="connsiteX8" fmla="*/ 102394 w 211931"/>
              <a:gd name="connsiteY8" fmla="*/ 0 h 478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931" h="478631">
                <a:moveTo>
                  <a:pt x="102394" y="0"/>
                </a:moveTo>
                <a:cubicBezTo>
                  <a:pt x="74613" y="38894"/>
                  <a:pt x="58737" y="51593"/>
                  <a:pt x="19050" y="116681"/>
                </a:cubicBezTo>
                <a:cubicBezTo>
                  <a:pt x="3175" y="178594"/>
                  <a:pt x="6350" y="197644"/>
                  <a:pt x="0" y="238125"/>
                </a:cubicBezTo>
                <a:cubicBezTo>
                  <a:pt x="8731" y="284956"/>
                  <a:pt x="7938" y="303212"/>
                  <a:pt x="26194" y="378618"/>
                </a:cubicBezTo>
                <a:cubicBezTo>
                  <a:pt x="61913" y="426244"/>
                  <a:pt x="78581" y="445293"/>
                  <a:pt x="104775" y="478631"/>
                </a:cubicBezTo>
                <a:cubicBezTo>
                  <a:pt x="134938" y="439737"/>
                  <a:pt x="160336" y="412750"/>
                  <a:pt x="192881" y="359568"/>
                </a:cubicBezTo>
                <a:cubicBezTo>
                  <a:pt x="211931" y="295274"/>
                  <a:pt x="204788" y="266700"/>
                  <a:pt x="209550" y="219075"/>
                </a:cubicBezTo>
                <a:cubicBezTo>
                  <a:pt x="201976" y="177163"/>
                  <a:pt x="199685" y="152963"/>
                  <a:pt x="182586" y="94382"/>
                </a:cubicBezTo>
                <a:cubicBezTo>
                  <a:pt x="144916" y="39456"/>
                  <a:pt x="130539" y="31113"/>
                  <a:pt x="102394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Oval 74"/>
          <p:cNvSpPr/>
          <p:nvPr/>
        </p:nvSpPr>
        <p:spPr>
          <a:xfrm>
            <a:off x="6444208" y="2996952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Oval 75"/>
          <p:cNvSpPr/>
          <p:nvPr/>
        </p:nvSpPr>
        <p:spPr>
          <a:xfrm>
            <a:off x="6876256" y="2996952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TextBox 86"/>
          <p:cNvSpPr txBox="1"/>
          <p:nvPr/>
        </p:nvSpPr>
        <p:spPr>
          <a:xfrm>
            <a:off x="7740352" y="1115452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B’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740352" y="1988840"/>
            <a:ext cx="12411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A’ ∩ B’ </a:t>
            </a:r>
          </a:p>
          <a:p>
            <a:r>
              <a:rPr lang="en-GB" dirty="0"/>
              <a:t>or (A U B)’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740352" y="4149080"/>
            <a:ext cx="812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A’ U B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740352" y="2998693"/>
            <a:ext cx="12491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A’ U B’</a:t>
            </a:r>
          </a:p>
          <a:p>
            <a:r>
              <a:rPr lang="en-GB" dirty="0"/>
              <a:t>or (A ∩ B)’</a:t>
            </a:r>
          </a:p>
        </p:txBody>
      </p:sp>
      <p:sp>
        <p:nvSpPr>
          <p:cNvPr id="81" name="Oval 80"/>
          <p:cNvSpPr/>
          <p:nvPr/>
        </p:nvSpPr>
        <p:spPr>
          <a:xfrm>
            <a:off x="6876256" y="4005064"/>
            <a:ext cx="641810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Oval 100"/>
          <p:cNvSpPr/>
          <p:nvPr/>
        </p:nvSpPr>
        <p:spPr>
          <a:xfrm>
            <a:off x="6444208" y="4005064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Oval 52"/>
          <p:cNvSpPr/>
          <p:nvPr/>
        </p:nvSpPr>
        <p:spPr>
          <a:xfrm>
            <a:off x="3563888" y="2996952"/>
            <a:ext cx="641810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Oval 102"/>
          <p:cNvSpPr/>
          <p:nvPr/>
        </p:nvSpPr>
        <p:spPr>
          <a:xfrm>
            <a:off x="3995936" y="2996952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" name="Oval 104"/>
          <p:cNvSpPr/>
          <p:nvPr/>
        </p:nvSpPr>
        <p:spPr>
          <a:xfrm>
            <a:off x="3563888" y="1988840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/>
          <p:cNvSpPr/>
          <p:nvPr/>
        </p:nvSpPr>
        <p:spPr>
          <a:xfrm>
            <a:off x="3563888" y="980728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6" name="TextBox 105"/>
          <p:cNvSpPr txBox="1"/>
          <p:nvPr/>
        </p:nvSpPr>
        <p:spPr>
          <a:xfrm>
            <a:off x="107504" y="4869160"/>
            <a:ext cx="8280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Question</a:t>
            </a:r>
            <a:endParaRPr lang="en-GB" sz="1200" dirty="0"/>
          </a:p>
          <a:p>
            <a:r>
              <a:rPr lang="en-GB" sz="1200" dirty="0"/>
              <a:t>In a group of 100 students, 50 study Maths, 29 study Biology, and 13 study both.</a:t>
            </a:r>
          </a:p>
        </p:txBody>
      </p:sp>
      <p:grpSp>
        <p:nvGrpSpPr>
          <p:cNvPr id="2" name="Group 106"/>
          <p:cNvGrpSpPr/>
          <p:nvPr/>
        </p:nvGrpSpPr>
        <p:grpSpPr>
          <a:xfrm>
            <a:off x="179512" y="5373216"/>
            <a:ext cx="1800200" cy="1224136"/>
            <a:chOff x="179512" y="5373216"/>
            <a:chExt cx="1368152" cy="936104"/>
          </a:xfrm>
        </p:grpSpPr>
        <p:sp>
          <p:nvSpPr>
            <p:cNvPr id="108" name="Oval 107"/>
            <p:cNvSpPr/>
            <p:nvPr/>
          </p:nvSpPr>
          <p:spPr>
            <a:xfrm>
              <a:off x="358593" y="5517232"/>
              <a:ext cx="641810" cy="648072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9" name="Oval 108"/>
            <p:cNvSpPr/>
            <p:nvPr/>
          </p:nvSpPr>
          <p:spPr>
            <a:xfrm>
              <a:off x="726773" y="5517232"/>
              <a:ext cx="641810" cy="648072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179512" y="5373216"/>
              <a:ext cx="1368152" cy="936104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254222" y="5428281"/>
              <a:ext cx="253647" cy="2353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M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1219308" y="5428281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B</a:t>
              </a:r>
            </a:p>
          </p:txBody>
        </p:sp>
      </p:grpSp>
      <p:sp>
        <p:nvSpPr>
          <p:cNvPr id="113" name="TextBox 112"/>
          <p:cNvSpPr txBox="1"/>
          <p:nvPr/>
        </p:nvSpPr>
        <p:spPr>
          <a:xfrm>
            <a:off x="1979712" y="5301208"/>
            <a:ext cx="71642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Draw a Venn diagram and use it to find:</a:t>
            </a:r>
          </a:p>
          <a:p>
            <a:endParaRPr lang="en-GB" sz="1200" dirty="0"/>
          </a:p>
          <a:p>
            <a:r>
              <a:rPr lang="en-GB" sz="1200" dirty="0"/>
              <a:t>P(M) = 50/100 = 0.5	P (M’) = 50/100 = 0.5	P(B) = 29/100 = 0.29	P(B’) = 71/100 = 0.71</a:t>
            </a:r>
          </a:p>
          <a:p>
            <a:endParaRPr lang="en-GB" sz="1200" dirty="0"/>
          </a:p>
          <a:p>
            <a:r>
              <a:rPr lang="en-GB" sz="1200" dirty="0"/>
              <a:t>P(M ∩ B) = 13/100 = 0.13	      P(M U B) = 66/100 = 0.66	P(M ∩ B’) = 37/100 = 0.37</a:t>
            </a:r>
          </a:p>
          <a:p>
            <a:endParaRPr lang="en-GB" sz="1200" dirty="0"/>
          </a:p>
          <a:p>
            <a:r>
              <a:rPr lang="en-GB" sz="1200" dirty="0"/>
              <a:t>Extension: make up some more of your own.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67544" y="5805264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rgbClr val="0070C0"/>
                </a:solidFill>
              </a:rPr>
              <a:t>37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9592" y="5805264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rgbClr val="0070C0"/>
                </a:solidFill>
              </a:rPr>
              <a:t>13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331640" y="5805264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rgbClr val="0070C0"/>
                </a:solidFill>
              </a:rPr>
              <a:t>16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619672" y="6237312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rgbClr val="0070C0"/>
                </a:solidFill>
              </a:rPr>
              <a:t>34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7504" y="0"/>
            <a:ext cx="6592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Set notation with Venn diagrams – answers </a:t>
            </a:r>
          </a:p>
        </p:txBody>
      </p:sp>
      <p:sp>
        <p:nvSpPr>
          <p:cNvPr id="139" name="Freeform 138"/>
          <p:cNvSpPr/>
          <p:nvPr/>
        </p:nvSpPr>
        <p:spPr>
          <a:xfrm>
            <a:off x="685800" y="4090591"/>
            <a:ext cx="211931" cy="478631"/>
          </a:xfrm>
          <a:custGeom>
            <a:avLst/>
            <a:gdLst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02394 w 209550"/>
              <a:gd name="connsiteY4" fmla="*/ 0 h 478631"/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86828 w 209550"/>
              <a:gd name="connsiteY4" fmla="*/ 93340 h 478631"/>
              <a:gd name="connsiteX5" fmla="*/ 102394 w 209550"/>
              <a:gd name="connsiteY5" fmla="*/ 0 h 478631"/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86828 w 209550"/>
              <a:gd name="connsiteY4" fmla="*/ 93340 h 478631"/>
              <a:gd name="connsiteX5" fmla="*/ 102394 w 209550"/>
              <a:gd name="connsiteY5" fmla="*/ 0 h 478631"/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86828 w 209550"/>
              <a:gd name="connsiteY4" fmla="*/ 93340 h 478631"/>
              <a:gd name="connsiteX5" fmla="*/ 102394 w 209550"/>
              <a:gd name="connsiteY5" fmla="*/ 0 h 478631"/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84447 w 209550"/>
              <a:gd name="connsiteY4" fmla="*/ 86196 h 478631"/>
              <a:gd name="connsiteX5" fmla="*/ 102394 w 209550"/>
              <a:gd name="connsiteY5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104775 w 209550"/>
              <a:gd name="connsiteY3" fmla="*/ 478631 h 478631"/>
              <a:gd name="connsiteX4" fmla="*/ 209550 w 209550"/>
              <a:gd name="connsiteY4" fmla="*/ 219075 h 478631"/>
              <a:gd name="connsiteX5" fmla="*/ 184447 w 209550"/>
              <a:gd name="connsiteY5" fmla="*/ 86196 h 478631"/>
              <a:gd name="connsiteX6" fmla="*/ 102394 w 209550"/>
              <a:gd name="connsiteY6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104775 w 209550"/>
              <a:gd name="connsiteY3" fmla="*/ 478631 h 478631"/>
              <a:gd name="connsiteX4" fmla="*/ 209550 w 209550"/>
              <a:gd name="connsiteY4" fmla="*/ 219075 h 478631"/>
              <a:gd name="connsiteX5" fmla="*/ 184447 w 209550"/>
              <a:gd name="connsiteY5" fmla="*/ 86196 h 478631"/>
              <a:gd name="connsiteX6" fmla="*/ 102394 w 209550"/>
              <a:gd name="connsiteY6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104775 w 209550"/>
              <a:gd name="connsiteY3" fmla="*/ 478631 h 478631"/>
              <a:gd name="connsiteX4" fmla="*/ 209550 w 209550"/>
              <a:gd name="connsiteY4" fmla="*/ 219075 h 478631"/>
              <a:gd name="connsiteX5" fmla="*/ 184447 w 209550"/>
              <a:gd name="connsiteY5" fmla="*/ 86196 h 478631"/>
              <a:gd name="connsiteX6" fmla="*/ 102394 w 209550"/>
              <a:gd name="connsiteY6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26194 w 209550"/>
              <a:gd name="connsiteY3" fmla="*/ 378618 h 478631"/>
              <a:gd name="connsiteX4" fmla="*/ 104775 w 209550"/>
              <a:gd name="connsiteY4" fmla="*/ 478631 h 478631"/>
              <a:gd name="connsiteX5" fmla="*/ 209550 w 209550"/>
              <a:gd name="connsiteY5" fmla="*/ 219075 h 478631"/>
              <a:gd name="connsiteX6" fmla="*/ 184447 w 209550"/>
              <a:gd name="connsiteY6" fmla="*/ 86196 h 478631"/>
              <a:gd name="connsiteX7" fmla="*/ 102394 w 209550"/>
              <a:gd name="connsiteY7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26194 w 209550"/>
              <a:gd name="connsiteY3" fmla="*/ 378618 h 478631"/>
              <a:gd name="connsiteX4" fmla="*/ 104775 w 209550"/>
              <a:gd name="connsiteY4" fmla="*/ 478631 h 478631"/>
              <a:gd name="connsiteX5" fmla="*/ 209550 w 209550"/>
              <a:gd name="connsiteY5" fmla="*/ 219075 h 478631"/>
              <a:gd name="connsiteX6" fmla="*/ 184447 w 209550"/>
              <a:gd name="connsiteY6" fmla="*/ 86196 h 478631"/>
              <a:gd name="connsiteX7" fmla="*/ 102394 w 209550"/>
              <a:gd name="connsiteY7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26194 w 209550"/>
              <a:gd name="connsiteY3" fmla="*/ 378618 h 478631"/>
              <a:gd name="connsiteX4" fmla="*/ 104775 w 209550"/>
              <a:gd name="connsiteY4" fmla="*/ 478631 h 478631"/>
              <a:gd name="connsiteX5" fmla="*/ 209550 w 209550"/>
              <a:gd name="connsiteY5" fmla="*/ 219075 h 478631"/>
              <a:gd name="connsiteX6" fmla="*/ 184447 w 209550"/>
              <a:gd name="connsiteY6" fmla="*/ 86196 h 478631"/>
              <a:gd name="connsiteX7" fmla="*/ 102394 w 209550"/>
              <a:gd name="connsiteY7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26194 w 209550"/>
              <a:gd name="connsiteY3" fmla="*/ 378618 h 478631"/>
              <a:gd name="connsiteX4" fmla="*/ 104775 w 209550"/>
              <a:gd name="connsiteY4" fmla="*/ 478631 h 478631"/>
              <a:gd name="connsiteX5" fmla="*/ 195263 w 209550"/>
              <a:gd name="connsiteY5" fmla="*/ 361950 h 478631"/>
              <a:gd name="connsiteX6" fmla="*/ 209550 w 209550"/>
              <a:gd name="connsiteY6" fmla="*/ 219075 h 478631"/>
              <a:gd name="connsiteX7" fmla="*/ 184447 w 209550"/>
              <a:gd name="connsiteY7" fmla="*/ 86196 h 478631"/>
              <a:gd name="connsiteX8" fmla="*/ 102394 w 209550"/>
              <a:gd name="connsiteY8" fmla="*/ 0 h 478631"/>
              <a:gd name="connsiteX0" fmla="*/ 102394 w 214313"/>
              <a:gd name="connsiteY0" fmla="*/ 0 h 478631"/>
              <a:gd name="connsiteX1" fmla="*/ 19050 w 214313"/>
              <a:gd name="connsiteY1" fmla="*/ 116681 h 478631"/>
              <a:gd name="connsiteX2" fmla="*/ 0 w 214313"/>
              <a:gd name="connsiteY2" fmla="*/ 238125 h 478631"/>
              <a:gd name="connsiteX3" fmla="*/ 26194 w 214313"/>
              <a:gd name="connsiteY3" fmla="*/ 378618 h 478631"/>
              <a:gd name="connsiteX4" fmla="*/ 104775 w 214313"/>
              <a:gd name="connsiteY4" fmla="*/ 478631 h 478631"/>
              <a:gd name="connsiteX5" fmla="*/ 195263 w 214313"/>
              <a:gd name="connsiteY5" fmla="*/ 361950 h 478631"/>
              <a:gd name="connsiteX6" fmla="*/ 209550 w 214313"/>
              <a:gd name="connsiteY6" fmla="*/ 219075 h 478631"/>
              <a:gd name="connsiteX7" fmla="*/ 184447 w 214313"/>
              <a:gd name="connsiteY7" fmla="*/ 86196 h 478631"/>
              <a:gd name="connsiteX8" fmla="*/ 102394 w 214313"/>
              <a:gd name="connsiteY8" fmla="*/ 0 h 478631"/>
              <a:gd name="connsiteX0" fmla="*/ 102394 w 214313"/>
              <a:gd name="connsiteY0" fmla="*/ 0 h 478631"/>
              <a:gd name="connsiteX1" fmla="*/ 19050 w 214313"/>
              <a:gd name="connsiteY1" fmla="*/ 116681 h 478631"/>
              <a:gd name="connsiteX2" fmla="*/ 0 w 214313"/>
              <a:gd name="connsiteY2" fmla="*/ 238125 h 478631"/>
              <a:gd name="connsiteX3" fmla="*/ 26194 w 214313"/>
              <a:gd name="connsiteY3" fmla="*/ 378618 h 478631"/>
              <a:gd name="connsiteX4" fmla="*/ 104775 w 214313"/>
              <a:gd name="connsiteY4" fmla="*/ 478631 h 478631"/>
              <a:gd name="connsiteX5" fmla="*/ 195263 w 214313"/>
              <a:gd name="connsiteY5" fmla="*/ 361950 h 478631"/>
              <a:gd name="connsiteX6" fmla="*/ 209550 w 214313"/>
              <a:gd name="connsiteY6" fmla="*/ 219075 h 478631"/>
              <a:gd name="connsiteX7" fmla="*/ 184447 w 214313"/>
              <a:gd name="connsiteY7" fmla="*/ 86196 h 478631"/>
              <a:gd name="connsiteX8" fmla="*/ 102394 w 214313"/>
              <a:gd name="connsiteY8" fmla="*/ 0 h 478631"/>
              <a:gd name="connsiteX0" fmla="*/ 102394 w 211931"/>
              <a:gd name="connsiteY0" fmla="*/ 0 h 478631"/>
              <a:gd name="connsiteX1" fmla="*/ 19050 w 211931"/>
              <a:gd name="connsiteY1" fmla="*/ 116681 h 478631"/>
              <a:gd name="connsiteX2" fmla="*/ 0 w 211931"/>
              <a:gd name="connsiteY2" fmla="*/ 238125 h 478631"/>
              <a:gd name="connsiteX3" fmla="*/ 26194 w 211931"/>
              <a:gd name="connsiteY3" fmla="*/ 378618 h 478631"/>
              <a:gd name="connsiteX4" fmla="*/ 104775 w 211931"/>
              <a:gd name="connsiteY4" fmla="*/ 478631 h 478631"/>
              <a:gd name="connsiteX5" fmla="*/ 192881 w 211931"/>
              <a:gd name="connsiteY5" fmla="*/ 359568 h 478631"/>
              <a:gd name="connsiteX6" fmla="*/ 209550 w 211931"/>
              <a:gd name="connsiteY6" fmla="*/ 219075 h 478631"/>
              <a:gd name="connsiteX7" fmla="*/ 184447 w 211931"/>
              <a:gd name="connsiteY7" fmla="*/ 86196 h 478631"/>
              <a:gd name="connsiteX8" fmla="*/ 102394 w 211931"/>
              <a:gd name="connsiteY8" fmla="*/ 0 h 478631"/>
              <a:gd name="connsiteX0" fmla="*/ 102394 w 211931"/>
              <a:gd name="connsiteY0" fmla="*/ 0 h 478631"/>
              <a:gd name="connsiteX1" fmla="*/ 19050 w 211931"/>
              <a:gd name="connsiteY1" fmla="*/ 116681 h 478631"/>
              <a:gd name="connsiteX2" fmla="*/ 0 w 211931"/>
              <a:gd name="connsiteY2" fmla="*/ 238125 h 478631"/>
              <a:gd name="connsiteX3" fmla="*/ 26194 w 211931"/>
              <a:gd name="connsiteY3" fmla="*/ 378618 h 478631"/>
              <a:gd name="connsiteX4" fmla="*/ 104775 w 211931"/>
              <a:gd name="connsiteY4" fmla="*/ 478631 h 478631"/>
              <a:gd name="connsiteX5" fmla="*/ 192881 w 211931"/>
              <a:gd name="connsiteY5" fmla="*/ 359568 h 478631"/>
              <a:gd name="connsiteX6" fmla="*/ 209550 w 211931"/>
              <a:gd name="connsiteY6" fmla="*/ 219075 h 478631"/>
              <a:gd name="connsiteX7" fmla="*/ 182586 w 211931"/>
              <a:gd name="connsiteY7" fmla="*/ 94382 h 478631"/>
              <a:gd name="connsiteX8" fmla="*/ 102394 w 211931"/>
              <a:gd name="connsiteY8" fmla="*/ 0 h 478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931" h="478631">
                <a:moveTo>
                  <a:pt x="102394" y="0"/>
                </a:moveTo>
                <a:cubicBezTo>
                  <a:pt x="74613" y="38894"/>
                  <a:pt x="58737" y="51593"/>
                  <a:pt x="19050" y="116681"/>
                </a:cubicBezTo>
                <a:cubicBezTo>
                  <a:pt x="3175" y="178594"/>
                  <a:pt x="6350" y="197644"/>
                  <a:pt x="0" y="238125"/>
                </a:cubicBezTo>
                <a:cubicBezTo>
                  <a:pt x="8731" y="284956"/>
                  <a:pt x="7938" y="303212"/>
                  <a:pt x="26194" y="378618"/>
                </a:cubicBezTo>
                <a:cubicBezTo>
                  <a:pt x="61913" y="426244"/>
                  <a:pt x="78581" y="445293"/>
                  <a:pt x="104775" y="478631"/>
                </a:cubicBezTo>
                <a:cubicBezTo>
                  <a:pt x="134938" y="439737"/>
                  <a:pt x="160336" y="412750"/>
                  <a:pt x="192881" y="359568"/>
                </a:cubicBezTo>
                <a:cubicBezTo>
                  <a:pt x="211931" y="295274"/>
                  <a:pt x="204788" y="266700"/>
                  <a:pt x="209550" y="219075"/>
                </a:cubicBezTo>
                <a:cubicBezTo>
                  <a:pt x="201976" y="177163"/>
                  <a:pt x="199685" y="152963"/>
                  <a:pt x="182586" y="94382"/>
                </a:cubicBezTo>
                <a:cubicBezTo>
                  <a:pt x="144916" y="39456"/>
                  <a:pt x="130539" y="31113"/>
                  <a:pt x="102394" y="0"/>
                </a:cubicBezTo>
                <a:close/>
              </a:path>
            </a:pathLst>
          </a:cu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0" name="Oval 139"/>
          <p:cNvSpPr/>
          <p:nvPr/>
        </p:nvSpPr>
        <p:spPr>
          <a:xfrm>
            <a:off x="251520" y="980728"/>
            <a:ext cx="641810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1" name="Oval 140"/>
          <p:cNvSpPr/>
          <p:nvPr/>
        </p:nvSpPr>
        <p:spPr>
          <a:xfrm>
            <a:off x="683568" y="980728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2" name="Rectangle 141"/>
          <p:cNvSpPr/>
          <p:nvPr/>
        </p:nvSpPr>
        <p:spPr>
          <a:xfrm>
            <a:off x="107504" y="836712"/>
            <a:ext cx="1368152" cy="93610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3" name="TextBox 142"/>
          <p:cNvSpPr txBox="1"/>
          <p:nvPr/>
        </p:nvSpPr>
        <p:spPr>
          <a:xfrm>
            <a:off x="162652" y="836712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115616" y="836712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145" name="Oval 144"/>
          <p:cNvSpPr/>
          <p:nvPr/>
        </p:nvSpPr>
        <p:spPr>
          <a:xfrm>
            <a:off x="251520" y="2996952"/>
            <a:ext cx="641810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6" name="Oval 145"/>
          <p:cNvSpPr/>
          <p:nvPr/>
        </p:nvSpPr>
        <p:spPr>
          <a:xfrm>
            <a:off x="683568" y="2996952"/>
            <a:ext cx="641810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7" name="Rectangle 146"/>
          <p:cNvSpPr/>
          <p:nvPr/>
        </p:nvSpPr>
        <p:spPr>
          <a:xfrm>
            <a:off x="107504" y="2852936"/>
            <a:ext cx="1368152" cy="93610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8" name="TextBox 147"/>
          <p:cNvSpPr txBox="1"/>
          <p:nvPr/>
        </p:nvSpPr>
        <p:spPr>
          <a:xfrm>
            <a:off x="162652" y="2852936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115616" y="2852936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150" name="Oval 149"/>
          <p:cNvSpPr/>
          <p:nvPr/>
        </p:nvSpPr>
        <p:spPr>
          <a:xfrm>
            <a:off x="251520" y="4005064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1" name="Oval 150"/>
          <p:cNvSpPr/>
          <p:nvPr/>
        </p:nvSpPr>
        <p:spPr>
          <a:xfrm>
            <a:off x="683568" y="4005064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2" name="Rectangle 151"/>
          <p:cNvSpPr/>
          <p:nvPr/>
        </p:nvSpPr>
        <p:spPr>
          <a:xfrm>
            <a:off x="107504" y="3861048"/>
            <a:ext cx="1368152" cy="93610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3" name="TextBox 152"/>
          <p:cNvSpPr txBox="1"/>
          <p:nvPr/>
        </p:nvSpPr>
        <p:spPr>
          <a:xfrm>
            <a:off x="162652" y="3861048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115616" y="3861048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156" name="Oval 155"/>
          <p:cNvSpPr/>
          <p:nvPr/>
        </p:nvSpPr>
        <p:spPr>
          <a:xfrm>
            <a:off x="251520" y="2996952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8" name="Rectangle 157"/>
          <p:cNvSpPr/>
          <p:nvPr/>
        </p:nvSpPr>
        <p:spPr>
          <a:xfrm>
            <a:off x="107504" y="1844824"/>
            <a:ext cx="1368152" cy="93610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9" name="TextBox 158"/>
          <p:cNvSpPr txBox="1"/>
          <p:nvPr/>
        </p:nvSpPr>
        <p:spPr>
          <a:xfrm>
            <a:off x="162652" y="1844824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115616" y="1844824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161" name="Oval 160"/>
          <p:cNvSpPr/>
          <p:nvPr/>
        </p:nvSpPr>
        <p:spPr>
          <a:xfrm>
            <a:off x="251520" y="1988840"/>
            <a:ext cx="641810" cy="64807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2" name="Oval 161"/>
          <p:cNvSpPr/>
          <p:nvPr/>
        </p:nvSpPr>
        <p:spPr>
          <a:xfrm>
            <a:off x="683568" y="1988840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8" name="TextBox 117"/>
          <p:cNvSpPr txBox="1"/>
          <p:nvPr/>
        </p:nvSpPr>
        <p:spPr>
          <a:xfrm>
            <a:off x="6228184" y="404664"/>
            <a:ext cx="2188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2. Describe the shaded areas</a:t>
            </a:r>
          </a:p>
          <a:p>
            <a:r>
              <a:rPr lang="en-GB" sz="1200" dirty="0"/>
              <a:t>using set notation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477397" y="1115452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843390" y="1124744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4843390" y="3140968"/>
            <a:ext cx="8259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A U B’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843390" y="2132856"/>
            <a:ext cx="825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 ∩ B’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843390" y="4149080"/>
            <a:ext cx="796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 U A’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473364" y="2852936"/>
            <a:ext cx="12747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 U B</a:t>
            </a:r>
          </a:p>
          <a:p>
            <a:r>
              <a:rPr lang="en-GB" i="1" dirty="0"/>
              <a:t>Union, or</a:t>
            </a:r>
          </a:p>
          <a:p>
            <a:r>
              <a:rPr lang="en-GB" i="1" dirty="0"/>
              <a:t>(at least 1)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75656" y="3861048"/>
            <a:ext cx="15824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 ∩ B</a:t>
            </a:r>
          </a:p>
          <a:p>
            <a:r>
              <a:rPr lang="en-GB" i="1" dirty="0"/>
              <a:t>Intersect, and</a:t>
            </a:r>
          </a:p>
          <a:p>
            <a:r>
              <a:rPr lang="en-GB" i="1" dirty="0"/>
              <a:t>(both)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461259" y="1844824"/>
            <a:ext cx="19586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A’</a:t>
            </a:r>
          </a:p>
          <a:p>
            <a:r>
              <a:rPr lang="en-GB" i="1" dirty="0"/>
              <a:t>Complement of A</a:t>
            </a:r>
          </a:p>
          <a:p>
            <a:r>
              <a:rPr lang="en-GB" i="1" dirty="0"/>
              <a:t>Not A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5253" y="559713"/>
            <a:ext cx="12923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Basic definitions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1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1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1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55" grpId="0" animBg="1"/>
      <p:bldP spid="60" grpId="0" animBg="1"/>
      <p:bldP spid="37" grpId="0" animBg="1"/>
      <p:bldP spid="38" grpId="0" animBg="1"/>
      <p:bldP spid="39" grpId="0"/>
      <p:bldP spid="40" grpId="0"/>
      <p:bldP spid="46" grpId="0" animBg="1"/>
      <p:bldP spid="47" grpId="0" animBg="1"/>
      <p:bldP spid="49" grpId="0"/>
      <p:bldP spid="50" grpId="0"/>
      <p:bldP spid="54" grpId="0" animBg="1"/>
      <p:bldP spid="56" grpId="0"/>
      <p:bldP spid="57" grpId="0"/>
      <p:bldP spid="58" grpId="0" animBg="1"/>
      <p:bldP spid="59" grpId="0" animBg="1"/>
      <p:bldP spid="61" grpId="0"/>
      <p:bldP spid="62" grpId="0"/>
      <p:bldP spid="87" grpId="0"/>
      <p:bldP spid="98" grpId="0"/>
      <p:bldP spid="99" grpId="0"/>
      <p:bldP spid="100" grpId="0"/>
      <p:bldP spid="53" grpId="0" animBg="1"/>
      <p:bldP spid="103" grpId="0" animBg="1"/>
      <p:bldP spid="105" grpId="0" animBg="1"/>
      <p:bldP spid="36" grpId="0" animBg="1"/>
      <p:bldP spid="113" grpId="0" build="p"/>
      <p:bldP spid="114" grpId="0"/>
      <p:bldP spid="115" grpId="0"/>
      <p:bldP spid="116" grpId="0"/>
      <p:bldP spid="1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have we learnt?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080" y="1903876"/>
            <a:ext cx="3384578" cy="16839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35536" y="1585123"/>
            <a:ext cx="414845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Which section represents A?</a:t>
            </a:r>
          </a:p>
          <a:p>
            <a:endParaRPr lang="en-AU" dirty="0"/>
          </a:p>
          <a:p>
            <a:r>
              <a:rPr lang="en-AU" dirty="0"/>
              <a:t>Which section represents B?</a:t>
            </a:r>
          </a:p>
          <a:p>
            <a:endParaRPr lang="en-AU" dirty="0"/>
          </a:p>
          <a:p>
            <a:r>
              <a:rPr lang="en-AU" dirty="0"/>
              <a:t>Which section represents A or B?</a:t>
            </a:r>
          </a:p>
          <a:p>
            <a:endParaRPr lang="en-AU" dirty="0"/>
          </a:p>
          <a:p>
            <a:r>
              <a:rPr lang="en-AU" dirty="0"/>
              <a:t>Which section represents A and B?</a:t>
            </a:r>
          </a:p>
          <a:p>
            <a:endParaRPr lang="en-AU" dirty="0"/>
          </a:p>
          <a:p>
            <a:r>
              <a:rPr lang="en-AU" dirty="0"/>
              <a:t>Which section represents A but not B?</a:t>
            </a:r>
          </a:p>
          <a:p>
            <a:endParaRPr lang="en-AU" dirty="0"/>
          </a:p>
          <a:p>
            <a:r>
              <a:rPr lang="en-AU" dirty="0"/>
              <a:t>Which section represents B but not A?</a:t>
            </a:r>
          </a:p>
          <a:p>
            <a:endParaRPr lang="en-AU" dirty="0"/>
          </a:p>
          <a:p>
            <a:r>
              <a:rPr lang="en-AU" dirty="0"/>
              <a:t>Which section represents neither A or B?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/>
              <p14:cNvContentPartPr/>
              <p14:nvPr/>
            </p14:nvContentPartPr>
            <p14:xfrm>
              <a:off x="1432262" y="2257147"/>
              <a:ext cx="1281690" cy="979560"/>
            </p14:xfrm>
          </p:contentPart>
        </mc:Choice>
        <mc:Fallback>
          <p:pic>
            <p:nvPicPr>
              <p:cNvPr id="6" name="Ink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36189" y="2065549"/>
                <a:ext cx="1473116" cy="13627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/>
              <p14:cNvContentPartPr/>
              <p14:nvPr/>
            </p14:nvContentPartPr>
            <p14:xfrm>
              <a:off x="2147762" y="2209897"/>
              <a:ext cx="1216350" cy="1071900"/>
            </p14:xfrm>
          </p:contentPart>
        </mc:Choice>
        <mc:Fallback>
          <p:pic>
            <p:nvPicPr>
              <p:cNvPr id="7" name="Ink 6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51678" y="2017791"/>
                <a:ext cx="1407799" cy="14561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/>
              <p14:cNvContentPartPr/>
              <p14:nvPr/>
            </p14:nvContentPartPr>
            <p14:xfrm>
              <a:off x="1380152" y="2255527"/>
              <a:ext cx="2041740" cy="1106190"/>
            </p14:xfrm>
          </p:contentPart>
        </mc:Choice>
        <mc:Fallback>
          <p:pic>
            <p:nvPicPr>
              <p:cNvPr id="8" name="Ink 7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84074" y="2064161"/>
                <a:ext cx="2233176" cy="14889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Ink 8"/>
              <p14:cNvContentPartPr/>
              <p14:nvPr/>
            </p14:nvContentPartPr>
            <p14:xfrm>
              <a:off x="2090252" y="2228527"/>
              <a:ext cx="586440" cy="1132920"/>
            </p14:xfrm>
          </p:contentPart>
        </mc:Choice>
        <mc:Fallback>
          <p:pic>
            <p:nvPicPr>
              <p:cNvPr id="9" name="Ink 8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94191" y="2036830"/>
                <a:ext cx="777843" cy="15163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Ink 9"/>
              <p14:cNvContentPartPr/>
              <p14:nvPr/>
            </p14:nvContentPartPr>
            <p14:xfrm>
              <a:off x="1333442" y="2247697"/>
              <a:ext cx="1175040" cy="1118880"/>
            </p14:xfrm>
          </p:contentPart>
        </mc:Choice>
        <mc:Fallback>
          <p:pic>
            <p:nvPicPr>
              <p:cNvPr id="10" name="Ink 9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37410" y="2055940"/>
                <a:ext cx="1366384" cy="15023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1" name="Ink 10"/>
              <p14:cNvContentPartPr/>
              <p14:nvPr/>
            </p14:nvContentPartPr>
            <p14:xfrm>
              <a:off x="2469332" y="2220427"/>
              <a:ext cx="997380" cy="1162080"/>
            </p14:xfrm>
          </p:contentPart>
        </mc:Choice>
        <mc:Fallback>
          <p:pic>
            <p:nvPicPr>
              <p:cNvPr id="11" name="Ink 10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373299" y="2029199"/>
                <a:ext cx="1188727" cy="15445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3" name="Ink 12"/>
              <p14:cNvContentPartPr/>
              <p14:nvPr/>
            </p14:nvContentPartPr>
            <p14:xfrm>
              <a:off x="858512" y="1964197"/>
              <a:ext cx="3089610" cy="1540890"/>
            </p14:xfrm>
          </p:contentPart>
        </mc:Choice>
        <mc:Fallback>
          <p:pic>
            <p:nvPicPr>
              <p:cNvPr id="13" name="Ink 12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41595" y="1947264"/>
                <a:ext cx="3122723" cy="1574035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Picture 1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" y="1402898"/>
            <a:ext cx="8277943" cy="407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788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have we learnt?</a:t>
            </a:r>
          </a:p>
        </p:txBody>
      </p:sp>
      <p:pic>
        <p:nvPicPr>
          <p:cNvPr id="12" name="Picture 11" descr="Diagram, venn diagram&#10;&#10;Description automatically generated">
            <a:extLst>
              <a:ext uri="{FF2B5EF4-FFF2-40B4-BE49-F238E27FC236}">
                <a16:creationId xmlns:a16="http://schemas.microsoft.com/office/drawing/2014/main" id="{E84F918E-0925-5B49-B9C3-8893AC0F6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773" y="1417638"/>
            <a:ext cx="7668468" cy="4717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390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have we learnt?</a:t>
            </a:r>
          </a:p>
        </p:txBody>
      </p:sp>
      <p:pic>
        <p:nvPicPr>
          <p:cNvPr id="4" name="Picture 3" descr="A picture containing device&#10;&#10;Description automatically generated">
            <a:extLst>
              <a:ext uri="{FF2B5EF4-FFF2-40B4-BE49-F238E27FC236}">
                <a16:creationId xmlns:a16="http://schemas.microsoft.com/office/drawing/2014/main" id="{D7076046-7435-754D-8DC4-2979527C03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1254396"/>
            <a:ext cx="5959822" cy="5356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883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-28110"/>
            <a:ext cx="8229600" cy="1143000"/>
          </a:xfrm>
        </p:spPr>
        <p:txBody>
          <a:bodyPr/>
          <a:lstStyle/>
          <a:p>
            <a:r>
              <a:rPr lang="en-AU" dirty="0"/>
              <a:t>What have we learnt?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F06F7AD3-5045-934A-AA97-B5B50721D4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709" y="866668"/>
            <a:ext cx="5751206" cy="597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478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Two-way tables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268761"/>
            <a:ext cx="8075240" cy="353665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GB" dirty="0"/>
              <a:t>Fill in the blanks in this table showing ice-cream flavour preferences.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259632" y="1772816"/>
          <a:ext cx="6114805" cy="1872208"/>
        </p:xfrm>
        <a:graphic>
          <a:graphicData uri="http://schemas.openxmlformats.org/drawingml/2006/table">
            <a:tbl>
              <a:tblPr/>
              <a:tblGrid>
                <a:gridCol w="1225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74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74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8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59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80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GB" sz="2400" dirty="0"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Arial"/>
                        </a:rPr>
                        <a:t>Choc</a:t>
                      </a:r>
                      <a:endParaRPr lang="en-GB" sz="2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 err="1">
                          <a:latin typeface="Arial"/>
                          <a:ea typeface="Times New Roman"/>
                          <a:cs typeface="Arial"/>
                        </a:rPr>
                        <a:t>Strawb</a:t>
                      </a:r>
                      <a:endParaRPr lang="en-GB" sz="2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Arial"/>
                        </a:rPr>
                        <a:t>Vanilla</a:t>
                      </a:r>
                      <a:endParaRPr lang="en-GB" sz="2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Arial"/>
                        </a:rPr>
                        <a:t>Total</a:t>
                      </a:r>
                      <a:endParaRPr lang="en-GB" sz="2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Male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GB" sz="2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GB" sz="2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28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Female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GB" sz="2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GB" sz="2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GB" sz="2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Total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20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16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24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60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Content Placeholder 7"/>
          <p:cNvSpPr txBox="1">
            <a:spLocks/>
          </p:cNvSpPr>
          <p:nvPr/>
        </p:nvSpPr>
        <p:spPr>
          <a:xfrm>
            <a:off x="305780" y="3512303"/>
            <a:ext cx="8532440" cy="3140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6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2000" dirty="0"/>
              <a:t>Now work out: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r>
              <a:rPr lang="en-GB" sz="2000" dirty="0"/>
              <a:t>1. P(C) =				2. P(F) =			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r>
              <a:rPr lang="en-GB" sz="2000" dirty="0"/>
              <a:t>3. P(C∩F) = 				4. P(CUF) =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r>
              <a:rPr lang="en-GB" sz="2000" dirty="0"/>
              <a:t>5. P(C’) =				6. P(C’∩F) =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r>
              <a:rPr lang="en-GB" sz="2000" dirty="0"/>
              <a:t>7. P(C’UF) =				8. P(C’UF’) =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6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04048" y="2204864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192" y="2708920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1920" y="2204864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3768" y="2708920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9912" y="2708920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1228" y="4166197"/>
            <a:ext cx="14718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20/60 = 1/3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14967" y="4168244"/>
            <a:ext cx="16145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32/60 = 8/15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01087" y="4698766"/>
            <a:ext cx="14718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15/60 = 1/4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14967" y="4710638"/>
            <a:ext cx="22188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(32+5)/60 = 37/60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38596" y="5249266"/>
            <a:ext cx="20762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(16+24)/60 = 2/3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14967" y="5261138"/>
            <a:ext cx="22188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(7+10)/60 = 17/60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38596" y="5792474"/>
            <a:ext cx="26342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(32+9+14)/60 = 11/12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14967" y="5804346"/>
            <a:ext cx="18405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1 - 15/60 = 3/4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1611" y="2900843"/>
            <a:ext cx="1584176" cy="120032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i="1" dirty="0"/>
              <a:t>Can you see how addition law is applied here?</a:t>
            </a:r>
          </a:p>
        </p:txBody>
      </p:sp>
      <p:sp>
        <p:nvSpPr>
          <p:cNvPr id="3" name="Arrow: Right 2"/>
          <p:cNvSpPr/>
          <p:nvPr/>
        </p:nvSpPr>
        <p:spPr>
          <a:xfrm rot="8014146">
            <a:off x="7508228" y="4344547"/>
            <a:ext cx="1035059" cy="2209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2" grpId="0"/>
      <p:bldP spid="13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4" grpId="0" animBg="1"/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 two-way table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268761"/>
            <a:ext cx="8291264" cy="648071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GB" sz="2000" dirty="0"/>
              <a:t>Use this table to find probabilities relating to your schoolmates’ preferred subjects.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6629752"/>
              </p:ext>
            </p:extLst>
          </p:nvPr>
        </p:nvGraphicFramePr>
        <p:xfrm>
          <a:off x="1259632" y="2060848"/>
          <a:ext cx="6114805" cy="1872208"/>
        </p:xfrm>
        <a:graphic>
          <a:graphicData uri="http://schemas.openxmlformats.org/drawingml/2006/table">
            <a:tbl>
              <a:tblPr/>
              <a:tblGrid>
                <a:gridCol w="1225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74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74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8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59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80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GB" sz="2400" dirty="0"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English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Science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PE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Arial"/>
                        </a:rPr>
                        <a:t>Total</a:t>
                      </a:r>
                      <a:endParaRPr lang="en-GB" sz="2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Girls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GB" sz="2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GB" sz="2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GB" sz="2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GB" sz="2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Boys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GB" sz="2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GB" sz="2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GB" sz="2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GB" sz="2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Total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GB" sz="2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GB" sz="2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GB" sz="2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GB" sz="2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Content Placeholder 7"/>
          <p:cNvSpPr txBox="1">
            <a:spLocks/>
          </p:cNvSpPr>
          <p:nvPr/>
        </p:nvSpPr>
        <p:spPr>
          <a:xfrm>
            <a:off x="611560" y="3888432"/>
            <a:ext cx="8064896" cy="3140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6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2000" dirty="0"/>
              <a:t>Now work out: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r>
              <a:rPr lang="en-GB" sz="2000" dirty="0"/>
              <a:t>P(Girls) =				P(E) =			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r>
              <a:rPr lang="en-GB" sz="2000" dirty="0"/>
              <a:t>P(</a:t>
            </a:r>
            <a:r>
              <a:rPr lang="en-GB" sz="2000" dirty="0" err="1"/>
              <a:t>Boys∩P</a:t>
            </a:r>
            <a:r>
              <a:rPr lang="en-GB" sz="2000" dirty="0"/>
              <a:t>) = 				P(</a:t>
            </a:r>
            <a:r>
              <a:rPr lang="en-GB" sz="2000" dirty="0" err="1"/>
              <a:t>BoysUP</a:t>
            </a:r>
            <a:r>
              <a:rPr lang="en-GB" sz="2000" dirty="0"/>
              <a:t>) =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r>
              <a:rPr lang="en-GB" sz="2000" dirty="0"/>
              <a:t>P(S’) =					P(</a:t>
            </a:r>
            <a:r>
              <a:rPr lang="en-GB" sz="2000" dirty="0" err="1"/>
              <a:t>S’∩Girls</a:t>
            </a:r>
            <a:r>
              <a:rPr lang="en-GB" sz="2000" dirty="0"/>
              <a:t>) =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r>
              <a:rPr lang="en-GB" sz="2000" dirty="0"/>
              <a:t>P(</a:t>
            </a:r>
            <a:r>
              <a:rPr lang="en-GB" sz="2000" dirty="0" err="1"/>
              <a:t>S’UGirls</a:t>
            </a:r>
            <a:r>
              <a:rPr lang="en-GB" sz="2000" dirty="0"/>
              <a:t>) =				P(</a:t>
            </a:r>
            <a:r>
              <a:rPr lang="en-GB" sz="2000" dirty="0" err="1"/>
              <a:t>S’UGirls</a:t>
            </a:r>
            <a:r>
              <a:rPr lang="en-GB" sz="2000" dirty="0"/>
              <a:t>’) =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6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1417</TotalTime>
  <Words>1399</Words>
  <Application>Microsoft Macintosh PowerPoint</Application>
  <PresentationFormat>On-screen Show (4:3)</PresentationFormat>
  <Paragraphs>307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 Math</vt:lpstr>
      <vt:lpstr>Kunstler Script</vt:lpstr>
      <vt:lpstr>Blank</vt:lpstr>
      <vt:lpstr>Probability</vt:lpstr>
      <vt:lpstr>Probability EQ – How can I use visual displays to calculate probabilities?</vt:lpstr>
      <vt:lpstr>Probability EQ – How can I use visual displays to calculate probabilities?</vt:lpstr>
      <vt:lpstr>Probability EQ – How can I use visual displays to calculate probabilities?</vt:lpstr>
      <vt:lpstr>Venn diagrams and set notation</vt:lpstr>
      <vt:lpstr>Intersect and union symbols</vt:lpstr>
      <vt:lpstr>Probability EQ – How can I use visual displays to calculate probabilities?</vt:lpstr>
      <vt:lpstr>PowerPoint Presentation</vt:lpstr>
      <vt:lpstr>PowerPoint Presentation</vt:lpstr>
      <vt:lpstr>What have we learnt?</vt:lpstr>
      <vt:lpstr>What have we learnt?</vt:lpstr>
      <vt:lpstr>What have we learnt?</vt:lpstr>
      <vt:lpstr>What have we learnt?</vt:lpstr>
      <vt:lpstr>Two-way tables</vt:lpstr>
      <vt:lpstr>Class two-way table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Year 8 Probability</dc:title>
  <dc:creator>LDavis</dc:creator>
  <cp:lastModifiedBy>SUMMERS Brad [Baldivis Secondary College]</cp:lastModifiedBy>
  <cp:revision>154</cp:revision>
  <cp:lastPrinted>2020-10-23T01:48:52Z</cp:lastPrinted>
  <dcterms:created xsi:type="dcterms:W3CDTF">2015-12-03T11:39:23Z</dcterms:created>
  <dcterms:modified xsi:type="dcterms:W3CDTF">2020-10-23T02:48:36Z</dcterms:modified>
</cp:coreProperties>
</file>
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7" r:id="rId2"/>
    <p:sldId id="278" r:id="rId3"/>
    <p:sldId id="281" r:id="rId4"/>
    <p:sldId id="270" r:id="rId5"/>
    <p:sldId id="271" r:id="rId6"/>
    <p:sldId id="257" r:id="rId7"/>
    <p:sldId id="280" r:id="rId8"/>
    <p:sldId id="283" r:id="rId9"/>
    <p:sldId id="286" r:id="rId10"/>
    <p:sldId id="267" r:id="rId11"/>
    <p:sldId id="285" r:id="rId12"/>
    <p:sldId id="282" r:id="rId13"/>
    <p:sldId id="284" r:id="rId1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>
      <p:cViewPr varScale="1">
        <p:scale>
          <a:sx n="117" d="100"/>
          <a:sy n="117" d="100"/>
        </p:scale>
        <p:origin x="14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FB1DE-6F00-4626-959F-3CBEB67D469B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543CC-6C50-4947-A10C-DE670777C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05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645546-46E0-4BC9-ACF3-2FCA7F8E7F34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2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Plenary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645546-46E0-4BC9-ACF3-2FCA7F8E7F34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74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645546-46E0-4BC9-ACF3-2FCA7F8E7F34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27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Plenary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645546-46E0-4BC9-ACF3-2FCA7F8E7F34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74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77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30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87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376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86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70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91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18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73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9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22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24D4B-22FE-411D-AEE4-89916C27FBD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61825-2338-4279-949D-AF4AACEB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54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9"/>
            <a:ext cx="9036496" cy="1872208"/>
          </a:xfrm>
        </p:spPr>
        <p:txBody>
          <a:bodyPr/>
          <a:lstStyle/>
          <a:p>
            <a:pPr marL="0" indent="0">
              <a:buNone/>
            </a:pPr>
            <a:r>
              <a:rPr lang="en-GB" b="1" u="sng" dirty="0"/>
              <a:t>Topic: Tree Diagrams</a:t>
            </a:r>
          </a:p>
          <a:p>
            <a:pPr marL="0" indent="0">
              <a:buNone/>
            </a:pPr>
            <a:r>
              <a:rPr lang="en-GB" b="1" dirty="0"/>
              <a:t>EQ: How can I calculate probabilities using a tree diagram?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69" y="2276871"/>
            <a:ext cx="776751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Grade C – draw a tree diagram</a:t>
            </a:r>
          </a:p>
          <a:p>
            <a:endParaRPr lang="en-GB" sz="2800" dirty="0"/>
          </a:p>
          <a:p>
            <a:r>
              <a:rPr lang="en-GB" sz="2800" dirty="0"/>
              <a:t>Grade B – calculate independent probability using a </a:t>
            </a:r>
          </a:p>
          <a:p>
            <a:r>
              <a:rPr lang="en-GB" sz="2800" dirty="0"/>
              <a:t>tree diagram</a:t>
            </a:r>
          </a:p>
          <a:p>
            <a:endParaRPr lang="en-GB" sz="2800" dirty="0"/>
          </a:p>
          <a:p>
            <a:r>
              <a:rPr lang="en-GB" sz="2800" dirty="0"/>
              <a:t>Grade A/B – calculate more complex probabilities</a:t>
            </a:r>
          </a:p>
          <a:p>
            <a:endParaRPr lang="en-GB" sz="2800" dirty="0"/>
          </a:p>
          <a:p>
            <a:endParaRPr lang="en-GB" sz="2800" dirty="0"/>
          </a:p>
        </p:txBody>
      </p:sp>
      <p:sp>
        <p:nvSpPr>
          <p:cNvPr id="5" name="Oval 4"/>
          <p:cNvSpPr/>
          <p:nvPr/>
        </p:nvSpPr>
        <p:spPr>
          <a:xfrm>
            <a:off x="467544" y="2276871"/>
            <a:ext cx="548525" cy="504057"/>
          </a:xfrm>
          <a:prstGeom prst="ellipse">
            <a:avLst/>
          </a:prstGeom>
          <a:solidFill>
            <a:srgbClr val="CC66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467543" y="3214566"/>
            <a:ext cx="548525" cy="504057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67542" y="4162929"/>
            <a:ext cx="548525" cy="504057"/>
          </a:xfrm>
          <a:prstGeom prst="ellipse">
            <a:avLst/>
          </a:prstGeom>
          <a:solidFill>
            <a:srgbClr val="FFCC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7504" y="2132856"/>
            <a:ext cx="8928992" cy="2952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84934" y="5517232"/>
            <a:ext cx="6508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Key words: independent probability, tree diagram, </a:t>
            </a:r>
          </a:p>
        </p:txBody>
      </p:sp>
    </p:spTree>
    <p:extLst>
      <p:ext uri="{BB962C8B-B14F-4D97-AF65-F5344CB8AC3E}">
        <p14:creationId xmlns:p14="http://schemas.microsoft.com/office/powerpoint/2010/main" val="401314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I flip two fair coins. </a:t>
            </a:r>
          </a:p>
          <a:p>
            <a:pPr marL="0" indent="0">
              <a:buNone/>
            </a:pPr>
            <a:r>
              <a:rPr lang="en-GB" sz="2800" dirty="0"/>
              <a:t>What is the probability that I flip 2 heads? </a:t>
            </a:r>
          </a:p>
          <a:p>
            <a:pPr marL="0" indent="0">
              <a:buNone/>
            </a:pPr>
            <a:r>
              <a:rPr lang="en-GB" sz="2800" dirty="0"/>
              <a:t>P(2 heads) = 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What is the probability that I flip 1 head and 1 tails? </a:t>
            </a:r>
          </a:p>
          <a:p>
            <a:pPr marL="0" indent="0">
              <a:buNone/>
            </a:pPr>
            <a:r>
              <a:rPr lang="en-GB" sz="2800" dirty="0"/>
              <a:t>P(1 head and 1 tails) = 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You can draw a diagram or table if it will help you.</a:t>
            </a:r>
          </a:p>
        </p:txBody>
      </p:sp>
    </p:spTree>
    <p:extLst>
      <p:ext uri="{BB962C8B-B14F-4D97-AF65-F5344CB8AC3E}">
        <p14:creationId xmlns:p14="http://schemas.microsoft.com/office/powerpoint/2010/main" val="19192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I flip two fair coins. </a:t>
            </a:r>
          </a:p>
          <a:p>
            <a:pPr marL="0" indent="0">
              <a:buNone/>
            </a:pPr>
            <a:r>
              <a:rPr lang="en-GB" sz="2800" dirty="0"/>
              <a:t>What is the probability that I flip 2 heads? </a:t>
            </a:r>
          </a:p>
          <a:p>
            <a:pPr marL="0" indent="0">
              <a:buNone/>
            </a:pPr>
            <a:r>
              <a:rPr lang="en-GB" sz="2800" dirty="0"/>
              <a:t>P(2 heads) = </a:t>
            </a:r>
          </a:p>
          <a:p>
            <a:pPr marL="0" indent="0">
              <a:buNone/>
            </a:pPr>
            <a:r>
              <a:rPr lang="en-GB" sz="2800" dirty="0"/>
              <a:t>What is the probability that I flip 1 head and 1 tails? </a:t>
            </a:r>
          </a:p>
          <a:p>
            <a:pPr marL="0" indent="0">
              <a:buNone/>
            </a:pPr>
            <a:r>
              <a:rPr lang="en-GB" sz="2800" dirty="0"/>
              <a:t>P(1 head and 1 tails) = 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1975" y="5514181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01975" y="6090245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5528" y="4937428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35608" y="4937428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5528" y="5513836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35608" y="5513836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15528" y="6090245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35608" y="6090245"/>
            <a:ext cx="720080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2388776" y="585941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Gill Sans MT" panose="020B0502020104020203" pitchFamily="34" charset="0"/>
              </a:rPr>
              <a:t>Coin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5834" y="4994627"/>
            <a:ext cx="399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Gill Sans MT" panose="020B0502020104020203" pitchFamily="34" charset="0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914" y="4994627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Gill Sans MT" panose="020B0502020104020203" pitchFamily="34" charset="0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9755" y="5571380"/>
            <a:ext cx="399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Gill Sans MT" panose="020B0502020104020203" pitchFamily="34" charset="0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9755" y="6147444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Gill Sans MT" panose="020B0502020104020203" pitchFamily="34" charset="0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6220" y="6147443"/>
            <a:ext cx="498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latin typeface="Gill Sans MT" panose="020B0502020104020203" pitchFamily="34" charset="0"/>
              </a:rPr>
              <a:t>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7993" y="4475763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Gill Sans MT" panose="020B0502020104020203" pitchFamily="34" charset="0"/>
              </a:rPr>
              <a:t>Coin 1</a:t>
            </a:r>
          </a:p>
        </p:txBody>
      </p:sp>
    </p:spTree>
    <p:extLst>
      <p:ext uri="{BB962C8B-B14F-4D97-AF65-F5344CB8AC3E}">
        <p14:creationId xmlns:p14="http://schemas.microsoft.com/office/powerpoint/2010/main" val="324145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The ‘AND’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340768"/>
                <a:ext cx="8856984" cy="478539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To work out the probability of two events BOTH happening, consider their individual probabilities</a:t>
                </a:r>
              </a:p>
              <a:p>
                <a:endParaRPr lang="en-GB" dirty="0"/>
              </a:p>
              <a:p>
                <a:r>
                  <a:rPr lang="en-GB" dirty="0"/>
                  <a:t>First coin - P(H)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	         Second coin - P(H)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P(2 heads)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340768"/>
                <a:ext cx="8856984" cy="4785395"/>
              </a:xfrm>
              <a:blipFill rotWithShape="1">
                <a:blip r:embed="rId2"/>
                <a:stretch>
                  <a:fillRect l="-1583" t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076056" y="4077072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Can you spot the link???</a:t>
            </a:r>
          </a:p>
        </p:txBody>
      </p:sp>
    </p:spTree>
    <p:extLst>
      <p:ext uri="{BB962C8B-B14F-4D97-AF65-F5344CB8AC3E}">
        <p14:creationId xmlns:p14="http://schemas.microsoft.com/office/powerpoint/2010/main" val="108923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The ‘AND’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Probability of events A AND B happening: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6000" dirty="0">
                <a:solidFill>
                  <a:srgbClr val="FF0000"/>
                </a:solidFill>
              </a:rPr>
              <a:t>P(A and B) = P(A) x P(B)</a:t>
            </a:r>
          </a:p>
        </p:txBody>
      </p:sp>
    </p:spTree>
    <p:extLst>
      <p:ext uri="{BB962C8B-B14F-4D97-AF65-F5344CB8AC3E}">
        <p14:creationId xmlns:p14="http://schemas.microsoft.com/office/powerpoint/2010/main" val="158144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freeimagesarchive.com/data/media/223/Tre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7"/>
            <a:ext cx="9144000" cy="686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776" y="274638"/>
            <a:ext cx="3744416" cy="1143000"/>
          </a:xfrm>
          <a:solidFill>
            <a:srgbClr val="669900"/>
          </a:solidFill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Tree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6992"/>
            <a:ext cx="8229600" cy="3384376"/>
          </a:xfrm>
          <a:solidFill>
            <a:srgbClr val="669900"/>
          </a:solidFill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 tree diagram is a way of representing the probabilities of two or more events in a diagram.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To calculate probabilities using a tree diagram, you </a:t>
            </a:r>
            <a:r>
              <a:rPr lang="en-GB" b="1" u="sng" dirty="0">
                <a:solidFill>
                  <a:schemeClr val="bg1"/>
                </a:solidFill>
              </a:rPr>
              <a:t>multiply along the branches</a:t>
            </a:r>
          </a:p>
        </p:txBody>
      </p:sp>
    </p:spTree>
    <p:extLst>
      <p:ext uri="{BB962C8B-B14F-4D97-AF65-F5344CB8AC3E}">
        <p14:creationId xmlns:p14="http://schemas.microsoft.com/office/powerpoint/2010/main" val="114075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1106518" y="2345437"/>
            <a:ext cx="441146" cy="2770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539552" y="2817040"/>
            <a:ext cx="1728658" cy="972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40018" y="3789040"/>
            <a:ext cx="1728192" cy="972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275856" y="2132856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275856" y="2817040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291464" y="4076856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75856" y="4761040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3528" y="836712"/>
            <a:ext cx="8478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 flip two coins, what is the probability that I get two heads?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5788" y="2616985"/>
            <a:ext cx="92685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Heads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5788" y="4560985"/>
            <a:ext cx="91127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Tails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6716" y="1932801"/>
            <a:ext cx="92685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Heads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6716" y="3301169"/>
            <a:ext cx="91127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Tails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6716" y="3876801"/>
            <a:ext cx="92685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Heads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6716" y="5245169"/>
            <a:ext cx="91127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Tails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518" y="26939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 1 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518" y="42228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 1 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0991" y="5085184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 1 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0991" y="380148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 1 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0991" y="314270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 1 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0991" y="1846565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 1 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9689" y="194123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P(HH) =          x       =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1958" y="1936850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1 </a:t>
            </a:r>
          </a:p>
          <a:p>
            <a:pPr algn="ctr"/>
            <a:r>
              <a:rPr lang="en-GB" sz="1600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3140" y="1932801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1 </a:t>
            </a:r>
          </a:p>
          <a:p>
            <a:pPr algn="ctr"/>
            <a:r>
              <a:rPr lang="en-GB" sz="1600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5716" y="1943687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1 </a:t>
            </a:r>
          </a:p>
          <a:p>
            <a:pPr algn="ctr"/>
            <a:r>
              <a:rPr lang="en-GB" sz="1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9689" y="305494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P(HT) =           x       =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6483" y="3050560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1 </a:t>
            </a:r>
          </a:p>
          <a:p>
            <a:pPr algn="ctr"/>
            <a:r>
              <a:rPr lang="en-GB" sz="1600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3140" y="3046511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1 </a:t>
            </a:r>
          </a:p>
          <a:p>
            <a:pPr algn="ctr"/>
            <a:r>
              <a:rPr lang="en-GB" sz="1600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5716" y="3057397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1 </a:t>
            </a:r>
          </a:p>
          <a:p>
            <a:pPr algn="ctr"/>
            <a:r>
              <a:rPr lang="en-GB" sz="1600" dirty="0"/>
              <a:t>4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6389689" y="3876801"/>
            <a:ext cx="2476027" cy="654768"/>
            <a:chOff x="6389689" y="4092825"/>
            <a:chExt cx="2476027" cy="654768"/>
          </a:xfrm>
        </p:grpSpPr>
        <p:sp>
          <p:nvSpPr>
            <p:cNvPr id="41" name="TextBox 40"/>
            <p:cNvSpPr txBox="1"/>
            <p:nvPr/>
          </p:nvSpPr>
          <p:spPr>
            <a:xfrm>
              <a:off x="6389689" y="4101262"/>
              <a:ext cx="2476027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P(TH) =           x       =    </a:t>
              </a:r>
            </a:p>
            <a:p>
              <a:r>
                <a:rPr lang="en-GB" dirty="0"/>
                <a:t>    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246483" y="4096874"/>
              <a:ext cx="4138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1 </a:t>
              </a:r>
            </a:p>
            <a:p>
              <a:pPr algn="ctr"/>
              <a:r>
                <a:rPr lang="en-GB" sz="1600" dirty="0"/>
                <a:t>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823140" y="4092825"/>
              <a:ext cx="4138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1 </a:t>
              </a:r>
            </a:p>
            <a:p>
              <a:pPr algn="ctr"/>
              <a:r>
                <a:rPr lang="en-GB" sz="1600" dirty="0"/>
                <a:t>2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95716" y="4103711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1 </a:t>
              </a:r>
            </a:p>
            <a:p>
              <a:pPr algn="ctr"/>
              <a:r>
                <a:rPr lang="en-GB" sz="1600" dirty="0"/>
                <a:t>4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386777" y="4990511"/>
            <a:ext cx="2476027" cy="654768"/>
            <a:chOff x="6386777" y="5206535"/>
            <a:chExt cx="2476027" cy="654768"/>
          </a:xfrm>
        </p:grpSpPr>
        <p:sp>
          <p:nvSpPr>
            <p:cNvPr id="46" name="TextBox 45"/>
            <p:cNvSpPr txBox="1"/>
            <p:nvPr/>
          </p:nvSpPr>
          <p:spPr>
            <a:xfrm>
              <a:off x="6386777" y="5214972"/>
              <a:ext cx="2476027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P(TT) =</a:t>
              </a:r>
              <a:r>
                <a:rPr lang="en-GB" sz="1200" dirty="0"/>
                <a:t> </a:t>
              </a:r>
              <a:r>
                <a:rPr lang="en-GB" dirty="0"/>
                <a:t>          x       =    </a:t>
              </a:r>
            </a:p>
            <a:p>
              <a:r>
                <a:rPr lang="en-GB" dirty="0"/>
                <a:t>     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243571" y="5210584"/>
              <a:ext cx="4138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1 </a:t>
              </a:r>
            </a:p>
            <a:p>
              <a:pPr algn="ctr"/>
              <a:r>
                <a:rPr lang="en-GB" sz="1600" dirty="0"/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20228" y="5206535"/>
              <a:ext cx="4138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1 </a:t>
              </a:r>
            </a:p>
            <a:p>
              <a:pPr algn="ctr"/>
              <a:r>
                <a:rPr lang="en-GB" sz="1600" dirty="0"/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92804" y="5217421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1 </a:t>
              </a:r>
            </a:p>
            <a:p>
              <a:pPr algn="ctr"/>
              <a:r>
                <a:rPr lang="en-GB" sz="1600" dirty="0"/>
                <a:t>4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2314755" y="1477233"/>
            <a:ext cx="8515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u="sng" dirty="0"/>
              <a:t>Coin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41860" y="1477233"/>
            <a:ext cx="8515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Coin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6002" y="5282898"/>
            <a:ext cx="201575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Probabilities on each branch add up to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25990" y="1946199"/>
            <a:ext cx="441146" cy="369908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/>
          <p:cNvCxnSpPr>
            <a:endCxn id="17" idx="1"/>
          </p:cNvCxnSpPr>
          <p:nvPr/>
        </p:nvCxnSpPr>
        <p:spPr>
          <a:xfrm flipV="1">
            <a:off x="539552" y="2817040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3291464" y="2132856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39552" y="2817040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291464" y="2806742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540210" y="3789833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3291464" y="4077649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52078" y="3801566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3303332" y="4761040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27784" y="5720978"/>
            <a:ext cx="271907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Possible outcomes are shown on the end of the branches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76644" y="5733504"/>
            <a:ext cx="271907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Multiply along the branches to work out the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020272" y="838453"/>
                <a:ext cx="1183337" cy="526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P(HH)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200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endParaRPr lang="en-GB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838453"/>
                <a:ext cx="1183337" cy="526939"/>
              </a:xfrm>
              <a:prstGeom prst="rect">
                <a:avLst/>
              </a:prstGeom>
              <a:blipFill rotWithShape="1">
                <a:blip r:embed="rId3"/>
                <a:stretch>
                  <a:fillRect l="-5670" b="-9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533123" y="19505"/>
            <a:ext cx="8229600" cy="850106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Using tree diagrams</a:t>
            </a:r>
          </a:p>
        </p:txBody>
      </p:sp>
    </p:spTree>
    <p:extLst>
      <p:ext uri="{BB962C8B-B14F-4D97-AF65-F5344CB8AC3E}">
        <p14:creationId xmlns:p14="http://schemas.microsoft.com/office/powerpoint/2010/main" val="399233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8" grpId="0"/>
      <p:bldP spid="29" grpId="0"/>
      <p:bldP spid="31" grpId="0" animBg="1"/>
      <p:bldP spid="32" grpId="0"/>
      <p:bldP spid="33" grpId="0"/>
      <p:bldP spid="34" grpId="0"/>
      <p:bldP spid="36" grpId="0" animBg="1"/>
      <p:bldP spid="37" grpId="0"/>
      <p:bldP spid="38" grpId="0"/>
      <p:bldP spid="39" grpId="0"/>
      <p:bldP spid="50" grpId="0" animBg="1"/>
      <p:bldP spid="51" grpId="0" animBg="1"/>
      <p:bldP spid="53" grpId="0" animBg="1"/>
      <p:bldP spid="57" grpId="0" animBg="1"/>
      <p:bldP spid="69" grpId="0" animBg="1"/>
      <p:bldP spid="70" grpId="0" animBg="1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827584" y="4963015"/>
            <a:ext cx="1656184" cy="9361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832241" y="4034156"/>
            <a:ext cx="1656184" cy="9361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491880" y="3413704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3491880" y="4034156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491879" y="5278667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3491880" y="5900537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Oval 1129"/>
          <p:cNvSpPr/>
          <p:nvPr/>
        </p:nvSpPr>
        <p:spPr>
          <a:xfrm>
            <a:off x="6948265" y="1562828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Oval 138"/>
          <p:cNvSpPr/>
          <p:nvPr/>
        </p:nvSpPr>
        <p:spPr>
          <a:xfrm>
            <a:off x="7453363" y="1556792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Oval 139"/>
          <p:cNvSpPr/>
          <p:nvPr/>
        </p:nvSpPr>
        <p:spPr>
          <a:xfrm>
            <a:off x="6517337" y="1914484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Oval 140"/>
          <p:cNvSpPr/>
          <p:nvPr/>
        </p:nvSpPr>
        <p:spPr>
          <a:xfrm>
            <a:off x="6990643" y="2160333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Oval 141"/>
          <p:cNvSpPr/>
          <p:nvPr/>
        </p:nvSpPr>
        <p:spPr>
          <a:xfrm>
            <a:off x="6812633" y="2442449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Oval 142"/>
          <p:cNvSpPr/>
          <p:nvPr/>
        </p:nvSpPr>
        <p:spPr>
          <a:xfrm>
            <a:off x="8088951" y="1768019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Oval 143"/>
          <p:cNvSpPr/>
          <p:nvPr/>
        </p:nvSpPr>
        <p:spPr>
          <a:xfrm>
            <a:off x="7922981" y="2247780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Oval 144"/>
          <p:cNvSpPr/>
          <p:nvPr/>
        </p:nvSpPr>
        <p:spPr>
          <a:xfrm>
            <a:off x="7422233" y="2366644"/>
            <a:ext cx="590592" cy="338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Oval 145"/>
          <p:cNvSpPr/>
          <p:nvPr/>
        </p:nvSpPr>
        <p:spPr>
          <a:xfrm>
            <a:off x="7562227" y="1941984"/>
            <a:ext cx="590592" cy="338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Oval 146"/>
          <p:cNvSpPr/>
          <p:nvPr/>
        </p:nvSpPr>
        <p:spPr>
          <a:xfrm>
            <a:off x="6955529" y="1772816"/>
            <a:ext cx="590592" cy="338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1" name="TextBox 1130"/>
          <p:cNvSpPr txBox="1"/>
          <p:nvPr/>
        </p:nvSpPr>
        <p:spPr>
          <a:xfrm>
            <a:off x="2651091" y="3827624"/>
            <a:ext cx="655949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Red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51091" y="5700482"/>
            <a:ext cx="69923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Blue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64088" y="6320934"/>
            <a:ext cx="69923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Blue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78082" y="4454553"/>
            <a:ext cx="69923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Blue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378886" y="3232374"/>
            <a:ext cx="655949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Red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85728" y="5078612"/>
            <a:ext cx="655949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Red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1430256" y="3901367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7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150372" y="320590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7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188930" y="42698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3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53385" y="5408094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3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188929" y="622860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3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88931" y="504425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7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133" name="TextBox 1132"/>
          <p:cNvSpPr txBox="1"/>
          <p:nvPr/>
        </p:nvSpPr>
        <p:spPr>
          <a:xfrm>
            <a:off x="323528" y="836712"/>
            <a:ext cx="84780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 have a bag of counters, 3 blue and 7 red. I pick one counter out without looking and put it back in the bag, I then pick out another counter.  What is the probability that I pick out a red counter and a blue counter?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2469951" y="2645440"/>
            <a:ext cx="101822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u="sng" dirty="0"/>
              <a:t>Sweet 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97746" y="2645440"/>
            <a:ext cx="101822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u="sng" dirty="0"/>
              <a:t>Sweet 2</a:t>
            </a:r>
          </a:p>
        </p:txBody>
      </p:sp>
      <p:grpSp>
        <p:nvGrpSpPr>
          <p:cNvPr id="1137" name="Group 1136"/>
          <p:cNvGrpSpPr/>
          <p:nvPr/>
        </p:nvGrpSpPr>
        <p:grpSpPr>
          <a:xfrm>
            <a:off x="6228183" y="3217241"/>
            <a:ext cx="2476027" cy="654768"/>
            <a:chOff x="6516215" y="2547322"/>
            <a:chExt cx="2476027" cy="654768"/>
          </a:xfrm>
        </p:grpSpPr>
        <p:sp>
          <p:nvSpPr>
            <p:cNvPr id="1135" name="TextBox 1134"/>
            <p:cNvSpPr txBox="1"/>
            <p:nvPr/>
          </p:nvSpPr>
          <p:spPr>
            <a:xfrm>
              <a:off x="6516215" y="2555759"/>
              <a:ext cx="2476027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P(RR) =          x       =    </a:t>
              </a:r>
            </a:p>
            <a:p>
              <a:r>
                <a:rPr lang="en-GB" dirty="0"/>
                <a:t>     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7373009" y="2551371"/>
              <a:ext cx="4138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7 </a:t>
              </a:r>
            </a:p>
            <a:p>
              <a:pPr algn="ctr"/>
              <a:r>
                <a:rPr lang="en-GB" sz="1600" dirty="0"/>
                <a:t>10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7960085" y="254732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7 </a:t>
              </a:r>
            </a:p>
            <a:p>
              <a:pPr algn="ctr"/>
              <a:r>
                <a:rPr lang="en-GB" sz="1600" dirty="0"/>
                <a:t>10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8479762" y="2558208"/>
              <a:ext cx="4972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49</a:t>
              </a:r>
            </a:p>
            <a:p>
              <a:pPr algn="ctr"/>
              <a:r>
                <a:rPr lang="en-GB" sz="1600" dirty="0"/>
                <a:t>100</a:t>
              </a:r>
            </a:p>
          </p:txBody>
        </p:sp>
      </p:grpSp>
      <p:sp>
        <p:nvSpPr>
          <p:cNvPr id="170" name="TextBox 169"/>
          <p:cNvSpPr txBox="1"/>
          <p:nvPr/>
        </p:nvSpPr>
        <p:spPr>
          <a:xfrm>
            <a:off x="6206310" y="4208332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P(RB) =          x       =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063104" y="4203944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7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650180" y="41998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3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69857" y="4210781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21</a:t>
            </a:r>
          </a:p>
          <a:p>
            <a:pPr algn="ctr"/>
            <a:r>
              <a:rPr lang="en-GB" sz="1600" dirty="0"/>
              <a:t>100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215973" y="5080793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P(BR) =           x       =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072767" y="5076405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3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659843" y="507235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7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179520" y="5083242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21</a:t>
            </a:r>
          </a:p>
          <a:p>
            <a:pPr algn="ctr"/>
            <a:r>
              <a:rPr lang="en-GB" sz="1600" dirty="0"/>
              <a:t>100</a:t>
            </a:r>
          </a:p>
        </p:txBody>
      </p:sp>
      <p:grpSp>
        <p:nvGrpSpPr>
          <p:cNvPr id="179" name="Group 178"/>
          <p:cNvGrpSpPr/>
          <p:nvPr/>
        </p:nvGrpSpPr>
        <p:grpSpPr>
          <a:xfrm>
            <a:off x="6215973" y="6066276"/>
            <a:ext cx="2476027" cy="654768"/>
            <a:chOff x="6516215" y="2547322"/>
            <a:chExt cx="2476027" cy="654768"/>
          </a:xfrm>
        </p:grpSpPr>
        <p:sp>
          <p:nvSpPr>
            <p:cNvPr id="180" name="TextBox 179"/>
            <p:cNvSpPr txBox="1"/>
            <p:nvPr/>
          </p:nvSpPr>
          <p:spPr>
            <a:xfrm>
              <a:off x="6516215" y="2555759"/>
              <a:ext cx="2476027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P(BB) =           x       =    </a:t>
              </a:r>
            </a:p>
            <a:p>
              <a:r>
                <a:rPr lang="en-GB" dirty="0"/>
                <a:t>     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7373009" y="2551371"/>
              <a:ext cx="4138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3 </a:t>
              </a:r>
            </a:p>
            <a:p>
              <a:pPr algn="ctr"/>
              <a:r>
                <a:rPr lang="en-GB" sz="1600" dirty="0"/>
                <a:t>10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7960085" y="254732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3 </a:t>
              </a:r>
            </a:p>
            <a:p>
              <a:pPr algn="ctr"/>
              <a:r>
                <a:rPr lang="en-GB" sz="1600" dirty="0"/>
                <a:t>10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8479762" y="2558208"/>
              <a:ext cx="4972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u="sng" dirty="0"/>
                <a:t> 9 </a:t>
              </a:r>
            </a:p>
            <a:p>
              <a:pPr algn="ctr"/>
              <a:r>
                <a:rPr lang="en-GB" sz="1600" dirty="0"/>
                <a:t>100</a:t>
              </a:r>
            </a:p>
          </p:txBody>
        </p:sp>
      </p:grpSp>
      <p:cxnSp>
        <p:nvCxnSpPr>
          <p:cNvPr id="186" name="Straight Connector 185"/>
          <p:cNvCxnSpPr/>
          <p:nvPr/>
        </p:nvCxnSpPr>
        <p:spPr>
          <a:xfrm flipH="1">
            <a:off x="832241" y="4028279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flipH="1">
            <a:off x="3491880" y="3413704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flipH="1">
            <a:off x="834066" y="4040379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flipH="1" flipV="1">
            <a:off x="3532507" y="4045042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flipH="1">
            <a:off x="3488178" y="5285962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 flipV="1">
            <a:off x="841250" y="4966343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 flipH="1" flipV="1">
            <a:off x="3489961" y="5906932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flipH="1" flipV="1">
            <a:off x="832240" y="4963015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itle 1"/>
          <p:cNvSpPr>
            <a:spLocks noGrp="1"/>
          </p:cNvSpPr>
          <p:nvPr>
            <p:ph type="title"/>
          </p:nvPr>
        </p:nvSpPr>
        <p:spPr>
          <a:xfrm>
            <a:off x="533123" y="19505"/>
            <a:ext cx="8229600" cy="850106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Using tree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9511" y="1850377"/>
                <a:ext cx="6337825" cy="6169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P(1 red and 1 blue)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21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GB" sz="2400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21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42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21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50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1" y="1850377"/>
                <a:ext cx="6337825" cy="616964"/>
              </a:xfrm>
              <a:prstGeom prst="rect">
                <a:avLst/>
              </a:prstGeom>
              <a:blipFill rotWithShape="1">
                <a:blip r:embed="rId3"/>
                <a:stretch>
                  <a:fillRect l="-1344" b="-8738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59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132" grpId="0"/>
      <p:bldP spid="155" grpId="0"/>
      <p:bldP spid="156" grpId="0"/>
      <p:bldP spid="157" grpId="0"/>
      <p:bldP spid="158" grpId="0"/>
      <p:bldP spid="159" grpId="0"/>
      <p:bldP spid="1134" grpId="0" animBg="1"/>
      <p:bldP spid="162" grpId="0" animBg="1"/>
      <p:bldP spid="170" grpId="0" animBg="1"/>
      <p:bldP spid="171" grpId="0"/>
      <p:bldP spid="172" grpId="0"/>
      <p:bldP spid="173" grpId="0"/>
      <p:bldP spid="175" grpId="0" animBg="1"/>
      <p:bldP spid="176" grpId="0"/>
      <p:bldP spid="177" grpId="0"/>
      <p:bldP spid="178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Grade C/B - Completing tree diagrams with probabilities like example 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Grade B - Completing tree diagrams with probabilities like in example 2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Grade B/A Extension – More complex tree diagrams and probabilities. You can only move onto to this once you have completed at least Q3 and 4 of Silver</a:t>
            </a:r>
          </a:p>
        </p:txBody>
      </p:sp>
      <p:sp>
        <p:nvSpPr>
          <p:cNvPr id="4" name="Oval 3"/>
          <p:cNvSpPr/>
          <p:nvPr/>
        </p:nvSpPr>
        <p:spPr>
          <a:xfrm>
            <a:off x="0" y="1783981"/>
            <a:ext cx="548525" cy="504057"/>
          </a:xfrm>
          <a:prstGeom prst="ellipse">
            <a:avLst/>
          </a:prstGeom>
          <a:solidFill>
            <a:srgbClr val="CC66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-3" y="3225733"/>
            <a:ext cx="548525" cy="504057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-4" y="4941167"/>
            <a:ext cx="548525" cy="504057"/>
          </a:xfrm>
          <a:prstGeom prst="ellipse">
            <a:avLst/>
          </a:prstGeom>
          <a:solidFill>
            <a:srgbClr val="FFCC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49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8801" y="809328"/>
                <a:ext cx="8229600" cy="6048672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I place a bet on the outcome of two football matches. The probability I win on the first match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400" dirty="0"/>
                  <a:t> and the probability I win on the second match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400" dirty="0"/>
                  <a:t>. 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Copy and complete the tree diagram below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801" y="809328"/>
                <a:ext cx="8229600" cy="6048672"/>
              </a:xfrm>
              <a:blipFill rotWithShape="1">
                <a:blip r:embed="rId2"/>
                <a:stretch>
                  <a:fillRect l="-963" t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04" y="116632"/>
            <a:ext cx="8229600" cy="692696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GB" dirty="0"/>
              <a:t>Plenary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776389" y="4915539"/>
            <a:ext cx="72008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76389" y="5419595"/>
            <a:ext cx="720080" cy="4320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144541" y="4051443"/>
            <a:ext cx="72008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44541" y="4555499"/>
            <a:ext cx="720080" cy="3600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144541" y="5470376"/>
            <a:ext cx="72008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144541" y="5974432"/>
            <a:ext cx="720080" cy="3600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96469" y="4627507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5816" y="3866777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5816" y="5291269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6469" y="5770343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4621" y="4735519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5816" y="61653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2874" y="350725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0605" y="350100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8024" y="3645024"/>
            <a:ext cx="3672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Calculate the probability of me winning both my bets</a:t>
            </a:r>
          </a:p>
          <a:p>
            <a:endParaRPr lang="en-GB" sz="2400" dirty="0"/>
          </a:p>
          <a:p>
            <a:r>
              <a:rPr lang="en-GB" sz="2400" dirty="0"/>
              <a:t>Calculate the probability that I win at least one of the bets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4899" y="4509904"/>
                <a:ext cx="720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9" y="4509904"/>
                <a:ext cx="720080" cy="63478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>
            <a:off x="494879" y="2707562"/>
            <a:ext cx="360040" cy="36004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427984" y="3744827"/>
            <a:ext cx="360040" cy="36004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442996" y="4804633"/>
            <a:ext cx="360040" cy="36004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144541" y="3559191"/>
                <a:ext cx="720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541" y="3559191"/>
                <a:ext cx="720080" cy="63478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971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8"/>
            <a:ext cx="9036496" cy="63367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u="sng" dirty="0"/>
              <a:t>Self-Assessment</a:t>
            </a:r>
          </a:p>
          <a:p>
            <a:pPr marL="0" indent="0">
              <a:buNone/>
            </a:pPr>
            <a:r>
              <a:rPr lang="en-GB" b="1" dirty="0"/>
              <a:t>Today I am working towards a grade…</a:t>
            </a:r>
          </a:p>
          <a:p>
            <a:pPr marL="0" indent="0">
              <a:buNone/>
            </a:pPr>
            <a:r>
              <a:rPr lang="en-GB" b="1" dirty="0"/>
              <a:t>I have shown I can…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My next step is to…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69" y="2276871"/>
            <a:ext cx="776751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Grade C – draw a tree diagram</a:t>
            </a:r>
          </a:p>
          <a:p>
            <a:endParaRPr lang="en-GB" sz="2800" dirty="0"/>
          </a:p>
          <a:p>
            <a:r>
              <a:rPr lang="en-GB" sz="2800" dirty="0"/>
              <a:t>Grade B – calculate independent probability using a </a:t>
            </a:r>
          </a:p>
          <a:p>
            <a:r>
              <a:rPr lang="en-GB" sz="2800" dirty="0"/>
              <a:t>tree diagram</a:t>
            </a:r>
          </a:p>
          <a:p>
            <a:endParaRPr lang="en-GB" sz="2800" dirty="0"/>
          </a:p>
          <a:p>
            <a:r>
              <a:rPr lang="en-GB" sz="2800" dirty="0"/>
              <a:t>Grade B/A – calculate more complex probabilities</a:t>
            </a:r>
          </a:p>
          <a:p>
            <a:endParaRPr lang="en-GB" sz="2800" dirty="0"/>
          </a:p>
          <a:p>
            <a:endParaRPr lang="en-GB" sz="2800" dirty="0"/>
          </a:p>
        </p:txBody>
      </p:sp>
      <p:sp>
        <p:nvSpPr>
          <p:cNvPr id="5" name="Oval 4"/>
          <p:cNvSpPr/>
          <p:nvPr/>
        </p:nvSpPr>
        <p:spPr>
          <a:xfrm>
            <a:off x="467544" y="2276871"/>
            <a:ext cx="548525" cy="504057"/>
          </a:xfrm>
          <a:prstGeom prst="ellipse">
            <a:avLst/>
          </a:prstGeom>
          <a:solidFill>
            <a:srgbClr val="CC66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467543" y="3214566"/>
            <a:ext cx="548525" cy="504057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67542" y="4162929"/>
            <a:ext cx="548525" cy="504057"/>
          </a:xfrm>
          <a:prstGeom prst="ellipse">
            <a:avLst/>
          </a:prstGeom>
          <a:solidFill>
            <a:srgbClr val="FFCC00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7504" y="2132856"/>
            <a:ext cx="8928992" cy="2952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589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539552" y="2817040"/>
            <a:ext cx="1728658" cy="972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40018" y="3789040"/>
            <a:ext cx="1728192" cy="972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275856" y="2132856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275856" y="2817040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291464" y="4076856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75856" y="4761040"/>
            <a:ext cx="1800200" cy="6841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3528" y="836712"/>
            <a:ext cx="8478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 flip two coins, what is the probability that I get two heads?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5788" y="2616985"/>
            <a:ext cx="92685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Heads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5788" y="4560985"/>
            <a:ext cx="91127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Tails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9689" y="194123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P(HH) =</a:t>
            </a:r>
          </a:p>
          <a:p>
            <a:endParaRPr lang="en-GB" dirty="0"/>
          </a:p>
        </p:txBody>
      </p:sp>
      <p:sp>
        <p:nvSpPr>
          <p:cNvPr id="36" name="TextBox 35"/>
          <p:cNvSpPr txBox="1"/>
          <p:nvPr/>
        </p:nvSpPr>
        <p:spPr>
          <a:xfrm>
            <a:off x="6389689" y="305494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P(HT) =</a:t>
            </a:r>
          </a:p>
          <a:p>
            <a:r>
              <a:rPr lang="en-GB" dirty="0"/>
              <a:t>  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9689" y="388523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P(TH) =           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6777" y="499894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P(TT) =</a:t>
            </a:r>
            <a:r>
              <a:rPr lang="en-GB" sz="1200" dirty="0"/>
              <a:t> </a:t>
            </a:r>
            <a:r>
              <a:rPr lang="en-GB" dirty="0"/>
              <a:t>                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14755" y="1477233"/>
            <a:ext cx="8515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u="sng" dirty="0"/>
              <a:t>Coin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41860" y="1477233"/>
            <a:ext cx="8515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u="sng" dirty="0"/>
              <a:t>Coin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6002" y="5282898"/>
            <a:ext cx="201575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Probabilities…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59" name="Straight Connector 58"/>
          <p:cNvCxnSpPr>
            <a:endCxn id="17" idx="1"/>
          </p:cNvCxnSpPr>
          <p:nvPr/>
        </p:nvCxnSpPr>
        <p:spPr>
          <a:xfrm flipV="1">
            <a:off x="539552" y="2817040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3291464" y="2132856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39552" y="2817040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291464" y="2806742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540210" y="3789833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3291464" y="4077649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52078" y="3801566"/>
            <a:ext cx="1728000" cy="9720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3303332" y="4761040"/>
            <a:ext cx="1784592" cy="68418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27784" y="5720978"/>
            <a:ext cx="271907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Possible outcomes…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70" name="TextBox 69"/>
          <p:cNvSpPr txBox="1"/>
          <p:nvPr/>
        </p:nvSpPr>
        <p:spPr>
          <a:xfrm>
            <a:off x="5676644" y="5733504"/>
            <a:ext cx="271907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Multiply…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533123" y="19505"/>
            <a:ext cx="8229600" cy="850106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Using tree diagrams – Example 1</a:t>
            </a:r>
          </a:p>
        </p:txBody>
      </p:sp>
    </p:spTree>
    <p:extLst>
      <p:ext uri="{BB962C8B-B14F-4D97-AF65-F5344CB8AC3E}">
        <p14:creationId xmlns:p14="http://schemas.microsoft.com/office/powerpoint/2010/main" val="39548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1" grpId="0" animBg="1"/>
      <p:bldP spid="36" grpId="0" animBg="1"/>
      <p:bldP spid="50" grpId="0" animBg="1"/>
      <p:bldP spid="51" grpId="0" animBg="1"/>
      <p:bldP spid="53" grpId="0" animBg="1"/>
      <p:bldP spid="69" grpId="0" animBg="1"/>
      <p:bldP spid="7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827584" y="4963015"/>
            <a:ext cx="1656184" cy="9361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832241" y="4034156"/>
            <a:ext cx="1656184" cy="9361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491880" y="3413704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3491880" y="4034156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491879" y="5278667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3491880" y="5900537"/>
            <a:ext cx="1787159" cy="620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Oval 1129"/>
          <p:cNvSpPr/>
          <p:nvPr/>
        </p:nvSpPr>
        <p:spPr>
          <a:xfrm>
            <a:off x="6948265" y="1562828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Oval 138"/>
          <p:cNvSpPr/>
          <p:nvPr/>
        </p:nvSpPr>
        <p:spPr>
          <a:xfrm>
            <a:off x="7453363" y="1556792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Oval 139"/>
          <p:cNvSpPr/>
          <p:nvPr/>
        </p:nvSpPr>
        <p:spPr>
          <a:xfrm>
            <a:off x="6517337" y="1914484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Oval 140"/>
          <p:cNvSpPr/>
          <p:nvPr/>
        </p:nvSpPr>
        <p:spPr>
          <a:xfrm>
            <a:off x="6990643" y="2160333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Oval 141"/>
          <p:cNvSpPr/>
          <p:nvPr/>
        </p:nvSpPr>
        <p:spPr>
          <a:xfrm>
            <a:off x="6812633" y="2442449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Oval 142"/>
          <p:cNvSpPr/>
          <p:nvPr/>
        </p:nvSpPr>
        <p:spPr>
          <a:xfrm>
            <a:off x="8088951" y="1768019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Oval 143"/>
          <p:cNvSpPr/>
          <p:nvPr/>
        </p:nvSpPr>
        <p:spPr>
          <a:xfrm>
            <a:off x="7922981" y="2247780"/>
            <a:ext cx="590592" cy="33833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Oval 144"/>
          <p:cNvSpPr/>
          <p:nvPr/>
        </p:nvSpPr>
        <p:spPr>
          <a:xfrm>
            <a:off x="7422233" y="2366644"/>
            <a:ext cx="590592" cy="338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Oval 145"/>
          <p:cNvSpPr/>
          <p:nvPr/>
        </p:nvSpPr>
        <p:spPr>
          <a:xfrm>
            <a:off x="7562227" y="1941984"/>
            <a:ext cx="590592" cy="338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Oval 146"/>
          <p:cNvSpPr/>
          <p:nvPr/>
        </p:nvSpPr>
        <p:spPr>
          <a:xfrm>
            <a:off x="6955529" y="1772816"/>
            <a:ext cx="590592" cy="33833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threePt" dir="t"/>
          </a:scene3d>
          <a:sp3d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1" name="TextBox 1130"/>
          <p:cNvSpPr txBox="1"/>
          <p:nvPr/>
        </p:nvSpPr>
        <p:spPr>
          <a:xfrm>
            <a:off x="2651091" y="3827624"/>
            <a:ext cx="655949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Red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51091" y="5700482"/>
            <a:ext cx="704039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        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64088" y="6320934"/>
            <a:ext cx="646331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       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78082" y="4454553"/>
            <a:ext cx="646331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       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378886" y="3232374"/>
            <a:ext cx="646331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       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85728" y="5078612"/>
            <a:ext cx="646331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        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1430256" y="3901367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7 </a:t>
            </a:r>
          </a:p>
          <a:p>
            <a:pPr algn="ctr"/>
            <a:r>
              <a:rPr lang="en-GB" sz="1600" dirty="0"/>
              <a:t>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139952" y="3205905"/>
            <a:ext cx="413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u="sng" dirty="0"/>
              <a:t> 6 </a:t>
            </a:r>
          </a:p>
          <a:p>
            <a:pPr algn="ctr"/>
            <a:r>
              <a:rPr lang="en-GB" sz="1600" dirty="0"/>
              <a:t>9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2469951" y="2645440"/>
            <a:ext cx="101822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u="sng" dirty="0"/>
              <a:t>Sweet 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97746" y="2645440"/>
            <a:ext cx="101822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u="sng" dirty="0"/>
              <a:t>Sweet 2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6228183" y="3225678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P(RR) =</a:t>
            </a:r>
          </a:p>
          <a:p>
            <a:r>
              <a:rPr lang="en-GB" dirty="0"/>
              <a:t>    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06310" y="4208332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P(RB) =         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215973" y="5080793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P(BR) =              </a:t>
            </a:r>
          </a:p>
          <a:p>
            <a:r>
              <a:rPr lang="en-GB" dirty="0"/>
              <a:t>    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215973" y="6074713"/>
            <a:ext cx="24760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P(BB) =           </a:t>
            </a:r>
          </a:p>
          <a:p>
            <a:r>
              <a:rPr lang="en-GB" dirty="0"/>
              <a:t>     </a:t>
            </a:r>
          </a:p>
        </p:txBody>
      </p:sp>
      <p:cxnSp>
        <p:nvCxnSpPr>
          <p:cNvPr id="186" name="Straight Connector 185"/>
          <p:cNvCxnSpPr/>
          <p:nvPr/>
        </p:nvCxnSpPr>
        <p:spPr>
          <a:xfrm flipH="1">
            <a:off x="832241" y="4028279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flipH="1">
            <a:off x="3491880" y="3413704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flipH="1">
            <a:off x="834066" y="4040379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flipH="1" flipV="1">
            <a:off x="3532507" y="4045042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flipH="1">
            <a:off x="3488178" y="5285962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 flipV="1">
            <a:off x="841250" y="4966343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 flipH="1" flipV="1">
            <a:off x="3489961" y="5906932"/>
            <a:ext cx="1787159" cy="61457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flipH="1" flipV="1">
            <a:off x="832240" y="4963015"/>
            <a:ext cx="1656184" cy="93610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itle 1"/>
          <p:cNvSpPr>
            <a:spLocks noGrp="1"/>
          </p:cNvSpPr>
          <p:nvPr>
            <p:ph type="title"/>
          </p:nvPr>
        </p:nvSpPr>
        <p:spPr>
          <a:xfrm>
            <a:off x="533123" y="19505"/>
            <a:ext cx="8229600" cy="850106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Using tree diagrams – example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511" y="1850377"/>
            <a:ext cx="633782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P(1 red and 1 blue) =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528" y="836712"/>
            <a:ext cx="84780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 have a bag of counters, 3 blue and 7 red. I pick one counter out without looking and put it back in the bag, I then pick out another counter.  What is the probability that I pick out a red counter and a blue counter?</a:t>
            </a:r>
          </a:p>
        </p:txBody>
      </p:sp>
    </p:spTree>
    <p:extLst>
      <p:ext uri="{BB962C8B-B14F-4D97-AF65-F5344CB8AC3E}">
        <p14:creationId xmlns:p14="http://schemas.microsoft.com/office/powerpoint/2010/main" val="99141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99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4" grpId="1" animBg="1"/>
      <p:bldP spid="144" grpId="2" animBg="1"/>
      <p:bldP spid="145" grpId="0" animBg="1"/>
      <p:bldP spid="145" grpId="1" animBg="1"/>
      <p:bldP spid="146" grpId="0" animBg="1"/>
      <p:bldP spid="147" grpId="0" animBg="1"/>
      <p:bldP spid="1131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132" grpId="0"/>
      <p:bldP spid="155" grpId="0"/>
      <p:bldP spid="1134" grpId="0" animBg="1"/>
      <p:bldP spid="162" grpId="0" animBg="1"/>
      <p:bldP spid="170" grpId="0" animBg="1"/>
      <p:bldP spid="17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938</Words>
  <Application>Microsoft Macintosh PowerPoint</Application>
  <PresentationFormat>On-screen Show (4:3)</PresentationFormat>
  <Paragraphs>244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Gill Sans MT</vt:lpstr>
      <vt:lpstr>Office Theme</vt:lpstr>
      <vt:lpstr>PowerPoint Presentation</vt:lpstr>
      <vt:lpstr>Starter</vt:lpstr>
      <vt:lpstr>Starter</vt:lpstr>
      <vt:lpstr>The ‘AND’ Rule</vt:lpstr>
      <vt:lpstr>The ‘AND’ Rule</vt:lpstr>
      <vt:lpstr>Tree Diagrams</vt:lpstr>
      <vt:lpstr>Using tree diagrams</vt:lpstr>
      <vt:lpstr>Using tree diagrams</vt:lpstr>
      <vt:lpstr>Task</vt:lpstr>
      <vt:lpstr>Plenary</vt:lpstr>
      <vt:lpstr>PowerPoint Presentation</vt:lpstr>
      <vt:lpstr>Using tree diagrams – Example 1</vt:lpstr>
      <vt:lpstr>Using tree diagrams – example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Diagrams</dc:title>
  <dc:creator>Daniel Burke</dc:creator>
  <cp:lastModifiedBy>SUMMERS Brad [Baldivis Secondary College]</cp:lastModifiedBy>
  <cp:revision>27</cp:revision>
  <cp:lastPrinted>2020-10-14T01:13:54Z</cp:lastPrinted>
  <dcterms:created xsi:type="dcterms:W3CDTF">2012-04-29T21:21:54Z</dcterms:created>
  <dcterms:modified xsi:type="dcterms:W3CDTF">2020-10-14T01:15:17Z</dcterms:modified>
</cp:coreProperties>
</file>
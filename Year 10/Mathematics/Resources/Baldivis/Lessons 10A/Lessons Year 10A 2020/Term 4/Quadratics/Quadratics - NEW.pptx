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gif" ContentType="image/gif"/>
  <Default Extension="bin" ContentType="audio/unknown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790" r:id="rId2"/>
    <p:sldId id="791" r:id="rId3"/>
    <p:sldId id="795" r:id="rId4"/>
    <p:sldId id="796" r:id="rId5"/>
    <p:sldId id="793" r:id="rId6"/>
    <p:sldId id="797" r:id="rId7"/>
    <p:sldId id="794" r:id="rId8"/>
    <p:sldId id="798" r:id="rId9"/>
    <p:sldId id="799" r:id="rId10"/>
    <p:sldId id="800" r:id="rId11"/>
    <p:sldId id="764" r:id="rId12"/>
    <p:sldId id="763" r:id="rId13"/>
    <p:sldId id="773" r:id="rId14"/>
    <p:sldId id="775" r:id="rId15"/>
    <p:sldId id="801" r:id="rId16"/>
    <p:sldId id="746" r:id="rId17"/>
    <p:sldId id="748" r:id="rId18"/>
    <p:sldId id="802" r:id="rId19"/>
    <p:sldId id="803" r:id="rId20"/>
    <p:sldId id="808" r:id="rId21"/>
    <p:sldId id="769" r:id="rId22"/>
    <p:sldId id="776" r:id="rId23"/>
    <p:sldId id="806" r:id="rId24"/>
    <p:sldId id="807" r:id="rId25"/>
    <p:sldId id="805" r:id="rId26"/>
    <p:sldId id="804" r:id="rId27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91E191"/>
    <a:srgbClr val="8AE893"/>
    <a:srgbClr val="99FFCC"/>
    <a:srgbClr val="FFCCFF"/>
    <a:srgbClr val="FFFFCC"/>
    <a:srgbClr val="FFD96D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5206" autoAdjust="0"/>
  </p:normalViewPr>
  <p:slideViewPr>
    <p:cSldViewPr>
      <p:cViewPr varScale="1">
        <p:scale>
          <a:sx n="122" d="100"/>
          <a:sy n="122" d="100"/>
        </p:scale>
        <p:origin x="192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29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4" Type="http://schemas.openxmlformats.org/officeDocument/2006/relationships/image" Target="../media/image42.wmf"/><Relationship Id="rId5" Type="http://schemas.openxmlformats.org/officeDocument/2006/relationships/image" Target="../media/image43.wmf"/><Relationship Id="rId6" Type="http://schemas.openxmlformats.org/officeDocument/2006/relationships/image" Target="../media/image44.wmf"/><Relationship Id="rId7" Type="http://schemas.openxmlformats.org/officeDocument/2006/relationships/image" Target="../media/image45.wmf"/><Relationship Id="rId1" Type="http://schemas.openxmlformats.org/officeDocument/2006/relationships/image" Target="../media/image39.wmf"/><Relationship Id="rId2" Type="http://schemas.openxmlformats.org/officeDocument/2006/relationships/image" Target="../media/image4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4" Type="http://schemas.openxmlformats.org/officeDocument/2006/relationships/image" Target="../media/image49.wmf"/><Relationship Id="rId5" Type="http://schemas.openxmlformats.org/officeDocument/2006/relationships/image" Target="../media/image50.wmf"/><Relationship Id="rId6" Type="http://schemas.openxmlformats.org/officeDocument/2006/relationships/image" Target="../media/image51.wmf"/><Relationship Id="rId7" Type="http://schemas.openxmlformats.org/officeDocument/2006/relationships/image" Target="../media/image52.wmf"/><Relationship Id="rId8" Type="http://schemas.openxmlformats.org/officeDocument/2006/relationships/image" Target="../media/image53.wmf"/><Relationship Id="rId9" Type="http://schemas.openxmlformats.org/officeDocument/2006/relationships/image" Target="../media/image54.wmf"/><Relationship Id="rId10" Type="http://schemas.openxmlformats.org/officeDocument/2006/relationships/image" Target="../media/image55.wmf"/><Relationship Id="rId11" Type="http://schemas.openxmlformats.org/officeDocument/2006/relationships/image" Target="../media/image56.wmf"/><Relationship Id="rId1" Type="http://schemas.openxmlformats.org/officeDocument/2006/relationships/image" Target="../media/image46.wmf"/><Relationship Id="rId2" Type="http://schemas.openxmlformats.org/officeDocument/2006/relationships/image" Target="../media/image4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4" Type="http://schemas.openxmlformats.org/officeDocument/2006/relationships/image" Target="../media/image62.wmf"/><Relationship Id="rId5" Type="http://schemas.openxmlformats.org/officeDocument/2006/relationships/image" Target="../media/image63.wmf"/><Relationship Id="rId6" Type="http://schemas.openxmlformats.org/officeDocument/2006/relationships/image" Target="../media/image64.wmf"/><Relationship Id="rId7" Type="http://schemas.openxmlformats.org/officeDocument/2006/relationships/image" Target="../media/image65.wmf"/><Relationship Id="rId8" Type="http://schemas.openxmlformats.org/officeDocument/2006/relationships/image" Target="../media/image66.wmf"/><Relationship Id="rId1" Type="http://schemas.openxmlformats.org/officeDocument/2006/relationships/image" Target="../media/image59.wmf"/><Relationship Id="rId2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5521" cy="502627"/>
          </a:xfrm>
          <a:prstGeom prst="rect">
            <a:avLst/>
          </a:prstGeom>
        </p:spPr>
        <p:txBody>
          <a:bodyPr vert="horz" lIns="93128" tIns="46563" rIns="93128" bIns="4656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016" y="1"/>
            <a:ext cx="2985521" cy="502627"/>
          </a:xfrm>
          <a:prstGeom prst="rect">
            <a:avLst/>
          </a:prstGeom>
        </p:spPr>
        <p:txBody>
          <a:bodyPr vert="horz" lIns="93128" tIns="46563" rIns="93128" bIns="46563" rtlCol="0"/>
          <a:lstStyle>
            <a:lvl1pPr algn="r">
              <a:defRPr sz="1200"/>
            </a:lvl1pPr>
          </a:lstStyle>
          <a:p>
            <a:fld id="{808AFFCC-57C4-4C53-8499-C09858D4D127}" type="datetimeFigureOut">
              <a:rPr lang="en-GB" smtClean="0"/>
              <a:t>15/11/2018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7674"/>
            <a:ext cx="2985521" cy="502627"/>
          </a:xfrm>
          <a:prstGeom prst="rect">
            <a:avLst/>
          </a:prstGeom>
        </p:spPr>
        <p:txBody>
          <a:bodyPr vert="horz" lIns="93128" tIns="46563" rIns="93128" bIns="4656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016" y="9517674"/>
            <a:ext cx="2985521" cy="502627"/>
          </a:xfrm>
          <a:prstGeom prst="rect">
            <a:avLst/>
          </a:prstGeom>
        </p:spPr>
        <p:txBody>
          <a:bodyPr vert="horz" lIns="93128" tIns="46563" rIns="93128" bIns="46563" rtlCol="0" anchor="b"/>
          <a:lstStyle>
            <a:lvl1pPr algn="r">
              <a:defRPr sz="1200"/>
            </a:lvl1pPr>
          </a:lstStyle>
          <a:p>
            <a:fld id="{820F6A77-E0A6-4A0E-9E8D-32777E0A3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661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4871" cy="501016"/>
          </a:xfrm>
          <a:prstGeom prst="rect">
            <a:avLst/>
          </a:prstGeom>
        </p:spPr>
        <p:txBody>
          <a:bodyPr vert="horz" lIns="93128" tIns="46563" rIns="93128" bIns="4656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701" y="1"/>
            <a:ext cx="2984871" cy="501016"/>
          </a:xfrm>
          <a:prstGeom prst="rect">
            <a:avLst/>
          </a:prstGeom>
        </p:spPr>
        <p:txBody>
          <a:bodyPr vert="horz" lIns="93128" tIns="46563" rIns="93128" bIns="46563" rtlCol="0"/>
          <a:lstStyle>
            <a:lvl1pPr algn="r">
              <a:defRPr sz="1200"/>
            </a:lvl1pPr>
          </a:lstStyle>
          <a:p>
            <a:fld id="{22EB2EEC-4B4E-4894-854E-8252852E616F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2475"/>
            <a:ext cx="5008563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8" tIns="46563" rIns="93128" bIns="4656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6"/>
          </a:xfrm>
          <a:prstGeom prst="rect">
            <a:avLst/>
          </a:prstGeom>
        </p:spPr>
        <p:txBody>
          <a:bodyPr vert="horz" lIns="93128" tIns="46563" rIns="93128" bIns="4656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7546"/>
            <a:ext cx="2984871" cy="501016"/>
          </a:xfrm>
          <a:prstGeom prst="rect">
            <a:avLst/>
          </a:prstGeom>
        </p:spPr>
        <p:txBody>
          <a:bodyPr vert="horz" lIns="93128" tIns="46563" rIns="93128" bIns="4656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701" y="9517546"/>
            <a:ext cx="2984871" cy="501016"/>
          </a:xfrm>
          <a:prstGeom prst="rect">
            <a:avLst/>
          </a:prstGeom>
        </p:spPr>
        <p:txBody>
          <a:bodyPr vert="horz" lIns="93128" tIns="46563" rIns="93128" bIns="46563" rtlCol="0" anchor="b"/>
          <a:lstStyle>
            <a:lvl1pPr algn="r">
              <a:defRPr sz="1200"/>
            </a:lvl1pPr>
          </a:lstStyle>
          <a:p>
            <a:fld id="{6081A9D0-1D7B-4AF3-AD5F-6571C63F00F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35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72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4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17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5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96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92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26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6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2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03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550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37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65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B4337-A48C-41F2-9A4F-861B0E813836}" type="datetimeFigureOut">
              <a:rPr lang="en-GB" smtClean="0"/>
              <a:pPr/>
              <a:t>15/11/2018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D10A9-5CDC-4C86-9E26-26268FD925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1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audio" Target="../media/audio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oogle.co.uk/url?sa=i&amp;source=images&amp;cd=&amp;cad=rja&amp;docid=k4zob6HBfOGnwM&amp;tbnid=x2_IdOrr74wLfM:&amp;ved=0CAgQjRwwAA&amp;url=http://resumeroasts.blogspot.com/2012/01/squidward-meanie-pants.html&amp;ei=FQBOUfXdH4_s0gX0kIDABw&amp;psig=AFQjCNHOK7rDlsKAlVq9oZPDZHSkRYE3eQ&amp;ust=1364152725564051" TargetMode="External"/><Relationship Id="rId3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oogle.co.uk/url?sa=i&amp;rct=j&amp;q=mr+krabs&amp;source=images&amp;cd=&amp;cad=rja&amp;docid=MF3LyI5hdVsBrM&amp;tbnid=-VgcvY8mt5vcWM:&amp;ved=0CAUQjRw&amp;url=http://spongebob.neoseeker.com/wiki/Quotes_From_Mr._Krabs&amp;ei=hAJOUaFsycrRBevBgOgM&amp;bvm=bv.44158598,d.d2k&amp;psig=AFQjCNG8xgtV8MlOJ4yctOm5oUZSjPgqTA&amp;ust=1364153342562944" TargetMode="External"/><Relationship Id="rId3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5.bin"/><Relationship Id="rId12" Type="http://schemas.openxmlformats.org/officeDocument/2006/relationships/image" Target="../media/image43.wmf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44.wmf"/><Relationship Id="rId15" Type="http://schemas.openxmlformats.org/officeDocument/2006/relationships/oleObject" Target="../embeddings/oleObject7.bin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9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40.w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41.wmf"/><Relationship Id="rId9" Type="http://schemas.openxmlformats.org/officeDocument/2006/relationships/oleObject" Target="../embeddings/oleObject4.bin"/><Relationship Id="rId10" Type="http://schemas.openxmlformats.org/officeDocument/2006/relationships/image" Target="../media/image42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0" Type="http://schemas.openxmlformats.org/officeDocument/2006/relationships/image" Target="../media/image49.wmf"/><Relationship Id="rId21" Type="http://schemas.openxmlformats.org/officeDocument/2006/relationships/oleObject" Target="../embeddings/oleObject12.bin"/><Relationship Id="rId22" Type="http://schemas.openxmlformats.org/officeDocument/2006/relationships/image" Target="../media/image50.wmf"/><Relationship Id="rId23" Type="http://schemas.openxmlformats.org/officeDocument/2006/relationships/oleObject" Target="../embeddings/oleObject13.bin"/><Relationship Id="rId24" Type="http://schemas.openxmlformats.org/officeDocument/2006/relationships/image" Target="../media/image51.wmf"/><Relationship Id="rId25" Type="http://schemas.openxmlformats.org/officeDocument/2006/relationships/oleObject" Target="../embeddings/oleObject14.bin"/><Relationship Id="rId26" Type="http://schemas.openxmlformats.org/officeDocument/2006/relationships/image" Target="../media/image52.wmf"/><Relationship Id="rId27" Type="http://schemas.openxmlformats.org/officeDocument/2006/relationships/oleObject" Target="../embeddings/oleObject15.bin"/><Relationship Id="rId28" Type="http://schemas.openxmlformats.org/officeDocument/2006/relationships/image" Target="../media/image53.wmf"/><Relationship Id="rId29" Type="http://schemas.openxmlformats.org/officeDocument/2006/relationships/oleObject" Target="../embeddings/oleObject1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2.bin"/><Relationship Id="rId4" Type="http://schemas.openxmlformats.org/officeDocument/2006/relationships/audio" Target="../media/audio3.bin"/><Relationship Id="rId5" Type="http://schemas.openxmlformats.org/officeDocument/2006/relationships/audio" Target="../media/audio4.bin"/><Relationship Id="rId30" Type="http://schemas.openxmlformats.org/officeDocument/2006/relationships/image" Target="../media/image54.wmf"/><Relationship Id="rId31" Type="http://schemas.openxmlformats.org/officeDocument/2006/relationships/oleObject" Target="../embeddings/oleObject17.bin"/><Relationship Id="rId32" Type="http://schemas.openxmlformats.org/officeDocument/2006/relationships/image" Target="../media/image55.wmf"/><Relationship Id="rId9" Type="http://schemas.openxmlformats.org/officeDocument/2006/relationships/audio" Target="../media/audio8.bin"/><Relationship Id="rId6" Type="http://schemas.openxmlformats.org/officeDocument/2006/relationships/audio" Target="../media/audio5.bin"/><Relationship Id="rId7" Type="http://schemas.openxmlformats.org/officeDocument/2006/relationships/audio" Target="../media/audio6.bin"/><Relationship Id="rId8" Type="http://schemas.openxmlformats.org/officeDocument/2006/relationships/audio" Target="../media/audio7.bin"/><Relationship Id="rId33" Type="http://schemas.openxmlformats.org/officeDocument/2006/relationships/oleObject" Target="../embeddings/oleObject18.bin"/><Relationship Id="rId34" Type="http://schemas.openxmlformats.org/officeDocument/2006/relationships/image" Target="../media/image56.wmf"/><Relationship Id="rId35" Type="http://schemas.openxmlformats.org/officeDocument/2006/relationships/image" Target="../media/image58.jpeg"/><Relationship Id="rId10" Type="http://schemas.openxmlformats.org/officeDocument/2006/relationships/audio" Target="../media/audio9.bin"/><Relationship Id="rId11" Type="http://schemas.openxmlformats.org/officeDocument/2006/relationships/audio" Target="../media/audio10.bin"/><Relationship Id="rId12" Type="http://schemas.openxmlformats.org/officeDocument/2006/relationships/oleObject" Target="../embeddings/oleObject8.bin"/><Relationship Id="rId13" Type="http://schemas.openxmlformats.org/officeDocument/2006/relationships/image" Target="../media/image46.wmf"/><Relationship Id="rId14" Type="http://schemas.openxmlformats.org/officeDocument/2006/relationships/image" Target="../media/image57.gif"/><Relationship Id="rId15" Type="http://schemas.openxmlformats.org/officeDocument/2006/relationships/oleObject" Target="../embeddings/oleObject9.bin"/><Relationship Id="rId16" Type="http://schemas.openxmlformats.org/officeDocument/2006/relationships/image" Target="../media/image47.wmf"/><Relationship Id="rId17" Type="http://schemas.openxmlformats.org/officeDocument/2006/relationships/oleObject" Target="../embeddings/oleObject10.bin"/><Relationship Id="rId18" Type="http://schemas.openxmlformats.org/officeDocument/2006/relationships/image" Target="../media/image48.wmf"/><Relationship Id="rId19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20" Type="http://schemas.openxmlformats.org/officeDocument/2006/relationships/oleObject" Target="../embeddings/oleObject22.bin"/><Relationship Id="rId21" Type="http://schemas.openxmlformats.org/officeDocument/2006/relationships/image" Target="../media/image62.wmf"/><Relationship Id="rId22" Type="http://schemas.openxmlformats.org/officeDocument/2006/relationships/oleObject" Target="../embeddings/oleObject23.bin"/><Relationship Id="rId23" Type="http://schemas.openxmlformats.org/officeDocument/2006/relationships/oleObject" Target="../embeddings/oleObject24.bin"/><Relationship Id="rId24" Type="http://schemas.openxmlformats.org/officeDocument/2006/relationships/oleObject" Target="../embeddings/oleObject25.bin"/><Relationship Id="rId25" Type="http://schemas.openxmlformats.org/officeDocument/2006/relationships/oleObject" Target="../embeddings/oleObject26.bin"/><Relationship Id="rId26" Type="http://schemas.openxmlformats.org/officeDocument/2006/relationships/oleObject" Target="../embeddings/oleObject27.bin"/><Relationship Id="rId27" Type="http://schemas.openxmlformats.org/officeDocument/2006/relationships/oleObject" Target="../embeddings/oleObject28.bin"/><Relationship Id="rId28" Type="http://schemas.openxmlformats.org/officeDocument/2006/relationships/image" Target="../media/image68.png"/><Relationship Id="rId29" Type="http://schemas.openxmlformats.org/officeDocument/2006/relationships/oleObject" Target="../embeddings/oleObject29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3" Type="http://schemas.openxmlformats.org/officeDocument/2006/relationships/audio" Target="../media/audio6.bin"/><Relationship Id="rId4" Type="http://schemas.openxmlformats.org/officeDocument/2006/relationships/audio" Target="../media/audio8.bin"/><Relationship Id="rId5" Type="http://schemas.openxmlformats.org/officeDocument/2006/relationships/audio" Target="../media/audio11.bin"/><Relationship Id="rId30" Type="http://schemas.openxmlformats.org/officeDocument/2006/relationships/oleObject" Target="../embeddings/oleObject30.bin"/><Relationship Id="rId31" Type="http://schemas.openxmlformats.org/officeDocument/2006/relationships/image" Target="../media/image63.wmf"/><Relationship Id="rId32" Type="http://schemas.openxmlformats.org/officeDocument/2006/relationships/oleObject" Target="../embeddings/oleObject31.bin"/><Relationship Id="rId9" Type="http://schemas.openxmlformats.org/officeDocument/2006/relationships/audio" Target="../media/audio9.bin"/><Relationship Id="rId6" Type="http://schemas.openxmlformats.org/officeDocument/2006/relationships/audio" Target="../media/audio2.bin"/><Relationship Id="rId7" Type="http://schemas.openxmlformats.org/officeDocument/2006/relationships/audio" Target="../media/audio12.bin"/><Relationship Id="rId8" Type="http://schemas.openxmlformats.org/officeDocument/2006/relationships/audio" Target="../media/audio13.bin"/><Relationship Id="rId33" Type="http://schemas.openxmlformats.org/officeDocument/2006/relationships/image" Target="../media/image64.wmf"/><Relationship Id="rId34" Type="http://schemas.openxmlformats.org/officeDocument/2006/relationships/oleObject" Target="../embeddings/oleObject32.bin"/><Relationship Id="rId35" Type="http://schemas.openxmlformats.org/officeDocument/2006/relationships/image" Target="../media/image65.wmf"/><Relationship Id="rId36" Type="http://schemas.openxmlformats.org/officeDocument/2006/relationships/oleObject" Target="../embeddings/oleObject33.bin"/><Relationship Id="rId10" Type="http://schemas.openxmlformats.org/officeDocument/2006/relationships/audio" Target="../media/audio4.bin"/><Relationship Id="rId11" Type="http://schemas.openxmlformats.org/officeDocument/2006/relationships/audio" Target="../media/audio3.bin"/><Relationship Id="rId12" Type="http://schemas.openxmlformats.org/officeDocument/2006/relationships/audio" Target="../media/audio5.bin"/><Relationship Id="rId13" Type="http://schemas.openxmlformats.org/officeDocument/2006/relationships/oleObject" Target="../embeddings/oleObject19.bin"/><Relationship Id="rId14" Type="http://schemas.openxmlformats.org/officeDocument/2006/relationships/image" Target="../media/image59.wmf"/><Relationship Id="rId15" Type="http://schemas.openxmlformats.org/officeDocument/2006/relationships/oleObject" Target="../embeddings/oleObject20.bin"/><Relationship Id="rId16" Type="http://schemas.openxmlformats.org/officeDocument/2006/relationships/image" Target="../media/image60.wmf"/><Relationship Id="rId17" Type="http://schemas.openxmlformats.org/officeDocument/2006/relationships/oleObject" Target="../embeddings/oleObject21.bin"/><Relationship Id="rId18" Type="http://schemas.openxmlformats.org/officeDocument/2006/relationships/image" Target="../media/image61.emf"/><Relationship Id="rId19" Type="http://schemas.openxmlformats.org/officeDocument/2006/relationships/image" Target="../media/image67.png"/><Relationship Id="rId37" Type="http://schemas.openxmlformats.org/officeDocument/2006/relationships/image" Target="../media/image66.wmf"/><Relationship Id="rId38" Type="http://schemas.openxmlformats.org/officeDocument/2006/relationships/image" Target="../media/image58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oogle.co.uk/url?sa=i&amp;rct=j&amp;q=mr+krabs&amp;source=images&amp;cd=&amp;cad=rja&amp;docid=MF3LyI5hdVsBrM&amp;tbnid=-VgcvY8mt5vcWM:&amp;ved=0CAUQjRw&amp;url=http://spongebob.neoseeker.com/wiki/Quotes_From_Mr._Krabs&amp;ei=hAJOUaFsycrRBevBgOgM&amp;bvm=bv.44158598,d.d2k&amp;psig=AFQjCNG8xgtV8MlOJ4yctOm5oUZSjPgqTA&amp;ust=1364153342562944" TargetMode="Externa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50" dirty="0"/>
              <a:t>Topic: Quadratic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EQ: What are they and how do we solve them?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5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8600" y="262916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9351" y="1123119"/>
            <a:ext cx="89087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2400" dirty="0" smtClean="0">
                <a:solidFill>
                  <a:schemeClr val="tx1"/>
                </a:solidFill>
                <a:latin typeface="+mn-lt"/>
              </a:rPr>
              <a:t>What we know: A </a:t>
            </a:r>
            <a:r>
              <a:rPr lang="en-US" altLang="x-none" sz="2400" dirty="0">
                <a:solidFill>
                  <a:schemeClr val="tx1"/>
                </a:solidFill>
                <a:latin typeface="+mn-lt"/>
              </a:rPr>
              <a:t>Quadratic Function is an equation that has the form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44824"/>
            <a:ext cx="8316416" cy="9817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4" y="6000662"/>
            <a:ext cx="7200900" cy="571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34" y="5362354"/>
            <a:ext cx="7226300" cy="546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4" y="4745247"/>
            <a:ext cx="7213600" cy="5207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51" y="4056373"/>
            <a:ext cx="7226300" cy="5715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836" y="559509"/>
            <a:ext cx="2400300" cy="3371850"/>
          </a:xfrm>
          <a:prstGeom prst="rect">
            <a:avLst/>
          </a:prstGeom>
        </p:spPr>
      </p:pic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99351" y="3100362"/>
            <a:ext cx="8908785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2400" dirty="0" smtClean="0">
                <a:solidFill>
                  <a:schemeClr val="tx1"/>
                </a:solidFill>
                <a:latin typeface="+mn-lt"/>
              </a:rPr>
              <a:t>They won’t always look exactly like that, but our job is to solve them. The four main strategies we’ll use/forms we’ll encounter:</a:t>
            </a:r>
            <a:endParaRPr lang="en-US" altLang="x-none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310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8600" y="262916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80" y="1067894"/>
            <a:ext cx="7226300" cy="571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161428"/>
            <a:ext cx="5981700" cy="1117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982502"/>
            <a:ext cx="1993900" cy="1308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303" y="1708261"/>
            <a:ext cx="6286500" cy="1193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76" y="4611360"/>
            <a:ext cx="26162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6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468915"/>
            <a:ext cx="2959100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34" y="3449960"/>
            <a:ext cx="2857500" cy="609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517402"/>
            <a:ext cx="2870200" cy="1854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20" y="1517402"/>
            <a:ext cx="2222500" cy="1358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" y="262916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840515"/>
            <a:ext cx="2376264" cy="182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8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8600" y="262916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064395"/>
            <a:ext cx="7213600" cy="520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483" y="1675802"/>
            <a:ext cx="6264696" cy="2273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029" y="5352133"/>
            <a:ext cx="4421468" cy="14547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86" y="5323889"/>
            <a:ext cx="4320480" cy="14829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065592"/>
            <a:ext cx="8303840" cy="11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7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8600" y="188640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708920"/>
            <a:ext cx="2959100" cy="2387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700808"/>
            <a:ext cx="5254893" cy="45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04936" y="104491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051695"/>
            <a:ext cx="7226300" cy="5461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2451247"/>
            <a:ext cx="7785100" cy="172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5" y="1741196"/>
            <a:ext cx="8898830" cy="5969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57" y="5130789"/>
            <a:ext cx="9030104" cy="14034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6" y="4308367"/>
            <a:ext cx="8524339" cy="5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04936" y="104491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865491"/>
            <a:ext cx="7226300" cy="546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697768"/>
            <a:ext cx="5064808" cy="16570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6" y="1702691"/>
            <a:ext cx="3162300" cy="939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5" y="5971309"/>
            <a:ext cx="7930963" cy="8866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6" y="4428112"/>
            <a:ext cx="8178800" cy="15479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6" y="3450212"/>
            <a:ext cx="36322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1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04936" y="104491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66320"/>
            <a:ext cx="7226300" cy="5461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00" y="2911366"/>
            <a:ext cx="3225800" cy="144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26" y="2974866"/>
            <a:ext cx="3149600" cy="1384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36" y="2889738"/>
            <a:ext cx="2501900" cy="147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5029"/>
            <a:ext cx="2387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8600" y="262916"/>
            <a:ext cx="8978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Topic: Quadratic Functions</a:t>
            </a:r>
          </a:p>
          <a:p>
            <a:r>
              <a:rPr lang="en-US" sz="2100" dirty="0"/>
              <a:t>EQ: What are quadratic function and how do they differ from linear functions?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72026"/>
            <a:ext cx="7200900" cy="571500"/>
          </a:xfrm>
          <a:prstGeom prst="rect">
            <a:avLst/>
          </a:prstGeom>
        </p:spPr>
      </p:pic>
      <p:sp>
        <p:nvSpPr>
          <p:cNvPr id="11" name="Content Placeholder 13"/>
          <p:cNvSpPr>
            <a:spLocks noGrp="1"/>
          </p:cNvSpPr>
          <p:nvPr>
            <p:ph idx="1"/>
          </p:nvPr>
        </p:nvSpPr>
        <p:spPr>
          <a:xfrm>
            <a:off x="386030" y="2266714"/>
            <a:ext cx="8398283" cy="93990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We are learning to change quadratic expressions </a:t>
            </a:r>
            <a:r>
              <a:rPr lang="en-US" sz="2400" b="1" i="1" dirty="0"/>
              <a:t>x</a:t>
            </a:r>
            <a:r>
              <a:rPr lang="en-US" sz="2400" b="1" baseline="30000" dirty="0"/>
              <a:t>2</a:t>
            </a:r>
            <a:r>
              <a:rPr lang="en-US" sz="2400" b="1" dirty="0"/>
              <a:t> + </a:t>
            </a:r>
            <a:r>
              <a:rPr lang="en-US" sz="2400" b="1" i="1" dirty="0"/>
              <a:t>bx</a:t>
            </a:r>
            <a:r>
              <a:rPr lang="en-US" sz="2400" b="1" dirty="0"/>
              <a:t> + c </a:t>
            </a:r>
          </a:p>
          <a:p>
            <a:pPr marL="0" indent="0" algn="ctr">
              <a:buNone/>
            </a:pPr>
            <a:r>
              <a:rPr lang="en-US" sz="2400" b="1" dirty="0"/>
              <a:t>into the completed square form (</a:t>
            </a:r>
            <a:r>
              <a:rPr lang="en-US" sz="2400" b="1" i="1" dirty="0"/>
              <a:t>x</a:t>
            </a:r>
            <a:r>
              <a:rPr lang="en-US" sz="2400" b="1" dirty="0"/>
              <a:t> + </a:t>
            </a:r>
            <a:r>
              <a:rPr lang="en-US" sz="2400" b="1" i="1" dirty="0"/>
              <a:t>p</a:t>
            </a:r>
            <a:r>
              <a:rPr lang="en-US" sz="2400" b="1" dirty="0"/>
              <a:t>)</a:t>
            </a:r>
            <a:r>
              <a:rPr lang="en-US" sz="2400" b="1" baseline="30000" dirty="0"/>
              <a:t>2</a:t>
            </a:r>
            <a:r>
              <a:rPr lang="en-US" sz="2400" b="1" dirty="0"/>
              <a:t> + </a:t>
            </a:r>
            <a:r>
              <a:rPr lang="en-US" sz="2400" b="1" i="1" dirty="0"/>
              <a:t>q</a:t>
            </a:r>
            <a:endParaRPr lang="en-US" sz="2400" b="1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80345" y="1700290"/>
            <a:ext cx="2539526" cy="54444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3000" b="1" dirty="0">
                <a:ln w="22225">
                  <a:noFill/>
                  <a:prstDash val="solid"/>
                </a:ln>
              </a:rPr>
              <a:t>Learning 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345" y="3342622"/>
            <a:ext cx="2612062" cy="5309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3000" b="1" dirty="0">
                <a:ln w="22225">
                  <a:noFill/>
                  <a:prstDash val="solid"/>
                </a:ln>
                <a:latin typeface="Calibri (Body)"/>
              </a:rPr>
              <a:t>Success Criteria</a:t>
            </a:r>
          </a:p>
        </p:txBody>
      </p:sp>
      <p:sp>
        <p:nvSpPr>
          <p:cNvPr id="14" name="Content Placeholder 13"/>
          <p:cNvSpPr txBox="1">
            <a:spLocks/>
          </p:cNvSpPr>
          <p:nvPr/>
        </p:nvSpPr>
        <p:spPr>
          <a:xfrm>
            <a:off x="414559" y="4107398"/>
            <a:ext cx="8398283" cy="796960"/>
          </a:xfrm>
          <a:prstGeom prst="rect">
            <a:avLst/>
          </a:prstGeom>
          <a:solidFill>
            <a:srgbClr val="92D050"/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400" b="1" dirty="0"/>
              <a:t> 	I can express a quadratic expression in completed square 	form (ALL)</a:t>
            </a:r>
          </a:p>
          <a:p>
            <a:pPr marL="0" lvl="0" indent="0">
              <a:buClr>
                <a:srgbClr val="FF0000"/>
              </a:buClr>
              <a:buNone/>
            </a:pPr>
            <a:endParaRPr lang="en-US" sz="2400" b="1" i="1" dirty="0"/>
          </a:p>
          <a:p>
            <a:pPr lvl="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400" b="1" i="1" dirty="0"/>
          </a:p>
          <a:p>
            <a:pPr marL="0" lvl="0" indent="0">
              <a:buClr>
                <a:srgbClr val="FF0000"/>
              </a:buClr>
              <a:buNone/>
            </a:pPr>
            <a:endParaRPr lang="en-US" sz="2400" b="1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250" b="1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15" name="Content Placeholder 13"/>
          <p:cNvSpPr txBox="1">
            <a:spLocks/>
          </p:cNvSpPr>
          <p:nvPr/>
        </p:nvSpPr>
        <p:spPr>
          <a:xfrm>
            <a:off x="414559" y="5061122"/>
            <a:ext cx="8398283" cy="800633"/>
          </a:xfrm>
          <a:prstGeom prst="rect">
            <a:avLst/>
          </a:prstGeom>
          <a:solidFill>
            <a:srgbClr val="FFC000"/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400" b="1" dirty="0"/>
              <a:t>	I can check that my answers are correct by multiplying out 	and simplifying (MOST)</a:t>
            </a:r>
          </a:p>
          <a:p>
            <a:pPr lvl="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400" b="1" i="1" dirty="0"/>
          </a:p>
          <a:p>
            <a:pPr lvl="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400" b="1" i="1" dirty="0"/>
          </a:p>
          <a:p>
            <a:pPr marL="0" lvl="0" indent="0">
              <a:buClr>
                <a:srgbClr val="FF0000"/>
              </a:buClr>
              <a:buNone/>
            </a:pPr>
            <a:endParaRPr lang="en-US" sz="2400" b="1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250" b="1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16" name="Content Placeholder 13"/>
          <p:cNvSpPr txBox="1">
            <a:spLocks/>
          </p:cNvSpPr>
          <p:nvPr/>
        </p:nvSpPr>
        <p:spPr>
          <a:xfrm>
            <a:off x="426772" y="6023949"/>
            <a:ext cx="8398283" cy="823678"/>
          </a:xfrm>
          <a:prstGeom prst="rect">
            <a:avLst/>
          </a:prstGeom>
          <a:solidFill>
            <a:srgbClr val="FF0000"/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600" b="1" i="1" dirty="0"/>
              <a:t>	</a:t>
            </a:r>
            <a:r>
              <a:rPr lang="en-US" sz="2400" b="1" dirty="0"/>
              <a:t>I can identify minimums by using the ‘completed square 	form’. (SOME)</a:t>
            </a:r>
            <a:endParaRPr lang="en-US" sz="2400" b="1" i="1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9934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8568952" cy="1080120"/>
          </a:xfrm>
          <a:solidFill>
            <a:srgbClr val="92D050"/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000" dirty="0" smtClean="0">
                <a:latin typeface="Aharoni" pitchFamily="2" charset="-79"/>
                <a:cs typeface="Aharoni" pitchFamily="2" charset="-79"/>
              </a:rPr>
              <a:t>Today’s Goal</a:t>
            </a:r>
            <a:endParaRPr lang="en-GB" sz="6000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46371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Factorise and expand quadratics and complete the square to:</a:t>
            </a:r>
            <a:endParaRPr lang="en-GB" dirty="0"/>
          </a:p>
          <a:p>
            <a:pPr marL="514350" indent="-514350">
              <a:buFont typeface="+mj-lt"/>
              <a:buAutoNum type="alphaLcParenR"/>
            </a:pPr>
            <a:r>
              <a:rPr lang="en-GB" dirty="0" smtClean="0"/>
              <a:t>Find zeroes (or roots, or x-intercepts. Different names for the same thing)</a:t>
            </a:r>
            <a:endParaRPr lang="en-GB" dirty="0"/>
          </a:p>
          <a:p>
            <a:pPr marL="514350" indent="-514350">
              <a:buFont typeface="+mj-lt"/>
              <a:buAutoNum type="alphaLcParenR"/>
            </a:pPr>
            <a:r>
              <a:rPr lang="en-GB" dirty="0" smtClean="0"/>
              <a:t>Find y-intercept (the y-value when x = 0)</a:t>
            </a:r>
          </a:p>
          <a:p>
            <a:pPr marL="514350" indent="-514350">
              <a:buFont typeface="+mj-lt"/>
              <a:buAutoNum type="alphaLcParenR"/>
            </a:pPr>
            <a:endParaRPr lang="en-GB" baseline="30000" dirty="0"/>
          </a:p>
          <a:p>
            <a:pPr marL="514350" indent="-514350">
              <a:buFont typeface="+mj-lt"/>
              <a:buAutoNum type="alphaLcParenR"/>
            </a:pPr>
            <a:r>
              <a:rPr lang="en-GB" dirty="0" smtClean="0"/>
              <a:t>Find the coordinates of the vertex, using two different methods (which ever is easier for you)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51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171400"/>
            <a:ext cx="8229600" cy="850106"/>
          </a:xfrm>
        </p:spPr>
        <p:txBody>
          <a:bodyPr>
            <a:normAutofit/>
          </a:bodyPr>
          <a:lstStyle/>
          <a:p>
            <a:r>
              <a:rPr lang="en-GB" sz="2800" dirty="0"/>
              <a:t>Completing the square: exam style question</a:t>
            </a:r>
          </a:p>
        </p:txBody>
      </p:sp>
      <p:pic>
        <p:nvPicPr>
          <p:cNvPr id="12290" name="Picture 2" descr="https://i.gyazo.com/cd12cf15202131f224e51a571763cc6b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8" b="52"/>
          <a:stretch/>
        </p:blipFill>
        <p:spPr bwMode="auto">
          <a:xfrm>
            <a:off x="0" y="710003"/>
            <a:ext cx="9015257" cy="512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004048" y="705449"/>
            <a:ext cx="1368152" cy="3740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6855017" y="3041665"/>
            <a:ext cx="216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Hint for C: </a:t>
            </a:r>
          </a:p>
          <a:p>
            <a:r>
              <a:rPr lang="en-GB" sz="2000" dirty="0">
                <a:solidFill>
                  <a:srgbClr val="FF0000"/>
                </a:solidFill>
              </a:rPr>
              <a:t>x=</a:t>
            </a:r>
            <a:r>
              <a:rPr lang="en-GB" sz="2000" u="sng" dirty="0">
                <a:solidFill>
                  <a:srgbClr val="FF0000"/>
                </a:solidFill>
              </a:rPr>
              <a:t>     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when the curve crosses the y-axis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9062" y="1556792"/>
            <a:ext cx="216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Hint for A &amp; D: </a:t>
            </a:r>
          </a:p>
          <a:p>
            <a:r>
              <a:rPr lang="en-GB" sz="2000" dirty="0">
                <a:solidFill>
                  <a:srgbClr val="FF0000"/>
                </a:solidFill>
              </a:rPr>
              <a:t>y=</a:t>
            </a:r>
            <a:r>
              <a:rPr lang="en-GB" sz="2000" u="sng" dirty="0">
                <a:solidFill>
                  <a:srgbClr val="FF0000"/>
                </a:solidFill>
              </a:rPr>
              <a:t>     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when the curve crosses the x-axis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9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0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594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/>
              <a:t>Completing the Square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8" y="1189419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x</a:t>
            </a:r>
            <a:r>
              <a:rPr lang="en-GB" sz="4400" baseline="30000" dirty="0"/>
              <a:t>2</a:t>
            </a:r>
            <a:r>
              <a:rPr lang="en-GB" sz="4400" dirty="0"/>
              <a:t> + 4x + </a:t>
            </a:r>
            <a:r>
              <a:rPr lang="en-GB" sz="4400" dirty="0" smtClean="0"/>
              <a:t>4 = 0</a:t>
            </a:r>
            <a:endParaRPr lang="en-GB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2125523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(x+2)</a:t>
            </a:r>
            <a:r>
              <a:rPr lang="en-GB" sz="4400" baseline="30000" dirty="0"/>
              <a:t>2</a:t>
            </a:r>
            <a:endParaRPr lang="en-GB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499992" y="2125523"/>
            <a:ext cx="23042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/>
              <a:t>+ </a:t>
            </a:r>
            <a:r>
              <a:rPr lang="en-GB" sz="4400" smtClean="0"/>
              <a:t>4 = 0</a:t>
            </a:r>
            <a:endParaRPr lang="en-GB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707904" y="2125523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-2</a:t>
            </a:r>
            <a:r>
              <a:rPr lang="en-GB" sz="4400" baseline="30000" dirty="0"/>
              <a:t>2</a:t>
            </a:r>
            <a:r>
              <a:rPr lang="en-GB" sz="4400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9712" y="2868250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(x+2)</a:t>
            </a:r>
            <a:r>
              <a:rPr lang="en-GB" sz="4400" baseline="30000" dirty="0"/>
              <a:t>2</a:t>
            </a:r>
            <a:endParaRPr lang="en-GB" sz="4400" dirty="0"/>
          </a:p>
        </p:txBody>
      </p:sp>
      <p:sp>
        <p:nvSpPr>
          <p:cNvPr id="11" name="TextBox 10"/>
          <p:cNvSpPr txBox="1"/>
          <p:nvPr/>
        </p:nvSpPr>
        <p:spPr>
          <a:xfrm>
            <a:off x="4505589" y="2856926"/>
            <a:ext cx="2010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+ </a:t>
            </a:r>
            <a:r>
              <a:rPr lang="en-GB" sz="4400" dirty="0" smtClean="0"/>
              <a:t>4 = 0</a:t>
            </a:r>
            <a:endParaRPr lang="en-GB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3707904" y="2845603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-4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2914" y="3595663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(</a:t>
            </a:r>
            <a:r>
              <a:rPr lang="en-GB" sz="4400" dirty="0" smtClean="0"/>
              <a:t>x+2)</a:t>
            </a:r>
            <a:r>
              <a:rPr lang="en-GB" sz="4400" baseline="30000" dirty="0" smtClean="0"/>
              <a:t>2 </a:t>
            </a:r>
            <a:endParaRPr lang="en-GB" sz="44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804248" y="1189419"/>
            <a:ext cx="2088232" cy="936104"/>
          </a:xfrm>
          <a:prstGeom prst="wedgeRoundRectCallout">
            <a:avLst>
              <a:gd name="adj1" fmla="val -157064"/>
              <a:gd name="adj2" fmla="val 698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Subtract the number in the brackets squared</a:t>
            </a:r>
          </a:p>
        </p:txBody>
      </p:sp>
      <p:sp>
        <p:nvSpPr>
          <p:cNvPr id="39" name="Rounded Rectangular Callout 38"/>
          <p:cNvSpPr/>
          <p:nvPr/>
        </p:nvSpPr>
        <p:spPr>
          <a:xfrm>
            <a:off x="467544" y="1045403"/>
            <a:ext cx="2088232" cy="864096"/>
          </a:xfrm>
          <a:prstGeom prst="wedgeRoundRectCallout">
            <a:avLst>
              <a:gd name="adj1" fmla="val 69523"/>
              <a:gd name="adj2" fmla="val 979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number will be half the coefficient of 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13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942446" y="3637691"/>
            <a:ext cx="2010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smtClean="0"/>
              <a:t>= </a:t>
            </a:r>
            <a:r>
              <a:rPr lang="en-GB" sz="4400" dirty="0" smtClean="0"/>
              <a:t>0</a:t>
            </a:r>
            <a:endParaRPr lang="en-GB" sz="4400" dirty="0"/>
          </a:p>
        </p:txBody>
      </p:sp>
      <p:sp>
        <p:nvSpPr>
          <p:cNvPr id="20" name="TextBox 19"/>
          <p:cNvSpPr txBox="1"/>
          <p:nvPr/>
        </p:nvSpPr>
        <p:spPr>
          <a:xfrm>
            <a:off x="3405432" y="4505237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 = -2</a:t>
            </a:r>
            <a:r>
              <a:rPr lang="en-GB" sz="4400" baseline="30000" dirty="0" smtClean="0"/>
              <a:t> 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88835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2" grpId="0"/>
      <p:bldP spid="14" grpId="0"/>
      <p:bldP spid="38" grpId="0" animBg="1"/>
      <p:bldP spid="39" grpId="0" animBg="1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/>
              <a:t>Completing the Square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8" y="1189419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x</a:t>
            </a:r>
            <a:r>
              <a:rPr lang="en-GB" sz="4400" baseline="30000" dirty="0"/>
              <a:t>2</a:t>
            </a:r>
            <a:r>
              <a:rPr lang="en-GB" sz="4400" dirty="0"/>
              <a:t> + 4x + </a:t>
            </a:r>
            <a:r>
              <a:rPr lang="en-GB" sz="4400" dirty="0" smtClean="0"/>
              <a:t>3 = 0</a:t>
            </a:r>
            <a:endParaRPr lang="en-GB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2125523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(x+2)</a:t>
            </a:r>
            <a:r>
              <a:rPr lang="en-GB" sz="4400" baseline="30000" dirty="0"/>
              <a:t>2</a:t>
            </a:r>
            <a:endParaRPr lang="en-GB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499992" y="2125523"/>
            <a:ext cx="180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/>
              <a:t>+ </a:t>
            </a:r>
            <a:r>
              <a:rPr lang="en-GB" sz="4400" smtClean="0"/>
              <a:t>3 = 0</a:t>
            </a:r>
            <a:endParaRPr lang="en-GB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707904" y="2125523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-2</a:t>
            </a:r>
            <a:r>
              <a:rPr lang="en-GB" sz="4400" baseline="30000" dirty="0"/>
              <a:t>2</a:t>
            </a:r>
            <a:r>
              <a:rPr lang="en-GB" sz="4400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9712" y="2868250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(x+2)</a:t>
            </a:r>
            <a:r>
              <a:rPr lang="en-GB" sz="4400" baseline="30000" dirty="0"/>
              <a:t>2</a:t>
            </a:r>
            <a:endParaRPr lang="en-GB" sz="44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2845603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/>
              <a:t>+ </a:t>
            </a:r>
            <a:r>
              <a:rPr lang="en-GB" sz="4400" smtClean="0"/>
              <a:t>3 = 0</a:t>
            </a:r>
            <a:endParaRPr lang="en-GB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3707904" y="2845603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-4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5432" y="3588330"/>
            <a:ext cx="28832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(x+2)</a:t>
            </a:r>
            <a:r>
              <a:rPr lang="en-GB" sz="4400" baseline="30000" dirty="0"/>
              <a:t>2 </a:t>
            </a:r>
            <a:r>
              <a:rPr lang="en-GB" sz="4400"/>
              <a:t>-</a:t>
            </a:r>
            <a:r>
              <a:rPr lang="en-GB" sz="4400" smtClean="0"/>
              <a:t>1 = 0</a:t>
            </a:r>
            <a:endParaRPr lang="en-GB" sz="44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804248" y="1189419"/>
            <a:ext cx="2088232" cy="936104"/>
          </a:xfrm>
          <a:prstGeom prst="wedgeRoundRectCallout">
            <a:avLst>
              <a:gd name="adj1" fmla="val -157064"/>
              <a:gd name="adj2" fmla="val 698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Subtract the number in the brackets squared</a:t>
            </a:r>
          </a:p>
        </p:txBody>
      </p:sp>
      <p:sp>
        <p:nvSpPr>
          <p:cNvPr id="39" name="Rounded Rectangular Callout 38"/>
          <p:cNvSpPr/>
          <p:nvPr/>
        </p:nvSpPr>
        <p:spPr>
          <a:xfrm>
            <a:off x="467544" y="1045403"/>
            <a:ext cx="2088232" cy="864096"/>
          </a:xfrm>
          <a:prstGeom prst="wedgeRoundRectCallout">
            <a:avLst>
              <a:gd name="adj1" fmla="val 69523"/>
              <a:gd name="adj2" fmla="val 979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number will be half the coefficient of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9672" y="4653136"/>
            <a:ext cx="59046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Can you mentally figure out what the </a:t>
            </a:r>
            <a:r>
              <a:rPr lang="en-GB" sz="4400" b="1" smtClean="0"/>
              <a:t>2 </a:t>
            </a:r>
            <a:r>
              <a:rPr lang="en-GB" sz="4400" smtClean="0"/>
              <a:t>answers for x are?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01678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2" grpId="0"/>
      <p:bldP spid="14" grpId="0"/>
      <p:bldP spid="38" grpId="0" animBg="1"/>
      <p:bldP spid="39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 smtClean="0"/>
              <a:t>Completing the Square</a:t>
            </a:r>
            <a:endParaRPr lang="en-GB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764704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</a:t>
            </a:r>
            <a:r>
              <a:rPr lang="en-GB" sz="4400" baseline="30000" dirty="0" smtClean="0"/>
              <a:t>2</a:t>
            </a:r>
            <a:r>
              <a:rPr lang="en-GB" sz="4400" dirty="0" smtClean="0"/>
              <a:t> + 10x + 10=0</a:t>
            </a:r>
            <a:endParaRPr lang="en-GB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1700808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(x+5)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355976" y="170080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+ 10</a:t>
            </a:r>
            <a:endParaRPr lang="en-GB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563888" y="170080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-5</a:t>
            </a:r>
            <a:r>
              <a:rPr lang="en-GB" sz="4400" baseline="30000" dirty="0" smtClean="0"/>
              <a:t>2</a:t>
            </a:r>
            <a:r>
              <a:rPr lang="en-GB" sz="4400" dirty="0" smtClean="0"/>
              <a:t> </a:t>
            </a:r>
            <a:endParaRPr lang="en-GB" sz="4400" dirty="0"/>
          </a:p>
        </p:txBody>
      </p:sp>
      <p:sp>
        <p:nvSpPr>
          <p:cNvPr id="9" name="TextBox 8"/>
          <p:cNvSpPr txBox="1"/>
          <p:nvPr/>
        </p:nvSpPr>
        <p:spPr>
          <a:xfrm>
            <a:off x="5724128" y="170080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0" name="TextBox 9"/>
          <p:cNvSpPr txBox="1"/>
          <p:nvPr/>
        </p:nvSpPr>
        <p:spPr>
          <a:xfrm>
            <a:off x="1835696" y="2443535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(x+5)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1" name="TextBox 10"/>
          <p:cNvSpPr txBox="1"/>
          <p:nvPr/>
        </p:nvSpPr>
        <p:spPr>
          <a:xfrm>
            <a:off x="4427984" y="242088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+ 10</a:t>
            </a:r>
            <a:endParaRPr lang="en-GB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3888" y="242088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-25 </a:t>
            </a:r>
            <a:endParaRPr lang="en-GB" sz="4400" dirty="0"/>
          </a:p>
        </p:txBody>
      </p:sp>
      <p:sp>
        <p:nvSpPr>
          <p:cNvPr id="13" name="TextBox 12"/>
          <p:cNvSpPr txBox="1"/>
          <p:nvPr/>
        </p:nvSpPr>
        <p:spPr>
          <a:xfrm>
            <a:off x="5724128" y="2443535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28898" y="3170948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(x+5)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5" name="TextBox 14"/>
          <p:cNvSpPr txBox="1"/>
          <p:nvPr/>
        </p:nvSpPr>
        <p:spPr>
          <a:xfrm>
            <a:off x="4860032" y="3212976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-15</a:t>
            </a:r>
            <a:endParaRPr lang="en-GB" sz="4400" dirty="0"/>
          </a:p>
        </p:txBody>
      </p:sp>
      <p:sp>
        <p:nvSpPr>
          <p:cNvPr id="17" name="TextBox 16"/>
          <p:cNvSpPr txBox="1"/>
          <p:nvPr/>
        </p:nvSpPr>
        <p:spPr>
          <a:xfrm>
            <a:off x="5724128" y="3212976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8" name="TextBox 17"/>
          <p:cNvSpPr txBox="1"/>
          <p:nvPr/>
        </p:nvSpPr>
        <p:spPr>
          <a:xfrm>
            <a:off x="3200906" y="3963036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(x+5)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9" name="TextBox 18"/>
          <p:cNvSpPr txBox="1"/>
          <p:nvPr/>
        </p:nvSpPr>
        <p:spPr>
          <a:xfrm>
            <a:off x="5004048" y="400506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20" name="TextBox 19"/>
          <p:cNvSpPr txBox="1"/>
          <p:nvPr/>
        </p:nvSpPr>
        <p:spPr>
          <a:xfrm>
            <a:off x="5436096" y="4027711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15</a:t>
            </a:r>
            <a:endParaRPr lang="en-GB" sz="4400" dirty="0"/>
          </a:p>
        </p:txBody>
      </p:sp>
      <p:sp>
        <p:nvSpPr>
          <p:cNvPr id="21" name="TextBox 20"/>
          <p:cNvSpPr txBox="1"/>
          <p:nvPr/>
        </p:nvSpPr>
        <p:spPr>
          <a:xfrm>
            <a:off x="3200906" y="4683116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x+5</a:t>
            </a:r>
            <a:endParaRPr lang="en-GB" sz="4400" dirty="0"/>
          </a:p>
        </p:txBody>
      </p:sp>
      <p:sp>
        <p:nvSpPr>
          <p:cNvPr id="22" name="TextBox 21"/>
          <p:cNvSpPr txBox="1"/>
          <p:nvPr/>
        </p:nvSpPr>
        <p:spPr>
          <a:xfrm>
            <a:off x="5004048" y="47251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23" name="TextBox 22"/>
          <p:cNvSpPr txBox="1"/>
          <p:nvPr/>
        </p:nvSpPr>
        <p:spPr>
          <a:xfrm>
            <a:off x="6029484" y="47251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15</a:t>
            </a:r>
            <a:endParaRPr lang="en-GB" sz="4400" dirty="0"/>
          </a:p>
        </p:txBody>
      </p:sp>
      <p:grpSp>
        <p:nvGrpSpPr>
          <p:cNvPr id="3" name="Group 34"/>
          <p:cNvGrpSpPr/>
          <p:nvPr/>
        </p:nvGrpSpPr>
        <p:grpSpPr>
          <a:xfrm>
            <a:off x="5919376" y="4869160"/>
            <a:ext cx="864096" cy="504056"/>
            <a:chOff x="5542012" y="5589240"/>
            <a:chExt cx="864096" cy="504056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542012" y="5805264"/>
              <a:ext cx="144016" cy="28803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5686028" y="5589240"/>
              <a:ext cx="0" cy="5040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5686028" y="5589240"/>
              <a:ext cx="72008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ounded Rectangular Callout 35"/>
          <p:cNvSpPr/>
          <p:nvPr/>
        </p:nvSpPr>
        <p:spPr>
          <a:xfrm>
            <a:off x="6804248" y="3501008"/>
            <a:ext cx="2088232" cy="1080120"/>
          </a:xfrm>
          <a:prstGeom prst="wedgeRoundRectCallout">
            <a:avLst>
              <a:gd name="adj1" fmla="val -47940"/>
              <a:gd name="adj2" fmla="val 692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Don’t forget there will be a positive and negative answer here</a:t>
            </a:r>
            <a:endParaRPr lang="en-GB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323528" y="4293096"/>
            <a:ext cx="2088232" cy="720080"/>
          </a:xfrm>
          <a:prstGeom prst="wedgeRoundRectCallout">
            <a:avLst>
              <a:gd name="adj1" fmla="val 98020"/>
              <a:gd name="adj2" fmla="val -290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Square root both sides</a:t>
            </a:r>
            <a:endParaRPr lang="en-GB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660232" y="764704"/>
            <a:ext cx="2088232" cy="936104"/>
          </a:xfrm>
          <a:prstGeom prst="wedgeRoundRectCallout">
            <a:avLst>
              <a:gd name="adj1" fmla="val -157064"/>
              <a:gd name="adj2" fmla="val 698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Subtract the number in the brackets squared</a:t>
            </a:r>
            <a:endParaRPr lang="en-GB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323528" y="620688"/>
            <a:ext cx="2088232" cy="864096"/>
          </a:xfrm>
          <a:prstGeom prst="wedgeRoundRectCallout">
            <a:avLst>
              <a:gd name="adj1" fmla="val 69523"/>
              <a:gd name="adj2" fmla="val 979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This number will be half the coefficient of x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5580112" y="4797152"/>
            <a:ext cx="312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+</a:t>
            </a:r>
          </a:p>
          <a:p>
            <a:r>
              <a:rPr lang="en-GB" sz="2000" b="1" dirty="0"/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4008" y="5373216"/>
            <a:ext cx="5040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400" dirty="0" smtClean="0"/>
              <a:t>x</a:t>
            </a:r>
            <a:endParaRPr lang="en-GB" sz="4400" dirty="0"/>
          </a:p>
        </p:txBody>
      </p:sp>
      <p:sp>
        <p:nvSpPr>
          <p:cNvPr id="31" name="TextBox 30"/>
          <p:cNvSpPr txBox="1"/>
          <p:nvPr/>
        </p:nvSpPr>
        <p:spPr>
          <a:xfrm>
            <a:off x="5006990" y="54152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0232" y="54152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15</a:t>
            </a:r>
            <a:endParaRPr lang="en-GB" sz="4400" dirty="0"/>
          </a:p>
        </p:txBody>
      </p:sp>
      <p:grpSp>
        <p:nvGrpSpPr>
          <p:cNvPr id="40" name="Group 34"/>
          <p:cNvGrpSpPr/>
          <p:nvPr/>
        </p:nvGrpSpPr>
        <p:grpSpPr>
          <a:xfrm>
            <a:off x="6516216" y="5530232"/>
            <a:ext cx="864096" cy="504056"/>
            <a:chOff x="5542012" y="5589240"/>
            <a:chExt cx="864096" cy="504056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5542012" y="5805264"/>
              <a:ext cx="144016" cy="28803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5686028" y="5589240"/>
              <a:ext cx="0" cy="5040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5686028" y="5589240"/>
              <a:ext cx="72008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6131302" y="5487252"/>
            <a:ext cx="312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+</a:t>
            </a:r>
          </a:p>
          <a:p>
            <a:r>
              <a:rPr lang="en-GB" sz="2000" b="1" dirty="0"/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4088" y="5445224"/>
            <a:ext cx="64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400" dirty="0" smtClean="0"/>
              <a:t>-5</a:t>
            </a:r>
            <a:endParaRPr lang="en-GB" sz="4400" dirty="0"/>
          </a:p>
        </p:txBody>
      </p:sp>
      <p:pic>
        <p:nvPicPr>
          <p:cNvPr id="3074" name="Picture 2" descr="http://www.beyond-black-friday.com/wp-content/uploads/2011/10/Happy-SpongeBob-Squarepants-smiling-and-jumping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085184"/>
            <a:ext cx="1331640" cy="13971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785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6" grpId="0" animBg="1"/>
      <p:bldP spid="37" grpId="0" animBg="1"/>
      <p:bldP spid="38" grpId="0" animBg="1"/>
      <p:bldP spid="39" grpId="0" animBg="1"/>
      <p:bldP spid="29" grpId="0"/>
      <p:bldP spid="30" grpId="0"/>
      <p:bldP spid="31" grpId="0"/>
      <p:bldP spid="35" grpId="0"/>
      <p:bldP spid="44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0072" y="450912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(x+3)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+ 1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576" y="2852936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(x+6)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+ 1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0072" y="2852936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(x+3)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+ 10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576" y="450912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(x+3)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068960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531" y="3068960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797152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3337" y="4797152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592" y="476672"/>
            <a:ext cx="68407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/>
              <a:t>x</a:t>
            </a:r>
            <a:r>
              <a:rPr lang="en-GB" sz="6600" baseline="30000" dirty="0"/>
              <a:t>2</a:t>
            </a:r>
            <a:r>
              <a:rPr lang="en-GB" sz="6600" dirty="0"/>
              <a:t> + 6x + 10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14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  <p:sp>
        <p:nvSpPr>
          <p:cNvPr id="16" name="Content Placeholder 13"/>
          <p:cNvSpPr txBox="1">
            <a:spLocks/>
          </p:cNvSpPr>
          <p:nvPr/>
        </p:nvSpPr>
        <p:spPr>
          <a:xfrm>
            <a:off x="6556690" y="490610"/>
            <a:ext cx="2367323" cy="936104"/>
          </a:xfrm>
          <a:prstGeom prst="rect">
            <a:avLst/>
          </a:prstGeom>
          <a:solidFill>
            <a:srgbClr val="FFC000"/>
          </a:solidFill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00"/>
              </a:buClr>
              <a:buNone/>
            </a:pPr>
            <a:r>
              <a:rPr lang="en-US" sz="2000" b="1" u="sng" dirty="0"/>
              <a:t>Extension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2000" b="1" dirty="0"/>
              <a:t>Expand and simplify to check your answer</a:t>
            </a:r>
            <a:endParaRPr lang="en-US" sz="2000" b="1" i="1" dirty="0"/>
          </a:p>
          <a:p>
            <a:pPr lvl="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000" b="1" i="1" dirty="0"/>
          </a:p>
          <a:p>
            <a:pPr marL="0" lvl="0" indent="0">
              <a:buClr>
                <a:srgbClr val="FF0000"/>
              </a:buClr>
              <a:buNone/>
            </a:pPr>
            <a:endParaRPr lang="en-US" sz="2000" b="1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297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92080" y="2780928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(x+5)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576" y="2780928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(x+5)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+1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0072" y="450912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(x+5)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+4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576" y="450912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(x+5)</a:t>
            </a:r>
            <a:r>
              <a:rPr lang="en-GB" sz="3600" baseline="30000" dirty="0">
                <a:solidFill>
                  <a:schemeClr val="tx1"/>
                </a:solidFill>
              </a:rPr>
              <a:t>2 </a:t>
            </a:r>
            <a:r>
              <a:rPr lang="en-GB" sz="36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068960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531" y="3068960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797152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3337" y="4797152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592" y="476672"/>
            <a:ext cx="68407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/>
              <a:t>x</a:t>
            </a:r>
            <a:r>
              <a:rPr lang="en-GB" sz="6600" baseline="30000" dirty="0"/>
              <a:t>2</a:t>
            </a:r>
            <a:r>
              <a:rPr lang="en-GB" sz="6600" dirty="0"/>
              <a:t> + 10x + 24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14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  <p:sp>
        <p:nvSpPr>
          <p:cNvPr id="16" name="Content Placeholder 13"/>
          <p:cNvSpPr txBox="1">
            <a:spLocks/>
          </p:cNvSpPr>
          <p:nvPr/>
        </p:nvSpPr>
        <p:spPr>
          <a:xfrm>
            <a:off x="6556690" y="476672"/>
            <a:ext cx="2367323" cy="936104"/>
          </a:xfrm>
          <a:prstGeom prst="rect">
            <a:avLst/>
          </a:prstGeom>
          <a:solidFill>
            <a:srgbClr val="FFC000"/>
          </a:solidFill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00"/>
              </a:buClr>
              <a:buNone/>
            </a:pPr>
            <a:r>
              <a:rPr lang="en-US" sz="2000" b="1" u="sng" dirty="0"/>
              <a:t>Extension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2000" b="1" dirty="0"/>
              <a:t>Expand and simplify to check your answer</a:t>
            </a:r>
            <a:endParaRPr lang="en-US" sz="2000" b="1" i="1" dirty="0"/>
          </a:p>
          <a:p>
            <a:pPr lvl="0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000" b="1" i="1" dirty="0"/>
          </a:p>
          <a:p>
            <a:pPr marL="0" lvl="0" indent="0">
              <a:buClr>
                <a:srgbClr val="FF0000"/>
              </a:buClr>
              <a:buNone/>
            </a:pPr>
            <a:endParaRPr lang="en-US" sz="2000" b="1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7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en-GB" sz="6000" dirty="0" smtClean="0"/>
              <a:t>Completing the Square</a:t>
            </a:r>
            <a:endParaRPr lang="en-GB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764704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</a:t>
            </a:r>
            <a:r>
              <a:rPr lang="en-GB" sz="4400" baseline="30000" dirty="0" smtClean="0"/>
              <a:t>2</a:t>
            </a:r>
            <a:r>
              <a:rPr lang="en-GB" sz="4400" dirty="0" smtClean="0"/>
              <a:t> + 8x + 2=0</a:t>
            </a:r>
            <a:endParaRPr lang="en-GB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1700808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(x+4)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1700808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+ 2</a:t>
            </a:r>
            <a:endParaRPr lang="en-GB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563888" y="170080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-4</a:t>
            </a:r>
            <a:r>
              <a:rPr lang="en-GB" sz="4400" baseline="30000" dirty="0" smtClean="0"/>
              <a:t>2</a:t>
            </a:r>
            <a:r>
              <a:rPr lang="en-GB" sz="4400" dirty="0" smtClean="0"/>
              <a:t> </a:t>
            </a:r>
            <a:endParaRPr lang="en-GB" sz="4400" dirty="0"/>
          </a:p>
        </p:txBody>
      </p:sp>
      <p:sp>
        <p:nvSpPr>
          <p:cNvPr id="9" name="TextBox 8"/>
          <p:cNvSpPr txBox="1"/>
          <p:nvPr/>
        </p:nvSpPr>
        <p:spPr>
          <a:xfrm>
            <a:off x="5724128" y="170080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0" name="TextBox 9"/>
          <p:cNvSpPr txBox="1"/>
          <p:nvPr/>
        </p:nvSpPr>
        <p:spPr>
          <a:xfrm>
            <a:off x="1835696" y="2443535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(x+4)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088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+ 2</a:t>
            </a:r>
            <a:endParaRPr lang="en-GB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3888" y="242088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-16 </a:t>
            </a:r>
            <a:endParaRPr lang="en-GB" sz="4400" dirty="0"/>
          </a:p>
        </p:txBody>
      </p:sp>
      <p:sp>
        <p:nvSpPr>
          <p:cNvPr id="13" name="TextBox 12"/>
          <p:cNvSpPr txBox="1"/>
          <p:nvPr/>
        </p:nvSpPr>
        <p:spPr>
          <a:xfrm>
            <a:off x="5724128" y="2443535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28898" y="3170948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(x+4)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5" name="TextBox 14"/>
          <p:cNvSpPr txBox="1"/>
          <p:nvPr/>
        </p:nvSpPr>
        <p:spPr>
          <a:xfrm>
            <a:off x="4860032" y="3212976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-14</a:t>
            </a:r>
            <a:endParaRPr lang="en-GB" sz="4400" dirty="0"/>
          </a:p>
        </p:txBody>
      </p:sp>
      <p:sp>
        <p:nvSpPr>
          <p:cNvPr id="17" name="TextBox 16"/>
          <p:cNvSpPr txBox="1"/>
          <p:nvPr/>
        </p:nvSpPr>
        <p:spPr>
          <a:xfrm>
            <a:off x="5724128" y="3212976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8" name="TextBox 17"/>
          <p:cNvSpPr txBox="1"/>
          <p:nvPr/>
        </p:nvSpPr>
        <p:spPr>
          <a:xfrm>
            <a:off x="3200906" y="3963036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(x+4)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9" name="TextBox 18"/>
          <p:cNvSpPr txBox="1"/>
          <p:nvPr/>
        </p:nvSpPr>
        <p:spPr>
          <a:xfrm>
            <a:off x="5004048" y="400506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20" name="TextBox 19"/>
          <p:cNvSpPr txBox="1"/>
          <p:nvPr/>
        </p:nvSpPr>
        <p:spPr>
          <a:xfrm>
            <a:off x="5436096" y="4027711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14</a:t>
            </a:r>
            <a:endParaRPr lang="en-GB" sz="4400" dirty="0"/>
          </a:p>
        </p:txBody>
      </p:sp>
      <p:sp>
        <p:nvSpPr>
          <p:cNvPr id="21" name="TextBox 20"/>
          <p:cNvSpPr txBox="1"/>
          <p:nvPr/>
        </p:nvSpPr>
        <p:spPr>
          <a:xfrm>
            <a:off x="3200906" y="4683116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x+4</a:t>
            </a:r>
            <a:endParaRPr lang="en-GB" sz="4400" dirty="0"/>
          </a:p>
        </p:txBody>
      </p:sp>
      <p:sp>
        <p:nvSpPr>
          <p:cNvPr id="22" name="TextBox 21"/>
          <p:cNvSpPr txBox="1"/>
          <p:nvPr/>
        </p:nvSpPr>
        <p:spPr>
          <a:xfrm>
            <a:off x="5004048" y="47251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23" name="TextBox 22"/>
          <p:cNvSpPr txBox="1"/>
          <p:nvPr/>
        </p:nvSpPr>
        <p:spPr>
          <a:xfrm>
            <a:off x="6029484" y="47251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14</a:t>
            </a:r>
            <a:endParaRPr lang="en-GB" sz="4400" dirty="0"/>
          </a:p>
        </p:txBody>
      </p:sp>
      <p:grpSp>
        <p:nvGrpSpPr>
          <p:cNvPr id="3" name="Group 34"/>
          <p:cNvGrpSpPr/>
          <p:nvPr/>
        </p:nvGrpSpPr>
        <p:grpSpPr>
          <a:xfrm>
            <a:off x="5919376" y="4869160"/>
            <a:ext cx="864096" cy="504056"/>
            <a:chOff x="5542012" y="5589240"/>
            <a:chExt cx="864096" cy="504056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542012" y="5805264"/>
              <a:ext cx="144016" cy="28803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5686028" y="5589240"/>
              <a:ext cx="0" cy="5040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5686028" y="5589240"/>
              <a:ext cx="72008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ounded Rectangular Callout 35"/>
          <p:cNvSpPr/>
          <p:nvPr/>
        </p:nvSpPr>
        <p:spPr>
          <a:xfrm>
            <a:off x="6804248" y="3501008"/>
            <a:ext cx="2088232" cy="1080120"/>
          </a:xfrm>
          <a:prstGeom prst="wedgeRoundRectCallout">
            <a:avLst>
              <a:gd name="adj1" fmla="val -47940"/>
              <a:gd name="adj2" fmla="val 692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Don’t forget there will be a positive and negative answer here</a:t>
            </a:r>
            <a:endParaRPr lang="en-GB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323528" y="4293096"/>
            <a:ext cx="2088232" cy="720080"/>
          </a:xfrm>
          <a:prstGeom prst="wedgeRoundRectCallout">
            <a:avLst>
              <a:gd name="adj1" fmla="val 98020"/>
              <a:gd name="adj2" fmla="val -290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Square root both sides</a:t>
            </a:r>
            <a:endParaRPr lang="en-GB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660232" y="764704"/>
            <a:ext cx="2088232" cy="936104"/>
          </a:xfrm>
          <a:prstGeom prst="wedgeRoundRectCallout">
            <a:avLst>
              <a:gd name="adj1" fmla="val -150808"/>
              <a:gd name="adj2" fmla="val 683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Subtract the number in the brackets squared</a:t>
            </a:r>
            <a:endParaRPr lang="en-GB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323528" y="620688"/>
            <a:ext cx="2088232" cy="864096"/>
          </a:xfrm>
          <a:prstGeom prst="wedgeRoundRectCallout">
            <a:avLst>
              <a:gd name="adj1" fmla="val 69523"/>
              <a:gd name="adj2" fmla="val 979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This number will be half the coefficient of x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5580112" y="4797152"/>
            <a:ext cx="312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+</a:t>
            </a:r>
          </a:p>
          <a:p>
            <a:r>
              <a:rPr lang="en-GB" sz="2000" b="1" dirty="0"/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4008" y="5373216"/>
            <a:ext cx="5040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400" dirty="0" smtClean="0"/>
              <a:t>x</a:t>
            </a:r>
            <a:endParaRPr lang="en-GB" sz="4400" dirty="0"/>
          </a:p>
        </p:txBody>
      </p:sp>
      <p:sp>
        <p:nvSpPr>
          <p:cNvPr id="31" name="TextBox 30"/>
          <p:cNvSpPr txBox="1"/>
          <p:nvPr/>
        </p:nvSpPr>
        <p:spPr>
          <a:xfrm>
            <a:off x="5006990" y="54152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0232" y="54152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14</a:t>
            </a:r>
            <a:endParaRPr lang="en-GB" sz="4400" dirty="0"/>
          </a:p>
        </p:txBody>
      </p:sp>
      <p:grpSp>
        <p:nvGrpSpPr>
          <p:cNvPr id="6" name="Group 34"/>
          <p:cNvGrpSpPr/>
          <p:nvPr/>
        </p:nvGrpSpPr>
        <p:grpSpPr>
          <a:xfrm>
            <a:off x="6516216" y="5530232"/>
            <a:ext cx="864096" cy="504056"/>
            <a:chOff x="5542012" y="5589240"/>
            <a:chExt cx="864096" cy="504056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5542012" y="5805264"/>
              <a:ext cx="144016" cy="28803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5686028" y="5589240"/>
              <a:ext cx="0" cy="5040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5686028" y="5589240"/>
              <a:ext cx="72008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6131302" y="5487252"/>
            <a:ext cx="312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+</a:t>
            </a:r>
          </a:p>
          <a:p>
            <a:r>
              <a:rPr lang="en-GB" sz="2000" b="1" dirty="0"/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4088" y="5445224"/>
            <a:ext cx="64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400" dirty="0" smtClean="0"/>
              <a:t>-4</a:t>
            </a:r>
            <a:endParaRPr lang="en-GB" sz="4400" dirty="0"/>
          </a:p>
        </p:txBody>
      </p:sp>
      <p:pic>
        <p:nvPicPr>
          <p:cNvPr id="40" name="Picture 2" descr="http://www.beyond-black-friday.com/wp-content/uploads/2011/10/Happy-SpongeBob-Squarepants-smiling-and-jumping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085184"/>
            <a:ext cx="1331640" cy="13971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844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6" grpId="0" animBg="1"/>
      <p:bldP spid="37" grpId="0" animBg="1"/>
      <p:bldP spid="38" grpId="0" animBg="1"/>
      <p:bldP spid="39" grpId="0" animBg="1"/>
      <p:bldP spid="29" grpId="0"/>
      <p:bldP spid="30" grpId="0"/>
      <p:bldP spid="31" grpId="0"/>
      <p:bldP spid="35" grpId="0"/>
      <p:bldP spid="44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 smtClean="0"/>
              <a:t>Completing the Square</a:t>
            </a:r>
            <a:endParaRPr lang="en-GB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1484784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</a:t>
            </a:r>
            <a:r>
              <a:rPr lang="en-GB" sz="4400" baseline="30000" dirty="0" smtClean="0"/>
              <a:t>2</a:t>
            </a:r>
            <a:r>
              <a:rPr lang="en-GB" sz="4400" dirty="0" smtClean="0"/>
              <a:t> + 14x + 56=0</a:t>
            </a:r>
            <a:endParaRPr lang="en-GB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2420888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(x+7)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4283968" y="242088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+ 56</a:t>
            </a:r>
            <a:endParaRPr lang="en-GB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563888" y="242088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-7</a:t>
            </a:r>
            <a:r>
              <a:rPr lang="en-GB" sz="4400" baseline="30000" dirty="0" smtClean="0"/>
              <a:t>2</a:t>
            </a:r>
            <a:r>
              <a:rPr lang="en-GB" sz="4400" dirty="0" smtClean="0"/>
              <a:t> </a:t>
            </a:r>
            <a:endParaRPr lang="en-GB" sz="4400" dirty="0"/>
          </a:p>
        </p:txBody>
      </p:sp>
      <p:sp>
        <p:nvSpPr>
          <p:cNvPr id="9" name="TextBox 8"/>
          <p:cNvSpPr txBox="1"/>
          <p:nvPr/>
        </p:nvSpPr>
        <p:spPr>
          <a:xfrm>
            <a:off x="5724128" y="242088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0" name="TextBox 9"/>
          <p:cNvSpPr txBox="1"/>
          <p:nvPr/>
        </p:nvSpPr>
        <p:spPr>
          <a:xfrm>
            <a:off x="1835696" y="3163615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(x+7)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1" name="TextBox 10"/>
          <p:cNvSpPr txBox="1"/>
          <p:nvPr/>
        </p:nvSpPr>
        <p:spPr>
          <a:xfrm>
            <a:off x="4355976" y="3140968"/>
            <a:ext cx="1368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+ 56</a:t>
            </a:r>
            <a:endParaRPr lang="en-GB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3491880" y="3140968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-49 </a:t>
            </a:r>
            <a:endParaRPr lang="en-GB" sz="4400" dirty="0"/>
          </a:p>
        </p:txBody>
      </p:sp>
      <p:sp>
        <p:nvSpPr>
          <p:cNvPr id="13" name="TextBox 12"/>
          <p:cNvSpPr txBox="1"/>
          <p:nvPr/>
        </p:nvSpPr>
        <p:spPr>
          <a:xfrm>
            <a:off x="5724128" y="3163615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28898" y="3891028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(x+7)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5" name="TextBox 14"/>
          <p:cNvSpPr txBox="1"/>
          <p:nvPr/>
        </p:nvSpPr>
        <p:spPr>
          <a:xfrm>
            <a:off x="4860032" y="3933056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+ 7</a:t>
            </a:r>
            <a:endParaRPr lang="en-GB" sz="4400" dirty="0"/>
          </a:p>
        </p:txBody>
      </p:sp>
      <p:sp>
        <p:nvSpPr>
          <p:cNvPr id="17" name="TextBox 16"/>
          <p:cNvSpPr txBox="1"/>
          <p:nvPr/>
        </p:nvSpPr>
        <p:spPr>
          <a:xfrm>
            <a:off x="5724128" y="3933056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=0</a:t>
            </a:r>
            <a:endParaRPr lang="en-GB" sz="4400" dirty="0"/>
          </a:p>
        </p:txBody>
      </p:sp>
      <p:sp>
        <p:nvSpPr>
          <p:cNvPr id="18" name="TextBox 17"/>
          <p:cNvSpPr txBox="1"/>
          <p:nvPr/>
        </p:nvSpPr>
        <p:spPr>
          <a:xfrm>
            <a:off x="3200906" y="4683116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(x+7)</a:t>
            </a:r>
            <a:r>
              <a:rPr lang="en-GB" sz="4400" baseline="30000" dirty="0" smtClean="0"/>
              <a:t>2</a:t>
            </a:r>
            <a:endParaRPr lang="en-GB" sz="4400" dirty="0"/>
          </a:p>
        </p:txBody>
      </p:sp>
      <p:sp>
        <p:nvSpPr>
          <p:cNvPr id="19" name="TextBox 18"/>
          <p:cNvSpPr txBox="1"/>
          <p:nvPr/>
        </p:nvSpPr>
        <p:spPr>
          <a:xfrm>
            <a:off x="5004048" y="472514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20" name="TextBox 19"/>
          <p:cNvSpPr txBox="1"/>
          <p:nvPr/>
        </p:nvSpPr>
        <p:spPr>
          <a:xfrm>
            <a:off x="5436096" y="4747791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-7</a:t>
            </a:r>
            <a:endParaRPr lang="en-GB" sz="4400" dirty="0"/>
          </a:p>
        </p:txBody>
      </p:sp>
      <p:sp>
        <p:nvSpPr>
          <p:cNvPr id="21" name="TextBox 20"/>
          <p:cNvSpPr txBox="1"/>
          <p:nvPr/>
        </p:nvSpPr>
        <p:spPr>
          <a:xfrm>
            <a:off x="3200906" y="5403196"/>
            <a:ext cx="2016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 smtClean="0"/>
              <a:t>x+7</a:t>
            </a:r>
            <a:endParaRPr lang="en-GB" sz="4400" dirty="0"/>
          </a:p>
        </p:txBody>
      </p:sp>
      <p:sp>
        <p:nvSpPr>
          <p:cNvPr id="22" name="TextBox 21"/>
          <p:cNvSpPr txBox="1"/>
          <p:nvPr/>
        </p:nvSpPr>
        <p:spPr>
          <a:xfrm>
            <a:off x="5004048" y="544522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=</a:t>
            </a:r>
            <a:endParaRPr lang="en-GB" sz="4400" dirty="0"/>
          </a:p>
        </p:txBody>
      </p:sp>
      <p:sp>
        <p:nvSpPr>
          <p:cNvPr id="23" name="TextBox 22"/>
          <p:cNvSpPr txBox="1"/>
          <p:nvPr/>
        </p:nvSpPr>
        <p:spPr>
          <a:xfrm>
            <a:off x="5652120" y="5445224"/>
            <a:ext cx="10081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/>
              <a:t>-7</a:t>
            </a:r>
            <a:endParaRPr lang="en-GB" sz="44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5542012" y="5589240"/>
            <a:ext cx="864096" cy="504056"/>
            <a:chOff x="5542012" y="5589240"/>
            <a:chExt cx="864096" cy="504056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542012" y="5805264"/>
              <a:ext cx="144016" cy="28803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5686028" y="5589240"/>
              <a:ext cx="0" cy="5040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5686028" y="5589240"/>
              <a:ext cx="72008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ounded Rectangular Callout 35"/>
          <p:cNvSpPr/>
          <p:nvPr/>
        </p:nvSpPr>
        <p:spPr>
          <a:xfrm>
            <a:off x="6804248" y="3573016"/>
            <a:ext cx="2088232" cy="1728192"/>
          </a:xfrm>
          <a:prstGeom prst="wedgeRoundRectCallout">
            <a:avLst>
              <a:gd name="adj1" fmla="val -56281"/>
              <a:gd name="adj2" fmla="val 70059"/>
              <a:gd name="adj3" fmla="val 1666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We can stop here, we cannot find the square root of a negative, this equation has no solutions</a:t>
            </a:r>
            <a:endParaRPr lang="en-GB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323528" y="5013176"/>
            <a:ext cx="2088232" cy="720080"/>
          </a:xfrm>
          <a:prstGeom prst="wedgeRoundRectCallout">
            <a:avLst>
              <a:gd name="adj1" fmla="val 98020"/>
              <a:gd name="adj2" fmla="val -290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Square root both sides</a:t>
            </a:r>
            <a:endParaRPr lang="en-GB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6660232" y="1484784"/>
            <a:ext cx="2088232" cy="936104"/>
          </a:xfrm>
          <a:prstGeom prst="wedgeRoundRectCallout">
            <a:avLst>
              <a:gd name="adj1" fmla="val -161234"/>
              <a:gd name="adj2" fmla="val 559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Subtract the number in the brackets squared</a:t>
            </a:r>
            <a:endParaRPr lang="en-GB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323528" y="1340768"/>
            <a:ext cx="2088232" cy="864096"/>
          </a:xfrm>
          <a:prstGeom prst="wedgeRoundRectCallout">
            <a:avLst>
              <a:gd name="adj1" fmla="val 69523"/>
              <a:gd name="adj2" fmla="val 979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This number will be half the coefficient of x</a:t>
            </a:r>
            <a:endParaRPr lang="en-GB" dirty="0"/>
          </a:p>
        </p:txBody>
      </p:sp>
      <p:pic>
        <p:nvPicPr>
          <p:cNvPr id="1026" name="Picture 2" descr="http://4.bp.blogspot.com/-ziSEW4AbWKk/TxxfU7QctPI/AAAAAAAAAbg/C7cvXWr0v4s/s1600/squidward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636912"/>
            <a:ext cx="1190625" cy="1666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455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6" grpId="0" animBg="1"/>
      <p:bldP spid="37" grpId="0" animBg="1"/>
      <p:bldP spid="38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000" dirty="0" smtClean="0">
                <a:latin typeface="Aharoni" pitchFamily="2" charset="-79"/>
                <a:cs typeface="Aharoni" pitchFamily="2" charset="-79"/>
              </a:rPr>
              <a:t>Practise Questions</a:t>
            </a:r>
            <a:endParaRPr lang="en-GB" sz="6000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760" y="1844824"/>
            <a:ext cx="5040560" cy="2677656"/>
          </a:xfrm>
          <a:prstGeom prst="rect">
            <a:avLst/>
          </a:prstGeom>
          <a:solidFill>
            <a:srgbClr val="FFFF00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Solve the following quadratic equations: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+8x-9=0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+6x-10=0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+10x-9=0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+6x-7=0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-10x+3=0</a:t>
            </a:r>
          </a:p>
        </p:txBody>
      </p:sp>
      <p:pic>
        <p:nvPicPr>
          <p:cNvPr id="33794" name="Picture 2" descr="http://spongebob.neoseeker.com/w/i/spongebob/c/ca/Mr._Krabs'_Really_Happy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42" y="3645025"/>
            <a:ext cx="1852186" cy="32129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343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696095" y="225425"/>
            <a:ext cx="7451229" cy="455841"/>
            <a:chOff x="676638" y="327023"/>
            <a:chExt cx="7451229" cy="455841"/>
          </a:xfrm>
        </p:grpSpPr>
        <p:sp>
          <p:nvSpPr>
            <p:cNvPr id="4" name="Text Box 3"/>
            <p:cNvSpPr txBox="1">
              <a:spLocks noChangeArrowheads="1"/>
            </p:cNvSpPr>
            <p:nvPr/>
          </p:nvSpPr>
          <p:spPr bwMode="auto">
            <a:xfrm>
              <a:off x="676638" y="351977"/>
              <a:ext cx="7451229" cy="430887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200" dirty="0">
                  <a:solidFill>
                    <a:prstClr val="black"/>
                  </a:solidFill>
                  <a:latin typeface="Arial" charset="0"/>
                </a:rPr>
                <a:t>You may have used the factorising to solve</a:t>
              </a:r>
            </a:p>
          </p:txBody>
        </p:sp>
        <p:graphicFrame>
          <p:nvGraphicFramePr>
            <p:cNvPr id="106291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8742206"/>
                </p:ext>
              </p:extLst>
            </p:nvPr>
          </p:nvGraphicFramePr>
          <p:xfrm>
            <a:off x="6152371" y="327023"/>
            <a:ext cx="182245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66" name="Equation" r:id="rId3" imgW="901440" imgH="203040" progId="Equation.3">
                    <p:embed/>
                  </p:oleObj>
                </mc:Choice>
                <mc:Fallback>
                  <p:oleObj name="Equation" r:id="rId3" imgW="9014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2371" y="327023"/>
                          <a:ext cx="1822450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83177" y="3346538"/>
            <a:ext cx="3055258" cy="40011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dirty="0" err="1">
                <a:solidFill>
                  <a:prstClr val="black"/>
                </a:solidFill>
                <a:latin typeface="Arial" charset="0"/>
              </a:rPr>
              <a:t>ie</a:t>
            </a:r>
            <a:r>
              <a:rPr lang="en-GB" sz="2000" dirty="0">
                <a:solidFill>
                  <a:prstClr val="black"/>
                </a:solidFill>
                <a:latin typeface="Arial" charset="0"/>
              </a:rPr>
              <a:t> when y=0, x=-5 or 7</a:t>
            </a:r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312491"/>
              </p:ext>
            </p:extLst>
          </p:nvPr>
        </p:nvGraphicFramePr>
        <p:xfrm>
          <a:off x="1050925" y="2283945"/>
          <a:ext cx="2489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7" name="Equation" r:id="rId5" imgW="1231560" imgH="203040" progId="Equation.3">
                  <p:embed/>
                </p:oleObj>
              </mc:Choice>
              <mc:Fallback>
                <p:oleObj name="Equation" r:id="rId5" imgW="1231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2283945"/>
                        <a:ext cx="24892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404869"/>
              </p:ext>
            </p:extLst>
          </p:nvPr>
        </p:nvGraphicFramePr>
        <p:xfrm>
          <a:off x="1169761" y="2835479"/>
          <a:ext cx="14874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8" name="Equation" r:id="rId7" imgW="736560" imgH="203040" progId="Equation.3">
                  <p:embed/>
                </p:oleObj>
              </mc:Choice>
              <mc:Fallback>
                <p:oleObj name="Equation" r:id="rId7" imgW="736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761" y="2835479"/>
                        <a:ext cx="14874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0"/>
          <p:cNvGrpSpPr/>
          <p:nvPr/>
        </p:nvGrpSpPr>
        <p:grpSpPr>
          <a:xfrm>
            <a:off x="833277" y="969936"/>
            <a:ext cx="7425871" cy="471941"/>
            <a:chOff x="992413" y="1580016"/>
            <a:chExt cx="7425871" cy="471941"/>
          </a:xfrm>
        </p:grpSpPr>
        <p:sp>
          <p:nvSpPr>
            <p:cNvPr id="17" name="Text Box 4"/>
            <p:cNvSpPr txBox="1">
              <a:spLocks noChangeArrowheads="1"/>
            </p:cNvSpPr>
            <p:nvPr/>
          </p:nvSpPr>
          <p:spPr bwMode="auto">
            <a:xfrm>
              <a:off x="992413" y="1618342"/>
              <a:ext cx="7425871" cy="40011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000" dirty="0" err="1">
                  <a:solidFill>
                    <a:prstClr val="black"/>
                  </a:solidFill>
                  <a:latin typeface="Arial" charset="0"/>
                </a:rPr>
                <a:t>Eg</a:t>
              </a:r>
              <a:r>
                <a:rPr lang="en-GB" sz="2000" dirty="0">
                  <a:solidFill>
                    <a:prstClr val="black"/>
                  </a:solidFill>
                  <a:latin typeface="Arial" charset="0"/>
                </a:rPr>
                <a:t> solve                               and hence sketch                              </a:t>
              </a:r>
              <a:endParaRPr lang="en-US" sz="2000" dirty="0">
                <a:solidFill>
                  <a:prstClr val="black"/>
                </a:solidFill>
                <a:latin typeface="Arial" charset="0"/>
              </a:endParaRPr>
            </a:p>
          </p:txBody>
        </p:sp>
        <p:graphicFrame>
          <p:nvGraphicFramePr>
            <p:cNvPr id="16" name="Object 3"/>
            <p:cNvGraphicFramePr>
              <a:graphicFrameLocks noChangeAspect="1"/>
            </p:cNvGraphicFramePr>
            <p:nvPr/>
          </p:nvGraphicFramePr>
          <p:xfrm>
            <a:off x="2167392" y="1580016"/>
            <a:ext cx="2005012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69" name="Equation" r:id="rId9" imgW="990360" imgH="203040" progId="Equation.3">
                    <p:embed/>
                  </p:oleObj>
                </mc:Choice>
                <mc:Fallback>
                  <p:oleObj name="Equation" r:id="rId9" imgW="99036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7392" y="1580016"/>
                          <a:ext cx="2005012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291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2387324"/>
                </p:ext>
              </p:extLst>
            </p:nvPr>
          </p:nvGraphicFramePr>
          <p:xfrm>
            <a:off x="6313262" y="1591582"/>
            <a:ext cx="2030413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0" name="Equation" r:id="rId11" imgW="1002960" imgH="228600" progId="Equation.3">
                    <p:embed/>
                  </p:oleObj>
                </mc:Choice>
                <mc:Fallback>
                  <p:oleObj name="Equation" r:id="rId11" imgW="10029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3262" y="1591582"/>
                          <a:ext cx="2030413" cy="460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750896"/>
              </p:ext>
            </p:extLst>
          </p:nvPr>
        </p:nvGraphicFramePr>
        <p:xfrm>
          <a:off x="1318306" y="1673891"/>
          <a:ext cx="20050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1" name="Equation" r:id="rId13" imgW="990360" imgH="203040" progId="Equation.3">
                  <p:embed/>
                </p:oleObj>
              </mc:Choice>
              <mc:Fallback>
                <p:oleObj name="Equation" r:id="rId13" imgW="990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306" y="1673891"/>
                        <a:ext cx="2005012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696095" y="4909069"/>
            <a:ext cx="3773713" cy="10156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dirty="0">
                <a:solidFill>
                  <a:prstClr val="black"/>
                </a:solidFill>
                <a:latin typeface="Arial" charset="0"/>
              </a:rPr>
              <a:t>These solutions represent the </a:t>
            </a:r>
            <a:r>
              <a:rPr lang="en-GB" sz="2000" b="1" dirty="0">
                <a:solidFill>
                  <a:prstClr val="black"/>
                </a:solidFill>
                <a:latin typeface="Arial" charset="0"/>
              </a:rPr>
              <a:t>points where the graph crosses x-axis: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210636" y="4252211"/>
            <a:ext cx="360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6200000" flipV="1">
            <a:off x="5210636" y="3696261"/>
            <a:ext cx="360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flipV="1">
            <a:off x="5892809" y="-1611560"/>
            <a:ext cx="2293257" cy="6858000"/>
          </a:xfrm>
          <a:prstGeom prst="arc">
            <a:avLst>
              <a:gd name="adj1" fmla="val 12565383"/>
              <a:gd name="adj2" fmla="val 19805182"/>
            </a:avLst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50858" y="4252202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prstClr val="black"/>
                </a:solidFill>
                <a:latin typeface="Arial" charset="0"/>
              </a:rPr>
              <a:t>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1430" y="425946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prstClr val="black"/>
                </a:solidFill>
                <a:latin typeface="Arial" charset="0"/>
              </a:rPr>
              <a:t>7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97039" y="3975202"/>
            <a:ext cx="4571827" cy="722731"/>
            <a:chOff x="297039" y="4585286"/>
            <a:chExt cx="4571827" cy="722731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297039" y="4585286"/>
              <a:ext cx="4571827" cy="707886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000" dirty="0">
                  <a:solidFill>
                    <a:prstClr val="black"/>
                  </a:solidFill>
                  <a:latin typeface="Arial" charset="0"/>
                </a:rPr>
                <a:t>What do these solutions tell you about the graph of                                </a:t>
              </a:r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7781754"/>
                </p:ext>
              </p:extLst>
            </p:nvPr>
          </p:nvGraphicFramePr>
          <p:xfrm>
            <a:off x="1850640" y="4812244"/>
            <a:ext cx="2175892" cy="495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2" name="Equation" r:id="rId15" imgW="1002960" imgH="228600" progId="Equation.3">
                    <p:embed/>
                  </p:oleObj>
                </mc:Choice>
                <mc:Fallback>
                  <p:oleObj name="Equation" r:id="rId15" imgW="1002960" imgH="228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850640" y="4812244"/>
                          <a:ext cx="2175892" cy="4957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25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27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28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329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3" grpId="0" animBg="1"/>
      <p:bldP spid="14" grpId="0" animBg="1"/>
      <p:bldP spid="24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34099" y="1423484"/>
            <a:ext cx="5376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mic Sans MS" pitchFamily="66" charset="0"/>
              </a:rPr>
              <a:t>(x 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+ 5</a:t>
            </a:r>
            <a:r>
              <a:rPr lang="en-GB" sz="2000" dirty="0">
                <a:latin typeface="Comic Sans MS" pitchFamily="66" charset="0"/>
              </a:rPr>
              <a:t>)</a:t>
            </a:r>
            <a:r>
              <a:rPr lang="en-GB" sz="2000" baseline="30000" dirty="0">
                <a:latin typeface="Comic Sans MS" pitchFamily="66" charset="0"/>
              </a:rPr>
              <a:t>2</a:t>
            </a:r>
            <a:r>
              <a:rPr lang="en-GB" sz="2000" dirty="0">
                <a:latin typeface="Comic Sans MS" pitchFamily="66" charset="0"/>
              </a:rPr>
              <a:t>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– 15</a:t>
            </a:r>
            <a:r>
              <a:rPr lang="en-GB" sz="2000" dirty="0">
                <a:latin typeface="Comic Sans MS" pitchFamily="66" charset="0"/>
              </a:rPr>
              <a:t> = 0	Minimum at (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-5</a:t>
            </a:r>
            <a:r>
              <a:rPr lang="en-GB" sz="2000" dirty="0">
                <a:latin typeface="Comic Sans MS" pitchFamily="66" charset="0"/>
              </a:rPr>
              <a:t>,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-15</a:t>
            </a:r>
            <a:r>
              <a:rPr lang="en-GB" sz="2000" dirty="0">
                <a:latin typeface="Comic Sans MS" pitchFamily="66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4099" y="1999548"/>
            <a:ext cx="52277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mic Sans MS" pitchFamily="66" charset="0"/>
              </a:rPr>
              <a:t>(x 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- 4</a:t>
            </a:r>
            <a:r>
              <a:rPr lang="en-GB" sz="2000" dirty="0">
                <a:latin typeface="Comic Sans MS" pitchFamily="66" charset="0"/>
              </a:rPr>
              <a:t>)</a:t>
            </a:r>
            <a:r>
              <a:rPr lang="en-GB" sz="2000" baseline="30000" dirty="0">
                <a:latin typeface="Comic Sans MS" pitchFamily="66" charset="0"/>
              </a:rPr>
              <a:t>2</a:t>
            </a:r>
            <a:r>
              <a:rPr lang="en-GB" sz="2000" dirty="0">
                <a:latin typeface="Comic Sans MS" pitchFamily="66" charset="0"/>
              </a:rPr>
              <a:t>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– 11</a:t>
            </a:r>
            <a:r>
              <a:rPr lang="en-GB" sz="2000" dirty="0">
                <a:latin typeface="Comic Sans MS" pitchFamily="66" charset="0"/>
              </a:rPr>
              <a:t> = 0		Minimum at (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4</a:t>
            </a:r>
            <a:r>
              <a:rPr lang="en-GB" sz="2000" dirty="0">
                <a:latin typeface="Comic Sans MS" pitchFamily="66" charset="0"/>
              </a:rPr>
              <a:t>,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-11</a:t>
            </a:r>
            <a:r>
              <a:rPr lang="en-GB" sz="2000" dirty="0">
                <a:latin typeface="Comic Sans MS" pitchFamily="66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4099" y="2647620"/>
            <a:ext cx="53110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mic Sans MS" pitchFamily="66" charset="0"/>
              </a:rPr>
              <a:t>(x 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- 7</a:t>
            </a:r>
            <a:r>
              <a:rPr lang="en-GB" sz="2000" dirty="0">
                <a:latin typeface="Comic Sans MS" pitchFamily="66" charset="0"/>
              </a:rPr>
              <a:t>)</a:t>
            </a:r>
            <a:r>
              <a:rPr lang="en-GB" sz="2000" baseline="30000" dirty="0">
                <a:latin typeface="Comic Sans MS" pitchFamily="66" charset="0"/>
              </a:rPr>
              <a:t>2</a:t>
            </a:r>
            <a:r>
              <a:rPr lang="en-GB" sz="2000" dirty="0">
                <a:latin typeface="Comic Sans MS" pitchFamily="66" charset="0"/>
              </a:rPr>
              <a:t>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+ 58</a:t>
            </a:r>
            <a:r>
              <a:rPr lang="en-GB" sz="2000" dirty="0">
                <a:latin typeface="Comic Sans MS" pitchFamily="66" charset="0"/>
              </a:rPr>
              <a:t> = 0	Minimum at (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7</a:t>
            </a:r>
            <a:r>
              <a:rPr lang="en-GB" sz="2000" dirty="0">
                <a:latin typeface="Comic Sans MS" pitchFamily="66" charset="0"/>
              </a:rPr>
              <a:t>,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58</a:t>
            </a:r>
            <a:r>
              <a:rPr lang="en-GB" sz="2000" dirty="0">
                <a:latin typeface="Comic Sans MS" pitchFamily="66" charset="0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0098" y="260648"/>
            <a:ext cx="71758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200" u="sng" dirty="0">
                <a:latin typeface="+mj-lt"/>
              </a:rPr>
              <a:t>Completing the square - Minimum Points</a:t>
            </a:r>
          </a:p>
        </p:txBody>
      </p:sp>
      <p:sp>
        <p:nvSpPr>
          <p:cNvPr id="9" name="Explosion 1 8"/>
          <p:cNvSpPr/>
          <p:nvPr/>
        </p:nvSpPr>
        <p:spPr bwMode="auto">
          <a:xfrm>
            <a:off x="827584" y="2847676"/>
            <a:ext cx="7560840" cy="3203128"/>
          </a:xfrm>
          <a:prstGeom prst="irregularSeal1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icrosoft YaHei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26627" y="4024319"/>
            <a:ext cx="51106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mic Sans MS" pitchFamily="66" charset="0"/>
              </a:rPr>
              <a:t>(x 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+ p</a:t>
            </a:r>
            <a:r>
              <a:rPr lang="en-GB" sz="2000" dirty="0">
                <a:latin typeface="Comic Sans MS" pitchFamily="66" charset="0"/>
              </a:rPr>
              <a:t>)</a:t>
            </a:r>
            <a:r>
              <a:rPr lang="en-GB" sz="2000" baseline="30000" dirty="0">
                <a:latin typeface="Comic Sans MS" pitchFamily="66" charset="0"/>
              </a:rPr>
              <a:t>2</a:t>
            </a:r>
            <a:r>
              <a:rPr lang="en-GB" sz="2000" dirty="0">
                <a:latin typeface="Comic Sans MS" pitchFamily="66" charset="0"/>
              </a:rPr>
              <a:t>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+ q</a:t>
            </a:r>
            <a:r>
              <a:rPr lang="en-GB" sz="2000" dirty="0">
                <a:latin typeface="Comic Sans MS" pitchFamily="66" charset="0"/>
              </a:rPr>
              <a:t> = 0		Minimum at (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-p</a:t>
            </a:r>
            <a:r>
              <a:rPr lang="en-GB" sz="2000" dirty="0">
                <a:latin typeface="Comic Sans MS" pitchFamily="66" charset="0"/>
              </a:rPr>
              <a:t>,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q</a:t>
            </a:r>
            <a:r>
              <a:rPr lang="en-GB" sz="2000" dirty="0">
                <a:latin typeface="Comic Sans MS" pitchFamily="66" charset="0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6853" y="1298275"/>
            <a:ext cx="2786082" cy="5435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474497" y="1927819"/>
            <a:ext cx="2786082" cy="5435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479653" y="2575891"/>
            <a:ext cx="2786082" cy="5435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969022" y="4426557"/>
            <a:ext cx="4977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mic Sans MS" pitchFamily="66" charset="0"/>
              </a:rPr>
              <a:t>(x 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- p</a:t>
            </a:r>
            <a:r>
              <a:rPr lang="en-GB" sz="2000" dirty="0">
                <a:latin typeface="Comic Sans MS" pitchFamily="66" charset="0"/>
              </a:rPr>
              <a:t>)</a:t>
            </a:r>
            <a:r>
              <a:rPr lang="en-GB" sz="2000" baseline="30000" dirty="0">
                <a:latin typeface="Comic Sans MS" pitchFamily="66" charset="0"/>
              </a:rPr>
              <a:t>2</a:t>
            </a:r>
            <a:r>
              <a:rPr lang="en-GB" sz="2000" dirty="0">
                <a:latin typeface="Comic Sans MS" pitchFamily="66" charset="0"/>
              </a:rPr>
              <a:t>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+ q</a:t>
            </a:r>
            <a:r>
              <a:rPr lang="en-GB" sz="2000" dirty="0">
                <a:latin typeface="Comic Sans MS" pitchFamily="66" charset="0"/>
              </a:rPr>
              <a:t> = 0		Minimum at (</a:t>
            </a:r>
            <a:r>
              <a:rPr lang="en-GB" sz="2000" dirty="0">
                <a:solidFill>
                  <a:srgbClr val="FF0000"/>
                </a:solidFill>
                <a:latin typeface="Comic Sans MS" pitchFamily="66" charset="0"/>
              </a:rPr>
              <a:t>p</a:t>
            </a:r>
            <a:r>
              <a:rPr lang="en-GB" sz="2000" dirty="0">
                <a:latin typeface="Comic Sans MS" pitchFamily="66" charset="0"/>
              </a:rPr>
              <a:t>, </a:t>
            </a:r>
            <a:r>
              <a:rPr lang="en-GB" sz="2000" dirty="0">
                <a:solidFill>
                  <a:srgbClr val="0070C0"/>
                </a:solidFill>
                <a:latin typeface="Comic Sans MS" pitchFamily="66" charset="0"/>
              </a:rPr>
              <a:t>q</a:t>
            </a:r>
            <a:r>
              <a:rPr lang="en-GB" sz="2000" dirty="0">
                <a:latin typeface="Comic Sans MS" pitchFamily="66" charset="0"/>
              </a:rPr>
              <a:t>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15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6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391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  <p:bldP spid="10" grpId="0" animBg="1"/>
      <p:bldP spid="11" grpId="0" animBg="1"/>
      <p:bldP spid="12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36638"/>
          </a:xfrm>
        </p:spPr>
        <p:txBody>
          <a:bodyPr/>
          <a:lstStyle/>
          <a:p>
            <a:pPr eaLnBrk="1" hangingPunct="1"/>
            <a:r>
              <a:rPr lang="en-US" altLang="x-none" sz="4000" b="1">
                <a:solidFill>
                  <a:srgbClr val="FF0000"/>
                </a:solidFill>
                <a:latin typeface="Comic Sans MS" charset="0"/>
              </a:rPr>
              <a:t>Finding the Axis of Symmetry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57200" y="1219200"/>
            <a:ext cx="6096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You can find the </a:t>
            </a:r>
            <a:r>
              <a:rPr lang="en-US" altLang="x-none">
                <a:solidFill>
                  <a:srgbClr val="FF0000"/>
                </a:solidFill>
              </a:rPr>
              <a:t>Axis of Symmetry</a:t>
            </a:r>
            <a:r>
              <a:rPr lang="en-US" altLang="x-none"/>
              <a:t> of any quadratic equation by using the formula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6248400" y="1143000"/>
          <a:ext cx="118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Equation" r:id="rId12" imgW="1180800" imgH="838080" progId="Equation.DSMT4">
                  <p:embed/>
                </p:oleObj>
              </mc:Choice>
              <mc:Fallback>
                <p:oleObj name="Equation" r:id="rId12" imgW="11808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143000"/>
                        <a:ext cx="1181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276600" y="2133600"/>
            <a:ext cx="5103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>
                <a:solidFill>
                  <a:srgbClr val="9900FF"/>
                </a:solidFill>
              </a:rPr>
              <a:t>Let’s take a look at those equations again.</a:t>
            </a:r>
          </a:p>
        </p:txBody>
      </p:sp>
      <p:pic>
        <p:nvPicPr>
          <p:cNvPr id="8200" name="Picture 8" descr="MMj03957550000[1]"/>
          <p:cNvPicPr>
            <a:picLocks noChangeAspect="1" noChangeArrowheads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152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469900" y="3022600"/>
          <a:ext cx="226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Equation" r:id="rId15" imgW="2260440" imgH="393480" progId="Equation.DSMT4">
                  <p:embed/>
                </p:oleObj>
              </mc:Choice>
              <mc:Fallback>
                <p:oleObj name="Equation" r:id="rId15" imgW="2260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3022600"/>
                        <a:ext cx="226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533400" y="3581400"/>
            <a:ext cx="230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= </a:t>
            </a:r>
            <a:r>
              <a:rPr lang="en-US" altLang="x-none">
                <a:solidFill>
                  <a:srgbClr val="3333FF"/>
                </a:solidFill>
              </a:rPr>
              <a:t>2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008000"/>
                </a:solidFill>
              </a:rPr>
              <a:t>b</a:t>
            </a:r>
            <a:r>
              <a:rPr lang="en-US" altLang="x-none"/>
              <a:t> = </a:t>
            </a:r>
            <a:r>
              <a:rPr lang="en-US" altLang="x-none">
                <a:solidFill>
                  <a:srgbClr val="008000"/>
                </a:solidFill>
              </a:rPr>
              <a:t>-4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9900FF"/>
                </a:solidFill>
              </a:rPr>
              <a:t>c</a:t>
            </a:r>
            <a:r>
              <a:rPr lang="en-US" altLang="x-none"/>
              <a:t> = </a:t>
            </a:r>
            <a:r>
              <a:rPr lang="en-US" altLang="x-none">
                <a:solidFill>
                  <a:srgbClr val="9900FF"/>
                </a:solidFill>
              </a:rPr>
              <a:t>0</a:t>
            </a:r>
          </a:p>
        </p:txBody>
      </p:sp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990600" y="4191000"/>
          <a:ext cx="1346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Equation" r:id="rId17" imgW="1346040" imgH="672840" progId="Equation.DSMT4">
                  <p:embed/>
                </p:oleObj>
              </mc:Choice>
              <mc:Fallback>
                <p:oleObj name="Equation" r:id="rId17" imgW="134604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191000"/>
                        <a:ext cx="1346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1219200" y="5029200"/>
          <a:ext cx="711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Equation" r:id="rId19" imgW="711000" imgH="291960" progId="Equation.DSMT4">
                  <p:embed/>
                </p:oleObj>
              </mc:Choice>
              <mc:Fallback>
                <p:oleObj name="Equation" r:id="rId19" imgW="711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029200"/>
                        <a:ext cx="7112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3695700" y="3048000"/>
            <a:ext cx="17526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1600">
                <a:solidFill>
                  <a:srgbClr val="FF00FF"/>
                </a:solidFill>
              </a:rPr>
              <a:t>To find the coordinates of the vertex, plug the value of x into the original function .</a:t>
            </a:r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609600" y="5410200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21" imgW="1968480" imgH="342720" progId="Equation.DSMT4">
                  <p:embed/>
                </p:oleObj>
              </mc:Choice>
              <mc:Fallback>
                <p:oleObj name="Equation" r:id="rId21" imgW="19684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10200"/>
                        <a:ext cx="1968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/>
          <p:cNvGraphicFramePr>
            <a:graphicFrameLocks noChangeAspect="1"/>
          </p:cNvGraphicFramePr>
          <p:nvPr/>
        </p:nvGraphicFramePr>
        <p:xfrm>
          <a:off x="2667000" y="5486400"/>
          <a:ext cx="546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Equation" r:id="rId23" imgW="545760" imgH="241200" progId="Equation.DSMT4">
                  <p:embed/>
                </p:oleObj>
              </mc:Choice>
              <mc:Fallback>
                <p:oleObj name="Equation" r:id="rId23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486400"/>
                        <a:ext cx="5461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381000" y="5943600"/>
            <a:ext cx="1054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vertex </a:t>
            </a:r>
          </a:p>
        </p:txBody>
      </p:sp>
      <p:sp>
        <p:nvSpPr>
          <p:cNvPr id="8210" name="AutoShape 18"/>
          <p:cNvSpPr>
            <a:spLocks noChangeArrowheads="1"/>
          </p:cNvSpPr>
          <p:nvPr/>
        </p:nvSpPr>
        <p:spPr bwMode="auto">
          <a:xfrm>
            <a:off x="1371600" y="60198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00FF"/>
          </a:solidFill>
          <a:ln w="12700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1752600" y="5943600"/>
            <a:ext cx="893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1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-2</a:t>
            </a:r>
            <a:r>
              <a:rPr lang="en-US" altLang="x-none"/>
              <a:t>)</a:t>
            </a:r>
          </a:p>
        </p:txBody>
      </p:sp>
      <p:graphicFrame>
        <p:nvGraphicFramePr>
          <p:cNvPr id="8212" name="Object 20"/>
          <p:cNvGraphicFramePr>
            <a:graphicFrameLocks noChangeAspect="1"/>
          </p:cNvGraphicFramePr>
          <p:nvPr/>
        </p:nvGraphicFramePr>
        <p:xfrm>
          <a:off x="6076950" y="3035300"/>
          <a:ext cx="245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Equation" r:id="rId25" imgW="2450880" imgH="393480" progId="Equation.DSMT4">
                  <p:embed/>
                </p:oleObj>
              </mc:Choice>
              <mc:Fallback>
                <p:oleObj name="Equation" r:id="rId25" imgW="2450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950" y="3035300"/>
                        <a:ext cx="2451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6172200" y="3581400"/>
            <a:ext cx="241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3333FF"/>
                </a:solidFill>
              </a:rPr>
              <a:t>a</a:t>
            </a:r>
            <a:r>
              <a:rPr lang="en-US" altLang="x-none"/>
              <a:t> = </a:t>
            </a:r>
            <a:r>
              <a:rPr lang="en-US" altLang="x-none">
                <a:solidFill>
                  <a:srgbClr val="3333FF"/>
                </a:solidFill>
              </a:rPr>
              <a:t>-2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008000"/>
                </a:solidFill>
              </a:rPr>
              <a:t>b</a:t>
            </a:r>
            <a:r>
              <a:rPr lang="en-US" altLang="x-none"/>
              <a:t> = </a:t>
            </a:r>
            <a:r>
              <a:rPr lang="en-US" altLang="x-none">
                <a:solidFill>
                  <a:srgbClr val="008000"/>
                </a:solidFill>
              </a:rPr>
              <a:t>-4</a:t>
            </a:r>
            <a:r>
              <a:rPr lang="en-US" altLang="x-none"/>
              <a:t>, </a:t>
            </a:r>
            <a:r>
              <a:rPr lang="en-US" altLang="x-none" i="1">
                <a:solidFill>
                  <a:srgbClr val="9900FF"/>
                </a:solidFill>
              </a:rPr>
              <a:t>c</a:t>
            </a:r>
            <a:r>
              <a:rPr lang="en-US" altLang="x-none"/>
              <a:t> = </a:t>
            </a:r>
            <a:r>
              <a:rPr lang="en-US" altLang="x-none">
                <a:solidFill>
                  <a:srgbClr val="9900FF"/>
                </a:solidFill>
              </a:rPr>
              <a:t>0</a:t>
            </a:r>
          </a:p>
        </p:txBody>
      </p:sp>
      <p:graphicFrame>
        <p:nvGraphicFramePr>
          <p:cNvPr id="8214" name="Object 22"/>
          <p:cNvGraphicFramePr>
            <a:graphicFrameLocks noChangeAspect="1"/>
          </p:cNvGraphicFramePr>
          <p:nvPr/>
        </p:nvGraphicFramePr>
        <p:xfrm>
          <a:off x="6781800" y="4114800"/>
          <a:ext cx="1346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27" imgW="1346040" imgH="672840" progId="Equation.DSMT4">
                  <p:embed/>
                </p:oleObj>
              </mc:Choice>
              <mc:Fallback>
                <p:oleObj name="Equation" r:id="rId27" imgW="134604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114800"/>
                        <a:ext cx="1346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7067550" y="5029200"/>
          <a:ext cx="901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Equation" r:id="rId29" imgW="901440" imgH="291960" progId="Equation.DSMT4">
                  <p:embed/>
                </p:oleObj>
              </mc:Choice>
              <mc:Fallback>
                <p:oleObj name="Equation" r:id="rId29" imgW="9014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5029200"/>
                        <a:ext cx="901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Object 24"/>
          <p:cNvGraphicFramePr>
            <a:graphicFrameLocks noChangeAspect="1"/>
          </p:cNvGraphicFramePr>
          <p:nvPr/>
        </p:nvGraphicFramePr>
        <p:xfrm>
          <a:off x="5715000" y="5486400"/>
          <a:ext cx="260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31" imgW="2603160" imgH="342720" progId="Equation.DSMT4">
                  <p:embed/>
                </p:oleObj>
              </mc:Choice>
              <mc:Fallback>
                <p:oleObj name="Equation" r:id="rId31" imgW="26031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486400"/>
                        <a:ext cx="2603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7" name="Object 25"/>
          <p:cNvGraphicFramePr>
            <a:graphicFrameLocks noChangeAspect="1"/>
          </p:cNvGraphicFramePr>
          <p:nvPr/>
        </p:nvGraphicFramePr>
        <p:xfrm>
          <a:off x="8305800" y="5486400"/>
          <a:ext cx="39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33" imgW="393480" imgH="241200" progId="Equation.DSMT4">
                  <p:embed/>
                </p:oleObj>
              </mc:Choice>
              <mc:Fallback>
                <p:oleObj name="Equation" r:id="rId33" imgW="393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486400"/>
                        <a:ext cx="393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Text Box 26"/>
          <p:cNvSpPr txBox="1">
            <a:spLocks noChangeArrowheads="1"/>
          </p:cNvSpPr>
          <p:nvPr/>
        </p:nvSpPr>
        <p:spPr bwMode="auto">
          <a:xfrm>
            <a:off x="6096000" y="5943600"/>
            <a:ext cx="1054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vertex </a:t>
            </a:r>
          </a:p>
        </p:txBody>
      </p:sp>
      <p:sp>
        <p:nvSpPr>
          <p:cNvPr id="8219" name="AutoShape 27"/>
          <p:cNvSpPr>
            <a:spLocks noChangeArrowheads="1"/>
          </p:cNvSpPr>
          <p:nvPr/>
        </p:nvSpPr>
        <p:spPr bwMode="auto">
          <a:xfrm>
            <a:off x="7162800" y="60198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00FF"/>
          </a:solidFill>
          <a:ln w="12700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8220" name="Text Box 28"/>
          <p:cNvSpPr txBox="1">
            <a:spLocks noChangeArrowheads="1"/>
          </p:cNvSpPr>
          <p:nvPr/>
        </p:nvSpPr>
        <p:spPr bwMode="auto">
          <a:xfrm>
            <a:off x="7620000" y="5943600"/>
            <a:ext cx="893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-1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r>
              <a:rPr lang="en-US" altLang="x-none"/>
              <a:t>)</a:t>
            </a:r>
          </a:p>
        </p:txBody>
      </p:sp>
      <p:pic>
        <p:nvPicPr>
          <p:cNvPr id="8221" name="Picture 29" descr="s0105150_std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953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12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9" dur="10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0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1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1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1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4" dur="10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7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7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7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8199" grpId="0"/>
      <p:bldP spid="8202" grpId="0"/>
      <p:bldP spid="8205" grpId="0"/>
      <p:bldP spid="8209" grpId="0"/>
      <p:bldP spid="8210" grpId="0" animBg="1"/>
      <p:bldP spid="8211" grpId="0"/>
      <p:bldP spid="8213" grpId="0"/>
      <p:bldP spid="8218" grpId="0"/>
      <p:bldP spid="8219" grpId="0" animBg="1"/>
      <p:bldP spid="82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x-none" b="1">
                <a:solidFill>
                  <a:srgbClr val="FF0000"/>
                </a:solidFill>
                <a:latin typeface="Comic Sans MS" charset="0"/>
              </a:rPr>
              <a:t>Graphing a Quadratic Equation Using a Table of Values</a:t>
            </a:r>
            <a:endParaRPr lang="en-US" altLang="x-none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1524000" y="1752600"/>
          <a:ext cx="195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Equation" r:id="rId13" imgW="1955520" imgH="393480" progId="Equation.DSMT4">
                  <p:embed/>
                </p:oleObj>
              </mc:Choice>
              <mc:Fallback>
                <p:oleObj name="Equation" r:id="rId13" imgW="1955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52600"/>
                        <a:ext cx="1955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57200" y="17526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Graph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581400" y="175260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in the interval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486400" y="1828800"/>
          <a:ext cx="1282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" name="Equation" r:id="rId15" imgW="1282680" imgH="279360" progId="Equation.DSMT4">
                  <p:embed/>
                </p:oleObj>
              </mc:Choice>
              <mc:Fallback>
                <p:oleObj name="Equation" r:id="rId15" imgW="1282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828800"/>
                        <a:ext cx="1282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152400" y="2514600"/>
          <a:ext cx="166370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6" name="Worksheet" r:id="rId17" imgW="1685925" imgH="3209925" progId="Excel.Sheet.8">
                  <p:embed/>
                </p:oleObj>
              </mc:Choice>
              <mc:Fallback>
                <p:oleObj name="Worksheet" r:id="rId17" imgW="1685925" imgH="3209925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14600"/>
                        <a:ext cx="1663700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14600"/>
            <a:ext cx="4419600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3200400" y="31242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7" name="Equation" r:id="rId20" imgW="164880" imgH="203040" progId="Equation.DSMT4">
                  <p:embed/>
                </p:oleObj>
              </mc:Choice>
              <mc:Fallback>
                <p:oleObj name="Equation" r:id="rId20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242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3733800" y="48768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8" name="Equation" r:id="rId22" imgW="164880" imgH="203040" progId="Equation.DSMT4">
                  <p:embed/>
                </p:oleObj>
              </mc:Choice>
              <mc:Fallback>
                <p:oleObj name="Equation" r:id="rId22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8768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4343400" y="5867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9" name="Equation" r:id="rId23" imgW="164880" imgH="203040" progId="Equation.DSMT4">
                  <p:embed/>
                </p:oleObj>
              </mc:Choice>
              <mc:Fallback>
                <p:oleObj name="Equation" r:id="rId23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867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4876800" y="6248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0" name="Equation" r:id="rId24" imgW="164880" imgH="203040" progId="Equation.DSMT4">
                  <p:embed/>
                </p:oleObj>
              </mc:Choice>
              <mc:Fallback>
                <p:oleObj name="Equation" r:id="rId24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248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410200" y="5867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1" name="Equation" r:id="rId25" imgW="164880" imgH="203040" progId="Equation.DSMT4">
                  <p:embed/>
                </p:oleObj>
              </mc:Choice>
              <mc:Fallback>
                <p:oleObj name="Equation" r:id="rId25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867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5943600" y="48768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Equation" r:id="rId26" imgW="164880" imgH="203040" progId="Equation.DSMT4">
                  <p:embed/>
                </p:oleObj>
              </mc:Choice>
              <mc:Fallback>
                <p:oleObj name="Equation" r:id="rId26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8768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6477000" y="31242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3" name="Equation" r:id="rId27" imgW="164880" imgH="203040" progId="Equation.DSMT4">
                  <p:embed/>
                </p:oleObj>
              </mc:Choice>
              <mc:Fallback>
                <p:oleObj name="Equation" r:id="rId27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1242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9" name="Picture 15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14600"/>
            <a:ext cx="4419600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4343400" y="2895600"/>
            <a:ext cx="11572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Axis of</a:t>
            </a:r>
          </a:p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Symmetry</a:t>
            </a: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>
            <a:off x="4953000" y="3505200"/>
            <a:ext cx="0" cy="3124200"/>
          </a:xfrm>
          <a:prstGeom prst="line">
            <a:avLst/>
          </a:prstGeom>
          <a:noFill/>
          <a:ln w="508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5181600" y="3581400"/>
            <a:ext cx="777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i="1">
                <a:solidFill>
                  <a:srgbClr val="FF0000"/>
                </a:solidFill>
              </a:rPr>
              <a:t>x </a:t>
            </a:r>
            <a:r>
              <a:rPr lang="en-US" altLang="x-none"/>
              <a:t>= 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endParaRPr lang="en-US" altLang="x-none"/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4876800" y="6248400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Equation" r:id="rId29" imgW="164880" imgH="203040" progId="Equation.DSMT4">
                  <p:embed/>
                </p:oleObj>
              </mc:Choice>
              <mc:Fallback>
                <p:oleObj name="Equation" r:id="rId29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248400"/>
                        <a:ext cx="1651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3886200" y="6248400"/>
            <a:ext cx="8588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algn="ctr" eaLnBrk="1" hangingPunct="1"/>
            <a:r>
              <a:rPr lang="en-US" altLang="x-none" sz="1600">
                <a:solidFill>
                  <a:srgbClr val="FF0000"/>
                </a:solidFill>
              </a:rPr>
              <a:t>Vertex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5410200" y="6172200"/>
            <a:ext cx="1058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/>
              <a:t>(</a:t>
            </a:r>
            <a:r>
              <a:rPr lang="en-US" altLang="x-none">
                <a:solidFill>
                  <a:srgbClr val="FF0000"/>
                </a:solidFill>
              </a:rPr>
              <a:t>2</a:t>
            </a:r>
            <a:r>
              <a:rPr lang="en-US" altLang="x-none"/>
              <a:t>, </a:t>
            </a:r>
            <a:r>
              <a:rPr lang="en-US" altLang="x-none">
                <a:solidFill>
                  <a:srgbClr val="FF0000"/>
                </a:solidFill>
              </a:rPr>
              <a:t>-10</a:t>
            </a:r>
            <a:r>
              <a:rPr lang="en-US" altLang="x-none"/>
              <a:t>)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7620000" y="1600200"/>
          <a:ext cx="939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" name="Equation" r:id="rId30" imgW="939600" imgH="672840" progId="Equation.DSMT4">
                  <p:embed/>
                </p:oleObj>
              </mc:Choice>
              <mc:Fallback>
                <p:oleObj name="Equation" r:id="rId30" imgW="9396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600200"/>
                        <a:ext cx="939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/>
        </p:nvGraphicFramePr>
        <p:xfrm>
          <a:off x="7543800" y="2438400"/>
          <a:ext cx="128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Equation" r:id="rId32" imgW="1282680" imgH="736560" progId="Equation.DSMT4">
                  <p:embed/>
                </p:oleObj>
              </mc:Choice>
              <mc:Fallback>
                <p:oleObj name="Equation" r:id="rId32" imgW="12826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438400"/>
                        <a:ext cx="1282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>
            <a:graphicFrameLocks noChangeAspect="1"/>
          </p:cNvGraphicFramePr>
          <p:nvPr/>
        </p:nvGraphicFramePr>
        <p:xfrm>
          <a:off x="7772400" y="3429000"/>
          <a:ext cx="774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Equation" r:id="rId34" imgW="774360" imgH="672840" progId="Equation.DSMT4">
                  <p:embed/>
                </p:oleObj>
              </mc:Choice>
              <mc:Fallback>
                <p:oleObj name="Equation" r:id="rId34" imgW="77436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429000"/>
                        <a:ext cx="774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/>
          <p:cNvGraphicFramePr>
            <a:graphicFrameLocks noChangeAspect="1"/>
          </p:cNvGraphicFramePr>
          <p:nvPr/>
        </p:nvGraphicFramePr>
        <p:xfrm>
          <a:off x="7848600" y="4343400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36" imgW="698400" imgH="279360" progId="Equation.DSMT4">
                  <p:embed/>
                </p:oleObj>
              </mc:Choice>
              <mc:Fallback>
                <p:oleObj name="Equation" r:id="rId36" imgW="698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343400"/>
                        <a:ext cx="698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32" descr="s0105150_std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1054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304800" y="6019800"/>
            <a:ext cx="2208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r>
              <a:rPr lang="en-US" altLang="x-none" sz="2400">
                <a:solidFill>
                  <a:srgbClr val="FF0000"/>
                </a:solidFill>
              </a:rPr>
              <a:t>That was easy</a:t>
            </a:r>
          </a:p>
        </p:txBody>
      </p:sp>
      <p:sp>
        <p:nvSpPr>
          <p:cNvPr id="33" name="Curved Left Arrow 32"/>
          <p:cNvSpPr>
            <a:spLocks noChangeArrowheads="1"/>
          </p:cNvSpPr>
          <p:nvPr/>
        </p:nvSpPr>
        <p:spPr bwMode="auto">
          <a:xfrm>
            <a:off x="1676400" y="3810000"/>
            <a:ext cx="381000" cy="9144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4" name="Curved Left Arrow 33"/>
          <p:cNvSpPr>
            <a:spLocks noChangeArrowheads="1"/>
          </p:cNvSpPr>
          <p:nvPr/>
        </p:nvSpPr>
        <p:spPr bwMode="auto">
          <a:xfrm>
            <a:off x="1600200" y="3429000"/>
            <a:ext cx="609600" cy="1676400"/>
          </a:xfrm>
          <a:prstGeom prst="curvedLeftArrow">
            <a:avLst>
              <a:gd name="adj1" fmla="val 24992"/>
              <a:gd name="adj2" fmla="val 49997"/>
              <a:gd name="adj3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5" name="Curved Left Arrow 34"/>
          <p:cNvSpPr>
            <a:spLocks noChangeArrowheads="1"/>
          </p:cNvSpPr>
          <p:nvPr/>
        </p:nvSpPr>
        <p:spPr bwMode="auto">
          <a:xfrm>
            <a:off x="1600200" y="2971800"/>
            <a:ext cx="762000" cy="2590800"/>
          </a:xfrm>
          <a:prstGeom prst="curvedLeftArrow">
            <a:avLst>
              <a:gd name="adj1" fmla="val 24996"/>
              <a:gd name="adj2" fmla="val 49993"/>
              <a:gd name="adj3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36" name="Rounded Rectangle 35"/>
          <p:cNvSpPr>
            <a:spLocks noChangeArrowheads="1"/>
          </p:cNvSpPr>
          <p:nvPr/>
        </p:nvSpPr>
        <p:spPr bwMode="auto">
          <a:xfrm>
            <a:off x="228600" y="4038600"/>
            <a:ext cx="1524000" cy="457200"/>
          </a:xfrm>
          <a:prstGeom prst="roundRect">
            <a:avLst>
              <a:gd name="adj" fmla="val 16667"/>
            </a:avLst>
          </a:prstGeom>
          <a:noFill/>
          <a:ln w="412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1pPr>
            <a:lvl2pPr marL="742950" indent="-28575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2pPr>
            <a:lvl3pPr marL="11430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3pPr>
            <a:lvl4pPr marL="16002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4pPr>
            <a:lvl5pPr marL="2057400" indent="-228600" eaLnBrk="0" hangingPunct="0">
              <a:defRPr sz="2000">
                <a:solidFill>
                  <a:srgbClr val="663300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663300"/>
                </a:solidFill>
                <a:latin typeface="Comic Sans MS" charset="0"/>
              </a:defRPr>
            </a:lvl9pPr>
          </a:lstStyle>
          <a:p>
            <a:pPr eaLnBrk="1" hangingPunct="1"/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39176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5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MSj03883880000[1]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2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2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9" grpId="0"/>
      <p:bldP spid="20" grpId="0" animBg="1"/>
      <p:bldP spid="21" grpId="0"/>
      <p:bldP spid="23" grpId="0"/>
      <p:bldP spid="24" grpId="0"/>
      <p:bldP spid="30" grpId="0"/>
      <p:bldP spid="33" grpId="0" animBg="1"/>
      <p:bldP spid="34" grpId="0" animBg="1"/>
      <p:bldP spid="35" grpId="0" animBg="1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171400"/>
            <a:ext cx="8229600" cy="850106"/>
          </a:xfrm>
        </p:spPr>
        <p:txBody>
          <a:bodyPr>
            <a:normAutofit/>
          </a:bodyPr>
          <a:lstStyle/>
          <a:p>
            <a:r>
              <a:rPr lang="en-GB" sz="2800" dirty="0"/>
              <a:t>Completing the square: exam style question</a:t>
            </a:r>
          </a:p>
        </p:txBody>
      </p:sp>
      <p:pic>
        <p:nvPicPr>
          <p:cNvPr id="12290" name="Picture 2" descr="https://i.gyazo.com/cd12cf15202131f224e51a571763cc6b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8" b="52"/>
          <a:stretch/>
        </p:blipFill>
        <p:spPr bwMode="auto">
          <a:xfrm>
            <a:off x="0" y="710003"/>
            <a:ext cx="9015257" cy="512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004048" y="678706"/>
            <a:ext cx="1368152" cy="3740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6855017" y="3041665"/>
            <a:ext cx="216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Hint for C: </a:t>
            </a:r>
          </a:p>
          <a:p>
            <a:r>
              <a:rPr lang="en-GB" sz="2000" dirty="0">
                <a:solidFill>
                  <a:srgbClr val="FF0000"/>
                </a:solidFill>
              </a:rPr>
              <a:t>x=</a:t>
            </a:r>
            <a:r>
              <a:rPr lang="en-GB" sz="2000" u="sng" dirty="0">
                <a:solidFill>
                  <a:srgbClr val="FF0000"/>
                </a:solidFill>
              </a:rPr>
              <a:t>     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when the curve crosses the y-axis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9062" y="1556792"/>
            <a:ext cx="216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u="sng" dirty="0"/>
              <a:t>Hint for A &amp; D: </a:t>
            </a:r>
          </a:p>
          <a:p>
            <a:r>
              <a:rPr lang="en-GB" sz="2000" dirty="0">
                <a:solidFill>
                  <a:srgbClr val="FF0000"/>
                </a:solidFill>
              </a:rPr>
              <a:t>y=</a:t>
            </a:r>
            <a:r>
              <a:rPr lang="en-GB" sz="2000" u="sng" dirty="0">
                <a:solidFill>
                  <a:srgbClr val="FF0000"/>
                </a:solidFill>
              </a:rPr>
              <a:t>     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when the curve crosses the x-axis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1520" y="6237312"/>
            <a:ext cx="8712968" cy="404664"/>
            <a:chOff x="251520" y="6237312"/>
            <a:chExt cx="8712968" cy="404664"/>
          </a:xfrm>
        </p:grpSpPr>
        <p:sp>
          <p:nvSpPr>
            <p:cNvPr id="9" name="Rounded Rectangle 34"/>
            <p:cNvSpPr/>
            <p:nvPr/>
          </p:nvSpPr>
          <p:spPr>
            <a:xfrm>
              <a:off x="251520" y="6237312"/>
              <a:ext cx="8712968" cy="404664"/>
            </a:xfrm>
            <a:prstGeom prst="roundRect">
              <a:avLst/>
            </a:prstGeom>
            <a:solidFill>
              <a:srgbClr val="FF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>
                <a:solidFill>
                  <a:prstClr val="white"/>
                </a:solidFill>
              </a:endParaRPr>
            </a:p>
          </p:txBody>
        </p:sp>
        <p:sp>
          <p:nvSpPr>
            <p:cNvPr id="10" name="TextBox 35"/>
            <p:cNvSpPr txBox="1">
              <a:spLocks noChangeArrowheads="1"/>
            </p:cNvSpPr>
            <p:nvPr/>
          </p:nvSpPr>
          <p:spPr bwMode="auto">
            <a:xfrm>
              <a:off x="251521" y="6237312"/>
              <a:ext cx="85689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>
                  <a:solidFill>
                    <a:srgbClr val="0000CC"/>
                  </a:solidFill>
                  <a:latin typeface="Calibri" pitchFamily="34" charset="0"/>
                </a:rPr>
                <a:t>Keywords: </a:t>
              </a:r>
              <a:r>
                <a:rPr lang="en-US" sz="2000" dirty="0">
                  <a:solidFill>
                    <a:prstClr val="black"/>
                  </a:solidFill>
                  <a:latin typeface="Calibri" pitchFamily="34" charset="0"/>
                </a:rPr>
                <a:t>quadratic, coefficient, squared, complete the square, minimum point</a:t>
              </a:r>
              <a:endParaRPr lang="en-GB" sz="2000" b="1" dirty="0">
                <a:solidFill>
                  <a:srgbClr val="0000CC"/>
                </a:solidFill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112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000" dirty="0" smtClean="0">
                <a:latin typeface="Aharoni" pitchFamily="2" charset="-79"/>
                <a:cs typeface="Aharoni" pitchFamily="2" charset="-79"/>
              </a:rPr>
              <a:t>Practise Questions</a:t>
            </a:r>
            <a:endParaRPr lang="en-GB" sz="6000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760" y="1844824"/>
            <a:ext cx="5040560" cy="2677656"/>
          </a:xfrm>
          <a:prstGeom prst="rect">
            <a:avLst/>
          </a:prstGeom>
          <a:solidFill>
            <a:srgbClr val="FFFF00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Solve the following quadratic equations: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-8x+1=0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+12x-5=12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4x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+8x-12=0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3x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+8x-9=0</a:t>
            </a:r>
          </a:p>
          <a:p>
            <a:pPr marL="342900" indent="-342900">
              <a:buAutoNum type="arabicParenR"/>
            </a:pPr>
            <a:r>
              <a:rPr lang="en-GB" sz="2400" dirty="0" smtClean="0"/>
              <a:t>5x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+20x-30=15</a:t>
            </a:r>
          </a:p>
        </p:txBody>
      </p:sp>
      <p:pic>
        <p:nvPicPr>
          <p:cNvPr id="33794" name="Picture 2" descr="http://spongebob.neoseeker.com/w/i/spongebob/c/ca/Mr._Krabs'_Really_Happy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42" y="3645025"/>
            <a:ext cx="1852186" cy="32129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461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8344</TotalTime>
  <Words>1126</Words>
  <Application>Microsoft Macintosh PowerPoint</Application>
  <PresentationFormat>On-screen Show (4:3)</PresentationFormat>
  <Paragraphs>263</Paragraphs>
  <Slides>26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Aharoni</vt:lpstr>
      <vt:lpstr>Arial</vt:lpstr>
      <vt:lpstr>Calibri</vt:lpstr>
      <vt:lpstr>Calibri (Body)</vt:lpstr>
      <vt:lpstr>Century Gothic</vt:lpstr>
      <vt:lpstr>Comic Sans MS</vt:lpstr>
      <vt:lpstr>Microsoft YaHei</vt:lpstr>
      <vt:lpstr>Times New Roman</vt:lpstr>
      <vt:lpstr>Wingdings</vt:lpstr>
      <vt:lpstr>Office Theme</vt:lpstr>
      <vt:lpstr>Equation</vt:lpstr>
      <vt:lpstr>Worksheet</vt:lpstr>
      <vt:lpstr>Topic: Quadratic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Today’s Goal</vt:lpstr>
      <vt:lpstr>Completing the square: exam style question</vt:lpstr>
      <vt:lpstr>Completing the Square </vt:lpstr>
      <vt:lpstr>Completing the Square </vt:lpstr>
      <vt:lpstr>Completing the Square</vt:lpstr>
      <vt:lpstr>PowerPoint Presentation</vt:lpstr>
      <vt:lpstr>PowerPoint Presentation</vt:lpstr>
      <vt:lpstr>Completing the Square</vt:lpstr>
      <vt:lpstr>Completing the Square</vt:lpstr>
      <vt:lpstr>Practise Questions</vt:lpstr>
      <vt:lpstr>PowerPoint Presentation</vt:lpstr>
      <vt:lpstr>PowerPoint Presentation</vt:lpstr>
      <vt:lpstr>Finding the Axis of Symmetry</vt:lpstr>
      <vt:lpstr>Graphing a Quadratic Equation Using a Table of Values</vt:lpstr>
      <vt:lpstr>Completing the square: exam style question</vt:lpstr>
      <vt:lpstr>Practise Questions</vt:lpstr>
    </vt:vector>
  </TitlesOfParts>
  <Company>LLICT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 Alley</dc:creator>
  <cp:lastModifiedBy>SUMMERS Brad [Baldivis Secondary College]</cp:lastModifiedBy>
  <cp:revision>291</cp:revision>
  <cp:lastPrinted>2017-03-28T21:00:34Z</cp:lastPrinted>
  <dcterms:created xsi:type="dcterms:W3CDTF">2013-11-24T15:41:05Z</dcterms:created>
  <dcterms:modified xsi:type="dcterms:W3CDTF">2018-11-15T11:38:38Z</dcterms:modified>
</cp:coreProperties>
</file>
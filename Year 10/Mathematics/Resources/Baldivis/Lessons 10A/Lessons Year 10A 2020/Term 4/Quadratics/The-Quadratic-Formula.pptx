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3300"/>
    <a:srgbClr val="663300"/>
    <a:srgbClr val="0000FF"/>
    <a:srgbClr val="006600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803" autoAdjust="0"/>
  </p:normalViewPr>
  <p:slideViewPr>
    <p:cSldViewPr>
      <p:cViewPr varScale="1">
        <p:scale>
          <a:sx n="117" d="100"/>
          <a:sy n="117" d="100"/>
        </p:scale>
        <p:origin x="14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B6AB2-39DD-447B-B356-D618B62D5F2D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8FF3E-943D-443F-9FA3-52DE3EBE2F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67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</a:t>
            </a:r>
            <a:r>
              <a:rPr lang="en-GB" baseline="0" dirty="0"/>
              <a:t> questioning to answer the above example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8FF3E-943D-443F-9FA3-52DE3EBE2FB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90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68FF3E-943D-443F-9FA3-52DE3EBE2FB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152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39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94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61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01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97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09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16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28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51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216CB-2287-4628-8FFF-F2A6607EF092}" type="datetimeFigureOut">
              <a:rPr lang="en-GB" smtClean="0"/>
              <a:t>11/11/2020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D3F4A-CFFF-4CA6-9DBD-73B68A61D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02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09" y="-106435"/>
            <a:ext cx="7772400" cy="1008113"/>
          </a:xfrm>
        </p:spPr>
        <p:txBody>
          <a:bodyPr/>
          <a:lstStyle/>
          <a:p>
            <a:pPr algn="l"/>
            <a:r>
              <a:rPr lang="en-GB" b="1" dirty="0"/>
              <a:t>The Quadratic Formula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509" y="764704"/>
            <a:ext cx="8856984" cy="1080120"/>
          </a:xfrm>
        </p:spPr>
        <p:txBody>
          <a:bodyPr/>
          <a:lstStyle/>
          <a:p>
            <a:pPr marL="628650" indent="-628650" algn="l"/>
            <a:r>
              <a:rPr lang="en-GB" dirty="0">
                <a:solidFill>
                  <a:schemeClr val="tx1"/>
                </a:solidFill>
              </a:rPr>
              <a:t>EQ: How can I solve quadratic equations using the quadratic formula?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636" y="2715963"/>
            <a:ext cx="89461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/>
            <a:r>
              <a:rPr lang="en-GB" sz="2000" dirty="0">
                <a:solidFill>
                  <a:srgbClr val="FF0000"/>
                </a:solidFill>
              </a:rPr>
              <a:t>All – Identify a, b and c and substitute them into the quadratic formula where the equation is of the form x</a:t>
            </a:r>
            <a:r>
              <a:rPr lang="en-GB" sz="2000" baseline="30000" dirty="0">
                <a:solidFill>
                  <a:srgbClr val="FF0000"/>
                </a:solidFill>
              </a:rPr>
              <a:t>2 </a:t>
            </a:r>
            <a:r>
              <a:rPr lang="en-GB" sz="2000" dirty="0">
                <a:solidFill>
                  <a:srgbClr val="FF0000"/>
                </a:solidFill>
              </a:rPr>
              <a:t>+ </a:t>
            </a:r>
            <a:r>
              <a:rPr lang="en-GB" sz="2000" dirty="0" err="1">
                <a:solidFill>
                  <a:srgbClr val="FF0000"/>
                </a:solidFill>
              </a:rPr>
              <a:t>bx</a:t>
            </a:r>
            <a:r>
              <a:rPr lang="en-GB" sz="2000" dirty="0">
                <a:solidFill>
                  <a:srgbClr val="FF0000"/>
                </a:solidFill>
              </a:rPr>
              <a:t>+ c = 0.</a:t>
            </a:r>
          </a:p>
          <a:p>
            <a:pPr marL="446088" indent="-446088"/>
            <a:endParaRPr lang="en-GB" sz="2000" dirty="0">
              <a:solidFill>
                <a:srgbClr val="FF0000"/>
              </a:solidFill>
            </a:endParaRPr>
          </a:p>
          <a:p>
            <a:pPr marL="811213" indent="-811213"/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Most – Solve quadratic equations of the form ax</a:t>
            </a:r>
            <a:r>
              <a:rPr lang="en-GB" sz="2000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n-GB" sz="2000" dirty="0" err="1">
                <a:solidFill>
                  <a:schemeClr val="accent6">
                    <a:lumMod val="75000"/>
                  </a:schemeClr>
                </a:solidFill>
              </a:rPr>
              <a:t>bx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 - c = 0 using the quadratic formula.</a:t>
            </a:r>
          </a:p>
          <a:p>
            <a:pPr marL="811213" indent="-811213"/>
            <a:endParaRPr lang="en-GB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811213" indent="-811213"/>
            <a:r>
              <a:rPr lang="en-GB" sz="2000" dirty="0">
                <a:solidFill>
                  <a:srgbClr val="00B050"/>
                </a:solidFill>
              </a:rPr>
              <a:t>Some – Solve quadratic equations using the quadratic formula involving positives and </a:t>
            </a:r>
            <a:r>
              <a:rPr lang="en-GB" sz="2000">
                <a:solidFill>
                  <a:srgbClr val="00B050"/>
                </a:solidFill>
              </a:rPr>
              <a:t>negatives .</a:t>
            </a:r>
          </a:p>
          <a:p>
            <a:pPr marL="811213" indent="-811213"/>
            <a:endParaRPr lang="en-GB" sz="2000" dirty="0">
              <a:solidFill>
                <a:srgbClr val="00B050"/>
              </a:solidFill>
            </a:endParaRPr>
          </a:p>
          <a:p>
            <a:pPr marL="982663" indent="-982663"/>
            <a:r>
              <a:rPr lang="en-GB" sz="2000" dirty="0">
                <a:solidFill>
                  <a:srgbClr val="7030A0"/>
                </a:solidFill>
              </a:rPr>
              <a:t>Stretch – To rearrange quadratic equations to get to the form ax</a:t>
            </a:r>
            <a:r>
              <a:rPr lang="en-GB" sz="2000" baseline="30000" dirty="0">
                <a:solidFill>
                  <a:srgbClr val="7030A0"/>
                </a:solidFill>
              </a:rPr>
              <a:t>2 </a:t>
            </a:r>
            <a:r>
              <a:rPr lang="en-GB" sz="2000" dirty="0">
                <a:solidFill>
                  <a:srgbClr val="7030A0"/>
                </a:solidFill>
              </a:rPr>
              <a:t>+ </a:t>
            </a:r>
            <a:r>
              <a:rPr lang="en-GB" sz="2000" dirty="0" err="1">
                <a:solidFill>
                  <a:srgbClr val="7030A0"/>
                </a:solidFill>
              </a:rPr>
              <a:t>bx</a:t>
            </a:r>
            <a:r>
              <a:rPr lang="en-GB" sz="2000" dirty="0">
                <a:solidFill>
                  <a:srgbClr val="7030A0"/>
                </a:solidFill>
              </a:rPr>
              <a:t> + c = 0 and to solve a word problem using the quadratic formula</a:t>
            </a:r>
            <a:r>
              <a:rPr lang="en-GB" dirty="0">
                <a:solidFill>
                  <a:srgbClr val="7030A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4928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55556" y="476672"/>
            <a:ext cx="74168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 quadratic equation is of the form </a:t>
            </a:r>
          </a:p>
          <a:p>
            <a:endParaRPr lang="en-GB" dirty="0"/>
          </a:p>
          <a:p>
            <a:pPr algn="ctr"/>
            <a:r>
              <a:rPr lang="en-GB" sz="3600" dirty="0">
                <a:solidFill>
                  <a:srgbClr val="00B0F0"/>
                </a:solidFill>
              </a:rPr>
              <a:t>a</a:t>
            </a:r>
            <a:r>
              <a:rPr lang="en-GB" sz="3600" dirty="0"/>
              <a:t>x</a:t>
            </a:r>
            <a:r>
              <a:rPr lang="en-GB" sz="3600" baseline="30000" dirty="0"/>
              <a:t>2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FF00FF"/>
                </a:solidFill>
              </a:rPr>
              <a:t>+ </a:t>
            </a:r>
            <a:r>
              <a:rPr lang="en-GB" sz="3600" dirty="0" err="1">
                <a:solidFill>
                  <a:srgbClr val="FF00FF"/>
                </a:solidFill>
              </a:rPr>
              <a:t>b</a:t>
            </a:r>
            <a:r>
              <a:rPr lang="en-GB" sz="3600" dirty="0" err="1"/>
              <a:t>x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CC3300"/>
                </a:solidFill>
              </a:rPr>
              <a:t>+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CC3300"/>
                </a:solidFill>
              </a:rPr>
              <a:t>c</a:t>
            </a:r>
            <a:r>
              <a:rPr lang="en-GB" sz="3600" dirty="0">
                <a:solidFill>
                  <a:srgbClr val="006600"/>
                </a:solidFill>
              </a:rPr>
              <a:t> </a:t>
            </a:r>
            <a:r>
              <a:rPr lang="en-GB" sz="3600" dirty="0"/>
              <a:t>= 0</a:t>
            </a:r>
          </a:p>
          <a:p>
            <a:pPr algn="ctr"/>
            <a:endParaRPr lang="en-GB" sz="3600" dirty="0"/>
          </a:p>
          <a:p>
            <a:r>
              <a:rPr lang="en-GB" sz="3200" dirty="0"/>
              <a:t>Example –</a:t>
            </a:r>
          </a:p>
          <a:p>
            <a:pPr algn="ctr"/>
            <a:r>
              <a:rPr lang="en-GB" sz="3200" dirty="0">
                <a:solidFill>
                  <a:srgbClr val="00B0F0"/>
                </a:solidFill>
              </a:rPr>
              <a:t>2</a:t>
            </a:r>
            <a:r>
              <a:rPr lang="en-GB" sz="3200" dirty="0"/>
              <a:t>x</a:t>
            </a:r>
            <a:r>
              <a:rPr lang="en-GB" sz="3200" baseline="30000" dirty="0"/>
              <a:t>2</a:t>
            </a:r>
            <a:r>
              <a:rPr lang="en-GB" sz="3200" dirty="0"/>
              <a:t> </a:t>
            </a:r>
            <a:r>
              <a:rPr lang="en-GB" sz="3200" dirty="0">
                <a:solidFill>
                  <a:srgbClr val="FF00FF"/>
                </a:solidFill>
              </a:rPr>
              <a:t>+</a:t>
            </a:r>
            <a:r>
              <a:rPr lang="en-GB" sz="3200" dirty="0"/>
              <a:t> </a:t>
            </a:r>
            <a:r>
              <a:rPr lang="en-GB" sz="3200" dirty="0">
                <a:solidFill>
                  <a:srgbClr val="FF00FF"/>
                </a:solidFill>
              </a:rPr>
              <a:t>6</a:t>
            </a:r>
            <a:r>
              <a:rPr lang="en-GB" sz="3200" dirty="0"/>
              <a:t>x </a:t>
            </a:r>
            <a:r>
              <a:rPr lang="en-GB" sz="3200" dirty="0">
                <a:solidFill>
                  <a:srgbClr val="CC3300"/>
                </a:solidFill>
              </a:rPr>
              <a:t>+</a:t>
            </a:r>
            <a:r>
              <a:rPr lang="en-GB" sz="3200" dirty="0"/>
              <a:t> </a:t>
            </a:r>
            <a:r>
              <a:rPr lang="en-GB" sz="3200" dirty="0">
                <a:solidFill>
                  <a:srgbClr val="CC3300"/>
                </a:solidFill>
              </a:rPr>
              <a:t>4</a:t>
            </a:r>
            <a:r>
              <a:rPr lang="en-GB" sz="3200" dirty="0"/>
              <a:t>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9912" y="3782154"/>
            <a:ext cx="1584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F0"/>
                </a:solidFill>
              </a:rPr>
              <a:t>a </a:t>
            </a:r>
            <a:r>
              <a:rPr lang="en-GB" sz="3200" dirty="0"/>
              <a:t>= 2</a:t>
            </a:r>
          </a:p>
          <a:p>
            <a:r>
              <a:rPr lang="en-GB" sz="3200" dirty="0">
                <a:solidFill>
                  <a:srgbClr val="FF00FF"/>
                </a:solidFill>
              </a:rPr>
              <a:t>b</a:t>
            </a:r>
            <a:r>
              <a:rPr lang="en-GB" sz="3200" dirty="0"/>
              <a:t> = 6</a:t>
            </a:r>
          </a:p>
          <a:p>
            <a:r>
              <a:rPr lang="en-GB" sz="3200" dirty="0">
                <a:solidFill>
                  <a:srgbClr val="CC3300"/>
                </a:solidFill>
              </a:rPr>
              <a:t>c </a:t>
            </a:r>
            <a:r>
              <a:rPr lang="en-GB" sz="3200" dirty="0"/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265202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568952" cy="1786210"/>
          </a:xfrm>
        </p:spPr>
        <p:txBody>
          <a:bodyPr>
            <a:normAutofit/>
          </a:bodyPr>
          <a:lstStyle/>
          <a:p>
            <a:pPr algn="l"/>
            <a:r>
              <a:rPr lang="en-GB" sz="3600" dirty="0"/>
              <a:t>On your whiteboards write down a, b and c for the following quadratic equations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564904"/>
            <a:ext cx="8229600" cy="151216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6600" dirty="0"/>
              <a:t>4x</a:t>
            </a:r>
            <a:r>
              <a:rPr lang="en-GB" sz="6600" baseline="30000" dirty="0"/>
              <a:t>2</a:t>
            </a:r>
            <a:r>
              <a:rPr lang="en-GB" sz="6600" dirty="0"/>
              <a:t> + 7x + 6 = 0</a:t>
            </a:r>
          </a:p>
          <a:p>
            <a:pPr marL="0" indent="0">
              <a:buNone/>
            </a:pPr>
            <a:endParaRPr lang="en-GB" sz="6600" dirty="0"/>
          </a:p>
        </p:txBody>
      </p:sp>
      <p:sp>
        <p:nvSpPr>
          <p:cNvPr id="4" name="TextBox 3"/>
          <p:cNvSpPr txBox="1"/>
          <p:nvPr/>
        </p:nvSpPr>
        <p:spPr>
          <a:xfrm>
            <a:off x="3779912" y="4005064"/>
            <a:ext cx="1584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 = 4</a:t>
            </a:r>
          </a:p>
          <a:p>
            <a:r>
              <a:rPr lang="en-GB" sz="3200" dirty="0"/>
              <a:t>b = 7</a:t>
            </a:r>
          </a:p>
          <a:p>
            <a:r>
              <a:rPr lang="en-GB" sz="3200" dirty="0"/>
              <a:t>c =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27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406" y="24026"/>
            <a:ext cx="8568952" cy="1786210"/>
          </a:xfrm>
        </p:spPr>
        <p:txBody>
          <a:bodyPr>
            <a:normAutofit/>
          </a:bodyPr>
          <a:lstStyle/>
          <a:p>
            <a:pPr algn="l"/>
            <a:r>
              <a:rPr lang="en-GB" sz="3600" dirty="0"/>
              <a:t>On your whiteboards write down a, b and c for the following quadratic equations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564904"/>
            <a:ext cx="8229600" cy="151216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6600" dirty="0"/>
              <a:t>x</a:t>
            </a:r>
            <a:r>
              <a:rPr lang="en-GB" sz="6600" baseline="30000" dirty="0"/>
              <a:t>2</a:t>
            </a:r>
            <a:r>
              <a:rPr lang="en-GB" sz="6600" dirty="0"/>
              <a:t> + 8x + 43 = 0</a:t>
            </a:r>
          </a:p>
          <a:p>
            <a:pPr marL="0" indent="0">
              <a:buNone/>
            </a:pPr>
            <a:endParaRPr lang="en-GB" sz="6600" dirty="0"/>
          </a:p>
        </p:txBody>
      </p:sp>
      <p:sp>
        <p:nvSpPr>
          <p:cNvPr id="4" name="TextBox 3"/>
          <p:cNvSpPr txBox="1"/>
          <p:nvPr/>
        </p:nvSpPr>
        <p:spPr>
          <a:xfrm>
            <a:off x="3779912" y="4005064"/>
            <a:ext cx="1584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 = 1</a:t>
            </a:r>
          </a:p>
          <a:p>
            <a:r>
              <a:rPr lang="en-GB" sz="3200" dirty="0"/>
              <a:t>b = 8</a:t>
            </a:r>
          </a:p>
          <a:p>
            <a:r>
              <a:rPr lang="en-GB" sz="3200" dirty="0"/>
              <a:t>c = 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08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568952" cy="1786210"/>
          </a:xfrm>
        </p:spPr>
        <p:txBody>
          <a:bodyPr>
            <a:normAutofit/>
          </a:bodyPr>
          <a:lstStyle/>
          <a:p>
            <a:pPr algn="l"/>
            <a:r>
              <a:rPr lang="en-GB" sz="3600" dirty="0"/>
              <a:t>On your whiteboards write down a, b and c for the following quadratic equations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564904"/>
            <a:ext cx="8229600" cy="151216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6600" dirty="0"/>
              <a:t>5x</a:t>
            </a:r>
            <a:r>
              <a:rPr lang="en-GB" sz="6600" baseline="30000" dirty="0"/>
              <a:t>2</a:t>
            </a:r>
            <a:r>
              <a:rPr lang="en-GB" sz="6600" dirty="0"/>
              <a:t> - 6x + 43 = 0</a:t>
            </a:r>
          </a:p>
          <a:p>
            <a:pPr marL="0" indent="0">
              <a:buNone/>
            </a:pPr>
            <a:endParaRPr lang="en-GB" sz="6600" dirty="0"/>
          </a:p>
        </p:txBody>
      </p:sp>
      <p:sp>
        <p:nvSpPr>
          <p:cNvPr id="4" name="TextBox 3"/>
          <p:cNvSpPr txBox="1"/>
          <p:nvPr/>
        </p:nvSpPr>
        <p:spPr>
          <a:xfrm>
            <a:off x="3779912" y="4005064"/>
            <a:ext cx="1584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 = 5</a:t>
            </a:r>
          </a:p>
          <a:p>
            <a:r>
              <a:rPr lang="en-GB" sz="3200" dirty="0"/>
              <a:t>b = -6</a:t>
            </a:r>
          </a:p>
          <a:p>
            <a:r>
              <a:rPr lang="en-GB" sz="3200" dirty="0"/>
              <a:t>c = 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67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48245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The quadratic formula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0" i="1" smtClean="0">
                              <a:solidFill>
                                <a:srgbClr val="FF00FF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± 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solidFill>
                                        <a:srgbClr val="FF00FF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solidFill>
                                    <a:srgbClr val="CC3300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is used to find the value of x of a quadratic equation of the form </a:t>
                </a:r>
              </a:p>
              <a:p>
                <a:pPr marL="0" indent="0" algn="ctr">
                  <a:buNone/>
                </a:pPr>
                <a:r>
                  <a:rPr lang="en-GB" dirty="0">
                    <a:solidFill>
                      <a:srgbClr val="00B0F0"/>
                    </a:solidFill>
                  </a:rPr>
                  <a:t>a</a:t>
                </a:r>
                <a:r>
                  <a:rPr lang="en-GB" dirty="0"/>
                  <a:t>x</a:t>
                </a:r>
                <a:r>
                  <a:rPr lang="en-GB" baseline="30000" dirty="0"/>
                  <a:t>2</a:t>
                </a:r>
                <a:r>
                  <a:rPr lang="en-GB" dirty="0"/>
                  <a:t> </a:t>
                </a:r>
                <a:r>
                  <a:rPr lang="en-GB" dirty="0">
                    <a:solidFill>
                      <a:srgbClr val="FF00FF"/>
                    </a:solidFill>
                  </a:rPr>
                  <a:t>+</a:t>
                </a:r>
                <a:r>
                  <a:rPr lang="en-GB" dirty="0"/>
                  <a:t> </a:t>
                </a:r>
                <a:r>
                  <a:rPr lang="en-GB" dirty="0" err="1">
                    <a:solidFill>
                      <a:srgbClr val="FF00FF"/>
                    </a:solidFill>
                  </a:rPr>
                  <a:t>b</a:t>
                </a:r>
                <a:r>
                  <a:rPr lang="en-GB" dirty="0" err="1"/>
                  <a:t>x</a:t>
                </a:r>
                <a:r>
                  <a:rPr lang="en-GB" dirty="0"/>
                  <a:t> </a:t>
                </a:r>
                <a:r>
                  <a:rPr lang="en-GB" dirty="0">
                    <a:solidFill>
                      <a:srgbClr val="CC3300"/>
                    </a:solidFill>
                  </a:rPr>
                  <a:t>+</a:t>
                </a:r>
                <a:r>
                  <a:rPr lang="en-GB" dirty="0"/>
                  <a:t> </a:t>
                </a:r>
                <a:r>
                  <a:rPr lang="en-GB" dirty="0">
                    <a:solidFill>
                      <a:srgbClr val="CC3300"/>
                    </a:solidFill>
                  </a:rPr>
                  <a:t>c</a:t>
                </a:r>
                <a:r>
                  <a:rPr lang="en-GB" dirty="0">
                    <a:solidFill>
                      <a:srgbClr val="006600"/>
                    </a:solidFill>
                  </a:rPr>
                  <a:t> </a:t>
                </a:r>
                <a:r>
                  <a:rPr lang="en-GB" dirty="0"/>
                  <a:t>= 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4824536"/>
              </a:xfrm>
              <a:blipFill rotWithShape="1">
                <a:blip r:embed="rId2"/>
                <a:stretch>
                  <a:fillRect l="-1852" t="-1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98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61977" y="332655"/>
            <a:ext cx="7493489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Use the quadratic formula to solve </a:t>
            </a:r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r>
              <a:rPr lang="en-GB" sz="2800" dirty="0">
                <a:solidFill>
                  <a:schemeClr val="tx1"/>
                </a:solidFill>
              </a:rPr>
              <a:t> + 7</a:t>
            </a:r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dirty="0">
                <a:solidFill>
                  <a:schemeClr val="tx1"/>
                </a:solidFill>
              </a:rPr>
              <a:t> + 8 = 0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299332" y="794321"/>
            <a:ext cx="23775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1</a:t>
            </a:r>
            <a:r>
              <a:rPr lang="en-GB" sz="2800" dirty="0"/>
              <a:t>x</a:t>
            </a:r>
            <a:r>
              <a:rPr lang="en-GB" sz="2800" baseline="30000" dirty="0"/>
              <a:t>2</a:t>
            </a:r>
            <a:r>
              <a:rPr lang="en-GB" sz="2800" dirty="0"/>
              <a:t> </a:t>
            </a:r>
            <a:r>
              <a:rPr lang="en-GB" sz="2800" dirty="0">
                <a:solidFill>
                  <a:srgbClr val="FF00FF"/>
                </a:solidFill>
              </a:rPr>
              <a:t>+ 7</a:t>
            </a:r>
            <a:r>
              <a:rPr lang="en-GB" sz="2800" dirty="0">
                <a:solidFill>
                  <a:schemeClr val="tx1"/>
                </a:solidFill>
              </a:rPr>
              <a:t>x</a:t>
            </a:r>
            <a:r>
              <a:rPr lang="en-GB" sz="2800" dirty="0"/>
              <a:t> </a:t>
            </a:r>
            <a:r>
              <a:rPr lang="en-GB" sz="2800" dirty="0">
                <a:solidFill>
                  <a:srgbClr val="CC3300"/>
                </a:solidFill>
              </a:rPr>
              <a:t>+ 8 </a:t>
            </a:r>
            <a:r>
              <a:rPr lang="en-GB" sz="2800" dirty="0">
                <a:solidFill>
                  <a:schemeClr val="tx1"/>
                </a:solidFill>
              </a:rPr>
              <a:t>= 0</a:t>
            </a:r>
          </a:p>
        </p:txBody>
      </p:sp>
      <p:grpSp>
        <p:nvGrpSpPr>
          <p:cNvPr id="6" name="Group 66"/>
          <p:cNvGrpSpPr>
            <a:grpSpLocks/>
          </p:cNvGrpSpPr>
          <p:nvPr/>
        </p:nvGrpSpPr>
        <p:grpSpPr bwMode="auto">
          <a:xfrm>
            <a:off x="2780740" y="1868489"/>
            <a:ext cx="2819401" cy="884238"/>
            <a:chOff x="1778" y="1391"/>
            <a:chExt cx="1776" cy="557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1778" y="15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 dirty="0">
                  <a:latin typeface="Comic Sans MS" pitchFamily="66" charset="0"/>
                </a:rPr>
                <a:t>x</a:t>
              </a:r>
              <a:r>
                <a:rPr lang="en-GB" sz="2400" dirty="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2211" y="1391"/>
              <a:ext cx="1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–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</a:rPr>
                <a:t>b</a:t>
              </a:r>
              <a:r>
                <a:rPr lang="en-GB" sz="2400" dirty="0">
                  <a:latin typeface="Comic Sans MS" pitchFamily="66" charset="0"/>
                </a:rPr>
                <a:t> </a:t>
              </a:r>
              <a:r>
                <a:rPr lang="en-US" sz="2400" dirty="0">
                  <a:latin typeface="Comic Sans MS" pitchFamily="66" charset="0"/>
                  <a:sym typeface="Symbol" pitchFamily="18" charset="2"/>
                </a:rPr>
                <a:t>±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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  <a:sym typeface="Symbol" pitchFamily="18" charset="2"/>
                </a:rPr>
                <a:t>b</a:t>
              </a:r>
              <a:r>
                <a:rPr lang="en-GB" sz="2400" baseline="30000" dirty="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– 4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  <a:sym typeface="Symbol" pitchFamily="18" charset="2"/>
                </a:rPr>
                <a:t>a</a:t>
              </a:r>
              <a:r>
                <a:rPr lang="en-GB" sz="2400" i="1" dirty="0">
                  <a:solidFill>
                    <a:srgbClr val="CC3300"/>
                  </a:solidFill>
                  <a:latin typeface="Comic Sans MS" pitchFamily="66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2215" y="1668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2703" y="1657"/>
              <a:ext cx="33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2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2724" y="141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2183333" y="2851946"/>
            <a:ext cx="3900488" cy="882651"/>
            <a:chOff x="1778" y="1992"/>
            <a:chExt cx="2457" cy="556"/>
          </a:xfrm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778" y="2125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grpSp>
          <p:nvGrpSpPr>
            <p:cNvPr id="14" name="Group 61"/>
            <p:cNvGrpSpPr>
              <a:grpSpLocks/>
            </p:cNvGrpSpPr>
            <p:nvPr/>
          </p:nvGrpSpPr>
          <p:grpSpPr bwMode="auto">
            <a:xfrm>
              <a:off x="2173" y="1992"/>
              <a:ext cx="2062" cy="556"/>
              <a:chOff x="2173" y="1992"/>
              <a:chExt cx="2062" cy="556"/>
            </a:xfrm>
          </p:grpSpPr>
          <p:sp>
            <p:nvSpPr>
              <p:cNvPr id="15" name="Line 16"/>
              <p:cNvSpPr>
                <a:spLocks noChangeShapeType="1"/>
              </p:cNvSpPr>
              <p:nvPr/>
            </p:nvSpPr>
            <p:spPr bwMode="auto">
              <a:xfrm>
                <a:off x="2173" y="2269"/>
                <a:ext cx="20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  <p:sp>
            <p:nvSpPr>
              <p:cNvPr id="16" name="Text Box 17"/>
              <p:cNvSpPr txBox="1">
                <a:spLocks noChangeArrowheads="1"/>
              </p:cNvSpPr>
              <p:nvPr/>
            </p:nvSpPr>
            <p:spPr bwMode="auto">
              <a:xfrm>
                <a:off x="2930" y="2257"/>
                <a:ext cx="52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400" dirty="0">
                    <a:latin typeface="Comic Sans MS" pitchFamily="66" charset="0"/>
                  </a:rPr>
                  <a:t>2 × </a:t>
                </a:r>
                <a:r>
                  <a:rPr lang="en-US" sz="2400" dirty="0">
                    <a:solidFill>
                      <a:srgbClr val="00B0F0"/>
                    </a:solidFill>
                    <a:latin typeface="Comic Sans MS" pitchFamily="66" charset="0"/>
                  </a:rPr>
                  <a:t>1</a:t>
                </a:r>
                <a:endParaRPr lang="en-GB" sz="2400" dirty="0">
                  <a:solidFill>
                    <a:srgbClr val="00B0F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17" name="Group 60"/>
              <p:cNvGrpSpPr>
                <a:grpSpLocks/>
              </p:cNvGrpSpPr>
              <p:nvPr/>
            </p:nvGrpSpPr>
            <p:grpSpPr bwMode="auto">
              <a:xfrm>
                <a:off x="2180" y="1992"/>
                <a:ext cx="2049" cy="291"/>
                <a:chOff x="2192" y="1992"/>
                <a:chExt cx="2049" cy="291"/>
              </a:xfrm>
            </p:grpSpPr>
            <p:sp>
              <p:nvSpPr>
                <p:cNvPr id="1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92" y="1992"/>
                  <a:ext cx="204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sz="2400" dirty="0">
                      <a:latin typeface="Comic Sans MS" pitchFamily="66" charset="0"/>
                    </a:rPr>
                    <a:t>-</a:t>
                  </a:r>
                  <a:r>
                    <a:rPr lang="en-GB" sz="2400" dirty="0">
                      <a:solidFill>
                        <a:srgbClr val="FF00FF"/>
                      </a:solidFill>
                      <a:latin typeface="Comic Sans MS" pitchFamily="66" charset="0"/>
                    </a:rPr>
                    <a:t>7</a:t>
                  </a:r>
                  <a:r>
                    <a:rPr lang="en-GB" sz="2400" dirty="0">
                      <a:latin typeface="Comic Sans MS" pitchFamily="66" charset="0"/>
                    </a:rPr>
                    <a:t> </a:t>
                  </a:r>
                  <a:r>
                    <a:rPr lang="en-US" sz="2400" dirty="0">
                      <a:latin typeface="Comic Sans MS" pitchFamily="66" charset="0"/>
                      <a:sym typeface="Symbol" pitchFamily="18" charset="2"/>
                    </a:rPr>
                    <a:t>±</a:t>
                  </a:r>
                  <a:r>
                    <a:rPr lang="en-GB" sz="2400" dirty="0">
                      <a:latin typeface="Comic Sans MS" pitchFamily="66" charset="0"/>
                      <a:sym typeface="Symbol" pitchFamily="18" charset="2"/>
                    </a:rPr>
                    <a:t> </a:t>
                  </a:r>
                  <a:r>
                    <a:rPr lang="en-US" sz="2400" dirty="0">
                      <a:latin typeface="Comic Sans MS" pitchFamily="66" charset="0"/>
                      <a:sym typeface="Symbol" pitchFamily="18" charset="2"/>
                    </a:rPr>
                    <a:t>(</a:t>
                  </a:r>
                  <a:r>
                    <a:rPr lang="en-GB" sz="2400" dirty="0">
                      <a:solidFill>
                        <a:srgbClr val="FF00FF"/>
                      </a:solidFill>
                      <a:latin typeface="Comic Sans MS" pitchFamily="66" charset="0"/>
                      <a:sym typeface="Symbol" pitchFamily="18" charset="2"/>
                    </a:rPr>
                    <a:t>7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  <a:r>
                    <a:rPr lang="en-GB" sz="2400" baseline="30000" dirty="0">
                      <a:latin typeface="Comic Sans MS" pitchFamily="66" charset="0"/>
                      <a:sym typeface="Symbol" pitchFamily="18" charset="2"/>
                    </a:rPr>
                    <a:t>2</a:t>
                  </a:r>
                  <a:r>
                    <a:rPr lang="en-GB" sz="2400" dirty="0">
                      <a:latin typeface="Comic Sans MS" pitchFamily="66" charset="0"/>
                      <a:sym typeface="Symbol" pitchFamily="18" charset="2"/>
                    </a:rPr>
                    <a:t> – (4 × </a:t>
                  </a:r>
                  <a:r>
                    <a:rPr lang="en-GB" sz="2400" dirty="0">
                      <a:solidFill>
                        <a:srgbClr val="00B0F0"/>
                      </a:solidFill>
                      <a:latin typeface="Comic Sans MS" pitchFamily="66" charset="0"/>
                      <a:sym typeface="Symbol" pitchFamily="18" charset="2"/>
                    </a:rPr>
                    <a:t>1</a:t>
                  </a:r>
                  <a:r>
                    <a:rPr lang="en-GB" sz="24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×</a:t>
                  </a:r>
                  <a:r>
                    <a:rPr lang="en-GB" sz="24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400" dirty="0">
                      <a:solidFill>
                        <a:srgbClr val="CC3300"/>
                      </a:solidFill>
                      <a:latin typeface="Comic Sans MS" pitchFamily="66" charset="0"/>
                      <a:sym typeface="Symbol" pitchFamily="18" charset="2"/>
                    </a:rPr>
                    <a:t>8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</a:p>
              </p:txBody>
            </p:sp>
            <p:sp>
              <p:nvSpPr>
                <p:cNvPr id="19" name="Line 20"/>
                <p:cNvSpPr>
                  <a:spLocks noChangeShapeType="1"/>
                </p:cNvSpPr>
                <p:nvPr/>
              </p:nvSpPr>
              <p:spPr bwMode="auto">
                <a:xfrm>
                  <a:off x="2739" y="1992"/>
                  <a:ext cx="150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400">
                    <a:latin typeface="Comic Sans MS" pitchFamily="66" charset="0"/>
                  </a:endParaRPr>
                </a:p>
              </p:txBody>
            </p:sp>
          </p:grpSp>
        </p:grpSp>
      </p:grpSp>
      <p:grpSp>
        <p:nvGrpSpPr>
          <p:cNvPr id="20" name="Group 64"/>
          <p:cNvGrpSpPr>
            <a:grpSpLocks/>
          </p:cNvGrpSpPr>
          <p:nvPr/>
        </p:nvGrpSpPr>
        <p:grpSpPr bwMode="auto">
          <a:xfrm>
            <a:off x="2839076" y="3749768"/>
            <a:ext cx="2717800" cy="887414"/>
            <a:chOff x="1778" y="2589"/>
            <a:chExt cx="1712" cy="559"/>
          </a:xfrm>
        </p:grpSpPr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1778" y="2725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2186" y="2869"/>
              <a:ext cx="11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2668" y="28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>
                  <a:latin typeface="Comic Sans MS" pitchFamily="66" charset="0"/>
                </a:rPr>
                <a:t>2</a:t>
              </a:r>
              <a:endParaRPr lang="en-GB" sz="2400">
                <a:solidFill>
                  <a:srgbClr val="FF6600"/>
                </a:solidFill>
                <a:latin typeface="Comic Sans MS" pitchFamily="66" charset="0"/>
              </a:endParaRPr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2187" y="2589"/>
              <a:ext cx="1303" cy="294"/>
              <a:chOff x="2051" y="2589"/>
              <a:chExt cx="1303" cy="294"/>
            </a:xfrm>
          </p:grpSpPr>
          <p:sp>
            <p:nvSpPr>
              <p:cNvPr id="25" name="Text Box 27"/>
              <p:cNvSpPr txBox="1">
                <a:spLocks noChangeArrowheads="1"/>
              </p:cNvSpPr>
              <p:nvPr/>
            </p:nvSpPr>
            <p:spPr bwMode="auto">
              <a:xfrm>
                <a:off x="2051" y="2592"/>
                <a:ext cx="130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-7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US" sz="2400" dirty="0">
                    <a:latin typeface="Comic Sans MS" pitchFamily="66" charset="0"/>
                    <a:sym typeface="Symbol" pitchFamily="18" charset="2"/>
                  </a:rPr>
                  <a:t>±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 49 – 32</a:t>
                </a:r>
              </a:p>
            </p:txBody>
          </p:sp>
          <p:sp>
            <p:nvSpPr>
              <p:cNvPr id="26" name="Line 28"/>
              <p:cNvSpPr>
                <a:spLocks noChangeShapeType="1"/>
              </p:cNvSpPr>
              <p:nvPr/>
            </p:nvSpPr>
            <p:spPr bwMode="auto">
              <a:xfrm>
                <a:off x="2524" y="2589"/>
                <a:ext cx="6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27" name="Group 56"/>
          <p:cNvGrpSpPr>
            <a:grpSpLocks/>
          </p:cNvGrpSpPr>
          <p:nvPr/>
        </p:nvGrpSpPr>
        <p:grpSpPr bwMode="auto">
          <a:xfrm>
            <a:off x="2032625" y="4575270"/>
            <a:ext cx="1900238" cy="882651"/>
            <a:chOff x="1104" y="3192"/>
            <a:chExt cx="1197" cy="556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104" y="33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29" name="Line 33"/>
            <p:cNvSpPr>
              <a:spLocks noChangeShapeType="1"/>
            </p:cNvSpPr>
            <p:nvPr/>
          </p:nvSpPr>
          <p:spPr bwMode="auto">
            <a:xfrm>
              <a:off x="1450" y="3469"/>
              <a:ext cx="7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30" name="Text Box 34"/>
            <p:cNvSpPr txBox="1">
              <a:spLocks noChangeArrowheads="1"/>
            </p:cNvSpPr>
            <p:nvPr/>
          </p:nvSpPr>
          <p:spPr bwMode="auto">
            <a:xfrm>
              <a:off x="1735" y="34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omic Sans MS" pitchFamily="66" charset="0"/>
                </a:rPr>
                <a:t>2</a:t>
              </a:r>
              <a:endParaRPr lang="en-GB" sz="2400" dirty="0">
                <a:solidFill>
                  <a:srgbClr val="FF6600"/>
                </a:solidFill>
                <a:latin typeface="Comic Sans MS" pitchFamily="66" charset="0"/>
              </a:endParaRPr>
            </a:p>
          </p:txBody>
        </p:sp>
        <p:grpSp>
          <p:nvGrpSpPr>
            <p:cNvPr id="31" name="Group 53"/>
            <p:cNvGrpSpPr>
              <a:grpSpLocks/>
            </p:cNvGrpSpPr>
            <p:nvPr/>
          </p:nvGrpSpPr>
          <p:grpSpPr bwMode="auto">
            <a:xfrm>
              <a:off x="1467" y="3192"/>
              <a:ext cx="834" cy="291"/>
              <a:chOff x="1473" y="3192"/>
              <a:chExt cx="834" cy="291"/>
            </a:xfrm>
          </p:grpSpPr>
          <p:sp>
            <p:nvSpPr>
              <p:cNvPr id="32" name="Text Box 36"/>
              <p:cNvSpPr txBox="1">
                <a:spLocks noChangeArrowheads="1"/>
              </p:cNvSpPr>
              <p:nvPr/>
            </p:nvSpPr>
            <p:spPr bwMode="auto">
              <a:xfrm>
                <a:off x="1473" y="3192"/>
                <a:ext cx="8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-7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+ </a:t>
                </a:r>
                <a:r>
                  <a:rPr lang="en-US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17</a:t>
                </a:r>
                <a:endParaRPr lang="en-GB" sz="2400" dirty="0">
                  <a:solidFill>
                    <a:schemeClr val="tx1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33" name="Line 37"/>
              <p:cNvSpPr>
                <a:spLocks noChangeShapeType="1"/>
              </p:cNvSpPr>
              <p:nvPr/>
            </p:nvSpPr>
            <p:spPr bwMode="auto">
              <a:xfrm>
                <a:off x="2026" y="3208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34" name="Group 63"/>
          <p:cNvGrpSpPr>
            <a:grpSpLocks/>
          </p:cNvGrpSpPr>
          <p:nvPr/>
        </p:nvGrpSpPr>
        <p:grpSpPr bwMode="auto">
          <a:xfrm>
            <a:off x="4012134" y="4530792"/>
            <a:ext cx="2492375" cy="882651"/>
            <a:chOff x="2639" y="3192"/>
            <a:chExt cx="1570" cy="556"/>
          </a:xfrm>
        </p:grpSpPr>
        <p:sp>
          <p:nvSpPr>
            <p:cNvPr id="35" name="Text Box 39"/>
            <p:cNvSpPr txBox="1">
              <a:spLocks noChangeArrowheads="1"/>
            </p:cNvSpPr>
            <p:nvPr/>
          </p:nvSpPr>
          <p:spPr bwMode="auto">
            <a:xfrm>
              <a:off x="2639" y="3324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or</a:t>
              </a:r>
            </a:p>
          </p:txBody>
        </p:sp>
        <p:grpSp>
          <p:nvGrpSpPr>
            <p:cNvPr id="36" name="Group 54"/>
            <p:cNvGrpSpPr>
              <a:grpSpLocks/>
            </p:cNvGrpSpPr>
            <p:nvPr/>
          </p:nvGrpSpPr>
          <p:grpSpPr bwMode="auto">
            <a:xfrm>
              <a:off x="3023" y="3192"/>
              <a:ext cx="1186" cy="556"/>
              <a:chOff x="3023" y="3192"/>
              <a:chExt cx="1186" cy="556"/>
            </a:xfrm>
          </p:grpSpPr>
          <p:sp>
            <p:nvSpPr>
              <p:cNvPr id="37" name="Text Box 40"/>
              <p:cNvSpPr txBox="1">
                <a:spLocks noChangeArrowheads="1"/>
              </p:cNvSpPr>
              <p:nvPr/>
            </p:nvSpPr>
            <p:spPr bwMode="auto">
              <a:xfrm>
                <a:off x="3023" y="3324"/>
                <a:ext cx="38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400" i="1">
                    <a:latin typeface="Comic Sans MS" pitchFamily="66" charset="0"/>
                  </a:rPr>
                  <a:t>x</a:t>
                </a:r>
                <a:r>
                  <a:rPr lang="en-GB" sz="2400">
                    <a:latin typeface="Comic Sans MS" pitchFamily="66" charset="0"/>
                  </a:rPr>
                  <a:t> =</a:t>
                </a:r>
              </a:p>
            </p:txBody>
          </p:sp>
          <p:sp>
            <p:nvSpPr>
              <p:cNvPr id="38" name="Line 42"/>
              <p:cNvSpPr>
                <a:spLocks noChangeShapeType="1"/>
              </p:cNvSpPr>
              <p:nvPr/>
            </p:nvSpPr>
            <p:spPr bwMode="auto">
              <a:xfrm>
                <a:off x="3369" y="3469"/>
                <a:ext cx="7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  <p:sp>
            <p:nvSpPr>
              <p:cNvPr id="39" name="Text Box 43"/>
              <p:cNvSpPr txBox="1">
                <a:spLocks noChangeArrowheads="1"/>
              </p:cNvSpPr>
              <p:nvPr/>
            </p:nvSpPr>
            <p:spPr bwMode="auto">
              <a:xfrm>
                <a:off x="3648" y="3457"/>
                <a:ext cx="2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latin typeface="Comic Sans MS" pitchFamily="66" charset="0"/>
                  </a:rPr>
                  <a:t>2</a:t>
                </a:r>
                <a:endParaRPr lang="en-GB" sz="2400">
                  <a:solidFill>
                    <a:srgbClr val="FF660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40" name="Group 52"/>
              <p:cNvGrpSpPr>
                <a:grpSpLocks/>
              </p:cNvGrpSpPr>
              <p:nvPr/>
            </p:nvGrpSpPr>
            <p:grpSpPr bwMode="auto">
              <a:xfrm>
                <a:off x="3382" y="3192"/>
                <a:ext cx="827" cy="291"/>
                <a:chOff x="3392" y="3192"/>
                <a:chExt cx="827" cy="291"/>
              </a:xfrm>
            </p:grpSpPr>
            <p:sp>
              <p:nvSpPr>
                <p:cNvPr id="4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392" y="3192"/>
                  <a:ext cx="82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latin typeface="Comic Sans MS" pitchFamily="66" charset="0"/>
                    </a:rPr>
                    <a:t>-7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– 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17</a:t>
                  </a:r>
                  <a:endParaRPr lang="en-GB" sz="2400" dirty="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42" name="Line 46"/>
                <p:cNvSpPr>
                  <a:spLocks noChangeShapeType="1"/>
                </p:cNvSpPr>
                <p:nvPr/>
              </p:nvSpPr>
              <p:spPr bwMode="auto">
                <a:xfrm>
                  <a:off x="3911" y="3216"/>
                  <a:ext cx="26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400">
                    <a:latin typeface="Comic Sans MS" pitchFamily="66" charset="0"/>
                  </a:endParaRPr>
                </a:p>
              </p:txBody>
            </p:sp>
          </p:grpSp>
        </p:grp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2534864" y="5441954"/>
            <a:ext cx="16113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-1.438</a:t>
            </a:r>
          </a:p>
        </p:txBody>
      </p:sp>
      <p:sp>
        <p:nvSpPr>
          <p:cNvPr id="44" name="Text Box 48"/>
          <p:cNvSpPr txBox="1">
            <a:spLocks noChangeArrowheads="1"/>
          </p:cNvSpPr>
          <p:nvPr/>
        </p:nvSpPr>
        <p:spPr bwMode="auto">
          <a:xfrm>
            <a:off x="4902434" y="5438843"/>
            <a:ext cx="32447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-5.562  (to 3 </a:t>
            </a:r>
            <a:r>
              <a:rPr lang="en-GB" sz="2400" dirty="0" err="1">
                <a:latin typeface="Comic Sans MS" pitchFamily="66" charset="0"/>
              </a:rPr>
              <a:t>d.p.</a:t>
            </a:r>
            <a:r>
              <a:rPr lang="en-GB" sz="2400" dirty="0">
                <a:latin typeface="Comic Sans MS" pitchFamily="66" charset="0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601" y="321252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SIMPLIFY</a:t>
            </a:r>
            <a:endParaRPr lang="en-GB" sz="2400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0111" y="4513434"/>
            <a:ext cx="215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SOLVE USING YOUR CALCULATOR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  <p:sp>
        <p:nvSpPr>
          <p:cNvPr id="48" name="TextBox 47"/>
          <p:cNvSpPr txBox="1"/>
          <p:nvPr/>
        </p:nvSpPr>
        <p:spPr>
          <a:xfrm>
            <a:off x="5711611" y="2259603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SUBSTITUTE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111" y="3770315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SPLIT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48789" y="1214889"/>
            <a:ext cx="2949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a </a:t>
            </a:r>
            <a:r>
              <a:rPr lang="en-GB" sz="2800" dirty="0"/>
              <a:t>= 1   </a:t>
            </a:r>
            <a:r>
              <a:rPr lang="en-GB" sz="2800" dirty="0">
                <a:solidFill>
                  <a:srgbClr val="FF00FF"/>
                </a:solidFill>
              </a:rPr>
              <a:t>b</a:t>
            </a:r>
            <a:r>
              <a:rPr lang="en-GB" sz="2800" dirty="0"/>
              <a:t> = 7   </a:t>
            </a:r>
            <a:r>
              <a:rPr lang="en-GB" sz="2800" dirty="0">
                <a:solidFill>
                  <a:srgbClr val="CC3300"/>
                </a:solidFill>
              </a:rPr>
              <a:t>c </a:t>
            </a:r>
            <a:r>
              <a:rPr lang="en-GB" sz="2800" dirty="0"/>
              <a:t>=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0796" y="3364742"/>
            <a:ext cx="1845192" cy="16312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000" dirty="0"/>
              <a:t>You need to do this twice, once adding and once taking away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1977" y="1921530"/>
            <a:ext cx="2091287" cy="70788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This is the quadratic formula</a:t>
            </a:r>
          </a:p>
        </p:txBody>
      </p:sp>
    </p:spTree>
    <p:extLst>
      <p:ext uri="{BB962C8B-B14F-4D97-AF65-F5344CB8AC3E}">
        <p14:creationId xmlns:p14="http://schemas.microsoft.com/office/powerpoint/2010/main" val="223506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8" grpId="0"/>
      <p:bldP spid="49" grpId="0"/>
      <p:bldP spid="50" grpId="0"/>
      <p:bldP spid="51" grpId="0" animBg="1"/>
      <p:bldP spid="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07870" y="195953"/>
            <a:ext cx="6675869" cy="95410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Use the quadratic formula to solve </a:t>
            </a:r>
          </a:p>
          <a:p>
            <a:pPr algn="ctr"/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r>
              <a:rPr lang="en-GB" sz="2800" dirty="0">
                <a:solidFill>
                  <a:schemeClr val="tx1"/>
                </a:solidFill>
              </a:rPr>
              <a:t> + </a:t>
            </a:r>
            <a:r>
              <a:rPr lang="en-GB" sz="2800" dirty="0"/>
              <a:t>5</a:t>
            </a:r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dirty="0">
                <a:solidFill>
                  <a:schemeClr val="tx1"/>
                </a:solidFill>
              </a:rPr>
              <a:t> + 3 = 0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403652" y="1132439"/>
            <a:ext cx="22958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solidFill>
                  <a:srgbClr val="FF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+ 5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+ 3</a:t>
            </a: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0</a:t>
            </a:r>
          </a:p>
        </p:txBody>
      </p: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2786314" y="2258258"/>
            <a:ext cx="2819401" cy="884238"/>
            <a:chOff x="1778" y="1391"/>
            <a:chExt cx="1776" cy="557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778" y="15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 dirty="0">
                  <a:latin typeface="Comic Sans MS" pitchFamily="66" charset="0"/>
                </a:rPr>
                <a:t>x</a:t>
              </a:r>
              <a:r>
                <a:rPr lang="en-GB" sz="2400" dirty="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2211" y="1391"/>
              <a:ext cx="1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–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</a:rPr>
                <a:t>b</a:t>
              </a:r>
              <a:r>
                <a:rPr lang="en-GB" sz="2400" dirty="0">
                  <a:latin typeface="Comic Sans MS" pitchFamily="66" charset="0"/>
                </a:rPr>
                <a:t> </a:t>
              </a:r>
              <a:r>
                <a:rPr lang="en-US" sz="2400" dirty="0">
                  <a:latin typeface="Comic Sans MS" pitchFamily="66" charset="0"/>
                  <a:sym typeface="Symbol" pitchFamily="18" charset="2"/>
                </a:rPr>
                <a:t>±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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  <a:sym typeface="Symbol" pitchFamily="18" charset="2"/>
                </a:rPr>
                <a:t>b</a:t>
              </a:r>
              <a:r>
                <a:rPr lang="en-GB" sz="2400" baseline="30000" dirty="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– 4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  <a:sym typeface="Symbol" pitchFamily="18" charset="2"/>
                </a:rPr>
                <a:t>a</a:t>
              </a:r>
              <a:r>
                <a:rPr lang="en-GB" sz="2400" i="1" dirty="0">
                  <a:solidFill>
                    <a:srgbClr val="CC3300"/>
                  </a:solidFill>
                  <a:latin typeface="Comic Sans MS" pitchFamily="66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215" y="1668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2703" y="1657"/>
              <a:ext cx="33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2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724" y="141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</p:grpSp>
      <p:grpSp>
        <p:nvGrpSpPr>
          <p:cNvPr id="13" name="Group 65"/>
          <p:cNvGrpSpPr>
            <a:grpSpLocks/>
          </p:cNvGrpSpPr>
          <p:nvPr/>
        </p:nvGrpSpPr>
        <p:grpSpPr bwMode="auto">
          <a:xfrm>
            <a:off x="2188907" y="3241713"/>
            <a:ext cx="3900488" cy="820738"/>
            <a:chOff x="1778" y="1992"/>
            <a:chExt cx="2457" cy="517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778" y="2125"/>
              <a:ext cx="34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 i="1">
                  <a:latin typeface="Comic Sans MS" pitchFamily="66" charset="0"/>
                </a:rPr>
                <a:t>x</a:t>
              </a:r>
              <a:r>
                <a:rPr lang="en-GB" sz="2000">
                  <a:latin typeface="Comic Sans MS" pitchFamily="66" charset="0"/>
                </a:rPr>
                <a:t> =</a:t>
              </a:r>
            </a:p>
          </p:txBody>
        </p:sp>
        <p:grpSp>
          <p:nvGrpSpPr>
            <p:cNvPr id="15" name="Group 61"/>
            <p:cNvGrpSpPr>
              <a:grpSpLocks/>
            </p:cNvGrpSpPr>
            <p:nvPr/>
          </p:nvGrpSpPr>
          <p:grpSpPr bwMode="auto">
            <a:xfrm>
              <a:off x="2173" y="1992"/>
              <a:ext cx="2062" cy="517"/>
              <a:chOff x="2173" y="1992"/>
              <a:chExt cx="2062" cy="517"/>
            </a:xfrm>
          </p:grpSpPr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>
                <a:off x="2173" y="2269"/>
                <a:ext cx="20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2930" y="2257"/>
                <a:ext cx="46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000" dirty="0">
                    <a:latin typeface="Comic Sans MS" pitchFamily="66" charset="0"/>
                  </a:rPr>
                  <a:t>2 × </a:t>
                </a:r>
                <a:r>
                  <a:rPr lang="en-US" sz="2000" dirty="0">
                    <a:solidFill>
                      <a:srgbClr val="00B0F0"/>
                    </a:solidFill>
                    <a:latin typeface="Comic Sans MS" pitchFamily="66" charset="0"/>
                  </a:rPr>
                  <a:t>1</a:t>
                </a:r>
                <a:endParaRPr lang="en-GB" sz="2000" dirty="0">
                  <a:solidFill>
                    <a:srgbClr val="00B0F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2180" y="1992"/>
                <a:ext cx="1959" cy="252"/>
                <a:chOff x="2192" y="1992"/>
                <a:chExt cx="1959" cy="252"/>
              </a:xfrm>
            </p:grpSpPr>
            <p:sp>
              <p:nvSpPr>
                <p:cNvPr id="19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92" y="1992"/>
                  <a:ext cx="1738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sz="2000" dirty="0">
                      <a:latin typeface="Comic Sans MS" pitchFamily="66" charset="0"/>
                    </a:rPr>
                    <a:t>-</a:t>
                  </a:r>
                  <a:r>
                    <a:rPr lang="en-GB" sz="2000" dirty="0">
                      <a:solidFill>
                        <a:srgbClr val="FF00FF"/>
                      </a:solidFill>
                      <a:latin typeface="Comic Sans MS" pitchFamily="66" charset="0"/>
                    </a:rPr>
                    <a:t>5</a:t>
                  </a:r>
                  <a:r>
                    <a:rPr lang="en-GB" sz="2000" dirty="0">
                      <a:latin typeface="Comic Sans MS" pitchFamily="66" charset="0"/>
                    </a:rPr>
                    <a:t> </a:t>
                  </a:r>
                  <a:r>
                    <a:rPr lang="en-US" sz="2000" dirty="0">
                      <a:latin typeface="Comic Sans MS" pitchFamily="66" charset="0"/>
                      <a:sym typeface="Symbol" pitchFamily="18" charset="2"/>
                    </a:rPr>
                    <a:t>±</a:t>
                  </a:r>
                  <a:r>
                    <a:rPr lang="en-GB" sz="2000" dirty="0">
                      <a:latin typeface="Comic Sans MS" pitchFamily="66" charset="0"/>
                      <a:sym typeface="Symbol" pitchFamily="18" charset="2"/>
                    </a:rPr>
                    <a:t> </a:t>
                  </a:r>
                  <a:r>
                    <a:rPr lang="en-US" sz="2000" dirty="0">
                      <a:latin typeface="Comic Sans MS" pitchFamily="66" charset="0"/>
                      <a:sym typeface="Symbol" pitchFamily="18" charset="2"/>
                    </a:rPr>
                    <a:t>(</a:t>
                  </a:r>
                  <a:r>
                    <a:rPr lang="en-GB" sz="2000" dirty="0">
                      <a:solidFill>
                        <a:srgbClr val="FF00FF"/>
                      </a:solidFill>
                      <a:latin typeface="Comic Sans MS" pitchFamily="66" charset="0"/>
                      <a:sym typeface="Symbol" pitchFamily="18" charset="2"/>
                    </a:rPr>
                    <a:t>5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  <a:r>
                    <a:rPr lang="en-GB" sz="2000" baseline="30000" dirty="0">
                      <a:latin typeface="Comic Sans MS" pitchFamily="66" charset="0"/>
                      <a:sym typeface="Symbol" pitchFamily="18" charset="2"/>
                    </a:rPr>
                    <a:t>2</a:t>
                  </a:r>
                  <a:r>
                    <a:rPr lang="en-GB" sz="2000" dirty="0">
                      <a:latin typeface="Comic Sans MS" pitchFamily="66" charset="0"/>
                      <a:sym typeface="Symbol" pitchFamily="18" charset="2"/>
                    </a:rPr>
                    <a:t> – (4 × </a:t>
                  </a:r>
                  <a:r>
                    <a:rPr lang="en-GB" sz="2000" dirty="0">
                      <a:solidFill>
                        <a:srgbClr val="00B0F0"/>
                      </a:solidFill>
                      <a:latin typeface="Comic Sans MS" pitchFamily="66" charset="0"/>
                      <a:sym typeface="Symbol" pitchFamily="18" charset="2"/>
                    </a:rPr>
                    <a:t>1</a:t>
                  </a:r>
                  <a:r>
                    <a:rPr lang="en-GB" sz="20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×</a:t>
                  </a:r>
                  <a:r>
                    <a:rPr lang="en-GB" sz="20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000" dirty="0">
                      <a:solidFill>
                        <a:srgbClr val="CC3300"/>
                      </a:solidFill>
                      <a:latin typeface="Comic Sans MS" pitchFamily="66" charset="0"/>
                      <a:sym typeface="Symbol" pitchFamily="18" charset="2"/>
                    </a:rPr>
                    <a:t>3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</a:p>
              </p:txBody>
            </p:sp>
            <p:sp>
              <p:nvSpPr>
                <p:cNvPr id="20" name="Line 20"/>
                <p:cNvSpPr>
                  <a:spLocks noChangeShapeType="1"/>
                </p:cNvSpPr>
                <p:nvPr/>
              </p:nvSpPr>
              <p:spPr bwMode="auto">
                <a:xfrm>
                  <a:off x="2649" y="1992"/>
                  <a:ext cx="150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000">
                    <a:latin typeface="Comic Sans MS" pitchFamily="66" charset="0"/>
                  </a:endParaRPr>
                </a:p>
              </p:txBody>
            </p:sp>
          </p:grpSp>
        </p:grpSp>
      </p:grpSp>
      <p:grpSp>
        <p:nvGrpSpPr>
          <p:cNvPr id="21" name="Group 64"/>
          <p:cNvGrpSpPr>
            <a:grpSpLocks/>
          </p:cNvGrpSpPr>
          <p:nvPr/>
        </p:nvGrpSpPr>
        <p:grpSpPr bwMode="auto">
          <a:xfrm>
            <a:off x="2849523" y="4158498"/>
            <a:ext cx="2667000" cy="882651"/>
            <a:chOff x="1778" y="2592"/>
            <a:chExt cx="1680" cy="556"/>
          </a:xfrm>
        </p:grpSpPr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1778" y="2725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2186" y="2869"/>
              <a:ext cx="11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2668" y="28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>
                  <a:latin typeface="Comic Sans MS" pitchFamily="66" charset="0"/>
                </a:rPr>
                <a:t>2</a:t>
              </a:r>
              <a:endParaRPr lang="en-GB" sz="2400">
                <a:solidFill>
                  <a:srgbClr val="FF6600"/>
                </a:solidFill>
                <a:latin typeface="Comic Sans MS" pitchFamily="66" charset="0"/>
              </a:endParaRPr>
            </a:p>
          </p:txBody>
        </p:sp>
        <p:grpSp>
          <p:nvGrpSpPr>
            <p:cNvPr id="25" name="Group 49"/>
            <p:cNvGrpSpPr>
              <a:grpSpLocks/>
            </p:cNvGrpSpPr>
            <p:nvPr/>
          </p:nvGrpSpPr>
          <p:grpSpPr bwMode="auto">
            <a:xfrm>
              <a:off x="2187" y="2592"/>
              <a:ext cx="1271" cy="291"/>
              <a:chOff x="2051" y="2592"/>
              <a:chExt cx="1271" cy="291"/>
            </a:xfrm>
          </p:grpSpPr>
          <p:sp>
            <p:nvSpPr>
              <p:cNvPr id="26" name="Text Box 27"/>
              <p:cNvSpPr txBox="1">
                <a:spLocks noChangeArrowheads="1"/>
              </p:cNvSpPr>
              <p:nvPr/>
            </p:nvSpPr>
            <p:spPr bwMode="auto">
              <a:xfrm>
                <a:off x="2051" y="2592"/>
                <a:ext cx="127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-5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US" sz="2400" dirty="0">
                    <a:latin typeface="Comic Sans MS" pitchFamily="66" charset="0"/>
                    <a:sym typeface="Symbol" pitchFamily="18" charset="2"/>
                  </a:rPr>
                  <a:t>±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 25 – 12</a:t>
                </a:r>
              </a:p>
            </p:txBody>
          </p:sp>
          <p:sp>
            <p:nvSpPr>
              <p:cNvPr id="27" name="Line 28"/>
              <p:cNvSpPr>
                <a:spLocks noChangeShapeType="1"/>
              </p:cNvSpPr>
              <p:nvPr/>
            </p:nvSpPr>
            <p:spPr bwMode="auto">
              <a:xfrm>
                <a:off x="2563" y="2592"/>
                <a:ext cx="6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28" name="Group 56"/>
          <p:cNvGrpSpPr>
            <a:grpSpLocks/>
          </p:cNvGrpSpPr>
          <p:nvPr/>
        </p:nvGrpSpPr>
        <p:grpSpPr bwMode="auto">
          <a:xfrm>
            <a:off x="2037886" y="4965372"/>
            <a:ext cx="1900238" cy="882651"/>
            <a:chOff x="1104" y="3192"/>
            <a:chExt cx="1197" cy="556"/>
          </a:xfrm>
        </p:grpSpPr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1104" y="33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1450" y="3469"/>
              <a:ext cx="7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35" y="34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Comic Sans MS" pitchFamily="66" charset="0"/>
                </a:rPr>
                <a:t>2</a:t>
              </a:r>
              <a:endParaRPr lang="en-GB" sz="2400" dirty="0">
                <a:solidFill>
                  <a:srgbClr val="FF6600"/>
                </a:solidFill>
                <a:latin typeface="Comic Sans MS" pitchFamily="66" charset="0"/>
              </a:endParaRPr>
            </a:p>
          </p:txBody>
        </p:sp>
        <p:grpSp>
          <p:nvGrpSpPr>
            <p:cNvPr id="32" name="Group 53"/>
            <p:cNvGrpSpPr>
              <a:grpSpLocks/>
            </p:cNvGrpSpPr>
            <p:nvPr/>
          </p:nvGrpSpPr>
          <p:grpSpPr bwMode="auto">
            <a:xfrm>
              <a:off x="1467" y="3192"/>
              <a:ext cx="834" cy="291"/>
              <a:chOff x="1473" y="3192"/>
              <a:chExt cx="834" cy="291"/>
            </a:xfrm>
          </p:grpSpPr>
          <p:sp>
            <p:nvSpPr>
              <p:cNvPr id="33" name="Text Box 36"/>
              <p:cNvSpPr txBox="1">
                <a:spLocks noChangeArrowheads="1"/>
              </p:cNvSpPr>
              <p:nvPr/>
            </p:nvSpPr>
            <p:spPr bwMode="auto">
              <a:xfrm>
                <a:off x="1473" y="3192"/>
                <a:ext cx="8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-5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+ </a:t>
                </a:r>
                <a:r>
                  <a:rPr lang="en-US" sz="2400" dirty="0">
                    <a:latin typeface="Comic Sans MS" pitchFamily="66" charset="0"/>
                    <a:sym typeface="Symbol" pitchFamily="18" charset="2"/>
                  </a:rPr>
                  <a:t>13</a:t>
                </a:r>
                <a:endParaRPr lang="en-GB" sz="2400" dirty="0">
                  <a:solidFill>
                    <a:schemeClr val="tx1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34" name="Line 37"/>
              <p:cNvSpPr>
                <a:spLocks noChangeShapeType="1"/>
              </p:cNvSpPr>
              <p:nvPr/>
            </p:nvSpPr>
            <p:spPr bwMode="auto">
              <a:xfrm>
                <a:off x="2026" y="3214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35" name="Group 63"/>
          <p:cNvGrpSpPr>
            <a:grpSpLocks/>
          </p:cNvGrpSpPr>
          <p:nvPr/>
        </p:nvGrpSpPr>
        <p:grpSpPr bwMode="auto">
          <a:xfrm>
            <a:off x="4192839" y="5010988"/>
            <a:ext cx="2492375" cy="882651"/>
            <a:chOff x="2639" y="3192"/>
            <a:chExt cx="1570" cy="556"/>
          </a:xfrm>
        </p:grpSpPr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2639" y="3324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or</a:t>
              </a:r>
            </a:p>
          </p:txBody>
        </p:sp>
        <p:grpSp>
          <p:nvGrpSpPr>
            <p:cNvPr id="37" name="Group 54"/>
            <p:cNvGrpSpPr>
              <a:grpSpLocks/>
            </p:cNvGrpSpPr>
            <p:nvPr/>
          </p:nvGrpSpPr>
          <p:grpSpPr bwMode="auto">
            <a:xfrm>
              <a:off x="3023" y="3192"/>
              <a:ext cx="1186" cy="556"/>
              <a:chOff x="3023" y="3192"/>
              <a:chExt cx="1186" cy="556"/>
            </a:xfrm>
          </p:grpSpPr>
          <p:sp>
            <p:nvSpPr>
              <p:cNvPr id="38" name="Text Box 40"/>
              <p:cNvSpPr txBox="1">
                <a:spLocks noChangeArrowheads="1"/>
              </p:cNvSpPr>
              <p:nvPr/>
            </p:nvSpPr>
            <p:spPr bwMode="auto">
              <a:xfrm>
                <a:off x="3023" y="3324"/>
                <a:ext cx="38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400" i="1">
                    <a:latin typeface="Comic Sans MS" pitchFamily="66" charset="0"/>
                  </a:rPr>
                  <a:t>x</a:t>
                </a:r>
                <a:r>
                  <a:rPr lang="en-GB" sz="2400">
                    <a:latin typeface="Comic Sans MS" pitchFamily="66" charset="0"/>
                  </a:rPr>
                  <a:t> =</a:t>
                </a:r>
              </a:p>
            </p:txBody>
          </p:sp>
          <p:sp>
            <p:nvSpPr>
              <p:cNvPr id="39" name="Line 42"/>
              <p:cNvSpPr>
                <a:spLocks noChangeShapeType="1"/>
              </p:cNvSpPr>
              <p:nvPr/>
            </p:nvSpPr>
            <p:spPr bwMode="auto">
              <a:xfrm>
                <a:off x="3369" y="3469"/>
                <a:ext cx="7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  <p:sp>
            <p:nvSpPr>
              <p:cNvPr id="40" name="Text Box 43"/>
              <p:cNvSpPr txBox="1">
                <a:spLocks noChangeArrowheads="1"/>
              </p:cNvSpPr>
              <p:nvPr/>
            </p:nvSpPr>
            <p:spPr bwMode="auto">
              <a:xfrm>
                <a:off x="3648" y="3457"/>
                <a:ext cx="2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>
                    <a:latin typeface="Comic Sans MS" pitchFamily="66" charset="0"/>
                  </a:rPr>
                  <a:t>2</a:t>
                </a:r>
                <a:endParaRPr lang="en-GB" sz="2400">
                  <a:solidFill>
                    <a:srgbClr val="FF660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41" name="Group 52"/>
              <p:cNvGrpSpPr>
                <a:grpSpLocks/>
              </p:cNvGrpSpPr>
              <p:nvPr/>
            </p:nvGrpSpPr>
            <p:grpSpPr bwMode="auto">
              <a:xfrm>
                <a:off x="3382" y="3192"/>
                <a:ext cx="827" cy="291"/>
                <a:chOff x="3392" y="3192"/>
                <a:chExt cx="827" cy="291"/>
              </a:xfrm>
            </p:grpSpPr>
            <p:sp>
              <p:nvSpPr>
                <p:cNvPr id="42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392" y="3192"/>
                  <a:ext cx="827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latin typeface="Comic Sans MS" pitchFamily="66" charset="0"/>
                    </a:rPr>
                    <a:t>-5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– 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13</a:t>
                  </a:r>
                  <a:endParaRPr lang="en-GB" sz="2400" dirty="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43" name="Line 46"/>
                <p:cNvSpPr>
                  <a:spLocks noChangeShapeType="1"/>
                </p:cNvSpPr>
                <p:nvPr/>
              </p:nvSpPr>
              <p:spPr bwMode="auto">
                <a:xfrm>
                  <a:off x="3953" y="3202"/>
                  <a:ext cx="26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400">
                    <a:latin typeface="Comic Sans MS" pitchFamily="66" charset="0"/>
                  </a:endParaRPr>
                </a:p>
              </p:txBody>
            </p:sp>
          </p:grpSp>
        </p:grpSp>
      </p:grpSp>
      <p:sp>
        <p:nvSpPr>
          <p:cNvPr id="44" name="Text Box 47"/>
          <p:cNvSpPr txBox="1">
            <a:spLocks noChangeArrowheads="1"/>
          </p:cNvSpPr>
          <p:nvPr/>
        </p:nvSpPr>
        <p:spPr bwMode="auto">
          <a:xfrm>
            <a:off x="2277092" y="5845790"/>
            <a:ext cx="16610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-0.697</a:t>
            </a:r>
          </a:p>
        </p:txBody>
      </p:sp>
      <p:sp>
        <p:nvSpPr>
          <p:cNvPr id="45" name="Text Box 48"/>
          <p:cNvSpPr txBox="1">
            <a:spLocks noChangeArrowheads="1"/>
          </p:cNvSpPr>
          <p:nvPr/>
        </p:nvSpPr>
        <p:spPr bwMode="auto">
          <a:xfrm>
            <a:off x="4798387" y="5831723"/>
            <a:ext cx="32447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-4.303  (to 3 </a:t>
            </a:r>
            <a:r>
              <a:rPr lang="en-GB" sz="2400" dirty="0" err="1">
                <a:latin typeface="Comic Sans MS" pitchFamily="66" charset="0"/>
              </a:rPr>
              <a:t>d.p.</a:t>
            </a:r>
            <a:r>
              <a:rPr lang="en-GB" sz="2400" dirty="0">
                <a:latin typeface="Comic Sans MS" pitchFamily="66" charset="0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175" y="3602297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SIMPLIFY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685" y="4903203"/>
            <a:ext cx="215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SOLVE USING YOUR CALCULATOR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760" y="2634465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SUBSTITUTE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42685" y="4160084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SPLIT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6544" y="1606848"/>
            <a:ext cx="2949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a </a:t>
            </a:r>
            <a:r>
              <a:rPr lang="en-GB" sz="2800" dirty="0"/>
              <a:t>= 1   </a:t>
            </a:r>
            <a:r>
              <a:rPr lang="en-GB" sz="2800" dirty="0">
                <a:solidFill>
                  <a:srgbClr val="FF00FF"/>
                </a:solidFill>
              </a:rPr>
              <a:t>b</a:t>
            </a:r>
            <a:r>
              <a:rPr lang="en-GB" sz="2800" dirty="0"/>
              <a:t> = 5   </a:t>
            </a:r>
            <a:r>
              <a:rPr lang="en-GB" sz="2800" dirty="0">
                <a:solidFill>
                  <a:srgbClr val="CC3300"/>
                </a:solidFill>
              </a:rPr>
              <a:t>c </a:t>
            </a:r>
            <a:r>
              <a:rPr lang="en-GB" sz="2800" dirty="0"/>
              <a:t>=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0386" y="3559673"/>
            <a:ext cx="1845192" cy="16312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000" dirty="0"/>
              <a:t>You need to do this twice, once adding and once taking 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51" y="2311299"/>
            <a:ext cx="2091287" cy="70788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This is the quadratic formula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  <p:sp>
        <p:nvSpPr>
          <p:cNvPr id="55" name="Oval 54"/>
          <p:cNvSpPr/>
          <p:nvPr/>
        </p:nvSpPr>
        <p:spPr>
          <a:xfrm>
            <a:off x="214586" y="302117"/>
            <a:ext cx="1459886" cy="1015808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337108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823010" y="254852"/>
            <a:ext cx="7493489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Use the quadratic formula to solve 3</a:t>
            </a:r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baseline="30000" dirty="0">
                <a:solidFill>
                  <a:schemeClr val="tx1"/>
                </a:solidFill>
              </a:rPr>
              <a:t>2</a:t>
            </a:r>
            <a:r>
              <a:rPr lang="en-GB" sz="2800" dirty="0">
                <a:solidFill>
                  <a:schemeClr val="tx1"/>
                </a:solidFill>
              </a:rPr>
              <a:t> – 8</a:t>
            </a:r>
            <a:r>
              <a:rPr lang="en-GB" sz="2800" i="1" dirty="0">
                <a:solidFill>
                  <a:schemeClr val="tx1"/>
                </a:solidFill>
              </a:rPr>
              <a:t>x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/>
              <a:t>–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/>
              <a:t>7</a:t>
            </a:r>
            <a:r>
              <a:rPr lang="en-GB" sz="2800" dirty="0">
                <a:solidFill>
                  <a:schemeClr val="tx1"/>
                </a:solidFill>
              </a:rPr>
              <a:t>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299332" y="722168"/>
            <a:ext cx="27574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  <a:latin typeface="Comic Sans MS" pitchFamily="66" charset="0"/>
              </a:rPr>
              <a:t>3</a:t>
            </a:r>
            <a:r>
              <a:rPr lang="en-GB" sz="2800" dirty="0">
                <a:latin typeface="Comic Sans MS" pitchFamily="66" charset="0"/>
              </a:rPr>
              <a:t>x</a:t>
            </a:r>
            <a:r>
              <a:rPr lang="en-GB" sz="2800" baseline="30000" dirty="0">
                <a:latin typeface="Comic Sans MS" pitchFamily="66" charset="0"/>
              </a:rPr>
              <a:t>2</a:t>
            </a:r>
            <a:r>
              <a:rPr lang="en-GB" sz="2800" dirty="0">
                <a:latin typeface="Comic Sans MS" pitchFamily="66" charset="0"/>
              </a:rPr>
              <a:t> </a:t>
            </a:r>
            <a:r>
              <a:rPr lang="en-GB" sz="2800" dirty="0">
                <a:solidFill>
                  <a:srgbClr val="FF00FF"/>
                </a:solidFill>
                <a:latin typeface="Comic Sans MS" pitchFamily="66" charset="0"/>
              </a:rPr>
              <a:t>- 8</a:t>
            </a:r>
            <a:r>
              <a:rPr lang="en-GB" sz="2800" dirty="0">
                <a:solidFill>
                  <a:schemeClr val="tx1"/>
                </a:solidFill>
                <a:latin typeface="Comic Sans MS" pitchFamily="66" charset="0"/>
              </a:rPr>
              <a:t>x</a:t>
            </a:r>
            <a:r>
              <a:rPr lang="en-GB" sz="2800" dirty="0">
                <a:latin typeface="Comic Sans MS" pitchFamily="66" charset="0"/>
              </a:rPr>
              <a:t> </a:t>
            </a:r>
            <a:r>
              <a:rPr lang="en-GB" sz="2800" dirty="0">
                <a:solidFill>
                  <a:srgbClr val="CC3300"/>
                </a:solidFill>
                <a:latin typeface="Comic Sans MS" pitchFamily="66" charset="0"/>
              </a:rPr>
              <a:t>- 7 </a:t>
            </a:r>
            <a:r>
              <a:rPr lang="en-GB" sz="2800" dirty="0">
                <a:solidFill>
                  <a:schemeClr val="tx1"/>
                </a:solidFill>
                <a:latin typeface="Comic Sans MS" pitchFamily="66" charset="0"/>
              </a:rPr>
              <a:t>= 0</a:t>
            </a:r>
          </a:p>
        </p:txBody>
      </p:sp>
      <p:sp>
        <p:nvSpPr>
          <p:cNvPr id="7" name="Rectangle 6"/>
          <p:cNvSpPr/>
          <p:nvPr/>
        </p:nvSpPr>
        <p:spPr>
          <a:xfrm>
            <a:off x="2917867" y="1216261"/>
            <a:ext cx="3296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a </a:t>
            </a:r>
            <a:r>
              <a:rPr lang="en-GB" sz="2800" dirty="0"/>
              <a:t>= 3   </a:t>
            </a:r>
            <a:r>
              <a:rPr lang="en-GB" sz="2800" dirty="0">
                <a:solidFill>
                  <a:srgbClr val="FF00FF"/>
                </a:solidFill>
              </a:rPr>
              <a:t>b</a:t>
            </a:r>
            <a:r>
              <a:rPr lang="en-GB" sz="2800" dirty="0"/>
              <a:t> = -8   </a:t>
            </a:r>
            <a:r>
              <a:rPr lang="en-GB" sz="2800" dirty="0">
                <a:solidFill>
                  <a:srgbClr val="CC3300"/>
                </a:solidFill>
              </a:rPr>
              <a:t>c </a:t>
            </a:r>
            <a:r>
              <a:rPr lang="en-GB" sz="2800" dirty="0"/>
              <a:t>= -7</a:t>
            </a:r>
          </a:p>
        </p:txBody>
      </p: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2780740" y="1901405"/>
            <a:ext cx="2819401" cy="884238"/>
            <a:chOff x="1778" y="1391"/>
            <a:chExt cx="1776" cy="557"/>
          </a:xfrm>
        </p:grpSpPr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778" y="15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 dirty="0">
                  <a:latin typeface="Comic Sans MS" pitchFamily="66" charset="0"/>
                </a:rPr>
                <a:t>x</a:t>
              </a:r>
              <a:r>
                <a:rPr lang="en-GB" sz="2400" dirty="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211" y="1391"/>
              <a:ext cx="13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–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</a:rPr>
                <a:t>b</a:t>
              </a:r>
              <a:r>
                <a:rPr lang="en-GB" sz="2400" dirty="0">
                  <a:latin typeface="Comic Sans MS" pitchFamily="66" charset="0"/>
                </a:rPr>
                <a:t> </a:t>
              </a:r>
              <a:r>
                <a:rPr lang="en-US" sz="2400" dirty="0">
                  <a:latin typeface="Comic Sans MS" pitchFamily="66" charset="0"/>
                  <a:sym typeface="Symbol" pitchFamily="18" charset="2"/>
                </a:rPr>
                <a:t>±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</a:t>
              </a:r>
              <a:r>
                <a:rPr lang="en-GB" sz="2400" i="1" dirty="0">
                  <a:solidFill>
                    <a:srgbClr val="FF00FF"/>
                  </a:solidFill>
                  <a:latin typeface="Comic Sans MS" pitchFamily="66" charset="0"/>
                  <a:sym typeface="Symbol" pitchFamily="18" charset="2"/>
                </a:rPr>
                <a:t>b</a:t>
              </a:r>
              <a:r>
                <a:rPr lang="en-GB" sz="2400" baseline="30000" dirty="0">
                  <a:latin typeface="Comic Sans MS" pitchFamily="66" charset="0"/>
                  <a:sym typeface="Symbol" pitchFamily="18" charset="2"/>
                </a:rPr>
                <a:t>2</a:t>
              </a:r>
              <a:r>
                <a:rPr lang="en-GB" sz="2400" dirty="0">
                  <a:latin typeface="Comic Sans MS" pitchFamily="66" charset="0"/>
                  <a:sym typeface="Symbol" pitchFamily="18" charset="2"/>
                </a:rPr>
                <a:t> – 4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  <a:sym typeface="Symbol" pitchFamily="18" charset="2"/>
                </a:rPr>
                <a:t>a</a:t>
              </a:r>
              <a:r>
                <a:rPr lang="en-GB" sz="2400" i="1" dirty="0">
                  <a:solidFill>
                    <a:srgbClr val="CC3300"/>
                  </a:solidFill>
                  <a:latin typeface="Comic Sans MS" pitchFamily="66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215" y="1668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703" y="1657"/>
              <a:ext cx="33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2</a:t>
              </a:r>
              <a:r>
                <a:rPr lang="en-GB" sz="2400" i="1" dirty="0">
                  <a:solidFill>
                    <a:srgbClr val="00B0F0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724" y="1411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</p:grpSp>
      <p:grpSp>
        <p:nvGrpSpPr>
          <p:cNvPr id="15" name="Group 65"/>
          <p:cNvGrpSpPr>
            <a:grpSpLocks/>
          </p:cNvGrpSpPr>
          <p:nvPr/>
        </p:nvGrpSpPr>
        <p:grpSpPr bwMode="auto">
          <a:xfrm>
            <a:off x="2183333" y="2851946"/>
            <a:ext cx="4549776" cy="882651"/>
            <a:chOff x="1778" y="1992"/>
            <a:chExt cx="2866" cy="556"/>
          </a:xfrm>
        </p:grpSpPr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778" y="2125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grpSp>
          <p:nvGrpSpPr>
            <p:cNvPr id="17" name="Group 61"/>
            <p:cNvGrpSpPr>
              <a:grpSpLocks/>
            </p:cNvGrpSpPr>
            <p:nvPr/>
          </p:nvGrpSpPr>
          <p:grpSpPr bwMode="auto">
            <a:xfrm>
              <a:off x="2173" y="1992"/>
              <a:ext cx="2471" cy="556"/>
              <a:chOff x="2173" y="1992"/>
              <a:chExt cx="2471" cy="556"/>
            </a:xfrm>
          </p:grpSpPr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2173" y="2269"/>
                <a:ext cx="20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2930" y="2257"/>
                <a:ext cx="56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400" dirty="0">
                    <a:latin typeface="Comic Sans MS" pitchFamily="66" charset="0"/>
                  </a:rPr>
                  <a:t>2 × </a:t>
                </a:r>
                <a:r>
                  <a:rPr lang="en-US" sz="2400" dirty="0">
                    <a:solidFill>
                      <a:srgbClr val="00B0F0"/>
                    </a:solidFill>
                    <a:latin typeface="Comic Sans MS" pitchFamily="66" charset="0"/>
                  </a:rPr>
                  <a:t>3</a:t>
                </a:r>
                <a:endParaRPr lang="en-GB" sz="2400" dirty="0">
                  <a:solidFill>
                    <a:srgbClr val="00B0F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20" name="Group 60"/>
              <p:cNvGrpSpPr>
                <a:grpSpLocks/>
              </p:cNvGrpSpPr>
              <p:nvPr/>
            </p:nvGrpSpPr>
            <p:grpSpPr bwMode="auto">
              <a:xfrm>
                <a:off x="2180" y="1992"/>
                <a:ext cx="2464" cy="291"/>
                <a:chOff x="2192" y="1992"/>
                <a:chExt cx="2464" cy="291"/>
              </a:xfrm>
            </p:grpSpPr>
            <p:sp>
              <p:nvSpPr>
                <p:cNvPr id="2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92" y="1992"/>
                  <a:ext cx="2464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sz="2400" dirty="0">
                      <a:latin typeface="Comic Sans MS" pitchFamily="66" charset="0"/>
                    </a:rPr>
                    <a:t>-(</a:t>
                  </a:r>
                  <a:r>
                    <a:rPr lang="en-GB" sz="2400" dirty="0">
                      <a:solidFill>
                        <a:srgbClr val="FF00FF"/>
                      </a:solidFill>
                      <a:latin typeface="Comic Sans MS" pitchFamily="66" charset="0"/>
                    </a:rPr>
                    <a:t>-8</a:t>
                  </a:r>
                  <a:r>
                    <a:rPr lang="en-GB" sz="2400" dirty="0">
                      <a:latin typeface="Comic Sans MS" pitchFamily="66" charset="0"/>
                    </a:rPr>
                    <a:t>) </a:t>
                  </a:r>
                  <a:r>
                    <a:rPr lang="en-US" sz="2400" dirty="0">
                      <a:latin typeface="Comic Sans MS" pitchFamily="66" charset="0"/>
                      <a:sym typeface="Symbol" pitchFamily="18" charset="2"/>
                    </a:rPr>
                    <a:t>±</a:t>
                  </a:r>
                  <a:r>
                    <a:rPr lang="en-GB" sz="2400" dirty="0">
                      <a:latin typeface="Comic Sans MS" pitchFamily="66" charset="0"/>
                      <a:sym typeface="Symbol" pitchFamily="18" charset="2"/>
                    </a:rPr>
                    <a:t> </a:t>
                  </a:r>
                  <a:r>
                    <a:rPr lang="en-US" sz="2400" dirty="0">
                      <a:latin typeface="Comic Sans MS" pitchFamily="66" charset="0"/>
                      <a:sym typeface="Symbol" pitchFamily="18" charset="2"/>
                    </a:rPr>
                    <a:t>(</a:t>
                  </a:r>
                  <a:r>
                    <a:rPr lang="en-GB" sz="2400" dirty="0">
                      <a:solidFill>
                        <a:srgbClr val="FF00FF"/>
                      </a:solidFill>
                      <a:latin typeface="Comic Sans MS" pitchFamily="66" charset="0"/>
                      <a:sym typeface="Symbol" pitchFamily="18" charset="2"/>
                    </a:rPr>
                    <a:t>-8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  <a:r>
                    <a:rPr lang="en-GB" sz="2400" baseline="30000" dirty="0">
                      <a:latin typeface="Comic Sans MS" pitchFamily="66" charset="0"/>
                      <a:sym typeface="Symbol" pitchFamily="18" charset="2"/>
                    </a:rPr>
                    <a:t>2</a:t>
                  </a:r>
                  <a:r>
                    <a:rPr lang="en-GB" sz="2400" dirty="0">
                      <a:latin typeface="Comic Sans MS" pitchFamily="66" charset="0"/>
                      <a:sym typeface="Symbol" pitchFamily="18" charset="2"/>
                    </a:rPr>
                    <a:t> – (4 × </a:t>
                  </a:r>
                  <a:r>
                    <a:rPr lang="en-GB" sz="2400" dirty="0">
                      <a:solidFill>
                        <a:srgbClr val="00B0F0"/>
                      </a:solidFill>
                      <a:latin typeface="Comic Sans MS" pitchFamily="66" charset="0"/>
                      <a:sym typeface="Symbol" pitchFamily="18" charset="2"/>
                    </a:rPr>
                    <a:t>3</a:t>
                  </a:r>
                  <a:r>
                    <a:rPr lang="en-GB" sz="24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×</a:t>
                  </a:r>
                  <a:r>
                    <a:rPr lang="en-GB" sz="2400" dirty="0">
                      <a:solidFill>
                        <a:srgbClr val="FF6600"/>
                      </a:solidFill>
                      <a:latin typeface="Comic Sans MS" pitchFamily="66" charset="0"/>
                      <a:sym typeface="Symbol" pitchFamily="18" charset="2"/>
                    </a:rPr>
                    <a:t> </a:t>
                  </a:r>
                  <a:r>
                    <a:rPr lang="en-GB" sz="2400" dirty="0">
                      <a:solidFill>
                        <a:srgbClr val="CC3300"/>
                      </a:solidFill>
                      <a:latin typeface="Comic Sans MS" pitchFamily="66" charset="0"/>
                      <a:sym typeface="Symbol" pitchFamily="18" charset="2"/>
                    </a:rPr>
                    <a:t>-7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)</a:t>
                  </a:r>
                </a:p>
              </p:txBody>
            </p:sp>
            <p:sp>
              <p:nvSpPr>
                <p:cNvPr id="22" name="Line 20"/>
                <p:cNvSpPr>
                  <a:spLocks noChangeShapeType="1"/>
                </p:cNvSpPr>
                <p:nvPr/>
              </p:nvSpPr>
              <p:spPr bwMode="auto">
                <a:xfrm>
                  <a:off x="2942" y="1995"/>
                  <a:ext cx="150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400">
                    <a:latin typeface="Comic Sans MS" pitchFamily="66" charset="0"/>
                  </a:endParaRPr>
                </a:p>
              </p:txBody>
            </p:sp>
          </p:grpSp>
        </p:grpSp>
      </p:grpSp>
      <p:grpSp>
        <p:nvGrpSpPr>
          <p:cNvPr id="23" name="Group 64"/>
          <p:cNvGrpSpPr>
            <a:grpSpLocks/>
          </p:cNvGrpSpPr>
          <p:nvPr/>
        </p:nvGrpSpPr>
        <p:grpSpPr bwMode="auto">
          <a:xfrm>
            <a:off x="2839077" y="3749768"/>
            <a:ext cx="2941638" cy="887414"/>
            <a:chOff x="1778" y="2589"/>
            <a:chExt cx="1853" cy="559"/>
          </a:xfrm>
        </p:grpSpPr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1778" y="2725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186" y="2869"/>
              <a:ext cx="11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2668" y="28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6</a:t>
              </a:r>
              <a:endParaRPr lang="en-GB" sz="2400" dirty="0">
                <a:solidFill>
                  <a:srgbClr val="FF6600"/>
                </a:solidFill>
                <a:latin typeface="Comic Sans MS" pitchFamily="66" charset="0"/>
              </a:endParaRPr>
            </a:p>
          </p:txBody>
        </p:sp>
        <p:grpSp>
          <p:nvGrpSpPr>
            <p:cNvPr id="27" name="Group 49"/>
            <p:cNvGrpSpPr>
              <a:grpSpLocks/>
            </p:cNvGrpSpPr>
            <p:nvPr/>
          </p:nvGrpSpPr>
          <p:grpSpPr bwMode="auto">
            <a:xfrm>
              <a:off x="2187" y="2589"/>
              <a:ext cx="1444" cy="294"/>
              <a:chOff x="2051" y="2589"/>
              <a:chExt cx="1444" cy="294"/>
            </a:xfrm>
          </p:grpSpPr>
          <p:sp>
            <p:nvSpPr>
              <p:cNvPr id="28" name="Text Box 27"/>
              <p:cNvSpPr txBox="1">
                <a:spLocks noChangeArrowheads="1"/>
              </p:cNvSpPr>
              <p:nvPr/>
            </p:nvSpPr>
            <p:spPr bwMode="auto">
              <a:xfrm>
                <a:off x="2051" y="2592"/>
                <a:ext cx="144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8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US" sz="2400" dirty="0">
                    <a:latin typeface="Comic Sans MS" pitchFamily="66" charset="0"/>
                    <a:sym typeface="Symbol" pitchFamily="18" charset="2"/>
                  </a:rPr>
                  <a:t>±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 64 – (-84)</a:t>
                </a:r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>
                <a:off x="2524" y="2589"/>
                <a:ext cx="6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30" name="Group 56"/>
          <p:cNvGrpSpPr>
            <a:grpSpLocks/>
          </p:cNvGrpSpPr>
          <p:nvPr/>
        </p:nvGrpSpPr>
        <p:grpSpPr bwMode="auto">
          <a:xfrm>
            <a:off x="2107639" y="4584703"/>
            <a:ext cx="1960563" cy="857251"/>
            <a:chOff x="1104" y="3208"/>
            <a:chExt cx="1235" cy="540"/>
          </a:xfrm>
        </p:grpSpPr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1104" y="3324"/>
              <a:ext cx="38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i="1">
                  <a:latin typeface="Comic Sans MS" pitchFamily="66" charset="0"/>
                </a:rPr>
                <a:t>x</a:t>
              </a:r>
              <a:r>
                <a:rPr lang="en-GB" sz="2400">
                  <a:latin typeface="Comic Sans MS" pitchFamily="66" charset="0"/>
                </a:rPr>
                <a:t> =</a:t>
              </a:r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1450" y="3469"/>
              <a:ext cx="7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2400">
                <a:latin typeface="Comic Sans MS" pitchFamily="66" charset="0"/>
              </a:endParaRPr>
            </a:p>
          </p:txBody>
        </p:sp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1735" y="3457"/>
              <a:ext cx="2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6</a:t>
              </a:r>
            </a:p>
          </p:txBody>
        </p:sp>
        <p:grpSp>
          <p:nvGrpSpPr>
            <p:cNvPr id="34" name="Group 53"/>
            <p:cNvGrpSpPr>
              <a:grpSpLocks/>
            </p:cNvGrpSpPr>
            <p:nvPr/>
          </p:nvGrpSpPr>
          <p:grpSpPr bwMode="auto">
            <a:xfrm>
              <a:off x="1467" y="3208"/>
              <a:ext cx="872" cy="291"/>
              <a:chOff x="1473" y="3208"/>
              <a:chExt cx="872" cy="291"/>
            </a:xfrm>
          </p:grpSpPr>
          <p:sp>
            <p:nvSpPr>
              <p:cNvPr id="35" name="Text Box 36"/>
              <p:cNvSpPr txBox="1">
                <a:spLocks noChangeArrowheads="1"/>
              </p:cNvSpPr>
              <p:nvPr/>
            </p:nvSpPr>
            <p:spPr bwMode="auto">
              <a:xfrm>
                <a:off x="1473" y="3208"/>
                <a:ext cx="87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8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Comic Sans MS" pitchFamily="66" charset="0"/>
                    <a:sym typeface="Symbol" pitchFamily="18" charset="2"/>
                  </a:rPr>
                  <a:t>+ </a:t>
                </a:r>
                <a:r>
                  <a:rPr lang="en-US" sz="2400" dirty="0">
                    <a:latin typeface="Comic Sans MS" pitchFamily="66" charset="0"/>
                    <a:sym typeface="Symbol" pitchFamily="18" charset="2"/>
                  </a:rPr>
                  <a:t>148</a:t>
                </a:r>
                <a:endParaRPr lang="en-GB" sz="2400" dirty="0">
                  <a:solidFill>
                    <a:schemeClr val="tx1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36" name="Line 37"/>
              <p:cNvSpPr>
                <a:spLocks noChangeShapeType="1"/>
              </p:cNvSpPr>
              <p:nvPr/>
            </p:nvSpPr>
            <p:spPr bwMode="auto">
              <a:xfrm>
                <a:off x="1903" y="3234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</p:grpSp>
      </p:grpSp>
      <p:grpSp>
        <p:nvGrpSpPr>
          <p:cNvPr id="37" name="Group 63"/>
          <p:cNvGrpSpPr>
            <a:grpSpLocks/>
          </p:cNvGrpSpPr>
          <p:nvPr/>
        </p:nvGrpSpPr>
        <p:grpSpPr bwMode="auto">
          <a:xfrm>
            <a:off x="4187265" y="4621219"/>
            <a:ext cx="2552700" cy="882651"/>
            <a:chOff x="2639" y="3192"/>
            <a:chExt cx="1608" cy="556"/>
          </a:xfrm>
        </p:grpSpPr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2639" y="3324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400" dirty="0">
                  <a:latin typeface="Comic Sans MS" pitchFamily="66" charset="0"/>
                </a:rPr>
                <a:t>or</a:t>
              </a:r>
            </a:p>
          </p:txBody>
        </p:sp>
        <p:grpSp>
          <p:nvGrpSpPr>
            <p:cNvPr id="39" name="Group 54"/>
            <p:cNvGrpSpPr>
              <a:grpSpLocks/>
            </p:cNvGrpSpPr>
            <p:nvPr/>
          </p:nvGrpSpPr>
          <p:grpSpPr bwMode="auto">
            <a:xfrm>
              <a:off x="3023" y="3192"/>
              <a:ext cx="1224" cy="556"/>
              <a:chOff x="3023" y="3192"/>
              <a:chExt cx="1224" cy="556"/>
            </a:xfrm>
          </p:grpSpPr>
          <p:sp>
            <p:nvSpPr>
              <p:cNvPr id="40" name="Text Box 40"/>
              <p:cNvSpPr txBox="1">
                <a:spLocks noChangeArrowheads="1"/>
              </p:cNvSpPr>
              <p:nvPr/>
            </p:nvSpPr>
            <p:spPr bwMode="auto">
              <a:xfrm>
                <a:off x="3023" y="3324"/>
                <a:ext cx="38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400" i="1">
                    <a:latin typeface="Comic Sans MS" pitchFamily="66" charset="0"/>
                  </a:rPr>
                  <a:t>x</a:t>
                </a:r>
                <a:r>
                  <a:rPr lang="en-GB" sz="2400">
                    <a:latin typeface="Comic Sans MS" pitchFamily="66" charset="0"/>
                  </a:rPr>
                  <a:t> =</a:t>
                </a:r>
              </a:p>
            </p:txBody>
          </p:sp>
          <p:sp>
            <p:nvSpPr>
              <p:cNvPr id="41" name="Line 42"/>
              <p:cNvSpPr>
                <a:spLocks noChangeShapeType="1"/>
              </p:cNvSpPr>
              <p:nvPr/>
            </p:nvSpPr>
            <p:spPr bwMode="auto">
              <a:xfrm>
                <a:off x="3369" y="3469"/>
                <a:ext cx="7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sz="2400">
                  <a:latin typeface="Comic Sans MS" pitchFamily="66" charset="0"/>
                </a:endParaRPr>
              </a:p>
            </p:txBody>
          </p:sp>
          <p:sp>
            <p:nvSpPr>
              <p:cNvPr id="42" name="Text Box 43"/>
              <p:cNvSpPr txBox="1">
                <a:spLocks noChangeArrowheads="1"/>
              </p:cNvSpPr>
              <p:nvPr/>
            </p:nvSpPr>
            <p:spPr bwMode="auto">
              <a:xfrm>
                <a:off x="3648" y="3457"/>
                <a:ext cx="2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omic Sans MS" pitchFamily="66" charset="0"/>
                  </a:rPr>
                  <a:t>6</a:t>
                </a:r>
                <a:endParaRPr lang="en-GB" sz="2400" dirty="0">
                  <a:solidFill>
                    <a:srgbClr val="FF6600"/>
                  </a:solidFill>
                  <a:latin typeface="Comic Sans MS" pitchFamily="66" charset="0"/>
                </a:endParaRPr>
              </a:p>
            </p:txBody>
          </p:sp>
          <p:grpSp>
            <p:nvGrpSpPr>
              <p:cNvPr id="43" name="Group 52"/>
              <p:cNvGrpSpPr>
                <a:grpSpLocks/>
              </p:cNvGrpSpPr>
              <p:nvPr/>
            </p:nvGrpSpPr>
            <p:grpSpPr bwMode="auto">
              <a:xfrm>
                <a:off x="3382" y="3192"/>
                <a:ext cx="865" cy="291"/>
                <a:chOff x="3392" y="3192"/>
                <a:chExt cx="865" cy="291"/>
              </a:xfrm>
            </p:grpSpPr>
            <p:sp>
              <p:nvSpPr>
                <p:cNvPr id="4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392" y="3192"/>
                  <a:ext cx="865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>
                      <a:latin typeface="Comic Sans MS" pitchFamily="66" charset="0"/>
                    </a:rPr>
                    <a:t>8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</a:rPr>
                    <a:t> </a:t>
                  </a:r>
                  <a:r>
                    <a:rPr lang="en-GB" sz="2400" dirty="0">
                      <a:solidFill>
                        <a:schemeClr val="tx1"/>
                      </a:solidFill>
                      <a:latin typeface="Comic Sans MS" pitchFamily="66" charset="0"/>
                      <a:sym typeface="Symbol" pitchFamily="18" charset="2"/>
                    </a:rPr>
                    <a:t>– </a:t>
                  </a:r>
                  <a:r>
                    <a:rPr lang="en-US" sz="2400" dirty="0">
                      <a:latin typeface="Comic Sans MS" pitchFamily="66" charset="0"/>
                      <a:sym typeface="Symbol" pitchFamily="18" charset="2"/>
                    </a:rPr>
                    <a:t>148</a:t>
                  </a:r>
                  <a:endParaRPr lang="en-GB" sz="2400" dirty="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45" name="Line 46"/>
                <p:cNvSpPr>
                  <a:spLocks noChangeShapeType="1"/>
                </p:cNvSpPr>
                <p:nvPr/>
              </p:nvSpPr>
              <p:spPr bwMode="auto">
                <a:xfrm>
                  <a:off x="3855" y="3202"/>
                  <a:ext cx="26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sz="2400">
                    <a:latin typeface="Comic Sans MS" pitchFamily="66" charset="0"/>
                  </a:endParaRPr>
                </a:p>
              </p:txBody>
            </p:sp>
          </p:grpSp>
        </p:grpSp>
      </p:grp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2534864" y="5441954"/>
            <a:ext cx="1483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3.361</a:t>
            </a: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4902434" y="5438843"/>
            <a:ext cx="32447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i="1" dirty="0">
                <a:latin typeface="Comic Sans MS" pitchFamily="66" charset="0"/>
              </a:rPr>
              <a:t>x</a:t>
            </a:r>
            <a:r>
              <a:rPr lang="en-GB" sz="2400" dirty="0">
                <a:latin typeface="Comic Sans MS" pitchFamily="66" charset="0"/>
              </a:rPr>
              <a:t> = -0.694  (to 3 </a:t>
            </a:r>
            <a:r>
              <a:rPr lang="en-GB" sz="2400" dirty="0" err="1">
                <a:latin typeface="Comic Sans MS" pitchFamily="66" charset="0"/>
              </a:rPr>
              <a:t>d.p.</a:t>
            </a:r>
            <a:r>
              <a:rPr lang="en-GB" sz="2400" dirty="0">
                <a:latin typeface="Comic Sans MS" pitchFamily="66" charset="0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7601" y="321252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SIMPLIFY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111" y="4513434"/>
            <a:ext cx="215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SOLVE USING YOUR CALCULATOR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0186" y="2244696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SUBSTITUTE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111" y="3770315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omic Sans MS" pitchFamily="66" charset="0"/>
              </a:rPr>
              <a:t>SPLIT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4284" y="3374938"/>
            <a:ext cx="1845192" cy="120032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You need to do this twice, once adding and once taking away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977" y="1921530"/>
            <a:ext cx="2091287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This is the quadratic formula</a:t>
            </a:r>
          </a:p>
        </p:txBody>
      </p:sp>
    </p:spTree>
    <p:extLst>
      <p:ext uri="{BB962C8B-B14F-4D97-AF65-F5344CB8AC3E}">
        <p14:creationId xmlns:p14="http://schemas.microsoft.com/office/powerpoint/2010/main" val="176474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6" grpId="0"/>
      <p:bldP spid="47" grpId="0"/>
      <p:bldP spid="48" grpId="0"/>
      <p:bldP spid="49" grpId="0"/>
      <p:bldP spid="50" grpId="0"/>
      <p:bldP spid="51" grpId="0"/>
      <p:bldP spid="52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93832" y="2079494"/>
            <a:ext cx="2016224" cy="4373842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2246070" y="2079494"/>
            <a:ext cx="2142512" cy="43738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4539657" y="2079494"/>
            <a:ext cx="2198461" cy="437384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ounded Rectangle 7"/>
          <p:cNvSpPr/>
          <p:nvPr/>
        </p:nvSpPr>
        <p:spPr>
          <a:xfrm>
            <a:off x="6890991" y="2079494"/>
            <a:ext cx="2073497" cy="437384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67544" y="432247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Solve these quadratic equations using the quadratic formula to 2 </a:t>
            </a:r>
            <a:r>
              <a:rPr lang="en-GB" sz="2800" b="1" dirty="0" err="1"/>
              <a:t>d.p</a:t>
            </a:r>
            <a:r>
              <a:rPr lang="en-GB" sz="2800" b="1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059832" y="1016991"/>
                <a:ext cx="3442602" cy="882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i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GB" sz="2400" i="0">
                              <a:latin typeface="Cambria Math" panose="02040503050406030204" pitchFamily="18" charset="0"/>
                            </a:rPr>
                            <m:t>± </m:t>
                          </m:r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0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lang="en-GB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i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m:rPr>
                                  <m:sty m:val="p"/>
                                </m:rPr>
                                <a:rPr lang="en-GB" sz="2400" i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GB" sz="2400" i="0">
                                  <a:solidFill>
                                    <a:srgbClr val="CC33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rad>
                        </m:num>
                        <m:den>
                          <m:r>
                            <a:rPr lang="en-GB" sz="24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016991"/>
                <a:ext cx="3442602" cy="8827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8680" y="2348880"/>
            <a:ext cx="217739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3525" indent="-263525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</a:t>
            </a:r>
            <a:r>
              <a:rPr lang="en-GB" sz="2200" dirty="0"/>
              <a:t> + 3x + 2 = 0</a:t>
            </a:r>
          </a:p>
          <a:p>
            <a:pPr marL="263525" indent="-263525">
              <a:buFont typeface="+mj-lt"/>
              <a:buAutoNum type="alphaLcParenR"/>
            </a:pPr>
            <a:endParaRPr lang="en-GB" sz="2200" dirty="0"/>
          </a:p>
          <a:p>
            <a:pPr marL="263525" indent="-263525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 </a:t>
            </a:r>
            <a:r>
              <a:rPr lang="en-GB" sz="2200" dirty="0"/>
              <a:t>+ 6x + 8 = 0</a:t>
            </a:r>
          </a:p>
          <a:p>
            <a:pPr marL="263525" indent="-263525">
              <a:buFont typeface="+mj-lt"/>
              <a:buAutoNum type="alphaLcParenR"/>
            </a:pPr>
            <a:endParaRPr lang="en-GB" sz="2200" dirty="0"/>
          </a:p>
          <a:p>
            <a:pPr marL="263525" indent="-263525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 </a:t>
            </a:r>
            <a:r>
              <a:rPr lang="en-GB" sz="2200" dirty="0"/>
              <a:t>+ 5x + 4 = 0</a:t>
            </a:r>
          </a:p>
          <a:p>
            <a:pPr marL="263525" indent="-263525">
              <a:buFont typeface="+mj-lt"/>
              <a:buAutoNum type="alphaLcParenR"/>
            </a:pPr>
            <a:endParaRPr lang="en-GB" sz="2200" dirty="0"/>
          </a:p>
          <a:p>
            <a:pPr marL="263525" indent="-263525">
              <a:buFont typeface="+mj-lt"/>
              <a:buAutoNum type="alphaLcParenR"/>
            </a:pPr>
            <a:r>
              <a:rPr lang="en-GB" sz="2000" dirty="0"/>
              <a:t>x</a:t>
            </a:r>
            <a:r>
              <a:rPr lang="en-GB" sz="2000" baseline="30000" dirty="0"/>
              <a:t>2 </a:t>
            </a:r>
            <a:r>
              <a:rPr lang="en-GB" sz="2000" dirty="0"/>
              <a:t>+ 11x + 18 = 0</a:t>
            </a:r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342900" indent="-342900">
              <a:buFont typeface="+mj-lt"/>
              <a:buAutoNum type="alphaLcParenR"/>
            </a:pPr>
            <a:r>
              <a:rPr lang="en-GB" sz="2000" dirty="0"/>
              <a:t>x</a:t>
            </a:r>
            <a:r>
              <a:rPr lang="en-GB" sz="2000" baseline="30000" dirty="0"/>
              <a:t>2</a:t>
            </a:r>
            <a:r>
              <a:rPr lang="en-GB" sz="2000" dirty="0"/>
              <a:t> + 8x + 2 = 0</a:t>
            </a:r>
          </a:p>
          <a:p>
            <a:pPr marL="342900" indent="-342900">
              <a:buFont typeface="+mj-lt"/>
              <a:buAutoNum type="alphaLcParenR"/>
            </a:pPr>
            <a:endParaRPr lang="en-GB" sz="2000" dirty="0"/>
          </a:p>
          <a:p>
            <a:pPr marL="342900" indent="-342900">
              <a:buFont typeface="+mj-lt"/>
              <a:buAutoNum type="alphaLcParenR"/>
            </a:pPr>
            <a:r>
              <a:rPr lang="en-GB" sz="2000" dirty="0"/>
              <a:t>x</a:t>
            </a:r>
            <a:r>
              <a:rPr lang="en-GB" sz="2000" baseline="30000" dirty="0"/>
              <a:t>2</a:t>
            </a:r>
            <a:r>
              <a:rPr lang="en-GB" sz="2000" dirty="0"/>
              <a:t> + 6x + 3 = 0</a:t>
            </a:r>
          </a:p>
          <a:p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/>
            <a:r>
              <a:rPr lang="en-GB" sz="2200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6070" y="2348880"/>
            <a:ext cx="241112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</a:t>
            </a:r>
            <a:r>
              <a:rPr lang="en-GB" sz="2200" dirty="0"/>
              <a:t> + 12x - 4 = 0 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</a:t>
            </a:r>
            <a:r>
              <a:rPr lang="en-GB" sz="2200" dirty="0"/>
              <a:t> + 10x - 5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</a:t>
            </a:r>
            <a:r>
              <a:rPr lang="en-GB" sz="2200" dirty="0"/>
              <a:t> + 8x + 5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7x</a:t>
            </a:r>
            <a:r>
              <a:rPr lang="en-GB" sz="2200" baseline="30000" dirty="0"/>
              <a:t>2</a:t>
            </a:r>
            <a:r>
              <a:rPr lang="en-GB" sz="2200" dirty="0"/>
              <a:t> + 5x - 2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2x</a:t>
            </a:r>
            <a:r>
              <a:rPr lang="en-GB" sz="2200" baseline="30000" dirty="0"/>
              <a:t>2</a:t>
            </a:r>
            <a:r>
              <a:rPr lang="en-GB" sz="2200" dirty="0"/>
              <a:t> + 9x - 2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5x</a:t>
            </a:r>
            <a:r>
              <a:rPr lang="en-GB" sz="2200" baseline="30000" dirty="0"/>
              <a:t>2</a:t>
            </a:r>
            <a:r>
              <a:rPr lang="en-GB" sz="2200" dirty="0"/>
              <a:t> + 8x - 5 = 0</a:t>
            </a: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15" name="Rounded Rectangle 14"/>
          <p:cNvSpPr/>
          <p:nvPr/>
        </p:nvSpPr>
        <p:spPr>
          <a:xfrm>
            <a:off x="0" y="0"/>
            <a:ext cx="9144000" cy="6842418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6984180" y="2548067"/>
            <a:ext cx="18170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  <a:tabLst>
                <a:tab pos="92075" algn="l"/>
              </a:tabLst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 + 3x =12</a:t>
            </a:r>
          </a:p>
          <a:p>
            <a:pPr marL="342900" indent="-342900">
              <a:buAutoNum type="alphaLcParenR"/>
              <a:tabLst>
                <a:tab pos="92075" algn="l"/>
              </a:tabLst>
            </a:pPr>
            <a:endParaRPr lang="en-GB" dirty="0"/>
          </a:p>
          <a:p>
            <a:pPr marL="342900" indent="-342900">
              <a:buFontTx/>
              <a:buAutoNum type="alphaLcParenR"/>
              <a:tabLst>
                <a:tab pos="92075" algn="l"/>
              </a:tabLst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 + 5x = 2</a:t>
            </a:r>
          </a:p>
          <a:p>
            <a:pPr marL="342900" indent="-342900">
              <a:buFontTx/>
              <a:buAutoNum type="alphaLcParenR"/>
              <a:tabLst>
                <a:tab pos="92075" algn="l"/>
              </a:tabLst>
            </a:pPr>
            <a:endParaRPr lang="en-GB" dirty="0"/>
          </a:p>
          <a:p>
            <a:pPr marL="342900" indent="-342900">
              <a:buFontTx/>
              <a:buAutoNum type="alphaLcParenR"/>
              <a:tabLst>
                <a:tab pos="92075" algn="l"/>
              </a:tabLst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 = 3x + 12</a:t>
            </a:r>
          </a:p>
          <a:p>
            <a:pPr>
              <a:tabLst>
                <a:tab pos="92075" algn="l"/>
              </a:tabLst>
            </a:pPr>
            <a:endParaRPr lang="en-GB" dirty="0"/>
          </a:p>
          <a:p>
            <a:pPr>
              <a:tabLst>
                <a:tab pos="92075" algn="l"/>
              </a:tabLst>
            </a:pPr>
            <a:r>
              <a:rPr lang="en-GB" dirty="0"/>
              <a:t>If you reach this, please ask for a separate  sheet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2516" y="2204864"/>
            <a:ext cx="2368811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GB" sz="2200" dirty="0"/>
              <a:t>x</a:t>
            </a:r>
            <a:r>
              <a:rPr lang="en-GB" sz="2200" baseline="30000" dirty="0"/>
              <a:t>2</a:t>
            </a:r>
            <a:r>
              <a:rPr lang="en-GB" sz="2200" dirty="0"/>
              <a:t> - x - 10 = 0 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3x</a:t>
            </a:r>
            <a:r>
              <a:rPr lang="en-GB" sz="2200" baseline="30000" dirty="0"/>
              <a:t>2</a:t>
            </a:r>
            <a:r>
              <a:rPr lang="en-GB" sz="2200" dirty="0"/>
              <a:t> - 10x - 5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-4x</a:t>
            </a:r>
            <a:r>
              <a:rPr lang="en-GB" sz="2200" baseline="30000" dirty="0"/>
              <a:t>2</a:t>
            </a:r>
            <a:r>
              <a:rPr lang="en-GB" sz="2200" dirty="0"/>
              <a:t> - 8x + 5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5x</a:t>
            </a:r>
            <a:r>
              <a:rPr lang="en-GB" sz="2200" baseline="30000" dirty="0"/>
              <a:t>2</a:t>
            </a:r>
            <a:r>
              <a:rPr lang="en-GB" sz="2200" dirty="0"/>
              <a:t> - 3x - 2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-2x</a:t>
            </a:r>
            <a:r>
              <a:rPr lang="en-GB" sz="2200" baseline="30000" dirty="0"/>
              <a:t>2</a:t>
            </a:r>
            <a:r>
              <a:rPr lang="en-GB" sz="2200" dirty="0"/>
              <a:t> + 9x - 2 = 0</a:t>
            </a:r>
          </a:p>
          <a:p>
            <a:pPr marL="342900" indent="-342900">
              <a:buFont typeface="+mj-lt"/>
              <a:buAutoNum type="alphaLcParenR"/>
            </a:pPr>
            <a:endParaRPr lang="en-GB" sz="2200" dirty="0"/>
          </a:p>
          <a:p>
            <a:pPr marL="342900" indent="-342900">
              <a:buFont typeface="+mj-lt"/>
              <a:buAutoNum type="alphaLcParenR"/>
            </a:pPr>
            <a:r>
              <a:rPr lang="en-GB" sz="2200" dirty="0"/>
              <a:t>10x</a:t>
            </a:r>
            <a:r>
              <a:rPr lang="en-GB" sz="2200" baseline="30000" dirty="0"/>
              <a:t>2</a:t>
            </a:r>
            <a:r>
              <a:rPr lang="en-GB" sz="2200" dirty="0"/>
              <a:t> - 4 x - 1 = 0</a:t>
            </a: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2" name="Rounded Rectangle 1"/>
          <p:cNvSpPr/>
          <p:nvPr/>
        </p:nvSpPr>
        <p:spPr>
          <a:xfrm>
            <a:off x="69380" y="2079494"/>
            <a:ext cx="2040676" cy="437384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93832" y="2204864"/>
            <a:ext cx="24632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- 1 or x = - 2  </a:t>
            </a:r>
          </a:p>
          <a:p>
            <a:pPr marL="265113" indent="-265113">
              <a:buFont typeface="+mj-lt"/>
              <a:buAutoNum type="alphaLcParenR"/>
            </a:pPr>
            <a:endParaRPr lang="en-GB" sz="2000" dirty="0"/>
          </a:p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-2 or x = - 4</a:t>
            </a:r>
          </a:p>
          <a:p>
            <a:pPr marL="265113" indent="-265113">
              <a:buFont typeface="+mj-lt"/>
              <a:buAutoNum type="alphaLcParenR"/>
            </a:pPr>
            <a:endParaRPr lang="en-GB" sz="2000" dirty="0"/>
          </a:p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-1 or x = - 4</a:t>
            </a:r>
          </a:p>
          <a:p>
            <a:pPr marL="265113" indent="-265113">
              <a:buFont typeface="+mj-lt"/>
              <a:buAutoNum type="alphaLcParenR"/>
            </a:pPr>
            <a:endParaRPr lang="en-GB" sz="2000" dirty="0"/>
          </a:p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- 2 or x = - 9</a:t>
            </a:r>
          </a:p>
          <a:p>
            <a:pPr marL="265113" indent="-265113">
              <a:buFont typeface="+mj-lt"/>
              <a:buAutoNum type="alphaLcParenR"/>
            </a:pPr>
            <a:endParaRPr lang="en-GB" sz="2000" dirty="0"/>
          </a:p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- 0.26 or </a:t>
            </a:r>
          </a:p>
          <a:p>
            <a:r>
              <a:rPr lang="en-GB" sz="2000" dirty="0"/>
              <a:t>    x = - 7.74</a:t>
            </a:r>
          </a:p>
          <a:p>
            <a:endParaRPr lang="en-GB" sz="2000" dirty="0"/>
          </a:p>
          <a:p>
            <a:r>
              <a:rPr lang="en-GB" sz="2000" dirty="0"/>
              <a:t>f) x = 0.55 or </a:t>
            </a:r>
          </a:p>
          <a:p>
            <a:r>
              <a:rPr lang="en-GB" sz="2000" dirty="0"/>
              <a:t>    x = - 5.45</a:t>
            </a:r>
          </a:p>
          <a:p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/>
            <a:r>
              <a:rPr lang="en-GB" sz="2200" dirty="0"/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5681" y="2080306"/>
            <a:ext cx="2172902" cy="4680520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2215681" y="2224902"/>
            <a:ext cx="2172901" cy="58169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65113" indent="-265113">
              <a:buFont typeface="+mj-lt"/>
              <a:buAutoNum type="alphaLcParenR"/>
            </a:pPr>
            <a:r>
              <a:rPr lang="en-GB" sz="2000" dirty="0"/>
              <a:t>x = 0.32 or             x = - 12.32  </a:t>
            </a:r>
          </a:p>
          <a:p>
            <a:pPr marL="265113" indent="-265113">
              <a:buFont typeface="+mj-lt"/>
              <a:buAutoNum type="alphaLcParenR"/>
            </a:pPr>
            <a:endParaRPr lang="en-GB" sz="1000" dirty="0"/>
          </a:p>
          <a:p>
            <a:pPr marL="265113" indent="-265113"/>
            <a:r>
              <a:rPr lang="en-GB" sz="2000" dirty="0"/>
              <a:t>b) x = 0.48 or                   x = - 10.48</a:t>
            </a:r>
          </a:p>
          <a:p>
            <a:pPr marL="265113" indent="-265113">
              <a:buFont typeface="+mj-lt"/>
              <a:buAutoNum type="alphaLcParenR"/>
            </a:pPr>
            <a:endParaRPr lang="en-GB" sz="1000" dirty="0"/>
          </a:p>
          <a:p>
            <a:r>
              <a:rPr lang="en-GB" sz="2000" dirty="0"/>
              <a:t>c) x = - 0.68 or</a:t>
            </a:r>
          </a:p>
          <a:p>
            <a:r>
              <a:rPr lang="en-GB" sz="2000" dirty="0"/>
              <a:t>    x = - 7.32</a:t>
            </a:r>
          </a:p>
          <a:p>
            <a:pPr marL="265113" indent="-265113">
              <a:buFont typeface="+mj-lt"/>
              <a:buAutoNum type="alphaLcParenR"/>
            </a:pPr>
            <a:endParaRPr lang="en-GB" sz="1000" dirty="0"/>
          </a:p>
          <a:p>
            <a:r>
              <a:rPr lang="en-GB" sz="2000" dirty="0"/>
              <a:t>d) x = - 1 or</a:t>
            </a:r>
          </a:p>
          <a:p>
            <a:r>
              <a:rPr lang="en-GB" sz="2000" dirty="0"/>
              <a:t>    x = 0.29</a:t>
            </a:r>
          </a:p>
          <a:p>
            <a:pPr marL="265113" indent="-265113">
              <a:buFont typeface="+mj-lt"/>
              <a:buAutoNum type="alphaLcParenR"/>
            </a:pPr>
            <a:endParaRPr lang="en-GB" sz="1000" dirty="0"/>
          </a:p>
          <a:p>
            <a:r>
              <a:rPr lang="en-GB" sz="2000" dirty="0"/>
              <a:t>e) x = 0.21 or </a:t>
            </a:r>
          </a:p>
          <a:p>
            <a:r>
              <a:rPr lang="en-GB" sz="2000" dirty="0"/>
              <a:t>     x = - 4.71</a:t>
            </a:r>
          </a:p>
          <a:p>
            <a:endParaRPr lang="en-GB" sz="1000" dirty="0"/>
          </a:p>
          <a:p>
            <a:r>
              <a:rPr lang="en-GB" sz="2000" dirty="0"/>
              <a:t>f) x = 0.48 or</a:t>
            </a:r>
          </a:p>
          <a:p>
            <a:r>
              <a:rPr lang="en-GB" sz="2000" dirty="0"/>
              <a:t>   x = - 2.08</a:t>
            </a:r>
          </a:p>
          <a:p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/>
            <a:r>
              <a:rPr lang="en-GB" sz="2200" dirty="0"/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9992" y="2079494"/>
            <a:ext cx="2238126" cy="461890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768601" y="2232256"/>
            <a:ext cx="233131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>
              <a:buAutoNum type="alphaLcParenR"/>
            </a:pPr>
            <a:r>
              <a:rPr lang="en-GB" sz="2000" dirty="0"/>
              <a:t>x = 3.70 or</a:t>
            </a:r>
          </a:p>
          <a:p>
            <a:r>
              <a:rPr lang="en-GB" sz="2000" dirty="0"/>
              <a:t>     x = -2.70</a:t>
            </a:r>
          </a:p>
          <a:p>
            <a:endParaRPr lang="en-GB" sz="1000" dirty="0"/>
          </a:p>
          <a:p>
            <a:r>
              <a:rPr lang="en-GB" sz="2000" dirty="0"/>
              <a:t>b)  x = 3.77 or</a:t>
            </a:r>
          </a:p>
          <a:p>
            <a:r>
              <a:rPr lang="en-GB" sz="2000" dirty="0"/>
              <a:t>     x = -0.44</a:t>
            </a:r>
          </a:p>
          <a:p>
            <a:endParaRPr lang="en-GB" sz="1000" dirty="0"/>
          </a:p>
          <a:p>
            <a:r>
              <a:rPr lang="en-GB" sz="2000" dirty="0"/>
              <a:t>c) x = 0.5 or</a:t>
            </a:r>
          </a:p>
          <a:p>
            <a:r>
              <a:rPr lang="en-GB" sz="2000" dirty="0"/>
              <a:t>     x = - 2.5</a:t>
            </a:r>
          </a:p>
          <a:p>
            <a:endParaRPr lang="en-GB" sz="1000" dirty="0"/>
          </a:p>
          <a:p>
            <a:r>
              <a:rPr lang="en-GB" sz="2000" dirty="0"/>
              <a:t>d) x = 1 or</a:t>
            </a:r>
          </a:p>
          <a:p>
            <a:r>
              <a:rPr lang="en-GB" sz="2000" dirty="0"/>
              <a:t>     x = - 0.4</a:t>
            </a:r>
          </a:p>
          <a:p>
            <a:endParaRPr lang="en-GB" sz="1000" dirty="0"/>
          </a:p>
          <a:p>
            <a:r>
              <a:rPr lang="en-GB" sz="2000" dirty="0"/>
              <a:t>e) x = 4.27 or</a:t>
            </a:r>
          </a:p>
          <a:p>
            <a:r>
              <a:rPr lang="en-GB" sz="2000" dirty="0"/>
              <a:t>     x = 0.23</a:t>
            </a:r>
          </a:p>
          <a:p>
            <a:endParaRPr lang="en-GB" sz="1000" dirty="0"/>
          </a:p>
          <a:p>
            <a:r>
              <a:rPr lang="en-GB" sz="2000" dirty="0"/>
              <a:t>f)  x = 0.57 or</a:t>
            </a:r>
          </a:p>
          <a:p>
            <a:r>
              <a:rPr lang="en-GB" sz="2000" dirty="0"/>
              <a:t>     x = - 0.17</a:t>
            </a:r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>
              <a:buFont typeface="+mj-lt"/>
              <a:buAutoNum type="alphaLcParenR"/>
            </a:pPr>
            <a:endParaRPr lang="en-GB" sz="2000" dirty="0"/>
          </a:p>
          <a:p>
            <a:pPr marL="263525" indent="-263525"/>
            <a:r>
              <a:rPr lang="en-GB" sz="2200" dirty="0"/>
              <a:t>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9527" y="2079493"/>
            <a:ext cx="2114961" cy="437384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7080271" y="2798260"/>
            <a:ext cx="17013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sz="2000" dirty="0"/>
              <a:t>x = 1.81 or x = -3.31</a:t>
            </a:r>
          </a:p>
          <a:p>
            <a:pPr marL="342900" indent="-342900">
              <a:buAutoNum type="alphaLcParenR"/>
            </a:pPr>
            <a:endParaRPr lang="en-GB" sz="2000" dirty="0"/>
          </a:p>
          <a:p>
            <a:pPr marL="342900" indent="-342900">
              <a:buAutoNum type="alphaLcParenR"/>
            </a:pPr>
            <a:r>
              <a:rPr lang="en-GB" sz="2000" dirty="0"/>
              <a:t>x = 0.35 or x = -2.85</a:t>
            </a:r>
          </a:p>
          <a:p>
            <a:pPr marL="342900" indent="-342900">
              <a:buAutoNum type="alphaLcParenR"/>
            </a:pPr>
            <a:endParaRPr lang="en-GB" sz="2000" dirty="0"/>
          </a:p>
          <a:p>
            <a:pPr marL="342900" indent="-342900">
              <a:buAutoNum type="alphaLcParenR"/>
            </a:pPr>
            <a:r>
              <a:rPr lang="en-GB" sz="2000" dirty="0"/>
              <a:t>x = 3.31 or x = -1.81</a:t>
            </a:r>
          </a:p>
        </p:txBody>
      </p:sp>
    </p:spTree>
    <p:extLst>
      <p:ext uri="{BB962C8B-B14F-4D97-AF65-F5344CB8AC3E}">
        <p14:creationId xmlns:p14="http://schemas.microsoft.com/office/powerpoint/2010/main" val="79145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/>
      <p:bldP spid="21" grpId="0" animBg="1"/>
      <p:bldP spid="22" grpId="0"/>
      <p:bldP spid="23" grpId="0" animBg="1"/>
      <p:bldP spid="24" grpId="0"/>
      <p:bldP spid="3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627" y="404664"/>
            <a:ext cx="8229600" cy="1714202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Write at the top of your piece paper which colour questions you reached and feel confident with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183" y="2492896"/>
            <a:ext cx="89644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313" indent="-722313"/>
            <a:r>
              <a:rPr lang="en-GB" sz="2800" dirty="0">
                <a:solidFill>
                  <a:srgbClr val="FF0000"/>
                </a:solidFill>
              </a:rPr>
              <a:t>All – Identify a, b and c and substitute them into the quadratic formula where the equation is of the form </a:t>
            </a:r>
          </a:p>
          <a:p>
            <a:pPr marL="722313" indent="-722313"/>
            <a:r>
              <a:rPr lang="en-GB" sz="2800" dirty="0">
                <a:solidFill>
                  <a:srgbClr val="FF0000"/>
                </a:solidFill>
              </a:rPr>
              <a:t>	x</a:t>
            </a:r>
            <a:r>
              <a:rPr lang="en-GB" sz="2800" baseline="30000" dirty="0">
                <a:solidFill>
                  <a:srgbClr val="FF0000"/>
                </a:solidFill>
              </a:rPr>
              <a:t>2 </a:t>
            </a:r>
            <a:r>
              <a:rPr lang="en-GB" sz="2800" dirty="0">
                <a:solidFill>
                  <a:srgbClr val="FF0000"/>
                </a:solidFill>
              </a:rPr>
              <a:t>+ </a:t>
            </a:r>
            <a:r>
              <a:rPr lang="en-GB" sz="2800" dirty="0" err="1">
                <a:solidFill>
                  <a:srgbClr val="FF0000"/>
                </a:solidFill>
              </a:rPr>
              <a:t>bx</a:t>
            </a:r>
            <a:r>
              <a:rPr lang="en-GB" sz="2800" dirty="0">
                <a:solidFill>
                  <a:srgbClr val="FF0000"/>
                </a:solidFill>
              </a:rPr>
              <a:t>+ c = 0.</a:t>
            </a:r>
          </a:p>
          <a:p>
            <a:pPr marL="1076325" indent="-1076325"/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Most – Solve quadratic equations of the form ax</a:t>
            </a:r>
            <a:r>
              <a:rPr lang="en-GB" sz="2800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n-GB" sz="2800" dirty="0" err="1">
                <a:solidFill>
                  <a:schemeClr val="accent6">
                    <a:lumMod val="75000"/>
                  </a:schemeClr>
                </a:solidFill>
              </a:rPr>
              <a:t>bx</a:t>
            </a:r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 - c = 0 using the quadratic formula.</a:t>
            </a:r>
          </a:p>
          <a:p>
            <a:pPr marL="1165225" indent="-1165225"/>
            <a:r>
              <a:rPr lang="en-GB" sz="2800" dirty="0">
                <a:solidFill>
                  <a:srgbClr val="00B050"/>
                </a:solidFill>
              </a:rPr>
              <a:t>Some – Solve quadratic equations using the quadratic formula involving positives and negatives .</a:t>
            </a:r>
          </a:p>
          <a:p>
            <a:pPr marL="1341438" indent="-1341438"/>
            <a:r>
              <a:rPr lang="en-GB" sz="2800" dirty="0">
                <a:solidFill>
                  <a:srgbClr val="7030A0"/>
                </a:solidFill>
              </a:rPr>
              <a:t>Stretch – To solve a word problem using the quadratic formula</a:t>
            </a:r>
            <a:r>
              <a:rPr lang="en-GB" dirty="0">
                <a:solidFill>
                  <a:srgbClr val="7030A0"/>
                </a:solidFill>
              </a:rPr>
              <a:t>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66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0" t="14769" r="48409" b="72107"/>
          <a:stretch/>
        </p:blipFill>
        <p:spPr bwMode="auto">
          <a:xfrm>
            <a:off x="0" y="1273729"/>
            <a:ext cx="9036496" cy="2078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111" y="114648"/>
            <a:ext cx="5317252" cy="1642194"/>
          </a:xfrm>
        </p:spPr>
        <p:txBody>
          <a:bodyPr>
            <a:normAutofit/>
          </a:bodyPr>
          <a:lstStyle/>
          <a:p>
            <a:r>
              <a:rPr lang="en-GB" dirty="0"/>
              <a:t>Answer this question on your white board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4111" y="2343561"/>
                <a:ext cx="8784976" cy="439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Solution –</a:t>
                </a:r>
              </a:p>
              <a:p>
                <a:pPr algn="ctr"/>
                <a:r>
                  <a:rPr lang="en-GB" sz="2800" dirty="0"/>
                  <a:t>a = 3,   b = 7,  c = -13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 i="0" smtClean="0"/>
                        <m:t>x</m:t>
                      </m:r>
                      <m:r>
                        <m:rPr>
                          <m:nor/>
                        </m:rPr>
                        <a:rPr lang="en-GB" sz="2800" b="0" i="0" smtClean="0"/>
                        <m:t> </m:t>
                      </m:r>
                      <m:r>
                        <m:rPr>
                          <m:nor/>
                        </m:rPr>
                        <a:rPr lang="en-GB" sz="2800" i="0" smtClean="0"/>
                        <m:t>=</m:t>
                      </m:r>
                      <m:r>
                        <m:rPr>
                          <m:nor/>
                        </m:rPr>
                        <a:rPr lang="en-GB" sz="2800" b="0" i="0" smtClean="0"/>
                        <m:t> </m:t>
                      </m:r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 i="0" smtClean="0"/>
                            <m:t>−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7 </m:t>
                          </m:r>
                          <m:r>
                            <m:rPr>
                              <m:nor/>
                            </m:rPr>
                            <a:rPr lang="en-GB" sz="2800" i="0" smtClean="0"/>
                            <m:t>±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2800" b="0" i="0" smtClean="0"/>
                                    <m:t>7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GB" sz="2800" i="0" smtClean="0"/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GB" sz="2800" i="0" smtClean="0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en-GB" sz="2800" i="0" smtClean="0"/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 3 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GB" sz="2800" b="0" i="0" smtClean="0"/>
                                <m:t> −13)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GB" sz="2800" i="0" smtClean="0"/>
                            <m:t>2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 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  <a:p>
                <a:pPr algn="ctr"/>
                <a:r>
                  <a:rPr lang="en-GB" sz="28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 i="0"/>
                          <m:t>−7 ± 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GB" sz="2800" b="0" i="0" smtClean="0"/>
                              <m:t>49 </m:t>
                            </m:r>
                            <m:r>
                              <m:rPr>
                                <m:nor/>
                              </m:rPr>
                              <a:rPr lang="en-GB" sz="2800" i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GB" sz="2800" b="0" i="0" smtClean="0"/>
                              <m:t>(−156)</m:t>
                            </m:r>
                          </m:e>
                        </m:rad>
                      </m:num>
                      <m:den>
                        <m:r>
                          <m:rPr>
                            <m:nor/>
                          </m:rPr>
                          <a:rPr lang="en-GB" sz="2800" b="0" i="0" smtClean="0"/>
                          <m:t>6</m:t>
                        </m:r>
                      </m:den>
                    </m:f>
                  </m:oMath>
                </a14:m>
                <a:endParaRPr lang="en-GB" sz="2800" dirty="0"/>
              </a:p>
              <a:p>
                <a:pPr algn="ctr"/>
                <a:r>
                  <a:rPr lang="en-GB" sz="28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/>
                          <m:t>−7 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GB" sz="2800" b="0" i="0" smtClean="0"/>
                              <m:t>205</m:t>
                            </m:r>
                          </m:e>
                        </m:rad>
                      </m:num>
                      <m:den>
                        <m:r>
                          <m:rPr>
                            <m:nor/>
                          </m:rPr>
                          <a:rPr lang="en-GB" sz="2800"/>
                          <m:t>6</m:t>
                        </m:r>
                      </m:den>
                    </m:f>
                  </m:oMath>
                </a14:m>
                <a:r>
                  <a:rPr lang="en-GB" sz="2800" dirty="0"/>
                  <a:t>     or      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/>
                          <m:t>−7 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GB" sz="2800"/>
                              <m:t>205</m:t>
                            </m:r>
                          </m:e>
                        </m:rad>
                      </m:num>
                      <m:den>
                        <m:r>
                          <m:rPr>
                            <m:nor/>
                          </m:rPr>
                          <a:rPr lang="en-GB" sz="2800"/>
                          <m:t>6</m:t>
                        </m:r>
                      </m:den>
                    </m:f>
                  </m:oMath>
                </a14:m>
                <a:endParaRPr lang="en-GB" sz="2800" dirty="0"/>
              </a:p>
              <a:p>
                <a:pPr algn="ctr"/>
                <a:r>
                  <a:rPr lang="en-GB" sz="2800" dirty="0"/>
                  <a:t>x = 1.22    or      x = -3.55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11" y="2343561"/>
                <a:ext cx="8784976" cy="4397807"/>
              </a:xfrm>
              <a:prstGeom prst="rect">
                <a:avLst/>
              </a:prstGeom>
              <a:blipFill>
                <a:blip r:embed="rId3"/>
                <a:stretch>
                  <a:fillRect l="-1457" t="-1247" b="-2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Callout 3"/>
              <p:cNvSpPr/>
              <p:nvPr/>
            </p:nvSpPr>
            <p:spPr>
              <a:xfrm>
                <a:off x="5292080" y="-45282"/>
                <a:ext cx="3428960" cy="2160240"/>
              </a:xfrm>
              <a:prstGeom prst="cloudCallout">
                <a:avLst>
                  <a:gd name="adj1" fmla="val -53951"/>
                  <a:gd name="adj2" fmla="val 39288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Remember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/>
                        <m:t>x</m:t>
                      </m:r>
                      <m:r>
                        <m:rPr>
                          <m:nor/>
                        </m:rPr>
                        <a:rPr lang="en-GB" sz="2400"/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400"/>
                            <m:t>−</m:t>
                          </m:r>
                          <m:r>
                            <m:rPr>
                              <m:nor/>
                            </m:rPr>
                            <a:rPr lang="en-GB" sz="2400"/>
                            <m:t>b</m:t>
                          </m:r>
                          <m:r>
                            <m:rPr>
                              <m:nor/>
                            </m:rPr>
                            <a:rPr lang="en-GB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400"/>
                            <m:t>±</m:t>
                          </m:r>
                          <m:r>
                            <m:rPr>
                              <m:nor/>
                            </m:rPr>
                            <a:rPr lang="en-GB" sz="2400" b="0" i="0" smtClean="0"/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2400"/>
                                    <m:t>b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GB" sz="2400"/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2400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GB" sz="2400" b="0" i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sz="2400"/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GB" sz="2400"/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GB" sz="2400"/>
                            <m:t>2</m:t>
                          </m:r>
                          <m:r>
                            <m:rPr>
                              <m:nor/>
                            </m:rPr>
                            <a:rPr lang="en-GB" sz="2400"/>
                            <m:t>a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Cloud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-45282"/>
                <a:ext cx="3428960" cy="2160240"/>
              </a:xfrm>
              <a:prstGeom prst="cloudCallout">
                <a:avLst>
                  <a:gd name="adj1" fmla="val -53951"/>
                  <a:gd name="adj2" fmla="val 39288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107504" y="116632"/>
            <a:ext cx="8928992" cy="662473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52082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439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1181</Words>
  <Application>Microsoft Macintosh PowerPoint</Application>
  <PresentationFormat>On-screen Show (4:3)</PresentationFormat>
  <Paragraphs>245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Comic Sans MS</vt:lpstr>
      <vt:lpstr>Office Theme</vt:lpstr>
      <vt:lpstr>The Quadratic Formula </vt:lpstr>
      <vt:lpstr>PowerPoint Presentation</vt:lpstr>
      <vt:lpstr>On your whiteboards write down a, b and c for the following quadratic equations </vt:lpstr>
      <vt:lpstr>On your whiteboards write down a, b and c for the following quadratic equations </vt:lpstr>
      <vt:lpstr>On your whiteboards write down a, b and c for the following quadratic equations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at the top of your piece paper which colour questions you reached and feel confident with </vt:lpstr>
      <vt:lpstr>Answer this question on your white board 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Quadratic Formula</dc:title>
  <dc:creator>Miss S Churchard</dc:creator>
  <cp:lastModifiedBy>SUMMERS Brad [Baldivis Secondary College]</cp:lastModifiedBy>
  <cp:revision>33</cp:revision>
  <dcterms:created xsi:type="dcterms:W3CDTF">2016-07-05T08:37:54Z</dcterms:created>
  <dcterms:modified xsi:type="dcterms:W3CDTF">2020-11-11T01:06:26Z</dcterms:modified>
</cp:coreProperties>
</file>
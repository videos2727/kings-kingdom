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notesMasterIdLst>
    <p:notesMasterId r:id="rId12"/>
  </p:notesMasterIdLst>
  <p:handoutMasterIdLst>
    <p:handoutMasterId r:id="rId13"/>
  </p:handoutMasterIdLst>
  <p:sldIdLst>
    <p:sldId id="281" r:id="rId2"/>
    <p:sldId id="258" r:id="rId3"/>
    <p:sldId id="260" r:id="rId4"/>
    <p:sldId id="272" r:id="rId5"/>
    <p:sldId id="273" r:id="rId6"/>
    <p:sldId id="275" r:id="rId7"/>
    <p:sldId id="280" r:id="rId8"/>
    <p:sldId id="277" r:id="rId9"/>
    <p:sldId id="279" r:id="rId10"/>
    <p:sldId id="27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7B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0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24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2/10/20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2/10/20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2/10/20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813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2/10/20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0284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2/10/20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72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2/10/20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2614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2/10/20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689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2/10/20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1981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2/10/20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6038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2/10/20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1258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2/10/20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8030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2/10/20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61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2/10/20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3193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2/10/20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45344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2/10/20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2892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2/10/20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773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2/10/20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8500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2/10/20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9444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2CCFE9AC-F15C-4FA0-A6F1-298829FA691D}" type="datetimeFigureOut">
              <a:rPr lang="en-US" smtClean="0"/>
              <a:t>2/10/20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0987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2/10/20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4124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  <p:sldLayoutId id="2147483836" r:id="rId14"/>
    <p:sldLayoutId id="2147483837" r:id="rId15"/>
    <p:sldLayoutId id="2147483838" r:id="rId16"/>
    <p:sldLayoutId id="214748383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BD6318-1469-C544-A666-2EDCCCE3513C}"/>
              </a:ext>
            </a:extLst>
          </p:cNvPr>
          <p:cNvSpPr txBox="1"/>
          <p:nvPr/>
        </p:nvSpPr>
        <p:spPr>
          <a:xfrm>
            <a:off x="571500" y="560070"/>
            <a:ext cx="7623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Daily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521DD4-15BE-D949-A075-2C4F3ADCE776}"/>
              </a:ext>
            </a:extLst>
          </p:cNvPr>
          <p:cNvSpPr txBox="1"/>
          <p:nvPr/>
        </p:nvSpPr>
        <p:spPr>
          <a:xfrm>
            <a:off x="320040" y="1428750"/>
            <a:ext cx="1000125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800" dirty="0"/>
              <a:t>What is an obtuse-angled triangle?</a:t>
            </a:r>
          </a:p>
          <a:p>
            <a:pPr marL="342900" indent="-342900">
              <a:buFont typeface="+mj-lt"/>
              <a:buAutoNum type="arabicPeriod"/>
            </a:pPr>
            <a:endParaRPr lang="en-US" sz="2800" dirty="0"/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What is an acute-angled triangle?</a:t>
            </a:r>
          </a:p>
          <a:p>
            <a:pPr marL="342900" indent="-342900">
              <a:buFont typeface="+mj-lt"/>
              <a:buAutoNum type="arabicPeriod"/>
            </a:pPr>
            <a:endParaRPr lang="en-US" sz="2800" dirty="0"/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Define a scalene triangle</a:t>
            </a:r>
          </a:p>
          <a:p>
            <a:pPr marL="342900" indent="-342900">
              <a:buFont typeface="+mj-lt"/>
              <a:buAutoNum type="arabicPeriod"/>
            </a:pPr>
            <a:endParaRPr lang="en-US" sz="2800" dirty="0"/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Define an isosceles triangle</a:t>
            </a:r>
          </a:p>
          <a:p>
            <a:pPr marL="342900" indent="-342900">
              <a:buFont typeface="+mj-lt"/>
              <a:buAutoNum type="arabicPeriod"/>
            </a:pPr>
            <a:endParaRPr lang="en-US" sz="2800" dirty="0"/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List the symbols you would use when writing a mathematical proof in place of writing out the following: triangle, congruent, similar and angle</a:t>
            </a:r>
          </a:p>
        </p:txBody>
      </p:sp>
    </p:spTree>
    <p:extLst>
      <p:ext uri="{BB962C8B-B14F-4D97-AF65-F5344CB8AC3E}">
        <p14:creationId xmlns:p14="http://schemas.microsoft.com/office/powerpoint/2010/main" val="451225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Proofs and Quadrilaterals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211" y="4394039"/>
            <a:ext cx="11930743" cy="1117687"/>
          </a:xfrm>
        </p:spPr>
        <p:txBody>
          <a:bodyPr/>
          <a:lstStyle/>
          <a:p>
            <a:pPr algn="l"/>
            <a:r>
              <a:rPr lang="en-US" dirty="0"/>
              <a:t>EQ – How do I prove properties of quadrilaterals? </a:t>
            </a:r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 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Properties of </a:t>
            </a:r>
            <a:r>
              <a:rPr lang="en-US" dirty="0" err="1"/>
              <a:t>quadrilaterials</a:t>
            </a:r>
            <a:endParaRPr lang="en-US" dirty="0"/>
          </a:p>
          <a:p>
            <a:r>
              <a:rPr lang="en-US" dirty="0"/>
              <a:t>Increase mathematical vocabulary</a:t>
            </a:r>
          </a:p>
          <a:p>
            <a:r>
              <a:rPr lang="en-US" dirty="0"/>
              <a:t>How to write a proof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35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463" y="970669"/>
            <a:ext cx="9628632" cy="1362113"/>
          </a:xfrm>
        </p:spPr>
        <p:txBody>
          <a:bodyPr>
            <a:noAutofit/>
          </a:bodyPr>
          <a:lstStyle/>
          <a:p>
            <a:r>
              <a:rPr lang="en-US" sz="2800" dirty="0"/>
              <a:t>Proofs and Quadrilaterals</a:t>
            </a:r>
            <a:br>
              <a:rPr lang="en-US" sz="2800" dirty="0"/>
            </a:br>
            <a:r>
              <a:rPr lang="en-US" sz="2800" dirty="0"/>
              <a:t>EQ – How do I prove properties of quadrilaterals? 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endParaRPr lang="en-AU" sz="2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86260" y="1810595"/>
            <a:ext cx="5079991" cy="823912"/>
          </a:xfrm>
        </p:spPr>
        <p:txBody>
          <a:bodyPr/>
          <a:lstStyle/>
          <a:p>
            <a:r>
              <a:rPr lang="en-AU" dirty="0"/>
              <a:t>Task: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1115751" y="2634507"/>
            <a:ext cx="10153140" cy="2906179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AU" dirty="0"/>
              <a:t>What is the difference between congruent and similar?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Prove that the two triangles in the rectangle below are congruent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0476" t="8442" r="32869" b="59074"/>
          <a:stretch/>
        </p:blipFill>
        <p:spPr>
          <a:xfrm>
            <a:off x="1721224" y="3474433"/>
            <a:ext cx="4975412" cy="241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01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463" y="970669"/>
            <a:ext cx="9628632" cy="1362113"/>
          </a:xfrm>
        </p:spPr>
        <p:txBody>
          <a:bodyPr>
            <a:noAutofit/>
          </a:bodyPr>
          <a:lstStyle/>
          <a:p>
            <a:r>
              <a:rPr lang="en-US" sz="2800" dirty="0"/>
              <a:t>Proofs and Quadrilaterals</a:t>
            </a:r>
            <a:br>
              <a:rPr lang="en-US" sz="2800" dirty="0"/>
            </a:br>
            <a:r>
              <a:rPr lang="en-US" sz="2800" dirty="0"/>
              <a:t>EQ – How do I prove properties of quadrilaterals? 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endParaRPr lang="en-AU" sz="2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02785" y="2132811"/>
            <a:ext cx="8122905" cy="1263531"/>
          </a:xfrm>
        </p:spPr>
        <p:txBody>
          <a:bodyPr>
            <a:normAutofit/>
          </a:bodyPr>
          <a:lstStyle/>
          <a:p>
            <a:r>
              <a:rPr lang="en-AU" dirty="0"/>
              <a:t>Task: In Groups </a:t>
            </a:r>
          </a:p>
          <a:p>
            <a:r>
              <a:rPr lang="en-AU" dirty="0"/>
              <a:t>What are the properties of the quadrilaterals?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212838"/>
              </p:ext>
            </p:extLst>
          </p:nvPr>
        </p:nvGraphicFramePr>
        <p:xfrm>
          <a:off x="647337" y="3697995"/>
          <a:ext cx="10769601" cy="227608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589867">
                  <a:extLst>
                    <a:ext uri="{9D8B030D-6E8A-4147-A177-3AD203B41FA5}">
                      <a16:colId xmlns:a16="http://schemas.microsoft.com/office/drawing/2014/main" val="1703841462"/>
                    </a:ext>
                  </a:extLst>
                </a:gridCol>
                <a:gridCol w="3589867">
                  <a:extLst>
                    <a:ext uri="{9D8B030D-6E8A-4147-A177-3AD203B41FA5}">
                      <a16:colId xmlns:a16="http://schemas.microsoft.com/office/drawing/2014/main" val="1108945586"/>
                    </a:ext>
                  </a:extLst>
                </a:gridCol>
                <a:gridCol w="3589867">
                  <a:extLst>
                    <a:ext uri="{9D8B030D-6E8A-4147-A177-3AD203B41FA5}">
                      <a16:colId xmlns:a16="http://schemas.microsoft.com/office/drawing/2014/main" val="1858989572"/>
                    </a:ext>
                  </a:extLst>
                </a:gridCol>
              </a:tblGrid>
              <a:tr h="1138042">
                <a:tc>
                  <a:txBody>
                    <a:bodyPr/>
                    <a:lstStyle/>
                    <a:p>
                      <a:r>
                        <a:rPr lang="en-AU" dirty="0"/>
                        <a:t>Rectangle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Square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Rhombus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2747912"/>
                  </a:ext>
                </a:extLst>
              </a:tr>
              <a:tr h="1138042">
                <a:tc>
                  <a:txBody>
                    <a:bodyPr/>
                    <a:lstStyle/>
                    <a:p>
                      <a:r>
                        <a:rPr lang="en-AU" dirty="0"/>
                        <a:t>Kite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Trapezium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Parallelogram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0967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7461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463" y="970669"/>
            <a:ext cx="9628632" cy="1362113"/>
          </a:xfrm>
        </p:spPr>
        <p:txBody>
          <a:bodyPr>
            <a:noAutofit/>
          </a:bodyPr>
          <a:lstStyle/>
          <a:p>
            <a:r>
              <a:rPr lang="en-US" sz="2800" dirty="0"/>
              <a:t>Proofs and Quadrilaterals</a:t>
            </a:r>
            <a:br>
              <a:rPr lang="en-US" sz="2800" dirty="0"/>
            </a:br>
            <a:r>
              <a:rPr lang="en-US" sz="2800" dirty="0"/>
              <a:t>EQ – How do I prove properties of quadrilaterals? 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endParaRPr lang="en-AU" sz="2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02785" y="2132811"/>
            <a:ext cx="8122905" cy="1263531"/>
          </a:xfrm>
        </p:spPr>
        <p:txBody>
          <a:bodyPr>
            <a:normAutofit/>
          </a:bodyPr>
          <a:lstStyle/>
          <a:p>
            <a:r>
              <a:rPr lang="en-AU" dirty="0"/>
              <a:t>Task: In Groups </a:t>
            </a:r>
          </a:p>
          <a:p>
            <a:r>
              <a:rPr lang="en-AU" dirty="0"/>
              <a:t>What are the properties of the quadrilaterals?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212838"/>
              </p:ext>
            </p:extLst>
          </p:nvPr>
        </p:nvGraphicFramePr>
        <p:xfrm>
          <a:off x="647337" y="3697995"/>
          <a:ext cx="10769601" cy="227608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589867">
                  <a:extLst>
                    <a:ext uri="{9D8B030D-6E8A-4147-A177-3AD203B41FA5}">
                      <a16:colId xmlns:a16="http://schemas.microsoft.com/office/drawing/2014/main" val="1703841462"/>
                    </a:ext>
                  </a:extLst>
                </a:gridCol>
                <a:gridCol w="3589867">
                  <a:extLst>
                    <a:ext uri="{9D8B030D-6E8A-4147-A177-3AD203B41FA5}">
                      <a16:colId xmlns:a16="http://schemas.microsoft.com/office/drawing/2014/main" val="1108945586"/>
                    </a:ext>
                  </a:extLst>
                </a:gridCol>
                <a:gridCol w="3589867">
                  <a:extLst>
                    <a:ext uri="{9D8B030D-6E8A-4147-A177-3AD203B41FA5}">
                      <a16:colId xmlns:a16="http://schemas.microsoft.com/office/drawing/2014/main" val="1858989572"/>
                    </a:ext>
                  </a:extLst>
                </a:gridCol>
              </a:tblGrid>
              <a:tr h="1138042">
                <a:tc>
                  <a:txBody>
                    <a:bodyPr/>
                    <a:lstStyle/>
                    <a:p>
                      <a:r>
                        <a:rPr lang="en-AU" dirty="0"/>
                        <a:t>Rectangle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Square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Rhombus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2747912"/>
                  </a:ext>
                </a:extLst>
              </a:tr>
              <a:tr h="1138042">
                <a:tc>
                  <a:txBody>
                    <a:bodyPr/>
                    <a:lstStyle/>
                    <a:p>
                      <a:r>
                        <a:rPr lang="en-AU" dirty="0"/>
                        <a:t>Kite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Trapezium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Parallelogram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09674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 flipH="1">
            <a:off x="9729664" y="2092058"/>
            <a:ext cx="24558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Hint –</a:t>
            </a:r>
          </a:p>
          <a:p>
            <a:r>
              <a:rPr lang="en-AU" dirty="0"/>
              <a:t>Sides, angles, diagonals</a:t>
            </a:r>
          </a:p>
        </p:txBody>
      </p:sp>
    </p:spTree>
    <p:extLst>
      <p:ext uri="{BB962C8B-B14F-4D97-AF65-F5344CB8AC3E}">
        <p14:creationId xmlns:p14="http://schemas.microsoft.com/office/powerpoint/2010/main" val="3400848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2018" y="846040"/>
            <a:ext cx="7540761" cy="5495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142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463" y="970669"/>
            <a:ext cx="9628632" cy="1362113"/>
          </a:xfrm>
        </p:spPr>
        <p:txBody>
          <a:bodyPr>
            <a:noAutofit/>
          </a:bodyPr>
          <a:lstStyle/>
          <a:p>
            <a:r>
              <a:rPr lang="en-US" sz="2800" dirty="0"/>
              <a:t>Proofs and Quadrilaterals</a:t>
            </a:r>
            <a:br>
              <a:rPr lang="en-US" sz="2800" dirty="0"/>
            </a:br>
            <a:r>
              <a:rPr lang="en-US" sz="2800" dirty="0"/>
              <a:t>EQ – How do I prove properties of quadrilaterals? 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endParaRPr lang="en-AU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23" y="2107615"/>
            <a:ext cx="7368014" cy="40698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23" y="2675200"/>
            <a:ext cx="3050027" cy="15753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4979" y="2675200"/>
            <a:ext cx="4154858" cy="3940616"/>
          </a:xfrm>
          <a:prstGeom prst="rect">
            <a:avLst/>
          </a:prstGeom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A8E66E59-3113-A545-BEC6-342310EBC82E}"/>
              </a:ext>
            </a:extLst>
          </p:cNvPr>
          <p:cNvSpPr/>
          <p:nvPr/>
        </p:nvSpPr>
        <p:spPr>
          <a:xfrm rot="10800000">
            <a:off x="7976381" y="2675199"/>
            <a:ext cx="675250" cy="2227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230005AF-F20E-9847-991C-CEA375126386}"/>
              </a:ext>
            </a:extLst>
          </p:cNvPr>
          <p:cNvSpPr/>
          <p:nvPr/>
        </p:nvSpPr>
        <p:spPr>
          <a:xfrm rot="10800000">
            <a:off x="7976381" y="3737312"/>
            <a:ext cx="675250" cy="2227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0029B9-2093-C041-B796-2631DA7AAE78}"/>
              </a:ext>
            </a:extLst>
          </p:cNvPr>
          <p:cNvSpPr txBox="1"/>
          <p:nvPr/>
        </p:nvSpPr>
        <p:spPr>
          <a:xfrm>
            <a:off x="8938175" y="2436279"/>
            <a:ext cx="30500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 the order the angles in the two triangles are listed. They correspond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E6FC5D-3BB8-F64A-9E39-384957A76491}"/>
              </a:ext>
            </a:extLst>
          </p:cNvPr>
          <p:cNvSpPr txBox="1"/>
          <p:nvPr/>
        </p:nvSpPr>
        <p:spPr>
          <a:xfrm>
            <a:off x="8938175" y="3664018"/>
            <a:ext cx="3050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Same with listing angles. </a:t>
            </a:r>
          </a:p>
        </p:txBody>
      </p:sp>
    </p:spTree>
    <p:extLst>
      <p:ext uri="{BB962C8B-B14F-4D97-AF65-F5344CB8AC3E}">
        <p14:creationId xmlns:p14="http://schemas.microsoft.com/office/powerpoint/2010/main" val="898416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78486"/>
            <a:ext cx="9628632" cy="1362113"/>
          </a:xfrm>
        </p:spPr>
        <p:txBody>
          <a:bodyPr>
            <a:noAutofit/>
          </a:bodyPr>
          <a:lstStyle/>
          <a:p>
            <a:r>
              <a:rPr lang="en-US" sz="2800" dirty="0"/>
              <a:t>Proofs and Quadrilaterals</a:t>
            </a:r>
            <a:br>
              <a:rPr lang="en-US" sz="2800" dirty="0"/>
            </a:br>
            <a:r>
              <a:rPr lang="en-US" sz="2800" dirty="0"/>
              <a:t>EQ – How do I prove properties of quadrilaterals? 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endParaRPr lang="en-AU" sz="2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11" y="993310"/>
            <a:ext cx="8385519" cy="36993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411" y="4692705"/>
            <a:ext cx="8385519" cy="168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437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063" y="169480"/>
            <a:ext cx="6889665" cy="269484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062" y="2858170"/>
            <a:ext cx="6889665" cy="70900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7063" y="3561013"/>
            <a:ext cx="6889664" cy="3026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827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erlin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1749</TotalTime>
  <Words>244</Words>
  <Application>Microsoft Macintosh PowerPoint</Application>
  <PresentationFormat>Widescreen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Berlin</vt:lpstr>
      <vt:lpstr>PowerPoint Presentation</vt:lpstr>
      <vt:lpstr> Proofs and Quadrilaterals</vt:lpstr>
      <vt:lpstr>Learning Objectives </vt:lpstr>
      <vt:lpstr>Proofs and Quadrilaterals EQ – How do I prove properties of quadrilaterals?    </vt:lpstr>
      <vt:lpstr>Proofs and Quadrilaterals EQ – How do I prove properties of quadrilaterals?    </vt:lpstr>
      <vt:lpstr>Proofs and Quadrilaterals EQ – How do I prove properties of quadrilaterals?    </vt:lpstr>
      <vt:lpstr>PowerPoint Presentation</vt:lpstr>
      <vt:lpstr>Proofs and Quadrilaterals EQ – How do I prove properties of quadrilaterals?    </vt:lpstr>
      <vt:lpstr>Proofs and Quadrilaterals EQ – How do I prove properties of quadrilaterals?    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 of Area</dc:title>
  <dc:creator>RUST Joanne [Baldivis Secondary College]</dc:creator>
  <cp:lastModifiedBy>SUMMERS Brad [Baldivis Secondary College]</cp:lastModifiedBy>
  <cp:revision>53</cp:revision>
  <cp:lastPrinted>2020-02-10T03:39:16Z</cp:lastPrinted>
  <dcterms:created xsi:type="dcterms:W3CDTF">2019-03-18T23:45:29Z</dcterms:created>
  <dcterms:modified xsi:type="dcterms:W3CDTF">2020-02-10T12:12:01Z</dcterms:modified>
</cp:coreProperties>
</file>
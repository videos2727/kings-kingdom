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77" r:id="rId5"/>
    <p:sldId id="257" r:id="rId6"/>
    <p:sldId id="258" r:id="rId7"/>
    <p:sldId id="259" r:id="rId8"/>
    <p:sldId id="260" r:id="rId9"/>
    <p:sldId id="261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50"/>
  </p:normalViewPr>
  <p:slideViewPr>
    <p:cSldViewPr snapToGrid="0" snapToObjects="1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994" y="5191496"/>
            <a:ext cx="3200401" cy="1169201"/>
          </a:xfrm>
        </p:spPr>
        <p:txBody>
          <a:bodyPr/>
          <a:lstStyle/>
          <a:p>
            <a:r>
              <a:rPr lang="en-AU" dirty="0"/>
              <a:t>Congruency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9342" y="4502073"/>
            <a:ext cx="2906434" cy="2330106"/>
          </a:xfrm>
        </p:spPr>
        <p:txBody>
          <a:bodyPr>
            <a:normAutofit/>
          </a:bodyPr>
          <a:lstStyle/>
          <a:p>
            <a:r>
              <a:rPr lang="en-AU" sz="2400" dirty="0"/>
              <a:t>EQ: How can we determine congruency in triangles?</a:t>
            </a:r>
          </a:p>
        </p:txBody>
      </p:sp>
    </p:spTree>
    <p:extLst>
      <p:ext uri="{BB962C8B-B14F-4D97-AF65-F5344CB8AC3E}">
        <p14:creationId xmlns:p14="http://schemas.microsoft.com/office/powerpoint/2010/main" val="155655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           From last class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02785" y="2132811"/>
            <a:ext cx="8122905" cy="1263531"/>
          </a:xfrm>
        </p:spPr>
        <p:txBody>
          <a:bodyPr>
            <a:normAutofit/>
          </a:bodyPr>
          <a:lstStyle/>
          <a:p>
            <a:r>
              <a:rPr lang="en-AU" dirty="0"/>
              <a:t>Task: In Groups </a:t>
            </a:r>
          </a:p>
          <a:p>
            <a:r>
              <a:rPr lang="en-AU" dirty="0"/>
              <a:t>What are the properties of the quadrilaterals?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7337" y="3697995"/>
          <a:ext cx="10769601" cy="22760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703841462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108945586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858989572"/>
                    </a:ext>
                  </a:extLst>
                </a:gridCol>
              </a:tblGrid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Rectangle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Square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Rhombus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747912"/>
                  </a:ext>
                </a:extLst>
              </a:tr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Kite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Trapezium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Parallelogram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9674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 flipH="1">
            <a:off x="9729664" y="2092058"/>
            <a:ext cx="2455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Hint –</a:t>
            </a:r>
          </a:p>
          <a:p>
            <a:r>
              <a:rPr lang="en-AU" dirty="0"/>
              <a:t>Sides, angles, diagonals</a:t>
            </a:r>
          </a:p>
        </p:txBody>
      </p:sp>
    </p:spTree>
    <p:extLst>
      <p:ext uri="{BB962C8B-B14F-4D97-AF65-F5344CB8AC3E}">
        <p14:creationId xmlns:p14="http://schemas.microsoft.com/office/powerpoint/2010/main" val="281921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 screen with text&#10;&#10;Description automatically generated">
            <a:extLst>
              <a:ext uri="{FF2B5EF4-FFF2-40B4-BE49-F238E27FC236}">
                <a16:creationId xmlns:a16="http://schemas.microsoft.com/office/drawing/2014/main" id="{C21D1DEA-6933-6C49-A773-A8B1F5B7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3615767"/>
            <a:ext cx="5047357" cy="3003178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6164DF7-9B5C-EB40-B5D8-0FBEE06B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" y="622809"/>
            <a:ext cx="5903922" cy="19778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text&#10;&#10;Description automatically generated">
            <a:extLst>
              <a:ext uri="{FF2B5EF4-FFF2-40B4-BE49-F238E27FC236}">
                <a16:creationId xmlns:a16="http://schemas.microsoft.com/office/drawing/2014/main" id="{70985022-B64C-FD48-BCEE-720E58F66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622809"/>
            <a:ext cx="5426764" cy="54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iing, text, snow, slope&#10;&#10;Description automatically generated">
            <a:extLst>
              <a:ext uri="{FF2B5EF4-FFF2-40B4-BE49-F238E27FC236}">
                <a16:creationId xmlns:a16="http://schemas.microsoft.com/office/drawing/2014/main" id="{E090738A-93A6-0546-B643-8CD20670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80" y="1129770"/>
            <a:ext cx="9482666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CDB19D-A713-184A-81B7-B463A5ADF65A}"/>
              </a:ext>
            </a:extLst>
          </p:cNvPr>
          <p:cNvSpPr txBox="1"/>
          <p:nvPr/>
        </p:nvSpPr>
        <p:spPr>
          <a:xfrm>
            <a:off x="300038" y="157163"/>
            <a:ext cx="11615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Last year you learned 4 proofs of congruency for triangles. Working in groups of 2-4, use the below questions to come up with those 4 proofs!</a:t>
            </a:r>
          </a:p>
        </p:txBody>
      </p:sp>
    </p:spTree>
    <p:extLst>
      <p:ext uri="{BB962C8B-B14F-4D97-AF65-F5344CB8AC3E}">
        <p14:creationId xmlns:p14="http://schemas.microsoft.com/office/powerpoint/2010/main" val="202840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Topic: Congruency in Triangles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575" y="2311052"/>
            <a:ext cx="8896486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Triangles are made of three angles, and three sides. </a:t>
            </a:r>
          </a:p>
          <a:p>
            <a:pPr>
              <a:buFont typeface="Arial" charset="0"/>
              <a:buChar char="•"/>
            </a:pPr>
            <a:r>
              <a:rPr lang="en-AU" dirty="0"/>
              <a:t>Triangles can be classified into three types: Scalene, Isosceles and Equilateral. </a:t>
            </a:r>
          </a:p>
          <a:p>
            <a:pPr lvl="1"/>
            <a:r>
              <a:rPr lang="en-AU" dirty="0"/>
              <a:t>A scalene triangle has all three sides and angles different. </a:t>
            </a:r>
          </a:p>
          <a:p>
            <a:pPr lvl="1"/>
            <a:r>
              <a:rPr lang="en-AU" dirty="0"/>
              <a:t>An Isosceles triangle has two sides of the same length and two angles that are the same</a:t>
            </a:r>
          </a:p>
          <a:p>
            <a:pPr lvl="1"/>
            <a:r>
              <a:rPr lang="en-AU" dirty="0"/>
              <a:t>An Equilateral triangle has all sides and angles the same. </a:t>
            </a:r>
          </a:p>
          <a:p>
            <a:pPr>
              <a:buFont typeface="Arial" charset="0"/>
              <a:buChar char="•"/>
            </a:pPr>
            <a:r>
              <a:rPr lang="en-AU" dirty="0"/>
              <a:t>The word Congruent means </a:t>
            </a:r>
            <a:r>
              <a:rPr lang="en-AU" i="1" dirty="0"/>
              <a:t>“in identical forms; Coinciding when super imposed”</a:t>
            </a:r>
          </a:p>
          <a:p>
            <a:pPr>
              <a:buFont typeface="Arial" charset="0"/>
              <a:buChar char="•"/>
            </a:pPr>
            <a:r>
              <a:rPr lang="en-AU" i="1" dirty="0"/>
              <a:t> </a:t>
            </a:r>
            <a:r>
              <a:rPr lang="en-AU" dirty="0"/>
              <a:t>This means that you could increase or decrease either triangle and they would match up exactly.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0" y="5312954"/>
            <a:ext cx="3987800" cy="136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2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6141" y="2185416"/>
            <a:ext cx="8339204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AU" dirty="0"/>
              <a:t>When looking at two triangles, we need to see if the triangles share the same features – angle size, side length and shape type (a square is not congruent with triangle, even if they both have a right angle)</a:t>
            </a:r>
          </a:p>
          <a:p>
            <a:pPr>
              <a:buFont typeface="Arial" charset="0"/>
              <a:buChar char="•"/>
            </a:pPr>
            <a:endParaRPr lang="en-AU" dirty="0"/>
          </a:p>
          <a:p>
            <a:pPr>
              <a:buFont typeface="Arial" charset="0"/>
              <a:buChar char="•"/>
            </a:pPr>
            <a:endParaRPr lang="en-AU" dirty="0"/>
          </a:p>
          <a:p>
            <a:pPr>
              <a:buFont typeface="Arial" charset="0"/>
              <a:buChar char="•"/>
            </a:pP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948" y="3228018"/>
            <a:ext cx="7611252" cy="36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3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>
            <a:off x="2934576" y="2185414"/>
            <a:ext cx="0" cy="4627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557" y="2212355"/>
            <a:ext cx="25196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When looking for congruency in triangles, there are tests we can perform to find out if the triangle is congruent to another or not. The four of them are:</a:t>
            </a:r>
          </a:p>
        </p:txBody>
      </p:sp>
      <p:pic>
        <p:nvPicPr>
          <p:cNvPr id="13" name="Content Placeholder 12" descr="A close up of a map&#10;&#10;Description automatically generated">
            <a:extLst>
              <a:ext uri="{FF2B5EF4-FFF2-40B4-BE49-F238E27FC236}">
                <a16:creationId xmlns:a16="http://schemas.microsoft.com/office/drawing/2014/main" id="{431AEBB6-6133-9444-8DA4-3108F43C2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9172" y="2286001"/>
            <a:ext cx="4500787" cy="4441306"/>
          </a:xfrm>
        </p:spPr>
      </p:pic>
    </p:spTree>
    <p:extLst>
      <p:ext uri="{BB962C8B-B14F-4D97-AF65-F5344CB8AC3E}">
        <p14:creationId xmlns:p14="http://schemas.microsoft.com/office/powerpoint/2010/main" val="11673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9341" y="2222805"/>
            <a:ext cx="252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/>
              <a:t>EXAMPLE CONGRUENCY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341" y="2642430"/>
            <a:ext cx="7370113" cy="40798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340" y="5135671"/>
            <a:ext cx="7370113" cy="152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6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Topic: Congruency in Triangles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7966" y="1765792"/>
            <a:ext cx="484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can we determine congruency </a:t>
            </a:r>
            <a:r>
              <a:rPr lang="en-AU"/>
              <a:t>in triangles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468" y="1728402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5468" y="2185416"/>
            <a:ext cx="11636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29216" y="2185416"/>
            <a:ext cx="50105" cy="467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14" y="2286001"/>
            <a:ext cx="7480300" cy="2667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65429" y="5053585"/>
                <a:ext cx="259127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/>
                  <a:t>A 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/>
                  <a:t>C are Right angles [R]</a:t>
                </a:r>
              </a:p>
              <a:p>
                <a:r>
                  <a:rPr lang="en-AU" dirty="0"/>
                  <a:t>Side BD is common [H]</a:t>
                </a:r>
              </a:p>
              <a:p>
                <a:r>
                  <a:rPr lang="en-AU" dirty="0"/>
                  <a:t>Side AB and Side CD are the same [S]</a:t>
                </a: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 smtClean="0">
                        <a:latin typeface="Cambria Math" charset="0"/>
                      </a:rPr>
                      <m:t>𝐴𝐵𝐷</m:t>
                    </m:r>
                    <m:r>
                      <a:rPr lang="en-AU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𝐵𝐶𝐷</m:t>
                    </m:r>
                    <m:r>
                      <a:rPr lang="en-AU" i="1" dirty="0" smtClean="0">
                        <a:latin typeface="Cambria Math" charset="0"/>
                      </a:rPr>
                      <m:t> </m:t>
                    </m:r>
                    <m:r>
                      <a:rPr lang="en-AU" b="0" i="1" dirty="0" smtClean="0">
                        <a:latin typeface="Cambria Math" charset="0"/>
                      </a:rPr>
                      <m:t>[</m:t>
                    </m:r>
                    <m:r>
                      <a:rPr lang="en-AU" i="1" dirty="0" smtClean="0">
                        <a:latin typeface="Cambria Math" charset="0"/>
                      </a:rPr>
                      <m:t>𝑅𝐻𝑆</m:t>
                    </m:r>
                    <m:r>
                      <a:rPr lang="en-AU" b="0" i="1" dirty="0" smtClean="0">
                        <a:latin typeface="Cambria Math" charset="0"/>
                      </a:rPr>
                      <m:t>]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429" y="5053585"/>
                <a:ext cx="2591272" cy="1754326"/>
              </a:xfrm>
              <a:prstGeom prst="rect">
                <a:avLst/>
              </a:prstGeom>
              <a:blipFill rotWithShape="0">
                <a:blip r:embed="rId3"/>
                <a:stretch>
                  <a:fillRect l="-1882" t="-1736" r="-1176" b="-24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055929" y="5061641"/>
                <a:ext cx="25635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AC is common [S]</a:t>
                </a:r>
                <a:endParaRPr lang="en-AU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is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shared</m:t>
                    </m:r>
                  </m:oMath>
                </a14:m>
                <a:r>
                  <a:rPr lang="en-AU" b="0" dirty="0">
                    <a:ea typeface="Cambria Math" charset="0"/>
                    <a:cs typeface="Cambria Math" charset="0"/>
                  </a:rPr>
                  <a:t> [A]</a:t>
                </a:r>
              </a:p>
              <a:p>
                <a:r>
                  <a:rPr lang="en-AU" dirty="0"/>
                  <a:t>Side AB and side AD [S]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>
                        <a:latin typeface="Cambria Math" charset="0"/>
                      </a:rPr>
                      <m:t>𝐴𝐵</m:t>
                    </m:r>
                    <m:r>
                      <a:rPr lang="en-AU" b="0" i="1" dirty="0" smtClean="0">
                        <a:latin typeface="Cambria Math" charset="0"/>
                      </a:rPr>
                      <m:t>𝐶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𝐴𝐷𝐶</m:t>
                    </m:r>
                    <m:r>
                      <a:rPr lang="en-AU" i="1" dirty="0">
                        <a:latin typeface="Cambria Math" charset="0"/>
                      </a:rPr>
                      <m:t> [</m:t>
                    </m:r>
                    <m:r>
                      <a:rPr lang="en-AU" b="0" i="1" dirty="0" smtClean="0">
                        <a:latin typeface="Cambria Math" charset="0"/>
                      </a:rPr>
                      <m:t>𝑆𝐴𝑆</m:t>
                    </m:r>
                    <m:r>
                      <a:rPr lang="en-AU" i="1" dirty="0">
                        <a:latin typeface="Cambria Math" charset="0"/>
                      </a:rPr>
                      <m:t>]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929" y="5061641"/>
                <a:ext cx="2563586" cy="1477328"/>
              </a:xfrm>
              <a:prstGeom prst="rect">
                <a:avLst/>
              </a:prstGeom>
              <a:blipFill rotWithShape="0">
                <a:blip r:embed="rId4"/>
                <a:stretch>
                  <a:fillRect l="-1900" t="-5350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38010" y="4806044"/>
                <a:ext cx="372413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is</m:t>
                    </m:r>
                    <m: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>
                        <a:latin typeface="Cambria Math" charset="0"/>
                        <a:ea typeface="Cambria Math" charset="0"/>
                        <a:cs typeface="Cambria Math" charset="0"/>
                      </a:rPr>
                      <m:t>shared</m:t>
                    </m:r>
                  </m:oMath>
                </a14:m>
                <a:r>
                  <a:rPr lang="en-AU" dirty="0"/>
                  <a:t> [A]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D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and</m:t>
                    </m:r>
                    <m:r>
                      <a:rPr lang="en-AU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</m:oMath>
                </a14:m>
                <a:r>
                  <a:rPr lang="en-AU" dirty="0"/>
                  <a:t>B are the same [A]</a:t>
                </a:r>
              </a:p>
              <a:p>
                <a:r>
                  <a:rPr lang="en-AU" dirty="0"/>
                  <a:t>Side AC is common [S]</a:t>
                </a:r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AU" i="1" dirty="0">
                        <a:latin typeface="Cambria Math" charset="0"/>
                      </a:rPr>
                      <m:t>𝐴𝐵𝐶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≅∆</m:t>
                    </m:r>
                    <m:r>
                      <a:rPr lang="en-AU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𝐴𝐷𝐶</m:t>
                    </m:r>
                    <m:r>
                      <a:rPr lang="en-AU" i="1" dirty="0">
                        <a:latin typeface="Cambria Math" charset="0"/>
                      </a:rPr>
                      <m:t> [</m:t>
                    </m:r>
                    <m:r>
                      <a:rPr lang="en-AU" b="0" i="1" dirty="0" smtClean="0">
                        <a:latin typeface="Cambria Math" charset="0"/>
                      </a:rPr>
                      <m:t>𝐴</m:t>
                    </m:r>
                    <m:r>
                      <a:rPr lang="en-AU" i="1" dirty="0">
                        <a:latin typeface="Cambria Math" charset="0"/>
                      </a:rPr>
                      <m:t>𝐴𝑆</m:t>
                    </m:r>
                    <m:r>
                      <a:rPr lang="en-AU" i="1" dirty="0">
                        <a:latin typeface="Cambria Math" charset="0"/>
                      </a:rPr>
                      <m:t>]</m:t>
                    </m:r>
                  </m:oMath>
                </a14:m>
                <a:endParaRPr lang="en-AU" dirty="0"/>
              </a:p>
              <a:p>
                <a:r>
                  <a:rPr lang="en-AU" dirty="0"/>
                  <a:t>NOTE: If a triangle has two of the same angles, the  third angle will also be the same. 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10" y="4806044"/>
                <a:ext cx="3724138" cy="2585323"/>
              </a:xfrm>
              <a:prstGeom prst="rect">
                <a:avLst/>
              </a:prstGeom>
              <a:blipFill rotWithShape="0">
                <a:blip r:embed="rId5"/>
                <a:stretch>
                  <a:fillRect l="-1473" t="-136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7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048CE-709A-2F47-BE65-0EE6AC1F8B66}"/>
              </a:ext>
            </a:extLst>
          </p:cNvPr>
          <p:cNvSpPr txBox="1"/>
          <p:nvPr/>
        </p:nvSpPr>
        <p:spPr>
          <a:xfrm>
            <a:off x="3319462" y="1028699"/>
            <a:ext cx="5553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Complete Worksheet</a:t>
            </a:r>
          </a:p>
        </p:txBody>
      </p:sp>
    </p:spTree>
    <p:extLst>
      <p:ext uri="{BB962C8B-B14F-4D97-AF65-F5344CB8AC3E}">
        <p14:creationId xmlns:p14="http://schemas.microsoft.com/office/powerpoint/2010/main" val="1898020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438</Words>
  <Application>Microsoft Macintosh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 Math</vt:lpstr>
      <vt:lpstr>Tw Cen MT</vt:lpstr>
      <vt:lpstr>Tw Cen MT Condensed</vt:lpstr>
      <vt:lpstr>Wingdings 3</vt:lpstr>
      <vt:lpstr>Integral</vt:lpstr>
      <vt:lpstr>Congruency</vt:lpstr>
      <vt:lpstr>           From last class   </vt:lpstr>
      <vt:lpstr>PowerPoint Presentation</vt:lpstr>
      <vt:lpstr>PowerPoint Presentation</vt:lpstr>
      <vt:lpstr>Topic: Congruency in Triangles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Congruency</dc:title>
  <dc:creator>SUMMERS Brad [Baldivis Secondary College]</dc:creator>
  <cp:lastModifiedBy>SUMMERS Brad [Baldivis Secondary College]</cp:lastModifiedBy>
  <cp:revision>3</cp:revision>
  <dcterms:created xsi:type="dcterms:W3CDTF">2020-02-11T13:01:15Z</dcterms:created>
  <dcterms:modified xsi:type="dcterms:W3CDTF">2020-02-11T13:06:48Z</dcterms:modified>
</cp:coreProperties>
</file>
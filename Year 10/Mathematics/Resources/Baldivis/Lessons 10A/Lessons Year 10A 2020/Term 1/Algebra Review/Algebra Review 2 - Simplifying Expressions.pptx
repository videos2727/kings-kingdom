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12"/>
  </p:notesMasterIdLst>
  <p:sldIdLst>
    <p:sldId id="257" r:id="rId2"/>
    <p:sldId id="259" r:id="rId3"/>
    <p:sldId id="260" r:id="rId4"/>
    <p:sldId id="266" r:id="rId5"/>
    <p:sldId id="273" r:id="rId6"/>
    <p:sldId id="267" r:id="rId7"/>
    <p:sldId id="268" r:id="rId8"/>
    <p:sldId id="269" r:id="rId9"/>
    <p:sldId id="271" r:id="rId10"/>
    <p:sldId id="272" r:id="rId11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78D01B-BEA2-4E38-BCBD-2995755F7558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8A4AAA-D1DF-4B3C-A493-9BF371CF74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4677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524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308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354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6C4B-2915-4D88-AD36-CD3AB6E877D7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0B71-3937-490C-A95F-E69BFDB96D1C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93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6C4B-2915-4D88-AD36-CD3AB6E877D7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0B71-3937-490C-A95F-E69BFDB96D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5781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6C4B-2915-4D88-AD36-CD3AB6E877D7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0B71-3937-490C-A95F-E69BFDB96D1C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24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6C4B-2915-4D88-AD36-CD3AB6E877D7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0B71-3937-490C-A95F-E69BFDB96D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8663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6C4B-2915-4D88-AD36-CD3AB6E877D7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0B71-3937-490C-A95F-E69BFDB96D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1910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6C4B-2915-4D88-AD36-CD3AB6E877D7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0B71-3937-490C-A95F-E69BFDB96D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6753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6C4B-2915-4D88-AD36-CD3AB6E877D7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0B71-3937-490C-A95F-E69BFDB96D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9461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D4B6C4B-2915-4D88-AD36-CD3AB6E877D7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ABE0B71-3937-490C-A95F-E69BFDB96D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1507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6C4B-2915-4D88-AD36-CD3AB6E877D7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0B71-3937-490C-A95F-E69BFDB96D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5265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6C4B-2915-4D88-AD36-CD3AB6E877D7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0B71-3937-490C-A95F-E69BFDB96D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7750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6C4B-2915-4D88-AD36-CD3AB6E877D7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0B71-3937-490C-A95F-E69BFDB96D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659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082993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0A69-C0BC-4A5A-8FE4-5D0B5D0F11EE}" type="datetimeFigureOut">
              <a:rPr lang="en-US" dirty="0"/>
              <a:t>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970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D4B6C4B-2915-4D88-AD36-CD3AB6E877D7}" type="datetimeFigureOut">
              <a:rPr lang="en-AU" smtClean="0"/>
              <a:t>5/02/2019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ABE0B71-3937-490C-A95F-E69BFDB96D1C}" type="slidenum">
              <a:rPr lang="en-AU" smtClean="0"/>
              <a:t>‹#›</a:t>
            </a:fld>
            <a:endParaRPr lang="en-A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091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2517" y="1495424"/>
            <a:ext cx="7766936" cy="783761"/>
          </a:xfrm>
        </p:spPr>
        <p:txBody>
          <a:bodyPr/>
          <a:lstStyle/>
          <a:p>
            <a:pPr algn="l"/>
            <a:r>
              <a:rPr lang="en-US" sz="3200" dirty="0"/>
              <a:t>Topic: Simplifying algebraic expressions</a:t>
            </a:r>
            <a:endParaRPr lang="en-AU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78792" y="2755434"/>
            <a:ext cx="5703358" cy="783762"/>
          </a:xfrm>
        </p:spPr>
        <p:txBody>
          <a:bodyPr>
            <a:normAutofit/>
          </a:bodyPr>
          <a:lstStyle/>
          <a:p>
            <a:pPr algn="l"/>
            <a:r>
              <a:rPr lang="en-AU" sz="2000" dirty="0"/>
              <a:t>EQ: What is a ‘like term’ and how do I collect them? </a:t>
            </a:r>
          </a:p>
        </p:txBody>
      </p:sp>
    </p:spTree>
    <p:extLst>
      <p:ext uri="{BB962C8B-B14F-4D97-AF65-F5344CB8AC3E}">
        <p14:creationId xmlns:p14="http://schemas.microsoft.com/office/powerpoint/2010/main" val="120763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97540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50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/>
              <a:t>Simplify expressions by collecting like terms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9471" y="185208"/>
            <a:ext cx="58756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Simplifying algebraic expressions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What is a “like term” and I do I collect them?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D0003098-A961-4852-970B-9E906B2D7753}"/>
              </a:ext>
            </a:extLst>
          </p:cNvPr>
          <p:cNvSpPr/>
          <p:nvPr/>
        </p:nvSpPr>
        <p:spPr>
          <a:xfrm>
            <a:off x="2447156" y="1504175"/>
            <a:ext cx="93828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Like terms can be combined when they are added or subtracted to simplify the expression.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117323A-379A-4ACB-878D-7E5B296CD4BF}"/>
                  </a:ext>
                </a:extLst>
              </p:cNvPr>
              <p:cNvSpPr/>
              <p:nvPr/>
            </p:nvSpPr>
            <p:spPr>
              <a:xfrm>
                <a:off x="3048000" y="2551837"/>
                <a:ext cx="6096000" cy="175432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</a:t>
                </a: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+  5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𝑦𝑥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 =  </m:t>
                    </m:r>
                  </m:oMath>
                </a14:m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6</m:t>
                    </m:r>
                    <m:r>
                      <a:rPr lang="en-AU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+ 5</m:t>
                    </m:r>
                    <m:r>
                      <a:rPr lang="en-AU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−10</m:t>
                    </m:r>
                    <m:r>
                      <a:rPr lang="en-AU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</m:oMath>
                </a14:m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10</m:t>
                    </m:r>
                    <m:r>
                      <a:rPr lang="en-AU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−15</m:t>
                    </m:r>
                    <m:r>
                      <a:rPr lang="en-AU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117323A-379A-4ACB-878D-7E5B296CD4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2551837"/>
                <a:ext cx="6096000" cy="1754326"/>
              </a:xfrm>
              <a:prstGeom prst="rect">
                <a:avLst/>
              </a:prstGeom>
              <a:blipFill>
                <a:blip r:embed="rId3"/>
                <a:stretch>
                  <a:fillRect l="-800" t="-2091" b="-41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739B-3655-4018-A22A-828BC78DC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Practice: LHS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8D38E9-1D3B-495F-A743-AD8D397193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438" t="19381" r="43402" b="62676"/>
          <a:stretch/>
        </p:blipFill>
        <p:spPr>
          <a:xfrm>
            <a:off x="1529695" y="1960078"/>
            <a:ext cx="4703975" cy="29378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EAA8C5-953B-4312-9B1F-5D20FC596215}"/>
              </a:ext>
            </a:extLst>
          </p:cNvPr>
          <p:cNvSpPr txBox="1"/>
          <p:nvPr/>
        </p:nvSpPr>
        <p:spPr>
          <a:xfrm>
            <a:off x="6979651" y="1359717"/>
            <a:ext cx="350677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2a</a:t>
            </a:r>
          </a:p>
          <a:p>
            <a:pPr>
              <a:lnSpc>
                <a:spcPct val="150000"/>
              </a:lnSpc>
            </a:pPr>
            <a:r>
              <a:rPr lang="en-A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19c</a:t>
            </a:r>
          </a:p>
          <a:p>
            <a:pPr>
              <a:lnSpc>
                <a:spcPct val="150000"/>
              </a:lnSpc>
            </a:pPr>
            <a:r>
              <a:rPr lang="en-A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3k</a:t>
            </a:r>
          </a:p>
          <a:p>
            <a:pPr>
              <a:lnSpc>
                <a:spcPct val="150000"/>
              </a:lnSpc>
            </a:pPr>
            <a:r>
              <a:rPr lang="en-A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18o</a:t>
            </a:r>
          </a:p>
          <a:p>
            <a:pPr>
              <a:lnSpc>
                <a:spcPct val="150000"/>
              </a:lnSpc>
            </a:pPr>
            <a:r>
              <a:rPr lang="en-A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-w</a:t>
            </a:r>
          </a:p>
          <a:p>
            <a:pPr>
              <a:lnSpc>
                <a:spcPct val="150000"/>
              </a:lnSpc>
            </a:pPr>
            <a:endParaRPr lang="en-AU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A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4101765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9471" y="185208"/>
            <a:ext cx="58756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Simplifying algebraic expressions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What is a “like term” and I do I collect them?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987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5456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What is a ‘like term’ and how do I collect them?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832033-4EB2-43D5-8E91-BA571C47BE6A}"/>
              </a:ext>
            </a:extLst>
          </p:cNvPr>
          <p:cNvSpPr txBox="1"/>
          <p:nvPr/>
        </p:nvSpPr>
        <p:spPr>
          <a:xfrm>
            <a:off x="122548" y="2516957"/>
            <a:ext cx="2318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 add and subtract like terms?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AE1744-D473-4850-93F1-65E90EAE5D49}"/>
                  </a:ext>
                </a:extLst>
              </p:cNvPr>
              <p:cNvSpPr txBox="1"/>
              <p:nvPr/>
            </p:nvSpPr>
            <p:spPr>
              <a:xfrm>
                <a:off x="2846894" y="2516957"/>
                <a:ext cx="8663234" cy="3293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Like terms can be combined when they are added or subtracted to simplify the expression.</a:t>
                </a:r>
              </a:p>
              <a:p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</a:t>
                </a: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16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+  5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 =  </m:t>
                    </m:r>
                  </m:oMath>
                </a14:m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6</m:t>
                    </m:r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5</m:t>
                    </m:r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−10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</m:oMath>
                </a14:m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10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−15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+7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−2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+3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br>
                  <a:rPr lang="en-AU" sz="16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A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AE1744-D473-4850-93F1-65E90EAE5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6894" y="2516957"/>
                <a:ext cx="8663234" cy="3293209"/>
              </a:xfrm>
              <a:prstGeom prst="rect">
                <a:avLst/>
              </a:prstGeom>
              <a:blipFill>
                <a:blip r:embed="rId2"/>
                <a:stretch>
                  <a:fillRect l="-352" t="-5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8540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509CE9E-05BD-4AFF-B418-151A665111C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83625" y="721970"/>
                <a:ext cx="10396882" cy="1151965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+7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−2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+3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</m:oMath>
                  </m:oMathPara>
                </a14:m>
                <a:b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AU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509CE9E-05BD-4AFF-B418-151A665111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3625" y="721970"/>
                <a:ext cx="10396882" cy="115196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FF81F1A9-D3EC-4389-9639-7F7560E569AA}"/>
              </a:ext>
            </a:extLst>
          </p:cNvPr>
          <p:cNvSpPr/>
          <p:nvPr/>
        </p:nvSpPr>
        <p:spPr>
          <a:xfrm>
            <a:off x="2413262" y="580106"/>
            <a:ext cx="1414021" cy="1293829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93C3BC7-0C66-4599-8AB4-DB1F040A45EB}"/>
              </a:ext>
            </a:extLst>
          </p:cNvPr>
          <p:cNvSpPr/>
          <p:nvPr/>
        </p:nvSpPr>
        <p:spPr>
          <a:xfrm>
            <a:off x="5459691" y="460169"/>
            <a:ext cx="1770668" cy="1490411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F427727-A42D-4153-97A7-A0C9F6610C68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3120273" y="1873935"/>
            <a:ext cx="857838" cy="87760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57FD753-D232-4A0F-893F-17655EC3EC3E}"/>
              </a:ext>
            </a:extLst>
          </p:cNvPr>
          <p:cNvCxnSpPr>
            <a:cxnSpLocks/>
            <a:stCxn id="5" idx="4"/>
          </p:cNvCxnSpPr>
          <p:nvPr/>
        </p:nvCxnSpPr>
        <p:spPr>
          <a:xfrm flipH="1">
            <a:off x="3978111" y="1950580"/>
            <a:ext cx="2366914" cy="80095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F31310A2-220C-43C9-B5DA-13BE39A190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4684" y="2674890"/>
                <a:ext cx="4883591" cy="1151965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 cap="all" baseline="0">
                    <a:solidFill>
                      <a:schemeClr val="accent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      </m:t>
                      </m:r>
                      <m:r>
                        <a:rPr lang="en-AU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  <m:r>
                        <a:rPr lang="en-AU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−2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F31310A2-220C-43C9-B5DA-13BE39A19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684" y="2674890"/>
                <a:ext cx="4883591" cy="11519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C76ECB9C-5D7C-4045-ABA9-35E208386C85}"/>
              </a:ext>
            </a:extLst>
          </p:cNvPr>
          <p:cNvSpPr/>
          <p:nvPr/>
        </p:nvSpPr>
        <p:spPr>
          <a:xfrm>
            <a:off x="3799787" y="506075"/>
            <a:ext cx="1770668" cy="14904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FBA488-8920-4B65-9AFE-342BB06EE8A3}"/>
              </a:ext>
            </a:extLst>
          </p:cNvPr>
          <p:cNvSpPr/>
          <p:nvPr/>
        </p:nvSpPr>
        <p:spPr>
          <a:xfrm>
            <a:off x="7231930" y="506075"/>
            <a:ext cx="1770668" cy="14904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31E500E-48D8-4A3D-B6BD-060A731CE588}"/>
              </a:ext>
            </a:extLst>
          </p:cNvPr>
          <p:cNvCxnSpPr>
            <a:cxnSpLocks/>
          </p:cNvCxnSpPr>
          <p:nvPr/>
        </p:nvCxnSpPr>
        <p:spPr>
          <a:xfrm>
            <a:off x="4631705" y="2015799"/>
            <a:ext cx="2101995" cy="78164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2347DC4-E607-4790-8971-8D42BEE1A5EC}"/>
              </a:ext>
            </a:extLst>
          </p:cNvPr>
          <p:cNvCxnSpPr>
            <a:cxnSpLocks/>
          </p:cNvCxnSpPr>
          <p:nvPr/>
        </p:nvCxnSpPr>
        <p:spPr>
          <a:xfrm flipH="1">
            <a:off x="6733700" y="1996486"/>
            <a:ext cx="1406737" cy="83169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56AF546-84C4-4A48-B95E-90BA770A8133}"/>
              </a:ext>
            </a:extLst>
          </p:cNvPr>
          <p:cNvSpPr/>
          <p:nvPr/>
        </p:nvSpPr>
        <p:spPr>
          <a:xfrm>
            <a:off x="2413262" y="2751535"/>
            <a:ext cx="2748306" cy="981479"/>
          </a:xfrm>
          <a:prstGeom prst="rect">
            <a:avLst/>
          </a:prstGeom>
          <a:noFill/>
          <a:ln w="571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itle 1">
                <a:extLst>
                  <a:ext uri="{FF2B5EF4-FFF2-40B4-BE49-F238E27FC236}">
                    <a16:creationId xmlns:a16="http://schemas.microsoft.com/office/drawing/2014/main" id="{B670AF65-DD0D-4666-8ABD-558ADFD4DF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8913" y="3949299"/>
                <a:ext cx="4582718" cy="1151965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 anchor="ctr">
                <a:normAutofit fontScale="25000" lnSpcReduction="2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 cap="all" baseline="0">
                    <a:solidFill>
                      <a:schemeClr val="accent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                      </m:t>
                      </m:r>
                    </m:oMath>
                  </m:oMathPara>
                </a14:m>
                <a:endParaRPr lang="en-AU" b="0" i="1" dirty="0">
                  <a:solidFill>
                    <a:srgbClr val="0070C0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r>
                  <a:rPr lang="en-AU" b="0" dirty="0">
                    <a:solidFill>
                      <a:srgbClr val="0070C0"/>
                    </a:solidFill>
                    <a:cs typeface="Arial" panose="020B0604020202020204" pitchFamily="34" charset="0"/>
                  </a:rPr>
                  <a:t>                                                          </a:t>
                </a:r>
                <a14:m>
                  <m:oMath xmlns:m="http://schemas.openxmlformats.org/officeDocument/2006/math">
                    <m:r>
                      <a:rPr lang="en-AU" sz="216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</m:t>
                    </m:r>
                    <m:r>
                      <a:rPr lang="en-AU" sz="2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  </m:t>
                    </m:r>
                    <m:r>
                      <a:rPr lang="en-AU" sz="2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AU" sz="135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br>
                  <a:rPr lang="en-AU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AU" dirty="0"/>
              </a:p>
            </p:txBody>
          </p:sp>
        </mc:Choice>
        <mc:Fallback xmlns="">
          <p:sp>
            <p:nvSpPr>
              <p:cNvPr id="25" name="Title 1">
                <a:extLst>
                  <a:ext uri="{FF2B5EF4-FFF2-40B4-BE49-F238E27FC236}">
                    <a16:creationId xmlns:a16="http://schemas.microsoft.com/office/drawing/2014/main" id="{B670AF65-DD0D-4666-8ABD-558ADFD4D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13" y="3949299"/>
                <a:ext cx="4582718" cy="11519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2CE74E37-64BD-4C0F-AD7E-CC9F8346C3CD}"/>
              </a:ext>
            </a:extLst>
          </p:cNvPr>
          <p:cNvSpPr/>
          <p:nvPr/>
        </p:nvSpPr>
        <p:spPr>
          <a:xfrm>
            <a:off x="5339656" y="2714226"/>
            <a:ext cx="3386128" cy="981479"/>
          </a:xfrm>
          <a:prstGeom prst="rect">
            <a:avLst/>
          </a:prstGeom>
          <a:noFill/>
          <a:ln w="571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le 1">
                <a:extLst>
                  <a:ext uri="{FF2B5EF4-FFF2-40B4-BE49-F238E27FC236}">
                    <a16:creationId xmlns:a16="http://schemas.microsoft.com/office/drawing/2014/main" id="{F779E96C-8238-4F5A-A782-C5F7BCF86A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48275" y="2721801"/>
                <a:ext cx="4883591" cy="1151965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 cap="all" baseline="0">
                    <a:solidFill>
                      <a:schemeClr val="accent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AU" dirty="0">
                    <a:solidFill>
                      <a:srgbClr val="0070C0"/>
                    </a:solidFill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AU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7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+3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8" name="Title 1">
                <a:extLst>
                  <a:ext uri="{FF2B5EF4-FFF2-40B4-BE49-F238E27FC236}">
                    <a16:creationId xmlns:a16="http://schemas.microsoft.com/office/drawing/2014/main" id="{F779E96C-8238-4F5A-A782-C5F7BCF86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8275" y="2721801"/>
                <a:ext cx="4883591" cy="11519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itle 1">
                <a:extLst>
                  <a:ext uri="{FF2B5EF4-FFF2-40B4-BE49-F238E27FC236}">
                    <a16:creationId xmlns:a16="http://schemas.microsoft.com/office/drawing/2014/main" id="{7808B9A0-BA5F-4841-8BC8-2D514807932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59666" y="4051827"/>
                <a:ext cx="4582718" cy="1151965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 anchor="ctr">
                <a:normAutofit fontScale="32500" lnSpcReduction="2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 cap="all" baseline="0">
                    <a:solidFill>
                      <a:schemeClr val="accent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                      </m:t>
                      </m:r>
                    </m:oMath>
                  </m:oMathPara>
                </a14:m>
                <a:endParaRPr lang="en-AU" b="0" i="1" dirty="0">
                  <a:solidFill>
                    <a:srgbClr val="0070C0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r>
                  <a:rPr lang="en-AU" b="0" dirty="0">
                    <a:solidFill>
                      <a:srgbClr val="0070C0"/>
                    </a:solidFill>
                    <a:cs typeface="Arial" panose="020B0604020202020204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AU" sz="166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+ 10</m:t>
                    </m:r>
                    <m:r>
                      <a:rPr lang="en-AU" sz="16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br>
                  <a:rPr lang="en-AU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AU" dirty="0"/>
              </a:p>
            </p:txBody>
          </p:sp>
        </mc:Choice>
        <mc:Fallback xmlns="">
          <p:sp>
            <p:nvSpPr>
              <p:cNvPr id="29" name="Title 1">
                <a:extLst>
                  <a:ext uri="{FF2B5EF4-FFF2-40B4-BE49-F238E27FC236}">
                    <a16:creationId xmlns:a16="http://schemas.microsoft.com/office/drawing/2014/main" id="{7808B9A0-BA5F-4841-8BC8-2D5148079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9666" y="4051827"/>
                <a:ext cx="4582718" cy="11519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1021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4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95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96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9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0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1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02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4" dur="5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5" dur="5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6" dur="5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07" dur="5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17" grpId="0" animBg="1"/>
      <p:bldP spid="17" grpId="1" animBg="1"/>
      <p:bldP spid="18" grpId="0" animBg="1"/>
      <p:bldP spid="18" grpId="1" animBg="1"/>
      <p:bldP spid="23" grpId="0" animBg="1"/>
      <p:bldP spid="23" grpId="1" animBg="1"/>
      <p:bldP spid="25" grpId="0" uiExpand="1" build="allAtOnce"/>
      <p:bldP spid="26" grpId="0" animBg="1"/>
      <p:bldP spid="26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739B-3655-4018-A22A-828BC78DC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Practice: LHS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1B9AF-E71A-4DCA-83D2-2F2A2C892BC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CBD52E-3415-4884-846E-4F307DE546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016" t="37706" r="56452" b="46336"/>
          <a:stretch/>
        </p:blipFill>
        <p:spPr>
          <a:xfrm>
            <a:off x="3667431" y="1591958"/>
            <a:ext cx="5827246" cy="24294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EAA8C5-953B-4312-9B1F-5D20FC596215}"/>
                  </a:ext>
                </a:extLst>
              </p:cNvPr>
              <p:cNvSpPr txBox="1"/>
              <p:nvPr/>
            </p:nvSpPr>
            <p:spPr>
              <a:xfrm>
                <a:off x="9494677" y="1837765"/>
                <a:ext cx="3506771" cy="263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AU" sz="22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𝟏𝟑</m:t>
                    </m:r>
                    <m:r>
                      <a:rPr lang="en-AU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n-AU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n-AU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</m:oMath>
                </a14:m>
                <a:endParaRPr lang="en-AU" sz="22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𝒃</m:t>
                      </m:r>
                      <m:r>
                        <a:rPr lang="en-AU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+ </m:t>
                      </m:r>
                      <m:r>
                        <a:rPr lang="en-AU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  <m:r>
                        <a:rPr lang="en-AU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𝒈</m:t>
                      </m:r>
                    </m:oMath>
                  </m:oMathPara>
                </a14:m>
                <a:endParaRPr lang="en-AU" sz="22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𝒕</m:t>
                      </m:r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𝟏𝟎</m:t>
                      </m:r>
                    </m:oMath>
                  </m:oMathPara>
                </a14:m>
                <a:endParaRPr lang="en-AU" sz="22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𝟖</m:t>
                      </m:r>
                      <m:sSup>
                        <m:sSupPr>
                          <m:ctrlPr>
                            <a:rPr lang="en-AU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AU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𝒃</m:t>
                          </m:r>
                        </m:e>
                        <m:sup>
                          <m:r>
                            <a:rPr lang="en-AU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𝟏𝟏</m:t>
                      </m:r>
                    </m:oMath>
                  </m:oMathPara>
                </a14:m>
                <a:endParaRPr lang="en-AU" sz="22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AU" sz="22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		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EAA8C5-953B-4312-9B1F-5D20FC596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4677" y="1837765"/>
                <a:ext cx="3506771" cy="26314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7857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818987" y="2063750"/>
            <a:ext cx="4128576" cy="331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20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Answers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174400" y="3034762"/>
            <a:ext cx="3417750" cy="136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62010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</TotalTime>
  <Words>266</Words>
  <Application>Microsoft Office PowerPoint</Application>
  <PresentationFormat>Widescreen</PresentationFormat>
  <Paragraphs>65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Kiwi School Handwriting</vt:lpstr>
      <vt:lpstr>Retrospect</vt:lpstr>
      <vt:lpstr>Topic: Simplifying algebraic expressions</vt:lpstr>
      <vt:lpstr>Learning Intentions</vt:lpstr>
      <vt:lpstr>PowerPoint Presentation</vt:lpstr>
      <vt:lpstr>Practice: LHS</vt:lpstr>
      <vt:lpstr>PowerPoint Presentation</vt:lpstr>
      <vt:lpstr>Simplifying Expressions  </vt:lpstr>
      <vt:lpstr>3x+7y -2x +3y </vt:lpstr>
      <vt:lpstr>Practice: LHS</vt:lpstr>
      <vt:lpstr>Task</vt:lpstr>
      <vt:lpstr>Answers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Simplifying algebraic expressions</dc:title>
  <dc:creator>Sarah James</dc:creator>
  <cp:lastModifiedBy>Sarah James</cp:lastModifiedBy>
  <cp:revision>2</cp:revision>
  <cp:lastPrinted>2019-02-04T23:41:37Z</cp:lastPrinted>
  <dcterms:created xsi:type="dcterms:W3CDTF">2019-02-02T13:41:51Z</dcterms:created>
  <dcterms:modified xsi:type="dcterms:W3CDTF">2019-02-04T23:41:44Z</dcterms:modified>
</cp:coreProperties>
</file>
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87" r:id="rId1"/>
  </p:sldMasterIdLst>
  <p:notesMasterIdLst>
    <p:notesMasterId r:id="rId12"/>
  </p:notesMasterIdLst>
  <p:sldIdLst>
    <p:sldId id="257" r:id="rId2"/>
    <p:sldId id="259" r:id="rId3"/>
    <p:sldId id="260" r:id="rId4"/>
    <p:sldId id="256" r:id="rId5"/>
    <p:sldId id="261" r:id="rId6"/>
    <p:sldId id="263" r:id="rId7"/>
    <p:sldId id="264" r:id="rId8"/>
    <p:sldId id="265" r:id="rId9"/>
    <p:sldId id="266" r:id="rId10"/>
    <p:sldId id="267" r:id="rId11"/>
  </p:sldIdLst>
  <p:sldSz cx="12192000" cy="6858000"/>
  <p:notesSz cx="6797675" cy="9926638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90BC422-5B48-410C-B760-9C48DCD1699A}" v="11" dt="2019-02-03T11:33:05.15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67608" autoAdjust="0"/>
  </p:normalViewPr>
  <p:slideViewPr>
    <p:cSldViewPr snapToGrid="0">
      <p:cViewPr varScale="1">
        <p:scale>
          <a:sx n="45" d="100"/>
          <a:sy n="45" d="100"/>
        </p:scale>
        <p:origin x="1496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rah James" userId="e5e3e68366f0feb3" providerId="LiveId" clId="{B90BC422-5B48-410C-B760-9C48DCD1699A}"/>
    <pc:docChg chg="custSel modSld sldOrd">
      <pc:chgData name="Sarah James" userId="e5e3e68366f0feb3" providerId="LiveId" clId="{B90BC422-5B48-410C-B760-9C48DCD1699A}" dt="2019-02-03T11:33:05.271" v="5" actId="27636"/>
      <pc:docMkLst>
        <pc:docMk/>
      </pc:docMkLst>
      <pc:sldChg chg="modSp">
        <pc:chgData name="Sarah James" userId="e5e3e68366f0feb3" providerId="LiveId" clId="{B90BC422-5B48-410C-B760-9C48DCD1699A}" dt="2019-02-03T11:33:05.271" v="5" actId="27636"/>
        <pc:sldMkLst>
          <pc:docMk/>
          <pc:sldMk cId="4269088178" sldId="263"/>
        </pc:sldMkLst>
        <pc:spChg chg="mod">
          <ac:chgData name="Sarah James" userId="e5e3e68366f0feb3" providerId="LiveId" clId="{B90BC422-5B48-410C-B760-9C48DCD1699A}" dt="2019-02-03T11:33:05.271" v="5" actId="27636"/>
          <ac:spMkLst>
            <pc:docMk/>
            <pc:sldMk cId="4269088178" sldId="263"/>
            <ac:spMk id="2" creationId="{BE0A31F0-15B2-4EA9-B65F-D192823FF5C8}"/>
          </ac:spMkLst>
        </pc:spChg>
      </pc:sldChg>
      <pc:sldChg chg="ord">
        <pc:chgData name="Sarah James" userId="e5e3e68366f0feb3" providerId="LiveId" clId="{B90BC422-5B48-410C-B760-9C48DCD1699A}" dt="2019-02-03T11:32:32.974" v="2"/>
        <pc:sldMkLst>
          <pc:docMk/>
          <pc:sldMk cId="694768301" sldId="264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4458D68-FDE5-4A84-BD63-45823E666E15}" type="datetimeFigureOut">
              <a:rPr lang="en-AU" smtClean="0"/>
              <a:t>5/02/2019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505DE2C-A79A-449B-B4AB-DCF8743D491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212988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Shape 85"/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Shape 86"/>
          <p:cNvSpPr txBox="1">
            <a:spLocks noGrp="1"/>
          </p:cNvSpPr>
          <p:nvPr>
            <p:ph type="body" idx="1"/>
          </p:nvPr>
        </p:nvSpPr>
        <p:spPr>
          <a:xfrm>
            <a:off x="679768" y="4715153"/>
            <a:ext cx="5438140" cy="446698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4952499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330825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Cut these up prior to lesson. Students work in pairs or groups to glue in the correct order using template on next slide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19C68D-D041-4DD6-A5D7-C777CB980885}" type="slidenum">
              <a:rPr lang="en-AU" smtClean="0"/>
              <a:t>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2206743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05DE2C-A79A-449B-B4AB-DCF8743D4915}" type="slidenum">
              <a:rPr lang="en-AU" smtClean="0"/>
              <a:t>6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8034243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547054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068021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012300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95549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2480C5-A9E7-4D70-BA7C-92053136D139}" type="datetimeFigureOut">
              <a:rPr lang="en-AU" smtClean="0"/>
              <a:t>5/02/2019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452BCF-9AAE-41FE-AA5B-210A7641C540}" type="slidenum">
              <a:rPr lang="en-AU" smtClean="0"/>
              <a:t>‹#›</a:t>
            </a:fld>
            <a:endParaRPr lang="en-AU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860278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2480C5-A9E7-4D70-BA7C-92053136D139}" type="datetimeFigureOut">
              <a:rPr lang="en-AU" smtClean="0"/>
              <a:t>5/02/2019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452BCF-9AAE-41FE-AA5B-210A7641C54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300905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2480C5-A9E7-4D70-BA7C-92053136D139}" type="datetimeFigureOut">
              <a:rPr lang="en-AU" smtClean="0"/>
              <a:t>5/02/2019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452BCF-9AAE-41FE-AA5B-210A7641C540}" type="slidenum">
              <a:rPr lang="en-AU" smtClean="0"/>
              <a:t>‹#›</a:t>
            </a:fld>
            <a:endParaRPr lang="en-AU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054535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2480C5-A9E7-4D70-BA7C-92053136D139}" type="datetimeFigureOut">
              <a:rPr lang="en-AU" smtClean="0"/>
              <a:t>5/02/2019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452BCF-9AAE-41FE-AA5B-210A7641C54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000032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2480C5-A9E7-4D70-BA7C-92053136D139}" type="datetimeFigureOut">
              <a:rPr lang="en-AU" smtClean="0"/>
              <a:t>5/02/2019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452BCF-9AAE-41FE-AA5B-210A7641C54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202250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2480C5-A9E7-4D70-BA7C-92053136D139}" type="datetimeFigureOut">
              <a:rPr lang="en-AU" smtClean="0"/>
              <a:t>5/02/2019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452BCF-9AAE-41FE-AA5B-210A7641C54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654269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2480C5-A9E7-4D70-BA7C-92053136D139}" type="datetimeFigureOut">
              <a:rPr lang="en-AU" smtClean="0"/>
              <a:t>5/02/2019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452BCF-9AAE-41FE-AA5B-210A7641C54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665434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C22480C5-A9E7-4D70-BA7C-92053136D139}" type="datetimeFigureOut">
              <a:rPr lang="en-AU" smtClean="0"/>
              <a:t>5/02/2019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3452BCF-9AAE-41FE-AA5B-210A7641C54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952905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2480C5-A9E7-4D70-BA7C-92053136D139}" type="datetimeFigureOut">
              <a:rPr lang="en-AU" smtClean="0"/>
              <a:t>5/02/2019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452BCF-9AAE-41FE-AA5B-210A7641C54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960131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2480C5-A9E7-4D70-BA7C-92053136D139}" type="datetimeFigureOut">
              <a:rPr lang="en-AU" smtClean="0"/>
              <a:t>5/02/2019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452BCF-9AAE-41FE-AA5B-210A7641C54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71339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2480C5-A9E7-4D70-BA7C-92053136D139}" type="datetimeFigureOut">
              <a:rPr lang="en-AU" smtClean="0"/>
              <a:t>5/02/2019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452BCF-9AAE-41FE-AA5B-210A7641C54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2193341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>
  <p:cSld name="Title + 2 column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Shape 31"/>
          <p:cNvSpPr txBox="1">
            <a:spLocks noGrp="1"/>
          </p:cNvSpPr>
          <p:nvPr>
            <p:ph type="title"/>
          </p:nvPr>
        </p:nvSpPr>
        <p:spPr>
          <a:xfrm>
            <a:off x="1187067" y="274633"/>
            <a:ext cx="9818000" cy="11432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9pPr>
          </a:lstStyle>
          <a:p>
            <a:endParaRPr/>
          </a:p>
        </p:txBody>
      </p:sp>
      <p:sp>
        <p:nvSpPr>
          <p:cNvPr id="32" name="Shape 32"/>
          <p:cNvSpPr txBox="1">
            <a:spLocks noGrp="1"/>
          </p:cNvSpPr>
          <p:nvPr>
            <p:ph type="body" idx="1"/>
          </p:nvPr>
        </p:nvSpPr>
        <p:spPr>
          <a:xfrm>
            <a:off x="1187067" y="1600200"/>
            <a:ext cx="4480800" cy="42136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74121">
              <a:spcBef>
                <a:spcPts val="80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1pPr>
            <a:lvl2pPr marL="1219170" lvl="1" indent="-47412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2pPr>
            <a:lvl3pPr marL="1828754" lvl="2" indent="-47412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3pPr>
            <a:lvl4pPr marL="2438339" lvl="3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4pPr>
            <a:lvl5pPr marL="3047924" lvl="4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5pPr>
            <a:lvl6pPr marL="3657509" lvl="5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6pPr>
            <a:lvl7pPr marL="4267093" lvl="6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7pPr>
            <a:lvl8pPr marL="4876678" lvl="7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8pPr>
            <a:lvl9pPr marL="5486263" lvl="8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9pPr>
          </a:lstStyle>
          <a:p>
            <a:endParaRPr/>
          </a:p>
        </p:txBody>
      </p:sp>
      <p:sp>
        <p:nvSpPr>
          <p:cNvPr id="33" name="Shape 33"/>
          <p:cNvSpPr txBox="1">
            <a:spLocks noGrp="1"/>
          </p:cNvSpPr>
          <p:nvPr>
            <p:ph type="body" idx="2"/>
          </p:nvPr>
        </p:nvSpPr>
        <p:spPr>
          <a:xfrm>
            <a:off x="6524283" y="1600200"/>
            <a:ext cx="4480800" cy="42136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74121">
              <a:spcBef>
                <a:spcPts val="80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1pPr>
            <a:lvl2pPr marL="1219170" lvl="1" indent="-47412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2pPr>
            <a:lvl3pPr marL="1828754" lvl="2" indent="-47412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3pPr>
            <a:lvl4pPr marL="2438339" lvl="3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4pPr>
            <a:lvl5pPr marL="3047924" lvl="4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5pPr>
            <a:lvl6pPr marL="3657509" lvl="5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6pPr>
            <a:lvl7pPr marL="4267093" lvl="6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7pPr>
            <a:lvl8pPr marL="4876678" lvl="7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8pPr>
            <a:lvl9pPr marL="5486263" lvl="8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9pPr>
          </a:lstStyle>
          <a:p>
            <a:endParaRPr/>
          </a:p>
        </p:txBody>
      </p:sp>
      <p:sp>
        <p:nvSpPr>
          <p:cNvPr id="34" name="Shape 34"/>
          <p:cNvSpPr txBox="1">
            <a:spLocks noGrp="1"/>
          </p:cNvSpPr>
          <p:nvPr>
            <p:ph type="sldNum" idx="12"/>
          </p:nvPr>
        </p:nvSpPr>
        <p:spPr>
          <a:xfrm>
            <a:off x="0" y="6028333"/>
            <a:ext cx="121920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buNone/>
              <a:defRPr/>
            </a:lvl1pPr>
            <a:lvl2pPr lvl="1">
              <a:spcBef>
                <a:spcPts val="0"/>
              </a:spcBef>
              <a:buNone/>
              <a:defRPr/>
            </a:lvl2pPr>
            <a:lvl3pPr lvl="2">
              <a:spcBef>
                <a:spcPts val="0"/>
              </a:spcBef>
              <a:buNone/>
              <a:defRPr/>
            </a:lvl3pPr>
            <a:lvl4pPr lvl="3">
              <a:spcBef>
                <a:spcPts val="0"/>
              </a:spcBef>
              <a:buNone/>
              <a:defRPr/>
            </a:lvl4pPr>
            <a:lvl5pPr lvl="4">
              <a:spcBef>
                <a:spcPts val="0"/>
              </a:spcBef>
              <a:buNone/>
              <a:defRPr/>
            </a:lvl5pPr>
            <a:lvl6pPr lvl="5">
              <a:spcBef>
                <a:spcPts val="0"/>
              </a:spcBef>
              <a:buNone/>
              <a:defRPr/>
            </a:lvl6pPr>
            <a:lvl7pPr lvl="6">
              <a:spcBef>
                <a:spcPts val="0"/>
              </a:spcBef>
              <a:buNone/>
              <a:defRPr/>
            </a:lvl7pPr>
            <a:lvl8pPr lvl="7">
              <a:spcBef>
                <a:spcPts val="0"/>
              </a:spcBef>
              <a:buNone/>
              <a:defRPr/>
            </a:lvl8pPr>
            <a:lvl9pPr lvl="8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92388000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685800" y="2063396"/>
            <a:ext cx="10394707" cy="331118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C10A69-C0BC-4A5A-8FE4-5D0B5D0F11EE}" type="datetimeFigureOut">
              <a:rPr lang="en-US" dirty="0"/>
              <a:t>2/5/2019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42299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C22480C5-A9E7-4D70-BA7C-92053136D139}" type="datetimeFigureOut">
              <a:rPr lang="en-AU" smtClean="0"/>
              <a:t>5/02/2019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43452BCF-9AAE-41FE-AA5B-210A7641C540}" type="slidenum">
              <a:rPr lang="en-AU" smtClean="0"/>
              <a:t>‹#›</a:t>
            </a:fld>
            <a:endParaRPr lang="en-AU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749638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8" r:id="rId1"/>
    <p:sldLayoutId id="2147483789" r:id="rId2"/>
    <p:sldLayoutId id="2147483790" r:id="rId3"/>
    <p:sldLayoutId id="2147483791" r:id="rId4"/>
    <p:sldLayoutId id="2147483792" r:id="rId5"/>
    <p:sldLayoutId id="2147483793" r:id="rId6"/>
    <p:sldLayoutId id="2147483794" r:id="rId7"/>
    <p:sldLayoutId id="2147483795" r:id="rId8"/>
    <p:sldLayoutId id="2147483796" r:id="rId9"/>
    <p:sldLayoutId id="2147483797" r:id="rId10"/>
    <p:sldLayoutId id="2147483798" r:id="rId11"/>
    <p:sldLayoutId id="2147483799" r:id="rId12"/>
    <p:sldLayoutId id="2147483800" r:id="rId13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gif"/><Relationship Id="rId4" Type="http://schemas.openxmlformats.org/officeDocument/2006/relationships/image" Target="../media/image2.gi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45142" y="1466849"/>
            <a:ext cx="7766936" cy="783761"/>
          </a:xfrm>
        </p:spPr>
        <p:txBody>
          <a:bodyPr/>
          <a:lstStyle/>
          <a:p>
            <a:pPr algn="l"/>
            <a:r>
              <a:rPr lang="en-US" sz="3200" dirty="0"/>
              <a:t>Topic: Algebra Review</a:t>
            </a:r>
            <a:endParaRPr lang="en-AU" sz="32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35542" y="2774484"/>
            <a:ext cx="9189508" cy="783762"/>
          </a:xfrm>
        </p:spPr>
        <p:txBody>
          <a:bodyPr>
            <a:normAutofit/>
          </a:bodyPr>
          <a:lstStyle/>
          <a:p>
            <a:pPr algn="l"/>
            <a:r>
              <a:rPr lang="en-AU" sz="2000" dirty="0"/>
              <a:t>EQ: What are the important algebraic definitions?</a:t>
            </a:r>
          </a:p>
        </p:txBody>
      </p:sp>
    </p:spTree>
    <p:extLst>
      <p:ext uri="{BB962C8B-B14F-4D97-AF65-F5344CB8AC3E}">
        <p14:creationId xmlns:p14="http://schemas.microsoft.com/office/powerpoint/2010/main" val="1207638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2">
            <a:extLst>
              <a:ext uri="{FF2B5EF4-FFF2-40B4-BE49-F238E27FC236}">
                <a16:creationId xmlns:a16="http://schemas.microsoft.com/office/drawing/2014/main" id="{71B8C075-951F-470A-8BEF-6717DE9174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297540"/>
            <a:ext cx="8610600" cy="1293028"/>
          </a:xfrm>
        </p:spPr>
        <p:txBody>
          <a:bodyPr>
            <a:normAutofit/>
          </a:bodyPr>
          <a:lstStyle/>
          <a:p>
            <a:r>
              <a:rPr lang="en-US" sz="5400" b="1" dirty="0">
                <a:solidFill>
                  <a:schemeClr val="accent2">
                    <a:lumMod val="50000"/>
                  </a:schemeClr>
                </a:solidFill>
                <a:latin typeface="Kiwi School Handwriting" panose="00000500000000000000" pitchFamily="2" charset="0"/>
              </a:rPr>
              <a:t>Learning Intentions</a:t>
            </a:r>
          </a:p>
        </p:txBody>
      </p:sp>
      <p:sp>
        <p:nvSpPr>
          <p:cNvPr id="13" name="Content Placeholder 13">
            <a:extLst>
              <a:ext uri="{FF2B5EF4-FFF2-40B4-BE49-F238E27FC236}">
                <a16:creationId xmlns:a16="http://schemas.microsoft.com/office/drawing/2014/main" id="{03C6AC60-0EEB-4482-9041-0A4971612EE3}"/>
              </a:ext>
            </a:extLst>
          </p:cNvPr>
          <p:cNvSpPr txBox="1">
            <a:spLocks/>
          </p:cNvSpPr>
          <p:nvPr/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rmAutofit/>
          </a:bodyPr>
          <a:lstStyle>
            <a:lvl1pPr marL="609585" lvl="0" indent="-474121" algn="l" defTabSz="914400" rtl="0" eaLnBrk="1" latinLnBrk="0" hangingPunct="1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0C3A3"/>
              </a:buClr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219170" lvl="1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754" lvl="2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438339" lvl="3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047924" lvl="4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657509" lvl="5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67093" lvl="6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6678" lvl="7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263" lvl="8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AU" sz="4400" dirty="0">
                <a:latin typeface="Kiwi School Handwriting" panose="00000500000000000000" pitchFamily="2" charset="0"/>
              </a:rPr>
              <a:t>Students will be able to</a:t>
            </a:r>
          </a:p>
          <a:p>
            <a:r>
              <a:rPr lang="en-AU" sz="3600" dirty="0"/>
              <a:t>Define the key words used throughout our algebra unit</a:t>
            </a:r>
          </a:p>
        </p:txBody>
      </p:sp>
    </p:spTree>
    <p:extLst>
      <p:ext uri="{BB962C8B-B14F-4D97-AF65-F5344CB8AC3E}">
        <p14:creationId xmlns:p14="http://schemas.microsoft.com/office/powerpoint/2010/main" val="9650257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2112571" y="1298662"/>
            <a:ext cx="0" cy="5559338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2821" y="123165"/>
            <a:ext cx="281737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solidFill>
                  <a:schemeClr val="accent1">
                    <a:lumMod val="50000"/>
                  </a:schemeClr>
                </a:solidFill>
                <a:latin typeface="Kiwi School Handwriting" panose="00000500000000000000" pitchFamily="2" charset="0"/>
              </a:rPr>
              <a:t>Algebra Review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36360" y="204438"/>
            <a:ext cx="2160240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schemeClr val="accent1">
                    <a:lumMod val="50000"/>
                  </a:schemeClr>
                </a:solidFill>
                <a:latin typeface="Kiwi School Handwriting" panose="00000500000000000000" pitchFamily="2" charset="0"/>
              </a:rPr>
              <a:t>EQ – What are the important algebraic definitions?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94653C22-7DB7-4083-A85E-EFA3B458F685}"/>
              </a:ext>
            </a:extLst>
          </p:cNvPr>
          <p:cNvSpPr/>
          <p:nvPr/>
        </p:nvSpPr>
        <p:spPr>
          <a:xfrm>
            <a:off x="2759028" y="1546145"/>
            <a:ext cx="8039942" cy="192873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 eaLnBrk="1" hangingPunct="1">
              <a:buNone/>
            </a:pPr>
            <a:r>
              <a:rPr lang="en-GB" altLang="en-US" sz="2800" dirty="0"/>
              <a:t>15 mins Match up pair activity.</a:t>
            </a:r>
          </a:p>
          <a:p>
            <a:pPr marL="457200" indent="-457200" eaLnBrk="1" hangingPunct="1">
              <a:buFont typeface="Arial" panose="020B0604020202020204" pitchFamily="34" charset="0"/>
              <a:buChar char="•"/>
            </a:pPr>
            <a:r>
              <a:rPr lang="en-GB" altLang="en-US" dirty="0"/>
              <a:t>Work in pairs but you will each have a template to glue in HERE BUT MAKE SURE THAT IT CAN BE FOLDED TO LEAVE ROOM FOR MORE NOTES</a:t>
            </a:r>
          </a:p>
          <a:p>
            <a:pPr marL="457200" indent="-457200" eaLnBrk="1" hangingPunct="1">
              <a:buFont typeface="Arial" panose="020B0604020202020204" pitchFamily="34" charset="0"/>
              <a:buChar char="•"/>
            </a:pPr>
            <a:endParaRPr lang="en-GB" altLang="en-US" dirty="0"/>
          </a:p>
          <a:p>
            <a:pPr marL="0" indent="0" eaLnBrk="1" hangingPunct="1">
              <a:buNone/>
            </a:pPr>
            <a:endParaRPr lang="en-GB" altLang="en-US" sz="2800" baseline="30000" dirty="0"/>
          </a:p>
          <a:p>
            <a:pPr marL="0" indent="0" eaLnBrk="1" hangingPunct="1">
              <a:buNone/>
            </a:pPr>
            <a:endParaRPr lang="en-GB" altLang="en-US" sz="2800" baseline="30000" dirty="0"/>
          </a:p>
        </p:txBody>
      </p:sp>
    </p:spTree>
    <p:extLst>
      <p:ext uri="{BB962C8B-B14F-4D97-AF65-F5344CB8AC3E}">
        <p14:creationId xmlns:p14="http://schemas.microsoft.com/office/powerpoint/2010/main" val="10133664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099256" y="103031"/>
            <a:ext cx="172188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b="1" u="sng" dirty="0"/>
              <a:t>Algebra - Vocabulary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Table 5"/>
              <p:cNvGraphicFramePr>
                <a:graphicFrameLocks noGrp="1"/>
              </p:cNvGraphicFramePr>
              <p:nvPr>
                <p:extLst/>
              </p:nvPr>
            </p:nvGraphicFramePr>
            <p:xfrm>
              <a:off x="108755" y="577999"/>
              <a:ext cx="5897092" cy="458216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319717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2781994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795381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400" b="1" u="sng" dirty="0"/>
                            <a:t>Vocabulary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400" b="1" u="sng" dirty="0"/>
                            <a:t>Meaning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400" b="1" u="sng" dirty="0"/>
                            <a:t>Examples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dirty="0"/>
                            <a:t>Term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GB" sz="1200" dirty="0"/>
                            <a:t>An algebraic quantity which</a:t>
                          </a:r>
                          <a:r>
                            <a:rPr lang="en-GB" sz="1200" baseline="0" dirty="0"/>
                            <a:t> only contains letters (and maybe a number) – no signs in the middle!</a:t>
                          </a:r>
                          <a:endParaRPr lang="en-GB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200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  <m:r>
                                  <a:rPr lang="en-GB" sz="12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GB" sz="1200" b="0" i="1" smtClean="0">
                                    <a:latin typeface="Cambria Math" panose="02040503050406030204" pitchFamily="18" charset="0"/>
                                  </a:rPr>
                                  <m:t>, −5</m:t>
                                </m:r>
                                <m:sSup>
                                  <m:sSupPr>
                                    <m:ctrlPr>
                                      <a:rPr lang="en-GB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GB" sz="1200" b="0" i="1" smtClean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  <m:sup>
                                    <m:r>
                                      <a:rPr lang="en-GB" sz="12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GB" sz="1200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f>
                                  <m:fPr>
                                    <m:ctrlPr>
                                      <a:rPr lang="en-GB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12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num>
                                  <m:den>
                                    <m:r>
                                      <a:rPr lang="en-GB" sz="1200" b="0" i="1" smtClean="0"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  <m:r>
                                      <a:rPr lang="en-GB" sz="1200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2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dirty="0"/>
                            <a:t>Expression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GB" sz="1200" dirty="0"/>
                            <a:t>Made up of algebraic terms – no equals</a:t>
                          </a:r>
                          <a:r>
                            <a:rPr lang="en-GB" sz="1200" baseline="0" dirty="0"/>
                            <a:t> sign!</a:t>
                          </a:r>
                          <a:endParaRPr lang="en-GB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200" b="0" i="1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  <m:r>
                                  <a:rPr lang="en-GB" sz="1200" b="0" i="1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  <m:r>
                                  <a:rPr lang="en-GB" sz="1200" b="0" i="1" smtClean="0">
                                    <a:latin typeface="Cambria Math" panose="02040503050406030204" pitchFamily="18" charset="0"/>
                                  </a:rPr>
                                  <m:t>+2</m:t>
                                </m:r>
                                <m:r>
                                  <a:rPr lang="en-GB" sz="1200" b="0" i="1" smtClean="0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oMath>
                            </m:oMathPara>
                          </a14:m>
                          <a:endParaRPr lang="en-GB" sz="1200" b="0" i="1" dirty="0">
                            <a:latin typeface="Cambria Math" panose="02040503050406030204" pitchFamily="18" charset="0"/>
                          </a:endParaRPr>
                        </a:p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200" b="0" i="1" smtClean="0">
                                    <a:latin typeface="Cambria Math" panose="02040503050406030204" pitchFamily="18" charset="0"/>
                                  </a:rPr>
                                  <m:t>3(</m:t>
                                </m:r>
                                <m:r>
                                  <a:rPr lang="en-GB" sz="1200" b="0" i="1" smtClean="0">
                                    <a:latin typeface="Cambria Math" panose="02040503050406030204" pitchFamily="18" charset="0"/>
                                  </a:rPr>
                                  <m:t>𝑙</m:t>
                                </m:r>
                                <m:r>
                                  <a:rPr lang="en-GB" sz="1200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GB" sz="1200" b="0" i="1" smtClean="0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  <m:r>
                                  <a:rPr lang="en-GB" sz="12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GB" sz="12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dirty="0"/>
                            <a:t>Equation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GB" sz="1200" dirty="0"/>
                            <a:t>Contains</a:t>
                          </a:r>
                          <a:r>
                            <a:rPr lang="en-GB" sz="1200" baseline="0" dirty="0"/>
                            <a:t> an equals sign! Can be solved but only for some (not all) values of </a:t>
                          </a:r>
                          <a:r>
                            <a:rPr lang="en-GB" sz="1200" i="1" baseline="0" dirty="0">
                              <a:latin typeface="+mn-lt"/>
                            </a:rPr>
                            <a:t>x </a:t>
                          </a:r>
                          <a:r>
                            <a:rPr lang="en-GB" sz="1200" i="0" baseline="0" dirty="0">
                              <a:latin typeface="+mn-lt"/>
                            </a:rPr>
                            <a:t>(or any variable)</a:t>
                          </a:r>
                          <a:r>
                            <a:rPr lang="en-GB" sz="1200" i="0" baseline="0" dirty="0"/>
                            <a:t>.</a:t>
                          </a:r>
                          <a:endParaRPr lang="en-GB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2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GB" sz="1200" b="0" i="1" smtClean="0">
                                    <a:latin typeface="Cambria Math" panose="02040503050406030204" pitchFamily="18" charset="0"/>
                                  </a:rPr>
                                  <m:t>+4=10</m:t>
                                </m:r>
                              </m:oMath>
                            </m:oMathPara>
                          </a14:m>
                          <a:endParaRPr lang="en-GB" sz="1200" b="0" i="1" dirty="0">
                            <a:latin typeface="Cambria Math" panose="02040503050406030204" pitchFamily="18" charset="0"/>
                          </a:endParaRPr>
                        </a:p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GB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GB" sz="1200" b="0" i="1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p>
                                    <m:r>
                                      <a:rPr lang="en-GB" sz="12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GB" sz="1200" b="0" i="1" smtClean="0">
                                    <a:latin typeface="Cambria Math" panose="02040503050406030204" pitchFamily="18" charset="0"/>
                                  </a:rPr>
                                  <m:t>+3</m:t>
                                </m:r>
                                <m:r>
                                  <a:rPr lang="en-GB" sz="1200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  <m:r>
                                  <a:rPr lang="en-GB" sz="1200" b="0" i="1" smtClean="0">
                                    <a:latin typeface="Cambria Math" panose="02040503050406030204" pitchFamily="18" charset="0"/>
                                  </a:rPr>
                                  <m:t>+2=0 </m:t>
                                </m:r>
                              </m:oMath>
                            </m:oMathPara>
                          </a14:m>
                          <a:endParaRPr lang="en-GB" sz="12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dirty="0"/>
                            <a:t>Constant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GB" sz="1200" dirty="0"/>
                            <a:t>A number with nothing else attached to it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</a:rPr>
                                  <m:t>3, 16, 256</m:t>
                                </m:r>
                              </m:oMath>
                            </m:oMathPara>
                          </a14:m>
                          <a:endParaRPr lang="en-GB" sz="12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dirty="0"/>
                            <a:t>Variable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AU" sz="1200" dirty="0">
                              <a:latin typeface="+mn-lt"/>
                              <a:cs typeface="Arial" panose="020B0604020202020204" pitchFamily="34" charset="0"/>
                            </a:rPr>
                            <a:t>A letter that represents an unknown number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</a:rPr>
                                  <m:t>, </m:t>
                                </m:r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</a:rPr>
                                  <m:t>, </m:t>
                                </m:r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oMath>
                            </m:oMathPara>
                          </a14:m>
                          <a:endParaRPr lang="en-GB" sz="12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dirty="0"/>
                            <a:t>Coefficient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AU" sz="1200" dirty="0">
                              <a:latin typeface="+mn-lt"/>
                              <a:cs typeface="Arial" panose="020B0604020202020204" pitchFamily="34" charset="0"/>
                            </a:rPr>
                            <a:t>The number in front of the variable</a:t>
                          </a:r>
                        </a:p>
                        <a:p>
                          <a:endParaRPr lang="en-AU" sz="1200" dirty="0">
                            <a:latin typeface="+mn-lt"/>
                            <a:cs typeface="Arial" panose="020B06040202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sz="12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3</m:t>
                                </m:r>
                                <m:r>
                                  <a:rPr lang="en-AU" sz="12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𝑥</m:t>
                                </m:r>
                                <m:r>
                                  <a:rPr lang="en-AU" sz="12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      3 </m:t>
                                </m:r>
                                <m:r>
                                  <a:rPr lang="en-AU" sz="12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𝑖𝑠</m:t>
                                </m:r>
                                <m:r>
                                  <a:rPr lang="en-AU" sz="12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 </m:t>
                                </m:r>
                                <m:r>
                                  <a:rPr lang="en-AU" sz="12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𝑡h𝑒</m:t>
                                </m:r>
                                <m:r>
                                  <a:rPr lang="en-AU" sz="12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 </m:t>
                                </m:r>
                                <m:r>
                                  <a:rPr lang="en-AU" sz="12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𝑐𝑜𝑒𝑓𝑓𝑖𝑐𝑖𝑒𝑛𝑡</m:t>
                                </m:r>
                              </m:oMath>
                            </m:oMathPara>
                          </a14:m>
                          <a:endParaRPr lang="en-AU" sz="1200" b="0" dirty="0">
                            <a:latin typeface="+mn-lt"/>
                            <a:cs typeface="Arial" panose="020B0604020202020204" pitchFamily="34" charset="0"/>
                          </a:endParaRPr>
                        </a:p>
                        <a:p>
                          <a:r>
                            <a:rPr lang="en-AU" sz="1200" dirty="0">
                              <a:latin typeface="+mn-lt"/>
                              <a:cs typeface="Arial" panose="020B0604020202020204" pitchFamily="34" charset="0"/>
                            </a:rPr>
                            <a:t>       </a:t>
                          </a:r>
                          <a14:m>
                            <m:oMath xmlns:m="http://schemas.openxmlformats.org/officeDocument/2006/math">
                              <m:r>
                                <a:rPr lang="en-AU" sz="12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5</m:t>
                              </m:r>
                              <m:r>
                                <a:rPr lang="en-AU" sz="12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𝑦</m:t>
                              </m:r>
                              <m:r>
                                <a:rPr lang="en-AU" sz="12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     5 </m:t>
                              </m:r>
                              <m:r>
                                <a:rPr lang="en-AU" sz="12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𝑖𝑠</m:t>
                              </m:r>
                              <m:r>
                                <a:rPr lang="en-AU" sz="12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 </m:t>
                              </m:r>
                              <m:r>
                                <a:rPr lang="en-AU" sz="12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𝑡h𝑒</m:t>
                              </m:r>
                              <m:r>
                                <a:rPr lang="en-AU" sz="12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 </m:t>
                              </m:r>
                              <m:r>
                                <a:rPr lang="en-AU" sz="12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𝑐𝑜𝑒𝑓𝑓𝑖𝑐𝑖𝑒𝑛𝑡</m:t>
                              </m:r>
                              <m:r>
                                <a:rPr lang="en-AU" sz="12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 </m:t>
                              </m:r>
                            </m:oMath>
                          </a14:m>
                          <a:endParaRPr lang="en-AU" sz="1200" dirty="0">
                            <a:latin typeface="+mn-lt"/>
                            <a:cs typeface="Arial" panose="020B0604020202020204" pitchFamily="34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dirty="0"/>
                            <a:t>Like terms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en-US" sz="1200" dirty="0">
                              <a:latin typeface="+mn-lt"/>
                              <a:cs typeface="Arial" panose="020B0604020202020204" pitchFamily="34" charset="0"/>
                            </a:rPr>
                            <a:t>Terms that have the </a:t>
                          </a:r>
                          <a:r>
                            <a:rPr lang="en-US" altLang="en-US" sz="1200" b="1" u="sng" dirty="0">
                              <a:latin typeface="+mn-lt"/>
                              <a:cs typeface="Arial" panose="020B0604020202020204" pitchFamily="34" charset="0"/>
                            </a:rPr>
                            <a:t>same variables</a:t>
                          </a:r>
                        </a:p>
                        <a:p>
                          <a:pPr algn="l"/>
                          <a:endParaRPr lang="en-GB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dirty="0"/>
                            <a:t>4t and 6t</a:t>
                          </a:r>
                        </a:p>
                        <a:p>
                          <a:pPr algn="ctr"/>
                          <a:r>
                            <a:rPr lang="en-GB" sz="1200" dirty="0"/>
                            <a:t>11x and 2x</a:t>
                          </a:r>
                        </a:p>
                        <a:p>
                          <a:pPr algn="ctr"/>
                          <a:endParaRPr lang="en-GB" sz="1200" dirty="0"/>
                        </a:p>
                        <a:p>
                          <a:pPr algn="ctr"/>
                          <a:r>
                            <a:rPr lang="en-GB" sz="1200" dirty="0"/>
                            <a:t>4x</a:t>
                          </a:r>
                          <a:r>
                            <a:rPr lang="en-GB" sz="1200" baseline="30000" dirty="0"/>
                            <a:t>2</a:t>
                          </a:r>
                          <a:r>
                            <a:rPr lang="en-GB" sz="1200" baseline="0" dirty="0"/>
                            <a:t> and 3x ARE NOT LIKE TERMS</a:t>
                          </a:r>
                          <a:endParaRPr lang="en-GB" sz="1200" baseline="300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04445399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Table 5"/>
              <p:cNvGraphicFramePr>
                <a:graphicFrameLocks noGrp="1"/>
              </p:cNvGraphicFramePr>
              <p:nvPr>
                <p:extLst/>
              </p:nvPr>
            </p:nvGraphicFramePr>
            <p:xfrm>
              <a:off x="108755" y="577999"/>
              <a:ext cx="5897092" cy="458216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319717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2781994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795381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400" b="1" u="sng" dirty="0"/>
                            <a:t>Vocabulary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400" b="1" u="sng" dirty="0"/>
                            <a:t>Meaning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400" b="1" u="sng" dirty="0"/>
                            <a:t>Examples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dirty="0"/>
                            <a:t>Term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GB" sz="1200" dirty="0"/>
                            <a:t>An algebraic quantity which</a:t>
                          </a:r>
                          <a:r>
                            <a:rPr lang="en-GB" sz="1200" baseline="0" dirty="0"/>
                            <a:t> only contains letters (and maybe a number) – no signs in the middle!</a:t>
                          </a:r>
                          <a:endParaRPr lang="en-GB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228814" t="-59048" r="-678" b="-56571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dirty="0"/>
                            <a:t>Expression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GB" sz="1200" dirty="0"/>
                            <a:t>Made up of algebraic terms – no equals</a:t>
                          </a:r>
                          <a:r>
                            <a:rPr lang="en-GB" sz="1200" baseline="0" dirty="0"/>
                            <a:t> sign!</a:t>
                          </a:r>
                          <a:endParaRPr lang="en-GB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228814" t="-222667" r="-678" b="-692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dirty="0"/>
                            <a:t>Equation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GB" sz="1200" dirty="0"/>
                            <a:t>Contains</a:t>
                          </a:r>
                          <a:r>
                            <a:rPr lang="en-GB" sz="1200" baseline="0" dirty="0"/>
                            <a:t> an equals sign! Can be solved but only for some (not all) values of </a:t>
                          </a:r>
                          <a:r>
                            <a:rPr lang="en-GB" sz="1200" i="1" baseline="0" dirty="0">
                              <a:latin typeface="+mn-lt"/>
                            </a:rPr>
                            <a:t>x </a:t>
                          </a:r>
                          <a:r>
                            <a:rPr lang="en-GB" sz="1200" i="0" baseline="0" dirty="0">
                              <a:latin typeface="+mn-lt"/>
                            </a:rPr>
                            <a:t>(or any variable)</a:t>
                          </a:r>
                          <a:r>
                            <a:rPr lang="en-GB" sz="1200" i="0" baseline="0" dirty="0"/>
                            <a:t>.</a:t>
                          </a:r>
                          <a:endParaRPr lang="en-GB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228814" t="-230476" r="-678" b="-39428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dirty="0"/>
                            <a:t>Constant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GB" sz="1200" dirty="0"/>
                            <a:t>A number with nothing else attached to it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228814" t="-568852" r="-678" b="-57868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dirty="0"/>
                            <a:t>Variable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AU" sz="1200" dirty="0">
                              <a:latin typeface="+mn-lt"/>
                              <a:cs typeface="Arial" panose="020B0604020202020204" pitchFamily="34" charset="0"/>
                            </a:rPr>
                            <a:t>A letter that represents an unknown number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228814" t="-536842" r="-678" b="-36447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dirty="0"/>
                            <a:t>Coefficient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AU" sz="1200" dirty="0">
                              <a:latin typeface="+mn-lt"/>
                              <a:cs typeface="Arial" panose="020B0604020202020204" pitchFamily="34" charset="0"/>
                            </a:rPr>
                            <a:t>The number in front of the variable</a:t>
                          </a:r>
                        </a:p>
                        <a:p>
                          <a:endParaRPr lang="en-AU" sz="1200" dirty="0">
                            <a:latin typeface="+mn-lt"/>
                            <a:cs typeface="Arial" panose="020B06040202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228814" t="-460952" r="-678" b="-16381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  <a:tr h="1005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dirty="0"/>
                            <a:t>Like terms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en-US" sz="1200" dirty="0">
                              <a:latin typeface="+mn-lt"/>
                              <a:cs typeface="Arial" panose="020B0604020202020204" pitchFamily="34" charset="0"/>
                            </a:rPr>
                            <a:t>Terms that have the </a:t>
                          </a:r>
                          <a:r>
                            <a:rPr lang="en-US" altLang="en-US" sz="1200" b="1" u="sng" dirty="0">
                              <a:latin typeface="+mn-lt"/>
                              <a:cs typeface="Arial" panose="020B0604020202020204" pitchFamily="34" charset="0"/>
                            </a:rPr>
                            <a:t>same variables</a:t>
                          </a:r>
                        </a:p>
                        <a:p>
                          <a:pPr algn="l"/>
                          <a:endParaRPr lang="en-GB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dirty="0"/>
                            <a:t>4t and 6t</a:t>
                          </a:r>
                        </a:p>
                        <a:p>
                          <a:pPr algn="ctr"/>
                          <a:r>
                            <a:rPr lang="en-GB" sz="1200" dirty="0"/>
                            <a:t>11x and 2x</a:t>
                          </a:r>
                        </a:p>
                        <a:p>
                          <a:pPr algn="ctr"/>
                          <a:endParaRPr lang="en-GB" sz="1200" dirty="0"/>
                        </a:p>
                        <a:p>
                          <a:pPr algn="ctr"/>
                          <a:r>
                            <a:rPr lang="en-GB" sz="1200" dirty="0"/>
                            <a:t>4x</a:t>
                          </a:r>
                          <a:r>
                            <a:rPr lang="en-GB" sz="1200" baseline="30000" dirty="0"/>
                            <a:t>2</a:t>
                          </a:r>
                          <a:r>
                            <a:rPr lang="en-GB" sz="1200" baseline="0" dirty="0"/>
                            <a:t> and 3x ARE NOT LIKE TERMS</a:t>
                          </a:r>
                          <a:endParaRPr lang="en-GB" sz="1200" baseline="300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044453999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7" name="TextBox 6"/>
          <p:cNvSpPr txBox="1"/>
          <p:nvPr/>
        </p:nvSpPr>
        <p:spPr>
          <a:xfrm>
            <a:off x="8188816" y="103032"/>
            <a:ext cx="172188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b="1" u="sng" dirty="0"/>
              <a:t>Algebra - Vocabulary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9" name="Table 8">
                <a:extLst>
                  <a:ext uri="{FF2B5EF4-FFF2-40B4-BE49-F238E27FC236}">
                    <a16:creationId xmlns:a16="http://schemas.microsoft.com/office/drawing/2014/main" id="{24D74E9D-CCB8-4361-9262-B13D5BA28F9E}"/>
                  </a:ext>
                </a:extLst>
              </p:cNvPr>
              <p:cNvGraphicFramePr>
                <a:graphicFrameLocks noGrp="1"/>
              </p:cNvGraphicFramePr>
              <p:nvPr>
                <p:extLst/>
              </p:nvPr>
            </p:nvGraphicFramePr>
            <p:xfrm>
              <a:off x="6186155" y="577999"/>
              <a:ext cx="5897092" cy="458216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319717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2781994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795381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400" b="1" u="sng" dirty="0"/>
                            <a:t>Vocabulary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400" b="1" u="sng" dirty="0"/>
                            <a:t>Meaning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400" b="1" u="sng" dirty="0"/>
                            <a:t>Examples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dirty="0"/>
                            <a:t>Term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GB" sz="1200" dirty="0"/>
                            <a:t>An algebraic quantity which</a:t>
                          </a:r>
                          <a:r>
                            <a:rPr lang="en-GB" sz="1200" baseline="0" dirty="0"/>
                            <a:t> only contains letters (and maybe a number) – no signs in the middle!</a:t>
                          </a:r>
                          <a:endParaRPr lang="en-GB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200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  <m:r>
                                  <a:rPr lang="en-GB" sz="12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GB" sz="1200" b="0" i="1" smtClean="0">
                                    <a:latin typeface="Cambria Math" panose="02040503050406030204" pitchFamily="18" charset="0"/>
                                  </a:rPr>
                                  <m:t>, −5</m:t>
                                </m:r>
                                <m:sSup>
                                  <m:sSupPr>
                                    <m:ctrlPr>
                                      <a:rPr lang="en-GB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GB" sz="1200" b="0" i="1" smtClean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  <m:sup>
                                    <m:r>
                                      <a:rPr lang="en-GB" sz="12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GB" sz="1200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f>
                                  <m:fPr>
                                    <m:ctrlPr>
                                      <a:rPr lang="en-GB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12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num>
                                  <m:den>
                                    <m:r>
                                      <a:rPr lang="en-GB" sz="1200" b="0" i="1" smtClean="0"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  <m:r>
                                      <a:rPr lang="en-GB" sz="1200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2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dirty="0"/>
                            <a:t>Expression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GB" sz="1200" dirty="0"/>
                            <a:t>Made up of algebraic terms – no equals</a:t>
                          </a:r>
                          <a:r>
                            <a:rPr lang="en-GB" sz="1200" baseline="0" dirty="0"/>
                            <a:t> sign!</a:t>
                          </a:r>
                          <a:endParaRPr lang="en-GB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200" b="0" i="1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  <m:r>
                                  <a:rPr lang="en-GB" sz="1200" b="0" i="1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  <m:r>
                                  <a:rPr lang="en-GB" sz="1200" b="0" i="1" smtClean="0">
                                    <a:latin typeface="Cambria Math" panose="02040503050406030204" pitchFamily="18" charset="0"/>
                                  </a:rPr>
                                  <m:t>+2</m:t>
                                </m:r>
                                <m:r>
                                  <a:rPr lang="en-GB" sz="1200" b="0" i="1" smtClean="0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oMath>
                            </m:oMathPara>
                          </a14:m>
                          <a:endParaRPr lang="en-GB" sz="1200" b="0" i="1" dirty="0">
                            <a:latin typeface="Cambria Math" panose="02040503050406030204" pitchFamily="18" charset="0"/>
                          </a:endParaRPr>
                        </a:p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200" b="0" i="1" smtClean="0">
                                    <a:latin typeface="Cambria Math" panose="02040503050406030204" pitchFamily="18" charset="0"/>
                                  </a:rPr>
                                  <m:t>3(</m:t>
                                </m:r>
                                <m:r>
                                  <a:rPr lang="en-GB" sz="1200" b="0" i="1" smtClean="0">
                                    <a:latin typeface="Cambria Math" panose="02040503050406030204" pitchFamily="18" charset="0"/>
                                  </a:rPr>
                                  <m:t>𝑙</m:t>
                                </m:r>
                                <m:r>
                                  <a:rPr lang="en-GB" sz="1200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GB" sz="1200" b="0" i="1" smtClean="0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  <m:r>
                                  <a:rPr lang="en-GB" sz="12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GB" sz="12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dirty="0"/>
                            <a:t>Equation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GB" sz="1200" dirty="0"/>
                            <a:t>Contains</a:t>
                          </a:r>
                          <a:r>
                            <a:rPr lang="en-GB" sz="1200" baseline="0" dirty="0"/>
                            <a:t> an equals sign! Can be solved but only for some (not all) values of </a:t>
                          </a:r>
                          <a:r>
                            <a:rPr lang="en-GB" sz="1200" i="1" baseline="0" dirty="0">
                              <a:latin typeface="+mn-lt"/>
                            </a:rPr>
                            <a:t>x </a:t>
                          </a:r>
                          <a:r>
                            <a:rPr lang="en-GB" sz="1200" i="0" baseline="0" dirty="0">
                              <a:latin typeface="+mn-lt"/>
                            </a:rPr>
                            <a:t>(or any variable)</a:t>
                          </a:r>
                          <a:r>
                            <a:rPr lang="en-GB" sz="1200" i="0" baseline="0" dirty="0"/>
                            <a:t>.</a:t>
                          </a:r>
                          <a:endParaRPr lang="en-GB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2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GB" sz="1200" b="0" i="1" smtClean="0">
                                    <a:latin typeface="Cambria Math" panose="02040503050406030204" pitchFamily="18" charset="0"/>
                                  </a:rPr>
                                  <m:t>+4=10</m:t>
                                </m:r>
                              </m:oMath>
                            </m:oMathPara>
                          </a14:m>
                          <a:endParaRPr lang="en-GB" sz="1200" b="0" i="1" dirty="0">
                            <a:latin typeface="Cambria Math" panose="02040503050406030204" pitchFamily="18" charset="0"/>
                          </a:endParaRPr>
                        </a:p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GB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GB" sz="1200" b="0" i="1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p>
                                    <m:r>
                                      <a:rPr lang="en-GB" sz="12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GB" sz="1200" b="0" i="1" smtClean="0">
                                    <a:latin typeface="Cambria Math" panose="02040503050406030204" pitchFamily="18" charset="0"/>
                                  </a:rPr>
                                  <m:t>+3</m:t>
                                </m:r>
                                <m:r>
                                  <a:rPr lang="en-GB" sz="1200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  <m:r>
                                  <a:rPr lang="en-GB" sz="1200" b="0" i="1" smtClean="0">
                                    <a:latin typeface="Cambria Math" panose="02040503050406030204" pitchFamily="18" charset="0"/>
                                  </a:rPr>
                                  <m:t>+2=0 </m:t>
                                </m:r>
                              </m:oMath>
                            </m:oMathPara>
                          </a14:m>
                          <a:endParaRPr lang="en-GB" sz="12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dirty="0"/>
                            <a:t>Constant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GB" sz="1200" dirty="0"/>
                            <a:t>A number with nothing else attached to it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</a:rPr>
                                  <m:t>3, 16, 256</m:t>
                                </m:r>
                              </m:oMath>
                            </m:oMathPara>
                          </a14:m>
                          <a:endParaRPr lang="en-GB" sz="12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dirty="0"/>
                            <a:t>Variable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AU" sz="1200" dirty="0">
                              <a:latin typeface="+mn-lt"/>
                              <a:cs typeface="Arial" panose="020B0604020202020204" pitchFamily="34" charset="0"/>
                            </a:rPr>
                            <a:t>A letter that represents an unknown number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</a:rPr>
                                  <m:t>, </m:t>
                                </m:r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</a:rPr>
                                  <m:t>, </m:t>
                                </m:r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oMath>
                            </m:oMathPara>
                          </a14:m>
                          <a:endParaRPr lang="en-GB" sz="12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dirty="0"/>
                            <a:t>Coefficient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AU" sz="1200" dirty="0">
                              <a:latin typeface="+mn-lt"/>
                              <a:cs typeface="Arial" panose="020B0604020202020204" pitchFamily="34" charset="0"/>
                            </a:rPr>
                            <a:t>The number in front of the variable</a:t>
                          </a:r>
                        </a:p>
                        <a:p>
                          <a:endParaRPr lang="en-AU" sz="1200" dirty="0">
                            <a:latin typeface="+mn-lt"/>
                            <a:cs typeface="Arial" panose="020B06040202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sz="12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3</m:t>
                                </m:r>
                                <m:r>
                                  <a:rPr lang="en-AU" sz="12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𝑥</m:t>
                                </m:r>
                                <m:r>
                                  <a:rPr lang="en-AU" sz="12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      3 </m:t>
                                </m:r>
                                <m:r>
                                  <a:rPr lang="en-AU" sz="12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𝑖𝑠</m:t>
                                </m:r>
                                <m:r>
                                  <a:rPr lang="en-AU" sz="12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 </m:t>
                                </m:r>
                                <m:r>
                                  <a:rPr lang="en-AU" sz="12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𝑡h𝑒</m:t>
                                </m:r>
                                <m:r>
                                  <a:rPr lang="en-AU" sz="12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 </m:t>
                                </m:r>
                                <m:r>
                                  <a:rPr lang="en-AU" sz="12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𝑐𝑜𝑒𝑓𝑓𝑖𝑐𝑖𝑒𝑛𝑡</m:t>
                                </m:r>
                              </m:oMath>
                            </m:oMathPara>
                          </a14:m>
                          <a:endParaRPr lang="en-AU" sz="1200" b="0" dirty="0">
                            <a:latin typeface="+mn-lt"/>
                            <a:cs typeface="Arial" panose="020B0604020202020204" pitchFamily="34" charset="0"/>
                          </a:endParaRPr>
                        </a:p>
                        <a:p>
                          <a:r>
                            <a:rPr lang="en-AU" sz="1200" dirty="0">
                              <a:latin typeface="+mn-lt"/>
                              <a:cs typeface="Arial" panose="020B0604020202020204" pitchFamily="34" charset="0"/>
                            </a:rPr>
                            <a:t>       </a:t>
                          </a:r>
                          <a14:m>
                            <m:oMath xmlns:m="http://schemas.openxmlformats.org/officeDocument/2006/math">
                              <m:r>
                                <a:rPr lang="en-AU" sz="12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5</m:t>
                              </m:r>
                              <m:r>
                                <a:rPr lang="en-AU" sz="12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𝑦</m:t>
                              </m:r>
                              <m:r>
                                <a:rPr lang="en-AU" sz="12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     5 </m:t>
                              </m:r>
                              <m:r>
                                <a:rPr lang="en-AU" sz="12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𝑖𝑠</m:t>
                              </m:r>
                              <m:r>
                                <a:rPr lang="en-AU" sz="12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 </m:t>
                              </m:r>
                              <m:r>
                                <a:rPr lang="en-AU" sz="12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𝑡h𝑒</m:t>
                              </m:r>
                              <m:r>
                                <a:rPr lang="en-AU" sz="12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 </m:t>
                              </m:r>
                              <m:r>
                                <a:rPr lang="en-AU" sz="12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𝑐𝑜𝑒𝑓𝑓𝑖𝑐𝑖𝑒𝑛𝑡</m:t>
                              </m:r>
                              <m:r>
                                <a:rPr lang="en-AU" sz="12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 </m:t>
                              </m:r>
                            </m:oMath>
                          </a14:m>
                          <a:endParaRPr lang="en-AU" sz="1200" dirty="0">
                            <a:latin typeface="+mn-lt"/>
                            <a:cs typeface="Arial" panose="020B0604020202020204" pitchFamily="34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dirty="0"/>
                            <a:t>Like terms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en-US" sz="1200" dirty="0">
                              <a:latin typeface="+mn-lt"/>
                              <a:cs typeface="Arial" panose="020B0604020202020204" pitchFamily="34" charset="0"/>
                            </a:rPr>
                            <a:t>Terms that have the </a:t>
                          </a:r>
                          <a:r>
                            <a:rPr lang="en-US" altLang="en-US" sz="1200" b="1" u="sng" dirty="0">
                              <a:latin typeface="+mn-lt"/>
                              <a:cs typeface="Arial" panose="020B0604020202020204" pitchFamily="34" charset="0"/>
                            </a:rPr>
                            <a:t>same variables</a:t>
                          </a:r>
                        </a:p>
                        <a:p>
                          <a:pPr algn="l"/>
                          <a:endParaRPr lang="en-GB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dirty="0"/>
                            <a:t>4t and 6t</a:t>
                          </a:r>
                        </a:p>
                        <a:p>
                          <a:pPr algn="ctr"/>
                          <a:r>
                            <a:rPr lang="en-GB" sz="1200" dirty="0"/>
                            <a:t>11x and 2x</a:t>
                          </a:r>
                        </a:p>
                        <a:p>
                          <a:pPr algn="ctr"/>
                          <a:endParaRPr lang="en-GB" sz="1200" dirty="0"/>
                        </a:p>
                        <a:p>
                          <a:pPr algn="ctr"/>
                          <a:r>
                            <a:rPr lang="en-GB" sz="1200" dirty="0"/>
                            <a:t>4x</a:t>
                          </a:r>
                          <a:r>
                            <a:rPr lang="en-GB" sz="1200" baseline="30000" dirty="0"/>
                            <a:t>2</a:t>
                          </a:r>
                          <a:r>
                            <a:rPr lang="en-GB" sz="1200" baseline="0" dirty="0"/>
                            <a:t> and 3x ARE NOT LIKE TERMS</a:t>
                          </a:r>
                          <a:endParaRPr lang="en-GB" sz="1200" baseline="300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04445399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9" name="Table 8">
                <a:extLst>
                  <a:ext uri="{FF2B5EF4-FFF2-40B4-BE49-F238E27FC236}">
                    <a16:creationId xmlns:a16="http://schemas.microsoft.com/office/drawing/2014/main" id="{24D74E9D-CCB8-4361-9262-B13D5BA28F9E}"/>
                  </a:ext>
                </a:extLst>
              </p:cNvPr>
              <p:cNvGraphicFramePr>
                <a:graphicFrameLocks noGrp="1"/>
              </p:cNvGraphicFramePr>
              <p:nvPr>
                <p:extLst/>
              </p:nvPr>
            </p:nvGraphicFramePr>
            <p:xfrm>
              <a:off x="6186155" y="577999"/>
              <a:ext cx="5897092" cy="458216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319717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2781994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795381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400" b="1" u="sng" dirty="0"/>
                            <a:t>Vocabulary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400" b="1" u="sng" dirty="0"/>
                            <a:t>Meaning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400" b="1" u="sng" dirty="0"/>
                            <a:t>Examples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dirty="0"/>
                            <a:t>Term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GB" sz="1200" dirty="0"/>
                            <a:t>An algebraic quantity which</a:t>
                          </a:r>
                          <a:r>
                            <a:rPr lang="en-GB" sz="1200" baseline="0" dirty="0"/>
                            <a:t> only contains letters (and maybe a number) – no signs in the middle!</a:t>
                          </a:r>
                          <a:endParaRPr lang="en-GB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228814" t="-59048" r="-678" b="-56571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dirty="0"/>
                            <a:t>Expression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GB" sz="1200" dirty="0"/>
                            <a:t>Made up of algebraic terms – no equals</a:t>
                          </a:r>
                          <a:r>
                            <a:rPr lang="en-GB" sz="1200" baseline="0" dirty="0"/>
                            <a:t> sign!</a:t>
                          </a:r>
                          <a:endParaRPr lang="en-GB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228814" t="-222667" r="-678" b="-692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dirty="0"/>
                            <a:t>Equation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GB" sz="1200" dirty="0"/>
                            <a:t>Contains</a:t>
                          </a:r>
                          <a:r>
                            <a:rPr lang="en-GB" sz="1200" baseline="0" dirty="0"/>
                            <a:t> an equals sign! Can be solved but only for some (not all) values of </a:t>
                          </a:r>
                          <a:r>
                            <a:rPr lang="en-GB" sz="1200" i="1" baseline="0" dirty="0">
                              <a:latin typeface="+mn-lt"/>
                            </a:rPr>
                            <a:t>x </a:t>
                          </a:r>
                          <a:r>
                            <a:rPr lang="en-GB" sz="1200" i="0" baseline="0" dirty="0">
                              <a:latin typeface="+mn-lt"/>
                            </a:rPr>
                            <a:t>(or any variable)</a:t>
                          </a:r>
                          <a:r>
                            <a:rPr lang="en-GB" sz="1200" i="0" baseline="0" dirty="0"/>
                            <a:t>.</a:t>
                          </a:r>
                          <a:endParaRPr lang="en-GB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228814" t="-230476" r="-678" b="-39428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dirty="0"/>
                            <a:t>Constant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GB" sz="1200" dirty="0"/>
                            <a:t>A number with nothing else attached to it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228814" t="-568852" r="-678" b="-57868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dirty="0"/>
                            <a:t>Variable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AU" sz="1200" dirty="0">
                              <a:latin typeface="+mn-lt"/>
                              <a:cs typeface="Arial" panose="020B0604020202020204" pitchFamily="34" charset="0"/>
                            </a:rPr>
                            <a:t>A letter that represents an unknown number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228814" t="-536842" r="-678" b="-36447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dirty="0"/>
                            <a:t>Coefficient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AU" sz="1200" dirty="0">
                              <a:latin typeface="+mn-lt"/>
                              <a:cs typeface="Arial" panose="020B0604020202020204" pitchFamily="34" charset="0"/>
                            </a:rPr>
                            <a:t>The number in front of the variable</a:t>
                          </a:r>
                        </a:p>
                        <a:p>
                          <a:endParaRPr lang="en-AU" sz="1200" dirty="0">
                            <a:latin typeface="+mn-lt"/>
                            <a:cs typeface="Arial" panose="020B06040202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228814" t="-460952" r="-678" b="-16381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  <a:tr h="1005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dirty="0"/>
                            <a:t>Like terms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en-US" sz="1200" dirty="0">
                              <a:latin typeface="+mn-lt"/>
                              <a:cs typeface="Arial" panose="020B0604020202020204" pitchFamily="34" charset="0"/>
                            </a:rPr>
                            <a:t>Terms that have the </a:t>
                          </a:r>
                          <a:r>
                            <a:rPr lang="en-US" altLang="en-US" sz="1200" b="1" u="sng" dirty="0">
                              <a:latin typeface="+mn-lt"/>
                              <a:cs typeface="Arial" panose="020B0604020202020204" pitchFamily="34" charset="0"/>
                            </a:rPr>
                            <a:t>same variables</a:t>
                          </a:r>
                        </a:p>
                        <a:p>
                          <a:pPr algn="l"/>
                          <a:endParaRPr lang="en-GB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dirty="0"/>
                            <a:t>4t and 6t</a:t>
                          </a:r>
                        </a:p>
                        <a:p>
                          <a:pPr algn="ctr"/>
                          <a:r>
                            <a:rPr lang="en-GB" sz="1200" dirty="0"/>
                            <a:t>11x and 2x</a:t>
                          </a:r>
                        </a:p>
                        <a:p>
                          <a:pPr algn="ctr"/>
                          <a:endParaRPr lang="en-GB" sz="1200" dirty="0"/>
                        </a:p>
                        <a:p>
                          <a:pPr algn="ctr"/>
                          <a:r>
                            <a:rPr lang="en-GB" sz="1200" dirty="0"/>
                            <a:t>4x</a:t>
                          </a:r>
                          <a:r>
                            <a:rPr lang="en-GB" sz="1200" baseline="30000" dirty="0"/>
                            <a:t>2</a:t>
                          </a:r>
                          <a:r>
                            <a:rPr lang="en-GB" sz="1200" baseline="0" dirty="0"/>
                            <a:t> and 3x ARE NOT LIKE TERMS</a:t>
                          </a:r>
                          <a:endParaRPr lang="en-GB" sz="1200" baseline="300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044453999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4332255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099256" y="103031"/>
            <a:ext cx="172188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b="1" u="sng" dirty="0"/>
              <a:t>Algebra - Vocabulary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Table 5"/>
              <p:cNvGraphicFramePr>
                <a:graphicFrameLocks noGrp="1"/>
              </p:cNvGraphicFramePr>
              <p:nvPr>
                <p:extLst/>
              </p:nvPr>
            </p:nvGraphicFramePr>
            <p:xfrm>
              <a:off x="108755" y="577999"/>
              <a:ext cx="5897092" cy="48514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319717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2781994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795381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400" b="1" u="sng" dirty="0"/>
                            <a:t>Vocabulary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400" b="1" u="sng" dirty="0"/>
                            <a:t>Meaning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400" b="1" u="sng" dirty="0"/>
                            <a:t>Examples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dirty="0"/>
                            <a:t>Term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l"/>
                          <a:endParaRPr lang="en-GB" sz="1200" dirty="0"/>
                        </a:p>
                        <a:p>
                          <a:pPr algn="l"/>
                          <a:endParaRPr lang="en-GB" sz="1200" dirty="0"/>
                        </a:p>
                        <a:p>
                          <a:pPr algn="l"/>
                          <a:endParaRPr lang="en-GB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200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  <m:r>
                                  <a:rPr lang="en-GB" sz="12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GB" sz="1200" b="0" i="1" smtClean="0">
                                    <a:latin typeface="Cambria Math" panose="02040503050406030204" pitchFamily="18" charset="0"/>
                                  </a:rPr>
                                  <m:t>, −5</m:t>
                                </m:r>
                                <m:sSup>
                                  <m:sSupPr>
                                    <m:ctrlPr>
                                      <a:rPr lang="en-GB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GB" sz="1200" b="0" i="1" smtClean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  <m:sup>
                                    <m:r>
                                      <a:rPr lang="en-GB" sz="12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GB" sz="1200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f>
                                  <m:fPr>
                                    <m:ctrlPr>
                                      <a:rPr lang="en-GB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12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num>
                                  <m:den>
                                    <m:r>
                                      <a:rPr lang="en-GB" sz="1200" b="0" i="1" smtClean="0"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  <m:r>
                                      <a:rPr lang="en-GB" sz="1200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2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dirty="0"/>
                            <a:t>Expression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GB" sz="1200" dirty="0"/>
                            <a:t>Made up of algebraic terms – no equals</a:t>
                          </a:r>
                          <a:r>
                            <a:rPr lang="en-GB" sz="1200" baseline="0" dirty="0"/>
                            <a:t> sign!</a:t>
                          </a:r>
                        </a:p>
                        <a:p>
                          <a:pPr algn="l"/>
                          <a:endParaRPr lang="en-GB" sz="1200" baseline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dirty="0"/>
                            <a:t>Equation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l"/>
                          <a:endParaRPr lang="en-GB" sz="1200" dirty="0"/>
                        </a:p>
                        <a:p>
                          <a:pPr algn="l"/>
                          <a:endParaRPr lang="en-GB" sz="1200" dirty="0"/>
                        </a:p>
                        <a:p>
                          <a:pPr algn="l"/>
                          <a:endParaRPr lang="en-GB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dirty="0"/>
                            <a:t>Constant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l"/>
                          <a:endParaRPr lang="en-GB" sz="1200" dirty="0"/>
                        </a:p>
                        <a:p>
                          <a:pPr algn="l"/>
                          <a:endParaRPr lang="en-GB" sz="1200" dirty="0"/>
                        </a:p>
                        <a:p>
                          <a:pPr algn="l"/>
                          <a:endParaRPr lang="en-GB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dirty="0"/>
                            <a:t>Variable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 sz="1200" dirty="0">
                            <a:latin typeface="+mn-lt"/>
                            <a:cs typeface="Arial" panose="020B0604020202020204" pitchFamily="34" charset="0"/>
                          </a:endParaRPr>
                        </a:p>
                        <a:p>
                          <a:endParaRPr lang="en-US" sz="1200" dirty="0">
                            <a:latin typeface="+mn-lt"/>
                            <a:cs typeface="Arial" panose="020B0604020202020204" pitchFamily="34" charset="0"/>
                          </a:endParaRPr>
                        </a:p>
                        <a:p>
                          <a:endParaRPr lang="en-AU" sz="1200" dirty="0">
                            <a:latin typeface="+mn-lt"/>
                            <a:cs typeface="Arial" panose="020B06040202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dirty="0"/>
                            <a:t>Coefficient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 sz="1200" dirty="0">
                            <a:latin typeface="+mn-lt"/>
                            <a:cs typeface="Arial" panose="020B0604020202020204" pitchFamily="34" charset="0"/>
                          </a:endParaRPr>
                        </a:p>
                        <a:p>
                          <a:endParaRPr lang="en-US" sz="1200" dirty="0">
                            <a:latin typeface="+mn-lt"/>
                            <a:cs typeface="Arial" panose="020B0604020202020204" pitchFamily="34" charset="0"/>
                          </a:endParaRPr>
                        </a:p>
                        <a:p>
                          <a:endParaRPr lang="en-AU" sz="1200" dirty="0">
                            <a:latin typeface="+mn-lt"/>
                            <a:cs typeface="Arial" panose="020B06040202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AU" sz="1200" dirty="0">
                            <a:latin typeface="+mn-lt"/>
                            <a:cs typeface="Arial" panose="020B0604020202020204" pitchFamily="34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dirty="0"/>
                            <a:t>Like terms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l"/>
                          <a:endParaRPr lang="en-GB" sz="1200" dirty="0"/>
                        </a:p>
                        <a:p>
                          <a:pPr algn="l"/>
                          <a:endParaRPr lang="en-GB" sz="1200" dirty="0"/>
                        </a:p>
                        <a:p>
                          <a:pPr algn="l"/>
                          <a:endParaRPr lang="en-GB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aseline="300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04445399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Table 5"/>
              <p:cNvGraphicFramePr>
                <a:graphicFrameLocks noGrp="1"/>
              </p:cNvGraphicFramePr>
              <p:nvPr>
                <p:extLst/>
              </p:nvPr>
            </p:nvGraphicFramePr>
            <p:xfrm>
              <a:off x="108755" y="577999"/>
              <a:ext cx="5897092" cy="48514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319717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2781994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795381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400" b="1" u="sng" dirty="0"/>
                            <a:t>Vocabulary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400" b="1" u="sng" dirty="0"/>
                            <a:t>Meaning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400" b="1" u="sng" dirty="0"/>
                            <a:t>Examples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dirty="0"/>
                            <a:t>Term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l"/>
                          <a:endParaRPr lang="en-GB" sz="1200" dirty="0"/>
                        </a:p>
                        <a:p>
                          <a:pPr algn="l"/>
                          <a:endParaRPr lang="en-GB" sz="1200" dirty="0"/>
                        </a:p>
                        <a:p>
                          <a:pPr algn="l"/>
                          <a:endParaRPr lang="en-GB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28814" t="-59048" r="-678" b="-60285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dirty="0"/>
                            <a:t>Expression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GB" sz="1200" dirty="0"/>
                            <a:t>Made up of algebraic terms – no equals</a:t>
                          </a:r>
                          <a:r>
                            <a:rPr lang="en-GB" sz="1200" baseline="0" dirty="0"/>
                            <a:t> sign!</a:t>
                          </a:r>
                        </a:p>
                        <a:p>
                          <a:pPr algn="l"/>
                          <a:endParaRPr lang="en-GB" sz="1200" baseline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dirty="0"/>
                            <a:t>Equation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l"/>
                          <a:endParaRPr lang="en-GB" sz="1200" dirty="0"/>
                        </a:p>
                        <a:p>
                          <a:pPr algn="l"/>
                          <a:endParaRPr lang="en-GB" sz="1200" dirty="0"/>
                        </a:p>
                        <a:p>
                          <a:pPr algn="l"/>
                          <a:endParaRPr lang="en-GB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dirty="0"/>
                            <a:t>Constant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l"/>
                          <a:endParaRPr lang="en-GB" sz="1200" dirty="0"/>
                        </a:p>
                        <a:p>
                          <a:pPr algn="l"/>
                          <a:endParaRPr lang="en-GB" sz="1200" dirty="0"/>
                        </a:p>
                        <a:p>
                          <a:pPr algn="l"/>
                          <a:endParaRPr lang="en-GB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dirty="0"/>
                            <a:t>Variable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 sz="1200" dirty="0">
                            <a:latin typeface="+mn-lt"/>
                            <a:cs typeface="Arial" panose="020B0604020202020204" pitchFamily="34" charset="0"/>
                          </a:endParaRPr>
                        </a:p>
                        <a:p>
                          <a:endParaRPr lang="en-US" sz="1200" dirty="0">
                            <a:latin typeface="+mn-lt"/>
                            <a:cs typeface="Arial" panose="020B0604020202020204" pitchFamily="34" charset="0"/>
                          </a:endParaRPr>
                        </a:p>
                        <a:p>
                          <a:endParaRPr lang="en-AU" sz="1200" dirty="0">
                            <a:latin typeface="+mn-lt"/>
                            <a:cs typeface="Arial" panose="020B06040202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dirty="0"/>
                            <a:t>Coefficient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 sz="1200" dirty="0">
                            <a:latin typeface="+mn-lt"/>
                            <a:cs typeface="Arial" panose="020B0604020202020204" pitchFamily="34" charset="0"/>
                          </a:endParaRPr>
                        </a:p>
                        <a:p>
                          <a:endParaRPr lang="en-US" sz="1200" dirty="0">
                            <a:latin typeface="+mn-lt"/>
                            <a:cs typeface="Arial" panose="020B0604020202020204" pitchFamily="34" charset="0"/>
                          </a:endParaRPr>
                        </a:p>
                        <a:p>
                          <a:endParaRPr lang="en-AU" sz="1200" dirty="0">
                            <a:latin typeface="+mn-lt"/>
                            <a:cs typeface="Arial" panose="020B06040202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/>
                          <a:endParaRPr lang="en-AU" sz="1200" dirty="0">
                            <a:latin typeface="+mn-lt"/>
                            <a:cs typeface="Arial" panose="020B0604020202020204" pitchFamily="34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dirty="0"/>
                            <a:t>Like terms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l"/>
                          <a:endParaRPr lang="en-GB" sz="1200" dirty="0"/>
                        </a:p>
                        <a:p>
                          <a:pPr algn="l"/>
                          <a:endParaRPr lang="en-GB" sz="1200" dirty="0"/>
                        </a:p>
                        <a:p>
                          <a:pPr algn="l"/>
                          <a:endParaRPr lang="en-GB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aseline="300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044453999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7" name="TextBox 6"/>
          <p:cNvSpPr txBox="1"/>
          <p:nvPr/>
        </p:nvSpPr>
        <p:spPr>
          <a:xfrm>
            <a:off x="8188816" y="103032"/>
            <a:ext cx="172188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b="1" u="sng" dirty="0"/>
              <a:t>Algebra - Vocabulary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0" name="Table 9">
                <a:extLst>
                  <a:ext uri="{FF2B5EF4-FFF2-40B4-BE49-F238E27FC236}">
                    <a16:creationId xmlns:a16="http://schemas.microsoft.com/office/drawing/2014/main" id="{F9F8CBB0-7C0F-4EA3-8E86-87DCBF6E0901}"/>
                  </a:ext>
                </a:extLst>
              </p:cNvPr>
              <p:cNvGraphicFramePr>
                <a:graphicFrameLocks noGrp="1"/>
              </p:cNvGraphicFramePr>
              <p:nvPr>
                <p:extLst/>
              </p:nvPr>
            </p:nvGraphicFramePr>
            <p:xfrm>
              <a:off x="6101211" y="644674"/>
              <a:ext cx="5897092" cy="48514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319717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2781994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795381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400" b="1" u="sng" dirty="0"/>
                            <a:t>Vocabulary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400" b="1" u="sng" dirty="0"/>
                            <a:t>Meaning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400" b="1" u="sng" dirty="0"/>
                            <a:t>Examples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dirty="0"/>
                            <a:t>Term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l"/>
                          <a:endParaRPr lang="en-GB" sz="1200" dirty="0"/>
                        </a:p>
                        <a:p>
                          <a:pPr algn="l"/>
                          <a:endParaRPr lang="en-GB" sz="1200" dirty="0"/>
                        </a:p>
                        <a:p>
                          <a:pPr algn="l"/>
                          <a:endParaRPr lang="en-GB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200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  <m:r>
                                  <a:rPr lang="en-GB" sz="12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GB" sz="1200" b="0" i="1" smtClean="0">
                                    <a:latin typeface="Cambria Math" panose="02040503050406030204" pitchFamily="18" charset="0"/>
                                  </a:rPr>
                                  <m:t>, −5</m:t>
                                </m:r>
                                <m:sSup>
                                  <m:sSupPr>
                                    <m:ctrlPr>
                                      <a:rPr lang="en-GB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GB" sz="1200" b="0" i="1" smtClean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  <m:sup>
                                    <m:r>
                                      <a:rPr lang="en-GB" sz="12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GB" sz="1200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f>
                                  <m:fPr>
                                    <m:ctrlPr>
                                      <a:rPr lang="en-GB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12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num>
                                  <m:den>
                                    <m:r>
                                      <a:rPr lang="en-GB" sz="1200" b="0" i="1" smtClean="0"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  <m:r>
                                      <a:rPr lang="en-GB" sz="1200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2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dirty="0"/>
                            <a:t>Expression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GB" sz="1200" dirty="0"/>
                            <a:t>Made up of algebraic terms – no equals</a:t>
                          </a:r>
                          <a:r>
                            <a:rPr lang="en-GB" sz="1200" baseline="0" dirty="0"/>
                            <a:t> sign!</a:t>
                          </a:r>
                        </a:p>
                        <a:p>
                          <a:pPr algn="l"/>
                          <a:endParaRPr lang="en-GB" sz="1200" baseline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dirty="0"/>
                            <a:t>Equation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l"/>
                          <a:endParaRPr lang="en-GB" sz="1200" dirty="0"/>
                        </a:p>
                        <a:p>
                          <a:pPr algn="l"/>
                          <a:endParaRPr lang="en-GB" sz="1200" dirty="0"/>
                        </a:p>
                        <a:p>
                          <a:pPr algn="l"/>
                          <a:endParaRPr lang="en-GB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dirty="0"/>
                            <a:t>Constant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l"/>
                          <a:endParaRPr lang="en-GB" sz="1200" dirty="0"/>
                        </a:p>
                        <a:p>
                          <a:pPr algn="l"/>
                          <a:endParaRPr lang="en-GB" sz="1200" dirty="0"/>
                        </a:p>
                        <a:p>
                          <a:pPr algn="l"/>
                          <a:endParaRPr lang="en-GB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dirty="0"/>
                            <a:t>Variable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 sz="1200" dirty="0">
                            <a:latin typeface="+mn-lt"/>
                            <a:cs typeface="Arial" panose="020B0604020202020204" pitchFamily="34" charset="0"/>
                          </a:endParaRPr>
                        </a:p>
                        <a:p>
                          <a:endParaRPr lang="en-US" sz="1200" dirty="0">
                            <a:latin typeface="+mn-lt"/>
                            <a:cs typeface="Arial" panose="020B0604020202020204" pitchFamily="34" charset="0"/>
                          </a:endParaRPr>
                        </a:p>
                        <a:p>
                          <a:endParaRPr lang="en-AU" sz="1200" dirty="0">
                            <a:latin typeface="+mn-lt"/>
                            <a:cs typeface="Arial" panose="020B06040202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dirty="0"/>
                            <a:t>Coefficient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 sz="1200" dirty="0">
                            <a:latin typeface="+mn-lt"/>
                            <a:cs typeface="Arial" panose="020B0604020202020204" pitchFamily="34" charset="0"/>
                          </a:endParaRPr>
                        </a:p>
                        <a:p>
                          <a:endParaRPr lang="en-US" sz="1200" dirty="0">
                            <a:latin typeface="+mn-lt"/>
                            <a:cs typeface="Arial" panose="020B0604020202020204" pitchFamily="34" charset="0"/>
                          </a:endParaRPr>
                        </a:p>
                        <a:p>
                          <a:endParaRPr lang="en-AU" sz="1200" dirty="0">
                            <a:latin typeface="+mn-lt"/>
                            <a:cs typeface="Arial" panose="020B06040202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AU" sz="1200" dirty="0">
                            <a:latin typeface="+mn-lt"/>
                            <a:cs typeface="Arial" panose="020B0604020202020204" pitchFamily="34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dirty="0"/>
                            <a:t>Like terms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l"/>
                          <a:endParaRPr lang="en-GB" sz="1200" dirty="0"/>
                        </a:p>
                        <a:p>
                          <a:pPr algn="l"/>
                          <a:endParaRPr lang="en-GB" sz="1200" dirty="0"/>
                        </a:p>
                        <a:p>
                          <a:pPr algn="l"/>
                          <a:endParaRPr lang="en-GB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aseline="300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04445399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0" name="Table 9">
                <a:extLst>
                  <a:ext uri="{FF2B5EF4-FFF2-40B4-BE49-F238E27FC236}">
                    <a16:creationId xmlns:a16="http://schemas.microsoft.com/office/drawing/2014/main" id="{F9F8CBB0-7C0F-4EA3-8E86-87DCBF6E0901}"/>
                  </a:ext>
                </a:extLst>
              </p:cNvPr>
              <p:cNvGraphicFramePr>
                <a:graphicFrameLocks noGrp="1"/>
              </p:cNvGraphicFramePr>
              <p:nvPr>
                <p:extLst/>
              </p:nvPr>
            </p:nvGraphicFramePr>
            <p:xfrm>
              <a:off x="6101211" y="644674"/>
              <a:ext cx="5897092" cy="48514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319717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2781994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795381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400" b="1" u="sng" dirty="0"/>
                            <a:t>Vocabulary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400" b="1" u="sng" dirty="0"/>
                            <a:t>Meaning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400" b="1" u="sng" dirty="0"/>
                            <a:t>Examples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dirty="0"/>
                            <a:t>Term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l"/>
                          <a:endParaRPr lang="en-GB" sz="1200" dirty="0"/>
                        </a:p>
                        <a:p>
                          <a:pPr algn="l"/>
                          <a:endParaRPr lang="en-GB" sz="1200" dirty="0"/>
                        </a:p>
                        <a:p>
                          <a:pPr algn="l"/>
                          <a:endParaRPr lang="en-GB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228814" t="-59048" r="-678" b="-60285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dirty="0"/>
                            <a:t>Expression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GB" sz="1200" dirty="0"/>
                            <a:t>Made up of algebraic terms – no equals</a:t>
                          </a:r>
                          <a:r>
                            <a:rPr lang="en-GB" sz="1200" baseline="0" dirty="0"/>
                            <a:t> sign!</a:t>
                          </a:r>
                        </a:p>
                        <a:p>
                          <a:pPr algn="l"/>
                          <a:endParaRPr lang="en-GB" sz="1200" baseline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dirty="0"/>
                            <a:t>Equation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l"/>
                          <a:endParaRPr lang="en-GB" sz="1200" dirty="0"/>
                        </a:p>
                        <a:p>
                          <a:pPr algn="l"/>
                          <a:endParaRPr lang="en-GB" sz="1200" dirty="0"/>
                        </a:p>
                        <a:p>
                          <a:pPr algn="l"/>
                          <a:endParaRPr lang="en-GB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dirty="0"/>
                            <a:t>Constant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l"/>
                          <a:endParaRPr lang="en-GB" sz="1200" dirty="0"/>
                        </a:p>
                        <a:p>
                          <a:pPr algn="l"/>
                          <a:endParaRPr lang="en-GB" sz="1200" dirty="0"/>
                        </a:p>
                        <a:p>
                          <a:pPr algn="l"/>
                          <a:endParaRPr lang="en-GB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dirty="0"/>
                            <a:t>Variable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 sz="1200" dirty="0">
                            <a:latin typeface="+mn-lt"/>
                            <a:cs typeface="Arial" panose="020B0604020202020204" pitchFamily="34" charset="0"/>
                          </a:endParaRPr>
                        </a:p>
                        <a:p>
                          <a:endParaRPr lang="en-US" sz="1200" dirty="0">
                            <a:latin typeface="+mn-lt"/>
                            <a:cs typeface="Arial" panose="020B0604020202020204" pitchFamily="34" charset="0"/>
                          </a:endParaRPr>
                        </a:p>
                        <a:p>
                          <a:endParaRPr lang="en-AU" sz="1200" dirty="0">
                            <a:latin typeface="+mn-lt"/>
                            <a:cs typeface="Arial" panose="020B06040202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dirty="0"/>
                            <a:t>Coefficient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 sz="1200" dirty="0">
                            <a:latin typeface="+mn-lt"/>
                            <a:cs typeface="Arial" panose="020B0604020202020204" pitchFamily="34" charset="0"/>
                          </a:endParaRPr>
                        </a:p>
                        <a:p>
                          <a:endParaRPr lang="en-US" sz="1200" dirty="0">
                            <a:latin typeface="+mn-lt"/>
                            <a:cs typeface="Arial" panose="020B0604020202020204" pitchFamily="34" charset="0"/>
                          </a:endParaRPr>
                        </a:p>
                        <a:p>
                          <a:endParaRPr lang="en-AU" sz="1200" dirty="0">
                            <a:latin typeface="+mn-lt"/>
                            <a:cs typeface="Arial" panose="020B06040202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/>
                          <a:endParaRPr lang="en-AU" sz="1200" dirty="0">
                            <a:latin typeface="+mn-lt"/>
                            <a:cs typeface="Arial" panose="020B0604020202020204" pitchFamily="34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dirty="0"/>
                            <a:t>Like terms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l"/>
                          <a:endParaRPr lang="en-GB" sz="1200" dirty="0"/>
                        </a:p>
                        <a:p>
                          <a:pPr algn="l"/>
                          <a:endParaRPr lang="en-GB" sz="1200" dirty="0"/>
                        </a:p>
                        <a:p>
                          <a:pPr algn="l"/>
                          <a:endParaRPr lang="en-GB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aseline="300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044453999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5762370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0A31F0-15B2-4EA9-B65F-D192823FF5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882" cy="684561"/>
          </a:xfrm>
        </p:spPr>
        <p:txBody>
          <a:bodyPr>
            <a:normAutofit fontScale="90000"/>
          </a:bodyPr>
          <a:lstStyle/>
          <a:p>
            <a:r>
              <a:rPr lang="en-AU" dirty="0"/>
              <a:t>Practice: LHS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889FE3F-F7C5-47ED-8530-A90674E2713D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0" indent="0">
              <a:buNone/>
            </a:pP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id="{6634288E-EF37-463B-84EF-4578E76F2292}"/>
                  </a:ext>
                </a:extLst>
              </p:cNvPr>
              <p:cNvGraphicFramePr>
                <a:graphicFrameLocks noGrp="1"/>
              </p:cNvGraphicFramePr>
              <p:nvPr>
                <p:extLst/>
              </p:nvPr>
            </p:nvGraphicFramePr>
            <p:xfrm>
              <a:off x="685801" y="2443609"/>
              <a:ext cx="8128000" cy="11125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032000">
                      <a:extLst>
                        <a:ext uri="{9D8B030D-6E8A-4147-A177-3AD203B41FA5}">
                          <a16:colId xmlns:a16="http://schemas.microsoft.com/office/drawing/2014/main" val="3306918660"/>
                        </a:ext>
                      </a:extLst>
                    </a:gridCol>
                    <a:gridCol w="2032000">
                      <a:extLst>
                        <a:ext uri="{9D8B030D-6E8A-4147-A177-3AD203B41FA5}">
                          <a16:colId xmlns:a16="http://schemas.microsoft.com/office/drawing/2014/main" val="777324460"/>
                        </a:ext>
                      </a:extLst>
                    </a:gridCol>
                    <a:gridCol w="2032000">
                      <a:extLst>
                        <a:ext uri="{9D8B030D-6E8A-4147-A177-3AD203B41FA5}">
                          <a16:colId xmlns:a16="http://schemas.microsoft.com/office/drawing/2014/main" val="1443144986"/>
                        </a:ext>
                      </a:extLst>
                    </a:gridCol>
                    <a:gridCol w="2032000">
                      <a:extLst>
                        <a:ext uri="{9D8B030D-6E8A-4147-A177-3AD203B41FA5}">
                          <a16:colId xmlns:a16="http://schemas.microsoft.com/office/drawing/2014/main" val="46036934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4</m:t>
                                </m:r>
                                <m:r>
                                  <a:rPr lang="en-AU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𝑎</m:t>
                                </m:r>
                              </m:oMath>
                            </m:oMathPara>
                          </a14:m>
                          <a:endParaRPr lang="en-AU" b="0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5</m:t>
                                </m:r>
                                <m:r>
                                  <a:rPr lang="en-AU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𝑎𝑏</m:t>
                                </m:r>
                              </m:oMath>
                            </m:oMathPara>
                          </a14:m>
                          <a:endParaRPr lang="en-AU" b="0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6</m:t>
                                </m:r>
                                <m:r>
                                  <a:rPr lang="en-AU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𝑦𝑥𝑧</m:t>
                                </m:r>
                              </m:oMath>
                            </m:oMathPara>
                          </a14:m>
                          <a:endParaRPr lang="en-AU" b="0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5</m:t>
                                </m:r>
                                <m:r>
                                  <a:rPr lang="en-AU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𝑏</m:t>
                                </m:r>
                              </m:oMath>
                            </m:oMathPara>
                          </a14:m>
                          <a:endParaRPr lang="en-AU" b="0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5274738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5</m:t>
                                </m:r>
                                <m:r>
                                  <a:rPr lang="en-AU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𝑦𝑥𝑧</m:t>
                                </m:r>
                              </m:oMath>
                            </m:oMathPara>
                          </a14:m>
                          <a:endParaRPr lang="en-AU" b="0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5</m:t>
                                </m:r>
                                <m:r>
                                  <a:rPr lang="en-AU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𝑎</m:t>
                                </m:r>
                                <m:r>
                                  <a:rPr lang="en-AU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²</m:t>
                                </m:r>
                              </m:oMath>
                            </m:oMathPara>
                          </a14:m>
                          <a:endParaRPr lang="en-AU" b="0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8</m:t>
                                </m:r>
                                <m:r>
                                  <a:rPr lang="en-AU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𝑏</m:t>
                                </m:r>
                              </m:oMath>
                            </m:oMathPara>
                          </a14:m>
                          <a:endParaRPr lang="en-AU" b="0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8</m:t>
                                </m:r>
                                <m:r>
                                  <a:rPr lang="en-AU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𝑧𝑦</m:t>
                                </m:r>
                              </m:oMath>
                            </m:oMathPara>
                          </a14:m>
                          <a:endParaRPr lang="en-AU" b="0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9682971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9</m:t>
                                </m:r>
                                <m:r>
                                  <a:rPr lang="en-AU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𝑎</m:t>
                                </m:r>
                              </m:oMath>
                            </m:oMathPara>
                          </a14:m>
                          <a:endParaRPr lang="en-AU" b="0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18</m:t>
                                </m:r>
                                <m:r>
                                  <a:rPr lang="en-AU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𝑏𝑎</m:t>
                                </m:r>
                              </m:oMath>
                            </m:oMathPara>
                          </a14:m>
                          <a:endParaRPr lang="en-AU" b="0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15</m:t>
                                </m:r>
                                <m:r>
                                  <a:rPr lang="en-AU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𝑥𝑦𝑧</m:t>
                                </m:r>
                              </m:oMath>
                            </m:oMathPara>
                          </a14:m>
                          <a:endParaRPr lang="en-AU" b="0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10</m:t>
                                </m:r>
                                <m:r>
                                  <a:rPr lang="en-AU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𝑎</m:t>
                                </m:r>
                                <m:r>
                                  <a:rPr lang="en-AU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²</m:t>
                                </m:r>
                              </m:oMath>
                            </m:oMathPara>
                          </a14:m>
                          <a:endParaRPr lang="en-AU" b="0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0728966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id="{6634288E-EF37-463B-84EF-4578E76F229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27698595"/>
                  </p:ext>
                </p:extLst>
              </p:nvPr>
            </p:nvGraphicFramePr>
            <p:xfrm>
              <a:off x="685801" y="2443609"/>
              <a:ext cx="8128000" cy="11125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032000">
                      <a:extLst>
                        <a:ext uri="{9D8B030D-6E8A-4147-A177-3AD203B41FA5}">
                          <a16:colId xmlns:a16="http://schemas.microsoft.com/office/drawing/2014/main" val="3306918660"/>
                        </a:ext>
                      </a:extLst>
                    </a:gridCol>
                    <a:gridCol w="2032000">
                      <a:extLst>
                        <a:ext uri="{9D8B030D-6E8A-4147-A177-3AD203B41FA5}">
                          <a16:colId xmlns:a16="http://schemas.microsoft.com/office/drawing/2014/main" val="777324460"/>
                        </a:ext>
                      </a:extLst>
                    </a:gridCol>
                    <a:gridCol w="2032000">
                      <a:extLst>
                        <a:ext uri="{9D8B030D-6E8A-4147-A177-3AD203B41FA5}">
                          <a16:colId xmlns:a16="http://schemas.microsoft.com/office/drawing/2014/main" val="1443144986"/>
                        </a:ext>
                      </a:extLst>
                    </a:gridCol>
                    <a:gridCol w="2032000">
                      <a:extLst>
                        <a:ext uri="{9D8B030D-6E8A-4147-A177-3AD203B41FA5}">
                          <a16:colId xmlns:a16="http://schemas.microsoft.com/office/drawing/2014/main" val="46036934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299" t="-1639" r="-300000" b="-21475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100601" t="-1639" r="-200901" b="-21475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200000" t="-1639" r="-100299" b="-21475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300901" t="-1639" r="-601" b="-21475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5274738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299" t="-100000" r="-300000" b="-1112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100601" t="-100000" r="-200901" b="-1112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200000" t="-100000" r="-100299" b="-1112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300901" t="-100000" r="-601" b="-1112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9682971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299" t="-203279" r="-300000" b="-131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100601" t="-203279" r="-200901" b="-131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200000" t="-203279" r="-100299" b="-131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300901" t="-203279" r="-601" b="-1311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07289666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72850A12-344E-4464-8B50-1174ABB184D4}"/>
              </a:ext>
            </a:extLst>
          </p:cNvPr>
          <p:cNvSpPr txBox="1"/>
          <p:nvPr/>
        </p:nvSpPr>
        <p:spPr>
          <a:xfrm>
            <a:off x="637881" y="1458306"/>
            <a:ext cx="54581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latin typeface="Arial" panose="020B0604020202020204" pitchFamily="34" charset="0"/>
                <a:cs typeface="Arial" panose="020B0604020202020204" pitchFamily="34" charset="0"/>
              </a:rPr>
              <a:t>GROUP  THE FOLLOWING INTO LIKE TERMS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" name="Table 7">
                <a:extLst>
                  <a:ext uri="{FF2B5EF4-FFF2-40B4-BE49-F238E27FC236}">
                    <a16:creationId xmlns:a16="http://schemas.microsoft.com/office/drawing/2014/main" id="{0CC4F7BE-D617-458E-821A-B34D8D5711D8}"/>
                  </a:ext>
                </a:extLst>
              </p:cNvPr>
              <p:cNvGraphicFramePr>
                <a:graphicFrameLocks noGrp="1"/>
              </p:cNvGraphicFramePr>
              <p:nvPr>
                <p:extLst/>
              </p:nvPr>
            </p:nvGraphicFramePr>
            <p:xfrm>
              <a:off x="759381" y="3976553"/>
              <a:ext cx="10323300" cy="1085641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720550">
                      <a:extLst>
                        <a:ext uri="{9D8B030D-6E8A-4147-A177-3AD203B41FA5}">
                          <a16:colId xmlns:a16="http://schemas.microsoft.com/office/drawing/2014/main" val="4274588088"/>
                        </a:ext>
                      </a:extLst>
                    </a:gridCol>
                    <a:gridCol w="1720550">
                      <a:extLst>
                        <a:ext uri="{9D8B030D-6E8A-4147-A177-3AD203B41FA5}">
                          <a16:colId xmlns:a16="http://schemas.microsoft.com/office/drawing/2014/main" val="1155024427"/>
                        </a:ext>
                      </a:extLst>
                    </a:gridCol>
                    <a:gridCol w="1720550">
                      <a:extLst>
                        <a:ext uri="{9D8B030D-6E8A-4147-A177-3AD203B41FA5}">
                          <a16:colId xmlns:a16="http://schemas.microsoft.com/office/drawing/2014/main" val="4187622094"/>
                        </a:ext>
                      </a:extLst>
                    </a:gridCol>
                    <a:gridCol w="1720550">
                      <a:extLst>
                        <a:ext uri="{9D8B030D-6E8A-4147-A177-3AD203B41FA5}">
                          <a16:colId xmlns:a16="http://schemas.microsoft.com/office/drawing/2014/main" val="517163734"/>
                        </a:ext>
                      </a:extLst>
                    </a:gridCol>
                    <a:gridCol w="1720550">
                      <a:extLst>
                        <a:ext uri="{9D8B030D-6E8A-4147-A177-3AD203B41FA5}">
                          <a16:colId xmlns:a16="http://schemas.microsoft.com/office/drawing/2014/main" val="3951418350"/>
                        </a:ext>
                      </a:extLst>
                    </a:gridCol>
                    <a:gridCol w="1720550">
                      <a:extLst>
                        <a:ext uri="{9D8B030D-6E8A-4147-A177-3AD203B41FA5}">
                          <a16:colId xmlns:a16="http://schemas.microsoft.com/office/drawing/2014/main" val="560248314"/>
                        </a:ext>
                      </a:extLst>
                    </a:gridCol>
                  </a:tblGrid>
                  <a:tr h="1085641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4</m:t>
                                </m:r>
                                <m:r>
                                  <a:rPr lang="en-AU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𝑎</m:t>
                                </m:r>
                              </m:oMath>
                            </m:oMathPara>
                          </a14:m>
                          <a:endParaRPr lang="en-AU" b="0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9</m:t>
                                </m:r>
                                <m:r>
                                  <a:rPr lang="en-AU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𝑎</m:t>
                                </m:r>
                              </m:oMath>
                            </m:oMathPara>
                          </a14:m>
                          <a:endParaRPr lang="en-AU" b="0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5</m:t>
                                </m:r>
                                <m:r>
                                  <a:rPr lang="en-AU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𝑏</m:t>
                                </m:r>
                              </m:oMath>
                            </m:oMathPara>
                          </a14:m>
                          <a:endParaRPr lang="en-AU" b="0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8</m:t>
                                </m:r>
                                <m:r>
                                  <a:rPr lang="en-AU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𝑏</m:t>
                                </m:r>
                              </m:oMath>
                            </m:oMathPara>
                          </a14:m>
                          <a:endParaRPr lang="en-AU" b="0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5</m:t>
                                </m:r>
                                <m:r>
                                  <a:rPr lang="en-AU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𝑎𝑏</m:t>
                                </m:r>
                              </m:oMath>
                            </m:oMathPara>
                          </a14:m>
                          <a:endParaRPr lang="en-AU" b="0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1" i="1" u="sng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𝟏𝟖</m:t>
                                </m:r>
                                <m:r>
                                  <a:rPr lang="en-AU" b="1" i="1" u="sng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𝒂𝒃</m:t>
                                </m:r>
                              </m:oMath>
                            </m:oMathPara>
                          </a14:m>
                          <a:endParaRPr lang="en-AU" b="1" u="sng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1" i="1" u="sng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𝟖</m:t>
                                </m:r>
                                <m:r>
                                  <a:rPr lang="en-AU" b="1" i="1" u="sng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𝒚𝒛</m:t>
                                </m:r>
                              </m:oMath>
                            </m:oMathPara>
                          </a14:m>
                          <a:endParaRPr lang="en-AU" b="1" u="sng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1" i="1" u="sng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𝟔</m:t>
                                </m:r>
                                <m:r>
                                  <a:rPr lang="en-AU" b="1" i="1" u="sng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𝒙𝒚𝒛</m:t>
                                </m:r>
                              </m:oMath>
                            </m:oMathPara>
                          </a14:m>
                          <a:endParaRPr lang="en-AU" b="1" u="sng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1" i="1" u="sng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𝟓</m:t>
                                </m:r>
                                <m:r>
                                  <a:rPr lang="en-AU" b="1" i="1" u="sng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𝒙𝒚𝒛</m:t>
                                </m:r>
                              </m:oMath>
                            </m:oMathPara>
                          </a14:m>
                          <a:endParaRPr lang="en-AU" b="1" u="sng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15</m:t>
                                </m:r>
                                <m:r>
                                  <a:rPr lang="en-AU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𝑥𝑦𝑧</m:t>
                                </m:r>
                              </m:oMath>
                            </m:oMathPara>
                          </a14:m>
                          <a:endParaRPr lang="en-AU" b="0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5</m:t>
                                </m:r>
                                <m:r>
                                  <a:rPr lang="en-AU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𝑎</m:t>
                                </m:r>
                                <m:r>
                                  <a:rPr lang="en-AU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²</m:t>
                                </m:r>
                              </m:oMath>
                            </m:oMathPara>
                          </a14:m>
                          <a:endParaRPr lang="en-AU" b="0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10</m:t>
                                </m:r>
                                <m:r>
                                  <a:rPr lang="en-AU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𝑎</m:t>
                                </m:r>
                                <m:r>
                                  <a:rPr lang="en-AU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²</m:t>
                                </m:r>
                              </m:oMath>
                            </m:oMathPara>
                          </a14:m>
                          <a:endParaRPr lang="en-AU" b="0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  <a:p>
                          <a:endParaRPr lang="en-AU" b="0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24671113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8" name="Table 7">
                <a:extLst>
                  <a:ext uri="{FF2B5EF4-FFF2-40B4-BE49-F238E27FC236}">
                    <a16:creationId xmlns:a16="http://schemas.microsoft.com/office/drawing/2014/main" id="{0CC4F7BE-D617-458E-821A-B34D8D5711D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03667783"/>
                  </p:ext>
                </p:extLst>
              </p:nvPr>
            </p:nvGraphicFramePr>
            <p:xfrm>
              <a:off x="759381" y="3976553"/>
              <a:ext cx="10323300" cy="1085641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720550">
                      <a:extLst>
                        <a:ext uri="{9D8B030D-6E8A-4147-A177-3AD203B41FA5}">
                          <a16:colId xmlns:a16="http://schemas.microsoft.com/office/drawing/2014/main" val="4274588088"/>
                        </a:ext>
                      </a:extLst>
                    </a:gridCol>
                    <a:gridCol w="1720550">
                      <a:extLst>
                        <a:ext uri="{9D8B030D-6E8A-4147-A177-3AD203B41FA5}">
                          <a16:colId xmlns:a16="http://schemas.microsoft.com/office/drawing/2014/main" val="1155024427"/>
                        </a:ext>
                      </a:extLst>
                    </a:gridCol>
                    <a:gridCol w="1720550">
                      <a:extLst>
                        <a:ext uri="{9D8B030D-6E8A-4147-A177-3AD203B41FA5}">
                          <a16:colId xmlns:a16="http://schemas.microsoft.com/office/drawing/2014/main" val="4187622094"/>
                        </a:ext>
                      </a:extLst>
                    </a:gridCol>
                    <a:gridCol w="1720550">
                      <a:extLst>
                        <a:ext uri="{9D8B030D-6E8A-4147-A177-3AD203B41FA5}">
                          <a16:colId xmlns:a16="http://schemas.microsoft.com/office/drawing/2014/main" val="517163734"/>
                        </a:ext>
                      </a:extLst>
                    </a:gridCol>
                    <a:gridCol w="1720550">
                      <a:extLst>
                        <a:ext uri="{9D8B030D-6E8A-4147-A177-3AD203B41FA5}">
                          <a16:colId xmlns:a16="http://schemas.microsoft.com/office/drawing/2014/main" val="3951418350"/>
                        </a:ext>
                      </a:extLst>
                    </a:gridCol>
                    <a:gridCol w="1720550">
                      <a:extLst>
                        <a:ext uri="{9D8B030D-6E8A-4147-A177-3AD203B41FA5}">
                          <a16:colId xmlns:a16="http://schemas.microsoft.com/office/drawing/2014/main" val="560248314"/>
                        </a:ext>
                      </a:extLst>
                    </a:gridCol>
                  </a:tblGrid>
                  <a:tr h="1085641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353" t="-559" r="-499647" b="-111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00709" t="-559" r="-401418" b="-111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00000" t="-559" r="-300000" b="-111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301064" t="-559" r="-201064" b="-111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399647" t="-559" r="-100353" b="-111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501418" t="-559" r="-709" b="-111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46711137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42690881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2112571" y="1298662"/>
            <a:ext cx="0" cy="5559338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2821" y="123165"/>
            <a:ext cx="281737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solidFill>
                  <a:schemeClr val="accent1">
                    <a:lumMod val="50000"/>
                  </a:schemeClr>
                </a:solidFill>
                <a:latin typeface="Kiwi School Handwriting" panose="00000500000000000000" pitchFamily="2" charset="0"/>
              </a:rPr>
              <a:t>Algebra Review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36360" y="204438"/>
            <a:ext cx="2160240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schemeClr val="accent1">
                    <a:lumMod val="50000"/>
                  </a:schemeClr>
                </a:solidFill>
                <a:latin typeface="Kiwi School Handwriting" panose="00000500000000000000" pitchFamily="2" charset="0"/>
              </a:rPr>
              <a:t>EQ – What are the important algebraic definitions?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2" name="Table 11">
                <a:extLst>
                  <a:ext uri="{FF2B5EF4-FFF2-40B4-BE49-F238E27FC236}">
                    <a16:creationId xmlns:a16="http://schemas.microsoft.com/office/drawing/2014/main" id="{F2903F1E-BCA5-4E37-BD61-011ACA11DA1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1176745"/>
                  </p:ext>
                </p:extLst>
              </p:nvPr>
            </p:nvGraphicFramePr>
            <p:xfrm>
              <a:off x="2394755" y="1511375"/>
              <a:ext cx="4606120" cy="478536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030809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2172969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402342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25926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400" b="1" u="sng" dirty="0"/>
                            <a:t>Vocabulary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400" b="1" u="sng" dirty="0"/>
                            <a:t>Meaning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400" b="1" u="sng" dirty="0"/>
                            <a:t>Examples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44749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dirty="0"/>
                            <a:t>Term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GB" sz="1200" dirty="0"/>
                            <a:t>An algebraic quantity which</a:t>
                          </a:r>
                          <a:r>
                            <a:rPr lang="en-GB" sz="1200" baseline="0" dirty="0"/>
                            <a:t> only contains letters (and maybe a number) – no signs in the middle!</a:t>
                          </a:r>
                          <a:endParaRPr lang="en-GB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200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  <m:r>
                                  <a:rPr lang="en-GB" sz="12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GB" sz="1200" b="0" i="1" smtClean="0">
                                    <a:latin typeface="Cambria Math" panose="02040503050406030204" pitchFamily="18" charset="0"/>
                                  </a:rPr>
                                  <m:t>, −5</m:t>
                                </m:r>
                                <m:sSup>
                                  <m:sSupPr>
                                    <m:ctrlPr>
                                      <a:rPr lang="en-GB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GB" sz="1200" b="0" i="1" smtClean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  <m:sup>
                                    <m:r>
                                      <a:rPr lang="en-GB" sz="12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GB" sz="1200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f>
                                  <m:fPr>
                                    <m:ctrlPr>
                                      <a:rPr lang="en-GB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12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num>
                                  <m:den>
                                    <m:r>
                                      <a:rPr lang="en-GB" sz="1200" b="0" i="1" smtClean="0"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  <m:r>
                                      <a:rPr lang="en-GB" sz="1200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2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196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dirty="0"/>
                            <a:t>Expression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GB" sz="1200" dirty="0"/>
                            <a:t>Made up of algebraic terms – no equals</a:t>
                          </a:r>
                          <a:r>
                            <a:rPr lang="en-GB" sz="1200" baseline="0" dirty="0"/>
                            <a:t> sign!</a:t>
                          </a:r>
                          <a:endParaRPr lang="en-GB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200" b="0" i="1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  <m:r>
                                  <a:rPr lang="en-GB" sz="1200" b="0" i="1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  <m:r>
                                  <a:rPr lang="en-GB" sz="1200" b="0" i="1" smtClean="0">
                                    <a:latin typeface="Cambria Math" panose="02040503050406030204" pitchFamily="18" charset="0"/>
                                  </a:rPr>
                                  <m:t>+2</m:t>
                                </m:r>
                                <m:r>
                                  <a:rPr lang="en-GB" sz="1200" b="0" i="1" smtClean="0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oMath>
                            </m:oMathPara>
                          </a14:m>
                          <a:endParaRPr lang="en-GB" sz="1200" b="0" i="1" dirty="0">
                            <a:latin typeface="Cambria Math" panose="02040503050406030204" pitchFamily="18" charset="0"/>
                          </a:endParaRPr>
                        </a:p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200" b="0" i="1" smtClean="0">
                                    <a:latin typeface="Cambria Math" panose="02040503050406030204" pitchFamily="18" charset="0"/>
                                  </a:rPr>
                                  <m:t>3(</m:t>
                                </m:r>
                                <m:r>
                                  <a:rPr lang="en-GB" sz="1200" b="0" i="1" smtClean="0">
                                    <a:latin typeface="Cambria Math" panose="02040503050406030204" pitchFamily="18" charset="0"/>
                                  </a:rPr>
                                  <m:t>𝑙</m:t>
                                </m:r>
                                <m:r>
                                  <a:rPr lang="en-GB" sz="1200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GB" sz="1200" b="0" i="1" smtClean="0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  <m:r>
                                  <a:rPr lang="en-GB" sz="12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GB" sz="12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44749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dirty="0"/>
                            <a:t>Equation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GB" sz="1200" dirty="0"/>
                            <a:t>Contains</a:t>
                          </a:r>
                          <a:r>
                            <a:rPr lang="en-GB" sz="1200" baseline="0" dirty="0"/>
                            <a:t> an equals sign! Can be solved but only for some (not all) values of </a:t>
                          </a:r>
                          <a:r>
                            <a:rPr lang="en-GB" sz="1200" i="1" baseline="0" dirty="0">
                              <a:latin typeface="+mn-lt"/>
                            </a:rPr>
                            <a:t>x </a:t>
                          </a:r>
                          <a:r>
                            <a:rPr lang="en-GB" sz="1200" i="0" baseline="0" dirty="0">
                              <a:latin typeface="+mn-lt"/>
                            </a:rPr>
                            <a:t>(or any variable)</a:t>
                          </a:r>
                          <a:r>
                            <a:rPr lang="en-GB" sz="1200" i="0" baseline="0" dirty="0"/>
                            <a:t>.</a:t>
                          </a:r>
                          <a:endParaRPr lang="en-GB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2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GB" sz="1200" b="0" i="1" smtClean="0">
                                    <a:latin typeface="Cambria Math" panose="02040503050406030204" pitchFamily="18" charset="0"/>
                                  </a:rPr>
                                  <m:t>+4=10</m:t>
                                </m:r>
                              </m:oMath>
                            </m:oMathPara>
                          </a14:m>
                          <a:endParaRPr lang="en-GB" sz="1200" b="0" i="1" dirty="0">
                            <a:latin typeface="Cambria Math" panose="02040503050406030204" pitchFamily="18" charset="0"/>
                          </a:endParaRPr>
                        </a:p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GB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GB" sz="1200" b="0" i="1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p>
                                    <m:r>
                                      <a:rPr lang="en-GB" sz="12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GB" sz="1200" b="0" i="1" smtClean="0">
                                    <a:latin typeface="Cambria Math" panose="02040503050406030204" pitchFamily="18" charset="0"/>
                                  </a:rPr>
                                  <m:t>+3</m:t>
                                </m:r>
                                <m:r>
                                  <a:rPr lang="en-GB" sz="1200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  <m:r>
                                  <a:rPr lang="en-GB" sz="1200" b="0" i="1" smtClean="0">
                                    <a:latin typeface="Cambria Math" panose="02040503050406030204" pitchFamily="18" charset="0"/>
                                  </a:rPr>
                                  <m:t>+2=0 </m:t>
                                </m:r>
                              </m:oMath>
                            </m:oMathPara>
                          </a14:m>
                          <a:endParaRPr lang="en-GB" sz="12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25926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dirty="0"/>
                            <a:t>Constant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GB" sz="1200" dirty="0"/>
                            <a:t>A number with nothing else attached to it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</a:rPr>
                                  <m:t>3, 16, 256</m:t>
                                </m:r>
                              </m:oMath>
                            </m:oMathPara>
                          </a14:m>
                          <a:endParaRPr lang="en-GB" sz="12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3196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dirty="0"/>
                            <a:t>Variable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AU" sz="1200" dirty="0">
                              <a:latin typeface="+mn-lt"/>
                              <a:cs typeface="Arial" panose="020B0604020202020204" pitchFamily="34" charset="0"/>
                            </a:rPr>
                            <a:t>A letter that represents an unknown number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</a:rPr>
                                  <m:t>, </m:t>
                                </m:r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</a:rPr>
                                  <m:t>, </m:t>
                                </m:r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oMath>
                            </m:oMathPara>
                          </a14:m>
                          <a:endParaRPr lang="en-GB" sz="12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44749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dirty="0"/>
                            <a:t>Coefficient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AU" sz="1200" dirty="0">
                              <a:latin typeface="+mn-lt"/>
                              <a:cs typeface="Arial" panose="020B0604020202020204" pitchFamily="34" charset="0"/>
                            </a:rPr>
                            <a:t>The number in front of the variable</a:t>
                          </a:r>
                        </a:p>
                        <a:p>
                          <a:endParaRPr lang="en-AU" sz="1200" dirty="0">
                            <a:latin typeface="+mn-lt"/>
                            <a:cs typeface="Arial" panose="020B06040202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sz="12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3</m:t>
                                </m:r>
                                <m:r>
                                  <a:rPr lang="en-AU" sz="12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𝑥</m:t>
                                </m:r>
                                <m:r>
                                  <a:rPr lang="en-AU" sz="12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      3 </m:t>
                                </m:r>
                                <m:r>
                                  <a:rPr lang="en-AU" sz="12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𝑖𝑠</m:t>
                                </m:r>
                                <m:r>
                                  <a:rPr lang="en-AU" sz="12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 </m:t>
                                </m:r>
                                <m:r>
                                  <a:rPr lang="en-AU" sz="12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𝑡h𝑒</m:t>
                                </m:r>
                                <m:r>
                                  <a:rPr lang="en-AU" sz="12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 </m:t>
                                </m:r>
                                <m:r>
                                  <a:rPr lang="en-AU" sz="12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𝑐𝑜𝑒𝑓𝑓𝑖𝑐𝑖𝑒𝑛𝑡</m:t>
                                </m:r>
                              </m:oMath>
                            </m:oMathPara>
                          </a14:m>
                          <a:endParaRPr lang="en-AU" sz="1200" b="0" dirty="0">
                            <a:latin typeface="+mn-lt"/>
                            <a:cs typeface="Arial" panose="020B0604020202020204" pitchFamily="34" charset="0"/>
                          </a:endParaRPr>
                        </a:p>
                        <a:p>
                          <a:r>
                            <a:rPr lang="en-AU" sz="1200" dirty="0">
                              <a:latin typeface="+mn-lt"/>
                              <a:cs typeface="Arial" panose="020B0604020202020204" pitchFamily="34" charset="0"/>
                            </a:rPr>
                            <a:t>       </a:t>
                          </a:r>
                          <a14:m>
                            <m:oMath xmlns:m="http://schemas.openxmlformats.org/officeDocument/2006/math">
                              <m:r>
                                <a:rPr lang="en-AU" sz="12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5</m:t>
                              </m:r>
                              <m:r>
                                <a:rPr lang="en-AU" sz="12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𝑦</m:t>
                              </m:r>
                              <m:r>
                                <a:rPr lang="en-AU" sz="12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     5 </m:t>
                              </m:r>
                              <m:r>
                                <a:rPr lang="en-AU" sz="12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𝑖𝑠</m:t>
                              </m:r>
                              <m:r>
                                <a:rPr lang="en-AU" sz="12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 </m:t>
                              </m:r>
                              <m:r>
                                <a:rPr lang="en-AU" sz="12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𝑡h𝑒</m:t>
                              </m:r>
                              <m:r>
                                <a:rPr lang="en-AU" sz="12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 </m:t>
                              </m:r>
                              <m:r>
                                <a:rPr lang="en-AU" sz="12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𝑐𝑜𝑒𝑓𝑓𝑖𝑐𝑖𝑒𝑛𝑡</m:t>
                              </m:r>
                              <m:r>
                                <a:rPr lang="en-AU" sz="12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 </m:t>
                              </m:r>
                            </m:oMath>
                          </a14:m>
                          <a:endParaRPr lang="en-AU" sz="1200" dirty="0">
                            <a:latin typeface="+mn-lt"/>
                            <a:cs typeface="Arial" panose="020B0604020202020204" pitchFamily="34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  <a:tr h="70320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dirty="0"/>
                            <a:t>Like terms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en-US" sz="1200" dirty="0">
                              <a:latin typeface="+mn-lt"/>
                              <a:cs typeface="Arial" panose="020B0604020202020204" pitchFamily="34" charset="0"/>
                            </a:rPr>
                            <a:t>Terms that have the </a:t>
                          </a:r>
                          <a:r>
                            <a:rPr lang="en-US" altLang="en-US" sz="1200" b="1" u="sng" dirty="0">
                              <a:latin typeface="+mn-lt"/>
                              <a:cs typeface="Arial" panose="020B0604020202020204" pitchFamily="34" charset="0"/>
                            </a:rPr>
                            <a:t>same variables</a:t>
                          </a:r>
                        </a:p>
                        <a:p>
                          <a:pPr algn="l"/>
                          <a:endParaRPr lang="en-GB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dirty="0"/>
                            <a:t>4t and 6t</a:t>
                          </a:r>
                        </a:p>
                        <a:p>
                          <a:pPr algn="ctr"/>
                          <a:r>
                            <a:rPr lang="en-GB" sz="1200" dirty="0"/>
                            <a:t>11x and 2x</a:t>
                          </a:r>
                        </a:p>
                        <a:p>
                          <a:pPr algn="ctr"/>
                          <a:endParaRPr lang="en-GB" sz="1200" dirty="0"/>
                        </a:p>
                        <a:p>
                          <a:pPr algn="ctr"/>
                          <a:r>
                            <a:rPr lang="en-GB" sz="1200" dirty="0"/>
                            <a:t>4x</a:t>
                          </a:r>
                          <a:r>
                            <a:rPr lang="en-GB" sz="1200" baseline="30000" dirty="0"/>
                            <a:t>2</a:t>
                          </a:r>
                          <a:r>
                            <a:rPr lang="en-GB" sz="1200" baseline="0" dirty="0"/>
                            <a:t> and 3x ARE NOT LIKE TERMS</a:t>
                          </a:r>
                          <a:endParaRPr lang="en-GB" sz="1200" baseline="300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04445399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2" name="Table 11">
                <a:extLst>
                  <a:ext uri="{FF2B5EF4-FFF2-40B4-BE49-F238E27FC236}">
                    <a16:creationId xmlns:a16="http://schemas.microsoft.com/office/drawing/2014/main" id="{F2903F1E-BCA5-4E37-BD61-011ACA11DA1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1176745"/>
                  </p:ext>
                </p:extLst>
              </p:nvPr>
            </p:nvGraphicFramePr>
            <p:xfrm>
              <a:off x="2394755" y="1511375"/>
              <a:ext cx="4606120" cy="478536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030809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2172969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402342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3048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400" b="1" u="sng" dirty="0"/>
                            <a:t>Vocabulary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400" b="1" u="sng" dirty="0"/>
                            <a:t>Meaning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400" b="1" u="sng" dirty="0"/>
                            <a:t>Examples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8229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dirty="0"/>
                            <a:t>Term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GB" sz="1200" dirty="0"/>
                            <a:t>An algebraic quantity which</a:t>
                          </a:r>
                          <a:r>
                            <a:rPr lang="en-GB" sz="1200" baseline="0" dirty="0"/>
                            <a:t> only contains letters (and maybe a number) – no signs in the middle!</a:t>
                          </a:r>
                          <a:endParaRPr lang="en-GB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229565" t="-37778" r="-870" b="-45111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dirty="0"/>
                            <a:t>Expression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GB" sz="1200" dirty="0"/>
                            <a:t>Made up of algebraic terms – no equals</a:t>
                          </a:r>
                          <a:r>
                            <a:rPr lang="en-GB" sz="1200" baseline="0" dirty="0"/>
                            <a:t> sign!</a:t>
                          </a:r>
                          <a:endParaRPr lang="en-GB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229565" t="-248000" r="-870" b="-712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dirty="0"/>
                            <a:t>Equation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GB" sz="1200" dirty="0"/>
                            <a:t>Contains</a:t>
                          </a:r>
                          <a:r>
                            <a:rPr lang="en-GB" sz="1200" baseline="0" dirty="0"/>
                            <a:t> an equals sign! Can be solved but only for some (not all) values of </a:t>
                          </a:r>
                          <a:r>
                            <a:rPr lang="en-GB" sz="1200" i="1" baseline="0" dirty="0">
                              <a:latin typeface="+mn-lt"/>
                            </a:rPr>
                            <a:t>x </a:t>
                          </a:r>
                          <a:r>
                            <a:rPr lang="en-GB" sz="1200" i="0" baseline="0" dirty="0">
                              <a:latin typeface="+mn-lt"/>
                            </a:rPr>
                            <a:t>(or any variable)</a:t>
                          </a:r>
                          <a:r>
                            <a:rPr lang="en-GB" sz="1200" i="0" baseline="0" dirty="0"/>
                            <a:t>.</a:t>
                          </a:r>
                          <a:endParaRPr lang="en-GB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229565" t="-248571" r="-870" b="-40857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dirty="0"/>
                            <a:t>Constant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GB" sz="1200" dirty="0"/>
                            <a:t>A number with nothing else attached to it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229565" t="-481579" r="-870" b="-46447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dirty="0"/>
                            <a:t>Variable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AU" sz="1200" dirty="0">
                              <a:latin typeface="+mn-lt"/>
                              <a:cs typeface="Arial" panose="020B0604020202020204" pitchFamily="34" charset="0"/>
                            </a:rPr>
                            <a:t>A letter that represents an unknown number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229565" t="-589333" r="-870" b="-370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dirty="0"/>
                            <a:t>Coefficient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AU" sz="1200" dirty="0">
                              <a:latin typeface="+mn-lt"/>
                              <a:cs typeface="Arial" panose="020B0604020202020204" pitchFamily="34" charset="0"/>
                            </a:rPr>
                            <a:t>The number in front of the variable</a:t>
                          </a:r>
                        </a:p>
                        <a:p>
                          <a:endParaRPr lang="en-AU" sz="1200" dirty="0">
                            <a:latin typeface="+mn-lt"/>
                            <a:cs typeface="Arial" panose="020B06040202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229565" t="-492381" r="-870" b="-16476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  <a:tr h="1005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dirty="0"/>
                            <a:t>Like terms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en-US" sz="1200" dirty="0">
                              <a:latin typeface="+mn-lt"/>
                              <a:cs typeface="Arial" panose="020B0604020202020204" pitchFamily="34" charset="0"/>
                            </a:rPr>
                            <a:t>Terms that have the </a:t>
                          </a:r>
                          <a:r>
                            <a:rPr lang="en-US" altLang="en-US" sz="1200" b="1" u="sng" dirty="0">
                              <a:latin typeface="+mn-lt"/>
                              <a:cs typeface="Arial" panose="020B0604020202020204" pitchFamily="34" charset="0"/>
                            </a:rPr>
                            <a:t>same variables</a:t>
                          </a:r>
                        </a:p>
                        <a:p>
                          <a:pPr algn="l"/>
                          <a:endParaRPr lang="en-GB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dirty="0"/>
                            <a:t>4t and 6t</a:t>
                          </a:r>
                        </a:p>
                        <a:p>
                          <a:pPr algn="ctr"/>
                          <a:r>
                            <a:rPr lang="en-GB" sz="1200" dirty="0"/>
                            <a:t>11x and 2x</a:t>
                          </a:r>
                        </a:p>
                        <a:p>
                          <a:pPr algn="ctr"/>
                          <a:endParaRPr lang="en-GB" sz="1200" dirty="0"/>
                        </a:p>
                        <a:p>
                          <a:pPr algn="ctr"/>
                          <a:r>
                            <a:rPr lang="en-GB" sz="1200" dirty="0"/>
                            <a:t>4x</a:t>
                          </a:r>
                          <a:r>
                            <a:rPr lang="en-GB" sz="1200" baseline="30000" dirty="0"/>
                            <a:t>2</a:t>
                          </a:r>
                          <a:r>
                            <a:rPr lang="en-GB" sz="1200" baseline="0" dirty="0"/>
                            <a:t> and 3x ARE NOT LIKE TERMS</a:t>
                          </a:r>
                          <a:endParaRPr lang="en-GB" sz="1200" baseline="300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044453999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" name="Rectangle 1">
            <a:extLst>
              <a:ext uri="{FF2B5EF4-FFF2-40B4-BE49-F238E27FC236}">
                <a16:creationId xmlns:a16="http://schemas.microsoft.com/office/drawing/2014/main" id="{31206D8B-EDBD-4C02-82B2-0A326EF7FB71}"/>
              </a:ext>
            </a:extLst>
          </p:cNvPr>
          <p:cNvSpPr/>
          <p:nvPr/>
        </p:nvSpPr>
        <p:spPr>
          <a:xfrm>
            <a:off x="7129462" y="1511375"/>
            <a:ext cx="5060951" cy="10449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2025"/>
              </a:lnSpc>
              <a:spcBef>
                <a:spcPts val="1650"/>
              </a:spcBef>
              <a:spcAft>
                <a:spcPts val="750"/>
              </a:spcAft>
            </a:pPr>
            <a:r>
              <a:rPr lang="en-AU" sz="1600" dirty="0">
                <a:solidFill>
                  <a:srgbClr val="6600CC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Adding Positive Numbers</a:t>
            </a:r>
            <a:endParaRPr lang="en-AU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725"/>
              </a:lnSpc>
              <a:spcBef>
                <a:spcPts val="1200"/>
              </a:spcBef>
              <a:spcAft>
                <a:spcPts val="1875"/>
              </a:spcAft>
            </a:pPr>
            <a:r>
              <a:rPr lang="en-AU" sz="1600" dirty="0">
                <a:solidFill>
                  <a:srgbClr val="000000"/>
                </a:solidFill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Adding positive numbers is just simple addition.</a:t>
            </a:r>
            <a:endParaRPr lang="en-AU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3F5D719-4F50-4797-99C4-109DD734F432}"/>
              </a:ext>
            </a:extLst>
          </p:cNvPr>
          <p:cNvSpPr/>
          <p:nvPr/>
        </p:nvSpPr>
        <p:spPr>
          <a:xfrm>
            <a:off x="7129463" y="2769053"/>
            <a:ext cx="4929187" cy="1041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2025"/>
              </a:lnSpc>
              <a:spcBef>
                <a:spcPts val="1650"/>
              </a:spcBef>
              <a:spcAft>
                <a:spcPts val="750"/>
              </a:spcAft>
            </a:pPr>
            <a:r>
              <a:rPr lang="en-AU" sz="1600" dirty="0">
                <a:solidFill>
                  <a:srgbClr val="6600CC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Subtracting Positive Numbers</a:t>
            </a:r>
            <a:endParaRPr lang="en-AU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725"/>
              </a:lnSpc>
              <a:spcBef>
                <a:spcPts val="1200"/>
              </a:spcBef>
              <a:spcAft>
                <a:spcPts val="1875"/>
              </a:spcAft>
            </a:pPr>
            <a:r>
              <a:rPr lang="en-AU" sz="1600" dirty="0">
                <a:solidFill>
                  <a:srgbClr val="000000"/>
                </a:solidFill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Subtracting positive numbers is just simple subtraction.</a:t>
            </a:r>
            <a:endParaRPr lang="en-AU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7CDCA96-9C4E-4B85-9C9B-4EA4ACC56B7E}"/>
              </a:ext>
            </a:extLst>
          </p:cNvPr>
          <p:cNvSpPr/>
          <p:nvPr/>
        </p:nvSpPr>
        <p:spPr>
          <a:xfrm>
            <a:off x="7091363" y="3932820"/>
            <a:ext cx="5267325" cy="82330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2025"/>
              </a:lnSpc>
              <a:spcBef>
                <a:spcPts val="1650"/>
              </a:spcBef>
              <a:spcAft>
                <a:spcPts val="750"/>
              </a:spcAft>
            </a:pPr>
            <a:r>
              <a:rPr lang="en-AU" sz="1600" dirty="0">
                <a:solidFill>
                  <a:srgbClr val="6600CC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Subtracting a Negative Number</a:t>
            </a:r>
            <a:endParaRPr lang="en-AU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725"/>
              </a:lnSpc>
              <a:spcBef>
                <a:spcPts val="1200"/>
              </a:spcBef>
              <a:spcAft>
                <a:spcPts val="1875"/>
              </a:spcAft>
            </a:pPr>
            <a:r>
              <a:rPr lang="en-AU" sz="1600" dirty="0">
                <a:solidFill>
                  <a:srgbClr val="000000"/>
                </a:solidFill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Subtracting a negative number is like adding </a:t>
            </a:r>
            <a:endParaRPr lang="en-AU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14" name="Picture 13" descr="http://www.mathsisfun.com/numbers/images/minus-minus-plus.gif">
            <a:extLst>
              <a:ext uri="{FF2B5EF4-FFF2-40B4-BE49-F238E27FC236}">
                <a16:creationId xmlns:a16="http://schemas.microsoft.com/office/drawing/2014/main" id="{4C6EA4A9-3E0B-4FF6-9966-B227D59CCF16}"/>
              </a:ext>
            </a:extLst>
          </p:cNvPr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78156" y="4892309"/>
            <a:ext cx="1501274" cy="294534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344CED7A-5344-47A2-BAE8-CD9FA4921605}"/>
              </a:ext>
            </a:extLst>
          </p:cNvPr>
          <p:cNvSpPr/>
          <p:nvPr/>
        </p:nvSpPr>
        <p:spPr>
          <a:xfrm>
            <a:off x="6924677" y="5169156"/>
            <a:ext cx="5267323" cy="1041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2025"/>
              </a:lnSpc>
              <a:spcBef>
                <a:spcPts val="1650"/>
              </a:spcBef>
              <a:spcAft>
                <a:spcPts val="750"/>
              </a:spcAft>
            </a:pPr>
            <a:r>
              <a:rPr lang="en-AU" sz="1600" dirty="0">
                <a:solidFill>
                  <a:srgbClr val="6600CC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Adding a Negative Number</a:t>
            </a:r>
            <a:endParaRPr lang="en-AU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725"/>
              </a:lnSpc>
              <a:spcBef>
                <a:spcPts val="1200"/>
              </a:spcBef>
              <a:spcAft>
                <a:spcPts val="1875"/>
              </a:spcAft>
            </a:pPr>
            <a:r>
              <a:rPr lang="en-AU" sz="1600" dirty="0">
                <a:solidFill>
                  <a:srgbClr val="000000"/>
                </a:solidFill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Subtracting a negative number is like subtracting. SAME AS SUBTRACTING A POSITIVE</a:t>
            </a:r>
            <a:endParaRPr lang="en-AU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16" name="Picture 15" descr="http://www.mathsisfun.com/numbers/images/plus-minus-minus.gif">
            <a:extLst>
              <a:ext uri="{FF2B5EF4-FFF2-40B4-BE49-F238E27FC236}">
                <a16:creationId xmlns:a16="http://schemas.microsoft.com/office/drawing/2014/main" id="{2809BE02-73AF-47C5-ACDF-A731F73C42A6}"/>
              </a:ext>
            </a:extLst>
          </p:cNvPr>
          <p:cNvPicPr/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78157" y="6132601"/>
            <a:ext cx="1737418" cy="72539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6947683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5" grpId="0"/>
      <p:bldP spid="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2112571" y="1298662"/>
            <a:ext cx="0" cy="5559338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2821" y="123165"/>
            <a:ext cx="281737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solidFill>
                  <a:schemeClr val="accent1">
                    <a:lumMod val="50000"/>
                  </a:schemeClr>
                </a:solidFill>
                <a:latin typeface="Kiwi School Handwriting" panose="00000500000000000000" pitchFamily="2" charset="0"/>
              </a:rPr>
              <a:t>Algebra Review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36360" y="204438"/>
            <a:ext cx="2160240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schemeClr val="accent1">
                    <a:lumMod val="50000"/>
                  </a:schemeClr>
                </a:solidFill>
                <a:latin typeface="Kiwi School Handwriting" panose="00000500000000000000" pitchFamily="2" charset="0"/>
              </a:rPr>
              <a:t>EQ – What are the important algebraic definitions?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17" name="Picture 16">
            <a:extLst>
              <a:ext uri="{FF2B5EF4-FFF2-40B4-BE49-F238E27FC236}">
                <a16:creationId xmlns:a16="http://schemas.microsoft.com/office/drawing/2014/main" id="{EEDF9388-45B6-40AD-8732-85D71C2863D6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3681412" y="1625282"/>
            <a:ext cx="4829175" cy="360743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200CA6F-6EC8-4EBC-B690-D1E1DE74CD69}"/>
              </a:ext>
            </a:extLst>
          </p:cNvPr>
          <p:cNvSpPr txBox="1"/>
          <p:nvPr/>
        </p:nvSpPr>
        <p:spPr>
          <a:xfrm>
            <a:off x="2714625" y="5743575"/>
            <a:ext cx="57959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Don’t forget BIDMAS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8641551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2112571" y="1298662"/>
            <a:ext cx="0" cy="5559338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2821" y="123165"/>
            <a:ext cx="281737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solidFill>
                  <a:schemeClr val="accent1">
                    <a:lumMod val="50000"/>
                  </a:schemeClr>
                </a:solidFill>
                <a:latin typeface="Kiwi School Handwriting" panose="00000500000000000000" pitchFamily="2" charset="0"/>
              </a:rPr>
              <a:t>Algebra Review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36360" y="204438"/>
            <a:ext cx="2160240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schemeClr val="accent1">
                    <a:lumMod val="50000"/>
                  </a:schemeClr>
                </a:solidFill>
                <a:latin typeface="Kiwi School Handwriting" panose="00000500000000000000" pitchFamily="2" charset="0"/>
              </a:rPr>
              <a:t>EQ – What are the important algebraic definitions?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4200CA6F-6EC8-4EBC-B690-D1E1DE74CD69}"/>
              </a:ext>
            </a:extLst>
          </p:cNvPr>
          <p:cNvSpPr txBox="1"/>
          <p:nvPr/>
        </p:nvSpPr>
        <p:spPr>
          <a:xfrm>
            <a:off x="2297141" y="1575533"/>
            <a:ext cx="57959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Worked example</a:t>
            </a:r>
            <a:endParaRPr lang="en-AU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6AD1EC4-D16E-4262-A38A-1476C838FD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4073" y="2199913"/>
            <a:ext cx="4416994" cy="91476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059F74D-3634-4ED9-B4D1-59998B7C39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97141" y="3471863"/>
            <a:ext cx="5715000" cy="2181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5409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2112571" y="1298662"/>
            <a:ext cx="0" cy="5559338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2821" y="123165"/>
            <a:ext cx="281737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solidFill>
                  <a:schemeClr val="accent1">
                    <a:lumMod val="50000"/>
                  </a:schemeClr>
                </a:solidFill>
                <a:latin typeface="Kiwi School Handwriting" panose="00000500000000000000" pitchFamily="2" charset="0"/>
              </a:rPr>
              <a:t>Algebra Review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36360" y="204438"/>
            <a:ext cx="2160240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schemeClr val="accent1">
                    <a:lumMod val="50000"/>
                  </a:schemeClr>
                </a:solidFill>
                <a:latin typeface="Kiwi School Handwriting" panose="00000500000000000000" pitchFamily="2" charset="0"/>
              </a:rPr>
              <a:t>EQ – What are the important algebraic definitions?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4200CA6F-6EC8-4EBC-B690-D1E1DE74CD69}"/>
              </a:ext>
            </a:extLst>
          </p:cNvPr>
          <p:cNvSpPr txBox="1"/>
          <p:nvPr/>
        </p:nvSpPr>
        <p:spPr>
          <a:xfrm>
            <a:off x="2297141" y="1575533"/>
            <a:ext cx="579595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Your turn</a:t>
            </a:r>
          </a:p>
          <a:p>
            <a:endParaRPr lang="en-US" dirty="0"/>
          </a:p>
          <a:p>
            <a:r>
              <a:rPr lang="en-AU" dirty="0"/>
              <a:t>Combined operations on integers worksheet</a:t>
            </a: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0787486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489</TotalTime>
  <Words>847</Words>
  <Application>Microsoft Office PowerPoint</Application>
  <PresentationFormat>Widescreen</PresentationFormat>
  <Paragraphs>215</Paragraphs>
  <Slides>10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Arial</vt:lpstr>
      <vt:lpstr>Calibri</vt:lpstr>
      <vt:lpstr>Calibri Light</vt:lpstr>
      <vt:lpstr>Cambria Math</vt:lpstr>
      <vt:lpstr>Kiwi School Handwriting</vt:lpstr>
      <vt:lpstr>Verdana</vt:lpstr>
      <vt:lpstr>Retrospect</vt:lpstr>
      <vt:lpstr>Topic: Algebra Review</vt:lpstr>
      <vt:lpstr>Learning Intentions</vt:lpstr>
      <vt:lpstr>PowerPoint Presentation</vt:lpstr>
      <vt:lpstr>PowerPoint Presentation</vt:lpstr>
      <vt:lpstr>PowerPoint Presentation</vt:lpstr>
      <vt:lpstr>Practice: LHS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Topic: Algebra Review</dc:title>
  <dc:creator>Sarah James</dc:creator>
  <cp:lastModifiedBy>Sarah James</cp:lastModifiedBy>
  <cp:revision>8</cp:revision>
  <cp:lastPrinted>2019-02-05T00:07:04Z</cp:lastPrinted>
  <dcterms:created xsi:type="dcterms:W3CDTF">2019-02-02T12:48:52Z</dcterms:created>
  <dcterms:modified xsi:type="dcterms:W3CDTF">2019-02-05T06:59:41Z</dcterms:modified>
</cp:coreProperties>
</file>
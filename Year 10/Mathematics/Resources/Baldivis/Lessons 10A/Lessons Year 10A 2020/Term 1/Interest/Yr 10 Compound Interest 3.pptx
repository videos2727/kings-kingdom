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46C3A-5398-49FC-BD8F-9DDFD8FB0F91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90384-21D1-43B4-BB29-02FBAC97EF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18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12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11DD-59DE-42AB-A8AE-5563E56B8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2D9A3-C4A8-4F2A-9DBA-BFF4DE9B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66BC9-13E4-4978-B016-ECA6DEE2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E000-6572-43E1-ABA7-D4074307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96FC-C155-4DCD-BB8B-9668F485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31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53D7-D251-4524-8AFE-3F0F9E5F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933FA-8F78-4372-9838-8968A05F4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F769-822F-4527-BE54-B0DE927A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F14A3-B9DC-4B55-AF87-4883486D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5DCDA-0C46-45A3-B0F6-7632601A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794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601C3-DFCE-4136-A3F6-5D82D8FD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E0301-5A28-4DAD-8ED9-3DFFF2569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C9BE-4A18-491A-AD63-E7F6C8E8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9B6EB-426F-4C7C-A0D4-3D32B6BF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825F3-8FDC-4298-B2DC-1C64DC7C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987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E554-8B07-4C37-9121-4603794E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6E51-0E67-4FC8-8E7E-E5D342668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0B4A0-1618-49F2-AB7C-B1D7965AB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2827B-E38B-4B76-8739-781800E2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7933-AFC0-4759-9037-BECAF6FC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EEC0B-82FE-483B-ABA9-54353488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340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928F-C4DA-4A2E-89A1-AA3CE354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B8F22-150D-4D49-BE86-5EA66517A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22BCB-A054-4DA2-9556-C413AE8DF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92C97-E9B0-4746-8713-A2C4A3E3E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1FF2D-5AB9-4144-A793-E36746494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2D6C1-48C9-41A9-AAA2-4E6FFB97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18F8F-2C1F-4CE1-B053-58E2F3030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0D432-38E3-451E-A01D-2317B8F0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983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D90A-E4AB-4531-90CD-729734B1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3A444-E7A4-4A0C-8C89-571BE9EA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88DBA-4E9D-4729-888D-7EB9E5A4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72A9B-5E51-4399-A27F-69DCD404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189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25C4D-DAC6-484C-AEC7-7725AB49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DBD5D-9DE0-4F13-A358-92DF92A6C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C429-1ED5-47D6-AE2A-3663C48A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6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5976-2746-473B-8C6B-41EBBE4C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66031-7F90-4D15-9F3D-FC85FAFC9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4B211-48E7-4769-B6CD-64DE4EAA0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4135B-42E8-4DB6-BD23-836DE7B0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077AE-D963-4967-A695-D61BA7CB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DB5BD-07EB-4D79-9964-B4DAABD1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581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EE90-3E53-48D8-A1F4-C90D9681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33976-7CB5-48FB-9AEC-ABD6DBC44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BB2E4-B619-4BB8-9D6F-87B0FE191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131D5-3110-429F-B82E-39EB08E4B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803C9-8593-401C-BE59-E2C11D62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4D297-6034-4B75-8395-9F0783A5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95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4E31-E626-4525-B76F-F6E783B8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B550B-BC11-4151-92F7-B129D9EA0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4EE0B-BC3E-4BF1-B8D4-F6E27352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C4958-7FFC-4F17-B005-BE5CC41F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3E67-9347-49A6-B239-697DDCE4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01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A93C1-F126-47D7-BDA1-F438BCDCC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D11FF-943F-4714-A832-B049A81CD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254C4-1E7C-47A6-923B-CAFE3821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9747B-6CCB-4128-BA25-B203098E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BB2E3-233F-4A3D-9056-EC3629B7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227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2752E-D23F-456C-9FCF-2AF20EF5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5E724-4298-4051-8B76-35C31F073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1B731-9997-4F53-863A-F047DD8A8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560FE-2448-4E52-8110-1A8061F58A8D}" type="datetimeFigureOut">
              <a:rPr lang="en-AU" smtClean="0"/>
              <a:t>16/03/2020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3963D-6AC1-4217-8B53-6CECA0A11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C2C9A-7B53-47C2-B59A-D973387D9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2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AE2A-89A3-4354-AD9D-93BCD9BE4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Finance - Extension</a:t>
            </a:r>
            <a:br>
              <a:rPr lang="en-AU" dirty="0"/>
            </a:br>
            <a:r>
              <a:rPr lang="en-AU" dirty="0"/>
              <a:t>EQ: What happens with your Superannuation?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412EF-4428-4FC5-BECD-C9CA33B9AD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298197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34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Finance - Extension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What happens with your Superannuation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F148D6-B5A2-4A5F-BAAF-41A09AE77A56}"/>
              </a:ext>
            </a:extLst>
          </p:cNvPr>
          <p:cNvSpPr txBox="1"/>
          <p:nvPr/>
        </p:nvSpPr>
        <p:spPr>
          <a:xfrm>
            <a:off x="3035035" y="5389291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D0FE88-66F9-4607-81A6-49C7AC7853BE}"/>
              </a:ext>
            </a:extLst>
          </p:cNvPr>
          <p:cNvSpPr txBox="1"/>
          <p:nvPr/>
        </p:nvSpPr>
        <p:spPr>
          <a:xfrm>
            <a:off x="229426" y="1429861"/>
            <a:ext cx="2090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Tyson’s Super?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10E6A23-F903-4C21-92B1-2A5C04F49B9B}"/>
                  </a:ext>
                </a:extLst>
              </p:cNvPr>
              <p:cNvSpPr/>
              <p:nvPr/>
            </p:nvSpPr>
            <p:spPr>
              <a:xfrm>
                <a:off x="2444956" y="1255256"/>
                <a:ext cx="9517617" cy="53245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Tyson, being the smart person that he is, has put $10000 into his Macca Superannuation fund. He is going to add $5000 to it next year and in the following years. It is compounded monthly at 8%pa and he will withdraw it after 45 years of work.</a:t>
                </a: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much will he have after this 45 years. (rounded to nearest $1).       </a:t>
                </a:r>
              </a:p>
              <a:p>
                <a:r>
                  <a:rPr lang="en-AU" sz="2400" dirty="0"/>
                  <a:t>CI= P(1+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sz="2400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400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</a:rPr>
                      <m:t>Amount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=10000(1+</m:t>
                    </m:r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0.08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sSup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540</m:t>
                        </m:r>
                      </m:sup>
                    </m:sSup>
                  </m:oMath>
                </a14:m>
                <a:br>
                  <a:rPr lang="en-AU" sz="2400" dirty="0"/>
                </a:br>
                <a:r>
                  <a:rPr lang="en-AU" sz="2400" dirty="0"/>
                  <a:t>			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=$361636</m:t>
                    </m:r>
                  </m:oMath>
                </a14:m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Well done Tyson</a:t>
                </a:r>
              </a:p>
              <a:p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>
                        <a:latin typeface="Cambria Math" panose="02040503050406030204" pitchFamily="18" charset="0"/>
                      </a:rPr>
                      <m:t>Amount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=5000(1+</m:t>
                    </m:r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0.08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sSup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</m:oMath>
                </a14:m>
                <a:br>
                  <a:rPr lang="en-AU" sz="2400" dirty="0"/>
                </a:br>
                <a:r>
                  <a:rPr lang="en-AU" sz="2400" dirty="0"/>
                  <a:t>			  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=$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66960</m:t>
                    </m:r>
                  </m:oMath>
                </a14:m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Even better done Tyson</a:t>
                </a: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Imagine what he will have when he retires. Of course $10000 is a bit high to be putting in, in the first year etc and fees will be taken out each year.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10E6A23-F903-4C21-92B1-2A5C04F49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956" y="1255256"/>
                <a:ext cx="9517617" cy="5324535"/>
              </a:xfrm>
              <a:prstGeom prst="rect">
                <a:avLst/>
              </a:prstGeom>
              <a:blipFill>
                <a:blip r:embed="rId3"/>
                <a:stretch>
                  <a:fillRect l="-961" t="-916" r="-320" b="-17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69BA88B-C92D-4DC5-AAE5-B843CDF8068E}"/>
              </a:ext>
            </a:extLst>
          </p:cNvPr>
          <p:cNvSpPr txBox="1"/>
          <p:nvPr/>
        </p:nvSpPr>
        <p:spPr>
          <a:xfrm>
            <a:off x="9752466" y="3290240"/>
            <a:ext cx="227886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Compounded 540 times, 12 times a year for 45 years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E09E8D-2A2A-481A-BDCE-4ED6A0EB6260}"/>
              </a:ext>
            </a:extLst>
          </p:cNvPr>
          <p:cNvSpPr txBox="1"/>
          <p:nvPr/>
        </p:nvSpPr>
        <p:spPr>
          <a:xfrm>
            <a:off x="9991813" y="4479404"/>
            <a:ext cx="210826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Compounded 528 times, 12 times a year for 44 years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A01FD1C-020C-42DD-9850-2304A891ABCC}"/>
              </a:ext>
            </a:extLst>
          </p:cNvPr>
          <p:cNvCxnSpPr/>
          <p:nvPr/>
        </p:nvCxnSpPr>
        <p:spPr>
          <a:xfrm flipH="1">
            <a:off x="8348870" y="3429000"/>
            <a:ext cx="1403596" cy="3229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A48A7C-7098-4D3A-B570-33BD3774EE68}"/>
              </a:ext>
            </a:extLst>
          </p:cNvPr>
          <p:cNvCxnSpPr/>
          <p:nvPr/>
        </p:nvCxnSpPr>
        <p:spPr>
          <a:xfrm flipH="1">
            <a:off x="8504959" y="4618164"/>
            <a:ext cx="1403596" cy="3229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34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Finance - Extension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What happens with your Superannuation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F148D6-B5A2-4A5F-BAAF-41A09AE77A56}"/>
              </a:ext>
            </a:extLst>
          </p:cNvPr>
          <p:cNvSpPr txBox="1"/>
          <p:nvPr/>
        </p:nvSpPr>
        <p:spPr>
          <a:xfrm>
            <a:off x="3035035" y="5389291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D0FE88-66F9-4607-81A6-49C7AC7853BE}"/>
              </a:ext>
            </a:extLst>
          </p:cNvPr>
          <p:cNvSpPr txBox="1"/>
          <p:nvPr/>
        </p:nvSpPr>
        <p:spPr>
          <a:xfrm>
            <a:off x="229426" y="1429861"/>
            <a:ext cx="2090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Try these.</a:t>
            </a:r>
            <a:endParaRPr lang="en-AU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0E6A23-F903-4C21-92B1-2A5C04F49B9B}"/>
              </a:ext>
            </a:extLst>
          </p:cNvPr>
          <p:cNvSpPr/>
          <p:nvPr/>
        </p:nvSpPr>
        <p:spPr>
          <a:xfrm>
            <a:off x="2444956" y="1255256"/>
            <a:ext cx="95176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Larissa, is starting up her superannuation with Macca Super. She is putting in $5000 in the first year and $5500 in the next one and going up by $500 each year after that. How much will she get after 42 years work for her first amount and the second, it is compounded monthly at 8%pa. 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Maddie D. is starting with $3000 for the first year and going up by $1000 each year. How much will she get for the first and 4</a:t>
            </a:r>
            <a:r>
              <a:rPr lang="en-GB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amount after 40 years of work?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Brandon decides,  he is going to put $30000 in, in the first year and another $30000 in, in the second and nothing after that. How much will he get after 42 years of work?</a:t>
            </a:r>
          </a:p>
        </p:txBody>
      </p:sp>
    </p:spTree>
    <p:extLst>
      <p:ext uri="{BB962C8B-B14F-4D97-AF65-F5344CB8AC3E}">
        <p14:creationId xmlns:p14="http://schemas.microsoft.com/office/powerpoint/2010/main" val="189983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CCFE65-9160-4815-860F-B82E49A1A7F7}"/>
              </a:ext>
            </a:extLst>
          </p:cNvPr>
          <p:cNvSpPr txBox="1"/>
          <p:nvPr/>
        </p:nvSpPr>
        <p:spPr>
          <a:xfrm>
            <a:off x="0" y="400673"/>
            <a:ext cx="358239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Larissa’s starting wage is $50 000 and 10% is put away as superannuation. If her wage and super is increased by 2% per year, after 45 years of work when she wants to retire, Larissa will have $2898829 for her retirement. 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This sounds a lot at the moment but don’t forget her wage after 45 years is about $120 000 also fees are being taken out and the government will take 15% tax.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Say fees are $1000 per year that will take $45000 leaving $2853829 and the 15% tax will leave you with</a:t>
            </a:r>
          </a:p>
          <a:p>
            <a:pPr algn="ctr"/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$2 425 755</a:t>
            </a:r>
          </a:p>
          <a:p>
            <a:pPr algn="ctr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To live on in retirement and don’t forget prices will still be going up.</a:t>
            </a:r>
          </a:p>
          <a:p>
            <a:pPr algn="ctr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She might have to think about it and put some more away at the start if she can afford it.</a:t>
            </a:r>
            <a:endParaRPr lang="en-AU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604D28-7411-4903-A17D-F0737E0BE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306780"/>
              </p:ext>
            </p:extLst>
          </p:nvPr>
        </p:nvGraphicFramePr>
        <p:xfrm>
          <a:off x="8428383" y="162270"/>
          <a:ext cx="3641699" cy="65269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3309">
                  <a:extLst>
                    <a:ext uri="{9D8B030D-6E8A-4147-A177-3AD203B41FA5}">
                      <a16:colId xmlns:a16="http://schemas.microsoft.com/office/drawing/2014/main" val="1878524131"/>
                    </a:ext>
                  </a:extLst>
                </a:gridCol>
                <a:gridCol w="1026130">
                  <a:extLst>
                    <a:ext uri="{9D8B030D-6E8A-4147-A177-3AD203B41FA5}">
                      <a16:colId xmlns:a16="http://schemas.microsoft.com/office/drawing/2014/main" val="1245085036"/>
                    </a:ext>
                  </a:extLst>
                </a:gridCol>
                <a:gridCol w="1026130">
                  <a:extLst>
                    <a:ext uri="{9D8B030D-6E8A-4147-A177-3AD203B41FA5}">
                      <a16:colId xmlns:a16="http://schemas.microsoft.com/office/drawing/2014/main" val="181726059"/>
                    </a:ext>
                  </a:extLst>
                </a:gridCol>
                <a:gridCol w="1026130">
                  <a:extLst>
                    <a:ext uri="{9D8B030D-6E8A-4147-A177-3AD203B41FA5}">
                      <a16:colId xmlns:a16="http://schemas.microsoft.com/office/drawing/2014/main" val="2196470717"/>
                    </a:ext>
                  </a:extLst>
                </a:gridCol>
              </a:tblGrid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23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7729.898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371535.3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402372.5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3449788196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7884.496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410257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444308.2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2243643093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8042.186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452350.4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489895.2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172207080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8203.03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498098.3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539440.2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256755642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8367.091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547807.3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593275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286054607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28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8534.432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601809.4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651759.3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3522749714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8705.121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660464.4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715282.6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1872231494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30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8879.223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724161.9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784266.9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914750681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31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9056.808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793323.8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859169.2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2422657978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9237.944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868407.2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940484.5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1078237462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9422.703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949907.2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1028749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1228249854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9611.157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1038360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1124544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2648970012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9803.38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1134347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1228497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2120980874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9999.448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1238497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1341291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1832084306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10199.44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1351491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1463664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720604642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38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10403.43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1474067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1596414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2702034884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10611.49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1607026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1740408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388850295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40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10823.72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1751232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1896583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3398052824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41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11040.2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1907623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2065955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3513956639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11261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2077216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2249624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839884281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11486.22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2261110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2448781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155275298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11715.95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2460497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2664717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3295493377"/>
                  </a:ext>
                </a:extLst>
              </a:tr>
              <a:tr h="283779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11950.27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2676667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2898829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b"/>
                </a:tc>
                <a:extLst>
                  <a:ext uri="{0D108BD9-81ED-4DB2-BD59-A6C34878D82A}">
                    <a16:rowId xmlns:a16="http://schemas.microsoft.com/office/drawing/2014/main" val="149324939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3EC4DE-CBEF-43CF-AF08-A0C18CDCE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312540"/>
              </p:ext>
            </p:extLst>
          </p:nvPr>
        </p:nvGraphicFramePr>
        <p:xfrm>
          <a:off x="4210754" y="175230"/>
          <a:ext cx="3992341" cy="65140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8567">
                  <a:extLst>
                    <a:ext uri="{9D8B030D-6E8A-4147-A177-3AD203B41FA5}">
                      <a16:colId xmlns:a16="http://schemas.microsoft.com/office/drawing/2014/main" val="1793301166"/>
                    </a:ext>
                  </a:extLst>
                </a:gridCol>
                <a:gridCol w="1126435">
                  <a:extLst>
                    <a:ext uri="{9D8B030D-6E8A-4147-A177-3AD203B41FA5}">
                      <a16:colId xmlns:a16="http://schemas.microsoft.com/office/drawing/2014/main" val="1857532805"/>
                    </a:ext>
                  </a:extLst>
                </a:gridCol>
                <a:gridCol w="1073426">
                  <a:extLst>
                    <a:ext uri="{9D8B030D-6E8A-4147-A177-3AD203B41FA5}">
                      <a16:colId xmlns:a16="http://schemas.microsoft.com/office/drawing/2014/main" val="1668244848"/>
                    </a:ext>
                  </a:extLst>
                </a:gridCol>
                <a:gridCol w="993913">
                  <a:extLst>
                    <a:ext uri="{9D8B030D-6E8A-4147-A177-3AD203B41FA5}">
                      <a16:colId xmlns:a16="http://schemas.microsoft.com/office/drawing/2014/main" val="408876214"/>
                    </a:ext>
                  </a:extLst>
                </a:gridCol>
              </a:tblGrid>
              <a:tr h="253457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5000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5000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5414.998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970669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5100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10515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11387.74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3431178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3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5202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16589.74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17966.68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7292486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5306.04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23272.72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25204.34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8802823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5412.161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30616.5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33157.66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7584770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6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5520.404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38678.06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41888.32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0048339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7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5630.812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47519.13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51463.2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5143931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8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5743.428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57206.63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61954.75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38993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9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5858.297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67813.04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73441.49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267778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10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5975.463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79416.96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86008.52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0424883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6094.972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92103.5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99748.04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4208425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6216.872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105964.9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114759.9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1738244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13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6341.209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121101.2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131152.5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1249668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6468.033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137620.5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149043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83441798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15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6597.394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155640.4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168558.4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6621161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16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6729.342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175287.8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189836.6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9570925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17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6863.929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196700.5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213026.5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6936611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18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7001.207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220027.7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238289.9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2036786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19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7141.231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245431.2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265801.8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0096243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20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7284.056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273085.9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295751.9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6149327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21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7429.737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303181.6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328345.6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8153356"/>
                  </a:ext>
                </a:extLst>
              </a:tr>
              <a:tr h="296678"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22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7578.332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>
                          <a:effectLst/>
                        </a:rPr>
                        <a:t>335923.9</a:t>
                      </a:r>
                      <a:endParaRPr lang="en-A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AU" sz="1800" u="none" strike="noStrike" dirty="0">
                          <a:effectLst/>
                        </a:rPr>
                        <a:t>363805.4</a:t>
                      </a:r>
                      <a:endParaRPr lang="en-A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4150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72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780</Words>
  <Application>Microsoft Office PowerPoint</Application>
  <PresentationFormat>Widescreen</PresentationFormat>
  <Paragraphs>220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Topic: Finance - Extension EQ: What happens with your Superannuation?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Finance EQ: How do we calculate Depreciation?</dc:title>
  <dc:creator>MCALLISTER Robert [Baldivis Secondary College]</dc:creator>
  <cp:lastModifiedBy>MCALLISTER Robert [Baldivis Secondary College]</cp:lastModifiedBy>
  <cp:revision>12</cp:revision>
  <dcterms:created xsi:type="dcterms:W3CDTF">2020-03-13T04:52:11Z</dcterms:created>
  <dcterms:modified xsi:type="dcterms:W3CDTF">2020-03-16T00:16:51Z</dcterms:modified>
</cp:coreProperties>
</file>
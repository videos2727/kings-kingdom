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1" r:id="rId3"/>
    <p:sldId id="266" r:id="rId4"/>
    <p:sldId id="262" r:id="rId5"/>
    <p:sldId id="263" r:id="rId6"/>
    <p:sldId id="264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46C3A-5398-49FC-BD8F-9DDFD8FB0F91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0384-21D1-43B4-BB29-02FBAC97EF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18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0966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11DD-59DE-42AB-A8AE-5563E56B8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2D9A3-C4A8-4F2A-9DBA-BFF4DE9B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66BC9-13E4-4978-B016-ECA6DEE2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E000-6572-43E1-ABA7-D40743071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96FC-C155-4DCD-BB8B-9668F485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31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53D7-D251-4524-8AFE-3F0F9E5F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33FA-8F78-4372-9838-8968A05F4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F769-822F-4527-BE54-B0DE927A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F14A3-B9DC-4B55-AF87-4883486D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5DCDA-0C46-45A3-B0F6-7632601A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79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01C3-DFCE-4136-A3F6-5D82D8FD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E0301-5A28-4DAD-8ED9-3DFFF2569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8C9BE-4A18-491A-AD63-E7F6C8E8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9B6EB-426F-4C7C-A0D4-3D32B6BF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825F3-8FDC-4298-B2DC-1C64DC7CC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987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E554-8B07-4C37-9121-4603794E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6E51-0E67-4FC8-8E7E-E5D342668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0B4A0-1618-49F2-AB7C-B1D7965AB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2827B-E38B-4B76-8739-781800E2C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7933-AFC0-4759-9037-BECAF6FC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EEC0B-82FE-483B-ABA9-54353488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340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928F-C4DA-4A2E-89A1-AA3CE354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B8F22-150D-4D49-BE86-5EA66517A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22BCB-A054-4DA2-9556-C413AE8DF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92C97-E9B0-4746-8713-A2C4A3E3E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1FF2D-5AB9-4144-A793-E36746494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2D6C1-48C9-41A9-AAA2-4E6FFB9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18F8F-2C1F-4CE1-B053-58E2F303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0D432-38E3-451E-A01D-2317B8F0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983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D90A-E4AB-4531-90CD-729734B1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3A444-E7A4-4A0C-8C89-571BE9EAC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88DBA-4E9D-4729-888D-7EB9E5A4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72A9B-5E51-4399-A27F-69DCD404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89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25C4D-DAC6-484C-AEC7-7725AB49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DBD5D-9DE0-4F13-A358-92DF92A6C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C429-1ED5-47D6-AE2A-3663C48A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6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5976-2746-473B-8C6B-41EBBE4C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66031-7F90-4D15-9F3D-FC85FAFC9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4B211-48E7-4769-B6CD-64DE4EAA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4135B-42E8-4DB6-BD23-836DE7B0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077AE-D963-4967-A695-D61BA7CB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DB5BD-07EB-4D79-9964-B4DAABD1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581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EE90-3E53-48D8-A1F4-C90D9681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33976-7CB5-48FB-9AEC-ABD6DBC445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BB2E4-B619-4BB8-9D6F-87B0FE191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131D5-3110-429F-B82E-39EB08E4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803C9-8593-401C-BE59-E2C11D62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4D297-6034-4B75-8395-9F0783A5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95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4E31-E626-4525-B76F-F6E783B8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550B-BC11-4151-92F7-B129D9EA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EE0B-BC3E-4BF1-B8D4-F6E27352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C4958-7FFC-4F17-B005-BE5CC41F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3E67-9347-49A6-B239-697DDCE4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01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A93C1-F126-47D7-BDA1-F438BCDCC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D11FF-943F-4714-A832-B049A81CD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254C4-1E7C-47A6-923B-CAFE3821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9747B-6CCB-4128-BA25-B203098E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B2E3-233F-4A3D-9056-EC3629B7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227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2752E-D23F-456C-9FCF-2AF20EF5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5E724-4298-4051-8B76-35C31F073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1B731-9997-4F53-863A-F047DD8A8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560FE-2448-4E52-8110-1A8061F58A8D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3963D-6AC1-4217-8B53-6CECA0A11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2C9A-7B53-47C2-B59A-D973387D9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9EE76-F362-4C16-A5D2-E79B6D7E53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2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AE2A-89A3-4354-AD9D-93BCD9BE4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Finance</a:t>
            </a:r>
            <a:br>
              <a:rPr lang="en-AU" dirty="0"/>
            </a:br>
            <a:r>
              <a:rPr lang="en-AU" dirty="0"/>
              <a:t>EQ: How do we calculate Depreciation?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412EF-4428-4FC5-BECD-C9CA33B9A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</a:p>
        </p:txBody>
      </p:sp>
    </p:spTree>
    <p:extLst>
      <p:ext uri="{BB962C8B-B14F-4D97-AF65-F5344CB8AC3E}">
        <p14:creationId xmlns:p14="http://schemas.microsoft.com/office/powerpoint/2010/main" val="29819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1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Finance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What happens if we don’t go over a multiple of a full year?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035035" y="538929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0FE88-66F9-4607-81A6-49C7AC7853BE}"/>
              </a:ext>
            </a:extLst>
          </p:cNvPr>
          <p:cNvSpPr txBox="1"/>
          <p:nvPr/>
        </p:nvSpPr>
        <p:spPr>
          <a:xfrm>
            <a:off x="229427" y="1429861"/>
            <a:ext cx="1822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about 1 month?</a:t>
            </a:r>
            <a:endParaRPr lang="en-AU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25546-D0FB-4B8E-B377-B0B0D5F11010}"/>
              </a:ext>
            </a:extLst>
          </p:cNvPr>
          <p:cNvSpPr txBox="1"/>
          <p:nvPr/>
        </p:nvSpPr>
        <p:spPr>
          <a:xfrm>
            <a:off x="229424" y="2609412"/>
            <a:ext cx="1822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about 1 day?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10E6A23-F903-4C21-92B1-2A5C04F49B9B}"/>
                  </a:ext>
                </a:extLst>
              </p:cNvPr>
              <p:cNvSpPr/>
              <p:nvPr/>
            </p:nvSpPr>
            <p:spPr>
              <a:xfrm>
                <a:off x="2444956" y="1255256"/>
                <a:ext cx="9517617" cy="5665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Say, for example we had Tyson’s $10 000 invested for 10 years at 8% compounded (rounded to nearest $1).       </a:t>
                </a:r>
                <a:r>
                  <a:rPr lang="en-AU" sz="2400" dirty="0"/>
                  <a:t>CI= P(1+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charset="0"/>
                          </a:rPr>
                          <m:t>𝑟</m:t>
                        </m:r>
                      </m:num>
                      <m:den>
                        <m:r>
                          <a:rPr lang="en-AU" sz="2400" i="1">
                            <a:latin typeface="Cambria Math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bg-BG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400" i="1">
                            <a:latin typeface="Cambria Math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would it be if compounded annually? </a:t>
                </a:r>
                <a:b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𝐶𝐼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=10000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(1+.08)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sup>
                    </m:sSup>
                  </m:oMath>
                </a14:m>
                <a:b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=   $21589</m:t>
                    </m:r>
                  </m:oMath>
                </a14:m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would it be if compounded monthly?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𝐶𝐼</m:t>
                    </m:r>
                    <m:r>
                      <a:rPr lang="en-AU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=10000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(1+</m:t>
                        </m:r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AU" sz="24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.08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12</m:t>
                            </m:r>
                          </m:den>
                        </m:f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p>
                    </m:sSup>
                  </m:oMath>
                </a14:m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=     $22196</m:t>
                    </m:r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would it be if compounded daily?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𝐶𝐼</m:t>
                    </m:r>
                    <m:r>
                      <a:rPr lang="en-AU" sz="24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=10000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(1+</m:t>
                        </m:r>
                        <m:f>
                          <m:fPr>
                            <m:ctrlPr>
                              <a:rPr lang="en-AU" sz="24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a:rPr lang="en-AU" sz="24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.08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365</m:t>
                            </m:r>
                          </m:den>
                        </m:f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365</m:t>
                        </m:r>
                        <m:r>
                          <a:rPr lang="en-AU" sz="24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p>
                    </m:sSup>
                  </m:oMath>
                </a14:m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   =     $22253</m:t>
                    </m:r>
                  </m:oMath>
                </a14:m>
                <a:br>
                  <a:rPr lang="en-AU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endParaRPr lang="en-AU" sz="24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You can see SI $1800, compounded yearly, increase of $3589, monthly – increase of $4196 and daily – increase of $4253.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10E6A23-F903-4C21-92B1-2A5C04F49B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956" y="1255256"/>
                <a:ext cx="9517617" cy="5665205"/>
              </a:xfrm>
              <a:prstGeom prst="rect">
                <a:avLst/>
              </a:prstGeom>
              <a:blipFill>
                <a:blip r:embed="rId3"/>
                <a:stretch>
                  <a:fillRect l="-1025" t="-861" b="-15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69BA88B-C92D-4DC5-AAE5-B843CDF8068E}"/>
              </a:ext>
            </a:extLst>
          </p:cNvPr>
          <p:cNvSpPr txBox="1"/>
          <p:nvPr/>
        </p:nvSpPr>
        <p:spPr>
          <a:xfrm>
            <a:off x="10233492" y="2711984"/>
            <a:ext cx="158524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Compounded 120 times, 12 times a year for 10 years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D86FE6-7C45-4523-894E-BFC63787BDE4}"/>
              </a:ext>
            </a:extLst>
          </p:cNvPr>
          <p:cNvCxnSpPr/>
          <p:nvPr/>
        </p:nvCxnSpPr>
        <p:spPr>
          <a:xfrm flipH="1">
            <a:off x="8893145" y="3371481"/>
            <a:ext cx="1245705" cy="436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2139A3-DDFE-4AFD-98B3-B99E23E20D84}"/>
              </a:ext>
            </a:extLst>
          </p:cNvPr>
          <p:cNvSpPr txBox="1"/>
          <p:nvPr/>
        </p:nvSpPr>
        <p:spPr>
          <a:xfrm>
            <a:off x="10122666" y="4208628"/>
            <a:ext cx="169607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Compounded 3650 times, 365 times a year for 10 years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C0DB5C-8403-4316-BCE1-57F214454DB4}"/>
              </a:ext>
            </a:extLst>
          </p:cNvPr>
          <p:cNvCxnSpPr/>
          <p:nvPr/>
        </p:nvCxnSpPr>
        <p:spPr>
          <a:xfrm flipH="1">
            <a:off x="8876961" y="4784510"/>
            <a:ext cx="1245705" cy="4367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136D107-E844-4E6E-8DE8-9F6F5C9B3DA7}"/>
              </a:ext>
            </a:extLst>
          </p:cNvPr>
          <p:cNvSpPr txBox="1"/>
          <p:nvPr/>
        </p:nvSpPr>
        <p:spPr>
          <a:xfrm>
            <a:off x="0" y="4597143"/>
            <a:ext cx="2301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Just for interest simple interest would have given $18000.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1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Finance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we calculate depreciation?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035035" y="5389291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0FE88-66F9-4607-81A6-49C7AC7853BE}"/>
              </a:ext>
            </a:extLst>
          </p:cNvPr>
          <p:cNvSpPr txBox="1"/>
          <p:nvPr/>
        </p:nvSpPr>
        <p:spPr>
          <a:xfrm>
            <a:off x="229427" y="1429861"/>
            <a:ext cx="197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depreciation?</a:t>
            </a:r>
            <a:endParaRPr lang="en-AU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D8A94-9B26-4B3F-8551-FCBD6590D209}"/>
              </a:ext>
            </a:extLst>
          </p:cNvPr>
          <p:cNvSpPr/>
          <p:nvPr/>
        </p:nvSpPr>
        <p:spPr>
          <a:xfrm>
            <a:off x="2444956" y="1291362"/>
            <a:ext cx="951761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Depreciation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means an item reduces in value from the time that it is bought. 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The original price of an item is called the purchase price of the item. The 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decrease in value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of an item is called the depreciation.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725546-D0FB-4B8E-B377-B0B0D5F11010}"/>
              </a:ext>
            </a:extLst>
          </p:cNvPr>
          <p:cNvSpPr txBox="1"/>
          <p:nvPr/>
        </p:nvSpPr>
        <p:spPr>
          <a:xfrm>
            <a:off x="178608" y="3576244"/>
            <a:ext cx="1973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we calculate depreciation?</a:t>
            </a:r>
            <a:endParaRPr lang="en-AU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0E6A23-F903-4C21-92B1-2A5C04F49B9B}"/>
              </a:ext>
            </a:extLst>
          </p:cNvPr>
          <p:cNvSpPr/>
          <p:nvPr/>
        </p:nvSpPr>
        <p:spPr>
          <a:xfrm>
            <a:off x="2495775" y="3576244"/>
            <a:ext cx="95176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We can use the compound interest formula to calculate depreciation of items like cars and some electronic devices.</a:t>
            </a:r>
          </a:p>
        </p:txBody>
      </p:sp>
    </p:spTree>
    <p:extLst>
      <p:ext uri="{BB962C8B-B14F-4D97-AF65-F5344CB8AC3E}">
        <p14:creationId xmlns:p14="http://schemas.microsoft.com/office/powerpoint/2010/main" val="229759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0A97-AD2F-4229-B152-F35EBF8D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30" y="355142"/>
            <a:ext cx="9720072" cy="1499616"/>
          </a:xfrm>
        </p:spPr>
        <p:txBody>
          <a:bodyPr/>
          <a:lstStyle/>
          <a:p>
            <a:r>
              <a:rPr lang="en-AU" dirty="0"/>
              <a:t>An Example: Depreciation Calculation Per Year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BFFF2E-705E-48B0-8973-A2DEF6EBA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692" y="1291960"/>
            <a:ext cx="6836271" cy="5513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FCD87-002D-4FC5-ABEA-1607EC4CE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797" y="3632010"/>
            <a:ext cx="5724567" cy="833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44A1A5-DA9F-42A6-9572-9C0770780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09" y="4465454"/>
            <a:ext cx="5724567" cy="8334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D4286F-4D79-4F10-B14C-14F00031A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205" y="5364335"/>
            <a:ext cx="10048585" cy="14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0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0A97-AD2F-4229-B152-F35EBF8D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40" y="573418"/>
            <a:ext cx="9720072" cy="1499616"/>
          </a:xfrm>
        </p:spPr>
        <p:txBody>
          <a:bodyPr/>
          <a:lstStyle/>
          <a:p>
            <a:r>
              <a:rPr lang="en-AU" dirty="0"/>
              <a:t>An Example: Depreciation Calculation With Compound Interest Formula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BFFF2E-705E-48B0-8973-A2DEF6EBA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1240"/>
          <a:stretch/>
        </p:blipFill>
        <p:spPr>
          <a:xfrm>
            <a:off x="2566095" y="1984544"/>
            <a:ext cx="6836271" cy="21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5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58A3-78E6-4576-954B-7F541F01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1795-6CBC-4291-A69E-4B3A74C9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03409"/>
            <a:ext cx="9720073" cy="4023360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 particular car has a new value of $28 000. If we assume that there is a constant depreciation rate of 7%, what will the value of this car be when it is: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a) 2 years old</a:t>
            </a:r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b) 8 years old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36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58A3-78E6-4576-954B-7F541F01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1795-6CBC-4291-A69E-4B3A74C9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03409"/>
            <a:ext cx="9720073" cy="4023360"/>
          </a:xfrm>
        </p:spPr>
        <p:txBody>
          <a:bodyPr/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 particular car has a new value of $42 000. If we assume that there is a constant depreciation rate of 8.5%, what will the value of this car be when it is: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a) 2 years old</a:t>
            </a:r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b) 10 years old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21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9651E9-951E-4F9C-92E2-F1E57FBBA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179594"/>
            <a:ext cx="4662268" cy="2378075"/>
          </a:xfrm>
        </p:spPr>
        <p:txBody>
          <a:bodyPr>
            <a:normAutofit/>
          </a:bodyPr>
          <a:lstStyle/>
          <a:p>
            <a:r>
              <a:rPr lang="en-AU" dirty="0" err="1"/>
              <a:t>Dywer</a:t>
            </a:r>
            <a:r>
              <a:rPr lang="en-AU" dirty="0"/>
              <a:t> Year 10 Text</a:t>
            </a:r>
            <a:br>
              <a:rPr lang="en-AU" dirty="0"/>
            </a:br>
            <a:r>
              <a:rPr lang="en-AU" dirty="0"/>
              <a:t>Exercise 11.7</a:t>
            </a:r>
            <a:br>
              <a:rPr lang="en-AU" dirty="0"/>
            </a:br>
            <a:r>
              <a:rPr lang="en-AU" dirty="0"/>
              <a:t>Page 320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51BCC-24B5-4AA6-9767-18F83574F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46" t="17689" r="36066" b="7739"/>
          <a:stretch/>
        </p:blipFill>
        <p:spPr>
          <a:xfrm>
            <a:off x="6235908" y="0"/>
            <a:ext cx="4291261" cy="687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2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Widescreen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Topic: Finance EQ: How do we calculate Depreciation?</vt:lpstr>
      <vt:lpstr>PowerPoint Presentation</vt:lpstr>
      <vt:lpstr>PowerPoint Presentation</vt:lpstr>
      <vt:lpstr>An Example: Depreciation Calculation Per Year</vt:lpstr>
      <vt:lpstr>An Example: Depreciation Calculation With Compound Interest Formula</vt:lpstr>
      <vt:lpstr>Task</vt:lpstr>
      <vt:lpstr>Task</vt:lpstr>
      <vt:lpstr>Dywer Year 10 Text Exercise 11.7 Page 320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Finance EQ: How do we calculate Depreciation?</dc:title>
  <dc:creator>MCALLISTER Robert [Baldivis Secondary College]</dc:creator>
  <cp:lastModifiedBy>MCALLISTER Robert [Baldivis Secondary College]</cp:lastModifiedBy>
  <cp:revision>1</cp:revision>
  <dcterms:created xsi:type="dcterms:W3CDTF">2020-03-13T04:52:11Z</dcterms:created>
  <dcterms:modified xsi:type="dcterms:W3CDTF">2020-03-13T04:52:54Z</dcterms:modified>
</cp:coreProperties>
</file>
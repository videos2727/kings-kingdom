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73" r:id="rId3"/>
    <p:sldId id="263" r:id="rId4"/>
    <p:sldId id="274" r:id="rId5"/>
    <p:sldId id="275" r:id="rId6"/>
    <p:sldId id="277" r:id="rId7"/>
    <p:sldId id="276" r:id="rId8"/>
    <p:sldId id="264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>
        <p:scale>
          <a:sx n="66" d="100"/>
          <a:sy n="66" d="100"/>
        </p:scale>
        <p:origin x="1330" y="490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3/13/2019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3/13/2019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8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85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3/13/2019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3/13/2019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3/13/2019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3/13/2019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3/13/2019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3/13/2019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3/13/2019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3/13/2019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3/13/2019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3/13/2019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3/13/2019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moneysmart.gov.au/tools-and-resources/calculators-and-apps/superannuation-calcul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93" y="1124744"/>
            <a:ext cx="10523838" cy="1231776"/>
          </a:xfrm>
        </p:spPr>
        <p:txBody>
          <a:bodyPr/>
          <a:lstStyle/>
          <a:p>
            <a:r>
              <a:rPr lang="en-US" sz="6000" dirty="0"/>
              <a:t>Topic: Superannuation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1884" y="3356992"/>
            <a:ext cx="8229600" cy="10668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What is superannuation?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Superannuation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is superannuation?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84" y="1440764"/>
            <a:ext cx="1432364" cy="10219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Definition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2004" y="1278801"/>
            <a:ext cx="9289024" cy="854056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Money that you and your employers put into a special fund during your working life to provide you with money to live on when you retire.</a:t>
            </a:r>
            <a:endParaRPr lang="en-US" sz="2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40C4D8-00DB-4380-90E6-7D08F2E43F83}"/>
              </a:ext>
            </a:extLst>
          </p:cNvPr>
          <p:cNvSpPr txBox="1"/>
          <p:nvPr/>
        </p:nvSpPr>
        <p:spPr>
          <a:xfrm>
            <a:off x="488307" y="2332558"/>
            <a:ext cx="1705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Government legislation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91614-4FBE-4C9F-ADD5-2745378FC207}"/>
              </a:ext>
            </a:extLst>
          </p:cNvPr>
          <p:cNvSpPr txBox="1"/>
          <p:nvPr/>
        </p:nvSpPr>
        <p:spPr>
          <a:xfrm>
            <a:off x="2277994" y="2362052"/>
            <a:ext cx="95770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requires all Australian employers to contribute to superannuation on behalf of their employees aged between 18 and 70 years who earn more than $450 per month. The minimum contribution rate is currently 9.5%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AE31C-1A43-4425-8628-9EE9291A6176}"/>
              </a:ext>
            </a:extLst>
          </p:cNvPr>
          <p:cNvSpPr txBox="1"/>
          <p:nvPr/>
        </p:nvSpPr>
        <p:spPr>
          <a:xfrm>
            <a:off x="2349996" y="3429000"/>
            <a:ext cx="8297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Less than 18 and work less than 30 hours per week your employer is not required to pay superannuation for you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5AB3CE-71B0-4C36-9F17-5737F0D52C7E}"/>
              </a:ext>
            </a:extLst>
          </p:cNvPr>
          <p:cNvSpPr txBox="1"/>
          <p:nvPr/>
        </p:nvSpPr>
        <p:spPr>
          <a:xfrm>
            <a:off x="327580" y="4165282"/>
            <a:ext cx="1777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find percentage of a number?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303170-411D-40BA-8A1E-88B3E5D0AA4D}"/>
              </a:ext>
            </a:extLst>
          </p:cNvPr>
          <p:cNvSpPr txBox="1"/>
          <p:nvPr/>
        </p:nvSpPr>
        <p:spPr>
          <a:xfrm>
            <a:off x="2422004" y="4347139"/>
            <a:ext cx="9217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1% by dividing by 100</a:t>
            </a:r>
          </a:p>
          <a:p>
            <a:r>
              <a:rPr lang="en-AU" dirty="0"/>
              <a:t>Multiply that by 9 to get to 9% (or whatever percentage you need to get to)</a:t>
            </a:r>
          </a:p>
          <a:p>
            <a:r>
              <a:rPr lang="en-AU" dirty="0"/>
              <a:t>Or Multiply by 9.5 to get to 9.5%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B2C0E7-7258-49F6-85A8-79540549D7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003" t="18492" r="28732" b="57352"/>
          <a:stretch/>
        </p:blipFill>
        <p:spPr>
          <a:xfrm>
            <a:off x="261764" y="1484784"/>
            <a:ext cx="7444999" cy="2952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854277-C571-4CDC-BBDC-5D18B9799CEB}"/>
              </a:ext>
            </a:extLst>
          </p:cNvPr>
          <p:cNvSpPr txBox="1"/>
          <p:nvPr/>
        </p:nvSpPr>
        <p:spPr>
          <a:xfrm>
            <a:off x="909836" y="260648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Practice on LHS</a:t>
            </a:r>
          </a:p>
        </p:txBody>
      </p:sp>
    </p:spTree>
    <p:extLst>
      <p:ext uri="{BB962C8B-B14F-4D97-AF65-F5344CB8AC3E}">
        <p14:creationId xmlns:p14="http://schemas.microsoft.com/office/powerpoint/2010/main" val="237761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820" y="36066"/>
            <a:ext cx="3276599" cy="1371600"/>
          </a:xfrm>
        </p:spPr>
        <p:txBody>
          <a:bodyPr/>
          <a:lstStyle/>
          <a:p>
            <a:r>
              <a:rPr lang="en-US" dirty="0"/>
              <a:t>Superannuation Contribution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2" y="1628800"/>
            <a:ext cx="3276599" cy="1371600"/>
          </a:xfrm>
        </p:spPr>
        <p:txBody>
          <a:bodyPr/>
          <a:lstStyle/>
          <a:p>
            <a:r>
              <a:rPr lang="en-US" dirty="0"/>
              <a:t>www.superguide.com.au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E6B68-C0E2-42CD-B6F6-D8C336BEEF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15" t="11140" r="34640" b="10090"/>
          <a:stretch/>
        </p:blipFill>
        <p:spPr>
          <a:xfrm>
            <a:off x="4798267" y="36066"/>
            <a:ext cx="6553945" cy="6923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FB0CEC-635D-40D8-A877-7418F4C4482A}"/>
              </a:ext>
            </a:extLst>
          </p:cNvPr>
          <p:cNvSpPr txBox="1"/>
          <p:nvPr/>
        </p:nvSpPr>
        <p:spPr>
          <a:xfrm>
            <a:off x="621804" y="3356992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are the contribution rates increasing???</a:t>
            </a:r>
          </a:p>
        </p:txBody>
      </p:sp>
    </p:spTree>
    <p:extLst>
      <p:ext uri="{BB962C8B-B14F-4D97-AF65-F5344CB8AC3E}">
        <p14:creationId xmlns:p14="http://schemas.microsoft.com/office/powerpoint/2010/main" val="96530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Superannuation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is superannuation?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9756" y="1216416"/>
            <a:ext cx="1981048" cy="1484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What happens to your money when its in super?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2004" y="1278801"/>
            <a:ext cx="9289024" cy="854056"/>
          </a:xfrm>
        </p:spPr>
        <p:txBody>
          <a:bodyPr>
            <a:noAutofit/>
          </a:bodyPr>
          <a:lstStyle/>
          <a:p>
            <a:r>
              <a:rPr lang="en-AU" sz="1800" dirty="0"/>
              <a:t>Your money is pooled with other members’ money and invested on your behalf by professional investment managers. </a:t>
            </a:r>
          </a:p>
          <a:p>
            <a:r>
              <a:rPr lang="en-AU" sz="1800" dirty="0"/>
              <a:t>Generally you will not be able to access this money</a:t>
            </a:r>
            <a:r>
              <a:rPr lang="en-AU" sz="2000" dirty="0"/>
              <a:t> until you retire</a:t>
            </a:r>
            <a:endParaRPr lang="en-US" sz="2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9891614-4FBE-4C9F-ADD5-2745378FC207}"/>
              </a:ext>
            </a:extLst>
          </p:cNvPr>
          <p:cNvSpPr txBox="1"/>
          <p:nvPr/>
        </p:nvSpPr>
        <p:spPr>
          <a:xfrm>
            <a:off x="2204380" y="4671258"/>
            <a:ext cx="1000910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Most super funds let you choose from a range of investment options, depending on how much risk you are willing to take. </a:t>
            </a:r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Lower Risk							Higher Risk</a:t>
            </a:r>
          </a:p>
          <a:p>
            <a:r>
              <a:rPr lang="en-AU" sz="2000" dirty="0"/>
              <a:t>- Lower returns						- Higher returns</a:t>
            </a:r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1720AC-5D0E-4AA8-AD9F-9289DC9C8493}"/>
              </a:ext>
            </a:extLst>
          </p:cNvPr>
          <p:cNvCxnSpPr/>
          <p:nvPr/>
        </p:nvCxnSpPr>
        <p:spPr>
          <a:xfrm>
            <a:off x="4150196" y="6225530"/>
            <a:ext cx="446449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15EB88-F007-40B2-8899-E4AF32B61E7B}"/>
              </a:ext>
            </a:extLst>
          </p:cNvPr>
          <p:cNvSpPr txBox="1"/>
          <p:nvPr/>
        </p:nvSpPr>
        <p:spPr>
          <a:xfrm>
            <a:off x="5662364" y="5579199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Balanced Risk</a:t>
            </a:r>
          </a:p>
          <a:p>
            <a:r>
              <a:rPr lang="en-AU" dirty="0"/>
              <a:t>combination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310FCB-BA67-4A18-A5FB-4ECB9EDF09A9}"/>
              </a:ext>
            </a:extLst>
          </p:cNvPr>
          <p:cNvSpPr txBox="1"/>
          <p:nvPr/>
        </p:nvSpPr>
        <p:spPr>
          <a:xfrm>
            <a:off x="226906" y="2924944"/>
            <a:ext cx="1763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to choose a super fund?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5A8F91-F259-431A-BC5B-D94B3011A2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40" t="31000" r="9613" b="25761"/>
          <a:stretch/>
        </p:blipFill>
        <p:spPr>
          <a:xfrm>
            <a:off x="2386827" y="2138373"/>
            <a:ext cx="6112338" cy="245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1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44BFF-644D-4C3B-B7E5-90C2C77A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3664666">
            <a:off x="7567853" y="2604998"/>
            <a:ext cx="5875685" cy="683568"/>
          </a:xfrm>
        </p:spPr>
        <p:txBody>
          <a:bodyPr>
            <a:normAutofit/>
          </a:bodyPr>
          <a:lstStyle/>
          <a:p>
            <a:r>
              <a:rPr lang="en-AU" sz="4000" dirty="0"/>
              <a:t>Why are fees important?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3074B-6863-49F2-A39B-CD5B5BE87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B1151-2561-45E9-9579-28E7E65E4F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6B1290-6ABC-40E1-ADD3-9B47E29D24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14" t="9040" r="6873" b="5889"/>
          <a:stretch/>
        </p:blipFill>
        <p:spPr>
          <a:xfrm>
            <a:off x="-123987" y="20425"/>
            <a:ext cx="8909722" cy="67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5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D1A40-9571-4450-A6CB-F542026F9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64" y="75450"/>
            <a:ext cx="9601200" cy="715888"/>
          </a:xfrm>
        </p:spPr>
        <p:txBody>
          <a:bodyPr/>
          <a:lstStyle/>
          <a:p>
            <a:r>
              <a:rPr lang="en-AU" dirty="0"/>
              <a:t>Fees to look out for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DEE40-D415-4539-81CC-0FECDF3F7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A260C-A972-4BF9-BABF-D873C1590F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7F062-093C-4FFA-85C1-1014D5B83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554043" y="433394"/>
            <a:ext cx="3084986" cy="962000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Where can you find out about your super fees?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87A8A-8120-4E27-8D1B-A82931C88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58708" y="2060848"/>
            <a:ext cx="3426832" cy="3871029"/>
          </a:xfrm>
        </p:spPr>
        <p:txBody>
          <a:bodyPr>
            <a:normAutofit fontScale="92500" lnSpcReduction="10000"/>
          </a:bodyPr>
          <a:lstStyle/>
          <a:p>
            <a:r>
              <a:rPr lang="en-AU" b="1" dirty="0"/>
              <a:t>PDS (product disclosure statement) available on the website </a:t>
            </a:r>
          </a:p>
          <a:p>
            <a:r>
              <a:rPr lang="en-AU" b="1" dirty="0"/>
              <a:t>Your annual statement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You may be paying fees for services you are not using, for example financial advice. </a:t>
            </a:r>
          </a:p>
          <a:p>
            <a:pPr marL="0" indent="0">
              <a:buNone/>
            </a:pPr>
            <a:r>
              <a:rPr lang="en-AU" dirty="0"/>
              <a:t>You can call up and enquire about no longer paying for the services you aren’t using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500116-63EF-4CCA-B3B7-5D27A147FA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22" t="12213" r="6284" b="12213"/>
          <a:stretch/>
        </p:blipFill>
        <p:spPr>
          <a:xfrm>
            <a:off x="549796" y="908720"/>
            <a:ext cx="7848872" cy="518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0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money smart">
            <a:extLst>
              <a:ext uri="{FF2B5EF4-FFF2-40B4-BE49-F238E27FC236}">
                <a16:creationId xmlns:a16="http://schemas.microsoft.com/office/drawing/2014/main" id="{0AEB5C91-62CE-43CD-92B0-401B543FF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464" y="647451"/>
            <a:ext cx="5688632" cy="498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56" y="2708920"/>
            <a:ext cx="4602220" cy="2309986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>
                <a:hlinkClick r:id="rId4"/>
              </a:rPr>
              <a:t>https://www.moneysmart.gov.au/tools-and-resources/calculators-and-apps/superannuation-calculator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00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101</TotalTime>
  <Words>342</Words>
  <Application>Microsoft Office PowerPoint</Application>
  <PresentationFormat>Custom</PresentationFormat>
  <Paragraphs>45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Palatino Linotype</vt:lpstr>
      <vt:lpstr>Watercolor_16x9</vt:lpstr>
      <vt:lpstr>Topic: Superannuation</vt:lpstr>
      <vt:lpstr>Topic: Superannuation</vt:lpstr>
      <vt:lpstr>PowerPoint Presentation</vt:lpstr>
      <vt:lpstr>Superannuation Contribution</vt:lpstr>
      <vt:lpstr>Topic: Superannuation</vt:lpstr>
      <vt:lpstr>Why are fees important?</vt:lpstr>
      <vt:lpstr>Fees to look out for</vt:lpstr>
      <vt:lpstr>https://www.moneysmart.gov.au/tools-and-resources/calculators-and-apps/superannuation-calculator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Alexandria Latham</cp:lastModifiedBy>
  <cp:revision>11</cp:revision>
  <dcterms:created xsi:type="dcterms:W3CDTF">2018-07-29T09:37:46Z</dcterms:created>
  <dcterms:modified xsi:type="dcterms:W3CDTF">2019-03-13T01:17:09Z</dcterms:modified>
</cp:coreProperties>
</file>
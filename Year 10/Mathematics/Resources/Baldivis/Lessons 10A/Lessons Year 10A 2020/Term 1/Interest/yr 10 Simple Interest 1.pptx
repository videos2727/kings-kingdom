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4" r:id="rId2"/>
    <p:sldId id="258" r:id="rId3"/>
    <p:sldId id="277" r:id="rId4"/>
    <p:sldId id="259" r:id="rId5"/>
    <p:sldId id="274" r:id="rId6"/>
    <p:sldId id="275" r:id="rId7"/>
    <p:sldId id="279" r:id="rId8"/>
    <p:sldId id="280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A4ABC-653D-476D-8F3F-61B09141AD70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539E5-14FB-4EDE-A3B3-32769B64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25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2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4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4ADD-8B86-454F-AD8C-B0926C600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FAB29-2CF9-4D9E-A070-D21407721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CAE1C-D706-451A-AE5A-7E76DF87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193B7-19F2-49E8-AC32-40F49870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CC9F-5D75-46D4-AEB9-FFF047B7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74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E59B-4BA7-4EBC-8A07-93C34DC2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15D3-6162-445D-92B7-285DBC8B3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0F54-2F07-4240-A24B-0C84B0B4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EFFA9-0453-41F3-8EFC-7D8012CC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C92C-5E2C-401E-AA4A-E2991326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476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7D5A-F131-4880-933A-1378A125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5B871-3FD4-495D-AF42-AD333A18F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BF8D-BB57-414C-AC8E-65763758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945B0-9901-4189-B39F-ECA7722A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1B0DA-0913-4742-9B55-2E06A19F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35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4B79-6E77-45B4-B1E7-23125D93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70BE-E339-42F5-805B-B66CA1137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C2925-023D-4DE7-963E-D3E1C4EBE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83771-A05A-4AFB-ABE4-5C41B953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739D-77B5-419F-9AEF-AC1810B4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9BD10-BB34-4688-AB91-4D62EAC4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770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A7D4-F6A9-4268-906D-B70CA76F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E1B1B-51D4-45C9-8069-3106946B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CDAEA-F485-4BE9-B4F5-D5FDCD8AC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7AF0F-206B-461A-BB53-9C1B28014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36F77-A761-4CF2-80E7-2039D6489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95DBF-A4D6-47A1-8549-185F8E68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BBB6A7-AA95-4522-AC3D-4CCAB8EB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E2987-E166-4BE8-9606-CF35D07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67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F128-201A-49FA-9122-BDD690F5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456F-6BF6-4492-BC21-FA48C79D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8283A-1887-467A-B3C0-3F652426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B7409-C83A-40AA-9FDF-F9FE31DE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50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38DB8-C1D5-455C-829F-D750CECF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ACFBD-6A8A-425E-BF27-C006A838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DB955-685D-4E7B-962A-96B03269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36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8B82-75FB-4B5B-A5CC-EEA6E9FD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9DC3-7221-4177-80FA-BECB8ED9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9AC65-504B-4314-B0BA-4A0FC898D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9ECCD-326C-467E-8A0C-B95F55E8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213CE-B1EC-48FE-A6F3-C2CF0D1C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074B4-92F7-44B8-B7A3-821F5999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96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084F-F3E0-4629-A6D7-285B5706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4C037-E250-4FF5-8840-A15CB7286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6C198-D0F7-47D7-A299-62A43A0F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FA573-6EE5-46FA-86AF-4B638703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BB6C7-7B0D-4EC7-849C-82AA08DD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79FFE-689D-4A78-A809-DDBB30A8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40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97F0-FCAE-480D-BB74-43D37C87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72331-9C68-487B-8115-ED7B601DA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C900-1829-48A3-826C-C03BA4B2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31624-984E-4141-B7AE-F2B8B888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91125-0FDC-4330-8915-38366F12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47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A8668-A50F-41B7-8811-7B619A75A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71CF5-AA8A-4B4F-AD62-67DAC44DF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50C1-B9D1-4ED5-A6DE-0DEEE210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B7F09-F23E-465F-AC56-5B12DDB0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961A-8B6F-4ACF-9F86-EADF81F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05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5187A-94FF-4F85-BEF5-7DE3DEED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8A429-EFE4-4DF4-898E-D6D2002AC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FDD3-9912-417A-89B7-1E0E24C43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6BC6C-66A6-4D6D-9FC2-A295ADE2D386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389AA-CE03-43EB-98F7-6C7805ADD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7C0BB-DEEF-4A00-83D6-8AA27D53E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E2BC-B809-4C99-BB50-A9D90B860D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42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://imperfectlypainted.blogspot.com/2012/02/talk-it-out-tuesday-how-much-is-it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2363-70C5-451E-B7E0-000197ADF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Finance</a:t>
            </a:r>
            <a:br>
              <a:rPr lang="en-AU" dirty="0"/>
            </a:br>
            <a:r>
              <a:rPr lang="en-AU" dirty="0"/>
              <a:t>EQ: How do I calculate Simple Interest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F3748-59A5-4E06-BA85-1AD59D7ED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388901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667568" y="2199048"/>
                <a:ext cx="10838632" cy="40196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4400" dirty="0">
                    <a:latin typeface="Kiwi School Handwriting" panose="00000500000000000000" pitchFamily="2" charset="0"/>
                  </a:rPr>
                  <a:t>Students will be able to:</a:t>
                </a:r>
              </a:p>
              <a:p>
                <a:pPr marL="0" indent="0">
                  <a:buNone/>
                </a:pPr>
                <a:r>
                  <a:rPr lang="en-AU" sz="4400" dirty="0">
                    <a:latin typeface="Kiwi School Handwriting" panose="00000500000000000000" pitchFamily="2" charset="0"/>
                  </a:rPr>
                  <a:t>- Define interest, principal, and rate of interest</a:t>
                </a:r>
              </a:p>
              <a:p>
                <a:pPr marL="0" indent="0">
                  <a:buNone/>
                </a:pPr>
                <a:r>
                  <a:rPr lang="en-AU" sz="4400" dirty="0">
                    <a:latin typeface="Kiwi School Handwriting" panose="00000500000000000000" pitchFamily="2" charset="0"/>
                  </a:rPr>
                  <a:t>- Calculate simple interest using the simple interest formula, </a:t>
                </a:r>
                <a14:m>
                  <m:oMath xmlns:m="http://schemas.openxmlformats.org/officeDocument/2006/math"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4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4400" dirty="0">
                  <a:latin typeface="Kiwi School Handwriting" panose="00000500000000000000" pitchFamily="2" charset="0"/>
                </a:endParaRPr>
              </a:p>
              <a:p>
                <a:pPr marL="0" indent="0">
                  <a:buNone/>
                </a:pPr>
                <a:endParaRPr lang="en-AU" sz="4400" dirty="0">
                  <a:latin typeface="Kiwi School Handwriting" panose="00000500000000000000" pitchFamily="2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568" y="2199048"/>
                <a:ext cx="10838632" cy="4019637"/>
              </a:xfrm>
              <a:blipFill>
                <a:blip r:embed="rId4"/>
                <a:stretch>
                  <a:fillRect l="-2306" t="-4856" r="-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Gallery WALK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48132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Change % to decimal 	</a:t>
            </a:r>
          </a:p>
          <a:p>
            <a:pPr marL="533400" indent="-533400">
              <a:buFontTx/>
              <a:buNone/>
            </a:pPr>
            <a:endParaRPr lang="en-US" sz="1800" dirty="0"/>
          </a:p>
          <a:p>
            <a:pPr marL="533400" indent="-533400">
              <a:buFontTx/>
              <a:buNone/>
            </a:pPr>
            <a:r>
              <a:rPr lang="en-US" sz="2400" dirty="0"/>
              <a:t>1) 12%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2) 5%	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3) 2 ½ 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4) 8.5%				</a:t>
            </a:r>
          </a:p>
          <a:p>
            <a:pPr marL="533400" indent="-533400">
              <a:buFontTx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Change from decimal to %</a:t>
            </a:r>
          </a:p>
          <a:p>
            <a:pPr marL="533400" indent="-533400">
              <a:buFontTx/>
              <a:buNone/>
            </a:pPr>
            <a:r>
              <a:rPr lang="en-US" sz="2400" dirty="0"/>
              <a:t>5) .098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6) .455				</a:t>
            </a:r>
          </a:p>
          <a:p>
            <a:pPr marL="533400" indent="-533400"/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A1CFEF-9FE7-403F-8EA4-42C795B4CA5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1901728"/>
            <a:ext cx="4796390" cy="4418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Answers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533400" indent="-533400">
              <a:buFontTx/>
              <a:buNone/>
            </a:pPr>
            <a:r>
              <a:rPr lang="en-US" sz="2400" dirty="0"/>
              <a:t>1) 0.12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2) 0.05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3) 0.025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4) 0.085				</a:t>
            </a:r>
          </a:p>
          <a:p>
            <a:pPr marL="533400" indent="-533400">
              <a:buFontTx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Answers</a:t>
            </a:r>
          </a:p>
          <a:p>
            <a:pPr marL="533400" indent="-533400">
              <a:buFontTx/>
              <a:buNone/>
            </a:pPr>
            <a:r>
              <a:rPr lang="en-US" sz="2400" dirty="0"/>
              <a:t>5) 9.8%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6) 45.5%				</a:t>
            </a:r>
          </a:p>
          <a:p>
            <a:pPr marL="533400" indent="-533400"/>
            <a:endParaRPr lang="en-US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6B0C5AAA-168E-41AD-BE7B-608E427F6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820" y="1670756"/>
            <a:ext cx="2990850" cy="1524000"/>
          </a:xfrm>
          <a:prstGeom prst="leftArrow">
            <a:avLst>
              <a:gd name="adj1" fmla="val 50000"/>
              <a:gd name="adj2" fmla="val 49063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Divide by 100 </a:t>
            </a:r>
          </a:p>
          <a:p>
            <a:pPr algn="ctr"/>
            <a:r>
              <a:rPr lang="en-US" dirty="0"/>
              <a:t>&amp; drop % sign</a:t>
            </a: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1992A50D-B767-4F77-A47A-950DC7497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59" y="5318907"/>
            <a:ext cx="2690842" cy="1418482"/>
          </a:xfrm>
          <a:prstGeom prst="rightArrow">
            <a:avLst>
              <a:gd name="adj1" fmla="val 50000"/>
              <a:gd name="adj2" fmla="val 4404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Multiply by 100 </a:t>
            </a:r>
          </a:p>
          <a:p>
            <a:pPr algn="ctr"/>
            <a:r>
              <a:rPr lang="en-US" dirty="0"/>
              <a:t>&amp; add % sign</a:t>
            </a:r>
          </a:p>
        </p:txBody>
      </p:sp>
    </p:spTree>
    <p:extLst>
      <p:ext uri="{BB962C8B-B14F-4D97-AF65-F5344CB8AC3E}">
        <p14:creationId xmlns:p14="http://schemas.microsoft.com/office/powerpoint/2010/main" val="157949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212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deposit money into a bank, the bank pays you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borrow money from a bank, you pay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 to the bank. 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8">
            <a:extLst>
              <a:ext uri="{FF2B5EF4-FFF2-40B4-BE49-F238E27FC236}">
                <a16:creationId xmlns:a16="http://schemas.microsoft.com/office/drawing/2014/main" id="{BFF9985B-AA3F-4302-9517-DF8B1B11C2F9}"/>
              </a:ext>
            </a:extLst>
          </p:cNvPr>
          <p:cNvGrpSpPr>
            <a:grpSpLocks/>
          </p:cNvGrpSpPr>
          <p:nvPr/>
        </p:nvGrpSpPr>
        <p:grpSpPr bwMode="auto">
          <a:xfrm>
            <a:off x="3304124" y="3410420"/>
            <a:ext cx="3267075" cy="1651001"/>
            <a:chOff x="342" y="1936"/>
            <a:chExt cx="2058" cy="1040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EA49935-057C-4A8E-AAEA-7E13BC07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" y="1936"/>
              <a:ext cx="205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 </a:t>
              </a:r>
              <a:r>
                <a:rPr lang="en-US" sz="2400" dirty="0">
                  <a:latin typeface="Verdana" pitchFamily="34" charset="0"/>
                </a:rPr>
                <a:t>is money paid only on the principal.</a:t>
              </a:r>
              <a:endParaRPr lang="en-US" sz="2400" dirty="0">
                <a:solidFill>
                  <a:srgbClr val="006600"/>
                </a:solidFill>
                <a:latin typeface="Verdana" pitchFamily="34" charset="0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83D8126-273F-4DEA-82C4-99C96B6F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30BC3CD-4BD8-44F0-B015-736C9C015956}"/>
              </a:ext>
            </a:extLst>
          </p:cNvPr>
          <p:cNvGrpSpPr>
            <a:grpSpLocks/>
          </p:cNvGrpSpPr>
          <p:nvPr/>
        </p:nvGrpSpPr>
        <p:grpSpPr bwMode="auto">
          <a:xfrm>
            <a:off x="6613775" y="3599646"/>
            <a:ext cx="3978275" cy="1295400"/>
            <a:chOff x="2592" y="2064"/>
            <a:chExt cx="2506" cy="816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6B43063-4583-4F07-ADB7-59FB9CDEB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r>
                <a:rPr lang="en-US" sz="2400" dirty="0">
                  <a:latin typeface="Verdana" pitchFamily="34" charset="0"/>
                </a:rPr>
                <a:t> is the percent charged or earned as a decimal</a:t>
              </a: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9D66F52-09AF-4320-A22C-CDB6120F7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CC1F6892-CB8C-41F8-9C3E-83533633297F}"/>
              </a:ext>
            </a:extLst>
          </p:cNvPr>
          <p:cNvGrpSpPr>
            <a:grpSpLocks/>
          </p:cNvGrpSpPr>
          <p:nvPr/>
        </p:nvGrpSpPr>
        <p:grpSpPr bwMode="auto">
          <a:xfrm>
            <a:off x="2823841" y="5241140"/>
            <a:ext cx="4724400" cy="1279525"/>
            <a:chOff x="288" y="3120"/>
            <a:chExt cx="2544" cy="806"/>
          </a:xfrm>
        </p:grpSpPr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0F79B3D3-A464-4F5C-9FD5-6984321A3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 borrowed or invested.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D955127-211A-4BC4-94DC-90237B20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01B50C2-ACED-4424-BE37-82D11DCD8E17}"/>
              </a:ext>
            </a:extLst>
          </p:cNvPr>
          <p:cNvGrpSpPr>
            <a:grpSpLocks/>
          </p:cNvGrpSpPr>
          <p:nvPr/>
        </p:nvGrpSpPr>
        <p:grpSpPr bwMode="auto">
          <a:xfrm>
            <a:off x="7285048" y="5152883"/>
            <a:ext cx="4038600" cy="1339850"/>
            <a:chOff x="3216" y="3120"/>
            <a:chExt cx="2352" cy="844"/>
          </a:xfrm>
        </p:grpSpPr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B452A155-01D6-44D7-9E39-1F2BF0AD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 dirty="0">
                  <a:latin typeface="Verdana" pitchFamily="34" charset="0"/>
                </a:rPr>
                <a:t> that the money is borrowed or invested (in years).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522D189-4039-4FB3-AA32-357DAE24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5C2C7-92E8-433A-A3F3-806478BCADE0}"/>
              </a:ext>
            </a:extLst>
          </p:cNvPr>
          <p:cNvSpPr txBox="1"/>
          <p:nvPr/>
        </p:nvSpPr>
        <p:spPr>
          <a:xfrm>
            <a:off x="2064412" y="1464162"/>
            <a:ext cx="98342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Words Associated with Simple Interest</a:t>
            </a:r>
          </a:p>
          <a:p>
            <a:endParaRPr lang="en-AU" sz="24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Per annum: It is Latin for per year. Per annum can also be written as p/a or p.a.</a:t>
            </a: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Investment: An amount of money put aside to earn money</a:t>
            </a: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Loan: Borrowing money from the bank and paying that amount of money back plus interest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28523E9B-E162-4E6B-BBD8-4359D2C98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06309" y="4528487"/>
            <a:ext cx="2449901" cy="1935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EE61E-A6F4-4246-8901-18DAEE01647E}"/>
              </a:ext>
            </a:extLst>
          </p:cNvPr>
          <p:cNvSpPr txBox="1"/>
          <p:nvPr/>
        </p:nvSpPr>
        <p:spPr>
          <a:xfrm>
            <a:off x="9506309" y="6565709"/>
            <a:ext cx="2449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Licensed under </a:t>
            </a:r>
            <a:r>
              <a:rPr lang="en-GB" sz="900" dirty="0">
                <a:hlinkClick r:id="rId5" tooltip="https://creativecommons.org/licenses/by-nc-nd/3.0/"/>
              </a:rPr>
              <a:t>CC BY-NC-ND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E9D6119E-5CE9-48D4-9796-5A1D75C6587C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How Simple Interest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3">
                <a:extLst>
                  <a:ext uri="{FF2B5EF4-FFF2-40B4-BE49-F238E27FC236}">
                    <a16:creationId xmlns:a16="http://schemas.microsoft.com/office/drawing/2014/main" id="{29EB9AB6-7C93-4969-9949-DA344EAB04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7568" y="1795140"/>
                <a:ext cx="10838632" cy="4919809"/>
              </a:xfrm>
              <a:prstGeom prst="rect">
                <a:avLst/>
              </a:prstGeom>
            </p:spPr>
            <p:txBody>
              <a:bodyPr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400" dirty="0"/>
                  <a:t>Suppose I borrow $2000 (called the </a:t>
                </a:r>
                <a:r>
                  <a:rPr lang="en-AU" sz="4400" b="1" dirty="0"/>
                  <a:t>Principal, </a:t>
                </a:r>
                <a:r>
                  <a:rPr lang="en-AU" sz="4400" dirty="0"/>
                  <a:t>or</a:t>
                </a:r>
                <a:r>
                  <a:rPr lang="en-AU" sz="4400" b="1" dirty="0"/>
                  <a:t> “P”</a:t>
                </a:r>
                <a:r>
                  <a:rPr lang="en-AU" sz="4400" dirty="0"/>
                  <a:t>)</a:t>
                </a:r>
                <a:r>
                  <a:rPr lang="en-AU" sz="4400" b="1" dirty="0"/>
                  <a:t> </a:t>
                </a:r>
                <a:r>
                  <a:rPr lang="en-AU" sz="4400" dirty="0"/>
                  <a:t>and the interest is 15% per annum for one year </a:t>
                </a:r>
                <a:r>
                  <a:rPr lang="en-AU" sz="4400" b="1" dirty="0"/>
                  <a:t>(T = 1)</a:t>
                </a:r>
              </a:p>
              <a:p>
                <a:r>
                  <a:rPr lang="en-AU" sz="4400" u="sng" dirty="0">
                    <a:solidFill>
                      <a:schemeClr val="accent1">
                        <a:lumMod val="75000"/>
                      </a:schemeClr>
                    </a:solidFill>
                  </a:rPr>
                  <a:t>Remember to convert the rate of interest.</a:t>
                </a:r>
                <a:r>
                  <a:rPr lang="en-AU" sz="4400" b="1" dirty="0"/>
                  <a:t> 15% as a decimal = 0.15</a:t>
                </a:r>
              </a:p>
              <a:p>
                <a:r>
                  <a:rPr lang="en-AU" sz="4400" dirty="0"/>
                  <a:t>Then the amount of interest I pay is equal to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dirty="0" smtClean="0">
                          <a:latin typeface="Cambria Math" panose="02040503050406030204" pitchFamily="18" charset="0"/>
                        </a:rPr>
                        <m:t>2000 </m:t>
                      </m:r>
                      <m:r>
                        <a:rPr lang="en-AU" sz="4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×0.15 ×1</m:t>
                      </m:r>
                      <m:r>
                        <a:rPr lang="en-AU" sz="4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400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44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300</m:t>
                      </m:r>
                      <m:r>
                        <a:rPr lang="en-AU" sz="44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4400" dirty="0">
                  <a:solidFill>
                    <a:srgbClr val="FFFF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400" dirty="0"/>
                  <a:t>If I paid off the loan in 1 year (T=1) the total I would have to give back to the bank would be </a:t>
                </a:r>
                <a:r>
                  <a:rPr lang="en-AU" sz="4400" dirty="0">
                    <a:solidFill>
                      <a:schemeClr val="accent6">
                        <a:lumMod val="75000"/>
                      </a:schemeClr>
                    </a:solidFill>
                  </a:rPr>
                  <a:t>$2,300 (principal amount + simple interest)</a:t>
                </a:r>
              </a:p>
              <a:p>
                <a:pPr marL="0" indent="0">
                  <a:buNone/>
                </a:pPr>
                <a:endParaRPr lang="en-AU" sz="4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400" dirty="0"/>
                  <a:t>What if I broke my hip and had to stop working for awhile so I couldn’t earn enough to pay it back in 1 year and instead it took me 5 years?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AU" sz="4400" dirty="0">
                    <a:solidFill>
                      <a:schemeClr val="accent1">
                        <a:lumMod val="75000"/>
                      </a:schemeClr>
                    </a:solidFill>
                  </a:rPr>
                  <a:t>Everything else stays the same except </a:t>
                </a:r>
                <a:r>
                  <a:rPr lang="en-AU" sz="4400" b="1" dirty="0">
                    <a:solidFill>
                      <a:schemeClr val="accent1">
                        <a:lumMod val="75000"/>
                      </a:schemeClr>
                    </a:solidFill>
                  </a:rPr>
                  <a:t>T = 5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dirty="0" smtClean="0">
                          <a:latin typeface="Cambria Math" panose="02040503050406030204" pitchFamily="18" charset="0"/>
                        </a:rPr>
                        <m:t>2000 </m:t>
                      </m:r>
                      <m:r>
                        <a:rPr lang="en-AU" sz="4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×0.15 ×5</m:t>
                      </m:r>
                      <m:r>
                        <a:rPr lang="en-AU" sz="4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sz="44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$1,500</m:t>
                      </m:r>
                    </m:oMath>
                  </m:oMathPara>
                </a14:m>
                <a:endParaRPr lang="en-AU" sz="4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4400" dirty="0"/>
                  <a:t>Total to pay back to the bank:</a:t>
                </a:r>
                <a:r>
                  <a:rPr lang="en-AU" sz="4400" dirty="0">
                    <a:solidFill>
                      <a:schemeClr val="accent6">
                        <a:lumMod val="75000"/>
                      </a:schemeClr>
                    </a:solidFill>
                  </a:rPr>
                  <a:t> $3,500 (principal amount + interest)</a:t>
                </a:r>
              </a:p>
              <a:p>
                <a:endParaRPr lang="en-AU" sz="44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4400" dirty="0">
                  <a:latin typeface="Kiwi School Handwriting" panose="00000500000000000000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4400" dirty="0">
                  <a:latin typeface="Kiwi School Handwriting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Content Placeholder 13">
                <a:extLst>
                  <a:ext uri="{FF2B5EF4-FFF2-40B4-BE49-F238E27FC236}">
                    <a16:creationId xmlns:a16="http://schemas.microsoft.com/office/drawing/2014/main" id="{29EB9AB6-7C93-4969-9949-DA344EAB0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68" y="1795140"/>
                <a:ext cx="10838632" cy="4919809"/>
              </a:xfrm>
              <a:prstGeom prst="rect">
                <a:avLst/>
              </a:prstGeom>
              <a:blipFill>
                <a:blip r:embed="rId2"/>
                <a:stretch>
                  <a:fillRect l="-675" t="-743" r="-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01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000" dirty="0"/>
                  <a:t>P = $1000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000" dirty="0"/>
                  <a:t>T = 2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000" dirty="0"/>
                  <a:t>R = 20% pa</a:t>
                </a:r>
                <a:endParaRPr lang="en-AU" sz="20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0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000" dirty="0"/>
                  <a:t>R = 20% convert to decimal </a:t>
                </a:r>
                <a:r>
                  <a:rPr lang="en-AU" sz="2000" dirty="0">
                    <a:latin typeface="Century Gothic" panose="020B0502020202020204" pitchFamily="34" charset="0"/>
                  </a:rPr>
                  <a:t>→ 0.2</a:t>
                </a:r>
                <a:endParaRPr lang="en-AU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=1000×0.2×2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=400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400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5D9AF1-3B4B-4244-864C-4E0FC04EE346}"/>
              </a:ext>
            </a:extLst>
          </p:cNvPr>
          <p:cNvSpPr txBox="1"/>
          <p:nvPr/>
        </p:nvSpPr>
        <p:spPr>
          <a:xfrm>
            <a:off x="8275414" y="2194560"/>
            <a:ext cx="2726370" cy="1754326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you try with a partner : </a:t>
            </a:r>
          </a:p>
          <a:p>
            <a:endParaRPr lang="en-AU" dirty="0"/>
          </a:p>
          <a:p>
            <a:r>
              <a:rPr lang="en-AU" dirty="0"/>
              <a:t>P = $1,500</a:t>
            </a:r>
          </a:p>
          <a:p>
            <a:r>
              <a:rPr lang="en-AU" dirty="0"/>
              <a:t>T = 3 years</a:t>
            </a:r>
          </a:p>
          <a:p>
            <a:r>
              <a:rPr lang="en-AU" dirty="0"/>
              <a:t>R= 15% p/a</a:t>
            </a:r>
          </a:p>
        </p:txBody>
      </p:sp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B56-690D-40F0-B2B8-AB21F682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Ray has $750 in a savings account that pays 3% pa simple interest. How much interest will he earn in 4 years?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7F1DC-A484-442D-953C-48C4464877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67" t="58499" r="20524" b="16327"/>
          <a:stretch/>
        </p:blipFill>
        <p:spPr>
          <a:xfrm>
            <a:off x="124029" y="1709531"/>
            <a:ext cx="11943941" cy="3147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60AE6-D607-4A5B-A722-B2CA31E60B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45" t="32908" r="35645" b="63232"/>
          <a:stretch/>
        </p:blipFill>
        <p:spPr>
          <a:xfrm>
            <a:off x="675570" y="787652"/>
            <a:ext cx="6653908" cy="37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96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Widescreen</PresentationFormat>
  <Paragraphs>90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Century Gothic</vt:lpstr>
      <vt:lpstr>Kiwi School Handwriting</vt:lpstr>
      <vt:lpstr>Verdana</vt:lpstr>
      <vt:lpstr>Wingdings</vt:lpstr>
      <vt:lpstr>Office Theme</vt:lpstr>
      <vt:lpstr>Topic: Finance EQ: How do I calculate Simple Interest</vt:lpstr>
      <vt:lpstr>Learning Intentions</vt:lpstr>
      <vt:lpstr>Gallery WALK</vt:lpstr>
      <vt:lpstr>PowerPoint Presentation</vt:lpstr>
      <vt:lpstr>PowerPoint Presentation</vt:lpstr>
      <vt:lpstr>PowerPoint Presentation</vt:lpstr>
      <vt:lpstr>Let’s Try It Out</vt:lpstr>
      <vt:lpstr>Let’s Try It Out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Finance EQ: How do I calculate Simple Interest</dc:title>
  <dc:creator>MCALLISTER Robert [Baldivis Secondary College]</dc:creator>
  <cp:lastModifiedBy>MCALLISTER Robert [Baldivis Secondary College]</cp:lastModifiedBy>
  <cp:revision>1</cp:revision>
  <dcterms:created xsi:type="dcterms:W3CDTF">2020-03-13T06:04:03Z</dcterms:created>
  <dcterms:modified xsi:type="dcterms:W3CDTF">2020-03-13T06:04:42Z</dcterms:modified>
</cp:coreProperties>
</file>
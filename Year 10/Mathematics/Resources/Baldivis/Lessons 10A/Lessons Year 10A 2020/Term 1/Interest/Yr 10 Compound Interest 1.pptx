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7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52948-4B1B-4E31-9C34-DA3F660A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73C5A1-5CA8-47CD-94D8-4902AAAB7E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B7D03-53EF-4D66-BFE2-008FDBA6E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6A161-7A19-41B9-8A27-008F7F2059A2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1EF21-2834-4338-8630-8924C5593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2503C-78BF-4604-AB51-8B419A76A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C182B-A2B9-40F0-BED7-F64BFD11DE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4810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303BE-D628-4409-88CD-C1B962BA1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1DC15-C7C6-42B0-ABCD-6860CA3AF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E12DD-7137-44EF-8D58-85F874C32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6A161-7A19-41B9-8A27-008F7F2059A2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D110E-D685-45B7-9C53-2D25E7F81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0CCDF-3709-48C5-9F14-81F7DBF8A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C182B-A2B9-40F0-BED7-F64BFD11DE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1820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16535-CB38-4DB8-A5B3-5638B265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CCA0FD-50C9-4CBF-BD01-71AE5B9BE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2CB78-4281-40C7-A2F6-3F85BA91F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6A161-7A19-41B9-8A27-008F7F2059A2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E1684-675C-4B91-9CFA-98C0F304E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40043-BEDB-418A-9E6A-56DC3C171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C182B-A2B9-40F0-BED7-F64BFD11DE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8090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ABAA2-F555-4E23-A041-E16BDCFFA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1AF2D-87AD-4521-8189-A7FD31D6CD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65913B-819C-49EA-8512-166603AA14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8420C1-6F28-4C08-97F0-E33C82064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6A161-7A19-41B9-8A27-008F7F2059A2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E005F7-A8D3-4D5C-B7BC-DAE8B4EC6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8FBC4A-7770-4555-9506-99FE5A21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C182B-A2B9-40F0-BED7-F64BFD11DE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6974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D6BAD-500F-45DF-B57D-211C9AAA8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E53BA9-A981-4776-A039-289865149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DE2B75-373B-4FF8-82A0-1AB056085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E93BAC-F101-4FB8-A6C0-89C38FD273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AEAAAC-700E-48F2-892A-1AFB7981B6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EACE19-5396-419C-B8F8-6C6DC1B18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6A161-7A19-41B9-8A27-008F7F2059A2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94D2C6-B923-430A-AF3C-FD488669C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33AC91-FE74-4A27-8E58-AB4C0120D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C182B-A2B9-40F0-BED7-F64BFD11DE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4425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959F1-0C9F-4FCF-BCB7-6F2247927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D8816A-4D1B-49E4-8CCB-2AEFBC5F8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6A161-7A19-41B9-8A27-008F7F2059A2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3C976A-9E3C-4A3F-B38D-06D578333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71409C-4284-4783-BC5F-9AE5EC102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C182B-A2B9-40F0-BED7-F64BFD11DE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1678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A36C15-4EED-4F21-BFC4-2EFF6E02D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6A161-7A19-41B9-8A27-008F7F2059A2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785809-A9C9-4329-8AC4-5629FA47D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3FB0C6-ABC5-414C-BD60-58A0B53FD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C182B-A2B9-40F0-BED7-F64BFD11DE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6154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91912-DB89-43D6-B3AA-EAD8F6ED7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44E8C-C7A5-4FB6-BB37-1A4CC5716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6F2ADC-C3F9-481D-AED9-828AF0C366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7A5222-B314-47BB-ABE3-6CD35FB4D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6A161-7A19-41B9-8A27-008F7F2059A2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1C513C-1DA5-4DF3-8BF2-6340BDD67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7AD798-1B18-4AA6-AD6B-A1390D15C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C182B-A2B9-40F0-BED7-F64BFD11DE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0896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7C495-744A-4007-B731-1EFD46DE2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1DFACA-A6E7-471A-81BD-E7E9C84F8B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92869-43DF-4FD0-A344-43D75DDF28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C92B2A-C29D-47E3-9C73-19966BD88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6A161-7A19-41B9-8A27-008F7F2059A2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D142B-8E12-48F8-A2A8-BFB1BA629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008B0D-13AF-4802-A2B7-A48491853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C182B-A2B9-40F0-BED7-F64BFD11DE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4534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3EF1A-BC02-46AE-87D7-B9EF7F47C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2C36F8-4300-41B7-B005-7AABA83267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A1279-4AE4-4860-979A-098143194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6A161-7A19-41B9-8A27-008F7F2059A2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4371A-8DEB-4660-93AE-DEC3C8F70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4E9D9-6CAC-4252-98C5-A3ECE8DEB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C182B-A2B9-40F0-BED7-F64BFD11DE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9894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7B8468-D8ED-4385-BD23-9F986E8ED5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55A7FC-D4FB-4821-BAEF-E9425BB9CF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AB642-B6B6-464D-9ACF-CC262C7D7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6A161-7A19-41B9-8A27-008F7F2059A2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D5735-D70B-48FF-B18A-A92C7C14B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4B66C-F4B2-408E-8151-3C386F823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C182B-A2B9-40F0-BED7-F64BFD11DE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8992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400D90-2ED4-40D0-A637-946121380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DA312-B593-416D-802F-C1695852D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A0003-4D52-41F3-B8B8-973C72BD0E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26A161-7A19-41B9-8A27-008F7F2059A2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EBBFA-E977-4D8B-A838-27B8229FF7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C7B7F-E94A-4396-B115-20B5A9261E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5C182B-A2B9-40F0-BED7-F64BFD11DE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2574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Topic: Finance</a:t>
            </a:r>
            <a:br>
              <a:rPr lang="en-AU" dirty="0"/>
            </a:br>
            <a:r>
              <a:rPr lang="en-AU" dirty="0"/>
              <a:t>EQ: What is Compound Interest?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10 Mathematics</a:t>
            </a:r>
          </a:p>
        </p:txBody>
      </p:sp>
    </p:spTree>
    <p:extLst>
      <p:ext uri="{BB962C8B-B14F-4D97-AF65-F5344CB8AC3E}">
        <p14:creationId xmlns:p14="http://schemas.microsoft.com/office/powerpoint/2010/main" val="62660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00903"/>
            <a:ext cx="9720072" cy="807486"/>
          </a:xfrm>
        </p:spPr>
        <p:txBody>
          <a:bodyPr>
            <a:normAutofit/>
          </a:bodyPr>
          <a:lstStyle/>
          <a:p>
            <a:r>
              <a:rPr lang="en-AU" dirty="0"/>
              <a:t>Interesting Interest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245704"/>
            <a:ext cx="9720073" cy="5300869"/>
          </a:xfrm>
        </p:spPr>
        <p:txBody>
          <a:bodyPr>
            <a:normAutofit fontScale="77500" lnSpcReduction="20000"/>
          </a:bodyPr>
          <a:lstStyle/>
          <a:p>
            <a:r>
              <a:rPr lang="en-AU" sz="3400" dirty="0"/>
              <a:t>Interest is money added on top of an existing amount. </a:t>
            </a:r>
          </a:p>
          <a:p>
            <a:r>
              <a:rPr lang="en-AU" sz="3400" dirty="0"/>
              <a:t>Interest accrues over time – usually year long periods, but can be daily, weekly, fortnightly</a:t>
            </a:r>
          </a:p>
          <a:p>
            <a:r>
              <a:rPr lang="en-AU" sz="3400" dirty="0"/>
              <a:t>Simple interest is a fixed amount of money earned off an amount. The formula for simple interest is – I=P x R x T, </a:t>
            </a:r>
          </a:p>
          <a:p>
            <a:pPr lvl="1"/>
            <a:r>
              <a:rPr lang="en-AU" sz="2600" dirty="0"/>
              <a:t>P is principle amount – the dollars you begin with</a:t>
            </a:r>
          </a:p>
          <a:p>
            <a:pPr lvl="1"/>
            <a:r>
              <a:rPr lang="en-AU" sz="2600" dirty="0"/>
              <a:t>R is the rate – this is a decimal ( % / 100)</a:t>
            </a:r>
          </a:p>
          <a:p>
            <a:pPr lvl="1"/>
            <a:r>
              <a:rPr lang="en-AU" sz="2600" dirty="0"/>
              <a:t>T is the time in years</a:t>
            </a:r>
          </a:p>
          <a:p>
            <a:pPr lvl="1"/>
            <a:endParaRPr lang="en-AU" dirty="0"/>
          </a:p>
          <a:p>
            <a:pPr lvl="1"/>
            <a:r>
              <a:rPr lang="en-AU" sz="3400" dirty="0" err="1"/>
              <a:t>Eg</a:t>
            </a:r>
            <a:r>
              <a:rPr lang="en-AU" sz="3400" dirty="0"/>
              <a:t> find the Simple interest on $15000 at 7.5%pa for 5 years</a:t>
            </a:r>
            <a:br>
              <a:rPr lang="en-AU" sz="3400" dirty="0"/>
            </a:br>
            <a:br>
              <a:rPr lang="en-AU" sz="3400" dirty="0"/>
            </a:br>
            <a:r>
              <a:rPr lang="en-AU" sz="3400" dirty="0"/>
              <a:t>		I = P x P x T</a:t>
            </a:r>
            <a:br>
              <a:rPr lang="en-AU" sz="3400" dirty="0"/>
            </a:br>
            <a:r>
              <a:rPr lang="en-AU" sz="3400" dirty="0"/>
              <a:t>		  = 15000 x 0.075 x 5</a:t>
            </a:r>
            <a:br>
              <a:rPr lang="en-AU" sz="3400" dirty="0"/>
            </a:br>
            <a:r>
              <a:rPr lang="en-AU" sz="3400" dirty="0"/>
              <a:t>		  = $5625</a:t>
            </a:r>
            <a:br>
              <a:rPr lang="en-AU" sz="3400" dirty="0"/>
            </a:br>
            <a:br>
              <a:rPr lang="en-AU" sz="3400" dirty="0"/>
            </a:br>
            <a:r>
              <a:rPr lang="en-AU" sz="3400" dirty="0"/>
              <a:t>	  Total is   = 15000 + 5625</a:t>
            </a:r>
            <a:br>
              <a:rPr lang="en-AU" sz="3400" dirty="0"/>
            </a:br>
            <a:r>
              <a:rPr lang="en-AU" sz="3400" dirty="0"/>
              <a:t>		  = $20625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76099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4400" dirty="0"/>
              <a:t>Topic: Finance</a:t>
            </a:r>
            <a:br>
              <a:rPr lang="en-AU" sz="4400" dirty="0"/>
            </a:br>
            <a:r>
              <a:rPr lang="en-AU" sz="4400" dirty="0"/>
              <a:t>EQ: What is Compound Interest?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5929" y="2122029"/>
            <a:ext cx="10554574" cy="3636511"/>
          </a:xfrm>
        </p:spPr>
        <p:txBody>
          <a:bodyPr>
            <a:normAutofit/>
          </a:bodyPr>
          <a:lstStyle/>
          <a:p>
            <a:r>
              <a:rPr lang="en-AU" sz="2400" dirty="0"/>
              <a:t>Compound interest is when you earn interest each time, based upon on previous amount. </a:t>
            </a:r>
          </a:p>
          <a:p>
            <a:r>
              <a:rPr lang="en-AU" sz="2400" dirty="0"/>
              <a:t>If we look at the same problem from before, but apply compound interest we see it grow a lot quicker-</a:t>
            </a:r>
          </a:p>
          <a:p>
            <a:endParaRPr lang="en-AU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23288" y="3683921"/>
          <a:ext cx="767588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86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8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86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Initial 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Simple interest </a:t>
                      </a:r>
                      <a:r>
                        <a:rPr lang="en-AU" dirty="0" err="1"/>
                        <a:t>PxRxT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New amount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15000x0.075x1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16125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16125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16125x0.075x1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17334.38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17334.38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17334.38x0.075x1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18634.45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18634.45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18634.45x0.075x1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20032.04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20032.04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20032.04x0.075x1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21534.44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5288" y="5908961"/>
            <a:ext cx="10855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From the SI, we earned only $5625, but compounded we earn $6534.44, a difference of </a:t>
            </a:r>
            <a:r>
              <a:rPr lang="en-AU" b="1" dirty="0"/>
              <a:t>$909.44</a:t>
            </a:r>
          </a:p>
        </p:txBody>
      </p:sp>
    </p:spTree>
    <p:extLst>
      <p:ext uri="{BB962C8B-B14F-4D97-AF65-F5344CB8AC3E}">
        <p14:creationId xmlns:p14="http://schemas.microsoft.com/office/powerpoint/2010/main" val="1090126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416" y="910373"/>
            <a:ext cx="10571998" cy="970450"/>
          </a:xfrm>
        </p:spPr>
        <p:txBody>
          <a:bodyPr>
            <a:noAutofit/>
          </a:bodyPr>
          <a:lstStyle/>
          <a:p>
            <a:r>
              <a:rPr lang="en-AU" sz="3200" b="1" dirty="0"/>
              <a:t>How do we quickly do compound interest?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97073" y="1785091"/>
                <a:ext cx="10554574" cy="3636511"/>
              </a:xfrm>
            </p:spPr>
            <p:txBody>
              <a:bodyPr/>
              <a:lstStyle/>
              <a:p>
                <a:r>
                  <a:rPr lang="en-AU" dirty="0"/>
                  <a:t>The formula for finding compound interest is CI= P(1+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charset="0"/>
                          </a:rPr>
                          <m:t>𝑟</m:t>
                        </m:r>
                      </m:num>
                      <m:den>
                        <m:r>
                          <a:rPr lang="en-AU" b="0" i="1" smtClean="0">
                            <a:latin typeface="Cambria Math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bg-BG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charset="0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𝑡</m:t>
                        </m:r>
                      </m:sup>
                    </m:sSup>
                    <m:r>
                      <a:rPr lang="en-AU" b="0" i="0" smtClean="0">
                        <a:latin typeface="Cambria Math" charset="0"/>
                      </a:rPr>
                      <m:t> </m:t>
                    </m:r>
                  </m:oMath>
                </a14:m>
                <a:endParaRPr lang="en-AU" dirty="0"/>
              </a:p>
              <a:p>
                <a:r>
                  <a:rPr lang="en-AU" dirty="0"/>
                  <a:t>where:</a:t>
                </a:r>
              </a:p>
              <a:p>
                <a:pPr lvl="1"/>
                <a:r>
                  <a:rPr lang="en-AU" sz="2000" dirty="0"/>
                  <a:t>P is principal, </a:t>
                </a:r>
              </a:p>
              <a:p>
                <a:pPr lvl="1"/>
                <a:r>
                  <a:rPr lang="en-AU" sz="2000" dirty="0"/>
                  <a:t>r is interest rate at a decimal and;</a:t>
                </a:r>
              </a:p>
              <a:p>
                <a:pPr lvl="1"/>
                <a:r>
                  <a:rPr lang="en-AU" sz="2000" dirty="0"/>
                  <a:t>n is number of times it is compounded yearly </a:t>
                </a:r>
              </a:p>
              <a:p>
                <a:pPr lvl="1"/>
                <a:r>
                  <a:rPr lang="en-AU" sz="2000" dirty="0"/>
                  <a:t>t is the number of years, and is a raised power. 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073" y="1785091"/>
                <a:ext cx="10554574" cy="3636511"/>
              </a:xfrm>
              <a:blipFill>
                <a:blip r:embed="rId2"/>
                <a:stretch>
                  <a:fillRect l="-289" t="-8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4994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A5F308-98D1-47F1-8C3A-7782A8C36A26}"/>
              </a:ext>
            </a:extLst>
          </p:cNvPr>
          <p:cNvSpPr txBox="1"/>
          <p:nvPr/>
        </p:nvSpPr>
        <p:spPr>
          <a:xfrm>
            <a:off x="190672" y="1893916"/>
            <a:ext cx="551297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From the graph to right, we can see the difference between the principal over 20 years, simple interest of 10% and compound interest over 20 years. There is an almost a $4,500 difference. </a:t>
            </a:r>
          </a:p>
          <a:p>
            <a:endParaRPr lang="en-AU" sz="2400" dirty="0"/>
          </a:p>
          <a:p>
            <a:r>
              <a:rPr lang="en-AU" sz="2400" dirty="0"/>
              <a:t>From this graph, we can see that more time makes a bigger difference in the two rates.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77E27E-50A7-49FB-818F-43E19E5063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3643" y="1705494"/>
            <a:ext cx="6117443" cy="404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564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Practice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1294" y="1485865"/>
            <a:ext cx="10554574" cy="3636511"/>
          </a:xfrm>
        </p:spPr>
        <p:txBody>
          <a:bodyPr/>
          <a:lstStyle/>
          <a:p>
            <a:r>
              <a:rPr lang="en-AU" dirty="0"/>
              <a:t>Dave puts $2,000 in his account at 8% for 10 years. </a:t>
            </a:r>
          </a:p>
          <a:p>
            <a:r>
              <a:rPr lang="en-AU" dirty="0"/>
              <a:t>Compare compound to simple interest and see the difference between the two. </a:t>
            </a:r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/>
            </p:nvGraphicFramePr>
            <p:xfrm>
              <a:off x="781520" y="3070151"/>
              <a:ext cx="7348327" cy="312871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9503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45329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203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Simple Interest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Compound Interest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71054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SI= P x R x</a:t>
                          </a:r>
                          <a:r>
                            <a:rPr lang="en-AU" baseline="0" dirty="0"/>
                            <a:t> T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CI = P(1+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bg-BG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b="0" i="1" smtClean="0">
                                      <a:latin typeface="Cambria Math" charset="0"/>
                                    </a:rPr>
                                    <m:t>𝑟</m:t>
                                  </m:r>
                                </m:num>
                                <m:den>
                                  <m:r>
                                    <a:rPr lang="en-AU" b="0" i="1" smtClean="0">
                                      <a:latin typeface="Cambria Math" charset="0"/>
                                    </a:rPr>
                                    <m:t>𝑛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bg-BG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b="0" i="1" smtClean="0">
                                      <a:latin typeface="Cambria Math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AU" b="0" i="1" smtClean="0">
                                      <a:latin typeface="Cambria Math" charset="0"/>
                                    </a:rPr>
                                    <m:t>𝑡</m:t>
                                  </m:r>
                                </m:sup>
                              </m:sSup>
                            </m:oMath>
                          </a14:m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71054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SI=</a:t>
                          </a:r>
                          <a:r>
                            <a:rPr lang="en-AU" baseline="0" dirty="0"/>
                            <a:t> </a:t>
                          </a:r>
                          <a:r>
                            <a:rPr lang="en-AU" dirty="0"/>
                            <a:t>2000 x 0.08 x 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CI= 2000(1+0.08/1)</a:t>
                          </a:r>
                          <a:r>
                            <a:rPr lang="en-AU" baseline="30000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366226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SI = $1600</a:t>
                          </a:r>
                        </a:p>
                        <a:p>
                          <a:endParaRPr lang="en-AU" dirty="0"/>
                        </a:p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CI = $4317.85</a:t>
                          </a:r>
                        </a:p>
                        <a:p>
                          <a:endParaRPr lang="en-AU" dirty="0"/>
                        </a:p>
                        <a:p>
                          <a:r>
                            <a:rPr lang="en-AU" dirty="0"/>
                            <a:t>Interest earned: $4317.85 - $2000 = $2317.85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252382"/>
                  </p:ext>
                </p:extLst>
              </p:nvPr>
            </p:nvGraphicFramePr>
            <p:xfrm>
              <a:off x="781520" y="3070151"/>
              <a:ext cx="7348327" cy="312871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9503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45329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203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Simple Interest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Compound Interest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71054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SI= P x R x</a:t>
                          </a:r>
                          <a:r>
                            <a:rPr lang="en-AU" baseline="0" dirty="0"/>
                            <a:t> T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5116" t="-67273" r="-547" b="-3063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71054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SI=</a:t>
                          </a:r>
                          <a:r>
                            <a:rPr lang="en-AU" baseline="0" dirty="0"/>
                            <a:t> </a:t>
                          </a:r>
                          <a:r>
                            <a:rPr lang="en-AU" dirty="0"/>
                            <a:t>2000 x 0.08 x 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CI= 2000(1+0.08/1)</a:t>
                          </a:r>
                          <a:r>
                            <a:rPr lang="en-AU" baseline="30000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366226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SI = $1600</a:t>
                          </a:r>
                        </a:p>
                        <a:p>
                          <a:endParaRPr lang="en-AU" dirty="0"/>
                        </a:p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CI = $4317.85</a:t>
                          </a:r>
                        </a:p>
                        <a:p>
                          <a:endParaRPr lang="en-AU" dirty="0"/>
                        </a:p>
                        <a:p>
                          <a:r>
                            <a:rPr lang="en-AU" dirty="0"/>
                            <a:t>Interest earned: $4317.85 - $2000 = $2317.85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/>
          <p:cNvSpPr txBox="1"/>
          <p:nvPr/>
        </p:nvSpPr>
        <p:spPr>
          <a:xfrm>
            <a:off x="1662928" y="6322676"/>
            <a:ext cx="8098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Compound interest earns him $717.85 dollars more than simple interest.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4915" y="3070151"/>
            <a:ext cx="36195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351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Practical advice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4397" y="1913314"/>
            <a:ext cx="4571035" cy="4416086"/>
          </a:xfrm>
        </p:spPr>
      </p:pic>
      <p:sp>
        <p:nvSpPr>
          <p:cNvPr id="5" name="TextBox 4"/>
          <p:cNvSpPr txBox="1"/>
          <p:nvPr/>
        </p:nvSpPr>
        <p:spPr>
          <a:xfrm>
            <a:off x="277586" y="2334985"/>
            <a:ext cx="607422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If you get in the habit of putting $75 away each fortnight, you can have ~$220,000 in 30 years. This is because bank accounts use compound interest with their bank accounts.  </a:t>
            </a:r>
          </a:p>
          <a:p>
            <a:endParaRPr lang="en-AU" sz="2000" dirty="0"/>
          </a:p>
          <a:p>
            <a:r>
              <a:rPr lang="en-AU" sz="2000" dirty="0"/>
              <a:t>The same is true for your super. If you contribute and extra $150 a fortnight, the benefits stack up across your working life. </a:t>
            </a:r>
          </a:p>
        </p:txBody>
      </p:sp>
    </p:spTree>
    <p:extLst>
      <p:ext uri="{BB962C8B-B14F-4D97-AF65-F5344CB8AC3E}">
        <p14:creationId xmlns:p14="http://schemas.microsoft.com/office/powerpoint/2010/main" val="350756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Find the amount of simple and compound interest for both of the following amounts.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AU" dirty="0"/>
              <a:t>$10,000 at 5% for 5 years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AU" dirty="0"/>
              <a:t>$1,250 at 8% for 20 years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AU" dirty="0"/>
              <a:t>$450,000 at 4.5% for 40 years</a:t>
            </a:r>
          </a:p>
          <a:p>
            <a:pPr marL="400050"/>
            <a:r>
              <a:rPr lang="en-AU" dirty="0"/>
              <a:t>Find the gross amount for both simple and compound interest.</a:t>
            </a:r>
          </a:p>
          <a:p>
            <a:pPr marL="800100" lvl="1" indent="-342900">
              <a:buFont typeface="+mj-lt"/>
              <a:buAutoNum type="alphaLcParenR"/>
            </a:pPr>
            <a:endParaRPr lang="en-AU" dirty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94555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Answers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09999" y="2965473"/>
          <a:ext cx="1055370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73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81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Simple Interest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Compound Interest Gross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$12,762.82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$5,826.20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$810,000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$2,617,364.04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10000" y="4918936"/>
          <a:ext cx="1055370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73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81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Simple Interest Gross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Compound Interest Gross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$12500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$ 12 762.82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$3250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$ 5826.20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$1,260,000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$ 2 617 364.04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143501" y="4507325"/>
            <a:ext cx="2140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GROSS AMOUNTS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43501" y="2534748"/>
            <a:ext cx="2289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/>
              <a:t>INTEREST AMOUNTS</a:t>
            </a:r>
          </a:p>
        </p:txBody>
      </p:sp>
    </p:spTree>
    <p:extLst>
      <p:ext uri="{BB962C8B-B14F-4D97-AF65-F5344CB8AC3E}">
        <p14:creationId xmlns:p14="http://schemas.microsoft.com/office/powerpoint/2010/main" val="510201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662268" cy="2378075"/>
          </a:xfrm>
        </p:spPr>
        <p:txBody>
          <a:bodyPr>
            <a:normAutofit/>
          </a:bodyPr>
          <a:lstStyle/>
          <a:p>
            <a:r>
              <a:rPr lang="en-AU" dirty="0" err="1"/>
              <a:t>Dywer</a:t>
            </a:r>
            <a:r>
              <a:rPr lang="en-AU" dirty="0"/>
              <a:t> Year 10 Text</a:t>
            </a:r>
            <a:br>
              <a:rPr lang="en-AU" dirty="0"/>
            </a:br>
            <a:r>
              <a:rPr lang="en-AU" dirty="0"/>
              <a:t>Exercise 11.6</a:t>
            </a:r>
            <a:br>
              <a:rPr lang="en-AU" dirty="0"/>
            </a:br>
            <a:r>
              <a:rPr lang="en-AU" dirty="0"/>
              <a:t>Page 319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55E97F-2126-45BD-80CF-DA4EE0B705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346" t="16189" r="27770" b="5302"/>
          <a:stretch/>
        </p:blipFill>
        <p:spPr>
          <a:xfrm>
            <a:off x="5655213" y="-30749"/>
            <a:ext cx="6536788" cy="688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356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638</Words>
  <Application>Microsoft Office PowerPoint</Application>
  <PresentationFormat>Widescreen</PresentationFormat>
  <Paragraphs>93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Topic: Finance EQ: What is Compound Interest?</vt:lpstr>
      <vt:lpstr>Interesting Interest</vt:lpstr>
      <vt:lpstr>Topic: Finance EQ: What is Compound Interest?</vt:lpstr>
      <vt:lpstr>How do we quickly do compound interest?</vt:lpstr>
      <vt:lpstr>PowerPoint Presentation</vt:lpstr>
      <vt:lpstr>Practice the problem</vt:lpstr>
      <vt:lpstr>Practical advice</vt:lpstr>
      <vt:lpstr>Practise</vt:lpstr>
      <vt:lpstr>Answers</vt:lpstr>
      <vt:lpstr>Dywer Year 10 Text Exercise 11.6 Page 319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Finance EQ: What is Compound Interest?</dc:title>
  <dc:creator>MCALLISTER Robert [Baldivis Secondary College]</dc:creator>
  <cp:lastModifiedBy>MCALLISTER Robert [Baldivis Secondary College]</cp:lastModifiedBy>
  <cp:revision>3</cp:revision>
  <dcterms:created xsi:type="dcterms:W3CDTF">2020-03-13T03:57:34Z</dcterms:created>
  <dcterms:modified xsi:type="dcterms:W3CDTF">2020-03-13T04:30:23Z</dcterms:modified>
</cp:coreProperties>
</file>
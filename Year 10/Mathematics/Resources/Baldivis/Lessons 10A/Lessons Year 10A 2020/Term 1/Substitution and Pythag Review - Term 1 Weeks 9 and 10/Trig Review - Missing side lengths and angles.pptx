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8" r:id="rId5"/>
    <p:sldId id="295" r:id="rId6"/>
    <p:sldId id="319" r:id="rId7"/>
    <p:sldId id="336" r:id="rId8"/>
    <p:sldId id="337" r:id="rId9"/>
    <p:sldId id="338" r:id="rId10"/>
    <p:sldId id="282" r:id="rId11"/>
    <p:sldId id="340" r:id="rId12"/>
    <p:sldId id="341" r:id="rId13"/>
    <p:sldId id="339" r:id="rId14"/>
    <p:sldId id="286" r:id="rId15"/>
    <p:sldId id="32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919" autoAdjust="0"/>
    <p:restoredTop sz="95827"/>
  </p:normalViewPr>
  <p:slideViewPr>
    <p:cSldViewPr snapToGrid="0">
      <p:cViewPr varScale="1">
        <p:scale>
          <a:sx n="82" d="100"/>
          <a:sy n="82" d="100"/>
        </p:scale>
        <p:origin x="176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784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image" Target="../media/image5.emf"/><Relationship Id="rId4" Type="http://schemas.openxmlformats.org/officeDocument/2006/relationships/image" Target="../media/image8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image" Target="../media/image10.emf"/><Relationship Id="rId5" Type="http://schemas.openxmlformats.org/officeDocument/2006/relationships/image" Target="../media/image14.emf"/><Relationship Id="rId4" Type="http://schemas.openxmlformats.org/officeDocument/2006/relationships/image" Target="../media/image13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image" Target="../media/image15.emf"/><Relationship Id="rId4" Type="http://schemas.openxmlformats.org/officeDocument/2006/relationships/image" Target="../media/image18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image" Target="../media/image19.emf"/><Relationship Id="rId4" Type="http://schemas.openxmlformats.org/officeDocument/2006/relationships/image" Target="../media/image22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image" Target="../media/image23.emf"/><Relationship Id="rId5" Type="http://schemas.openxmlformats.org/officeDocument/2006/relationships/image" Target="../media/image27.emf"/><Relationship Id="rId4" Type="http://schemas.openxmlformats.org/officeDocument/2006/relationships/image" Target="../media/image26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image" Target="../media/image28.emf"/><Relationship Id="rId5" Type="http://schemas.openxmlformats.org/officeDocument/2006/relationships/image" Target="../media/image30.emf"/><Relationship Id="rId4" Type="http://schemas.openxmlformats.org/officeDocument/2006/relationships/image" Target="../media/image29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image" Target="../media/image31.emf"/><Relationship Id="rId5" Type="http://schemas.openxmlformats.org/officeDocument/2006/relationships/image" Target="../media/image33.emf"/><Relationship Id="rId4" Type="http://schemas.openxmlformats.org/officeDocument/2006/relationships/image" Target="../media/image3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BDA6D-DC69-4DCE-BAF7-6763517D3376}" type="datetimeFigureOut">
              <a:rPr lang="en-US"/>
              <a:t>3/31/20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77E94-A6AB-4E02-8E43-E89F9CF4757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F6C43-988E-4257-9A1C-C162EF036D58}" type="datetimeFigureOut">
              <a:rPr lang="en-US"/>
              <a:t>3/31/20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D491D0-8E1B-49C7-849B-A28568D9449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8CF4BFBC-CD4D-1A4C-AF95-0512AF386C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6796833-4029-7A4C-AC08-0C549B4C714B}" type="slidenum">
              <a:rPr lang="en-US" altLang="en-US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4CE794DB-87B3-A448-AF39-694052FCDFB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3FF7D389-9C51-9347-8926-AC37EA242D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50362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54AE298C-7296-E14F-AA33-94C78A39E6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336C845-0630-CF41-AF2D-4115DD4BEDD7}" type="slidenum">
              <a:rPr lang="en-US" altLang="en-US"/>
              <a:pPr>
                <a:spcBef>
                  <a:spcPct val="0"/>
                </a:spcBef>
              </a:pPr>
              <a:t>11</a:t>
            </a:fld>
            <a:endParaRPr lang="en-US" altLang="en-US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A7DEC13E-0B76-0F44-A93D-993ED481A6F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DAF19E47-D863-2145-A40C-2315902095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8817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832533" y="1371600"/>
            <a:ext cx="9359467" cy="297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32533" y="4462272"/>
            <a:ext cx="9359467" cy="10332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3175199" y="1943842"/>
            <a:ext cx="8500062" cy="2387600"/>
          </a:xfrm>
        </p:spPr>
        <p:txBody>
          <a:bodyPr anchor="b"/>
          <a:lstStyle>
            <a:lvl1pPr algn="l">
              <a:lnSpc>
                <a:spcPct val="90000"/>
              </a:lnSpc>
              <a:defRPr sz="6000" b="1">
                <a:solidFill>
                  <a:schemeClr val="tx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75199" y="4538659"/>
            <a:ext cx="8500062" cy="86532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3/31/20</a:t>
            </a:fld>
            <a:endParaRPr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47549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3/31/20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13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502152" y="-20637"/>
            <a:ext cx="7315200" cy="434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02152" y="4462272"/>
            <a:ext cx="7315200" cy="17190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3838015" y="658346"/>
            <a:ext cx="6597464" cy="3664417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5000" b="1">
                <a:solidFill>
                  <a:schemeClr val="tx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8014" y="4589463"/>
            <a:ext cx="6597465" cy="150018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3/31/20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82452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80160" y="2194560"/>
            <a:ext cx="4489704" cy="3986784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5368" y="2194560"/>
            <a:ext cx="4493424" cy="3986784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3/31/20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104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0160" y="2743194"/>
            <a:ext cx="4489704" cy="3433769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9088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9088" y="2743194"/>
            <a:ext cx="4489704" cy="3433769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3/31/20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128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3/31/20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1611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3/31/20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0296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8896" y="2465294"/>
            <a:ext cx="5389895" cy="4392706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818" y="2465294"/>
            <a:ext cx="3834874" cy="3711669"/>
          </a:xfrm>
        </p:spPr>
        <p:txBody>
          <a:bodyPr>
            <a:normAutofit/>
          </a:bodyPr>
          <a:lstStyle>
            <a:lvl1pPr marL="0" indent="0">
              <a:spcBef>
                <a:spcPts val="1500"/>
              </a:spcBef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3/31/20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4742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518896" y="1828456"/>
            <a:ext cx="5389895" cy="5029544"/>
          </a:xfrm>
        </p:spPr>
        <p:txBody>
          <a:bodyPr tIns="13716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819" y="2465293"/>
            <a:ext cx="3834874" cy="3711669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3/31/20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136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3/31/20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4405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8199" y="462249"/>
            <a:ext cx="9693088" cy="5714714"/>
          </a:xfrm>
        </p:spPr>
        <p:txBody>
          <a:bodyPr vert="eaVert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78199" y="6356350"/>
            <a:ext cx="1971947" cy="365125"/>
          </a:xfrm>
        </p:spPr>
        <p:txBody>
          <a:bodyPr/>
          <a:lstStyle/>
          <a:p>
            <a:fld id="{2CCFE9AC-F15C-4FA0-A6F1-298829FA691D}" type="datetimeFigureOut">
              <a:rPr lang="en-US"/>
              <a:t>3/31/20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82374" y="6356350"/>
            <a:ext cx="5687786" cy="365125"/>
          </a:xfrm>
        </p:spPr>
        <p:txBody>
          <a:bodyPr/>
          <a:lstStyle/>
          <a:p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 rot="5400000">
            <a:off x="7523375" y="2743540"/>
            <a:ext cx="6857433" cy="137148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 rot="5400000">
            <a:off x="8267671" y="3370131"/>
            <a:ext cx="6858000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66348" y="462249"/>
            <a:ext cx="1370886" cy="5714714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02389" y="6356350"/>
            <a:ext cx="1968898" cy="365125"/>
          </a:xfrm>
        </p:spPr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941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347472"/>
            <a:ext cx="12188952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0" y="457200"/>
            <a:ext cx="12188952" cy="137125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280160" y="466343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2190749"/>
            <a:ext cx="9628632" cy="3986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  <a:p>
            <a:pPr lvl="5"/>
            <a:r>
              <a:t>Sixth</a:t>
            </a:r>
          </a:p>
          <a:p>
            <a:pPr lvl="6"/>
            <a:r>
              <a:t>Seventh</a:t>
            </a:r>
          </a:p>
          <a:p>
            <a:pPr lvl="7"/>
            <a:r>
              <a:t>Eighth</a:t>
            </a:r>
          </a:p>
          <a:p>
            <a:pPr lvl="8"/>
            <a:r>
              <a:t>Ninth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80160" y="6356350"/>
            <a:ext cx="19719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FE9AC-F15C-4FA0-A6F1-298829FA691D}" type="datetimeFigureOut">
              <a:rPr lang="en-US"/>
              <a:t>3/31/20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52107" y="6356350"/>
            <a:ext cx="56877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39894" y="6356350"/>
            <a:ext cx="19688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71921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500"/>
        </a:spcBef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emf"/><Relationship Id="rId11" Type="http://schemas.openxmlformats.org/officeDocument/2006/relationships/image" Target="../media/image9.e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8.emf"/><Relationship Id="rId4" Type="http://schemas.openxmlformats.org/officeDocument/2006/relationships/image" Target="../media/image5.emf"/><Relationship Id="rId9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13" Type="http://schemas.openxmlformats.org/officeDocument/2006/relationships/image" Target="../media/image9.e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12" Type="http://schemas.openxmlformats.org/officeDocument/2006/relationships/image" Target="../media/image14.e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1.emf"/><Relationship Id="rId11" Type="http://schemas.openxmlformats.org/officeDocument/2006/relationships/oleObject" Target="../embeddings/oleObject9.bin"/><Relationship Id="rId5" Type="http://schemas.openxmlformats.org/officeDocument/2006/relationships/oleObject" Target="../embeddings/oleObject6.bin"/><Relationship Id="rId10" Type="http://schemas.openxmlformats.org/officeDocument/2006/relationships/image" Target="../media/image13.emf"/><Relationship Id="rId4" Type="http://schemas.openxmlformats.org/officeDocument/2006/relationships/image" Target="../media/image10.emf"/><Relationship Id="rId9" Type="http://schemas.openxmlformats.org/officeDocument/2006/relationships/oleObject" Target="../embeddings/oleObject8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6.emf"/><Relationship Id="rId11" Type="http://schemas.openxmlformats.org/officeDocument/2006/relationships/image" Target="../media/image9.emf"/><Relationship Id="rId5" Type="http://schemas.openxmlformats.org/officeDocument/2006/relationships/oleObject" Target="../embeddings/oleObject11.bin"/><Relationship Id="rId10" Type="http://schemas.openxmlformats.org/officeDocument/2006/relationships/image" Target="../media/image18.emf"/><Relationship Id="rId4" Type="http://schemas.openxmlformats.org/officeDocument/2006/relationships/image" Target="../media/image15.emf"/><Relationship Id="rId9" Type="http://schemas.openxmlformats.org/officeDocument/2006/relationships/oleObject" Target="../embeddings/oleObject13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0.emf"/><Relationship Id="rId11" Type="http://schemas.openxmlformats.org/officeDocument/2006/relationships/image" Target="../media/image9.emf"/><Relationship Id="rId5" Type="http://schemas.openxmlformats.org/officeDocument/2006/relationships/oleObject" Target="../embeddings/oleObject15.bin"/><Relationship Id="rId10" Type="http://schemas.openxmlformats.org/officeDocument/2006/relationships/image" Target="../media/image22.emf"/><Relationship Id="rId4" Type="http://schemas.openxmlformats.org/officeDocument/2006/relationships/image" Target="../media/image19.emf"/><Relationship Id="rId9" Type="http://schemas.openxmlformats.org/officeDocument/2006/relationships/oleObject" Target="../embeddings/oleObject17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13" Type="http://schemas.openxmlformats.org/officeDocument/2006/relationships/image" Target="../media/image27.e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12" Type="http://schemas.openxmlformats.org/officeDocument/2006/relationships/oleObject" Target="../embeddings/oleObject2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4.emf"/><Relationship Id="rId11" Type="http://schemas.openxmlformats.org/officeDocument/2006/relationships/image" Target="../media/image9.emf"/><Relationship Id="rId5" Type="http://schemas.openxmlformats.org/officeDocument/2006/relationships/oleObject" Target="../embeddings/oleObject19.bin"/><Relationship Id="rId10" Type="http://schemas.openxmlformats.org/officeDocument/2006/relationships/image" Target="../media/image26.emf"/><Relationship Id="rId4" Type="http://schemas.openxmlformats.org/officeDocument/2006/relationships/image" Target="../media/image23.emf"/><Relationship Id="rId9" Type="http://schemas.openxmlformats.org/officeDocument/2006/relationships/oleObject" Target="../embeddings/oleObject21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13" Type="http://schemas.openxmlformats.org/officeDocument/2006/relationships/image" Target="../media/image30.emf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12" Type="http://schemas.openxmlformats.org/officeDocument/2006/relationships/oleObject" Target="../embeddings/oleObject27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4.emf"/><Relationship Id="rId11" Type="http://schemas.openxmlformats.org/officeDocument/2006/relationships/image" Target="../media/image9.emf"/><Relationship Id="rId5" Type="http://schemas.openxmlformats.org/officeDocument/2006/relationships/oleObject" Target="../embeddings/oleObject24.bin"/><Relationship Id="rId10" Type="http://schemas.openxmlformats.org/officeDocument/2006/relationships/image" Target="../media/image29.emf"/><Relationship Id="rId4" Type="http://schemas.openxmlformats.org/officeDocument/2006/relationships/image" Target="../media/image28.emf"/><Relationship Id="rId9" Type="http://schemas.openxmlformats.org/officeDocument/2006/relationships/oleObject" Target="../embeddings/oleObject26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13" Type="http://schemas.openxmlformats.org/officeDocument/2006/relationships/image" Target="../media/image33.e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12" Type="http://schemas.openxmlformats.org/officeDocument/2006/relationships/oleObject" Target="../embeddings/oleObject3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4.emf"/><Relationship Id="rId11" Type="http://schemas.openxmlformats.org/officeDocument/2006/relationships/image" Target="../media/image9.emf"/><Relationship Id="rId5" Type="http://schemas.openxmlformats.org/officeDocument/2006/relationships/oleObject" Target="../embeddings/oleObject29.bin"/><Relationship Id="rId10" Type="http://schemas.openxmlformats.org/officeDocument/2006/relationships/image" Target="../media/image32.emf"/><Relationship Id="rId4" Type="http://schemas.openxmlformats.org/officeDocument/2006/relationships/image" Target="../media/image31.emf"/><Relationship Id="rId9" Type="http://schemas.openxmlformats.org/officeDocument/2006/relationships/oleObject" Target="../embeddings/oleObject31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Topic: Trigonometry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EQ: What steps are similar and different in finding missing side lengths and missing angles?</a:t>
            </a:r>
          </a:p>
        </p:txBody>
      </p:sp>
    </p:spTree>
    <p:extLst>
      <p:ext uri="{BB962C8B-B14F-4D97-AF65-F5344CB8AC3E}">
        <p14:creationId xmlns:p14="http://schemas.microsoft.com/office/powerpoint/2010/main" val="173269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/>
        </p:nvCxnSpPr>
        <p:spPr>
          <a:xfrm>
            <a:off x="0" y="5998464"/>
            <a:ext cx="12192000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0" y="5998464"/>
            <a:ext cx="14554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Summary: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6C6CE48-BBCD-284E-A820-FA3F8ED279F2}"/>
              </a:ext>
            </a:extLst>
          </p:cNvPr>
          <p:cNvSpPr txBox="1">
            <a:spLocks/>
          </p:cNvSpPr>
          <p:nvPr/>
        </p:nvSpPr>
        <p:spPr bwMode="black">
          <a:xfrm>
            <a:off x="252248" y="466344"/>
            <a:ext cx="10656544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Topic: Trigonometry</a:t>
            </a:r>
            <a:br>
              <a:rPr lang="en-US"/>
            </a:br>
            <a:r>
              <a:rPr lang="en-US"/>
              <a:t>EQ: What steps are similar and different in finding missing side lengths and missing angles?</a:t>
            </a:r>
            <a:endParaRPr lang="en-US" dirty="0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2D679722-911C-B544-9ACB-267CAF4DDA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30916" y="2687053"/>
            <a:ext cx="9144000" cy="2362200"/>
          </a:xfrm>
          <a:solidFill>
            <a:srgbClr val="FFFFCC"/>
          </a:solidFill>
        </p:spPr>
        <p:txBody>
          <a:bodyPr/>
          <a:lstStyle/>
          <a:p>
            <a:r>
              <a:rPr lang="en-US" altLang="en-US" sz="6200" b="1" dirty="0">
                <a:solidFill>
                  <a:schemeClr val="tx2"/>
                </a:solidFill>
                <a:latin typeface="Berlin Sans FB Demi" panose="020E0602020502020306" pitchFamily="34" charset="77"/>
              </a:rPr>
              <a:t>Finding a side.</a:t>
            </a:r>
            <a:br>
              <a:rPr lang="en-US" altLang="en-US" sz="6200" b="1" dirty="0">
                <a:solidFill>
                  <a:schemeClr val="tx2"/>
                </a:solidFill>
                <a:latin typeface="Berlin Sans FB Demi" panose="020E0602020502020306" pitchFamily="34" charset="77"/>
              </a:rPr>
            </a:br>
            <a:r>
              <a:rPr lang="en-US" altLang="en-US" sz="4000" i="1" dirty="0">
                <a:solidFill>
                  <a:schemeClr val="tx2"/>
                </a:solidFill>
                <a:latin typeface="Berlin Sans FB Demi" panose="020E0602020502020306" pitchFamily="34" charset="77"/>
              </a:rPr>
              <a:t>(Figuring out which ratio to use and getting to use a trig button.)</a:t>
            </a:r>
          </a:p>
        </p:txBody>
      </p:sp>
    </p:spTree>
    <p:extLst>
      <p:ext uri="{BB962C8B-B14F-4D97-AF65-F5344CB8AC3E}">
        <p14:creationId xmlns:p14="http://schemas.microsoft.com/office/powerpoint/2010/main" val="1826152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3330773C-BD69-3942-9BBD-3B107F4D1C8D}"/>
              </a:ext>
            </a:extLst>
          </p:cNvPr>
          <p:cNvSpPr txBox="1">
            <a:spLocks/>
          </p:cNvSpPr>
          <p:nvPr/>
        </p:nvSpPr>
        <p:spPr bwMode="black">
          <a:xfrm>
            <a:off x="252248" y="466344"/>
            <a:ext cx="10656544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Topic: Trigonometry</a:t>
            </a:r>
            <a:br>
              <a:rPr lang="en-US"/>
            </a:br>
            <a:r>
              <a:rPr lang="en-US"/>
              <a:t>EQ: What steps are similar and different in finding missing side lengths and missing angles?</a:t>
            </a:r>
            <a:endParaRPr lang="en-US" dirty="0"/>
          </a:p>
        </p:txBody>
      </p:sp>
      <p:sp>
        <p:nvSpPr>
          <p:cNvPr id="29" name="Rectangle 2">
            <a:extLst>
              <a:ext uri="{FF2B5EF4-FFF2-40B4-BE49-F238E27FC236}">
                <a16:creationId xmlns:a16="http://schemas.microsoft.com/office/drawing/2014/main" id="{F8D97D8B-0A96-F64F-86C1-688BA3315B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687722"/>
            <a:ext cx="11885444" cy="685800"/>
          </a:xfrm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</a:extLst>
        </p:spPr>
        <p:txBody>
          <a:bodyPr>
            <a:normAutofit fontScale="90000"/>
          </a:bodyPr>
          <a:lstStyle/>
          <a:p>
            <a:pPr algn="l"/>
            <a:r>
              <a:rPr lang="en-US" altLang="en-US" sz="3200" b="1" dirty="0">
                <a:solidFill>
                  <a:schemeClr val="tx2"/>
                </a:solidFill>
                <a:latin typeface="Berlin Sans FB Demi" panose="020E0602020502020306" pitchFamily="34" charset="77"/>
              </a:rPr>
              <a:t>Ex: 1 	Figure out which ratio to use.  Find x.  </a:t>
            </a:r>
            <a:r>
              <a:rPr lang="en-US" altLang="en-US" sz="2800" b="1" dirty="0">
                <a:solidFill>
                  <a:schemeClr val="tx2"/>
                </a:solidFill>
                <a:latin typeface="Berlin Sans FB Demi" panose="020E0602020502020306" pitchFamily="34" charset="77"/>
              </a:rPr>
              <a:t>Round to the nearest tenth.</a:t>
            </a:r>
            <a:endParaRPr lang="en-US" altLang="en-US" sz="2800" i="1" dirty="0">
              <a:solidFill>
                <a:schemeClr val="tx2"/>
              </a:solidFill>
              <a:latin typeface="Berlin Sans FB Demi" panose="020E0602020502020306" pitchFamily="34" charset="77"/>
            </a:endParaRPr>
          </a:p>
        </p:txBody>
      </p:sp>
      <p:grpSp>
        <p:nvGrpSpPr>
          <p:cNvPr id="30" name="Group 8">
            <a:extLst>
              <a:ext uri="{FF2B5EF4-FFF2-40B4-BE49-F238E27FC236}">
                <a16:creationId xmlns:a16="http://schemas.microsoft.com/office/drawing/2014/main" id="{E2782059-460F-A143-A646-E4093AC43021}"/>
              </a:ext>
            </a:extLst>
          </p:cNvPr>
          <p:cNvGrpSpPr>
            <a:grpSpLocks/>
          </p:cNvGrpSpPr>
          <p:nvPr/>
        </p:nvGrpSpPr>
        <p:grpSpPr bwMode="auto">
          <a:xfrm>
            <a:off x="4980825" y="2544980"/>
            <a:ext cx="5715000" cy="2514600"/>
            <a:chOff x="2016" y="768"/>
            <a:chExt cx="3600" cy="1584"/>
          </a:xfrm>
        </p:grpSpPr>
        <p:sp>
          <p:nvSpPr>
            <p:cNvPr id="31" name="AutoShape 3">
              <a:extLst>
                <a:ext uri="{FF2B5EF4-FFF2-40B4-BE49-F238E27FC236}">
                  <a16:creationId xmlns:a16="http://schemas.microsoft.com/office/drawing/2014/main" id="{98C85DBD-CFC9-EC45-9366-53B1A2D1E2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768"/>
              <a:ext cx="2880" cy="1248"/>
            </a:xfrm>
            <a:prstGeom prst="rtTriangle">
              <a:avLst/>
            </a:prstGeom>
            <a:solidFill>
              <a:srgbClr val="FFFF66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AU" altLang="en-US" sz="1800"/>
            </a:p>
          </p:txBody>
        </p:sp>
        <p:sp>
          <p:nvSpPr>
            <p:cNvPr id="32" name="Rectangle 4">
              <a:extLst>
                <a:ext uri="{FF2B5EF4-FFF2-40B4-BE49-F238E27FC236}">
                  <a16:creationId xmlns:a16="http://schemas.microsoft.com/office/drawing/2014/main" id="{936C56C8-9174-B842-9608-770901A1ED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1817"/>
              <a:ext cx="192" cy="192"/>
            </a:xfrm>
            <a:prstGeom prst="rect">
              <a:avLst/>
            </a:prstGeom>
            <a:solidFill>
              <a:srgbClr val="FFFF66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AU" altLang="en-US" sz="1800"/>
            </a:p>
          </p:txBody>
        </p:sp>
        <p:graphicFrame>
          <p:nvGraphicFramePr>
            <p:cNvPr id="33" name="Object 5">
              <a:extLst>
                <a:ext uri="{FF2B5EF4-FFF2-40B4-BE49-F238E27FC236}">
                  <a16:creationId xmlns:a16="http://schemas.microsoft.com/office/drawing/2014/main" id="{1D4508BA-06A9-9944-B542-72878658A53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36" y="960"/>
            <a:ext cx="464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445" name="Equation" r:id="rId3" imgW="5854700" imgH="4102100" progId="Equation.3">
                    <p:embed/>
                  </p:oleObj>
                </mc:Choice>
                <mc:Fallback>
                  <p:oleObj name="Equation" r:id="rId3" imgW="5854700" imgH="4102100" progId="Equation.3">
                    <p:embed/>
                    <p:pic>
                      <p:nvPicPr>
                        <p:cNvPr id="23576" name="Object 5">
                          <a:extLst>
                            <a:ext uri="{FF2B5EF4-FFF2-40B4-BE49-F238E27FC236}">
                              <a16:creationId xmlns:a16="http://schemas.microsoft.com/office/drawing/2014/main" id="{7A8FC1DC-7771-2C40-B2B2-2346543E05E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6" y="960"/>
                          <a:ext cx="464" cy="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" name="Text Box 6">
              <a:extLst>
                <a:ext uri="{FF2B5EF4-FFF2-40B4-BE49-F238E27FC236}">
                  <a16:creationId xmlns:a16="http://schemas.microsoft.com/office/drawing/2014/main" id="{BC414602-2F3A-6A47-BB69-92768AE4E6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1152"/>
              <a:ext cx="1296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3400">
                  <a:solidFill>
                    <a:srgbClr val="0000FF"/>
                  </a:solidFill>
                </a:rPr>
                <a:t>20 m</a:t>
              </a:r>
            </a:p>
          </p:txBody>
        </p:sp>
        <p:sp>
          <p:nvSpPr>
            <p:cNvPr id="35" name="Text Box 7">
              <a:extLst>
                <a:ext uri="{FF2B5EF4-FFF2-40B4-BE49-F238E27FC236}">
                  <a16:creationId xmlns:a16="http://schemas.microsoft.com/office/drawing/2014/main" id="{9A49A6B0-EDCE-6144-919C-78A0FABBAA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1968"/>
              <a:ext cx="43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3400">
                  <a:solidFill>
                    <a:srgbClr val="0000FF"/>
                  </a:solidFill>
                </a:rPr>
                <a:t>x</a:t>
              </a:r>
            </a:p>
          </p:txBody>
        </p:sp>
      </p:grpSp>
      <p:graphicFrame>
        <p:nvGraphicFramePr>
          <p:cNvPr id="36" name="Object 9">
            <a:extLst>
              <a:ext uri="{FF2B5EF4-FFF2-40B4-BE49-F238E27FC236}">
                <a16:creationId xmlns:a16="http://schemas.microsoft.com/office/drawing/2014/main" id="{59A1DF93-0250-964F-9195-B8A0019AF0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436991"/>
              </p:ext>
            </p:extLst>
          </p:nvPr>
        </p:nvGraphicFramePr>
        <p:xfrm>
          <a:off x="324438" y="2272465"/>
          <a:ext cx="2949575" cy="14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46" name="Equation" r:id="rId5" imgW="18719800" imgH="9067800" progId="Equation.3">
                  <p:embed/>
                </p:oleObj>
              </mc:Choice>
              <mc:Fallback>
                <p:oleObj name="Equation" r:id="rId5" imgW="18719800" imgH="9067800" progId="Equation.3">
                  <p:embed/>
                  <p:pic>
                    <p:nvPicPr>
                      <p:cNvPr id="34825" name="Object 9">
                        <a:extLst>
                          <a:ext uri="{FF2B5EF4-FFF2-40B4-BE49-F238E27FC236}">
                            <a16:creationId xmlns:a16="http://schemas.microsoft.com/office/drawing/2014/main" id="{F55DECA6-9F77-AC4D-B6BD-6312AB1660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438" y="2272465"/>
                        <a:ext cx="2949575" cy="142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10">
            <a:extLst>
              <a:ext uri="{FF2B5EF4-FFF2-40B4-BE49-F238E27FC236}">
                <a16:creationId xmlns:a16="http://schemas.microsoft.com/office/drawing/2014/main" id="{20C40B77-C02D-3A48-B0E0-3951AC0717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9000310"/>
              </p:ext>
            </p:extLst>
          </p:nvPr>
        </p:nvGraphicFramePr>
        <p:xfrm>
          <a:off x="164431" y="5349709"/>
          <a:ext cx="5334000" cy="135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47" name="Equation" r:id="rId7" imgW="16090900" imgH="4102100" progId="Equation.3">
                  <p:embed/>
                </p:oleObj>
              </mc:Choice>
              <mc:Fallback>
                <p:oleObj name="Equation" r:id="rId7" imgW="16090900" imgH="4102100" progId="Equation.3">
                  <p:embed/>
                  <p:pic>
                    <p:nvPicPr>
                      <p:cNvPr id="34826" name="Object 10">
                        <a:extLst>
                          <a:ext uri="{FF2B5EF4-FFF2-40B4-BE49-F238E27FC236}">
                            <a16:creationId xmlns:a16="http://schemas.microsoft.com/office/drawing/2014/main" id="{852BFC63-639F-5541-8C76-A91545CA7A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431" y="5349709"/>
                        <a:ext cx="5334000" cy="1355725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11">
            <a:extLst>
              <a:ext uri="{FF2B5EF4-FFF2-40B4-BE49-F238E27FC236}">
                <a16:creationId xmlns:a16="http://schemas.microsoft.com/office/drawing/2014/main" id="{90C50DC3-6A6D-D940-A7DE-1C5D8A0FAA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8159890"/>
              </p:ext>
            </p:extLst>
          </p:nvPr>
        </p:nvGraphicFramePr>
        <p:xfrm>
          <a:off x="252248" y="3491992"/>
          <a:ext cx="4329113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48" name="Equation" r:id="rId9" imgW="20193000" imgH="4978400" progId="Equation.3">
                  <p:embed/>
                </p:oleObj>
              </mc:Choice>
              <mc:Fallback>
                <p:oleObj name="Equation" r:id="rId9" imgW="20193000" imgH="4978400" progId="Equation.3">
                  <p:embed/>
                  <p:pic>
                    <p:nvPicPr>
                      <p:cNvPr id="34827" name="Object 11">
                        <a:extLst>
                          <a:ext uri="{FF2B5EF4-FFF2-40B4-BE49-F238E27FC236}">
                            <a16:creationId xmlns:a16="http://schemas.microsoft.com/office/drawing/2014/main" id="{BBE1C134-247C-BB4A-9D75-B20FEC6A03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248" y="3491992"/>
                        <a:ext cx="4329113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9" name="Group 12">
            <a:extLst>
              <a:ext uri="{FF2B5EF4-FFF2-40B4-BE49-F238E27FC236}">
                <a16:creationId xmlns:a16="http://schemas.microsoft.com/office/drawing/2014/main" id="{3CC547F7-8F6D-B24C-BAF0-2FEEF05B6BC1}"/>
              </a:ext>
            </a:extLst>
          </p:cNvPr>
          <p:cNvGrpSpPr>
            <a:grpSpLocks/>
          </p:cNvGrpSpPr>
          <p:nvPr/>
        </p:nvGrpSpPr>
        <p:grpSpPr bwMode="auto">
          <a:xfrm>
            <a:off x="1612231" y="4495633"/>
            <a:ext cx="1219200" cy="762000"/>
            <a:chOff x="3216" y="1632"/>
            <a:chExt cx="768" cy="480"/>
          </a:xfrm>
        </p:grpSpPr>
        <p:sp>
          <p:nvSpPr>
            <p:cNvPr id="40" name="AutoShape 13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99416F7D-F08E-D74F-8E12-35F1C60F70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1680"/>
              <a:ext cx="768" cy="432"/>
            </a:xfrm>
            <a:prstGeom prst="actionButtonBlank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1" name="Text Box 14">
              <a:extLst>
                <a:ext uri="{FF2B5EF4-FFF2-40B4-BE49-F238E27FC236}">
                  <a16:creationId xmlns:a16="http://schemas.microsoft.com/office/drawing/2014/main" id="{8486F7C6-53A5-F24E-9B31-3E91F5BF99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1632"/>
              <a:ext cx="720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4400">
                  <a:solidFill>
                    <a:schemeClr val="bg1"/>
                  </a:solidFill>
                </a:rPr>
                <a:t>tan </a:t>
              </a:r>
            </a:p>
          </p:txBody>
        </p:sp>
      </p:grpSp>
      <p:grpSp>
        <p:nvGrpSpPr>
          <p:cNvPr id="42" name="Group 15">
            <a:extLst>
              <a:ext uri="{FF2B5EF4-FFF2-40B4-BE49-F238E27FC236}">
                <a16:creationId xmlns:a16="http://schemas.microsoft.com/office/drawing/2014/main" id="{9813ED21-7194-BF4A-B4CE-6E013E3C9E4B}"/>
              </a:ext>
            </a:extLst>
          </p:cNvPr>
          <p:cNvGrpSpPr>
            <a:grpSpLocks/>
          </p:cNvGrpSpPr>
          <p:nvPr/>
        </p:nvGrpSpPr>
        <p:grpSpPr bwMode="auto">
          <a:xfrm>
            <a:off x="621631" y="4571833"/>
            <a:ext cx="914400" cy="685800"/>
            <a:chOff x="3840" y="1248"/>
            <a:chExt cx="768" cy="432"/>
          </a:xfrm>
        </p:grpSpPr>
        <p:sp>
          <p:nvSpPr>
            <p:cNvPr id="43" name="AutoShape 16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43576575-BA7F-B04D-AB92-226DF2D739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248"/>
              <a:ext cx="768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4" name="Text Box 17">
              <a:extLst>
                <a:ext uri="{FF2B5EF4-FFF2-40B4-BE49-F238E27FC236}">
                  <a16:creationId xmlns:a16="http://schemas.microsoft.com/office/drawing/2014/main" id="{EF60C220-5867-0A44-91DB-A82DB1B956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248"/>
              <a:ext cx="67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3400"/>
                <a:t>20 </a:t>
              </a:r>
            </a:p>
          </p:txBody>
        </p:sp>
      </p:grpSp>
      <p:grpSp>
        <p:nvGrpSpPr>
          <p:cNvPr id="45" name="Group 21">
            <a:extLst>
              <a:ext uri="{FF2B5EF4-FFF2-40B4-BE49-F238E27FC236}">
                <a16:creationId xmlns:a16="http://schemas.microsoft.com/office/drawing/2014/main" id="{01D145A9-8F9F-3F45-89F2-C93F3B1213E8}"/>
              </a:ext>
            </a:extLst>
          </p:cNvPr>
          <p:cNvGrpSpPr>
            <a:grpSpLocks/>
          </p:cNvGrpSpPr>
          <p:nvPr/>
        </p:nvGrpSpPr>
        <p:grpSpPr bwMode="auto">
          <a:xfrm>
            <a:off x="2907631" y="4571833"/>
            <a:ext cx="914400" cy="685800"/>
            <a:chOff x="5232" y="1248"/>
            <a:chExt cx="480" cy="432"/>
          </a:xfrm>
        </p:grpSpPr>
        <p:sp>
          <p:nvSpPr>
            <p:cNvPr id="46" name="AutoShape 22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A905B82C-9E51-9844-88F1-03E2BA56C6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7" name="Text Box 23">
              <a:extLst>
                <a:ext uri="{FF2B5EF4-FFF2-40B4-BE49-F238E27FC236}">
                  <a16:creationId xmlns:a16="http://schemas.microsoft.com/office/drawing/2014/main" id="{D0C2E5AD-9E88-654D-9CF0-E45CFF3CB4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72" y="1248"/>
              <a:ext cx="39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3400"/>
                <a:t>55</a:t>
              </a:r>
            </a:p>
          </p:txBody>
        </p:sp>
      </p:grpSp>
      <p:grpSp>
        <p:nvGrpSpPr>
          <p:cNvPr id="48" name="Group 24">
            <a:extLst>
              <a:ext uri="{FF2B5EF4-FFF2-40B4-BE49-F238E27FC236}">
                <a16:creationId xmlns:a16="http://schemas.microsoft.com/office/drawing/2014/main" id="{D641BDEF-90E6-F346-BE84-B796D24DB67B}"/>
              </a:ext>
            </a:extLst>
          </p:cNvPr>
          <p:cNvGrpSpPr>
            <a:grpSpLocks/>
          </p:cNvGrpSpPr>
          <p:nvPr/>
        </p:nvGrpSpPr>
        <p:grpSpPr bwMode="auto">
          <a:xfrm>
            <a:off x="3829928" y="4571834"/>
            <a:ext cx="914400" cy="701675"/>
            <a:chOff x="5232" y="1248"/>
            <a:chExt cx="480" cy="442"/>
          </a:xfrm>
        </p:grpSpPr>
        <p:sp>
          <p:nvSpPr>
            <p:cNvPr id="49" name="AutoShape 25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D33E137D-CF91-F14E-94B7-C8F314AB0F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0" name="Text Box 26">
              <a:extLst>
                <a:ext uri="{FF2B5EF4-FFF2-40B4-BE49-F238E27FC236}">
                  <a16:creationId xmlns:a16="http://schemas.microsoft.com/office/drawing/2014/main" id="{74855262-75B2-324E-A0EC-32DEBAE5C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1248"/>
              <a:ext cx="336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4000" dirty="0"/>
                <a:t>)</a:t>
              </a:r>
            </a:p>
          </p:txBody>
        </p:sp>
      </p:grpSp>
      <p:sp>
        <p:nvSpPr>
          <p:cNvPr id="51" name="Text Box 27">
            <a:extLst>
              <a:ext uri="{FF2B5EF4-FFF2-40B4-BE49-F238E27FC236}">
                <a16:creationId xmlns:a16="http://schemas.microsoft.com/office/drawing/2014/main" id="{4623859C-5BC4-B64A-910D-DB0B201074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8325" y="5019937"/>
            <a:ext cx="30480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dirty="0">
                <a:latin typeface="Century Gothic" panose="020B0502020202020204" pitchFamily="34" charset="0"/>
              </a:rPr>
              <a:t>Shrink yourself down and stand where the angle is.</a:t>
            </a:r>
          </a:p>
        </p:txBody>
      </p:sp>
      <p:pic>
        <p:nvPicPr>
          <p:cNvPr id="52" name="Picture 28" descr="MCj00787170000[1]">
            <a:extLst>
              <a:ext uri="{FF2B5EF4-FFF2-40B4-BE49-F238E27FC236}">
                <a16:creationId xmlns:a16="http://schemas.microsoft.com/office/drawing/2014/main" id="{220E388B-78EF-EA4A-95C9-0CCAE6A567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160339" y="2621180"/>
            <a:ext cx="268287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" name="Text Box 29">
            <a:extLst>
              <a:ext uri="{FF2B5EF4-FFF2-40B4-BE49-F238E27FC236}">
                <a16:creationId xmlns:a16="http://schemas.microsoft.com/office/drawing/2014/main" id="{A828A697-2D7E-8B45-ACBF-4F59826990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4371" y="5781937"/>
            <a:ext cx="380423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i="1" dirty="0">
                <a:latin typeface="Century Gothic" panose="020B0502020202020204" pitchFamily="34" charset="0"/>
              </a:rPr>
              <a:t>Now, figure out which trig ratio you have and set up the problem.</a:t>
            </a:r>
          </a:p>
        </p:txBody>
      </p:sp>
      <p:grpSp>
        <p:nvGrpSpPr>
          <p:cNvPr id="54" name="Group 27">
            <a:extLst>
              <a:ext uri="{FF2B5EF4-FFF2-40B4-BE49-F238E27FC236}">
                <a16:creationId xmlns:a16="http://schemas.microsoft.com/office/drawing/2014/main" id="{4366E743-E00F-614B-8EF0-C83513BEBBBD}"/>
              </a:ext>
            </a:extLst>
          </p:cNvPr>
          <p:cNvGrpSpPr>
            <a:grpSpLocks/>
          </p:cNvGrpSpPr>
          <p:nvPr/>
        </p:nvGrpSpPr>
        <p:grpSpPr bwMode="auto">
          <a:xfrm>
            <a:off x="2497328" y="4565312"/>
            <a:ext cx="533400" cy="685800"/>
            <a:chOff x="5040" y="1248"/>
            <a:chExt cx="672" cy="432"/>
          </a:xfrm>
        </p:grpSpPr>
        <p:sp>
          <p:nvSpPr>
            <p:cNvPr id="55" name="AutoShape 28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68746199-ECF8-0649-932F-C427114835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0" y="1248"/>
              <a:ext cx="672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6" name="Text Box 29">
              <a:extLst>
                <a:ext uri="{FF2B5EF4-FFF2-40B4-BE49-F238E27FC236}">
                  <a16:creationId xmlns:a16="http://schemas.microsoft.com/office/drawing/2014/main" id="{0694D86A-9F2A-D54D-B978-336E5E5F14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8" y="1248"/>
              <a:ext cx="557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3400" dirty="0"/>
                <a:t>(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35304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3330773C-BD69-3942-9BBD-3B107F4D1C8D}"/>
              </a:ext>
            </a:extLst>
          </p:cNvPr>
          <p:cNvSpPr txBox="1">
            <a:spLocks/>
          </p:cNvSpPr>
          <p:nvPr/>
        </p:nvSpPr>
        <p:spPr bwMode="black">
          <a:xfrm>
            <a:off x="252248" y="466344"/>
            <a:ext cx="10656544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Topic: Trigonometry</a:t>
            </a:r>
            <a:br>
              <a:rPr lang="en-US" dirty="0"/>
            </a:br>
            <a:r>
              <a:rPr lang="en-US" dirty="0"/>
              <a:t>EQ: What steps are similar and different in finding missing side lengths and missing angles?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A831AC-264A-6744-A718-98D9DF648D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1298" y="1713664"/>
            <a:ext cx="9144000" cy="762000"/>
          </a:xfrm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</a:extLst>
        </p:spPr>
        <p:txBody>
          <a:bodyPr>
            <a:normAutofit fontScale="90000"/>
          </a:bodyPr>
          <a:lstStyle/>
          <a:p>
            <a:pPr algn="l"/>
            <a:r>
              <a:rPr lang="en-US" altLang="en-US" sz="3200" b="1" dirty="0">
                <a:solidFill>
                  <a:schemeClr val="tx2"/>
                </a:solidFill>
                <a:latin typeface="Berlin Sans FB Demi" panose="020E0602020502020306" pitchFamily="34" charset="77"/>
              </a:rPr>
              <a:t>Ex: 2	 Find the missing side. </a:t>
            </a:r>
            <a:r>
              <a:rPr lang="en-US" altLang="en-US" sz="2800" b="1" dirty="0">
                <a:solidFill>
                  <a:schemeClr val="tx2"/>
                </a:solidFill>
                <a:latin typeface="Berlin Sans FB Demi" panose="020E0602020502020306" pitchFamily="34" charset="77"/>
              </a:rPr>
              <a:t>Round to the nearest tenth.</a:t>
            </a:r>
          </a:p>
        </p:txBody>
      </p:sp>
      <p:grpSp>
        <p:nvGrpSpPr>
          <p:cNvPr id="4" name="Group 10">
            <a:extLst>
              <a:ext uri="{FF2B5EF4-FFF2-40B4-BE49-F238E27FC236}">
                <a16:creationId xmlns:a16="http://schemas.microsoft.com/office/drawing/2014/main" id="{A8CEFC8D-345B-044E-A1DA-EFCAB9B51298}"/>
              </a:ext>
            </a:extLst>
          </p:cNvPr>
          <p:cNvGrpSpPr>
            <a:grpSpLocks/>
          </p:cNvGrpSpPr>
          <p:nvPr/>
        </p:nvGrpSpPr>
        <p:grpSpPr bwMode="auto">
          <a:xfrm>
            <a:off x="502919" y="2237030"/>
            <a:ext cx="3505200" cy="3124200"/>
            <a:chOff x="96" y="480"/>
            <a:chExt cx="2208" cy="1968"/>
          </a:xfrm>
        </p:grpSpPr>
        <p:sp>
          <p:nvSpPr>
            <p:cNvPr id="5" name="AutoShape 3">
              <a:extLst>
                <a:ext uri="{FF2B5EF4-FFF2-40B4-BE49-F238E27FC236}">
                  <a16:creationId xmlns:a16="http://schemas.microsoft.com/office/drawing/2014/main" id="{26B182BA-8492-A247-8A4E-41297BA8472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96" y="480"/>
              <a:ext cx="1392" cy="1536"/>
            </a:xfrm>
            <a:prstGeom prst="rtTriangle">
              <a:avLst/>
            </a:prstGeom>
            <a:solidFill>
              <a:srgbClr val="FFFF66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AU" altLang="en-US" sz="1800"/>
            </a:p>
          </p:txBody>
        </p:sp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6D143C13-C20C-904B-A234-D7F9CEE3F53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296" y="1824"/>
              <a:ext cx="192" cy="192"/>
            </a:xfrm>
            <a:prstGeom prst="rect">
              <a:avLst/>
            </a:prstGeom>
            <a:solidFill>
              <a:srgbClr val="FFFF66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AU" altLang="en-US" sz="1800"/>
            </a:p>
          </p:txBody>
        </p:sp>
        <p:graphicFrame>
          <p:nvGraphicFramePr>
            <p:cNvPr id="7" name="Object 5">
              <a:extLst>
                <a:ext uri="{FF2B5EF4-FFF2-40B4-BE49-F238E27FC236}">
                  <a16:creationId xmlns:a16="http://schemas.microsoft.com/office/drawing/2014/main" id="{4EE2F3A7-8950-1643-8F40-0875C514CC1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4" y="1632"/>
            <a:ext cx="464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500" name="Equation" r:id="rId3" imgW="5854700" imgH="4102100" progId="Equation.3">
                    <p:embed/>
                  </p:oleObj>
                </mc:Choice>
                <mc:Fallback>
                  <p:oleObj name="Equation" r:id="rId3" imgW="5854700" imgH="4102100" progId="Equation.3">
                    <p:embed/>
                    <p:pic>
                      <p:nvPicPr>
                        <p:cNvPr id="25637" name="Object 5">
                          <a:extLst>
                            <a:ext uri="{FF2B5EF4-FFF2-40B4-BE49-F238E27FC236}">
                              <a16:creationId xmlns:a16="http://schemas.microsoft.com/office/drawing/2014/main" id="{AF12864C-9465-3F42-8759-05D0DF296D9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" y="1632"/>
                          <a:ext cx="464" cy="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Text Box 6">
              <a:extLst>
                <a:ext uri="{FF2B5EF4-FFF2-40B4-BE49-F238E27FC236}">
                  <a16:creationId xmlns:a16="http://schemas.microsoft.com/office/drawing/2014/main" id="{A00A51D7-8E2E-E840-B916-426F38F3CD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056"/>
              <a:ext cx="768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3400">
                  <a:solidFill>
                    <a:srgbClr val="0000FF"/>
                  </a:solidFill>
                </a:rPr>
                <a:t>80 m</a:t>
              </a:r>
            </a:p>
          </p:txBody>
        </p:sp>
        <p:sp>
          <p:nvSpPr>
            <p:cNvPr id="9" name="Text Box 7">
              <a:extLst>
                <a:ext uri="{FF2B5EF4-FFF2-40B4-BE49-F238E27FC236}">
                  <a16:creationId xmlns:a16="http://schemas.microsoft.com/office/drawing/2014/main" id="{0D99E5EA-F906-BB43-B28D-F4BACC9FEC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064"/>
              <a:ext cx="43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3400">
                  <a:solidFill>
                    <a:srgbClr val="0000FF"/>
                  </a:solidFill>
                </a:rPr>
                <a:t>x</a:t>
              </a:r>
            </a:p>
          </p:txBody>
        </p:sp>
      </p:grpSp>
      <p:graphicFrame>
        <p:nvGraphicFramePr>
          <p:cNvPr id="10" name="Object 8">
            <a:extLst>
              <a:ext uri="{FF2B5EF4-FFF2-40B4-BE49-F238E27FC236}">
                <a16:creationId xmlns:a16="http://schemas.microsoft.com/office/drawing/2014/main" id="{95C11343-8283-6B45-B128-E7BE743F5A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8191131"/>
              </p:ext>
            </p:extLst>
          </p:nvPr>
        </p:nvGraphicFramePr>
        <p:xfrm>
          <a:off x="4406107" y="2267459"/>
          <a:ext cx="2951162" cy="14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01" name="Equation" r:id="rId5" imgW="18719800" imgH="9067800" progId="Equation.3">
                  <p:embed/>
                </p:oleObj>
              </mc:Choice>
              <mc:Fallback>
                <p:oleObj name="Equation" r:id="rId5" imgW="18719800" imgH="9067800" progId="Equation.3">
                  <p:embed/>
                  <p:pic>
                    <p:nvPicPr>
                      <p:cNvPr id="37896" name="Object 8">
                        <a:extLst>
                          <a:ext uri="{FF2B5EF4-FFF2-40B4-BE49-F238E27FC236}">
                            <a16:creationId xmlns:a16="http://schemas.microsoft.com/office/drawing/2014/main" id="{3DC127AB-0C97-FD4E-9FA9-D8DA4211E4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6107" y="2267459"/>
                        <a:ext cx="2951162" cy="142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9">
            <a:extLst>
              <a:ext uri="{FF2B5EF4-FFF2-40B4-BE49-F238E27FC236}">
                <a16:creationId xmlns:a16="http://schemas.microsoft.com/office/drawing/2014/main" id="{E4F5DB8F-D9EB-044F-A515-AF3C69B8EF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617394"/>
              </p:ext>
            </p:extLst>
          </p:nvPr>
        </p:nvGraphicFramePr>
        <p:xfrm>
          <a:off x="8025391" y="5536258"/>
          <a:ext cx="3914775" cy="119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02" name="Equation" r:id="rId7" imgW="13462000" imgH="4102100" progId="Equation.3">
                  <p:embed/>
                </p:oleObj>
              </mc:Choice>
              <mc:Fallback>
                <p:oleObj name="Equation" r:id="rId7" imgW="13462000" imgH="4102100" progId="Equation.3">
                  <p:embed/>
                  <p:pic>
                    <p:nvPicPr>
                      <p:cNvPr id="37897" name="Object 9">
                        <a:extLst>
                          <a:ext uri="{FF2B5EF4-FFF2-40B4-BE49-F238E27FC236}">
                            <a16:creationId xmlns:a16="http://schemas.microsoft.com/office/drawing/2014/main" id="{8F9A9976-DDF3-C641-A18D-5F86FC8484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5391" y="5536258"/>
                        <a:ext cx="3914775" cy="1190625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5E2C5040-3B1D-6B43-8A5C-438E812F87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4708846"/>
              </p:ext>
            </p:extLst>
          </p:nvPr>
        </p:nvGraphicFramePr>
        <p:xfrm>
          <a:off x="4391819" y="3791460"/>
          <a:ext cx="3181350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03" name="Equation" r:id="rId9" imgW="20193000" imgH="4978400" progId="Equation.3">
                  <p:embed/>
                </p:oleObj>
              </mc:Choice>
              <mc:Fallback>
                <p:oleObj name="Equation" r:id="rId9" imgW="20193000" imgH="4978400" progId="Equation.3">
                  <p:embed/>
                  <p:pic>
                    <p:nvPicPr>
                      <p:cNvPr id="37899" name="Object 11">
                        <a:extLst>
                          <a:ext uri="{FF2B5EF4-FFF2-40B4-BE49-F238E27FC236}">
                            <a16:creationId xmlns:a16="http://schemas.microsoft.com/office/drawing/2014/main" id="{8B320EC2-E0C0-834A-BE31-B4927AE942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1819" y="3791460"/>
                        <a:ext cx="3181350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93D27590-1E9F-0B4D-90CB-18196B6225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1127455"/>
              </p:ext>
            </p:extLst>
          </p:nvPr>
        </p:nvGraphicFramePr>
        <p:xfrm>
          <a:off x="7949407" y="2565323"/>
          <a:ext cx="3317875" cy="168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04" name="Equation" r:id="rId11" imgW="19011900" imgH="9652000" progId="Equation.3">
                  <p:embed/>
                </p:oleObj>
              </mc:Choice>
              <mc:Fallback>
                <p:oleObj name="Equation" r:id="rId11" imgW="19011900" imgH="9652000" progId="Equation.3">
                  <p:embed/>
                  <p:pic>
                    <p:nvPicPr>
                      <p:cNvPr id="37900" name="Object 12">
                        <a:extLst>
                          <a:ext uri="{FF2B5EF4-FFF2-40B4-BE49-F238E27FC236}">
                            <a16:creationId xmlns:a16="http://schemas.microsoft.com/office/drawing/2014/main" id="{D1B36EBC-74A1-034B-AAF4-07E1B63D80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49407" y="2565323"/>
                        <a:ext cx="3317875" cy="168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Group 13">
            <a:extLst>
              <a:ext uri="{FF2B5EF4-FFF2-40B4-BE49-F238E27FC236}">
                <a16:creationId xmlns:a16="http://schemas.microsoft.com/office/drawing/2014/main" id="{3CCD0D0E-B2D0-694C-B507-86645B056F7F}"/>
              </a:ext>
            </a:extLst>
          </p:cNvPr>
          <p:cNvGrpSpPr>
            <a:grpSpLocks/>
          </p:cNvGrpSpPr>
          <p:nvPr/>
        </p:nvGrpSpPr>
        <p:grpSpPr bwMode="auto">
          <a:xfrm>
            <a:off x="5843588" y="4675430"/>
            <a:ext cx="1219200" cy="762000"/>
            <a:chOff x="3216" y="1632"/>
            <a:chExt cx="768" cy="480"/>
          </a:xfrm>
        </p:grpSpPr>
        <p:sp>
          <p:nvSpPr>
            <p:cNvPr id="15" name="AutoShape 14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5805BB8B-85DB-9145-A4BA-7D06545CF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1680"/>
              <a:ext cx="768" cy="432"/>
            </a:xfrm>
            <a:prstGeom prst="actionButtonBlank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6" name="Text Box 15">
              <a:extLst>
                <a:ext uri="{FF2B5EF4-FFF2-40B4-BE49-F238E27FC236}">
                  <a16:creationId xmlns:a16="http://schemas.microsoft.com/office/drawing/2014/main" id="{87ED7A94-E20E-F74D-A4C3-81358EAF5F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0" y="1632"/>
              <a:ext cx="696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4400">
                  <a:solidFill>
                    <a:schemeClr val="bg1"/>
                  </a:solidFill>
                </a:rPr>
                <a:t>tan 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AD014C5-FE5C-684D-99DE-A24983F83DF5}"/>
              </a:ext>
            </a:extLst>
          </p:cNvPr>
          <p:cNvGrpSpPr>
            <a:grpSpLocks/>
          </p:cNvGrpSpPr>
          <p:nvPr/>
        </p:nvGrpSpPr>
        <p:grpSpPr bwMode="auto">
          <a:xfrm>
            <a:off x="3328988" y="4751630"/>
            <a:ext cx="914400" cy="685800"/>
            <a:chOff x="3840" y="1248"/>
            <a:chExt cx="768" cy="432"/>
          </a:xfrm>
        </p:grpSpPr>
        <p:sp>
          <p:nvSpPr>
            <p:cNvPr id="18" name="AutoShape 17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4FF7306D-43F6-9444-B4CE-04F9D28C4B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248"/>
              <a:ext cx="768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9" name="Text Box 18">
              <a:extLst>
                <a:ext uri="{FF2B5EF4-FFF2-40B4-BE49-F238E27FC236}">
                  <a16:creationId xmlns:a16="http://schemas.microsoft.com/office/drawing/2014/main" id="{7BE9AB7F-45F6-7F49-94C0-9B0C20164C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248"/>
              <a:ext cx="67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3400"/>
                <a:t>80 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E987FDB-9AD2-364A-954E-09B3D6E2ED9B}"/>
              </a:ext>
            </a:extLst>
          </p:cNvPr>
          <p:cNvGrpSpPr>
            <a:grpSpLocks/>
          </p:cNvGrpSpPr>
          <p:nvPr/>
        </p:nvGrpSpPr>
        <p:grpSpPr bwMode="auto">
          <a:xfrm>
            <a:off x="7138988" y="4751630"/>
            <a:ext cx="914400" cy="685800"/>
            <a:chOff x="5232" y="1248"/>
            <a:chExt cx="480" cy="432"/>
          </a:xfrm>
        </p:grpSpPr>
        <p:sp>
          <p:nvSpPr>
            <p:cNvPr id="21" name="AutoShape 20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522D7369-F8E3-3F45-8798-D466974897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2" name="Text Box 21">
              <a:extLst>
                <a:ext uri="{FF2B5EF4-FFF2-40B4-BE49-F238E27FC236}">
                  <a16:creationId xmlns:a16="http://schemas.microsoft.com/office/drawing/2014/main" id="{B7484A2A-3D14-3740-BA02-4420262D7F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72" y="1248"/>
              <a:ext cx="39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3400"/>
                <a:t>72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A99A23B-D82E-9946-86C9-F50B871C9DE9}"/>
              </a:ext>
            </a:extLst>
          </p:cNvPr>
          <p:cNvGrpSpPr>
            <a:grpSpLocks/>
          </p:cNvGrpSpPr>
          <p:nvPr/>
        </p:nvGrpSpPr>
        <p:grpSpPr bwMode="auto">
          <a:xfrm>
            <a:off x="9501188" y="4767506"/>
            <a:ext cx="914400" cy="701675"/>
            <a:chOff x="5232" y="1248"/>
            <a:chExt cx="480" cy="442"/>
          </a:xfrm>
        </p:grpSpPr>
        <p:sp>
          <p:nvSpPr>
            <p:cNvPr id="24" name="AutoShape 23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D1264ED7-053F-6A4E-BE09-5C2C518223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5" name="Text Box 24">
              <a:extLst>
                <a:ext uri="{FF2B5EF4-FFF2-40B4-BE49-F238E27FC236}">
                  <a16:creationId xmlns:a16="http://schemas.microsoft.com/office/drawing/2014/main" id="{227B2522-2277-2645-A500-3F4E2D0ECD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1248"/>
              <a:ext cx="336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4000"/>
                <a:t>=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2A56778-7F38-D948-8D6F-59F96B4DF10E}"/>
              </a:ext>
            </a:extLst>
          </p:cNvPr>
          <p:cNvGrpSpPr>
            <a:grpSpLocks/>
          </p:cNvGrpSpPr>
          <p:nvPr/>
        </p:nvGrpSpPr>
        <p:grpSpPr bwMode="auto">
          <a:xfrm>
            <a:off x="4319588" y="4767505"/>
            <a:ext cx="685800" cy="685800"/>
            <a:chOff x="3840" y="1248"/>
            <a:chExt cx="768" cy="432"/>
          </a:xfrm>
        </p:grpSpPr>
        <p:sp>
          <p:nvSpPr>
            <p:cNvPr id="27" name="AutoShape 26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386DC988-50EB-6C49-A203-B450563253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248"/>
              <a:ext cx="768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9" name="Text Box 27">
              <a:extLst>
                <a:ext uri="{FF2B5EF4-FFF2-40B4-BE49-F238E27FC236}">
                  <a16:creationId xmlns:a16="http://schemas.microsoft.com/office/drawing/2014/main" id="{A82B8CC6-FA73-234C-A760-FB00F29A1C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248"/>
              <a:ext cx="67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3400">
                  <a:sym typeface="Symbol" pitchFamily="2" charset="2"/>
                </a:rPr>
                <a:t></a:t>
              </a:r>
              <a:r>
                <a:rPr lang="en-US" altLang="en-US" sz="3400"/>
                <a:t> </a:t>
              </a:r>
            </a:p>
          </p:txBody>
        </p:sp>
      </p:grpSp>
      <p:grpSp>
        <p:nvGrpSpPr>
          <p:cNvPr id="30" name="Group 28">
            <a:extLst>
              <a:ext uri="{FF2B5EF4-FFF2-40B4-BE49-F238E27FC236}">
                <a16:creationId xmlns:a16="http://schemas.microsoft.com/office/drawing/2014/main" id="{62718F8F-0BA2-5548-9D3A-05EA262E4009}"/>
              </a:ext>
            </a:extLst>
          </p:cNvPr>
          <p:cNvGrpSpPr>
            <a:grpSpLocks/>
          </p:cNvGrpSpPr>
          <p:nvPr/>
        </p:nvGrpSpPr>
        <p:grpSpPr bwMode="auto">
          <a:xfrm>
            <a:off x="4897578" y="4767506"/>
            <a:ext cx="685800" cy="701675"/>
            <a:chOff x="3840" y="1248"/>
            <a:chExt cx="768" cy="442"/>
          </a:xfrm>
        </p:grpSpPr>
        <p:sp>
          <p:nvSpPr>
            <p:cNvPr id="31" name="AutoShape 29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6605FAD5-1103-F44A-BD93-11987DABFD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248"/>
              <a:ext cx="768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2" name="Text Box 30">
              <a:extLst>
                <a:ext uri="{FF2B5EF4-FFF2-40B4-BE49-F238E27FC236}">
                  <a16:creationId xmlns:a16="http://schemas.microsoft.com/office/drawing/2014/main" id="{FEBD4BB0-ACBE-2D4A-9002-9F6A3D3F6F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248"/>
              <a:ext cx="672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4000" dirty="0">
                  <a:sym typeface="Symbol" pitchFamily="2" charset="2"/>
                </a:rPr>
                <a:t>(</a:t>
              </a:r>
              <a:endParaRPr lang="en-US" altLang="en-US" sz="4000" dirty="0"/>
            </a:p>
          </p:txBody>
        </p:sp>
      </p:grpSp>
      <p:grpSp>
        <p:nvGrpSpPr>
          <p:cNvPr id="33" name="Group 31">
            <a:extLst>
              <a:ext uri="{FF2B5EF4-FFF2-40B4-BE49-F238E27FC236}">
                <a16:creationId xmlns:a16="http://schemas.microsoft.com/office/drawing/2014/main" id="{400ACDF4-2BFB-214A-A3B7-E52F4147A0C7}"/>
              </a:ext>
            </a:extLst>
          </p:cNvPr>
          <p:cNvGrpSpPr>
            <a:grpSpLocks/>
          </p:cNvGrpSpPr>
          <p:nvPr/>
        </p:nvGrpSpPr>
        <p:grpSpPr bwMode="auto">
          <a:xfrm>
            <a:off x="8129588" y="4767505"/>
            <a:ext cx="609600" cy="685800"/>
            <a:chOff x="5232" y="1248"/>
            <a:chExt cx="480" cy="432"/>
          </a:xfrm>
        </p:grpSpPr>
        <p:sp>
          <p:nvSpPr>
            <p:cNvPr id="34" name="AutoShape 32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DCE2074E-0696-EF4C-A289-03C81CE7D3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5" name="Text Box 33">
              <a:extLst>
                <a:ext uri="{FF2B5EF4-FFF2-40B4-BE49-F238E27FC236}">
                  <a16:creationId xmlns:a16="http://schemas.microsoft.com/office/drawing/2014/main" id="{FC335674-D2D8-EA4E-9AA4-189F883866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1248"/>
              <a:ext cx="336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3400"/>
                <a:t>)</a:t>
              </a:r>
            </a:p>
          </p:txBody>
        </p:sp>
      </p:grpSp>
      <p:grpSp>
        <p:nvGrpSpPr>
          <p:cNvPr id="36" name="Group 34">
            <a:extLst>
              <a:ext uri="{FF2B5EF4-FFF2-40B4-BE49-F238E27FC236}">
                <a16:creationId xmlns:a16="http://schemas.microsoft.com/office/drawing/2014/main" id="{8887348D-6ECC-5443-9360-C57CF6C11964}"/>
              </a:ext>
            </a:extLst>
          </p:cNvPr>
          <p:cNvGrpSpPr>
            <a:grpSpLocks/>
          </p:cNvGrpSpPr>
          <p:nvPr/>
        </p:nvGrpSpPr>
        <p:grpSpPr bwMode="auto">
          <a:xfrm>
            <a:off x="8815388" y="4767506"/>
            <a:ext cx="609600" cy="701675"/>
            <a:chOff x="5232" y="1248"/>
            <a:chExt cx="480" cy="442"/>
          </a:xfrm>
        </p:grpSpPr>
        <p:sp>
          <p:nvSpPr>
            <p:cNvPr id="37" name="AutoShape 35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0FC06D50-BF95-7F49-AFC2-064956EE0E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" name="Text Box 36">
              <a:extLst>
                <a:ext uri="{FF2B5EF4-FFF2-40B4-BE49-F238E27FC236}">
                  <a16:creationId xmlns:a16="http://schemas.microsoft.com/office/drawing/2014/main" id="{43FE3256-F68F-0B49-8284-346ACC05B8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1248"/>
              <a:ext cx="337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4000"/>
                <a:t>)</a:t>
              </a:r>
            </a:p>
          </p:txBody>
        </p:sp>
      </p:grpSp>
      <p:sp>
        <p:nvSpPr>
          <p:cNvPr id="39" name="Text Box 37">
            <a:extLst>
              <a:ext uri="{FF2B5EF4-FFF2-40B4-BE49-F238E27FC236}">
                <a16:creationId xmlns:a16="http://schemas.microsoft.com/office/drawing/2014/main" id="{DBD46AA2-0BF9-2442-8630-15763D5E7A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18" y="5594588"/>
            <a:ext cx="449580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dirty="0">
                <a:latin typeface="Century Gothic" panose="020B0502020202020204" pitchFamily="34" charset="0"/>
              </a:rPr>
              <a:t>Shrink yourself down and stand where the angle is.</a:t>
            </a:r>
          </a:p>
        </p:txBody>
      </p:sp>
      <p:pic>
        <p:nvPicPr>
          <p:cNvPr id="40" name="Picture 38" descr="MCj00787170000[1]">
            <a:extLst>
              <a:ext uri="{FF2B5EF4-FFF2-40B4-BE49-F238E27FC236}">
                <a16:creationId xmlns:a16="http://schemas.microsoft.com/office/drawing/2014/main" id="{B52DF033-5D1E-684D-8715-9B0533CC8D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91832" y="4115637"/>
            <a:ext cx="268287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" name="Text Box 39">
            <a:extLst>
              <a:ext uri="{FF2B5EF4-FFF2-40B4-BE49-F238E27FC236}">
                <a16:creationId xmlns:a16="http://schemas.microsoft.com/office/drawing/2014/main" id="{FA338398-7A39-C24D-BBC8-071962653D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450" y="6240919"/>
            <a:ext cx="4495801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i="1" dirty="0">
                <a:latin typeface="Century Gothic" panose="020B0502020202020204" pitchFamily="34" charset="0"/>
              </a:rPr>
              <a:t>Now, figure out which trig ratio you have and set up the problem.</a:t>
            </a:r>
          </a:p>
        </p:txBody>
      </p:sp>
      <p:grpSp>
        <p:nvGrpSpPr>
          <p:cNvPr id="42" name="Group 27">
            <a:extLst>
              <a:ext uri="{FF2B5EF4-FFF2-40B4-BE49-F238E27FC236}">
                <a16:creationId xmlns:a16="http://schemas.microsoft.com/office/drawing/2014/main" id="{EA67D6C0-8E9B-5B45-B52D-1AA0D1A8121A}"/>
              </a:ext>
            </a:extLst>
          </p:cNvPr>
          <p:cNvGrpSpPr>
            <a:grpSpLocks/>
          </p:cNvGrpSpPr>
          <p:nvPr/>
        </p:nvGrpSpPr>
        <p:grpSpPr bwMode="auto">
          <a:xfrm>
            <a:off x="5392878" y="4768700"/>
            <a:ext cx="533400" cy="685800"/>
            <a:chOff x="5040" y="1248"/>
            <a:chExt cx="672" cy="432"/>
          </a:xfrm>
        </p:grpSpPr>
        <p:sp>
          <p:nvSpPr>
            <p:cNvPr id="43" name="AutoShape 28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CB2FA6E5-DA98-5A47-A146-314E197CAF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0" y="1248"/>
              <a:ext cx="672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4" name="Text Box 29">
              <a:extLst>
                <a:ext uri="{FF2B5EF4-FFF2-40B4-BE49-F238E27FC236}">
                  <a16:creationId xmlns:a16="http://schemas.microsoft.com/office/drawing/2014/main" id="{03D28067-B5F0-364C-8A3E-545BD81B73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8" y="1248"/>
              <a:ext cx="557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3400" dirty="0"/>
                <a:t>(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42616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00"/>
                            </p:stCondLst>
                            <p:childTnLst>
                              <p:par>
                                <p:cTn id="5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500"/>
                            </p:stCondLst>
                            <p:childTnLst>
                              <p:par>
                                <p:cTn id="6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3000"/>
                            </p:stCondLst>
                            <p:childTnLst>
                              <p:par>
                                <p:cTn id="6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500"/>
                            </p:stCondLst>
                            <p:childTnLst>
                              <p:par>
                                <p:cTn id="6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400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3330773C-BD69-3942-9BBD-3B107F4D1C8D}"/>
              </a:ext>
            </a:extLst>
          </p:cNvPr>
          <p:cNvSpPr txBox="1">
            <a:spLocks/>
          </p:cNvSpPr>
          <p:nvPr/>
        </p:nvSpPr>
        <p:spPr bwMode="black">
          <a:xfrm>
            <a:off x="252248" y="466344"/>
            <a:ext cx="10656544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Topic: Trigonometry</a:t>
            </a:r>
            <a:br>
              <a:rPr lang="en-US"/>
            </a:br>
            <a:r>
              <a:rPr lang="en-US"/>
              <a:t>EQ: What steps are similar and different in finding missing side lengths and missing angles?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D3D924-7627-2D42-AAB5-6C0F046B92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5260" y="1744935"/>
            <a:ext cx="9144000" cy="838200"/>
          </a:xfrm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</a:extLst>
        </p:spPr>
        <p:txBody>
          <a:bodyPr>
            <a:normAutofit fontScale="90000"/>
          </a:bodyPr>
          <a:lstStyle/>
          <a:p>
            <a:pPr algn="l"/>
            <a:r>
              <a:rPr lang="en-US" altLang="en-US" sz="3200" b="1" dirty="0">
                <a:solidFill>
                  <a:schemeClr val="tx2"/>
                </a:solidFill>
                <a:latin typeface="Berlin Sans FB Demi" panose="020E0602020502020306" pitchFamily="34" charset="77"/>
              </a:rPr>
              <a:t>Ex: 3	 Find the missing side. </a:t>
            </a:r>
            <a:r>
              <a:rPr lang="en-US" altLang="en-US" sz="2800" b="1" dirty="0">
                <a:solidFill>
                  <a:schemeClr val="tx2"/>
                </a:solidFill>
                <a:latin typeface="Berlin Sans FB Demi" panose="020E0602020502020306" pitchFamily="34" charset="77"/>
              </a:rPr>
              <a:t>Round to the nearest tenth.</a:t>
            </a:r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3564F9FE-B190-5147-AF40-8F894D8E1C7B}"/>
              </a:ext>
            </a:extLst>
          </p:cNvPr>
          <p:cNvGrpSpPr>
            <a:grpSpLocks/>
          </p:cNvGrpSpPr>
          <p:nvPr/>
        </p:nvGrpSpPr>
        <p:grpSpPr bwMode="auto">
          <a:xfrm>
            <a:off x="434340" y="2637110"/>
            <a:ext cx="3886200" cy="1981200"/>
            <a:chOff x="528" y="432"/>
            <a:chExt cx="2448" cy="1248"/>
          </a:xfrm>
        </p:grpSpPr>
        <p:sp>
          <p:nvSpPr>
            <p:cNvPr id="5" name="AutoShape 4">
              <a:extLst>
                <a:ext uri="{FF2B5EF4-FFF2-40B4-BE49-F238E27FC236}">
                  <a16:creationId xmlns:a16="http://schemas.microsoft.com/office/drawing/2014/main" id="{E6708E08-C9C3-B54E-8664-992240A6FB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432"/>
              <a:ext cx="2016" cy="1248"/>
            </a:xfrm>
            <a:prstGeom prst="rtTriangle">
              <a:avLst/>
            </a:prstGeom>
            <a:solidFill>
              <a:srgbClr val="FFFF66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AU" altLang="en-US" sz="180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D0DC1F6-8281-054A-A9FA-147272C4A4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1481"/>
              <a:ext cx="192" cy="192"/>
            </a:xfrm>
            <a:prstGeom prst="rect">
              <a:avLst/>
            </a:prstGeom>
            <a:solidFill>
              <a:srgbClr val="FFFF66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AU" altLang="en-US" sz="1800"/>
            </a:p>
          </p:txBody>
        </p:sp>
        <p:graphicFrame>
          <p:nvGraphicFramePr>
            <p:cNvPr id="7" name="Object 6">
              <a:extLst>
                <a:ext uri="{FF2B5EF4-FFF2-40B4-BE49-F238E27FC236}">
                  <a16:creationId xmlns:a16="http://schemas.microsoft.com/office/drawing/2014/main" id="{72C8B9EE-0F9E-1D49-B0D9-76D8A5FD419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16" y="1344"/>
            <a:ext cx="464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513" name="Equation" r:id="rId3" imgW="5854700" imgH="3797300" progId="Equation.3">
                    <p:embed/>
                  </p:oleObj>
                </mc:Choice>
                <mc:Fallback>
                  <p:oleObj name="Equation" r:id="rId3" imgW="5854700" imgH="3797300" progId="Equation.3">
                    <p:embed/>
                    <p:pic>
                      <p:nvPicPr>
                        <p:cNvPr id="27660" name="Object 6">
                          <a:extLst>
                            <a:ext uri="{FF2B5EF4-FFF2-40B4-BE49-F238E27FC236}">
                              <a16:creationId xmlns:a16="http://schemas.microsoft.com/office/drawing/2014/main" id="{8A07CA25-FC1C-1F48-98EF-D27C678FBFF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6" y="1344"/>
                          <a:ext cx="464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Text Box 7">
              <a:extLst>
                <a:ext uri="{FF2B5EF4-FFF2-40B4-BE49-F238E27FC236}">
                  <a16:creationId xmlns:a16="http://schemas.microsoft.com/office/drawing/2014/main" id="{9F98CFA8-6327-7840-B252-E439D32B7B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624"/>
              <a:ext cx="1296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3400">
                  <a:solidFill>
                    <a:srgbClr val="0000FF"/>
                  </a:solidFill>
                </a:rPr>
                <a:t>283 m</a:t>
              </a:r>
            </a:p>
          </p:txBody>
        </p:sp>
        <p:sp>
          <p:nvSpPr>
            <p:cNvPr id="9" name="Text Box 8">
              <a:extLst>
                <a:ext uri="{FF2B5EF4-FFF2-40B4-BE49-F238E27FC236}">
                  <a16:creationId xmlns:a16="http://schemas.microsoft.com/office/drawing/2014/main" id="{37DD97EB-F449-E346-9E71-A0752ECA7F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768"/>
              <a:ext cx="43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3400">
                  <a:solidFill>
                    <a:srgbClr val="0000FF"/>
                  </a:solidFill>
                </a:rPr>
                <a:t>x</a:t>
              </a:r>
            </a:p>
          </p:txBody>
        </p:sp>
      </p:grp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65E2447A-11E3-3444-8847-5933DBD307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5450804"/>
              </p:ext>
            </p:extLst>
          </p:nvPr>
        </p:nvGraphicFramePr>
        <p:xfrm>
          <a:off x="8084820" y="2344261"/>
          <a:ext cx="3179763" cy="14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14" name="Equation" r:id="rId5" imgW="20193000" imgH="9067800" progId="Equation.3">
                  <p:embed/>
                </p:oleObj>
              </mc:Choice>
              <mc:Fallback>
                <p:oleObj name="Equation" r:id="rId5" imgW="20193000" imgH="9067800" progId="Equation.3">
                  <p:embed/>
                  <p:pic>
                    <p:nvPicPr>
                      <p:cNvPr id="35849" name="Object 9">
                        <a:extLst>
                          <a:ext uri="{FF2B5EF4-FFF2-40B4-BE49-F238E27FC236}">
                            <a16:creationId xmlns:a16="http://schemas.microsoft.com/office/drawing/2014/main" id="{E0F26357-02FA-8046-B561-767214B34E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84820" y="2344261"/>
                        <a:ext cx="3179763" cy="142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9BEA5340-CD6B-D948-8AE8-34CFBC0F7F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4236684"/>
              </p:ext>
            </p:extLst>
          </p:nvPr>
        </p:nvGraphicFramePr>
        <p:xfrm>
          <a:off x="6894677" y="5457690"/>
          <a:ext cx="5045075" cy="1216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15" name="Equation" r:id="rId7" imgW="16967200" imgH="4102100" progId="Equation.3">
                  <p:embed/>
                </p:oleObj>
              </mc:Choice>
              <mc:Fallback>
                <p:oleObj name="Equation" r:id="rId7" imgW="16967200" imgH="4102100" progId="Equation.3">
                  <p:embed/>
                  <p:pic>
                    <p:nvPicPr>
                      <p:cNvPr id="35850" name="Object 10">
                        <a:extLst>
                          <a:ext uri="{FF2B5EF4-FFF2-40B4-BE49-F238E27FC236}">
                            <a16:creationId xmlns:a16="http://schemas.microsoft.com/office/drawing/2014/main" id="{D3F424C1-5A4D-3C4F-8569-E667E9DE78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4677" y="5457690"/>
                        <a:ext cx="5045075" cy="1216025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>
            <a:extLst>
              <a:ext uri="{FF2B5EF4-FFF2-40B4-BE49-F238E27FC236}">
                <a16:creationId xmlns:a16="http://schemas.microsoft.com/office/drawing/2014/main" id="{BD8294D0-21C9-2D49-BD59-DD9A25D687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5730441"/>
              </p:ext>
            </p:extLst>
          </p:nvPr>
        </p:nvGraphicFramePr>
        <p:xfrm>
          <a:off x="6880860" y="4157505"/>
          <a:ext cx="4876800" cy="1103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16" name="Equation" r:id="rId9" imgW="21945600" imgH="4978400" progId="Equation.3">
                  <p:embed/>
                </p:oleObj>
              </mc:Choice>
              <mc:Fallback>
                <p:oleObj name="Equation" r:id="rId9" imgW="21945600" imgH="4978400" progId="Equation.3">
                  <p:embed/>
                  <p:pic>
                    <p:nvPicPr>
                      <p:cNvPr id="35852" name="Object 12">
                        <a:extLst>
                          <a:ext uri="{FF2B5EF4-FFF2-40B4-BE49-F238E27FC236}">
                            <a16:creationId xmlns:a16="http://schemas.microsoft.com/office/drawing/2014/main" id="{964783C1-A2D5-DA4F-A704-089ACBBE42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0860" y="4157505"/>
                        <a:ext cx="4876800" cy="1103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3">
            <a:extLst>
              <a:ext uri="{FF2B5EF4-FFF2-40B4-BE49-F238E27FC236}">
                <a16:creationId xmlns:a16="http://schemas.microsoft.com/office/drawing/2014/main" id="{BD4F7811-ACE6-A743-BB01-32C5D894F6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248" y="4913818"/>
            <a:ext cx="30480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>
                <a:latin typeface="Century Gothic" panose="020B0502020202020204" pitchFamily="34" charset="0"/>
              </a:rPr>
              <a:t>Shrink yourself down and stand where the angle is.</a:t>
            </a:r>
          </a:p>
        </p:txBody>
      </p:sp>
      <p:pic>
        <p:nvPicPr>
          <p:cNvPr id="14" name="Picture 14" descr="MCj00787170000[1]">
            <a:extLst>
              <a:ext uri="{FF2B5EF4-FFF2-40B4-BE49-F238E27FC236}">
                <a16:creationId xmlns:a16="http://schemas.microsoft.com/office/drawing/2014/main" id="{D038775A-E17F-7D4A-BD84-C36C30C6B5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6140" y="4161110"/>
            <a:ext cx="230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 Box 15">
            <a:extLst>
              <a:ext uri="{FF2B5EF4-FFF2-40B4-BE49-F238E27FC236}">
                <a16:creationId xmlns:a16="http://schemas.microsoft.com/office/drawing/2014/main" id="{6ABF1AD9-3ABB-554A-910C-6E0A543D53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248" y="5657671"/>
            <a:ext cx="26670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i="1" dirty="0">
                <a:latin typeface="Century Gothic" panose="020B0502020202020204" pitchFamily="34" charset="0"/>
              </a:rPr>
              <a:t>Now, figure out which trig ratio you have and set up the problem.</a:t>
            </a:r>
          </a:p>
        </p:txBody>
      </p:sp>
    </p:spTree>
    <p:extLst>
      <p:ext uri="{BB962C8B-B14F-4D97-AF65-F5344CB8AC3E}">
        <p14:creationId xmlns:p14="http://schemas.microsoft.com/office/powerpoint/2010/main" val="2369858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3330773C-BD69-3942-9BBD-3B107F4D1C8D}"/>
              </a:ext>
            </a:extLst>
          </p:cNvPr>
          <p:cNvSpPr txBox="1">
            <a:spLocks/>
          </p:cNvSpPr>
          <p:nvPr/>
        </p:nvSpPr>
        <p:spPr bwMode="black">
          <a:xfrm>
            <a:off x="252248" y="466344"/>
            <a:ext cx="10656544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Topic: Trigonometry</a:t>
            </a:r>
            <a:br>
              <a:rPr lang="en-US"/>
            </a:br>
            <a:r>
              <a:rPr lang="en-US"/>
              <a:t>EQ: What steps are similar and different in finding missing side lengths and missing angles?</a:t>
            </a:r>
            <a:endParaRPr lang="en-US" dirty="0"/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4BAD45E0-4EB3-C34D-AC4A-A89D9131633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089660" y="3249930"/>
            <a:ext cx="2209800" cy="2438400"/>
          </a:xfrm>
          <a:prstGeom prst="rtTriangle">
            <a:avLst/>
          </a:prstGeom>
          <a:solidFill>
            <a:srgbClr val="FFFF66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AU" altLang="en-US" sz="180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8D556E8-A073-394B-9093-FA36E73BA2F9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994660" y="5383530"/>
            <a:ext cx="304800" cy="304800"/>
          </a:xfrm>
          <a:prstGeom prst="rect">
            <a:avLst/>
          </a:prstGeom>
          <a:solidFill>
            <a:srgbClr val="FFFF66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AU" altLang="en-US" sz="1800"/>
          </a:p>
        </p:txBody>
      </p:sp>
      <p:graphicFrame>
        <p:nvGraphicFramePr>
          <p:cNvPr id="5" name="Object 6">
            <a:extLst>
              <a:ext uri="{FF2B5EF4-FFF2-40B4-BE49-F238E27FC236}">
                <a16:creationId xmlns:a16="http://schemas.microsoft.com/office/drawing/2014/main" id="{B2F003AC-EE25-8446-8940-7129C83D8E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3938661"/>
              </p:ext>
            </p:extLst>
          </p:nvPr>
        </p:nvGraphicFramePr>
        <p:xfrm>
          <a:off x="2613660" y="3765869"/>
          <a:ext cx="736600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33" name="Equation" r:id="rId3" imgW="5854700" imgH="4102100" progId="Equation.3">
                  <p:embed/>
                </p:oleObj>
              </mc:Choice>
              <mc:Fallback>
                <p:oleObj name="Equation" r:id="rId3" imgW="5854700" imgH="4102100" progId="Equation.3">
                  <p:embed/>
                  <p:pic>
                    <p:nvPicPr>
                      <p:cNvPr id="29701" name="Object 6">
                        <a:extLst>
                          <a:ext uri="{FF2B5EF4-FFF2-40B4-BE49-F238E27FC236}">
                            <a16:creationId xmlns:a16="http://schemas.microsoft.com/office/drawing/2014/main" id="{5382799E-0F93-7442-B4B1-2AB9FD3BD4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3660" y="3765869"/>
                        <a:ext cx="736600" cy="51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7">
            <a:extLst>
              <a:ext uri="{FF2B5EF4-FFF2-40B4-BE49-F238E27FC236}">
                <a16:creationId xmlns:a16="http://schemas.microsoft.com/office/drawing/2014/main" id="{FAAC69EA-4F21-0346-96D0-38C8A5B08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5860" y="4011930"/>
            <a:ext cx="20574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3400" dirty="0">
                <a:solidFill>
                  <a:srgbClr val="0000FF"/>
                </a:solidFill>
              </a:rPr>
              <a:t>20 ft</a:t>
            </a:r>
          </a:p>
        </p:txBody>
      </p:sp>
      <p:sp>
        <p:nvSpPr>
          <p:cNvPr id="7" name="Text Box 8">
            <a:extLst>
              <a:ext uri="{FF2B5EF4-FFF2-40B4-BE49-F238E27FC236}">
                <a16:creationId xmlns:a16="http://schemas.microsoft.com/office/drawing/2014/main" id="{7D74DCC2-4E3C-7340-9A56-9EE9711F71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5660" y="4088130"/>
            <a:ext cx="685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3400">
                <a:solidFill>
                  <a:srgbClr val="0000FF"/>
                </a:solidFill>
              </a:rPr>
              <a:t>x</a:t>
            </a:r>
          </a:p>
        </p:txBody>
      </p:sp>
      <p:graphicFrame>
        <p:nvGraphicFramePr>
          <p:cNvPr id="8" name="Object 9">
            <a:extLst>
              <a:ext uri="{FF2B5EF4-FFF2-40B4-BE49-F238E27FC236}">
                <a16:creationId xmlns:a16="http://schemas.microsoft.com/office/drawing/2014/main" id="{0997E01E-4B52-9244-9037-314A3EE6B9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8688939"/>
              </p:ext>
            </p:extLst>
          </p:nvPr>
        </p:nvGraphicFramePr>
        <p:xfrm>
          <a:off x="7543802" y="2297907"/>
          <a:ext cx="2995613" cy="14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34" name="Equation" r:id="rId5" imgW="19011900" imgH="9067800" progId="Equation.3">
                  <p:embed/>
                </p:oleObj>
              </mc:Choice>
              <mc:Fallback>
                <p:oleObj name="Equation" r:id="rId5" imgW="19011900" imgH="9067800" progId="Equation.3">
                  <p:embed/>
                  <p:pic>
                    <p:nvPicPr>
                      <p:cNvPr id="36873" name="Object 9">
                        <a:extLst>
                          <a:ext uri="{FF2B5EF4-FFF2-40B4-BE49-F238E27FC236}">
                            <a16:creationId xmlns:a16="http://schemas.microsoft.com/office/drawing/2014/main" id="{E5249403-F7B7-CE4A-9B49-5496A9971E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2" y="2297907"/>
                        <a:ext cx="2995613" cy="142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0">
            <a:extLst>
              <a:ext uri="{FF2B5EF4-FFF2-40B4-BE49-F238E27FC236}">
                <a16:creationId xmlns:a16="http://schemas.microsoft.com/office/drawing/2014/main" id="{09024A22-6AE7-B549-90EF-409B07140E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6444864"/>
              </p:ext>
            </p:extLst>
          </p:nvPr>
        </p:nvGraphicFramePr>
        <p:xfrm>
          <a:off x="7288531" y="5457827"/>
          <a:ext cx="4676775" cy="1281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35" name="Equation" r:id="rId7" imgW="14922500" imgH="4102100" progId="Equation.3">
                  <p:embed/>
                </p:oleObj>
              </mc:Choice>
              <mc:Fallback>
                <p:oleObj name="Equation" r:id="rId7" imgW="14922500" imgH="4102100" progId="Equation.3">
                  <p:embed/>
                  <p:pic>
                    <p:nvPicPr>
                      <p:cNvPr id="36874" name="Object 10">
                        <a:extLst>
                          <a:ext uri="{FF2B5EF4-FFF2-40B4-BE49-F238E27FC236}">
                            <a16:creationId xmlns:a16="http://schemas.microsoft.com/office/drawing/2014/main" id="{EE354463-8A50-3546-819B-854A368A22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8531" y="5457827"/>
                        <a:ext cx="4676775" cy="1281113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1">
            <a:extLst>
              <a:ext uri="{FF2B5EF4-FFF2-40B4-BE49-F238E27FC236}">
                <a16:creationId xmlns:a16="http://schemas.microsoft.com/office/drawing/2014/main" id="{5A4F2FA8-9F4D-2C45-B2AF-F992BDED5F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3065964"/>
              </p:ext>
            </p:extLst>
          </p:nvPr>
        </p:nvGraphicFramePr>
        <p:xfrm>
          <a:off x="7288531" y="3962400"/>
          <a:ext cx="4657725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36" name="Equation" r:id="rId9" imgW="20777200" imgH="4978400" progId="Equation.3">
                  <p:embed/>
                </p:oleObj>
              </mc:Choice>
              <mc:Fallback>
                <p:oleObj name="Equation" r:id="rId9" imgW="20777200" imgH="4978400" progId="Equation.3">
                  <p:embed/>
                  <p:pic>
                    <p:nvPicPr>
                      <p:cNvPr id="36875" name="Object 11">
                        <a:extLst>
                          <a:ext uri="{FF2B5EF4-FFF2-40B4-BE49-F238E27FC236}">
                            <a16:creationId xmlns:a16="http://schemas.microsoft.com/office/drawing/2014/main" id="{031847DD-F152-0546-880B-1B197706F5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8531" y="3962400"/>
                        <a:ext cx="4657725" cy="1114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6" descr="MCj00787170000[1]">
            <a:extLst>
              <a:ext uri="{FF2B5EF4-FFF2-40B4-BE49-F238E27FC236}">
                <a16:creationId xmlns:a16="http://schemas.microsoft.com/office/drawing/2014/main" id="{D12147BE-E8FD-104C-A056-34558D6178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994660" y="3402330"/>
            <a:ext cx="268288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A2B5BA05-9DEA-9E4D-B869-C61CA39A1C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2248" y="1887061"/>
            <a:ext cx="9144000" cy="838200"/>
          </a:xfrm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</a:extLst>
        </p:spPr>
        <p:txBody>
          <a:bodyPr>
            <a:normAutofit fontScale="90000"/>
          </a:bodyPr>
          <a:lstStyle/>
          <a:p>
            <a:pPr algn="l"/>
            <a:r>
              <a:rPr lang="en-US" altLang="en-US" sz="3200" b="1" dirty="0">
                <a:solidFill>
                  <a:schemeClr val="tx2"/>
                </a:solidFill>
                <a:latin typeface="Berlin Sans FB Demi" panose="020E0602020502020306" pitchFamily="34" charset="77"/>
              </a:rPr>
              <a:t>Ex: 4	 Find the missing side. </a:t>
            </a:r>
            <a:r>
              <a:rPr lang="en-US" altLang="en-US" sz="2800" b="1" dirty="0">
                <a:solidFill>
                  <a:schemeClr val="tx2"/>
                </a:solidFill>
                <a:latin typeface="Berlin Sans FB Demi" panose="020E0602020502020306" pitchFamily="34" charset="77"/>
              </a:rPr>
              <a:t>Round to the nearest tenth.</a:t>
            </a:r>
          </a:p>
        </p:txBody>
      </p:sp>
    </p:spTree>
    <p:extLst>
      <p:ext uri="{BB962C8B-B14F-4D97-AF65-F5344CB8AC3E}">
        <p14:creationId xmlns:p14="http://schemas.microsoft.com/office/powerpoint/2010/main" val="4175863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2BD126DB-5287-8B49-8415-D2BEF766BB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2019300"/>
            <a:ext cx="9144000" cy="2819400"/>
          </a:xfrm>
          <a:solidFill>
            <a:srgbClr val="FFFFCC"/>
          </a:solidFill>
        </p:spPr>
        <p:txBody>
          <a:bodyPr/>
          <a:lstStyle/>
          <a:p>
            <a:r>
              <a:rPr lang="en-US" altLang="en-US" sz="6200" b="1" dirty="0">
                <a:solidFill>
                  <a:schemeClr val="tx2"/>
                </a:solidFill>
                <a:latin typeface="Berlin Sans FB Demi" panose="020E0602020502020306" pitchFamily="34" charset="77"/>
              </a:rPr>
              <a:t>Finding an angle.</a:t>
            </a:r>
            <a:br>
              <a:rPr lang="en-US" altLang="en-US" sz="6200" b="1" dirty="0">
                <a:solidFill>
                  <a:schemeClr val="tx2"/>
                </a:solidFill>
                <a:latin typeface="Berlin Sans FB Demi" panose="020E0602020502020306" pitchFamily="34" charset="77"/>
              </a:rPr>
            </a:br>
            <a:r>
              <a:rPr lang="en-US" altLang="en-US" sz="3200" i="1" dirty="0">
                <a:solidFill>
                  <a:schemeClr val="tx2"/>
                </a:solidFill>
                <a:latin typeface="Berlin Sans FB Demi" panose="020E0602020502020306" pitchFamily="34" charset="77"/>
              </a:rPr>
              <a:t>(Figuring out which ratio to use and getting to use the </a:t>
            </a:r>
            <a:r>
              <a:rPr lang="en-US" altLang="en-US" sz="3200" i="1" dirty="0">
                <a:solidFill>
                  <a:srgbClr val="FF0000"/>
                </a:solidFill>
                <a:latin typeface="Berlin Sans FB Demi" panose="020E0602020502020306" pitchFamily="34" charset="77"/>
              </a:rPr>
              <a:t>2</a:t>
            </a:r>
            <a:r>
              <a:rPr lang="en-US" altLang="en-US" sz="3200" i="1" baseline="30000" dirty="0">
                <a:solidFill>
                  <a:srgbClr val="FF0000"/>
                </a:solidFill>
                <a:latin typeface="Berlin Sans FB Demi" panose="020E0602020502020306" pitchFamily="34" charset="77"/>
              </a:rPr>
              <a:t>nd</a:t>
            </a:r>
            <a:r>
              <a:rPr lang="en-US" altLang="en-US" sz="3200" i="1" dirty="0">
                <a:solidFill>
                  <a:srgbClr val="FF0000"/>
                </a:solidFill>
                <a:latin typeface="Berlin Sans FB Demi" panose="020E0602020502020306" pitchFamily="34" charset="77"/>
              </a:rPr>
              <a:t> button </a:t>
            </a:r>
            <a:r>
              <a:rPr lang="en-US" altLang="en-US" sz="3200" i="1" dirty="0">
                <a:solidFill>
                  <a:schemeClr val="tx2"/>
                </a:solidFill>
                <a:latin typeface="Berlin Sans FB Demi" panose="020E0602020502020306" pitchFamily="34" charset="77"/>
              </a:rPr>
              <a:t>and one of the trig buttons.)</a:t>
            </a:r>
            <a:br>
              <a:rPr lang="en-US" altLang="en-US" sz="3200" i="1" dirty="0">
                <a:solidFill>
                  <a:schemeClr val="tx2"/>
                </a:solidFill>
                <a:latin typeface="Berlin Sans FB Demi" panose="020E0602020502020306" pitchFamily="34" charset="77"/>
              </a:rPr>
            </a:br>
            <a:endParaRPr lang="en-US" altLang="en-US" sz="3200" i="1" dirty="0">
              <a:solidFill>
                <a:schemeClr val="tx2"/>
              </a:solidFill>
              <a:latin typeface="Berlin Sans FB Demi" panose="020E0602020502020306" pitchFamily="34" charset="77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24E17F7-BFD3-B241-868B-3303FDD73C1B}"/>
              </a:ext>
            </a:extLst>
          </p:cNvPr>
          <p:cNvSpPr txBox="1">
            <a:spLocks/>
          </p:cNvSpPr>
          <p:nvPr/>
        </p:nvSpPr>
        <p:spPr bwMode="black">
          <a:xfrm>
            <a:off x="252248" y="466344"/>
            <a:ext cx="10656544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Topic: Trigonometry</a:t>
            </a:r>
            <a:br>
              <a:rPr lang="en-US" dirty="0"/>
            </a:br>
            <a:r>
              <a:rPr lang="en-US" dirty="0"/>
              <a:t>EQ: What steps are similar and different in finding missing side lengths and missing angles?</a:t>
            </a:r>
          </a:p>
        </p:txBody>
      </p:sp>
    </p:spTree>
    <p:extLst>
      <p:ext uri="{BB962C8B-B14F-4D97-AF65-F5344CB8AC3E}">
        <p14:creationId xmlns:p14="http://schemas.microsoft.com/office/powerpoint/2010/main" val="1127470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3330773C-BD69-3942-9BBD-3B107F4D1C8D}"/>
              </a:ext>
            </a:extLst>
          </p:cNvPr>
          <p:cNvSpPr txBox="1">
            <a:spLocks/>
          </p:cNvSpPr>
          <p:nvPr/>
        </p:nvSpPr>
        <p:spPr bwMode="black">
          <a:xfrm>
            <a:off x="252248" y="466344"/>
            <a:ext cx="10656544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Topic: Trigonometry</a:t>
            </a:r>
            <a:br>
              <a:rPr lang="en-US" dirty="0"/>
            </a:br>
            <a:r>
              <a:rPr lang="en-US" dirty="0"/>
              <a:t>EQ: What steps are similar and different in finding missing side lengths and missing angles?</a:t>
            </a:r>
          </a:p>
        </p:txBody>
      </p:sp>
      <p:sp>
        <p:nvSpPr>
          <p:cNvPr id="34" name="AutoShape 3">
            <a:extLst>
              <a:ext uri="{FF2B5EF4-FFF2-40B4-BE49-F238E27FC236}">
                <a16:creationId xmlns:a16="http://schemas.microsoft.com/office/drawing/2014/main" id="{9F8D8EBF-36A8-E046-BA6D-71E085B4E4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901" y="2032521"/>
            <a:ext cx="2286000" cy="3200400"/>
          </a:xfrm>
          <a:prstGeom prst="rtTriangle">
            <a:avLst/>
          </a:prstGeom>
          <a:solidFill>
            <a:srgbClr val="99FF33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AU" altLang="en-US" sz="1800"/>
          </a:p>
        </p:txBody>
      </p:sp>
      <p:sp>
        <p:nvSpPr>
          <p:cNvPr id="35" name="Rectangle 4">
            <a:extLst>
              <a:ext uri="{FF2B5EF4-FFF2-40B4-BE49-F238E27FC236}">
                <a16:creationId xmlns:a16="http://schemas.microsoft.com/office/drawing/2014/main" id="{04C7EC0D-AE77-D149-B1F9-EBAD05C979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251" y="4896371"/>
            <a:ext cx="304800" cy="336550"/>
          </a:xfrm>
          <a:prstGeom prst="rect">
            <a:avLst/>
          </a:prstGeom>
          <a:solidFill>
            <a:srgbClr val="99FF33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AU" altLang="en-US" sz="1800"/>
          </a:p>
        </p:txBody>
      </p:sp>
      <p:sp>
        <p:nvSpPr>
          <p:cNvPr id="36" name="Text Box 5">
            <a:extLst>
              <a:ext uri="{FF2B5EF4-FFF2-40B4-BE49-F238E27FC236}">
                <a16:creationId xmlns:a16="http://schemas.microsoft.com/office/drawing/2014/main" id="{3F3902D6-F951-264A-83C4-C8309468AA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2077" y="5353572"/>
            <a:ext cx="1223963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3000"/>
              <a:t>9</a:t>
            </a:r>
          </a:p>
        </p:txBody>
      </p:sp>
      <p:sp>
        <p:nvSpPr>
          <p:cNvPr id="37" name="Text Box 6">
            <a:extLst>
              <a:ext uri="{FF2B5EF4-FFF2-40B4-BE49-F238E27FC236}">
                <a16:creationId xmlns:a16="http://schemas.microsoft.com/office/drawing/2014/main" id="{1250EE60-2572-0E4C-92CD-FB79381CC7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173" y="3589860"/>
            <a:ext cx="1012825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3000"/>
              <a:t>17.2</a:t>
            </a:r>
          </a:p>
        </p:txBody>
      </p:sp>
      <p:sp>
        <p:nvSpPr>
          <p:cNvPr id="38" name="Rectangle 8">
            <a:extLst>
              <a:ext uri="{FF2B5EF4-FFF2-40B4-BE49-F238E27FC236}">
                <a16:creationId xmlns:a16="http://schemas.microsoft.com/office/drawing/2014/main" id="{F2A99133-1E6F-CF4F-9064-D29D01A75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91993" y="4768444"/>
            <a:ext cx="1524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AU" altLang="en-US" sz="1800"/>
          </a:p>
        </p:txBody>
      </p:sp>
      <p:graphicFrame>
        <p:nvGraphicFramePr>
          <p:cNvPr id="39" name="Object 9">
            <a:extLst>
              <a:ext uri="{FF2B5EF4-FFF2-40B4-BE49-F238E27FC236}">
                <a16:creationId xmlns:a16="http://schemas.microsoft.com/office/drawing/2014/main" id="{CE588F42-9AE3-D946-A836-D8232AB583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5958378"/>
              </p:ext>
            </p:extLst>
          </p:nvPr>
        </p:nvGraphicFramePr>
        <p:xfrm>
          <a:off x="6187123" y="3011489"/>
          <a:ext cx="2260600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52" name="Equation" r:id="rId3" imgW="17843500" imgH="9067800" progId="Equation.3">
                  <p:embed/>
                </p:oleObj>
              </mc:Choice>
              <mc:Fallback>
                <p:oleObj name="Equation" r:id="rId3" imgW="17843500" imgH="9067800" progId="Equation.3">
                  <p:embed/>
                  <p:pic>
                    <p:nvPicPr>
                      <p:cNvPr id="40969" name="Object 9">
                        <a:extLst>
                          <a:ext uri="{FF2B5EF4-FFF2-40B4-BE49-F238E27FC236}">
                            <a16:creationId xmlns:a16="http://schemas.microsoft.com/office/drawing/2014/main" id="{2FA0AA93-A2ED-514B-9376-7AF6FC7B84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7123" y="3011489"/>
                        <a:ext cx="2260600" cy="1149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10">
            <a:extLst>
              <a:ext uri="{FF2B5EF4-FFF2-40B4-BE49-F238E27FC236}">
                <a16:creationId xmlns:a16="http://schemas.microsoft.com/office/drawing/2014/main" id="{86A5DEBE-B2F9-4B48-87DD-8B9FCF5EF6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1803705"/>
              </p:ext>
            </p:extLst>
          </p:nvPr>
        </p:nvGraphicFramePr>
        <p:xfrm>
          <a:off x="2309021" y="4526484"/>
          <a:ext cx="554037" cy="77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53" name="Equation" r:id="rId5" imgW="2921000" imgH="4102100" progId="Equation.3">
                  <p:embed/>
                </p:oleObj>
              </mc:Choice>
              <mc:Fallback>
                <p:oleObj name="Equation" r:id="rId5" imgW="2921000" imgH="4102100" progId="Equation.3">
                  <p:embed/>
                  <p:pic>
                    <p:nvPicPr>
                      <p:cNvPr id="33801" name="Object 10">
                        <a:extLst>
                          <a:ext uri="{FF2B5EF4-FFF2-40B4-BE49-F238E27FC236}">
                            <a16:creationId xmlns:a16="http://schemas.microsoft.com/office/drawing/2014/main" id="{828C57EF-5701-6B4B-BBFB-A7432086CD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9021" y="4526484"/>
                        <a:ext cx="554037" cy="773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" name="Group 11">
            <a:extLst>
              <a:ext uri="{FF2B5EF4-FFF2-40B4-BE49-F238E27FC236}">
                <a16:creationId xmlns:a16="http://schemas.microsoft.com/office/drawing/2014/main" id="{0D35FFCB-53ED-1349-A1C5-ADB9CBCA6B2F}"/>
              </a:ext>
            </a:extLst>
          </p:cNvPr>
          <p:cNvGrpSpPr>
            <a:grpSpLocks/>
          </p:cNvGrpSpPr>
          <p:nvPr/>
        </p:nvGrpSpPr>
        <p:grpSpPr bwMode="auto">
          <a:xfrm>
            <a:off x="5412423" y="4160839"/>
            <a:ext cx="1219200" cy="762000"/>
            <a:chOff x="2400" y="1632"/>
            <a:chExt cx="768" cy="480"/>
          </a:xfrm>
        </p:grpSpPr>
        <p:sp>
          <p:nvSpPr>
            <p:cNvPr id="42" name="AutoShape 12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2A7FF294-FBDB-8A4E-8749-C9AEB8C2D7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1680"/>
              <a:ext cx="768" cy="432"/>
            </a:xfrm>
            <a:prstGeom prst="actionButtonBlank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AU" altLang="en-US" sz="1800"/>
            </a:p>
          </p:txBody>
        </p:sp>
        <p:sp>
          <p:nvSpPr>
            <p:cNvPr id="43" name="Text Box 13">
              <a:extLst>
                <a:ext uri="{FF2B5EF4-FFF2-40B4-BE49-F238E27FC236}">
                  <a16:creationId xmlns:a16="http://schemas.microsoft.com/office/drawing/2014/main" id="{A6E1BAA7-8FE7-4C49-8C57-91D8386A78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1632"/>
              <a:ext cx="624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4400"/>
                <a:t>2</a:t>
              </a:r>
              <a:r>
                <a:rPr lang="en-US" altLang="en-US" sz="4400" baseline="30000"/>
                <a:t>nd</a:t>
              </a:r>
              <a:r>
                <a:rPr lang="en-US" altLang="en-US" sz="4400"/>
                <a:t> </a:t>
              </a:r>
            </a:p>
          </p:txBody>
        </p:sp>
      </p:grpSp>
      <p:grpSp>
        <p:nvGrpSpPr>
          <p:cNvPr id="44" name="Group 14">
            <a:extLst>
              <a:ext uri="{FF2B5EF4-FFF2-40B4-BE49-F238E27FC236}">
                <a16:creationId xmlns:a16="http://schemas.microsoft.com/office/drawing/2014/main" id="{D65239A5-D493-984E-9979-E0F4CC526609}"/>
              </a:ext>
            </a:extLst>
          </p:cNvPr>
          <p:cNvGrpSpPr>
            <a:grpSpLocks/>
          </p:cNvGrpSpPr>
          <p:nvPr/>
        </p:nvGrpSpPr>
        <p:grpSpPr bwMode="auto">
          <a:xfrm>
            <a:off x="6707823" y="4160839"/>
            <a:ext cx="1219200" cy="762000"/>
            <a:chOff x="3216" y="1632"/>
            <a:chExt cx="768" cy="480"/>
          </a:xfrm>
        </p:grpSpPr>
        <p:sp>
          <p:nvSpPr>
            <p:cNvPr id="45" name="AutoShape 15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6EE606E2-26D4-3B4F-8525-15892C10B3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1680"/>
              <a:ext cx="768" cy="432"/>
            </a:xfrm>
            <a:prstGeom prst="actionButtonBlank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6" name="Text Box 16">
              <a:extLst>
                <a:ext uri="{FF2B5EF4-FFF2-40B4-BE49-F238E27FC236}">
                  <a16:creationId xmlns:a16="http://schemas.microsoft.com/office/drawing/2014/main" id="{890EB1EB-E0C8-E441-BB9B-7041705A60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1632"/>
              <a:ext cx="672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4400">
                  <a:solidFill>
                    <a:schemeClr val="bg1"/>
                  </a:solidFill>
                </a:rPr>
                <a:t>tan </a:t>
              </a:r>
            </a:p>
          </p:txBody>
        </p:sp>
      </p:grpSp>
      <p:grpSp>
        <p:nvGrpSpPr>
          <p:cNvPr id="47" name="Group 17">
            <a:extLst>
              <a:ext uri="{FF2B5EF4-FFF2-40B4-BE49-F238E27FC236}">
                <a16:creationId xmlns:a16="http://schemas.microsoft.com/office/drawing/2014/main" id="{4947B533-A02C-D142-B92B-56486E2BCA0E}"/>
              </a:ext>
            </a:extLst>
          </p:cNvPr>
          <p:cNvGrpSpPr>
            <a:grpSpLocks/>
          </p:cNvGrpSpPr>
          <p:nvPr/>
        </p:nvGrpSpPr>
        <p:grpSpPr bwMode="auto">
          <a:xfrm>
            <a:off x="8003223" y="4237039"/>
            <a:ext cx="1219200" cy="685800"/>
            <a:chOff x="3840" y="1248"/>
            <a:chExt cx="768" cy="432"/>
          </a:xfrm>
        </p:grpSpPr>
        <p:sp>
          <p:nvSpPr>
            <p:cNvPr id="48" name="AutoShape 18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0E4F8427-6DCE-2145-9B53-1B491B9A78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248"/>
              <a:ext cx="768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9" name="Text Box 19">
              <a:extLst>
                <a:ext uri="{FF2B5EF4-FFF2-40B4-BE49-F238E27FC236}">
                  <a16:creationId xmlns:a16="http://schemas.microsoft.com/office/drawing/2014/main" id="{067525FB-B649-5844-B982-55A8519A2B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248"/>
              <a:ext cx="67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3400"/>
                <a:t>17.2 </a:t>
              </a:r>
            </a:p>
          </p:txBody>
        </p:sp>
      </p:grpSp>
      <p:grpSp>
        <p:nvGrpSpPr>
          <p:cNvPr id="50" name="Group 20">
            <a:extLst>
              <a:ext uri="{FF2B5EF4-FFF2-40B4-BE49-F238E27FC236}">
                <a16:creationId xmlns:a16="http://schemas.microsoft.com/office/drawing/2014/main" id="{4BE81173-8F15-C741-95E7-CB4EEDC8132B}"/>
              </a:ext>
            </a:extLst>
          </p:cNvPr>
          <p:cNvGrpSpPr>
            <a:grpSpLocks/>
          </p:cNvGrpSpPr>
          <p:nvPr/>
        </p:nvGrpSpPr>
        <p:grpSpPr bwMode="auto">
          <a:xfrm>
            <a:off x="9298623" y="4237039"/>
            <a:ext cx="838200" cy="609600"/>
            <a:chOff x="4656" y="1248"/>
            <a:chExt cx="528" cy="384"/>
          </a:xfrm>
        </p:grpSpPr>
        <p:sp>
          <p:nvSpPr>
            <p:cNvPr id="51" name="AutoShape 21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8A16F1CB-0961-FF42-96B1-5DADE499BC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1248"/>
              <a:ext cx="528" cy="384"/>
            </a:xfrm>
            <a:prstGeom prst="actionButtonBlank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graphicFrame>
          <p:nvGraphicFramePr>
            <p:cNvPr id="52" name="Object 22">
              <a:extLst>
                <a:ext uri="{FF2B5EF4-FFF2-40B4-BE49-F238E27FC236}">
                  <a16:creationId xmlns:a16="http://schemas.microsoft.com/office/drawing/2014/main" id="{4E46B5F1-0A75-0D48-9FA5-1855C28BDAE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60" y="1248"/>
            <a:ext cx="376" cy="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554" name="Equation" r:id="rId7" imgW="2921000" imgH="2921000" progId="Equation.3">
                    <p:embed/>
                  </p:oleObj>
                </mc:Choice>
                <mc:Fallback>
                  <p:oleObj name="Equation" r:id="rId7" imgW="2921000" imgH="2921000" progId="Equation.3">
                    <p:embed/>
                    <p:pic>
                      <p:nvPicPr>
                        <p:cNvPr id="33818" name="Object 22">
                          <a:extLst>
                            <a:ext uri="{FF2B5EF4-FFF2-40B4-BE49-F238E27FC236}">
                              <a16:creationId xmlns:a16="http://schemas.microsoft.com/office/drawing/2014/main" id="{78B94E1F-2F47-F343-97E9-22278CC8C00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0" y="1248"/>
                          <a:ext cx="376" cy="3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3" name="Group 23">
            <a:extLst>
              <a:ext uri="{FF2B5EF4-FFF2-40B4-BE49-F238E27FC236}">
                <a16:creationId xmlns:a16="http://schemas.microsoft.com/office/drawing/2014/main" id="{46C064DB-CF21-C346-B9BE-74196CE7DC6F}"/>
              </a:ext>
            </a:extLst>
          </p:cNvPr>
          <p:cNvGrpSpPr>
            <a:grpSpLocks/>
          </p:cNvGrpSpPr>
          <p:nvPr/>
        </p:nvGrpSpPr>
        <p:grpSpPr bwMode="auto">
          <a:xfrm>
            <a:off x="10213023" y="4237039"/>
            <a:ext cx="762000" cy="685800"/>
            <a:chOff x="5232" y="1248"/>
            <a:chExt cx="480" cy="432"/>
          </a:xfrm>
        </p:grpSpPr>
        <p:sp>
          <p:nvSpPr>
            <p:cNvPr id="54" name="AutoShape 24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B4D280E9-37F1-9C4F-849A-88E22BE194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5" name="Text Box 25">
              <a:extLst>
                <a:ext uri="{FF2B5EF4-FFF2-40B4-BE49-F238E27FC236}">
                  <a16:creationId xmlns:a16="http://schemas.microsoft.com/office/drawing/2014/main" id="{04363C42-980C-5C4D-8A72-B9D2050C53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1248"/>
              <a:ext cx="336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3400"/>
                <a:t>9</a:t>
              </a:r>
            </a:p>
          </p:txBody>
        </p:sp>
      </p:grpSp>
      <p:graphicFrame>
        <p:nvGraphicFramePr>
          <p:cNvPr id="56" name="Object 26">
            <a:extLst>
              <a:ext uri="{FF2B5EF4-FFF2-40B4-BE49-F238E27FC236}">
                <a16:creationId xmlns:a16="http://schemas.microsoft.com/office/drawing/2014/main" id="{53950C9F-81B8-8D43-A616-6FCF21B724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6816553"/>
              </p:ext>
            </p:extLst>
          </p:nvPr>
        </p:nvGraphicFramePr>
        <p:xfrm>
          <a:off x="7159943" y="5501371"/>
          <a:ext cx="4864100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55" name="Equation" r:id="rId9" imgW="19304000" imgH="4102100" progId="Equation.3">
                  <p:embed/>
                </p:oleObj>
              </mc:Choice>
              <mc:Fallback>
                <p:oleObj name="Equation" r:id="rId9" imgW="19304000" imgH="4102100" progId="Equation.3">
                  <p:embed/>
                  <p:pic>
                    <p:nvPicPr>
                      <p:cNvPr id="40986" name="Object 26">
                        <a:extLst>
                          <a:ext uri="{FF2B5EF4-FFF2-40B4-BE49-F238E27FC236}">
                            <a16:creationId xmlns:a16="http://schemas.microsoft.com/office/drawing/2014/main" id="{E2A5A98D-3CDE-184A-9A39-2C4C8357C5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9943" y="5501371"/>
                        <a:ext cx="4864100" cy="1033463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7" name="Group 27">
            <a:extLst>
              <a:ext uri="{FF2B5EF4-FFF2-40B4-BE49-F238E27FC236}">
                <a16:creationId xmlns:a16="http://schemas.microsoft.com/office/drawing/2014/main" id="{AE75D341-F168-534A-A085-446CE2B6D450}"/>
              </a:ext>
            </a:extLst>
          </p:cNvPr>
          <p:cNvGrpSpPr>
            <a:grpSpLocks/>
          </p:cNvGrpSpPr>
          <p:nvPr/>
        </p:nvGrpSpPr>
        <p:grpSpPr bwMode="auto">
          <a:xfrm>
            <a:off x="11051223" y="4237039"/>
            <a:ext cx="762000" cy="685800"/>
            <a:chOff x="5232" y="1248"/>
            <a:chExt cx="480" cy="432"/>
          </a:xfrm>
        </p:grpSpPr>
        <p:sp>
          <p:nvSpPr>
            <p:cNvPr id="58" name="AutoShape 28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8EB6F205-D7B3-8144-A7BC-E9D1B40CF6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9" name="Text Box 29">
              <a:extLst>
                <a:ext uri="{FF2B5EF4-FFF2-40B4-BE49-F238E27FC236}">
                  <a16:creationId xmlns:a16="http://schemas.microsoft.com/office/drawing/2014/main" id="{BC16CA05-E339-F54E-A484-E159C1DAF0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1248"/>
              <a:ext cx="336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3400"/>
                <a:t>)</a:t>
              </a:r>
            </a:p>
          </p:txBody>
        </p:sp>
      </p:grpSp>
      <p:sp>
        <p:nvSpPr>
          <p:cNvPr id="60" name="Text Box 30">
            <a:extLst>
              <a:ext uri="{FF2B5EF4-FFF2-40B4-BE49-F238E27FC236}">
                <a16:creationId xmlns:a16="http://schemas.microsoft.com/office/drawing/2014/main" id="{86E24F8E-8BA8-A743-ABFB-5629FFF579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248" y="5801795"/>
            <a:ext cx="6172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dirty="0">
                <a:latin typeface="Century Gothic" panose="020B0502020202020204" pitchFamily="34" charset="0"/>
              </a:rPr>
              <a:t>Shrink yourself down and stand where the angle is.</a:t>
            </a:r>
          </a:p>
        </p:txBody>
      </p:sp>
      <p:pic>
        <p:nvPicPr>
          <p:cNvPr id="61" name="Picture 31" descr="MCj00787170000[1]">
            <a:extLst>
              <a:ext uri="{FF2B5EF4-FFF2-40B4-BE49-F238E27FC236}">
                <a16:creationId xmlns:a16="http://schemas.microsoft.com/office/drawing/2014/main" id="{ADD9F9AF-D849-7D46-9E4C-5B14C659D2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546" y="4755083"/>
            <a:ext cx="2301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" name="Text Box 32">
            <a:extLst>
              <a:ext uri="{FF2B5EF4-FFF2-40B4-BE49-F238E27FC236}">
                <a16:creationId xmlns:a16="http://schemas.microsoft.com/office/drawing/2014/main" id="{EDF2AA22-F314-EC46-8C58-3C9C5E2B14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393" y="6211669"/>
            <a:ext cx="64008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i="1">
                <a:latin typeface="Century Gothic" panose="020B0502020202020204" pitchFamily="34" charset="0"/>
              </a:rPr>
              <a:t>Now, figure out which trig ratio you have and set up the problem.</a:t>
            </a:r>
          </a:p>
        </p:txBody>
      </p:sp>
      <p:graphicFrame>
        <p:nvGraphicFramePr>
          <p:cNvPr id="63" name="Object 62">
            <a:extLst>
              <a:ext uri="{FF2B5EF4-FFF2-40B4-BE49-F238E27FC236}">
                <a16:creationId xmlns:a16="http://schemas.microsoft.com/office/drawing/2014/main" id="{082B1AD0-EE42-F946-8C5E-250CE631A1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5369548"/>
              </p:ext>
            </p:extLst>
          </p:nvPr>
        </p:nvGraphicFramePr>
        <p:xfrm>
          <a:off x="8628698" y="3011489"/>
          <a:ext cx="2890838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56" name="Equation" r:id="rId12" imgW="22821900" imgH="9067800" progId="Equation.3">
                  <p:embed/>
                </p:oleObj>
              </mc:Choice>
              <mc:Fallback>
                <p:oleObj name="Equation" r:id="rId12" imgW="22821900" imgH="9067800" progId="Equation.3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7961B608-2F1B-8346-BBFC-77DA0C8476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28698" y="3011489"/>
                        <a:ext cx="2890838" cy="1149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" name="Rectangle 2">
            <a:extLst>
              <a:ext uri="{FF2B5EF4-FFF2-40B4-BE49-F238E27FC236}">
                <a16:creationId xmlns:a16="http://schemas.microsoft.com/office/drawing/2014/main" id="{8014C9AD-0EBF-7442-A4FA-095D3D506D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17396" y="1874103"/>
            <a:ext cx="9144000" cy="762000"/>
          </a:xfrm>
        </p:spPr>
        <p:txBody>
          <a:bodyPr/>
          <a:lstStyle/>
          <a:p>
            <a:pPr algn="l"/>
            <a:r>
              <a:rPr lang="en-US" altLang="en-US" sz="3200" b="1" dirty="0">
                <a:solidFill>
                  <a:schemeClr val="tx1"/>
                </a:solidFill>
              </a:rPr>
              <a:t>Ex. 1: Find </a:t>
            </a:r>
            <a:r>
              <a:rPr lang="en-US" altLang="en-US" sz="3200" b="1" dirty="0">
                <a:solidFill>
                  <a:schemeClr val="tx1"/>
                </a:solidFill>
                <a:sym typeface="Symbol" pitchFamily="2" charset="2"/>
              </a:rPr>
              <a:t>.  Round to four decimal places.</a:t>
            </a:r>
            <a:endParaRPr lang="en-US" altLang="en-US" sz="3200" b="1" dirty="0">
              <a:solidFill>
                <a:schemeClr val="tx1"/>
              </a:solidFill>
            </a:endParaRPr>
          </a:p>
        </p:txBody>
      </p:sp>
      <p:grpSp>
        <p:nvGrpSpPr>
          <p:cNvPr id="65" name="Group 27">
            <a:extLst>
              <a:ext uri="{FF2B5EF4-FFF2-40B4-BE49-F238E27FC236}">
                <a16:creationId xmlns:a16="http://schemas.microsoft.com/office/drawing/2014/main" id="{C43F6463-58B5-8140-89C2-8917E7782397}"/>
              </a:ext>
            </a:extLst>
          </p:cNvPr>
          <p:cNvGrpSpPr>
            <a:grpSpLocks/>
          </p:cNvGrpSpPr>
          <p:nvPr/>
        </p:nvGrpSpPr>
        <p:grpSpPr bwMode="auto">
          <a:xfrm>
            <a:off x="7653973" y="4237039"/>
            <a:ext cx="533400" cy="685800"/>
            <a:chOff x="5040" y="1248"/>
            <a:chExt cx="672" cy="432"/>
          </a:xfrm>
        </p:grpSpPr>
        <p:sp>
          <p:nvSpPr>
            <p:cNvPr id="66" name="AutoShape 28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4289A882-BA5B-0140-ABBC-EAF4743128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0" y="1248"/>
              <a:ext cx="672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67" name="Text Box 29">
              <a:extLst>
                <a:ext uri="{FF2B5EF4-FFF2-40B4-BE49-F238E27FC236}">
                  <a16:creationId xmlns:a16="http://schemas.microsoft.com/office/drawing/2014/main" id="{1C39C4E9-66E6-2E4D-B8FE-252DFFC3F5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8" y="1248"/>
              <a:ext cx="557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3400" dirty="0"/>
                <a:t>(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05822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500"/>
                            </p:stCondLst>
                            <p:childTnLst>
                              <p:par>
                                <p:cTn id="5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000"/>
                            </p:stCondLst>
                            <p:childTnLst>
                              <p:par>
                                <p:cTn id="6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6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3330773C-BD69-3942-9BBD-3B107F4D1C8D}"/>
              </a:ext>
            </a:extLst>
          </p:cNvPr>
          <p:cNvSpPr txBox="1">
            <a:spLocks/>
          </p:cNvSpPr>
          <p:nvPr/>
        </p:nvSpPr>
        <p:spPr bwMode="black">
          <a:xfrm>
            <a:off x="252248" y="466344"/>
            <a:ext cx="10656544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Topic: Trigonometry</a:t>
            </a:r>
            <a:br>
              <a:rPr lang="en-US" dirty="0"/>
            </a:br>
            <a:r>
              <a:rPr lang="en-US" dirty="0"/>
              <a:t>EQ: What steps are similar and different in finding missing side lengths and missing angles?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7B0E5080-53BD-2847-827C-381A1E246BD9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1787207" y="2552680"/>
            <a:ext cx="1371600" cy="3429000"/>
          </a:xfrm>
          <a:prstGeom prst="rtTriangle">
            <a:avLst/>
          </a:prstGeom>
          <a:solidFill>
            <a:srgbClr val="FF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AU" alt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DCD316-C297-BA49-8BC4-528BC05CA9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93820" y="1787506"/>
            <a:ext cx="9144000" cy="762000"/>
          </a:xfrm>
        </p:spPr>
        <p:txBody>
          <a:bodyPr/>
          <a:lstStyle/>
          <a:p>
            <a:pPr algn="l"/>
            <a:r>
              <a:rPr lang="en-US" altLang="en-US" sz="3200" b="1">
                <a:solidFill>
                  <a:schemeClr val="tx1"/>
                </a:solidFill>
              </a:rPr>
              <a:t>Ex. 2: Find </a:t>
            </a:r>
            <a:r>
              <a:rPr lang="en-US" altLang="en-US" sz="3200" b="1">
                <a:solidFill>
                  <a:schemeClr val="tx1"/>
                </a:solidFill>
                <a:sym typeface="Symbol" pitchFamily="2" charset="2"/>
              </a:rPr>
              <a:t>.  Round to three decimal places.</a:t>
            </a:r>
            <a:endParaRPr lang="en-US" altLang="en-US" sz="3200" b="1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20CFFE-DED4-AC40-9CB9-3F44D50A8A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2894" y="2552680"/>
            <a:ext cx="304800" cy="336550"/>
          </a:xfrm>
          <a:prstGeom prst="rect">
            <a:avLst/>
          </a:prstGeom>
          <a:solidFill>
            <a:srgbClr val="FF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AU" altLang="en-US" sz="1800"/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AFFDF582-3B82-9E43-9263-88C80161C3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3695" y="3695681"/>
            <a:ext cx="1223963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3000"/>
              <a:t>23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C51E9205-9524-C84E-B1B1-CC1459D5D4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3295" y="2019281"/>
            <a:ext cx="1012825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3000"/>
              <a:t>7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509AEA02-B15A-6342-8213-BED7704AC7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1580" y="6208531"/>
            <a:ext cx="8610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 i="1" dirty="0"/>
              <a:t>Make sure you are in degree mode (not radians).</a:t>
            </a:r>
          </a:p>
        </p:txBody>
      </p:sp>
      <p:graphicFrame>
        <p:nvGraphicFramePr>
          <p:cNvPr id="9" name="Object 9">
            <a:extLst>
              <a:ext uri="{FF2B5EF4-FFF2-40B4-BE49-F238E27FC236}">
                <a16:creationId xmlns:a16="http://schemas.microsoft.com/office/drawing/2014/main" id="{BDF32879-25A4-D64E-B8AA-5A81D3539C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9065616"/>
              </p:ext>
            </p:extLst>
          </p:nvPr>
        </p:nvGraphicFramePr>
        <p:xfrm>
          <a:off x="6650355" y="2568556"/>
          <a:ext cx="1963738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76" name="Equation" r:id="rId3" imgW="15506700" imgH="9067800" progId="Equation.3">
                  <p:embed/>
                </p:oleObj>
              </mc:Choice>
              <mc:Fallback>
                <p:oleObj name="Equation" r:id="rId3" imgW="15506700" imgH="9067800" progId="Equation.3">
                  <p:embed/>
                  <p:pic>
                    <p:nvPicPr>
                      <p:cNvPr id="41993" name="Object 9">
                        <a:extLst>
                          <a:ext uri="{FF2B5EF4-FFF2-40B4-BE49-F238E27FC236}">
                            <a16:creationId xmlns:a16="http://schemas.microsoft.com/office/drawing/2014/main" id="{34DCFCF3-9531-D143-9DAE-8186E92788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0355" y="2568556"/>
                        <a:ext cx="1963738" cy="1149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>
            <a:extLst>
              <a:ext uri="{FF2B5EF4-FFF2-40B4-BE49-F238E27FC236}">
                <a16:creationId xmlns:a16="http://schemas.microsoft.com/office/drawing/2014/main" id="{A4D7871C-99E8-0A4C-99E8-243ADA6DCF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9418100"/>
              </p:ext>
            </p:extLst>
          </p:nvPr>
        </p:nvGraphicFramePr>
        <p:xfrm>
          <a:off x="2025332" y="2552680"/>
          <a:ext cx="436562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77" name="Equation" r:id="rId5" imgW="2921000" imgH="4102100" progId="Equation.3">
                  <p:embed/>
                </p:oleObj>
              </mc:Choice>
              <mc:Fallback>
                <p:oleObj name="Equation" r:id="rId5" imgW="2921000" imgH="4102100" progId="Equation.3">
                  <p:embed/>
                  <p:pic>
                    <p:nvPicPr>
                      <p:cNvPr id="35849" name="Object 10">
                        <a:extLst>
                          <a:ext uri="{FF2B5EF4-FFF2-40B4-BE49-F238E27FC236}">
                            <a16:creationId xmlns:a16="http://schemas.microsoft.com/office/drawing/2014/main" id="{74FFDF1A-6795-D549-850D-E9DD4CF30C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5332" y="2552680"/>
                        <a:ext cx="436562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oup 11">
            <a:extLst>
              <a:ext uri="{FF2B5EF4-FFF2-40B4-BE49-F238E27FC236}">
                <a16:creationId xmlns:a16="http://schemas.microsoft.com/office/drawing/2014/main" id="{4832EAE0-F5F9-6448-8152-F66826426FBE}"/>
              </a:ext>
            </a:extLst>
          </p:cNvPr>
          <p:cNvGrpSpPr>
            <a:grpSpLocks/>
          </p:cNvGrpSpPr>
          <p:nvPr/>
        </p:nvGrpSpPr>
        <p:grpSpPr bwMode="auto">
          <a:xfrm>
            <a:off x="5212080" y="3698856"/>
            <a:ext cx="1219200" cy="762000"/>
            <a:chOff x="2400" y="1632"/>
            <a:chExt cx="768" cy="480"/>
          </a:xfrm>
        </p:grpSpPr>
        <p:sp>
          <p:nvSpPr>
            <p:cNvPr id="12" name="AutoShape 12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7E853D09-1F13-5C4B-BF6D-143AB40168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1680"/>
              <a:ext cx="768" cy="432"/>
            </a:xfrm>
            <a:prstGeom prst="actionButtonBlank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AU" altLang="en-US" sz="1800"/>
            </a:p>
          </p:txBody>
        </p:sp>
        <p:sp>
          <p:nvSpPr>
            <p:cNvPr id="13" name="Text Box 13">
              <a:extLst>
                <a:ext uri="{FF2B5EF4-FFF2-40B4-BE49-F238E27FC236}">
                  <a16:creationId xmlns:a16="http://schemas.microsoft.com/office/drawing/2014/main" id="{43FD147A-12A1-7A48-B8AD-AAB64A1CCC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1632"/>
              <a:ext cx="624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4400"/>
                <a:t>2</a:t>
              </a:r>
              <a:r>
                <a:rPr lang="en-US" altLang="en-US" sz="4400" baseline="30000"/>
                <a:t>nd</a:t>
              </a:r>
              <a:r>
                <a:rPr lang="en-US" altLang="en-US" sz="4400"/>
                <a:t> 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9A064E74-C5AE-5346-AD0C-478AB1A298A9}"/>
              </a:ext>
            </a:extLst>
          </p:cNvPr>
          <p:cNvGrpSpPr>
            <a:grpSpLocks/>
          </p:cNvGrpSpPr>
          <p:nvPr/>
        </p:nvGrpSpPr>
        <p:grpSpPr bwMode="auto">
          <a:xfrm>
            <a:off x="6507480" y="3698856"/>
            <a:ext cx="1295400" cy="769938"/>
            <a:chOff x="3216" y="1632"/>
            <a:chExt cx="816" cy="485"/>
          </a:xfrm>
        </p:grpSpPr>
        <p:sp>
          <p:nvSpPr>
            <p:cNvPr id="15" name="AutoShape 15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6E2855F8-49FE-5B41-A762-9092EFBB5A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1680"/>
              <a:ext cx="768" cy="432"/>
            </a:xfrm>
            <a:prstGeom prst="actionButtonBlank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6" name="Text Box 16">
              <a:extLst>
                <a:ext uri="{FF2B5EF4-FFF2-40B4-BE49-F238E27FC236}">
                  <a16:creationId xmlns:a16="http://schemas.microsoft.com/office/drawing/2014/main" id="{3DDE3686-0882-A445-A0F3-B3FEC351FE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1632"/>
              <a:ext cx="816" cy="4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4400">
                  <a:solidFill>
                    <a:schemeClr val="bg1"/>
                  </a:solidFill>
                </a:rPr>
                <a:t>cos 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42A82A28-24CC-844E-9A5C-5BDFEA41FEBC}"/>
              </a:ext>
            </a:extLst>
          </p:cNvPr>
          <p:cNvGrpSpPr>
            <a:grpSpLocks/>
          </p:cNvGrpSpPr>
          <p:nvPr/>
        </p:nvGrpSpPr>
        <p:grpSpPr bwMode="auto">
          <a:xfrm>
            <a:off x="7978298" y="3775056"/>
            <a:ext cx="838200" cy="685800"/>
            <a:chOff x="3840" y="1248"/>
            <a:chExt cx="768" cy="432"/>
          </a:xfrm>
        </p:grpSpPr>
        <p:sp>
          <p:nvSpPr>
            <p:cNvPr id="18" name="AutoShape 18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6B6E9675-D143-0F42-9F8B-14626047C3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248"/>
              <a:ext cx="768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9" name="Text Box 19">
              <a:extLst>
                <a:ext uri="{FF2B5EF4-FFF2-40B4-BE49-F238E27FC236}">
                  <a16:creationId xmlns:a16="http://schemas.microsoft.com/office/drawing/2014/main" id="{CC4242E3-250D-074F-B588-7653F124AB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248"/>
              <a:ext cx="67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3400"/>
                <a:t>7 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032F29E4-5194-4D4F-8108-DC942A8227FE}"/>
              </a:ext>
            </a:extLst>
          </p:cNvPr>
          <p:cNvGrpSpPr>
            <a:grpSpLocks/>
          </p:cNvGrpSpPr>
          <p:nvPr/>
        </p:nvGrpSpPr>
        <p:grpSpPr bwMode="auto">
          <a:xfrm>
            <a:off x="8793480" y="3775056"/>
            <a:ext cx="838200" cy="609600"/>
            <a:chOff x="4656" y="1248"/>
            <a:chExt cx="528" cy="384"/>
          </a:xfrm>
        </p:grpSpPr>
        <p:sp>
          <p:nvSpPr>
            <p:cNvPr id="21" name="AutoShape 21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17ECB426-8DA1-BE4C-9F51-09451E1530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1248"/>
              <a:ext cx="528" cy="384"/>
            </a:xfrm>
            <a:prstGeom prst="actionButtonBlank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graphicFrame>
          <p:nvGraphicFramePr>
            <p:cNvPr id="22" name="Object 22">
              <a:extLst>
                <a:ext uri="{FF2B5EF4-FFF2-40B4-BE49-F238E27FC236}">
                  <a16:creationId xmlns:a16="http://schemas.microsoft.com/office/drawing/2014/main" id="{A0AD880C-A9EB-504C-95AC-A96E1BBE35A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60" y="1248"/>
            <a:ext cx="376" cy="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578" name="Equation" r:id="rId7" imgW="2921000" imgH="2921000" progId="Equation.3">
                    <p:embed/>
                  </p:oleObj>
                </mc:Choice>
                <mc:Fallback>
                  <p:oleObj name="Equation" r:id="rId7" imgW="2921000" imgH="2921000" progId="Equation.3">
                    <p:embed/>
                    <p:pic>
                      <p:nvPicPr>
                        <p:cNvPr id="35864" name="Object 22">
                          <a:extLst>
                            <a:ext uri="{FF2B5EF4-FFF2-40B4-BE49-F238E27FC236}">
                              <a16:creationId xmlns:a16="http://schemas.microsoft.com/office/drawing/2014/main" id="{19B26EB1-123E-9F42-9D02-EFBED593CAA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0" y="1248"/>
                          <a:ext cx="376" cy="3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427A3E35-AB44-B843-B2E2-555AE97DEFCC}"/>
              </a:ext>
            </a:extLst>
          </p:cNvPr>
          <p:cNvGrpSpPr>
            <a:grpSpLocks/>
          </p:cNvGrpSpPr>
          <p:nvPr/>
        </p:nvGrpSpPr>
        <p:grpSpPr bwMode="auto">
          <a:xfrm>
            <a:off x="9707880" y="3775056"/>
            <a:ext cx="1066800" cy="685800"/>
            <a:chOff x="5232" y="1248"/>
            <a:chExt cx="480" cy="432"/>
          </a:xfrm>
        </p:grpSpPr>
        <p:sp>
          <p:nvSpPr>
            <p:cNvPr id="24" name="AutoShape 24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B53CD970-F6B5-524E-952A-9831AB195D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5" name="Text Box 25">
              <a:extLst>
                <a:ext uri="{FF2B5EF4-FFF2-40B4-BE49-F238E27FC236}">
                  <a16:creationId xmlns:a16="http://schemas.microsoft.com/office/drawing/2014/main" id="{488E2C0A-B5D1-DE41-A39A-4F3A1FC230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1248"/>
              <a:ext cx="336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3400"/>
                <a:t>23</a:t>
              </a:r>
            </a:p>
          </p:txBody>
        </p:sp>
      </p:grpSp>
      <p:graphicFrame>
        <p:nvGraphicFramePr>
          <p:cNvPr id="26" name="Object 26">
            <a:extLst>
              <a:ext uri="{FF2B5EF4-FFF2-40B4-BE49-F238E27FC236}">
                <a16:creationId xmlns:a16="http://schemas.microsoft.com/office/drawing/2014/main" id="{E970DB82-2AB2-0844-A009-F2A79A186C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3545563"/>
              </p:ext>
            </p:extLst>
          </p:nvPr>
        </p:nvGraphicFramePr>
        <p:xfrm>
          <a:off x="7486968" y="5005999"/>
          <a:ext cx="4422775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79" name="Equation" r:id="rId9" imgW="17551400" imgH="4102100" progId="Equation.3">
                  <p:embed/>
                </p:oleObj>
              </mc:Choice>
              <mc:Fallback>
                <p:oleObj name="Equation" r:id="rId9" imgW="17551400" imgH="4102100" progId="Equation.3">
                  <p:embed/>
                  <p:pic>
                    <p:nvPicPr>
                      <p:cNvPr id="42010" name="Object 26">
                        <a:extLst>
                          <a:ext uri="{FF2B5EF4-FFF2-40B4-BE49-F238E27FC236}">
                            <a16:creationId xmlns:a16="http://schemas.microsoft.com/office/drawing/2014/main" id="{03575BB4-C616-2E49-BE5B-D882F38E68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6968" y="5005999"/>
                        <a:ext cx="4422775" cy="1033463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Group 27">
            <a:extLst>
              <a:ext uri="{FF2B5EF4-FFF2-40B4-BE49-F238E27FC236}">
                <a16:creationId xmlns:a16="http://schemas.microsoft.com/office/drawing/2014/main" id="{C3FD07B9-44C2-A74C-9A1F-8D2C6E752CAA}"/>
              </a:ext>
            </a:extLst>
          </p:cNvPr>
          <p:cNvGrpSpPr>
            <a:grpSpLocks/>
          </p:cNvGrpSpPr>
          <p:nvPr/>
        </p:nvGrpSpPr>
        <p:grpSpPr bwMode="auto">
          <a:xfrm>
            <a:off x="10850880" y="3775056"/>
            <a:ext cx="762000" cy="685800"/>
            <a:chOff x="5232" y="1248"/>
            <a:chExt cx="480" cy="432"/>
          </a:xfrm>
        </p:grpSpPr>
        <p:sp>
          <p:nvSpPr>
            <p:cNvPr id="29" name="AutoShape 28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22C30D80-0723-6F4B-A359-F7BDC713FC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" name="Text Box 29">
              <a:extLst>
                <a:ext uri="{FF2B5EF4-FFF2-40B4-BE49-F238E27FC236}">
                  <a16:creationId xmlns:a16="http://schemas.microsoft.com/office/drawing/2014/main" id="{AC884C8E-117B-9045-9B0C-E115B55AA3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1248"/>
              <a:ext cx="336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3400"/>
                <a:t>)</a:t>
              </a:r>
            </a:p>
          </p:txBody>
        </p:sp>
      </p:grpSp>
      <p:pic>
        <p:nvPicPr>
          <p:cNvPr id="31" name="Picture 31" descr="MCj00787170000[1]">
            <a:extLst>
              <a:ext uri="{FF2B5EF4-FFF2-40B4-BE49-F238E27FC236}">
                <a16:creationId xmlns:a16="http://schemas.microsoft.com/office/drawing/2014/main" id="{D164943E-5032-6745-B22E-621B05EA3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926908" y="2527280"/>
            <a:ext cx="2301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2" name="Object 31">
            <a:extLst>
              <a:ext uri="{FF2B5EF4-FFF2-40B4-BE49-F238E27FC236}">
                <a16:creationId xmlns:a16="http://schemas.microsoft.com/office/drawing/2014/main" id="{39A272D1-8963-A342-8D52-275281EE4B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1236472"/>
              </p:ext>
            </p:extLst>
          </p:nvPr>
        </p:nvGraphicFramePr>
        <p:xfrm>
          <a:off x="8782369" y="2549506"/>
          <a:ext cx="2630487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80" name="Equation" r:id="rId12" imgW="20777200" imgH="9067800" progId="Equation.3">
                  <p:embed/>
                </p:oleObj>
              </mc:Choice>
              <mc:Fallback>
                <p:oleObj name="Equation" r:id="rId12" imgW="20777200" imgH="9067800" progId="Equation.3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6DAA7F54-6207-C24C-876D-B04077F709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82369" y="2549506"/>
                        <a:ext cx="2630487" cy="1149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" name="Group 27">
            <a:extLst>
              <a:ext uri="{FF2B5EF4-FFF2-40B4-BE49-F238E27FC236}">
                <a16:creationId xmlns:a16="http://schemas.microsoft.com/office/drawing/2014/main" id="{4F85803B-DBC6-CE44-B82D-65BA3EDFDDB1}"/>
              </a:ext>
            </a:extLst>
          </p:cNvPr>
          <p:cNvGrpSpPr>
            <a:grpSpLocks/>
          </p:cNvGrpSpPr>
          <p:nvPr/>
        </p:nvGrpSpPr>
        <p:grpSpPr bwMode="auto">
          <a:xfrm>
            <a:off x="7452043" y="3767118"/>
            <a:ext cx="533400" cy="685800"/>
            <a:chOff x="5040" y="1248"/>
            <a:chExt cx="672" cy="432"/>
          </a:xfrm>
        </p:grpSpPr>
        <p:sp>
          <p:nvSpPr>
            <p:cNvPr id="34" name="AutoShape 28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342F1670-A8D6-A642-93FD-542433B6B1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0" y="1248"/>
              <a:ext cx="672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5" name="Text Box 29">
              <a:extLst>
                <a:ext uri="{FF2B5EF4-FFF2-40B4-BE49-F238E27FC236}">
                  <a16:creationId xmlns:a16="http://schemas.microsoft.com/office/drawing/2014/main" id="{4E796C79-B8AF-144D-AEBE-BF12897D1A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8" y="1248"/>
              <a:ext cx="557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3400" dirty="0"/>
                <a:t>(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12957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50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000"/>
                            </p:stCondLst>
                            <p:childTnLst>
                              <p:par>
                                <p:cTn id="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3330773C-BD69-3942-9BBD-3B107F4D1C8D}"/>
              </a:ext>
            </a:extLst>
          </p:cNvPr>
          <p:cNvSpPr txBox="1">
            <a:spLocks/>
          </p:cNvSpPr>
          <p:nvPr/>
        </p:nvSpPr>
        <p:spPr bwMode="black">
          <a:xfrm>
            <a:off x="252248" y="466344"/>
            <a:ext cx="10656544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Topic: Trigonometry</a:t>
            </a:r>
            <a:br>
              <a:rPr lang="en-US" dirty="0"/>
            </a:br>
            <a:r>
              <a:rPr lang="en-US" dirty="0"/>
              <a:t>EQ: What steps are similar and different in finding missing side lengths and missing angles?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9544C3C0-46D2-2F4B-A6D4-A6E7069076B6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1024637" y="3292272"/>
            <a:ext cx="4419600" cy="2438400"/>
          </a:xfrm>
          <a:prstGeom prst="rtTriangle">
            <a:avLst/>
          </a:prstGeom>
          <a:solidFill>
            <a:srgbClr val="FFCC66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AU" alt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AF4721-E3F7-3242-9C36-E731D82079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2248" y="1880226"/>
            <a:ext cx="9144000" cy="762000"/>
          </a:xfrm>
        </p:spPr>
        <p:txBody>
          <a:bodyPr/>
          <a:lstStyle/>
          <a:p>
            <a:pPr algn="l"/>
            <a:r>
              <a:rPr lang="en-US" altLang="en-US" sz="3200" b="1" dirty="0">
                <a:solidFill>
                  <a:schemeClr val="tx1"/>
                </a:solidFill>
              </a:rPr>
              <a:t>Ex. 3: Find </a:t>
            </a:r>
            <a:r>
              <a:rPr lang="en-US" altLang="en-US" sz="3200" b="1" dirty="0">
                <a:solidFill>
                  <a:schemeClr val="tx1"/>
                </a:solidFill>
                <a:sym typeface="Symbol" pitchFamily="2" charset="2"/>
              </a:rPr>
              <a:t>.  Round to three decimal places.</a:t>
            </a:r>
            <a:endParaRPr lang="en-US" altLang="en-US" sz="3200" b="1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6CA854-DB37-6242-910C-71C1E564B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2528" y="3314916"/>
            <a:ext cx="304800" cy="336550"/>
          </a:xfrm>
          <a:prstGeom prst="rect">
            <a:avLst/>
          </a:prstGeom>
          <a:solidFill>
            <a:srgbClr val="FFCC66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AU" altLang="en-US" sz="1800"/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4CA69A64-6B8C-DE47-9576-DFE54DAB213F}"/>
              </a:ext>
            </a:extLst>
          </p:cNvPr>
          <p:cNvSpPr txBox="1">
            <a:spLocks noChangeArrowheads="1"/>
          </p:cNvSpPr>
          <p:nvPr/>
        </p:nvSpPr>
        <p:spPr bwMode="auto">
          <a:xfrm rot="19624798">
            <a:off x="2434129" y="4610317"/>
            <a:ext cx="1223963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3000"/>
              <a:t>400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1BF37A44-CAAC-6543-9CDE-8BED21C199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248" y="3921557"/>
            <a:ext cx="1012826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3000" dirty="0"/>
              <a:t>200</a:t>
            </a:r>
          </a:p>
        </p:txBody>
      </p:sp>
      <p:graphicFrame>
        <p:nvGraphicFramePr>
          <p:cNvPr id="8" name="Object 9">
            <a:extLst>
              <a:ext uri="{FF2B5EF4-FFF2-40B4-BE49-F238E27FC236}">
                <a16:creationId xmlns:a16="http://schemas.microsoft.com/office/drawing/2014/main" id="{D7DDC1AB-AB14-8543-906B-DA718922A3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1809208"/>
              </p:ext>
            </p:extLst>
          </p:nvPr>
        </p:nvGraphicFramePr>
        <p:xfrm>
          <a:off x="9554957" y="1879600"/>
          <a:ext cx="2149475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00" name="Equation" r:id="rId3" imgW="16967200" imgH="9067800" progId="Equation.3">
                  <p:embed/>
                </p:oleObj>
              </mc:Choice>
              <mc:Fallback>
                <p:oleObj name="Equation" r:id="rId3" imgW="16967200" imgH="9067800" progId="Equation.3">
                  <p:embed/>
                  <p:pic>
                    <p:nvPicPr>
                      <p:cNvPr id="43017" name="Object 9">
                        <a:extLst>
                          <a:ext uri="{FF2B5EF4-FFF2-40B4-BE49-F238E27FC236}">
                            <a16:creationId xmlns:a16="http://schemas.microsoft.com/office/drawing/2014/main" id="{1DD01964-96A4-9D4D-8C89-CA2A245A40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54957" y="1879600"/>
                        <a:ext cx="2149475" cy="1149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0">
            <a:extLst>
              <a:ext uri="{FF2B5EF4-FFF2-40B4-BE49-F238E27FC236}">
                <a16:creationId xmlns:a16="http://schemas.microsoft.com/office/drawing/2014/main" id="{0BDBC6F8-3F69-8442-B45A-34A7702798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5834818"/>
              </p:ext>
            </p:extLst>
          </p:nvPr>
        </p:nvGraphicFramePr>
        <p:xfrm>
          <a:off x="4186729" y="3238716"/>
          <a:ext cx="43656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01" name="Equation" r:id="rId5" imgW="2921000" imgH="4102100" progId="Equation.3">
                  <p:embed/>
                </p:oleObj>
              </mc:Choice>
              <mc:Fallback>
                <p:oleObj name="Equation" r:id="rId5" imgW="2921000" imgH="4102100" progId="Equation.3">
                  <p:embed/>
                  <p:pic>
                    <p:nvPicPr>
                      <p:cNvPr id="37896" name="Object 10">
                        <a:extLst>
                          <a:ext uri="{FF2B5EF4-FFF2-40B4-BE49-F238E27FC236}">
                            <a16:creationId xmlns:a16="http://schemas.microsoft.com/office/drawing/2014/main" id="{3F8881F1-651F-8343-B956-A0466B426A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6729" y="3238716"/>
                        <a:ext cx="436563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11">
            <a:extLst>
              <a:ext uri="{FF2B5EF4-FFF2-40B4-BE49-F238E27FC236}">
                <a16:creationId xmlns:a16="http://schemas.microsoft.com/office/drawing/2014/main" id="{DBDDD69A-096F-F44A-8951-549AB1511AE4}"/>
              </a:ext>
            </a:extLst>
          </p:cNvPr>
          <p:cNvGrpSpPr>
            <a:grpSpLocks/>
          </p:cNvGrpSpPr>
          <p:nvPr/>
        </p:nvGrpSpPr>
        <p:grpSpPr bwMode="auto">
          <a:xfrm>
            <a:off x="5918107" y="4572000"/>
            <a:ext cx="1219200" cy="762000"/>
            <a:chOff x="2400" y="1632"/>
            <a:chExt cx="768" cy="480"/>
          </a:xfrm>
        </p:grpSpPr>
        <p:sp>
          <p:nvSpPr>
            <p:cNvPr id="11" name="AutoShape 12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66BB40D9-E337-3E46-89DA-7DBE569DA8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1680"/>
              <a:ext cx="768" cy="432"/>
            </a:xfrm>
            <a:prstGeom prst="actionButtonBlank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AU" altLang="en-US" sz="1800"/>
            </a:p>
          </p:txBody>
        </p:sp>
        <p:sp>
          <p:nvSpPr>
            <p:cNvPr id="12" name="Text Box 13">
              <a:extLst>
                <a:ext uri="{FF2B5EF4-FFF2-40B4-BE49-F238E27FC236}">
                  <a16:creationId xmlns:a16="http://schemas.microsoft.com/office/drawing/2014/main" id="{9D041179-76AF-CF42-8034-E5B1CDBB56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1632"/>
              <a:ext cx="624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4400"/>
                <a:t>2</a:t>
              </a:r>
              <a:r>
                <a:rPr lang="en-US" altLang="en-US" sz="4400" baseline="30000"/>
                <a:t>nd</a:t>
              </a:r>
              <a:r>
                <a:rPr lang="en-US" altLang="en-US" sz="4400"/>
                <a:t> </a:t>
              </a:r>
            </a:p>
          </p:txBody>
        </p:sp>
      </p:grpSp>
      <p:grpSp>
        <p:nvGrpSpPr>
          <p:cNvPr id="13" name="Group 14">
            <a:extLst>
              <a:ext uri="{FF2B5EF4-FFF2-40B4-BE49-F238E27FC236}">
                <a16:creationId xmlns:a16="http://schemas.microsoft.com/office/drawing/2014/main" id="{5B6AE334-5B29-6E49-823F-EF44DFABCA04}"/>
              </a:ext>
            </a:extLst>
          </p:cNvPr>
          <p:cNvGrpSpPr>
            <a:grpSpLocks/>
          </p:cNvGrpSpPr>
          <p:nvPr/>
        </p:nvGrpSpPr>
        <p:grpSpPr bwMode="auto">
          <a:xfrm>
            <a:off x="7213507" y="4572000"/>
            <a:ext cx="1219200" cy="762000"/>
            <a:chOff x="3216" y="1632"/>
            <a:chExt cx="768" cy="480"/>
          </a:xfrm>
        </p:grpSpPr>
        <p:sp>
          <p:nvSpPr>
            <p:cNvPr id="14" name="AutoShape 15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F29D2E16-63F0-5748-BE58-75C798E7B7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1680"/>
              <a:ext cx="768" cy="432"/>
            </a:xfrm>
            <a:prstGeom prst="actionButtonBlank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5" name="Text Box 16">
              <a:extLst>
                <a:ext uri="{FF2B5EF4-FFF2-40B4-BE49-F238E27FC236}">
                  <a16:creationId xmlns:a16="http://schemas.microsoft.com/office/drawing/2014/main" id="{C76EE068-3288-2649-BD78-9B5E284810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1632"/>
              <a:ext cx="720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4400">
                  <a:solidFill>
                    <a:schemeClr val="bg1"/>
                  </a:solidFill>
                </a:rPr>
                <a:t>sin </a:t>
              </a:r>
            </a:p>
          </p:txBody>
        </p:sp>
      </p:grpSp>
      <p:grpSp>
        <p:nvGrpSpPr>
          <p:cNvPr id="19" name="Group 20">
            <a:extLst>
              <a:ext uri="{FF2B5EF4-FFF2-40B4-BE49-F238E27FC236}">
                <a16:creationId xmlns:a16="http://schemas.microsoft.com/office/drawing/2014/main" id="{DDB8AAFD-DBCC-2A4F-B21E-5594B803D15F}"/>
              </a:ext>
            </a:extLst>
          </p:cNvPr>
          <p:cNvGrpSpPr>
            <a:grpSpLocks/>
          </p:cNvGrpSpPr>
          <p:nvPr/>
        </p:nvGrpSpPr>
        <p:grpSpPr bwMode="auto">
          <a:xfrm>
            <a:off x="9575707" y="4648200"/>
            <a:ext cx="838200" cy="609600"/>
            <a:chOff x="4656" y="1248"/>
            <a:chExt cx="528" cy="384"/>
          </a:xfrm>
        </p:grpSpPr>
        <p:sp>
          <p:nvSpPr>
            <p:cNvPr id="20" name="AutoShape 21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AF2C962D-60A1-1049-8F26-C7902B3FC2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1248"/>
              <a:ext cx="528" cy="384"/>
            </a:xfrm>
            <a:prstGeom prst="actionButtonBlank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graphicFrame>
          <p:nvGraphicFramePr>
            <p:cNvPr id="21" name="Object 22">
              <a:extLst>
                <a:ext uri="{FF2B5EF4-FFF2-40B4-BE49-F238E27FC236}">
                  <a16:creationId xmlns:a16="http://schemas.microsoft.com/office/drawing/2014/main" id="{BC2E2A12-C9CD-C54E-A240-CCC5F7EB04D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60" y="1248"/>
            <a:ext cx="376" cy="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602" name="Equation" r:id="rId7" imgW="2921000" imgH="2921000" progId="Equation.3">
                    <p:embed/>
                  </p:oleObj>
                </mc:Choice>
                <mc:Fallback>
                  <p:oleObj name="Equation" r:id="rId7" imgW="2921000" imgH="2921000" progId="Equation.3">
                    <p:embed/>
                    <p:pic>
                      <p:nvPicPr>
                        <p:cNvPr id="37911" name="Object 22">
                          <a:extLst>
                            <a:ext uri="{FF2B5EF4-FFF2-40B4-BE49-F238E27FC236}">
                              <a16:creationId xmlns:a16="http://schemas.microsoft.com/office/drawing/2014/main" id="{8DF0B249-C4B9-F549-83CB-44D2D1E35C1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0" y="1248"/>
                          <a:ext cx="376" cy="3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" name="Group 23">
            <a:extLst>
              <a:ext uri="{FF2B5EF4-FFF2-40B4-BE49-F238E27FC236}">
                <a16:creationId xmlns:a16="http://schemas.microsoft.com/office/drawing/2014/main" id="{BFDA36E2-06E2-3343-B8DD-62A3BCDD25CE}"/>
              </a:ext>
            </a:extLst>
          </p:cNvPr>
          <p:cNvGrpSpPr>
            <a:grpSpLocks/>
          </p:cNvGrpSpPr>
          <p:nvPr/>
        </p:nvGrpSpPr>
        <p:grpSpPr bwMode="auto">
          <a:xfrm>
            <a:off x="10447246" y="4648200"/>
            <a:ext cx="1176337" cy="685800"/>
            <a:chOff x="5040" y="1248"/>
            <a:chExt cx="672" cy="432"/>
          </a:xfrm>
        </p:grpSpPr>
        <p:sp>
          <p:nvSpPr>
            <p:cNvPr id="23" name="AutoShape 24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233EB010-8FDB-FB43-A767-6010C6A3EF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0" y="1248"/>
              <a:ext cx="672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" name="Text Box 25">
              <a:extLst>
                <a:ext uri="{FF2B5EF4-FFF2-40B4-BE49-F238E27FC236}">
                  <a16:creationId xmlns:a16="http://schemas.microsoft.com/office/drawing/2014/main" id="{ECAFBE6F-E590-F44A-98C5-48D97D5107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8" y="1248"/>
              <a:ext cx="557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3400"/>
                <a:t>400</a:t>
              </a:r>
            </a:p>
          </p:txBody>
        </p:sp>
      </p:grpSp>
      <p:graphicFrame>
        <p:nvGraphicFramePr>
          <p:cNvPr id="25" name="Object 26">
            <a:extLst>
              <a:ext uri="{FF2B5EF4-FFF2-40B4-BE49-F238E27FC236}">
                <a16:creationId xmlns:a16="http://schemas.microsoft.com/office/drawing/2014/main" id="{A0D241E6-FB76-454C-95AB-CB3C6B0C2A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9123834"/>
              </p:ext>
            </p:extLst>
          </p:nvPr>
        </p:nvGraphicFramePr>
        <p:xfrm>
          <a:off x="8831057" y="5667376"/>
          <a:ext cx="2873375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03" name="Equation" r:id="rId9" imgW="11404600" imgH="4102100" progId="Equation.3">
                  <p:embed/>
                </p:oleObj>
              </mc:Choice>
              <mc:Fallback>
                <p:oleObj name="Equation" r:id="rId9" imgW="11404600" imgH="4102100" progId="Equation.3">
                  <p:embed/>
                  <p:pic>
                    <p:nvPicPr>
                      <p:cNvPr id="43034" name="Object 26">
                        <a:extLst>
                          <a:ext uri="{FF2B5EF4-FFF2-40B4-BE49-F238E27FC236}">
                            <a16:creationId xmlns:a16="http://schemas.microsoft.com/office/drawing/2014/main" id="{539991AA-32F5-2148-ABC3-4B1D9D2DC0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1057" y="5667376"/>
                        <a:ext cx="2873375" cy="1033463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" name="Group 27">
            <a:extLst>
              <a:ext uri="{FF2B5EF4-FFF2-40B4-BE49-F238E27FC236}">
                <a16:creationId xmlns:a16="http://schemas.microsoft.com/office/drawing/2014/main" id="{F1C64AF4-D712-EF48-A898-FDCDDF2DD48E}"/>
              </a:ext>
            </a:extLst>
          </p:cNvPr>
          <p:cNvGrpSpPr>
            <a:grpSpLocks/>
          </p:cNvGrpSpPr>
          <p:nvPr/>
        </p:nvGrpSpPr>
        <p:grpSpPr bwMode="auto">
          <a:xfrm>
            <a:off x="11556907" y="4648200"/>
            <a:ext cx="533400" cy="685800"/>
            <a:chOff x="5040" y="1248"/>
            <a:chExt cx="672" cy="432"/>
          </a:xfrm>
        </p:grpSpPr>
        <p:sp>
          <p:nvSpPr>
            <p:cNvPr id="27" name="AutoShape 28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96087FF5-5B9A-2F40-BBA1-E21B17D78A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0" y="1248"/>
              <a:ext cx="672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9" name="Text Box 29">
              <a:extLst>
                <a:ext uri="{FF2B5EF4-FFF2-40B4-BE49-F238E27FC236}">
                  <a16:creationId xmlns:a16="http://schemas.microsoft.com/office/drawing/2014/main" id="{FEEDEB64-8C42-0749-B203-7838DB2CC2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8" y="1248"/>
              <a:ext cx="557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3400"/>
                <a:t>)</a:t>
              </a:r>
            </a:p>
          </p:txBody>
        </p:sp>
      </p:grpSp>
      <p:pic>
        <p:nvPicPr>
          <p:cNvPr id="30" name="Picture 30" descr="MCj00787170000[1]">
            <a:extLst>
              <a:ext uri="{FF2B5EF4-FFF2-40B4-BE49-F238E27FC236}">
                <a16:creationId xmlns:a16="http://schemas.microsoft.com/office/drawing/2014/main" id="{63A16E2A-E9AC-0241-A825-144F2C8C55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1228" y="3289516"/>
            <a:ext cx="230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1" name="Object 30">
            <a:extLst>
              <a:ext uri="{FF2B5EF4-FFF2-40B4-BE49-F238E27FC236}">
                <a16:creationId xmlns:a16="http://schemas.microsoft.com/office/drawing/2014/main" id="{D18D088B-B37A-0946-8B2F-6AE3B01E9E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3557218"/>
              </p:ext>
            </p:extLst>
          </p:nvPr>
        </p:nvGraphicFramePr>
        <p:xfrm>
          <a:off x="9024620" y="3080068"/>
          <a:ext cx="2779713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04" name="Equation" r:id="rId12" imgW="21945600" imgH="9067800" progId="Equation.3">
                  <p:embed/>
                </p:oleObj>
              </mc:Choice>
              <mc:Fallback>
                <p:oleObj name="Equation" r:id="rId12" imgW="21945600" imgH="9067800" progId="Equation.3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40DC1783-4006-694B-B857-D7711081CD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24620" y="3080068"/>
                        <a:ext cx="2779713" cy="1149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" name="Group 27">
            <a:extLst>
              <a:ext uri="{FF2B5EF4-FFF2-40B4-BE49-F238E27FC236}">
                <a16:creationId xmlns:a16="http://schemas.microsoft.com/office/drawing/2014/main" id="{5911CCC7-7EC6-9949-9AFF-47C479648729}"/>
              </a:ext>
            </a:extLst>
          </p:cNvPr>
          <p:cNvGrpSpPr>
            <a:grpSpLocks/>
          </p:cNvGrpSpPr>
          <p:nvPr/>
        </p:nvGrpSpPr>
        <p:grpSpPr bwMode="auto">
          <a:xfrm>
            <a:off x="8065743" y="4648200"/>
            <a:ext cx="533400" cy="685800"/>
            <a:chOff x="5040" y="1248"/>
            <a:chExt cx="672" cy="432"/>
          </a:xfrm>
        </p:grpSpPr>
        <p:sp>
          <p:nvSpPr>
            <p:cNvPr id="36" name="AutoShape 28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115F0002-5E7D-4C41-9205-81C5D6A26D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0" y="1248"/>
              <a:ext cx="672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7" name="Text Box 29">
              <a:extLst>
                <a:ext uri="{FF2B5EF4-FFF2-40B4-BE49-F238E27FC236}">
                  <a16:creationId xmlns:a16="http://schemas.microsoft.com/office/drawing/2014/main" id="{E6088C4D-D8C3-3F41-A0FD-25CA423F5F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8" y="1248"/>
              <a:ext cx="557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3400" dirty="0"/>
                <a:t>(</a:t>
              </a:r>
            </a:p>
          </p:txBody>
        </p:sp>
      </p:grpSp>
      <p:grpSp>
        <p:nvGrpSpPr>
          <p:cNvPr id="16" name="Group 17">
            <a:extLst>
              <a:ext uri="{FF2B5EF4-FFF2-40B4-BE49-F238E27FC236}">
                <a16:creationId xmlns:a16="http://schemas.microsoft.com/office/drawing/2014/main" id="{7DD78093-2836-2744-97B2-741D83FF3CA0}"/>
              </a:ext>
            </a:extLst>
          </p:cNvPr>
          <p:cNvGrpSpPr>
            <a:grpSpLocks/>
          </p:cNvGrpSpPr>
          <p:nvPr/>
        </p:nvGrpSpPr>
        <p:grpSpPr bwMode="auto">
          <a:xfrm>
            <a:off x="8508907" y="4648200"/>
            <a:ext cx="990600" cy="685800"/>
            <a:chOff x="3840" y="1248"/>
            <a:chExt cx="768" cy="432"/>
          </a:xfrm>
        </p:grpSpPr>
        <p:sp>
          <p:nvSpPr>
            <p:cNvPr id="17" name="AutoShape 18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C8F69BB4-7C7E-0E42-B1CD-C5EE4A40FC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248"/>
              <a:ext cx="768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8" name="Text Box 19">
              <a:extLst>
                <a:ext uri="{FF2B5EF4-FFF2-40B4-BE49-F238E27FC236}">
                  <a16:creationId xmlns:a16="http://schemas.microsoft.com/office/drawing/2014/main" id="{13081591-E6E5-CD48-B097-763E06829F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1248"/>
              <a:ext cx="768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3400" dirty="0"/>
                <a:t>200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85335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50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000"/>
                            </p:stCondLst>
                            <p:childTnLst>
                              <p:par>
                                <p:cTn id="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7897F9DF-0C4B-B74C-89A9-8D0DEDC417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76400" y="2133600"/>
            <a:ext cx="8686800" cy="1981200"/>
          </a:xfrm>
          <a:solidFill>
            <a:srgbClr val="FFFFCC"/>
          </a:solidFill>
          <a:ln w="38100">
            <a:solidFill>
              <a:schemeClr val="accent2"/>
            </a:solidFill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altLang="en-US" dirty="0">
                <a:solidFill>
                  <a:schemeClr val="tx2"/>
                </a:solidFill>
              </a:rPr>
              <a:t>When we are trying to find a </a:t>
            </a:r>
            <a:r>
              <a:rPr lang="en-US" altLang="en-US" sz="5400" b="1" dirty="0">
                <a:solidFill>
                  <a:schemeClr val="accent2"/>
                </a:solidFill>
              </a:rPr>
              <a:t>side</a:t>
            </a:r>
            <a:br>
              <a:rPr lang="en-US" altLang="en-US" dirty="0">
                <a:solidFill>
                  <a:schemeClr val="accent2"/>
                </a:solidFill>
              </a:rPr>
            </a:br>
            <a:r>
              <a:rPr lang="en-US" altLang="en-US" dirty="0">
                <a:solidFill>
                  <a:schemeClr val="tx2"/>
                </a:solidFill>
              </a:rPr>
              <a:t>we use </a:t>
            </a:r>
            <a:r>
              <a:rPr lang="en-US" altLang="en-US" dirty="0">
                <a:solidFill>
                  <a:schemeClr val="accent2"/>
                </a:solidFill>
              </a:rPr>
              <a:t>sin, cos, </a:t>
            </a:r>
            <a:r>
              <a:rPr lang="en-US" altLang="en-US" dirty="0">
                <a:solidFill>
                  <a:schemeClr val="tx1"/>
                </a:solidFill>
              </a:rPr>
              <a:t>or</a:t>
            </a:r>
            <a:r>
              <a:rPr lang="en-US" altLang="en-US" dirty="0">
                <a:solidFill>
                  <a:schemeClr val="accent2"/>
                </a:solidFill>
              </a:rPr>
              <a:t> tan</a:t>
            </a:r>
            <a:r>
              <a:rPr lang="en-US" altLang="en-US" dirty="0"/>
              <a:t>.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87C02559-3F18-3941-9407-8635D63FB8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4267200"/>
            <a:ext cx="8839200" cy="2185988"/>
          </a:xfrm>
          <a:prstGeom prst="rect">
            <a:avLst/>
          </a:prstGeom>
          <a:solidFill>
            <a:srgbClr val="99FFCC"/>
          </a:solidFill>
          <a:ln w="38100">
            <a:solidFill>
              <a:srgbClr val="FF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400">
                <a:solidFill>
                  <a:schemeClr val="tx2"/>
                </a:solidFill>
              </a:rPr>
              <a:t>When we are trying to find </a:t>
            </a:r>
            <a:r>
              <a:rPr lang="en-US" altLang="en-US" sz="4400">
                <a:solidFill>
                  <a:schemeClr val="accent2"/>
                </a:solidFill>
              </a:rPr>
              <a:t>an </a:t>
            </a:r>
            <a:r>
              <a:rPr lang="en-US" altLang="en-US" sz="4800">
                <a:solidFill>
                  <a:srgbClr val="FF3300"/>
                </a:solidFill>
              </a:rPr>
              <a:t>angle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400">
                <a:solidFill>
                  <a:schemeClr val="accent2"/>
                </a:solidFill>
              </a:rPr>
              <a:t> </a:t>
            </a:r>
            <a:r>
              <a:rPr lang="en-US" altLang="en-US" sz="4400">
                <a:solidFill>
                  <a:schemeClr val="tx2"/>
                </a:solidFill>
              </a:rPr>
              <a:t>we use </a:t>
            </a:r>
            <a:r>
              <a:rPr lang="en-US" altLang="en-US" sz="4400">
                <a:solidFill>
                  <a:srgbClr val="FF3300"/>
                </a:solidFill>
              </a:rPr>
              <a:t>sin</a:t>
            </a:r>
            <a:r>
              <a:rPr lang="en-US" altLang="en-US" sz="4400" baseline="30000">
                <a:solidFill>
                  <a:srgbClr val="FF3300"/>
                </a:solidFill>
              </a:rPr>
              <a:t>-1</a:t>
            </a:r>
            <a:r>
              <a:rPr lang="en-US" altLang="en-US" sz="4400">
                <a:solidFill>
                  <a:srgbClr val="FF3300"/>
                </a:solidFill>
              </a:rPr>
              <a:t>, cos</a:t>
            </a:r>
            <a:r>
              <a:rPr lang="en-US" altLang="en-US" sz="4400" baseline="30000">
                <a:solidFill>
                  <a:srgbClr val="FF3300"/>
                </a:solidFill>
              </a:rPr>
              <a:t>-1</a:t>
            </a:r>
            <a:r>
              <a:rPr lang="en-US" altLang="en-US" sz="4400">
                <a:solidFill>
                  <a:srgbClr val="FF3300"/>
                </a:solidFill>
              </a:rPr>
              <a:t>,</a:t>
            </a:r>
            <a:r>
              <a:rPr lang="en-US" altLang="en-US" sz="4400">
                <a:solidFill>
                  <a:schemeClr val="accent2"/>
                </a:solidFill>
              </a:rPr>
              <a:t> </a:t>
            </a:r>
            <a:r>
              <a:rPr lang="en-US" altLang="en-US" sz="4400"/>
              <a:t>or</a:t>
            </a:r>
            <a:r>
              <a:rPr lang="en-US" altLang="en-US" sz="4400">
                <a:solidFill>
                  <a:schemeClr val="accent2"/>
                </a:solidFill>
              </a:rPr>
              <a:t> </a:t>
            </a:r>
            <a:r>
              <a:rPr lang="en-US" altLang="en-US" sz="4400">
                <a:solidFill>
                  <a:srgbClr val="FF3300"/>
                </a:solidFill>
              </a:rPr>
              <a:t>tan</a:t>
            </a:r>
            <a:r>
              <a:rPr lang="en-US" altLang="en-US" sz="4400" baseline="30000">
                <a:solidFill>
                  <a:srgbClr val="FF3300"/>
                </a:solidFill>
              </a:rPr>
              <a:t>-1</a:t>
            </a:r>
            <a:r>
              <a:rPr lang="en-US" altLang="en-US" sz="440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74A3781-CF0D-2844-ABAA-33DC32BB7E11}"/>
              </a:ext>
            </a:extLst>
          </p:cNvPr>
          <p:cNvSpPr txBox="1">
            <a:spLocks/>
          </p:cNvSpPr>
          <p:nvPr/>
        </p:nvSpPr>
        <p:spPr bwMode="black">
          <a:xfrm>
            <a:off x="252248" y="466344"/>
            <a:ext cx="10656544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Topic: Trigonometry</a:t>
            </a:r>
            <a:br>
              <a:rPr lang="en-US"/>
            </a:br>
            <a:r>
              <a:rPr lang="en-US"/>
              <a:t>EQ: What steps are similar and different in finding missing side lengths and missing angles?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93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0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0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/>
        </p:nvCxnSpPr>
        <p:spPr>
          <a:xfrm>
            <a:off x="0" y="5998464"/>
            <a:ext cx="12192000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0" y="5998464"/>
            <a:ext cx="14554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Summary: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250" y="2320290"/>
            <a:ext cx="1148096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3600" dirty="0"/>
              <a:t>Homework: Complete Missing Sides and Angles Worksheet</a:t>
            </a:r>
          </a:p>
          <a:p>
            <a:pPr marL="285750" indent="-285750">
              <a:buFont typeface="Arial" charset="0"/>
              <a:buChar char="•"/>
            </a:pPr>
            <a:endParaRPr lang="en-US" sz="3600" dirty="0"/>
          </a:p>
          <a:p>
            <a:pPr marL="285750" indent="-285750">
              <a:buFont typeface="Arial" charset="0"/>
              <a:buChar char="•"/>
            </a:pPr>
            <a:r>
              <a:rPr lang="en-US" sz="3600" dirty="0"/>
              <a:t>Complete your summary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F8C3D60-1117-344E-914F-97AFB5896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8" y="466344"/>
            <a:ext cx="10656544" cy="1257354"/>
          </a:xfrm>
        </p:spPr>
        <p:txBody>
          <a:bodyPr>
            <a:normAutofit/>
          </a:bodyPr>
          <a:lstStyle/>
          <a:p>
            <a:r>
              <a:rPr lang="en-US" dirty="0"/>
              <a:t>Topic: Trigonometry</a:t>
            </a:r>
            <a:br>
              <a:rPr lang="en-US" dirty="0"/>
            </a:br>
            <a:r>
              <a:rPr lang="en-US" dirty="0"/>
              <a:t>EQ: What are the key trigonometric ratios I need to know?</a:t>
            </a:r>
          </a:p>
        </p:txBody>
      </p:sp>
    </p:spTree>
    <p:extLst>
      <p:ext uri="{BB962C8B-B14F-4D97-AF65-F5344CB8AC3E}">
        <p14:creationId xmlns:p14="http://schemas.microsoft.com/office/powerpoint/2010/main" val="961896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Education 16x9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ducation_16x9.potx" id="{AA5F22BC-61EA-4F01-AB22-75117871E196}" vid="{BD0EB374-1DDC-4F15-88A9-D386288C58A6}"/>
    </a:ext>
  </a:extLst>
</a:theme>
</file>

<file path=ppt/theme/theme2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1D5F340F01F94FA2FD29A5E6DC872E" ma:contentTypeVersion="0" ma:contentTypeDescription="Create a new document." ma:contentTypeScope="" ma:versionID="141aba3b8f8cb7f331be6546df69db5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f8e4ef66d87525153bd8907774ed28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F7A874A-6E55-415B-9061-8B2D43DC2F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1BC99BC-3A63-4255-9D4F-38C5B80A319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896FEF9-821E-45A6-82F2-0B1CE4CD8C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615</Words>
  <Application>Microsoft Macintosh PowerPoint</Application>
  <PresentationFormat>Widescreen</PresentationFormat>
  <Paragraphs>87</Paragraphs>
  <Slides>12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Berlin Sans FB Demi</vt:lpstr>
      <vt:lpstr>Calibri</vt:lpstr>
      <vt:lpstr>Century Gothic</vt:lpstr>
      <vt:lpstr>Wingdings</vt:lpstr>
      <vt:lpstr>Education 16x9</vt:lpstr>
      <vt:lpstr>Microsoft Equation 3.0</vt:lpstr>
      <vt:lpstr>Topic: Trigonometry</vt:lpstr>
      <vt:lpstr>Finding a side. (Figuring out which ratio to use and getting to use a trig button.)</vt:lpstr>
      <vt:lpstr>Ex: 1  Figure out which ratio to use.  Find x.  Round to the nearest tenth.</vt:lpstr>
      <vt:lpstr>Ex: 2  Find the missing side. Round to the nearest tenth.</vt:lpstr>
      <vt:lpstr>Ex: 3  Find the missing side. Round to the nearest tenth.</vt:lpstr>
      <vt:lpstr>Ex: 4  Find the missing side. Round to the nearest tenth.</vt:lpstr>
      <vt:lpstr>Finding an angle. (Figuring out which ratio to use and getting to use the 2nd button and one of the trig buttons.) </vt:lpstr>
      <vt:lpstr>Ex. 1: Find .  Round to four decimal places.</vt:lpstr>
      <vt:lpstr>Ex. 2: Find .  Round to three decimal places.</vt:lpstr>
      <vt:lpstr>Ex. 3: Find .  Round to three decimal places.</vt:lpstr>
      <vt:lpstr>When we are trying to find a side we use sin, cos, or tan.</vt:lpstr>
      <vt:lpstr>Topic: Trigonometry EQ: What are the key trigonometric ratios I need to know?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2012-09-21T18:31:34Z</dcterms:created>
  <dcterms:modified xsi:type="dcterms:W3CDTF">2020-03-31T03:19:45Z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0x0101007C1D5F340F01F94FA2FD29A5E6DC872E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
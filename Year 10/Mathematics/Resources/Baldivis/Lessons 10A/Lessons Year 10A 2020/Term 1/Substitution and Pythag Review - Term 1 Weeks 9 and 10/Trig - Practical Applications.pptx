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8" r:id="rId5"/>
    <p:sldId id="295" r:id="rId6"/>
    <p:sldId id="319" r:id="rId7"/>
    <p:sldId id="336" r:id="rId8"/>
    <p:sldId id="337" r:id="rId9"/>
    <p:sldId id="338" r:id="rId10"/>
    <p:sldId id="339" r:id="rId11"/>
    <p:sldId id="340" r:id="rId12"/>
    <p:sldId id="322" r:id="rId13"/>
    <p:sldId id="348" r:id="rId14"/>
    <p:sldId id="343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341" r:id="rId24"/>
    <p:sldId id="2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9" autoAdjust="0"/>
    <p:restoredTop sz="94719"/>
  </p:normalViewPr>
  <p:slideViewPr>
    <p:cSldViewPr snapToGrid="0">
      <p:cViewPr varScale="1">
        <p:scale>
          <a:sx n="120" d="100"/>
          <a:sy n="120" d="100"/>
        </p:scale>
        <p:origin x="760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3/31/20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3/31/20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EFE19FE-1899-4B4B-BEB2-54E7E1D50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0C2554D-2D72-1342-9787-BCCBDF6D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1C8B847-3DD1-EB4F-8ED0-793BD0CA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7CF00-389F-354D-AC03-E3E206351DB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127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1.wmf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6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7.wmf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0.bin"/><Relationship Id="rId1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3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8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Trigonometry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can I apply trigonometry to solve real-life problems?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6F735A99-3189-3F40-B07F-0ED128B53D3D}"/>
              </a:ext>
            </a:extLst>
          </p:cNvPr>
          <p:cNvSpPr/>
          <p:nvPr/>
        </p:nvSpPr>
        <p:spPr>
          <a:xfrm rot="18829116">
            <a:off x="5857165" y="3419690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ECD8C6-A00B-3B4D-9F22-41684EBF79F8}"/>
              </a:ext>
            </a:extLst>
          </p:cNvPr>
          <p:cNvSpPr/>
          <p:nvPr/>
        </p:nvSpPr>
        <p:spPr>
          <a:xfrm rot="18778718">
            <a:off x="6900946" y="5906509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F5943D9B-457E-0245-9805-A81B27504AFD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77946" y="1880609"/>
            <a:ext cx="6762750" cy="677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sz="3600" dirty="0">
                <a:solidFill>
                  <a:schemeClr val="tx2"/>
                </a:solidFill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0AAE5E9D-7A08-DC42-A2B8-C337E53A3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33" y="2888097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h.</a:t>
            </a:r>
          </a:p>
        </p:txBody>
      </p:sp>
      <p:pic>
        <p:nvPicPr>
          <p:cNvPr id="30" name="Picture 25" descr="Office Objects 0572">
            <a:extLst>
              <a:ext uri="{FF2B5EF4-FFF2-40B4-BE49-F238E27FC236}">
                <a16:creationId xmlns:a16="http://schemas.microsoft.com/office/drawing/2014/main" id="{A69A3459-11EB-8D4A-B8DA-4E2EC1F9B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811" y="2153878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FE1D2DC8-C751-BB4E-8F22-C0776D2EFAE0}"/>
              </a:ext>
            </a:extLst>
          </p:cNvPr>
          <p:cNvSpPr/>
          <p:nvPr/>
        </p:nvSpPr>
        <p:spPr>
          <a:xfrm>
            <a:off x="5289633" y="4503158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2F6763-448E-CC41-95BF-9AA6A8714737}"/>
              </a:ext>
            </a:extLst>
          </p:cNvPr>
          <p:cNvSpPr/>
          <p:nvPr/>
        </p:nvSpPr>
        <p:spPr>
          <a:xfrm>
            <a:off x="5302333" y="5912858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8351E8CD-3506-934A-83A0-83C592933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534" y="4134859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dirty="0"/>
              <a:t>h</a:t>
            </a:r>
          </a:p>
        </p:txBody>
      </p:sp>
      <p:sp>
        <p:nvSpPr>
          <p:cNvPr id="34" name="TextBox 32">
            <a:extLst>
              <a:ext uri="{FF2B5EF4-FFF2-40B4-BE49-F238E27FC236}">
                <a16:creationId xmlns:a16="http://schemas.microsoft.com/office/drawing/2014/main" id="{427CA1DC-95B2-0A45-AD21-9F41D7998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997" y="5990647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5419E5AE-D8BE-484F-A3C1-B7A0A50AA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534" y="4198359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36" name="TextBox 34">
            <a:extLst>
              <a:ext uri="{FF2B5EF4-FFF2-40B4-BE49-F238E27FC236}">
                <a16:creationId xmlns:a16="http://schemas.microsoft.com/office/drawing/2014/main" id="{FD86347C-40DC-3747-A815-79E6CB724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533" y="4376159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37" name="TextBox 35">
            <a:extLst>
              <a:ext uri="{FF2B5EF4-FFF2-40B4-BE49-F238E27FC236}">
                <a16:creationId xmlns:a16="http://schemas.microsoft.com/office/drawing/2014/main" id="{88556CC0-C81A-A247-857A-3AF154FCC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6033" y="6065259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38" name="TextBox 36">
            <a:extLst>
              <a:ext uri="{FF2B5EF4-FFF2-40B4-BE49-F238E27FC236}">
                <a16:creationId xmlns:a16="http://schemas.microsoft.com/office/drawing/2014/main" id="{F40F443A-7E3C-6B4C-94C5-DFF0E97D5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533" y="5303259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39" name="TextBox 37">
            <a:extLst>
              <a:ext uri="{FF2B5EF4-FFF2-40B4-BE49-F238E27FC236}">
                <a16:creationId xmlns:a16="http://schemas.microsoft.com/office/drawing/2014/main" id="{8069C3EF-05CE-2D42-AEC9-FF780CBED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733" y="6166859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40" name="TextBox 38">
            <a:extLst>
              <a:ext uri="{FF2B5EF4-FFF2-40B4-BE49-F238E27FC236}">
                <a16:creationId xmlns:a16="http://schemas.microsoft.com/office/drawing/2014/main" id="{90B42B33-B4BA-0444-8997-E61CF8935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233" y="4998459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0121936F-AB98-4543-B474-9B1F13DE74C9}"/>
              </a:ext>
            </a:extLst>
          </p:cNvPr>
          <p:cNvSpPr/>
          <p:nvPr/>
        </p:nvSpPr>
        <p:spPr>
          <a:xfrm rot="18829116">
            <a:off x="7458795" y="2375794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69DCF3-AB0D-6D4B-BA4D-004C2A0FDC7F}"/>
              </a:ext>
            </a:extLst>
          </p:cNvPr>
          <p:cNvSpPr/>
          <p:nvPr/>
        </p:nvSpPr>
        <p:spPr>
          <a:xfrm rot="18778718">
            <a:off x="8502576" y="4862613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8AD45CB-8258-2945-B9E7-E416BD8DC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51" y="1950348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h.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0D5DCDA4-1B1F-544B-8062-CB4971ABC9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830562"/>
              </p:ext>
            </p:extLst>
          </p:nvPr>
        </p:nvGraphicFramePr>
        <p:xfrm>
          <a:off x="704612" y="3459104"/>
          <a:ext cx="33432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3" imgW="1485720" imgH="228600" progId="Equation.DSMT4">
                  <p:embed/>
                </p:oleObj>
              </mc:Choice>
              <mc:Fallback>
                <p:oleObj name="Equation" r:id="rId3" imgW="1485720" imgH="228600" progId="Equation.DSMT4">
                  <p:embed/>
                  <p:pic>
                    <p:nvPicPr>
                      <p:cNvPr id="1106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12" y="3459104"/>
                        <a:ext cx="3343275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F5E187E3-E669-2041-8F09-F296AD818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53109"/>
              </p:ext>
            </p:extLst>
          </p:nvPr>
        </p:nvGraphicFramePr>
        <p:xfrm>
          <a:off x="683345" y="4152693"/>
          <a:ext cx="2628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5" imgW="1168200" imgH="228600" progId="Equation.DSMT4">
                  <p:embed/>
                </p:oleObj>
              </mc:Choice>
              <mc:Fallback>
                <p:oleObj name="Equation" r:id="rId5" imgW="1168200" imgH="228600" progId="Equation.DSMT4">
                  <p:embed/>
                  <p:pic>
                    <p:nvPicPr>
                      <p:cNvPr id="1106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345" y="4152693"/>
                        <a:ext cx="26289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F1432AC4-8C67-A045-A4ED-6C6408FABB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166904"/>
              </p:ext>
            </p:extLst>
          </p:nvPr>
        </p:nvGraphicFramePr>
        <p:xfrm>
          <a:off x="688210" y="4817790"/>
          <a:ext cx="1690687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7" imgW="838080" imgH="228600" progId="Equation.DSMT4">
                  <p:embed/>
                </p:oleObj>
              </mc:Choice>
              <mc:Fallback>
                <p:oleObj name="Equation" r:id="rId7" imgW="838080" imgH="228600" progId="Equation.DSMT4">
                  <p:embed/>
                  <p:pic>
                    <p:nvPicPr>
                      <p:cNvPr id="1106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10" y="4817790"/>
                        <a:ext cx="1690687" cy="4905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26F9A8DF-7BCB-4E47-B266-B78591B92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638570"/>
              </p:ext>
            </p:extLst>
          </p:nvPr>
        </p:nvGraphicFramePr>
        <p:xfrm>
          <a:off x="679803" y="5487656"/>
          <a:ext cx="15875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9" imgW="787320" imgH="228600" progId="Equation.DSMT4">
                  <p:embed/>
                </p:oleObj>
              </mc:Choice>
              <mc:Fallback>
                <p:oleObj name="Equation" r:id="rId9" imgW="787320" imgH="228600" progId="Equation.DSMT4">
                  <p:embed/>
                  <p:pic>
                    <p:nvPicPr>
                      <p:cNvPr id="1106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803" y="5487656"/>
                        <a:ext cx="1587500" cy="4905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5" descr="Office Objects 0572">
            <a:extLst>
              <a:ext uri="{FF2B5EF4-FFF2-40B4-BE49-F238E27FC236}">
                <a16:creationId xmlns:a16="http://schemas.microsoft.com/office/drawing/2014/main" id="{8B06D439-9535-E44A-A446-C28F7A06A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479" y="1844201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683C08D3-D410-C849-AFCE-1DB79AC6B040}"/>
              </a:ext>
            </a:extLst>
          </p:cNvPr>
          <p:cNvSpPr/>
          <p:nvPr/>
        </p:nvSpPr>
        <p:spPr>
          <a:xfrm>
            <a:off x="6891263" y="3459262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B3473-F24F-104A-ACDE-F7BAC3DFC680}"/>
              </a:ext>
            </a:extLst>
          </p:cNvPr>
          <p:cNvSpPr/>
          <p:nvPr/>
        </p:nvSpPr>
        <p:spPr>
          <a:xfrm>
            <a:off x="6903963" y="4868962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TextBox 30">
            <a:extLst>
              <a:ext uri="{FF2B5EF4-FFF2-40B4-BE49-F238E27FC236}">
                <a16:creationId xmlns:a16="http://schemas.microsoft.com/office/drawing/2014/main" id="{378CECB7-0EA7-CB43-A53E-B2AF8D284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164" y="3090963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dirty="0"/>
              <a:t>h</a:t>
            </a:r>
          </a:p>
        </p:txBody>
      </p:sp>
      <p:sp>
        <p:nvSpPr>
          <p:cNvPr id="15" name="TextBox 32">
            <a:extLst>
              <a:ext uri="{FF2B5EF4-FFF2-40B4-BE49-F238E27FC236}">
                <a16:creationId xmlns:a16="http://schemas.microsoft.com/office/drawing/2014/main" id="{ADC775C6-C73D-E94B-8C1B-68A9F258B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5627" y="4946751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6" name="TextBox 33">
            <a:extLst>
              <a:ext uri="{FF2B5EF4-FFF2-40B4-BE49-F238E27FC236}">
                <a16:creationId xmlns:a16="http://schemas.microsoft.com/office/drawing/2014/main" id="{39FAB866-222C-8743-82CE-7B7DCB57B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164" y="3154463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5DDBBB02-B327-B645-B0D2-20E51753B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8163" y="3332263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6D403BED-C58C-8D42-97BD-4DB5F10EA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7663" y="5021363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EC03878C-B47B-6D43-B60A-9F13B0837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3163" y="4259363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D7B4AFC8-1EA2-914E-B382-E9E464279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363" y="5122963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21" name="TextBox 38">
            <a:extLst>
              <a:ext uri="{FF2B5EF4-FFF2-40B4-BE49-F238E27FC236}">
                <a16:creationId xmlns:a16="http://schemas.microsoft.com/office/drawing/2014/main" id="{E30AC784-921B-834F-BF20-70A087A3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863" y="3954563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  <p:sp>
        <p:nvSpPr>
          <p:cNvPr id="22" name="TextBox 39">
            <a:extLst>
              <a:ext uri="{FF2B5EF4-FFF2-40B4-BE49-F238E27FC236}">
                <a16:creationId xmlns:a16="http://schemas.microsoft.com/office/drawing/2014/main" id="{37E2625C-6E18-F047-A60D-758EF2795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96" y="2531583"/>
            <a:ext cx="3078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Answer:</a:t>
            </a:r>
          </a:p>
          <a:p>
            <a:pPr eaLnBrk="1" hangingPunct="1"/>
            <a:r>
              <a:rPr lang="en-GB" sz="2400" dirty="0"/>
              <a:t>Find length BD first</a:t>
            </a:r>
          </a:p>
        </p:txBody>
      </p:sp>
      <p:graphicFrame>
        <p:nvGraphicFramePr>
          <p:cNvPr id="23" name="Object 14">
            <a:extLst>
              <a:ext uri="{FF2B5EF4-FFF2-40B4-BE49-F238E27FC236}">
                <a16:creationId xmlns:a16="http://schemas.microsoft.com/office/drawing/2014/main" id="{02A555EE-1F86-9846-A4CB-E83F3B545A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679947"/>
              </p:ext>
            </p:extLst>
          </p:nvPr>
        </p:nvGraphicFramePr>
        <p:xfrm>
          <a:off x="688210" y="6200362"/>
          <a:ext cx="15875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12" imgW="787320" imgH="177480" progId="Equation.DSMT4">
                  <p:embed/>
                </p:oleObj>
              </mc:Choice>
              <mc:Fallback>
                <p:oleObj name="Equation" r:id="rId12" imgW="787320" imgH="177480" progId="Equation.DSMT4">
                  <p:embed/>
                  <p:pic>
                    <p:nvPicPr>
                      <p:cNvPr id="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10" y="6200362"/>
                        <a:ext cx="1587500" cy="3825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6">
            <a:extLst>
              <a:ext uri="{FF2B5EF4-FFF2-40B4-BE49-F238E27FC236}">
                <a16:creationId xmlns:a16="http://schemas.microsoft.com/office/drawing/2014/main" id="{994DDB38-FD75-1743-96EC-E77C6106E1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565362"/>
              </p:ext>
            </p:extLst>
          </p:nvPr>
        </p:nvGraphicFramePr>
        <p:xfrm>
          <a:off x="7769152" y="4027588"/>
          <a:ext cx="7524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14" imgW="419040" imgH="177480" progId="Equation.DSMT4">
                  <p:embed/>
                </p:oleObj>
              </mc:Choice>
              <mc:Fallback>
                <p:oleObj name="Equation" r:id="rId14" imgW="419040" imgH="177480" progId="Equation.DSMT4">
                  <p:embed/>
                  <p:pic>
                    <p:nvPicPr>
                      <p:cNvPr id="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9152" y="4027588"/>
                        <a:ext cx="7524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1C1C1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42359E-934B-C547-9764-87A03DF1ED57}"/>
              </a:ext>
            </a:extLst>
          </p:cNvPr>
          <p:cNvCxnSpPr/>
          <p:nvPr/>
        </p:nvCxnSpPr>
        <p:spPr>
          <a:xfrm flipH="1">
            <a:off x="6897613" y="3416401"/>
            <a:ext cx="0" cy="167957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546445-040B-1146-8688-FF3E62408E33}"/>
              </a:ext>
            </a:extLst>
          </p:cNvPr>
          <p:cNvCxnSpPr/>
          <p:nvPr/>
        </p:nvCxnSpPr>
        <p:spPr>
          <a:xfrm rot="10800000" flipH="1" flipV="1">
            <a:off x="6919839" y="3468787"/>
            <a:ext cx="1685925" cy="16398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8C8A8F-87B6-A843-AEAF-63B851F7A2B3}"/>
              </a:ext>
            </a:extLst>
          </p:cNvPr>
          <p:cNvCxnSpPr/>
          <p:nvPr/>
        </p:nvCxnSpPr>
        <p:spPr>
          <a:xfrm rot="16200000" flipH="1">
            <a:off x="7707239" y="4253013"/>
            <a:ext cx="3175" cy="16891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2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D67CD326-2CD9-2C4A-8759-69590D6ACC21}"/>
              </a:ext>
            </a:extLst>
          </p:cNvPr>
          <p:cNvSpPr/>
          <p:nvPr/>
        </p:nvSpPr>
        <p:spPr>
          <a:xfrm rot="18829116">
            <a:off x="7621930" y="2921549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F7C300D1-444B-3A43-B9A5-A1C2F6F9A01C}"/>
              </a:ext>
            </a:extLst>
          </p:cNvPr>
          <p:cNvSpPr/>
          <p:nvPr/>
        </p:nvSpPr>
        <p:spPr>
          <a:xfrm>
            <a:off x="7054398" y="4005017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6CC90F9-F896-6341-9A95-CB1C460A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53" y="1900047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length h.</a:t>
            </a: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595290B8-5F77-ED47-93A8-20F1B16C1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703968"/>
              </p:ext>
            </p:extLst>
          </p:nvPr>
        </p:nvGraphicFramePr>
        <p:xfrm>
          <a:off x="1230498" y="3568796"/>
          <a:ext cx="3371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3" imgW="1498320" imgH="228600" progId="Equation.DSMT4">
                  <p:embed/>
                </p:oleObj>
              </mc:Choice>
              <mc:Fallback>
                <p:oleObj name="Equation" r:id="rId3" imgW="1498320" imgH="228600" progId="Equation.DSMT4">
                  <p:embed/>
                  <p:pic>
                    <p:nvPicPr>
                      <p:cNvPr id="1106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8" y="3568796"/>
                        <a:ext cx="337185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93FE6D40-64F2-A743-A7C6-8B2943FFB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60446"/>
              </p:ext>
            </p:extLst>
          </p:nvPr>
        </p:nvGraphicFramePr>
        <p:xfrm>
          <a:off x="1230498" y="4135534"/>
          <a:ext cx="285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5" imgW="1269720" imgH="228600" progId="Equation.DSMT4">
                  <p:embed/>
                </p:oleObj>
              </mc:Choice>
              <mc:Fallback>
                <p:oleObj name="Equation" r:id="rId5" imgW="1269720" imgH="228600" progId="Equation.DSMT4">
                  <p:embed/>
                  <p:pic>
                    <p:nvPicPr>
                      <p:cNvPr id="1106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8" y="4135534"/>
                        <a:ext cx="28575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FF5B76D1-2F44-C247-923B-904953E871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013480"/>
              </p:ext>
            </p:extLst>
          </p:nvPr>
        </p:nvGraphicFramePr>
        <p:xfrm>
          <a:off x="1230499" y="4700684"/>
          <a:ext cx="2740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7" imgW="1358640" imgH="228600" progId="Equation.DSMT4">
                  <p:embed/>
                </p:oleObj>
              </mc:Choice>
              <mc:Fallback>
                <p:oleObj name="Equation" r:id="rId7" imgW="1358640" imgH="228600" progId="Equation.DSMT4">
                  <p:embed/>
                  <p:pic>
                    <p:nvPicPr>
                      <p:cNvPr id="1106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9" y="4700684"/>
                        <a:ext cx="2740025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10BA1BB9-F539-A24D-8FBA-4BC722385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65456"/>
              </p:ext>
            </p:extLst>
          </p:nvPr>
        </p:nvGraphicFramePr>
        <p:xfrm>
          <a:off x="1230498" y="5248371"/>
          <a:ext cx="20240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9" imgW="1002960" imgH="203040" progId="Equation.DSMT4">
                  <p:embed/>
                </p:oleObj>
              </mc:Choice>
              <mc:Fallback>
                <p:oleObj name="Equation" r:id="rId9" imgW="1002960" imgH="203040" progId="Equation.DSMT4">
                  <p:embed/>
                  <p:pic>
                    <p:nvPicPr>
                      <p:cNvPr id="1106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8" y="5248371"/>
                        <a:ext cx="2024062" cy="438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5" descr="Office Objects 0572">
            <a:extLst>
              <a:ext uri="{FF2B5EF4-FFF2-40B4-BE49-F238E27FC236}">
                <a16:creationId xmlns:a16="http://schemas.microsoft.com/office/drawing/2014/main" id="{89BD8A3B-7684-8940-92A8-834FCDB34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479" y="1803926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CAC50C-3168-544A-B5ED-41EED0794B4A}"/>
              </a:ext>
            </a:extLst>
          </p:cNvPr>
          <p:cNvSpPr/>
          <p:nvPr/>
        </p:nvSpPr>
        <p:spPr>
          <a:xfrm>
            <a:off x="7067098" y="5414717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11B362-1D02-9448-BBAF-73AEE15C6584}"/>
              </a:ext>
            </a:extLst>
          </p:cNvPr>
          <p:cNvSpPr/>
          <p:nvPr/>
        </p:nvSpPr>
        <p:spPr>
          <a:xfrm rot="18778718">
            <a:off x="8665711" y="5422655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0980F694-557D-A141-A465-F523EA89A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299" y="3581156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4" name="TextBox 32">
            <a:extLst>
              <a:ext uri="{FF2B5EF4-FFF2-40B4-BE49-F238E27FC236}">
                <a16:creationId xmlns:a16="http://schemas.microsoft.com/office/drawing/2014/main" id="{13A220A3-D3FA-2E42-ABFB-26B9EBDB1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987" y="5465518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5" name="TextBox 33">
            <a:extLst>
              <a:ext uri="{FF2B5EF4-FFF2-40B4-BE49-F238E27FC236}">
                <a16:creationId xmlns:a16="http://schemas.microsoft.com/office/drawing/2014/main" id="{ED35E6C4-751F-4643-B043-B573A66AF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299" y="3700218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6" name="TextBox 34">
            <a:extLst>
              <a:ext uri="{FF2B5EF4-FFF2-40B4-BE49-F238E27FC236}">
                <a16:creationId xmlns:a16="http://schemas.microsoft.com/office/drawing/2014/main" id="{15D8E062-6271-9F49-8A68-4A9FF876B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1448" y="3822456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9D046FC7-62F4-9445-8E00-8CC8A98F2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298" y="5594106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id="{0C59E2A5-1C99-C444-BB52-7B6A08440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298" y="4805118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19" name="TextBox 37">
            <a:extLst>
              <a:ext uri="{FF2B5EF4-FFF2-40B4-BE49-F238E27FC236}">
                <a16:creationId xmlns:a16="http://schemas.microsoft.com/office/drawing/2014/main" id="{A6ABF6DA-1D7B-A64A-94E7-40224EEE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3498" y="5668718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20" name="TextBox 38">
            <a:extLst>
              <a:ext uri="{FF2B5EF4-FFF2-40B4-BE49-F238E27FC236}">
                <a16:creationId xmlns:a16="http://schemas.microsoft.com/office/drawing/2014/main" id="{5D968ACA-4F84-EB45-AE65-71C7B99EE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3998" y="4500318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  <p:sp>
        <p:nvSpPr>
          <p:cNvPr id="21" name="TextBox 39">
            <a:extLst>
              <a:ext uri="{FF2B5EF4-FFF2-40B4-BE49-F238E27FC236}">
                <a16:creationId xmlns:a16="http://schemas.microsoft.com/office/drawing/2014/main" id="{DDA686BD-2E31-454A-9F21-5E62E2583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686" y="3038572"/>
            <a:ext cx="1749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Now find h</a:t>
            </a:r>
          </a:p>
        </p:txBody>
      </p:sp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42E9A07C-B23B-8D47-8A68-E307ABA28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007228"/>
              </p:ext>
            </p:extLst>
          </p:nvPr>
        </p:nvGraphicFramePr>
        <p:xfrm>
          <a:off x="1230498" y="5743672"/>
          <a:ext cx="13319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12" imgW="660240" imgH="228600" progId="Equation.DSMT4">
                  <p:embed/>
                </p:oleObj>
              </mc:Choice>
              <mc:Fallback>
                <p:oleObj name="Equation" r:id="rId12" imgW="660240" imgH="22860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8" y="5743672"/>
                        <a:ext cx="1331912" cy="4921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DDE32AA7-1CCC-1441-A03E-3C5C0D9F24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717151"/>
              </p:ext>
            </p:extLst>
          </p:nvPr>
        </p:nvGraphicFramePr>
        <p:xfrm>
          <a:off x="1230499" y="6294534"/>
          <a:ext cx="2740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14" imgW="1358640" imgH="203040" progId="Equation.DSMT4">
                  <p:embed/>
                </p:oleObj>
              </mc:Choice>
              <mc:Fallback>
                <p:oleObj name="Equation" r:id="rId14" imgW="1358640" imgH="203040" progId="Equation.DSMT4">
                  <p:embed/>
                  <p:pic>
                    <p:nvPicPr>
                      <p:cNvPr id="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9" y="6294534"/>
                        <a:ext cx="2740025" cy="438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4C4BF6-0EA5-4241-AF01-B91111C9C8EA}"/>
              </a:ext>
            </a:extLst>
          </p:cNvPr>
          <p:cNvCxnSpPr/>
          <p:nvPr/>
        </p:nvCxnSpPr>
        <p:spPr>
          <a:xfrm rot="5400000">
            <a:off x="8725242" y="4196311"/>
            <a:ext cx="1504950" cy="1468438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3444858B-8886-1242-8C57-16B83B1FB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039621"/>
              </p:ext>
            </p:extLst>
          </p:nvPr>
        </p:nvGraphicFramePr>
        <p:xfrm>
          <a:off x="8019598" y="4603505"/>
          <a:ext cx="66675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16" imgW="419040" imgH="228600" progId="Equation.DSMT4">
                  <p:embed/>
                </p:oleObj>
              </mc:Choice>
              <mc:Fallback>
                <p:oleObj name="Equation" r:id="rId16" imgW="419040" imgH="228600" progId="Equation.DSMT4">
                  <p:embed/>
                  <p:pic>
                    <p:nvPicPr>
                      <p:cNvPr id="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9598" y="4603505"/>
                        <a:ext cx="66675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1C1C1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85805B-387C-2F42-ACC5-8B952114ADE3}"/>
              </a:ext>
            </a:extLst>
          </p:cNvPr>
          <p:cNvCxnSpPr/>
          <p:nvPr/>
        </p:nvCxnSpPr>
        <p:spPr>
          <a:xfrm flipH="1">
            <a:off x="7060748" y="3962156"/>
            <a:ext cx="0" cy="167957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0076766-2620-1B4C-9045-22E5891FBA38}"/>
              </a:ext>
            </a:extLst>
          </p:cNvPr>
          <p:cNvCxnSpPr/>
          <p:nvPr/>
        </p:nvCxnSpPr>
        <p:spPr>
          <a:xfrm rot="16200000" flipH="1">
            <a:off x="7870374" y="4798768"/>
            <a:ext cx="3175" cy="16891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4078A5-227B-674A-B244-6FF20061C74F}"/>
              </a:ext>
            </a:extLst>
          </p:cNvPr>
          <p:cNvCxnSpPr>
            <a:endCxn id="4" idx="0"/>
          </p:cNvCxnSpPr>
          <p:nvPr/>
        </p:nvCxnSpPr>
        <p:spPr>
          <a:xfrm rot="10800000">
            <a:off x="7054398" y="4005018"/>
            <a:ext cx="3132138" cy="2016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C158FE-7FE6-8F4D-BB81-7A03E73301A9}"/>
              </a:ext>
            </a:extLst>
          </p:cNvPr>
          <p:cNvCxnSpPr/>
          <p:nvPr/>
        </p:nvCxnSpPr>
        <p:spPr>
          <a:xfrm rot="16200000" flipH="1">
            <a:off x="7089324" y="3974855"/>
            <a:ext cx="1638300" cy="169862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B8E727-9237-E846-A322-6DEC17B8280D}"/>
              </a:ext>
            </a:extLst>
          </p:cNvPr>
          <p:cNvCxnSpPr/>
          <p:nvPr/>
        </p:nvCxnSpPr>
        <p:spPr>
          <a:xfrm rot="16200000" flipH="1">
            <a:off x="7091705" y="3962949"/>
            <a:ext cx="1663700" cy="17383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10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79AA96BC-0CE7-7643-A4E2-122118747570}"/>
              </a:ext>
            </a:extLst>
          </p:cNvPr>
          <p:cNvSpPr/>
          <p:nvPr/>
        </p:nvSpPr>
        <p:spPr>
          <a:xfrm>
            <a:off x="5386239" y="5530721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253753E-F70C-3345-BBA9-A6AC7791F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7170" y="2271585"/>
            <a:ext cx="9396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pic>
        <p:nvPicPr>
          <p:cNvPr id="5" name="Picture 25" descr="Office Objects 0572">
            <a:extLst>
              <a:ext uri="{FF2B5EF4-FFF2-40B4-BE49-F238E27FC236}">
                <a16:creationId xmlns:a16="http://schemas.microsoft.com/office/drawing/2014/main" id="{D572DB2B-0C2B-FD4B-9252-5A824E2DA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916" y="1928684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BE447A-52E4-E949-8E5C-67D6528452F3}"/>
              </a:ext>
            </a:extLst>
          </p:cNvPr>
          <p:cNvCxnSpPr/>
          <p:nvPr/>
        </p:nvCxnSpPr>
        <p:spPr>
          <a:xfrm rot="16200000" flipV="1">
            <a:off x="5113189" y="4660771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32">
            <a:extLst>
              <a:ext uri="{FF2B5EF4-FFF2-40B4-BE49-F238E27FC236}">
                <a16:creationId xmlns:a16="http://schemas.microsoft.com/office/drawing/2014/main" id="{0345204E-401F-8E40-9E15-A45F11AF5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140" y="5962522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857BCF1A-56AB-D147-BEEC-E7B7D88C5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740" y="4108322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9" name="TextBox 34">
            <a:extLst>
              <a:ext uri="{FF2B5EF4-FFF2-40B4-BE49-F238E27FC236}">
                <a16:creationId xmlns:a16="http://schemas.microsoft.com/office/drawing/2014/main" id="{E12533AE-E93D-574C-896C-EF520E9BD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539" y="4209922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6F4DC7CE-524D-6749-8044-1005C4E0E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439" y="6000622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1" name="TextBox 32">
            <a:extLst>
              <a:ext uri="{FF2B5EF4-FFF2-40B4-BE49-F238E27FC236}">
                <a16:creationId xmlns:a16="http://schemas.microsoft.com/office/drawing/2014/main" id="{4672F7B1-E143-C24D-9E7D-635EA7C1B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040" y="5149722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12" name="TextBox 33">
            <a:extLst>
              <a:ext uri="{FF2B5EF4-FFF2-40B4-BE49-F238E27FC236}">
                <a16:creationId xmlns:a16="http://schemas.microsoft.com/office/drawing/2014/main" id="{4F0F9E6B-CFA4-1F4F-BF3F-A39A81467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040" y="3397122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9532F4BF-DDE4-BA4E-BEC9-40AF34DD8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440" y="3397122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C8A63920-55EB-7648-ACE2-DE899757A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6265" y="5243385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5" name="TextBox 36">
            <a:extLst>
              <a:ext uri="{FF2B5EF4-FFF2-40B4-BE49-F238E27FC236}">
                <a16:creationId xmlns:a16="http://schemas.microsoft.com/office/drawing/2014/main" id="{41EDB164-7A32-664D-8627-C26AA3514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840" y="5683122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16" name="TextBox 37">
            <a:extLst>
              <a:ext uri="{FF2B5EF4-FFF2-40B4-BE49-F238E27FC236}">
                <a16:creationId xmlns:a16="http://schemas.microsoft.com/office/drawing/2014/main" id="{580CEDAB-CA1D-9B48-9D9B-D226B1E94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540" y="6127622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17" name="TextBox 37">
            <a:extLst>
              <a:ext uri="{FF2B5EF4-FFF2-40B4-BE49-F238E27FC236}">
                <a16:creationId xmlns:a16="http://schemas.microsoft.com/office/drawing/2014/main" id="{AE5662CB-A370-5342-8EBB-522C6DD8F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227" y="4324222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EF93D2-F865-BF4A-BD30-4751AA6B26F1}"/>
              </a:ext>
            </a:extLst>
          </p:cNvPr>
          <p:cNvCxnSpPr/>
          <p:nvPr/>
        </p:nvCxnSpPr>
        <p:spPr>
          <a:xfrm rot="5400000">
            <a:off x="7224565" y="4644897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C4AE50-CC3B-EE41-9513-949F2B4CB213}"/>
              </a:ext>
            </a:extLst>
          </p:cNvPr>
          <p:cNvCxnSpPr/>
          <p:nvPr/>
        </p:nvCxnSpPr>
        <p:spPr>
          <a:xfrm flipV="1">
            <a:off x="5411639" y="3790821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AEED74-0D2E-E34F-8B20-3BEA85C871B4}"/>
              </a:ext>
            </a:extLst>
          </p:cNvPr>
          <p:cNvCxnSpPr/>
          <p:nvPr/>
        </p:nvCxnSpPr>
        <p:spPr>
          <a:xfrm flipV="1">
            <a:off x="5373539" y="5518021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A7CCBDC-52B6-1147-BA37-E6E8071691C2}"/>
              </a:ext>
            </a:extLst>
          </p:cNvPr>
          <p:cNvSpPr/>
          <p:nvPr/>
        </p:nvSpPr>
        <p:spPr>
          <a:xfrm>
            <a:off x="5398939" y="4336921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46B981D4-93C1-CF4C-9B19-2B1E68F1DE15}"/>
              </a:ext>
            </a:extLst>
          </p:cNvPr>
          <p:cNvSpPr/>
          <p:nvPr/>
        </p:nvSpPr>
        <p:spPr>
          <a:xfrm>
            <a:off x="5386239" y="3778121"/>
            <a:ext cx="2743200" cy="558800"/>
          </a:xfrm>
          <a:prstGeom prst="parallelogram">
            <a:avLst>
              <a:gd name="adj" fmla="val 107852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96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BC655D2C-6027-2449-BBD8-B5EB5DB8CB1A}"/>
              </a:ext>
            </a:extLst>
          </p:cNvPr>
          <p:cNvSpPr/>
          <p:nvPr/>
        </p:nvSpPr>
        <p:spPr>
          <a:xfrm>
            <a:off x="5857771" y="5486684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2CEAC6D-0EBB-9A4E-B3F6-8D471E92F017}"/>
              </a:ext>
            </a:extLst>
          </p:cNvPr>
          <p:cNvSpPr/>
          <p:nvPr/>
        </p:nvSpPr>
        <p:spPr>
          <a:xfrm>
            <a:off x="7791347" y="5896260"/>
            <a:ext cx="290513" cy="149225"/>
          </a:xfrm>
          <a:custGeom>
            <a:avLst/>
            <a:gdLst>
              <a:gd name="connsiteX0" fmla="*/ 219075 w 219075"/>
              <a:gd name="connsiteY0" fmla="*/ 4762 h 95250"/>
              <a:gd name="connsiteX1" fmla="*/ 52387 w 219075"/>
              <a:gd name="connsiteY1" fmla="*/ 0 h 95250"/>
              <a:gd name="connsiteX2" fmla="*/ 0 w 219075"/>
              <a:gd name="connsiteY2" fmla="*/ 95250 h 95250"/>
              <a:gd name="connsiteX3" fmla="*/ 161925 w 219075"/>
              <a:gd name="connsiteY3" fmla="*/ 95250 h 95250"/>
              <a:gd name="connsiteX4" fmla="*/ 219075 w 219075"/>
              <a:gd name="connsiteY4" fmla="*/ 4762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95250">
                <a:moveTo>
                  <a:pt x="219075" y="4762"/>
                </a:moveTo>
                <a:lnTo>
                  <a:pt x="52387" y="0"/>
                </a:lnTo>
                <a:lnTo>
                  <a:pt x="0" y="95250"/>
                </a:lnTo>
                <a:lnTo>
                  <a:pt x="161925" y="95250"/>
                </a:lnTo>
                <a:lnTo>
                  <a:pt x="219075" y="4762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C52B595-A54C-E248-87CE-E44415A3010C}"/>
              </a:ext>
            </a:extLst>
          </p:cNvPr>
          <p:cNvSpPr/>
          <p:nvPr/>
        </p:nvSpPr>
        <p:spPr>
          <a:xfrm>
            <a:off x="8400946" y="5259673"/>
            <a:ext cx="204788" cy="238125"/>
          </a:xfrm>
          <a:custGeom>
            <a:avLst/>
            <a:gdLst>
              <a:gd name="connsiteX0" fmla="*/ 145041 w 162661"/>
              <a:gd name="connsiteY0" fmla="*/ 0 h 162030"/>
              <a:gd name="connsiteX1" fmla="*/ 11691 w 162661"/>
              <a:gd name="connsiteY1" fmla="*/ 33337 h 162030"/>
              <a:gd name="connsiteX2" fmla="*/ 16453 w 162661"/>
              <a:gd name="connsiteY2" fmla="*/ 147637 h 162030"/>
              <a:gd name="connsiteX3" fmla="*/ 64078 w 162661"/>
              <a:gd name="connsiteY3" fmla="*/ 142875 h 162030"/>
              <a:gd name="connsiteX4" fmla="*/ 92653 w 162661"/>
              <a:gd name="connsiteY4" fmla="*/ 133350 h 162030"/>
              <a:gd name="connsiteX5" fmla="*/ 106941 w 162661"/>
              <a:gd name="connsiteY5" fmla="*/ 128587 h 162030"/>
              <a:gd name="connsiteX6" fmla="*/ 140278 w 162661"/>
              <a:gd name="connsiteY6" fmla="*/ 128587 h 162030"/>
              <a:gd name="connsiteX7" fmla="*/ 140278 w 162661"/>
              <a:gd name="connsiteY7" fmla="*/ 128587 h 162030"/>
              <a:gd name="connsiteX8" fmla="*/ 145041 w 162661"/>
              <a:gd name="connsiteY8" fmla="*/ 0 h 16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61" h="162030">
                <a:moveTo>
                  <a:pt x="145041" y="0"/>
                </a:moveTo>
                <a:lnTo>
                  <a:pt x="11691" y="33337"/>
                </a:lnTo>
                <a:cubicBezTo>
                  <a:pt x="13278" y="71437"/>
                  <a:pt x="0" y="113236"/>
                  <a:pt x="16453" y="147637"/>
                </a:cubicBezTo>
                <a:cubicBezTo>
                  <a:pt x="23336" y="162030"/>
                  <a:pt x="48397" y="145815"/>
                  <a:pt x="64078" y="142875"/>
                </a:cubicBezTo>
                <a:cubicBezTo>
                  <a:pt x="73946" y="141025"/>
                  <a:pt x="83128" y="136525"/>
                  <a:pt x="92653" y="133350"/>
                </a:cubicBezTo>
                <a:cubicBezTo>
                  <a:pt x="97416" y="131762"/>
                  <a:pt x="101951" y="129141"/>
                  <a:pt x="106941" y="128587"/>
                </a:cubicBezTo>
                <a:cubicBezTo>
                  <a:pt x="153331" y="123433"/>
                  <a:pt x="162661" y="117397"/>
                  <a:pt x="140278" y="128587"/>
                </a:cubicBezTo>
                <a:lnTo>
                  <a:pt x="140278" y="128587"/>
                </a:lnTo>
                <a:lnTo>
                  <a:pt x="145041" y="0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064CE2D6-8972-AB48-83F8-D041CA384A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92071" y="6877334"/>
            <a:ext cx="2133600" cy="365125"/>
          </a:xfrm>
        </p:spPr>
        <p:txBody>
          <a:bodyPr/>
          <a:lstStyle/>
          <a:p>
            <a:pPr>
              <a:defRPr/>
            </a:pPr>
            <a:fld id="{3F8AAB25-DF07-42F0-9138-3CDBEAF21B40}" type="datetime5">
              <a:rPr lang="en-GB"/>
              <a:pPr>
                <a:defRPr/>
              </a:pPr>
              <a:t>31-Mar-20</a:t>
            </a:fld>
            <a:endParaRPr lang="en-GB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1DC62D6-3320-D14C-A230-730F4F681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2229"/>
            <a:ext cx="9396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8FAF094B-890B-C941-9B24-F27F4F15B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729635"/>
              </p:ext>
            </p:extLst>
          </p:nvPr>
        </p:nvGraphicFramePr>
        <p:xfrm>
          <a:off x="1490559" y="3605497"/>
          <a:ext cx="34290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3" imgW="1523880" imgH="228600" progId="Equation.DSMT4">
                  <p:embed/>
                </p:oleObj>
              </mc:Choice>
              <mc:Fallback>
                <p:oleObj name="Equation" r:id="rId3" imgW="1523880" imgH="228600" progId="Equation.DSMT4">
                  <p:embed/>
                  <p:pic>
                    <p:nvPicPr>
                      <p:cNvPr id="1106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59" y="3605497"/>
                        <a:ext cx="3429000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FB49E3C5-C3D5-5A45-8B6F-20AA8B39F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010310"/>
              </p:ext>
            </p:extLst>
          </p:nvPr>
        </p:nvGraphicFramePr>
        <p:xfrm>
          <a:off x="1490559" y="4167472"/>
          <a:ext cx="23431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5" imgW="1041120" imgH="228600" progId="Equation.DSMT4">
                  <p:embed/>
                </p:oleObj>
              </mc:Choice>
              <mc:Fallback>
                <p:oleObj name="Equation" r:id="rId5" imgW="1041120" imgH="228600" progId="Equation.DSMT4">
                  <p:embed/>
                  <p:pic>
                    <p:nvPicPr>
                      <p:cNvPr id="1106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59" y="4167472"/>
                        <a:ext cx="2343150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305CC066-382C-B54B-B0E7-9563C6A4D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131197"/>
              </p:ext>
            </p:extLst>
          </p:nvPr>
        </p:nvGraphicFramePr>
        <p:xfrm>
          <a:off x="1490559" y="4729447"/>
          <a:ext cx="22018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7" imgW="1091880" imgH="228600" progId="Equation.DSMT4">
                  <p:embed/>
                </p:oleObj>
              </mc:Choice>
              <mc:Fallback>
                <p:oleObj name="Equation" r:id="rId7" imgW="1091880" imgH="228600" progId="Equation.DSMT4">
                  <p:embed/>
                  <p:pic>
                    <p:nvPicPr>
                      <p:cNvPr id="1106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59" y="4729447"/>
                        <a:ext cx="2201862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9DC9F24B-C617-804F-8917-1067A78C9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318764"/>
              </p:ext>
            </p:extLst>
          </p:nvPr>
        </p:nvGraphicFramePr>
        <p:xfrm>
          <a:off x="1490560" y="5272372"/>
          <a:ext cx="16144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9" imgW="799920" imgH="228600" progId="Equation.DSMT4">
                  <p:embed/>
                </p:oleObj>
              </mc:Choice>
              <mc:Fallback>
                <p:oleObj name="Equation" r:id="rId9" imgW="799920" imgH="228600" progId="Equation.DSMT4">
                  <p:embed/>
                  <p:pic>
                    <p:nvPicPr>
                      <p:cNvPr id="1106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60" y="5272372"/>
                        <a:ext cx="1614487" cy="4937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5" descr="Office Objects 0572">
            <a:extLst>
              <a:ext uri="{FF2B5EF4-FFF2-40B4-BE49-F238E27FC236}">
                <a16:creationId xmlns:a16="http://schemas.microsoft.com/office/drawing/2014/main" id="{0432AD9C-A11D-5641-91CF-45060E62A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236" y="1882349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39">
            <a:extLst>
              <a:ext uri="{FF2B5EF4-FFF2-40B4-BE49-F238E27FC236}">
                <a16:creationId xmlns:a16="http://schemas.microsoft.com/office/drawing/2014/main" id="{29DE1588-B264-054A-BC61-6C46C2B4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830" y="2773621"/>
            <a:ext cx="21291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Answer:</a:t>
            </a:r>
          </a:p>
          <a:p>
            <a:pPr eaLnBrk="1" hangingPunct="1"/>
            <a:r>
              <a:rPr lang="en-GB" sz="2400" dirty="0"/>
              <a:t>Find AH first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2785FDDA-CFE8-B541-94D8-7CF9944F9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081512"/>
              </p:ext>
            </p:extLst>
          </p:nvPr>
        </p:nvGraphicFramePr>
        <p:xfrm>
          <a:off x="1490559" y="5821648"/>
          <a:ext cx="16129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12" imgW="799920" imgH="177480" progId="Equation.DSMT4">
                  <p:embed/>
                </p:oleObj>
              </mc:Choice>
              <mc:Fallback>
                <p:oleObj name="Equation" r:id="rId12" imgW="799920" imgH="17748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59" y="5821648"/>
                        <a:ext cx="1612900" cy="3825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276662-DDA1-7946-A735-8D1A89FD3045}"/>
              </a:ext>
            </a:extLst>
          </p:cNvPr>
          <p:cNvCxnSpPr/>
          <p:nvPr/>
        </p:nvCxnSpPr>
        <p:spPr>
          <a:xfrm rot="16200000" flipV="1">
            <a:off x="5584721" y="4616734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32">
            <a:extLst>
              <a:ext uri="{FF2B5EF4-FFF2-40B4-BE49-F238E27FC236}">
                <a16:creationId xmlns:a16="http://schemas.microsoft.com/office/drawing/2014/main" id="{B9CFB535-D749-2E45-B9EA-2960F011C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672" y="5918485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D0602C93-3A03-554A-9DB4-A128B2ACE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272" y="4064285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AF6331B7-6D0F-7841-89FA-E57B4C974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071" y="4165885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FA0DF491-BC74-2348-88DB-5A87EC5EF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5971" y="5956585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20" name="TextBox 32">
            <a:extLst>
              <a:ext uri="{FF2B5EF4-FFF2-40B4-BE49-F238E27FC236}">
                <a16:creationId xmlns:a16="http://schemas.microsoft.com/office/drawing/2014/main" id="{06CD98AA-0EFE-E643-9217-49E8B1EF2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572" y="5105685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21" name="TextBox 33">
            <a:extLst>
              <a:ext uri="{FF2B5EF4-FFF2-40B4-BE49-F238E27FC236}">
                <a16:creationId xmlns:a16="http://schemas.microsoft.com/office/drawing/2014/main" id="{3D56B0EF-744B-5141-B419-0FDF1B69B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572" y="3353085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97650993-8DE2-8E46-9804-474E2CAF9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0972" y="3353085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1B27938D-A841-6A4A-AE75-431F2ABCF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7797" y="5199348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24" name="TextBox 36">
            <a:extLst>
              <a:ext uri="{FF2B5EF4-FFF2-40B4-BE49-F238E27FC236}">
                <a16:creationId xmlns:a16="http://schemas.microsoft.com/office/drawing/2014/main" id="{53E93388-62C3-864D-B9DD-56BDD887A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372" y="5639085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26" name="TextBox 37">
            <a:extLst>
              <a:ext uri="{FF2B5EF4-FFF2-40B4-BE49-F238E27FC236}">
                <a16:creationId xmlns:a16="http://schemas.microsoft.com/office/drawing/2014/main" id="{A9163631-F5F7-5849-94A6-75D252DB9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072" y="6083585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97B0682A-2F05-0B48-9FC5-DC78ED240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759" y="4280185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sp>
        <p:nvSpPr>
          <p:cNvPr id="28" name="TextBox 37">
            <a:extLst>
              <a:ext uri="{FF2B5EF4-FFF2-40B4-BE49-F238E27FC236}">
                <a16:creationId xmlns:a16="http://schemas.microsoft.com/office/drawing/2014/main" id="{DDDBA48B-3BAC-FC48-A31B-DCC0012137EE}"/>
              </a:ext>
            </a:extLst>
          </p:cNvPr>
          <p:cNvSpPr txBox="1">
            <a:spLocks noChangeArrowheads="1"/>
          </p:cNvSpPr>
          <p:nvPr/>
        </p:nvSpPr>
        <p:spPr bwMode="auto">
          <a:xfrm rot="20917532">
            <a:off x="7115071" y="5639084"/>
            <a:ext cx="78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 dirty="0"/>
              <a:t>10cm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AE6E7E-6884-3645-93A9-46DA088C2189}"/>
              </a:ext>
            </a:extLst>
          </p:cNvPr>
          <p:cNvCxnSpPr/>
          <p:nvPr/>
        </p:nvCxnSpPr>
        <p:spPr>
          <a:xfrm rot="5400000">
            <a:off x="7696097" y="4600860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56F2EC-5434-BD41-B42E-4A63F6490DFB}"/>
              </a:ext>
            </a:extLst>
          </p:cNvPr>
          <p:cNvCxnSpPr/>
          <p:nvPr/>
        </p:nvCxnSpPr>
        <p:spPr>
          <a:xfrm flipV="1">
            <a:off x="5883171" y="3746784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FEB22A-342E-F84D-90D8-DEF4AC550FA9}"/>
              </a:ext>
            </a:extLst>
          </p:cNvPr>
          <p:cNvCxnSpPr/>
          <p:nvPr/>
        </p:nvCxnSpPr>
        <p:spPr>
          <a:xfrm flipV="1">
            <a:off x="5845071" y="5473984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3AF9D92-F120-EC45-AABE-0C800CAE842B}"/>
              </a:ext>
            </a:extLst>
          </p:cNvPr>
          <p:cNvSpPr/>
          <p:nvPr/>
        </p:nvSpPr>
        <p:spPr>
          <a:xfrm>
            <a:off x="5870471" y="4292884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50BF89B2-E773-1A43-A8D6-F28AB90F0DA1}"/>
              </a:ext>
            </a:extLst>
          </p:cNvPr>
          <p:cNvSpPr/>
          <p:nvPr/>
        </p:nvSpPr>
        <p:spPr>
          <a:xfrm>
            <a:off x="5857771" y="3734084"/>
            <a:ext cx="2743200" cy="558800"/>
          </a:xfrm>
          <a:prstGeom prst="parallelogram">
            <a:avLst>
              <a:gd name="adj" fmla="val 107852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6EED6CB-F7F9-D74E-B558-EE3466A5DC7C}"/>
              </a:ext>
            </a:extLst>
          </p:cNvPr>
          <p:cNvCxnSpPr/>
          <p:nvPr/>
        </p:nvCxnSpPr>
        <p:spPr>
          <a:xfrm>
            <a:off x="5857771" y="6048659"/>
            <a:ext cx="2159000" cy="15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ABA870-E1D9-5540-9198-C07CA0A03A80}"/>
              </a:ext>
            </a:extLst>
          </p:cNvPr>
          <p:cNvCxnSpPr/>
          <p:nvPr/>
        </p:nvCxnSpPr>
        <p:spPr>
          <a:xfrm flipV="1">
            <a:off x="8002485" y="5473984"/>
            <a:ext cx="604837" cy="59055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4AF4452-EE0A-004D-A4C9-ED56693035DB}"/>
              </a:ext>
            </a:extLst>
          </p:cNvPr>
          <p:cNvCxnSpPr/>
          <p:nvPr/>
        </p:nvCxnSpPr>
        <p:spPr>
          <a:xfrm flipV="1">
            <a:off x="5835547" y="5469222"/>
            <a:ext cx="2733675" cy="576262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99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C6DC29C-03E3-984F-9FB2-A37284F58F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03278" y="6975605"/>
            <a:ext cx="2133600" cy="365125"/>
          </a:xfrm>
        </p:spPr>
        <p:txBody>
          <a:bodyPr/>
          <a:lstStyle/>
          <a:p>
            <a:pPr>
              <a:defRPr/>
            </a:pPr>
            <a:fld id="{3F8AAB25-DF07-42F0-9138-3CDBEAF21B40}" type="datetime5">
              <a:rPr lang="en-GB"/>
              <a:pPr>
                <a:defRPr/>
              </a:pPr>
              <a:t>31-Mar-20</a:t>
            </a:fld>
            <a:endParaRPr lang="en-GB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16945DB-E79F-B543-8514-D9AF176B6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4693" y="2237425"/>
            <a:ext cx="9515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651F6800-A8C3-2243-AF15-48F9A6743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626503"/>
              </p:ext>
            </p:extLst>
          </p:nvPr>
        </p:nvGraphicFramePr>
        <p:xfrm>
          <a:off x="1046217" y="3702180"/>
          <a:ext cx="34575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1106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7" y="3702180"/>
                        <a:ext cx="3457575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730C8B24-4857-DD42-9931-87FAE72B4E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047229"/>
              </p:ext>
            </p:extLst>
          </p:nvPr>
        </p:nvGraphicFramePr>
        <p:xfrm>
          <a:off x="1046216" y="4251455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5" imgW="1117440" imgH="228600" progId="Equation.DSMT4">
                  <p:embed/>
                </p:oleObj>
              </mc:Choice>
              <mc:Fallback>
                <p:oleObj name="Equation" r:id="rId5" imgW="1117440" imgH="228600" progId="Equation.DSMT4">
                  <p:embed/>
                  <p:pic>
                    <p:nvPicPr>
                      <p:cNvPr id="1106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6" y="4251455"/>
                        <a:ext cx="25146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8603E765-6515-7B4D-B9F2-C849D0AB4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004766"/>
              </p:ext>
            </p:extLst>
          </p:nvPr>
        </p:nvGraphicFramePr>
        <p:xfrm>
          <a:off x="1046216" y="4799143"/>
          <a:ext cx="23542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7" imgW="1168200" imgH="228600" progId="Equation.DSMT4">
                  <p:embed/>
                </p:oleObj>
              </mc:Choice>
              <mc:Fallback>
                <p:oleObj name="Equation" r:id="rId7" imgW="1168200" imgH="228600" progId="Equation.DSMT4">
                  <p:embed/>
                  <p:pic>
                    <p:nvPicPr>
                      <p:cNvPr id="1106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6" y="4799143"/>
                        <a:ext cx="2354262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7C975274-A120-434C-8F1F-942429C9F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651011"/>
              </p:ext>
            </p:extLst>
          </p:nvPr>
        </p:nvGraphicFramePr>
        <p:xfrm>
          <a:off x="1046216" y="5329369"/>
          <a:ext cx="19494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9" imgW="965160" imgH="241200" progId="Equation.DSMT4">
                  <p:embed/>
                </p:oleObj>
              </mc:Choice>
              <mc:Fallback>
                <p:oleObj name="Equation" r:id="rId9" imgW="965160" imgH="241200" progId="Equation.DSMT4">
                  <p:embed/>
                  <p:pic>
                    <p:nvPicPr>
                      <p:cNvPr id="1106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6" y="5329369"/>
                        <a:ext cx="1949450" cy="5222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5" descr="Office Objects 0572">
            <a:extLst>
              <a:ext uri="{FF2B5EF4-FFF2-40B4-BE49-F238E27FC236}">
                <a16:creationId xmlns:a16="http://schemas.microsoft.com/office/drawing/2014/main" id="{6C63B168-1647-234C-826D-89B8AECC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66" y="2165481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39">
            <a:extLst>
              <a:ext uri="{FF2B5EF4-FFF2-40B4-BE49-F238E27FC236}">
                <a16:creationId xmlns:a16="http://schemas.microsoft.com/office/drawing/2014/main" id="{2132E02C-E770-8944-9EEC-0E490AFB3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79" y="3171956"/>
            <a:ext cx="200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/>
              <a:t>Now find AG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1EA55A1C-D2F6-EC41-8BA6-531B34F4FE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966047"/>
              </p:ext>
            </p:extLst>
          </p:nvPr>
        </p:nvGraphicFramePr>
        <p:xfrm>
          <a:off x="1046217" y="5892931"/>
          <a:ext cx="35321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12" imgW="1752480" imgH="203040" progId="Equation.DSMT4">
                  <p:embed/>
                </p:oleObj>
              </mc:Choice>
              <mc:Fallback>
                <p:oleObj name="Equation" r:id="rId12" imgW="1752480" imgH="20304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7" y="5892931"/>
                        <a:ext cx="3532187" cy="4365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arallelogram 11">
            <a:extLst>
              <a:ext uri="{FF2B5EF4-FFF2-40B4-BE49-F238E27FC236}">
                <a16:creationId xmlns:a16="http://schemas.microsoft.com/office/drawing/2014/main" id="{EFB1C457-0C70-0540-804D-E0722D5E2292}"/>
              </a:ext>
            </a:extLst>
          </p:cNvPr>
          <p:cNvSpPr/>
          <p:nvPr/>
        </p:nvSpPr>
        <p:spPr>
          <a:xfrm>
            <a:off x="5368978" y="5584955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D84AE95-8554-314B-A8B9-2A4706EBE520}"/>
              </a:ext>
            </a:extLst>
          </p:cNvPr>
          <p:cNvSpPr/>
          <p:nvPr/>
        </p:nvSpPr>
        <p:spPr>
          <a:xfrm>
            <a:off x="7897867" y="5357944"/>
            <a:ext cx="204787" cy="238125"/>
          </a:xfrm>
          <a:custGeom>
            <a:avLst/>
            <a:gdLst>
              <a:gd name="connsiteX0" fmla="*/ 145041 w 162661"/>
              <a:gd name="connsiteY0" fmla="*/ 0 h 162030"/>
              <a:gd name="connsiteX1" fmla="*/ 11691 w 162661"/>
              <a:gd name="connsiteY1" fmla="*/ 33337 h 162030"/>
              <a:gd name="connsiteX2" fmla="*/ 16453 w 162661"/>
              <a:gd name="connsiteY2" fmla="*/ 147637 h 162030"/>
              <a:gd name="connsiteX3" fmla="*/ 64078 w 162661"/>
              <a:gd name="connsiteY3" fmla="*/ 142875 h 162030"/>
              <a:gd name="connsiteX4" fmla="*/ 92653 w 162661"/>
              <a:gd name="connsiteY4" fmla="*/ 133350 h 162030"/>
              <a:gd name="connsiteX5" fmla="*/ 106941 w 162661"/>
              <a:gd name="connsiteY5" fmla="*/ 128587 h 162030"/>
              <a:gd name="connsiteX6" fmla="*/ 140278 w 162661"/>
              <a:gd name="connsiteY6" fmla="*/ 128587 h 162030"/>
              <a:gd name="connsiteX7" fmla="*/ 140278 w 162661"/>
              <a:gd name="connsiteY7" fmla="*/ 128587 h 162030"/>
              <a:gd name="connsiteX8" fmla="*/ 145041 w 162661"/>
              <a:gd name="connsiteY8" fmla="*/ 0 h 16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61" h="162030">
                <a:moveTo>
                  <a:pt x="145041" y="0"/>
                </a:moveTo>
                <a:lnTo>
                  <a:pt x="11691" y="33337"/>
                </a:lnTo>
                <a:cubicBezTo>
                  <a:pt x="13278" y="71437"/>
                  <a:pt x="0" y="113236"/>
                  <a:pt x="16453" y="147637"/>
                </a:cubicBezTo>
                <a:cubicBezTo>
                  <a:pt x="23336" y="162030"/>
                  <a:pt x="48397" y="145815"/>
                  <a:pt x="64078" y="142875"/>
                </a:cubicBezTo>
                <a:cubicBezTo>
                  <a:pt x="73946" y="141025"/>
                  <a:pt x="83128" y="136525"/>
                  <a:pt x="92653" y="133350"/>
                </a:cubicBezTo>
                <a:cubicBezTo>
                  <a:pt x="97416" y="131762"/>
                  <a:pt x="101951" y="129141"/>
                  <a:pt x="106941" y="128587"/>
                </a:cubicBezTo>
                <a:cubicBezTo>
                  <a:pt x="153331" y="123433"/>
                  <a:pt x="162661" y="117397"/>
                  <a:pt x="140278" y="128587"/>
                </a:cubicBezTo>
                <a:lnTo>
                  <a:pt x="140278" y="128587"/>
                </a:lnTo>
                <a:lnTo>
                  <a:pt x="145041" y="0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8BF8AA9D-CD49-9B42-AA84-DFC7204309FD}"/>
              </a:ext>
            </a:extLst>
          </p:cNvPr>
          <p:cNvSpPr/>
          <p:nvPr/>
        </p:nvSpPr>
        <p:spPr>
          <a:xfrm>
            <a:off x="7302554" y="5967543"/>
            <a:ext cx="239713" cy="176212"/>
          </a:xfrm>
          <a:custGeom>
            <a:avLst/>
            <a:gdLst>
              <a:gd name="connsiteX0" fmla="*/ 219075 w 219075"/>
              <a:gd name="connsiteY0" fmla="*/ 4762 h 95250"/>
              <a:gd name="connsiteX1" fmla="*/ 52387 w 219075"/>
              <a:gd name="connsiteY1" fmla="*/ 0 h 95250"/>
              <a:gd name="connsiteX2" fmla="*/ 0 w 219075"/>
              <a:gd name="connsiteY2" fmla="*/ 95250 h 95250"/>
              <a:gd name="connsiteX3" fmla="*/ 161925 w 219075"/>
              <a:gd name="connsiteY3" fmla="*/ 95250 h 95250"/>
              <a:gd name="connsiteX4" fmla="*/ 219075 w 219075"/>
              <a:gd name="connsiteY4" fmla="*/ 4762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95250">
                <a:moveTo>
                  <a:pt x="219075" y="4762"/>
                </a:moveTo>
                <a:lnTo>
                  <a:pt x="52387" y="0"/>
                </a:lnTo>
                <a:lnTo>
                  <a:pt x="0" y="95250"/>
                </a:lnTo>
                <a:lnTo>
                  <a:pt x="161925" y="95250"/>
                </a:lnTo>
                <a:lnTo>
                  <a:pt x="219075" y="4762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2B5AA4-B868-AD49-8603-320E3DA32275}"/>
              </a:ext>
            </a:extLst>
          </p:cNvPr>
          <p:cNvCxnSpPr/>
          <p:nvPr/>
        </p:nvCxnSpPr>
        <p:spPr>
          <a:xfrm rot="16200000" flipV="1">
            <a:off x="5095928" y="4715005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32">
            <a:extLst>
              <a:ext uri="{FF2B5EF4-FFF2-40B4-BE49-F238E27FC236}">
                <a16:creationId xmlns:a16="http://schemas.microsoft.com/office/drawing/2014/main" id="{46892782-6E9F-3C4C-8829-2AB92B7C9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879" y="6016756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A9B0D5FD-3072-FE4B-ACF2-0AE904308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79" y="4162556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7CD4C23D-86F5-2442-9E5B-D1A57D2A9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78" y="4264156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8968A52F-40E2-A64A-A066-EE6DDFAC8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78" y="6054856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20" name="TextBox 32">
            <a:extLst>
              <a:ext uri="{FF2B5EF4-FFF2-40B4-BE49-F238E27FC236}">
                <a16:creationId xmlns:a16="http://schemas.microsoft.com/office/drawing/2014/main" id="{344BF104-EDDA-FB49-9178-BBCF12EE1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79" y="5203956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21" name="TextBox 33">
            <a:extLst>
              <a:ext uri="{FF2B5EF4-FFF2-40B4-BE49-F238E27FC236}">
                <a16:creationId xmlns:a16="http://schemas.microsoft.com/office/drawing/2014/main" id="{091B572E-C864-224C-B61D-22CF9B8A5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79" y="3451356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E0A107C6-7396-B140-9B9A-BEE82AEF6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79" y="3451356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FABB3C2E-688D-E743-B08F-DD82101D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3292" y="5283331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24" name="TextBox 36">
            <a:extLst>
              <a:ext uri="{FF2B5EF4-FFF2-40B4-BE49-F238E27FC236}">
                <a16:creationId xmlns:a16="http://schemas.microsoft.com/office/drawing/2014/main" id="{F2B0CFE5-F423-834E-B8B3-E19A2AF0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3579" y="5737356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26" name="TextBox 37">
            <a:extLst>
              <a:ext uri="{FF2B5EF4-FFF2-40B4-BE49-F238E27FC236}">
                <a16:creationId xmlns:a16="http://schemas.microsoft.com/office/drawing/2014/main" id="{888166C8-DC29-BC44-A850-7B3A03ECE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279" y="6181856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57B8F670-69D6-1541-8B53-9ED605B3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9966" y="4378456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sp>
        <p:nvSpPr>
          <p:cNvPr id="28" name="TextBox 37">
            <a:extLst>
              <a:ext uri="{FF2B5EF4-FFF2-40B4-BE49-F238E27FC236}">
                <a16:creationId xmlns:a16="http://schemas.microsoft.com/office/drawing/2014/main" id="{93344CDE-B65D-0A46-9324-44CB64314EBD}"/>
              </a:ext>
            </a:extLst>
          </p:cNvPr>
          <p:cNvSpPr txBox="1">
            <a:spLocks noChangeArrowheads="1"/>
          </p:cNvSpPr>
          <p:nvPr/>
        </p:nvSpPr>
        <p:spPr bwMode="auto">
          <a:xfrm rot="20917532">
            <a:off x="6626278" y="5737355"/>
            <a:ext cx="78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/>
              <a:t>10cm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B3C99E-75DC-CF49-9F1E-50501B27C464}"/>
              </a:ext>
            </a:extLst>
          </p:cNvPr>
          <p:cNvCxnSpPr/>
          <p:nvPr/>
        </p:nvCxnSpPr>
        <p:spPr>
          <a:xfrm rot="5400000">
            <a:off x="7207304" y="4699131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876A55-ADBD-0344-9B27-671B036DBE52}"/>
              </a:ext>
            </a:extLst>
          </p:cNvPr>
          <p:cNvCxnSpPr/>
          <p:nvPr/>
        </p:nvCxnSpPr>
        <p:spPr>
          <a:xfrm flipV="1">
            <a:off x="5394378" y="3845055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4842A1C-CDD9-9840-9C44-BC36C01C007A}"/>
              </a:ext>
            </a:extLst>
          </p:cNvPr>
          <p:cNvCxnSpPr/>
          <p:nvPr/>
        </p:nvCxnSpPr>
        <p:spPr>
          <a:xfrm flipV="1">
            <a:off x="5356278" y="5572255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6236885-FE72-594A-8852-4008B59C0047}"/>
              </a:ext>
            </a:extLst>
          </p:cNvPr>
          <p:cNvSpPr/>
          <p:nvPr/>
        </p:nvSpPr>
        <p:spPr>
          <a:xfrm>
            <a:off x="5381678" y="4391155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606AA3E8-30EB-7047-BD95-E400908A4384}"/>
              </a:ext>
            </a:extLst>
          </p:cNvPr>
          <p:cNvSpPr/>
          <p:nvPr/>
        </p:nvSpPr>
        <p:spPr>
          <a:xfrm>
            <a:off x="5368978" y="3832355"/>
            <a:ext cx="2743200" cy="558800"/>
          </a:xfrm>
          <a:prstGeom prst="parallelogram">
            <a:avLst>
              <a:gd name="adj" fmla="val 101421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BE0783B-C3A0-EF4A-94A7-CB514D995C73}"/>
              </a:ext>
            </a:extLst>
          </p:cNvPr>
          <p:cNvCxnSpPr/>
          <p:nvPr/>
        </p:nvCxnSpPr>
        <p:spPr>
          <a:xfrm>
            <a:off x="5368978" y="6146930"/>
            <a:ext cx="2159000" cy="15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984ADDB-94B5-F645-8490-CC254A041CA5}"/>
              </a:ext>
            </a:extLst>
          </p:cNvPr>
          <p:cNvCxnSpPr/>
          <p:nvPr/>
        </p:nvCxnSpPr>
        <p:spPr>
          <a:xfrm flipV="1">
            <a:off x="7513692" y="5572255"/>
            <a:ext cx="604837" cy="59055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B18525-2583-A84B-BA0B-8F48EB4B3644}"/>
              </a:ext>
            </a:extLst>
          </p:cNvPr>
          <p:cNvCxnSpPr/>
          <p:nvPr/>
        </p:nvCxnSpPr>
        <p:spPr>
          <a:xfrm flipV="1">
            <a:off x="5346754" y="5567493"/>
            <a:ext cx="2733675" cy="576262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CE32410-20FE-A348-8331-91934E61615D}"/>
              </a:ext>
            </a:extLst>
          </p:cNvPr>
          <p:cNvCxnSpPr/>
          <p:nvPr/>
        </p:nvCxnSpPr>
        <p:spPr>
          <a:xfrm flipV="1">
            <a:off x="5402317" y="5543681"/>
            <a:ext cx="2744787" cy="5953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1BC1D7-9305-4E4F-8326-D7D78DC021CD}"/>
              </a:ext>
            </a:extLst>
          </p:cNvPr>
          <p:cNvCxnSpPr/>
          <p:nvPr/>
        </p:nvCxnSpPr>
        <p:spPr>
          <a:xfrm flipV="1">
            <a:off x="5370566" y="3846644"/>
            <a:ext cx="2749550" cy="2287587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4CAFF90-8425-0A4A-AF00-F7A6B4C84E9D}"/>
              </a:ext>
            </a:extLst>
          </p:cNvPr>
          <p:cNvCxnSpPr/>
          <p:nvPr/>
        </p:nvCxnSpPr>
        <p:spPr>
          <a:xfrm rot="5400000" flipH="1" flipV="1">
            <a:off x="7241435" y="4699925"/>
            <a:ext cx="1758950" cy="1587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10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81214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</a:t>
            </a:r>
            <a:r>
              <a:rPr lang="en-US" sz="3600" dirty="0" err="1"/>
              <a:t>Mathspace</a:t>
            </a:r>
            <a:r>
              <a:rPr lang="en-US" sz="3600" dirty="0"/>
              <a:t> Task – Trig Ratios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8C3D60-1117-344E-914F-97AFB589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0" name="Rectangle 3"/>
          <p:cNvSpPr>
            <a:spLocks noChangeArrowheads="1"/>
          </p:cNvSpPr>
          <p:nvPr/>
        </p:nvSpPr>
        <p:spPr bwMode="auto">
          <a:xfrm>
            <a:off x="3657601" y="-16049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Rectangle 3"/>
          <p:cNvSpPr>
            <a:spLocks noChangeArrowheads="1"/>
          </p:cNvSpPr>
          <p:nvPr/>
        </p:nvSpPr>
        <p:spPr bwMode="auto">
          <a:xfrm>
            <a:off x="3657601" y="-16049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78" name="Picture 30">
            <a:extLst>
              <a:ext uri="{FF2B5EF4-FFF2-40B4-BE49-F238E27FC236}">
                <a16:creationId xmlns:a16="http://schemas.microsoft.com/office/drawing/2014/main" id="{6C274D68-FE32-CD43-A302-FF2CFBFAF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38" b="1169"/>
          <a:stretch>
            <a:fillRect/>
          </a:stretch>
        </p:blipFill>
        <p:spPr bwMode="auto">
          <a:xfrm>
            <a:off x="2405063" y="1261393"/>
            <a:ext cx="7381875" cy="4594225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038">
            <a:extLst>
              <a:ext uri="{FF2B5EF4-FFF2-40B4-BE49-F238E27FC236}">
                <a16:creationId xmlns:a16="http://schemas.microsoft.com/office/drawing/2014/main" id="{89B822B8-C11D-874D-B0AE-41CAE8E14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5649598"/>
            <a:ext cx="3765550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6" name="Picture 5" descr="TICK.jpg">
            <a:extLst>
              <a:ext uri="{FF2B5EF4-FFF2-40B4-BE49-F238E27FC236}">
                <a16:creationId xmlns:a16="http://schemas.microsoft.com/office/drawing/2014/main" id="{17154B81-66C9-3842-BC6F-FD9FD008E63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92209" y="6158715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DAA58FCE-0AA6-C241-99D4-736E80A72EA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27234" y="6158715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DC5280D8-D738-7749-B0BC-19AC635B484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509970" y="5331661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question mark.jpg">
            <a:extLst>
              <a:ext uri="{FF2B5EF4-FFF2-40B4-BE49-F238E27FC236}">
                <a16:creationId xmlns:a16="http://schemas.microsoft.com/office/drawing/2014/main" id="{B0939DB2-BDB6-0849-91A2-3CFF86D3692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93128" y="5331661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C658F019-A1F9-464F-8A67-0150A8CCFA1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35342" y="5331661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CC18BD55-6C81-CD4B-BD16-5E079840F7F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94225" y="6158715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B310C559-3EFD-B748-8A4A-AC42073F5F7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1733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>
            <a:extLst>
              <a:ext uri="{FF2B5EF4-FFF2-40B4-BE49-F238E27FC236}">
                <a16:creationId xmlns:a16="http://schemas.microsoft.com/office/drawing/2014/main" id="{E72E1B45-839C-1C4A-B861-0E8E4D805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68" b="53136"/>
          <a:stretch>
            <a:fillRect/>
          </a:stretch>
        </p:blipFill>
        <p:spPr bwMode="auto">
          <a:xfrm>
            <a:off x="2492376" y="1930400"/>
            <a:ext cx="8012113" cy="3779838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6A90F4-DE77-964D-B38B-248358C52011}"/>
              </a:ext>
            </a:extLst>
          </p:cNvPr>
          <p:cNvSpPr txBox="1"/>
          <p:nvPr/>
        </p:nvSpPr>
        <p:spPr>
          <a:xfrm>
            <a:off x="9371014" y="5213350"/>
            <a:ext cx="10625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(4 marks)</a:t>
            </a:r>
          </a:p>
        </p:txBody>
      </p:sp>
      <p:sp>
        <p:nvSpPr>
          <p:cNvPr id="7" name="Text Box 1038">
            <a:extLst>
              <a:ext uri="{FF2B5EF4-FFF2-40B4-BE49-F238E27FC236}">
                <a16:creationId xmlns:a16="http://schemas.microsoft.com/office/drawing/2014/main" id="{005F6DBF-5316-BD4F-9D1A-666F581FA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364" y="2687639"/>
            <a:ext cx="3736975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9" name="Picture 8" descr="TICK.jpg">
            <a:extLst>
              <a:ext uri="{FF2B5EF4-FFF2-40B4-BE49-F238E27FC236}">
                <a16:creationId xmlns:a16="http://schemas.microsoft.com/office/drawing/2014/main" id="{522114BB-C7DA-7A40-8FB8-CC0ACBA19F6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38661" y="3157755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B44A0615-3A46-8F49-BBC7-43D18108BF0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89381" y="2369370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question mark.jpg">
            <a:extLst>
              <a:ext uri="{FF2B5EF4-FFF2-40B4-BE49-F238E27FC236}">
                <a16:creationId xmlns:a16="http://schemas.microsoft.com/office/drawing/2014/main" id="{3DA60CC8-143E-6646-99E9-D30EC9E2184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69345" y="2369370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TICK.jpg">
            <a:extLst>
              <a:ext uri="{FF2B5EF4-FFF2-40B4-BE49-F238E27FC236}">
                <a16:creationId xmlns:a16="http://schemas.microsoft.com/office/drawing/2014/main" id="{BA94FD0B-9C03-A944-B38B-C88117E72EF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1760" y="3157755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 descr="TICK.jpg">
            <a:extLst>
              <a:ext uri="{FF2B5EF4-FFF2-40B4-BE49-F238E27FC236}">
                <a16:creationId xmlns:a16="http://schemas.microsoft.com/office/drawing/2014/main" id="{9D09BB9D-DC97-5249-BF3C-D6C1D9F7D5E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03222" y="3157755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89675455-097C-3A4E-9454-3B463F966EF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7763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>
            <a:extLst>
              <a:ext uri="{FF2B5EF4-FFF2-40B4-BE49-F238E27FC236}">
                <a16:creationId xmlns:a16="http://schemas.microsoft.com/office/drawing/2014/main" id="{DBF27664-A156-B747-AEEA-29650CBB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" t="2325" r="12531" b="11417"/>
          <a:stretch>
            <a:fillRect/>
          </a:stretch>
        </p:blipFill>
        <p:spPr bwMode="auto">
          <a:xfrm>
            <a:off x="3124200" y="1524000"/>
            <a:ext cx="6591300" cy="4857750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038">
            <a:extLst>
              <a:ext uri="{FF2B5EF4-FFF2-40B4-BE49-F238E27FC236}">
                <a16:creationId xmlns:a16="http://schemas.microsoft.com/office/drawing/2014/main" id="{62D9928F-B4C1-224B-A278-814C82EA4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2812" y="2813051"/>
            <a:ext cx="3640138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6" name="Picture 5" descr="TICK.jpg">
            <a:extLst>
              <a:ext uri="{FF2B5EF4-FFF2-40B4-BE49-F238E27FC236}">
                <a16:creationId xmlns:a16="http://schemas.microsoft.com/office/drawing/2014/main" id="{1666FA75-92D6-7849-8944-9C0FA84F4EB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3420" y="333600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56FEBCDF-DECA-8D4C-88C3-FD73527BBCA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43901" y="333600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BC337CBE-2CD5-5C40-A966-3567B567B8E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48714" y="2495305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question mark.jpg">
            <a:extLst>
              <a:ext uri="{FF2B5EF4-FFF2-40B4-BE49-F238E27FC236}">
                <a16:creationId xmlns:a16="http://schemas.microsoft.com/office/drawing/2014/main" id="{67FB79DD-3D94-5E48-94D8-B485AB6392D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31872" y="2495305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9DE57110-560B-6A42-B681-13953D18FB2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74086" y="2495305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A1E0901E-6B43-6246-9437-6F2DA5D24FE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12396" y="333600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87B713F7-6ADA-F349-9F99-330E94580B0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952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5" name="Picture 5">
            <a:extLst>
              <a:ext uri="{FF2B5EF4-FFF2-40B4-BE49-F238E27FC236}">
                <a16:creationId xmlns:a16="http://schemas.microsoft.com/office/drawing/2014/main" id="{72662580-20E5-2640-ADE3-20C84DB6E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7112" b="5384"/>
          <a:stretch>
            <a:fillRect/>
          </a:stretch>
        </p:blipFill>
        <p:spPr bwMode="auto">
          <a:xfrm>
            <a:off x="2549526" y="1968500"/>
            <a:ext cx="7991475" cy="4349750"/>
          </a:xfrm>
          <a:prstGeom prst="rect">
            <a:avLst/>
          </a:prstGeom>
          <a:noFill/>
          <a:ln w="50800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45059" name="Rectangle 2">
            <a:extLst>
              <a:ext uri="{FF2B5EF4-FFF2-40B4-BE49-F238E27FC236}">
                <a16:creationId xmlns:a16="http://schemas.microsoft.com/office/drawing/2014/main" id="{5034DCDF-39F6-9045-8433-7260C89EC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9789" y="1319214"/>
            <a:ext cx="5049837" cy="504825"/>
          </a:xfrm>
        </p:spPr>
        <p:txBody>
          <a:bodyPr anchor="t"/>
          <a:lstStyle/>
          <a:p>
            <a:pPr eaLnBrk="1" hangingPunct="1"/>
            <a:r>
              <a:rPr lang="en-GB" altLang="en-US" sz="2400">
                <a:solidFill>
                  <a:schemeClr val="tx1"/>
                </a:solidFill>
              </a:rPr>
              <a:t>Past Paper Type Questions</a:t>
            </a:r>
          </a:p>
        </p:txBody>
      </p:sp>
      <p:sp>
        <p:nvSpPr>
          <p:cNvPr id="5" name="Text Box 1038">
            <a:extLst>
              <a:ext uri="{FF2B5EF4-FFF2-40B4-BE49-F238E27FC236}">
                <a16:creationId xmlns:a16="http://schemas.microsoft.com/office/drawing/2014/main" id="{E252AEB3-C8F9-664E-9640-D30C21D26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9" y="2878139"/>
            <a:ext cx="3749675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6" name="Picture 5" descr="TICK.jpg">
            <a:extLst>
              <a:ext uri="{FF2B5EF4-FFF2-40B4-BE49-F238E27FC236}">
                <a16:creationId xmlns:a16="http://schemas.microsoft.com/office/drawing/2014/main" id="{CDC18299-E0DF-6049-8EBF-B7ABBF3FEB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71867" y="3387494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CBB119DA-E8A9-8A41-8EF8-B98A726D9B9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71436" y="3387494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C30A0631-F40C-734A-8359-05E480B61C6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62588" y="2560440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question mark.jpg">
            <a:extLst>
              <a:ext uri="{FF2B5EF4-FFF2-40B4-BE49-F238E27FC236}">
                <a16:creationId xmlns:a16="http://schemas.microsoft.com/office/drawing/2014/main" id="{98FDB41C-51F0-8840-A93E-E92F6F29C33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45746" y="2560440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1DEA530D-6A3B-244D-A52D-E8C63251299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87960" y="2560440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646A5C25-256F-BF4C-AFDE-F53E4085DE6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88043" y="3387494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AE2054-CEC8-914A-8007-20461C603A96}"/>
              </a:ext>
            </a:extLst>
          </p:cNvPr>
          <p:cNvSpPr txBox="1"/>
          <p:nvPr/>
        </p:nvSpPr>
        <p:spPr>
          <a:xfrm>
            <a:off x="7678738" y="5991225"/>
            <a:ext cx="10062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 marks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FA8F957-D8F6-424C-A866-E1BCC959FCE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103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9" name="Picture 5">
            <a:extLst>
              <a:ext uri="{FF2B5EF4-FFF2-40B4-BE49-F238E27FC236}">
                <a16:creationId xmlns:a16="http://schemas.microsoft.com/office/drawing/2014/main" id="{EDC4E112-4C21-7F40-A410-CA7B52FAA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4925" y="1968501"/>
            <a:ext cx="6318250" cy="4803775"/>
          </a:xfrm>
          <a:prstGeom prst="rect">
            <a:avLst/>
          </a:prstGeom>
          <a:noFill/>
          <a:ln w="50800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46083" name="Rectangle 2">
            <a:extLst>
              <a:ext uri="{FF2B5EF4-FFF2-40B4-BE49-F238E27FC236}">
                <a16:creationId xmlns:a16="http://schemas.microsoft.com/office/drawing/2014/main" id="{CB79DA12-D4FE-654C-9B23-714A3FCED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9789" y="1319214"/>
            <a:ext cx="5049837" cy="504825"/>
          </a:xfrm>
        </p:spPr>
        <p:txBody>
          <a:bodyPr anchor="t"/>
          <a:lstStyle/>
          <a:p>
            <a:pPr eaLnBrk="1" hangingPunct="1"/>
            <a:r>
              <a:rPr lang="en-GB" altLang="en-US" sz="2400">
                <a:solidFill>
                  <a:schemeClr val="tx1"/>
                </a:solidFill>
              </a:rPr>
              <a:t>Past Paper Type Questions</a:t>
            </a:r>
          </a:p>
        </p:txBody>
      </p:sp>
      <p:sp>
        <p:nvSpPr>
          <p:cNvPr id="5" name="Text Box 1038">
            <a:extLst>
              <a:ext uri="{FF2B5EF4-FFF2-40B4-BE49-F238E27FC236}">
                <a16:creationId xmlns:a16="http://schemas.microsoft.com/office/drawing/2014/main" id="{97957BA9-ECB2-B24E-8930-67D8C51D0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6" y="2743201"/>
            <a:ext cx="3763963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B5684769-EEC8-E14B-9C23-0333C8BA17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11314" y="325101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21081D9F-068C-FB49-B17E-8FBD92888DE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62034" y="2423963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CAF671BA-8B24-FF4F-ACF3-C981101318D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41998" y="2423963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0A0967DC-048E-9142-91F8-7A8997CE1E4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25505" y="325101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TICK.jpg">
            <a:extLst>
              <a:ext uri="{FF2B5EF4-FFF2-40B4-BE49-F238E27FC236}">
                <a16:creationId xmlns:a16="http://schemas.microsoft.com/office/drawing/2014/main" id="{799FCF6F-BAFD-534F-8F30-7F818390DA8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4412" y="325101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F4A4B6AE-5409-FE41-841E-A8DB0C60D3E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5116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10A61A18-84B2-0546-A7F7-896E999EA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9789" y="1319214"/>
            <a:ext cx="5049837" cy="504825"/>
          </a:xfrm>
        </p:spPr>
        <p:txBody>
          <a:bodyPr anchor="t"/>
          <a:lstStyle/>
          <a:p>
            <a:pPr eaLnBrk="1" hangingPunct="1"/>
            <a:r>
              <a:rPr lang="en-GB" altLang="en-US" sz="2400">
                <a:solidFill>
                  <a:schemeClr val="tx1"/>
                </a:solidFill>
              </a:rPr>
              <a:t>Past Paper Type Questions</a:t>
            </a:r>
          </a:p>
        </p:txBody>
      </p:sp>
      <p:pic>
        <p:nvPicPr>
          <p:cNvPr id="108546" name="Picture 2">
            <a:extLst>
              <a:ext uri="{FF2B5EF4-FFF2-40B4-BE49-F238E27FC236}">
                <a16:creationId xmlns:a16="http://schemas.microsoft.com/office/drawing/2014/main" id="{48C076D3-9815-1C42-88A9-6F6DFF195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" r="15469" b="20117"/>
          <a:stretch>
            <a:fillRect/>
          </a:stretch>
        </p:blipFill>
        <p:spPr bwMode="auto">
          <a:xfrm>
            <a:off x="2606676" y="2033589"/>
            <a:ext cx="6054725" cy="4751387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25540-56FC-D94C-BE8E-0B786F58794F}"/>
              </a:ext>
            </a:extLst>
          </p:cNvPr>
          <p:cNvSpPr txBox="1"/>
          <p:nvPr/>
        </p:nvSpPr>
        <p:spPr>
          <a:xfrm>
            <a:off x="7583488" y="6454775"/>
            <a:ext cx="10097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(4marks)</a:t>
            </a:r>
          </a:p>
        </p:txBody>
      </p:sp>
      <p:sp>
        <p:nvSpPr>
          <p:cNvPr id="7" name="Text Box 1038">
            <a:extLst>
              <a:ext uri="{FF2B5EF4-FFF2-40B4-BE49-F238E27FC236}">
                <a16:creationId xmlns:a16="http://schemas.microsoft.com/office/drawing/2014/main" id="{75331749-831C-C741-AA99-92B5DDFC9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6" y="3521076"/>
            <a:ext cx="3763963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8" name="Picture 7" descr="TICK.jpg">
            <a:extLst>
              <a:ext uri="{FF2B5EF4-FFF2-40B4-BE49-F238E27FC236}">
                <a16:creationId xmlns:a16="http://schemas.microsoft.com/office/drawing/2014/main" id="{D932B6B7-D7A1-8A4A-A294-4FDFE67F0AB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25218" y="4028953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question mark.jpg">
            <a:extLst>
              <a:ext uri="{FF2B5EF4-FFF2-40B4-BE49-F238E27FC236}">
                <a16:creationId xmlns:a16="http://schemas.microsoft.com/office/drawing/2014/main" id="{E3B4821D-3B83-914D-AC35-A2C3B1097CB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89074" y="3201899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22D02FA8-DAFD-CA47-BE5B-5BB161ED58B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28094" y="3201899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37D7E3C9-75E5-4E45-9DB3-05B6D69498E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25505" y="4028953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TICK.jpg">
            <a:extLst>
              <a:ext uri="{FF2B5EF4-FFF2-40B4-BE49-F238E27FC236}">
                <a16:creationId xmlns:a16="http://schemas.microsoft.com/office/drawing/2014/main" id="{C546A068-97A1-7644-AB96-598CA04304B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40156" y="4028953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question mark.jpg">
            <a:extLst>
              <a:ext uri="{FF2B5EF4-FFF2-40B4-BE49-F238E27FC236}">
                <a16:creationId xmlns:a16="http://schemas.microsoft.com/office/drawing/2014/main" id="{E2F8C624-D879-BA4B-8D70-D4B0019295D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63150" y="3201899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663C53CA-0EF7-7540-BE4C-5136C69E3F31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023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6C39633-3DB4-CA49-B301-589D75184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9789" y="1319214"/>
            <a:ext cx="5049837" cy="504825"/>
          </a:xfrm>
        </p:spPr>
        <p:txBody>
          <a:bodyPr anchor="t"/>
          <a:lstStyle/>
          <a:p>
            <a:pPr eaLnBrk="1" hangingPunct="1"/>
            <a:r>
              <a:rPr lang="en-GB" altLang="en-US" sz="2400">
                <a:solidFill>
                  <a:schemeClr val="tx1"/>
                </a:solidFill>
              </a:rPr>
              <a:t>Past Paper Type Questions</a:t>
            </a:r>
          </a:p>
        </p:txBody>
      </p:sp>
      <p:pic>
        <p:nvPicPr>
          <p:cNvPr id="109570" name="Picture 2">
            <a:extLst>
              <a:ext uri="{FF2B5EF4-FFF2-40B4-BE49-F238E27FC236}">
                <a16:creationId xmlns:a16="http://schemas.microsoft.com/office/drawing/2014/main" id="{05E0E52D-B5DB-F24B-A261-2E811ACD0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0"/>
          <a:stretch>
            <a:fillRect/>
          </a:stretch>
        </p:blipFill>
        <p:spPr bwMode="auto">
          <a:xfrm>
            <a:off x="2516189" y="1922464"/>
            <a:ext cx="7140575" cy="4872037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038">
            <a:extLst>
              <a:ext uri="{FF2B5EF4-FFF2-40B4-BE49-F238E27FC236}">
                <a16:creationId xmlns:a16="http://schemas.microsoft.com/office/drawing/2014/main" id="{FF7D9BD2-A412-5E45-AB77-DA6F499FB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2619376"/>
            <a:ext cx="3671888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6" name="Picture 5" descr="TICK.jpg">
            <a:extLst>
              <a:ext uri="{FF2B5EF4-FFF2-40B4-BE49-F238E27FC236}">
                <a16:creationId xmlns:a16="http://schemas.microsoft.com/office/drawing/2014/main" id="{5A895908-3332-3C41-B129-607E4BA4241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72606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question mark.jpg">
            <a:extLst>
              <a:ext uri="{FF2B5EF4-FFF2-40B4-BE49-F238E27FC236}">
                <a16:creationId xmlns:a16="http://schemas.microsoft.com/office/drawing/2014/main" id="{24DD4105-E134-464D-8FF0-8726ACC6D36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522431" y="230114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1F503F4C-DC6A-8540-B099-C7630EFA9C8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89587" y="230114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TICK.jpg">
            <a:extLst>
              <a:ext uri="{FF2B5EF4-FFF2-40B4-BE49-F238E27FC236}">
                <a16:creationId xmlns:a16="http://schemas.microsoft.com/office/drawing/2014/main" id="{C3F1B311-8815-9244-81B8-D9B1FC700B9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72578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TICK.jpg">
            <a:extLst>
              <a:ext uri="{FF2B5EF4-FFF2-40B4-BE49-F238E27FC236}">
                <a16:creationId xmlns:a16="http://schemas.microsoft.com/office/drawing/2014/main" id="{3BEAFE24-6930-A049-980E-199959E3C27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41625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F588A9B8-29D9-1540-A1F8-12AA0CF67E3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9498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EC903AD-3857-144A-812D-941E5CCA1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9789" y="1319214"/>
            <a:ext cx="5049837" cy="504825"/>
          </a:xfrm>
        </p:spPr>
        <p:txBody>
          <a:bodyPr anchor="t"/>
          <a:lstStyle/>
          <a:p>
            <a:pPr eaLnBrk="1" hangingPunct="1"/>
            <a:r>
              <a:rPr lang="en-GB" altLang="en-US" sz="2400">
                <a:solidFill>
                  <a:schemeClr val="tx1"/>
                </a:solidFill>
              </a:rPr>
              <a:t>Past Paper Type Questions</a:t>
            </a:r>
          </a:p>
        </p:txBody>
      </p:sp>
      <p:pic>
        <p:nvPicPr>
          <p:cNvPr id="110595" name="Picture 3">
            <a:extLst>
              <a:ext uri="{FF2B5EF4-FFF2-40B4-BE49-F238E27FC236}">
                <a16:creationId xmlns:a16="http://schemas.microsoft.com/office/drawing/2014/main" id="{8F36DE79-9222-1148-BCB7-D5C74909C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26"/>
          <a:stretch>
            <a:fillRect/>
          </a:stretch>
        </p:blipFill>
        <p:spPr bwMode="auto">
          <a:xfrm>
            <a:off x="2554288" y="1952626"/>
            <a:ext cx="6445250" cy="4837113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5EAFBD-4156-4D44-9A2A-45B1A195E260}"/>
              </a:ext>
            </a:extLst>
          </p:cNvPr>
          <p:cNvSpPr txBox="1"/>
          <p:nvPr/>
        </p:nvSpPr>
        <p:spPr>
          <a:xfrm>
            <a:off x="7488238" y="6373813"/>
            <a:ext cx="10097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(4marks)</a:t>
            </a:r>
          </a:p>
        </p:txBody>
      </p:sp>
      <p:sp>
        <p:nvSpPr>
          <p:cNvPr id="6" name="Text Box 1038">
            <a:extLst>
              <a:ext uri="{FF2B5EF4-FFF2-40B4-BE49-F238E27FC236}">
                <a16:creationId xmlns:a16="http://schemas.microsoft.com/office/drawing/2014/main" id="{EC0F87FC-F9BE-2644-9B9D-200CC3210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664" y="2619376"/>
            <a:ext cx="3589337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CF773158-8044-D14B-B014-3E62C4032A5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60783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21F18BDB-ADD9-0A49-8125-49D6F8CEC9D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324639" y="230114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0D937A96-42E8-8249-AB81-A9AFD0A9EC7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63659" y="230114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2624A473-1669-634C-9CA6-924CCBCBFC9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61070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TICK.jpg">
            <a:extLst>
              <a:ext uri="{FF2B5EF4-FFF2-40B4-BE49-F238E27FC236}">
                <a16:creationId xmlns:a16="http://schemas.microsoft.com/office/drawing/2014/main" id="{29CEB0C1-58CD-0049-B10D-8BF5C35E0D3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75721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question mark.jpg">
            <a:extLst>
              <a:ext uri="{FF2B5EF4-FFF2-40B4-BE49-F238E27FC236}">
                <a16:creationId xmlns:a16="http://schemas.microsoft.com/office/drawing/2014/main" id="{2138AA9E-2C23-3D41-8F0F-6BB4872B192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98715" y="230114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95949F2B-494A-8149-BE45-525456D7870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1528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FA32BA-AA44-A34C-9D9B-0A8283359997}"/>
              </a:ext>
            </a:extLst>
          </p:cNvPr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pic>
        <p:nvPicPr>
          <p:cNvPr id="50179" name="Picture 2">
            <a:extLst>
              <a:ext uri="{FF2B5EF4-FFF2-40B4-BE49-F238E27FC236}">
                <a16:creationId xmlns:a16="http://schemas.microsoft.com/office/drawing/2014/main" id="{F5A65BBF-8EC3-9045-A21B-499720C2D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7"/>
          <a:stretch>
            <a:fillRect/>
          </a:stretch>
        </p:blipFill>
        <p:spPr bwMode="auto">
          <a:xfrm>
            <a:off x="1557338" y="1752600"/>
            <a:ext cx="9110663" cy="468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3A9DBA0-D17B-8146-9D8C-98E28F52D4CC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80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7ED807-E600-8D44-81B9-31C3C8506435}"/>
              </a:ext>
            </a:extLst>
          </p:cNvPr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pic>
        <p:nvPicPr>
          <p:cNvPr id="51203" name="Picture 2" descr="32BD7A6A">
            <a:extLst>
              <a:ext uri="{FF2B5EF4-FFF2-40B4-BE49-F238E27FC236}">
                <a16:creationId xmlns:a16="http://schemas.microsoft.com/office/drawing/2014/main" id="{C2F73985-F20B-F74D-9060-9CAE70045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2" t="38962" b="49030"/>
          <a:stretch>
            <a:fillRect/>
          </a:stretch>
        </p:blipFill>
        <p:spPr bwMode="auto">
          <a:xfrm>
            <a:off x="1638300" y="685800"/>
            <a:ext cx="90297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Picture 3" descr="32BD7A6A">
            <a:extLst>
              <a:ext uri="{FF2B5EF4-FFF2-40B4-BE49-F238E27FC236}">
                <a16:creationId xmlns:a16="http://schemas.microsoft.com/office/drawing/2014/main" id="{C2490248-9E37-0B42-AC59-60BEB00F0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3" t="50970" r="13368" b="19627"/>
          <a:stretch>
            <a:fillRect/>
          </a:stretch>
        </p:blipFill>
        <p:spPr bwMode="auto">
          <a:xfrm>
            <a:off x="3514724" y="2048102"/>
            <a:ext cx="5538788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Picture 4" descr="32BD7A6A">
            <a:extLst>
              <a:ext uri="{FF2B5EF4-FFF2-40B4-BE49-F238E27FC236}">
                <a16:creationId xmlns:a16="http://schemas.microsoft.com/office/drawing/2014/main" id="{AA153FE9-9536-344D-8EC7-9DFD9BC7A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2" t="83025" r="37038" b="5960"/>
          <a:stretch>
            <a:fillRect/>
          </a:stretch>
        </p:blipFill>
        <p:spPr bwMode="auto">
          <a:xfrm>
            <a:off x="3278982" y="5245100"/>
            <a:ext cx="6010275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7E48DCD-B419-174D-8A43-8BC1CD9E340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54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543</Words>
  <Application>Microsoft Macintosh PowerPoint</Application>
  <PresentationFormat>Widescreen</PresentationFormat>
  <Paragraphs>116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Charlesworth</vt:lpstr>
      <vt:lpstr>Comic Sans MS</vt:lpstr>
      <vt:lpstr>Wingdings</vt:lpstr>
      <vt:lpstr>Education 16x9</vt:lpstr>
      <vt:lpstr>Equation</vt:lpstr>
      <vt:lpstr>Topic: Trigonometry</vt:lpstr>
      <vt:lpstr>Topic: Trigonometry EQ: How can I apply trigonometry to solve real-life problems?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Topic: Trigonometry EQ: What are the key trigonometric ratios I need to know?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Past Paper Type Questions</vt:lpstr>
      <vt:lpstr>Past Paper Type Questions</vt:lpstr>
      <vt:lpstr>Past Paper Type Questions</vt:lpstr>
      <vt:lpstr>Past Paper Type Questions</vt:lpstr>
      <vt:lpstr>Past Paper Type Questions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2020-03-31T03:35:21Z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
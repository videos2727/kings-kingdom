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8" r:id="rId5"/>
    <p:sldId id="295" r:id="rId6"/>
    <p:sldId id="319" r:id="rId7"/>
    <p:sldId id="326" r:id="rId8"/>
    <p:sldId id="327" r:id="rId9"/>
    <p:sldId id="331" r:id="rId10"/>
    <p:sldId id="328" r:id="rId11"/>
    <p:sldId id="330" r:id="rId12"/>
    <p:sldId id="332" r:id="rId13"/>
    <p:sldId id="333" r:id="rId14"/>
    <p:sldId id="334" r:id="rId15"/>
    <p:sldId id="335" r:id="rId16"/>
    <p:sldId id="329" r:id="rId17"/>
    <p:sldId id="32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99" autoAdjust="0"/>
    <p:restoredTop sz="94745"/>
  </p:normalViewPr>
  <p:slideViewPr>
    <p:cSldViewPr snapToGrid="0">
      <p:cViewPr varScale="1">
        <p:scale>
          <a:sx n="106" d="100"/>
          <a:sy n="106" d="100"/>
        </p:scale>
        <p:origin x="4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3/31/20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3/31/20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8896" y="2465294"/>
            <a:ext cx="5389895" cy="4392706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/>
          <a:lstStyle/>
          <a:p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  <a:p>
            <a:pPr lvl="5"/>
            <a:r>
              <a:t>Sixth</a:t>
            </a:r>
          </a:p>
          <a:p>
            <a:pPr lvl="6"/>
            <a:r>
              <a:t>Seventh</a:t>
            </a:r>
          </a:p>
          <a:p>
            <a:pPr lvl="7"/>
            <a:r>
              <a:t>Eighth</a:t>
            </a:r>
          </a:p>
          <a:p>
            <a:pPr lvl="8"/>
            <a:r>
              <a:t>Ninth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image" Target="../media/image6.emf"/><Relationship Id="rId7" Type="http://schemas.openxmlformats.org/officeDocument/2006/relationships/image" Target="../media/image10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6.emf"/><Relationship Id="rId7" Type="http://schemas.openxmlformats.org/officeDocument/2006/relationships/image" Target="../media/image10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emf"/><Relationship Id="rId4" Type="http://schemas.openxmlformats.org/officeDocument/2006/relationships/image" Target="../media/image15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image" Target="../media/image17.emf"/><Relationship Id="rId7" Type="http://schemas.openxmlformats.org/officeDocument/2006/relationships/image" Target="../media/image20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emf"/><Relationship Id="rId5" Type="http://schemas.openxmlformats.org/officeDocument/2006/relationships/image" Target="../media/image19.emf"/><Relationship Id="rId10" Type="http://schemas.openxmlformats.org/officeDocument/2006/relationships/image" Target="../media/image23.emf"/><Relationship Id="rId4" Type="http://schemas.openxmlformats.org/officeDocument/2006/relationships/image" Target="../media/image18.emf"/><Relationship Id="rId9" Type="http://schemas.openxmlformats.org/officeDocument/2006/relationships/image" Target="../media/image22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image" Target="../media/image25.emf"/><Relationship Id="rId7" Type="http://schemas.openxmlformats.org/officeDocument/2006/relationships/image" Target="../media/image29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emf"/><Relationship Id="rId11" Type="http://schemas.openxmlformats.org/officeDocument/2006/relationships/image" Target="../media/image33.emf"/><Relationship Id="rId5" Type="http://schemas.openxmlformats.org/officeDocument/2006/relationships/image" Target="../media/image27.emf"/><Relationship Id="rId10" Type="http://schemas.openxmlformats.org/officeDocument/2006/relationships/image" Target="../media/image32.emf"/><Relationship Id="rId4" Type="http://schemas.openxmlformats.org/officeDocument/2006/relationships/image" Target="../media/image26.emf"/><Relationship Id="rId9" Type="http://schemas.openxmlformats.org/officeDocument/2006/relationships/image" Target="../media/image31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3" Type="http://schemas.openxmlformats.org/officeDocument/2006/relationships/image" Target="../media/image35.emf"/><Relationship Id="rId7" Type="http://schemas.openxmlformats.org/officeDocument/2006/relationships/image" Target="../media/image39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8.emf"/><Relationship Id="rId11" Type="http://schemas.openxmlformats.org/officeDocument/2006/relationships/image" Target="../media/image33.emf"/><Relationship Id="rId5" Type="http://schemas.openxmlformats.org/officeDocument/2006/relationships/image" Target="../media/image37.emf"/><Relationship Id="rId10" Type="http://schemas.openxmlformats.org/officeDocument/2006/relationships/image" Target="../media/image42.emf"/><Relationship Id="rId4" Type="http://schemas.openxmlformats.org/officeDocument/2006/relationships/image" Target="../media/image36.emf"/><Relationship Id="rId9" Type="http://schemas.openxmlformats.org/officeDocument/2006/relationships/image" Target="../media/image41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Topic: Trigonometry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EQ: What are the key trigonometric relationships I need to know?</a:t>
            </a:r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What are the key trigonometric ratios I need to know?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5998464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0" y="5998464"/>
            <a:ext cx="1455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Summary:</a:t>
            </a:r>
          </a:p>
        </p:txBody>
      </p:sp>
    </p:spTree>
    <p:extLst>
      <p:ext uri="{BB962C8B-B14F-4D97-AF65-F5344CB8AC3E}">
        <p14:creationId xmlns:p14="http://schemas.microsoft.com/office/powerpoint/2010/main" val="1826152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3EBEA0A-120D-EA49-BB91-3BA9DE5E5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What are the key trigonometric ratios I need to know?</a:t>
            </a:r>
          </a:p>
        </p:txBody>
      </p:sp>
      <p:sp>
        <p:nvSpPr>
          <p:cNvPr id="13" name="AutoShape 11">
            <a:extLst>
              <a:ext uri="{FF2B5EF4-FFF2-40B4-BE49-F238E27FC236}">
                <a16:creationId xmlns:a16="http://schemas.microsoft.com/office/drawing/2014/main" id="{6499503B-85F5-A042-A278-1D6C359ED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471" y="3314216"/>
            <a:ext cx="4038600" cy="2667000"/>
          </a:xfrm>
          <a:prstGeom prst="rtTriangle">
            <a:avLst/>
          </a:prstGeom>
          <a:solidFill>
            <a:srgbClr val="00FF99">
              <a:alpha val="50195"/>
            </a:srgbClr>
          </a:solidFill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77FF5A-0F74-EC44-9576-39069038B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796" y="3026878"/>
            <a:ext cx="184150" cy="344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</p:txBody>
      </p:sp>
      <p:sp>
        <p:nvSpPr>
          <p:cNvPr id="15" name="Text Box 3">
            <a:extLst>
              <a:ext uri="{FF2B5EF4-FFF2-40B4-BE49-F238E27FC236}">
                <a16:creationId xmlns:a16="http://schemas.microsoft.com/office/drawing/2014/main" id="{07A2F74E-64BC-B74A-81F1-7944E88E0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239" y="2005256"/>
            <a:ext cx="8724900" cy="108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dirty="0">
                <a:latin typeface="Comic Sans MS" panose="030F0902030302020204" pitchFamily="66" charset="0"/>
              </a:rPr>
              <a:t>Trigonometry means “triangle” and “measurement”.</a:t>
            </a:r>
          </a:p>
        </p:txBody>
      </p:sp>
      <p:sp>
        <p:nvSpPr>
          <p:cNvPr id="16" name="Text Box 4">
            <a:extLst>
              <a:ext uri="{FF2B5EF4-FFF2-40B4-BE49-F238E27FC236}">
                <a16:creationId xmlns:a16="http://schemas.microsoft.com/office/drawing/2014/main" id="{DD28D2FD-C290-CA47-AF03-C324DE837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4364" y="3161752"/>
            <a:ext cx="784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" name="Text Box 6">
            <a:extLst>
              <a:ext uri="{FF2B5EF4-FFF2-40B4-BE49-F238E27FC236}">
                <a16:creationId xmlns:a16="http://schemas.microsoft.com/office/drawing/2014/main" id="{B8A982B5-04F6-3E4E-920C-FF4B14229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3071" y="6057416"/>
            <a:ext cx="17287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lIns="92075" tIns="46038" rIns="92075" bIns="46038" anchor="ctr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en-US" altLang="zh-TW" sz="2800">
                <a:latin typeface="Comic Sans MS" panose="030F0902030302020204" pitchFamily="66" charset="0"/>
                <a:ea typeface="PMingLiU" panose="02020500000000000000" pitchFamily="18" charset="-120"/>
              </a:rPr>
              <a:t>Adjacent</a:t>
            </a:r>
          </a:p>
        </p:txBody>
      </p:sp>
      <p:sp>
        <p:nvSpPr>
          <p:cNvPr id="18" name="Text Box 7">
            <a:extLst>
              <a:ext uri="{FF2B5EF4-FFF2-40B4-BE49-F238E27FC236}">
                <a16:creationId xmlns:a16="http://schemas.microsoft.com/office/drawing/2014/main" id="{C1A38389-C387-8F42-9672-4FEEFDCE0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9071" y="3758716"/>
            <a:ext cx="611188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eaVert" wrap="none" lIns="92075" tIns="46038" rIns="92075" bIns="46038" anchor="ctr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en-US" altLang="zh-TW" sz="2800">
                <a:latin typeface="Comic Sans MS" panose="030F0902030302020204" pitchFamily="66" charset="0"/>
                <a:ea typeface="PMingLiU" panose="02020500000000000000" pitchFamily="18" charset="-120"/>
              </a:rPr>
              <a:t>Opposite</a:t>
            </a:r>
          </a:p>
        </p:txBody>
      </p:sp>
      <p:sp>
        <p:nvSpPr>
          <p:cNvPr id="19" name="Text Box 9">
            <a:extLst>
              <a:ext uri="{FF2B5EF4-FFF2-40B4-BE49-F238E27FC236}">
                <a16:creationId xmlns:a16="http://schemas.microsoft.com/office/drawing/2014/main" id="{2BCD897F-68B2-B34D-A6E9-ED8644FC25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2221" y="5522428"/>
            <a:ext cx="473075" cy="5222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lIns="92075" tIns="46038" rIns="92075" bIns="46038" anchor="ctr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kumimoji="1" lang="en-US" altLang="zh-TW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PMingLiU" pitchFamily="18" charset="-120"/>
              </a:rPr>
              <a:t>a</a:t>
            </a:r>
            <a:r>
              <a:rPr kumimoji="1" lang="en-US" altLang="zh-TW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PMingLiU" pitchFamily="18" charset="-120"/>
                <a:cs typeface="Times New Roman" pitchFamily="18" charset="0"/>
              </a:rPr>
              <a:t>°</a:t>
            </a:r>
            <a:endParaRPr kumimoji="1" lang="en-US" altLang="zh-TW" sz="2800" dirty="0">
              <a:effectLst>
                <a:outerShdw blurRad="38100" dist="38100" dir="2700000" algn="tl">
                  <a:srgbClr val="000000"/>
                </a:outerShdw>
              </a:effectLst>
              <a:ea typeface="PMingLiU" pitchFamily="18" charset="-12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9A49BD-746F-CE4D-B7A8-FB1C7F1B9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471" y="5600216"/>
            <a:ext cx="381000" cy="381000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" name="Text Box 12">
            <a:extLst>
              <a:ext uri="{FF2B5EF4-FFF2-40B4-BE49-F238E27FC236}">
                <a16:creationId xmlns:a16="http://schemas.microsoft.com/office/drawing/2014/main" id="{87F2189E-BC7F-D442-8091-CEBE852B6927}"/>
              </a:ext>
            </a:extLst>
          </p:cNvPr>
          <p:cNvSpPr txBox="1">
            <a:spLocks noChangeArrowheads="1"/>
          </p:cNvSpPr>
          <p:nvPr/>
        </p:nvSpPr>
        <p:spPr bwMode="auto">
          <a:xfrm rot="2163625">
            <a:off x="4000671" y="4152416"/>
            <a:ext cx="2590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en-US" altLang="zh-TW" sz="2800">
                <a:latin typeface="Comic Sans MS" panose="030F0902030302020204" pitchFamily="66" charset="0"/>
                <a:ea typeface="PMingLiU" panose="02020500000000000000" pitchFamily="18" charset="-120"/>
              </a:rPr>
              <a:t>hypotenuse</a:t>
            </a:r>
          </a:p>
        </p:txBody>
      </p:sp>
      <p:sp>
        <p:nvSpPr>
          <p:cNvPr id="22" name="AutoShape 14">
            <a:extLst>
              <a:ext uri="{FF2B5EF4-FFF2-40B4-BE49-F238E27FC236}">
                <a16:creationId xmlns:a16="http://schemas.microsoft.com/office/drawing/2014/main" id="{13F715BC-2280-4443-8D7F-5A108FF79E66}"/>
              </a:ext>
            </a:extLst>
          </p:cNvPr>
          <p:cNvSpPr>
            <a:spLocks noChangeArrowheads="1"/>
          </p:cNvSpPr>
          <p:nvPr/>
        </p:nvSpPr>
        <p:spPr bwMode="auto">
          <a:xfrm rot="1262297">
            <a:off x="3246609" y="4857266"/>
            <a:ext cx="2667000" cy="457200"/>
          </a:xfrm>
          <a:prstGeom prst="leftArrow">
            <a:avLst>
              <a:gd name="adj1" fmla="val 26963"/>
              <a:gd name="adj2" fmla="val 12115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" name="Line 15">
            <a:extLst>
              <a:ext uri="{FF2B5EF4-FFF2-40B4-BE49-F238E27FC236}">
                <a16:creationId xmlns:a16="http://schemas.microsoft.com/office/drawing/2014/main" id="{9B57E4A7-3A2B-D549-8D55-A06E56B84B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51409" y="5304941"/>
            <a:ext cx="381000" cy="304800"/>
          </a:xfrm>
          <a:prstGeom prst="line">
            <a:avLst/>
          </a:prstGeom>
          <a:noFill/>
          <a:ln w="76200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defRPr/>
            </a:pPr>
            <a:endParaRPr lang="en-GB"/>
          </a:p>
        </p:txBody>
      </p:sp>
      <p:sp>
        <p:nvSpPr>
          <p:cNvPr id="24" name="Text Box 16">
            <a:extLst>
              <a:ext uri="{FF2B5EF4-FFF2-40B4-BE49-F238E27FC236}">
                <a16:creationId xmlns:a16="http://schemas.microsoft.com/office/drawing/2014/main" id="{E185C3B7-AF41-6C43-B4D1-4A5681BB68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239" y="2560884"/>
            <a:ext cx="77724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dirty="0">
                <a:latin typeface="Comic Sans MS" panose="030F0902030302020204" pitchFamily="66" charset="0"/>
              </a:rPr>
              <a:t>We will be using right-angled triangles.</a:t>
            </a:r>
          </a:p>
        </p:txBody>
      </p:sp>
    </p:spTree>
    <p:extLst>
      <p:ext uri="{BB962C8B-B14F-4D97-AF65-F5344CB8AC3E}">
        <p14:creationId xmlns:p14="http://schemas.microsoft.com/office/powerpoint/2010/main" val="1535304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3EBEA0A-120D-EA49-BB91-3BA9DE5E5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What are the key trigonometric ratios I need to know?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CACC95-7BD4-7041-80DB-422BB09D0A59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-1043842" y="1431696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9pPr>
          </a:lstStyle>
          <a:p>
            <a:pPr eaLnBrk="1" hangingPunct="1"/>
            <a:r>
              <a:rPr lang="en-US" altLang="en-US" u="sng" dirty="0"/>
              <a:t>Parts of a Right Triangle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5FAF07-7EA5-6C45-AF92-047CECE716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5758" y="2533932"/>
            <a:ext cx="3975100" cy="1887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" name="Text Box 7">
            <a:extLst>
              <a:ext uri="{FF2B5EF4-FFF2-40B4-BE49-F238E27FC236}">
                <a16:creationId xmlns:a16="http://schemas.microsoft.com/office/drawing/2014/main" id="{62798315-1387-D94D-933F-C2BC69A16D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3908" y="4951412"/>
            <a:ext cx="2438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 b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103FE2-8D28-E848-B0C8-0777F15634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558" y="3721382"/>
            <a:ext cx="479425" cy="700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0D1045-5945-AC44-B98D-F28326A02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858" y="4421469"/>
            <a:ext cx="2057400" cy="43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867D338-CAEA-2241-9894-1A0D33CA5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0958" y="4116669"/>
            <a:ext cx="385763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B2B194-B084-BC47-A6DB-150D57ECE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2158" y="3126069"/>
            <a:ext cx="22098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D7056D-0E98-7042-A1FE-C391066DE9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0958" y="2211669"/>
            <a:ext cx="38417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EBEABCB-1C78-CA48-9AA4-41C021ADA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9758" y="2668869"/>
            <a:ext cx="20383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60190D4-33AA-924C-943F-67200BD0A2B1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5676901" y="4945855"/>
            <a:ext cx="4038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dirty="0"/>
              <a:t>Imagine that you are at Angle A looking into the triangle.</a:t>
            </a:r>
            <a:r>
              <a:rPr lang="en-US" altLang="en-US" dirty="0"/>
              <a:t> </a:t>
            </a:r>
          </a:p>
        </p:txBody>
      </p:sp>
      <p:sp>
        <p:nvSpPr>
          <p:cNvPr id="14" name="Text Box 18">
            <a:extLst>
              <a:ext uri="{FF2B5EF4-FFF2-40B4-BE49-F238E27FC236}">
                <a16:creationId xmlns:a16="http://schemas.microsoft.com/office/drawing/2014/main" id="{07E4BA1A-7905-7542-816E-5AF7F5FEF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108" y="6170612"/>
            <a:ext cx="3886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0"/>
              <a:t>The </a:t>
            </a:r>
            <a:r>
              <a:rPr lang="en-US" altLang="en-US" sz="1800"/>
              <a:t>adjacent side </a:t>
            </a:r>
            <a:r>
              <a:rPr lang="en-US" altLang="en-US" sz="1800" b="0"/>
              <a:t>is the side next to Angle A.</a:t>
            </a:r>
          </a:p>
        </p:txBody>
      </p:sp>
      <p:sp>
        <p:nvSpPr>
          <p:cNvPr id="15" name="Text Box 19">
            <a:extLst>
              <a:ext uri="{FF2B5EF4-FFF2-40B4-BE49-F238E27FC236}">
                <a16:creationId xmlns:a16="http://schemas.microsoft.com/office/drawing/2014/main" id="{CBD923C0-393A-4F41-B1F3-930ED931DC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4308" y="5942012"/>
            <a:ext cx="38862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0"/>
              <a:t>The </a:t>
            </a:r>
            <a:r>
              <a:rPr lang="en-US" altLang="en-US" sz="1800"/>
              <a:t>opposite side </a:t>
            </a:r>
            <a:r>
              <a:rPr lang="en-US" altLang="en-US" sz="1800" b="0"/>
              <a:t>is the side that is on the opposite side of the triangle from Angle A.</a:t>
            </a:r>
          </a:p>
        </p:txBody>
      </p:sp>
      <p:sp>
        <p:nvSpPr>
          <p:cNvPr id="16" name="Text Box 20">
            <a:extLst>
              <a:ext uri="{FF2B5EF4-FFF2-40B4-BE49-F238E27FC236}">
                <a16:creationId xmlns:a16="http://schemas.microsoft.com/office/drawing/2014/main" id="{65E8959A-52F3-634B-B1CE-5B216622BF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108" y="4945855"/>
            <a:ext cx="38862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0" dirty="0"/>
              <a:t>The </a:t>
            </a:r>
            <a:r>
              <a:rPr lang="en-US" altLang="en-US" sz="1800" dirty="0"/>
              <a:t>hypotenuse</a:t>
            </a:r>
            <a:r>
              <a:rPr lang="en-US" altLang="en-US" sz="1800" b="0" dirty="0"/>
              <a:t> will always be the longest side, and opposite from the right angle. </a:t>
            </a:r>
          </a:p>
        </p:txBody>
      </p:sp>
      <p:sp>
        <p:nvSpPr>
          <p:cNvPr id="17" name="Text Box 21">
            <a:extLst>
              <a:ext uri="{FF2B5EF4-FFF2-40B4-BE49-F238E27FC236}">
                <a16:creationId xmlns:a16="http://schemas.microsoft.com/office/drawing/2014/main" id="{754BEC90-1E43-5543-B9A7-759BFC1DBD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758" y="3659469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 b="0"/>
          </a:p>
        </p:txBody>
      </p:sp>
      <p:sp>
        <p:nvSpPr>
          <p:cNvPr id="18" name="AutoShape 22">
            <a:extLst>
              <a:ext uri="{FF2B5EF4-FFF2-40B4-BE49-F238E27FC236}">
                <a16:creationId xmlns:a16="http://schemas.microsoft.com/office/drawing/2014/main" id="{6495EFC4-23B3-CA4B-8A9A-89569C0A0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8108" y="2741612"/>
            <a:ext cx="381000" cy="304800"/>
          </a:xfrm>
          <a:prstGeom prst="smileyFace">
            <a:avLst>
              <a:gd name="adj" fmla="val 4653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2689708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3EBEA0A-120D-EA49-BB91-3BA9DE5E5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What are the key trigonometric ratios I need to know?</a:t>
            </a:r>
          </a:p>
        </p:txBody>
      </p:sp>
      <p:sp>
        <p:nvSpPr>
          <p:cNvPr id="3" name="Right Triangle 2">
            <a:extLst>
              <a:ext uri="{FF2B5EF4-FFF2-40B4-BE49-F238E27FC236}">
                <a16:creationId xmlns:a16="http://schemas.microsoft.com/office/drawing/2014/main" id="{963865B4-09DE-9D46-B6AE-3BF4C4D42573}"/>
              </a:ext>
            </a:extLst>
          </p:cNvPr>
          <p:cNvSpPr/>
          <p:nvPr/>
        </p:nvSpPr>
        <p:spPr>
          <a:xfrm>
            <a:off x="3137205" y="3380032"/>
            <a:ext cx="4827587" cy="2587625"/>
          </a:xfrm>
          <a:prstGeom prst="rt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defRPr/>
            </a:pP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3636DF6-9986-9440-90B1-7ADC99F47931}"/>
              </a:ext>
            </a:extLst>
          </p:cNvPr>
          <p:cNvCxnSpPr/>
          <p:nvPr/>
        </p:nvCxnSpPr>
        <p:spPr>
          <a:xfrm flipH="1" flipV="1">
            <a:off x="3137205" y="5583482"/>
            <a:ext cx="325437" cy="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7B93DEA-1072-484F-A34B-3F40A5831732}"/>
              </a:ext>
            </a:extLst>
          </p:cNvPr>
          <p:cNvCxnSpPr/>
          <p:nvPr/>
        </p:nvCxnSpPr>
        <p:spPr>
          <a:xfrm flipV="1">
            <a:off x="3462642" y="5583482"/>
            <a:ext cx="0" cy="384175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18">
            <a:extLst>
              <a:ext uri="{FF2B5EF4-FFF2-40B4-BE49-F238E27FC236}">
                <a16:creationId xmlns:a16="http://schemas.microsoft.com/office/drawing/2014/main" id="{42A97ABE-FA3E-0044-99A4-A731364B73F6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6942442" y="5597769"/>
            <a:ext cx="8159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θ</a:t>
            </a:r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321C5121-8EF1-F845-9248-AD7A2096DE9B}"/>
              </a:ext>
            </a:extLst>
          </p:cNvPr>
          <p:cNvSpPr/>
          <p:nvPr/>
        </p:nvSpPr>
        <p:spPr>
          <a:xfrm rot="4536208" flipH="1" flipV="1">
            <a:off x="6555092" y="5172319"/>
            <a:ext cx="1257300" cy="1206500"/>
          </a:xfrm>
          <a:prstGeom prst="arc">
            <a:avLst>
              <a:gd name="adj1" fmla="val 16200000"/>
              <a:gd name="adj2" fmla="val 1942092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CF0B7359-6AE2-5443-A3FE-84B115DE712E}"/>
              </a:ext>
            </a:extLst>
          </p:cNvPr>
          <p:cNvSpPr txBox="1">
            <a:spLocks noChangeArrowheads="1"/>
          </p:cNvSpPr>
          <p:nvPr/>
        </p:nvSpPr>
        <p:spPr bwMode="auto">
          <a:xfrm rot="1591411">
            <a:off x="4418317" y="4149969"/>
            <a:ext cx="2381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AU" altLang="en-US" sz="2800"/>
              <a:t>Hypotenuse </a:t>
            </a:r>
            <a:endParaRPr lang="en-US" altLang="en-US" sz="280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983B0FF-345A-FE4E-829E-CA9E4192D3A4}"/>
              </a:ext>
            </a:extLst>
          </p:cNvPr>
          <p:cNvCxnSpPr/>
          <p:nvPr/>
        </p:nvCxnSpPr>
        <p:spPr>
          <a:xfrm flipH="1" flipV="1">
            <a:off x="3246742" y="4943719"/>
            <a:ext cx="3235325" cy="62071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8">
            <a:extLst>
              <a:ext uri="{FF2B5EF4-FFF2-40B4-BE49-F238E27FC236}">
                <a16:creationId xmlns:a16="http://schemas.microsoft.com/office/drawing/2014/main" id="{FE2F04FD-4C58-B940-A789-3B426C0631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8417" y="4665907"/>
            <a:ext cx="180181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AU" altLang="en-US" sz="2800"/>
              <a:t>Opposite</a:t>
            </a:r>
            <a:endParaRPr lang="en-US" altLang="en-US" sz="2800"/>
          </a:p>
        </p:txBody>
      </p: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BB43CE9E-4411-F843-97BF-73EB58A60973}"/>
              </a:ext>
            </a:extLst>
          </p:cNvPr>
          <p:cNvCxnSpPr/>
          <p:nvPr/>
        </p:nvCxnSpPr>
        <p:spPr>
          <a:xfrm rot="10800000" flipV="1">
            <a:off x="5788330" y="5607294"/>
            <a:ext cx="655637" cy="352425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0">
            <a:extLst>
              <a:ext uri="{FF2B5EF4-FFF2-40B4-BE49-F238E27FC236}">
                <a16:creationId xmlns:a16="http://schemas.microsoft.com/office/drawing/2014/main" id="{9CDECBBD-4151-4048-845F-A1E46DBC6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4055" y="5959719"/>
            <a:ext cx="23669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AU" altLang="en-US" sz="2800"/>
              <a:t>Adjacent</a:t>
            </a:r>
            <a:endParaRPr lang="en-US" altLang="en-US" sz="2800"/>
          </a:p>
        </p:txBody>
      </p: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236A9B40-F06C-9440-867A-8E42F3636982}"/>
              </a:ext>
            </a:extLst>
          </p:cNvPr>
          <p:cNvCxnSpPr/>
          <p:nvPr/>
        </p:nvCxnSpPr>
        <p:spPr>
          <a:xfrm rot="10800000" flipV="1">
            <a:off x="5788330" y="5607294"/>
            <a:ext cx="655637" cy="352425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14">
            <a:extLst>
              <a:ext uri="{FF2B5EF4-FFF2-40B4-BE49-F238E27FC236}">
                <a16:creationId xmlns:a16="http://schemas.microsoft.com/office/drawing/2014/main" id="{23D87539-A67E-0A44-BFD7-696ED080FD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5055" y="1816344"/>
            <a:ext cx="57594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AU" altLang="en-US" sz="4800"/>
              <a:t>Important to know:</a:t>
            </a:r>
            <a:endParaRPr lang="en-US" altLang="en-US" sz="4800"/>
          </a:p>
        </p:txBody>
      </p:sp>
    </p:spTree>
    <p:extLst>
      <p:ext uri="{BB962C8B-B14F-4D97-AF65-F5344CB8AC3E}">
        <p14:creationId xmlns:p14="http://schemas.microsoft.com/office/powerpoint/2010/main" val="669159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3EBEA0A-120D-EA49-BB91-3BA9DE5E5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What are the key trigonometric ratios I need to know?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14D415-041A-4A47-B71F-762594BEE70B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-1279036" y="1479252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9pPr>
          </a:lstStyle>
          <a:p>
            <a:pPr eaLnBrk="1" hangingPunct="1"/>
            <a:r>
              <a:rPr lang="en-US" altLang="en-US" u="sng" dirty="0"/>
              <a:t>Parts of a Right Triangle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498590-169B-D049-95AA-1E77417A9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2825" y="2669557"/>
            <a:ext cx="3975100" cy="1887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" name="Text Box 4">
            <a:extLst>
              <a:ext uri="{FF2B5EF4-FFF2-40B4-BE49-F238E27FC236}">
                <a16:creationId xmlns:a16="http://schemas.microsoft.com/office/drawing/2014/main" id="{23E646C2-F1C3-9A4E-A26B-136345AD5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2225" y="4850056"/>
            <a:ext cx="2438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 b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7D3640-54FB-F444-953F-11C9D6544A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25" y="3857007"/>
            <a:ext cx="479425" cy="700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843C8C-9299-A747-B072-08A80070D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3925" y="4557094"/>
            <a:ext cx="2057400" cy="43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A83FDA-4466-5243-B2E2-46455BD80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8025" y="4252294"/>
            <a:ext cx="385763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A8EE9B-DC7D-CE49-AF45-14536A4AA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61694"/>
            <a:ext cx="22098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AE9785C-6687-6D47-8D48-E087DBA856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8025" y="2347294"/>
            <a:ext cx="38417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79FCE4-370E-4144-8965-018E6477FD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825" y="2804494"/>
            <a:ext cx="20383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0E28CAF-186F-5948-B0FB-821A7074EA55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419225" y="5149788"/>
            <a:ext cx="4038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dirty="0"/>
              <a:t>Now imagine that you move from Angle A to Angle B.</a:t>
            </a:r>
            <a:endParaRPr lang="en-US" altLang="en-US" dirty="0"/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id="{D6AA7906-589E-D34D-9CE6-A4C84FD01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5425" y="6069256"/>
            <a:ext cx="3886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0"/>
              <a:t>From Angle B the </a:t>
            </a:r>
            <a:r>
              <a:rPr lang="en-US" altLang="en-US" sz="1800"/>
              <a:t>adjacent side </a:t>
            </a:r>
            <a:r>
              <a:rPr lang="en-US" altLang="en-US" sz="1800" b="0"/>
              <a:t>is the side next to Angle B.</a:t>
            </a:r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14EADDDD-49E8-CA4D-BAB4-520EC85FF6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2625" y="5840656"/>
            <a:ext cx="38862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0"/>
              <a:t>From Angle B the </a:t>
            </a:r>
            <a:r>
              <a:rPr lang="en-US" altLang="en-US" sz="1800"/>
              <a:t>opposite side </a:t>
            </a:r>
            <a:r>
              <a:rPr lang="en-US" altLang="en-US" sz="1800" b="0"/>
              <a:t>is the side that is on the opposite side of the triangle.</a:t>
            </a:r>
          </a:p>
        </p:txBody>
      </p:sp>
      <p:sp>
        <p:nvSpPr>
          <p:cNvPr id="16" name="Text Box 15">
            <a:extLst>
              <a:ext uri="{FF2B5EF4-FFF2-40B4-BE49-F238E27FC236}">
                <a16:creationId xmlns:a16="http://schemas.microsoft.com/office/drawing/2014/main" id="{4BBE7A92-5AEC-9C47-A752-4B22972565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0425" y="3871294"/>
            <a:ext cx="381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 b="0"/>
          </a:p>
        </p:txBody>
      </p:sp>
      <p:sp>
        <p:nvSpPr>
          <p:cNvPr id="17" name="AutoShape 16">
            <a:extLst>
              <a:ext uri="{FF2B5EF4-FFF2-40B4-BE49-F238E27FC236}">
                <a16:creationId xmlns:a16="http://schemas.microsoft.com/office/drawing/2014/main" id="{6BAB72BC-A6B4-9349-841B-9897DE15C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6625" y="3947494"/>
            <a:ext cx="381000" cy="304800"/>
          </a:xfrm>
          <a:prstGeom prst="smileyFace">
            <a:avLst>
              <a:gd name="adj" fmla="val 4653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315123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3EBEA0A-120D-EA49-BB91-3BA9DE5E5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What are the key trigonometric ratios I need to know?</a:t>
            </a:r>
          </a:p>
        </p:txBody>
      </p:sp>
      <p:sp>
        <p:nvSpPr>
          <p:cNvPr id="3" name="Right Triangle 2">
            <a:extLst>
              <a:ext uri="{FF2B5EF4-FFF2-40B4-BE49-F238E27FC236}">
                <a16:creationId xmlns:a16="http://schemas.microsoft.com/office/drawing/2014/main" id="{4D7CA113-7A75-174E-B000-4385410C5EF4}"/>
              </a:ext>
            </a:extLst>
          </p:cNvPr>
          <p:cNvSpPr/>
          <p:nvPr/>
        </p:nvSpPr>
        <p:spPr>
          <a:xfrm>
            <a:off x="3051541" y="3427718"/>
            <a:ext cx="4827587" cy="2587625"/>
          </a:xfrm>
          <a:prstGeom prst="rt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defRPr/>
            </a:pP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7FE146F-F6F7-E347-8071-354BB4BDC99A}"/>
              </a:ext>
            </a:extLst>
          </p:cNvPr>
          <p:cNvCxnSpPr/>
          <p:nvPr/>
        </p:nvCxnSpPr>
        <p:spPr>
          <a:xfrm flipH="1" flipV="1">
            <a:off x="3051541" y="5631168"/>
            <a:ext cx="325437" cy="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6C889F4-645F-EE41-936E-2C2FFBB692FB}"/>
              </a:ext>
            </a:extLst>
          </p:cNvPr>
          <p:cNvCxnSpPr/>
          <p:nvPr/>
        </p:nvCxnSpPr>
        <p:spPr>
          <a:xfrm flipV="1">
            <a:off x="3376978" y="5631168"/>
            <a:ext cx="0" cy="384175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18">
            <a:extLst>
              <a:ext uri="{FF2B5EF4-FFF2-40B4-BE49-F238E27FC236}">
                <a16:creationId xmlns:a16="http://schemas.microsoft.com/office/drawing/2014/main" id="{F3626CA6-1C6E-184E-B07E-086E5C88FAA4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3051541" y="3570593"/>
            <a:ext cx="8143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θ</a:t>
            </a:r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99C0495B-E98C-DF41-94D1-776206B8B011}"/>
              </a:ext>
            </a:extLst>
          </p:cNvPr>
          <p:cNvSpPr/>
          <p:nvPr/>
        </p:nvSpPr>
        <p:spPr>
          <a:xfrm rot="6023899">
            <a:off x="1618028" y="2437118"/>
            <a:ext cx="2006600" cy="1924050"/>
          </a:xfrm>
          <a:prstGeom prst="arc">
            <a:avLst>
              <a:gd name="adj1" fmla="val 16378219"/>
              <a:gd name="adj2" fmla="val 1906588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73A59BF9-502C-5B42-88CC-791413AAFE0E}"/>
              </a:ext>
            </a:extLst>
          </p:cNvPr>
          <p:cNvSpPr txBox="1">
            <a:spLocks noChangeArrowheads="1"/>
          </p:cNvSpPr>
          <p:nvPr/>
        </p:nvSpPr>
        <p:spPr bwMode="auto">
          <a:xfrm rot="1631080">
            <a:off x="4332653" y="4211943"/>
            <a:ext cx="2381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AU" altLang="en-US" sz="2800"/>
              <a:t>Hypotenuse </a:t>
            </a:r>
            <a:endParaRPr lang="en-US" altLang="en-US" sz="280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C86F698-927C-0E46-A723-DDF3E0AA0BE4}"/>
              </a:ext>
            </a:extLst>
          </p:cNvPr>
          <p:cNvCxnSpPr/>
          <p:nvPr/>
        </p:nvCxnSpPr>
        <p:spPr>
          <a:xfrm>
            <a:off x="3351578" y="4205593"/>
            <a:ext cx="1190625" cy="161766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8">
            <a:extLst>
              <a:ext uri="{FF2B5EF4-FFF2-40B4-BE49-F238E27FC236}">
                <a16:creationId xmlns:a16="http://schemas.microsoft.com/office/drawing/2014/main" id="{CEFA7C6E-7C29-5643-ABA9-FF0AC2D8D3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5528" y="6005818"/>
            <a:ext cx="2028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AU" altLang="en-US" sz="2800"/>
              <a:t>Opposite</a:t>
            </a:r>
            <a:endParaRPr lang="en-US" altLang="en-US" sz="2800"/>
          </a:p>
        </p:txBody>
      </p: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F8E02E1E-1D06-B84B-92F9-ED690FC5D949}"/>
              </a:ext>
            </a:extLst>
          </p:cNvPr>
          <p:cNvCxnSpPr/>
          <p:nvPr/>
        </p:nvCxnSpPr>
        <p:spPr>
          <a:xfrm rot="5400000">
            <a:off x="2882472" y="4374662"/>
            <a:ext cx="534987" cy="196850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0">
            <a:extLst>
              <a:ext uri="{FF2B5EF4-FFF2-40B4-BE49-F238E27FC236}">
                <a16:creationId xmlns:a16="http://schemas.microsoft.com/office/drawing/2014/main" id="{6E2A1589-7846-3641-8CEA-B65BD73CD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3066" y="4480230"/>
            <a:ext cx="17684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AU" altLang="en-US" sz="2800"/>
              <a:t>Adjacent </a:t>
            </a:r>
            <a:endParaRPr lang="en-US" altLang="en-US" sz="2800"/>
          </a:p>
        </p:txBody>
      </p: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B0683F07-9DBD-5B48-8C41-44ED0277A3EE}"/>
              </a:ext>
            </a:extLst>
          </p:cNvPr>
          <p:cNvCxnSpPr/>
          <p:nvPr/>
        </p:nvCxnSpPr>
        <p:spPr>
          <a:xfrm rot="5400000">
            <a:off x="2882472" y="4374662"/>
            <a:ext cx="534987" cy="196850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14">
            <a:extLst>
              <a:ext uri="{FF2B5EF4-FFF2-40B4-BE49-F238E27FC236}">
                <a16:creationId xmlns:a16="http://schemas.microsoft.com/office/drawing/2014/main" id="{2CCFBF17-2B12-AA43-9D5E-4A14F5866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9391" y="1864030"/>
            <a:ext cx="57594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AU" altLang="en-US" sz="4800"/>
              <a:t>Important to know:</a:t>
            </a:r>
            <a:endParaRPr lang="en-US" altLang="en-US" sz="4800"/>
          </a:p>
        </p:txBody>
      </p:sp>
    </p:spTree>
    <p:extLst>
      <p:ext uri="{BB962C8B-B14F-4D97-AF65-F5344CB8AC3E}">
        <p14:creationId xmlns:p14="http://schemas.microsoft.com/office/powerpoint/2010/main" val="1989916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3EBEA0A-120D-EA49-BB91-3BA9DE5E5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What are the key trigonometric ratios I need to know?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6BD7C52-7DC5-7C45-8D80-92B045A184C0}"/>
              </a:ext>
            </a:extLst>
          </p:cNvPr>
          <p:cNvGrpSpPr>
            <a:grpSpLocks/>
          </p:cNvGrpSpPr>
          <p:nvPr/>
        </p:nvGrpSpPr>
        <p:grpSpPr bwMode="auto">
          <a:xfrm>
            <a:off x="550618" y="4344803"/>
            <a:ext cx="2819400" cy="1265238"/>
            <a:chOff x="192" y="816"/>
            <a:chExt cx="1776" cy="797"/>
          </a:xfrm>
        </p:grpSpPr>
        <p:sp>
          <p:nvSpPr>
            <p:cNvPr id="16" name="Text Box 5">
              <a:extLst>
                <a:ext uri="{FF2B5EF4-FFF2-40B4-BE49-F238E27FC236}">
                  <a16:creationId xmlns:a16="http://schemas.microsoft.com/office/drawing/2014/main" id="{96879DF0-2137-5C4D-BD3B-DDF4C41240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008"/>
              <a:ext cx="139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>
                  <a:solidFill>
                    <a:srgbClr val="FF0000"/>
                  </a:solidFill>
                  <a:latin typeface="Comic Sans MS" panose="030F0902030302020204" pitchFamily="66" charset="0"/>
                </a:rPr>
                <a:t>Sin</a:t>
              </a:r>
              <a:r>
                <a:rPr lang="en-GB" altLang="en-US">
                  <a:latin typeface="Comic Sans MS" panose="030F0902030302020204" pitchFamily="66" charset="0"/>
                </a:rPr>
                <a:t> </a:t>
              </a:r>
              <a:r>
                <a:rPr lang="el-GR" altLang="en-US">
                  <a:latin typeface="Calibri" panose="020F0502020204030204" pitchFamily="34" charset="0"/>
                </a:rPr>
                <a:t>θ</a:t>
              </a:r>
              <a:r>
                <a:rPr lang="en-GB" altLang="en-US">
                  <a:latin typeface="Comic Sans MS" panose="030F0902030302020204" pitchFamily="66" charset="0"/>
                  <a:cs typeface="Times New Roman" panose="02020603050405020304" pitchFamily="18" charset="0"/>
                </a:rPr>
                <a:t>° =</a:t>
              </a:r>
              <a:endParaRPr lang="en-GB" altLang="en-US">
                <a:latin typeface="Comic Sans MS" panose="030F0902030302020204" pitchFamily="66" charset="0"/>
              </a:endParaRPr>
            </a:p>
          </p:txBody>
        </p:sp>
        <p:sp>
          <p:nvSpPr>
            <p:cNvPr id="17" name="Line 6">
              <a:extLst>
                <a:ext uri="{FF2B5EF4-FFF2-40B4-BE49-F238E27FC236}">
                  <a16:creationId xmlns:a16="http://schemas.microsoft.com/office/drawing/2014/main" id="{3C8F02F6-AFD8-6D41-ABFF-716C1D0632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248"/>
              <a:ext cx="52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Box 7">
              <a:extLst>
                <a:ext uri="{FF2B5EF4-FFF2-40B4-BE49-F238E27FC236}">
                  <a16:creationId xmlns:a16="http://schemas.microsoft.com/office/drawing/2014/main" id="{B95FB9EC-D1E8-AF49-9B21-A50272E2C3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816"/>
              <a:ext cx="72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>
                  <a:solidFill>
                    <a:srgbClr val="FF0000"/>
                  </a:solidFill>
                  <a:latin typeface="Comic Sans MS" panose="030F0902030302020204" pitchFamily="66" charset="0"/>
                </a:rPr>
                <a:t>O</a:t>
              </a:r>
              <a:r>
                <a:rPr lang="en-GB" altLang="en-US">
                  <a:latin typeface="Comic Sans MS" panose="030F0902030302020204" pitchFamily="66" charset="0"/>
                </a:rPr>
                <a:t>pp</a:t>
              </a:r>
            </a:p>
          </p:txBody>
        </p:sp>
        <p:sp>
          <p:nvSpPr>
            <p:cNvPr id="19" name="Text Box 8">
              <a:extLst>
                <a:ext uri="{FF2B5EF4-FFF2-40B4-BE49-F238E27FC236}">
                  <a16:creationId xmlns:a16="http://schemas.microsoft.com/office/drawing/2014/main" id="{2B73E833-7B48-B14C-901B-FABDC06B55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248"/>
              <a:ext cx="72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>
                  <a:solidFill>
                    <a:srgbClr val="FF0000"/>
                  </a:solidFill>
                  <a:latin typeface="Comic Sans MS" panose="030F0902030302020204" pitchFamily="66" charset="0"/>
                </a:rPr>
                <a:t>H</a:t>
              </a:r>
              <a:r>
                <a:rPr lang="en-GB" altLang="en-US">
                  <a:latin typeface="Comic Sans MS" panose="030F0902030302020204" pitchFamily="66" charset="0"/>
                </a:rPr>
                <a:t>yp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8BDA7BF-1690-1844-BA90-FF238B797A8A}"/>
              </a:ext>
            </a:extLst>
          </p:cNvPr>
          <p:cNvGrpSpPr>
            <a:grpSpLocks/>
          </p:cNvGrpSpPr>
          <p:nvPr/>
        </p:nvGrpSpPr>
        <p:grpSpPr bwMode="auto">
          <a:xfrm>
            <a:off x="3370018" y="4344803"/>
            <a:ext cx="2819400" cy="1265238"/>
            <a:chOff x="192" y="816"/>
            <a:chExt cx="1776" cy="797"/>
          </a:xfrm>
        </p:grpSpPr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3AEB65CF-1EDF-5040-ADFB-F65B839771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008"/>
              <a:ext cx="139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>
                  <a:solidFill>
                    <a:srgbClr val="00CC00"/>
                  </a:solidFill>
                  <a:latin typeface="Comic Sans MS" panose="030F0902030302020204" pitchFamily="66" charset="0"/>
                </a:rPr>
                <a:t>Cos</a:t>
              </a:r>
              <a:r>
                <a:rPr lang="en-GB" altLang="en-US">
                  <a:latin typeface="Comic Sans MS" panose="030F0902030302020204" pitchFamily="66" charset="0"/>
                </a:rPr>
                <a:t> </a:t>
              </a:r>
              <a:r>
                <a:rPr lang="el-GR" altLang="en-US">
                  <a:latin typeface="Calibri" panose="020F0502020204030204" pitchFamily="34" charset="0"/>
                </a:rPr>
                <a:t>θ </a:t>
              </a:r>
              <a:r>
                <a:rPr lang="en-GB" altLang="en-US">
                  <a:latin typeface="Comic Sans MS" panose="030F0902030302020204" pitchFamily="66" charset="0"/>
                  <a:cs typeface="Times New Roman" panose="02020603050405020304" pitchFamily="18" charset="0"/>
                </a:rPr>
                <a:t>°=</a:t>
              </a:r>
              <a:endParaRPr lang="en-GB" altLang="en-US">
                <a:latin typeface="Comic Sans MS" panose="030F0902030302020204" pitchFamily="66" charset="0"/>
              </a:endParaRPr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3196FFAD-7F98-4A4C-B7D3-DC99B5D09A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248"/>
              <a:ext cx="52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Box 12">
              <a:extLst>
                <a:ext uri="{FF2B5EF4-FFF2-40B4-BE49-F238E27FC236}">
                  <a16:creationId xmlns:a16="http://schemas.microsoft.com/office/drawing/2014/main" id="{5A58DF3F-6C31-4149-994D-DB74876D74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816"/>
              <a:ext cx="72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>
                  <a:solidFill>
                    <a:srgbClr val="00CC00"/>
                  </a:solidFill>
                  <a:latin typeface="Comic Sans MS" panose="030F0902030302020204" pitchFamily="66" charset="0"/>
                </a:rPr>
                <a:t>A</a:t>
              </a:r>
              <a:r>
                <a:rPr lang="en-GB" altLang="en-US">
                  <a:latin typeface="Comic Sans MS" panose="030F0902030302020204" pitchFamily="66" charset="0"/>
                </a:rPr>
                <a:t>dj</a:t>
              </a:r>
            </a:p>
          </p:txBody>
        </p:sp>
        <p:sp>
          <p:nvSpPr>
            <p:cNvPr id="15" name="Text Box 13">
              <a:extLst>
                <a:ext uri="{FF2B5EF4-FFF2-40B4-BE49-F238E27FC236}">
                  <a16:creationId xmlns:a16="http://schemas.microsoft.com/office/drawing/2014/main" id="{3C3ACDB7-A98F-8049-A3C8-62AD7A97C0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248"/>
              <a:ext cx="72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>
                  <a:solidFill>
                    <a:srgbClr val="00CC00"/>
                  </a:solidFill>
                  <a:latin typeface="Comic Sans MS" panose="030F0902030302020204" pitchFamily="66" charset="0"/>
                </a:rPr>
                <a:t>H</a:t>
              </a:r>
              <a:r>
                <a:rPr lang="en-GB" altLang="en-US">
                  <a:latin typeface="Comic Sans MS" panose="030F0902030302020204" pitchFamily="66" charset="0"/>
                </a:rPr>
                <a:t>yp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03CE7F1-E96A-344C-A2E2-08F36FA726DD}"/>
              </a:ext>
            </a:extLst>
          </p:cNvPr>
          <p:cNvGrpSpPr>
            <a:grpSpLocks/>
          </p:cNvGrpSpPr>
          <p:nvPr/>
        </p:nvGrpSpPr>
        <p:grpSpPr bwMode="auto">
          <a:xfrm>
            <a:off x="6265618" y="4344803"/>
            <a:ext cx="2819400" cy="1265238"/>
            <a:chOff x="192" y="816"/>
            <a:chExt cx="1776" cy="797"/>
          </a:xfrm>
        </p:grpSpPr>
        <p:sp>
          <p:nvSpPr>
            <p:cNvPr id="7" name="Text Box 15">
              <a:extLst>
                <a:ext uri="{FF2B5EF4-FFF2-40B4-BE49-F238E27FC236}">
                  <a16:creationId xmlns:a16="http://schemas.microsoft.com/office/drawing/2014/main" id="{A5B9DB54-38F1-4741-82BB-E04FD77917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008"/>
              <a:ext cx="139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>
                  <a:solidFill>
                    <a:srgbClr val="CC00CC"/>
                  </a:solidFill>
                  <a:latin typeface="Comic Sans MS" panose="030F0902030302020204" pitchFamily="66" charset="0"/>
                </a:rPr>
                <a:t>Tan</a:t>
              </a:r>
              <a:r>
                <a:rPr lang="en-GB" altLang="en-US">
                  <a:latin typeface="Comic Sans MS" panose="030F0902030302020204" pitchFamily="66" charset="0"/>
                </a:rPr>
                <a:t> </a:t>
              </a:r>
              <a:r>
                <a:rPr lang="el-GR" altLang="en-US">
                  <a:latin typeface="Calibri" panose="020F0502020204030204" pitchFamily="34" charset="0"/>
                </a:rPr>
                <a:t>θ</a:t>
              </a:r>
              <a:r>
                <a:rPr lang="en-GB" altLang="en-US">
                  <a:latin typeface="Comic Sans MS" panose="030F0902030302020204" pitchFamily="66" charset="0"/>
                  <a:cs typeface="Times New Roman" panose="02020603050405020304" pitchFamily="18" charset="0"/>
                </a:rPr>
                <a:t>°=</a:t>
              </a:r>
              <a:endParaRPr lang="en-GB" altLang="en-US">
                <a:latin typeface="Comic Sans MS" panose="030F0902030302020204" pitchFamily="66" charset="0"/>
              </a:endParaRPr>
            </a:p>
          </p:txBody>
        </p:sp>
        <p:sp>
          <p:nvSpPr>
            <p:cNvPr id="8" name="Line 16">
              <a:extLst>
                <a:ext uri="{FF2B5EF4-FFF2-40B4-BE49-F238E27FC236}">
                  <a16:creationId xmlns:a16="http://schemas.microsoft.com/office/drawing/2014/main" id="{6159F467-CC7F-D14C-B274-90F08DD859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248"/>
              <a:ext cx="52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Box 17">
              <a:extLst>
                <a:ext uri="{FF2B5EF4-FFF2-40B4-BE49-F238E27FC236}">
                  <a16:creationId xmlns:a16="http://schemas.microsoft.com/office/drawing/2014/main" id="{D1C18F84-6911-BC4C-88C1-F37D818CE6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816"/>
              <a:ext cx="72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>
                  <a:solidFill>
                    <a:srgbClr val="CC00CC"/>
                  </a:solidFill>
                  <a:latin typeface="Comic Sans MS" panose="030F0902030302020204" pitchFamily="66" charset="0"/>
                </a:rPr>
                <a:t>O</a:t>
              </a:r>
              <a:r>
                <a:rPr lang="en-GB" altLang="en-US">
                  <a:latin typeface="Comic Sans MS" panose="030F0902030302020204" pitchFamily="66" charset="0"/>
                </a:rPr>
                <a:t>pp</a:t>
              </a:r>
            </a:p>
          </p:txBody>
        </p:sp>
        <p:sp>
          <p:nvSpPr>
            <p:cNvPr id="10" name="Text Box 18">
              <a:extLst>
                <a:ext uri="{FF2B5EF4-FFF2-40B4-BE49-F238E27FC236}">
                  <a16:creationId xmlns:a16="http://schemas.microsoft.com/office/drawing/2014/main" id="{7EBD3098-8D72-3B4C-9523-E28A4D4C57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248"/>
              <a:ext cx="72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>
                  <a:solidFill>
                    <a:srgbClr val="CC00CC"/>
                  </a:solidFill>
                  <a:latin typeface="Comic Sans MS" panose="030F0902030302020204" pitchFamily="66" charset="0"/>
                </a:rPr>
                <a:t>A</a:t>
              </a:r>
              <a:r>
                <a:rPr lang="en-GB" altLang="en-US">
                  <a:latin typeface="Comic Sans MS" panose="030F0902030302020204" pitchFamily="66" charset="0"/>
                </a:rPr>
                <a:t>dj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29DE66F8-04C3-344E-95A0-FD66D0CF7707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903043" y="2033403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9pPr>
          </a:lstStyle>
          <a:p>
            <a:pPr eaLnBrk="1" hangingPunct="1"/>
            <a:r>
              <a:rPr lang="en-US" altLang="en-US"/>
              <a:t>Trigonometry Ratios</a:t>
            </a:r>
          </a:p>
        </p:txBody>
      </p:sp>
    </p:spTree>
    <p:extLst>
      <p:ext uri="{BB962C8B-B14F-4D97-AF65-F5344CB8AC3E}">
        <p14:creationId xmlns:p14="http://schemas.microsoft.com/office/powerpoint/2010/main" val="2995605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3EBEA0A-120D-EA49-BB91-3BA9DE5E5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What are the key trigonometric ratios I need to know?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4A7FAF-2FF0-7F4A-A9E3-742302FF1B61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-2649080" y="164473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9pPr>
          </a:lstStyle>
          <a:p>
            <a:pPr eaLnBrk="1" hangingPunct="1"/>
            <a:r>
              <a:rPr lang="en-US" altLang="en-US" dirty="0"/>
              <a:t>Trig Ratios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52A94A-1253-5647-85CA-683CB0A9CEFE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137139" y="2777004"/>
            <a:ext cx="4800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2000"/>
              <a:t>Each of the 3 ratios has a name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The names also refer to an angle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CE455A20-CEB3-1542-A2C9-C6B689C18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139" y="4148604"/>
            <a:ext cx="114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 b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153D96-244B-3347-BAA3-124D2A90F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939" y="1176804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anchor="ctr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8AB027-1000-7F4E-997E-AD9BC5FFE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739" y="3896849"/>
            <a:ext cx="3733800" cy="81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A7F0582-1E9D-D640-90CA-EF8897657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939" y="4396254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anchor="ctr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7E126D-B349-7549-9E60-7A0526268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739" y="4912388"/>
            <a:ext cx="3733800" cy="750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8B35A0D-BB1B-5443-B816-969F328F6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939" y="4396254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anchor="ctr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E019FD-A639-0046-B931-4419DD433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739" y="5823532"/>
            <a:ext cx="3733800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4D91842-7D99-EC4E-895E-49929E6B1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939" y="4396254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anchor="ctr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B4CB2B-6B55-CC42-B085-D2A23B15A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939" y="4396254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anchor="ctr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A3AFA3-F02B-7D47-8F5F-5C568A7F4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939" y="4396254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anchor="ctr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6A5D847-C0F6-754C-AAE8-1CED70486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8339" y="2624604"/>
            <a:ext cx="1685925" cy="80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7" name="Text Box 19">
            <a:extLst>
              <a:ext uri="{FF2B5EF4-FFF2-40B4-BE49-F238E27FC236}">
                <a16:creationId xmlns:a16="http://schemas.microsoft.com/office/drawing/2014/main" id="{625A649B-88F3-3848-9CFF-C99F2DB9C2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7939" y="2624604"/>
            <a:ext cx="1676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0"/>
              <a:t>Hypotenuse</a:t>
            </a:r>
          </a:p>
        </p:txBody>
      </p:sp>
      <p:sp>
        <p:nvSpPr>
          <p:cNvPr id="18" name="Text Box 20">
            <a:extLst>
              <a:ext uri="{FF2B5EF4-FFF2-40B4-BE49-F238E27FC236}">
                <a16:creationId xmlns:a16="http://schemas.microsoft.com/office/drawing/2014/main" id="{68AB23D0-5621-5A49-A5F9-F1F60133BC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6939" y="3386604"/>
            <a:ext cx="114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0"/>
              <a:t>Adjacent</a:t>
            </a:r>
          </a:p>
        </p:txBody>
      </p:sp>
      <p:sp>
        <p:nvSpPr>
          <p:cNvPr id="19" name="Text Box 21">
            <a:extLst>
              <a:ext uri="{FF2B5EF4-FFF2-40B4-BE49-F238E27FC236}">
                <a16:creationId xmlns:a16="http://schemas.microsoft.com/office/drawing/2014/main" id="{764F4F19-8D79-C444-BDF2-4FD0DC0081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339" y="2929404"/>
            <a:ext cx="114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0"/>
              <a:t>Opposite</a:t>
            </a:r>
          </a:p>
        </p:txBody>
      </p:sp>
      <p:sp>
        <p:nvSpPr>
          <p:cNvPr id="20" name="Text Box 24">
            <a:extLst>
              <a:ext uri="{FF2B5EF4-FFF2-40B4-BE49-F238E27FC236}">
                <a16:creationId xmlns:a16="http://schemas.microsoft.com/office/drawing/2014/main" id="{9478135B-B7A9-5842-B0D8-175518DEF6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739" y="3158004"/>
            <a:ext cx="304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67730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3EBEA0A-120D-EA49-BB91-3BA9DE5E5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What are the key trigonometric ratios I need to know?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6FF815-4F81-B448-8EB4-01059C035110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-476962" y="1656723"/>
            <a:ext cx="4495801" cy="110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9pPr>
          </a:lstStyle>
          <a:p>
            <a:pPr eaLnBrk="1" hangingPunct="1"/>
            <a:r>
              <a:rPr lang="en-US" altLang="en-US" dirty="0"/>
              <a:t>Trig Ratios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0A7F44-EE67-1B46-B5A2-18986C1CC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3448" y="5143102"/>
            <a:ext cx="4572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" name="Text Box 10">
            <a:extLst>
              <a:ext uri="{FF2B5EF4-FFF2-40B4-BE49-F238E27FC236}">
                <a16:creationId xmlns:a16="http://schemas.microsoft.com/office/drawing/2014/main" id="{1460C7F6-F56C-184E-AA95-FEC1765B69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894" y="3988593"/>
            <a:ext cx="114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 b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CA6262-205B-4F45-99A8-B8CBFE64E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0294" y="4036218"/>
            <a:ext cx="1755775" cy="81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1859FE-A8B0-2D4E-8AEA-49E6279B2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8248" y="4990702"/>
            <a:ext cx="1685925" cy="750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302359-1020-2F48-9DF4-3D514F1640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8339" y="5819354"/>
            <a:ext cx="1460500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138148-1CAC-684F-A7DF-D9DC4BA8F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520" y="2743200"/>
            <a:ext cx="1685925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18">
            <a:extLst>
              <a:ext uri="{FF2B5EF4-FFF2-40B4-BE49-F238E27FC236}">
                <a16:creationId xmlns:a16="http://schemas.microsoft.com/office/drawing/2014/main" id="{FB877BBF-6E27-3E43-B681-AF418D0ABC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5120" y="2743200"/>
            <a:ext cx="1676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0"/>
              <a:t>Hypotenuse</a:t>
            </a:r>
          </a:p>
        </p:txBody>
      </p:sp>
      <p:sp>
        <p:nvSpPr>
          <p:cNvPr id="12" name="Text Box 19">
            <a:extLst>
              <a:ext uri="{FF2B5EF4-FFF2-40B4-BE49-F238E27FC236}">
                <a16:creationId xmlns:a16="http://schemas.microsoft.com/office/drawing/2014/main" id="{4D7FA863-643C-324B-A304-E27DB85A99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4120" y="3505200"/>
            <a:ext cx="114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0"/>
              <a:t>Adjacent</a:t>
            </a:r>
          </a:p>
        </p:txBody>
      </p:sp>
      <p:sp>
        <p:nvSpPr>
          <p:cNvPr id="13" name="Text Box 20">
            <a:extLst>
              <a:ext uri="{FF2B5EF4-FFF2-40B4-BE49-F238E27FC236}">
                <a16:creationId xmlns:a16="http://schemas.microsoft.com/office/drawing/2014/main" id="{6717A30D-1518-9F49-BCF5-4C353A8316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520" y="3048000"/>
            <a:ext cx="114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0"/>
              <a:t>Opposite</a:t>
            </a:r>
          </a:p>
        </p:txBody>
      </p:sp>
      <p:sp>
        <p:nvSpPr>
          <p:cNvPr id="14" name="Text Box 21">
            <a:extLst>
              <a:ext uri="{FF2B5EF4-FFF2-40B4-BE49-F238E27FC236}">
                <a16:creationId xmlns:a16="http://schemas.microsoft.com/office/drawing/2014/main" id="{8AF4E91D-FC4F-C148-BEE8-94D931A579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1920" y="3276600"/>
            <a:ext cx="304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15" name="Text Box 22">
            <a:extLst>
              <a:ext uri="{FF2B5EF4-FFF2-40B4-BE49-F238E27FC236}">
                <a16:creationId xmlns:a16="http://schemas.microsoft.com/office/drawing/2014/main" id="{2D43DBFB-9A01-C343-BCDF-5077AB079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6720" y="2819400"/>
            <a:ext cx="3810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 b="0"/>
              <a:t>If the angle changes from A to B</a:t>
            </a:r>
          </a:p>
        </p:txBody>
      </p:sp>
      <p:sp>
        <p:nvSpPr>
          <p:cNvPr id="16" name="Text Box 23">
            <a:extLst>
              <a:ext uri="{FF2B5EF4-FFF2-40B4-BE49-F238E27FC236}">
                <a16:creationId xmlns:a16="http://schemas.microsoft.com/office/drawing/2014/main" id="{9FB15832-D3D7-0345-A088-C0D06335E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6720" y="3429000"/>
            <a:ext cx="4495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 b="0"/>
              <a:t>The way the ratios are made is the same</a:t>
            </a:r>
          </a:p>
        </p:txBody>
      </p:sp>
      <p:sp>
        <p:nvSpPr>
          <p:cNvPr id="17" name="Text Box 24">
            <a:extLst>
              <a:ext uri="{FF2B5EF4-FFF2-40B4-BE49-F238E27FC236}">
                <a16:creationId xmlns:a16="http://schemas.microsoft.com/office/drawing/2014/main" id="{697A5830-4E6B-C14A-A7EE-51FF349838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0720" y="2438400"/>
            <a:ext cx="304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B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92AB963-D364-0545-ADB0-AFA15301E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294" y="4277518"/>
            <a:ext cx="4730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C8D0E3F-6D21-944F-BC53-ED96CB00D6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9739" y="6047954"/>
            <a:ext cx="347663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B03EA2A-6F42-8B43-A8C3-052574C46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248" y="5143102"/>
            <a:ext cx="1995488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768DCE6-98CE-2A46-890F-17D43F084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694" y="4245768"/>
            <a:ext cx="1854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406C93E-5BCA-A742-BED5-3C69DD7193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339" y="6047954"/>
            <a:ext cx="2078038" cy="37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5265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3EBEA0A-120D-EA49-BB91-3BA9DE5E5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What are the key trigonometric ratios I need to know?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C9E6F8-D478-634C-A18A-E9DD14CE73C6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1008520" y="2719136"/>
            <a:ext cx="9144000" cy="2286000"/>
          </a:xfrm>
          <a:prstGeom prst="rect">
            <a:avLst/>
          </a:prstGeom>
          <a:solidFill>
            <a:srgbClr val="FFFFCC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6200" b="1" dirty="0">
                <a:solidFill>
                  <a:schemeClr val="tx2"/>
                </a:solidFill>
                <a:latin typeface="Berlin Sans FB Demi" panose="020E0602020502020306" pitchFamily="34" charset="77"/>
              </a:rPr>
              <a:t>Finding sin, cos, and tan.</a:t>
            </a:r>
            <a:br>
              <a:rPr lang="en-US" altLang="en-US" sz="6200" b="1" dirty="0">
                <a:solidFill>
                  <a:schemeClr val="tx2"/>
                </a:solidFill>
                <a:latin typeface="Berlin Sans FB Demi" panose="020E0602020502020306" pitchFamily="34" charset="77"/>
              </a:rPr>
            </a:br>
            <a:r>
              <a:rPr lang="en-US" altLang="en-US" sz="4000" i="1" dirty="0">
                <a:solidFill>
                  <a:schemeClr val="tx2"/>
                </a:solidFill>
                <a:latin typeface="Berlin Sans FB Demi" panose="020E0602020502020306" pitchFamily="34" charset="77"/>
              </a:rPr>
              <a:t>(Just writing a ratio or decimal.)</a:t>
            </a:r>
          </a:p>
        </p:txBody>
      </p:sp>
    </p:spTree>
    <p:extLst>
      <p:ext uri="{BB962C8B-B14F-4D97-AF65-F5344CB8AC3E}">
        <p14:creationId xmlns:p14="http://schemas.microsoft.com/office/powerpoint/2010/main" val="2169986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3EBEA0A-120D-EA49-BB91-3BA9DE5E5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What are the key trigonometric ratios I need to know?</a:t>
            </a:r>
          </a:p>
        </p:txBody>
      </p:sp>
      <p:sp>
        <p:nvSpPr>
          <p:cNvPr id="3" name="Text Box 1028">
            <a:extLst>
              <a:ext uri="{FF2B5EF4-FFF2-40B4-BE49-F238E27FC236}">
                <a16:creationId xmlns:a16="http://schemas.microsoft.com/office/drawing/2014/main" id="{C7EEAD9F-00EB-D543-B4FC-77C0B01DB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438" y="1818064"/>
            <a:ext cx="9968246" cy="72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>
                <a:latin typeface="Comic Sans MS" panose="030F0902030302020204" pitchFamily="66" charset="0"/>
              </a:rPr>
              <a:t>Find the sine, the cosine, and the tangent of angle A.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>
                <a:latin typeface="Comic Sans MS" panose="030F0902030302020204" pitchFamily="66" charset="0"/>
              </a:rPr>
              <a:t>Give a fraction and decimal answer (round to 4 places).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F9B4D7-A774-AD49-971B-CF1F09B828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813" y="2673726"/>
            <a:ext cx="1928813" cy="106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4B7024-FD6A-5D46-A223-5649921590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238" y="2673726"/>
            <a:ext cx="1125538" cy="99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149E5F-9806-7749-A098-DF5978B2B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7438" y="3054726"/>
            <a:ext cx="1254125" cy="449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F8F5E1-AE90-F94A-A986-4EE6B0A4FA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9135" y="3830194"/>
            <a:ext cx="1960562" cy="106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A86348-D891-AA4E-85EC-717CF457B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2097" y="3906394"/>
            <a:ext cx="1123950" cy="99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1B2ECC-9D45-1847-92CB-667AC98FD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3697" y="4287394"/>
            <a:ext cx="1254125" cy="449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C9D918-941B-1841-BF84-F387C5447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0838" y="5032276"/>
            <a:ext cx="1962150" cy="106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AA9B08-FFD1-4547-AA7E-C389A76C9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6838" y="5025926"/>
            <a:ext cx="674687" cy="99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6A6B9CC-C7AE-F545-9774-C27F41723E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2238" y="5337076"/>
            <a:ext cx="868362" cy="449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4" name="AutoShape 1044">
            <a:extLst>
              <a:ext uri="{FF2B5EF4-FFF2-40B4-BE49-F238E27FC236}">
                <a16:creationId xmlns:a16="http://schemas.microsoft.com/office/drawing/2014/main" id="{F7D68216-A8D8-EF44-84CD-A200CEC1EA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238" y="2749926"/>
            <a:ext cx="2133600" cy="2362200"/>
          </a:xfrm>
          <a:prstGeom prst="rtTriangle">
            <a:avLst/>
          </a:prstGeom>
          <a:solidFill>
            <a:srgbClr val="FFFF00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1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E61503-1343-A942-A808-21C224FCE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238" y="4807326"/>
            <a:ext cx="304800" cy="304800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1800"/>
          </a:p>
        </p:txBody>
      </p:sp>
      <p:sp>
        <p:nvSpPr>
          <p:cNvPr id="16" name="Text Box 1046">
            <a:extLst>
              <a:ext uri="{FF2B5EF4-FFF2-40B4-BE49-F238E27FC236}">
                <a16:creationId xmlns:a16="http://schemas.microsoft.com/office/drawing/2014/main" id="{0D3D3990-B7A3-5642-A75E-BD3F377646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38" y="3740526"/>
            <a:ext cx="6858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000"/>
              <a:t>9</a:t>
            </a:r>
          </a:p>
        </p:txBody>
      </p:sp>
      <p:sp>
        <p:nvSpPr>
          <p:cNvPr id="17" name="Text Box 1047">
            <a:extLst>
              <a:ext uri="{FF2B5EF4-FFF2-40B4-BE49-F238E27FC236}">
                <a16:creationId xmlns:a16="http://schemas.microsoft.com/office/drawing/2014/main" id="{30ED2BFF-ECB0-9D49-8C90-E3AC14117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0038" y="5264526"/>
            <a:ext cx="6858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000"/>
              <a:t>6</a:t>
            </a:r>
          </a:p>
        </p:txBody>
      </p:sp>
      <p:sp>
        <p:nvSpPr>
          <p:cNvPr id="18" name="Text Box 1048">
            <a:extLst>
              <a:ext uri="{FF2B5EF4-FFF2-40B4-BE49-F238E27FC236}">
                <a16:creationId xmlns:a16="http://schemas.microsoft.com/office/drawing/2014/main" id="{A5CEF387-6382-D74F-B495-04A5B41BF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838" y="3511926"/>
            <a:ext cx="9906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000"/>
              <a:t>10.8</a:t>
            </a:r>
          </a:p>
        </p:txBody>
      </p:sp>
      <p:sp>
        <p:nvSpPr>
          <p:cNvPr id="19" name="Text Box 1049">
            <a:extLst>
              <a:ext uri="{FF2B5EF4-FFF2-40B4-BE49-F238E27FC236}">
                <a16:creationId xmlns:a16="http://schemas.microsoft.com/office/drawing/2014/main" id="{7A26C75E-AF4E-6C41-9A8C-832AEDAFE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7838" y="4867651"/>
            <a:ext cx="381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000"/>
              <a:t>A</a:t>
            </a:r>
          </a:p>
        </p:txBody>
      </p:sp>
      <p:sp>
        <p:nvSpPr>
          <p:cNvPr id="21" name="Text Box 1051">
            <a:extLst>
              <a:ext uri="{FF2B5EF4-FFF2-40B4-BE49-F238E27FC236}">
                <a16:creationId xmlns:a16="http://schemas.microsoft.com/office/drawing/2014/main" id="{74B02552-F20A-8643-8BDA-7192064242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638" y="5802924"/>
            <a:ext cx="30480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>
                <a:latin typeface="Century Gothic" panose="020B0502020202020204" pitchFamily="34" charset="0"/>
              </a:rPr>
              <a:t>Shrink yourself down and stand where the angle is.</a:t>
            </a:r>
          </a:p>
        </p:txBody>
      </p:sp>
      <p:pic>
        <p:nvPicPr>
          <p:cNvPr id="22" name="Picture 21" descr="MCj00787170000[1]">
            <a:extLst>
              <a:ext uri="{FF2B5EF4-FFF2-40B4-BE49-F238E27FC236}">
                <a16:creationId xmlns:a16="http://schemas.microsoft.com/office/drawing/2014/main" id="{7957D861-912B-9447-B6AA-2133143603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9638" y="4502526"/>
            <a:ext cx="298450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 Box 1055">
            <a:extLst>
              <a:ext uri="{FF2B5EF4-FFF2-40B4-BE49-F238E27FC236}">
                <a16:creationId xmlns:a16="http://schemas.microsoft.com/office/drawing/2014/main" id="{728107BD-C490-3844-AB20-E80C6E9CAA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838" y="7398126"/>
            <a:ext cx="457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i="1">
                <a:latin typeface="Century Gothic" panose="020B0502020202020204" pitchFamily="34" charset="0"/>
              </a:rPr>
              <a:t>Now, figure out your ratios.</a:t>
            </a:r>
          </a:p>
        </p:txBody>
      </p:sp>
    </p:spTree>
    <p:extLst>
      <p:ext uri="{BB962C8B-B14F-4D97-AF65-F5344CB8AC3E}">
        <p14:creationId xmlns:p14="http://schemas.microsoft.com/office/powerpoint/2010/main" val="769542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3EBEA0A-120D-EA49-BB91-3BA9DE5E5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What are the key trigonometric ratios I need to know?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24E2176-EA33-654C-8C48-B4F4E890CD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0448" y="2231776"/>
            <a:ext cx="3276600" cy="1676400"/>
          </a:xfrm>
          <a:prstGeom prst="rtTriangle">
            <a:avLst/>
          </a:prstGeom>
          <a:solidFill>
            <a:srgbClr val="FFFF66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CE918B-FD56-2C44-AA3C-63939C6B9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0448" y="3527176"/>
            <a:ext cx="381000" cy="381000"/>
          </a:xfrm>
          <a:prstGeom prst="rect">
            <a:avLst/>
          </a:prstGeom>
          <a:solidFill>
            <a:srgbClr val="FFFF66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1800"/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FCE4CA28-35C7-D841-83F8-28DDB2E3D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7048" y="3725281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solidFill>
                  <a:srgbClr val="0000FF"/>
                </a:solidFill>
              </a:rPr>
              <a:t>A</a:t>
            </a: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3AF25E08-B8AA-D94D-BE66-52D77590E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7248" y="2384176"/>
            <a:ext cx="1143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000"/>
              <a:t>24.5</a:t>
            </a: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0C649C89-43E3-C244-9709-582376732F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8648" y="4060576"/>
            <a:ext cx="1143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000"/>
              <a:t>23.1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350F5CDA-B740-FA4D-B430-A0AC8710D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248" y="2841376"/>
            <a:ext cx="1143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000"/>
              <a:t>8.2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197E49-6297-E54C-AF80-DA6D3B28B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2604" y="3765516"/>
            <a:ext cx="1928813" cy="106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D0E31F-3927-C141-AB33-033CCF3DB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829" y="3759166"/>
            <a:ext cx="1157288" cy="99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9680383-FBDF-4B48-9893-6B8CB9502B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2229" y="4140166"/>
            <a:ext cx="1285875" cy="449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21493CE-68D0-DB42-9611-07BE099D5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573" y="4710225"/>
            <a:ext cx="1962150" cy="106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EA44D48-72B9-334D-9ED5-F29CC0F9A8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0323" y="4710225"/>
            <a:ext cx="1157288" cy="99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B5D913E-BD4E-644B-9E3A-B1D46A050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1923" y="5167425"/>
            <a:ext cx="1254125" cy="449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FCCB980-A99C-3C4B-AEF6-0C3EE004C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9267" y="5597784"/>
            <a:ext cx="1962150" cy="106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87ABA35-C542-4247-AC76-00F10F580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9067" y="5673984"/>
            <a:ext cx="1125538" cy="99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0E30F83-DB2A-1745-87B2-CDFE57CED5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4792" y="6054984"/>
            <a:ext cx="1285875" cy="449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9" name="Text Box 21">
            <a:extLst>
              <a:ext uri="{FF2B5EF4-FFF2-40B4-BE49-F238E27FC236}">
                <a16:creationId xmlns:a16="http://schemas.microsoft.com/office/drawing/2014/main" id="{6835ADB7-1935-7A46-8085-EC731DCDC9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7011" y="2363607"/>
            <a:ext cx="3962400" cy="12922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600">
                <a:latin typeface="Comic Sans MS" panose="030F0902030302020204" pitchFamily="66" charset="0"/>
              </a:rPr>
              <a:t>Give a fraction and decimal answer (round to 4 decimal places).</a:t>
            </a:r>
          </a:p>
        </p:txBody>
      </p:sp>
      <p:sp>
        <p:nvSpPr>
          <p:cNvPr id="20" name="Text Box 23">
            <a:extLst>
              <a:ext uri="{FF2B5EF4-FFF2-40B4-BE49-F238E27FC236}">
                <a16:creationId xmlns:a16="http://schemas.microsoft.com/office/drawing/2014/main" id="{CA363910-9ECA-D94D-BBD1-F72BF9731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495" y="4756116"/>
            <a:ext cx="30480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>
                <a:latin typeface="Century Gothic" panose="020B0502020202020204" pitchFamily="34" charset="0"/>
              </a:rPr>
              <a:t>Shrink yourself down and stand where the angle is.</a:t>
            </a:r>
          </a:p>
        </p:txBody>
      </p:sp>
      <p:pic>
        <p:nvPicPr>
          <p:cNvPr id="21" name="Picture 20" descr="MCj00787170000[1]">
            <a:extLst>
              <a:ext uri="{FF2B5EF4-FFF2-40B4-BE49-F238E27FC236}">
                <a16:creationId xmlns:a16="http://schemas.microsoft.com/office/drawing/2014/main" id="{8C984880-792B-F242-B6F1-2E4957E0D5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6761" y="3527176"/>
            <a:ext cx="192087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 Box 25">
            <a:extLst>
              <a:ext uri="{FF2B5EF4-FFF2-40B4-BE49-F238E27FC236}">
                <a16:creationId xmlns:a16="http://schemas.microsoft.com/office/drawing/2014/main" id="{0315F1BB-5A74-3D44-8FBB-A6B8E2639E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495" y="5486366"/>
            <a:ext cx="457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i="1" dirty="0">
                <a:latin typeface="Century Gothic" panose="020B0502020202020204" pitchFamily="34" charset="0"/>
              </a:rPr>
              <a:t>Now, figure out your ratios.</a:t>
            </a:r>
          </a:p>
        </p:txBody>
      </p:sp>
      <p:sp>
        <p:nvSpPr>
          <p:cNvPr id="23" name="Text Box 5">
            <a:extLst>
              <a:ext uri="{FF2B5EF4-FFF2-40B4-BE49-F238E27FC236}">
                <a16:creationId xmlns:a16="http://schemas.microsoft.com/office/drawing/2014/main" id="{AA616A07-A6EA-7D49-A4AC-004320523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248" y="1763088"/>
            <a:ext cx="9144000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latin typeface="Comic Sans MS" panose="030F0902030302020204" pitchFamily="66" charset="0"/>
              </a:rPr>
              <a:t>Find the sine, the cosine, and the tangent of  angle A.</a:t>
            </a:r>
          </a:p>
        </p:txBody>
      </p:sp>
    </p:spTree>
    <p:extLst>
      <p:ext uri="{BB962C8B-B14F-4D97-AF65-F5344CB8AC3E}">
        <p14:creationId xmlns:p14="http://schemas.microsoft.com/office/powerpoint/2010/main" val="1503258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>
            <a:off x="0" y="5998464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0" y="5998464"/>
            <a:ext cx="1455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Summary: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600" y="2743200"/>
            <a:ext cx="812145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3600" dirty="0"/>
              <a:t>Homework: </a:t>
            </a:r>
            <a:r>
              <a:rPr lang="en-US" sz="3600" dirty="0" err="1"/>
              <a:t>Mathspace</a:t>
            </a:r>
            <a:r>
              <a:rPr lang="en-US" sz="3600" dirty="0"/>
              <a:t> Task – Trig Ratios</a:t>
            </a:r>
          </a:p>
          <a:p>
            <a:pPr marL="285750" indent="-285750">
              <a:buFont typeface="Arial" charset="0"/>
              <a:buChar char="•"/>
            </a:pPr>
            <a:endParaRPr lang="en-US" sz="3600" dirty="0"/>
          </a:p>
          <a:p>
            <a:pPr marL="285750" indent="-285750">
              <a:buFont typeface="Arial" charset="0"/>
              <a:buChar char="•"/>
            </a:pPr>
            <a:r>
              <a:rPr lang="en-US" sz="3600" dirty="0"/>
              <a:t>Complete your summary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F8C3D60-1117-344E-914F-97AFB5896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What are the key trigonometric ratios I need to know?</a:t>
            </a:r>
          </a:p>
        </p:txBody>
      </p:sp>
    </p:spTree>
    <p:extLst>
      <p:ext uri="{BB962C8B-B14F-4D97-AF65-F5344CB8AC3E}">
        <p14:creationId xmlns:p14="http://schemas.microsoft.com/office/powerpoint/2010/main" val="961896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ducation 16x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ducation_16x9.potx" id="{AA5F22BC-61EA-4F01-AB22-75117871E196}" vid="{BD0EB374-1DDC-4F15-88A9-D386288C58A6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141aba3b8f8cb7f331be6546df69db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8e4ef66d87525153bd8907774ed28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F7A874A-6E55-415B-9061-8B2D43DC2F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1BC99BC-3A63-4255-9D4F-38C5B80A319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896FEF9-821E-45A6-82F2-0B1CE4CD8C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576</Words>
  <Application>Microsoft Macintosh PowerPoint</Application>
  <PresentationFormat>Widescreen</PresentationFormat>
  <Paragraphs>90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Berlin Sans FB Demi</vt:lpstr>
      <vt:lpstr>Calibri</vt:lpstr>
      <vt:lpstr>Century Gothic</vt:lpstr>
      <vt:lpstr>Comic Sans MS</vt:lpstr>
      <vt:lpstr>Times New Roman</vt:lpstr>
      <vt:lpstr>Wingdings</vt:lpstr>
      <vt:lpstr>Education 16x9</vt:lpstr>
      <vt:lpstr>Topic: Trigonometry</vt:lpstr>
      <vt:lpstr>Topic: Trigonometry EQ: What are the key trigonometric ratios I need to know?</vt:lpstr>
      <vt:lpstr>Topic: Trigonometry EQ: What are the key trigonometric ratios I need to know?</vt:lpstr>
      <vt:lpstr>Topic: Trigonometry EQ: What are the key trigonometric ratios I need to know?</vt:lpstr>
      <vt:lpstr>Topic: Trigonometry EQ: What are the key trigonometric ratios I need to know?</vt:lpstr>
      <vt:lpstr>Topic: Trigonometry EQ: What are the key trigonometric ratios I need to know?</vt:lpstr>
      <vt:lpstr>Topic: Trigonometry EQ: What are the key trigonometric ratios I need to know?</vt:lpstr>
      <vt:lpstr>Topic: Trigonometry EQ: What are the key trigonometric ratios I need to know?</vt:lpstr>
      <vt:lpstr>Topic: Trigonometry EQ: What are the key trigonometric ratios I need to know?</vt:lpstr>
      <vt:lpstr>Topic: Trigonometry EQ: What are the key trigonometric ratios I need to know?</vt:lpstr>
      <vt:lpstr>Topic: Trigonometry EQ: What are the key trigonometric ratios I need to know?</vt:lpstr>
      <vt:lpstr>Topic: Trigonometry EQ: What are the key trigonometric ratios I need to know?</vt:lpstr>
      <vt:lpstr>Topic: Trigonometry EQ: What are the key trigonometric ratios I need to know?</vt:lpstr>
      <vt:lpstr>Topic: Trigonometry EQ: What are the key trigonometric ratios I need to know?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2012-09-21T18:31:34Z</dcterms:created>
  <dcterms:modified xsi:type="dcterms:W3CDTF">2020-03-31T03:27:18Z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
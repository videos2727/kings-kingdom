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30" r:id="rId2"/>
    <p:sldId id="328" r:id="rId3"/>
    <p:sldId id="331" r:id="rId4"/>
    <p:sldId id="332" r:id="rId5"/>
    <p:sldId id="334" r:id="rId6"/>
    <p:sldId id="335" r:id="rId7"/>
    <p:sldId id="336" r:id="rId8"/>
    <p:sldId id="303" r:id="rId9"/>
    <p:sldId id="321" r:id="rId10"/>
    <p:sldId id="327" r:id="rId11"/>
    <p:sldId id="339" r:id="rId12"/>
    <p:sldId id="337" r:id="rId13"/>
    <p:sldId id="338" r:id="rId14"/>
    <p:sldId id="34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9" autoAdjust="0"/>
    <p:restoredTop sz="95909" autoAdjust="0"/>
  </p:normalViewPr>
  <p:slideViewPr>
    <p:cSldViewPr>
      <p:cViewPr varScale="1">
        <p:scale>
          <a:sx n="109" d="100"/>
          <a:sy n="109" d="100"/>
        </p:scale>
        <p:origin x="-2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31/3/20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31/3/20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700808"/>
            <a:ext cx="0" cy="5157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0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conditions needed to use Pythagoras’ Theorem ?  </a:t>
            </a:r>
          </a:p>
        </p:txBody>
      </p:sp>
    </p:spTree>
    <p:extLst>
      <p:ext uri="{BB962C8B-B14F-4D97-AF65-F5344CB8AC3E}">
        <p14:creationId xmlns:p14="http://schemas.microsoft.com/office/powerpoint/2010/main" val="113302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7653" y="827400"/>
            <a:ext cx="8763000" cy="685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What is a right triangle?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3" y="3037200"/>
            <a:ext cx="8991600" cy="3810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lnSpcReduction="10000"/>
          </a:bodyPr>
          <a:lstStyle/>
          <a:p>
            <a:pPr algn="ctr">
              <a:buFontTx/>
              <a:buNone/>
            </a:pPr>
            <a:r>
              <a:rPr lang="en-US" altLang="en-US" sz="4000"/>
              <a:t>It is a triangle which has an angle that is </a:t>
            </a:r>
            <a:r>
              <a:rPr lang="en-US" altLang="en-US" sz="4000" b="1">
                <a:solidFill>
                  <a:srgbClr val="00279F"/>
                </a:solidFill>
              </a:rPr>
              <a:t>90</a:t>
            </a:r>
            <a:r>
              <a:rPr lang="en-US" altLang="en-US" sz="4000"/>
              <a:t> degrees.  </a:t>
            </a:r>
          </a:p>
          <a:p>
            <a:pPr algn="ctr">
              <a:buFontTx/>
              <a:buNone/>
            </a:pPr>
            <a:r>
              <a:rPr lang="en-US" altLang="en-US" sz="4000"/>
              <a:t>The two sides that make up the right angle are called </a:t>
            </a:r>
            <a:r>
              <a:rPr lang="en-US" altLang="en-US" sz="4000" b="1" u="sng">
                <a:solidFill>
                  <a:srgbClr val="00279F"/>
                </a:solidFill>
              </a:rPr>
              <a:t>legs</a:t>
            </a:r>
            <a:r>
              <a:rPr lang="en-US" altLang="en-US" sz="4000"/>
              <a:t>.  </a:t>
            </a:r>
          </a:p>
          <a:p>
            <a:pPr algn="ctr">
              <a:buFontTx/>
              <a:buNone/>
            </a:pPr>
            <a:r>
              <a:rPr lang="en-US" altLang="en-US" sz="4000"/>
              <a:t>The side opposite the right angle is the </a:t>
            </a:r>
            <a:r>
              <a:rPr lang="en-US" altLang="en-US" sz="4000" b="1" u="sng">
                <a:solidFill>
                  <a:srgbClr val="00279F"/>
                </a:solidFill>
              </a:rPr>
              <a:t>hypotenuse</a:t>
            </a:r>
            <a:r>
              <a:rPr lang="en-US" altLang="en-US" sz="4000"/>
              <a:t>.</a:t>
            </a:r>
          </a:p>
        </p:txBody>
      </p:sp>
      <p:sp>
        <p:nvSpPr>
          <p:cNvPr id="3076" name="Freeform 4"/>
          <p:cNvSpPr>
            <a:spLocks/>
          </p:cNvSpPr>
          <p:nvPr/>
        </p:nvSpPr>
        <p:spPr bwMode="auto">
          <a:xfrm>
            <a:off x="3686653" y="1360800"/>
            <a:ext cx="1754188" cy="1449388"/>
          </a:xfrm>
          <a:custGeom>
            <a:avLst/>
            <a:gdLst>
              <a:gd name="T0" fmla="*/ 0 w 1105"/>
              <a:gd name="T1" fmla="*/ 0 h 913"/>
              <a:gd name="T2" fmla="*/ 0 w 1105"/>
              <a:gd name="T3" fmla="*/ 1447800 h 913"/>
              <a:gd name="T4" fmla="*/ 1752600 w 1105"/>
              <a:gd name="T5" fmla="*/ 1447800 h 913"/>
              <a:gd name="T6" fmla="*/ 0 w 1105"/>
              <a:gd name="T7" fmla="*/ 0 h 9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5" h="913">
                <a:moveTo>
                  <a:pt x="0" y="0"/>
                </a:moveTo>
                <a:lnTo>
                  <a:pt x="0" y="912"/>
                </a:lnTo>
                <a:lnTo>
                  <a:pt x="1104" y="9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693003" y="2586350"/>
            <a:ext cx="215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2986566" y="18037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4205766" y="27943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662966" y="1651313"/>
            <a:ext cx="20701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hypotenuse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804419" y="2657787"/>
            <a:ext cx="14906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 dirty="0">
                <a:latin typeface="Times New Roman" pitchFamily="18" charset="0"/>
              </a:rPr>
              <a:t>right angle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931003" y="2808600"/>
            <a:ext cx="6731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4F26A4-CAB1-274C-9DBC-22BC8AD2E8BA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534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762000" y="1340644"/>
            <a:ext cx="83058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 lengths of the two shorter sides are the legs</a:t>
            </a:r>
            <a:endParaRPr lang="en-US" sz="5400" baseline="40000" dirty="0">
              <a:solidFill>
                <a:srgbClr val="000099"/>
              </a:solidFill>
            </a:endParaRPr>
          </a:p>
          <a:p>
            <a:pPr>
              <a:spcBef>
                <a:spcPct val="50000"/>
              </a:spcBef>
            </a:pPr>
            <a:endParaRPr lang="en-US" sz="5400" baseline="30000" dirty="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458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EC83B17-0EE5-DC45-8E21-8B34C6171162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42675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8" grpId="0" autoUpdateAnimBg="0"/>
      <p:bldP spid="245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 rot="16200000" flipV="1">
            <a:off x="4527129" y="482342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92460" y="1265282"/>
            <a:ext cx="8305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side across from the right angle is called the: </a:t>
            </a:r>
            <a:endParaRPr lang="en-US" sz="4800" baseline="30000" dirty="0"/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3430960" y="5554470"/>
            <a:ext cx="381000" cy="381000"/>
            <a:chOff x="1680" y="3120"/>
            <a:chExt cx="240" cy="240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5607" name="Group 7"/>
          <p:cNvGrpSpPr>
            <a:grpSpLocks/>
          </p:cNvGrpSpPr>
          <p:nvPr/>
        </p:nvGrpSpPr>
        <p:grpSpPr bwMode="auto">
          <a:xfrm rot="5652">
            <a:off x="3430960" y="3725670"/>
            <a:ext cx="381000" cy="2209800"/>
            <a:chOff x="912" y="2352"/>
            <a:chExt cx="240" cy="1392"/>
          </a:xfrm>
        </p:grpSpPr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2668960" y="433527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345360" y="593547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rot="5652">
            <a:off x="3430960" y="372567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18" name="WordArt 18"/>
          <p:cNvSpPr>
            <a:spLocks noChangeAspect="1" noChangeArrowheads="1" noChangeShapeType="1" noTextEdit="1"/>
          </p:cNvSpPr>
          <p:nvPr/>
        </p:nvSpPr>
        <p:spPr bwMode="auto">
          <a:xfrm>
            <a:off x="3925871" y="3076612"/>
            <a:ext cx="5237163" cy="1174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7030A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hypotenuse</a:t>
            </a: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3507160" y="4868670"/>
            <a:ext cx="99060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3570B40-6A1D-BF41-88B3-1839D45D214E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85805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13" grpId="0" animBg="1"/>
      <p:bldP spid="25618" grpId="0"/>
      <p:bldP spid="256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11560" y="1158179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relationship </a:t>
            </a:r>
            <a:r>
              <a:rPr lang="en-US" sz="4800" dirty="0" err="1">
                <a:solidFill>
                  <a:srgbClr val="000099"/>
                </a:solidFill>
              </a:rPr>
              <a:t>Pythagorus</a:t>
            </a:r>
            <a:r>
              <a:rPr lang="en-US" sz="4800" dirty="0">
                <a:solidFill>
                  <a:srgbClr val="000099"/>
                </a:solidFill>
              </a:rPr>
              <a:t> discovered is now called The Pythagorean Theorem:</a:t>
            </a:r>
            <a:endParaRPr lang="en-US" sz="4800" baseline="30000" dirty="0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rot="16200000" flipV="1">
            <a:off x="4450929" y="49077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7661" name="Group 13"/>
          <p:cNvGrpSpPr>
            <a:grpSpLocks/>
          </p:cNvGrpSpPr>
          <p:nvPr/>
        </p:nvGrpSpPr>
        <p:grpSpPr bwMode="auto">
          <a:xfrm>
            <a:off x="3354760" y="5638800"/>
            <a:ext cx="381000" cy="381000"/>
            <a:chOff x="1680" y="3120"/>
            <a:chExt cx="240" cy="240"/>
          </a:xfrm>
        </p:grpSpPr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7664" name="Group 16"/>
          <p:cNvGrpSpPr>
            <a:grpSpLocks/>
          </p:cNvGrpSpPr>
          <p:nvPr/>
        </p:nvGrpSpPr>
        <p:grpSpPr bwMode="auto">
          <a:xfrm rot="5652">
            <a:off x="3354760" y="3810000"/>
            <a:ext cx="381000" cy="2209800"/>
            <a:chOff x="912" y="2352"/>
            <a:chExt cx="240" cy="1392"/>
          </a:xfrm>
        </p:grpSpPr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2592760" y="44196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4269160" y="60198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rot="5652">
            <a:off x="3354760" y="38100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573960" y="40386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BE3CB-8243-BB43-BE32-534ADBE909E7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471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83568" y="1060245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Pythagorean Theorem says, given the right triangle with legs </a:t>
            </a:r>
            <a:r>
              <a:rPr lang="en-US" sz="4800" i="1" dirty="0">
                <a:solidFill>
                  <a:srgbClr val="000099"/>
                </a:solidFill>
              </a:rPr>
              <a:t>a</a:t>
            </a:r>
            <a:r>
              <a:rPr lang="en-US" sz="4800" dirty="0">
                <a:solidFill>
                  <a:srgbClr val="000099"/>
                </a:solidFill>
              </a:rPr>
              <a:t> and </a:t>
            </a:r>
            <a:r>
              <a:rPr lang="en-US" sz="4800" i="1" dirty="0">
                <a:solidFill>
                  <a:srgbClr val="000099"/>
                </a:solidFill>
              </a:rPr>
              <a:t>b</a:t>
            </a:r>
            <a:r>
              <a:rPr lang="en-US" sz="4800" dirty="0">
                <a:solidFill>
                  <a:srgbClr val="000099"/>
                </a:solidFill>
              </a:rPr>
              <a:t> and hypotenuse </a:t>
            </a:r>
            <a:r>
              <a:rPr lang="en-US" sz="4800" i="1" dirty="0">
                <a:solidFill>
                  <a:srgbClr val="000099"/>
                </a:solidFill>
              </a:rPr>
              <a:t>c,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8679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39229B9-D7EB-2444-9F3D-E65426E40F54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6787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838200" y="2259830"/>
            <a:ext cx="8153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then </a:t>
            </a:r>
            <a:endParaRPr lang="en-US" sz="5400" i="1" dirty="0">
              <a:solidFill>
                <a:srgbClr val="000099"/>
              </a:solidFill>
            </a:endParaRP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grpSp>
        <p:nvGrpSpPr>
          <p:cNvPr id="2970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48336"/>
              </p:ext>
            </p:extLst>
          </p:nvPr>
        </p:nvGraphicFramePr>
        <p:xfrm>
          <a:off x="3220062" y="2189950"/>
          <a:ext cx="3759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3" imgW="3759120" imgH="825480" progId="Equation.3">
                  <p:embed/>
                </p:oleObj>
              </mc:Choice>
              <mc:Fallback>
                <p:oleObj name="Equation" r:id="rId3" imgW="3759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0062" y="2189950"/>
                        <a:ext cx="3759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2FEBE38-4A4D-9646-8C09-5BF403A42AD6}"/>
              </a:ext>
            </a:extLst>
          </p:cNvPr>
          <p:cNvSpPr txBox="1">
            <a:spLocks/>
          </p:cNvSpPr>
          <p:nvPr/>
        </p:nvSpPr>
        <p:spPr>
          <a:xfrm>
            <a:off x="158128" y="0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5923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877501" y="1052736"/>
                <a:ext cx="5963519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Pythagoras Theorem is about right angles triangles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r>
                  <a:rPr lang="en-AU" dirty="0"/>
                  <a:t>		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52736"/>
                <a:ext cx="5963519" cy="2893100"/>
              </a:xfrm>
              <a:prstGeom prst="rect">
                <a:avLst/>
              </a:prstGeom>
              <a:blipFill>
                <a:blip r:embed="rId2"/>
                <a:stretch>
                  <a:fillRect l="-1062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Triangle 20"/>
          <p:cNvSpPr/>
          <p:nvPr/>
        </p:nvSpPr>
        <p:spPr>
          <a:xfrm>
            <a:off x="2461677" y="1604099"/>
            <a:ext cx="201622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067404" y="6184230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404" y="6184230"/>
                <a:ext cx="2768380" cy="405496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158897" y="6213116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897" y="6213116"/>
                <a:ext cx="1445011" cy="345416"/>
              </a:xfrm>
              <a:prstGeom prst="rect">
                <a:avLst/>
              </a:prstGeom>
              <a:blipFill>
                <a:blip r:embed="rId4"/>
                <a:stretch>
                  <a:fillRect l="-2609" r="-87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206093" y="6215425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093" y="6215425"/>
                <a:ext cx="1446743" cy="343107"/>
              </a:xfrm>
              <a:prstGeom prst="rect">
                <a:avLst/>
              </a:prstGeom>
              <a:blipFill>
                <a:blip r:embed="rId5"/>
                <a:stretch>
                  <a:fillRect l="-173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691735" y="4504585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Therefore to find the shorter sides (legs):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735" y="4504585"/>
                <a:ext cx="6087638" cy="923330"/>
              </a:xfrm>
              <a:prstGeom prst="rect">
                <a:avLst/>
              </a:prstGeom>
              <a:blipFill>
                <a:blip r:embed="rId6"/>
                <a:stretch>
                  <a:fillRect l="-624" t="-274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2461677" y="2499285"/>
            <a:ext cx="222307" cy="222307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76FF69C5-9D29-EB48-A7AD-00D6D020E435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4" y="1313550"/>
            <a:ext cx="3528392" cy="1168640"/>
          </a:xfrm>
        </p:spPr>
        <p:txBody>
          <a:bodyPr>
            <a:normAutofit/>
          </a:bodyPr>
          <a:lstStyle/>
          <a:p>
            <a:r>
              <a:rPr lang="en-AU" sz="3600" dirty="0"/>
              <a:t>Examples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2195736" y="2924944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547664" y="3506524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506524"/>
                <a:ext cx="536172" cy="276999"/>
              </a:xfrm>
              <a:prstGeom prst="rect">
                <a:avLst/>
              </a:prstGeom>
              <a:blipFill>
                <a:blip r:embed="rId2"/>
                <a:stretch>
                  <a:fillRect l="-6977" t="-9091" r="-465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915816" y="4496380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496380"/>
                <a:ext cx="536172" cy="276999"/>
              </a:xfrm>
              <a:prstGeom prst="rect">
                <a:avLst/>
              </a:prstGeom>
              <a:blipFill>
                <a:blip r:embed="rId3"/>
                <a:stretch>
                  <a:fillRect l="-9302" t="-4348" r="-4651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68668" y="322952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68" y="3229525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978896" y="4487016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896" y="4487016"/>
                <a:ext cx="1765035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48064" y="5518598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5518598"/>
                <a:ext cx="1176028" cy="684546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2220055" y="4077072"/>
            <a:ext cx="263713" cy="288032"/>
            <a:chOff x="1680" y="3120"/>
            <a:chExt cx="240" cy="2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079EEF0-4F10-884B-B70E-5202A96247F4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73836" y="1045187"/>
            <a:ext cx="3744416" cy="909030"/>
          </a:xfrm>
        </p:spPr>
        <p:txBody>
          <a:bodyPr>
            <a:normAutofit/>
          </a:bodyPr>
          <a:lstStyle/>
          <a:p>
            <a:r>
              <a:rPr lang="en-AU" sz="3600" dirty="0"/>
              <a:t>Examples</a:t>
            </a:r>
          </a:p>
        </p:txBody>
      </p:sp>
      <p:sp>
        <p:nvSpPr>
          <p:cNvPr id="3" name="Right Triangle 2"/>
          <p:cNvSpPr/>
          <p:nvPr/>
        </p:nvSpPr>
        <p:spPr>
          <a:xfrm rot="7484576">
            <a:off x="944590" y="2894821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368692" y="3712288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692" y="3712288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5970" t="-4348" r="-14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033308" y="2262345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308" y="2262345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7018" t="-4348" r="-350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504596" y="2722433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596" y="2722433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27984" y="3104337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3104337"/>
                <a:ext cx="257795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97152" y="4135919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52" y="4135919"/>
                <a:ext cx="1305101" cy="678968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 rot="2013339" flipV="1">
            <a:off x="2260748" y="2216621"/>
            <a:ext cx="322796" cy="293250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11BEA52-2691-8A42-A10E-37A715803227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620F8C9-3F9F-BD43-A3A0-4A780AFDF965}"/>
              </a:ext>
            </a:extLst>
          </p:cNvPr>
          <p:cNvSpPr txBox="1">
            <a:spLocks/>
          </p:cNvSpPr>
          <p:nvPr/>
        </p:nvSpPr>
        <p:spPr>
          <a:xfrm>
            <a:off x="1455280" y="5456826"/>
            <a:ext cx="7011300" cy="834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Now you try the following questions:</a:t>
            </a:r>
          </a:p>
        </p:txBody>
      </p:sp>
    </p:spTree>
    <p:extLst>
      <p:ext uri="{BB962C8B-B14F-4D97-AF65-F5344CB8AC3E}">
        <p14:creationId xmlns:p14="http://schemas.microsoft.com/office/powerpoint/2010/main" val="133012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6768752" cy="32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7848872" cy="257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0C91FB1-A85E-B747-9F1B-7E8047D8FAB3}"/>
              </a:ext>
            </a:extLst>
          </p:cNvPr>
          <p:cNvSpPr txBox="1">
            <a:spLocks/>
          </p:cNvSpPr>
          <p:nvPr/>
        </p:nvSpPr>
        <p:spPr>
          <a:xfrm>
            <a:off x="0" y="-243408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123124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0"/>
            <a:ext cx="7416824" cy="516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869-9D39-2D40-89EF-70AF994CA74A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87689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366838"/>
            <a:ext cx="90297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61248"/>
            <a:ext cx="91535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4C90521-4D92-3B45-9D4E-759BC171087E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68307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409" y="1916832"/>
            <a:ext cx="64770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229200"/>
            <a:ext cx="189561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E8E01B6-75D3-3644-83F6-E5B1DD474E98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3905442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484</Words>
  <Application>Microsoft Macintosh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Cambria Math</vt:lpstr>
      <vt:lpstr>Times New Roman</vt:lpstr>
      <vt:lpstr>Office Theme</vt:lpstr>
      <vt:lpstr>Equation</vt:lpstr>
      <vt:lpstr>PowerPoint Presentation</vt:lpstr>
      <vt:lpstr>What is a right triangle?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Examples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103</cp:revision>
  <dcterms:created xsi:type="dcterms:W3CDTF">2014-05-14T02:58:57Z</dcterms:created>
  <dcterms:modified xsi:type="dcterms:W3CDTF">2020-03-31T03:30:13Z</dcterms:modified>
</cp:coreProperties>
</file>
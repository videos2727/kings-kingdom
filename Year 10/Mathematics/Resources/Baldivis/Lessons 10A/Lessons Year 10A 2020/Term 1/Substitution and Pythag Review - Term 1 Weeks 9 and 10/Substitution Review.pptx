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2" r:id="rId5"/>
    <p:sldId id="28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99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4"/>
  </p:normalViewPr>
  <p:slideViewPr>
    <p:cSldViewPr>
      <p:cViewPr varScale="1">
        <p:scale>
          <a:sx n="106" d="100"/>
          <a:sy n="106" d="100"/>
        </p:scale>
        <p:origin x="180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5935-235D-49A9-B2AF-A6E64134A395}" type="datetimeFigureOut">
              <a:rPr lang="en-GB" smtClean="0"/>
              <a:t>30/03/2020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32414-3DC2-443B-8DDD-0640E05695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249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5935-235D-49A9-B2AF-A6E64134A395}" type="datetimeFigureOut">
              <a:rPr lang="en-GB" smtClean="0"/>
              <a:t>30/03/2020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32414-3DC2-443B-8DDD-0640E05695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08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5935-235D-49A9-B2AF-A6E64134A395}" type="datetimeFigureOut">
              <a:rPr lang="en-GB" smtClean="0"/>
              <a:t>30/03/2020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32414-3DC2-443B-8DDD-0640E05695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9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5935-235D-49A9-B2AF-A6E64134A395}" type="datetimeFigureOut">
              <a:rPr lang="en-GB" smtClean="0"/>
              <a:t>30/03/2020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32414-3DC2-443B-8DDD-0640E05695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5267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5935-235D-49A9-B2AF-A6E64134A395}" type="datetimeFigureOut">
              <a:rPr lang="en-GB" smtClean="0"/>
              <a:t>30/03/2020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32414-3DC2-443B-8DDD-0640E05695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262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5935-235D-49A9-B2AF-A6E64134A395}" type="datetimeFigureOut">
              <a:rPr lang="en-GB" smtClean="0"/>
              <a:t>30/03/2020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32414-3DC2-443B-8DDD-0640E05695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937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5935-235D-49A9-B2AF-A6E64134A395}" type="datetimeFigureOut">
              <a:rPr lang="en-GB" smtClean="0"/>
              <a:t>30/03/2020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32414-3DC2-443B-8DDD-0640E05695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74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5935-235D-49A9-B2AF-A6E64134A395}" type="datetimeFigureOut">
              <a:rPr lang="en-GB" smtClean="0"/>
              <a:t>30/03/2020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32414-3DC2-443B-8DDD-0640E05695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824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5935-235D-49A9-B2AF-A6E64134A395}" type="datetimeFigureOut">
              <a:rPr lang="en-GB" smtClean="0"/>
              <a:t>30/03/2020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32414-3DC2-443B-8DDD-0640E05695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033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5935-235D-49A9-B2AF-A6E64134A395}" type="datetimeFigureOut">
              <a:rPr lang="en-GB" smtClean="0"/>
              <a:t>30/03/2020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32414-3DC2-443B-8DDD-0640E05695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2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5935-235D-49A9-B2AF-A6E64134A395}" type="datetimeFigureOut">
              <a:rPr lang="en-GB" smtClean="0"/>
              <a:t>30/03/2020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32414-3DC2-443B-8DDD-0640E05695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11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E5935-235D-49A9-B2AF-A6E64134A395}" type="datetimeFigureOut">
              <a:rPr lang="en-GB" smtClean="0"/>
              <a:t>30/03/2020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32414-3DC2-443B-8DDD-0640E05695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20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88640"/>
            <a:ext cx="9145016" cy="922114"/>
          </a:xfrm>
        </p:spPr>
        <p:txBody>
          <a:bodyPr>
            <a:noAutofit/>
          </a:bodyPr>
          <a:lstStyle/>
          <a:p>
            <a:pPr algn="l"/>
            <a:r>
              <a:rPr lang="en-GB" sz="2800" dirty="0"/>
              <a:t>Topic: Substitution</a:t>
            </a:r>
            <a:br>
              <a:rPr lang="en-GB" sz="2800" dirty="0"/>
            </a:br>
            <a:r>
              <a:rPr lang="en-GB" sz="2800" dirty="0"/>
              <a:t>EQ: When do we use substitution in trigonometry?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algebra, substitution means replacing a letter with a number</a:t>
            </a:r>
          </a:p>
          <a:p>
            <a:endParaRPr lang="en-GB" dirty="0"/>
          </a:p>
          <a:p>
            <a:r>
              <a:rPr lang="en-GB" dirty="0"/>
              <a:t>REMEMBER: A number and a letter next to each other mean they are multiplying each other</a:t>
            </a:r>
          </a:p>
          <a:p>
            <a:endParaRPr lang="en-GB" dirty="0"/>
          </a:p>
          <a:p>
            <a:r>
              <a:rPr lang="en-GB" dirty="0"/>
              <a:t>E.g.   3a means 3 x a.</a:t>
            </a:r>
          </a:p>
        </p:txBody>
      </p:sp>
    </p:spTree>
    <p:extLst>
      <p:ext uri="{BB962C8B-B14F-4D97-AF65-F5344CB8AC3E}">
        <p14:creationId xmlns:p14="http://schemas.microsoft.com/office/powerpoint/2010/main" val="2099960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0942" y="1335607"/>
                <a:ext cx="8643546" cy="2854638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GB" sz="4400" dirty="0"/>
                  <a:t>If a = 3, find the value of y when: y = 5a + 4</a:t>
                </a:r>
              </a:p>
              <a:p>
                <a:pPr marL="0" indent="0" algn="ctr">
                  <a:buNone/>
                </a:pPr>
                <a:endParaRPr lang="en-GB" sz="4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4400" dirty="0"/>
                  <a:t>Replace a with 3, remembering that 5a means </a:t>
                </a:r>
              </a:p>
              <a:p>
                <a:pPr marL="0" indent="0">
                  <a:buNone/>
                </a:pPr>
                <a:r>
                  <a:rPr lang="en-GB" sz="4400" dirty="0"/>
                  <a:t>        5 x a  </a:t>
                </a:r>
                <a14:m>
                  <m:oMath xmlns:m="http://schemas.openxmlformats.org/officeDocument/2006/math">
                    <m:r>
                      <a:rPr lang="en-GB" sz="4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GB" sz="4400" dirty="0"/>
                  <a:t>  y = (5 x 3) + 4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GB" sz="4400" dirty="0"/>
              </a:p>
              <a:p>
                <a:pPr marL="514350" indent="-514350">
                  <a:buAutoNum type="arabicPeriod" startAt="2"/>
                </a:pPr>
                <a:r>
                  <a:rPr lang="en-GB" sz="4400" dirty="0"/>
                  <a:t>Calculate the value of y; y = 15 + 4</a:t>
                </a:r>
              </a:p>
              <a:p>
                <a:pPr marL="0" indent="0">
                  <a:buNone/>
                </a:pPr>
                <a:r>
                  <a:rPr lang="en-GB" sz="4400" dirty="0"/>
                  <a:t>			         y = 19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0942" y="1335607"/>
                <a:ext cx="8643546" cy="2854638"/>
              </a:xfrm>
              <a:blipFill>
                <a:blip r:embed="rId2"/>
                <a:stretch>
                  <a:fillRect l="-1026" t="-35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5A06811E-E8D4-4D46-8AAB-07F10AF32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88640"/>
            <a:ext cx="9145016" cy="922114"/>
          </a:xfrm>
        </p:spPr>
        <p:txBody>
          <a:bodyPr>
            <a:noAutofit/>
          </a:bodyPr>
          <a:lstStyle/>
          <a:p>
            <a:pPr algn="l"/>
            <a:r>
              <a:rPr lang="en-GB" sz="2800" dirty="0"/>
              <a:t>Topic: Substitution</a:t>
            </a:r>
            <a:br>
              <a:rPr lang="en-GB" sz="2800" dirty="0"/>
            </a:br>
            <a:r>
              <a:rPr lang="en-GB" sz="2800" dirty="0"/>
              <a:t>EQ: When do we use substitution in trigonometry?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C48420B-B072-274A-BC3E-D7E5497B0C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942" y="4005065"/>
                <a:ext cx="8643546" cy="27231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If x = 4, find the value of y when: y = x</a:t>
                </a:r>
                <a:r>
                  <a:rPr lang="en-GB" baseline="30000" dirty="0"/>
                  <a:t>3</a:t>
                </a:r>
                <a:r>
                  <a:rPr lang="en-GB" dirty="0"/>
                  <a:t> -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pPr marL="0" indent="0" algn="ctr">
                  <a:buFont typeface="Arial" pitchFamily="34" charset="0"/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1.   Replace x with 4,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GB" dirty="0"/>
                  <a:t>  y = 4</a:t>
                </a:r>
                <a:r>
                  <a:rPr lang="en-GB" baseline="30000" dirty="0"/>
                  <a:t>3 </a:t>
                </a:r>
                <a:r>
                  <a:rPr lang="en-GB" dirty="0"/>
                  <a:t>-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endParaRPr lang="en-GB" dirty="0"/>
              </a:p>
              <a:p>
                <a:pPr marL="0" indent="0">
                  <a:buFont typeface="Arial" pitchFamily="34" charset="0"/>
                  <a:buNone/>
                </a:pPr>
                <a:endParaRPr lang="en-GB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GB" dirty="0"/>
                  <a:t>Calculate the value of y; y = 64 - 2</a:t>
                </a:r>
              </a:p>
              <a:p>
                <a:pPr marL="0" indent="0" algn="ctr">
                  <a:buFont typeface="Arial" pitchFamily="34" charset="0"/>
                  <a:buNone/>
                </a:pPr>
                <a:r>
                  <a:rPr lang="en-GB" dirty="0"/>
                  <a:t>        y = 62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C48420B-B072-274A-BC3E-D7E5497B0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42" y="4005065"/>
                <a:ext cx="8643546" cy="2723118"/>
              </a:xfrm>
              <a:prstGeom prst="rect">
                <a:avLst/>
              </a:prstGeom>
              <a:blipFill>
                <a:blip r:embed="rId3"/>
                <a:stretch>
                  <a:fillRect l="-1320" t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39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Calculate the value of y in each of the following equations given the value of each letter shown.</a:t>
                </a:r>
              </a:p>
              <a:p>
                <a:endParaRPr lang="en-GB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GB" dirty="0"/>
                  <a:t>y = 7a			when a = 3		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GB" dirty="0"/>
                  <a:t>y = b</a:t>
                </a:r>
                <a:r>
                  <a:rPr lang="en-GB" baseline="30000" dirty="0"/>
                  <a:t>2</a:t>
                </a:r>
                <a:r>
                  <a:rPr lang="en-GB" dirty="0"/>
                  <a:t> + 12		 when b = 7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GB" dirty="0"/>
                  <a:t>y = 10 – c</a:t>
                </a:r>
                <a:r>
                  <a:rPr lang="en-GB" baseline="30000" dirty="0"/>
                  <a:t>c</a:t>
                </a:r>
                <a:r>
                  <a:rPr lang="en-GB" dirty="0"/>
                  <a:t>		 when c = 3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GB" dirty="0"/>
                  <a:t>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+10</m:t>
                        </m:r>
                      </m:num>
                      <m:den>
                        <m:sSup>
                          <m:sSupPr>
                            <m:ctrlP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	 	when d = 5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GB" dirty="0"/>
                  <a:t>y =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</m:oMath>
                </a14:m>
                <a:r>
                  <a:rPr lang="en-GB" dirty="0"/>
                  <a:t>e</a:t>
                </a:r>
                <a:r>
                  <a:rPr lang="en-GB" baseline="30000" dirty="0"/>
                  <a:t>2</a:t>
                </a:r>
                <a:r>
                  <a:rPr lang="en-GB" dirty="0"/>
                  <a:t> – 2e		 when e = 7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3D580D47-7E53-A846-B418-2E94973D6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88640"/>
            <a:ext cx="9145016" cy="922114"/>
          </a:xfrm>
        </p:spPr>
        <p:txBody>
          <a:bodyPr>
            <a:noAutofit/>
          </a:bodyPr>
          <a:lstStyle/>
          <a:p>
            <a:pPr algn="l"/>
            <a:r>
              <a:rPr lang="en-GB" sz="2800" dirty="0"/>
              <a:t>Topic: Substitution</a:t>
            </a:r>
            <a:br>
              <a:rPr lang="en-GB" sz="2800" dirty="0"/>
            </a:br>
            <a:r>
              <a:rPr lang="en-GB" sz="2800" dirty="0"/>
              <a:t>EQ: When do we use substitution in trigonometry?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0FD3A4-F53B-6846-8E2B-45CF9EC9262E}"/>
              </a:ext>
            </a:extLst>
          </p:cNvPr>
          <p:cNvSpPr txBox="1"/>
          <p:nvPr/>
        </p:nvSpPr>
        <p:spPr>
          <a:xfrm>
            <a:off x="6948264" y="3068960"/>
            <a:ext cx="208823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indent="-342900">
              <a:buAutoNum type="alphaLcParenR"/>
            </a:pPr>
            <a:r>
              <a:rPr lang="en-US" sz="2400" dirty="0"/>
              <a:t>y = 21</a:t>
            </a:r>
          </a:p>
          <a:p>
            <a:pPr marL="342900" indent="-342900">
              <a:buAutoNum type="alphaLcParenR"/>
            </a:pPr>
            <a:r>
              <a:rPr lang="en-US" sz="2400" dirty="0"/>
              <a:t>y = 61</a:t>
            </a:r>
          </a:p>
          <a:p>
            <a:pPr marL="342900" indent="-342900">
              <a:buAutoNum type="alphaLcParenR"/>
            </a:pPr>
            <a:r>
              <a:rPr lang="en-US" sz="2400" dirty="0"/>
              <a:t>y = -17</a:t>
            </a:r>
          </a:p>
          <a:p>
            <a:pPr marL="342900" indent="-342900">
              <a:buAutoNum type="alphaLcParenR"/>
            </a:pPr>
            <a:r>
              <a:rPr lang="en-US" sz="2400" dirty="0"/>
              <a:t>y = 2</a:t>
            </a:r>
          </a:p>
          <a:p>
            <a:pPr marL="342900" indent="-342900">
              <a:buAutoNum type="alphaLcParenR"/>
            </a:pPr>
            <a:r>
              <a:rPr lang="en-US" sz="2400" dirty="0"/>
              <a:t>y = -7</a:t>
            </a:r>
          </a:p>
        </p:txBody>
      </p:sp>
    </p:spTree>
    <p:extLst>
      <p:ext uri="{BB962C8B-B14F-4D97-AF65-F5344CB8AC3E}">
        <p14:creationId xmlns:p14="http://schemas.microsoft.com/office/powerpoint/2010/main" val="298224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substitution to evaluate the following: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9792" y="3212976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y = 7x	when x =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5736" y="4509120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y = 13 + b		when b =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60104" y="4941168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y = 2Q – 9 		when Q =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9632" y="2628113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y = 3c – 5		when c =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9632" y="4941168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y = 8t + 11 		when t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568" y="3502391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y = 12w + 12    	when w =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3714" y="2628201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y = 3r - 10	when r =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3748" y="4391803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y = B – 8 		when B 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7864" y="3807028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y = a – 4 		when a = 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84" y="2934355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y = f</a:t>
            </a:r>
            <a:r>
              <a:rPr lang="en-GB" sz="3200" baseline="30000" dirty="0"/>
              <a:t>2</a:t>
            </a:r>
            <a:r>
              <a:rPr lang="en-GB" sz="3200" dirty="0"/>
              <a:t> + 7		when f = 5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4D1BD30-D00E-7645-962F-4C21FB0F4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88640"/>
            <a:ext cx="9145016" cy="922114"/>
          </a:xfrm>
        </p:spPr>
        <p:txBody>
          <a:bodyPr>
            <a:noAutofit/>
          </a:bodyPr>
          <a:lstStyle/>
          <a:p>
            <a:pPr algn="l"/>
            <a:r>
              <a:rPr lang="en-GB" sz="2800" dirty="0"/>
              <a:t>Topic: Substitution</a:t>
            </a:r>
            <a:br>
              <a:rPr lang="en-GB" sz="2800" dirty="0"/>
            </a:br>
            <a:r>
              <a:rPr lang="en-GB" sz="2800" dirty="0"/>
              <a:t>EQ: When do we use substitution in trigonometry?</a:t>
            </a:r>
          </a:p>
        </p:txBody>
      </p:sp>
    </p:spTree>
    <p:extLst>
      <p:ext uri="{BB962C8B-B14F-4D97-AF65-F5344CB8AC3E}">
        <p14:creationId xmlns:p14="http://schemas.microsoft.com/office/powerpoint/2010/main" val="20498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Complete Substitution Worksheets 1 and 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98F69A9-8FD0-1C4C-8989-C7B81D20A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88640"/>
            <a:ext cx="9145016" cy="922114"/>
          </a:xfrm>
        </p:spPr>
        <p:txBody>
          <a:bodyPr>
            <a:noAutofit/>
          </a:bodyPr>
          <a:lstStyle/>
          <a:p>
            <a:pPr algn="l"/>
            <a:r>
              <a:rPr lang="en-GB" sz="2800" dirty="0"/>
              <a:t>Topic: Substitution</a:t>
            </a:r>
            <a:br>
              <a:rPr lang="en-GB" sz="2800" dirty="0"/>
            </a:br>
            <a:r>
              <a:rPr lang="en-GB" sz="2800" dirty="0"/>
              <a:t>EQ: When do we use substitution in trigonometry?</a:t>
            </a:r>
          </a:p>
        </p:txBody>
      </p:sp>
    </p:spTree>
    <p:extLst>
      <p:ext uri="{BB962C8B-B14F-4D97-AF65-F5344CB8AC3E}">
        <p14:creationId xmlns:p14="http://schemas.microsoft.com/office/powerpoint/2010/main" val="2571872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427</Words>
  <Application>Microsoft Macintosh PowerPoint</Application>
  <PresentationFormat>On-screen Show (4:3)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Office Theme</vt:lpstr>
      <vt:lpstr>Topic: Substitution EQ: When do we use substitution in trigonometry?</vt:lpstr>
      <vt:lpstr>Topic: Substitution EQ: When do we use substitution in trigonometry? </vt:lpstr>
      <vt:lpstr>Topic: Substitution EQ: When do we use substitution in trigonometry?</vt:lpstr>
      <vt:lpstr>Topic: Substitution EQ: When do we use substitution in trigonometry?</vt:lpstr>
      <vt:lpstr>Topic: Substitution EQ: When do we use substitution in trigonometry?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Substitution</dc:title>
  <dc:creator>Daniel Burke</dc:creator>
  <cp:lastModifiedBy>SUMMERS Brad [Baldivis Secondary College]</cp:lastModifiedBy>
  <cp:revision>27</cp:revision>
  <dcterms:created xsi:type="dcterms:W3CDTF">2011-12-01T23:47:38Z</dcterms:created>
  <dcterms:modified xsi:type="dcterms:W3CDTF">2020-03-30T12:05:48Z</dcterms:modified>
</cp:coreProperties>
</file>
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69" r:id="rId17"/>
    <p:sldId id="271" r:id="rId18"/>
    <p:sldId id="272" r:id="rId19"/>
    <p:sldId id="274" r:id="rId20"/>
    <p:sldId id="276" r:id="rId21"/>
    <p:sldId id="277" r:id="rId22"/>
    <p:sldId id="278" r:id="rId23"/>
    <p:sldId id="279" r:id="rId24"/>
    <p:sldId id="280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0"/>
  </p:normalViewPr>
  <p:slideViewPr>
    <p:cSldViewPr>
      <p:cViewPr varScale="1">
        <p:scale>
          <a:sx n="120" d="100"/>
          <a:sy n="120" d="100"/>
        </p:scale>
        <p:origin x="1400" y="-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AA26C-78BA-47AE-A2C6-6491582A5255}" type="datetimeFigureOut">
              <a:rPr lang="en-GB" smtClean="0"/>
              <a:t>10/03/2020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E96E-64B7-438A-AE2B-3038C52254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5881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AA26C-78BA-47AE-A2C6-6491582A5255}" type="datetimeFigureOut">
              <a:rPr lang="en-GB" smtClean="0"/>
              <a:t>10/03/2020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E96E-64B7-438A-AE2B-3038C52254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4126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AA26C-78BA-47AE-A2C6-6491582A5255}" type="datetimeFigureOut">
              <a:rPr lang="en-GB" smtClean="0"/>
              <a:t>10/03/2020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E96E-64B7-438A-AE2B-3038C52254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4838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AA26C-78BA-47AE-A2C6-6491582A5255}" type="datetimeFigureOut">
              <a:rPr lang="en-GB" smtClean="0"/>
              <a:t>10/03/2020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E96E-64B7-438A-AE2B-3038C52254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342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AA26C-78BA-47AE-A2C6-6491582A5255}" type="datetimeFigureOut">
              <a:rPr lang="en-GB" smtClean="0"/>
              <a:t>10/03/2020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E96E-64B7-438A-AE2B-3038C52254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34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AA26C-78BA-47AE-A2C6-6491582A5255}" type="datetimeFigureOut">
              <a:rPr lang="en-GB" smtClean="0"/>
              <a:t>10/03/2020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E96E-64B7-438A-AE2B-3038C52254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4059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AA26C-78BA-47AE-A2C6-6491582A5255}" type="datetimeFigureOut">
              <a:rPr lang="en-GB" smtClean="0"/>
              <a:t>10/03/2020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E96E-64B7-438A-AE2B-3038C52254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6535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AA26C-78BA-47AE-A2C6-6491582A5255}" type="datetimeFigureOut">
              <a:rPr lang="en-GB" smtClean="0"/>
              <a:t>10/03/2020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E96E-64B7-438A-AE2B-3038C52254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86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AA26C-78BA-47AE-A2C6-6491582A5255}" type="datetimeFigureOut">
              <a:rPr lang="en-GB" smtClean="0"/>
              <a:t>10/03/2020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E96E-64B7-438A-AE2B-3038C52254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400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AA26C-78BA-47AE-A2C6-6491582A5255}" type="datetimeFigureOut">
              <a:rPr lang="en-GB" smtClean="0"/>
              <a:t>10/03/2020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E96E-64B7-438A-AE2B-3038C52254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393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AA26C-78BA-47AE-A2C6-6491582A5255}" type="datetimeFigureOut">
              <a:rPr lang="en-GB" smtClean="0"/>
              <a:t>10/03/2020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E96E-64B7-438A-AE2B-3038C52254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1849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AA26C-78BA-47AE-A2C6-6491582A5255}" type="datetimeFigureOut">
              <a:rPr lang="en-GB" smtClean="0"/>
              <a:t>10/03/2020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5E96E-64B7-438A-AE2B-3038C52254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8454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7" Type="http://schemas.openxmlformats.org/officeDocument/2006/relationships/image" Target="../media/image10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810.png"/><Relationship Id="rId4" Type="http://schemas.openxmlformats.org/officeDocument/2006/relationships/image" Target="../media/image7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0.png"/><Relationship Id="rId7" Type="http://schemas.openxmlformats.org/officeDocument/2006/relationships/image" Target="../media/image1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54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56.png"/><Relationship Id="rId10" Type="http://schemas.openxmlformats.org/officeDocument/2006/relationships/image" Target="../media/image70.png"/><Relationship Id="rId4" Type="http://schemas.openxmlformats.org/officeDocument/2006/relationships/image" Target="../media/image65.png"/><Relationship Id="rId9" Type="http://schemas.openxmlformats.org/officeDocument/2006/relationships/image" Target="../media/image6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54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56.png"/><Relationship Id="rId10" Type="http://schemas.openxmlformats.org/officeDocument/2006/relationships/image" Target="../media/image79.png"/><Relationship Id="rId4" Type="http://schemas.openxmlformats.org/officeDocument/2006/relationships/image" Target="../media/image74.png"/><Relationship Id="rId9" Type="http://schemas.openxmlformats.org/officeDocument/2006/relationships/image" Target="../media/image7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2436" y="0"/>
            <a:ext cx="8579128" cy="3322613"/>
          </a:xfrm>
        </p:spPr>
        <p:txBody>
          <a:bodyPr>
            <a:normAutofit fontScale="90000"/>
          </a:bodyPr>
          <a:lstStyle/>
          <a:p>
            <a:r>
              <a:rPr lang="en-AU" dirty="0"/>
              <a:t>Topic: Factorising Non-Monic Trinomials</a:t>
            </a:r>
            <a:br>
              <a:rPr lang="en-AU" dirty="0"/>
            </a:br>
            <a:r>
              <a:rPr lang="en-AU" dirty="0"/>
              <a:t>EQ: How does the process for factorising non-monic differ from monic?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331640" y="3735599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3735599"/>
                <a:ext cx="1368152" cy="1446550"/>
              </a:xfrm>
              <a:prstGeom prst="rect">
                <a:avLst/>
              </a:prstGeom>
              <a:blipFill>
                <a:blip r:embed="rId2"/>
                <a:stretch>
                  <a:fillRect l="-1835" r="-1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555776" y="334259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3342593"/>
                <a:ext cx="1368152" cy="1446550"/>
              </a:xfrm>
              <a:prstGeom prst="rect">
                <a:avLst/>
              </a:prstGeom>
              <a:blipFill>
                <a:blip r:embed="rId3"/>
                <a:stretch>
                  <a:fillRect l="-917" r="-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1331640" y="5301521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5301521"/>
                <a:ext cx="1368152" cy="1446550"/>
              </a:xfrm>
              <a:prstGeom prst="rect">
                <a:avLst/>
              </a:prstGeom>
              <a:blipFill>
                <a:blip r:embed="rId4"/>
                <a:stretch>
                  <a:fillRect b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395997" y="334259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997" y="3342593"/>
                <a:ext cx="1368152" cy="14465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534505" y="5383617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4505" y="5383617"/>
                <a:ext cx="1368152" cy="1446550"/>
              </a:xfrm>
              <a:prstGeom prst="rect">
                <a:avLst/>
              </a:prstGeom>
              <a:blipFill>
                <a:blip r:embed="rId6"/>
                <a:stretch>
                  <a:fillRect l="-5505" r="-5505" b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748909" y="4386709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909" y="4386709"/>
                <a:ext cx="1368152" cy="1993816"/>
              </a:xfrm>
              <a:prstGeom prst="rect">
                <a:avLst/>
              </a:prstGeom>
              <a:blipFill>
                <a:blip r:embed="rId7"/>
                <a:stretch>
                  <a:fillRect b="-10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-88470" y="3735599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8470" y="3735599"/>
                <a:ext cx="1368152" cy="1993816"/>
              </a:xfrm>
              <a:prstGeom prst="rect">
                <a:avLst/>
              </a:prstGeom>
              <a:blipFill>
                <a:blip r:embed="rId8"/>
                <a:stretch>
                  <a:fillRect b="-10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7850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bart-simpson-gener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0350"/>
            <a:ext cx="8713788" cy="633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>
                <a:solidFill>
                  <a:schemeClr val="bg1"/>
                </a:solidFill>
              </a:rPr>
              <a:t>Factorising Quadratics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Learning Objectives: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Know what the sum and product is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Able to expand two brackets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Able to factorise a quadratic expression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80312" y="620688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9BDFA71-B37F-4FA3-A17C-E608C8CC2C8E}" type="datetime1">
              <a:rPr lang="en-GB" u="sng" smtClean="0">
                <a:solidFill>
                  <a:schemeClr val="bg1"/>
                </a:solidFill>
              </a:rPr>
              <a:t>10/03/2020</a:t>
            </a:fld>
            <a:endParaRPr lang="en-GB" u="sng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7544" y="620688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>
                <a:solidFill>
                  <a:schemeClr val="bg1"/>
                </a:solidFill>
              </a:rPr>
              <a:t>Grade B/A</a:t>
            </a:r>
          </a:p>
        </p:txBody>
      </p:sp>
      <p:sp>
        <p:nvSpPr>
          <p:cNvPr id="9" name="Oval 8"/>
          <p:cNvSpPr/>
          <p:nvPr/>
        </p:nvSpPr>
        <p:spPr>
          <a:xfrm>
            <a:off x="467544" y="2852936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467544" y="4049362"/>
            <a:ext cx="360040" cy="36004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467544" y="5229200"/>
            <a:ext cx="360040" cy="36004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1482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312" y="1689646"/>
            <a:ext cx="8229600" cy="1143000"/>
          </a:xfrm>
        </p:spPr>
        <p:txBody>
          <a:bodyPr/>
          <a:lstStyle/>
          <a:p>
            <a:r>
              <a:rPr lang="en-GB" dirty="0"/>
              <a:t>Factorising Quadratics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-1392" y="2852936"/>
                <a:ext cx="8229600" cy="4525963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+ 6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+ 8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392" y="2852936"/>
                <a:ext cx="8229600" cy="4525963"/>
              </a:xfrm>
              <a:blipFill>
                <a:blip r:embed="rId2"/>
                <a:stretch>
                  <a:fillRect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8952" y="2852936"/>
                <a:ext cx="8229600" cy="4525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itchFamily="34" charset="0"/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</a:t>
                </a:r>
                <a:r>
                  <a:rPr lang="en-GB" dirty="0">
                    <a:solidFill>
                      <a:srgbClr val="FF0000"/>
                    </a:solidFill>
                  </a:rPr>
                  <a:t>+ 6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+ 8</a:t>
                </a:r>
              </a:p>
            </p:txBody>
          </p:sp>
        </mc:Choice>
        <mc:Fallback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2" y="2852936"/>
                <a:ext cx="8229600" cy="4525963"/>
              </a:xfrm>
              <a:prstGeom prst="rect">
                <a:avLst/>
              </a:prstGeom>
              <a:blipFill>
                <a:blip r:embed="rId3"/>
                <a:stretch>
                  <a:fillRect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8952" y="2852936"/>
                <a:ext cx="8229600" cy="4525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itchFamily="34" charset="0"/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</a:t>
                </a:r>
                <a:r>
                  <a:rPr lang="en-GB" dirty="0">
                    <a:solidFill>
                      <a:srgbClr val="FF0000"/>
                    </a:solidFill>
                  </a:rPr>
                  <a:t>+ 6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>
                    <a:solidFill>
                      <a:srgbClr val="00B050"/>
                    </a:solidFill>
                  </a:rPr>
                  <a:t>+ 8</a:t>
                </a:r>
              </a:p>
              <a:p>
                <a:pPr marL="0" indent="0" algn="ctr">
                  <a:buFont typeface="Arial" pitchFamily="34" charset="0"/>
                  <a:buNone/>
                </a:pPr>
                <a:endParaRPr lang="en-GB" dirty="0">
                  <a:solidFill>
                    <a:srgbClr val="00B050"/>
                  </a:solidFill>
                </a:endParaRPr>
              </a:p>
              <a:p>
                <a:pPr marL="0" indent="0" algn="ctr">
                  <a:buFont typeface="Arial" pitchFamily="34" charset="0"/>
                  <a:buNone/>
                </a:pPr>
                <a:r>
                  <a:rPr lang="en-GB" dirty="0"/>
                  <a:t>(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       )(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      )</a:t>
                </a:r>
              </a:p>
            </p:txBody>
          </p:sp>
        </mc:Choice>
        <mc:Fallback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2" y="2852936"/>
                <a:ext cx="8229600" cy="4525963"/>
              </a:xfrm>
              <a:prstGeom prst="rect">
                <a:avLst/>
              </a:prstGeom>
              <a:blipFill>
                <a:blip r:embed="rId4"/>
                <a:stretch>
                  <a:fillRect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985616" y="2810379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sum </a:t>
            </a:r>
            <a:r>
              <a:rPr lang="en-GB" dirty="0">
                <a:sym typeface="Wingdings" pitchFamily="2" charset="2"/>
              </a:rPr>
              <a:t> +6</a:t>
            </a:r>
          </a:p>
          <a:p>
            <a:r>
              <a:rPr lang="en-GB" dirty="0">
                <a:sym typeface="Wingdings" pitchFamily="2" charset="2"/>
              </a:rPr>
              <a:t>product  +8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5985616" y="3816750"/>
            <a:ext cx="25922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i="1" dirty="0"/>
              <a:t>What two numbers have a product of +8 </a:t>
            </a:r>
            <a:r>
              <a:rPr lang="en-GB" sz="2000" b="1" i="1" u="sng" dirty="0"/>
              <a:t>and</a:t>
            </a:r>
            <a:r>
              <a:rPr lang="en-GB" sz="2000" b="1" i="1" dirty="0"/>
              <a:t> a sum of +6?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9632" y="5115917"/>
            <a:ext cx="23042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1, 8</a:t>
            </a:r>
          </a:p>
          <a:p>
            <a:r>
              <a:rPr lang="en-GB" sz="2000" b="1" dirty="0"/>
              <a:t>8, 1</a:t>
            </a:r>
          </a:p>
          <a:p>
            <a:r>
              <a:rPr lang="en-GB" sz="2000" b="1" dirty="0"/>
              <a:t>2, 4</a:t>
            </a:r>
          </a:p>
          <a:p>
            <a:r>
              <a:rPr lang="en-GB" sz="2000" b="1" dirty="0"/>
              <a:t>4, 2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6157342" y="5328918"/>
            <a:ext cx="5040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157342" y="5616950"/>
            <a:ext cx="5040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21320" y="4046629"/>
            <a:ext cx="802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+ 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112" y="4046629"/>
            <a:ext cx="802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+ 2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22687A1-895B-4843-B8CA-1169D5AE4DEB}"/>
              </a:ext>
            </a:extLst>
          </p:cNvPr>
          <p:cNvSpPr txBox="1">
            <a:spLocks/>
          </p:cNvSpPr>
          <p:nvPr/>
        </p:nvSpPr>
        <p:spPr>
          <a:xfrm>
            <a:off x="107504" y="1"/>
            <a:ext cx="8939336" cy="1685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Topic: Factorising Non-Monic Trinomials</a:t>
            </a:r>
            <a:br>
              <a:rPr lang="en-AU" sz="3200" dirty="0"/>
            </a:br>
            <a:r>
              <a:rPr lang="en-AU" sz="3200" dirty="0"/>
              <a:t>EQ: How does the process for factorising non-monic differ from monic?</a:t>
            </a:r>
          </a:p>
        </p:txBody>
      </p:sp>
    </p:spTree>
    <p:extLst>
      <p:ext uri="{BB962C8B-B14F-4D97-AF65-F5344CB8AC3E}">
        <p14:creationId xmlns:p14="http://schemas.microsoft.com/office/powerpoint/2010/main" val="74024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Factorising Quadratics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23528" y="1772817"/>
                <a:ext cx="244827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32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3200" dirty="0"/>
                  <a:t> + 8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3200" dirty="0"/>
                  <a:t> + 15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772817"/>
                <a:ext cx="2448272" cy="584775"/>
              </a:xfrm>
              <a:prstGeom prst="rect">
                <a:avLst/>
              </a:prstGeom>
              <a:blipFill rotWithShape="1">
                <a:blip r:embed="rId2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>
          <a:xfrm>
            <a:off x="2915816" y="1772817"/>
            <a:ext cx="0" cy="32238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940152" y="1772816"/>
            <a:ext cx="0" cy="3223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300192" y="1772816"/>
                <a:ext cx="244827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32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3200" dirty="0"/>
                  <a:t> - 10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3200" dirty="0"/>
                  <a:t> + 24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192" y="1772816"/>
                <a:ext cx="2448272" cy="584775"/>
              </a:xfrm>
              <a:prstGeom prst="rect">
                <a:avLst/>
              </a:prstGeom>
              <a:blipFill rotWithShape="1">
                <a:blip r:embed="rId3"/>
                <a:stretch>
                  <a:fillRect t="-12500" r="-2736" b="-3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275856" y="1802844"/>
                <a:ext cx="244827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32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3200" dirty="0"/>
                  <a:t> + 4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3200" dirty="0"/>
                  <a:t> – 21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1802844"/>
                <a:ext cx="2448272" cy="584775"/>
              </a:xfrm>
              <a:prstGeom prst="rect">
                <a:avLst/>
              </a:prstGeom>
              <a:blipFill rotWithShape="1">
                <a:blip r:embed="rId4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043608" y="2387619"/>
            <a:ext cx="1728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000" i="1" dirty="0">
                <a:solidFill>
                  <a:srgbClr val="FF0000"/>
                </a:solidFill>
              </a:rPr>
              <a:t>s = +8</a:t>
            </a:r>
          </a:p>
          <a:p>
            <a:pPr algn="r"/>
            <a:r>
              <a:rPr lang="en-GB" sz="2000" i="1" dirty="0">
                <a:solidFill>
                  <a:srgbClr val="FF0000"/>
                </a:solidFill>
              </a:rPr>
              <a:t>p = +15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4290" y="2357591"/>
            <a:ext cx="1728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000" i="1" dirty="0">
                <a:solidFill>
                  <a:srgbClr val="FF0000"/>
                </a:solidFill>
              </a:rPr>
              <a:t>s = -10</a:t>
            </a:r>
          </a:p>
          <a:p>
            <a:pPr algn="r"/>
            <a:r>
              <a:rPr lang="en-GB" sz="2000" i="1" dirty="0">
                <a:solidFill>
                  <a:srgbClr val="FF0000"/>
                </a:solidFill>
              </a:rPr>
              <a:t>p = +24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6936" y="2387619"/>
            <a:ext cx="1728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000" i="1" dirty="0">
                <a:solidFill>
                  <a:srgbClr val="FF0000"/>
                </a:solidFill>
              </a:rPr>
              <a:t>s = +4</a:t>
            </a:r>
          </a:p>
          <a:p>
            <a:pPr algn="r"/>
            <a:r>
              <a:rPr lang="en-GB" sz="2000" i="1" dirty="0">
                <a:solidFill>
                  <a:srgbClr val="FF0000"/>
                </a:solidFill>
              </a:rPr>
              <a:t>p = - 21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51520" y="3356992"/>
                <a:ext cx="259228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(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3200" dirty="0"/>
                  <a:t>       )(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3200" dirty="0"/>
                  <a:t>        )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3356992"/>
                <a:ext cx="2592288" cy="584775"/>
              </a:xfrm>
              <a:prstGeom prst="rect">
                <a:avLst/>
              </a:prstGeom>
              <a:blipFill rotWithShape="1">
                <a:blip r:embed="rId5"/>
                <a:stretch>
                  <a:fillRect l="-5869" t="-12500" r="-2582" b="-3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131840" y="3356992"/>
                <a:ext cx="259228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(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3200" dirty="0"/>
                  <a:t>       )(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3200" dirty="0"/>
                  <a:t>        )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3356992"/>
                <a:ext cx="2592288" cy="584775"/>
              </a:xfrm>
              <a:prstGeom prst="rect">
                <a:avLst/>
              </a:prstGeom>
              <a:blipFill rotWithShape="1">
                <a:blip r:embed="rId6"/>
                <a:stretch>
                  <a:fillRect l="-6118" t="-12500" r="-2588" b="-3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372200" y="3356992"/>
                <a:ext cx="259228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(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3200" dirty="0"/>
                  <a:t>       )(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3200" dirty="0"/>
                  <a:t>        )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00" y="3356992"/>
                <a:ext cx="2592288" cy="584775"/>
              </a:xfrm>
              <a:prstGeom prst="rect">
                <a:avLst/>
              </a:prstGeom>
              <a:blipFill rotWithShape="1">
                <a:blip r:embed="rId7"/>
                <a:stretch>
                  <a:fillRect l="-5869" t="-12500" r="-2582" b="-3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725133" y="3384722"/>
            <a:ext cx="864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+ 5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9551" y="3392579"/>
            <a:ext cx="864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+ 3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1598" y="3391798"/>
            <a:ext cx="864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+ 7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016" y="3385800"/>
            <a:ext cx="864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- 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1958" y="3385040"/>
            <a:ext cx="864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- 6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384" y="3392897"/>
            <a:ext cx="864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- 4</a:t>
            </a:r>
          </a:p>
        </p:txBody>
      </p:sp>
    </p:spTree>
    <p:extLst>
      <p:ext uri="{BB962C8B-B14F-4D97-AF65-F5344CB8AC3E}">
        <p14:creationId xmlns:p14="http://schemas.microsoft.com/office/powerpoint/2010/main" val="1794786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Factorising Quadratics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 your whiteboards: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835696" y="2996952"/>
                <a:ext cx="439248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4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4000" dirty="0"/>
                  <a:t> + 6</a:t>
                </a:r>
                <a14:m>
                  <m:oMath xmlns:m="http://schemas.openxmlformats.org/officeDocument/2006/math">
                    <m:r>
                      <a:rPr lang="en-GB" sz="4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4000" dirty="0"/>
                  <a:t> + 9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2996952"/>
                <a:ext cx="4392488" cy="707886"/>
              </a:xfrm>
              <a:prstGeom prst="rect">
                <a:avLst/>
              </a:prstGeom>
              <a:blipFill rotWithShape="1">
                <a:blip r:embed="rId2"/>
                <a:stretch>
                  <a:fillRect t="-14655" b="-370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707904" y="2336304"/>
                <a:ext cx="439248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4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4000" dirty="0"/>
                  <a:t> + 12</a:t>
                </a:r>
                <a14:m>
                  <m:oMath xmlns:m="http://schemas.openxmlformats.org/officeDocument/2006/math">
                    <m:r>
                      <a:rPr lang="en-GB" sz="4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4000" dirty="0"/>
                  <a:t> + 32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2336304"/>
                <a:ext cx="4392488" cy="707886"/>
              </a:xfrm>
              <a:prstGeom prst="rect">
                <a:avLst/>
              </a:prstGeom>
              <a:blipFill rotWithShape="1">
                <a:blip r:embed="rId3"/>
                <a:stretch>
                  <a:fillRect t="-14655" b="-370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347864" y="4365104"/>
                <a:ext cx="439248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4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4000" dirty="0"/>
                  <a:t> + 6</a:t>
                </a:r>
                <a14:m>
                  <m:oMath xmlns:m="http://schemas.openxmlformats.org/officeDocument/2006/math">
                    <m:r>
                      <a:rPr lang="en-GB" sz="4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4000" dirty="0"/>
                  <a:t> – 27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4365104"/>
                <a:ext cx="4392488" cy="707886"/>
              </a:xfrm>
              <a:prstGeom prst="rect">
                <a:avLst/>
              </a:prstGeom>
              <a:blipFill rotWithShape="1">
                <a:blip r:embed="rId4"/>
                <a:stretch>
                  <a:fillRect t="-14655" b="-370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058402" y="3350895"/>
                <a:ext cx="439248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4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4000" dirty="0"/>
                  <a:t> - 15</a:t>
                </a:r>
                <a14:m>
                  <m:oMath xmlns:m="http://schemas.openxmlformats.org/officeDocument/2006/math">
                    <m:r>
                      <a:rPr lang="en-GB" sz="4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4000" dirty="0"/>
                  <a:t> + 36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402" y="3350895"/>
                <a:ext cx="4392488" cy="707886"/>
              </a:xfrm>
              <a:prstGeom prst="rect">
                <a:avLst/>
              </a:prstGeom>
              <a:blipFill rotWithShape="1">
                <a:blip r:embed="rId5"/>
                <a:stretch>
                  <a:fillRect t="-14655" b="-370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220072" y="4096535"/>
                <a:ext cx="439248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4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4000" dirty="0"/>
                  <a:t>  - </a:t>
                </a:r>
                <a14:m>
                  <m:oMath xmlns:m="http://schemas.openxmlformats.org/officeDocument/2006/math">
                    <m:r>
                      <a:rPr lang="en-GB" sz="4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4000" dirty="0"/>
                  <a:t> – 30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4096535"/>
                <a:ext cx="4392488" cy="707886"/>
              </a:xfrm>
              <a:prstGeom prst="rect">
                <a:avLst/>
              </a:prstGeom>
              <a:blipFill rotWithShape="1">
                <a:blip r:embed="rId6"/>
                <a:stretch>
                  <a:fillRect t="-14655" b="-370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67544" y="3742592"/>
                <a:ext cx="439248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4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4000" dirty="0"/>
                  <a:t> - 7</a:t>
                </a:r>
                <a14:m>
                  <m:oMath xmlns:m="http://schemas.openxmlformats.org/officeDocument/2006/math">
                    <m:r>
                      <a:rPr lang="en-GB" sz="4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4000" dirty="0"/>
                  <a:t> – 44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742592"/>
                <a:ext cx="4392488" cy="707886"/>
              </a:xfrm>
              <a:prstGeom prst="rect">
                <a:avLst/>
              </a:prstGeom>
              <a:blipFill rotWithShape="1">
                <a:blip r:embed="rId7"/>
                <a:stretch>
                  <a:fillRect t="-14655" b="-370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427984" y="2708472"/>
                <a:ext cx="439248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4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4000" dirty="0"/>
                  <a:t> - 49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2708472"/>
                <a:ext cx="4392488" cy="707886"/>
              </a:xfrm>
              <a:prstGeom prst="rect">
                <a:avLst/>
              </a:prstGeom>
              <a:blipFill rotWithShape="1">
                <a:blip r:embed="rId8"/>
                <a:stretch>
                  <a:fillRect t="-14655" b="-370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4525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Factorising Quadratics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06916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GB" dirty="0"/>
                  <a:t>Factorise the following quadratic expressions:</a:t>
                </a:r>
              </a:p>
              <a:p>
                <a:endParaRPr lang="en-GB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+ 6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+ 5</a:t>
                </a: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+ 7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+ 10 </a:t>
                </a: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+ 19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+ 84</a:t>
                </a: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+ 3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– 18</a:t>
                </a: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+ 10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– 24</a:t>
                </a: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- 9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– 22</a:t>
                </a: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- 5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– 24</a:t>
                </a: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- 13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+ 36</a:t>
                </a: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- 13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+ 42</a:t>
                </a: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- 64</a:t>
                </a:r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069160"/>
              </a:xfrm>
              <a:blipFill rotWithShape="1">
                <a:blip r:embed="rId2"/>
                <a:stretch>
                  <a:fillRect l="-1185" t="-2407" b="-8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779912" y="2348880"/>
                <a:ext cx="3960440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700" dirty="0">
                    <a:solidFill>
                      <a:srgbClr val="FF0000"/>
                    </a:solidFill>
                  </a:rPr>
                  <a:t>= 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+ 5)(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+ 1)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2348880"/>
                <a:ext cx="3960440" cy="507831"/>
              </a:xfrm>
              <a:prstGeom prst="rect">
                <a:avLst/>
              </a:prstGeom>
              <a:blipFill rotWithShape="1">
                <a:blip r:embed="rId3"/>
                <a:stretch>
                  <a:fillRect l="-2769" t="-9524" b="-297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779912" y="2780928"/>
                <a:ext cx="3960440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700" dirty="0">
                    <a:solidFill>
                      <a:srgbClr val="FF0000"/>
                    </a:solidFill>
                  </a:rPr>
                  <a:t>= 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+ 5)(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+ 2)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2780928"/>
                <a:ext cx="3960440" cy="507831"/>
              </a:xfrm>
              <a:prstGeom prst="rect">
                <a:avLst/>
              </a:prstGeom>
              <a:blipFill rotWithShape="1">
                <a:blip r:embed="rId4"/>
                <a:stretch>
                  <a:fillRect l="-2769" t="-9639" b="-313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779912" y="3181491"/>
                <a:ext cx="3960440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700" dirty="0">
                    <a:solidFill>
                      <a:srgbClr val="FF0000"/>
                    </a:solidFill>
                  </a:rPr>
                  <a:t>= 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+ 12)(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+ 7)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3181491"/>
                <a:ext cx="3960440" cy="507831"/>
              </a:xfrm>
              <a:prstGeom prst="rect">
                <a:avLst/>
              </a:prstGeom>
              <a:blipFill rotWithShape="1">
                <a:blip r:embed="rId5"/>
                <a:stretch>
                  <a:fillRect l="-2769" t="-9639" b="-313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779912" y="3573016"/>
                <a:ext cx="3960440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700" dirty="0">
                    <a:solidFill>
                      <a:srgbClr val="FF0000"/>
                    </a:solidFill>
                  </a:rPr>
                  <a:t>= 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+ 6)(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– 3)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3573016"/>
                <a:ext cx="3960440" cy="507831"/>
              </a:xfrm>
              <a:prstGeom prst="rect">
                <a:avLst/>
              </a:prstGeom>
              <a:blipFill rotWithShape="1">
                <a:blip r:embed="rId6"/>
                <a:stretch>
                  <a:fillRect l="-2769" t="-9639" b="-313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779912" y="4017877"/>
                <a:ext cx="3960440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700" dirty="0">
                    <a:solidFill>
                      <a:srgbClr val="FF0000"/>
                    </a:solidFill>
                  </a:rPr>
                  <a:t>= 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+ 12)(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– 2)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4017877"/>
                <a:ext cx="3960440" cy="507831"/>
              </a:xfrm>
              <a:prstGeom prst="rect">
                <a:avLst/>
              </a:prstGeom>
              <a:blipFill rotWithShape="1">
                <a:blip r:embed="rId7"/>
                <a:stretch>
                  <a:fillRect l="-2769" t="-9639" b="-313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779912" y="4409402"/>
                <a:ext cx="3960440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700" dirty="0">
                    <a:solidFill>
                      <a:srgbClr val="FF0000"/>
                    </a:solidFill>
                  </a:rPr>
                  <a:t>= 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- 11)(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+ 2)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4409402"/>
                <a:ext cx="3960440" cy="507831"/>
              </a:xfrm>
              <a:prstGeom prst="rect">
                <a:avLst/>
              </a:prstGeom>
              <a:blipFill rotWithShape="1">
                <a:blip r:embed="rId8"/>
                <a:stretch>
                  <a:fillRect l="-2769" t="-9524" b="-297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779912" y="4797152"/>
                <a:ext cx="3960440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700" dirty="0">
                    <a:solidFill>
                      <a:srgbClr val="FF0000"/>
                    </a:solidFill>
                  </a:rPr>
                  <a:t>= 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- 8)(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+ 3)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4797152"/>
                <a:ext cx="3960440" cy="507831"/>
              </a:xfrm>
              <a:prstGeom prst="rect">
                <a:avLst/>
              </a:prstGeom>
              <a:blipFill rotWithShape="1">
                <a:blip r:embed="rId9"/>
                <a:stretch>
                  <a:fillRect l="-2769" t="-9639" b="-313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779912" y="5201490"/>
                <a:ext cx="3960440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700" dirty="0">
                    <a:solidFill>
                      <a:srgbClr val="FF0000"/>
                    </a:solidFill>
                  </a:rPr>
                  <a:t>= 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– 9)(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– 4)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5201490"/>
                <a:ext cx="3960440" cy="507831"/>
              </a:xfrm>
              <a:prstGeom prst="rect">
                <a:avLst/>
              </a:prstGeom>
              <a:blipFill rotWithShape="1">
                <a:blip r:embed="rId10"/>
                <a:stretch>
                  <a:fillRect l="-2769" t="-9524" b="-297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779912" y="5630805"/>
                <a:ext cx="3960440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700" dirty="0">
                    <a:solidFill>
                      <a:srgbClr val="FF0000"/>
                    </a:solidFill>
                  </a:rPr>
                  <a:t>= 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– 6)(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– 7)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5630805"/>
                <a:ext cx="3960440" cy="507831"/>
              </a:xfrm>
              <a:prstGeom prst="rect">
                <a:avLst/>
              </a:prstGeom>
              <a:blipFill rotWithShape="1">
                <a:blip r:embed="rId11"/>
                <a:stretch>
                  <a:fillRect l="-2769" t="-9639" b="-313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779912" y="6017513"/>
                <a:ext cx="3960440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700" dirty="0">
                    <a:solidFill>
                      <a:srgbClr val="FF0000"/>
                    </a:solidFill>
                  </a:rPr>
                  <a:t>= 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+ 8)(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– 8)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6017513"/>
                <a:ext cx="3960440" cy="507831"/>
              </a:xfrm>
              <a:prstGeom prst="rect">
                <a:avLst/>
              </a:prstGeom>
              <a:blipFill rotWithShape="1">
                <a:blip r:embed="rId12"/>
                <a:stretch>
                  <a:fillRect l="-2769" t="-9639" b="-313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4842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Factorise: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baseline="30000" dirty="0"/>
                  <a:t>2</a:t>
                </a:r>
                <a:r>
                  <a:rPr lang="en-GB" dirty="0"/>
                  <a:t> + 13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+ 30</a:t>
                </a:r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baseline="30000" dirty="0"/>
                  <a:t>2</a:t>
                </a:r>
                <a:r>
                  <a:rPr lang="en-GB" dirty="0"/>
                  <a:t> – 4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– 45</a:t>
                </a:r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baseline="30000" dirty="0"/>
                  <a:t>2</a:t>
                </a:r>
                <a:r>
                  <a:rPr lang="en-GB" dirty="0"/>
                  <a:t> – 12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+ 36</a:t>
                </a:r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baseline="30000" dirty="0"/>
                  <a:t>2</a:t>
                </a:r>
                <a:r>
                  <a:rPr lang="en-GB" dirty="0"/>
                  <a:t> – 9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04" t="-35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395536" y="2492896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395536" y="3401290"/>
            <a:ext cx="432048" cy="432048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95536" y="4320806"/>
            <a:ext cx="432048" cy="43204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395536" y="5243055"/>
            <a:ext cx="432048" cy="43204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5-Point Star 7"/>
          <p:cNvSpPr/>
          <p:nvPr/>
        </p:nvSpPr>
        <p:spPr>
          <a:xfrm>
            <a:off x="467544" y="5315063"/>
            <a:ext cx="288032" cy="288032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201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bart-simpson-gener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0350"/>
            <a:ext cx="8713788" cy="633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>
                <a:solidFill>
                  <a:schemeClr val="bg1"/>
                </a:solidFill>
              </a:rPr>
              <a:t>Difference of Two Squares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Learning Objectives: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Able to factorise simple quadratics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Able to factorise a difference of two squares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Able to factorise more difficult quadratics</a:t>
            </a:r>
          </a:p>
        </p:txBody>
      </p:sp>
      <p:sp>
        <p:nvSpPr>
          <p:cNvPr id="4" name="Oval 3"/>
          <p:cNvSpPr/>
          <p:nvPr/>
        </p:nvSpPr>
        <p:spPr>
          <a:xfrm>
            <a:off x="395536" y="2825226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395536" y="4005064"/>
            <a:ext cx="432048" cy="432048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395536" y="5157192"/>
            <a:ext cx="432048" cy="43204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24328" y="611396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34C3088-CD95-42E7-9DAC-CD8ECB030DC7}" type="datetime1">
              <a:rPr lang="en-GB" u="sng" smtClean="0">
                <a:solidFill>
                  <a:schemeClr val="bg1"/>
                </a:solidFill>
              </a:rPr>
              <a:t>10/03/2020</a:t>
            </a:fld>
            <a:endParaRPr lang="en-GB" u="sng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61139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>
                <a:solidFill>
                  <a:schemeClr val="bg1"/>
                </a:solidFill>
              </a:rPr>
              <a:t>Grade B/A</a:t>
            </a:r>
          </a:p>
        </p:txBody>
      </p:sp>
    </p:spTree>
    <p:extLst>
      <p:ext uri="{BB962C8B-B14F-4D97-AF65-F5344CB8AC3E}">
        <p14:creationId xmlns:p14="http://schemas.microsoft.com/office/powerpoint/2010/main" val="4266296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8800"/>
            <a:ext cx="8229600" cy="1143000"/>
          </a:xfrm>
        </p:spPr>
        <p:txBody>
          <a:bodyPr/>
          <a:lstStyle/>
          <a:p>
            <a:r>
              <a:rPr lang="en-GB" dirty="0"/>
              <a:t>Difference of two squares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2852936"/>
                <a:ext cx="8229600" cy="4525963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0" smtClean="0">
                          <a:latin typeface="Cambria Math"/>
                        </a:rPr>
                        <m:t>(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+8)(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 −8)</m:t>
                      </m:r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+ 8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- 8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– 64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- 64</a:t>
                </a:r>
              </a:p>
              <a:p>
                <a:pPr marL="0" indent="0" algn="ctr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2852936"/>
                <a:ext cx="8229600" cy="45259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096C6B4A-AFE6-5E48-8B48-DCCEEF29063B}"/>
              </a:ext>
            </a:extLst>
          </p:cNvPr>
          <p:cNvSpPr txBox="1">
            <a:spLocks/>
          </p:cNvSpPr>
          <p:nvPr/>
        </p:nvSpPr>
        <p:spPr>
          <a:xfrm>
            <a:off x="107504" y="1"/>
            <a:ext cx="8939336" cy="1685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Topic: Factorising Non-Monic Trinomials</a:t>
            </a:r>
            <a:br>
              <a:rPr lang="en-AU" sz="3200" dirty="0"/>
            </a:br>
            <a:r>
              <a:rPr lang="en-AU" sz="3200" dirty="0"/>
              <a:t>EQ: How does the process for factorising non-monic differ from monic?</a:t>
            </a:r>
          </a:p>
        </p:txBody>
      </p:sp>
    </p:spTree>
    <p:extLst>
      <p:ext uri="{BB962C8B-B14F-4D97-AF65-F5344CB8AC3E}">
        <p14:creationId xmlns:p14="http://schemas.microsoft.com/office/powerpoint/2010/main" val="141038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Difference of two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 −81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0" smtClean="0">
                          <a:latin typeface="Cambria Math"/>
                        </a:rPr>
                        <m:t> −100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>
          <a:xfrm>
            <a:off x="4499992" y="1700808"/>
            <a:ext cx="0" cy="46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504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Difference of two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101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 − 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99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b="0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= (101 + 99)(101 – 99)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= 200 x 2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= 400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GB" dirty="0"/>
                  <a:t>49 –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/>
                      </a:rPr>
                      <m:t>(</m:t>
                    </m:r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 −3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[7 + (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– 3)][7 – (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– 3)]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(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+ 4)(10 –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) 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 t="-12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/>
          <p:nvPr/>
        </p:nvCxnSpPr>
        <p:spPr>
          <a:xfrm>
            <a:off x="4572000" y="1700808"/>
            <a:ext cx="0" cy="44644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522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Factorising Quadratics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Pages 140 – 141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Exercise 9F, Q2</a:t>
            </a:r>
          </a:p>
          <a:p>
            <a:endParaRPr lang="en-GB" dirty="0"/>
          </a:p>
          <a:p>
            <a:r>
              <a:rPr lang="en-GB" dirty="0"/>
              <a:t>Exercise 9G, Q1 (a – e)</a:t>
            </a:r>
          </a:p>
          <a:p>
            <a:endParaRPr lang="en-GB" dirty="0"/>
          </a:p>
          <a:p>
            <a:r>
              <a:rPr lang="en-GB" dirty="0"/>
              <a:t>Exercise 9G, Q1 (f – </a:t>
            </a:r>
            <a:r>
              <a:rPr lang="en-GB" dirty="0" err="1"/>
              <a:t>i</a:t>
            </a:r>
            <a:r>
              <a:rPr lang="en-GB" dirty="0"/>
              <a:t>), Q2</a:t>
            </a:r>
          </a:p>
        </p:txBody>
      </p:sp>
      <p:sp>
        <p:nvSpPr>
          <p:cNvPr id="7" name="Oval 6"/>
          <p:cNvSpPr/>
          <p:nvPr/>
        </p:nvSpPr>
        <p:spPr>
          <a:xfrm>
            <a:off x="395536" y="2852936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395536" y="4005064"/>
            <a:ext cx="432048" cy="432048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395536" y="5157192"/>
            <a:ext cx="432048" cy="43204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730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7504" y="2077397"/>
                <a:ext cx="244827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32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3200" dirty="0"/>
                  <a:t> - 121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2077397"/>
                <a:ext cx="2448272" cy="584775"/>
              </a:xfrm>
              <a:prstGeom prst="rect">
                <a:avLst/>
              </a:prstGeom>
              <a:blipFill rotWithShape="1">
                <a:blip r:embed="rId2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/>
          <p:cNvCxnSpPr/>
          <p:nvPr/>
        </p:nvCxnSpPr>
        <p:spPr>
          <a:xfrm>
            <a:off x="2267744" y="2077397"/>
            <a:ext cx="0" cy="32238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5292080" y="2077396"/>
            <a:ext cx="0" cy="3223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300192" y="2077396"/>
                <a:ext cx="244827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/>
                  <a:t>81 – (3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3200" dirty="0"/>
                  <a:t> – 2)</a:t>
                </a:r>
                <a:r>
                  <a:rPr lang="en-GB" sz="3200" baseline="30000" dirty="0"/>
                  <a:t>2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192" y="2077396"/>
                <a:ext cx="2448272" cy="584775"/>
              </a:xfrm>
              <a:prstGeom prst="rect">
                <a:avLst/>
              </a:prstGeom>
              <a:blipFill rotWithShape="1">
                <a:blip r:embed="rId3"/>
                <a:stretch>
                  <a:fillRect l="-4975" t="-12500" r="-1990" b="-3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627784" y="2107424"/>
                <a:ext cx="244827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b="0" i="1" smtClean="0">
                            <a:latin typeface="Cambria Math"/>
                          </a:rPr>
                          <m:t>53</m:t>
                        </m:r>
                      </m:e>
                      <m:sup>
                        <m:r>
                          <a:rPr lang="en-GB" sz="32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3200" dirty="0"/>
                  <a:t> –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b="0" i="1" smtClean="0">
                            <a:latin typeface="Cambria Math"/>
                          </a:rPr>
                          <m:t>47</m:t>
                        </m:r>
                      </m:e>
                      <m:sup>
                        <m:r>
                          <a:rPr lang="en-GB" sz="32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sz="3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784" y="2107424"/>
                <a:ext cx="2448272" cy="584775"/>
              </a:xfrm>
              <a:prstGeom prst="rect">
                <a:avLst/>
              </a:prstGeom>
              <a:blipFill rotWithShape="1">
                <a:blip r:embed="rId4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/>
          <p:cNvSpPr/>
          <p:nvPr/>
        </p:nvSpPr>
        <p:spPr>
          <a:xfrm>
            <a:off x="941157" y="1429324"/>
            <a:ext cx="534499" cy="53449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7401094" y="1429322"/>
            <a:ext cx="534499" cy="534499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3540372" y="1429323"/>
            <a:ext cx="534499" cy="53449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1979712" y="2910423"/>
            <a:ext cx="36004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dirty="0"/>
              <a:t>= (53 + 47)(53 – 47)</a:t>
            </a:r>
          </a:p>
          <a:p>
            <a:pPr algn="ctr"/>
            <a:endParaRPr lang="en-GB" sz="2800" dirty="0"/>
          </a:p>
          <a:p>
            <a:pPr algn="ctr"/>
            <a:r>
              <a:rPr lang="en-GB" sz="2800" dirty="0"/>
              <a:t>= 100 x 6</a:t>
            </a:r>
          </a:p>
          <a:p>
            <a:pPr algn="ctr"/>
            <a:endParaRPr lang="en-GB" sz="2800" dirty="0"/>
          </a:p>
          <a:p>
            <a:pPr algn="ctr"/>
            <a:r>
              <a:rPr lang="en-GB" sz="2800" dirty="0"/>
              <a:t>= 600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5220072" y="2967335"/>
                <a:ext cx="4032448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2800" dirty="0"/>
                  <a:t>9</a:t>
                </a:r>
                <a:r>
                  <a:rPr lang="en-GB" sz="2800" baseline="30000" dirty="0"/>
                  <a:t>2</a:t>
                </a:r>
                <a:r>
                  <a:rPr lang="en-GB" sz="2800" dirty="0"/>
                  <a:t> – (3x – 2)</a:t>
                </a:r>
                <a:r>
                  <a:rPr lang="en-GB" sz="2800" baseline="30000" dirty="0"/>
                  <a:t>2</a:t>
                </a:r>
              </a:p>
              <a:p>
                <a:pPr algn="ctr"/>
                <a:endParaRPr lang="en-GB" sz="2800" dirty="0"/>
              </a:p>
              <a:p>
                <a:pPr algn="ctr"/>
                <a:r>
                  <a:rPr lang="en-GB" sz="2800" dirty="0"/>
                  <a:t>[9 + (</a:t>
                </a:r>
                <a14:m>
                  <m:oMath xmlns:m="http://schemas.openxmlformats.org/officeDocument/2006/math">
                    <m:r>
                      <a:rPr lang="en-GB" sz="2800" b="0" i="0" dirty="0" smtClean="0">
                        <a:latin typeface="Cambria Math"/>
                      </a:rPr>
                      <m:t>3</m:t>
                    </m:r>
                    <m:r>
                      <a:rPr lang="en-GB" sz="2800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800" dirty="0"/>
                  <a:t> – 2)][9 – (3</a:t>
                </a:r>
                <a14:m>
                  <m:oMath xmlns:m="http://schemas.openxmlformats.org/officeDocument/2006/math">
                    <m:r>
                      <a:rPr lang="en-GB" sz="2800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800" dirty="0"/>
                  <a:t> – 2)]</a:t>
                </a:r>
              </a:p>
              <a:p>
                <a:pPr algn="ctr"/>
                <a:endParaRPr lang="en-GB" sz="2800" dirty="0"/>
              </a:p>
              <a:p>
                <a:pPr algn="ctr"/>
                <a:r>
                  <a:rPr lang="en-GB" sz="2800" dirty="0"/>
                  <a:t>(3</a:t>
                </a:r>
                <a14:m>
                  <m:oMath xmlns:m="http://schemas.openxmlformats.org/officeDocument/2006/math">
                    <m:r>
                      <a:rPr lang="en-GB" sz="2800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800" dirty="0"/>
                  <a:t> + 7)(11 – </a:t>
                </a:r>
                <a14:m>
                  <m:oMath xmlns:m="http://schemas.openxmlformats.org/officeDocument/2006/math">
                    <m:r>
                      <a:rPr lang="en-GB" sz="2800" b="0" i="0" dirty="0" smtClean="0">
                        <a:latin typeface="Cambria Math"/>
                      </a:rPr>
                      <m:t>3</m:t>
                    </m:r>
                    <m:r>
                      <a:rPr lang="en-GB" sz="2800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800" dirty="0"/>
                  <a:t>) </a:t>
                </a: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2967335"/>
                <a:ext cx="4032448" cy="2246769"/>
              </a:xfrm>
              <a:prstGeom prst="rect">
                <a:avLst/>
              </a:prstGeom>
              <a:blipFill rotWithShape="1">
                <a:blip r:embed="rId5"/>
                <a:stretch>
                  <a:fillRect l="-1662" t="-2446" r="-1511" b="-70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18565" y="2872632"/>
                <a:ext cx="219310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smtClean="0">
                          <a:latin typeface="Cambria Math"/>
                        </a:rPr>
                        <m:t>(</m:t>
                      </m:r>
                      <m:r>
                        <a:rPr lang="en-GB" sz="2000" i="1">
                          <a:latin typeface="Cambria Math"/>
                        </a:rPr>
                        <m:t>𝑥</m:t>
                      </m:r>
                      <m:r>
                        <a:rPr lang="en-GB" sz="2000" i="1">
                          <a:latin typeface="Cambria Math"/>
                        </a:rPr>
                        <m:t>+11)(</m:t>
                      </m:r>
                      <m:r>
                        <a:rPr lang="en-GB" sz="2000" i="1">
                          <a:latin typeface="Cambria Math"/>
                        </a:rPr>
                        <m:t>𝑥</m:t>
                      </m:r>
                      <m:r>
                        <a:rPr lang="en-GB" sz="2000" i="1">
                          <a:latin typeface="Cambria Math"/>
                        </a:rPr>
                        <m:t> −11)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5" y="2872632"/>
                <a:ext cx="2193100" cy="400110"/>
              </a:xfrm>
              <a:prstGeom prst="rect">
                <a:avLst/>
              </a:prstGeom>
              <a:blipFill rotWithShape="1">
                <a:blip r:embed="rId6"/>
                <a:stretch>
                  <a:fillRect l="-833" b="-1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7798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Factorising Quadratics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Pages 140 – 141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Exercise 9F, Q2</a:t>
            </a:r>
          </a:p>
          <a:p>
            <a:endParaRPr lang="en-GB" dirty="0"/>
          </a:p>
          <a:p>
            <a:r>
              <a:rPr lang="en-GB" dirty="0"/>
              <a:t>Exercise 9G, Q1 (a – e)</a:t>
            </a:r>
          </a:p>
          <a:p>
            <a:endParaRPr lang="en-GB" dirty="0"/>
          </a:p>
          <a:p>
            <a:r>
              <a:rPr lang="en-GB" dirty="0"/>
              <a:t>Exercise 9G, Q1 (f – </a:t>
            </a:r>
            <a:r>
              <a:rPr lang="en-GB" dirty="0" err="1"/>
              <a:t>i</a:t>
            </a:r>
            <a:r>
              <a:rPr lang="en-GB" dirty="0"/>
              <a:t>), Q2</a:t>
            </a:r>
          </a:p>
        </p:txBody>
      </p:sp>
      <p:sp>
        <p:nvSpPr>
          <p:cNvPr id="7" name="Oval 6"/>
          <p:cNvSpPr/>
          <p:nvPr/>
        </p:nvSpPr>
        <p:spPr>
          <a:xfrm>
            <a:off x="395536" y="2852936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395536" y="4005064"/>
            <a:ext cx="432048" cy="432048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395536" y="5157192"/>
            <a:ext cx="432048" cy="43204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2974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bart-simpson-gener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0350"/>
            <a:ext cx="8713788" cy="633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>
                <a:solidFill>
                  <a:schemeClr val="bg1"/>
                </a:solidFill>
              </a:rPr>
              <a:t>Factorising Quadratics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Learning Objectives: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Know what the sum and product is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Able to expand two brackets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Able to factorise a quadratic expression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80312" y="620688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9BDFA71-B37F-4FA3-A17C-E608C8CC2C8E}" type="datetime1">
              <a:rPr lang="en-GB" u="sng" smtClean="0">
                <a:solidFill>
                  <a:schemeClr val="bg1"/>
                </a:solidFill>
              </a:rPr>
              <a:t>10/03/2020</a:t>
            </a:fld>
            <a:endParaRPr lang="en-GB" u="sng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7544" y="620688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>
                <a:solidFill>
                  <a:schemeClr val="bg1"/>
                </a:solidFill>
              </a:rPr>
              <a:t>Grade A</a:t>
            </a:r>
          </a:p>
        </p:txBody>
      </p:sp>
      <p:sp>
        <p:nvSpPr>
          <p:cNvPr id="9" name="Oval 8"/>
          <p:cNvSpPr/>
          <p:nvPr/>
        </p:nvSpPr>
        <p:spPr>
          <a:xfrm>
            <a:off x="467544" y="2852936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467544" y="4049362"/>
            <a:ext cx="360040" cy="36004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467544" y="5229200"/>
            <a:ext cx="360040" cy="36004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0919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8800"/>
            <a:ext cx="8229600" cy="1143000"/>
          </a:xfrm>
        </p:spPr>
        <p:txBody>
          <a:bodyPr/>
          <a:lstStyle/>
          <a:p>
            <a:r>
              <a:rPr lang="en-GB" dirty="0"/>
              <a:t>Factorising Quadratics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9552" y="3284984"/>
                <a:ext cx="8229600" cy="4525963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(3</m:t>
                      </m:r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– 2)(4</m:t>
                      </m:r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+ 3)</m:t>
                      </m:r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12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 −8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+9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 −6</m:t>
                      </m:r>
                    </m:oMath>
                  </m:oMathPara>
                </a14:m>
                <a:endParaRPr lang="en-GB" b="0" dirty="0"/>
              </a:p>
              <a:p>
                <a:pPr marL="0" indent="0" algn="ctr">
                  <a:buNone/>
                </a:pPr>
                <a:endParaRPr lang="en-GB" b="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12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 −6</m:t>
                      </m:r>
                    </m:oMath>
                  </m:oMathPara>
                </a14:m>
                <a:endParaRPr lang="en-GB" b="0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2" y="3284984"/>
                <a:ext cx="8229600" cy="45259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850A7EEC-0195-5A4E-BB99-4BC3141122BF}"/>
              </a:ext>
            </a:extLst>
          </p:cNvPr>
          <p:cNvSpPr txBox="1">
            <a:spLocks/>
          </p:cNvSpPr>
          <p:nvPr/>
        </p:nvSpPr>
        <p:spPr>
          <a:xfrm>
            <a:off x="107504" y="1"/>
            <a:ext cx="8939336" cy="1685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Topic: Factorising Non-Monic Trinomials</a:t>
            </a:r>
            <a:br>
              <a:rPr lang="en-AU" sz="3200" dirty="0"/>
            </a:br>
            <a:r>
              <a:rPr lang="en-AU" sz="3200" dirty="0"/>
              <a:t>EQ: How does the process for factorising non-monic differ from monic?</a:t>
            </a:r>
          </a:p>
        </p:txBody>
      </p:sp>
    </p:spTree>
    <p:extLst>
      <p:ext uri="{BB962C8B-B14F-4D97-AF65-F5344CB8AC3E}">
        <p14:creationId xmlns:p14="http://schemas.microsoft.com/office/powerpoint/2010/main" val="110276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Factorising Quadratics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+11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+15</m:t>
                      </m:r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+6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+5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+15</m:t>
                      </m:r>
                    </m:oMath>
                  </m:oMathPara>
                </a14:m>
                <a:endParaRPr lang="en-GB" b="0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2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+3</m:t>
                          </m:r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+5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+3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(2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+5)(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+3)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804248" y="1412776"/>
            <a:ext cx="2016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s = +11</a:t>
            </a:r>
          </a:p>
          <a:p>
            <a:r>
              <a:rPr lang="en-GB" sz="2400" dirty="0">
                <a:solidFill>
                  <a:srgbClr val="FF0000"/>
                </a:solidFill>
              </a:rPr>
              <a:t>p = 2 x +15</a:t>
            </a:r>
          </a:p>
          <a:p>
            <a:r>
              <a:rPr lang="en-GB" sz="2400" dirty="0">
                <a:solidFill>
                  <a:srgbClr val="FF0000"/>
                </a:solidFill>
              </a:rPr>
              <a:t>   = +30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4208" y="2773377"/>
            <a:ext cx="25922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i="1" dirty="0"/>
              <a:t>What two numbers have a product of +30 </a:t>
            </a:r>
            <a:r>
              <a:rPr lang="en-GB" sz="2000" b="1" i="1" u="sng" dirty="0"/>
              <a:t>and</a:t>
            </a:r>
            <a:r>
              <a:rPr lang="en-GB" sz="2000" b="1" i="1" dirty="0"/>
              <a:t> a sum of +11?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4427984" y="2492896"/>
            <a:ext cx="0" cy="1008112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56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Factorising Quadratics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/>
                        </a:rPr>
                        <m:t>5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−33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−14</m:t>
                      </m:r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5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−35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+2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−14</m:t>
                      </m:r>
                    </m:oMath>
                  </m:oMathPara>
                </a14:m>
                <a:endParaRPr lang="en-GB" b="0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5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−7</m:t>
                          </m:r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+2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−7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(5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+2)(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−7)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804248" y="1412776"/>
            <a:ext cx="2016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s = -33</a:t>
            </a:r>
          </a:p>
          <a:p>
            <a:r>
              <a:rPr lang="en-GB" sz="2400" dirty="0">
                <a:solidFill>
                  <a:srgbClr val="FF0000"/>
                </a:solidFill>
              </a:rPr>
              <a:t>p = 5 x -14</a:t>
            </a:r>
          </a:p>
          <a:p>
            <a:r>
              <a:rPr lang="en-GB" sz="2400" dirty="0">
                <a:solidFill>
                  <a:srgbClr val="FF0000"/>
                </a:solidFill>
              </a:rPr>
              <a:t>   = -70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4208" y="2773377"/>
            <a:ext cx="25922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i="1" dirty="0"/>
              <a:t>What two numbers have a product of -70 </a:t>
            </a:r>
            <a:r>
              <a:rPr lang="en-GB" sz="2000" b="1" i="1" u="sng" dirty="0"/>
              <a:t>and</a:t>
            </a:r>
            <a:r>
              <a:rPr lang="en-GB" sz="2000" b="1" i="1" dirty="0"/>
              <a:t> a sum of -33?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4544290" y="2492896"/>
            <a:ext cx="0" cy="1008112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6494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Factorising Quadratics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/>
                        </a:rPr>
                        <m:t>6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−11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+3</m:t>
                      </m:r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/>
                        </a:rPr>
                        <m:t>6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−9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−2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+3</m:t>
                      </m:r>
                    </m:oMath>
                  </m:oMathPara>
                </a14:m>
                <a:endParaRPr lang="en-GB" b="0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/>
                        </a:rPr>
                        <m:t>3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−3</m:t>
                          </m:r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−1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−3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(3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−1)(2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−3)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804248" y="1412776"/>
            <a:ext cx="2016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s = -11</a:t>
            </a:r>
          </a:p>
          <a:p>
            <a:r>
              <a:rPr lang="en-GB" sz="2400" dirty="0">
                <a:solidFill>
                  <a:srgbClr val="FF0000"/>
                </a:solidFill>
              </a:rPr>
              <a:t>p = 6 x +3</a:t>
            </a:r>
          </a:p>
          <a:p>
            <a:r>
              <a:rPr lang="en-GB" sz="2400" dirty="0">
                <a:solidFill>
                  <a:srgbClr val="FF0000"/>
                </a:solidFill>
              </a:rPr>
              <a:t>   = +18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4208" y="2773377"/>
            <a:ext cx="25922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i="1" dirty="0"/>
              <a:t>What two numbers have a product of +18 </a:t>
            </a:r>
            <a:r>
              <a:rPr lang="en-GB" sz="2000" b="1" i="1" u="sng" dirty="0"/>
              <a:t>and</a:t>
            </a:r>
            <a:r>
              <a:rPr lang="en-GB" sz="2000" b="1" i="1" dirty="0"/>
              <a:t> a sum of -11?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4572000" y="2492896"/>
            <a:ext cx="0" cy="1008112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041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67544" y="2293421"/>
                <a:ext cx="244827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32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3200" dirty="0"/>
                  <a:t> +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3200" dirty="0"/>
                  <a:t> – 72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293421"/>
                <a:ext cx="2448272" cy="584775"/>
              </a:xfrm>
              <a:prstGeom prst="rect">
                <a:avLst/>
              </a:prstGeom>
              <a:blipFill rotWithShape="1">
                <a:blip r:embed="rId2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/>
          <p:cNvCxnSpPr/>
          <p:nvPr/>
        </p:nvCxnSpPr>
        <p:spPr>
          <a:xfrm>
            <a:off x="2915816" y="2293421"/>
            <a:ext cx="0" cy="32238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940152" y="2293420"/>
            <a:ext cx="0" cy="3223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300192" y="2293420"/>
                <a:ext cx="244827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b="0" i="1" smtClean="0">
                            <a:latin typeface="Cambria Math"/>
                          </a:rPr>
                          <m:t>3</m:t>
                        </m:r>
                        <m:r>
                          <a:rPr lang="en-GB" sz="32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32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3200" dirty="0"/>
                  <a:t> + 7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3200" dirty="0"/>
                  <a:t> + 2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192" y="2293420"/>
                <a:ext cx="2448272" cy="584775"/>
              </a:xfrm>
              <a:prstGeom prst="rect">
                <a:avLst/>
              </a:prstGeom>
              <a:blipFill rotWithShape="1">
                <a:blip r:embed="rId3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275856" y="2323448"/>
                <a:ext cx="244827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32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3200" dirty="0"/>
                  <a:t>– 400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2323448"/>
                <a:ext cx="2448272" cy="584775"/>
              </a:xfrm>
              <a:prstGeom prst="rect">
                <a:avLst/>
              </a:prstGeom>
              <a:blipFill rotWithShape="1">
                <a:blip r:embed="rId4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val 31"/>
          <p:cNvSpPr/>
          <p:nvPr/>
        </p:nvSpPr>
        <p:spPr>
          <a:xfrm>
            <a:off x="1157181" y="1429324"/>
            <a:ext cx="534499" cy="53449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/>
          <p:cNvSpPr/>
          <p:nvPr/>
        </p:nvSpPr>
        <p:spPr>
          <a:xfrm>
            <a:off x="7236296" y="1429322"/>
            <a:ext cx="534499" cy="534499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/>
          <p:cNvSpPr/>
          <p:nvPr/>
        </p:nvSpPr>
        <p:spPr>
          <a:xfrm>
            <a:off x="4181517" y="1429323"/>
            <a:ext cx="534499" cy="53449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0282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Factorising Quadratics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(3</m:t>
                      </m:r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+ 1)(</m:t>
                      </m:r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+ 2)</m:t>
                      </m:r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0984057"/>
                  </p:ext>
                </p:extLst>
              </p:nvPr>
            </p:nvGraphicFramePr>
            <p:xfrm>
              <a:off x="2771800" y="2636912"/>
              <a:ext cx="3662343" cy="1371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2078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2078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207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i="1" smtClean="0">
                                    <a:latin typeface="Cambria Math"/>
                                    <a:ea typeface="Cambria Math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+2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GB" sz="2400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smtClean="0">
                                    <a:latin typeface="Cambria Math"/>
                                  </a:rPr>
                                  <m:t>3</m:t>
                                </m:r>
                                <m:sSup>
                                  <m:sSup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4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sz="24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/>
                            <a:t>+</a:t>
                          </a:r>
                          <a14:m>
                            <m:oMath xmlns:m="http://schemas.openxmlformats.org/officeDocument/2006/math">
                              <m:r>
                                <a:rPr lang="en-GB" sz="2400" b="0" i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6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𝑥</m:t>
                              </m:r>
                            </m:oMath>
                          </a14:m>
                          <a:endParaRPr lang="en-GB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/>
                            <a:t>+ </a:t>
                          </a:r>
                          <a14:m>
                            <m:oMath xmlns:m="http://schemas.openxmlformats.org/officeDocument/2006/math">
                              <m:r>
                                <a:rPr lang="en-GB" sz="2400" b="0" i="1" smtClean="0">
                                  <a:latin typeface="Cambria Math"/>
                                </a:rPr>
                                <m:t>𝑥</m:t>
                              </m:r>
                            </m:oMath>
                          </a14:m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smtClean="0">
                                    <a:latin typeface="Cambria Math"/>
                                  </a:rPr>
                                  <m:t>+ 2</m:t>
                                </m:r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0984057"/>
                  </p:ext>
                </p:extLst>
              </p:nvPr>
            </p:nvGraphicFramePr>
            <p:xfrm>
              <a:off x="2771800" y="2636912"/>
              <a:ext cx="3662343" cy="1371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20781"/>
                    <a:gridCol w="1220781"/>
                    <a:gridCol w="1220781"/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0" t="-1333" r="-200500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500" t="-1333" r="-100500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500" t="-1333" r="-500" b="-230667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0" t="-101333" r="-200500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500" t="-101333" r="-100500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500" t="-101333" r="-500" b="-130667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0" t="-201333" r="-200500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500" t="-201333" r="-100500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500" t="-201333" r="-500" b="-30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892300" y="4509120"/>
                <a:ext cx="11036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= 3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3200" baseline="30000" dirty="0"/>
                  <a:t>2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300" y="4509120"/>
                <a:ext cx="1103636" cy="584775"/>
              </a:xfrm>
              <a:prstGeom prst="rect">
                <a:avLst/>
              </a:prstGeom>
              <a:blipFill rotWithShape="1">
                <a:blip r:embed="rId4"/>
                <a:stretch>
                  <a:fillRect l="-13736" t="-12500" r="-1099" b="-3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22938" y="4495265"/>
                <a:ext cx="104530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+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/>
                      </a:rPr>
                      <m:t>6</m:t>
                    </m:r>
                    <m:r>
                      <a:rPr lang="en-GB" sz="3200" b="0" i="1" smtClean="0">
                        <a:latin typeface="Cambria Math"/>
                      </a:rPr>
                      <m:t>𝑥</m:t>
                    </m:r>
                  </m:oMath>
                </a14:m>
                <a:endParaRPr lang="en-GB" sz="3200" baseline="30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2938" y="4495265"/>
                <a:ext cx="1045305" cy="584775"/>
              </a:xfrm>
              <a:prstGeom prst="rect">
                <a:avLst/>
              </a:prstGeom>
              <a:blipFill rotWithShape="1">
                <a:blip r:embed="rId5"/>
                <a:stretch>
                  <a:fillRect l="-14535" t="-12500" b="-3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62235" y="4495265"/>
                <a:ext cx="104530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+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/>
                      </a:rPr>
                      <m:t>𝑥</m:t>
                    </m:r>
                  </m:oMath>
                </a14:m>
                <a:endParaRPr lang="en-GB" sz="3200" baseline="30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235" y="4495265"/>
                <a:ext cx="1045305" cy="584775"/>
              </a:xfrm>
              <a:prstGeom prst="rect">
                <a:avLst/>
              </a:prstGeom>
              <a:blipFill rotWithShape="1">
                <a:blip r:embed="rId6"/>
                <a:stretch>
                  <a:fillRect l="-15205" t="-12500" b="-3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320891" y="4509120"/>
            <a:ext cx="1045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+ 2</a:t>
            </a:r>
            <a:endParaRPr lang="en-GB" sz="3200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676276" y="5044993"/>
                <a:ext cx="316835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/>
                  <a:t>= </a:t>
                </a:r>
                <a14:m>
                  <m:oMath xmlns:m="http://schemas.openxmlformats.org/officeDocument/2006/math">
                    <m:r>
                      <a:rPr lang="en-GB" sz="3200" b="0" i="1" dirty="0" smtClean="0">
                        <a:latin typeface="Cambria Math"/>
                      </a:rPr>
                      <m:t>3</m:t>
                    </m:r>
                    <m:sSup>
                      <m:sSupPr>
                        <m:ctrlPr>
                          <a:rPr lang="en-GB" sz="3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b="0" i="1" dirty="0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3200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sz="3200" b="0" i="1" dirty="0" smtClean="0">
                        <a:latin typeface="Cambria Math"/>
                      </a:rPr>
                      <m:t>+7</m:t>
                    </m:r>
                    <m:r>
                      <a:rPr lang="en-GB" sz="3200" b="0" i="1" dirty="0" smtClean="0">
                        <a:latin typeface="Cambria Math"/>
                      </a:rPr>
                      <m:t>𝑥</m:t>
                    </m:r>
                    <m:r>
                      <a:rPr lang="en-GB" sz="3200" b="0" i="1" dirty="0" smtClean="0">
                        <a:latin typeface="Cambria Math"/>
                      </a:rPr>
                      <m:t>+2</m:t>
                    </m:r>
                  </m:oMath>
                </a14:m>
                <a:endParaRPr lang="en-GB" sz="3200" baseline="30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276" y="5044993"/>
                <a:ext cx="3168352" cy="584775"/>
              </a:xfrm>
              <a:prstGeom prst="rect">
                <a:avLst/>
              </a:prstGeom>
              <a:blipFill rotWithShape="1">
                <a:blip r:embed="rId7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07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Factorising Quadratics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Factorise: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5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+36</m:t>
                    </m:r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+7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1464891"/>
                  </p:ext>
                </p:extLst>
              </p:nvPr>
            </p:nvGraphicFramePr>
            <p:xfrm>
              <a:off x="2771800" y="2636912"/>
              <a:ext cx="3662343" cy="1371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2078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2078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207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i="1" smtClean="0">
                                    <a:latin typeface="Cambria Math"/>
                                    <a:ea typeface="Cambria Math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1464891"/>
                  </p:ext>
                </p:extLst>
              </p:nvPr>
            </p:nvGraphicFramePr>
            <p:xfrm>
              <a:off x="2771800" y="2636912"/>
              <a:ext cx="3662343" cy="1371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20781"/>
                    <a:gridCol w="1220781"/>
                    <a:gridCol w="1220781"/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0" t="-1333" r="-2005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71800" y="3024662"/>
                <a:ext cx="12241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5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3024662"/>
                <a:ext cx="1224136" cy="5847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995936" y="2564904"/>
                <a:ext cx="12241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2564904"/>
                <a:ext cx="1224136" cy="5847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95936" y="3024662"/>
                <a:ext cx="12241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5</m:t>
                      </m:r>
                      <m:sSup>
                        <m:sSupPr>
                          <m:ctrlP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3024662"/>
                <a:ext cx="1224136" cy="58477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220072" y="3469449"/>
                <a:ext cx="12241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+ 7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3469449"/>
                <a:ext cx="1224136" cy="58477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220072" y="2592287"/>
                <a:ext cx="12241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+7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2592287"/>
                <a:ext cx="1224136" cy="58477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768174" y="3469448"/>
                <a:ext cx="12241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174" y="3469448"/>
                <a:ext cx="1224136" cy="58477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220072" y="3032539"/>
                <a:ext cx="12241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+35</m:t>
                      </m:r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3032539"/>
                <a:ext cx="1224136" cy="58477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95936" y="3469447"/>
                <a:ext cx="12241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</m:t>
                      </m:r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3469447"/>
                <a:ext cx="1224136" cy="58477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768174" y="4509120"/>
                <a:ext cx="367603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/>
                        </a:rPr>
                        <m:t>(5</m:t>
                      </m:r>
                      <m:r>
                        <a:rPr lang="en-GB" sz="3200" i="1" dirty="0" smtClean="0">
                          <a:latin typeface="Cambria Math"/>
                        </a:rPr>
                        <m:t>𝑥</m:t>
                      </m:r>
                      <m:r>
                        <a:rPr lang="en-GB" sz="3200" i="1" dirty="0" smtClean="0">
                          <a:latin typeface="Cambria Math"/>
                        </a:rPr>
                        <m:t> + 1)(</m:t>
                      </m:r>
                      <m:r>
                        <a:rPr lang="en-GB" sz="3200" i="1" dirty="0" smtClean="0">
                          <a:latin typeface="Cambria Math"/>
                        </a:rPr>
                        <m:t>𝑥</m:t>
                      </m:r>
                      <m:r>
                        <a:rPr lang="en-GB" sz="3200" i="1" dirty="0" smtClean="0">
                          <a:latin typeface="Cambria Math"/>
                        </a:rPr>
                        <m:t> + 7)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174" y="4509120"/>
                <a:ext cx="3676034" cy="58477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2530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Factorising Quadratics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Factorise: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2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+11</m:t>
                    </m:r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+12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3106987"/>
                  </p:ext>
                </p:extLst>
              </p:nvPr>
            </p:nvGraphicFramePr>
            <p:xfrm>
              <a:off x="2771800" y="2636912"/>
              <a:ext cx="3662343" cy="1371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2078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2078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207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i="1" smtClean="0">
                                    <a:latin typeface="Cambria Math"/>
                                    <a:ea typeface="Cambria Math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3106987"/>
                  </p:ext>
                </p:extLst>
              </p:nvPr>
            </p:nvGraphicFramePr>
            <p:xfrm>
              <a:off x="2771800" y="2636912"/>
              <a:ext cx="3662343" cy="1371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20781"/>
                    <a:gridCol w="1220781"/>
                    <a:gridCol w="1220781"/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0" t="-1333" r="-2005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71800" y="3024662"/>
                <a:ext cx="12241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3024662"/>
                <a:ext cx="1224136" cy="5847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995936" y="2564904"/>
                <a:ext cx="12241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2564904"/>
                <a:ext cx="1224136" cy="5847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95936" y="3024662"/>
                <a:ext cx="12241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sSup>
                        <m:sSupPr>
                          <m:ctrlP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3024662"/>
                <a:ext cx="1224136" cy="58477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220072" y="3469449"/>
                <a:ext cx="12241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+ 12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3469449"/>
                <a:ext cx="1224136" cy="58477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220072" y="2592287"/>
                <a:ext cx="12241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+4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2592287"/>
                <a:ext cx="1224136" cy="58477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768174" y="3469448"/>
                <a:ext cx="12241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+3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174" y="3469448"/>
                <a:ext cx="1224136" cy="58477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220072" y="3032539"/>
                <a:ext cx="12241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+8</m:t>
                      </m:r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3032539"/>
                <a:ext cx="1224136" cy="58477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95936" y="3469447"/>
                <a:ext cx="12241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3469447"/>
                <a:ext cx="1224136" cy="58477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768174" y="4509120"/>
                <a:ext cx="367603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/>
                        </a:rPr>
                        <m:t>(</m:t>
                      </m:r>
                      <m:r>
                        <a:rPr lang="en-GB" sz="3200" b="0" i="1" dirty="0" smtClean="0">
                          <a:latin typeface="Cambria Math"/>
                        </a:rPr>
                        <m:t>2</m:t>
                      </m:r>
                      <m:r>
                        <a:rPr lang="en-GB" sz="3200" i="1" dirty="0" smtClean="0">
                          <a:latin typeface="Cambria Math"/>
                        </a:rPr>
                        <m:t>𝑥</m:t>
                      </m:r>
                      <m:r>
                        <a:rPr lang="en-GB" sz="3200" i="1" dirty="0" smtClean="0">
                          <a:latin typeface="Cambria Math"/>
                        </a:rPr>
                        <m:t> +3)(</m:t>
                      </m:r>
                      <m:r>
                        <a:rPr lang="en-GB" sz="3200" i="1" dirty="0" smtClean="0">
                          <a:latin typeface="Cambria Math"/>
                        </a:rPr>
                        <m:t>𝑥</m:t>
                      </m:r>
                      <m:r>
                        <a:rPr lang="en-GB" sz="3200" i="1" dirty="0" smtClean="0">
                          <a:latin typeface="Cambria Math"/>
                        </a:rPr>
                        <m:t> +4)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174" y="4509120"/>
                <a:ext cx="3676034" cy="58477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9402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Factorising Quadratics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Factorise:	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3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−2</m:t>
                    </m:r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−21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3270100"/>
                  </p:ext>
                </p:extLst>
              </p:nvPr>
            </p:nvGraphicFramePr>
            <p:xfrm>
              <a:off x="2771800" y="2636912"/>
              <a:ext cx="3662343" cy="1371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2078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2078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207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i="1" smtClean="0">
                                    <a:latin typeface="Cambria Math"/>
                                    <a:ea typeface="Cambria Math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3270100"/>
                  </p:ext>
                </p:extLst>
              </p:nvPr>
            </p:nvGraphicFramePr>
            <p:xfrm>
              <a:off x="2771800" y="2636912"/>
              <a:ext cx="3662343" cy="1371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20781"/>
                    <a:gridCol w="1220781"/>
                    <a:gridCol w="1220781"/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0" t="-1333" r="-2005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71800" y="3024662"/>
                <a:ext cx="12241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3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3024662"/>
                <a:ext cx="1224136" cy="5847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995936" y="2564904"/>
                <a:ext cx="12241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2564904"/>
                <a:ext cx="1224136" cy="5847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95936" y="3024662"/>
                <a:ext cx="12241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3</m:t>
                      </m:r>
                      <m:sSup>
                        <m:sSupPr>
                          <m:ctrlP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3024662"/>
                <a:ext cx="1224136" cy="58477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220072" y="3469449"/>
                <a:ext cx="12241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−21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3469449"/>
                <a:ext cx="1224136" cy="58477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220072" y="2592287"/>
                <a:ext cx="12241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−3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2592287"/>
                <a:ext cx="1224136" cy="58477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768174" y="3469448"/>
                <a:ext cx="12241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+7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174" y="3469448"/>
                <a:ext cx="1224136" cy="58477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220072" y="3032539"/>
                <a:ext cx="12241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9</m:t>
                      </m:r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3032539"/>
                <a:ext cx="1224136" cy="58477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95936" y="3469447"/>
                <a:ext cx="12241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+7</m:t>
                      </m:r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3469447"/>
                <a:ext cx="1224136" cy="58477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768174" y="4509120"/>
                <a:ext cx="367603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/>
                        </a:rPr>
                        <m:t>(</m:t>
                      </m:r>
                      <m:r>
                        <a:rPr lang="en-GB" sz="3200" b="0" i="1" dirty="0" smtClean="0">
                          <a:latin typeface="Cambria Math"/>
                        </a:rPr>
                        <m:t>3</m:t>
                      </m:r>
                      <m:r>
                        <a:rPr lang="en-GB" sz="3200" i="1" dirty="0" smtClean="0">
                          <a:latin typeface="Cambria Math"/>
                        </a:rPr>
                        <m:t>𝑥</m:t>
                      </m:r>
                      <m:r>
                        <a:rPr lang="en-GB" sz="3200" i="1" dirty="0" smtClean="0">
                          <a:latin typeface="Cambria Math"/>
                        </a:rPr>
                        <m:t> +7)(</m:t>
                      </m:r>
                      <m:r>
                        <a:rPr lang="en-GB" sz="3200" i="1" dirty="0" smtClean="0">
                          <a:latin typeface="Cambria Math"/>
                        </a:rPr>
                        <m:t>𝑥</m:t>
                      </m:r>
                      <m:r>
                        <a:rPr lang="en-GB" sz="3200" i="1" dirty="0" smtClean="0">
                          <a:latin typeface="Cambria Math"/>
                        </a:rPr>
                        <m:t> −3)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174" y="4509120"/>
                <a:ext cx="3676034" cy="58477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4179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Factorising Quadratics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97152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GB" dirty="0"/>
                  <a:t>Factorise these quadratics:</a:t>
                </a:r>
              </a:p>
              <a:p>
                <a:endParaRPr lang="en-GB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+7</m:t>
                    </m:r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+3</m:t>
                    </m:r>
                  </m:oMath>
                </a14:m>
                <a:endParaRPr lang="en-GB" b="0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3</m:t>
                    </m:r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+14</m:t>
                    </m:r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+8</m:t>
                    </m:r>
                  </m:oMath>
                </a14:m>
                <a:endParaRPr lang="en-GB" b="0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5</m:t>
                    </m:r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+13</m:t>
                    </m:r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+6</m:t>
                    </m:r>
                  </m:oMath>
                </a14:m>
                <a:endParaRPr lang="en-GB" b="0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2</m:t>
                    </m:r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+9</m:t>
                    </m:r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+9</m:t>
                    </m:r>
                  </m:oMath>
                </a14:m>
                <a:endParaRPr lang="en-GB" b="0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11</m:t>
                        </m:r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/>
                      </a:rPr>
                      <m:t>+</m:t>
                    </m:r>
                    <m:r>
                      <a:rPr lang="en-GB" b="0" i="1" smtClean="0">
                        <a:latin typeface="Cambria Math"/>
                      </a:rPr>
                      <m:t>34</m:t>
                    </m:r>
                    <m:r>
                      <a:rPr lang="en-GB" i="1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+3</m:t>
                    </m:r>
                  </m:oMath>
                </a14:m>
                <a:endParaRPr lang="en-GB" b="0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/>
                      </a:rPr>
                      <m:t>+</m:t>
                    </m:r>
                    <m:r>
                      <a:rPr lang="en-GB" i="1">
                        <a:latin typeface="Cambria Math"/>
                      </a:rPr>
                      <m:t>𝑥</m:t>
                    </m:r>
                    <m:r>
                      <a:rPr lang="en-GB" i="1">
                        <a:latin typeface="Cambria Math"/>
                      </a:rPr>
                      <m:t> −4</m:t>
                    </m:r>
                  </m:oMath>
                </a14:m>
                <a:endParaRPr lang="en-GB" b="0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+3</m:t>
                    </m:r>
                    <m:r>
                      <a:rPr lang="en-GB" i="1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−14</m:t>
                    </m:r>
                  </m:oMath>
                </a14:m>
                <a:endParaRPr lang="en-GB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−11</m:t>
                    </m:r>
                    <m:r>
                      <a:rPr lang="en-GB" i="1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+10</m:t>
                    </m:r>
                  </m:oMath>
                </a14:m>
                <a:endParaRPr lang="en-GB" b="0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5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−47</m:t>
                    </m:r>
                    <m:r>
                      <a:rPr lang="en-GB" i="1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+56</m:t>
                    </m:r>
                  </m:oMath>
                </a14:m>
                <a:endParaRPr lang="en-GB" b="0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 6</m:t>
                        </m:r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+17</m:t>
                    </m:r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+5</m:t>
                    </m:r>
                  </m:oMath>
                </a14:m>
                <a:endParaRPr lang="en-GB" dirty="0"/>
              </a:p>
              <a:p>
                <a:pPr marL="514350" indent="-514350">
                  <a:buFont typeface="+mj-lt"/>
                  <a:buAutoNum type="arabicParenR"/>
                </a:pPr>
                <a:endParaRPr lang="en-GB" dirty="0"/>
              </a:p>
              <a:p>
                <a:pPr marL="514350" indent="-514350">
                  <a:buFont typeface="+mj-lt"/>
                  <a:buAutoNum type="arabicParenR"/>
                </a:pPr>
                <a:endParaRPr lang="en-GB" dirty="0"/>
              </a:p>
              <a:p>
                <a:pPr marL="514350" indent="-514350">
                  <a:buFont typeface="+mj-lt"/>
                  <a:buAutoNum type="arabicParenR"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97152"/>
              </a:xfrm>
              <a:blipFill rotWithShape="1">
                <a:blip r:embed="rId2"/>
                <a:stretch>
                  <a:fillRect l="-1185" t="-24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779912" y="2276872"/>
                <a:ext cx="3960440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700" dirty="0">
                    <a:solidFill>
                      <a:srgbClr val="FF0000"/>
                    </a:solidFill>
                  </a:rPr>
                  <a:t>= (</a:t>
                </a:r>
                <a14:m>
                  <m:oMath xmlns:m="http://schemas.openxmlformats.org/officeDocument/2006/math">
                    <m:r>
                      <a:rPr lang="en-GB" sz="2700" b="0" i="0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+ 1)(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+ 3)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2276872"/>
                <a:ext cx="3960440" cy="507831"/>
              </a:xfrm>
              <a:prstGeom prst="rect">
                <a:avLst/>
              </a:prstGeom>
              <a:blipFill rotWithShape="1">
                <a:blip r:embed="rId3"/>
                <a:stretch>
                  <a:fillRect l="-2769" t="-9639" b="-313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779912" y="2708920"/>
                <a:ext cx="3960440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700" dirty="0">
                    <a:solidFill>
                      <a:srgbClr val="FF0000"/>
                    </a:solidFill>
                  </a:rPr>
                  <a:t>= (</a:t>
                </a:r>
                <a14:m>
                  <m:oMath xmlns:m="http://schemas.openxmlformats.org/officeDocument/2006/math">
                    <m:r>
                      <a:rPr lang="en-GB" sz="2700" b="0" i="0" dirty="0" smtClean="0">
                        <a:solidFill>
                          <a:srgbClr val="FF0000"/>
                        </a:solidFill>
                        <a:latin typeface="Cambria Math"/>
                      </a:rPr>
                      <m:t>3</m:t>
                    </m:r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+ 2)(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+ 4)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2708920"/>
                <a:ext cx="3960440" cy="507831"/>
              </a:xfrm>
              <a:prstGeom prst="rect">
                <a:avLst/>
              </a:prstGeom>
              <a:blipFill rotWithShape="1">
                <a:blip r:embed="rId4"/>
                <a:stretch>
                  <a:fillRect l="-2769" t="-9524" b="-297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779912" y="3109483"/>
                <a:ext cx="3960440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700" dirty="0">
                    <a:solidFill>
                      <a:srgbClr val="FF0000"/>
                    </a:solidFill>
                  </a:rPr>
                  <a:t>= (</a:t>
                </a:r>
                <a14:m>
                  <m:oMath xmlns:m="http://schemas.openxmlformats.org/officeDocument/2006/math">
                    <m:r>
                      <a:rPr lang="en-GB" sz="2700" b="0" i="0" dirty="0" smtClean="0">
                        <a:solidFill>
                          <a:srgbClr val="FF0000"/>
                        </a:solidFill>
                        <a:latin typeface="Cambria Math"/>
                      </a:rPr>
                      <m:t>5</m:t>
                    </m:r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+ 3)(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+ 2)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3109483"/>
                <a:ext cx="3960440" cy="507831"/>
              </a:xfrm>
              <a:prstGeom prst="rect">
                <a:avLst/>
              </a:prstGeom>
              <a:blipFill rotWithShape="1">
                <a:blip r:embed="rId5"/>
                <a:stretch>
                  <a:fillRect l="-2769" t="-9639" b="-313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779912" y="3501008"/>
                <a:ext cx="3960440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700" dirty="0">
                    <a:solidFill>
                      <a:srgbClr val="FF0000"/>
                    </a:solidFill>
                  </a:rPr>
                  <a:t>= (</a:t>
                </a:r>
                <a14:m>
                  <m:oMath xmlns:m="http://schemas.openxmlformats.org/officeDocument/2006/math">
                    <m:r>
                      <a:rPr lang="en-GB" sz="2700" b="0" i="0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+ 3)(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+ 3)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3501008"/>
                <a:ext cx="3960440" cy="507831"/>
              </a:xfrm>
              <a:prstGeom prst="rect">
                <a:avLst/>
              </a:prstGeom>
              <a:blipFill rotWithShape="1">
                <a:blip r:embed="rId6"/>
                <a:stretch>
                  <a:fillRect l="-2769" t="-9524" b="-297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779912" y="3959724"/>
                <a:ext cx="3960440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700" dirty="0">
                    <a:solidFill>
                      <a:srgbClr val="FF0000"/>
                    </a:solidFill>
                  </a:rPr>
                  <a:t>= (</a:t>
                </a:r>
                <a14:m>
                  <m:oMath xmlns:m="http://schemas.openxmlformats.org/officeDocument/2006/math">
                    <m:r>
                      <a:rPr lang="en-GB" sz="2700" dirty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en-GB" sz="2700" b="0" i="0" dirty="0" smtClean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+ 1)(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+ 3)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3959724"/>
                <a:ext cx="3960440" cy="507831"/>
              </a:xfrm>
              <a:prstGeom prst="rect">
                <a:avLst/>
              </a:prstGeom>
              <a:blipFill rotWithShape="1">
                <a:blip r:embed="rId7"/>
                <a:stretch>
                  <a:fillRect l="-2769" t="-9639" b="-313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779912" y="4405627"/>
                <a:ext cx="3960440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700" dirty="0">
                    <a:solidFill>
                      <a:srgbClr val="FF0000"/>
                    </a:solidFill>
                  </a:rPr>
                  <a:t>= (</a:t>
                </a:r>
                <a14:m>
                  <m:oMath xmlns:m="http://schemas.openxmlformats.org/officeDocument/2006/math">
                    <m:r>
                      <a:rPr lang="en-GB" sz="2700" dirty="0">
                        <a:solidFill>
                          <a:srgbClr val="FF0000"/>
                        </a:solidFill>
                        <a:latin typeface="Cambria Math"/>
                      </a:rPr>
                      <m:t>3</m:t>
                    </m:r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+ 4)(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– 1)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4405627"/>
                <a:ext cx="3960440" cy="507831"/>
              </a:xfrm>
              <a:prstGeom prst="rect">
                <a:avLst/>
              </a:prstGeom>
              <a:blipFill rotWithShape="1">
                <a:blip r:embed="rId8"/>
                <a:stretch>
                  <a:fillRect l="-2769" t="-9639" b="-313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779912" y="4793377"/>
                <a:ext cx="3960440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700" dirty="0">
                    <a:solidFill>
                      <a:srgbClr val="FF0000"/>
                    </a:solidFill>
                  </a:rPr>
                  <a:t>= (</a:t>
                </a:r>
                <a14:m>
                  <m:oMath xmlns:m="http://schemas.openxmlformats.org/officeDocument/2006/math">
                    <m:r>
                      <a:rPr lang="en-GB" sz="2700" dirty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+ 7)(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– 2)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4793377"/>
                <a:ext cx="3960440" cy="507831"/>
              </a:xfrm>
              <a:prstGeom prst="rect">
                <a:avLst/>
              </a:prstGeom>
              <a:blipFill rotWithShape="1">
                <a:blip r:embed="rId9"/>
                <a:stretch>
                  <a:fillRect l="-2769" t="-9524" b="-297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779912" y="5225425"/>
                <a:ext cx="3960440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700" dirty="0">
                    <a:solidFill>
                      <a:srgbClr val="FF0000"/>
                    </a:solidFill>
                  </a:rPr>
                  <a:t>= (</a:t>
                </a:r>
                <a14:m>
                  <m:oMath xmlns:m="http://schemas.openxmlformats.org/officeDocument/2006/math">
                    <m:r>
                      <a:rPr lang="en-GB" sz="2700" dirty="0">
                        <a:solidFill>
                          <a:srgbClr val="FF0000"/>
                        </a:solidFill>
                        <a:latin typeface="Cambria Math"/>
                      </a:rPr>
                      <m:t>3</m:t>
                    </m:r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– 5)(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– 2)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5225425"/>
                <a:ext cx="3960440" cy="507831"/>
              </a:xfrm>
              <a:prstGeom prst="rect">
                <a:avLst/>
              </a:prstGeom>
              <a:blipFill rotWithShape="1">
                <a:blip r:embed="rId10"/>
                <a:stretch>
                  <a:fillRect l="-2769" t="-9639" b="-313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779912" y="5657473"/>
                <a:ext cx="3960440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700" dirty="0">
                    <a:solidFill>
                      <a:srgbClr val="FF0000"/>
                    </a:solidFill>
                  </a:rPr>
                  <a:t>= (</a:t>
                </a:r>
                <a14:m>
                  <m:oMath xmlns:m="http://schemas.openxmlformats.org/officeDocument/2006/math">
                    <m:r>
                      <a:rPr lang="en-GB" sz="2700" b="0" i="0" dirty="0" smtClean="0">
                        <a:solidFill>
                          <a:srgbClr val="FF0000"/>
                        </a:solidFill>
                        <a:latin typeface="Cambria Math"/>
                      </a:rPr>
                      <m:t>5</m:t>
                    </m:r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– 7)(</a:t>
                </a:r>
                <a14:m>
                  <m:oMath xmlns:m="http://schemas.openxmlformats.org/officeDocument/2006/math"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– 8)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5657473"/>
                <a:ext cx="3960440" cy="507831"/>
              </a:xfrm>
              <a:prstGeom prst="rect">
                <a:avLst/>
              </a:prstGeom>
              <a:blipFill rotWithShape="1">
                <a:blip r:embed="rId11"/>
                <a:stretch>
                  <a:fillRect l="-2769" t="-9639" b="-313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779912" y="6089521"/>
                <a:ext cx="3960440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700" dirty="0">
                    <a:solidFill>
                      <a:srgbClr val="FF0000"/>
                    </a:solidFill>
                  </a:rPr>
                  <a:t>= (</a:t>
                </a:r>
                <a14:m>
                  <m:oMath xmlns:m="http://schemas.openxmlformats.org/officeDocument/2006/math">
                    <m:r>
                      <a:rPr lang="en-GB" sz="2700" b="0" i="0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+ 5)(</a:t>
                </a:r>
                <a14:m>
                  <m:oMath xmlns:m="http://schemas.openxmlformats.org/officeDocument/2006/math">
                    <m:r>
                      <a:rPr lang="en-GB" sz="2700" dirty="0">
                        <a:solidFill>
                          <a:srgbClr val="FF0000"/>
                        </a:solidFill>
                        <a:latin typeface="Cambria Math"/>
                      </a:rPr>
                      <m:t>3</m:t>
                    </m:r>
                    <m:r>
                      <a:rPr lang="en-GB" sz="27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700" dirty="0">
                    <a:solidFill>
                      <a:srgbClr val="FF0000"/>
                    </a:solidFill>
                  </a:rPr>
                  <a:t> + 1)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6089521"/>
                <a:ext cx="3960440" cy="507831"/>
              </a:xfrm>
              <a:prstGeom prst="rect">
                <a:avLst/>
              </a:prstGeom>
              <a:blipFill rotWithShape="1">
                <a:blip r:embed="rId12"/>
                <a:stretch>
                  <a:fillRect l="-2769" t="-9639" b="-313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8943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1351</Words>
  <Application>Microsoft Macintosh PowerPoint</Application>
  <PresentationFormat>On-screen Show (4:3)</PresentationFormat>
  <Paragraphs>294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 Math</vt:lpstr>
      <vt:lpstr>Office Theme</vt:lpstr>
      <vt:lpstr>Topic: Factorising Non-Monic Trinomials EQ: How does the process for factorising non-monic differ from monic?</vt:lpstr>
      <vt:lpstr>Factorising Quadratics</vt:lpstr>
      <vt:lpstr>Factorising Quadratics</vt:lpstr>
      <vt:lpstr>Factorising Quadratics</vt:lpstr>
      <vt:lpstr>Factorising Quadratics</vt:lpstr>
      <vt:lpstr>Factorising Quadratics</vt:lpstr>
      <vt:lpstr>Starter</vt:lpstr>
      <vt:lpstr>Difference of Two Squares</vt:lpstr>
      <vt:lpstr>Difference of two squares</vt:lpstr>
      <vt:lpstr>Difference of two squares</vt:lpstr>
      <vt:lpstr>Difference of two squares</vt:lpstr>
      <vt:lpstr>Factorising Quadratics</vt:lpstr>
      <vt:lpstr>Starter</vt:lpstr>
      <vt:lpstr>Factorising Quadratics</vt:lpstr>
      <vt:lpstr>Factorising Quadratics</vt:lpstr>
      <vt:lpstr>Factorising Quadratics</vt:lpstr>
      <vt:lpstr>Factorising Quadratics</vt:lpstr>
      <vt:lpstr>Factorising Quadratics</vt:lpstr>
      <vt:lpstr>Factorising Quadratics</vt:lpstr>
      <vt:lpstr>Starter</vt:lpstr>
      <vt:lpstr>Factorising Quadratics</vt:lpstr>
      <vt:lpstr>Factorising Quadratics</vt:lpstr>
      <vt:lpstr>Factorising Quadratics</vt:lpstr>
      <vt:lpstr>Factorising Quadratics</vt:lpstr>
      <vt:lpstr>Factorising Quadratics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Factorising Quadratics</dc:title>
  <dc:creator>Daniel Burke</dc:creator>
  <cp:lastModifiedBy>SUMMERS Brad [Baldivis Secondary College]</cp:lastModifiedBy>
  <cp:revision>25</cp:revision>
  <dcterms:created xsi:type="dcterms:W3CDTF">2012-09-30T20:49:29Z</dcterms:created>
  <dcterms:modified xsi:type="dcterms:W3CDTF">2020-03-10T13:36:30Z</dcterms:modified>
</cp:coreProperties>
</file>
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60" r:id="rId2"/>
    <p:sldId id="259" r:id="rId3"/>
    <p:sldId id="347" r:id="rId4"/>
    <p:sldId id="333" r:id="rId5"/>
    <p:sldId id="373" r:id="rId6"/>
    <p:sldId id="361" r:id="rId7"/>
    <p:sldId id="387" r:id="rId8"/>
    <p:sldId id="331" r:id="rId9"/>
    <p:sldId id="374" r:id="rId10"/>
    <p:sldId id="369" r:id="rId11"/>
    <p:sldId id="375" r:id="rId12"/>
    <p:sldId id="377" r:id="rId13"/>
    <p:sldId id="378" r:id="rId14"/>
    <p:sldId id="386" r:id="rId15"/>
    <p:sldId id="383" r:id="rId16"/>
    <p:sldId id="292" r:id="rId17"/>
    <p:sldId id="291" r:id="rId18"/>
  </p:sldIdLst>
  <p:sldSz cx="9144000" cy="6858000" type="screen4x3"/>
  <p:notesSz cx="6794500" cy="9931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332" autoAdjust="0"/>
    <p:restoredTop sz="91152" autoAdjust="0"/>
  </p:normalViewPr>
  <p:slideViewPr>
    <p:cSldViewPr>
      <p:cViewPr varScale="1">
        <p:scale>
          <a:sx n="115" d="100"/>
          <a:sy n="115" d="100"/>
        </p:scale>
        <p:origin x="736" y="20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645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1/3/20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744538"/>
            <a:ext cx="4965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17415"/>
            <a:ext cx="5435600" cy="446913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645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1/3/20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1/3/20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1/3/20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1/3/20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1/3/20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1/3/20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1/3/20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1/3/20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1/3/20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1/3/20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1/3/20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1/3/20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36.png"/><Relationship Id="rId5" Type="http://schemas.openxmlformats.org/officeDocument/2006/relationships/image" Target="NULL"/><Relationship Id="rId4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/>
              <a:t>My Algebra - Quadratics Interactive Notebook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/>
              <a:t>Name </a:t>
            </a:r>
          </a:p>
          <a:p>
            <a:pPr algn="l"/>
            <a:r>
              <a:rPr lang="en-AU" dirty="0"/>
              <a:t>Class: 10.1</a:t>
            </a:r>
          </a:p>
          <a:p>
            <a:pPr algn="l"/>
            <a:r>
              <a:rPr lang="en-AU" dirty="0"/>
              <a:t>Teacher: Mr Summers</a:t>
            </a:r>
          </a:p>
          <a:p>
            <a:pPr algn="l"/>
            <a:r>
              <a:rPr lang="en-AU" dirty="0"/>
              <a:t>Term 1 Semester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Glossary or Formula Page</a:t>
            </a:r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PQuestion"/>
          <p:cNvSpPr>
            <a:spLocks noGrp="1" noChangeArrowheads="1"/>
          </p:cNvSpPr>
          <p:nvPr>
            <p:ph type="title"/>
          </p:nvPr>
        </p:nvSpPr>
        <p:spPr>
          <a:xfrm>
            <a:off x="1314450" y="1143000"/>
            <a:ext cx="6457950" cy="1143000"/>
          </a:xfrm>
        </p:spPr>
        <p:txBody>
          <a:bodyPr/>
          <a:lstStyle/>
          <a:p>
            <a:r>
              <a:rPr lang="en-US" altLang="x-none" sz="3000" dirty="0"/>
              <a:t>Which statement demonstrates the distributive property </a:t>
            </a:r>
            <a:r>
              <a:rPr lang="en-US" altLang="x-none" sz="3000" b="1" dirty="0"/>
              <a:t>incorrectly</a:t>
            </a:r>
            <a:r>
              <a:rPr lang="en-US" altLang="x-none" sz="3000" dirty="0"/>
              <a:t>? </a:t>
            </a:r>
          </a:p>
        </p:txBody>
      </p:sp>
      <p:sp>
        <p:nvSpPr>
          <p:cNvPr id="5123" name="TPAnswers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1485900" y="2457450"/>
            <a:ext cx="7118548" cy="2339702"/>
          </a:xfrm>
        </p:spPr>
        <p:txBody>
          <a:bodyPr>
            <a:normAutofit/>
          </a:bodyPr>
          <a:lstStyle/>
          <a:p>
            <a:pPr marL="457200" indent="-457200">
              <a:buFontTx/>
              <a:buAutoNum type="arabicPeriod"/>
            </a:pPr>
            <a:r>
              <a:rPr lang="en-US" altLang="x-none" dirty="0"/>
              <a:t>3(x + y + z) = 3x + 3y + 3z</a:t>
            </a:r>
          </a:p>
          <a:p>
            <a:pPr marL="457200" indent="-457200">
              <a:buFontTx/>
              <a:buAutoNum type="arabicPeriod"/>
            </a:pPr>
            <a:r>
              <a:rPr lang="en-US" altLang="x-none" dirty="0"/>
              <a:t>(a + b) c = ac + </a:t>
            </a:r>
            <a:r>
              <a:rPr lang="en-US" altLang="x-none" dirty="0" err="1"/>
              <a:t>bc</a:t>
            </a:r>
            <a:endParaRPr lang="en-US" altLang="x-none" dirty="0"/>
          </a:p>
          <a:p>
            <a:pPr marL="457200" indent="-457200">
              <a:buFontTx/>
              <a:buAutoNum type="arabicPeriod"/>
            </a:pPr>
            <a:r>
              <a:rPr lang="en-US" altLang="x-none" dirty="0"/>
              <a:t>(5 + x)(2 + 3x) = 10 + 15x + x</a:t>
            </a:r>
            <a:r>
              <a:rPr lang="en-US" altLang="x-none" baseline="30000" dirty="0"/>
              <a:t>2</a:t>
            </a:r>
            <a:r>
              <a:rPr lang="en-US" altLang="x-none" dirty="0"/>
              <a:t> + 3x</a:t>
            </a:r>
          </a:p>
          <a:p>
            <a:pPr marL="457200" indent="-457200">
              <a:buFontTx/>
              <a:buAutoNum type="arabicPeriod"/>
            </a:pPr>
            <a:r>
              <a:rPr lang="en-US" altLang="x-none" dirty="0"/>
              <a:t>6(3k - 4) = 18k - 24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72426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7085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63688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48327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Expanding Binomial Expressions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314" y="1091239"/>
            <a:ext cx="88171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techniques can I use to expand expressions with brackets and how do I factorise binomial and </a:t>
            </a:r>
            <a:r>
              <a:rPr lang="en-AU" sz="2400"/>
              <a:t>quadratic equations? 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109878" y="2623842"/>
            <a:ext cx="15179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use the table method?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1883642" y="2627468"/>
                <a:ext cx="26352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Expand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(2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+3)(3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−2)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3642" y="2627468"/>
                <a:ext cx="2635209" cy="369332"/>
              </a:xfrm>
              <a:prstGeom prst="rect">
                <a:avLst/>
              </a:prstGeom>
              <a:blipFill>
                <a:blip r:embed="rId2"/>
                <a:stretch>
                  <a:fillRect l="-1435" t="-666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72413969"/>
                  </p:ext>
                </p:extLst>
              </p:nvPr>
            </p:nvGraphicFramePr>
            <p:xfrm>
              <a:off x="2639729" y="3090021"/>
              <a:ext cx="3224862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7495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7495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AU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  <m:r>
                                  <a:rPr lang="en-AU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+3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72413969"/>
                  </p:ext>
                </p:extLst>
              </p:nvPr>
            </p:nvGraphicFramePr>
            <p:xfrm>
              <a:off x="2639729" y="3090021"/>
              <a:ext cx="3224862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7495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7495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176" t="-10345" r="-201176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176" t="-10345" r="-101176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+3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176" t="-110345" r="-201176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176" t="-210345" r="-2011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3167023" y="4336989"/>
                <a:ext cx="220677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6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+9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−4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−6</m:t>
                      </m:r>
                    </m:oMath>
                  </m:oMathPara>
                </a14:m>
                <a:endParaRPr lang="en-AU" b="0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7023" y="4336989"/>
                <a:ext cx="2206774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47310" y="5201475"/>
            <a:ext cx="18296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use the FOIL method?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64769" y="5172571"/>
            <a:ext cx="91563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F</a:t>
            </a:r>
            <a:r>
              <a:rPr lang="en-AU" dirty="0"/>
              <a:t>irst</a:t>
            </a:r>
            <a:r>
              <a:rPr lang="en-AU" dirty="0">
                <a:solidFill>
                  <a:srgbClr val="0070C0"/>
                </a:solidFill>
              </a:rPr>
              <a:t> </a:t>
            </a:r>
          </a:p>
          <a:p>
            <a:r>
              <a:rPr lang="en-AU" dirty="0">
                <a:solidFill>
                  <a:srgbClr val="FF0000"/>
                </a:solidFill>
              </a:rPr>
              <a:t>O</a:t>
            </a:r>
            <a:r>
              <a:rPr lang="en-AU" dirty="0"/>
              <a:t>utside</a:t>
            </a:r>
          </a:p>
          <a:p>
            <a:r>
              <a:rPr lang="en-AU" dirty="0">
                <a:solidFill>
                  <a:srgbClr val="FF0000"/>
                </a:solidFill>
              </a:rPr>
              <a:t>I</a:t>
            </a:r>
            <a:r>
              <a:rPr lang="en-AU" dirty="0"/>
              <a:t>nner</a:t>
            </a:r>
          </a:p>
          <a:p>
            <a:r>
              <a:rPr lang="en-AU" dirty="0">
                <a:solidFill>
                  <a:srgbClr val="FF0000"/>
                </a:solidFill>
              </a:rPr>
              <a:t>L</a:t>
            </a:r>
            <a:r>
              <a:rPr lang="en-AU" dirty="0"/>
              <a:t>ast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3661267" y="5188125"/>
                <a:ext cx="1891281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</m:t>
                          </m:r>
                          <m:r>
                            <a:rPr lang="en-AU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𝑥</m:t>
                          </m:r>
                          <m:r>
                            <a:rPr lang="en-AU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+3</m:t>
                          </m:r>
                        </m:e>
                      </m:d>
                      <m:d>
                        <m:dPr>
                          <m:ctrlPr>
                            <a:rPr lang="en-A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3</m:t>
                          </m:r>
                          <m:r>
                            <a:rPr lang="en-AU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𝑥</m:t>
                          </m:r>
                          <m:r>
                            <a:rPr lang="en-AU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−2</m:t>
                          </m:r>
                        </m:e>
                      </m:d>
                    </m:oMath>
                  </m:oMathPara>
                </a14:m>
                <a:endParaRPr lang="en-AU" dirty="0">
                  <a:solidFill>
                    <a:schemeClr val="tx1"/>
                  </a:solidFill>
                </a:endParaRPr>
              </a:p>
              <a:p>
                <a:endParaRPr lang="en-AU" dirty="0">
                  <a:solidFill>
                    <a:schemeClr val="tx1"/>
                  </a:solidFill>
                </a:endParaRPr>
              </a:p>
              <a:p>
                <a:endParaRPr lang="en-AU" dirty="0"/>
              </a:p>
              <a:p>
                <a:r>
                  <a:rPr lang="en-AU" dirty="0"/>
                  <a:t> </a:t>
                </a:r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1267" y="5188125"/>
                <a:ext cx="1891281" cy="120032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1876914" y="1977511"/>
            <a:ext cx="63400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There are two main ways to expand expressions with brackets: The table method and the FOIL method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7456" y="4117664"/>
            <a:ext cx="3260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19104" y="4329638"/>
            <a:ext cx="2633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Collect like terms</a:t>
            </a:r>
          </a:p>
        </p:txBody>
      </p:sp>
      <p:sp>
        <p:nvSpPr>
          <p:cNvPr id="24" name="Arc 23">
            <a:extLst>
              <a:ext uri="{FF2B5EF4-FFF2-40B4-BE49-F238E27FC236}">
                <a16:creationId xmlns:a16="http://schemas.microsoft.com/office/drawing/2014/main" id="{7059B170-4EE4-9541-A0EF-DBCA2832EF3D}"/>
              </a:ext>
            </a:extLst>
          </p:cNvPr>
          <p:cNvSpPr/>
          <p:nvPr/>
        </p:nvSpPr>
        <p:spPr>
          <a:xfrm rot="18938281">
            <a:off x="3690755" y="5106416"/>
            <a:ext cx="1098493" cy="1029144"/>
          </a:xfrm>
          <a:prstGeom prst="arc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c 24">
            <a:extLst>
              <a:ext uri="{FF2B5EF4-FFF2-40B4-BE49-F238E27FC236}">
                <a16:creationId xmlns:a16="http://schemas.microsoft.com/office/drawing/2014/main" id="{B6D249BB-7B41-D14B-94C7-2CC03AC5EE25}"/>
              </a:ext>
            </a:extLst>
          </p:cNvPr>
          <p:cNvSpPr/>
          <p:nvPr/>
        </p:nvSpPr>
        <p:spPr>
          <a:xfrm rot="18938281">
            <a:off x="3592962" y="4966583"/>
            <a:ext cx="1906299" cy="1864309"/>
          </a:xfrm>
          <a:prstGeom prst="arc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Arc 25">
            <a:extLst>
              <a:ext uri="{FF2B5EF4-FFF2-40B4-BE49-F238E27FC236}">
                <a16:creationId xmlns:a16="http://schemas.microsoft.com/office/drawing/2014/main" id="{DD4456A8-4558-4945-AED1-3C61B68AA1BF}"/>
              </a:ext>
            </a:extLst>
          </p:cNvPr>
          <p:cNvSpPr/>
          <p:nvPr/>
        </p:nvSpPr>
        <p:spPr>
          <a:xfrm rot="8056863">
            <a:off x="4298375" y="4911172"/>
            <a:ext cx="651048" cy="732655"/>
          </a:xfrm>
          <a:prstGeom prst="arc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67A81D21-CBC5-C54C-AB71-61CAC376EDB0}"/>
              </a:ext>
            </a:extLst>
          </p:cNvPr>
          <p:cNvSpPr/>
          <p:nvPr/>
        </p:nvSpPr>
        <p:spPr>
          <a:xfrm rot="8451910">
            <a:off x="4278038" y="4614141"/>
            <a:ext cx="1321197" cy="1034780"/>
          </a:xfrm>
          <a:prstGeom prst="arc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Doughnut 28">
            <a:extLst>
              <a:ext uri="{FF2B5EF4-FFF2-40B4-BE49-F238E27FC236}">
                <a16:creationId xmlns:a16="http://schemas.microsoft.com/office/drawing/2014/main" id="{C4C2A085-789F-F049-97E4-B67720C781D1}"/>
              </a:ext>
            </a:extLst>
          </p:cNvPr>
          <p:cNvSpPr/>
          <p:nvPr/>
        </p:nvSpPr>
        <p:spPr>
          <a:xfrm>
            <a:off x="4131533" y="5773658"/>
            <a:ext cx="991501" cy="419973"/>
          </a:xfrm>
          <a:prstGeom prst="donut">
            <a:avLst/>
          </a:prstGeom>
          <a:solidFill>
            <a:schemeClr val="accent1"/>
          </a:solidFill>
          <a:ln w="0" cmpd="sng">
            <a:noFill/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9B170B2-CDF9-5C41-8017-73CAFAF580EC}"/>
              </a:ext>
            </a:extLst>
          </p:cNvPr>
          <p:cNvSpPr txBox="1"/>
          <p:nvPr/>
        </p:nvSpPr>
        <p:spPr>
          <a:xfrm>
            <a:off x="3659229" y="5800007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=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41779FD-74F8-2B44-A27E-F36EFE88E26A}"/>
              </a:ext>
            </a:extLst>
          </p:cNvPr>
          <p:cNvSpPr txBox="1"/>
          <p:nvPr/>
        </p:nvSpPr>
        <p:spPr>
          <a:xfrm>
            <a:off x="3834406" y="5791259"/>
            <a:ext cx="476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6x</a:t>
            </a:r>
            <a:r>
              <a:rPr lang="en-US" baseline="30000" dirty="0"/>
              <a:t>2</a:t>
            </a:r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BC864FD-23DC-4748-B0F8-60546B190559}"/>
              </a:ext>
            </a:extLst>
          </p:cNvPr>
          <p:cNvSpPr txBox="1"/>
          <p:nvPr/>
        </p:nvSpPr>
        <p:spPr>
          <a:xfrm>
            <a:off x="4527290" y="5791259"/>
            <a:ext cx="575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+ 9x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6092A9A-28D3-E44C-B65A-CD247E59695F}"/>
              </a:ext>
            </a:extLst>
          </p:cNvPr>
          <p:cNvSpPr txBox="1"/>
          <p:nvPr/>
        </p:nvSpPr>
        <p:spPr>
          <a:xfrm>
            <a:off x="4176415" y="5791468"/>
            <a:ext cx="592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-4x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8DD6636-A6F7-5544-A2A8-C8787B9FB569}"/>
              </a:ext>
            </a:extLst>
          </p:cNvPr>
          <p:cNvSpPr txBox="1"/>
          <p:nvPr/>
        </p:nvSpPr>
        <p:spPr>
          <a:xfrm>
            <a:off x="4970228" y="5788290"/>
            <a:ext cx="440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4561F38-B324-4145-9EBE-DE0D2C21F6D4}"/>
              </a:ext>
            </a:extLst>
          </p:cNvPr>
          <p:cNvSpPr txBox="1"/>
          <p:nvPr/>
        </p:nvSpPr>
        <p:spPr>
          <a:xfrm>
            <a:off x="3714119" y="6208263"/>
            <a:ext cx="19258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= 6x</a:t>
            </a:r>
            <a:r>
              <a:rPr lang="en-US" baseline="30000" dirty="0"/>
              <a:t>2</a:t>
            </a:r>
            <a:r>
              <a:rPr lang="en-US" dirty="0"/>
              <a:t> + 5x - 6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F656F37-0DD4-7D48-B174-86B40B82F787}"/>
              </a:ext>
            </a:extLst>
          </p:cNvPr>
          <p:cNvSpPr txBox="1"/>
          <p:nvPr/>
        </p:nvSpPr>
        <p:spPr>
          <a:xfrm>
            <a:off x="4013875" y="3438575"/>
            <a:ext cx="558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6x</a:t>
            </a:r>
            <a:r>
              <a:rPr lang="en-US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050D9DD-BE36-7C4E-AF99-17B2F8D4F990}"/>
              </a:ext>
            </a:extLst>
          </p:cNvPr>
          <p:cNvSpPr txBox="1"/>
          <p:nvPr/>
        </p:nvSpPr>
        <p:spPr>
          <a:xfrm>
            <a:off x="4013875" y="3810856"/>
            <a:ext cx="592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-4x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1CF1C28-E903-C742-BA93-E01C20276318}"/>
              </a:ext>
            </a:extLst>
          </p:cNvPr>
          <p:cNvSpPr txBox="1"/>
          <p:nvPr/>
        </p:nvSpPr>
        <p:spPr>
          <a:xfrm>
            <a:off x="5102318" y="3806049"/>
            <a:ext cx="440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- 6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EF84B43-6D1F-054A-8869-2849B60C9CEE}"/>
              </a:ext>
            </a:extLst>
          </p:cNvPr>
          <p:cNvSpPr txBox="1"/>
          <p:nvPr/>
        </p:nvSpPr>
        <p:spPr>
          <a:xfrm>
            <a:off x="5040570" y="3438575"/>
            <a:ext cx="737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+ 9x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E29B890F-ACA2-774A-B84F-26A67A83DBF7}"/>
                  </a:ext>
                </a:extLst>
              </p:cNvPr>
              <p:cNvSpPr/>
              <p:nvPr/>
            </p:nvSpPr>
            <p:spPr>
              <a:xfrm>
                <a:off x="3136370" y="4584559"/>
                <a:ext cx="166135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dirty="0"/>
                  <a:t>=</a:t>
                </a:r>
                <a14:m>
                  <m:oMath xmlns:m="http://schemas.openxmlformats.org/officeDocument/2006/math">
                    <m:r>
                      <a:rPr lang="en-AU">
                        <a:latin typeface="Cambria Math"/>
                      </a:rPr>
                      <m:t> </m:t>
                    </m:r>
                    <m:r>
                      <a:rPr lang="en-AU" i="1">
                        <a:latin typeface="Cambria Math"/>
                      </a:rPr>
                      <m:t>6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i="1">
                        <a:latin typeface="Cambria Math"/>
                      </a:rPr>
                      <m:t>+5</m:t>
                    </m:r>
                    <m:r>
                      <a:rPr lang="en-AU" i="1">
                        <a:latin typeface="Cambria Math"/>
                      </a:rPr>
                      <m:t>𝑥</m:t>
                    </m:r>
                    <m:r>
                      <a:rPr lang="en-AU" i="1">
                        <a:latin typeface="Cambria Math"/>
                      </a:rPr>
                      <m:t>−6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E29B890F-ACA2-774A-B84F-26A67A83DB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6370" y="4584559"/>
                <a:ext cx="1661352" cy="369332"/>
              </a:xfrm>
              <a:prstGeom prst="rect">
                <a:avLst/>
              </a:prstGeom>
              <a:blipFill>
                <a:blip r:embed="rId6"/>
                <a:stretch>
                  <a:fillRect l="-3030" t="-3333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9133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  <p:bldP spid="13" grpId="0"/>
      <p:bldP spid="14" grpId="0"/>
      <p:bldP spid="18" grpId="0"/>
      <p:bldP spid="19" grpId="0"/>
      <p:bldP spid="24" grpId="0" animBg="1"/>
      <p:bldP spid="25" grpId="0" animBg="1"/>
      <p:bldP spid="26" grpId="0" animBg="1"/>
      <p:bldP spid="27" grpId="0" animBg="1"/>
      <p:bldP spid="29" grpId="0" animBg="1"/>
      <p:bldP spid="30" grpId="0"/>
      <p:bldP spid="31" grpId="0"/>
      <p:bldP spid="32" grpId="0"/>
      <p:bldP spid="33" grpId="0"/>
      <p:bldP spid="34" grpId="0"/>
      <p:bldP spid="37" grpId="0"/>
      <p:bldP spid="39" grpId="0"/>
      <p:bldP spid="40" grpId="0"/>
      <p:bldP spid="41" grpId="0"/>
      <p:bldP spid="42" grpId="0"/>
      <p:bldP spid="4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7085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472625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48327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Expanding Binomial Expressions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e 2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18937466"/>
                  </p:ext>
                </p:extLst>
              </p:nvPr>
            </p:nvGraphicFramePr>
            <p:xfrm>
              <a:off x="2411760" y="2740693"/>
              <a:ext cx="3224862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7495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7495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AU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  <m:r>
                                  <a:rPr lang="en-AU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-4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b="0" i="1" smtClean="0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  <m:t>2</m:t>
                                </m:r>
                                <m:r>
                                  <a:rPr lang="en-CA" b="0" i="1" smtClean="0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 charset="0"/>
                                  </a:rPr>
                                  <m:t>4</m:t>
                                </m:r>
                                <m:sSup>
                                  <m:sSupPr>
                                    <m:ctrlPr>
                                      <a:rPr lang="en-AU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 charset="0"/>
                                  </a:rPr>
                                  <m:t>−</m:t>
                                </m:r>
                                <m:r>
                                  <a:rPr lang="en-CA" b="0" i="1" smtClean="0">
                                    <a:solidFill>
                                      <a:srgbClr val="FF0000"/>
                                    </a:solidFill>
                                    <a:latin typeface="Cambria Math" charset="0"/>
                                  </a:rPr>
                                  <m:t>8</m:t>
                                </m:r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CA" b="0" i="1" smtClean="0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CA" b="0" i="1" smtClean="0">
                                    <a:solidFill>
                                      <a:srgbClr val="FF0000"/>
                                    </a:solidFill>
                                    <a:latin typeface="Cambria Math" charset="0"/>
                                  </a:rPr>
                                  <m:t>8</m:t>
                                </m:r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b="0" i="1" smtClean="0">
                                    <a:solidFill>
                                      <a:srgbClr val="FF0000"/>
                                    </a:solidFill>
                                    <a:latin typeface="Cambria Math" charset="0"/>
                                  </a:rPr>
                                  <m:t>+</m:t>
                                </m:r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 charset="0"/>
                                  </a:rPr>
                                  <m:t>1</m:t>
                                </m:r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e 2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18937466"/>
                  </p:ext>
                </p:extLst>
              </p:nvPr>
            </p:nvGraphicFramePr>
            <p:xfrm>
              <a:off x="2411760" y="2740693"/>
              <a:ext cx="3224862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1074954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1074954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565" t="-8333" r="-200565" b="-2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101136" t="-8333" r="-101705" b="-2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-4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565" t="-106557" r="-200565" b="-1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101136" t="-106557" r="-101705" b="-1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200000" t="-106557" r="-1130" b="-1016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565" t="-210000" r="-200565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101136" t="-210000" r="-101705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200000" t="-210000" r="-1130" b="-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/>
          <p:cNvSpPr txBox="1"/>
          <p:nvPr/>
        </p:nvSpPr>
        <p:spPr>
          <a:xfrm>
            <a:off x="1472625" y="2080870"/>
            <a:ext cx="16546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Expand (2x - 4)</a:t>
            </a:r>
            <a:r>
              <a:rPr lang="en-US" baseline="30000" dirty="0"/>
              <a:t>2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85866" y="2673197"/>
            <a:ext cx="11204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Using the table method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93" y="5276222"/>
            <a:ext cx="12683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Using the FOIL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2411760" y="4128464"/>
                <a:ext cx="2233891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charset="0"/>
                        </a:rPr>
                        <m:t>4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CA" b="0" i="1" smtClean="0">
                          <a:latin typeface="Cambria Math" charset="0"/>
                        </a:rPr>
                        <m:t>−8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−8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  <m:r>
                        <a:rPr lang="en-CA" b="0" i="1" smtClean="0">
                          <a:solidFill>
                            <a:srgbClr val="FF0000"/>
                          </a:solidFill>
                          <a:latin typeface="Cambria Math" charset="0"/>
                        </a:rPr>
                        <m:t>+1</m:t>
                      </m:r>
                      <m:r>
                        <a:rPr lang="en-AU" b="0" i="1" smtClean="0">
                          <a:latin typeface="Cambria Math"/>
                        </a:rPr>
                        <m:t>6</m:t>
                      </m:r>
                    </m:oMath>
                  </m:oMathPara>
                </a14:m>
                <a:endParaRPr lang="en-AU" b="0" dirty="0"/>
              </a:p>
              <a:p>
                <a:r>
                  <a:rPr lang="en-AU" dirty="0"/>
                  <a:t>=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charset="0"/>
                      </a:rPr>
                      <m:t>4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CA" b="0" i="1" smtClean="0">
                        <a:latin typeface="Cambria Math" charset="0"/>
                      </a:rPr>
                      <m:t>−16</m:t>
                    </m:r>
                    <m:r>
                      <a:rPr lang="en-AU" i="1">
                        <a:solidFill>
                          <a:schemeClr val="tx1"/>
                        </a:solidFill>
                        <a:latin typeface="Cambria Math"/>
                      </a:rPr>
                      <m:t>𝑥</m:t>
                    </m:r>
                    <m:r>
                      <a:rPr lang="en-CA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+1</m:t>
                    </m:r>
                    <m:r>
                      <a:rPr lang="en-AU" i="1">
                        <a:latin typeface="Cambria Math"/>
                      </a:rPr>
                      <m:t>6</m:t>
                    </m:r>
                  </m:oMath>
                </a14:m>
                <a:endParaRPr lang="en-AU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1760" y="4128464"/>
                <a:ext cx="2233891" cy="923330"/>
              </a:xfrm>
              <a:prstGeom prst="rect">
                <a:avLst/>
              </a:prstGeom>
              <a:blipFill rotWithShape="0">
                <a:blip r:embed="rId3"/>
                <a:stretch>
                  <a:fillRect l="-24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3127245" y="5366283"/>
                <a:ext cx="3611629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2</m:t>
                          </m:r>
                          <m:r>
                            <a:rPr lang="en-AU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𝑥</m:t>
                          </m:r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−4</m:t>
                          </m:r>
                        </m:e>
                      </m:d>
                      <m:r>
                        <a:rPr lang="en-CA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   =(2</m:t>
                      </m:r>
                      <m:r>
                        <a:rPr lang="en-CA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𝑥</m:t>
                      </m:r>
                      <m:r>
                        <a:rPr lang="en-CA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 −4)(2</m:t>
                      </m:r>
                      <m:r>
                        <a:rPr lang="en-CA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𝑥</m:t>
                      </m:r>
                      <m:r>
                        <a:rPr lang="en-CA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 −4)</m:t>
                      </m:r>
                    </m:oMath>
                  </m:oMathPara>
                </a14:m>
                <a:endParaRPr lang="en-AU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r>
                        <a:rPr lang="en-CA" b="0" i="1" smtClean="0">
                          <a:latin typeface="Cambria Math" charset="0"/>
                        </a:rPr>
                        <m:t>4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0" smtClean="0">
                          <a:latin typeface="Cambria Math"/>
                        </a:rPr>
                        <m:t>−</m:t>
                      </m:r>
                      <m:r>
                        <a:rPr lang="en-CA" b="0" i="1" smtClean="0">
                          <a:latin typeface="Cambria Math" charset="0"/>
                        </a:rPr>
                        <m:t>8</m:t>
                      </m:r>
                      <m:r>
                        <a:rPr lang="en-AU" i="1">
                          <a:latin typeface="Cambria Math"/>
                        </a:rPr>
                        <m:t>𝑥</m:t>
                      </m:r>
                      <m:r>
                        <a:rPr lang="en-CA" b="0" i="0" smtClean="0">
                          <a:latin typeface="Cambria Math" charset="0"/>
                        </a:rPr>
                        <m:t> −8</m:t>
                      </m:r>
                      <m:r>
                        <a:rPr lang="en-AU" i="1">
                          <a:latin typeface="Cambria Math"/>
                        </a:rPr>
                        <m:t>𝑥</m:t>
                      </m:r>
                      <m:r>
                        <a:rPr lang="en-CA" b="0" i="1" smtClean="0">
                          <a:latin typeface="Cambria Math" charset="0"/>
                        </a:rPr>
                        <m:t>+1</m:t>
                      </m:r>
                      <m:r>
                        <a:rPr lang="en-AU" b="0" i="1" smtClean="0">
                          <a:latin typeface="Cambria Math"/>
                        </a:rPr>
                        <m:t>6</m:t>
                      </m:r>
                    </m:oMath>
                  </m:oMathPara>
                </a14:m>
                <a:endParaRPr lang="en-AU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r>
                        <a:rPr lang="en-CA" b="0" i="1" smtClean="0">
                          <a:latin typeface="Cambria Math" charset="0"/>
                        </a:rPr>
                        <m:t>4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CA" b="0" i="1" smtClean="0">
                          <a:latin typeface="Cambria Math" charset="0"/>
                        </a:rPr>
                        <m:t> −16</m:t>
                      </m:r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  <m:r>
                        <a:rPr lang="en-CA" b="0" i="1" smtClean="0">
                          <a:latin typeface="Cambria Math" charset="0"/>
                        </a:rPr>
                        <m:t>+1</m:t>
                      </m:r>
                      <m:r>
                        <a:rPr lang="en-AU" b="0" i="1" smtClean="0">
                          <a:latin typeface="Cambria Math"/>
                        </a:rPr>
                        <m:t>6</m:t>
                      </m:r>
                    </m:oMath>
                  </m:oMathPara>
                </a14:m>
                <a:endParaRPr lang="en-AU" b="0" dirty="0"/>
              </a:p>
              <a:p>
                <a:endParaRPr lang="en-AU" dirty="0"/>
              </a:p>
              <a:p>
                <a:r>
                  <a:rPr lang="en-AU" dirty="0"/>
                  <a:t> </a:t>
                </a: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7245" y="5366283"/>
                <a:ext cx="3611629" cy="1477328"/>
              </a:xfrm>
              <a:prstGeom prst="rect">
                <a:avLst/>
              </a:prstGeom>
              <a:blipFill rotWithShape="0">
                <a:blip r:embed="rId4"/>
                <a:stretch>
                  <a:fillRect t="-238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1701132" y="5277917"/>
            <a:ext cx="91563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F</a:t>
            </a:r>
            <a:r>
              <a:rPr lang="en-AU" dirty="0"/>
              <a:t>irst</a:t>
            </a:r>
            <a:r>
              <a:rPr lang="en-AU" dirty="0">
                <a:solidFill>
                  <a:srgbClr val="0070C0"/>
                </a:solidFill>
              </a:rPr>
              <a:t> </a:t>
            </a:r>
          </a:p>
          <a:p>
            <a:r>
              <a:rPr lang="en-AU" dirty="0">
                <a:solidFill>
                  <a:srgbClr val="FF0000"/>
                </a:solidFill>
              </a:rPr>
              <a:t>O</a:t>
            </a:r>
            <a:r>
              <a:rPr lang="en-AU" dirty="0"/>
              <a:t>utside</a:t>
            </a:r>
          </a:p>
          <a:p>
            <a:r>
              <a:rPr lang="en-AU" dirty="0">
                <a:solidFill>
                  <a:srgbClr val="FF0000"/>
                </a:solidFill>
              </a:rPr>
              <a:t>I</a:t>
            </a:r>
            <a:r>
              <a:rPr lang="en-AU" dirty="0"/>
              <a:t>nner</a:t>
            </a:r>
          </a:p>
          <a:p>
            <a:r>
              <a:rPr lang="en-AU" dirty="0">
                <a:solidFill>
                  <a:srgbClr val="FF0000"/>
                </a:solidFill>
              </a:rPr>
              <a:t>L</a:t>
            </a:r>
            <a:r>
              <a:rPr lang="en-AU" dirty="0"/>
              <a:t>ast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8172" y="5372323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aseline="30000" dirty="0"/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314" y="1091239"/>
            <a:ext cx="88171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techniques can I use to expand expressions with brackets and how do I factorise binomial and </a:t>
            </a:r>
            <a:r>
              <a:rPr lang="en-AU" sz="2400"/>
              <a:t>quadratic equations?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920752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  <p:bldP spid="26" grpId="0"/>
      <p:bldP spid="2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8779"/>
            <a:ext cx="8229600" cy="1143000"/>
          </a:xfrm>
        </p:spPr>
        <p:txBody>
          <a:bodyPr/>
          <a:lstStyle/>
          <a:p>
            <a:r>
              <a:rPr lang="en-GB" b="1" dirty="0"/>
              <a:t>Expand these brackets: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78962"/>
                <a:ext cx="8229600" cy="3196952"/>
              </a:xfrm>
            </p:spPr>
            <p:txBody>
              <a:bodyPr/>
              <a:lstStyle/>
              <a:p>
                <a:pPr marL="514350" indent="-514350" algn="ctr">
                  <a:buFont typeface="+mj-lt"/>
                  <a:buAutoNum type="arabicPeriod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/>
                          </a:rPr>
                          <m:t>𝑥</m:t>
                        </m:r>
                        <m:r>
                          <a:rPr lang="en-GB" b="0" i="1" smtClean="0">
                            <a:latin typeface="Cambria Math"/>
                          </a:rPr>
                          <m:t>+4</m:t>
                        </m:r>
                      </m:e>
                    </m:d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/>
                          </a:rPr>
                          <m:t>𝑥</m:t>
                        </m:r>
                        <m:r>
                          <a:rPr lang="en-GB" b="0" i="1" smtClean="0">
                            <a:latin typeface="Cambria Math"/>
                          </a:rPr>
                          <m:t>+7</m:t>
                        </m:r>
                      </m:e>
                    </m:d>
                  </m:oMath>
                </a14:m>
                <a:endParaRPr lang="en-GB" b="0" dirty="0"/>
              </a:p>
              <a:p>
                <a:pPr marL="514350" indent="-514350" algn="ctr">
                  <a:buFont typeface="+mj-lt"/>
                  <a:buAutoNum type="arabicPeriod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/>
                          </a:rPr>
                          <m:t>𝑥</m:t>
                        </m:r>
                        <m:r>
                          <a:rPr lang="en-GB" b="0" i="1" smtClean="0">
                            <a:latin typeface="Cambria Math"/>
                          </a:rPr>
                          <m:t>−3</m:t>
                        </m:r>
                      </m:e>
                    </m:d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/>
                          </a:rPr>
                          <m:t>𝑥</m:t>
                        </m:r>
                        <m:r>
                          <a:rPr lang="en-GB" b="0" i="1" smtClean="0">
                            <a:latin typeface="Cambria Math"/>
                          </a:rPr>
                          <m:t>−2</m:t>
                        </m:r>
                      </m:e>
                    </m:d>
                  </m:oMath>
                </a14:m>
                <a:endParaRPr lang="en-GB" dirty="0"/>
              </a:p>
              <a:p>
                <a:pPr marL="514350" indent="-514350" algn="ctr">
                  <a:buFont typeface="+mj-lt"/>
                  <a:buAutoNum type="arabicPeriod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/>
                          </a:rPr>
                          <m:t>𝑥</m:t>
                        </m:r>
                        <m:r>
                          <a:rPr lang="en-GB" b="0" i="1" smtClean="0">
                            <a:latin typeface="Cambria Math"/>
                          </a:rPr>
                          <m:t>−5</m:t>
                        </m:r>
                      </m:e>
                    </m:d>
                  </m:oMath>
                </a14:m>
                <a:r>
                  <a:rPr lang="en-GB" baseline="30000" dirty="0"/>
                  <a:t>2</a:t>
                </a:r>
                <a:endParaRPr lang="en-GB" dirty="0"/>
              </a:p>
              <a:p>
                <a:pPr marL="514350" indent="-514350" algn="ctr">
                  <a:buFont typeface="+mj-lt"/>
                  <a:buAutoNum type="arabicPeriod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/>
                          </a:rPr>
                          <m:t>3</m:t>
                        </m:r>
                        <m:r>
                          <a:rPr lang="en-GB" i="1">
                            <a:latin typeface="Cambria Math"/>
                          </a:rPr>
                          <m:t>𝑥</m:t>
                        </m:r>
                        <m:r>
                          <a:rPr lang="en-GB" i="1">
                            <a:latin typeface="Cambria Math"/>
                          </a:rPr>
                          <m:t>+4</m:t>
                        </m:r>
                      </m:e>
                    </m:d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/>
                          </a:rPr>
                          <m:t>𝑥</m:t>
                        </m:r>
                        <m:r>
                          <a:rPr lang="en-GB" i="1">
                            <a:latin typeface="Cambria Math"/>
                          </a:rPr>
                          <m:t>+3</m:t>
                        </m:r>
                      </m:e>
                    </m:d>
                  </m:oMath>
                </a14:m>
                <a:endParaRPr lang="en-GB" dirty="0"/>
              </a:p>
              <a:p>
                <a:pPr marL="514350" indent="-514350" algn="ctr">
                  <a:buFont typeface="+mj-lt"/>
                  <a:buAutoNum type="arabicPeriod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  <m:r>
                          <a:rPr lang="en-GB" i="1">
                            <a:latin typeface="Cambria Math"/>
                          </a:rPr>
                          <m:t>𝑥</m:t>
                        </m:r>
                        <m:r>
                          <a:rPr lang="en-GB" b="0" i="1" smtClean="0">
                            <a:latin typeface="Cambria Math"/>
                          </a:rPr>
                          <m:t>−3</m:t>
                        </m:r>
                      </m:e>
                    </m:d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/>
                          </a:rPr>
                          <m:t>5</m:t>
                        </m:r>
                        <m:r>
                          <a:rPr lang="en-GB" i="1">
                            <a:latin typeface="Cambria Math"/>
                          </a:rPr>
                          <m:t>𝑥</m:t>
                        </m:r>
                        <m:r>
                          <a:rPr lang="en-GB" i="1">
                            <a:latin typeface="Cambria Math"/>
                          </a:rPr>
                          <m:t>+2</m:t>
                        </m:r>
                      </m:e>
                    </m:d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78962"/>
                <a:ext cx="8229600" cy="3196952"/>
              </a:xfr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352" y="5157192"/>
            <a:ext cx="1219200" cy="1219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123728" y="4293096"/>
                <a:ext cx="4968552" cy="24308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400" b="1" u="sng" dirty="0">
                    <a:solidFill>
                      <a:srgbClr val="FF0000"/>
                    </a:solidFill>
                  </a:rPr>
                  <a:t>Answers:</a:t>
                </a:r>
              </a:p>
              <a:p>
                <a:pPr marL="514350" indent="-514350" algn="ctr">
                  <a:buFont typeface="+mj-lt"/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GB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𝒙</m:t>
                        </m:r>
                      </m:e>
                      <m:sup>
                        <m:r>
                          <a:rPr lang="en-GB" sz="24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𝟐</m:t>
                        </m:r>
                      </m:sup>
                    </m:sSup>
                    <m:r>
                      <a:rPr lang="en-GB" sz="2400" b="1" i="1" smtClean="0">
                        <a:solidFill>
                          <a:srgbClr val="FF0000"/>
                        </a:solidFill>
                        <a:latin typeface="Cambria Math"/>
                      </a:rPr>
                      <m:t>+</m:t>
                    </m:r>
                    <m:r>
                      <a:rPr lang="en-GB" sz="2400" b="1" i="1" smtClean="0">
                        <a:solidFill>
                          <a:srgbClr val="FF0000"/>
                        </a:solidFill>
                        <a:latin typeface="Cambria Math"/>
                      </a:rPr>
                      <m:t>𝟏𝟏</m:t>
                    </m:r>
                    <m:r>
                      <a:rPr lang="en-GB" sz="2400" b="1" i="1" smtClean="0">
                        <a:solidFill>
                          <a:srgbClr val="FF0000"/>
                        </a:solidFill>
                        <a:latin typeface="Cambria Math"/>
                      </a:rPr>
                      <m:t>𝒙</m:t>
                    </m:r>
                    <m:r>
                      <a:rPr lang="en-GB" sz="2400" b="1" i="1" smtClean="0">
                        <a:solidFill>
                          <a:srgbClr val="FF0000"/>
                        </a:solidFill>
                        <a:latin typeface="Cambria Math"/>
                      </a:rPr>
                      <m:t>+</m:t>
                    </m:r>
                    <m:r>
                      <a:rPr lang="en-GB" sz="2400" b="1" i="1" smtClean="0">
                        <a:solidFill>
                          <a:srgbClr val="FF0000"/>
                        </a:solidFill>
                        <a:latin typeface="Cambria Math"/>
                      </a:rPr>
                      <m:t>𝟐𝟖</m:t>
                    </m:r>
                  </m:oMath>
                </a14:m>
                <a:endParaRPr lang="en-GB" sz="2400" b="1" dirty="0">
                  <a:solidFill>
                    <a:srgbClr val="FF0000"/>
                  </a:solidFill>
                </a:endParaRPr>
              </a:p>
              <a:p>
                <a:pPr marL="514350" indent="-514350" algn="ctr">
                  <a:buFont typeface="+mj-lt"/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GB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𝒙</m:t>
                        </m:r>
                      </m:e>
                      <m:sup>
                        <m:r>
                          <a:rPr lang="en-GB" sz="24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𝟐</m:t>
                        </m:r>
                      </m:sup>
                    </m:sSup>
                    <m:r>
                      <a:rPr lang="en-GB" sz="2400" b="1" i="1" smtClean="0">
                        <a:solidFill>
                          <a:srgbClr val="FF0000"/>
                        </a:solidFill>
                        <a:latin typeface="Cambria Math"/>
                      </a:rPr>
                      <m:t>−</m:t>
                    </m:r>
                    <m:r>
                      <a:rPr lang="en-GB" sz="2400" b="1" i="1" smtClean="0">
                        <a:solidFill>
                          <a:srgbClr val="FF0000"/>
                        </a:solidFill>
                        <a:latin typeface="Cambria Math"/>
                      </a:rPr>
                      <m:t>𝟓</m:t>
                    </m:r>
                    <m:r>
                      <a:rPr lang="en-GB" sz="2400" b="1" i="1" smtClean="0">
                        <a:solidFill>
                          <a:srgbClr val="FF0000"/>
                        </a:solidFill>
                        <a:latin typeface="Cambria Math"/>
                      </a:rPr>
                      <m:t>𝒙</m:t>
                    </m:r>
                    <m:r>
                      <a:rPr lang="en-GB" sz="2400" b="1" i="1" smtClean="0">
                        <a:solidFill>
                          <a:srgbClr val="FF0000"/>
                        </a:solidFill>
                        <a:latin typeface="Cambria Math"/>
                      </a:rPr>
                      <m:t>+</m:t>
                    </m:r>
                    <m:r>
                      <a:rPr lang="en-GB" sz="2400" b="1" i="1" smtClean="0">
                        <a:solidFill>
                          <a:srgbClr val="FF0000"/>
                        </a:solidFill>
                        <a:latin typeface="Cambria Math"/>
                      </a:rPr>
                      <m:t>𝟔</m:t>
                    </m:r>
                  </m:oMath>
                </a14:m>
                <a:endParaRPr lang="en-GB" sz="2400" b="1" dirty="0">
                  <a:solidFill>
                    <a:srgbClr val="FF0000"/>
                  </a:solidFill>
                </a:endParaRPr>
              </a:p>
              <a:p>
                <a:pPr marL="514350" indent="-514350" algn="ctr">
                  <a:buFont typeface="+mj-lt"/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GB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𝒙</m:t>
                        </m:r>
                      </m:e>
                      <m:sup>
                        <m:r>
                          <a:rPr lang="en-GB" sz="24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𝟐</m:t>
                        </m:r>
                      </m:sup>
                    </m:sSup>
                    <m:r>
                      <a:rPr lang="en-GB" sz="2400" b="1" i="1" smtClean="0">
                        <a:solidFill>
                          <a:srgbClr val="FF0000"/>
                        </a:solidFill>
                        <a:latin typeface="Cambria Math"/>
                      </a:rPr>
                      <m:t>−</m:t>
                    </m:r>
                    <m:r>
                      <a:rPr lang="en-CA" sz="2400" b="1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𝟏𝟎</m:t>
                    </m:r>
                    <m:r>
                      <a:rPr lang="en-GB" sz="2400" b="1" i="1" smtClean="0">
                        <a:solidFill>
                          <a:srgbClr val="FF0000"/>
                        </a:solidFill>
                        <a:latin typeface="Cambria Math"/>
                      </a:rPr>
                      <m:t>𝒙</m:t>
                    </m:r>
                    <m:r>
                      <a:rPr lang="en-CA" sz="2400" b="1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+</m:t>
                    </m:r>
                    <m:r>
                      <a:rPr lang="en-CA" sz="2400" b="1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𝟐𝟓</m:t>
                    </m:r>
                  </m:oMath>
                </a14:m>
                <a:endParaRPr lang="en-GB" sz="2400" b="1" dirty="0">
                  <a:solidFill>
                    <a:srgbClr val="FF0000"/>
                  </a:solidFill>
                </a:endParaRPr>
              </a:p>
              <a:p>
                <a:pPr marL="514350" indent="-514350" algn="ctr">
                  <a:buFont typeface="+mj-lt"/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GB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𝟑</m:t>
                        </m:r>
                        <m:r>
                          <a:rPr lang="en-GB" sz="24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𝒙</m:t>
                        </m:r>
                      </m:e>
                      <m:sup>
                        <m:r>
                          <a:rPr lang="en-GB" sz="24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𝟐</m:t>
                        </m:r>
                      </m:sup>
                    </m:sSup>
                    <m:r>
                      <a:rPr lang="en-GB" sz="2400" b="1" i="1" smtClean="0">
                        <a:solidFill>
                          <a:srgbClr val="FF0000"/>
                        </a:solidFill>
                        <a:latin typeface="Cambria Math"/>
                      </a:rPr>
                      <m:t>+</m:t>
                    </m:r>
                    <m:r>
                      <a:rPr lang="en-GB" sz="2400" b="1" i="1" smtClean="0">
                        <a:solidFill>
                          <a:srgbClr val="FF0000"/>
                        </a:solidFill>
                        <a:latin typeface="Cambria Math"/>
                      </a:rPr>
                      <m:t>𝟏𝟑</m:t>
                    </m:r>
                    <m:r>
                      <a:rPr lang="en-GB" sz="2400" b="1" i="1" smtClean="0">
                        <a:solidFill>
                          <a:srgbClr val="FF0000"/>
                        </a:solidFill>
                        <a:latin typeface="Cambria Math"/>
                      </a:rPr>
                      <m:t>𝒙</m:t>
                    </m:r>
                    <m:r>
                      <a:rPr lang="en-GB" sz="2400" b="1" i="1" smtClean="0">
                        <a:solidFill>
                          <a:srgbClr val="FF0000"/>
                        </a:solidFill>
                        <a:latin typeface="Cambria Math"/>
                      </a:rPr>
                      <m:t>+</m:t>
                    </m:r>
                    <m:r>
                      <a:rPr lang="en-GB" sz="2400" b="1" i="1" smtClean="0">
                        <a:solidFill>
                          <a:srgbClr val="FF0000"/>
                        </a:solidFill>
                        <a:latin typeface="Cambria Math"/>
                      </a:rPr>
                      <m:t>𝟏𝟐</m:t>
                    </m:r>
                  </m:oMath>
                </a14:m>
                <a:endParaRPr lang="en-GB" sz="2400" b="1" dirty="0">
                  <a:solidFill>
                    <a:srgbClr val="FF0000"/>
                  </a:solidFill>
                </a:endParaRPr>
              </a:p>
              <a:p>
                <a:pPr marL="514350" indent="-514350" algn="ctr">
                  <a:buFont typeface="+mj-lt"/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GB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𝟏𝟎</m:t>
                        </m:r>
                        <m:r>
                          <a:rPr lang="en-GB" sz="24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𝒙</m:t>
                        </m:r>
                      </m:e>
                      <m:sup>
                        <m:r>
                          <a:rPr lang="en-GB" sz="24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𝟐</m:t>
                        </m:r>
                      </m:sup>
                    </m:sSup>
                    <m:r>
                      <a:rPr lang="en-GB" sz="2400" b="1" i="1" smtClean="0">
                        <a:solidFill>
                          <a:srgbClr val="FF0000"/>
                        </a:solidFill>
                        <a:latin typeface="Cambria Math"/>
                      </a:rPr>
                      <m:t>−</m:t>
                    </m:r>
                    <m:r>
                      <a:rPr lang="en-GB" sz="2400" b="1" i="1" smtClean="0">
                        <a:solidFill>
                          <a:srgbClr val="FF0000"/>
                        </a:solidFill>
                        <a:latin typeface="Cambria Math"/>
                      </a:rPr>
                      <m:t>𝟏𝟏</m:t>
                    </m:r>
                    <m:r>
                      <a:rPr lang="en-GB" sz="2400" b="1" i="1" smtClean="0">
                        <a:solidFill>
                          <a:srgbClr val="FF0000"/>
                        </a:solidFill>
                        <a:latin typeface="Cambria Math"/>
                      </a:rPr>
                      <m:t>𝒙</m:t>
                    </m:r>
                    <m:r>
                      <a:rPr lang="en-GB" sz="2400" b="1" i="1" smtClean="0">
                        <a:solidFill>
                          <a:srgbClr val="FF0000"/>
                        </a:solidFill>
                        <a:latin typeface="Cambria Math"/>
                      </a:rPr>
                      <m:t>−</m:t>
                    </m:r>
                    <m:r>
                      <a:rPr lang="en-GB" sz="2400" b="1" i="1" smtClean="0">
                        <a:solidFill>
                          <a:srgbClr val="FF0000"/>
                        </a:solidFill>
                        <a:latin typeface="Cambria Math"/>
                      </a:rPr>
                      <m:t>𝟔</m:t>
                    </m:r>
                  </m:oMath>
                </a14:m>
                <a:endParaRPr lang="en-GB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4293096"/>
                <a:ext cx="4968552" cy="2430858"/>
              </a:xfrm>
              <a:prstGeom prst="rect">
                <a:avLst/>
              </a:prstGeom>
              <a:blipFill rotWithShape="0">
                <a:blip r:embed="rId4"/>
                <a:stretch>
                  <a:fillRect t="-2005" b="-10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3363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screenshot of a cell phone&#10;&#10;Description automatically generated">
            <a:extLst>
              <a:ext uri="{FF2B5EF4-FFF2-40B4-BE49-F238E27FC236}">
                <a16:creationId xmlns:a16="http://schemas.microsoft.com/office/drawing/2014/main" id="{8098E372-FD6E-F647-9E89-8D11A53B72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7411" y="908720"/>
            <a:ext cx="5008725" cy="4032448"/>
          </a:xfrm>
          <a:prstGeom prst="rect">
            <a:avLst/>
          </a:prstGeom>
        </p:spPr>
      </p:pic>
      <p:pic>
        <p:nvPicPr>
          <p:cNvPr id="13" name="Picture 12" descr="A screenshot of a cell phone&#10;&#10;Description automatically generated">
            <a:extLst>
              <a:ext uri="{FF2B5EF4-FFF2-40B4-BE49-F238E27FC236}">
                <a16:creationId xmlns:a16="http://schemas.microsoft.com/office/drawing/2014/main" id="{6DE81177-2683-BF40-9E41-6E940D3EF3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159" y="1766168"/>
            <a:ext cx="8775700" cy="3175000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6ED2B876-1323-8E49-8B83-E1CA13C38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919064" y="-31649"/>
            <a:ext cx="8229600" cy="1143000"/>
          </a:xfrm>
        </p:spPr>
        <p:txBody>
          <a:bodyPr/>
          <a:lstStyle/>
          <a:p>
            <a:r>
              <a:rPr lang="en-GB" b="1" dirty="0"/>
              <a:t>Now try these: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F486D44A-89E8-204A-95A1-387A78619D77}"/>
              </a:ext>
            </a:extLst>
          </p:cNvPr>
          <p:cNvSpPr txBox="1">
            <a:spLocks/>
          </p:cNvSpPr>
          <p:nvPr/>
        </p:nvSpPr>
        <p:spPr>
          <a:xfrm>
            <a:off x="217454" y="526946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/>
              <a:t>What do you notice? Can you write a rule for these types of expansions?</a:t>
            </a:r>
          </a:p>
        </p:txBody>
      </p:sp>
    </p:spTree>
    <p:extLst>
      <p:ext uri="{BB962C8B-B14F-4D97-AF65-F5344CB8AC3E}">
        <p14:creationId xmlns:p14="http://schemas.microsoft.com/office/powerpoint/2010/main" val="2485080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903187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6212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Factorising Expressions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03110491"/>
                  </p:ext>
                </p:extLst>
              </p:nvPr>
            </p:nvGraphicFramePr>
            <p:xfrm>
              <a:off x="5421048" y="3061817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7495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7495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AU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b="0" dirty="0">
                              <a:solidFill>
                                <a:srgbClr val="0070C0"/>
                              </a:solidFill>
                            </a:rPr>
                            <a:t>+5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+10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03110491"/>
                  </p:ext>
                </p:extLst>
              </p:nvPr>
            </p:nvGraphicFramePr>
            <p:xfrm>
              <a:off x="5421048" y="3061817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1074954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1074954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565" t="-8197" r="-200565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101136" t="-8197" r="-101705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b="0" dirty="0">
                              <a:solidFill>
                                <a:srgbClr val="0070C0"/>
                              </a:solidFill>
                            </a:rPr>
                            <a:t>+5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101136" t="-110000" r="-101705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+10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/>
          <p:cNvSpPr txBox="1"/>
          <p:nvPr/>
        </p:nvSpPr>
        <p:spPr>
          <a:xfrm>
            <a:off x="93471" y="1943799"/>
            <a:ext cx="1793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What is the HCF?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33702" y="1943799"/>
            <a:ext cx="3001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HCF – Highest Common factor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471" y="2492896"/>
            <a:ext cx="18862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find</a:t>
            </a:r>
          </a:p>
          <a:p>
            <a:r>
              <a:rPr lang="en-AU" dirty="0"/>
              <a:t>the HCF using the box method?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2133702" y="2408276"/>
                <a:ext cx="18717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Factorise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2</m:t>
                    </m:r>
                    <m:r>
                      <a:rPr lang="en-AU" b="0" i="1" smtClean="0">
                        <a:latin typeface="Cambria Math"/>
                      </a:rPr>
                      <m:t>𝑝</m:t>
                    </m:r>
                    <m:r>
                      <a:rPr lang="en-AU" b="0" i="1" smtClean="0">
                        <a:latin typeface="Cambria Math"/>
                      </a:rPr>
                      <m:t>+10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702" y="2408276"/>
                <a:ext cx="1871794" cy="369332"/>
              </a:xfrm>
              <a:prstGeom prst="rect">
                <a:avLst/>
              </a:prstGeom>
              <a:blipFill>
                <a:blip r:embed="rId3"/>
                <a:stretch>
                  <a:fillRect l="-2721" t="-666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2157473" y="2936238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Find the HCF of both terms (in this case 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94759" y="2742427"/>
            <a:ext cx="2075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0070C0"/>
                </a:solidFill>
              </a:rPr>
              <a:t>Divide terms by HCF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2191977" y="3901959"/>
                <a:ext cx="351224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Write the expression using brackets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2</m:t>
                      </m:r>
                      <m:r>
                        <a:rPr lang="en-AU" b="0" i="1" smtClean="0">
                          <a:latin typeface="Cambria Math"/>
                        </a:rPr>
                        <m:t>(</m:t>
                      </m:r>
                      <m:r>
                        <a:rPr lang="en-AU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𝑝</m:t>
                      </m:r>
                      <m:r>
                        <a:rPr lang="en-AU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+5)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1977" y="3901959"/>
                <a:ext cx="3512244" cy="646331"/>
              </a:xfrm>
              <a:prstGeom prst="rect">
                <a:avLst/>
              </a:prstGeom>
              <a:blipFill>
                <a:blip r:embed="rId4"/>
                <a:stretch>
                  <a:fillRect l="-1444" t="-1923" r="-361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7" name="Table 1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01131430"/>
                  </p:ext>
                </p:extLst>
              </p:nvPr>
            </p:nvGraphicFramePr>
            <p:xfrm>
              <a:off x="5365680" y="5190588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7495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7495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AU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  <m:r>
                                  <a:rPr lang="en-AU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+3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10</m:t>
                                </m:r>
                                <m:sSup>
                                  <m:sSupPr>
                                    <m:ctrlPr>
                                      <a:rPr lang="en-AU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+15</m:t>
                                </m:r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7" name="Table 1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01131430"/>
                  </p:ext>
                </p:extLst>
              </p:nvPr>
            </p:nvGraphicFramePr>
            <p:xfrm>
              <a:off x="5365680" y="5190588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7495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7495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176" r="-200000" b="-9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1176" r="-100000" b="-9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1176" b="-9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176" t="-103448" r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1176" t="-103448" r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1176" t="-1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2191977" y="4816327"/>
                <a:ext cx="22427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Factorise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10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+15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1977" y="4816327"/>
                <a:ext cx="2242793" cy="369332"/>
              </a:xfrm>
              <a:prstGeom prst="rect">
                <a:avLst/>
              </a:prstGeom>
              <a:blipFill>
                <a:blip r:embed="rId6"/>
                <a:stretch>
                  <a:fillRect l="-2260" t="-333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Rectangle 18"/>
              <p:cNvSpPr/>
              <p:nvPr/>
            </p:nvSpPr>
            <p:spPr>
              <a:xfrm>
                <a:off x="2875499" y="6213578"/>
                <a:ext cx="317206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/>
                        </a:rPr>
                        <m:t>10</m:t>
                      </m:r>
                      <m:sSup>
                        <m:sSup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i="1">
                          <a:latin typeface="Cambria Math"/>
                        </a:rPr>
                        <m:t>+15</m:t>
                      </m:r>
                      <m:r>
                        <a:rPr lang="en-AU" i="1">
                          <a:latin typeface="Cambria Math"/>
                        </a:rPr>
                        <m:t>𝑥</m:t>
                      </m:r>
                      <m:r>
                        <a:rPr lang="en-AU" b="0" i="0" smtClean="0">
                          <a:latin typeface="Cambria Math"/>
                        </a:rPr>
                        <m:t>=</m:t>
                      </m:r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5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i="1">
                          <a:latin typeface="Cambria Math"/>
                        </a:rPr>
                        <m:t>(</m:t>
                      </m:r>
                      <m:r>
                        <a:rPr lang="en-AU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2</m:t>
                      </m:r>
                      <m:r>
                        <a:rPr lang="en-AU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i="1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  <m:r>
                        <a:rPr lang="en-AU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3</m:t>
                      </m:r>
                      <m:r>
                        <a:rPr lang="en-AU" i="1">
                          <a:solidFill>
                            <a:srgbClr val="0070C0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5499" y="6213578"/>
                <a:ext cx="3172061" cy="369332"/>
              </a:xfrm>
              <a:prstGeom prst="rect">
                <a:avLst/>
              </a:prstGeom>
              <a:blipFill>
                <a:blip r:embed="rId7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/>
          <p:cNvSpPr txBox="1"/>
          <p:nvPr/>
        </p:nvSpPr>
        <p:spPr>
          <a:xfrm>
            <a:off x="75314" y="1091239"/>
            <a:ext cx="88171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techniques can I use to expand expressions with brackets and how do I factorise binomial and </a:t>
            </a:r>
            <a:r>
              <a:rPr lang="en-AU" sz="2400"/>
              <a:t>quadratic equations? </a:t>
            </a:r>
            <a:endParaRPr lang="en-AU" sz="2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8ACAE51-4FE8-AB46-91FA-02C10050BDB8}"/>
              </a:ext>
            </a:extLst>
          </p:cNvPr>
          <p:cNvSpPr txBox="1"/>
          <p:nvPr/>
        </p:nvSpPr>
        <p:spPr>
          <a:xfrm>
            <a:off x="2191977" y="5313327"/>
            <a:ext cx="23712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Find the HCF of both terms (in this case 5x)</a:t>
            </a:r>
          </a:p>
        </p:txBody>
      </p:sp>
    </p:spTree>
    <p:extLst>
      <p:ext uri="{BB962C8B-B14F-4D97-AF65-F5344CB8AC3E}">
        <p14:creationId xmlns:p14="http://schemas.microsoft.com/office/powerpoint/2010/main" val="3911811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/>
      <p:bldP spid="14" grpId="0"/>
      <p:bldP spid="15" grpId="0"/>
      <p:bldP spid="16" grpId="0"/>
      <p:bldP spid="18" grpId="0"/>
      <p:bldP spid="19" grpId="0"/>
      <p:bldP spid="2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7085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547664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48327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Expanding Binomial Expressions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2063119"/>
            <a:ext cx="18862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find</a:t>
            </a:r>
          </a:p>
          <a:p>
            <a:r>
              <a:rPr lang="en-AU" dirty="0"/>
              <a:t>the HCF using a factor tree?</a:t>
            </a:r>
          </a:p>
        </p:txBody>
      </p:sp>
      <p:pic>
        <p:nvPicPr>
          <p:cNvPr id="12" name="Picture 11" descr="CommonFactorSeven550x416JPG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8132" y="2069789"/>
            <a:ext cx="5544616" cy="419374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5314" y="1091239"/>
            <a:ext cx="88171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techniques can I use to expand expressions with brackets and how do I factorise binomial and </a:t>
            </a:r>
            <a:r>
              <a:rPr lang="en-AU" sz="2400"/>
              <a:t>quadratic equations?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170483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7085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475656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48327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Expanding Binomial Expressions</a:t>
            </a:r>
          </a:p>
        </p:txBody>
      </p:sp>
      <p:pic>
        <p:nvPicPr>
          <p:cNvPr id="16" name="Picture 15" descr="CommonFactorNine550x405JPG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4229" y="2057445"/>
            <a:ext cx="6062896" cy="446449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5314" y="1091239"/>
            <a:ext cx="88171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techniques can I use to expand expressions with brackets and how do I factorise binomial and </a:t>
            </a:r>
            <a:r>
              <a:rPr lang="en-AU" sz="2400"/>
              <a:t>quadratic equations?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5999304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/>
              <a:t>Factorise the following: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/>
              <p:cNvSpPr txBox="1">
                <a:spLocks/>
              </p:cNvSpPr>
              <p:nvPr/>
            </p:nvSpPr>
            <p:spPr>
              <a:xfrm>
                <a:off x="457200" y="1178962"/>
                <a:ext cx="8229600" cy="3196952"/>
              </a:xfrm>
              <a:prstGeom prst="rect">
                <a:avLst/>
              </a:prstGeom>
            </p:spPr>
            <p:txBody>
              <a:bodyPr/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514350" indent="-514350" algn="ctr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CA" b="0" i="1" smtClean="0">
                        <a:latin typeface="Cambria Math" charset="0"/>
                      </a:rPr>
                      <m:t>4</m:t>
                    </m:r>
                    <m:r>
                      <a:rPr lang="en-CA" b="0" i="1" smtClean="0">
                        <a:latin typeface="Cambria Math" charset="0"/>
                      </a:rPr>
                      <m:t>𝑥𝑦</m:t>
                    </m:r>
                    <m:r>
                      <a:rPr lang="en-CA" b="0" i="1" smtClean="0">
                        <a:latin typeface="Cambria Math" charset="0"/>
                      </a:rPr>
                      <m:t>+8</m:t>
                    </m:r>
                    <m:r>
                      <a:rPr lang="en-CA" b="0" i="1" smtClean="0">
                        <a:latin typeface="Cambria Math" charset="0"/>
                      </a:rPr>
                      <m:t>𝑥</m:t>
                    </m:r>
                  </m:oMath>
                </a14:m>
                <a:endParaRPr lang="en-GB" dirty="0"/>
              </a:p>
              <a:p>
                <a:pPr marL="514350" indent="-514350" algn="ctr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CA" b="0" i="1" smtClean="0">
                        <a:latin typeface="Cambria Math" charset="0"/>
                      </a:rPr>
                      <m:t>−10</m:t>
                    </m:r>
                    <m:r>
                      <a:rPr lang="en-CA" b="0" i="1" smtClean="0">
                        <a:latin typeface="Cambria Math" charset="0"/>
                      </a:rPr>
                      <m:t>𝑎𝑏</m:t>
                    </m:r>
                    <m:r>
                      <a:rPr lang="en-CA" b="0" i="1" smtClean="0">
                        <a:latin typeface="Cambria Math" charset="0"/>
                      </a:rPr>
                      <m:t> −5</m:t>
                    </m:r>
                  </m:oMath>
                </a14:m>
                <a:endParaRPr lang="en-GB" dirty="0"/>
              </a:p>
              <a:p>
                <a:pPr marL="514350" indent="-514350" algn="ctr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CA" b="0" i="1" smtClean="0">
                        <a:latin typeface="Cambria Math" charset="0"/>
                      </a:rPr>
                      <m:t>15</m:t>
                    </m:r>
                    <m:r>
                      <a:rPr lang="en-CA" b="0" i="1" smtClean="0">
                        <a:latin typeface="Cambria Math" charset="0"/>
                      </a:rPr>
                      <m:t>𝑎𝑏</m:t>
                    </m:r>
                    <m:r>
                      <a:rPr lang="en-CA" b="0" i="1" smtClean="0">
                        <a:latin typeface="Cambria Math" charset="0"/>
                      </a:rPr>
                      <m:t> −25</m:t>
                    </m:r>
                    <m:r>
                      <a:rPr lang="en-CA" b="0" i="1" smtClean="0">
                        <a:latin typeface="Cambria Math" charset="0"/>
                      </a:rPr>
                      <m:t>𝑎𝑏𝑐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4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178962"/>
                <a:ext cx="8229600" cy="319695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4067944" y="2438543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aseline="30000"/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08786" y="2425017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aseline="30000" dirty="0"/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30523" y="2425015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aseline="30000"/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44164" y="2425014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aseline="300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719614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7085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691680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48327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Expanding Binomial Expressions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314" y="1091239"/>
            <a:ext cx="88171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techniques can I use to expand expressions with brackets and how do I factorise binomial and </a:t>
            </a:r>
            <a:r>
              <a:rPr lang="en-AU" sz="2400"/>
              <a:t>quadratic equations? 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93471" y="2042618"/>
            <a:ext cx="1454193" cy="1224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do we </a:t>
            </a:r>
            <a:r>
              <a:rPr lang="en-US" dirty="0" err="1"/>
              <a:t>factorise</a:t>
            </a:r>
            <a:r>
              <a:rPr lang="en-US" dirty="0"/>
              <a:t> quadratic equations?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35737" y="2032747"/>
            <a:ext cx="715996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Regardless of the method we use, the steps are the same. Take: </a:t>
            </a:r>
          </a:p>
          <a:p>
            <a:pPr marL="342900" indent="-342900">
              <a:buFont typeface="+mj-lt"/>
              <a:buAutoNum type="arabicPeriod"/>
            </a:pPr>
            <a:endParaRPr lang="en-US" sz="2400" dirty="0"/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We need to find two numbers that </a:t>
            </a:r>
            <a:r>
              <a:rPr lang="en-US" sz="2400" u="sng" dirty="0"/>
              <a:t>multiply to +8 </a:t>
            </a:r>
            <a:r>
              <a:rPr lang="en-US" sz="2400" dirty="0"/>
              <a:t>and </a:t>
            </a:r>
            <a:r>
              <a:rPr lang="en-US" sz="2400" u="sng" dirty="0"/>
              <a:t>add to +6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List all factors of 8: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3452555" y="2401143"/>
                <a:ext cx="182126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 charset="0"/>
                            </a:rPr>
                            <m:t>𝑥</m:t>
                          </m:r>
                        </m:e>
                        <m:sup>
                          <m:r>
                            <a:rPr lang="en-GB" sz="2400" i="1">
                              <a:latin typeface="Cambria Math" charset="0"/>
                            </a:rPr>
                            <m:t>2</m:t>
                          </m:r>
                        </m:sup>
                      </m:sSup>
                      <m:r>
                        <a:rPr lang="en-GB" sz="2400" i="1">
                          <a:latin typeface="Cambria Math" charset="0"/>
                        </a:rPr>
                        <m:t>+6</m:t>
                      </m:r>
                      <m:r>
                        <a:rPr lang="en-GB" sz="2400" i="1">
                          <a:latin typeface="Cambria Math" charset="0"/>
                        </a:rPr>
                        <m:t>𝑥</m:t>
                      </m:r>
                      <m:r>
                        <a:rPr lang="en-GB" sz="2400" i="1">
                          <a:latin typeface="Cambria Math" charset="0"/>
                        </a:rPr>
                        <m:t>+8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2555" y="2401143"/>
                <a:ext cx="1821268" cy="461665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5312499" y="4020029"/>
            <a:ext cx="331442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+1 and +8</a:t>
            </a:r>
          </a:p>
          <a:p>
            <a:pPr algn="ctr"/>
            <a:r>
              <a:rPr lang="en-GB" sz="2400" dirty="0"/>
              <a:t>-1 and -8</a:t>
            </a:r>
          </a:p>
          <a:p>
            <a:pPr algn="ctr"/>
            <a:r>
              <a:rPr lang="en-GB" sz="2400" dirty="0"/>
              <a:t>+2 and +4</a:t>
            </a:r>
          </a:p>
          <a:p>
            <a:pPr algn="ctr"/>
            <a:r>
              <a:rPr lang="en-GB" sz="2400" dirty="0"/>
              <a:t>-2 and -4</a:t>
            </a:r>
          </a:p>
        </p:txBody>
      </p:sp>
      <p:sp>
        <p:nvSpPr>
          <p:cNvPr id="14" name="Oval 13"/>
          <p:cNvSpPr/>
          <p:nvPr/>
        </p:nvSpPr>
        <p:spPr>
          <a:xfrm>
            <a:off x="6011320" y="4825782"/>
            <a:ext cx="1916783" cy="33728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1938772" y="4897175"/>
                <a:ext cx="424288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400" b="1" dirty="0">
                    <a:solidFill>
                      <a:srgbClr val="002060"/>
                    </a:solidFill>
                  </a:rPr>
                  <a:t>Answer: </a:t>
                </a:r>
                <a14:m>
                  <m:oMath xmlns:m="http://schemas.openxmlformats.org/officeDocument/2006/math">
                    <m:r>
                      <a:rPr lang="en-GB" sz="24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(</m:t>
                    </m:r>
                    <m:r>
                      <a:rPr lang="en-GB" sz="24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𝒙</m:t>
                    </m:r>
                    <m:r>
                      <a:rPr lang="en-GB" sz="24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+</m:t>
                    </m:r>
                    <m:r>
                      <a:rPr lang="en-GB" sz="24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𝟐</m:t>
                    </m:r>
                    <m:r>
                      <a:rPr lang="en-GB" sz="24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)(</m:t>
                    </m:r>
                    <m:r>
                      <a:rPr lang="en-GB" sz="24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𝒙</m:t>
                    </m:r>
                    <m:r>
                      <a:rPr lang="en-GB" sz="24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+</m:t>
                    </m:r>
                    <m:r>
                      <a:rPr lang="en-GB" sz="24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𝟒</m:t>
                    </m:r>
                    <m:r>
                      <a:rPr lang="en-GB" sz="24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)</m:t>
                    </m:r>
                  </m:oMath>
                </a14:m>
                <a:endParaRPr lang="en-GB" sz="24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8772" y="4897175"/>
                <a:ext cx="4242884" cy="461665"/>
              </a:xfrm>
              <a:prstGeom prst="rect">
                <a:avLst/>
              </a:prstGeom>
              <a:blipFill rotWithShape="0">
                <a:blip r:embed="rId3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1402431" y="5950880"/>
                <a:ext cx="7060364" cy="470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400" i="1" dirty="0"/>
                  <a:t>Can you now factorise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0" i="1" smtClean="0">
                            <a:latin typeface="Cambria Math" charset="0"/>
                          </a:rPr>
                          <m:t>𝑥</m:t>
                        </m:r>
                      </m:e>
                      <m:sup>
                        <m:r>
                          <a:rPr lang="en-GB" sz="2400" b="0" i="1" smtClean="0"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GB" sz="2400" b="0" i="1" smtClean="0">
                        <a:latin typeface="Cambria Math" charset="0"/>
                      </a:rPr>
                      <m:t>+9</m:t>
                    </m:r>
                    <m:r>
                      <a:rPr lang="en-GB" sz="2400" b="0" i="1" smtClean="0">
                        <a:latin typeface="Cambria Math" charset="0"/>
                      </a:rPr>
                      <m:t>𝑥</m:t>
                    </m:r>
                    <m:r>
                      <a:rPr lang="en-GB" sz="2400" b="0" i="1" smtClean="0">
                        <a:latin typeface="Cambria Math" charset="0"/>
                      </a:rPr>
                      <m:t>+20?</m:t>
                    </m:r>
                  </m:oMath>
                </a14:m>
                <a:endParaRPr lang="en-GB" sz="2400" i="1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2431" y="5950880"/>
                <a:ext cx="7060364" cy="470000"/>
              </a:xfrm>
              <a:prstGeom prst="rect">
                <a:avLst/>
              </a:prstGeom>
              <a:blipFill rotWithShape="0">
                <a:blip r:embed="rId4"/>
                <a:stretch>
                  <a:fillRect t="-10390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132313" y="6304302"/>
                <a:ext cx="393751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400" b="1" dirty="0">
                    <a:solidFill>
                      <a:srgbClr val="FF0000"/>
                    </a:solidFill>
                  </a:rPr>
                  <a:t>Answer: </a:t>
                </a:r>
                <a14:m>
                  <m:oMath xmlns:m="http://schemas.openxmlformats.org/officeDocument/2006/math">
                    <m:r>
                      <a:rPr lang="en-GB" sz="2400" b="1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(</m:t>
                    </m:r>
                    <m:r>
                      <a:rPr lang="en-GB" sz="2400" b="1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𝒙</m:t>
                    </m:r>
                    <m:r>
                      <a:rPr lang="en-GB" sz="2400" b="1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+</m:t>
                    </m:r>
                    <m:r>
                      <a:rPr lang="en-GB" sz="2400" b="1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𝟓</m:t>
                    </m:r>
                    <m:r>
                      <a:rPr lang="en-GB" sz="2400" b="1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)(</m:t>
                    </m:r>
                    <m:r>
                      <a:rPr lang="en-GB" sz="2400" b="1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𝒙</m:t>
                    </m:r>
                    <m:r>
                      <a:rPr lang="en-GB" sz="2400" b="1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+</m:t>
                    </m:r>
                    <m:r>
                      <a:rPr lang="en-GB" sz="2400" b="1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𝟒</m:t>
                    </m:r>
                    <m:r>
                      <a:rPr lang="en-GB" sz="2400" b="1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)</m:t>
                    </m:r>
                  </m:oMath>
                </a14:m>
                <a:endParaRPr lang="en-GB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2313" y="6304302"/>
                <a:ext cx="3937511" cy="461665"/>
              </a:xfrm>
              <a:prstGeom prst="rect">
                <a:avLst/>
              </a:prstGeom>
              <a:blipFill rotWithShape="0">
                <a:blip r:embed="rId5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696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 animBg="1"/>
      <p:bldP spid="15" grpId="0"/>
      <p:bldP spid="16" grpId="0"/>
      <p:bldP spid="1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7085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475656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48327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Expanding Binomial Expressions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314" y="1091239"/>
            <a:ext cx="88171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techniques can I use to expand expressions with brackets and how do I factorise binomial and </a:t>
            </a:r>
            <a:r>
              <a:rPr lang="en-AU" sz="2400"/>
              <a:t>quadratic equations? 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itle 1"/>
              <p:cNvSpPr txBox="1">
                <a:spLocks/>
              </p:cNvSpPr>
              <p:nvPr/>
            </p:nvSpPr>
            <p:spPr>
              <a:xfrm>
                <a:off x="793751" y="1975484"/>
                <a:ext cx="8229600" cy="1143000"/>
              </a:xfrm>
              <a:prstGeom prst="rect">
                <a:avLst/>
              </a:prstGeom>
            </p:spPr>
            <p:txBody>
              <a:bodyPr/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GB" sz="2400" dirty="0">
                    <a:latin typeface="+mn-lt"/>
                  </a:rPr>
                  <a:t>Factorise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 smtClean="0">
                            <a:latin typeface="Cambria Math" charset="0"/>
                          </a:rPr>
                          <m:t>𝑥</m:t>
                        </m:r>
                      </m:e>
                      <m:sup>
                        <m:r>
                          <a:rPr lang="en-GB" sz="2400" i="1" smtClean="0"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GB" sz="2400" i="1" smtClean="0">
                        <a:latin typeface="Cambria Math" charset="0"/>
                      </a:rPr>
                      <m:t>−10</m:t>
                    </m:r>
                    <m:r>
                      <a:rPr lang="en-GB" sz="2400" i="1" smtClean="0">
                        <a:latin typeface="Cambria Math" charset="0"/>
                      </a:rPr>
                      <m:t>𝑥</m:t>
                    </m:r>
                    <m:r>
                      <a:rPr lang="en-GB" sz="2400" i="1" smtClean="0">
                        <a:latin typeface="Cambria Math" charset="0"/>
                      </a:rPr>
                      <m:t>+16</m:t>
                    </m:r>
                  </m:oMath>
                </a14:m>
                <a:endParaRPr lang="en-GB" sz="2400" dirty="0">
                  <a:latin typeface="+mn-lt"/>
                </a:endParaRPr>
              </a:p>
            </p:txBody>
          </p:sp>
        </mc:Choice>
        <mc:Fallback xmlns="">
          <p:sp>
            <p:nvSpPr>
              <p:cNvPr id="10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751" y="1975484"/>
                <a:ext cx="8229600" cy="1143000"/>
              </a:xfrm>
              <a:prstGeom prst="rect">
                <a:avLst/>
              </a:prstGeom>
              <a:blipFill rotWithShape="0">
                <a:blip r:embed="rId2"/>
                <a:stretch>
                  <a:fillRect t="-31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/>
          <p:cNvSpPr txBox="1"/>
          <p:nvPr/>
        </p:nvSpPr>
        <p:spPr>
          <a:xfrm>
            <a:off x="1311402" y="2357129"/>
            <a:ext cx="370854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Pairs of numbers that multiply to make “+16”:</a:t>
            </a:r>
          </a:p>
          <a:p>
            <a:pPr algn="ctr"/>
            <a:r>
              <a:rPr lang="en-GB" sz="2400" dirty="0"/>
              <a:t>+1 and +16</a:t>
            </a:r>
          </a:p>
          <a:p>
            <a:pPr algn="ctr"/>
            <a:r>
              <a:rPr lang="en-GB" sz="2400" dirty="0"/>
              <a:t>-1 and -16</a:t>
            </a:r>
          </a:p>
          <a:p>
            <a:pPr algn="ctr"/>
            <a:r>
              <a:rPr lang="en-GB" sz="2400" dirty="0"/>
              <a:t>+2 and +8</a:t>
            </a:r>
          </a:p>
          <a:p>
            <a:pPr algn="ctr"/>
            <a:r>
              <a:rPr lang="en-GB" sz="2400" dirty="0"/>
              <a:t>-2 and -8</a:t>
            </a:r>
          </a:p>
          <a:p>
            <a:pPr algn="ctr"/>
            <a:r>
              <a:rPr lang="en-GB" sz="2400" dirty="0"/>
              <a:t>+4 and +4</a:t>
            </a:r>
          </a:p>
          <a:p>
            <a:pPr algn="ctr"/>
            <a:r>
              <a:rPr lang="en-GB" sz="2400" dirty="0"/>
              <a:t>-4 and -4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9764" y="3381709"/>
            <a:ext cx="35155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i="1" dirty="0"/>
              <a:t>Which pair adds to make “-10”?</a:t>
            </a:r>
          </a:p>
        </p:txBody>
      </p:sp>
      <p:sp>
        <p:nvSpPr>
          <p:cNvPr id="28" name="Oval 27"/>
          <p:cNvSpPr/>
          <p:nvPr/>
        </p:nvSpPr>
        <p:spPr>
          <a:xfrm>
            <a:off x="2157562" y="4172605"/>
            <a:ext cx="2016224" cy="51069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981578" y="5895906"/>
                <a:ext cx="7488832" cy="470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400" i="1" dirty="0"/>
                  <a:t>Can you now factorise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0" i="1" smtClean="0">
                            <a:latin typeface="Cambria Math" charset="0"/>
                          </a:rPr>
                          <m:t>𝑥</m:t>
                        </m:r>
                      </m:e>
                      <m:sup>
                        <m:r>
                          <a:rPr lang="en-GB" sz="2400" b="0" i="1" smtClean="0"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GB" sz="2400" b="0" i="1" smtClean="0">
                        <a:latin typeface="Cambria Math" charset="0"/>
                      </a:rPr>
                      <m:t>−7</m:t>
                    </m:r>
                    <m:r>
                      <a:rPr lang="en-GB" sz="2400" b="0" i="1" smtClean="0">
                        <a:latin typeface="Cambria Math" charset="0"/>
                      </a:rPr>
                      <m:t>𝑥</m:t>
                    </m:r>
                    <m:r>
                      <a:rPr lang="en-GB" sz="2400" b="0" i="1" smtClean="0">
                        <a:latin typeface="Cambria Math" charset="0"/>
                      </a:rPr>
                      <m:t>+6?</m:t>
                    </m:r>
                  </m:oMath>
                </a14:m>
                <a:endParaRPr lang="en-GB" sz="2400" i="1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578" y="5895906"/>
                <a:ext cx="7488832" cy="470000"/>
              </a:xfrm>
              <a:prstGeom prst="rect">
                <a:avLst/>
              </a:prstGeom>
              <a:blipFill rotWithShape="0">
                <a:blip r:embed="rId3"/>
                <a:stretch>
                  <a:fillRect t="-10390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2658365" y="5388526"/>
                <a:ext cx="450036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400" b="1" dirty="0">
                    <a:solidFill>
                      <a:srgbClr val="002060"/>
                    </a:solidFill>
                  </a:rPr>
                  <a:t>Answer: </a:t>
                </a:r>
                <a14:m>
                  <m:oMath xmlns:m="http://schemas.openxmlformats.org/officeDocument/2006/math">
                    <m:r>
                      <a:rPr lang="en-GB" sz="24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(</m:t>
                    </m:r>
                    <m:r>
                      <a:rPr lang="en-GB" sz="24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𝒙</m:t>
                    </m:r>
                    <m:r>
                      <a:rPr lang="en-GB" sz="24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−</m:t>
                    </m:r>
                    <m:r>
                      <a:rPr lang="en-GB" sz="24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𝟐</m:t>
                    </m:r>
                    <m:r>
                      <a:rPr lang="en-GB" sz="24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)(</m:t>
                    </m:r>
                    <m:r>
                      <a:rPr lang="en-GB" sz="24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𝒙</m:t>
                    </m:r>
                    <m:r>
                      <a:rPr lang="en-GB" sz="24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−</m:t>
                    </m:r>
                    <m:r>
                      <a:rPr lang="en-GB" sz="24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𝟖</m:t>
                    </m:r>
                    <m:r>
                      <a:rPr lang="en-GB" sz="24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)</m:t>
                    </m:r>
                  </m:oMath>
                </a14:m>
                <a:endParaRPr lang="en-GB" sz="24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8365" y="5388526"/>
                <a:ext cx="4500369" cy="461665"/>
              </a:xfrm>
              <a:prstGeom prst="rect">
                <a:avLst/>
              </a:prstGeom>
              <a:blipFill rotWithShape="0">
                <a:blip r:embed="rId4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2820318" y="6365906"/>
                <a:ext cx="417646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400" b="1" dirty="0">
                    <a:solidFill>
                      <a:srgbClr val="FF0000"/>
                    </a:solidFill>
                  </a:rPr>
                  <a:t>Answer: </a:t>
                </a:r>
                <a14:m>
                  <m:oMath xmlns:m="http://schemas.openxmlformats.org/officeDocument/2006/math">
                    <m:r>
                      <a:rPr lang="en-GB" sz="2400" b="1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(</m:t>
                    </m:r>
                    <m:r>
                      <a:rPr lang="en-GB" sz="2400" b="1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𝒙</m:t>
                    </m:r>
                    <m:r>
                      <a:rPr lang="en-GB" sz="2400" b="1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−</m:t>
                    </m:r>
                    <m:r>
                      <a:rPr lang="en-GB" sz="2400" b="1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𝟏</m:t>
                    </m:r>
                    <m:r>
                      <a:rPr lang="en-GB" sz="2400" b="1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)(</m:t>
                    </m:r>
                    <m:r>
                      <a:rPr lang="en-GB" sz="2400" b="1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𝒙</m:t>
                    </m:r>
                    <m:r>
                      <a:rPr lang="en-GB" sz="2400" b="1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−</m:t>
                    </m:r>
                    <m:r>
                      <a:rPr lang="en-GB" sz="2400" b="1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𝟔</m:t>
                    </m:r>
                    <m:r>
                      <a:rPr lang="en-GB" sz="2400" b="1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)</m:t>
                    </m:r>
                  </m:oMath>
                </a14:m>
                <a:endParaRPr lang="en-GB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0318" y="6365906"/>
                <a:ext cx="4176464" cy="461665"/>
              </a:xfrm>
              <a:prstGeom prst="rect">
                <a:avLst/>
              </a:prstGeom>
              <a:blipFill rotWithShape="0">
                <a:blip r:embed="rId5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0483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 animBg="1"/>
      <p:bldP spid="29" grpId="0"/>
      <p:bldP spid="30" grpId="0"/>
      <p:bldP spid="3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Factorising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On your whiteboards, factorise the following quadratic equations: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835696" y="3369186"/>
                <a:ext cx="4392488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sz="4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4000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sz="4000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4000" dirty="0"/>
                  <a:t> + 6</a:t>
                </a:r>
                <a14:m>
                  <m:oMath xmlns:m="http://schemas.openxmlformats.org/officeDocument/2006/math">
                    <m:r>
                      <a:rPr lang="en-GB" sz="4000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sz="4000" dirty="0"/>
                  <a:t> + 9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5696" y="3369186"/>
                <a:ext cx="4392488" cy="707886"/>
              </a:xfrm>
              <a:prstGeom prst="rect">
                <a:avLst/>
              </a:prstGeom>
              <a:blipFill rotWithShape="0">
                <a:blip r:embed="rId3"/>
                <a:stretch>
                  <a:fillRect t="-14655" b="-370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707904" y="2708538"/>
                <a:ext cx="4392488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sz="4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4000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sz="4000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4000" dirty="0"/>
                  <a:t> + 12</a:t>
                </a:r>
                <a14:m>
                  <m:oMath xmlns:m="http://schemas.openxmlformats.org/officeDocument/2006/math">
                    <m:r>
                      <a:rPr lang="en-GB" sz="4000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sz="4000" dirty="0"/>
                  <a:t> + 32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7904" y="2708538"/>
                <a:ext cx="4392488" cy="707886"/>
              </a:xfrm>
              <a:prstGeom prst="rect">
                <a:avLst/>
              </a:prstGeom>
              <a:blipFill rotWithShape="0">
                <a:blip r:embed="rId4"/>
                <a:stretch>
                  <a:fillRect t="-14655" b="-370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347864" y="4737338"/>
                <a:ext cx="4392488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sz="4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4000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sz="4000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4000" dirty="0"/>
                  <a:t> + 6</a:t>
                </a:r>
                <a14:m>
                  <m:oMath xmlns:m="http://schemas.openxmlformats.org/officeDocument/2006/math">
                    <m:r>
                      <a:rPr lang="en-GB" sz="4000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sz="4000" dirty="0"/>
                  <a:t> – 27 = 0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7864" y="4737338"/>
                <a:ext cx="4392488" cy="707886"/>
              </a:xfrm>
              <a:prstGeom prst="rect">
                <a:avLst/>
              </a:prstGeom>
              <a:blipFill rotWithShape="1">
                <a:blip r:embed="rId5"/>
                <a:stretch>
                  <a:fillRect t="-14655" b="-3706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058402" y="3723129"/>
                <a:ext cx="4392488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sz="4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4000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sz="4000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4000" dirty="0"/>
                  <a:t> - 15</a:t>
                </a:r>
                <a14:m>
                  <m:oMath xmlns:m="http://schemas.openxmlformats.org/officeDocument/2006/math">
                    <m:r>
                      <a:rPr lang="en-GB" sz="4000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sz="4000" dirty="0"/>
                  <a:t> + 36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8402" y="3723129"/>
                <a:ext cx="4392488" cy="707886"/>
              </a:xfrm>
              <a:prstGeom prst="rect">
                <a:avLst/>
              </a:prstGeom>
              <a:blipFill rotWithShape="0">
                <a:blip r:embed="rId6"/>
                <a:stretch>
                  <a:fillRect t="-14655" b="-370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220072" y="4468769"/>
                <a:ext cx="4392488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sz="4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4000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sz="4000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4000" dirty="0"/>
                  <a:t>  - </a:t>
                </a:r>
                <a14:m>
                  <m:oMath xmlns:m="http://schemas.openxmlformats.org/officeDocument/2006/math">
                    <m:r>
                      <a:rPr lang="en-GB" sz="4000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sz="4000" dirty="0"/>
                  <a:t> – 30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0072" y="4468769"/>
                <a:ext cx="4392488" cy="707886"/>
              </a:xfrm>
              <a:prstGeom prst="rect">
                <a:avLst/>
              </a:prstGeom>
              <a:blipFill rotWithShape="0">
                <a:blip r:embed="rId7"/>
                <a:stretch>
                  <a:fillRect t="-14655" b="-370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67544" y="4114826"/>
                <a:ext cx="4392488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sz="4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4000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sz="4000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4000" dirty="0"/>
                  <a:t> - 7</a:t>
                </a:r>
                <a14:m>
                  <m:oMath xmlns:m="http://schemas.openxmlformats.org/officeDocument/2006/math">
                    <m:r>
                      <a:rPr lang="en-GB" sz="4000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sz="4000" dirty="0"/>
                  <a:t> – 44 = 0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4114826"/>
                <a:ext cx="4392488" cy="707886"/>
              </a:xfrm>
              <a:prstGeom prst="rect">
                <a:avLst/>
              </a:prstGeom>
              <a:blipFill rotWithShape="1">
                <a:blip r:embed="rId8"/>
                <a:stretch>
                  <a:fillRect t="-14655" b="-3706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723525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5" grpId="0"/>
      <p:bldP spid="5" grpId="1"/>
      <p:bldP spid="6" grpId="0"/>
      <p:bldP spid="6" grpId="1"/>
      <p:bldP spid="7" grpId="0"/>
      <p:bldP spid="7" grpId="1"/>
      <p:bldP spid="8" grpId="0"/>
      <p:bldP spid="8" grpId="1"/>
      <p:bldP spid="9" grpId="0"/>
      <p:bldP spid="9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34634" y="87216"/>
            <a:ext cx="8037766" cy="807913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r>
              <a:rPr lang="en-US" sz="4800" b="1">
                <a:ln w="10541" cmpd="sng">
                  <a:solidFill>
                    <a:srgbClr val="7030A0"/>
                  </a:solidFill>
                  <a:prstDash val="solid"/>
                </a:ln>
                <a:solidFill>
                  <a:srgbClr val="7030A0"/>
                </a:solidFill>
              </a:rPr>
              <a:t>On the LHS of your INB...</a:t>
            </a:r>
            <a:endParaRPr lang="en-US" sz="4800" b="1" dirty="0">
              <a:ln w="10541" cmpd="sng">
                <a:solidFill>
                  <a:srgbClr val="7030A0"/>
                </a:solidFill>
                <a:prstDash val="solid"/>
              </a:ln>
              <a:solidFill>
                <a:srgbClr val="7030A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34634" y="895130"/>
            <a:ext cx="839780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dirty="0"/>
              <a:t>(1)Factorise the following quadratic equations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7984" y="1494426"/>
            <a:ext cx="291336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dirty="0"/>
              <a:t>(a) x</a:t>
            </a:r>
            <a:r>
              <a:rPr lang="en-GB" sz="3000" baseline="30000" dirty="0"/>
              <a:t>2</a:t>
            </a:r>
            <a:r>
              <a:rPr lang="en-GB" sz="3000" dirty="0"/>
              <a:t> - 6x + 8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634" y="4355012"/>
            <a:ext cx="89033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dirty="0"/>
              <a:t>(2) I think of a number. I add 6 to it. I multiply the result by the original number and subtract 5. Write this down as a factorised 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2686" y="2093722"/>
            <a:ext cx="291336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dirty="0"/>
              <a:t>(b) x</a:t>
            </a:r>
            <a:r>
              <a:rPr lang="en-GB" sz="3000" baseline="30000" dirty="0"/>
              <a:t>2</a:t>
            </a:r>
            <a:r>
              <a:rPr lang="en-GB" sz="3000" dirty="0"/>
              <a:t> + x - 12 =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2686" y="2647720"/>
            <a:ext cx="291336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dirty="0"/>
              <a:t>(c) x</a:t>
            </a:r>
            <a:r>
              <a:rPr lang="en-GB" sz="3000" baseline="30000" dirty="0"/>
              <a:t>2</a:t>
            </a:r>
            <a:r>
              <a:rPr lang="en-GB" sz="3000" dirty="0"/>
              <a:t> - 7x - 30 =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2686" y="3201718"/>
            <a:ext cx="375149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dirty="0"/>
              <a:t>(d) 3x</a:t>
            </a:r>
            <a:r>
              <a:rPr lang="en-GB" sz="3000" baseline="30000" dirty="0"/>
              <a:t>2</a:t>
            </a:r>
            <a:r>
              <a:rPr lang="en-GB" sz="3000" dirty="0"/>
              <a:t> + 18x + 24 = 0</a:t>
            </a:r>
          </a:p>
        </p:txBody>
      </p:sp>
    </p:spTree>
    <p:extLst>
      <p:ext uri="{BB962C8B-B14F-4D97-AF65-F5344CB8AC3E}">
        <p14:creationId xmlns:p14="http://schemas.microsoft.com/office/powerpoint/2010/main" val="14465485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Notes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/>
              <a:t>24, 7 ,30</a:t>
            </a:r>
          </a:p>
          <a:p>
            <a:r>
              <a:rPr lang="en-AU" dirty="0"/>
              <a:t>Date</a:t>
            </a:r>
          </a:p>
          <a:p>
            <a:r>
              <a:rPr lang="en-AU" dirty="0"/>
              <a:t>Title</a:t>
            </a:r>
          </a:p>
          <a:p>
            <a:r>
              <a:rPr lang="en-AU" dirty="0"/>
              <a:t>Essential question</a:t>
            </a:r>
          </a:p>
          <a:p>
            <a:r>
              <a:rPr lang="en-AU" dirty="0"/>
              <a:t>Notes complete </a:t>
            </a:r>
          </a:p>
          <a:p>
            <a:r>
              <a:rPr lang="en-AU" dirty="0"/>
              <a:t>Notes complete with colour and diagrams</a:t>
            </a:r>
          </a:p>
          <a:p>
            <a:r>
              <a:rPr lang="en-AU" dirty="0"/>
              <a:t>Questions completed</a:t>
            </a:r>
          </a:p>
          <a:p>
            <a:r>
              <a:rPr lang="en-AU" dirty="0"/>
              <a:t>Contents page filled in</a:t>
            </a:r>
          </a:p>
          <a:p>
            <a:r>
              <a:rPr lang="en-AU" dirty="0"/>
              <a:t>Formula page filled in</a:t>
            </a:r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Review your notes and write a summary answering the essential question. </a:t>
            </a:r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ID" val="B4A29EC729234B338FF0CB31877515B2"/>
  <p:tag name="SLIDETYPE" val="Q"/>
  <p:tag name="DEMOGRAPHIC" val="False"/>
  <p:tag name="SPEEDSCORING" val="False"/>
  <p:tag name="VALUES" val="Incorrect¤Incorrect¤Correct¤Incorrect"/>
  <p:tag name="SLIDEORDER" val="5"/>
  <p:tag name="SLIDEGUID" val="58AEEDC1616543EF88B5E58F9747618A"/>
  <p:tag name="QUESTIONALIAS" val="Which statement demonstrates the distributive property incorrectly? "/>
  <p:tag name="ANSWERSALIAS" val="3(x + y + z) = 3x + 3y + 3z¤(a + b) c = ac + bc¤5(2 + 3x) = 10 + 3x¤6(3k - 4) = 18k - 24"/>
  <p:tag name="TOTALRESPONSES" val="22"/>
  <p:tag name="SLICED" val="False"/>
  <p:tag name="RESPONSES" val="COM12,1,32,2;3;-;3;3;3;3;2;4;3;-;3;-;3;-;-;3;3;3;3;-;-;3;-;-;3;3;3;-;1;3;3;"/>
  <p:tag name="CHARTSTRINGSTD" val="1&#9;2&#9;18&#9;1"/>
  <p:tag name="CHARTSTRINGREV" val="1&#9;18&#9;2&#9;1"/>
  <p:tag name="CHARTSTRINGSTDPER" val="0.0454545454545455&#9;0.0909090909090909&#9;0.818181818181818&#9;0.0454545454545455"/>
  <p:tag name="CHARTSTRINGREVPER" val="0.0454545454545455&#9;0.818181818181818&#9;0.0909090909090909&#9;0.0454545454545455"/>
  <p:tag name="RESPONSESGATHERED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LENGTH" val="91"/>
  <p:tag name="FONTSIZE" val="32"/>
  <p:tag name="BULLETTYPE" val="ppBulletArabicPeriod"/>
  <p:tag name="ANSWERTEXT" val="3(x + y + z) = 3x + 3y + 3z&#13;&#10;(a + b) c = ac + bc&#13;&#10;5(2 + 3x) = 10 + 3x&#13;&#10;6(3k - 4) = 18k - 2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4844</TotalTime>
  <Words>1066</Words>
  <Application>Microsoft Macintosh PowerPoint</Application>
  <PresentationFormat>On-screen Show (4:3)</PresentationFormat>
  <Paragraphs>222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Cambria Math</vt:lpstr>
      <vt:lpstr>Office Theme</vt:lpstr>
      <vt:lpstr>My Algebra - Quadratics Interactive Notebook</vt:lpstr>
      <vt:lpstr>PowerPoint Presentation</vt:lpstr>
      <vt:lpstr>Which statement demonstrates the distributive property incorrectly? </vt:lpstr>
      <vt:lpstr>PowerPoint Presentation</vt:lpstr>
      <vt:lpstr>PowerPoint Presentation</vt:lpstr>
      <vt:lpstr>Expand these brackets:</vt:lpstr>
      <vt:lpstr>Now try these: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Factorising Method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SUMMERS Brad [Baldivis Secondary College]</cp:lastModifiedBy>
  <cp:revision>121</cp:revision>
  <dcterms:created xsi:type="dcterms:W3CDTF">2014-05-14T02:58:57Z</dcterms:created>
  <dcterms:modified xsi:type="dcterms:W3CDTF">2020-03-01T12:15:11Z</dcterms:modified>
</cp:coreProperties>
</file>
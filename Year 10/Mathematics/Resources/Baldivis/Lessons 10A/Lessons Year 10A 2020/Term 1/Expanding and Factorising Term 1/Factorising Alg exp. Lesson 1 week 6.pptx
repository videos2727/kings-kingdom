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68" r:id="rId2"/>
    <p:sldId id="270" r:id="rId3"/>
    <p:sldId id="257" r:id="rId4"/>
    <p:sldId id="264" r:id="rId5"/>
    <p:sldId id="269" r:id="rId6"/>
    <p:sldId id="267" r:id="rId7"/>
    <p:sldId id="266" r:id="rId8"/>
    <p:sldId id="262" r:id="rId9"/>
    <p:sldId id="271" r:id="rId10"/>
    <p:sldId id="272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92"/>
  </p:normalViewPr>
  <p:slideViewPr>
    <p:cSldViewPr>
      <p:cViewPr varScale="1">
        <p:scale>
          <a:sx n="110" d="100"/>
          <a:sy n="110" d="100"/>
        </p:scale>
        <p:origin x="16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9/3/20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646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79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23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8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8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4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9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0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01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06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44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45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9/3/20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084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Factorising</a:t>
            </a:r>
            <a:r>
              <a:rPr lang="en-US" dirty="0"/>
              <a:t> with a common term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172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1152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Factorise the following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1268760"/>
            <a:ext cx="799288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6de – 18hd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-42d</a:t>
            </a:r>
            <a:r>
              <a:rPr lang="en-AU" sz="2000" baseline="30000" dirty="0"/>
              <a:t>2</a:t>
            </a:r>
            <a:r>
              <a:rPr lang="en-AU" sz="2000" dirty="0"/>
              <a:t>mg + 72mdg</a:t>
            </a:r>
            <a:r>
              <a:rPr lang="en-AU" sz="2000" baseline="30000" dirty="0"/>
              <a:t>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4kp + 36k</a:t>
            </a:r>
            <a:r>
              <a:rPr lang="en-AU" sz="2000" baseline="30000" dirty="0"/>
              <a:t>2</a:t>
            </a:r>
            <a:r>
              <a:rPr lang="en-AU" sz="2000" dirty="0"/>
              <a:t> -60kx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aseline="30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" dirty="0"/>
              <a:t>77b</a:t>
            </a:r>
            <a:r>
              <a:rPr lang="pt" baseline="30000" dirty="0"/>
              <a:t>6</a:t>
            </a:r>
            <a:r>
              <a:rPr lang="pt" dirty="0"/>
              <a:t>e</a:t>
            </a:r>
            <a:r>
              <a:rPr lang="pt" baseline="30000" dirty="0"/>
              <a:t>2</a:t>
            </a:r>
            <a:r>
              <a:rPr lang="pt" dirty="0"/>
              <a:t>h</a:t>
            </a:r>
            <a:r>
              <a:rPr lang="pt" baseline="30000" dirty="0"/>
              <a:t>3</a:t>
            </a:r>
            <a:r>
              <a:rPr lang="pt" dirty="0"/>
              <a:t> + 70be</a:t>
            </a:r>
            <a:r>
              <a:rPr lang="pt" baseline="30000" dirty="0"/>
              <a:t>4</a:t>
            </a:r>
            <a:r>
              <a:rPr lang="pt" dirty="0"/>
              <a:t>h</a:t>
            </a:r>
            <a:r>
              <a:rPr lang="pt" baseline="30000" dirty="0"/>
              <a:t>5</a:t>
            </a:r>
            <a:r>
              <a:rPr lang="pt" dirty="0"/>
              <a:t> -105b</a:t>
            </a:r>
            <a:r>
              <a:rPr lang="pt" baseline="30000" dirty="0"/>
              <a:t>6</a:t>
            </a:r>
            <a:r>
              <a:rPr lang="pt" dirty="0"/>
              <a:t>e</a:t>
            </a:r>
            <a:r>
              <a:rPr lang="pt" baseline="30000" dirty="0"/>
              <a:t>2</a:t>
            </a:r>
            <a:r>
              <a:rPr lang="pt" dirty="0"/>
              <a:t>h</a:t>
            </a:r>
            <a:r>
              <a:rPr lang="pt" baseline="30000" dirty="0"/>
              <a:t>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" dirty="0"/>
              <a:t> </a:t>
            </a:r>
            <a:endParaRPr lang="pt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/>
              <a:t>27kh</a:t>
            </a:r>
            <a:r>
              <a:rPr lang="en-AU" sz="2000" baseline="30000" dirty="0"/>
              <a:t>4</a:t>
            </a:r>
            <a:r>
              <a:rPr lang="en-AU" sz="2000" dirty="0"/>
              <a:t>d</a:t>
            </a:r>
            <a:r>
              <a:rPr lang="en-AU" sz="2000" baseline="30000" dirty="0"/>
              <a:t>2</a:t>
            </a:r>
            <a:r>
              <a:rPr lang="en-AU" sz="2000" dirty="0"/>
              <a:t> + 72ad</a:t>
            </a:r>
            <a:r>
              <a:rPr lang="en-AU" sz="2000" baseline="30000" dirty="0"/>
              <a:t>2</a:t>
            </a:r>
            <a:r>
              <a:rPr lang="en-AU" sz="2000" dirty="0"/>
              <a:t>h</a:t>
            </a:r>
            <a:r>
              <a:rPr lang="en-AU" sz="2000" baseline="30000" dirty="0"/>
              <a:t>3</a:t>
            </a:r>
            <a:r>
              <a:rPr lang="en-AU" sz="2000" dirty="0"/>
              <a:t> – 36g</a:t>
            </a:r>
            <a:r>
              <a:rPr lang="en-AU" sz="2000" baseline="30000" dirty="0"/>
              <a:t>3</a:t>
            </a:r>
            <a:r>
              <a:rPr lang="en-AU" sz="2000" dirty="0"/>
              <a:t>h</a:t>
            </a:r>
            <a:r>
              <a:rPr lang="en-AU" sz="2000" baseline="30000" dirty="0"/>
              <a:t>7</a:t>
            </a:r>
            <a:r>
              <a:rPr lang="en-AU" sz="2000" dirty="0"/>
              <a:t>d</a:t>
            </a:r>
            <a:r>
              <a:rPr lang="en-AU" sz="2000" baseline="30000" dirty="0"/>
              <a:t>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/>
          </a:p>
          <a:p>
            <a:endParaRPr lang="en-AU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1935368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Identify common terms in binomials, and use these to factorise expressions. 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Common terms in binomials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use common terms in binomials to solve problems?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18414" y="1988484"/>
            <a:ext cx="62918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AU" dirty="0"/>
              <a:t>A </a:t>
            </a:r>
            <a:r>
              <a:rPr lang="en-AU" b="1" dirty="0"/>
              <a:t>binomial</a:t>
            </a:r>
            <a:r>
              <a:rPr lang="en-AU" dirty="0"/>
              <a:t> is an expression with two terms. 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/>
              <a:t>When and expression has a common term, we can use it to simplify our working. </a:t>
            </a:r>
          </a:p>
          <a:p>
            <a:pPr marL="285750" indent="-285750">
              <a:buFont typeface="Arial" charset="0"/>
              <a:buChar char="•"/>
            </a:pPr>
            <a:r>
              <a:rPr lang="en-AU" dirty="0"/>
              <a:t>For example: </a:t>
            </a:r>
          </a:p>
          <a:p>
            <a:r>
              <a:rPr lang="en-AU" i="1" dirty="0"/>
              <a:t>7(x+4) + 12(x+4) </a:t>
            </a:r>
            <a:r>
              <a:rPr lang="en-AU" dirty="0"/>
              <a:t>has a common term of </a:t>
            </a:r>
            <a:r>
              <a:rPr lang="en-AU" i="1" dirty="0"/>
              <a:t>(x+4)</a:t>
            </a:r>
          </a:p>
          <a:p>
            <a:r>
              <a:rPr lang="en-AU" dirty="0"/>
              <a:t>Because this is a common term, both 7 and 12 are being distributed into these.</a:t>
            </a:r>
          </a:p>
          <a:p>
            <a:r>
              <a:rPr lang="en-AU" dirty="0"/>
              <a:t>To solve this, we put the common term first</a:t>
            </a:r>
          </a:p>
          <a:p>
            <a:r>
              <a:rPr lang="en-AU" dirty="0"/>
              <a:t>(x+4), then the two coefficients in a separate set of brackets (7+12), then write it as below;</a:t>
            </a:r>
          </a:p>
          <a:p>
            <a:r>
              <a:rPr lang="en-AU" dirty="0"/>
              <a:t>(x+4)(7+12)</a:t>
            </a:r>
          </a:p>
          <a:p>
            <a:r>
              <a:rPr lang="en-A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051720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15616" y="404664"/>
            <a:ext cx="433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Common terms in binomials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use common terms in binomials to solve problems?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0366" y="1977140"/>
            <a:ext cx="629186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does this work?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Lets look at a more in depth example:</a:t>
            </a:r>
          </a:p>
          <a:p>
            <a:r>
              <a:rPr lang="en-AU" dirty="0"/>
              <a:t> </a:t>
            </a:r>
          </a:p>
          <a:p>
            <a:r>
              <a:rPr lang="en-AU" dirty="0"/>
              <a:t> 7x(2x+4) + 2y(2x+4) – same as before, common term at the front</a:t>
            </a:r>
          </a:p>
          <a:p>
            <a:r>
              <a:rPr lang="en-AU" dirty="0"/>
              <a:t>(2x+4) then the left overs second (7x+2y), write together;</a:t>
            </a:r>
          </a:p>
          <a:p>
            <a:r>
              <a:rPr lang="en-AU" dirty="0"/>
              <a:t>(2x+4)(7x+2y)</a:t>
            </a:r>
          </a:p>
          <a:p>
            <a:endParaRPr lang="en-AU" dirty="0"/>
          </a:p>
          <a:p>
            <a:r>
              <a:rPr lang="en-AU" dirty="0"/>
              <a:t>Because of the common term, and that each of the front coefficients multiply the common term, we can simplify as above. </a:t>
            </a:r>
          </a:p>
          <a:p>
            <a:endParaRPr lang="en-AU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66" y="2284972"/>
            <a:ext cx="6546762" cy="10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9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961179"/>
            <a:ext cx="7632700" cy="939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114" y="1900979"/>
            <a:ext cx="79928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1: </a:t>
            </a:r>
            <a:r>
              <a:rPr lang="en-US" b="1" dirty="0"/>
              <a:t>2(x+3) + y(x+3)</a:t>
            </a:r>
          </a:p>
          <a:p>
            <a:r>
              <a:rPr lang="en-US" i="1" dirty="0"/>
              <a:t>Put common term first </a:t>
            </a:r>
            <a:r>
              <a:rPr lang="en-US" dirty="0"/>
              <a:t>– (x+3)(_ _ _)</a:t>
            </a:r>
          </a:p>
          <a:p>
            <a:r>
              <a:rPr lang="en-US" i="1" dirty="0"/>
              <a:t>Fill in the blanks- </a:t>
            </a:r>
            <a:r>
              <a:rPr lang="en-US" dirty="0"/>
              <a:t>(x+3)(2 _ y)</a:t>
            </a:r>
          </a:p>
          <a:p>
            <a:r>
              <a:rPr lang="en-US" i="1" dirty="0"/>
              <a:t>Finally, the second operator is taken from in front of the 3, leaving us with the finished expression; </a:t>
            </a:r>
            <a:r>
              <a:rPr lang="en-US" b="1" dirty="0"/>
              <a:t>(x+3)(2+y)</a:t>
            </a:r>
            <a:r>
              <a:rPr lang="en-US" b="1" i="1" dirty="0"/>
              <a:t> </a:t>
            </a:r>
          </a:p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2: </a:t>
            </a:r>
            <a:r>
              <a:rPr lang="en-US" b="1" dirty="0"/>
              <a:t>a(x+5) - 3(x+5</a:t>
            </a:r>
            <a:r>
              <a:rPr lang="en-US" dirty="0"/>
              <a:t>) – </a:t>
            </a:r>
            <a:r>
              <a:rPr lang="en-US" i="1" dirty="0"/>
              <a:t>identify common term </a:t>
            </a:r>
            <a:r>
              <a:rPr lang="en-US" dirty="0"/>
              <a:t>– (x+5)</a:t>
            </a:r>
          </a:p>
          <a:p>
            <a:r>
              <a:rPr lang="en-US" i="1" dirty="0"/>
              <a:t>Put common term first </a:t>
            </a:r>
            <a:r>
              <a:rPr lang="en-US" dirty="0"/>
              <a:t>– (x+5)(_ _ _)</a:t>
            </a:r>
          </a:p>
          <a:p>
            <a:r>
              <a:rPr lang="en-US" i="1" dirty="0"/>
              <a:t>Fill in the blanks- </a:t>
            </a:r>
            <a:r>
              <a:rPr lang="en-US" dirty="0"/>
              <a:t>(x+5)(a _ 3)</a:t>
            </a:r>
          </a:p>
          <a:p>
            <a:r>
              <a:rPr lang="en-US" i="1" dirty="0"/>
              <a:t>Finally, the second operator is taken from in front of the 3, leaving us with the finished expression; </a:t>
            </a:r>
            <a:r>
              <a:rPr lang="en-US" b="1" dirty="0"/>
              <a:t>(x+5)(a-3)</a:t>
            </a:r>
            <a:r>
              <a:rPr lang="en-US" b="1" i="1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5" y="2348880"/>
            <a:ext cx="8872414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1" y="2210139"/>
            <a:ext cx="4737100" cy="264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100" y="2223087"/>
            <a:ext cx="4787900" cy="2654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491" y="1840807"/>
            <a:ext cx="4074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Factorise</a:t>
            </a:r>
            <a:r>
              <a:rPr lang="en-US" dirty="0"/>
              <a:t> by removing the common term.</a:t>
            </a:r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541F-06DC-AB47-8042-C59855B0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Factorising by 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D42F9-B0F0-804B-A97F-D8F0B3597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490" y="1848409"/>
            <a:ext cx="6571343" cy="3450613"/>
          </a:xfrm>
        </p:spPr>
        <p:txBody>
          <a:bodyPr/>
          <a:lstStyle/>
          <a:p>
            <a:r>
              <a:rPr lang="en-AU" dirty="0"/>
              <a:t>At times, our equations will not have a like term between them. </a:t>
            </a:r>
          </a:p>
          <a:p>
            <a:r>
              <a:rPr lang="en-AU" dirty="0"/>
              <a:t>If we factorise pairs of terms, we can begin to see if there is a like term in our set.</a:t>
            </a:r>
          </a:p>
          <a:p>
            <a:r>
              <a:rPr lang="en-AU" dirty="0"/>
              <a:t>Practise factorising the first and second term in the below set, then the third and fourth to see if they do share a like term.  </a:t>
            </a:r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0AB0A6-40C6-8B43-95B2-A398E35CD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571300"/>
            <a:ext cx="8331102" cy="149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48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BD77-4994-7842-9DDF-96D7BEBEF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Rearranging to factorise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3FCD-9229-B047-95C1-9FD04AD63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At times, we will need to rearrange an equation to find a like term. </a:t>
            </a:r>
          </a:p>
          <a:p>
            <a:r>
              <a:rPr lang="en-AU" dirty="0"/>
              <a:t>To do this, look at Coefficients </a:t>
            </a:r>
            <a:r>
              <a:rPr lang="en-AU" u="sng" dirty="0"/>
              <a:t>OR</a:t>
            </a:r>
            <a:r>
              <a:rPr lang="en-AU" dirty="0"/>
              <a:t> Variables. </a:t>
            </a:r>
          </a:p>
          <a:p>
            <a:r>
              <a:rPr lang="en-AU" dirty="0"/>
              <a:t>Remember- the operator in front of the term does not change. </a:t>
            </a:r>
          </a:p>
          <a:p>
            <a:r>
              <a:rPr lang="en-AU" dirty="0"/>
              <a:t>Lets look at an example: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5314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A838-601F-7E47-83FE-FE8AC519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EXAMPLE: Rearranging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4EC29-BFEE-CF40-B698-BEBEB2E3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1216235"/>
            <a:ext cx="6572250" cy="127503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D7707-AF41-154A-9B05-E7A6D3242C83}"/>
              </a:ext>
            </a:extLst>
          </p:cNvPr>
          <p:cNvSpPr txBox="1"/>
          <p:nvPr/>
        </p:nvSpPr>
        <p:spPr>
          <a:xfrm>
            <a:off x="1285875" y="2658567"/>
            <a:ext cx="75884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Looking at the variables, “</a:t>
            </a:r>
            <a:r>
              <a:rPr lang="en-AU" dirty="0" err="1"/>
              <a:t>ax</a:t>
            </a:r>
            <a:r>
              <a:rPr lang="en-AU" dirty="0"/>
              <a:t>” and “2a” share “a”, so rearrange the first two terms to read as “ax-2a”. </a:t>
            </a:r>
          </a:p>
          <a:p>
            <a:endParaRPr lang="en-AU" dirty="0"/>
          </a:p>
          <a:p>
            <a:r>
              <a:rPr lang="en-AU" dirty="0"/>
              <a:t>Factorising this leave us with </a:t>
            </a:r>
            <a:r>
              <a:rPr lang="en-AU" b="1" dirty="0"/>
              <a:t>a(x-2).</a:t>
            </a:r>
          </a:p>
          <a:p>
            <a:endParaRPr lang="en-AU" dirty="0"/>
          </a:p>
          <a:p>
            <a:r>
              <a:rPr lang="en-AU" dirty="0"/>
              <a:t>-10 +5x also share a factor of 5. If we remove this, we are left with </a:t>
            </a:r>
            <a:r>
              <a:rPr lang="en-AU" b="1" dirty="0"/>
              <a:t>5(-2+x)…</a:t>
            </a:r>
          </a:p>
          <a:p>
            <a:r>
              <a:rPr lang="en-AU" b="1" dirty="0"/>
              <a:t>Nope. </a:t>
            </a:r>
          </a:p>
          <a:p>
            <a:endParaRPr lang="en-AU" b="1" dirty="0"/>
          </a:p>
          <a:p>
            <a:r>
              <a:rPr lang="en-AU" dirty="0"/>
              <a:t>Lets rearrange them to +5x -10 – this becomes </a:t>
            </a:r>
            <a:r>
              <a:rPr lang="en-AU" b="1" dirty="0"/>
              <a:t>5(x-2).</a:t>
            </a:r>
          </a:p>
          <a:p>
            <a:endParaRPr lang="en-AU" b="1" dirty="0"/>
          </a:p>
          <a:p>
            <a:r>
              <a:rPr lang="en-AU" b="1" dirty="0"/>
              <a:t>Now we have a(x-2)+5(x-2) – </a:t>
            </a:r>
            <a:r>
              <a:rPr lang="en-AU" dirty="0"/>
              <a:t>I see a like term. </a:t>
            </a:r>
          </a:p>
          <a:p>
            <a:r>
              <a:rPr lang="en-AU" b="1" dirty="0"/>
              <a:t>Factorise it out to become (x-2)(a+5) </a:t>
            </a:r>
            <a:r>
              <a:rPr lang="en-AU" b="1" dirty="0">
                <a:sym typeface="Wingdings" pitchFamily="2" charset="2"/>
              </a:rPr>
              <a:t>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0051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slide skeleton" id="{B001B13B-E41C-C744-A4CE-2C73AFCAA955}" vid="{B5F7E36D-56E0-5044-BB5A-F94EC2D08E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Lesson slide skeleton</Template>
  <TotalTime>4306</TotalTime>
  <Words>717</Words>
  <Application>Microsoft Macintosh PowerPoint</Application>
  <PresentationFormat>On-screen Show (4:3)</PresentationFormat>
  <Paragraphs>101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Gallery</vt:lpstr>
      <vt:lpstr>Factorising with a common term</vt:lpstr>
      <vt:lpstr>PowerPoint Presentation</vt:lpstr>
      <vt:lpstr>Lesson objective</vt:lpstr>
      <vt:lpstr>PowerPoint Presentation</vt:lpstr>
      <vt:lpstr>PowerPoint Presentation</vt:lpstr>
      <vt:lpstr>PowerPoint Presentation</vt:lpstr>
      <vt:lpstr>PowerPoint Presentation</vt:lpstr>
      <vt:lpstr>Activity</vt:lpstr>
      <vt:lpstr>Factorising by Grouping</vt:lpstr>
      <vt:lpstr>Rearranging to factorise</vt:lpstr>
      <vt:lpstr>EXAMPLE: Rearranging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Factorising with a common term</dc:title>
  <dc:creator>Travis Power</dc:creator>
  <cp:lastModifiedBy>SUMMERS Brad [Baldivis Secondary College]</cp:lastModifiedBy>
  <cp:revision>18</cp:revision>
  <dcterms:created xsi:type="dcterms:W3CDTF">2018-02-01T02:08:44Z</dcterms:created>
  <dcterms:modified xsi:type="dcterms:W3CDTF">2020-03-09T00:55:32Z</dcterms:modified>
</cp:coreProperties>
</file>
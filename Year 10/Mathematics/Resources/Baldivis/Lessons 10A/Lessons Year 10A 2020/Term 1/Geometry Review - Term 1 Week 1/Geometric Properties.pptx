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9" r:id="rId2"/>
    <p:sldId id="390" r:id="rId3"/>
    <p:sldId id="391" r:id="rId4"/>
    <p:sldId id="272" r:id="rId5"/>
    <p:sldId id="274" r:id="rId6"/>
    <p:sldId id="257" r:id="rId7"/>
    <p:sldId id="258" r:id="rId8"/>
    <p:sldId id="392" r:id="rId9"/>
    <p:sldId id="39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2/5/20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  <a:highlight>
                  <a:srgbClr val="FF0000"/>
                </a:highlight>
              </a:rPr>
              <a:t>Starter </a:t>
            </a:r>
            <a:r>
              <a:rPr lang="mr-IN" sz="4000" b="1" dirty="0">
                <a:solidFill>
                  <a:schemeClr val="bg2"/>
                </a:solidFill>
                <a:highlight>
                  <a:srgbClr val="FF0000"/>
                </a:highlight>
              </a:rPr>
              <a:t>–</a:t>
            </a:r>
            <a:r>
              <a:rPr lang="en-US" sz="4000" b="1" dirty="0">
                <a:solidFill>
                  <a:schemeClr val="bg2"/>
                </a:solidFill>
                <a:highlight>
                  <a:srgbClr val="FF0000"/>
                </a:highlight>
              </a:rPr>
              <a:t> Daily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D39989-AE8F-9D4B-A659-01CC69830142}"/>
                  </a:ext>
                </a:extLst>
              </p:cNvPr>
              <p:cNvSpPr txBox="1"/>
              <p:nvPr/>
            </p:nvSpPr>
            <p:spPr>
              <a:xfrm>
                <a:off x="252248" y="1964353"/>
                <a:ext cx="1122927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1. Name 3 different types of triangles</a:t>
                </a:r>
              </a:p>
              <a:p>
                <a:endParaRPr lang="en-US" sz="2400" dirty="0"/>
              </a:p>
              <a:p>
                <a:r>
                  <a:rPr lang="en-AU" sz="2400" dirty="0"/>
                  <a:t>2. A Heptagon has how many sides?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3.  Solve the following: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77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÷11+3</m:t>
                    </m:r>
                  </m:oMath>
                </a14:m>
                <a:r>
                  <a:rPr lang="en-US" sz="2400" baseline="30000" dirty="0"/>
                  <a:t>2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4. Solve the following: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(10÷2)</m:t>
                    </m:r>
                  </m:oMath>
                </a14:m>
                <a:r>
                  <a:rPr lang="en-US" sz="2400" baseline="30000" dirty="0"/>
                  <a:t>2</a:t>
                </a:r>
                <a:r>
                  <a:rPr lang="en-US" sz="2400" dirty="0"/>
                  <a:t> –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28 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 × 2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5. What is the difference between congruence and similarity?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D39989-AE8F-9D4B-A659-01CC69830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8" y="1964353"/>
                <a:ext cx="11229278" cy="3416320"/>
              </a:xfrm>
              <a:prstGeom prst="rect">
                <a:avLst/>
              </a:prstGeom>
              <a:blipFill>
                <a:blip r:embed="rId2"/>
                <a:stretch>
                  <a:fillRect l="-791" t="-1481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36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Geometric Properties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/>
              <a:t>EQ – Describe the properties of angles in parallel lines? </a:t>
            </a:r>
          </a:p>
        </p:txBody>
      </p:sp>
    </p:spTree>
    <p:extLst>
      <p:ext uri="{BB962C8B-B14F-4D97-AF65-F5344CB8AC3E}">
        <p14:creationId xmlns:p14="http://schemas.microsoft.com/office/powerpoint/2010/main" val="245263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angle properties</a:t>
            </a:r>
          </a:p>
          <a:p>
            <a:r>
              <a:rPr lang="en-US" dirty="0"/>
              <a:t>Solve problems involving angle properties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38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757" y="1129538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Geometric Properties</a:t>
            </a:r>
            <a:br>
              <a:rPr lang="en-US" sz="2800" dirty="0"/>
            </a:br>
            <a:r>
              <a:rPr lang="en-US" sz="2800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/>
              <a:t>Task: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Can you find the missing angles. Give a reason for your answer. </a:t>
            </a:r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73" y="2222551"/>
            <a:ext cx="4360201" cy="44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7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047965" y="9706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Geometric Properties</a:t>
            </a:r>
            <a:br>
              <a:rPr lang="en-US" sz="2800" dirty="0"/>
            </a:br>
            <a:r>
              <a:rPr lang="en-US" sz="2800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1463151" y="1831838"/>
            <a:ext cx="0" cy="48773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79" y="1927531"/>
            <a:ext cx="9263799" cy="381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61638" y="2357550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Parallel lines are two lines that do not cross.</a:t>
            </a:r>
          </a:p>
          <a:p>
            <a:pPr>
              <a:buFont typeface="Arial" charset="0"/>
              <a:buChar char="•"/>
            </a:pPr>
            <a:r>
              <a:rPr lang="en-AU" dirty="0"/>
              <a:t>The two lines are always equidistance from each other. </a:t>
            </a:r>
          </a:p>
          <a:p>
            <a:pPr>
              <a:buFont typeface="Arial" charset="0"/>
              <a:buChar char="•"/>
            </a:pPr>
            <a:r>
              <a:rPr lang="en-AU" dirty="0"/>
              <a:t>When the lines are intersected by a transversal line, the angle formed by this line is the same on both parallel lines. </a:t>
            </a:r>
          </a:p>
          <a:p>
            <a:pPr lvl="1">
              <a:buFont typeface="Arial" charset="0"/>
              <a:buChar char="•"/>
            </a:pPr>
            <a:r>
              <a:rPr lang="en-AU" dirty="0"/>
              <a:t>Example: </a:t>
            </a:r>
          </a:p>
          <a:p>
            <a:pPr>
              <a:buFont typeface="Arial" charset="0"/>
              <a:buChar char="•"/>
            </a:pP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72422" y="1895885"/>
            <a:ext cx="5672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can find missing angles in parallel lines?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068013" y="2466753"/>
            <a:ext cx="1" cy="4391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454" y="4211640"/>
            <a:ext cx="6413500" cy="22987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D96181A-E3B1-634E-93EF-1EFCF34CD94E}"/>
              </a:ext>
            </a:extLst>
          </p:cNvPr>
          <p:cNvSpPr txBox="1">
            <a:spLocks/>
          </p:cNvSpPr>
          <p:nvPr/>
        </p:nvSpPr>
        <p:spPr>
          <a:xfrm>
            <a:off x="1229492" y="773011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Geometric Properties</a:t>
            </a:r>
            <a:br>
              <a:rPr lang="en-US" dirty="0"/>
            </a:br>
            <a:r>
              <a:rPr lang="en-US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8644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02384" y="2535269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There are 4 relationships we deal with in parallel lines – </a:t>
            </a:r>
          </a:p>
          <a:p>
            <a:pPr>
              <a:buFont typeface="Arial" charset="0"/>
              <a:buChar char="•"/>
            </a:pPr>
            <a:r>
              <a:rPr lang="en-AU" dirty="0"/>
              <a:t>Corresponding : same position </a:t>
            </a:r>
          </a:p>
          <a:p>
            <a:pPr>
              <a:buFont typeface="Arial" charset="0"/>
              <a:buChar char="•"/>
            </a:pPr>
            <a:r>
              <a:rPr lang="en-AU" dirty="0"/>
              <a:t>Vertically Opposite: Two angles opposite each other</a:t>
            </a:r>
          </a:p>
          <a:p>
            <a:pPr>
              <a:buFont typeface="Arial" charset="0"/>
              <a:buChar char="•"/>
            </a:pPr>
            <a:r>
              <a:rPr lang="en-AU" dirty="0"/>
              <a:t>Co-interior: Two angles that at supplementary (add to 180</a:t>
            </a:r>
            <a:r>
              <a:rPr lang="en-AU" baseline="30000" dirty="0"/>
              <a:t>o</a:t>
            </a:r>
            <a:r>
              <a:rPr lang="en-AU" dirty="0"/>
              <a:t>)</a:t>
            </a:r>
          </a:p>
          <a:p>
            <a:pPr>
              <a:buFont typeface="Arial" charset="0"/>
              <a:buChar char="•"/>
            </a:pPr>
            <a:r>
              <a:rPr lang="en-AU" dirty="0"/>
              <a:t>Alternate: Two angles in the same position around a point.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475" y="2832041"/>
            <a:ext cx="3483016" cy="307702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BED3024-1390-7143-A805-BE1ADF2E2A4A}"/>
              </a:ext>
            </a:extLst>
          </p:cNvPr>
          <p:cNvSpPr txBox="1">
            <a:spLocks/>
          </p:cNvSpPr>
          <p:nvPr/>
        </p:nvSpPr>
        <p:spPr>
          <a:xfrm>
            <a:off x="1038106" y="94893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Geometric Properties</a:t>
            </a:r>
            <a:br>
              <a:rPr lang="en-US" dirty="0"/>
            </a:br>
            <a:r>
              <a:rPr lang="en-US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30137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BED3024-1390-7143-A805-BE1ADF2E2A4A}"/>
              </a:ext>
            </a:extLst>
          </p:cNvPr>
          <p:cNvSpPr txBox="1">
            <a:spLocks/>
          </p:cNvSpPr>
          <p:nvPr/>
        </p:nvSpPr>
        <p:spPr>
          <a:xfrm>
            <a:off x="1038106" y="94893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Geometric Properties</a:t>
            </a:r>
            <a:br>
              <a:rPr lang="en-US" dirty="0"/>
            </a:br>
            <a:r>
              <a:rPr lang="en-US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79CB7F7-1170-9B4D-BE5A-AC6D97BE5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7757" y="2449276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Parallel lines can also be used in congruency statements as proof of angle sizes; e.g.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09DF10-3D5C-6648-A9CA-D0900A429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566" y="3210592"/>
            <a:ext cx="5651500" cy="3225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03D48-A4BC-F449-9B3F-AE037557CA61}"/>
                  </a:ext>
                </a:extLst>
              </p:cNvPr>
              <p:cNvSpPr txBox="1"/>
              <p:nvPr/>
            </p:nvSpPr>
            <p:spPr>
              <a:xfrm>
                <a:off x="2701154" y="4424973"/>
                <a:ext cx="4509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03D48-A4BC-F449-9B3F-AE037557C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154" y="4424973"/>
                <a:ext cx="4509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16775A-D72F-8041-A6A6-E923485E2FC1}"/>
                  </a:ext>
                </a:extLst>
              </p:cNvPr>
              <p:cNvSpPr txBox="1"/>
              <p:nvPr/>
            </p:nvSpPr>
            <p:spPr>
              <a:xfrm>
                <a:off x="3606910" y="4609639"/>
                <a:ext cx="248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16775A-D72F-8041-A6A6-E923485E2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10" y="4609639"/>
                <a:ext cx="248433" cy="369332"/>
              </a:xfrm>
              <a:prstGeom prst="rect">
                <a:avLst/>
              </a:prstGeom>
              <a:blipFill>
                <a:blip r:embed="rId4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644E361F-A854-A240-9447-3791B80FC255}"/>
              </a:ext>
            </a:extLst>
          </p:cNvPr>
          <p:cNvSpPr/>
          <p:nvPr/>
        </p:nvSpPr>
        <p:spPr>
          <a:xfrm>
            <a:off x="4957634" y="3210592"/>
            <a:ext cx="2668044" cy="2977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F6CA7-BD65-E945-8282-4B0C10B5F118}"/>
                  </a:ext>
                </a:extLst>
              </p:cNvPr>
              <p:cNvSpPr txBox="1"/>
              <p:nvPr/>
            </p:nvSpPr>
            <p:spPr>
              <a:xfrm>
                <a:off x="5208155" y="3809993"/>
                <a:ext cx="57274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𝑎𝑙𝑡𝑒𝑟𝑛𝑎𝑡𝑒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40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</m:oMath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𝑎𝑙𝑡𝑒𝑟𝑛𝑎𝑡𝑒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37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</m:oMath>
                </a14:m>
                <a:endParaRPr lang="en-AU" dirty="0"/>
              </a:p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𝑐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𝑖𝑠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𝑠𝑢𝑝𝑝𝑙𝑒𝑚𝑒𝑛𝑡𝑎𝑟𝑦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𝑡𝑜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180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𝑜</m:t>
                        </m:r>
                      </m:sup>
                    </m:sSup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𝑎𝑛𝑑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𝑣𝑒𝑟𝑡𝑖𝑐𝑎𝑙𝑙𝑦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𝑜𝑝𝑝𝑜𝑠𝑖𝑡𝑒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endParaRPr lang="en-AU" dirty="0">
                  <a:ea typeface="Cambria Math" charset="0"/>
                  <a:cs typeface="Cambria Math" charset="0"/>
                </a:endParaRPr>
              </a:p>
              <a:p>
                <a:pPr>
                  <a:buFont typeface="Arial" charset="0"/>
                  <a:buChar char="•"/>
                </a:pPr>
                <a:endParaRPr lang="en-AU" dirty="0"/>
              </a:p>
              <a:p>
                <a:pPr>
                  <a:buFont typeface="Arial" charset="0"/>
                  <a:buChar char="•"/>
                </a:pPr>
                <a:r>
                  <a:rPr lang="en-AU" dirty="0"/>
                  <a:t>Because both transversals cross the parallel set of lines, all angles in alternate positions are equal. As such, both triangles are congruent with an (AAA) relationship.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F6CA7-BD65-E945-8282-4B0C10B5F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155" y="3809993"/>
                <a:ext cx="5727400" cy="2031325"/>
              </a:xfrm>
              <a:prstGeom prst="rect">
                <a:avLst/>
              </a:prstGeom>
              <a:blipFill>
                <a:blip r:embed="rId5"/>
                <a:stretch>
                  <a:fillRect l="-664" t="-625" r="-1327" b="-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43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BED3024-1390-7143-A805-BE1ADF2E2A4A}"/>
              </a:ext>
            </a:extLst>
          </p:cNvPr>
          <p:cNvSpPr txBox="1">
            <a:spLocks/>
          </p:cNvSpPr>
          <p:nvPr/>
        </p:nvSpPr>
        <p:spPr>
          <a:xfrm>
            <a:off x="1038106" y="94893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Geometric Properties</a:t>
            </a:r>
            <a:br>
              <a:rPr lang="en-US" dirty="0"/>
            </a:br>
            <a:r>
              <a:rPr lang="en-US" dirty="0"/>
              <a:t>EQ – Describe the properties of angles in parallel lines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198F7E-D0BD-664E-A404-D129D01FA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096" y="3429000"/>
            <a:ext cx="8318500" cy="1993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11F1CB-E118-D64E-95A4-7BCA705EAA10}"/>
              </a:ext>
            </a:extLst>
          </p:cNvPr>
          <p:cNvSpPr txBox="1"/>
          <p:nvPr/>
        </p:nvSpPr>
        <p:spPr>
          <a:xfrm>
            <a:off x="2314956" y="3201435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8A81A-3859-294A-83CB-EE1475B9240E}"/>
              </a:ext>
            </a:extLst>
          </p:cNvPr>
          <p:cNvSpPr txBox="1"/>
          <p:nvPr/>
        </p:nvSpPr>
        <p:spPr>
          <a:xfrm>
            <a:off x="4709515" y="3349868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FB64D-2D08-3649-B4C7-E45810699FD6}"/>
              </a:ext>
            </a:extLst>
          </p:cNvPr>
          <p:cNvSpPr txBox="1"/>
          <p:nvPr/>
        </p:nvSpPr>
        <p:spPr>
          <a:xfrm>
            <a:off x="7666354" y="3429000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EE748B-B0DC-C043-A94A-298F86CDA12E}"/>
              </a:ext>
            </a:extLst>
          </p:cNvPr>
          <p:cNvSpPr txBox="1"/>
          <p:nvPr/>
        </p:nvSpPr>
        <p:spPr>
          <a:xfrm>
            <a:off x="2288943" y="496913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17150-A19C-D040-BA31-50935F3D1CB7}"/>
              </a:ext>
            </a:extLst>
          </p:cNvPr>
          <p:cNvSpPr txBox="1"/>
          <p:nvPr/>
        </p:nvSpPr>
        <p:spPr>
          <a:xfrm>
            <a:off x="5073876" y="496913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590BCB-4A9D-9140-9212-D39F1055C26E}"/>
              </a:ext>
            </a:extLst>
          </p:cNvPr>
          <p:cNvSpPr txBox="1"/>
          <p:nvPr/>
        </p:nvSpPr>
        <p:spPr>
          <a:xfrm>
            <a:off x="7320190" y="4599807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FB2804-952D-F04B-BCF0-65DACB656A8B}"/>
              </a:ext>
            </a:extLst>
          </p:cNvPr>
          <p:cNvSpPr txBox="1"/>
          <p:nvPr/>
        </p:nvSpPr>
        <p:spPr>
          <a:xfrm>
            <a:off x="3945815" y="3881987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CEC555-E071-1A43-83C9-090786B5B055}"/>
              </a:ext>
            </a:extLst>
          </p:cNvPr>
          <p:cNvSpPr txBox="1"/>
          <p:nvPr/>
        </p:nvSpPr>
        <p:spPr>
          <a:xfrm>
            <a:off x="6781571" y="3416066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AAAD34-3592-A343-8D94-16CF6146A9A8}"/>
              </a:ext>
            </a:extLst>
          </p:cNvPr>
          <p:cNvSpPr txBox="1"/>
          <p:nvPr/>
        </p:nvSpPr>
        <p:spPr>
          <a:xfrm>
            <a:off x="8035301" y="387611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FA0A9-F8AA-2944-96B1-EFAE44AA18A0}"/>
              </a:ext>
            </a:extLst>
          </p:cNvPr>
          <p:cNvSpPr txBox="1"/>
          <p:nvPr/>
        </p:nvSpPr>
        <p:spPr>
          <a:xfrm>
            <a:off x="2102745" y="4040963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C334E1-8424-E44E-AA3E-A5B01F894634}"/>
              </a:ext>
            </a:extLst>
          </p:cNvPr>
          <p:cNvSpPr txBox="1"/>
          <p:nvPr/>
        </p:nvSpPr>
        <p:spPr>
          <a:xfrm>
            <a:off x="5621828" y="3327034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791DA2-11A4-D143-82D1-70BC9A461045}"/>
              </a:ext>
            </a:extLst>
          </p:cNvPr>
          <p:cNvSpPr txBox="1"/>
          <p:nvPr/>
        </p:nvSpPr>
        <p:spPr>
          <a:xfrm>
            <a:off x="9244668" y="3386101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4B7903-6D9B-C848-AA6F-99F2100E3787}"/>
              </a:ext>
            </a:extLst>
          </p:cNvPr>
          <p:cNvSpPr txBox="1"/>
          <p:nvPr/>
        </p:nvSpPr>
        <p:spPr>
          <a:xfrm>
            <a:off x="3094354" y="352162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E2F6D8-0EBD-0141-8210-AD0D98972882}"/>
              </a:ext>
            </a:extLst>
          </p:cNvPr>
          <p:cNvSpPr txBox="1"/>
          <p:nvPr/>
        </p:nvSpPr>
        <p:spPr>
          <a:xfrm>
            <a:off x="5891137" y="4280203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E5F534-F734-F14C-AD92-D501C4B19DBF}"/>
              </a:ext>
            </a:extLst>
          </p:cNvPr>
          <p:cNvSpPr txBox="1"/>
          <p:nvPr/>
        </p:nvSpPr>
        <p:spPr>
          <a:xfrm>
            <a:off x="8708102" y="531325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4D5AB6-4B08-E341-B6C7-C56312654CFC}"/>
              </a:ext>
            </a:extLst>
          </p:cNvPr>
          <p:cNvCxnSpPr/>
          <p:nvPr/>
        </p:nvCxnSpPr>
        <p:spPr>
          <a:xfrm flipV="1">
            <a:off x="4407930" y="2476588"/>
            <a:ext cx="0" cy="3867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77F9E1-6D67-C148-849E-FF7BCB2FBB0C}"/>
              </a:ext>
            </a:extLst>
          </p:cNvPr>
          <p:cNvCxnSpPr/>
          <p:nvPr/>
        </p:nvCxnSpPr>
        <p:spPr>
          <a:xfrm flipV="1">
            <a:off x="7252278" y="2291922"/>
            <a:ext cx="0" cy="3867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71AAC62-0E4C-D74C-9FD0-F1D8876F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252" y="2398615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Practise:</a:t>
            </a:r>
          </a:p>
        </p:txBody>
      </p:sp>
    </p:spTree>
    <p:extLst>
      <p:ext uri="{BB962C8B-B14F-4D97-AF65-F5344CB8AC3E}">
        <p14:creationId xmlns:p14="http://schemas.microsoft.com/office/powerpoint/2010/main" val="3144984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2199</TotalTime>
  <Words>383</Words>
  <Application>Microsoft Macintosh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 Math</vt:lpstr>
      <vt:lpstr>Tw Cen MT</vt:lpstr>
      <vt:lpstr>Tw Cen MT Condensed</vt:lpstr>
      <vt:lpstr>Wingdings 3</vt:lpstr>
      <vt:lpstr>Integral</vt:lpstr>
      <vt:lpstr>PowerPoint Presentation</vt:lpstr>
      <vt:lpstr> Geometric Properties</vt:lpstr>
      <vt:lpstr>Learning Objectives </vt:lpstr>
      <vt:lpstr>Geometric Properties EQ – Describe the properties of angles in parallel lines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Lines</dc:title>
  <dc:creator>POWER Travis [Baldivis Secondary College]</dc:creator>
  <cp:lastModifiedBy>SUMMERS Brad [Baldivis Secondary College]</cp:lastModifiedBy>
  <cp:revision>9</cp:revision>
  <dcterms:created xsi:type="dcterms:W3CDTF">2018-11-26T00:13:46Z</dcterms:created>
  <dcterms:modified xsi:type="dcterms:W3CDTF">2020-02-06T00:27:56Z</dcterms:modified>
</cp:coreProperties>
</file>
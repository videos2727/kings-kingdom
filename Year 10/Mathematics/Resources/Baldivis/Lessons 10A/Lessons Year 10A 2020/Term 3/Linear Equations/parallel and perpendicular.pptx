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notesMasterIdLst>
    <p:notesMasterId r:id="rId11"/>
  </p:notesMasterIdLst>
  <p:handoutMasterIdLst>
    <p:handoutMasterId r:id="rId12"/>
  </p:handoutMasterIdLst>
  <p:sldIdLst>
    <p:sldId id="258" r:id="rId2"/>
    <p:sldId id="260" r:id="rId3"/>
    <p:sldId id="272" r:id="rId4"/>
    <p:sldId id="276" r:id="rId5"/>
    <p:sldId id="277" r:id="rId6"/>
    <p:sldId id="273" r:id="rId7"/>
    <p:sldId id="278" r:id="rId8"/>
    <p:sldId id="279" r:id="rId9"/>
    <p:sldId id="28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7B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4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9/7/2020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9/7/2020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9/7/2020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813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9/7/2020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0284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9/7/2020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72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9/7/2020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2614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9/7/2020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689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9/7/2020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1981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9/7/2020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6038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9/7/2020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1258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9/7/2020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8030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9/7/2020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615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9/7/2020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3193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9/7/2020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45344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9/7/2020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2892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9/7/2020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773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9/7/2020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8500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9/7/2020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944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2CCFE9AC-F15C-4FA0-A6F1-298829FA691D}" type="datetimeFigureOut">
              <a:rPr lang="en-US" smtClean="0"/>
              <a:t>9/7/2020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0987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9/7/2020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4124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  <p:sldLayoutId id="2147483836" r:id="rId14"/>
    <p:sldLayoutId id="2147483837" r:id="rId15"/>
    <p:sldLayoutId id="2147483838" r:id="rId16"/>
    <p:sldLayoutId id="214748383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 Parallel and Perpendicular Lines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211" y="4394039"/>
            <a:ext cx="11930743" cy="1117687"/>
          </a:xfrm>
        </p:spPr>
        <p:txBody>
          <a:bodyPr/>
          <a:lstStyle/>
          <a:p>
            <a:pPr algn="l"/>
            <a:r>
              <a:rPr lang="en-US" dirty="0" smtClean="0"/>
              <a:t>EQ – Describe the relationship between two lines that are parallel and two lines that are perpendicular.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Objectives 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Understand the relationship between parallel and perpendicular lines.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35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463" y="970669"/>
            <a:ext cx="9628632" cy="1362113"/>
          </a:xfrm>
        </p:spPr>
        <p:txBody>
          <a:bodyPr>
            <a:noAutofit/>
          </a:bodyPr>
          <a:lstStyle/>
          <a:p>
            <a:r>
              <a:rPr lang="en-AU" sz="2800" dirty="0" smtClean="0"/>
              <a:t>Parallel and Perpendicular Lines</a:t>
            </a:r>
            <a:br>
              <a:rPr lang="en-AU" sz="2800" dirty="0" smtClean="0"/>
            </a:br>
            <a:r>
              <a:rPr lang="en-US" sz="2800" dirty="0"/>
              <a:t>EQ – Describe the relationship between two lines that are parallel and two lines that are perpendicular. </a:t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AU" sz="2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86260" y="1810595"/>
            <a:ext cx="5079991" cy="823912"/>
          </a:xfrm>
        </p:spPr>
        <p:txBody>
          <a:bodyPr/>
          <a:lstStyle/>
          <a:p>
            <a:r>
              <a:rPr lang="en-AU" dirty="0" smtClean="0"/>
              <a:t>Task: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half" idx="2"/>
              </p:nvPr>
            </p:nvSpPr>
            <p:spPr>
              <a:xfrm>
                <a:off x="1132507" y="2634507"/>
                <a:ext cx="7863840" cy="3433769"/>
              </a:xfrm>
            </p:spPr>
            <p:txBody>
              <a:bodyPr>
                <a:normAutofit fontScale="92500" lnSpcReduction="10000"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AU" dirty="0" smtClean="0"/>
                  <a:t>What is the gradient and y-intercept for the following lines</a:t>
                </a:r>
              </a:p>
              <a:p>
                <a:pPr marL="914400" lvl="1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endParaRPr lang="en-AU" b="0" dirty="0" smtClean="0"/>
              </a:p>
              <a:p>
                <a:pPr marL="914400" lvl="1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endParaRPr lang="en-AU" dirty="0" smtClean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dirty="0" smtClean="0"/>
                  <a:t>Solve and represent of a number line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AU" b="0" i="1" dirty="0" smtClean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endParaRPr lang="en-AU" dirty="0" smtClean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dirty="0" smtClean="0"/>
                  <a:t>Solve the equation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+2=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dirty="0" smtClean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−5=</m:t>
                    </m:r>
                  </m:oMath>
                </a14:m>
                <a:endParaRPr lang="en-AU" dirty="0" smtClean="0"/>
              </a:p>
              <a:p>
                <a:pPr marL="457200" indent="-457200">
                  <a:buFont typeface="+mj-lt"/>
                  <a:buAutoNum type="arabicPeriod"/>
                </a:pPr>
                <a:endParaRPr lang="en-AU" dirty="0" smtClean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132507" y="2634507"/>
                <a:ext cx="7863840" cy="3433769"/>
              </a:xfrm>
              <a:blipFill>
                <a:blip r:embed="rId2"/>
                <a:stretch>
                  <a:fillRect l="-930" t="-3375" b="-12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401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86260" y="1810595"/>
            <a:ext cx="5079991" cy="823912"/>
          </a:xfrm>
        </p:spPr>
        <p:txBody>
          <a:bodyPr/>
          <a:lstStyle/>
          <a:p>
            <a:r>
              <a:rPr lang="en-AU" dirty="0" smtClean="0"/>
              <a:t>Task: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half" idx="2"/>
              </p:nvPr>
            </p:nvSpPr>
            <p:spPr>
              <a:xfrm>
                <a:off x="1132507" y="2634507"/>
                <a:ext cx="7863840" cy="343376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/>
                  <a:t>1. Draw on the coordinate grid the following lines</a:t>
                </a:r>
              </a:p>
              <a:p>
                <a:pPr marL="457200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US" b="0" dirty="0" smtClean="0"/>
              </a:p>
              <a:p>
                <a:pPr marL="457200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  <a:p>
                <a:pPr marL="457200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endParaRPr lang="en-US" dirty="0"/>
              </a:p>
              <a:p>
                <a:pPr marL="457200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2. What do you notice?</a:t>
                </a:r>
              </a:p>
              <a:p>
                <a:pPr marL="0" indent="0">
                  <a:buNone/>
                </a:pPr>
                <a:endParaRPr lang="en-AU" dirty="0" smtClean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132507" y="2634507"/>
                <a:ext cx="7863840" cy="3433769"/>
              </a:xfrm>
              <a:blipFill>
                <a:blip r:embed="rId2"/>
                <a:stretch>
                  <a:fillRect l="-1240" t="-24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9794095" y="118518"/>
            <a:ext cx="2284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	</a:t>
            </a:r>
            <a:r>
              <a:rPr lang="en-AU" dirty="0" smtClean="0"/>
              <a:t>		Inquiry</a:t>
            </a:r>
            <a:endParaRPr lang="en-AU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50111" y="95811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 dirty="0" smtClean="0"/>
              <a:t>Parallel and Perpendicular Lines</a:t>
            </a:r>
            <a:br>
              <a:rPr lang="en-AU" sz="2800" dirty="0" smtClean="0"/>
            </a:br>
            <a:r>
              <a:rPr lang="en-US" sz="2800" dirty="0" smtClean="0"/>
              <a:t>EQ – Describe the relationship between two lines that are parallel and two lines that are perpendicular. </a:t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 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525841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86260" y="1810595"/>
            <a:ext cx="5079991" cy="823912"/>
          </a:xfrm>
        </p:spPr>
        <p:txBody>
          <a:bodyPr/>
          <a:lstStyle/>
          <a:p>
            <a:r>
              <a:rPr lang="en-AU" dirty="0" smtClean="0"/>
              <a:t>Task: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half" idx="2"/>
              </p:nvPr>
            </p:nvSpPr>
            <p:spPr>
              <a:xfrm>
                <a:off x="1132507" y="2634507"/>
                <a:ext cx="7863840" cy="343376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/>
                  <a:t>1. Draw on the coordinate grid the following lines</a:t>
                </a:r>
              </a:p>
              <a:p>
                <a:pPr marL="457200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US" b="0" dirty="0" smtClean="0"/>
              </a:p>
              <a:p>
                <a:pPr marL="457200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2. What do you notice?</a:t>
                </a:r>
              </a:p>
              <a:p>
                <a:pPr marL="0" indent="0">
                  <a:buNone/>
                </a:pPr>
                <a:endParaRPr lang="en-AU" dirty="0" smtClean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132507" y="2634507"/>
                <a:ext cx="7863840" cy="3433769"/>
              </a:xfrm>
              <a:blipFill>
                <a:blip r:embed="rId2"/>
                <a:stretch>
                  <a:fillRect l="-1240" t="-24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9794095" y="118518"/>
            <a:ext cx="2284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	</a:t>
            </a:r>
            <a:r>
              <a:rPr lang="en-AU" dirty="0" smtClean="0"/>
              <a:t>		Inquiry</a:t>
            </a:r>
            <a:endParaRPr lang="en-AU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50111" y="95811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 dirty="0" smtClean="0"/>
              <a:t>Parallel and Perpendicular Lines</a:t>
            </a:r>
            <a:br>
              <a:rPr lang="en-AU" sz="2800" dirty="0" smtClean="0"/>
            </a:br>
            <a:r>
              <a:rPr lang="en-US" sz="2800" dirty="0" smtClean="0"/>
              <a:t>EQ – Describe the relationship between two lines that are parallel and two lines that are perpendicular. </a:t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425413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60960" y="1950720"/>
            <a:ext cx="3222171" cy="3985469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What are parallel and perpendicular lines?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3274423" y="1924594"/>
            <a:ext cx="26126" cy="4933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267131" y="121921"/>
            <a:ext cx="92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Writing</a:t>
            </a:r>
            <a:endParaRPr lang="en-AU" dirty="0"/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197859" y="670730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 dirty="0" smtClean="0"/>
              <a:t>Parallel and Perpendicular Lines</a:t>
            </a:r>
            <a:br>
              <a:rPr lang="en-AU" sz="2800" dirty="0" smtClean="0"/>
            </a:br>
            <a:r>
              <a:rPr lang="en-US" sz="2800" dirty="0" smtClean="0"/>
              <a:t>EQ – Describe the relationship between two lines that are parallel and two lines that are perpendicular. </a:t>
            </a:r>
            <a:br>
              <a:rPr lang="en-US" sz="2800" dirty="0" smtClean="0"/>
            </a:br>
            <a:endParaRPr lang="en-A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442194" y="2032843"/>
                <a:ext cx="7841570" cy="36933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Parallel lines go in the same direction and never meet</a:t>
                </a:r>
              </a:p>
              <a:p>
                <a:r>
                  <a:rPr lang="en-US" dirty="0" smtClean="0"/>
                  <a:t>Perpendicular lines meet at right angles </a:t>
                </a:r>
              </a:p>
              <a:p>
                <a:endParaRPr lang="en-US" dirty="0"/>
              </a:p>
              <a:p>
                <a:r>
                  <a:rPr lang="en-US" dirty="0" smtClean="0"/>
                  <a:t>Given the equations of two lines </a:t>
                </a:r>
              </a:p>
              <a:p>
                <a:endParaRPr lang="en-US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                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   </m:t>
                      </m:r>
                    </m:oMath>
                  </m:oMathPara>
                </a14:m>
                <a:endParaRPr lang="en-AU" dirty="0" smtClean="0"/>
              </a:p>
              <a:p>
                <a:endParaRPr lang="en-US" dirty="0"/>
              </a:p>
              <a:p>
                <a:r>
                  <a:rPr lang="en-US" dirty="0" smtClean="0"/>
                  <a:t>These two lines are parallel if the gradients are the same that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AU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r>
                  <a:rPr lang="en-US" dirty="0" smtClean="0"/>
                  <a:t>These two lines are perpendicular if the product of the gradients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AU" dirty="0" smtClean="0"/>
              </a:p>
              <a:p>
                <a:endParaRPr lang="en-US" dirty="0"/>
              </a:p>
              <a:p>
                <a:r>
                  <a:rPr lang="en-US" dirty="0" smtClean="0"/>
                  <a:t>That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194" y="2032843"/>
                <a:ext cx="7841570" cy="3693319"/>
              </a:xfrm>
              <a:prstGeom prst="rect">
                <a:avLst/>
              </a:prstGeom>
              <a:blipFill>
                <a:blip r:embed="rId2"/>
                <a:stretch>
                  <a:fillRect l="-700" t="-990" b="-14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0164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1336207" y="1924594"/>
            <a:ext cx="26126" cy="4933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267131" y="121921"/>
            <a:ext cx="92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Writing</a:t>
            </a:r>
            <a:endParaRPr lang="en-AU" dirty="0"/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197859" y="670730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 dirty="0" smtClean="0"/>
              <a:t>Parallel and Perpendicular Lines</a:t>
            </a:r>
            <a:br>
              <a:rPr lang="en-AU" sz="2800" dirty="0" smtClean="0"/>
            </a:br>
            <a:r>
              <a:rPr lang="en-US" sz="2800" dirty="0" smtClean="0"/>
              <a:t>EQ – Describe the relationship between two lines that are parallel and two lines that are perpendicular. </a:t>
            </a:r>
            <a:br>
              <a:rPr lang="en-US" sz="2800" dirty="0" smtClean="0"/>
            </a:br>
            <a:endParaRPr lang="en-AU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46307583"/>
                  </p:ext>
                </p:extLst>
              </p:nvPr>
            </p:nvGraphicFramePr>
            <p:xfrm>
              <a:off x="1553858" y="1813820"/>
              <a:ext cx="7699556" cy="3464498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924889">
                      <a:extLst>
                        <a:ext uri="{9D8B030D-6E8A-4147-A177-3AD203B41FA5}">
                          <a16:colId xmlns:a16="http://schemas.microsoft.com/office/drawing/2014/main" val="3822148219"/>
                        </a:ext>
                      </a:extLst>
                    </a:gridCol>
                    <a:gridCol w="1924889">
                      <a:extLst>
                        <a:ext uri="{9D8B030D-6E8A-4147-A177-3AD203B41FA5}">
                          <a16:colId xmlns:a16="http://schemas.microsoft.com/office/drawing/2014/main" val="3404096325"/>
                        </a:ext>
                      </a:extLst>
                    </a:gridCol>
                    <a:gridCol w="1924889">
                      <a:extLst>
                        <a:ext uri="{9D8B030D-6E8A-4147-A177-3AD203B41FA5}">
                          <a16:colId xmlns:a16="http://schemas.microsoft.com/office/drawing/2014/main" val="1711528903"/>
                        </a:ext>
                      </a:extLst>
                    </a:gridCol>
                    <a:gridCol w="1924889">
                      <a:extLst>
                        <a:ext uri="{9D8B030D-6E8A-4147-A177-3AD203B41FA5}">
                          <a16:colId xmlns:a16="http://schemas.microsoft.com/office/drawing/2014/main" val="477869236"/>
                        </a:ext>
                      </a:extLst>
                    </a:gridCol>
                  </a:tblGrid>
                  <a:tr h="666205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Equation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Gradient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Gradient of line parallel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Gradient of the line perpendicular</a:t>
                          </a:r>
                          <a:r>
                            <a:rPr lang="en-AU" baseline="0" dirty="0" smtClean="0"/>
                            <a:t> 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56029927"/>
                      </a:ext>
                    </a:extLst>
                  </a:tr>
                  <a:tr h="270183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99630591"/>
                      </a:ext>
                    </a:extLst>
                  </a:tr>
                  <a:tr h="27018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=−5</m:t>
                                </m:r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17890478"/>
                      </a:ext>
                    </a:extLst>
                  </a:tr>
                  <a:tr h="4414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95649817"/>
                      </a:ext>
                    </a:extLst>
                  </a:tr>
                  <a:tr h="44214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f>
                                  <m:fPr>
                                    <m:ctrlPr>
                                      <a:rPr lang="en-AU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b="0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035405509"/>
                      </a:ext>
                    </a:extLst>
                  </a:tr>
                  <a:tr h="4414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69406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46307583"/>
                  </p:ext>
                </p:extLst>
              </p:nvPr>
            </p:nvGraphicFramePr>
            <p:xfrm>
              <a:off x="1553858" y="1813820"/>
              <a:ext cx="7699556" cy="3464498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924889">
                      <a:extLst>
                        <a:ext uri="{9D8B030D-6E8A-4147-A177-3AD203B41FA5}">
                          <a16:colId xmlns:a16="http://schemas.microsoft.com/office/drawing/2014/main" val="3822148219"/>
                        </a:ext>
                      </a:extLst>
                    </a:gridCol>
                    <a:gridCol w="1924889">
                      <a:extLst>
                        <a:ext uri="{9D8B030D-6E8A-4147-A177-3AD203B41FA5}">
                          <a16:colId xmlns:a16="http://schemas.microsoft.com/office/drawing/2014/main" val="3404096325"/>
                        </a:ext>
                      </a:extLst>
                    </a:gridCol>
                    <a:gridCol w="1924889">
                      <a:extLst>
                        <a:ext uri="{9D8B030D-6E8A-4147-A177-3AD203B41FA5}">
                          <a16:colId xmlns:a16="http://schemas.microsoft.com/office/drawing/2014/main" val="1711528903"/>
                        </a:ext>
                      </a:extLst>
                    </a:gridCol>
                    <a:gridCol w="1924889">
                      <a:extLst>
                        <a:ext uri="{9D8B030D-6E8A-4147-A177-3AD203B41FA5}">
                          <a16:colId xmlns:a16="http://schemas.microsoft.com/office/drawing/2014/main" val="477869236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Equation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Gradient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Gradient of line parallel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Gradient of the line perpendicular</a:t>
                          </a:r>
                          <a:r>
                            <a:rPr lang="en-AU" baseline="0" dirty="0" smtClean="0"/>
                            <a:t> 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5602992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6" t="-260000" r="-300949" b="-6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996305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6" t="-360000" r="-300949" b="-5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17890478"/>
                      </a:ext>
                    </a:extLst>
                  </a:tr>
                  <a:tr h="60585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6" t="-276000" r="-300949" b="-20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95649817"/>
                      </a:ext>
                    </a:extLst>
                  </a:tr>
                  <a:tr h="6068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6" t="-379798" r="-300949" b="-10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035405509"/>
                      </a:ext>
                    </a:extLst>
                  </a:tr>
                  <a:tr h="60585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6" t="-475000" r="-300949" b="-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69406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66837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1336207" y="1924594"/>
            <a:ext cx="26126" cy="4933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267131" y="121921"/>
            <a:ext cx="92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Writing</a:t>
            </a:r>
            <a:endParaRPr lang="en-AU" dirty="0"/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197859" y="670730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 dirty="0" smtClean="0"/>
              <a:t>Parallel and Perpendicular Lines</a:t>
            </a:r>
            <a:br>
              <a:rPr lang="en-AU" sz="2800" dirty="0" smtClean="0"/>
            </a:br>
            <a:r>
              <a:rPr lang="en-US" sz="2800" dirty="0" smtClean="0"/>
              <a:t>EQ – Describe the relationship between two lines that are parallel and two lines that are perpendicular. </a:t>
            </a:r>
            <a:br>
              <a:rPr lang="en-US" sz="2800" dirty="0" smtClean="0"/>
            </a:br>
            <a:endParaRPr lang="en-AU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1508369" y="2032843"/>
                <a:ext cx="9049016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AU" dirty="0" smtClean="0"/>
                  <a:t>Find the equation of a line parallel to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+3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 smtClean="0"/>
                  <a:t>and crosses the y-axis at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AU" dirty="0" smtClean="0"/>
                  <a:t>.</a:t>
                </a:r>
              </a:p>
              <a:p>
                <a:endParaRPr lang="en-AU" dirty="0"/>
              </a:p>
              <a:p>
                <a:endParaRPr lang="en-AU" dirty="0" smtClean="0"/>
              </a:p>
              <a:p>
                <a:endParaRPr lang="en-AU" dirty="0"/>
              </a:p>
              <a:p>
                <a:endParaRPr lang="en-AU" dirty="0" smtClean="0"/>
              </a:p>
              <a:p>
                <a:r>
                  <a:rPr lang="en-AU" dirty="0" smtClean="0"/>
                  <a:t>2. </a:t>
                </a:r>
                <a:r>
                  <a:rPr lang="en-AU" dirty="0"/>
                  <a:t>Find the equation of a line </a:t>
                </a:r>
                <a:r>
                  <a:rPr lang="en-AU" dirty="0" smtClean="0"/>
                  <a:t>perpendicular </a:t>
                </a:r>
                <a:r>
                  <a:rPr lang="en-AU" dirty="0"/>
                  <a:t>to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+3</m:t>
                    </m:r>
                    <m:r>
                      <a:rPr lang="en-AU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and crosses the y-axis at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AU" dirty="0" smtClean="0"/>
                  <a:t>.</a:t>
                </a:r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369" y="2032843"/>
                <a:ext cx="9049016" cy="2308324"/>
              </a:xfrm>
              <a:prstGeom prst="rect">
                <a:avLst/>
              </a:prstGeom>
              <a:blipFill>
                <a:blip r:embed="rId2"/>
                <a:stretch>
                  <a:fillRect l="-539" t="-15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6028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1336207" y="1924594"/>
            <a:ext cx="26126" cy="4933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267131" y="121921"/>
            <a:ext cx="92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Writing</a:t>
            </a:r>
            <a:endParaRPr lang="en-AU" dirty="0"/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197859" y="670730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 dirty="0" smtClean="0"/>
              <a:t>Parallel and Perpendicular Lines</a:t>
            </a:r>
            <a:br>
              <a:rPr lang="en-AU" sz="2800" dirty="0" smtClean="0"/>
            </a:br>
            <a:r>
              <a:rPr lang="en-US" sz="2800" dirty="0" smtClean="0"/>
              <a:t>EQ – Describe the relationship between two lines that are parallel and two lines that are perpendicular. </a:t>
            </a:r>
            <a:br>
              <a:rPr lang="en-US" sz="2800" dirty="0" smtClean="0"/>
            </a:br>
            <a:endParaRPr lang="en-AU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414" y="2032843"/>
            <a:ext cx="6150522" cy="206619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413" y="4099033"/>
            <a:ext cx="6150033" cy="179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109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erlin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933</TotalTime>
  <Words>565</Words>
  <Application>Microsoft Office PowerPoint</Application>
  <PresentationFormat>Widescreen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 Math</vt:lpstr>
      <vt:lpstr>Trebuchet MS</vt:lpstr>
      <vt:lpstr>Berlin</vt:lpstr>
      <vt:lpstr> Parallel and Perpendicular Lines</vt:lpstr>
      <vt:lpstr>Learning Objectives </vt:lpstr>
      <vt:lpstr>Parallel and Perpendicular Lines EQ – Describe the relationship between two lines that are parallel and two lines that are perpendicular.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 of Area</dc:title>
  <dc:creator>RUST Joanne [Baldivis Secondary College]</dc:creator>
  <cp:lastModifiedBy>RUST Joanne [Baldivis Secondary College]</cp:lastModifiedBy>
  <cp:revision>39</cp:revision>
  <dcterms:created xsi:type="dcterms:W3CDTF">2019-03-18T23:45:29Z</dcterms:created>
  <dcterms:modified xsi:type="dcterms:W3CDTF">2020-09-07T12:06:50Z</dcterms:modified>
</cp:coreProperties>
</file>
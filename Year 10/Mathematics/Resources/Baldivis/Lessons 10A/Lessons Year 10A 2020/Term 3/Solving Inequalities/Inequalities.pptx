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64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32" autoAdjust="0"/>
    <p:restoredTop sz="94660"/>
  </p:normalViewPr>
  <p:slideViewPr>
    <p:cSldViewPr snapToGrid="0">
      <p:cViewPr>
        <p:scale>
          <a:sx n="68" d="100"/>
          <a:sy n="68" d="100"/>
        </p:scale>
        <p:origin x="5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AE307-0681-4726-8ADD-294D5E80F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AAAEC-5F53-49D8-9A90-0EF3014BF4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CCB94-972C-4E90-A246-EC66C45E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B5222A-2292-4629-A12E-48A5995D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AB8B3-6760-4A02-9BFF-712034EC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777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1C5A6-9AC7-4E86-8F11-06FFCA37F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EDE4A-4330-4F0C-AF19-EB737E7D1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69618-D08F-4F38-8BEB-91975B497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269AD-7ADF-429A-B3CD-A08BF42C6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FBCB5-671E-4860-A478-7A63F076B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944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496E8-EA68-4361-BB3D-103582BD2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1BE9-57FD-4472-952C-5D6E7F776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070797-C765-44A8-BFDA-86E16BFA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3A817-2681-4710-9E64-1F3868CC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9F2D4-43B7-4A71-93C4-FE3D3CF57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278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08ED9-3518-49FE-BC46-4EE97EBC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1F900-D0E8-4929-B1C6-197F0E7109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65296E-8206-4463-B51B-07DBC0DBFC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551E3-B119-48A6-9831-7F59BEF8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F1B8D-E9CE-4DE5-84A5-BD6F725E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9879C-491E-468D-A72A-21AF41D4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459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C53EF-9D25-45AC-8AEC-220E184F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56AE4-D187-4073-999D-C0177490FD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D8879C-6428-4AFB-AE0C-73C5B17909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5FC613-E276-4995-BADF-27BDFDEC4F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44C9D7-8A05-46E5-B54C-2438E5F926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EABC60-C235-424B-A79C-2D4ABB0F0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98EBC1-57A5-4752-A1C4-7406AC00D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67F924-9F62-46D6-BDCC-FAE86A95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1427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1E1BC-4249-40D5-8780-34D1F8DD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EDBA12-EA59-43E7-94EE-CCB6CC220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47A4E-A1F4-4A2E-BFBB-77A571EE2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611EE-791E-4302-A471-96D49C234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921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CEA80-500E-48D5-80B7-051112721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CAA0CA-79CF-43AC-B5C4-3483A9351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7B983-0141-4C4C-84D6-350A56FCC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3060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B5C06-8B70-48DB-98F1-49588BF6B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07DE2-C500-4A29-9271-AD676D936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3B77A-DC43-44B2-A0D6-EC96411BE9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39639-36BB-4B69-BF9E-45462258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63D69-F040-4C43-896A-223DCDA34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791D5B-7F02-40A9-B023-0A60A065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9677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756DE-2213-470F-B4D8-62B0D63A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2F8BF3-118C-4EDC-909D-E320091FC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2B438-71D6-42F2-8F1C-B09713232D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0CA97-9D62-43CB-A55D-9943D20B2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EBDB5A-3B12-4B40-A68B-B0FE398C1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880CD2-7099-4366-81EB-51D36BCF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50034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492D7-A657-4F18-8945-FC9421928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EB07E6-B9EB-4C0E-9D4A-FEAE65BAD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74F8E-73EC-430F-9351-65CEE3691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E135E-87DB-4A08-A921-DB673BABF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8835D-1617-415D-9EBC-D70F96CBE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5186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FD04E-43F1-4566-AA34-2B15CC8AC0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6DEE66-2093-409C-A51A-8864BE5109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0C2E4-7FDC-4A5B-9203-85D6E042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E60FD-2D4E-4263-B18C-87D6879D9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55064-F103-442F-B86F-1EE8132E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116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EBE31F-A341-4855-9068-642AEB41A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D2A6A-3524-4055-8316-492F9D2AC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2B66D-B2E3-4F3A-B696-1218F88D3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41229-D311-47A8-ACC9-A6B546B197F7}" type="datetimeFigureOut">
              <a:rPr lang="en-AU" smtClean="0"/>
              <a:t>23/05/2018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8F789-7590-47F1-9EA8-EDBBB0A61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793BE-01F7-4368-BAE8-CB49489CB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25398-238C-4A93-8D41-73E9F08F042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670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C9B70-1179-488A-A488-0821EC4443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Topic: Linear inequalities</a:t>
            </a:r>
            <a:endParaRPr lang="en-AU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B76438-C07D-4046-8B0F-DD963A3EDF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to solve linear inequalities?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831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solve linear inequalities?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335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Linear Inequalities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4E13-41F2-4108-9058-5F7F9D3D63FC}"/>
              </a:ext>
            </a:extLst>
          </p:cNvPr>
          <p:cNvSpPr txBox="1"/>
          <p:nvPr/>
        </p:nvSpPr>
        <p:spPr>
          <a:xfrm>
            <a:off x="4035995" y="1126054"/>
            <a:ext cx="80824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equation is a statement of </a:t>
            </a:r>
            <a:r>
              <a:rPr lang="en-US" i="1" dirty="0"/>
              <a:t>equality</a:t>
            </a:r>
            <a:r>
              <a:rPr lang="en-US" dirty="0"/>
              <a:t> such as </a:t>
            </a:r>
            <a:r>
              <a:rPr lang="en-US" i="1" dirty="0"/>
              <a:t>x</a:t>
            </a:r>
            <a:r>
              <a:rPr lang="en-US" dirty="0"/>
              <a:t> =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 </a:t>
            </a:r>
            <a:r>
              <a:rPr lang="en-US" b="1" dirty="0"/>
              <a:t>inequality</a:t>
            </a:r>
            <a:r>
              <a:rPr lang="en-US" dirty="0"/>
              <a:t> is a statement of inequality such as </a:t>
            </a:r>
            <a:r>
              <a:rPr lang="en-US" i="1" dirty="0"/>
              <a:t>x</a:t>
            </a:r>
            <a:r>
              <a:rPr lang="en-US" dirty="0"/>
              <a:t>&lt; 2 (</a:t>
            </a:r>
            <a:r>
              <a:rPr lang="en-US" i="1" dirty="0"/>
              <a:t>x</a:t>
            </a:r>
            <a:r>
              <a:rPr lang="en-US" dirty="0"/>
              <a:t> is less than 2).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solution to a linear equation is a single point on a number line, but the solution to an inequality is a portion of the number line- the solution to the inequality has many values.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following table shows four types of simple inequations and their corresponding representation on a number line.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1D0E1-8BE7-4939-8B7B-ADFFA4EB6B87}"/>
              </a:ext>
            </a:extLst>
          </p:cNvPr>
          <p:cNvSpPr txBox="1"/>
          <p:nvPr/>
        </p:nvSpPr>
        <p:spPr>
          <a:xfrm>
            <a:off x="1676400" y="1768824"/>
            <a:ext cx="218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an inequality?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EC5424-CA37-4C90-8039-364F5895C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94" y="4211073"/>
            <a:ext cx="6358909" cy="21757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70FA77-95CE-4A56-98F5-B6855B33187C}"/>
              </a:ext>
            </a:extLst>
          </p:cNvPr>
          <p:cNvSpPr txBox="1"/>
          <p:nvPr/>
        </p:nvSpPr>
        <p:spPr>
          <a:xfrm>
            <a:off x="10199329" y="3960118"/>
            <a:ext cx="18455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Note: An open circle placed over the 2 indicates that 2 is not included; that is, 2 </a:t>
            </a:r>
            <a:r>
              <a:rPr lang="en-US" sz="1400" b="1" dirty="0"/>
              <a:t>does not </a:t>
            </a:r>
            <a:r>
              <a:rPr lang="en-US" sz="1400" dirty="0"/>
              <a:t>satisfy the inequality statement.</a:t>
            </a:r>
          </a:p>
          <a:p>
            <a:endParaRPr lang="en-US" sz="1400" dirty="0"/>
          </a:p>
          <a:p>
            <a:r>
              <a:rPr lang="en-US" sz="1400" dirty="0"/>
              <a:t> A closed or solid circle indicates that 2 is included; that is, it </a:t>
            </a:r>
            <a:r>
              <a:rPr lang="en-US" sz="1400" b="1" dirty="0"/>
              <a:t>does</a:t>
            </a:r>
            <a:r>
              <a:rPr lang="en-US" sz="1400" dirty="0"/>
              <a:t> satisfy the inequality statement.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934207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solve linear inequalities?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335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Linear Inequalities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4E13-41F2-4108-9058-5F7F9D3D63FC}"/>
              </a:ext>
            </a:extLst>
          </p:cNvPr>
          <p:cNvSpPr txBox="1"/>
          <p:nvPr/>
        </p:nvSpPr>
        <p:spPr>
          <a:xfrm>
            <a:off x="4035995" y="1126054"/>
            <a:ext cx="808243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basic technique for solving inequality is to: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imagine that in place of the inequality sign, there is an equals sign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solve the inequality as if it were a linear equation, except that in place of the equals sign keep the original inequality sign unless the special case outlined below applies- </a:t>
            </a:r>
            <a:r>
              <a:rPr lang="en-US" b="1" dirty="0"/>
              <a:t>we will do these examples later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1D0E1-8BE7-4939-8B7B-ADFFA4EB6B87}"/>
              </a:ext>
            </a:extLst>
          </p:cNvPr>
          <p:cNvSpPr txBox="1"/>
          <p:nvPr/>
        </p:nvSpPr>
        <p:spPr>
          <a:xfrm>
            <a:off x="1676400" y="1768824"/>
            <a:ext cx="21892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to solve an inequality?</a:t>
            </a:r>
          </a:p>
        </p:txBody>
      </p:sp>
    </p:spTree>
    <p:extLst>
      <p:ext uri="{BB962C8B-B14F-4D97-AF65-F5344CB8AC3E}">
        <p14:creationId xmlns:p14="http://schemas.microsoft.com/office/powerpoint/2010/main" val="3788659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BBCE-1AAF-4D83-A246-7788AC81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examples: We will do these together</a:t>
            </a:r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B221B5-9E16-4C67-B04F-3BA2C2ED2A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975" y="1486037"/>
            <a:ext cx="4581525" cy="1562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02A791-F5CC-4622-B48B-139859648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8839" y="2067391"/>
            <a:ext cx="2187870" cy="46996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518E4F-D869-4267-9F44-6815E3744FAA}"/>
              </a:ext>
            </a:extLst>
          </p:cNvPr>
          <p:cNvSpPr txBox="1"/>
          <p:nvPr/>
        </p:nvSpPr>
        <p:spPr>
          <a:xfrm>
            <a:off x="5244662" y="2154621"/>
            <a:ext cx="193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55451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1524000" y="55340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105074"/>
            <a:ext cx="9144000" cy="0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24001" y="-19245"/>
            <a:ext cx="51660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100" dirty="0">
                <a:latin typeface="Chalkboard"/>
                <a:cs typeface="Chalkboard"/>
              </a:rPr>
              <a:t>24</a:t>
            </a:r>
          </a:p>
          <a:p>
            <a:r>
              <a:rPr lang="en-AU" sz="1100" dirty="0">
                <a:latin typeface="Chalkboard"/>
                <a:cs typeface="Chalkboard"/>
              </a:rPr>
              <a:t>7</a:t>
            </a:r>
          </a:p>
          <a:p>
            <a:r>
              <a:rPr lang="en-AU" sz="1100" dirty="0">
                <a:latin typeface="Chalkboard"/>
                <a:cs typeface="Chalkboard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3713228" y="1109730"/>
            <a:ext cx="18714" cy="5748271"/>
          </a:xfrm>
          <a:prstGeom prst="line">
            <a:avLst/>
          </a:prstGeom>
          <a:ln w="28575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747413" y="80378"/>
            <a:ext cx="8343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0174" y="598894"/>
            <a:ext cx="86406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EQ – How to solve linear inequalities?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89962" y="45023"/>
            <a:ext cx="33512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latin typeface="Chalkboard"/>
                <a:cs typeface="Chalkboard"/>
              </a:rPr>
              <a:t>Topic: Linear Inequalities</a:t>
            </a:r>
            <a:endParaRPr lang="en-AU" sz="2400" dirty="0">
              <a:latin typeface="Chalkboard"/>
              <a:cs typeface="Chalkboar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034E13-41F2-4108-9058-5F7F9D3D63FC}"/>
              </a:ext>
            </a:extLst>
          </p:cNvPr>
          <p:cNvSpPr txBox="1"/>
          <p:nvPr/>
        </p:nvSpPr>
        <p:spPr>
          <a:xfrm>
            <a:off x="3999314" y="1647655"/>
            <a:ext cx="7278051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Consider the inequation 6 &gt; 5 (6 is greater than 5).If we multiply both sides of the inequation by −1 we get:</a:t>
            </a:r>
            <a:br>
              <a:rPr lang="en-US" dirty="0"/>
            </a:br>
            <a:endParaRPr lang="en-US" dirty="0"/>
          </a:p>
          <a:p>
            <a:pPr algn="ctr"/>
            <a:r>
              <a:rPr lang="en-US" dirty="0"/>
              <a:t>−6 &gt; −5, which is not correct.</a:t>
            </a:r>
          </a:p>
          <a:p>
            <a:pPr algn="ctr"/>
            <a:r>
              <a:rPr lang="en-US" dirty="0"/>
              <a:t>In fact −6 &lt; −5. </a:t>
            </a:r>
          </a:p>
          <a:p>
            <a:pPr algn="ctr"/>
            <a:br>
              <a:rPr lang="en-US" dirty="0"/>
            </a:br>
            <a:endParaRPr lang="en-US" dirty="0"/>
          </a:p>
          <a:p>
            <a:r>
              <a:rPr lang="en-US" dirty="0"/>
              <a:t>Applying this to inequalities generally, when we multiply or divide an inequality by a negative number, the direction of the inequality sign must change.</a:t>
            </a:r>
          </a:p>
          <a:p>
            <a:pPr algn="ctr"/>
            <a:endParaRPr lang="en-US" dirty="0"/>
          </a:p>
          <a:p>
            <a:pPr algn="ctr"/>
            <a:r>
              <a:rPr lang="en-AU" dirty="0"/>
              <a:t>&lt; to &gt;</a:t>
            </a:r>
            <a:br>
              <a:rPr lang="en-AU" dirty="0"/>
            </a:br>
            <a:br>
              <a:rPr lang="en-AU" dirty="0"/>
            </a:br>
            <a:r>
              <a:rPr lang="en-AU" dirty="0"/>
              <a:t> &gt; to &lt;</a:t>
            </a:r>
            <a:br>
              <a:rPr lang="en-AU" dirty="0"/>
            </a:br>
            <a:br>
              <a:rPr lang="en-AU" dirty="0"/>
            </a:br>
            <a:r>
              <a:rPr lang="en-AU" dirty="0"/>
              <a:t> ≤ to ≥</a:t>
            </a:r>
            <a:br>
              <a:rPr lang="en-AU" dirty="0"/>
            </a:br>
            <a:br>
              <a:rPr lang="en-AU" dirty="0"/>
            </a:br>
            <a:r>
              <a:rPr lang="en-AU" dirty="0"/>
              <a:t> ≥ to ≤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A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31D0E1-8BE7-4939-8B7B-ADFFA4EB6B87}"/>
              </a:ext>
            </a:extLst>
          </p:cNvPr>
          <p:cNvSpPr txBox="1"/>
          <p:nvPr/>
        </p:nvSpPr>
        <p:spPr>
          <a:xfrm>
            <a:off x="1676400" y="1768824"/>
            <a:ext cx="21892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How to solve an inequality when we multiply or divide by a negative number?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C5E1975-21E0-4DD8-BF38-3C1CF43B7CF3}"/>
              </a:ext>
            </a:extLst>
          </p:cNvPr>
          <p:cNvSpPr txBox="1">
            <a:spLocks/>
          </p:cNvSpPr>
          <p:nvPr/>
        </p:nvSpPr>
        <p:spPr>
          <a:xfrm>
            <a:off x="3865628" y="1277468"/>
            <a:ext cx="7498848" cy="540037"/>
          </a:xfrm>
          <a:prstGeom prst="rect">
            <a:avLst/>
          </a:prstGeom>
        </p:spPr>
        <p:txBody>
          <a:bodyPr>
            <a:normAutofit fontScale="6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solidFill>
                  <a:srgbClr val="FF0000"/>
                </a:solidFill>
              </a:rPr>
              <a:t>The special case — multiplying or dividing both sides of the inequation by a negative number</a:t>
            </a:r>
            <a:br>
              <a:rPr lang="en-US" dirty="0"/>
            </a:b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0345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BBCE-1AAF-4D83-A246-7788AC81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Worked examples: We will do these together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18E4F-D869-4267-9F44-6815E3744FAA}"/>
              </a:ext>
            </a:extLst>
          </p:cNvPr>
          <p:cNvSpPr txBox="1"/>
          <p:nvPr/>
        </p:nvSpPr>
        <p:spPr>
          <a:xfrm>
            <a:off x="5244662" y="2154621"/>
            <a:ext cx="193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Solutions:</a:t>
            </a:r>
            <a:endParaRPr lang="en-AU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96AED0-14C8-4B46-B6FA-C4BB7E7EE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49" y="2067391"/>
            <a:ext cx="4619625" cy="12668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925A7A-0F9C-4D5C-BEC7-6730F7B96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4337" y="1596524"/>
            <a:ext cx="2327377" cy="489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7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9089151-4715-482C-878B-DF288903C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38" y="176300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Complete “Puzzling Inequations 1 worksheet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students will need a ruler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827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270</Words>
  <Application>Microsoft Office PowerPoint</Application>
  <PresentationFormat>Widescreen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Chalkboard</vt:lpstr>
      <vt:lpstr>Office Theme</vt:lpstr>
      <vt:lpstr>Topic: Linear inequalities</vt:lpstr>
      <vt:lpstr>PowerPoint Presentation</vt:lpstr>
      <vt:lpstr>PowerPoint Presentation</vt:lpstr>
      <vt:lpstr>Worked examples: We will do these together</vt:lpstr>
      <vt:lpstr>PowerPoint Presentation</vt:lpstr>
      <vt:lpstr>Worked examples: We will do these together</vt:lpstr>
      <vt:lpstr>Complete “Puzzling Inequations 1 worksheet  - students will need a ruler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inequalities</dc:title>
  <dc:creator>Sarah James</dc:creator>
  <cp:lastModifiedBy>Sarah James</cp:lastModifiedBy>
  <cp:revision>6</cp:revision>
  <dcterms:created xsi:type="dcterms:W3CDTF">2018-05-23T00:04:20Z</dcterms:created>
  <dcterms:modified xsi:type="dcterms:W3CDTF">2018-05-23T12:16:46Z</dcterms:modified>
</cp:coreProperties>
</file>
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5" r:id="rId6"/>
    <p:sldId id="268" r:id="rId7"/>
    <p:sldId id="269" r:id="rId8"/>
    <p:sldId id="270" r:id="rId9"/>
    <p:sldId id="271" r:id="rId10"/>
    <p:sldId id="274" r:id="rId11"/>
    <p:sldId id="275" r:id="rId12"/>
    <p:sldId id="276" r:id="rId13"/>
    <p:sldId id="277" r:id="rId14"/>
    <p:sldId id="278" r:id="rId15"/>
    <p:sldId id="272" r:id="rId16"/>
    <p:sldId id="273" r:id="rId17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56" autoAdjust="0"/>
    <p:restoredTop sz="94593" autoAdjust="0"/>
  </p:normalViewPr>
  <p:slideViewPr>
    <p:cSldViewPr>
      <p:cViewPr varScale="1">
        <p:scale>
          <a:sx n="117" d="100"/>
          <a:sy n="117" d="100"/>
        </p:scale>
        <p:origin x="195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3BDD4-7ADE-344E-B951-5B2FCEC57F71}" type="datetimeFigureOut">
              <a:rPr lang="en-US" smtClean="0"/>
              <a:t>8/9/20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3C66D-DED4-D04D-A3E1-5BCA3E94B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41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26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69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61DDC-5327-634A-948C-8F1DA07938D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69808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C2106-0E2B-6A44-A04E-4D35E94D8C1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01070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A53AD-716A-AA47-B8EE-7233BFA07FF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8611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FA55C-E6E8-7F48-BCF9-F70A950741B2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83285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6CDBA-67E0-3643-98EE-92970B0D1C8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335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8F7BA-4D57-B640-847D-46170811E424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4269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F19FA-CEED-3F4D-9522-4111EBFA268F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7065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E664E-BFF8-504B-8996-7FF33C8B304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0518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BC7D0-6F97-0348-BEEC-62506EC5D79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46853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F2E99-136F-1C4C-A8E8-2957846B661B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55556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886DD5-E443-654B-86C4-2445A380210C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5259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408608-F8D2-0F4E-878C-15ABD4F80B65}" type="slidenum">
              <a:rPr lang="es-ES" altLang="x-none"/>
              <a:pPr/>
              <a:t>‹#›</a:t>
            </a:fld>
            <a:endParaRPr lang="es-E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107504" y="4293096"/>
            <a:ext cx="8784976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s-ES" altLang="x-none" dirty="0" err="1">
                <a:solidFill>
                  <a:schemeClr val="tx1"/>
                </a:solidFill>
              </a:rPr>
              <a:t>Topic</a:t>
            </a:r>
            <a:r>
              <a:rPr lang="es-ES" altLang="x-none" dirty="0">
                <a:solidFill>
                  <a:schemeClr val="tx1"/>
                </a:solidFill>
              </a:rPr>
              <a:t>: </a:t>
            </a:r>
            <a:r>
              <a:rPr lang="es-ES" altLang="x-none" dirty="0" err="1">
                <a:solidFill>
                  <a:schemeClr val="tx1"/>
                </a:solidFill>
              </a:rPr>
              <a:t>Statistics</a:t>
            </a:r>
            <a:r>
              <a:rPr lang="es-ES" altLang="x-none" dirty="0">
                <a:solidFill>
                  <a:schemeClr val="tx1"/>
                </a:solidFill>
              </a:rPr>
              <a:t> &amp; Data</a:t>
            </a:r>
          </a:p>
          <a:p>
            <a:pPr algn="l"/>
            <a:r>
              <a:rPr lang="es-ES" altLang="x-none" dirty="0">
                <a:solidFill>
                  <a:schemeClr val="tx1"/>
                </a:solidFill>
              </a:rPr>
              <a:t>EQ: </a:t>
            </a:r>
            <a:r>
              <a:rPr lang="es-ES" altLang="x-none" dirty="0" err="1">
                <a:solidFill>
                  <a:schemeClr val="tx1"/>
                </a:solidFill>
              </a:rPr>
              <a:t>What</a:t>
            </a:r>
            <a:r>
              <a:rPr lang="es-ES" altLang="x-none" dirty="0">
                <a:solidFill>
                  <a:schemeClr val="tx1"/>
                </a:solidFill>
              </a:rPr>
              <a:t> </a:t>
            </a:r>
            <a:r>
              <a:rPr lang="es-ES" altLang="x-none" dirty="0" err="1">
                <a:solidFill>
                  <a:schemeClr val="tx1"/>
                </a:solidFill>
              </a:rPr>
              <a:t>values</a:t>
            </a:r>
            <a:r>
              <a:rPr lang="es-ES" altLang="x-none" dirty="0">
                <a:solidFill>
                  <a:schemeClr val="tx1"/>
                </a:solidFill>
              </a:rPr>
              <a:t> do I </a:t>
            </a:r>
            <a:r>
              <a:rPr lang="es-ES" altLang="x-none" dirty="0" err="1">
                <a:solidFill>
                  <a:schemeClr val="tx1"/>
                </a:solidFill>
              </a:rPr>
              <a:t>need</a:t>
            </a:r>
            <a:r>
              <a:rPr lang="es-ES" altLang="x-none" dirty="0">
                <a:solidFill>
                  <a:schemeClr val="tx1"/>
                </a:solidFill>
              </a:rPr>
              <a:t> to complete a 5 </a:t>
            </a:r>
            <a:r>
              <a:rPr lang="es-ES" altLang="x-none" dirty="0" err="1">
                <a:solidFill>
                  <a:schemeClr val="tx1"/>
                </a:solidFill>
              </a:rPr>
              <a:t>number</a:t>
            </a:r>
            <a:r>
              <a:rPr lang="es-ES" altLang="x-none" dirty="0">
                <a:solidFill>
                  <a:schemeClr val="tx1"/>
                </a:solidFill>
              </a:rPr>
              <a:t> </a:t>
            </a:r>
            <a:r>
              <a:rPr lang="es-ES" altLang="x-none" dirty="0" err="1">
                <a:solidFill>
                  <a:schemeClr val="tx1"/>
                </a:solidFill>
              </a:rPr>
              <a:t>summary</a:t>
            </a:r>
            <a:r>
              <a:rPr lang="es-ES" altLang="x-none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403350" y="2276475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x-none" altLang="x-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6632"/>
            <a:ext cx="8229600" cy="864096"/>
          </a:xfrm>
        </p:spPr>
        <p:txBody>
          <a:bodyPr/>
          <a:lstStyle/>
          <a:p>
            <a:r>
              <a:rPr lang="es-UY" altLang="x-none" u="sng">
                <a:solidFill>
                  <a:schemeClr val="tx1"/>
                </a:solidFill>
              </a:rPr>
              <a:t>Warm up</a:t>
            </a:r>
            <a:endParaRPr lang="es-ES" altLang="x-none" u="sng" dirty="0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your summary from last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34860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17209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330" y="4020978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The lower quartile </a:t>
            </a:r>
            <a:r>
              <a:rPr lang="en-US" dirty="0"/>
              <a:t>is </a:t>
            </a:r>
            <a:r>
              <a:rPr lang="en-US" dirty="0" err="1"/>
              <a:t>centre</a:t>
            </a:r>
            <a:r>
              <a:rPr lang="en-US" dirty="0"/>
              <a:t> point to the lower half of the data.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3643" y="4880697"/>
            <a:ext cx="5790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upper quartile </a:t>
            </a:r>
            <a:r>
              <a:rPr lang="en-US" dirty="0"/>
              <a:t>is </a:t>
            </a:r>
            <a:r>
              <a:rPr lang="en-US" dirty="0" err="1"/>
              <a:t>centre</a:t>
            </a:r>
            <a:r>
              <a:rPr lang="en-US" dirty="0"/>
              <a:t> point  in the upper half of the data. 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21639" y="2173581"/>
            <a:ext cx="2035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quartiles?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9879" y="2200972"/>
            <a:ext cx="5680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Quartiles are </a:t>
            </a:r>
            <a:r>
              <a:rPr lang="en-US" dirty="0"/>
              <a:t>the three values that separate the scores when a set of ordered data is divided into four equal parts </a:t>
            </a:r>
          </a:p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083643" y="3222422"/>
            <a:ext cx="5738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data are placed in order, then the </a:t>
            </a:r>
            <a:r>
              <a:rPr lang="en-US" b="1" u="sng" dirty="0"/>
              <a:t>median </a:t>
            </a:r>
            <a:r>
              <a:rPr lang="en-US" dirty="0"/>
              <a:t>is the middle number in the data set.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x-none" sz="2400" dirty="0"/>
              <a:t>EQ: </a:t>
            </a:r>
            <a:r>
              <a:rPr lang="es-ES" altLang="x-none" sz="2400" dirty="0" err="1"/>
              <a:t>What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values</a:t>
            </a:r>
            <a:r>
              <a:rPr lang="es-ES" altLang="x-none" sz="2400" dirty="0"/>
              <a:t> do I </a:t>
            </a:r>
            <a:r>
              <a:rPr lang="es-ES" altLang="x-none" sz="2400" dirty="0" err="1"/>
              <a:t>need</a:t>
            </a:r>
            <a:r>
              <a:rPr lang="es-ES" altLang="x-none" sz="2400" dirty="0"/>
              <a:t> to complete a 5 </a:t>
            </a:r>
            <a:r>
              <a:rPr lang="es-ES" altLang="x-none" sz="2400" dirty="0" err="1"/>
              <a:t>number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summary</a:t>
            </a:r>
            <a:r>
              <a:rPr lang="es-ES" altLang="x-none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9010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7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519" y="2253770"/>
            <a:ext cx="2540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interquartile range?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822" y="2070061"/>
            <a:ext cx="6368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measure of spread giving the difference between the upper and lower quartiles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79" y="3688284"/>
            <a:ext cx="254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an outlier?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2384" y="3688286"/>
            <a:ext cx="66516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value that is much larger or much smaller than the rest of the data in a set. In the past we’ve assumed a data point is an outlier. Now we can calculate if it is:</a:t>
            </a:r>
          </a:p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523821" y="2889661"/>
            <a:ext cx="6584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IQR = upper quartile – lower quartile   = Q3 – Q1 </a:t>
            </a:r>
          </a:p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553178" y="4707278"/>
            <a:ext cx="4605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data point is an outlier if it is either: 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Less than Q1-1.5 x IQR or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Greater than Q3 + 1.5 × IQR 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x-none" sz="2400" dirty="0"/>
              <a:t>EQ: </a:t>
            </a:r>
            <a:r>
              <a:rPr lang="es-ES" altLang="x-none" sz="2400" dirty="0" err="1"/>
              <a:t>What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values</a:t>
            </a:r>
            <a:r>
              <a:rPr lang="es-ES" altLang="x-none" sz="2400" dirty="0"/>
              <a:t> do I </a:t>
            </a:r>
            <a:r>
              <a:rPr lang="es-ES" altLang="x-none" sz="2400" dirty="0" err="1"/>
              <a:t>need</a:t>
            </a:r>
            <a:r>
              <a:rPr lang="es-ES" altLang="x-none" sz="2400" dirty="0"/>
              <a:t> to complete a 5 </a:t>
            </a:r>
            <a:r>
              <a:rPr lang="es-ES" altLang="x-none" sz="2400" dirty="0" err="1"/>
              <a:t>number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summary</a:t>
            </a:r>
            <a:r>
              <a:rPr lang="es-ES" altLang="x-none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24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656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x-none" sz="2400" dirty="0"/>
              <a:t>EQ: </a:t>
            </a:r>
            <a:r>
              <a:rPr lang="es-ES" altLang="x-none" sz="2400" dirty="0" err="1"/>
              <a:t>What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values</a:t>
            </a:r>
            <a:r>
              <a:rPr lang="es-ES" altLang="x-none" sz="2400" dirty="0"/>
              <a:t> do I </a:t>
            </a:r>
            <a:r>
              <a:rPr lang="es-ES" altLang="x-none" sz="2400" dirty="0" err="1"/>
              <a:t>need</a:t>
            </a:r>
            <a:r>
              <a:rPr lang="es-ES" altLang="x-none" sz="2400" dirty="0"/>
              <a:t> to complete a 5 </a:t>
            </a:r>
            <a:r>
              <a:rPr lang="es-ES" altLang="x-none" sz="2400" dirty="0" err="1"/>
              <a:t>number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summary</a:t>
            </a:r>
            <a:r>
              <a:rPr lang="es-ES" altLang="x-none" sz="2400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35" y="2136892"/>
            <a:ext cx="263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What is a five number summary?</a:t>
            </a:r>
          </a:p>
        </p:txBody>
      </p:sp>
    </p:spTree>
    <p:extLst>
      <p:ext uri="{BB962C8B-B14F-4D97-AF65-F5344CB8AC3E}">
        <p14:creationId xmlns:p14="http://schemas.microsoft.com/office/powerpoint/2010/main" val="117578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656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x-none" sz="2400" dirty="0"/>
              <a:t>EQ: </a:t>
            </a:r>
            <a:r>
              <a:rPr lang="es-ES" altLang="x-none" sz="2400" dirty="0" err="1"/>
              <a:t>What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values</a:t>
            </a:r>
            <a:r>
              <a:rPr lang="es-ES" altLang="x-none" sz="2400" dirty="0"/>
              <a:t> do I </a:t>
            </a:r>
            <a:r>
              <a:rPr lang="es-ES" altLang="x-none" sz="2400" dirty="0" err="1"/>
              <a:t>need</a:t>
            </a:r>
            <a:r>
              <a:rPr lang="es-ES" altLang="x-none" sz="2400" dirty="0"/>
              <a:t> to complete a 5 </a:t>
            </a:r>
            <a:r>
              <a:rPr lang="es-ES" altLang="x-none" sz="2400" dirty="0" err="1"/>
              <a:t>number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summary</a:t>
            </a:r>
            <a:r>
              <a:rPr lang="es-ES" altLang="x-none" sz="2400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35" y="2136892"/>
            <a:ext cx="263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What is a five number summary?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0721" y="2085531"/>
            <a:ext cx="4809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set of numbers that </a:t>
            </a:r>
            <a:r>
              <a:rPr lang="en-US" dirty="0" err="1"/>
              <a:t>summarise</a:t>
            </a:r>
            <a:r>
              <a:rPr lang="en-US" dirty="0"/>
              <a:t> a set of data: the minimum score, first quartile, median, third quartile and maximum score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63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1656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76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Quartiles and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x-none" sz="2400" dirty="0"/>
              <a:t>EQ: </a:t>
            </a:r>
            <a:r>
              <a:rPr lang="es-ES" altLang="x-none" sz="2400" dirty="0" err="1"/>
              <a:t>What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values</a:t>
            </a:r>
            <a:r>
              <a:rPr lang="es-ES" altLang="x-none" sz="2400" dirty="0"/>
              <a:t> do I </a:t>
            </a:r>
            <a:r>
              <a:rPr lang="es-ES" altLang="x-none" sz="2400" dirty="0" err="1"/>
              <a:t>need</a:t>
            </a:r>
            <a:r>
              <a:rPr lang="es-ES" altLang="x-none" sz="2400" dirty="0"/>
              <a:t> to complete a 5 </a:t>
            </a:r>
            <a:r>
              <a:rPr lang="es-ES" altLang="x-none" sz="2400" dirty="0" err="1"/>
              <a:t>number</a:t>
            </a:r>
            <a:r>
              <a:rPr lang="es-ES" altLang="x-none" sz="2400" dirty="0"/>
              <a:t> </a:t>
            </a:r>
            <a:r>
              <a:rPr lang="es-ES" altLang="x-none" sz="2400" dirty="0" err="1"/>
              <a:t>summary</a:t>
            </a:r>
            <a:r>
              <a:rPr lang="es-ES" altLang="x-none" sz="2400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35" y="2136892"/>
            <a:ext cx="263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What is a five number summary?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0721" y="2085531"/>
            <a:ext cx="4809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set of numbers that </a:t>
            </a:r>
            <a:r>
              <a:rPr lang="en-US" dirty="0" err="1"/>
              <a:t>summarise</a:t>
            </a:r>
            <a:r>
              <a:rPr lang="en-US" dirty="0"/>
              <a:t> a set of data: the minimum score, first quartile, median, third quartile and maximum score </a:t>
            </a:r>
            <a:endParaRPr lang="en-US" dirty="0">
              <a:effectLst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82" y="3942190"/>
            <a:ext cx="7379197" cy="198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02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911296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50775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01406" y="1847614"/>
            <a:ext cx="0" cy="416950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3127" y="343109"/>
            <a:ext cx="4193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975752"/>
            <a:ext cx="91416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x-none" sz="2800" dirty="0"/>
              <a:t>EQ: </a:t>
            </a:r>
            <a:r>
              <a:rPr lang="es-ES" altLang="x-none" sz="2800" dirty="0" err="1"/>
              <a:t>What</a:t>
            </a:r>
            <a:r>
              <a:rPr lang="es-ES" altLang="x-none" sz="2800" dirty="0"/>
              <a:t> </a:t>
            </a:r>
            <a:r>
              <a:rPr lang="es-ES" altLang="x-none" sz="2800" dirty="0" err="1"/>
              <a:t>values</a:t>
            </a:r>
            <a:r>
              <a:rPr lang="es-ES" altLang="x-none" sz="2800" dirty="0"/>
              <a:t> do I </a:t>
            </a:r>
            <a:r>
              <a:rPr lang="es-ES" altLang="x-none" sz="2800" dirty="0" err="1"/>
              <a:t>need</a:t>
            </a:r>
            <a:r>
              <a:rPr lang="es-ES" altLang="x-none" sz="2800" dirty="0"/>
              <a:t> to complete a 5 </a:t>
            </a:r>
            <a:r>
              <a:rPr lang="es-ES" altLang="x-none" sz="2800" dirty="0" err="1"/>
              <a:t>number</a:t>
            </a:r>
            <a:r>
              <a:rPr lang="es-ES" altLang="x-none" sz="2800" dirty="0"/>
              <a:t> </a:t>
            </a:r>
            <a:r>
              <a:rPr lang="es-ES" altLang="x-none" sz="2800" dirty="0" err="1"/>
              <a:t>summary</a:t>
            </a:r>
            <a:r>
              <a:rPr lang="es-ES" altLang="x-none" sz="2800" dirty="0"/>
              <a:t>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831247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1556116" y="2040009"/>
            <a:ext cx="7177749" cy="1657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400" dirty="0"/>
          </a:p>
          <a:p>
            <a:pPr>
              <a:defRPr/>
            </a:pPr>
            <a:endParaRPr lang="en-US" sz="1650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1601238" y="1929859"/>
            <a:ext cx="7289221" cy="365315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100" dirty="0"/>
              <a:t>The 5 number summary can be found for any set of numerical discrete data.</a:t>
            </a:r>
            <a:endParaRPr lang="en-US" sz="2100" b="1" dirty="0">
              <a:solidFill>
                <a:srgbClr val="CC0099"/>
              </a:solidFill>
            </a:endParaRPr>
          </a:p>
          <a:p>
            <a:pPr>
              <a:defRPr/>
            </a:pPr>
            <a:endParaRPr lang="en-US" sz="2100" dirty="0"/>
          </a:p>
          <a:p>
            <a:pPr>
              <a:defRPr/>
            </a:pPr>
            <a:r>
              <a:rPr lang="en-US" sz="2100" dirty="0"/>
              <a:t>The 5 number summary consists of :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100" dirty="0"/>
              <a:t>The median (2</a:t>
            </a:r>
            <a:r>
              <a:rPr lang="en-US" sz="2100" baseline="30000" dirty="0"/>
              <a:t>nd</a:t>
            </a:r>
            <a:r>
              <a:rPr lang="en-US" sz="2100" dirty="0"/>
              <a:t> quartile)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100" dirty="0"/>
              <a:t>The 1</a:t>
            </a:r>
            <a:r>
              <a:rPr lang="en-US" sz="2100" baseline="30000" dirty="0"/>
              <a:t>st</a:t>
            </a:r>
            <a:r>
              <a:rPr lang="en-US" sz="2100" dirty="0"/>
              <a:t> quartile/Lower Quartile (Q</a:t>
            </a:r>
            <a:r>
              <a:rPr lang="en-US" sz="2100" baseline="-25000" dirty="0"/>
              <a:t>1</a:t>
            </a:r>
            <a:r>
              <a:rPr lang="en-US" sz="21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100" dirty="0"/>
              <a:t>The 3</a:t>
            </a:r>
            <a:r>
              <a:rPr lang="en-US" sz="2100" baseline="30000" dirty="0"/>
              <a:t>rd</a:t>
            </a:r>
            <a:r>
              <a:rPr lang="en-US" sz="2100" dirty="0"/>
              <a:t> quartile/Upper Quartile (Q</a:t>
            </a:r>
            <a:r>
              <a:rPr lang="en-US" sz="2100" baseline="-25000" dirty="0"/>
              <a:t>3</a:t>
            </a:r>
            <a:r>
              <a:rPr lang="en-US" sz="2100" dirty="0"/>
              <a:t>)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100" dirty="0"/>
              <a:t>The maximum value in a data set</a:t>
            </a:r>
          </a:p>
          <a:p>
            <a:pPr lvl="1">
              <a:buClr>
                <a:srgbClr val="CC0099"/>
              </a:buClr>
              <a:defRPr/>
            </a:pPr>
            <a:r>
              <a:rPr lang="en-US" sz="2100" dirty="0"/>
              <a:t>The minimum value in a data set</a:t>
            </a:r>
          </a:p>
        </p:txBody>
      </p:sp>
    </p:spTree>
    <p:extLst>
      <p:ext uri="{BB962C8B-B14F-4D97-AF65-F5344CB8AC3E}">
        <p14:creationId xmlns:p14="http://schemas.microsoft.com/office/powerpoint/2010/main" val="89759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548680"/>
            <a:ext cx="6457950" cy="969771"/>
          </a:xfrm>
        </p:spPr>
        <p:txBody>
          <a:bodyPr>
            <a:normAutofit/>
          </a:bodyPr>
          <a:lstStyle/>
          <a:p>
            <a:r>
              <a:rPr lang="en-AU" sz="3300" b="1" dirty="0">
                <a:solidFill>
                  <a:schemeClr val="tx1"/>
                </a:solidFill>
                <a:latin typeface="Kiwi School Handwriting"/>
              </a:rPr>
              <a:t>Total Physical Response Activity</a:t>
            </a:r>
            <a:endParaRPr lang="en-GB" sz="3300" b="1" dirty="0">
              <a:solidFill>
                <a:schemeClr val="tx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0767"/>
            <a:ext cx="8229600" cy="4525963"/>
          </a:xfrm>
        </p:spPr>
        <p:txBody>
          <a:bodyPr>
            <a:normAutofit/>
          </a:bodyPr>
          <a:lstStyle/>
          <a:p>
            <a:r>
              <a:rPr lang="en-AU" sz="2100" dirty="0"/>
              <a:t>You will be given 60 seconds to write the letter x as many times as possible with your dominant hand, (the one you use to write with).</a:t>
            </a:r>
            <a:br>
              <a:rPr lang="en-AU" sz="2100" dirty="0"/>
            </a:br>
            <a:endParaRPr lang="en-AU" sz="2100" dirty="0"/>
          </a:p>
          <a:p>
            <a:r>
              <a:rPr lang="en-AU" sz="2100" dirty="0"/>
              <a:t>As you have two hands, you will be given 60 seconds to write the letter x as many times as possible with your non-dominant hand.</a:t>
            </a:r>
          </a:p>
          <a:p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22755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D9594-1BDC-4E1D-9A59-AF7E9DA8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548680"/>
            <a:ext cx="6457950" cy="969771"/>
          </a:xfrm>
        </p:spPr>
        <p:txBody>
          <a:bodyPr>
            <a:normAutofit/>
          </a:bodyPr>
          <a:lstStyle/>
          <a:p>
            <a:r>
              <a:rPr lang="en-AU" sz="3300" b="1" dirty="0">
                <a:solidFill>
                  <a:schemeClr val="tx1"/>
                </a:solidFill>
                <a:latin typeface="Kiwi School Handwriting"/>
              </a:rPr>
              <a:t>Total Physical Response Activity</a:t>
            </a:r>
            <a:endParaRPr lang="en-GB" sz="3300" b="1" dirty="0">
              <a:solidFill>
                <a:schemeClr val="tx1"/>
              </a:solidFill>
              <a:latin typeface="Kiwi School Handwriting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919953"/>
            <a:ext cx="3978679" cy="301809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2250" b="1" dirty="0"/>
              <a:t>Dominant Hand</a:t>
            </a:r>
            <a:br>
              <a:rPr lang="en-AU" sz="2250" dirty="0"/>
            </a:br>
            <a:r>
              <a:rPr lang="en-US" sz="1950" dirty="0"/>
              <a:t>Minimum:</a:t>
            </a:r>
            <a:br>
              <a:rPr lang="en-US" sz="1950" dirty="0"/>
            </a:br>
            <a:r>
              <a:rPr lang="en-US" sz="1950" dirty="0"/>
              <a:t>Maximum:</a:t>
            </a:r>
            <a:br>
              <a:rPr lang="en-US" sz="1950" dirty="0"/>
            </a:br>
            <a:r>
              <a:rPr lang="en-US" sz="1950" dirty="0"/>
              <a:t>Median:</a:t>
            </a:r>
            <a:br>
              <a:rPr lang="en-US" sz="1950" dirty="0"/>
            </a:br>
            <a:r>
              <a:rPr lang="en-US" sz="1950" dirty="0"/>
              <a:t>Lower Quartile (Q</a:t>
            </a:r>
            <a:r>
              <a:rPr lang="en-US" sz="1950" baseline="-25000" dirty="0"/>
              <a:t>1</a:t>
            </a:r>
            <a:r>
              <a:rPr lang="en-US" sz="1950" dirty="0"/>
              <a:t>):</a:t>
            </a:r>
            <a:br>
              <a:rPr lang="en-US" sz="1950" dirty="0"/>
            </a:br>
            <a:r>
              <a:rPr lang="en-US" sz="1950" dirty="0"/>
              <a:t>Upper Quartile (Q</a:t>
            </a:r>
            <a:r>
              <a:rPr lang="en-US" sz="1950" baseline="-25000" dirty="0"/>
              <a:t>3</a:t>
            </a:r>
            <a:r>
              <a:rPr lang="en-US" sz="1950" dirty="0"/>
              <a:t>):</a:t>
            </a:r>
            <a:br>
              <a:rPr lang="en-US" sz="2100" dirty="0"/>
            </a:br>
            <a:endParaRPr lang="en-US" sz="2100" dirty="0"/>
          </a:p>
          <a:p>
            <a:pPr>
              <a:buClr>
                <a:srgbClr val="CC0099"/>
              </a:buClr>
              <a:defRPr/>
            </a:pPr>
            <a:endParaRPr lang="en-US" sz="21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5C6C666-01CC-4148-9D8C-E699C6EA94C4}"/>
              </a:ext>
            </a:extLst>
          </p:cNvPr>
          <p:cNvSpPr txBox="1">
            <a:spLocks/>
          </p:cNvSpPr>
          <p:nvPr/>
        </p:nvSpPr>
        <p:spPr>
          <a:xfrm>
            <a:off x="4788024" y="1929006"/>
            <a:ext cx="3978679" cy="30180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2250" b="1" dirty="0"/>
              <a:t>Non Dominant Hand</a:t>
            </a:r>
            <a:br>
              <a:rPr lang="en-AU" sz="2250" dirty="0"/>
            </a:br>
            <a:r>
              <a:rPr lang="en-US" sz="2250" dirty="0"/>
              <a:t>Minimum:</a:t>
            </a:r>
            <a:br>
              <a:rPr lang="en-US" sz="2250" dirty="0"/>
            </a:br>
            <a:r>
              <a:rPr lang="en-US" sz="2250" dirty="0"/>
              <a:t>Maximum:</a:t>
            </a:r>
            <a:br>
              <a:rPr lang="en-US" sz="2250" dirty="0"/>
            </a:br>
            <a:r>
              <a:rPr lang="en-US" sz="2250" dirty="0"/>
              <a:t>Median:</a:t>
            </a:r>
            <a:br>
              <a:rPr lang="en-US" sz="2250" dirty="0"/>
            </a:br>
            <a:r>
              <a:rPr lang="en-US" sz="2100" dirty="0"/>
              <a:t>Lower Quartile (Q</a:t>
            </a:r>
            <a:r>
              <a:rPr lang="en-US" sz="2100" baseline="-25000" dirty="0"/>
              <a:t>1</a:t>
            </a:r>
            <a:r>
              <a:rPr lang="en-US" sz="2100" dirty="0"/>
              <a:t>):</a:t>
            </a:r>
            <a:br>
              <a:rPr lang="en-US" sz="2100" dirty="0"/>
            </a:br>
            <a:r>
              <a:rPr lang="en-US" sz="2100" dirty="0"/>
              <a:t>Upper Quartile (Q</a:t>
            </a:r>
            <a:r>
              <a:rPr lang="en-US" sz="2100" baseline="-25000" dirty="0"/>
              <a:t>3</a:t>
            </a:r>
            <a:r>
              <a:rPr lang="en-US" sz="2100" dirty="0"/>
              <a:t>):</a:t>
            </a:r>
            <a:br>
              <a:rPr lang="en-US" sz="2100" dirty="0"/>
            </a:br>
            <a:endParaRPr lang="en-US" sz="2100" dirty="0"/>
          </a:p>
          <a:p>
            <a:pPr>
              <a:buClr>
                <a:srgbClr val="CC0099"/>
              </a:buClr>
              <a:defRPr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989606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145110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82228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01406" y="1847614"/>
            <a:ext cx="0" cy="416950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949624"/>
            <a:ext cx="4193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1869" y="1010579"/>
            <a:ext cx="198058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 19/07/2018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1501461"/>
            <a:ext cx="79557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831247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1556116" y="2040009"/>
            <a:ext cx="7177749" cy="1657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400" dirty="0"/>
          </a:p>
          <a:p>
            <a:pPr>
              <a:defRPr/>
            </a:pPr>
            <a:endParaRPr lang="en-US" sz="1650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1600200" y="1929592"/>
            <a:ext cx="7290259" cy="3653426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/>
              <a:t>Determining the 5 number summary</a:t>
            </a:r>
          </a:p>
          <a:p>
            <a:pPr lvl="1">
              <a:defRPr/>
            </a:pPr>
            <a:r>
              <a:rPr lang="en-US" sz="2100" dirty="0"/>
              <a:t>Minimum is the lowest value of the data set</a:t>
            </a:r>
          </a:p>
          <a:p>
            <a:pPr lvl="1">
              <a:defRPr/>
            </a:pPr>
            <a:r>
              <a:rPr lang="en-US" sz="2100" dirty="0"/>
              <a:t>Maximum is the highest value of the data set</a:t>
            </a:r>
          </a:p>
          <a:p>
            <a:pPr lvl="1">
              <a:defRPr/>
            </a:pPr>
            <a:r>
              <a:rPr lang="en-US" sz="2100" dirty="0"/>
              <a:t>Median</a:t>
            </a:r>
          </a:p>
          <a:p>
            <a:pPr lvl="2">
              <a:defRPr/>
            </a:pPr>
            <a:r>
              <a:rPr lang="en-US" sz="2100" dirty="0"/>
              <a:t>Order the data from smallest to largest</a:t>
            </a:r>
          </a:p>
          <a:p>
            <a:pPr lvl="2">
              <a:defRPr/>
            </a:pPr>
            <a:r>
              <a:rPr lang="en-US" sz="2100" dirty="0"/>
              <a:t>If there is an odd number of data points, the median is the middle value</a:t>
            </a:r>
          </a:p>
          <a:p>
            <a:pPr lvl="2">
              <a:defRPr/>
            </a:pPr>
            <a:r>
              <a:rPr lang="en-US" sz="2100" dirty="0"/>
              <a:t>If there is an even number of data points, the median is the average of the two middle values.</a:t>
            </a:r>
          </a:p>
          <a:p>
            <a:pPr lvl="1">
              <a:defRPr/>
            </a:pPr>
            <a:endParaRPr lang="en-US" sz="2100" dirty="0"/>
          </a:p>
          <a:p>
            <a:pPr lvl="1">
              <a:defRPr/>
            </a:pPr>
            <a:endParaRPr lang="en-US" sz="2100" dirty="0"/>
          </a:p>
          <a:p>
            <a:pPr lvl="1">
              <a:defRPr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85160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1451104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1" y="822280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501406" y="1847614"/>
            <a:ext cx="0" cy="416950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4616" y="949624"/>
            <a:ext cx="4193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595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Five Number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1869" y="1010579"/>
            <a:ext cx="1980581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dirty="0">
                <a:solidFill>
                  <a:prstClr val="black"/>
                </a:solidFill>
                <a:latin typeface="Calibri" panose="020F0502020204030204"/>
              </a:rPr>
              <a:t>Date: 19/07/2018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3509" y="1501461"/>
            <a:ext cx="795571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7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Five Number Summary?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831247"/>
            <a:ext cx="914161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1556116" y="2040009"/>
            <a:ext cx="7177749" cy="1657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400" dirty="0"/>
          </a:p>
          <a:p>
            <a:pPr>
              <a:defRPr/>
            </a:pPr>
            <a:endParaRPr lang="en-US" sz="1650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ABD9B2B-E6F0-4128-B765-15CC297C3CD7}"/>
              </a:ext>
            </a:extLst>
          </p:cNvPr>
          <p:cNvSpPr txBox="1">
            <a:spLocks noChangeArrowheads="1"/>
          </p:cNvSpPr>
          <p:nvPr/>
        </p:nvSpPr>
        <p:spPr>
          <a:xfrm>
            <a:off x="1601238" y="1929859"/>
            <a:ext cx="7289221" cy="3653159"/>
          </a:xfrm>
          <a:prstGeom prst="rect">
            <a:avLst/>
          </a:prstGeom>
        </p:spPr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sz="2100" dirty="0"/>
              <a:t>Determining the 5 number summary</a:t>
            </a:r>
          </a:p>
          <a:p>
            <a:pPr lvl="1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100" dirty="0"/>
              <a:t>1</a:t>
            </a:r>
            <a:r>
              <a:rPr lang="en-US" sz="2100" baseline="30000" dirty="0"/>
              <a:t>st</a:t>
            </a:r>
            <a:r>
              <a:rPr lang="en-US" sz="2100" dirty="0"/>
              <a:t> quartile/Lower Quartile (Q</a:t>
            </a:r>
            <a:r>
              <a:rPr lang="en-US" sz="2100" baseline="-25000" dirty="0"/>
              <a:t>1</a:t>
            </a:r>
            <a:r>
              <a:rPr lang="en-US" sz="2100" dirty="0"/>
              <a:t>)</a:t>
            </a:r>
          </a:p>
          <a:p>
            <a:pPr lvl="2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1950" dirty="0"/>
              <a:t>The middle value of data in the lower 50% of the values in the data set</a:t>
            </a:r>
          </a:p>
          <a:p>
            <a:pPr lvl="1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2100" dirty="0"/>
              <a:t>The 3</a:t>
            </a:r>
            <a:r>
              <a:rPr lang="en-US" sz="2100" baseline="30000" dirty="0"/>
              <a:t>rd</a:t>
            </a:r>
            <a:r>
              <a:rPr lang="en-US" sz="2100" dirty="0"/>
              <a:t> quartile/Upper Quartile (Q</a:t>
            </a:r>
            <a:r>
              <a:rPr lang="en-US" sz="2100" baseline="-25000" dirty="0"/>
              <a:t>3</a:t>
            </a:r>
            <a:r>
              <a:rPr lang="en-US" sz="2100" dirty="0"/>
              <a:t>)</a:t>
            </a:r>
          </a:p>
          <a:p>
            <a:pPr lvl="2">
              <a:lnSpc>
                <a:spcPct val="150000"/>
              </a:lnSpc>
              <a:buClr>
                <a:srgbClr val="CC0099"/>
              </a:buClr>
              <a:defRPr/>
            </a:pPr>
            <a:r>
              <a:rPr lang="en-US" sz="1950" dirty="0"/>
              <a:t>The middle value of data in the upper 50% of the values in the data set</a:t>
            </a:r>
            <a:endParaRPr lang="en-US" sz="2100" dirty="0"/>
          </a:p>
          <a:p>
            <a:pPr lvl="1">
              <a:defRPr/>
            </a:pPr>
            <a:endParaRPr lang="en-US" sz="1950" dirty="0"/>
          </a:p>
          <a:p>
            <a:pPr lvl="1">
              <a:defRPr/>
            </a:pPr>
            <a:endParaRPr lang="en-US" sz="1950" dirty="0"/>
          </a:p>
          <a:p>
            <a:pPr lvl="1">
              <a:defRPr/>
            </a:pP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103678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8492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7274128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636" id="{DF23AC15-5DF4-914A-AB3D-EFCE691C88C2}" vid="{2458D6BE-EF50-064C-AB0E-3A0D1802B5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636</Template>
  <TotalTime>3883</TotalTime>
  <Words>803</Words>
  <Application>Microsoft Macintosh PowerPoint</Application>
  <PresentationFormat>On-screen Show (4:3)</PresentationFormat>
  <Paragraphs>132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Kiwi School Handwriting</vt:lpstr>
      <vt:lpstr>Diseño predeterminado</vt:lpstr>
      <vt:lpstr>PowerPoint Presentation</vt:lpstr>
      <vt:lpstr>Warm 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Total Physical Response Activity</vt:lpstr>
      <vt:lpstr>Total Physical Response Activity</vt:lpstr>
      <vt:lpstr>PowerPoint Presentation</vt:lpstr>
      <vt:lpstr>PowerPoint Presentation</vt:lpstr>
      <vt:lpstr>Notes Review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 Farmer</dc:creator>
  <cp:lastModifiedBy>SUMMERS Brad [Baldivis Secondary College]</cp:lastModifiedBy>
  <cp:revision>35</cp:revision>
  <cp:lastPrinted>2020-08-07T04:18:15Z</cp:lastPrinted>
  <dcterms:created xsi:type="dcterms:W3CDTF">2017-06-07T03:32:40Z</dcterms:created>
  <dcterms:modified xsi:type="dcterms:W3CDTF">2020-08-09T10:27:06Z</dcterms:modified>
</cp:coreProperties>
</file>
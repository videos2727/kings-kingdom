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8" r:id="rId5"/>
    <p:sldId id="389" r:id="rId6"/>
    <p:sldId id="279" r:id="rId7"/>
    <p:sldId id="283" r:id="rId8"/>
    <p:sldId id="312" r:id="rId9"/>
    <p:sldId id="479" r:id="rId10"/>
    <p:sldId id="483" r:id="rId11"/>
    <p:sldId id="482" r:id="rId12"/>
    <p:sldId id="323" r:id="rId13"/>
    <p:sldId id="265" r:id="rId14"/>
    <p:sldId id="271" r:id="rId15"/>
    <p:sldId id="398" r:id="rId16"/>
    <p:sldId id="39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5" autoAdjust="0"/>
    <p:restoredTop sz="94558"/>
  </p:normalViewPr>
  <p:slideViewPr>
    <p:cSldViewPr snapToGrid="0">
      <p:cViewPr varScale="1">
        <p:scale>
          <a:sx n="85" d="100"/>
          <a:sy n="85" d="100"/>
        </p:scale>
        <p:origin x="17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7/21/19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7/21/19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13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Remind students how participate responsibly in this activity</a:t>
            </a:r>
          </a:p>
          <a:p>
            <a:pPr marL="171450" indent="-171450">
              <a:buFontTx/>
              <a:buChar char="-"/>
            </a:pPr>
            <a:r>
              <a:rPr lang="en-AU" dirty="0"/>
              <a:t>Students in pairs work through each question (1 at a time)</a:t>
            </a:r>
          </a:p>
          <a:p>
            <a:pPr marL="171450" indent="-171450">
              <a:buFontTx/>
              <a:buChar char="-"/>
            </a:pPr>
            <a:r>
              <a:rPr lang="en-AU" dirty="0"/>
              <a:t>Can swap partners between each question?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55D62B-E197-44CC-A11E-5AE0BF567D4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0191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423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7193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2104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23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889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293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228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5826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K3-MtrvSW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are the main measures of center we use and what are the benefits of each?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6255" y="1847949"/>
            <a:ext cx="3541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Starter </a:t>
            </a:r>
            <a:r>
              <a:rPr lang="mr-IN" sz="3600" b="1" dirty="0">
                <a:solidFill>
                  <a:schemeClr val="tx2"/>
                </a:solidFill>
              </a:rPr>
              <a:t>–</a:t>
            </a:r>
            <a:r>
              <a:rPr lang="en-US" sz="3600" b="1" dirty="0">
                <a:solidFill>
                  <a:schemeClr val="tx2"/>
                </a:solidFill>
              </a:rPr>
              <a:t> Daily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39989-AE8F-9D4B-A659-01CC69830142}"/>
              </a:ext>
            </a:extLst>
          </p:cNvPr>
          <p:cNvSpPr txBox="1"/>
          <p:nvPr/>
        </p:nvSpPr>
        <p:spPr>
          <a:xfrm>
            <a:off x="414021" y="2621871"/>
            <a:ext cx="112292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Define ‘average’ i.e. – what is the average of your last 3 </a:t>
            </a:r>
            <a:r>
              <a:rPr lang="en-US" sz="2400" dirty="0" err="1"/>
              <a:t>Maths</a:t>
            </a:r>
            <a:r>
              <a:rPr lang="en-US" sz="2400" dirty="0"/>
              <a:t> test scores?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r>
              <a:rPr lang="en-AU" sz="2400" dirty="0"/>
              <a:t>2. What is the difference between a similar triangle and a congruent triangle?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r>
              <a:rPr lang="en-US" sz="2400" dirty="0"/>
              <a:t>3. Calculate the direct length between A and B </a:t>
            </a:r>
          </a:p>
          <a:p>
            <a:endParaRPr lang="en-US" sz="2400" dirty="0"/>
          </a:p>
          <a:p>
            <a:r>
              <a:rPr lang="en-US" sz="2400" dirty="0"/>
              <a:t>4. Evaluate 4</a:t>
            </a:r>
            <a:r>
              <a:rPr lang="en-US" sz="2400" baseline="30000" dirty="0"/>
              <a:t>-2</a:t>
            </a:r>
          </a:p>
          <a:p>
            <a:endParaRPr lang="en-US" sz="2400" dirty="0"/>
          </a:p>
          <a:p>
            <a:r>
              <a:rPr lang="en-US" sz="2400" dirty="0"/>
              <a:t>5. Solve 2(4</a:t>
            </a:r>
            <a:r>
              <a:rPr lang="en-US" sz="2400" i="1" dirty="0"/>
              <a:t>x</a:t>
            </a:r>
            <a:r>
              <a:rPr lang="en-US" sz="2400" dirty="0"/>
              <a:t> – 1) = 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05381-5BFD-E74D-A37E-175AA0E4F977}"/>
              </a:ext>
            </a:extLst>
          </p:cNvPr>
          <p:cNvSpPr txBox="1"/>
          <p:nvPr/>
        </p:nvSpPr>
        <p:spPr>
          <a:xfrm>
            <a:off x="67340" y="493732"/>
            <a:ext cx="12192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</a:t>
            </a:r>
            <a:r>
              <a:rPr lang="en-US" sz="2600" dirty="0">
                <a:solidFill>
                  <a:schemeClr val="bg2"/>
                </a:solidFill>
              </a:rPr>
              <a:t>What are the main measures of center and spread we use and what are the benefits of each?</a:t>
            </a:r>
          </a:p>
        </p:txBody>
      </p:sp>
      <p:pic>
        <p:nvPicPr>
          <p:cNvPr id="2" name="Picture 1" descr="page1image754318896">
            <a:extLst>
              <a:ext uri="{FF2B5EF4-FFF2-40B4-BE49-F238E27FC236}">
                <a16:creationId xmlns:a16="http://schemas.microsoft.com/office/drawing/2014/main" id="{F98BEED0-A54B-1542-891A-5372B6D94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943" y="4210493"/>
            <a:ext cx="2844800" cy="109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24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3A0C34-0F0B-4683-BA2D-EA42ED42A3A1}"/>
              </a:ext>
            </a:extLst>
          </p:cNvPr>
          <p:cNvSpPr/>
          <p:nvPr/>
        </p:nvSpPr>
        <p:spPr>
          <a:xfrm>
            <a:off x="3510553" y="442362"/>
            <a:ext cx="333572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Quickwrite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algn="ctr"/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F0E91-E5A2-443C-8C57-FB616CCD2A31}"/>
              </a:ext>
            </a:extLst>
          </p:cNvPr>
          <p:cNvSpPr txBox="1"/>
          <p:nvPr/>
        </p:nvSpPr>
        <p:spPr>
          <a:xfrm>
            <a:off x="2416427" y="1929722"/>
            <a:ext cx="839148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AU" sz="2400" dirty="0"/>
              <a:t>2 minutes </a:t>
            </a:r>
          </a:p>
          <a:p>
            <a:pPr marL="285750" indent="-285750">
              <a:buFontTx/>
              <a:buChar char="-"/>
            </a:pPr>
            <a:r>
              <a:rPr lang="en-AU" sz="2400" dirty="0"/>
              <a:t>LEFT HAND SIDE of your Interactive Notebook</a:t>
            </a:r>
          </a:p>
          <a:p>
            <a:pPr marL="285750" indent="-285750">
              <a:buFontTx/>
              <a:buChar char="-"/>
            </a:pPr>
            <a:r>
              <a:rPr lang="en-AU" sz="2400" dirty="0"/>
              <a:t>Write about the following two things: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sz="2800" b="1" dirty="0"/>
              <a:t>1) Write down everything that comes to mind about the word ‘data’</a:t>
            </a:r>
          </a:p>
          <a:p>
            <a:r>
              <a:rPr lang="en-AU" sz="2800" dirty="0"/>
              <a:t> </a:t>
            </a:r>
          </a:p>
          <a:p>
            <a:r>
              <a:rPr lang="en-AU" sz="2800" b="1" dirty="0"/>
              <a:t>2) What is an outlier?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842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3A0C34-0F0B-4683-BA2D-EA42ED42A3A1}"/>
              </a:ext>
            </a:extLst>
          </p:cNvPr>
          <p:cNvSpPr/>
          <p:nvPr/>
        </p:nvSpPr>
        <p:spPr>
          <a:xfrm>
            <a:off x="384042" y="356109"/>
            <a:ext cx="33357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Activity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F0E91-E5A2-443C-8C57-FB616CCD2A31}"/>
              </a:ext>
            </a:extLst>
          </p:cNvPr>
          <p:cNvSpPr txBox="1"/>
          <p:nvPr/>
        </p:nvSpPr>
        <p:spPr>
          <a:xfrm>
            <a:off x="4864231" y="1875934"/>
            <a:ext cx="60991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b="1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9D714-EA50-496A-9ED8-9D011231FF8C}"/>
              </a:ext>
            </a:extLst>
          </p:cNvPr>
          <p:cNvSpPr txBox="1"/>
          <p:nvPr/>
        </p:nvSpPr>
        <p:spPr>
          <a:xfrm>
            <a:off x="4543720" y="1714100"/>
            <a:ext cx="7004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John purchased 5 computer games at a sale. </a:t>
            </a:r>
          </a:p>
          <a:p>
            <a:r>
              <a:rPr lang="en-AU" sz="2400" dirty="0"/>
              <a:t>2 games cost $20 each, 2 games cost $30 each and 1 game cost $50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4D289-3202-448D-B844-127603A9FCC7}"/>
              </a:ext>
            </a:extLst>
          </p:cNvPr>
          <p:cNvSpPr txBox="1"/>
          <p:nvPr/>
        </p:nvSpPr>
        <p:spPr>
          <a:xfrm>
            <a:off x="4336329" y="3191428"/>
            <a:ext cx="7004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AU" sz="2400" dirty="0"/>
              <a:t>What do you remember about mean, median and mode? 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1CAFB-4CDA-4C7B-BE1E-D49E70F07361}"/>
              </a:ext>
            </a:extLst>
          </p:cNvPr>
          <p:cNvSpPr txBox="1"/>
          <p:nvPr/>
        </p:nvSpPr>
        <p:spPr>
          <a:xfrm>
            <a:off x="4336328" y="4230806"/>
            <a:ext cx="7004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2)   Can you work out the mean, median and mode?</a:t>
            </a:r>
          </a:p>
          <a:p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46085-2E3A-4408-B093-613FD4AAA8DE}"/>
              </a:ext>
            </a:extLst>
          </p:cNvPr>
          <p:cNvSpPr txBox="1"/>
          <p:nvPr/>
        </p:nvSpPr>
        <p:spPr>
          <a:xfrm>
            <a:off x="4336329" y="5086234"/>
            <a:ext cx="7004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3)  Which of the mean, median, mode gives the best      ‘average’?</a:t>
            </a:r>
          </a:p>
          <a:p>
            <a:endParaRPr lang="en-AU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780609-CDC2-4C0B-8C62-9B4C73AD0459}"/>
              </a:ext>
            </a:extLst>
          </p:cNvPr>
          <p:cNvSpPr/>
          <p:nvPr/>
        </p:nvSpPr>
        <p:spPr>
          <a:xfrm>
            <a:off x="3459637" y="397723"/>
            <a:ext cx="850297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- stand up, hands up, pair up </a:t>
            </a:r>
          </a:p>
        </p:txBody>
      </p:sp>
      <p:pic>
        <p:nvPicPr>
          <p:cNvPr id="1026" name="Picture 2" descr="high five the office GIF">
            <a:extLst>
              <a:ext uri="{FF2B5EF4-FFF2-40B4-BE49-F238E27FC236}">
                <a16:creationId xmlns:a16="http://schemas.microsoft.com/office/drawing/2014/main" id="{2CB6894A-C1A4-4F83-9B73-3D60FA01EAC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40" y="1469727"/>
            <a:ext cx="3713212" cy="214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13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K3-MtrvSWs">
            <a:hlinkClick r:id="" action="ppaction://media"/>
            <a:extLst>
              <a:ext uri="{FF2B5EF4-FFF2-40B4-BE49-F238E27FC236}">
                <a16:creationId xmlns:a16="http://schemas.microsoft.com/office/drawing/2014/main" id="{5115CF61-720B-4EB3-B17C-651568BDA5A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351584" y="548680"/>
            <a:ext cx="7392822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0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D05381-5BFD-E74D-A37E-175AA0E4F977}"/>
              </a:ext>
            </a:extLst>
          </p:cNvPr>
          <p:cNvSpPr txBox="1"/>
          <p:nvPr/>
        </p:nvSpPr>
        <p:spPr>
          <a:xfrm>
            <a:off x="67340" y="493732"/>
            <a:ext cx="12192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</a:t>
            </a:r>
            <a:r>
              <a:rPr lang="en-US" sz="2600" dirty="0">
                <a:solidFill>
                  <a:schemeClr val="bg2"/>
                </a:solidFill>
              </a:rPr>
              <a:t>What are the main measures of center and spread we use and what are the benefits of each?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76950-A434-854D-B59F-B9A22081DCC7}"/>
              </a:ext>
            </a:extLst>
          </p:cNvPr>
          <p:cNvSpPr txBox="1"/>
          <p:nvPr/>
        </p:nvSpPr>
        <p:spPr>
          <a:xfrm>
            <a:off x="-228601" y="1847951"/>
            <a:ext cx="12085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u="sng" dirty="0">
                <a:solidFill>
                  <a:prstClr val="black"/>
                </a:solidFill>
                <a:latin typeface="Fragment Core" panose="02000504040000020003" pitchFamily="50" charset="0"/>
              </a:rPr>
              <a:t>The three most common measures of location are mean, median and mode?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5AD14F-1E0E-0E4D-B403-30FE45C31E6A}"/>
                  </a:ext>
                </a:extLst>
              </p:cNvPr>
              <p:cNvSpPr txBox="1"/>
              <p:nvPr/>
            </p:nvSpPr>
            <p:spPr>
              <a:xfrm>
                <a:off x="335360" y="2371170"/>
                <a:ext cx="11521280" cy="2708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en-US" altLang="en-US" sz="2400" b="1" dirty="0">
                    <a:solidFill>
                      <a:schemeClr val="hlink"/>
                    </a:solidFill>
                  </a:rPr>
                  <a:t>________ –</a:t>
                </a:r>
                <a:r>
                  <a:rPr lang="en-US" altLang="en-US" sz="2400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en-US" sz="2400" dirty="0"/>
                  <a:t>Average of all observations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altLang="en-US" sz="2400" b="1" dirty="0"/>
                  <a:t>The sum of all the scores divided by the number of scores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𝑣𝑎𝑙𝑢𝑒𝑠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𝑠𝑐𝑜𝑟𝑒𝑠</m:t>
                        </m:r>
                      </m:den>
                    </m:f>
                  </m:oMath>
                </a14:m>
                <a:endParaRPr lang="en-US" altLang="en-US" sz="2400" b="1" dirty="0"/>
              </a:p>
              <a:p>
                <a:pPr>
                  <a:lnSpc>
                    <a:spcPct val="135000"/>
                  </a:lnSpc>
                </a:pPr>
                <a:r>
                  <a:rPr lang="en-US" altLang="en-US" sz="2400" dirty="0"/>
                  <a:t>Factor: Affected by Extreme Values (Outliers)</a:t>
                </a:r>
                <a:endParaRPr lang="en-US" altLang="en-US" sz="2400" i="1" dirty="0"/>
              </a:p>
              <a:p>
                <a:pPr>
                  <a:lnSpc>
                    <a:spcPct val="135000"/>
                  </a:lnSpc>
                </a:pPr>
                <a:r>
                  <a:rPr lang="en-US" altLang="en-US" sz="2400" i="1" dirty="0"/>
                  <a:t>Most commonly used measure of central tendency</a:t>
                </a:r>
              </a:p>
              <a:p>
                <a:pPr>
                  <a:lnSpc>
                    <a:spcPct val="135000"/>
                  </a:lnSpc>
                </a:pPr>
                <a:endParaRPr lang="en-US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5AD14F-1E0E-0E4D-B403-30FE45C31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2371170"/>
                <a:ext cx="11521280" cy="2708818"/>
              </a:xfrm>
              <a:prstGeom prst="rect">
                <a:avLst/>
              </a:prstGeom>
              <a:blipFill>
                <a:blip r:embed="rId3"/>
                <a:stretch>
                  <a:fillRect l="-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00D1E7B-8721-E841-B7D4-B2553223D5BF}"/>
              </a:ext>
            </a:extLst>
          </p:cNvPr>
          <p:cNvSpPr txBox="1"/>
          <p:nvPr/>
        </p:nvSpPr>
        <p:spPr>
          <a:xfrm>
            <a:off x="335360" y="4882869"/>
            <a:ext cx="11132115" cy="1747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sz="2400" b="1" dirty="0">
                <a:solidFill>
                  <a:schemeClr val="accent2"/>
                </a:solidFill>
              </a:rPr>
              <a:t>Median</a:t>
            </a:r>
            <a:r>
              <a:rPr lang="en-US" altLang="en-US" sz="2400" dirty="0"/>
              <a:t> – </a:t>
            </a:r>
            <a:r>
              <a:rPr lang="en-US" altLang="en-US" sz="2400" b="1" dirty="0"/>
              <a:t>The </a:t>
            </a:r>
            <a:r>
              <a:rPr lang="en-US" altLang="en-US" sz="2400" b="1" dirty="0">
                <a:solidFill>
                  <a:schemeClr val="hlink"/>
                </a:solidFill>
              </a:rPr>
              <a:t>________ </a:t>
            </a:r>
            <a:r>
              <a:rPr lang="en-US" altLang="en-US" sz="2400" b="1" dirty="0"/>
              <a:t>value of ordered data</a:t>
            </a:r>
          </a:p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sz="2400" dirty="0"/>
              <a:t>If there’s an even amount of data, the median is the </a:t>
            </a:r>
            <a:r>
              <a:rPr lang="en-US" altLang="en-US" sz="2400" b="1" dirty="0">
                <a:solidFill>
                  <a:schemeClr val="accent2"/>
                </a:solidFill>
              </a:rPr>
              <a:t>average</a:t>
            </a:r>
            <a:r>
              <a:rPr lang="en-US" altLang="en-US" sz="2400" dirty="0"/>
              <a:t> of the two middle values.</a:t>
            </a:r>
          </a:p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sz="2400" dirty="0"/>
              <a:t>Factor: Not Affected by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136991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D05381-5BFD-E74D-A37E-175AA0E4F977}"/>
              </a:ext>
            </a:extLst>
          </p:cNvPr>
          <p:cNvSpPr txBox="1"/>
          <p:nvPr/>
        </p:nvSpPr>
        <p:spPr>
          <a:xfrm>
            <a:off x="162390" y="434635"/>
            <a:ext cx="12192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</a:t>
            </a:r>
            <a:r>
              <a:rPr lang="en-US" sz="2600" dirty="0">
                <a:solidFill>
                  <a:schemeClr val="bg2"/>
                </a:solidFill>
              </a:rPr>
              <a:t>What are the main measures of center and spread we use and what are the benefits of each?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AB795-EE63-624F-9287-3A0360438647}"/>
              </a:ext>
            </a:extLst>
          </p:cNvPr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50F5C-7368-1449-944C-D885DD66BAE4}"/>
              </a:ext>
            </a:extLst>
          </p:cNvPr>
          <p:cNvSpPr txBox="1"/>
          <p:nvPr/>
        </p:nvSpPr>
        <p:spPr>
          <a:xfrm>
            <a:off x="64034" y="1788852"/>
            <a:ext cx="7232857" cy="2523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en-US" sz="2400" b="1" dirty="0">
                <a:solidFill>
                  <a:schemeClr val="accent2"/>
                </a:solidFill>
              </a:rPr>
              <a:t>Mode</a:t>
            </a:r>
            <a:r>
              <a:rPr lang="en-US" altLang="en-US" sz="2400" dirty="0"/>
              <a:t> - The </a:t>
            </a:r>
            <a:r>
              <a:rPr lang="en-US" altLang="en-US" sz="2400" b="1" dirty="0">
                <a:solidFill>
                  <a:schemeClr val="hlink"/>
                </a:solidFill>
              </a:rPr>
              <a:t>most</a:t>
            </a:r>
            <a:r>
              <a:rPr lang="en-US" altLang="en-US" sz="2400" dirty="0"/>
              <a:t> frequently occurring value in the data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</a:pPr>
            <a:r>
              <a:rPr lang="en-US" altLang="en-US" sz="2400" dirty="0"/>
              <a:t>Factors</a:t>
            </a:r>
            <a:r>
              <a:rPr lang="en-US" altLang="en-US" sz="2400" b="1" dirty="0"/>
              <a:t>	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sz="2400" dirty="0"/>
              <a:t>Not Affected by 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chemeClr val="hlink"/>
                </a:solidFill>
              </a:rPr>
              <a:t>________ 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sz="2400" dirty="0"/>
              <a:t>There May Not be a Mode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sz="2400" dirty="0"/>
              <a:t>There May be Several Modes</a:t>
            </a:r>
          </a:p>
          <a:p>
            <a:pPr>
              <a:lnSpc>
                <a:spcPct val="135000"/>
              </a:lnSpc>
            </a:pPr>
            <a:endParaRPr lang="en-US" alt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8B8E2-26D7-F947-85F9-066DF6210942}"/>
              </a:ext>
            </a:extLst>
          </p:cNvPr>
          <p:cNvSpPr/>
          <p:nvPr/>
        </p:nvSpPr>
        <p:spPr>
          <a:xfrm>
            <a:off x="6258390" y="2860941"/>
            <a:ext cx="58695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dirty="0"/>
              <a:t>0   1   2   3   4   5   6   7   8   9   10   11   12   13</a:t>
            </a:r>
            <a:endParaRPr lang="en-US" altLang="en-US" sz="2400" dirty="0">
              <a:solidFill>
                <a:srgbClr val="FFFFCC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0C38AD-A555-1C44-8A9C-D3557D1842D8}"/>
              </a:ext>
            </a:extLst>
          </p:cNvPr>
          <p:cNvCxnSpPr>
            <a:cxnSpLocks/>
          </p:cNvCxnSpPr>
          <p:nvPr/>
        </p:nvCxnSpPr>
        <p:spPr>
          <a:xfrm>
            <a:off x="6411071" y="2890925"/>
            <a:ext cx="52512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61E0680-3645-6340-888A-653279094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4843" y="2618104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9261F34-3B6B-224D-92A0-A78C5725F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481" y="2595671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B5CA35-0D19-7A4D-AC5C-6D153A79A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481" y="2305369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F9BB26-2A7C-5947-9791-CAE887CED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0777" y="2595859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AC34AF0-0ECD-D148-A2AC-88216D257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447" y="257625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924F31-2027-324F-AACE-DEF4DC078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9500" y="2301016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3C38DE3-08F9-1940-A732-2B8595E8F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447" y="204517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8B0B11-AEAA-BF40-A79D-3E8B606CF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9637" y="2584804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2ABC28-83F3-9C49-BEEA-58B1D19CC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6169" y="2554165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AA7F48-D1C9-2449-9A07-DA3C11E95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6169" y="2312284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4" name="Arrow: Up 28">
            <a:extLst>
              <a:ext uri="{FF2B5EF4-FFF2-40B4-BE49-F238E27FC236}">
                <a16:creationId xmlns:a16="http://schemas.microsoft.com/office/drawing/2014/main" id="{71A1B8F7-E092-304E-816D-BF71FABDCC32}"/>
              </a:ext>
            </a:extLst>
          </p:cNvPr>
          <p:cNvSpPr/>
          <p:nvPr/>
        </p:nvSpPr>
        <p:spPr>
          <a:xfrm>
            <a:off x="9610465" y="3298982"/>
            <a:ext cx="105247" cy="44113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946408-46B4-434C-AB5B-81BD9A706CBA}"/>
              </a:ext>
            </a:extLst>
          </p:cNvPr>
          <p:cNvSpPr txBox="1"/>
          <p:nvPr/>
        </p:nvSpPr>
        <p:spPr>
          <a:xfrm>
            <a:off x="64034" y="4685903"/>
            <a:ext cx="4695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Range is the difference between the largest and smallest values.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CC4605-9194-EC41-9181-2F4CAB978504}"/>
              </a:ext>
            </a:extLst>
          </p:cNvPr>
          <p:cNvSpPr txBox="1"/>
          <p:nvPr/>
        </p:nvSpPr>
        <p:spPr>
          <a:xfrm>
            <a:off x="5368961" y="4782496"/>
            <a:ext cx="675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Range =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chemeClr val="hlink"/>
                </a:solidFill>
              </a:rPr>
              <a:t>________________ </a:t>
            </a:r>
            <a:r>
              <a:rPr lang="en-AU" sz="2400" b="1" dirty="0"/>
              <a:t>– 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chemeClr val="hlink"/>
                </a:solidFill>
              </a:rPr>
              <a:t>_________________ </a:t>
            </a:r>
            <a:endParaRPr lang="en-AU" sz="24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18FD81-1519-BF45-8CF3-078402F7B146}"/>
              </a:ext>
            </a:extLst>
          </p:cNvPr>
          <p:cNvSpPr/>
          <p:nvPr/>
        </p:nvSpPr>
        <p:spPr>
          <a:xfrm>
            <a:off x="684551" y="5890503"/>
            <a:ext cx="108228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i="1" dirty="0"/>
              <a:t>Mean, Median and Mode are measures of centre while Range is a measure of spread.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9C780-D867-4943-9C1D-7098FF1D5FBD}"/>
              </a:ext>
            </a:extLst>
          </p:cNvPr>
          <p:cNvSpPr txBox="1"/>
          <p:nvPr/>
        </p:nvSpPr>
        <p:spPr>
          <a:xfrm>
            <a:off x="9023351" y="3777624"/>
            <a:ext cx="2016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Mode = 9</a:t>
            </a:r>
          </a:p>
        </p:txBody>
      </p:sp>
    </p:spTree>
    <p:extLst>
      <p:ext uri="{BB962C8B-B14F-4D97-AF65-F5344CB8AC3E}">
        <p14:creationId xmlns:p14="http://schemas.microsoft.com/office/powerpoint/2010/main" val="84765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D05381-5BFD-E74D-A37E-175AA0E4F977}"/>
              </a:ext>
            </a:extLst>
          </p:cNvPr>
          <p:cNvSpPr txBox="1"/>
          <p:nvPr/>
        </p:nvSpPr>
        <p:spPr>
          <a:xfrm>
            <a:off x="67340" y="493732"/>
            <a:ext cx="12192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</a:t>
            </a:r>
            <a:r>
              <a:rPr lang="en-US" sz="2600" dirty="0">
                <a:solidFill>
                  <a:schemeClr val="bg2"/>
                </a:solidFill>
              </a:rPr>
              <a:t>What are the main measures of center and spread we use and what are the benefits of each?</a:t>
            </a:r>
          </a:p>
        </p:txBody>
      </p:sp>
      <p:sp>
        <p:nvSpPr>
          <p:cNvPr id="3" name="AutoShape 15">
            <a:extLst>
              <a:ext uri="{FF2B5EF4-FFF2-40B4-BE49-F238E27FC236}">
                <a16:creationId xmlns:a16="http://schemas.microsoft.com/office/drawing/2014/main" id="{5EDDD16F-A0F9-364A-9E66-CB93C4E3D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9370" y="4367844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AU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E56C8-4CFA-544C-AC01-BE015C1B89A6}"/>
              </a:ext>
            </a:extLst>
          </p:cNvPr>
          <p:cNvSpPr txBox="1"/>
          <p:nvPr/>
        </p:nvSpPr>
        <p:spPr>
          <a:xfrm>
            <a:off x="363220" y="1811190"/>
            <a:ext cx="11179206" cy="1290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400" b="1" u="sng" dirty="0">
                <a:solidFill>
                  <a:schemeClr val="accent2"/>
                </a:solidFill>
              </a:rPr>
              <a:t>Example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Diameter of 10 trees randomly selected from Kings Park: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                    9.8, 10.2, 10.1, 14.5, 17.5, 13.9, 20.0, 15.5, 7.8, 24.5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42C03-9EBF-554B-89E1-FDC1DE1385EE}"/>
              </a:ext>
            </a:extLst>
          </p:cNvPr>
          <p:cNvSpPr txBox="1"/>
          <p:nvPr/>
        </p:nvSpPr>
        <p:spPr>
          <a:xfrm>
            <a:off x="527851" y="4253127"/>
            <a:ext cx="8051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Median</a:t>
            </a:r>
            <a:r>
              <a:rPr lang="en-US" altLang="en-US" sz="2400" dirty="0"/>
              <a:t>:      7.8, 9.8, 10.1, 10.2, </a:t>
            </a:r>
            <a:r>
              <a:rPr lang="en-US" altLang="en-US" sz="2400" dirty="0">
                <a:solidFill>
                  <a:srgbClr val="FF0000"/>
                </a:solidFill>
              </a:rPr>
              <a:t>13.9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FF0000"/>
                </a:solidFill>
              </a:rPr>
              <a:t>14.5</a:t>
            </a:r>
            <a:r>
              <a:rPr lang="en-US" altLang="en-US" sz="2400" dirty="0"/>
              <a:t>, 15.5, 17.5, 20.0, 24.5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15B071-9CE3-9545-AE85-245F514C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89" y="3044945"/>
            <a:ext cx="4253097" cy="996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66127A-E38E-FB46-B5DD-C2E1C47EE88B}"/>
              </a:ext>
            </a:extLst>
          </p:cNvPr>
          <p:cNvSpPr txBox="1"/>
          <p:nvPr/>
        </p:nvSpPr>
        <p:spPr>
          <a:xfrm>
            <a:off x="563810" y="3074206"/>
            <a:ext cx="1473024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Mean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B8B47-0EEE-2C4F-BFE3-BA5549F9B2AE}"/>
              </a:ext>
            </a:extLst>
          </p:cNvPr>
          <p:cNvSpPr txBox="1"/>
          <p:nvPr/>
        </p:nvSpPr>
        <p:spPr>
          <a:xfrm>
            <a:off x="236515" y="4880898"/>
            <a:ext cx="159925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b="1" dirty="0"/>
              <a:t>Mode</a:t>
            </a:r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22E91-1BE3-034C-BC3B-9F308E16A075}"/>
              </a:ext>
            </a:extLst>
          </p:cNvPr>
          <p:cNvSpPr txBox="1"/>
          <p:nvPr/>
        </p:nvSpPr>
        <p:spPr>
          <a:xfrm>
            <a:off x="2000875" y="5206845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 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1FAF0-FC0C-3C43-B6FE-16B801E057D4}"/>
              </a:ext>
            </a:extLst>
          </p:cNvPr>
          <p:cNvSpPr txBox="1"/>
          <p:nvPr/>
        </p:nvSpPr>
        <p:spPr>
          <a:xfrm>
            <a:off x="527851" y="6134942"/>
            <a:ext cx="4356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Range		</a:t>
            </a:r>
            <a:r>
              <a:rPr lang="en-US" sz="2400" dirty="0"/>
              <a:t>24.5 – 7.8 = 16.7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7F4988-D033-FF4C-9147-C11D6CA96494}"/>
              </a:ext>
            </a:extLst>
          </p:cNvPr>
          <p:cNvSpPr txBox="1"/>
          <p:nvPr/>
        </p:nvSpPr>
        <p:spPr>
          <a:xfrm>
            <a:off x="9218855" y="4289411"/>
            <a:ext cx="3003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(13.9 + 14.5) / 2 = 14.2</a:t>
            </a:r>
          </a:p>
        </p:txBody>
      </p:sp>
      <p:sp>
        <p:nvSpPr>
          <p:cNvPr id="2" name="Doughnut 1">
            <a:extLst>
              <a:ext uri="{FF2B5EF4-FFF2-40B4-BE49-F238E27FC236}">
                <a16:creationId xmlns:a16="http://schemas.microsoft.com/office/drawing/2014/main" id="{ECBF344D-E5D2-C843-8127-7813CCDB462A}"/>
              </a:ext>
            </a:extLst>
          </p:cNvPr>
          <p:cNvSpPr/>
          <p:nvPr/>
        </p:nvSpPr>
        <p:spPr>
          <a:xfrm>
            <a:off x="4302177" y="4041319"/>
            <a:ext cx="1650646" cy="881533"/>
          </a:xfrm>
          <a:prstGeom prst="donut">
            <a:avLst/>
          </a:prstGeom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22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8" grpId="0" animBg="1"/>
      <p:bldP spid="9" grpId="0" animBg="1"/>
      <p:bldP spid="10" grpId="0"/>
      <p:bldP spid="11" grpId="0"/>
      <p:bldP spid="12" grpId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Do you understand? </a:t>
            </a:r>
            <a:r>
              <a:rPr lang="en-US" sz="3200" dirty="0" err="1"/>
              <a:t>Quickfire</a:t>
            </a:r>
            <a:r>
              <a:rPr lang="en-US" sz="3200" dirty="0"/>
              <a:t> Tips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154" y="2082547"/>
            <a:ext cx="8229600" cy="1252736"/>
          </a:xfrm>
        </p:spPr>
        <p:txBody>
          <a:bodyPr>
            <a:normAutofit/>
          </a:bodyPr>
          <a:lstStyle/>
          <a:p>
            <a:r>
              <a:rPr lang="en-US" dirty="0"/>
              <a:t>What are 3 tips you could give someone who was trying to find measures of location/spread?</a:t>
            </a:r>
            <a:endParaRPr lang="en-AU" dirty="0"/>
          </a:p>
        </p:txBody>
      </p:sp>
      <p:sp>
        <p:nvSpPr>
          <p:cNvPr id="5" name="AutoShape 4" descr="Image result for idea"/>
          <p:cNvSpPr>
            <a:spLocks noChangeAspect="1" noChangeArrowheads="1"/>
          </p:cNvSpPr>
          <p:nvPr/>
        </p:nvSpPr>
        <p:spPr bwMode="auto">
          <a:xfrm>
            <a:off x="3719736" y="2708915"/>
            <a:ext cx="2105000" cy="210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788" y="3009403"/>
            <a:ext cx="3370485" cy="337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2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957731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7BE4BE-3636-4AF8-9A5A-D6F9B06D57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7" t="65763"/>
          <a:stretch/>
        </p:blipFill>
        <p:spPr>
          <a:xfrm>
            <a:off x="208721" y="1362395"/>
            <a:ext cx="11814313" cy="16715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F51645-B52B-4621-BB51-B0CCDFE2241D}"/>
              </a:ext>
            </a:extLst>
          </p:cNvPr>
          <p:cNvSpPr txBox="1"/>
          <p:nvPr/>
        </p:nvSpPr>
        <p:spPr>
          <a:xfrm>
            <a:off x="-401924" y="591141"/>
            <a:ext cx="3508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solidFill>
                  <a:schemeClr val="bg2"/>
                </a:solidFill>
              </a:rPr>
              <a:t>YOUR TURN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0042D-64CE-429E-A3D5-13F8CE77FB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0786"/>
          <a:stretch/>
        </p:blipFill>
        <p:spPr>
          <a:xfrm>
            <a:off x="3236741" y="6033051"/>
            <a:ext cx="8786293" cy="711281"/>
          </a:xfrm>
          <a:prstGeom prst="rect">
            <a:avLst/>
          </a:prstGeom>
        </p:spPr>
      </p:pic>
      <p:pic>
        <p:nvPicPr>
          <p:cNvPr id="2050" name="Picture 2" descr="happy best gif GIF">
            <a:extLst>
              <a:ext uri="{FF2B5EF4-FFF2-40B4-BE49-F238E27FC236}">
                <a16:creationId xmlns:a16="http://schemas.microsoft.com/office/drawing/2014/main" id="{543A5058-6261-4BE6-BA93-9828E479B6B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014" y="2226901"/>
            <a:ext cx="1905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46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375BA2-F0AA-4EC0-BB62-4FDB1BC9D9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77585"/>
          <a:stretch/>
        </p:blipFill>
        <p:spPr>
          <a:xfrm>
            <a:off x="526774" y="694263"/>
            <a:ext cx="11171583" cy="13233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5945C7-7CDF-402A-89E9-506FE351D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380" t="23437" r="1380" b="47472"/>
          <a:stretch/>
        </p:blipFill>
        <p:spPr>
          <a:xfrm>
            <a:off x="367747" y="2017643"/>
            <a:ext cx="11171583" cy="17176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DB6D3A-E1B3-4549-BA85-6484BE4C7722}"/>
              </a:ext>
            </a:extLst>
          </p:cNvPr>
          <p:cNvSpPr txBox="1"/>
          <p:nvPr/>
        </p:nvSpPr>
        <p:spPr>
          <a:xfrm>
            <a:off x="5764696" y="3735275"/>
            <a:ext cx="60529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With the person next to you….. How would you solve it?</a:t>
            </a:r>
          </a:p>
        </p:txBody>
      </p:sp>
      <p:pic>
        <p:nvPicPr>
          <p:cNvPr id="4098" name="Picture 2" descr="dog what GIF by KeepUpWithJaz">
            <a:extLst>
              <a:ext uri="{FF2B5EF4-FFF2-40B4-BE49-F238E27FC236}">
                <a16:creationId xmlns:a16="http://schemas.microsoft.com/office/drawing/2014/main" id="{E5F1B486-46C0-4823-92BE-042BB361268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638" y="145220"/>
            <a:ext cx="1362075" cy="2421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32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800" dirty="0"/>
              <a:t>Mean Median Mode and Range Worksheet</a:t>
            </a:r>
            <a:endParaRPr lang="en-AU" sz="2800" dirty="0"/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0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2190749"/>
            <a:ext cx="11058144" cy="4124707"/>
          </a:xfrm>
        </p:spPr>
        <p:txBody>
          <a:bodyPr>
            <a:normAutofit/>
          </a:bodyPr>
          <a:lstStyle/>
          <a:p>
            <a:r>
              <a:rPr lang="en-AU" sz="2800" dirty="0"/>
              <a:t>Write a summary answering the essential question. </a:t>
            </a:r>
          </a:p>
          <a:p>
            <a:r>
              <a:rPr lang="en-AU" sz="2800" dirty="0"/>
              <a:t>Add at least three new terms to your glossary</a:t>
            </a:r>
          </a:p>
        </p:txBody>
      </p:sp>
    </p:spTree>
    <p:extLst>
      <p:ext uri="{BB962C8B-B14F-4D97-AF65-F5344CB8AC3E}">
        <p14:creationId xmlns:p14="http://schemas.microsoft.com/office/powerpoint/2010/main" val="40148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619</Words>
  <Application>Microsoft Macintosh PowerPoint</Application>
  <PresentationFormat>Widescreen</PresentationFormat>
  <Paragraphs>93</Paragraphs>
  <Slides>13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Fragment Core</vt:lpstr>
      <vt:lpstr>Times New Roman</vt:lpstr>
      <vt:lpstr>Wingdings</vt:lpstr>
      <vt:lpstr>Education 16x9</vt:lpstr>
      <vt:lpstr>Topic: Statistics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Quickfire Tips</vt:lpstr>
      <vt:lpstr>Task</vt:lpstr>
      <vt:lpstr>PowerPoint Presentation</vt:lpstr>
      <vt:lpstr>Practice</vt:lpstr>
      <vt:lpstr>Exit ticket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2019-07-21T10:31:27Z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
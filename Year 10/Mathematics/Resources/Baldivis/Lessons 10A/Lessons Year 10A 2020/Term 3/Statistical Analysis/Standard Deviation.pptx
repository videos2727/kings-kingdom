
<file path=[Content_Types].xml><?xml version="1.0" encoding="utf-8"?>
<Types xmlns="http://schemas.openxmlformats.org/package/2006/content-types">
  <Default Extension="xml" ContentType="application/xml"/>
  <Default Extension="wmf" ContentType="image/x-wmf"/>
  <Default Extension="jpg" ContentType="image/jpeg"/>
  <Default Extension="jpeg" ContentType="image/jpeg"/>
  <Default Extension="rels" ContentType="application/vnd.openxmlformats-package.relationships+xml"/>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24"/>
  </p:notesMasterIdLst>
  <p:handoutMasterIdLst>
    <p:handoutMasterId r:id="rId25"/>
  </p:handoutMasterIdLst>
  <p:sldIdLst>
    <p:sldId id="258" r:id="rId5"/>
    <p:sldId id="266" r:id="rId6"/>
    <p:sldId id="343" r:id="rId7"/>
    <p:sldId id="268" r:id="rId8"/>
    <p:sldId id="349" r:id="rId9"/>
    <p:sldId id="344" r:id="rId10"/>
    <p:sldId id="346" r:id="rId11"/>
    <p:sldId id="350" r:id="rId12"/>
    <p:sldId id="362" r:id="rId13"/>
    <p:sldId id="368" r:id="rId14"/>
    <p:sldId id="364" r:id="rId15"/>
    <p:sldId id="369" r:id="rId16"/>
    <p:sldId id="370" r:id="rId17"/>
    <p:sldId id="371" r:id="rId18"/>
    <p:sldId id="345" r:id="rId19"/>
    <p:sldId id="357" r:id="rId20"/>
    <p:sldId id="359" r:id="rId21"/>
    <p:sldId id="340" r:id="rId22"/>
    <p:sldId id="28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07" autoAdjust="0"/>
    <p:restoredTop sz="90013"/>
  </p:normalViewPr>
  <p:slideViewPr>
    <p:cSldViewPr snapToGrid="0">
      <p:cViewPr varScale="1">
        <p:scale>
          <a:sx n="105" d="100"/>
          <a:sy n="105" d="100"/>
        </p:scale>
        <p:origin x="200" y="408"/>
      </p:cViewPr>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notesMaster" Target="notesMasters/notesMaster1.xml"/><Relationship Id="rId25" Type="http://schemas.openxmlformats.org/officeDocument/2006/relationships/handoutMaster" Target="handoutMasters/handout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1.wmf"/><Relationship Id="rId4" Type="http://schemas.openxmlformats.org/officeDocument/2006/relationships/image" Target="../media/image12.wmf"/><Relationship Id="rId5" Type="http://schemas.openxmlformats.org/officeDocument/2006/relationships/image" Target="../media/image13.wmf"/><Relationship Id="rId1" Type="http://schemas.openxmlformats.org/officeDocument/2006/relationships/image" Target="../media/image9.wmf"/><Relationship Id="rId2"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2.wmf"/><Relationship Id="rId4" Type="http://schemas.openxmlformats.org/officeDocument/2006/relationships/image" Target="../media/image23.wmf"/><Relationship Id="rId5" Type="http://schemas.openxmlformats.org/officeDocument/2006/relationships/image" Target="../media/image24.wmf"/><Relationship Id="rId6" Type="http://schemas.openxmlformats.org/officeDocument/2006/relationships/image" Target="../media/image25.wmf"/><Relationship Id="rId1" Type="http://schemas.openxmlformats.org/officeDocument/2006/relationships/image" Target="../media/image20.wmf"/><Relationship Id="rId2" Type="http://schemas.openxmlformats.org/officeDocument/2006/relationships/image" Target="../media/image2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wmf"/><Relationship Id="rId2" Type="http://schemas.openxmlformats.org/officeDocument/2006/relationships/image" Target="../media/image2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t>7/30/18</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t>‹#›</a:t>
            </a:fld>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7F6C43-988E-4257-9A1C-C162EF036D58}" type="datetimeFigureOut">
              <a:rPr lang="en-US"/>
              <a:t>7/30/18</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D491D0-8E1B-49C7-849B-A28568D94497}" type="slidenum">
              <a:rPr/>
              <a:t>‹#›</a:t>
            </a:fld>
            <a:endParaRPr/>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uk-UA" smtClean="0"/>
              <a:t>3</a:t>
            </a:fld>
            <a:endParaRPr lang="uk-UA"/>
          </a:p>
        </p:txBody>
      </p:sp>
    </p:spTree>
    <p:extLst>
      <p:ext uri="{BB962C8B-B14F-4D97-AF65-F5344CB8AC3E}">
        <p14:creationId xmlns:p14="http://schemas.microsoft.com/office/powerpoint/2010/main" val="815701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uk-UA" smtClean="0"/>
              <a:t>18</a:t>
            </a:fld>
            <a:endParaRPr lang="uk-UA"/>
          </a:p>
        </p:txBody>
      </p:sp>
    </p:spTree>
    <p:extLst>
      <p:ext uri="{BB962C8B-B14F-4D97-AF65-F5344CB8AC3E}">
        <p14:creationId xmlns:p14="http://schemas.microsoft.com/office/powerpoint/2010/main" val="1609682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p:nvSpPr>
        <p:spPr>
          <a:xfrm>
            <a:off x="2832533" y="1371600"/>
            <a:ext cx="9359467"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2832533" y="4462272"/>
            <a:ext cx="9359467" cy="1033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bwMode="black">
          <a:xfrm>
            <a:off x="3175199" y="1943842"/>
            <a:ext cx="8500062" cy="2387600"/>
          </a:xfrm>
        </p:spPr>
        <p:txBody>
          <a:bodyPr anchor="b"/>
          <a:lstStyle>
            <a:lvl1pPr algn="l">
              <a:lnSpc>
                <a:spcPct val="90000"/>
              </a:lnSpc>
              <a:defRPr sz="6000" b="1">
                <a:solidFill>
                  <a:schemeClr val="tx1"/>
                </a:solidFill>
              </a:defRPr>
            </a:lvl1pPr>
          </a:lstStyle>
          <a:p>
            <a:r>
              <a:rPr/>
              <a:t>Click to edit Master title style</a:t>
            </a:r>
          </a:p>
        </p:txBody>
      </p:sp>
      <p:sp>
        <p:nvSpPr>
          <p:cNvPr id="3" name="Subtitle 2"/>
          <p:cNvSpPr>
            <a:spLocks noGrp="1"/>
          </p:cNvSpPr>
          <p:nvPr>
            <p:ph type="subTitle" idx="1"/>
          </p:nvPr>
        </p:nvSpPr>
        <p:spPr>
          <a:xfrm>
            <a:off x="3175199" y="4538659"/>
            <a:ext cx="8500062" cy="865321"/>
          </a:xfrm>
        </p:spPr>
        <p:txBody>
          <a:bodyPr/>
          <a:lstStyle>
            <a:lvl1pPr marL="0" indent="0" algn="l">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a:t>Click to edit Master subtitle style</a:t>
            </a:r>
          </a:p>
        </p:txBody>
      </p:sp>
      <p:sp>
        <p:nvSpPr>
          <p:cNvPr id="11" name="Date Placeholder 10"/>
          <p:cNvSpPr>
            <a:spLocks noGrp="1"/>
          </p:cNvSpPr>
          <p:nvPr>
            <p:ph type="dt" sz="half" idx="10"/>
          </p:nvPr>
        </p:nvSpPr>
        <p:spPr/>
        <p:txBody>
          <a:bodyPr/>
          <a:lstStyle/>
          <a:p>
            <a:fld id="{2CCFE9AC-F15C-4FA0-A6F1-298829FA691D}" type="datetimeFigureOut">
              <a:rPr lang="en-US"/>
              <a:t>7/30/18</a:t>
            </a:fld>
            <a:endParaRPr/>
          </a:p>
        </p:txBody>
      </p:sp>
      <p:sp>
        <p:nvSpPr>
          <p:cNvPr id="12" name="Footer Placeholder 11"/>
          <p:cNvSpPr>
            <a:spLocks noGrp="1"/>
          </p:cNvSpPr>
          <p:nvPr>
            <p:ph type="ftr" sz="quarter" idx="11"/>
          </p:nvPr>
        </p:nvSpPr>
        <p:spPr/>
        <p:txBody>
          <a:bodyPr/>
          <a:lstStyle/>
          <a:p>
            <a:endParaRPr/>
          </a:p>
        </p:txBody>
      </p:sp>
      <p:sp>
        <p:nvSpPr>
          <p:cNvPr id="13" name="Slide Number Placeholder 12"/>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Content Placeholder 2"/>
          <p:cNvSpPr>
            <a:spLocks noGrp="1"/>
          </p:cNvSpPr>
          <p:nvPr>
            <p:ph idx="1"/>
          </p:nvPr>
        </p:nvSpPr>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p>
            <a:fld id="{2CCFE9AC-F15C-4FA0-A6F1-298829FA691D}" type="datetimeFigureOut">
              <a:rPr lang="en-US"/>
              <a:t>7/30/18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3502152" y="-20637"/>
            <a:ext cx="7315200" cy="434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3502152" y="4462272"/>
            <a:ext cx="7315200" cy="17190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3838015" y="658346"/>
            <a:ext cx="6597464" cy="3664417"/>
          </a:xfrm>
        </p:spPr>
        <p:txBody>
          <a:bodyPr anchor="b">
            <a:normAutofit/>
          </a:bodyPr>
          <a:lstStyle>
            <a:lvl1pPr>
              <a:lnSpc>
                <a:spcPct val="90000"/>
              </a:lnSpc>
              <a:defRPr sz="5000" b="1">
                <a:solidFill>
                  <a:schemeClr val="tx1"/>
                </a:solidFill>
              </a:defRPr>
            </a:lvl1pPr>
          </a:lstStyle>
          <a:p>
            <a:r>
              <a:rPr/>
              <a:t>Click to edit Master title style</a:t>
            </a:r>
          </a:p>
        </p:txBody>
      </p:sp>
      <p:sp>
        <p:nvSpPr>
          <p:cNvPr id="3" name="Text Placeholder 2"/>
          <p:cNvSpPr>
            <a:spLocks noGrp="1"/>
          </p:cNvSpPr>
          <p:nvPr>
            <p:ph type="body" idx="1"/>
          </p:nvPr>
        </p:nvSpPr>
        <p:spPr>
          <a:xfrm>
            <a:off x="3838014" y="4589463"/>
            <a:ext cx="6597465" cy="1500187"/>
          </a:xfrm>
        </p:spPr>
        <p:txBody>
          <a:bodyPr/>
          <a:lstStyle>
            <a:lvl1pPr marL="0" indent="0">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a:t>Click to edit Master text styles</a:t>
            </a:r>
          </a:p>
        </p:txBody>
      </p:sp>
      <p:sp>
        <p:nvSpPr>
          <p:cNvPr id="4" name="Date Placeholder 3"/>
          <p:cNvSpPr>
            <a:spLocks noGrp="1"/>
          </p:cNvSpPr>
          <p:nvPr>
            <p:ph type="dt" sz="half" idx="10"/>
          </p:nvPr>
        </p:nvSpPr>
        <p:spPr/>
        <p:txBody>
          <a:bodyPr/>
          <a:lstStyle/>
          <a:p>
            <a:fld id="{2CCFE9AC-F15C-4FA0-A6F1-298829FA691D}" type="datetimeFigureOut">
              <a:rPr lang="en-US"/>
              <a:t>7/30/18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82452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Content Placeholder 2"/>
          <p:cNvSpPr>
            <a:spLocks noGrp="1"/>
          </p:cNvSpPr>
          <p:nvPr>
            <p:ph sz="half" idx="1"/>
          </p:nvPr>
        </p:nvSpPr>
        <p:spPr>
          <a:xfrm>
            <a:off x="1280160" y="2194560"/>
            <a:ext cx="4489704" cy="3986784"/>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Content Placeholder 3"/>
          <p:cNvSpPr>
            <a:spLocks noGrp="1"/>
          </p:cNvSpPr>
          <p:nvPr>
            <p:ph sz="half" idx="2"/>
          </p:nvPr>
        </p:nvSpPr>
        <p:spPr>
          <a:xfrm>
            <a:off x="6415368" y="2194560"/>
            <a:ext cx="4493424" cy="3986784"/>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5" name="Date Placeholder 4"/>
          <p:cNvSpPr>
            <a:spLocks noGrp="1"/>
          </p:cNvSpPr>
          <p:nvPr>
            <p:ph type="dt" sz="half" idx="10"/>
          </p:nvPr>
        </p:nvSpPr>
        <p:spPr/>
        <p:txBody>
          <a:bodyPr/>
          <a:lstStyle/>
          <a:p>
            <a:fld id="{2CCFE9AC-F15C-4FA0-A6F1-298829FA691D}" type="datetimeFigureOut">
              <a:rPr lang="en-US"/>
              <a:t>7/30/18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Text Placeholder 2"/>
          <p:cNvSpPr>
            <a:spLocks noGrp="1"/>
          </p:cNvSpPr>
          <p:nvPr>
            <p:ph type="body" idx="1"/>
          </p:nvPr>
        </p:nvSpPr>
        <p:spPr>
          <a:xfrm>
            <a:off x="1280160"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edit Master text styles</a:t>
            </a:r>
          </a:p>
        </p:txBody>
      </p:sp>
      <p:sp>
        <p:nvSpPr>
          <p:cNvPr id="4" name="Content Placeholder 3"/>
          <p:cNvSpPr>
            <a:spLocks noGrp="1"/>
          </p:cNvSpPr>
          <p:nvPr>
            <p:ph sz="half" idx="2"/>
          </p:nvPr>
        </p:nvSpPr>
        <p:spPr>
          <a:xfrm>
            <a:off x="1280160" y="2743194"/>
            <a:ext cx="4489704" cy="3433769"/>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5" name="Text Placeholder 4"/>
          <p:cNvSpPr>
            <a:spLocks noGrp="1"/>
          </p:cNvSpPr>
          <p:nvPr>
            <p:ph type="body" sz="quarter" idx="3"/>
          </p:nvPr>
        </p:nvSpPr>
        <p:spPr>
          <a:xfrm>
            <a:off x="6419088"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edit Master text styles</a:t>
            </a:r>
          </a:p>
        </p:txBody>
      </p:sp>
      <p:sp>
        <p:nvSpPr>
          <p:cNvPr id="6" name="Content Placeholder 5"/>
          <p:cNvSpPr>
            <a:spLocks noGrp="1"/>
          </p:cNvSpPr>
          <p:nvPr>
            <p:ph sz="quarter" idx="4"/>
          </p:nvPr>
        </p:nvSpPr>
        <p:spPr>
          <a:xfrm>
            <a:off x="6419088" y="2743194"/>
            <a:ext cx="4489704" cy="3433769"/>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7" name="Date Placeholder 6"/>
          <p:cNvSpPr>
            <a:spLocks noGrp="1"/>
          </p:cNvSpPr>
          <p:nvPr>
            <p:ph type="dt" sz="half" idx="10"/>
          </p:nvPr>
        </p:nvSpPr>
        <p:spPr/>
        <p:txBody>
          <a:bodyPr/>
          <a:lstStyle/>
          <a:p>
            <a:fld id="{2CCFE9AC-F15C-4FA0-A6F1-298829FA691D}" type="datetimeFigureOut">
              <a:rPr lang="en-US"/>
              <a:t>7/30/18</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Date Placeholder 2"/>
          <p:cNvSpPr>
            <a:spLocks noGrp="1"/>
          </p:cNvSpPr>
          <p:nvPr>
            <p:ph type="dt" sz="half" idx="10"/>
          </p:nvPr>
        </p:nvSpPr>
        <p:spPr/>
        <p:txBody>
          <a:bodyPr/>
          <a:lstStyle/>
          <a:p>
            <a:fld id="{2CCFE9AC-F15C-4FA0-A6F1-298829FA691D}" type="datetimeFigureOut">
              <a:rPr lang="en-US"/>
              <a:t>7/30/18</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CFE9AC-F15C-4FA0-A6F1-298829FA691D}" type="datetimeFigureOut">
              <a:rPr lang="en-US"/>
              <a:t>7/30/18</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a:t>Click to edit Master title style</a:t>
            </a:r>
          </a:p>
        </p:txBody>
      </p:sp>
      <p:sp>
        <p:nvSpPr>
          <p:cNvPr id="3" name="Content Placeholder 2"/>
          <p:cNvSpPr>
            <a:spLocks noGrp="1"/>
          </p:cNvSpPr>
          <p:nvPr>
            <p:ph idx="1"/>
          </p:nvPr>
        </p:nvSpPr>
        <p:spPr>
          <a:xfrm>
            <a:off x="5518896" y="2465294"/>
            <a:ext cx="5389895" cy="4392706"/>
          </a:xfrm>
        </p:spPr>
        <p:txBody>
          <a:bodyPr>
            <a:norm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Text Placeholder 3"/>
          <p:cNvSpPr>
            <a:spLocks noGrp="1"/>
          </p:cNvSpPr>
          <p:nvPr>
            <p:ph type="body" sz="half" idx="2"/>
          </p:nvPr>
        </p:nvSpPr>
        <p:spPr>
          <a:xfrm>
            <a:off x="1291818" y="2465294"/>
            <a:ext cx="3834874" cy="3711669"/>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5" name="Date Placeholder 4"/>
          <p:cNvSpPr>
            <a:spLocks noGrp="1"/>
          </p:cNvSpPr>
          <p:nvPr>
            <p:ph type="dt" sz="half" idx="10"/>
          </p:nvPr>
        </p:nvSpPr>
        <p:spPr/>
        <p:txBody>
          <a:bodyPr/>
          <a:lstStyle/>
          <a:p>
            <a:fld id="{2CCFE9AC-F15C-4FA0-A6F1-298829FA691D}" type="datetimeFigureOut">
              <a:rPr lang="en-US"/>
              <a:t>7/30/18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a:t>Click to edit Master title style</a:t>
            </a:r>
          </a:p>
        </p:txBody>
      </p:sp>
      <p:sp>
        <p:nvSpPr>
          <p:cNvPr id="3" name="Picture Placeholder 2"/>
          <p:cNvSpPr>
            <a:spLocks noGrp="1"/>
          </p:cNvSpPr>
          <p:nvPr>
            <p:ph type="pic" idx="1"/>
          </p:nvPr>
        </p:nvSpPr>
        <p:spPr>
          <a:xfrm>
            <a:off x="5518896" y="1828456"/>
            <a:ext cx="5389895" cy="5029544"/>
          </a:xfrm>
        </p:spPr>
        <p:txBody>
          <a:bodyPr tIns="13716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a:xfrm>
            <a:off x="1291819" y="2465293"/>
            <a:ext cx="3834874" cy="3711669"/>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5" name="Date Placeholder 4"/>
          <p:cNvSpPr>
            <a:spLocks noGrp="1"/>
          </p:cNvSpPr>
          <p:nvPr>
            <p:ph type="dt" sz="half" idx="10"/>
          </p:nvPr>
        </p:nvSpPr>
        <p:spPr/>
        <p:txBody>
          <a:bodyPr/>
          <a:lstStyle/>
          <a:p>
            <a:fld id="{2CCFE9AC-F15C-4FA0-A6F1-298829FA691D}" type="datetimeFigureOut">
              <a:rPr lang="en-US"/>
              <a:t>7/30/18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16136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Vertical Text Placeholder 2"/>
          <p:cNvSpPr>
            <a:spLocks noGrp="1"/>
          </p:cNvSpPr>
          <p:nvPr>
            <p:ph type="body" orient="vert" idx="1"/>
          </p:nvPr>
        </p:nvSpPr>
        <p:spPr/>
        <p:txBody>
          <a:bodyPr vert="eaVert"/>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p>
            <a:fld id="{2CCFE9AC-F15C-4FA0-A6F1-298829FA691D}" type="datetimeFigureOut">
              <a:rPr lang="en-US"/>
              <a:t>7/30/18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64405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378199" y="462249"/>
            <a:ext cx="9693088" cy="5714714"/>
          </a:xfrm>
        </p:spPr>
        <p:txBody>
          <a:bodyPr vert="eaVert"/>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a:xfrm>
            <a:off x="378199" y="6356350"/>
            <a:ext cx="1971947" cy="365125"/>
          </a:xfrm>
        </p:spPr>
        <p:txBody>
          <a:bodyPr/>
          <a:lstStyle/>
          <a:p>
            <a:fld id="{2CCFE9AC-F15C-4FA0-A6F1-298829FA691D}" type="datetimeFigureOut">
              <a:rPr lang="en-US"/>
              <a:t>7/30/18</a:t>
            </a:fld>
            <a:endParaRPr/>
          </a:p>
        </p:txBody>
      </p:sp>
      <p:sp>
        <p:nvSpPr>
          <p:cNvPr id="5" name="Footer Placeholder 4"/>
          <p:cNvSpPr>
            <a:spLocks noGrp="1"/>
          </p:cNvSpPr>
          <p:nvPr>
            <p:ph type="ftr" sz="quarter" idx="11"/>
          </p:nvPr>
        </p:nvSpPr>
        <p:spPr>
          <a:xfrm>
            <a:off x="2382374" y="6356350"/>
            <a:ext cx="5687786" cy="365125"/>
          </a:xfrm>
        </p:spPr>
        <p:txBody>
          <a:bodyPr/>
          <a:lstStyle/>
          <a:p>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invGray">
          <a:xfrm rot="5400000">
            <a:off x="7523375" y="2743540"/>
            <a:ext cx="6857433" cy="1371487"/>
          </a:xfrm>
          <a:prstGeom prst="rect">
            <a:avLst/>
          </a:prstGeom>
        </p:spPr>
      </p:pic>
      <p:sp>
        <p:nvSpPr>
          <p:cNvPr id="10" name="Rectangle 9"/>
          <p:cNvSpPr/>
          <p:nvPr/>
        </p:nvSpPr>
        <p:spPr>
          <a:xfrm rot="5400000">
            <a:off x="8267671" y="3370131"/>
            <a:ext cx="6858000"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266348" y="462249"/>
            <a:ext cx="1370886" cy="5714714"/>
          </a:xfrm>
        </p:spPr>
        <p:txBody>
          <a:bodyPr vert="eaVert"/>
          <a:lstStyle/>
          <a:p>
            <a:r>
              <a:rPr/>
              <a:t>Click to edit Master title style</a:t>
            </a:r>
          </a:p>
        </p:txBody>
      </p:sp>
      <p:sp>
        <p:nvSpPr>
          <p:cNvPr id="6" name="Slide Number Placeholder 5"/>
          <p:cNvSpPr>
            <a:spLocks noGrp="1"/>
          </p:cNvSpPr>
          <p:nvPr>
            <p:ph type="sldNum" sz="quarter" idx="12"/>
          </p:nvPr>
        </p:nvSpPr>
        <p:spPr>
          <a:xfrm>
            <a:off x="8102389" y="6356350"/>
            <a:ext cx="1968898" cy="365125"/>
          </a:xfrm>
        </p:spPr>
        <p:txBody>
          <a:bodyPr/>
          <a:lstStyle/>
          <a:p>
            <a:fld id="{BD266BE7-899D-4075-917F-DBDE33B6B692}" type="slidenum">
              <a:rPr/>
              <a:t>‹#›</a:t>
            </a:fld>
            <a:endParaRPr/>
          </a:p>
        </p:txBody>
      </p:sp>
    </p:spTree>
    <p:extLst>
      <p:ext uri="{BB962C8B-B14F-4D97-AF65-F5344CB8AC3E}">
        <p14:creationId xmlns:p14="http://schemas.microsoft.com/office/powerpoint/2010/main" val="302941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534585" y="214314"/>
            <a:ext cx="10390716" cy="1462087"/>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1576917" y="2017713"/>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860117" y="2017713"/>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1576917" y="4151313"/>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6860117" y="4151313"/>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1"/>
          <p:cNvSpPr>
            <a:spLocks noGrp="1" noChangeArrowheads="1"/>
          </p:cNvSpPr>
          <p:nvPr>
            <p:ph type="dt" sz="half" idx="10"/>
          </p:nvPr>
        </p:nvSpPr>
        <p:spPr>
          <a:ln/>
        </p:spPr>
        <p:txBody>
          <a:bodyPr/>
          <a:lstStyle>
            <a:lvl1pPr>
              <a:defRPr/>
            </a:lvl1pPr>
          </a:lstStyle>
          <a:p>
            <a:pPr>
              <a:defRPr/>
            </a:pPr>
            <a:endParaRPr lang="en-US"/>
          </a:p>
        </p:txBody>
      </p:sp>
      <p:sp>
        <p:nvSpPr>
          <p:cNvPr id="8" name="Rectangle 12"/>
          <p:cNvSpPr>
            <a:spLocks noGrp="1" noChangeArrowheads="1"/>
          </p:cNvSpPr>
          <p:nvPr>
            <p:ph type="ftr" sz="quarter" idx="11"/>
          </p:nvPr>
        </p:nvSpPr>
        <p:spPr>
          <a:ln/>
        </p:spPr>
        <p:txBody>
          <a:bodyPr/>
          <a:lstStyle>
            <a:lvl1pPr>
              <a:defRPr/>
            </a:lvl1pPr>
          </a:lstStyle>
          <a:p>
            <a:pPr>
              <a:defRPr/>
            </a:pPr>
            <a:endParaRPr lang="en-US"/>
          </a:p>
        </p:txBody>
      </p:sp>
      <p:sp>
        <p:nvSpPr>
          <p:cNvPr id="9" name="Rectangle 13"/>
          <p:cNvSpPr>
            <a:spLocks noGrp="1" noChangeArrowheads="1"/>
          </p:cNvSpPr>
          <p:nvPr>
            <p:ph type="sldNum" sz="quarter" idx="12"/>
          </p:nvPr>
        </p:nvSpPr>
        <p:spPr>
          <a:ln/>
        </p:spPr>
        <p:txBody>
          <a:bodyPr/>
          <a:lstStyle>
            <a:lvl1pPr>
              <a:defRPr/>
            </a:lvl1pPr>
          </a:lstStyle>
          <a:p>
            <a:fld id="{3DC86809-DF32-D642-954E-BA8C5DAC9351}" type="slidenum">
              <a:rPr lang="en-US" altLang="x-none"/>
              <a:pPr/>
              <a:t>‹#›</a:t>
            </a:fld>
            <a:endParaRPr lang="en-US" altLang="x-none"/>
          </a:p>
        </p:txBody>
      </p:sp>
    </p:spTree>
    <p:extLst>
      <p:ext uri="{BB962C8B-B14F-4D97-AF65-F5344CB8AC3E}">
        <p14:creationId xmlns:p14="http://schemas.microsoft.com/office/powerpoint/2010/main" val="1903964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534584" y="214313"/>
            <a:ext cx="10405533" cy="591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11"/>
          <p:cNvSpPr>
            <a:spLocks noGrp="1" noChangeArrowheads="1"/>
          </p:cNvSpPr>
          <p:nvPr>
            <p:ph type="dt" sz="half" idx="10"/>
          </p:nvPr>
        </p:nvSpPr>
        <p:spPr>
          <a:ln/>
        </p:spPr>
        <p:txBody>
          <a:bodyPr/>
          <a:lstStyle>
            <a:lvl1pPr>
              <a:defRPr/>
            </a:lvl1pPr>
          </a:lstStyle>
          <a:p>
            <a:pPr>
              <a:defRPr/>
            </a:pPr>
            <a:endParaRPr lang="en-US"/>
          </a:p>
        </p:txBody>
      </p:sp>
      <p:sp>
        <p:nvSpPr>
          <p:cNvPr id="4" name="Rectangle 12"/>
          <p:cNvSpPr>
            <a:spLocks noGrp="1" noChangeArrowheads="1"/>
          </p:cNvSpPr>
          <p:nvPr>
            <p:ph type="ftr" sz="quarter" idx="11"/>
          </p:nvPr>
        </p:nvSpPr>
        <p:spPr>
          <a:ln/>
        </p:spPr>
        <p:txBody>
          <a:bodyPr/>
          <a:lstStyle>
            <a:lvl1pPr>
              <a:defRPr/>
            </a:lvl1pPr>
          </a:lstStyle>
          <a:p>
            <a:pPr>
              <a:defRPr/>
            </a:pPr>
            <a:endParaRPr lang="en-US"/>
          </a:p>
        </p:txBody>
      </p:sp>
      <p:sp>
        <p:nvSpPr>
          <p:cNvPr id="5" name="Rectangle 13"/>
          <p:cNvSpPr>
            <a:spLocks noGrp="1" noChangeArrowheads="1"/>
          </p:cNvSpPr>
          <p:nvPr>
            <p:ph type="sldNum" sz="quarter" idx="12"/>
          </p:nvPr>
        </p:nvSpPr>
        <p:spPr>
          <a:ln/>
        </p:spPr>
        <p:txBody>
          <a:bodyPr/>
          <a:lstStyle>
            <a:lvl1pPr>
              <a:defRPr/>
            </a:lvl1pPr>
          </a:lstStyle>
          <a:p>
            <a:fld id="{4F66838D-DA94-2844-8383-34145A0B1F7A}" type="slidenum">
              <a:rPr lang="en-US" altLang="x-none"/>
              <a:pPr/>
              <a:t>‹#›</a:t>
            </a:fld>
            <a:endParaRPr lang="en-US" altLang="x-none"/>
          </a:p>
        </p:txBody>
      </p:sp>
    </p:spTree>
    <p:extLst>
      <p:ext uri="{BB962C8B-B14F-4D97-AF65-F5344CB8AC3E}">
        <p14:creationId xmlns:p14="http://schemas.microsoft.com/office/powerpoint/2010/main" val="894069680"/>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347472"/>
            <a:ext cx="12188952"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 name="Picture 7"/>
          <p:cNvPicPr>
            <a:picLocks noChangeAspect="1"/>
          </p:cNvPicPr>
          <p:nvPr/>
        </p:nvPicPr>
        <p:blipFill>
          <a:blip r:embed="rId15">
            <a:extLst>
              <a:ext uri="{28A0092B-C50C-407E-A947-70E740481C1C}">
                <a14:useLocalDpi xmlns:a14="http://schemas.microsoft.com/office/drawing/2010/main" val="0"/>
              </a:ext>
            </a:extLst>
          </a:blip>
          <a:stretch>
            <a:fillRect/>
          </a:stretch>
        </p:blipFill>
        <p:spPr bwMode="invGray">
          <a:xfrm>
            <a:off x="0" y="457200"/>
            <a:ext cx="12188952" cy="1371257"/>
          </a:xfrm>
          <a:prstGeom prst="rect">
            <a:avLst/>
          </a:prstGeom>
        </p:spPr>
      </p:pic>
      <p:sp>
        <p:nvSpPr>
          <p:cNvPr id="2" name="Title Placeholder 1"/>
          <p:cNvSpPr>
            <a:spLocks noGrp="1"/>
          </p:cNvSpPr>
          <p:nvPr>
            <p:ph type="title"/>
          </p:nvPr>
        </p:nvSpPr>
        <p:spPr bwMode="black">
          <a:xfrm>
            <a:off x="1280160" y="466343"/>
            <a:ext cx="9628632" cy="1362113"/>
          </a:xfrm>
          <a:prstGeom prst="rect">
            <a:avLst/>
          </a:prstGeom>
        </p:spPr>
        <p:txBody>
          <a:bodyPr vert="horz" lIns="91440" tIns="45720" rIns="91440" bIns="45720" rtlCol="0" anchor="ctr">
            <a:normAutofit/>
          </a:bodyPr>
          <a:lstStyle/>
          <a:p>
            <a:r>
              <a:rPr/>
              <a:t>Click to edit Master title style</a:t>
            </a:r>
          </a:p>
        </p:txBody>
      </p:sp>
      <p:sp>
        <p:nvSpPr>
          <p:cNvPr id="3" name="Text Placeholder 2"/>
          <p:cNvSpPr>
            <a:spLocks noGrp="1"/>
          </p:cNvSpPr>
          <p:nvPr>
            <p:ph type="body" idx="1"/>
          </p:nvPr>
        </p:nvSpPr>
        <p:spPr>
          <a:xfrm>
            <a:off x="1280160" y="2190749"/>
            <a:ext cx="9628632" cy="3986213"/>
          </a:xfrm>
          <a:prstGeom prst="rect">
            <a:avLst/>
          </a:prstGeom>
        </p:spPr>
        <p:txBody>
          <a:bodyPr vert="horz" lIns="91440" tIns="45720" rIns="91440" bIns="45720" rtlCol="0">
            <a:normAutofit/>
          </a:bodyPr>
          <a:lstStyle/>
          <a:p>
            <a:pPr lvl="0"/>
            <a:r>
              <a:rPr/>
              <a:t>Click to edit Master text styles</a:t>
            </a:r>
          </a:p>
          <a:p>
            <a:pPr lvl="1"/>
            <a:r>
              <a:rPr/>
              <a:t>Second level</a:t>
            </a:r>
          </a:p>
          <a:p>
            <a:pPr lvl="2"/>
            <a:r>
              <a:rPr/>
              <a:t>Third level</a:t>
            </a:r>
          </a:p>
          <a:p>
            <a:pPr lvl="3"/>
            <a:r>
              <a:rPr/>
              <a:t>Fourth level</a:t>
            </a:r>
          </a:p>
          <a:p>
            <a:pPr lvl="4"/>
            <a:r>
              <a:rPr/>
              <a:t>Fifth level</a:t>
            </a:r>
          </a:p>
          <a:p>
            <a:pPr lvl="5"/>
            <a:r>
              <a:rPr/>
              <a:t>Sixth</a:t>
            </a:r>
          </a:p>
          <a:p>
            <a:pPr lvl="6"/>
            <a:r>
              <a:rPr/>
              <a:t>Seventh</a:t>
            </a:r>
          </a:p>
          <a:p>
            <a:pPr lvl="7"/>
            <a:r>
              <a:rPr/>
              <a:t>Eighth</a:t>
            </a:r>
          </a:p>
          <a:p>
            <a:pPr lvl="8"/>
            <a:r>
              <a:rPr/>
              <a:t>Ninth</a:t>
            </a:r>
          </a:p>
        </p:txBody>
      </p:sp>
      <p:sp>
        <p:nvSpPr>
          <p:cNvPr id="4" name="Date Placeholder 3"/>
          <p:cNvSpPr>
            <a:spLocks noGrp="1"/>
          </p:cNvSpPr>
          <p:nvPr>
            <p:ph type="dt" sz="half" idx="2"/>
          </p:nvPr>
        </p:nvSpPr>
        <p:spPr>
          <a:xfrm>
            <a:off x="1280160" y="6356350"/>
            <a:ext cx="197194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CFE9AC-F15C-4FA0-A6F1-298829FA691D}" type="datetimeFigureOut">
              <a:rPr lang="en-US"/>
              <a:t>7/30/18</a:t>
            </a:fld>
            <a:endParaRPr/>
          </a:p>
        </p:txBody>
      </p:sp>
      <p:sp>
        <p:nvSpPr>
          <p:cNvPr id="5" name="Footer Placeholder 4"/>
          <p:cNvSpPr>
            <a:spLocks noGrp="1"/>
          </p:cNvSpPr>
          <p:nvPr>
            <p:ph type="ftr" sz="quarter" idx="3"/>
          </p:nvPr>
        </p:nvSpPr>
        <p:spPr>
          <a:xfrm>
            <a:off x="3252107" y="6356350"/>
            <a:ext cx="5687786"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8939894" y="6356350"/>
            <a:ext cx="196889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266BE7-899D-4075-917F-DBDE33B6B692}" type="slidenum">
              <a:rPr/>
              <a:t>‹#›</a:t>
            </a:fld>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kern="1200">
          <a:solidFill>
            <a:schemeClr val="bg1"/>
          </a:solidFill>
          <a:latin typeface="+mj-lt"/>
          <a:ea typeface="+mj-ea"/>
          <a:cs typeface="+mj-cs"/>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mn-lt"/>
          <a:ea typeface="+mn-ea"/>
          <a:cs typeface="+mn-cs"/>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1" Type="http://schemas.openxmlformats.org/officeDocument/2006/relationships/oleObject" Target="../embeddings/oleObject5.bin"/><Relationship Id="rId12" Type="http://schemas.openxmlformats.org/officeDocument/2006/relationships/image" Target="../media/image13.wmf"/><Relationship Id="rId1" Type="http://schemas.openxmlformats.org/officeDocument/2006/relationships/vmlDrawing" Target="../drawings/vmlDrawing1.vml"/><Relationship Id="rId2" Type="http://schemas.openxmlformats.org/officeDocument/2006/relationships/slideLayout" Target="../slideLayouts/slideLayout2.xml"/><Relationship Id="rId3" Type="http://schemas.openxmlformats.org/officeDocument/2006/relationships/oleObject" Target="../embeddings/oleObject1.bin"/><Relationship Id="rId4" Type="http://schemas.openxmlformats.org/officeDocument/2006/relationships/image" Target="../media/image9.wmf"/><Relationship Id="rId5" Type="http://schemas.openxmlformats.org/officeDocument/2006/relationships/oleObject" Target="../embeddings/oleObject2.bin"/><Relationship Id="rId6" Type="http://schemas.openxmlformats.org/officeDocument/2006/relationships/image" Target="../media/image10.wmf"/><Relationship Id="rId7" Type="http://schemas.openxmlformats.org/officeDocument/2006/relationships/oleObject" Target="../embeddings/oleObject3.bin"/><Relationship Id="rId8" Type="http://schemas.openxmlformats.org/officeDocument/2006/relationships/image" Target="../media/image11.wmf"/><Relationship Id="rId9" Type="http://schemas.openxmlformats.org/officeDocument/2006/relationships/oleObject" Target="../embeddings/oleObject4.bin"/><Relationship Id="rId10" Type="http://schemas.openxmlformats.org/officeDocument/2006/relationships/image" Target="../media/image12.wmf"/></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1" Type="http://schemas.openxmlformats.org/officeDocument/2006/relationships/tags" Target="../tags/tag1.xml"/><Relationship Id="rId2"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2.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1" Type="http://schemas.openxmlformats.org/officeDocument/2006/relationships/image" Target="../media/image23.wmf"/><Relationship Id="rId12" Type="http://schemas.openxmlformats.org/officeDocument/2006/relationships/oleObject" Target="../embeddings/oleObject10.bin"/><Relationship Id="rId13" Type="http://schemas.openxmlformats.org/officeDocument/2006/relationships/image" Target="../media/image24.wmf"/><Relationship Id="rId14" Type="http://schemas.openxmlformats.org/officeDocument/2006/relationships/oleObject" Target="../embeddings/oleObject11.bin"/><Relationship Id="rId15" Type="http://schemas.openxmlformats.org/officeDocument/2006/relationships/image" Target="../media/image25.wmf"/><Relationship Id="rId1" Type="http://schemas.openxmlformats.org/officeDocument/2006/relationships/vmlDrawing" Target="../drawings/vmlDrawing2.vml"/><Relationship Id="rId2" Type="http://schemas.openxmlformats.org/officeDocument/2006/relationships/tags" Target="../tags/tag4.xml"/><Relationship Id="rId3" Type="http://schemas.openxmlformats.org/officeDocument/2006/relationships/slideLayout" Target="../slideLayouts/slideLayout13.xml"/><Relationship Id="rId4" Type="http://schemas.openxmlformats.org/officeDocument/2006/relationships/oleObject" Target="../embeddings/oleObject6.bin"/><Relationship Id="rId5" Type="http://schemas.openxmlformats.org/officeDocument/2006/relationships/image" Target="../media/image20.wmf"/><Relationship Id="rId6" Type="http://schemas.openxmlformats.org/officeDocument/2006/relationships/oleObject" Target="../embeddings/oleObject7.bin"/><Relationship Id="rId7" Type="http://schemas.openxmlformats.org/officeDocument/2006/relationships/image" Target="../media/image21.wmf"/><Relationship Id="rId8" Type="http://schemas.openxmlformats.org/officeDocument/2006/relationships/oleObject" Target="../embeddings/oleObject8.bin"/><Relationship Id="rId9" Type="http://schemas.openxmlformats.org/officeDocument/2006/relationships/image" Target="../media/image22.wmf"/><Relationship Id="rId10" Type="http://schemas.openxmlformats.org/officeDocument/2006/relationships/oleObject" Target="../embeddings/oleObject9.bin"/></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4" Type="http://schemas.openxmlformats.org/officeDocument/2006/relationships/oleObject" Target="../embeddings/oleObject12.bin"/><Relationship Id="rId5" Type="http://schemas.openxmlformats.org/officeDocument/2006/relationships/image" Target="../media/image26.wmf"/><Relationship Id="rId6" Type="http://schemas.openxmlformats.org/officeDocument/2006/relationships/oleObject" Target="../embeddings/oleObject13.bin"/><Relationship Id="rId7" Type="http://schemas.openxmlformats.org/officeDocument/2006/relationships/image" Target="../media/image27.wmf"/><Relationship Id="rId1" Type="http://schemas.openxmlformats.org/officeDocument/2006/relationships/vmlDrawing" Target="../drawings/vmlDrawing3.vml"/><Relationship Id="rId2" Type="http://schemas.openxmlformats.org/officeDocument/2006/relationships/tags" Target="../tags/tag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1" Type="http://schemas.openxmlformats.org/officeDocument/2006/relationships/slideLayout" Target="../slideLayouts/slideLayout6.xml"/><Relationship Id="rId2"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Statistical Analysis</a:t>
            </a:r>
            <a:endParaRPr lang="en-US" dirty="0"/>
          </a:p>
        </p:txBody>
      </p:sp>
      <p:sp>
        <p:nvSpPr>
          <p:cNvPr id="3" name="Subtitle 2"/>
          <p:cNvSpPr>
            <a:spLocks noGrp="1"/>
          </p:cNvSpPr>
          <p:nvPr>
            <p:ph type="subTitle" idx="1"/>
          </p:nvPr>
        </p:nvSpPr>
        <p:spPr>
          <a:xfrm>
            <a:off x="2816352" y="4596384"/>
            <a:ext cx="9375647" cy="826516"/>
          </a:xfrm>
        </p:spPr>
        <p:txBody>
          <a:bodyPr>
            <a:noAutofit/>
          </a:bodyPr>
          <a:lstStyle/>
          <a:p>
            <a:r>
              <a:rPr lang="en-US" sz="2000" dirty="0" smtClean="0"/>
              <a:t>Topic: </a:t>
            </a:r>
            <a:r>
              <a:rPr lang="en-US" sz="2000" dirty="0" smtClean="0"/>
              <a:t>Standard Deviation</a:t>
            </a:r>
            <a:endParaRPr lang="en-US" sz="2000" dirty="0" smtClean="0"/>
          </a:p>
          <a:p>
            <a:r>
              <a:rPr lang="en-US" sz="2000" dirty="0" smtClean="0"/>
              <a:t>EQ: What is </a:t>
            </a:r>
            <a:r>
              <a:rPr lang="en-US" sz="2000" dirty="0" smtClean="0"/>
              <a:t>standard deviation and what can it tell us about a data set?</a:t>
            </a:r>
            <a:endParaRPr lang="en-US" sz="2000" dirty="0"/>
          </a:p>
        </p:txBody>
      </p:sp>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0" y="466343"/>
            <a:ext cx="12090400" cy="943357"/>
          </a:xfrm>
        </p:spPr>
        <p:txBody>
          <a:bodyPr/>
          <a:lstStyle/>
          <a:p>
            <a:r>
              <a:rPr lang="en-US" dirty="0" smtClean="0"/>
              <a:t>The Judging Standards for this unit (aka - How You will be Assessed!)</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510" y="5659618"/>
            <a:ext cx="11675327" cy="13044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00" y="2369810"/>
            <a:ext cx="11699149" cy="3289808"/>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600" y="1675952"/>
            <a:ext cx="11675327" cy="693858"/>
          </a:xfrm>
          <a:prstGeom prst="rect">
            <a:avLst/>
          </a:prstGeom>
        </p:spPr>
      </p:pic>
    </p:spTree>
    <p:extLst>
      <p:ext uri="{BB962C8B-B14F-4D97-AF65-F5344CB8AC3E}">
        <p14:creationId xmlns:p14="http://schemas.microsoft.com/office/powerpoint/2010/main" val="2902466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643" y="444041"/>
            <a:ext cx="11231508" cy="1329004"/>
          </a:xfrm>
        </p:spPr>
        <p:txBody>
          <a:bodyPr/>
          <a:lstStyle/>
          <a:p>
            <a:r>
              <a:rPr lang="en-US" dirty="0"/>
              <a:t>S</a:t>
            </a:r>
            <a:r>
              <a:rPr lang="en-US" dirty="0" smtClean="0"/>
              <a:t>tarter </a:t>
            </a:r>
            <a:r>
              <a:rPr lang="en-US" dirty="0" smtClean="0"/>
              <a:t>Problem </a:t>
            </a:r>
            <a:r>
              <a:rPr lang="mr-IN" dirty="0" smtClean="0"/>
              <a:t>–</a:t>
            </a:r>
            <a:r>
              <a:rPr lang="en-US" dirty="0" smtClean="0"/>
              <a:t> To be done in pairs/groups of no more than 4</a:t>
            </a:r>
            <a:endParaRPr lang="en-US" dirty="0"/>
          </a:p>
        </p:txBody>
      </p:sp>
      <p:sp>
        <p:nvSpPr>
          <p:cNvPr id="3" name="TextBox 2"/>
          <p:cNvSpPr txBox="1"/>
          <p:nvPr/>
        </p:nvSpPr>
        <p:spPr>
          <a:xfrm>
            <a:off x="367990" y="2230244"/>
            <a:ext cx="10738625" cy="1200329"/>
          </a:xfrm>
          <a:prstGeom prst="rect">
            <a:avLst/>
          </a:prstGeom>
          <a:noFill/>
        </p:spPr>
        <p:txBody>
          <a:bodyPr wrap="square" rtlCol="0">
            <a:spAutoFit/>
          </a:bodyPr>
          <a:lstStyle/>
          <a:p>
            <a:pPr marL="285750" indent="-285750">
              <a:buFont typeface="Arial" charset="0"/>
              <a:buChar char="•"/>
            </a:pPr>
            <a:r>
              <a:rPr lang="en-CA" sz="2400" dirty="0" smtClean="0"/>
              <a:t>A class of 25 students was weighed, with their mean weight being 75.4kg. </a:t>
            </a:r>
            <a:r>
              <a:rPr lang="en-CA" sz="2400" dirty="0" err="1" smtClean="0"/>
              <a:t>Kobi</a:t>
            </a:r>
            <a:r>
              <a:rPr lang="en-CA" sz="2400" dirty="0" smtClean="0"/>
              <a:t> was asked to leave the room and the class was immediately weighed again, with their average weight now being 74.6kg. How much does </a:t>
            </a:r>
            <a:r>
              <a:rPr lang="en-CA" sz="2400" dirty="0" err="1" smtClean="0"/>
              <a:t>Kobi</a:t>
            </a:r>
            <a:r>
              <a:rPr lang="en-CA" sz="2400" dirty="0" smtClean="0"/>
              <a:t> weigh?  </a:t>
            </a:r>
            <a:endParaRPr lang="en-US" sz="2400" dirty="0"/>
          </a:p>
        </p:txBody>
      </p:sp>
    </p:spTree>
    <p:extLst>
      <p:ext uri="{BB962C8B-B14F-4D97-AF65-F5344CB8AC3E}">
        <p14:creationId xmlns:p14="http://schemas.microsoft.com/office/powerpoint/2010/main" val="852797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5998464"/>
            <a:ext cx="12192000"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0" y="5998464"/>
            <a:ext cx="1455463" cy="461665"/>
          </a:xfrm>
          <a:prstGeom prst="rect">
            <a:avLst/>
          </a:prstGeom>
          <a:noFill/>
        </p:spPr>
        <p:txBody>
          <a:bodyPr wrap="none" rtlCol="0">
            <a:spAutoFit/>
          </a:bodyPr>
          <a:lstStyle/>
          <a:p>
            <a:r>
              <a:rPr lang="en-US" sz="2400" dirty="0" smtClean="0"/>
              <a:t>Summary:</a:t>
            </a:r>
            <a:endParaRPr lang="en-US" sz="2400" dirty="0"/>
          </a:p>
        </p:txBody>
      </p:sp>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t>Standard Deviation</a:t>
            </a:r>
            <a:r>
              <a:rPr lang="en-US" dirty="0" smtClean="0"/>
              <a:t/>
            </a:r>
            <a:br>
              <a:rPr lang="en-US" dirty="0" smtClean="0"/>
            </a:br>
            <a:r>
              <a:rPr lang="en-US" dirty="0" smtClean="0"/>
              <a:t>EQ: </a:t>
            </a:r>
            <a:r>
              <a:rPr lang="en-US" sz="2900" dirty="0" smtClean="0"/>
              <a:t>What </a:t>
            </a:r>
            <a:r>
              <a:rPr lang="en-US" sz="2900" dirty="0" smtClean="0"/>
              <a:t>is standard deviation and what can it tell us about a data set? </a:t>
            </a:r>
            <a:endParaRPr lang="en-US" sz="2900" dirty="0"/>
          </a:p>
        </p:txBody>
      </p:sp>
    </p:spTree>
    <p:extLst>
      <p:ext uri="{BB962C8B-B14F-4D97-AF65-F5344CB8AC3E}">
        <p14:creationId xmlns:p14="http://schemas.microsoft.com/office/powerpoint/2010/main" val="42187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t>Standard Deviation</a:t>
            </a:r>
            <a:r>
              <a:rPr lang="en-US" dirty="0" smtClean="0"/>
              <a:t/>
            </a:r>
            <a:br>
              <a:rPr lang="en-US" dirty="0" smtClean="0"/>
            </a:br>
            <a:r>
              <a:rPr lang="en-US" dirty="0" smtClean="0"/>
              <a:t>EQ: </a:t>
            </a:r>
            <a:r>
              <a:rPr lang="en-US" sz="2900" dirty="0" smtClean="0"/>
              <a:t>What </a:t>
            </a:r>
            <a:r>
              <a:rPr lang="en-US" sz="2900" dirty="0" smtClean="0"/>
              <a:t>is standard deviation and what can it tell us about a data set? </a:t>
            </a:r>
            <a:endParaRPr lang="en-US" sz="2900" dirty="0"/>
          </a:p>
        </p:txBody>
      </p:sp>
      <p:sp>
        <p:nvSpPr>
          <p:cNvPr id="5" name="TextBox 4"/>
          <p:cNvSpPr txBox="1"/>
          <p:nvPr/>
        </p:nvSpPr>
        <p:spPr>
          <a:xfrm>
            <a:off x="1174318" y="2114040"/>
            <a:ext cx="9533890" cy="1200329"/>
          </a:xfrm>
          <a:prstGeom prst="rect">
            <a:avLst/>
          </a:prstGeom>
          <a:noFill/>
        </p:spPr>
        <p:txBody>
          <a:bodyPr wrap="square" rtlCol="0">
            <a:spAutoFit/>
          </a:bodyPr>
          <a:lstStyle/>
          <a:p>
            <a:r>
              <a:rPr lang="en-GB" sz="2400" b="1" dirty="0" smtClean="0"/>
              <a:t>McDonalds and KFC are arguing over who sold the most chicken nuggets in one week.  Sales figures are below given to the nearest million, calculate the mean to help decide who sold the most.</a:t>
            </a:r>
          </a:p>
        </p:txBody>
      </p:sp>
      <p:graphicFrame>
        <p:nvGraphicFramePr>
          <p:cNvPr id="6" name="Table 5"/>
          <p:cNvGraphicFramePr>
            <a:graphicFrameLocks noGrp="1"/>
          </p:cNvGraphicFramePr>
          <p:nvPr>
            <p:extLst>
              <p:ext uri="{D42A27DB-BD31-4B8C-83A1-F6EECF244321}">
                <p14:modId xmlns:p14="http://schemas.microsoft.com/office/powerpoint/2010/main" val="550879151"/>
              </p:ext>
            </p:extLst>
          </p:nvPr>
        </p:nvGraphicFramePr>
        <p:xfrm>
          <a:off x="1225146" y="3454262"/>
          <a:ext cx="9660255" cy="1188720"/>
        </p:xfrm>
        <a:graphic>
          <a:graphicData uri="http://schemas.openxmlformats.org/drawingml/2006/table">
            <a:tbl>
              <a:tblPr firstRow="1" bandRow="1">
                <a:tableStyleId>{F5AB1C69-6EDB-4FF4-983F-18BD219EF322}</a:tableStyleId>
              </a:tblPr>
              <a:tblGrid>
                <a:gridCol w="1521328"/>
                <a:gridCol w="1160060"/>
                <a:gridCol w="1078173"/>
                <a:gridCol w="1473959"/>
                <a:gridCol w="1282889"/>
                <a:gridCol w="887105"/>
                <a:gridCol w="1241946"/>
                <a:gridCol w="1014795"/>
              </a:tblGrid>
              <a:tr h="370840">
                <a:tc>
                  <a:txBody>
                    <a:bodyPr/>
                    <a:lstStyle/>
                    <a:p>
                      <a:endParaRPr lang="en-GB" sz="2000" dirty="0"/>
                    </a:p>
                  </a:txBody>
                  <a:tcPr/>
                </a:tc>
                <a:tc>
                  <a:txBody>
                    <a:bodyPr/>
                    <a:lstStyle/>
                    <a:p>
                      <a:r>
                        <a:rPr lang="en-GB" sz="2000" dirty="0" smtClean="0"/>
                        <a:t>Monday</a:t>
                      </a:r>
                      <a:endParaRPr lang="en-GB" sz="2000" dirty="0"/>
                    </a:p>
                  </a:txBody>
                  <a:tcPr/>
                </a:tc>
                <a:tc>
                  <a:txBody>
                    <a:bodyPr/>
                    <a:lstStyle/>
                    <a:p>
                      <a:r>
                        <a:rPr lang="en-GB" sz="2000" dirty="0" smtClean="0"/>
                        <a:t>Tuesday</a:t>
                      </a:r>
                      <a:endParaRPr lang="en-GB" sz="2000" dirty="0"/>
                    </a:p>
                  </a:txBody>
                  <a:tcPr/>
                </a:tc>
                <a:tc>
                  <a:txBody>
                    <a:bodyPr/>
                    <a:lstStyle/>
                    <a:p>
                      <a:r>
                        <a:rPr lang="en-GB" sz="2000" dirty="0" smtClean="0"/>
                        <a:t>Wednesday</a:t>
                      </a:r>
                      <a:endParaRPr lang="en-GB" sz="2000" dirty="0"/>
                    </a:p>
                  </a:txBody>
                  <a:tcPr/>
                </a:tc>
                <a:tc>
                  <a:txBody>
                    <a:bodyPr/>
                    <a:lstStyle/>
                    <a:p>
                      <a:r>
                        <a:rPr lang="en-GB" sz="2000" dirty="0" smtClean="0"/>
                        <a:t>Thursday</a:t>
                      </a:r>
                      <a:endParaRPr lang="en-GB" sz="2000" dirty="0"/>
                    </a:p>
                  </a:txBody>
                  <a:tcPr/>
                </a:tc>
                <a:tc>
                  <a:txBody>
                    <a:bodyPr/>
                    <a:lstStyle/>
                    <a:p>
                      <a:r>
                        <a:rPr lang="en-GB" sz="2000" dirty="0" smtClean="0"/>
                        <a:t>Friday</a:t>
                      </a:r>
                      <a:endParaRPr lang="en-GB" sz="2000" dirty="0"/>
                    </a:p>
                  </a:txBody>
                  <a:tcPr/>
                </a:tc>
                <a:tc>
                  <a:txBody>
                    <a:bodyPr/>
                    <a:lstStyle/>
                    <a:p>
                      <a:r>
                        <a:rPr lang="en-GB" sz="2000" dirty="0" smtClean="0"/>
                        <a:t>Saturday</a:t>
                      </a:r>
                      <a:endParaRPr lang="en-GB" sz="2000" dirty="0"/>
                    </a:p>
                  </a:txBody>
                  <a:tcPr/>
                </a:tc>
                <a:tc>
                  <a:txBody>
                    <a:bodyPr/>
                    <a:lstStyle/>
                    <a:p>
                      <a:r>
                        <a:rPr lang="en-GB" sz="2000" dirty="0" smtClean="0"/>
                        <a:t>Sunday</a:t>
                      </a:r>
                      <a:endParaRPr lang="en-GB" sz="2000" dirty="0"/>
                    </a:p>
                  </a:txBody>
                  <a:tcPr/>
                </a:tc>
              </a:tr>
              <a:tr h="370840">
                <a:tc>
                  <a:txBody>
                    <a:bodyPr/>
                    <a:lstStyle/>
                    <a:p>
                      <a:r>
                        <a:rPr lang="en-GB" sz="2000" b="1" dirty="0" smtClean="0"/>
                        <a:t>McDonalds</a:t>
                      </a:r>
                      <a:endParaRPr lang="en-GB" sz="2000" b="1" dirty="0"/>
                    </a:p>
                  </a:txBody>
                  <a:tcPr/>
                </a:tc>
                <a:tc>
                  <a:txBody>
                    <a:bodyPr/>
                    <a:lstStyle/>
                    <a:p>
                      <a:r>
                        <a:rPr lang="en-GB" sz="2000" b="1" dirty="0" smtClean="0"/>
                        <a:t>1</a:t>
                      </a:r>
                      <a:endParaRPr lang="en-GB" sz="2000" b="1" dirty="0"/>
                    </a:p>
                  </a:txBody>
                  <a:tcPr/>
                </a:tc>
                <a:tc>
                  <a:txBody>
                    <a:bodyPr/>
                    <a:lstStyle/>
                    <a:p>
                      <a:r>
                        <a:rPr lang="en-GB" sz="2000" b="1" dirty="0" smtClean="0"/>
                        <a:t>1</a:t>
                      </a:r>
                      <a:endParaRPr lang="en-GB" sz="2000" b="1" dirty="0"/>
                    </a:p>
                  </a:txBody>
                  <a:tcPr/>
                </a:tc>
                <a:tc>
                  <a:txBody>
                    <a:bodyPr/>
                    <a:lstStyle/>
                    <a:p>
                      <a:r>
                        <a:rPr lang="en-GB" sz="2000" b="1" dirty="0" smtClean="0"/>
                        <a:t>1</a:t>
                      </a:r>
                      <a:endParaRPr lang="en-GB" sz="2000" b="1" dirty="0"/>
                    </a:p>
                  </a:txBody>
                  <a:tcPr/>
                </a:tc>
                <a:tc>
                  <a:txBody>
                    <a:bodyPr/>
                    <a:lstStyle/>
                    <a:p>
                      <a:r>
                        <a:rPr lang="en-GB" sz="2000" b="1" dirty="0" smtClean="0"/>
                        <a:t>4</a:t>
                      </a:r>
                      <a:endParaRPr lang="en-GB" sz="2000" b="1" dirty="0"/>
                    </a:p>
                  </a:txBody>
                  <a:tcPr/>
                </a:tc>
                <a:tc>
                  <a:txBody>
                    <a:bodyPr/>
                    <a:lstStyle/>
                    <a:p>
                      <a:r>
                        <a:rPr lang="en-GB" sz="2000" b="1" dirty="0" smtClean="0"/>
                        <a:t>8</a:t>
                      </a:r>
                      <a:endParaRPr lang="en-GB" sz="2000" b="1" dirty="0"/>
                    </a:p>
                  </a:txBody>
                  <a:tcPr/>
                </a:tc>
                <a:tc>
                  <a:txBody>
                    <a:bodyPr/>
                    <a:lstStyle/>
                    <a:p>
                      <a:r>
                        <a:rPr lang="en-GB" sz="2000" b="1" dirty="0" smtClean="0"/>
                        <a:t>8 </a:t>
                      </a:r>
                      <a:endParaRPr lang="en-GB" sz="2000" b="1" dirty="0"/>
                    </a:p>
                  </a:txBody>
                  <a:tcPr/>
                </a:tc>
                <a:tc>
                  <a:txBody>
                    <a:bodyPr/>
                    <a:lstStyle/>
                    <a:p>
                      <a:r>
                        <a:rPr lang="en-GB" sz="2000" b="1" dirty="0" smtClean="0"/>
                        <a:t>5</a:t>
                      </a:r>
                      <a:endParaRPr lang="en-GB" sz="2000" b="1" dirty="0"/>
                    </a:p>
                  </a:txBody>
                  <a:tcPr/>
                </a:tc>
              </a:tr>
              <a:tr h="370840">
                <a:tc>
                  <a:txBody>
                    <a:bodyPr/>
                    <a:lstStyle/>
                    <a:p>
                      <a:r>
                        <a:rPr lang="en-GB" sz="2000" b="1" dirty="0" smtClean="0"/>
                        <a:t>KFC</a:t>
                      </a:r>
                      <a:endParaRPr lang="en-GB" sz="2000" b="1" dirty="0"/>
                    </a:p>
                  </a:txBody>
                  <a:tcPr/>
                </a:tc>
                <a:tc>
                  <a:txBody>
                    <a:bodyPr/>
                    <a:lstStyle/>
                    <a:p>
                      <a:r>
                        <a:rPr lang="en-GB" sz="2000" b="1" dirty="0" smtClean="0"/>
                        <a:t>3</a:t>
                      </a:r>
                      <a:endParaRPr lang="en-GB" sz="2000" b="1" dirty="0"/>
                    </a:p>
                  </a:txBody>
                  <a:tcPr/>
                </a:tc>
                <a:tc>
                  <a:txBody>
                    <a:bodyPr/>
                    <a:lstStyle/>
                    <a:p>
                      <a:r>
                        <a:rPr lang="en-GB" sz="2000" b="1" dirty="0" smtClean="0"/>
                        <a:t>4</a:t>
                      </a:r>
                      <a:endParaRPr lang="en-GB" sz="2000" b="1" dirty="0"/>
                    </a:p>
                  </a:txBody>
                  <a:tcPr/>
                </a:tc>
                <a:tc>
                  <a:txBody>
                    <a:bodyPr/>
                    <a:lstStyle/>
                    <a:p>
                      <a:r>
                        <a:rPr lang="en-GB" sz="2000" b="1" dirty="0" smtClean="0"/>
                        <a:t>4</a:t>
                      </a:r>
                      <a:endParaRPr lang="en-GB" sz="2000" b="1" dirty="0"/>
                    </a:p>
                  </a:txBody>
                  <a:tcPr/>
                </a:tc>
                <a:tc>
                  <a:txBody>
                    <a:bodyPr/>
                    <a:lstStyle/>
                    <a:p>
                      <a:r>
                        <a:rPr lang="en-GB" sz="2000" b="1" dirty="0" smtClean="0"/>
                        <a:t>3</a:t>
                      </a:r>
                      <a:endParaRPr lang="en-GB" sz="2000" b="1" dirty="0"/>
                    </a:p>
                  </a:txBody>
                  <a:tcPr/>
                </a:tc>
                <a:tc>
                  <a:txBody>
                    <a:bodyPr/>
                    <a:lstStyle/>
                    <a:p>
                      <a:r>
                        <a:rPr lang="en-GB" sz="2000" b="1" dirty="0" smtClean="0"/>
                        <a:t>4</a:t>
                      </a:r>
                      <a:endParaRPr lang="en-GB" sz="2000" b="1" dirty="0"/>
                    </a:p>
                  </a:txBody>
                  <a:tcPr/>
                </a:tc>
                <a:tc>
                  <a:txBody>
                    <a:bodyPr/>
                    <a:lstStyle/>
                    <a:p>
                      <a:r>
                        <a:rPr lang="en-GB" sz="2000" b="1" dirty="0" smtClean="0"/>
                        <a:t>5</a:t>
                      </a:r>
                      <a:endParaRPr lang="en-GB" sz="2000" b="1" dirty="0"/>
                    </a:p>
                  </a:txBody>
                  <a:tcPr/>
                </a:tc>
                <a:tc>
                  <a:txBody>
                    <a:bodyPr/>
                    <a:lstStyle/>
                    <a:p>
                      <a:r>
                        <a:rPr lang="en-GB" sz="2000" b="1" dirty="0" smtClean="0"/>
                        <a:t>5</a:t>
                      </a:r>
                      <a:endParaRPr lang="en-GB" sz="2000" b="1" dirty="0"/>
                    </a:p>
                  </a:txBody>
                  <a:tcPr/>
                </a:tc>
              </a:tr>
            </a:tbl>
          </a:graphicData>
        </a:graphic>
      </p:graphicFrame>
      <p:sp>
        <p:nvSpPr>
          <p:cNvPr id="7" name="TextBox 6"/>
          <p:cNvSpPr txBox="1"/>
          <p:nvPr/>
        </p:nvSpPr>
        <p:spPr>
          <a:xfrm>
            <a:off x="1519699" y="5061475"/>
            <a:ext cx="9071147" cy="1200329"/>
          </a:xfrm>
          <a:prstGeom prst="rect">
            <a:avLst/>
          </a:prstGeom>
          <a:noFill/>
          <a:ln w="38100">
            <a:solidFill>
              <a:schemeClr val="accent1">
                <a:lumMod val="60000"/>
                <a:lumOff val="40000"/>
              </a:schemeClr>
            </a:solidFill>
          </a:ln>
        </p:spPr>
        <p:txBody>
          <a:bodyPr wrap="square" rtlCol="0">
            <a:spAutoFit/>
          </a:bodyPr>
          <a:lstStyle/>
          <a:p>
            <a:pPr algn="ctr"/>
            <a:r>
              <a:rPr lang="en-GB" sz="2400" dirty="0" smtClean="0"/>
              <a:t>They both have the same mean!  </a:t>
            </a:r>
          </a:p>
          <a:p>
            <a:pPr algn="ctr"/>
            <a:r>
              <a:rPr lang="en-GB" sz="2400" dirty="0" smtClean="0"/>
              <a:t>4 million Chicken nuggets sold each day on average….</a:t>
            </a:r>
          </a:p>
          <a:p>
            <a:pPr algn="ctr"/>
            <a:r>
              <a:rPr lang="en-GB" sz="2400" dirty="0" smtClean="0"/>
              <a:t>we need something else to determine whose sales are the best</a:t>
            </a:r>
            <a:endParaRPr lang="en-GB" sz="2400" dirty="0"/>
          </a:p>
        </p:txBody>
      </p:sp>
    </p:spTree>
    <p:extLst>
      <p:ext uri="{BB962C8B-B14F-4D97-AF65-F5344CB8AC3E}">
        <p14:creationId xmlns:p14="http://schemas.microsoft.com/office/powerpoint/2010/main" val="823888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t>Standard Deviation</a:t>
            </a:r>
            <a:r>
              <a:rPr lang="en-US" dirty="0" smtClean="0"/>
              <a:t/>
            </a:r>
            <a:br>
              <a:rPr lang="en-US" dirty="0" smtClean="0"/>
            </a:br>
            <a:r>
              <a:rPr lang="en-US" dirty="0" smtClean="0"/>
              <a:t>EQ: </a:t>
            </a:r>
            <a:r>
              <a:rPr lang="en-US" sz="2900" dirty="0" smtClean="0"/>
              <a:t>What </a:t>
            </a:r>
            <a:r>
              <a:rPr lang="en-US" sz="2900" dirty="0" smtClean="0"/>
              <a:t>is standard deviation and what can it tell us about a data set? </a:t>
            </a:r>
            <a:endParaRPr lang="en-US" sz="2900" dirty="0"/>
          </a:p>
        </p:txBody>
      </p:sp>
      <p:sp>
        <p:nvSpPr>
          <p:cNvPr id="2" name="TextBox 1"/>
          <p:cNvSpPr txBox="1"/>
          <p:nvPr/>
        </p:nvSpPr>
        <p:spPr>
          <a:xfrm>
            <a:off x="345688" y="2074126"/>
            <a:ext cx="9689256" cy="461665"/>
          </a:xfrm>
          <a:prstGeom prst="rect">
            <a:avLst/>
          </a:prstGeom>
          <a:noFill/>
        </p:spPr>
        <p:txBody>
          <a:bodyPr wrap="none" rtlCol="0">
            <a:spAutoFit/>
          </a:bodyPr>
          <a:lstStyle/>
          <a:p>
            <a:r>
              <a:rPr lang="en-US" sz="2400" dirty="0" smtClean="0"/>
              <a:t>Up to this point, we have used the following measures of center and spread:</a:t>
            </a:r>
          </a:p>
        </p:txBody>
      </p:sp>
      <p:sp>
        <p:nvSpPr>
          <p:cNvPr id="6" name="TextBox 5"/>
          <p:cNvSpPr txBox="1"/>
          <p:nvPr/>
        </p:nvSpPr>
        <p:spPr>
          <a:xfrm>
            <a:off x="665357" y="2612914"/>
            <a:ext cx="6173293" cy="461665"/>
          </a:xfrm>
          <a:prstGeom prst="rect">
            <a:avLst/>
          </a:prstGeom>
          <a:noFill/>
        </p:spPr>
        <p:txBody>
          <a:bodyPr wrap="none" rtlCol="0">
            <a:spAutoFit/>
          </a:bodyPr>
          <a:lstStyle/>
          <a:p>
            <a:pPr marL="285750" indent="-285750">
              <a:buFont typeface="Arial" charset="0"/>
              <a:buChar char="•"/>
            </a:pPr>
            <a:r>
              <a:rPr lang="en-US" sz="2400" dirty="0" smtClean="0"/>
              <a:t>Measures of center: mean, median and mode</a:t>
            </a:r>
          </a:p>
        </p:txBody>
      </p:sp>
      <p:sp>
        <p:nvSpPr>
          <p:cNvPr id="7" name="TextBox 6"/>
          <p:cNvSpPr txBox="1"/>
          <p:nvPr/>
        </p:nvSpPr>
        <p:spPr>
          <a:xfrm>
            <a:off x="665357" y="3151702"/>
            <a:ext cx="6744475" cy="461665"/>
          </a:xfrm>
          <a:prstGeom prst="rect">
            <a:avLst/>
          </a:prstGeom>
          <a:noFill/>
        </p:spPr>
        <p:txBody>
          <a:bodyPr wrap="none" rtlCol="0">
            <a:spAutoFit/>
          </a:bodyPr>
          <a:lstStyle/>
          <a:p>
            <a:pPr marL="285750" indent="-285750">
              <a:buFont typeface="Arial" charset="0"/>
              <a:buChar char="•"/>
            </a:pPr>
            <a:r>
              <a:rPr lang="en-US" sz="2400" dirty="0" smtClean="0"/>
              <a:t>Measures of spread: range and interquartile range</a:t>
            </a:r>
          </a:p>
        </p:txBody>
      </p:sp>
      <p:sp>
        <p:nvSpPr>
          <p:cNvPr id="8" name="TextBox 7"/>
          <p:cNvSpPr txBox="1"/>
          <p:nvPr/>
        </p:nvSpPr>
        <p:spPr>
          <a:xfrm>
            <a:off x="298226" y="3945598"/>
            <a:ext cx="11595547" cy="830997"/>
          </a:xfrm>
          <a:prstGeom prst="rect">
            <a:avLst/>
          </a:prstGeom>
          <a:noFill/>
        </p:spPr>
        <p:txBody>
          <a:bodyPr wrap="none" rtlCol="0">
            <a:spAutoFit/>
          </a:bodyPr>
          <a:lstStyle/>
          <a:p>
            <a:r>
              <a:rPr lang="en-US" sz="2400" dirty="0" smtClean="0"/>
              <a:t>Range and Interquartile range are limiting, as they only use a few data. The most commonly</a:t>
            </a:r>
          </a:p>
          <a:p>
            <a:r>
              <a:rPr lang="en-US" sz="2400" dirty="0" smtClean="0"/>
              <a:t>used measure of spread is </a:t>
            </a:r>
            <a:r>
              <a:rPr lang="en-US" sz="2400" b="1" i="1" dirty="0" smtClean="0"/>
              <a:t>standard deviation</a:t>
            </a:r>
            <a:r>
              <a:rPr lang="en-US" sz="2400" dirty="0"/>
              <a:t>.</a:t>
            </a:r>
            <a:endParaRPr lang="en-US" sz="2400" dirty="0" smtClean="0"/>
          </a:p>
        </p:txBody>
      </p:sp>
      <p:sp>
        <p:nvSpPr>
          <p:cNvPr id="11" name="Rectangle 3"/>
          <p:cNvSpPr txBox="1">
            <a:spLocks noChangeArrowheads="1"/>
          </p:cNvSpPr>
          <p:nvPr/>
        </p:nvSpPr>
        <p:spPr>
          <a:xfrm>
            <a:off x="1430972" y="5108826"/>
            <a:ext cx="9334563" cy="792102"/>
          </a:xfrm>
          <a:prstGeom prst="rect">
            <a:avLst/>
          </a:prstGeom>
        </p:spPr>
        <p:txBody>
          <a:bodyPr/>
          <a:lst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mn-lt"/>
                <a:ea typeface="+mn-ea"/>
                <a:cs typeface="+mn-cs"/>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a:lstStyle>
          <a:p>
            <a:r>
              <a:rPr lang="en-US" altLang="x-none" sz="2400" b="1" i="1" dirty="0" smtClean="0"/>
              <a:t>Standard deviation</a:t>
            </a:r>
            <a:r>
              <a:rPr lang="en-US" altLang="x-none" sz="2400" dirty="0" smtClean="0"/>
              <a:t> is a measure of how each value in a data set varies or deviates from the mean</a:t>
            </a:r>
            <a:endParaRPr lang="en-US" altLang="x-none" sz="2400" dirty="0"/>
          </a:p>
        </p:txBody>
      </p:sp>
    </p:spTree>
    <p:extLst>
      <p:ext uri="{BB962C8B-B14F-4D97-AF65-F5344CB8AC3E}">
        <p14:creationId xmlns:p14="http://schemas.microsoft.com/office/powerpoint/2010/main" val="1040788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nodeType="clickEffect">
                                  <p:stCondLst>
                                    <p:cond delay="0"/>
                                  </p:stCondLst>
                                  <p:childTnLst>
                                    <p:set>
                                      <p:cBhvr>
                                        <p:cTn id="23" dur="1" fill="hold">
                                          <p:stCondLst>
                                            <p:cond delay="0"/>
                                          </p:stCondLst>
                                        </p:cTn>
                                        <p:tgtEl>
                                          <p:spTgt spid="11">
                                            <p:txEl>
                                              <p:pRg st="0" end="0"/>
                                            </p:txEl>
                                          </p:spTgt>
                                        </p:tgtEl>
                                        <p:attrNameLst>
                                          <p:attrName>style.visibility</p:attrName>
                                        </p:attrNameLst>
                                      </p:cBhvr>
                                      <p:to>
                                        <p:strVal val="visible"/>
                                      </p:to>
                                    </p:set>
                                    <p:animEffect transition="in" filter="diamond(in)">
                                      <p:cBhvr>
                                        <p:cTn id="24" dur="20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t>Standard Deviation</a:t>
            </a:r>
            <a:r>
              <a:rPr lang="en-US" dirty="0" smtClean="0"/>
              <a:t/>
            </a:r>
            <a:br>
              <a:rPr lang="en-US" dirty="0" smtClean="0"/>
            </a:br>
            <a:r>
              <a:rPr lang="en-US" dirty="0" smtClean="0"/>
              <a:t>EQ: </a:t>
            </a:r>
            <a:r>
              <a:rPr lang="en-US" sz="2900" dirty="0" smtClean="0"/>
              <a:t>What </a:t>
            </a:r>
            <a:r>
              <a:rPr lang="en-US" sz="2900" dirty="0" smtClean="0"/>
              <a:t>is standard deviation and what can it tell us about a data set? </a:t>
            </a:r>
            <a:endParaRPr lang="en-US" sz="2900" dirty="0"/>
          </a:p>
        </p:txBody>
      </p:sp>
      <p:sp>
        <p:nvSpPr>
          <p:cNvPr id="5" name="Rectangle 3"/>
          <p:cNvSpPr txBox="1">
            <a:spLocks noChangeArrowheads="1"/>
          </p:cNvSpPr>
          <p:nvPr/>
        </p:nvSpPr>
        <p:spPr>
          <a:xfrm>
            <a:off x="2113102" y="1790700"/>
            <a:ext cx="9472112" cy="52228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 typeface="Wingdings" pitchFamily="2" charset="2"/>
              <a:buNone/>
            </a:pPr>
            <a:r>
              <a:rPr lang="en-GB" sz="3200" dirty="0" smtClean="0">
                <a:cs typeface="Arial" charset="0"/>
              </a:rPr>
              <a:t>sum of	               </a:t>
            </a:r>
          </a:p>
          <a:p>
            <a:pPr algn="l">
              <a:buFont typeface="Wingdings" pitchFamily="2" charset="2"/>
              <a:buNone/>
            </a:pPr>
            <a:r>
              <a:rPr lang="en-GB" sz="3200" dirty="0">
                <a:cs typeface="Arial" charset="0"/>
              </a:rPr>
              <a:t> </a:t>
            </a:r>
            <a:r>
              <a:rPr lang="en-GB" sz="3200" dirty="0" smtClean="0">
                <a:cs typeface="Arial" charset="0"/>
              </a:rPr>
              <a:t>                      </a:t>
            </a:r>
            <a:r>
              <a:rPr lang="en-GB" sz="3200" dirty="0">
                <a:cs typeface="Arial" charset="0"/>
              </a:rPr>
              <a:t> </a:t>
            </a:r>
            <a:r>
              <a:rPr lang="en-GB" sz="3200" dirty="0" smtClean="0">
                <a:cs typeface="Arial" charset="0"/>
              </a:rPr>
              <a:t>    each number					</a:t>
            </a:r>
            <a:endParaRPr lang="en-GB" sz="3200" dirty="0">
              <a:cs typeface="Arial" charset="0"/>
            </a:endParaRPr>
          </a:p>
          <a:p>
            <a:pPr>
              <a:buFont typeface="Wingdings" pitchFamily="2" charset="2"/>
              <a:buNone/>
            </a:pPr>
            <a:r>
              <a:rPr lang="en-GB" sz="3200" dirty="0">
                <a:cs typeface="Arial" charset="0"/>
              </a:rPr>
              <a:t> </a:t>
            </a:r>
            <a:r>
              <a:rPr lang="en-GB" sz="3200" dirty="0" smtClean="0">
                <a:cs typeface="Arial" charset="0"/>
              </a:rPr>
              <a:t>                                                       mean</a:t>
            </a:r>
          </a:p>
          <a:p>
            <a:pPr>
              <a:buFont typeface="Wingdings" pitchFamily="2" charset="2"/>
              <a:buNone/>
            </a:pPr>
            <a:endParaRPr lang="en-GB" sz="3200" dirty="0" smtClean="0">
              <a:cs typeface="Arial" charset="0"/>
            </a:endParaRPr>
          </a:p>
          <a:p>
            <a:pPr>
              <a:buFont typeface="Wingdings" pitchFamily="2" charset="2"/>
              <a:buNone/>
            </a:pPr>
            <a:endParaRPr lang="en-GB" sz="3200" dirty="0" smtClean="0">
              <a:cs typeface="Arial" charset="0"/>
            </a:endParaRPr>
          </a:p>
          <a:p>
            <a:pPr algn="l">
              <a:buFont typeface="Wingdings" pitchFamily="2" charset="2"/>
              <a:buNone/>
            </a:pPr>
            <a:endParaRPr lang="en-GB" sz="3200" dirty="0">
              <a:cs typeface="Arial" charset="0"/>
            </a:endParaRPr>
          </a:p>
          <a:p>
            <a:pPr algn="l">
              <a:buFont typeface="Wingdings" pitchFamily="2" charset="2"/>
              <a:buNone/>
            </a:pPr>
            <a:endParaRPr lang="en-GB" sz="3200" dirty="0" smtClean="0">
              <a:cs typeface="Arial" charset="0"/>
            </a:endParaRPr>
          </a:p>
          <a:p>
            <a:pPr>
              <a:buFont typeface="Wingdings" pitchFamily="2" charset="2"/>
              <a:buNone/>
            </a:pPr>
            <a:r>
              <a:rPr lang="en-GB" sz="3200" dirty="0" smtClean="0">
                <a:cs typeface="Arial" charset="0"/>
              </a:rPr>
              <a:t>      how many numbers are in the set</a:t>
            </a:r>
          </a:p>
          <a:p>
            <a:pPr algn="l">
              <a:buFont typeface="Wingdings" pitchFamily="2" charset="2"/>
              <a:buNone/>
            </a:pPr>
            <a:r>
              <a:rPr lang="en-GB" sz="3200" dirty="0" smtClean="0">
                <a:cs typeface="Arial" charset="0"/>
              </a:rPr>
              <a:t>Standard Deviation</a:t>
            </a:r>
            <a:endParaRPr lang="en-GB" sz="3200" dirty="0">
              <a:cs typeface="Arial" charset="0"/>
            </a:endParaRPr>
          </a:p>
        </p:txBody>
      </p:sp>
      <p:sp>
        <p:nvSpPr>
          <p:cNvPr id="6" name="Line 10"/>
          <p:cNvSpPr>
            <a:spLocks noChangeShapeType="1"/>
          </p:cNvSpPr>
          <p:nvPr/>
        </p:nvSpPr>
        <p:spPr bwMode="auto">
          <a:xfrm flipH="1">
            <a:off x="6719802" y="3265886"/>
            <a:ext cx="2164414" cy="46905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mc:AlternateContent xmlns:mc="http://schemas.openxmlformats.org/markup-compatibility/2006">
        <mc:Choice xmlns:a14="http://schemas.microsoft.com/office/drawing/2010/main" Requires="a14">
          <p:sp>
            <p:nvSpPr>
              <p:cNvPr id="7" name="Rectangle 6"/>
              <p:cNvSpPr/>
              <p:nvPr/>
            </p:nvSpPr>
            <p:spPr>
              <a:xfrm>
                <a:off x="2452146" y="3177750"/>
                <a:ext cx="5069882" cy="2274662"/>
              </a:xfrm>
              <a:prstGeom prst="rect">
                <a:avLst/>
              </a:prstGeom>
            </p:spPr>
            <p:txBody>
              <a:bodyPr wrap="square">
                <a:spAutoFit/>
              </a:bodyPr>
              <a:lstStyle/>
              <a:p>
                <a:pPr eaLnBrk="1" hangingPunct="1">
                  <a:buFont typeface="Wingdings" pitchFamily="2" charset="2"/>
                  <a:buNone/>
                </a:pPr>
                <a14:m>
                  <m:oMathPara xmlns:m="http://schemas.openxmlformats.org/officeDocument/2006/math">
                    <m:oMathParaPr>
                      <m:jc m:val="centerGroup"/>
                    </m:oMathParaPr>
                    <m:oMath xmlns:m="http://schemas.openxmlformats.org/officeDocument/2006/math">
                      <m:r>
                        <a:rPr lang="en-GB" sz="4800" i="1" smtClean="0">
                          <a:latin typeface="Cambria Math" panose="02040503050406030204" pitchFamily="18" charset="0"/>
                          <a:ea typeface="Cambria Math" panose="02040503050406030204" pitchFamily="18" charset="0"/>
                        </a:rPr>
                        <m:t>𝜎</m:t>
                      </m:r>
                      <m:r>
                        <a:rPr lang="en-GB" sz="4800" b="0" i="1" smtClean="0">
                          <a:latin typeface="Cambria Math" panose="02040503050406030204" pitchFamily="18" charset="0"/>
                          <a:ea typeface="Cambria Math" panose="02040503050406030204" pitchFamily="18" charset="0"/>
                        </a:rPr>
                        <m:t>=</m:t>
                      </m:r>
                      <m:rad>
                        <m:radPr>
                          <m:degHide m:val="on"/>
                          <m:ctrlPr>
                            <a:rPr lang="en-GB" sz="4800" i="1" smtClean="0">
                              <a:latin typeface="Cambria Math" charset="0"/>
                            </a:rPr>
                          </m:ctrlPr>
                        </m:radPr>
                        <m:deg/>
                        <m:e>
                          <m:f>
                            <m:fPr>
                              <m:ctrlPr>
                                <a:rPr lang="en-GB" sz="4800" i="1" smtClean="0">
                                  <a:latin typeface="Cambria Math" charset="0"/>
                                </a:rPr>
                              </m:ctrlPr>
                            </m:fPr>
                            <m:num>
                              <m:nary>
                                <m:naryPr>
                                  <m:chr m:val="∑"/>
                                  <m:subHide m:val="on"/>
                                  <m:supHide m:val="on"/>
                                  <m:ctrlPr>
                                    <a:rPr lang="en-GB" sz="4800" i="1" smtClean="0">
                                      <a:latin typeface="Cambria Math" charset="0"/>
                                    </a:rPr>
                                  </m:ctrlPr>
                                </m:naryPr>
                                <m:sub/>
                                <m:sup/>
                                <m:e>
                                  <m:sSup>
                                    <m:sSupPr>
                                      <m:ctrlPr>
                                        <a:rPr lang="en-GB" sz="4800" i="1" smtClean="0">
                                          <a:latin typeface="Cambria Math" charset="0"/>
                                        </a:rPr>
                                      </m:ctrlPr>
                                    </m:sSupPr>
                                    <m:e>
                                      <m:d>
                                        <m:dPr>
                                          <m:ctrlPr>
                                            <a:rPr lang="en-GB" sz="4800" i="1" smtClean="0">
                                              <a:latin typeface="Cambria Math" charset="0"/>
                                            </a:rPr>
                                          </m:ctrlPr>
                                        </m:dPr>
                                        <m:e>
                                          <m:sSub>
                                            <m:sSubPr>
                                              <m:ctrlPr>
                                                <a:rPr lang="en-GB" sz="4800" i="1" smtClean="0">
                                                  <a:latin typeface="Cambria Math" charset="0"/>
                                                </a:rPr>
                                              </m:ctrlPr>
                                            </m:sSubPr>
                                            <m:e>
                                              <m:r>
                                                <a:rPr lang="en-GB" sz="4800" b="0" i="1" smtClean="0">
                                                  <a:latin typeface="Cambria Math"/>
                                                </a:rPr>
                                                <m:t>𝑥</m:t>
                                              </m:r>
                                            </m:e>
                                            <m:sub>
                                              <m:r>
                                                <a:rPr lang="en-GB" sz="4800" b="0" i="1" smtClean="0">
                                                  <a:latin typeface="Cambria Math"/>
                                                </a:rPr>
                                                <m:t>𝑖</m:t>
                                              </m:r>
                                            </m:sub>
                                          </m:sSub>
                                          <m:r>
                                            <a:rPr lang="en-GB" sz="4800" b="0" i="1" smtClean="0">
                                              <a:latin typeface="Cambria Math"/>
                                            </a:rPr>
                                            <m:t>−</m:t>
                                          </m:r>
                                          <m:acc>
                                            <m:accPr>
                                              <m:chr m:val="̅"/>
                                              <m:ctrlPr>
                                                <a:rPr lang="en-GB" sz="4800" b="0" i="1" smtClean="0">
                                                  <a:latin typeface="Cambria Math" charset="0"/>
                                                </a:rPr>
                                              </m:ctrlPr>
                                            </m:accPr>
                                            <m:e>
                                              <m:r>
                                                <a:rPr lang="en-GB" sz="4800" b="0" i="1" smtClean="0">
                                                  <a:latin typeface="Cambria Math"/>
                                                </a:rPr>
                                                <m:t>𝑥</m:t>
                                              </m:r>
                                            </m:e>
                                          </m:acc>
                                        </m:e>
                                      </m:d>
                                    </m:e>
                                    <m:sup>
                                      <m:r>
                                        <a:rPr lang="en-GB" sz="4800" b="0" i="1" smtClean="0">
                                          <a:latin typeface="Cambria Math"/>
                                        </a:rPr>
                                        <m:t>2</m:t>
                                      </m:r>
                                    </m:sup>
                                  </m:sSup>
                                </m:e>
                              </m:nary>
                            </m:num>
                            <m:den>
                              <m:r>
                                <a:rPr lang="en-GB" sz="4800" b="0" i="1" smtClean="0">
                                  <a:latin typeface="Cambria Math"/>
                                </a:rPr>
                                <m:t>𝑛</m:t>
                              </m:r>
                            </m:den>
                          </m:f>
                        </m:e>
                      </m:rad>
                    </m:oMath>
                  </m:oMathPara>
                </a14:m>
                <a:endParaRPr lang="en-GB" sz="4800" dirty="0" smtClean="0"/>
              </a:p>
            </p:txBody>
          </p:sp>
        </mc:Choice>
        <mc:Fallback>
          <p:sp>
            <p:nvSpPr>
              <p:cNvPr id="7" name="Rectangle 6"/>
              <p:cNvSpPr>
                <a:spLocks noRot="1" noChangeAspect="1" noMove="1" noResize="1" noEditPoints="1" noAdjustHandles="1" noChangeArrowheads="1" noChangeShapeType="1" noTextEdit="1"/>
              </p:cNvSpPr>
              <p:nvPr/>
            </p:nvSpPr>
            <p:spPr>
              <a:xfrm>
                <a:off x="2452146" y="3177750"/>
                <a:ext cx="5069882" cy="2274662"/>
              </a:xfrm>
              <a:prstGeom prst="rect">
                <a:avLst/>
              </a:prstGeom>
              <a:blipFill rotWithShape="0">
                <a:blip r:embed="rId2"/>
                <a:stretch>
                  <a:fillRect/>
                </a:stretch>
              </a:blipFill>
            </p:spPr>
            <p:txBody>
              <a:bodyPr/>
              <a:lstStyle/>
              <a:p>
                <a:r>
                  <a:rPr lang="en-US">
                    <a:noFill/>
                  </a:rPr>
                  <a:t> </a:t>
                </a:r>
              </a:p>
            </p:txBody>
          </p:sp>
        </mc:Fallback>
      </mc:AlternateContent>
      <p:sp>
        <p:nvSpPr>
          <p:cNvPr id="8" name="Line 10"/>
          <p:cNvSpPr>
            <a:spLocks noChangeShapeType="1"/>
          </p:cNvSpPr>
          <p:nvPr/>
        </p:nvSpPr>
        <p:spPr bwMode="auto">
          <a:xfrm flipH="1" flipV="1">
            <a:off x="5936274" y="5107687"/>
            <a:ext cx="783528" cy="68944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11" name="Line 10"/>
          <p:cNvSpPr>
            <a:spLocks noChangeShapeType="1"/>
          </p:cNvSpPr>
          <p:nvPr/>
        </p:nvSpPr>
        <p:spPr bwMode="auto">
          <a:xfrm flipH="1">
            <a:off x="5357489" y="2754684"/>
            <a:ext cx="459971" cy="110308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12" name="Line 10"/>
          <p:cNvSpPr>
            <a:spLocks noChangeShapeType="1"/>
          </p:cNvSpPr>
          <p:nvPr/>
        </p:nvSpPr>
        <p:spPr bwMode="auto">
          <a:xfrm>
            <a:off x="2933583" y="2308444"/>
            <a:ext cx="1513663" cy="136078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13" name="Line 10"/>
          <p:cNvSpPr>
            <a:spLocks noChangeShapeType="1"/>
          </p:cNvSpPr>
          <p:nvPr/>
        </p:nvSpPr>
        <p:spPr bwMode="auto">
          <a:xfrm flipV="1">
            <a:off x="2716268" y="4753864"/>
            <a:ext cx="118316" cy="156785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Tree>
    <p:extLst>
      <p:ext uri="{BB962C8B-B14F-4D97-AF65-F5344CB8AC3E}">
        <p14:creationId xmlns:p14="http://schemas.microsoft.com/office/powerpoint/2010/main" val="1060651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arn(inVertical)">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down)">
                                      <p:cBhvr>
                                        <p:cTn id="15" dur="500"/>
                                        <p:tgtEl>
                                          <p:spTgt spid="5">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down)">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animEffect transition="in" filter="wipe(down)">
                                      <p:cBhvr>
                                        <p:cTn id="23" dur="500"/>
                                        <p:tgtEl>
                                          <p:spTgt spid="5">
                                            <p:txEl>
                                              <p:pRg st="7" end="7"/>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5">
                                            <p:txEl>
                                              <p:pRg st="8" end="8"/>
                                            </p:txEl>
                                          </p:spTgt>
                                        </p:tgtEl>
                                        <p:attrNameLst>
                                          <p:attrName>style.visibility</p:attrName>
                                        </p:attrNameLst>
                                      </p:cBhvr>
                                      <p:to>
                                        <p:strVal val="visible"/>
                                      </p:to>
                                    </p:set>
                                    <p:animEffect transition="in" filter="wipe(down)">
                                      <p:cBhvr>
                                        <p:cTn id="28" dur="500"/>
                                        <p:tgtEl>
                                          <p:spTgt spid="5">
                                            <p:txEl>
                                              <p:pRg st="8" end="8"/>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down)">
                                      <p:cBhvr>
                                        <p:cTn id="31" dur="500"/>
                                        <p:tgtEl>
                                          <p:spTgt spid="8"/>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down)">
                                      <p:cBhvr>
                                        <p:cTn id="34" dur="500"/>
                                        <p:tgtEl>
                                          <p:spTgt spid="11"/>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down)">
                                      <p:cBhvr>
                                        <p:cTn id="37" dur="500"/>
                                        <p:tgtEl>
                                          <p:spTgt spid="12"/>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down)">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1" grpId="0" animBg="1"/>
      <p:bldP spid="12"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0" name="Rectangle 14"/>
          <p:cNvSpPr>
            <a:spLocks noChangeArrowheads="1"/>
          </p:cNvSpPr>
          <p:nvPr/>
        </p:nvSpPr>
        <p:spPr bwMode="auto">
          <a:xfrm>
            <a:off x="1143001" y="2651760"/>
            <a:ext cx="73136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spcBef>
                <a:spcPct val="20000"/>
              </a:spcBef>
              <a:buClr>
                <a:schemeClr val="tx2"/>
              </a:buClr>
              <a:buSzPct val="70000"/>
              <a:buFont typeface="Wingdings" charset="2"/>
              <a:buChar char="¡"/>
              <a:defRPr sz="2900">
                <a:solidFill>
                  <a:schemeClr val="tx1"/>
                </a:solidFill>
                <a:latin typeface="Verdana" charset="0"/>
              </a:defRPr>
            </a:lvl1pPr>
            <a:lvl2pPr marL="742950" indent="-285750">
              <a:spcBef>
                <a:spcPct val="20000"/>
              </a:spcBef>
              <a:buClr>
                <a:schemeClr val="accent2"/>
              </a:buClr>
              <a:buSzPct val="70000"/>
              <a:buFont typeface="Wingdings" charset="2"/>
              <a:buChar char="l"/>
              <a:defRPr sz="2500">
                <a:solidFill>
                  <a:schemeClr val="tx1"/>
                </a:solidFill>
                <a:latin typeface="Verdana" charset="0"/>
              </a:defRPr>
            </a:lvl2pPr>
            <a:lvl3pPr marL="1143000" indent="-228600">
              <a:spcBef>
                <a:spcPct val="20000"/>
              </a:spcBef>
              <a:buClr>
                <a:schemeClr val="tx2"/>
              </a:buClr>
              <a:buSzPct val="65000"/>
              <a:buFont typeface="Wingdings" charset="2"/>
              <a:buChar char="¡"/>
              <a:defRPr sz="2200">
                <a:solidFill>
                  <a:schemeClr val="tx1"/>
                </a:solidFill>
                <a:latin typeface="Verdana" charset="0"/>
              </a:defRPr>
            </a:lvl3pPr>
            <a:lvl4pPr marL="1600200" indent="-228600">
              <a:spcBef>
                <a:spcPct val="20000"/>
              </a:spcBef>
              <a:buClr>
                <a:schemeClr val="accent2"/>
              </a:buClr>
              <a:buSzPct val="70000"/>
              <a:buFont typeface="Wingdings" charset="2"/>
              <a:buChar char="l"/>
              <a:defRPr sz="1900">
                <a:solidFill>
                  <a:schemeClr val="tx1"/>
                </a:solidFill>
                <a:latin typeface="Verdana" charset="0"/>
              </a:defRPr>
            </a:lvl4pPr>
            <a:lvl5pPr marL="2057400" indent="-228600">
              <a:spcBef>
                <a:spcPct val="20000"/>
              </a:spcBef>
              <a:buClr>
                <a:schemeClr val="tx2"/>
              </a:buClr>
              <a:buSzPct val="60000"/>
              <a:buFont typeface="Wingdings" charset="2"/>
              <a:buChar char="¡"/>
              <a:defRPr sz="1900">
                <a:solidFill>
                  <a:schemeClr val="tx1"/>
                </a:solidFill>
                <a:latin typeface="Verdana" charset="0"/>
              </a:defRPr>
            </a:lvl5pPr>
            <a:lvl6pPr marL="2514600" indent="-228600" fontAlgn="base">
              <a:spcBef>
                <a:spcPct val="20000"/>
              </a:spcBef>
              <a:spcAft>
                <a:spcPct val="0"/>
              </a:spcAft>
              <a:buClr>
                <a:schemeClr val="tx2"/>
              </a:buClr>
              <a:buSzPct val="60000"/>
              <a:buFont typeface="Wingdings" charset="2"/>
              <a:buChar char="¡"/>
              <a:defRPr sz="1900">
                <a:solidFill>
                  <a:schemeClr val="tx1"/>
                </a:solidFill>
                <a:latin typeface="Verdana" charset="0"/>
              </a:defRPr>
            </a:lvl6pPr>
            <a:lvl7pPr marL="2971800" indent="-228600" fontAlgn="base">
              <a:spcBef>
                <a:spcPct val="20000"/>
              </a:spcBef>
              <a:spcAft>
                <a:spcPct val="0"/>
              </a:spcAft>
              <a:buClr>
                <a:schemeClr val="tx2"/>
              </a:buClr>
              <a:buSzPct val="60000"/>
              <a:buFont typeface="Wingdings" charset="2"/>
              <a:buChar char="¡"/>
              <a:defRPr sz="1900">
                <a:solidFill>
                  <a:schemeClr val="tx1"/>
                </a:solidFill>
                <a:latin typeface="Verdana" charset="0"/>
              </a:defRPr>
            </a:lvl7pPr>
            <a:lvl8pPr marL="3429000" indent="-228600" fontAlgn="base">
              <a:spcBef>
                <a:spcPct val="20000"/>
              </a:spcBef>
              <a:spcAft>
                <a:spcPct val="0"/>
              </a:spcAft>
              <a:buClr>
                <a:schemeClr val="tx2"/>
              </a:buClr>
              <a:buSzPct val="60000"/>
              <a:buFont typeface="Wingdings" charset="2"/>
              <a:buChar char="¡"/>
              <a:defRPr sz="1900">
                <a:solidFill>
                  <a:schemeClr val="tx1"/>
                </a:solidFill>
                <a:latin typeface="Verdana" charset="0"/>
              </a:defRPr>
            </a:lvl8pPr>
            <a:lvl9pPr marL="3886200" indent="-228600" fontAlgn="base">
              <a:spcBef>
                <a:spcPct val="20000"/>
              </a:spcBef>
              <a:spcAft>
                <a:spcPct val="0"/>
              </a:spcAft>
              <a:buClr>
                <a:schemeClr val="tx2"/>
              </a:buClr>
              <a:buSzPct val="60000"/>
              <a:buFont typeface="Wingdings" charset="2"/>
              <a:buChar char="¡"/>
              <a:defRPr sz="1900">
                <a:solidFill>
                  <a:schemeClr val="tx1"/>
                </a:solidFill>
                <a:latin typeface="Verdana" charset="0"/>
              </a:defRPr>
            </a:lvl9pPr>
          </a:lstStyle>
          <a:p>
            <a:pPr eaLnBrk="1" hangingPunct="1">
              <a:lnSpc>
                <a:spcPct val="90000"/>
              </a:lnSpc>
              <a:buFont typeface="Wingdings" charset="2"/>
              <a:buNone/>
            </a:pPr>
            <a:r>
              <a:rPr lang="en-US" altLang="x-none" sz="2400">
                <a:latin typeface="+mn-lt"/>
              </a:rPr>
              <a:t>2. Find the difference between each value and the mean: </a:t>
            </a:r>
          </a:p>
        </p:txBody>
      </p:sp>
      <p:sp>
        <p:nvSpPr>
          <p:cNvPr id="14352" name="Rectangle 16"/>
          <p:cNvSpPr>
            <a:spLocks noChangeArrowheads="1"/>
          </p:cNvSpPr>
          <p:nvPr/>
        </p:nvSpPr>
        <p:spPr bwMode="auto">
          <a:xfrm>
            <a:off x="1143000" y="3288347"/>
            <a:ext cx="7313613"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spcBef>
                <a:spcPct val="20000"/>
              </a:spcBef>
              <a:buClr>
                <a:schemeClr val="tx2"/>
              </a:buClr>
              <a:buSzPct val="70000"/>
              <a:buFont typeface="Wingdings" charset="2"/>
              <a:buChar char="¡"/>
              <a:defRPr sz="2900">
                <a:solidFill>
                  <a:schemeClr val="tx1"/>
                </a:solidFill>
                <a:latin typeface="Verdana" charset="0"/>
              </a:defRPr>
            </a:lvl1pPr>
            <a:lvl2pPr marL="742950" indent="-285750">
              <a:spcBef>
                <a:spcPct val="20000"/>
              </a:spcBef>
              <a:buClr>
                <a:schemeClr val="accent2"/>
              </a:buClr>
              <a:buSzPct val="70000"/>
              <a:buFont typeface="Wingdings" charset="2"/>
              <a:buChar char="l"/>
              <a:defRPr sz="2500">
                <a:solidFill>
                  <a:schemeClr val="tx1"/>
                </a:solidFill>
                <a:latin typeface="Verdana" charset="0"/>
              </a:defRPr>
            </a:lvl2pPr>
            <a:lvl3pPr marL="1143000" indent="-228600">
              <a:spcBef>
                <a:spcPct val="20000"/>
              </a:spcBef>
              <a:buClr>
                <a:schemeClr val="tx2"/>
              </a:buClr>
              <a:buSzPct val="65000"/>
              <a:buFont typeface="Wingdings" charset="2"/>
              <a:buChar char="¡"/>
              <a:defRPr sz="2200">
                <a:solidFill>
                  <a:schemeClr val="tx1"/>
                </a:solidFill>
                <a:latin typeface="Verdana" charset="0"/>
              </a:defRPr>
            </a:lvl3pPr>
            <a:lvl4pPr marL="1600200" indent="-228600">
              <a:spcBef>
                <a:spcPct val="20000"/>
              </a:spcBef>
              <a:buClr>
                <a:schemeClr val="accent2"/>
              </a:buClr>
              <a:buSzPct val="70000"/>
              <a:buFont typeface="Wingdings" charset="2"/>
              <a:buChar char="l"/>
              <a:defRPr sz="1900">
                <a:solidFill>
                  <a:schemeClr val="tx1"/>
                </a:solidFill>
                <a:latin typeface="Verdana" charset="0"/>
              </a:defRPr>
            </a:lvl4pPr>
            <a:lvl5pPr marL="2057400" indent="-228600">
              <a:spcBef>
                <a:spcPct val="20000"/>
              </a:spcBef>
              <a:buClr>
                <a:schemeClr val="tx2"/>
              </a:buClr>
              <a:buSzPct val="60000"/>
              <a:buFont typeface="Wingdings" charset="2"/>
              <a:buChar char="¡"/>
              <a:defRPr sz="1900">
                <a:solidFill>
                  <a:schemeClr val="tx1"/>
                </a:solidFill>
                <a:latin typeface="Verdana" charset="0"/>
              </a:defRPr>
            </a:lvl5pPr>
            <a:lvl6pPr marL="2514600" indent="-228600" fontAlgn="base">
              <a:spcBef>
                <a:spcPct val="20000"/>
              </a:spcBef>
              <a:spcAft>
                <a:spcPct val="0"/>
              </a:spcAft>
              <a:buClr>
                <a:schemeClr val="tx2"/>
              </a:buClr>
              <a:buSzPct val="60000"/>
              <a:buFont typeface="Wingdings" charset="2"/>
              <a:buChar char="¡"/>
              <a:defRPr sz="1900">
                <a:solidFill>
                  <a:schemeClr val="tx1"/>
                </a:solidFill>
                <a:latin typeface="Verdana" charset="0"/>
              </a:defRPr>
            </a:lvl6pPr>
            <a:lvl7pPr marL="2971800" indent="-228600" fontAlgn="base">
              <a:spcBef>
                <a:spcPct val="20000"/>
              </a:spcBef>
              <a:spcAft>
                <a:spcPct val="0"/>
              </a:spcAft>
              <a:buClr>
                <a:schemeClr val="tx2"/>
              </a:buClr>
              <a:buSzPct val="60000"/>
              <a:buFont typeface="Wingdings" charset="2"/>
              <a:buChar char="¡"/>
              <a:defRPr sz="1900">
                <a:solidFill>
                  <a:schemeClr val="tx1"/>
                </a:solidFill>
                <a:latin typeface="Verdana" charset="0"/>
              </a:defRPr>
            </a:lvl7pPr>
            <a:lvl8pPr marL="3429000" indent="-228600" fontAlgn="base">
              <a:spcBef>
                <a:spcPct val="20000"/>
              </a:spcBef>
              <a:spcAft>
                <a:spcPct val="0"/>
              </a:spcAft>
              <a:buClr>
                <a:schemeClr val="tx2"/>
              </a:buClr>
              <a:buSzPct val="60000"/>
              <a:buFont typeface="Wingdings" charset="2"/>
              <a:buChar char="¡"/>
              <a:defRPr sz="1900">
                <a:solidFill>
                  <a:schemeClr val="tx1"/>
                </a:solidFill>
                <a:latin typeface="Verdana" charset="0"/>
              </a:defRPr>
            </a:lvl8pPr>
            <a:lvl9pPr marL="3886200" indent="-228600" fontAlgn="base">
              <a:spcBef>
                <a:spcPct val="20000"/>
              </a:spcBef>
              <a:spcAft>
                <a:spcPct val="0"/>
              </a:spcAft>
              <a:buClr>
                <a:schemeClr val="tx2"/>
              </a:buClr>
              <a:buSzPct val="60000"/>
              <a:buFont typeface="Wingdings" charset="2"/>
              <a:buChar char="¡"/>
              <a:defRPr sz="1900">
                <a:solidFill>
                  <a:schemeClr val="tx1"/>
                </a:solidFill>
                <a:latin typeface="Verdana" charset="0"/>
              </a:defRPr>
            </a:lvl9pPr>
          </a:lstStyle>
          <a:p>
            <a:pPr eaLnBrk="1" hangingPunct="1">
              <a:lnSpc>
                <a:spcPct val="90000"/>
              </a:lnSpc>
              <a:buFont typeface="Wingdings" charset="2"/>
              <a:buNone/>
            </a:pPr>
            <a:r>
              <a:rPr lang="en-US" altLang="x-none" sz="2400">
                <a:latin typeface="+mn-lt"/>
              </a:rPr>
              <a:t>3. Square the difference: </a:t>
            </a:r>
          </a:p>
        </p:txBody>
      </p:sp>
      <p:sp>
        <p:nvSpPr>
          <p:cNvPr id="14356" name="Rectangle 20"/>
          <p:cNvSpPr>
            <a:spLocks noChangeArrowheads="1"/>
          </p:cNvSpPr>
          <p:nvPr/>
        </p:nvSpPr>
        <p:spPr bwMode="auto">
          <a:xfrm>
            <a:off x="1150621" y="4889341"/>
            <a:ext cx="7313613" cy="98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spcBef>
                <a:spcPct val="20000"/>
              </a:spcBef>
              <a:buClr>
                <a:schemeClr val="tx2"/>
              </a:buClr>
              <a:buSzPct val="70000"/>
              <a:buFont typeface="Wingdings" charset="2"/>
              <a:buChar char="¡"/>
              <a:defRPr sz="2900">
                <a:solidFill>
                  <a:schemeClr val="tx1"/>
                </a:solidFill>
                <a:latin typeface="Verdana" charset="0"/>
              </a:defRPr>
            </a:lvl1pPr>
            <a:lvl2pPr marL="742950" indent="-285750">
              <a:spcBef>
                <a:spcPct val="20000"/>
              </a:spcBef>
              <a:buClr>
                <a:schemeClr val="accent2"/>
              </a:buClr>
              <a:buSzPct val="70000"/>
              <a:buFont typeface="Wingdings" charset="2"/>
              <a:buChar char="l"/>
              <a:defRPr sz="2500">
                <a:solidFill>
                  <a:schemeClr val="tx1"/>
                </a:solidFill>
                <a:latin typeface="Verdana" charset="0"/>
              </a:defRPr>
            </a:lvl2pPr>
            <a:lvl3pPr marL="1143000" indent="-228600">
              <a:spcBef>
                <a:spcPct val="20000"/>
              </a:spcBef>
              <a:buClr>
                <a:schemeClr val="tx2"/>
              </a:buClr>
              <a:buSzPct val="65000"/>
              <a:buFont typeface="Wingdings" charset="2"/>
              <a:buChar char="¡"/>
              <a:defRPr sz="2200">
                <a:solidFill>
                  <a:schemeClr val="tx1"/>
                </a:solidFill>
                <a:latin typeface="Verdana" charset="0"/>
              </a:defRPr>
            </a:lvl3pPr>
            <a:lvl4pPr marL="1600200" indent="-228600">
              <a:spcBef>
                <a:spcPct val="20000"/>
              </a:spcBef>
              <a:buClr>
                <a:schemeClr val="accent2"/>
              </a:buClr>
              <a:buSzPct val="70000"/>
              <a:buFont typeface="Wingdings" charset="2"/>
              <a:buChar char="l"/>
              <a:defRPr sz="1900">
                <a:solidFill>
                  <a:schemeClr val="tx1"/>
                </a:solidFill>
                <a:latin typeface="Verdana" charset="0"/>
              </a:defRPr>
            </a:lvl4pPr>
            <a:lvl5pPr marL="2057400" indent="-228600">
              <a:spcBef>
                <a:spcPct val="20000"/>
              </a:spcBef>
              <a:buClr>
                <a:schemeClr val="tx2"/>
              </a:buClr>
              <a:buSzPct val="60000"/>
              <a:buFont typeface="Wingdings" charset="2"/>
              <a:buChar char="¡"/>
              <a:defRPr sz="1900">
                <a:solidFill>
                  <a:schemeClr val="tx1"/>
                </a:solidFill>
                <a:latin typeface="Verdana" charset="0"/>
              </a:defRPr>
            </a:lvl5pPr>
            <a:lvl6pPr marL="2514600" indent="-228600" fontAlgn="base">
              <a:spcBef>
                <a:spcPct val="20000"/>
              </a:spcBef>
              <a:spcAft>
                <a:spcPct val="0"/>
              </a:spcAft>
              <a:buClr>
                <a:schemeClr val="tx2"/>
              </a:buClr>
              <a:buSzPct val="60000"/>
              <a:buFont typeface="Wingdings" charset="2"/>
              <a:buChar char="¡"/>
              <a:defRPr sz="1900">
                <a:solidFill>
                  <a:schemeClr val="tx1"/>
                </a:solidFill>
                <a:latin typeface="Verdana" charset="0"/>
              </a:defRPr>
            </a:lvl6pPr>
            <a:lvl7pPr marL="2971800" indent="-228600" fontAlgn="base">
              <a:spcBef>
                <a:spcPct val="20000"/>
              </a:spcBef>
              <a:spcAft>
                <a:spcPct val="0"/>
              </a:spcAft>
              <a:buClr>
                <a:schemeClr val="tx2"/>
              </a:buClr>
              <a:buSzPct val="60000"/>
              <a:buFont typeface="Wingdings" charset="2"/>
              <a:buChar char="¡"/>
              <a:defRPr sz="1900">
                <a:solidFill>
                  <a:schemeClr val="tx1"/>
                </a:solidFill>
                <a:latin typeface="Verdana" charset="0"/>
              </a:defRPr>
            </a:lvl7pPr>
            <a:lvl8pPr marL="3429000" indent="-228600" fontAlgn="base">
              <a:spcBef>
                <a:spcPct val="20000"/>
              </a:spcBef>
              <a:spcAft>
                <a:spcPct val="0"/>
              </a:spcAft>
              <a:buClr>
                <a:schemeClr val="tx2"/>
              </a:buClr>
              <a:buSzPct val="60000"/>
              <a:buFont typeface="Wingdings" charset="2"/>
              <a:buChar char="¡"/>
              <a:defRPr sz="1900">
                <a:solidFill>
                  <a:schemeClr val="tx1"/>
                </a:solidFill>
                <a:latin typeface="Verdana" charset="0"/>
              </a:defRPr>
            </a:lvl8pPr>
            <a:lvl9pPr marL="3886200" indent="-228600" fontAlgn="base">
              <a:spcBef>
                <a:spcPct val="20000"/>
              </a:spcBef>
              <a:spcAft>
                <a:spcPct val="0"/>
              </a:spcAft>
              <a:buClr>
                <a:schemeClr val="tx2"/>
              </a:buClr>
              <a:buSzPct val="60000"/>
              <a:buFont typeface="Wingdings" charset="2"/>
              <a:buChar char="¡"/>
              <a:defRPr sz="1900">
                <a:solidFill>
                  <a:schemeClr val="tx1"/>
                </a:solidFill>
                <a:latin typeface="Verdana" charset="0"/>
              </a:defRPr>
            </a:lvl9pPr>
          </a:lstStyle>
          <a:p>
            <a:pPr eaLnBrk="1" hangingPunct="1">
              <a:lnSpc>
                <a:spcPct val="90000"/>
              </a:lnSpc>
              <a:buFont typeface="Wingdings" charset="2"/>
              <a:buNone/>
            </a:pPr>
            <a:r>
              <a:rPr lang="en-US" altLang="x-none" sz="2400" dirty="0">
                <a:latin typeface="+mn-lt"/>
              </a:rPr>
              <a:t>5. Take the square root to find the standard deviation </a:t>
            </a:r>
          </a:p>
        </p:txBody>
      </p:sp>
      <p:sp>
        <p:nvSpPr>
          <p:cNvPr id="14354" name="Rectangle 18"/>
          <p:cNvSpPr>
            <a:spLocks noChangeArrowheads="1"/>
          </p:cNvSpPr>
          <p:nvPr/>
        </p:nvSpPr>
        <p:spPr bwMode="auto">
          <a:xfrm>
            <a:off x="1142999" y="3979193"/>
            <a:ext cx="7313613" cy="883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spcBef>
                <a:spcPct val="20000"/>
              </a:spcBef>
              <a:buClr>
                <a:schemeClr val="tx2"/>
              </a:buClr>
              <a:buSzPct val="70000"/>
              <a:buFont typeface="Wingdings" charset="2"/>
              <a:buChar char="¡"/>
              <a:defRPr sz="2900">
                <a:solidFill>
                  <a:schemeClr val="tx1"/>
                </a:solidFill>
                <a:latin typeface="Verdana" charset="0"/>
              </a:defRPr>
            </a:lvl1pPr>
            <a:lvl2pPr marL="742950" indent="-285750">
              <a:spcBef>
                <a:spcPct val="20000"/>
              </a:spcBef>
              <a:buClr>
                <a:schemeClr val="accent2"/>
              </a:buClr>
              <a:buSzPct val="70000"/>
              <a:buFont typeface="Wingdings" charset="2"/>
              <a:buChar char="l"/>
              <a:defRPr sz="2500">
                <a:solidFill>
                  <a:schemeClr val="tx1"/>
                </a:solidFill>
                <a:latin typeface="Verdana" charset="0"/>
              </a:defRPr>
            </a:lvl2pPr>
            <a:lvl3pPr marL="1143000" indent="-228600">
              <a:spcBef>
                <a:spcPct val="20000"/>
              </a:spcBef>
              <a:buClr>
                <a:schemeClr val="tx2"/>
              </a:buClr>
              <a:buSzPct val="65000"/>
              <a:buFont typeface="Wingdings" charset="2"/>
              <a:buChar char="¡"/>
              <a:defRPr sz="2200">
                <a:solidFill>
                  <a:schemeClr val="tx1"/>
                </a:solidFill>
                <a:latin typeface="Verdana" charset="0"/>
              </a:defRPr>
            </a:lvl3pPr>
            <a:lvl4pPr marL="1600200" indent="-228600">
              <a:spcBef>
                <a:spcPct val="20000"/>
              </a:spcBef>
              <a:buClr>
                <a:schemeClr val="accent2"/>
              </a:buClr>
              <a:buSzPct val="70000"/>
              <a:buFont typeface="Wingdings" charset="2"/>
              <a:buChar char="l"/>
              <a:defRPr sz="1900">
                <a:solidFill>
                  <a:schemeClr val="tx1"/>
                </a:solidFill>
                <a:latin typeface="Verdana" charset="0"/>
              </a:defRPr>
            </a:lvl4pPr>
            <a:lvl5pPr marL="2057400" indent="-228600">
              <a:spcBef>
                <a:spcPct val="20000"/>
              </a:spcBef>
              <a:buClr>
                <a:schemeClr val="tx2"/>
              </a:buClr>
              <a:buSzPct val="60000"/>
              <a:buFont typeface="Wingdings" charset="2"/>
              <a:buChar char="¡"/>
              <a:defRPr sz="1900">
                <a:solidFill>
                  <a:schemeClr val="tx1"/>
                </a:solidFill>
                <a:latin typeface="Verdana" charset="0"/>
              </a:defRPr>
            </a:lvl5pPr>
            <a:lvl6pPr marL="2514600" indent="-228600" fontAlgn="base">
              <a:spcBef>
                <a:spcPct val="20000"/>
              </a:spcBef>
              <a:spcAft>
                <a:spcPct val="0"/>
              </a:spcAft>
              <a:buClr>
                <a:schemeClr val="tx2"/>
              </a:buClr>
              <a:buSzPct val="60000"/>
              <a:buFont typeface="Wingdings" charset="2"/>
              <a:buChar char="¡"/>
              <a:defRPr sz="1900">
                <a:solidFill>
                  <a:schemeClr val="tx1"/>
                </a:solidFill>
                <a:latin typeface="Verdana" charset="0"/>
              </a:defRPr>
            </a:lvl6pPr>
            <a:lvl7pPr marL="2971800" indent="-228600" fontAlgn="base">
              <a:spcBef>
                <a:spcPct val="20000"/>
              </a:spcBef>
              <a:spcAft>
                <a:spcPct val="0"/>
              </a:spcAft>
              <a:buClr>
                <a:schemeClr val="tx2"/>
              </a:buClr>
              <a:buSzPct val="60000"/>
              <a:buFont typeface="Wingdings" charset="2"/>
              <a:buChar char="¡"/>
              <a:defRPr sz="1900">
                <a:solidFill>
                  <a:schemeClr val="tx1"/>
                </a:solidFill>
                <a:latin typeface="Verdana" charset="0"/>
              </a:defRPr>
            </a:lvl7pPr>
            <a:lvl8pPr marL="3429000" indent="-228600" fontAlgn="base">
              <a:spcBef>
                <a:spcPct val="20000"/>
              </a:spcBef>
              <a:spcAft>
                <a:spcPct val="0"/>
              </a:spcAft>
              <a:buClr>
                <a:schemeClr val="tx2"/>
              </a:buClr>
              <a:buSzPct val="60000"/>
              <a:buFont typeface="Wingdings" charset="2"/>
              <a:buChar char="¡"/>
              <a:defRPr sz="1900">
                <a:solidFill>
                  <a:schemeClr val="tx1"/>
                </a:solidFill>
                <a:latin typeface="Verdana" charset="0"/>
              </a:defRPr>
            </a:lvl8pPr>
            <a:lvl9pPr marL="3886200" indent="-228600" fontAlgn="base">
              <a:spcBef>
                <a:spcPct val="20000"/>
              </a:spcBef>
              <a:spcAft>
                <a:spcPct val="0"/>
              </a:spcAft>
              <a:buClr>
                <a:schemeClr val="tx2"/>
              </a:buClr>
              <a:buSzPct val="60000"/>
              <a:buFont typeface="Wingdings" charset="2"/>
              <a:buChar char="¡"/>
              <a:defRPr sz="1900">
                <a:solidFill>
                  <a:schemeClr val="tx1"/>
                </a:solidFill>
                <a:latin typeface="Verdana" charset="0"/>
              </a:defRPr>
            </a:lvl9pPr>
          </a:lstStyle>
          <a:p>
            <a:pPr eaLnBrk="1" hangingPunct="1">
              <a:lnSpc>
                <a:spcPct val="90000"/>
              </a:lnSpc>
              <a:buFont typeface="Wingdings" charset="2"/>
              <a:buNone/>
            </a:pPr>
            <a:r>
              <a:rPr lang="en-US" altLang="x-none" sz="2400" dirty="0">
                <a:latin typeface="+mn-lt"/>
              </a:rPr>
              <a:t>4. Find the average (mean) of these squares:</a:t>
            </a:r>
          </a:p>
          <a:p>
            <a:pPr eaLnBrk="1" hangingPunct="1">
              <a:lnSpc>
                <a:spcPct val="90000"/>
              </a:lnSpc>
            </a:pPr>
            <a:endParaRPr lang="en-US" altLang="x-none" sz="2400" dirty="0">
              <a:latin typeface="+mn-lt"/>
            </a:endParaRPr>
          </a:p>
        </p:txBody>
      </p:sp>
      <p:sp>
        <p:nvSpPr>
          <p:cNvPr id="14339" name="Rectangle 3"/>
          <p:cNvSpPr>
            <a:spLocks noGrp="1" noChangeArrowheads="1"/>
          </p:cNvSpPr>
          <p:nvPr>
            <p:ph type="body" idx="1"/>
          </p:nvPr>
        </p:nvSpPr>
        <p:spPr>
          <a:xfrm>
            <a:off x="1143001" y="2118360"/>
            <a:ext cx="7313613" cy="533400"/>
          </a:xfrm>
        </p:spPr>
        <p:txBody>
          <a:bodyPr/>
          <a:lstStyle/>
          <a:p>
            <a:pPr>
              <a:buFont typeface="Wingdings" charset="2"/>
              <a:buNone/>
            </a:pPr>
            <a:r>
              <a:rPr lang="en-US" altLang="x-none" sz="2400"/>
              <a:t>1. Find the mean of the set of data:</a:t>
            </a:r>
          </a:p>
        </p:txBody>
      </p:sp>
      <p:sp>
        <p:nvSpPr>
          <p:cNvPr id="14338" name="Rectangle 2"/>
          <p:cNvSpPr>
            <a:spLocks noGrp="1" noChangeArrowheads="1"/>
          </p:cNvSpPr>
          <p:nvPr>
            <p:ph type="title"/>
          </p:nvPr>
        </p:nvSpPr>
        <p:spPr/>
        <p:txBody>
          <a:bodyPr/>
          <a:lstStyle/>
          <a:p>
            <a:r>
              <a:rPr lang="en-US" altLang="x-none" sz="3200"/>
              <a:t>Steps to Finding Standard Deviation</a:t>
            </a:r>
          </a:p>
        </p:txBody>
      </p:sp>
      <p:sp>
        <p:nvSpPr>
          <p:cNvPr id="14341" name="Rectangle 5"/>
          <p:cNvSpPr>
            <a:spLocks noChangeArrowheads="1"/>
          </p:cNvSpPr>
          <p:nvPr/>
        </p:nvSpPr>
        <p:spPr bwMode="auto">
          <a:xfrm>
            <a:off x="304801" y="3457566"/>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sz="2400"/>
          </a:p>
        </p:txBody>
      </p:sp>
      <p:graphicFrame>
        <p:nvGraphicFramePr>
          <p:cNvPr id="14340" name="Object 4"/>
          <p:cNvGraphicFramePr>
            <a:graphicFrameLocks noChangeAspect="1"/>
          </p:cNvGraphicFramePr>
          <p:nvPr>
            <p:extLst>
              <p:ext uri="{D42A27DB-BD31-4B8C-83A1-F6EECF244321}">
                <p14:modId xmlns:p14="http://schemas.microsoft.com/office/powerpoint/2010/main" val="2023642569"/>
              </p:ext>
            </p:extLst>
          </p:nvPr>
        </p:nvGraphicFramePr>
        <p:xfrm>
          <a:off x="5730938" y="2027873"/>
          <a:ext cx="363538" cy="593725"/>
        </p:xfrm>
        <a:graphic>
          <a:graphicData uri="http://schemas.openxmlformats.org/presentationml/2006/ole">
            <mc:AlternateContent xmlns:mc="http://schemas.openxmlformats.org/markup-compatibility/2006">
              <mc:Choice xmlns:v="urn:schemas-microsoft-com:vml" Requires="v">
                <p:oleObj spid="_x0000_s2129" name="Equation" r:id="rId3" imgW="126780" imgH="215526" progId="Equation.3">
                  <p:embed/>
                </p:oleObj>
              </mc:Choice>
              <mc:Fallback>
                <p:oleObj name="Equation" r:id="rId3" imgW="126780" imgH="215526"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0938" y="2027873"/>
                        <a:ext cx="363538" cy="593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3" name="Rectangle 7"/>
          <p:cNvSpPr>
            <a:spLocks noChangeArrowheads="1"/>
          </p:cNvSpPr>
          <p:nvPr/>
        </p:nvSpPr>
        <p:spPr bwMode="auto">
          <a:xfrm>
            <a:off x="304801" y="3457566"/>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sz="2400"/>
          </a:p>
        </p:txBody>
      </p:sp>
      <p:graphicFrame>
        <p:nvGraphicFramePr>
          <p:cNvPr id="14342" name="Object 6"/>
          <p:cNvGraphicFramePr>
            <a:graphicFrameLocks noChangeAspect="1"/>
          </p:cNvGraphicFramePr>
          <p:nvPr>
            <p:extLst>
              <p:ext uri="{D42A27DB-BD31-4B8C-83A1-F6EECF244321}">
                <p14:modId xmlns:p14="http://schemas.microsoft.com/office/powerpoint/2010/main" val="1662139644"/>
              </p:ext>
            </p:extLst>
          </p:nvPr>
        </p:nvGraphicFramePr>
        <p:xfrm>
          <a:off x="8464234" y="2467120"/>
          <a:ext cx="838200" cy="496888"/>
        </p:xfrm>
        <a:graphic>
          <a:graphicData uri="http://schemas.openxmlformats.org/presentationml/2006/ole">
            <mc:AlternateContent xmlns:mc="http://schemas.openxmlformats.org/markup-compatibility/2006">
              <mc:Choice xmlns:v="urn:schemas-microsoft-com:vml" Requires="v">
                <p:oleObj spid="_x0000_s2130" name="Equation" r:id="rId5" imgW="355292" imgH="215713" progId="Equation.3">
                  <p:embed/>
                </p:oleObj>
              </mc:Choice>
              <mc:Fallback>
                <p:oleObj name="Equation" r:id="rId5" imgW="355292" imgH="21571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64234" y="2467120"/>
                        <a:ext cx="838200"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5" name="Rectangle 9"/>
          <p:cNvSpPr>
            <a:spLocks noChangeArrowheads="1"/>
          </p:cNvSpPr>
          <p:nvPr/>
        </p:nvSpPr>
        <p:spPr bwMode="auto">
          <a:xfrm>
            <a:off x="304801" y="3438516"/>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sz="2400"/>
          </a:p>
        </p:txBody>
      </p:sp>
      <p:graphicFrame>
        <p:nvGraphicFramePr>
          <p:cNvPr id="14344" name="Object 8"/>
          <p:cNvGraphicFramePr>
            <a:graphicFrameLocks noChangeAspect="1"/>
          </p:cNvGraphicFramePr>
          <p:nvPr>
            <p:extLst>
              <p:ext uri="{D42A27DB-BD31-4B8C-83A1-F6EECF244321}">
                <p14:modId xmlns:p14="http://schemas.microsoft.com/office/powerpoint/2010/main" val="766286072"/>
              </p:ext>
            </p:extLst>
          </p:nvPr>
        </p:nvGraphicFramePr>
        <p:xfrm>
          <a:off x="4495800" y="3207101"/>
          <a:ext cx="1066800" cy="501650"/>
        </p:xfrm>
        <a:graphic>
          <a:graphicData uri="http://schemas.openxmlformats.org/presentationml/2006/ole">
            <mc:AlternateContent xmlns:mc="http://schemas.openxmlformats.org/markup-compatibility/2006">
              <mc:Choice xmlns:v="urn:schemas-microsoft-com:vml" Requires="v">
                <p:oleObj spid="_x0000_s2131" name="Equation" r:id="rId7" imgW="533169" imgH="253890" progId="Equation.3">
                  <p:embed/>
                </p:oleObj>
              </mc:Choice>
              <mc:Fallback>
                <p:oleObj name="Equation" r:id="rId7" imgW="533169" imgH="25389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95800" y="3207101"/>
                        <a:ext cx="1066800"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7" name="Rectangle 11"/>
          <p:cNvSpPr>
            <a:spLocks noChangeArrowheads="1"/>
          </p:cNvSpPr>
          <p:nvPr/>
        </p:nvSpPr>
        <p:spPr bwMode="auto">
          <a:xfrm>
            <a:off x="21336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a:p>
        </p:txBody>
      </p:sp>
      <p:graphicFrame>
        <p:nvGraphicFramePr>
          <p:cNvPr id="14346" name="Object 10"/>
          <p:cNvGraphicFramePr>
            <a:graphicFrameLocks noChangeAspect="1"/>
          </p:cNvGraphicFramePr>
          <p:nvPr>
            <p:extLst>
              <p:ext uri="{D42A27DB-BD31-4B8C-83A1-F6EECF244321}">
                <p14:modId xmlns:p14="http://schemas.microsoft.com/office/powerpoint/2010/main" val="510581045"/>
              </p:ext>
            </p:extLst>
          </p:nvPr>
        </p:nvGraphicFramePr>
        <p:xfrm>
          <a:off x="7085012" y="3859846"/>
          <a:ext cx="1371600" cy="811213"/>
        </p:xfrm>
        <a:graphic>
          <a:graphicData uri="http://schemas.openxmlformats.org/presentationml/2006/ole">
            <mc:AlternateContent xmlns:mc="http://schemas.openxmlformats.org/markup-compatibility/2006">
              <mc:Choice xmlns:v="urn:schemas-microsoft-com:vml" Requires="v">
                <p:oleObj spid="_x0000_s2132" name="Equation" r:id="rId9" imgW="748975" imgH="444307" progId="Equation.3">
                  <p:embed/>
                </p:oleObj>
              </mc:Choice>
              <mc:Fallback>
                <p:oleObj name="Equation" r:id="rId9" imgW="748975" imgH="444307"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85012" y="3859846"/>
                        <a:ext cx="1371600" cy="811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9" name="Rectangle 13"/>
          <p:cNvSpPr>
            <a:spLocks noChangeArrowheads="1"/>
          </p:cNvSpPr>
          <p:nvPr/>
        </p:nvSpPr>
        <p:spPr bwMode="auto">
          <a:xfrm>
            <a:off x="2209800" y="4472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endParaRPr lang="en-US"/>
          </a:p>
        </p:txBody>
      </p:sp>
      <p:graphicFrame>
        <p:nvGraphicFramePr>
          <p:cNvPr id="14348" name="Object 12"/>
          <p:cNvGraphicFramePr>
            <a:graphicFrameLocks noChangeAspect="1"/>
          </p:cNvGraphicFramePr>
          <p:nvPr>
            <p:extLst>
              <p:ext uri="{D42A27DB-BD31-4B8C-83A1-F6EECF244321}">
                <p14:modId xmlns:p14="http://schemas.microsoft.com/office/powerpoint/2010/main" val="2138453550"/>
              </p:ext>
            </p:extLst>
          </p:nvPr>
        </p:nvGraphicFramePr>
        <p:xfrm>
          <a:off x="8241401" y="4768291"/>
          <a:ext cx="1447800" cy="806450"/>
        </p:xfrm>
        <a:graphic>
          <a:graphicData uri="http://schemas.openxmlformats.org/presentationml/2006/ole">
            <mc:AlternateContent xmlns:mc="http://schemas.openxmlformats.org/markup-compatibility/2006">
              <mc:Choice xmlns:v="urn:schemas-microsoft-com:vml" Requires="v">
                <p:oleObj spid="_x0000_s2133" name="Equation" r:id="rId11" imgW="863225" imgH="482391" progId="Equation.3">
                  <p:embed/>
                </p:oleObj>
              </mc:Choice>
              <mc:Fallback>
                <p:oleObj name="Equation" r:id="rId11" imgW="863225" imgH="482391"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41401" y="4768291"/>
                        <a:ext cx="1447800" cy="806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51" name="Rectangle 15"/>
          <p:cNvSpPr>
            <a:spLocks noChangeArrowheads="1"/>
          </p:cNvSpPr>
          <p:nvPr/>
        </p:nvSpPr>
        <p:spPr bwMode="auto">
          <a:xfrm>
            <a:off x="457201" y="5305416"/>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sz="2400"/>
          </a:p>
        </p:txBody>
      </p:sp>
      <p:sp>
        <p:nvSpPr>
          <p:cNvPr id="14353" name="Rectangle 17"/>
          <p:cNvSpPr>
            <a:spLocks noChangeArrowheads="1"/>
          </p:cNvSpPr>
          <p:nvPr/>
        </p:nvSpPr>
        <p:spPr bwMode="auto">
          <a:xfrm>
            <a:off x="228601" y="5153016"/>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sz="2400"/>
          </a:p>
        </p:txBody>
      </p:sp>
      <p:sp>
        <p:nvSpPr>
          <p:cNvPr id="14355" name="Rectangle 19"/>
          <p:cNvSpPr>
            <a:spLocks noChangeArrowheads="1"/>
          </p:cNvSpPr>
          <p:nvPr/>
        </p:nvSpPr>
        <p:spPr bwMode="auto">
          <a:xfrm>
            <a:off x="304801" y="5000616"/>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sz="2400"/>
          </a:p>
        </p:txBody>
      </p:sp>
      <p:sp>
        <p:nvSpPr>
          <p:cNvPr id="2" name="TextBox 1"/>
          <p:cNvSpPr txBox="1"/>
          <p:nvPr/>
        </p:nvSpPr>
        <p:spPr>
          <a:xfrm>
            <a:off x="911769" y="5959629"/>
            <a:ext cx="10571997" cy="461665"/>
          </a:xfrm>
          <a:prstGeom prst="rect">
            <a:avLst/>
          </a:prstGeom>
          <a:noFill/>
        </p:spPr>
        <p:txBody>
          <a:bodyPr wrap="none" rtlCol="0">
            <a:spAutoFit/>
          </a:bodyPr>
          <a:lstStyle/>
          <a:p>
            <a:pPr algn="ctr"/>
            <a:r>
              <a:rPr lang="en-US" sz="2400" dirty="0" smtClean="0"/>
              <a:t>That’s a lot of mathematical symbols, let’s see what this looks like with a set of data</a:t>
            </a:r>
            <a:endParaRPr lang="en-US" sz="2400" dirty="0"/>
          </a:p>
        </p:txBody>
      </p:sp>
    </p:spTree>
    <p:extLst>
      <p:ext uri="{BB962C8B-B14F-4D97-AF65-F5344CB8AC3E}">
        <p14:creationId xmlns:p14="http://schemas.microsoft.com/office/powerpoint/2010/main" val="1834702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box(in)">
                                      <p:cBhvr>
                                        <p:cTn id="7" dur="500"/>
                                        <p:tgtEl>
                                          <p:spTgt spid="14340"/>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4339">
                                            <p:txEl>
                                              <p:pRg st="0" end="0"/>
                                            </p:txEl>
                                          </p:spTgt>
                                        </p:tgtEl>
                                        <p:attrNameLst>
                                          <p:attrName>style.visibility</p:attrName>
                                        </p:attrNameLst>
                                      </p:cBhvr>
                                      <p:to>
                                        <p:strVal val="visible"/>
                                      </p:to>
                                    </p:set>
                                    <p:animEffect transition="in" filter="box(in)">
                                      <p:cBhvr>
                                        <p:cTn id="10" dur="500"/>
                                        <p:tgtEl>
                                          <p:spTgt spid="14339">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14342"/>
                                        </p:tgtEl>
                                        <p:attrNameLst>
                                          <p:attrName>style.visibility</p:attrName>
                                        </p:attrNameLst>
                                      </p:cBhvr>
                                      <p:to>
                                        <p:strVal val="visible"/>
                                      </p:to>
                                    </p:set>
                                    <p:animEffect transition="in" filter="box(in)">
                                      <p:cBhvr>
                                        <p:cTn id="15" dur="500"/>
                                        <p:tgtEl>
                                          <p:spTgt spid="14342"/>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14350"/>
                                        </p:tgtEl>
                                        <p:attrNameLst>
                                          <p:attrName>style.visibility</p:attrName>
                                        </p:attrNameLst>
                                      </p:cBhvr>
                                      <p:to>
                                        <p:strVal val="visible"/>
                                      </p:to>
                                    </p:set>
                                    <p:animEffect transition="in" filter="box(in)">
                                      <p:cBhvr>
                                        <p:cTn id="18" dur="500"/>
                                        <p:tgtEl>
                                          <p:spTgt spid="1435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14344"/>
                                        </p:tgtEl>
                                        <p:attrNameLst>
                                          <p:attrName>style.visibility</p:attrName>
                                        </p:attrNameLst>
                                      </p:cBhvr>
                                      <p:to>
                                        <p:strVal val="visible"/>
                                      </p:to>
                                    </p:set>
                                    <p:animEffect transition="in" filter="box(in)">
                                      <p:cBhvr>
                                        <p:cTn id="23" dur="500"/>
                                        <p:tgtEl>
                                          <p:spTgt spid="14344"/>
                                        </p:tgtEl>
                                      </p:cBhvr>
                                    </p:animEffect>
                                  </p:childTnLst>
                                </p:cTn>
                              </p:par>
                              <p:par>
                                <p:cTn id="24" presetID="4" presetClass="entr" presetSubtype="16" fill="hold" grpId="0" nodeType="withEffect" nodePh="1">
                                  <p:stCondLst>
                                    <p:cond delay="0"/>
                                  </p:stCondLst>
                                  <p:endCondLst>
                                    <p:cond evt="begin" delay="0">
                                      <p:tn val="24"/>
                                    </p:cond>
                                  </p:endCondLst>
                                  <p:childTnLst>
                                    <p:set>
                                      <p:cBhvr>
                                        <p:cTn id="25" dur="1" fill="hold">
                                          <p:stCondLst>
                                            <p:cond delay="0"/>
                                          </p:stCondLst>
                                        </p:cTn>
                                        <p:tgtEl>
                                          <p:spTgt spid="14345"/>
                                        </p:tgtEl>
                                        <p:attrNameLst>
                                          <p:attrName>style.visibility</p:attrName>
                                        </p:attrNameLst>
                                      </p:cBhvr>
                                      <p:to>
                                        <p:strVal val="visible"/>
                                      </p:to>
                                    </p:set>
                                    <p:animEffect transition="in" filter="box(in)">
                                      <p:cBhvr>
                                        <p:cTn id="26" dur="500"/>
                                        <p:tgtEl>
                                          <p:spTgt spid="14345"/>
                                        </p:tgtEl>
                                      </p:cBhvr>
                                    </p:animEffect>
                                  </p:childTnLst>
                                </p:cTn>
                              </p:par>
                              <p:par>
                                <p:cTn id="27" presetID="4" presetClass="entr" presetSubtype="16" fill="hold" grpId="0" nodeType="withEffect">
                                  <p:stCondLst>
                                    <p:cond delay="0"/>
                                  </p:stCondLst>
                                  <p:childTnLst>
                                    <p:set>
                                      <p:cBhvr>
                                        <p:cTn id="28" dur="1" fill="hold">
                                          <p:stCondLst>
                                            <p:cond delay="0"/>
                                          </p:stCondLst>
                                        </p:cTn>
                                        <p:tgtEl>
                                          <p:spTgt spid="14352"/>
                                        </p:tgtEl>
                                        <p:attrNameLst>
                                          <p:attrName>style.visibility</p:attrName>
                                        </p:attrNameLst>
                                      </p:cBhvr>
                                      <p:to>
                                        <p:strVal val="visible"/>
                                      </p:to>
                                    </p:set>
                                    <p:animEffect transition="in" filter="box(in)">
                                      <p:cBhvr>
                                        <p:cTn id="29" dur="500"/>
                                        <p:tgtEl>
                                          <p:spTgt spid="1435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 presetClass="entr" presetSubtype="16" fill="hold" nodeType="clickEffect">
                                  <p:stCondLst>
                                    <p:cond delay="0"/>
                                  </p:stCondLst>
                                  <p:childTnLst>
                                    <p:set>
                                      <p:cBhvr>
                                        <p:cTn id="33" dur="1" fill="hold">
                                          <p:stCondLst>
                                            <p:cond delay="0"/>
                                          </p:stCondLst>
                                        </p:cTn>
                                        <p:tgtEl>
                                          <p:spTgt spid="14346"/>
                                        </p:tgtEl>
                                        <p:attrNameLst>
                                          <p:attrName>style.visibility</p:attrName>
                                        </p:attrNameLst>
                                      </p:cBhvr>
                                      <p:to>
                                        <p:strVal val="visible"/>
                                      </p:to>
                                    </p:set>
                                    <p:animEffect transition="in" filter="box(in)">
                                      <p:cBhvr>
                                        <p:cTn id="34" dur="500"/>
                                        <p:tgtEl>
                                          <p:spTgt spid="14346"/>
                                        </p:tgtEl>
                                      </p:cBhvr>
                                    </p:animEffect>
                                  </p:childTnLst>
                                </p:cTn>
                              </p:par>
                              <p:par>
                                <p:cTn id="35" presetID="4" presetClass="entr" presetSubtype="16" fill="hold" grpId="0" nodeType="withEffect">
                                  <p:stCondLst>
                                    <p:cond delay="0"/>
                                  </p:stCondLst>
                                  <p:childTnLst>
                                    <p:set>
                                      <p:cBhvr>
                                        <p:cTn id="36" dur="1" fill="hold">
                                          <p:stCondLst>
                                            <p:cond delay="0"/>
                                          </p:stCondLst>
                                        </p:cTn>
                                        <p:tgtEl>
                                          <p:spTgt spid="14354"/>
                                        </p:tgtEl>
                                        <p:attrNameLst>
                                          <p:attrName>style.visibility</p:attrName>
                                        </p:attrNameLst>
                                      </p:cBhvr>
                                      <p:to>
                                        <p:strVal val="visible"/>
                                      </p:to>
                                    </p:set>
                                    <p:animEffect transition="in" filter="box(in)">
                                      <p:cBhvr>
                                        <p:cTn id="37" dur="500"/>
                                        <p:tgtEl>
                                          <p:spTgt spid="1435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14348"/>
                                        </p:tgtEl>
                                        <p:attrNameLst>
                                          <p:attrName>style.visibility</p:attrName>
                                        </p:attrNameLst>
                                      </p:cBhvr>
                                      <p:to>
                                        <p:strVal val="visible"/>
                                      </p:to>
                                    </p:set>
                                    <p:animEffect transition="in" filter="box(in)">
                                      <p:cBhvr>
                                        <p:cTn id="42" dur="500"/>
                                        <p:tgtEl>
                                          <p:spTgt spid="14348"/>
                                        </p:tgtEl>
                                      </p:cBhvr>
                                    </p:animEffect>
                                  </p:childTnLst>
                                </p:cTn>
                              </p:par>
                              <p:par>
                                <p:cTn id="43" presetID="4" presetClass="entr" presetSubtype="16" fill="hold" grpId="0" nodeType="withEffect">
                                  <p:stCondLst>
                                    <p:cond delay="0"/>
                                  </p:stCondLst>
                                  <p:childTnLst>
                                    <p:set>
                                      <p:cBhvr>
                                        <p:cTn id="44" dur="1" fill="hold">
                                          <p:stCondLst>
                                            <p:cond delay="0"/>
                                          </p:stCondLst>
                                        </p:cTn>
                                        <p:tgtEl>
                                          <p:spTgt spid="14356"/>
                                        </p:tgtEl>
                                        <p:attrNameLst>
                                          <p:attrName>style.visibility</p:attrName>
                                        </p:attrNameLst>
                                      </p:cBhvr>
                                      <p:to>
                                        <p:strVal val="visible"/>
                                      </p:to>
                                    </p:set>
                                    <p:animEffect transition="in" filter="box(in)">
                                      <p:cBhvr>
                                        <p:cTn id="45" dur="500"/>
                                        <p:tgtEl>
                                          <p:spTgt spid="14356"/>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2"/>
                                        </p:tgtEl>
                                        <p:attrNameLst>
                                          <p:attrName>style.visibility</p:attrName>
                                        </p:attrNameLst>
                                      </p:cBhvr>
                                      <p:to>
                                        <p:strVal val="visible"/>
                                      </p:to>
                                    </p:set>
                                    <p:anim calcmode="lin" valueType="num">
                                      <p:cBhvr additive="base">
                                        <p:cTn id="50" dur="500" fill="hold"/>
                                        <p:tgtEl>
                                          <p:spTgt spid="2"/>
                                        </p:tgtEl>
                                        <p:attrNameLst>
                                          <p:attrName>ppt_x</p:attrName>
                                        </p:attrNameLst>
                                      </p:cBhvr>
                                      <p:tavLst>
                                        <p:tav tm="0">
                                          <p:val>
                                            <p:strVal val="#ppt_x"/>
                                          </p:val>
                                        </p:tav>
                                        <p:tav tm="100000">
                                          <p:val>
                                            <p:strVal val="#ppt_x"/>
                                          </p:val>
                                        </p:tav>
                                      </p:tavLst>
                                    </p:anim>
                                    <p:anim calcmode="lin" valueType="num">
                                      <p:cBhvr additive="base">
                                        <p:cTn id="5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0" grpId="0"/>
      <p:bldP spid="14352" grpId="0"/>
      <p:bldP spid="14356" grpId="0"/>
      <p:bldP spid="14354" grpId="0"/>
      <p:bldP spid="14339" grpId="0" build="p"/>
      <p:bldP spid="14345" grpId="0" animBg="1"/>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sz="quarter"/>
          </p:nvPr>
        </p:nvSpPr>
        <p:spPr>
          <a:xfrm>
            <a:off x="321564" y="616596"/>
            <a:ext cx="6019800" cy="1143000"/>
          </a:xfrm>
          <a:extLst>
            <a:ext uri="{91240B29-F687-4F45-9708-019B960494DF}">
              <a14:hiddenLine xmlns:a14="http://schemas.microsoft.com/office/drawing/2010/main" w="12700">
                <a:solidFill>
                  <a:schemeClr val="tx1"/>
                </a:solidFill>
                <a:miter lim="800000"/>
                <a:headEnd/>
                <a:tailEnd/>
              </a14:hiddenLine>
            </a:ext>
          </a:extLst>
        </p:spPr>
        <p:txBody>
          <a:bodyPr vert="horz" lIns="90487" tIns="44450" rIns="90487" bIns="44450" rtlCol="0" anchor="ctr">
            <a:normAutofit/>
          </a:bodyPr>
          <a:lstStyle/>
          <a:p>
            <a:pPr eaLnBrk="1" hangingPunct="1"/>
            <a:r>
              <a:rPr lang="en-US" altLang="en-US" sz="2400" b="1" dirty="0">
                <a:solidFill>
                  <a:schemeClr val="bg2"/>
                </a:solidFill>
                <a:latin typeface="+mn-lt"/>
              </a:rPr>
              <a:t> </a:t>
            </a:r>
            <a:r>
              <a:rPr lang="en-US" altLang="en-US" sz="2800" b="1" dirty="0" smtClean="0">
                <a:solidFill>
                  <a:schemeClr val="bg2"/>
                </a:solidFill>
                <a:latin typeface="+mn-lt"/>
              </a:rPr>
              <a:t>Guided Practice</a:t>
            </a:r>
            <a:endParaRPr lang="en-US" altLang="en-US" sz="2800" b="1" dirty="0">
              <a:solidFill>
                <a:schemeClr val="bg2"/>
              </a:solidFill>
              <a:latin typeface="+mn-l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7888" y="4869465"/>
            <a:ext cx="4563663" cy="2015124"/>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492" y="4853442"/>
            <a:ext cx="4311396" cy="2031147"/>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37888" y="2785137"/>
            <a:ext cx="4532873" cy="2068305"/>
          </a:xfrm>
          <a:prstGeom prst="rect">
            <a:avLst/>
          </a:prstGeom>
        </p:spPr>
      </p:pic>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6492" y="2785137"/>
            <a:ext cx="4311396" cy="2068305"/>
          </a:xfrm>
          <a:prstGeom prst="rect">
            <a:avLst/>
          </a:prstGeom>
        </p:spPr>
      </p:pic>
      <p:pic>
        <p:nvPicPr>
          <p:cNvPr id="13" name="Picture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6492" y="1858862"/>
            <a:ext cx="10058400" cy="926275"/>
          </a:xfrm>
          <a:prstGeom prst="rect">
            <a:avLst/>
          </a:prstGeom>
        </p:spPr>
      </p:pic>
    </p:spTree>
    <p:custDataLst>
      <p:tags r:id="rId1"/>
    </p:custDataLst>
    <p:extLst>
      <p:ext uri="{BB962C8B-B14F-4D97-AF65-F5344CB8AC3E}">
        <p14:creationId xmlns:p14="http://schemas.microsoft.com/office/powerpoint/2010/main" val="2804015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sz="quarter"/>
          </p:nvPr>
        </p:nvSpPr>
        <p:spPr>
          <a:xfrm>
            <a:off x="321564" y="616596"/>
            <a:ext cx="6019800" cy="1143000"/>
          </a:xfrm>
          <a:extLst>
            <a:ext uri="{91240B29-F687-4F45-9708-019B960494DF}">
              <a14:hiddenLine xmlns:a14="http://schemas.microsoft.com/office/drawing/2010/main" w="12700">
                <a:solidFill>
                  <a:schemeClr val="tx1"/>
                </a:solidFill>
                <a:miter lim="800000"/>
                <a:headEnd/>
                <a:tailEnd/>
              </a14:hiddenLine>
            </a:ext>
          </a:extLst>
        </p:spPr>
        <p:txBody>
          <a:bodyPr vert="horz" lIns="90487" tIns="44450" rIns="90487" bIns="44450" rtlCol="0" anchor="ctr">
            <a:normAutofit/>
          </a:bodyPr>
          <a:lstStyle/>
          <a:p>
            <a:pPr eaLnBrk="1" hangingPunct="1"/>
            <a:r>
              <a:rPr lang="en-US" altLang="en-US" sz="2400" b="1" dirty="0">
                <a:solidFill>
                  <a:schemeClr val="bg2"/>
                </a:solidFill>
                <a:latin typeface="+mn-lt"/>
              </a:rPr>
              <a:t> </a:t>
            </a:r>
            <a:r>
              <a:rPr lang="en-US" altLang="en-US" sz="2800" b="1" dirty="0" smtClean="0">
                <a:solidFill>
                  <a:schemeClr val="bg2"/>
                </a:solidFill>
                <a:latin typeface="+mn-lt"/>
              </a:rPr>
              <a:t>Independent Practice</a:t>
            </a:r>
            <a:endParaRPr lang="en-US" altLang="en-US" sz="2800" b="1" dirty="0">
              <a:solidFill>
                <a:schemeClr val="bg2"/>
              </a:solidFill>
              <a:latin typeface="+mn-lt"/>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1476" y="2407920"/>
            <a:ext cx="8750300" cy="2882900"/>
          </a:xfrm>
          <a:prstGeom prst="rect">
            <a:avLst/>
          </a:prstGeom>
        </p:spPr>
      </p:pic>
    </p:spTree>
    <p:custDataLst>
      <p:tags r:id="rId1"/>
    </p:custDataLst>
    <p:extLst>
      <p:ext uri="{BB962C8B-B14F-4D97-AF65-F5344CB8AC3E}">
        <p14:creationId xmlns:p14="http://schemas.microsoft.com/office/powerpoint/2010/main" val="473691163"/>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sz="quarter"/>
          </p:nvPr>
        </p:nvSpPr>
        <p:spPr>
          <a:xfrm>
            <a:off x="533400" y="441960"/>
            <a:ext cx="6019800" cy="1143000"/>
          </a:xfrm>
          <a:extLst>
            <a:ext uri="{91240B29-F687-4F45-9708-019B960494DF}">
              <a14:hiddenLine xmlns:a14="http://schemas.microsoft.com/office/drawing/2010/main" w="12700">
                <a:solidFill>
                  <a:schemeClr val="tx1"/>
                </a:solidFill>
                <a:miter lim="800000"/>
                <a:headEnd/>
                <a:tailEnd/>
              </a14:hiddenLine>
            </a:ext>
          </a:extLst>
        </p:spPr>
        <p:txBody>
          <a:bodyPr vert="horz" lIns="90487" tIns="44450" rIns="90487" bIns="44450" rtlCol="0" anchor="ctr">
            <a:normAutofit/>
          </a:bodyPr>
          <a:lstStyle/>
          <a:p>
            <a:pPr eaLnBrk="1" hangingPunct="1"/>
            <a:r>
              <a:rPr lang="en-US" altLang="en-US" sz="2800" dirty="0" smtClean="0">
                <a:solidFill>
                  <a:schemeClr val="bg2"/>
                </a:solidFill>
                <a:latin typeface="+mn-lt"/>
              </a:rPr>
              <a:t>Comparing data sets</a:t>
            </a:r>
            <a:endParaRPr lang="en-US" altLang="en-US" sz="2800" b="1" dirty="0">
              <a:solidFill>
                <a:schemeClr val="bg2"/>
              </a:solidFill>
              <a:latin typeface="+mn-lt"/>
            </a:endParaRPr>
          </a:p>
        </p:txBody>
      </p:sp>
      <p:sp>
        <p:nvSpPr>
          <p:cNvPr id="14339" name="Text Box 3"/>
          <p:cNvSpPr txBox="1">
            <a:spLocks noChangeArrowheads="1"/>
          </p:cNvSpPr>
          <p:nvPr/>
        </p:nvSpPr>
        <p:spPr bwMode="auto">
          <a:xfrm>
            <a:off x="289560" y="1990345"/>
            <a:ext cx="11622024"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682625" indent="-682625"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pPr algn="ctr"/>
            <a:r>
              <a:rPr lang="en-US" altLang="x-none" sz="2800" dirty="0" smtClean="0">
                <a:solidFill>
                  <a:srgbClr val="006600"/>
                </a:solidFill>
                <a:latin typeface="+mn-lt"/>
              </a:rPr>
              <a:t>Two </a:t>
            </a:r>
            <a:r>
              <a:rPr lang="en-US" altLang="x-none" sz="2800" dirty="0">
                <a:solidFill>
                  <a:srgbClr val="006600"/>
                </a:solidFill>
                <a:latin typeface="+mn-lt"/>
              </a:rPr>
              <a:t>math </a:t>
            </a:r>
            <a:r>
              <a:rPr lang="en-US" altLang="x-none" sz="2800" dirty="0" smtClean="0">
                <a:solidFill>
                  <a:srgbClr val="006600"/>
                </a:solidFill>
                <a:latin typeface="+mn-lt"/>
              </a:rPr>
              <a:t>classes each took the same test, with 5 random students from each class getting the following scores :  </a:t>
            </a:r>
          </a:p>
          <a:p>
            <a:pPr algn="ctr"/>
            <a:r>
              <a:rPr lang="en-US" altLang="x-none" sz="2800" dirty="0" smtClean="0">
                <a:solidFill>
                  <a:srgbClr val="006600"/>
                </a:solidFill>
                <a:latin typeface="+mn-lt"/>
              </a:rPr>
              <a:t>Class A: 92,88,80,68 </a:t>
            </a:r>
            <a:r>
              <a:rPr lang="en-US" altLang="x-none" sz="2800" dirty="0">
                <a:solidFill>
                  <a:srgbClr val="006600"/>
                </a:solidFill>
                <a:latin typeface="+mn-lt"/>
              </a:rPr>
              <a:t>and </a:t>
            </a:r>
            <a:r>
              <a:rPr lang="en-US" altLang="x-none" sz="2800" dirty="0" smtClean="0">
                <a:solidFill>
                  <a:srgbClr val="006600"/>
                </a:solidFill>
                <a:latin typeface="+mn-lt"/>
              </a:rPr>
              <a:t>52 and Class B: </a:t>
            </a:r>
            <a:r>
              <a:rPr lang="en-US" altLang="x-none" sz="2800" dirty="0">
                <a:solidFill>
                  <a:srgbClr val="006600"/>
                </a:solidFill>
                <a:latin typeface="+mn-lt"/>
              </a:rPr>
              <a:t>92,88,80,68 and </a:t>
            </a:r>
            <a:r>
              <a:rPr lang="en-US" altLang="x-none" sz="2800" dirty="0" smtClean="0">
                <a:solidFill>
                  <a:srgbClr val="006600"/>
                </a:solidFill>
                <a:latin typeface="+mn-lt"/>
              </a:rPr>
              <a:t>52</a:t>
            </a:r>
          </a:p>
          <a:p>
            <a:pPr algn="ctr"/>
            <a:endParaRPr lang="en-US" altLang="x-none" sz="2800" dirty="0">
              <a:solidFill>
                <a:srgbClr val="006600"/>
              </a:solidFill>
              <a:latin typeface="+mn-lt"/>
            </a:endParaRPr>
          </a:p>
        </p:txBody>
      </p:sp>
      <p:sp>
        <p:nvSpPr>
          <p:cNvPr id="6" name="Text Box 3"/>
          <p:cNvSpPr txBox="1">
            <a:spLocks noChangeArrowheads="1"/>
          </p:cNvSpPr>
          <p:nvPr/>
        </p:nvSpPr>
        <p:spPr bwMode="auto">
          <a:xfrm>
            <a:off x="289560" y="3576062"/>
            <a:ext cx="1162202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682625" indent="-682625"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pPr algn="ctr"/>
            <a:r>
              <a:rPr lang="en-US" altLang="x-none" sz="2800" smtClean="0">
                <a:solidFill>
                  <a:srgbClr val="006600"/>
                </a:solidFill>
                <a:latin typeface="+mn-lt"/>
              </a:rPr>
              <a:t>Find </a:t>
            </a:r>
            <a:r>
              <a:rPr lang="en-US" altLang="x-none" sz="2800" dirty="0" smtClean="0">
                <a:solidFill>
                  <a:srgbClr val="006600"/>
                </a:solidFill>
                <a:latin typeface="+mn-lt"/>
              </a:rPr>
              <a:t>the standard deviation for each class and comment on what it says about the two classes.</a:t>
            </a:r>
            <a:endParaRPr lang="en-US" altLang="x-none" sz="2800" dirty="0">
              <a:solidFill>
                <a:srgbClr val="006600"/>
              </a:solidFill>
              <a:latin typeface="+mn-lt"/>
            </a:endParaRPr>
          </a:p>
        </p:txBody>
      </p:sp>
    </p:spTree>
    <p:custDataLst>
      <p:tags r:id="rId1"/>
    </p:custDataLst>
    <p:extLst>
      <p:ext uri="{BB962C8B-B14F-4D97-AF65-F5344CB8AC3E}">
        <p14:creationId xmlns:p14="http://schemas.microsoft.com/office/powerpoint/2010/main" val="14579597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Text Box 3"/>
          <p:cNvSpPr txBox="1">
            <a:spLocks noChangeArrowheads="1"/>
          </p:cNvSpPr>
          <p:nvPr/>
        </p:nvSpPr>
        <p:spPr bwMode="auto">
          <a:xfrm>
            <a:off x="6925056" y="1870285"/>
            <a:ext cx="41788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400" dirty="0" smtClean="0">
                <a:solidFill>
                  <a:srgbClr val="008000"/>
                </a:solidFill>
                <a:latin typeface="+mn-lt"/>
              </a:rPr>
              <a:t>Class B:   </a:t>
            </a:r>
            <a:r>
              <a:rPr lang="en-US" altLang="x-none" sz="2400" dirty="0">
                <a:solidFill>
                  <a:srgbClr val="008000"/>
                </a:solidFill>
                <a:latin typeface="+mn-lt"/>
              </a:rPr>
              <a:t>92,92,92,52 and 52.</a:t>
            </a:r>
          </a:p>
        </p:txBody>
      </p:sp>
      <p:sp>
        <p:nvSpPr>
          <p:cNvPr id="19459" name="Text Box 4"/>
          <p:cNvSpPr txBox="1">
            <a:spLocks noChangeArrowheads="1"/>
          </p:cNvSpPr>
          <p:nvPr/>
        </p:nvSpPr>
        <p:spPr bwMode="auto">
          <a:xfrm>
            <a:off x="6239256" y="2533021"/>
            <a:ext cx="822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400" dirty="0">
                <a:latin typeface="+mn-lt"/>
              </a:rPr>
              <a:t>1) Find the </a:t>
            </a:r>
            <a:r>
              <a:rPr lang="en-US" altLang="x-none" sz="2400" b="1" dirty="0">
                <a:solidFill>
                  <a:srgbClr val="FF0000"/>
                </a:solidFill>
                <a:latin typeface="+mn-lt"/>
              </a:rPr>
              <a:t>mean</a:t>
            </a:r>
            <a:r>
              <a:rPr lang="en-US" altLang="x-none" sz="2400" dirty="0">
                <a:latin typeface="+mn-lt"/>
              </a:rPr>
              <a:t>: (92+92+92+52+52)/5 = 76</a:t>
            </a:r>
          </a:p>
        </p:txBody>
      </p:sp>
      <p:sp>
        <p:nvSpPr>
          <p:cNvPr id="19460" name="Text Box 5"/>
          <p:cNvSpPr txBox="1">
            <a:spLocks noChangeArrowheads="1"/>
          </p:cNvSpPr>
          <p:nvPr/>
        </p:nvSpPr>
        <p:spPr bwMode="auto">
          <a:xfrm>
            <a:off x="6239256" y="3242528"/>
            <a:ext cx="6858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400">
                <a:latin typeface="+mn-lt"/>
              </a:rPr>
              <a:t>2) Find the deviation from the mean:  </a:t>
            </a:r>
          </a:p>
          <a:p>
            <a:r>
              <a:rPr lang="en-US" altLang="x-none" sz="2400">
                <a:latin typeface="+mn-lt"/>
              </a:rPr>
              <a:t>         92-76=16   92-76=16    92-76=16 </a:t>
            </a:r>
          </a:p>
          <a:p>
            <a:r>
              <a:rPr lang="en-US" altLang="x-none" sz="2400">
                <a:latin typeface="+mn-lt"/>
              </a:rPr>
              <a:t>          52-76= -24     52-76= -24</a:t>
            </a:r>
          </a:p>
        </p:txBody>
      </p:sp>
      <p:sp>
        <p:nvSpPr>
          <p:cNvPr id="19461" name="Text Box 7"/>
          <p:cNvSpPr txBox="1">
            <a:spLocks noChangeArrowheads="1"/>
          </p:cNvSpPr>
          <p:nvPr/>
        </p:nvSpPr>
        <p:spPr bwMode="auto">
          <a:xfrm>
            <a:off x="6375781" y="579840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endParaRPr lang="x-none" altLang="x-none" sz="2400">
              <a:latin typeface="+mn-lt"/>
            </a:endParaRPr>
          </a:p>
        </p:txBody>
      </p:sp>
      <p:sp>
        <p:nvSpPr>
          <p:cNvPr id="19462" name="Text Box 34"/>
          <p:cNvSpPr txBox="1">
            <a:spLocks noChangeArrowheads="1"/>
          </p:cNvSpPr>
          <p:nvPr/>
        </p:nvSpPr>
        <p:spPr bwMode="auto">
          <a:xfrm>
            <a:off x="6163057" y="6027003"/>
            <a:ext cx="432201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400" dirty="0">
                <a:latin typeface="+mn-lt"/>
              </a:rPr>
              <a:t>4) Find the sum of the squares:</a:t>
            </a:r>
          </a:p>
          <a:p>
            <a:r>
              <a:rPr lang="en-US" altLang="x-none" sz="2400" dirty="0">
                <a:latin typeface="+mn-lt"/>
              </a:rPr>
              <a:t>     256+256+256+576+576= 1920</a:t>
            </a:r>
          </a:p>
        </p:txBody>
      </p:sp>
      <p:graphicFrame>
        <p:nvGraphicFramePr>
          <p:cNvPr id="19463" name="Object 36"/>
          <p:cNvGraphicFramePr>
            <a:graphicFrameLocks noGrp="1" noChangeAspect="1"/>
          </p:cNvGraphicFramePr>
          <p:nvPr>
            <p:ph/>
            <p:extLst>
              <p:ext uri="{D42A27DB-BD31-4B8C-83A1-F6EECF244321}">
                <p14:modId xmlns:p14="http://schemas.microsoft.com/office/powerpoint/2010/main" val="260182976"/>
              </p:ext>
            </p:extLst>
          </p:nvPr>
        </p:nvGraphicFramePr>
        <p:xfrm>
          <a:off x="6772655" y="5059426"/>
          <a:ext cx="4929188" cy="960438"/>
        </p:xfrm>
        <a:graphic>
          <a:graphicData uri="http://schemas.openxmlformats.org/presentationml/2006/ole">
            <mc:AlternateContent xmlns:mc="http://schemas.openxmlformats.org/markup-compatibility/2006">
              <mc:Choice xmlns:v="urn:schemas-microsoft-com:vml" Requires="v">
                <p:oleObj spid="_x0000_s13334" name="Equation" r:id="rId4" imgW="2476500" imgH="482600" progId="Equation.DSMT4">
                  <p:embed/>
                </p:oleObj>
              </mc:Choice>
              <mc:Fallback>
                <p:oleObj name="Equation" r:id="rId4" imgW="2476500" imgH="482600" progId="Equation.DSMT4">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2655" y="5059426"/>
                        <a:ext cx="4929188" cy="960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4" name="Text Box 10"/>
          <p:cNvSpPr txBox="1">
            <a:spLocks noChangeArrowheads="1"/>
          </p:cNvSpPr>
          <p:nvPr/>
        </p:nvSpPr>
        <p:spPr bwMode="auto">
          <a:xfrm>
            <a:off x="6239256" y="4603210"/>
            <a:ext cx="7772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463550" indent="-463550"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400">
                <a:latin typeface="+mn-lt"/>
              </a:rPr>
              <a:t>3) Square the  deviation from the mean: </a:t>
            </a:r>
          </a:p>
          <a:p>
            <a:r>
              <a:rPr lang="en-US" altLang="x-none" sz="2400" dirty="0">
                <a:latin typeface="+mn-lt"/>
              </a:rPr>
              <a:t>       </a:t>
            </a:r>
          </a:p>
        </p:txBody>
      </p:sp>
      <p:sp>
        <p:nvSpPr>
          <p:cNvPr id="9" name="Text Box 3"/>
          <p:cNvSpPr txBox="1">
            <a:spLocks noChangeArrowheads="1"/>
          </p:cNvSpPr>
          <p:nvPr/>
        </p:nvSpPr>
        <p:spPr bwMode="auto">
          <a:xfrm>
            <a:off x="761999" y="1870285"/>
            <a:ext cx="41788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400" dirty="0" smtClean="0">
                <a:solidFill>
                  <a:srgbClr val="008000"/>
                </a:solidFill>
                <a:latin typeface="+mn-lt"/>
              </a:rPr>
              <a:t>Class A:   92,88,80,68 </a:t>
            </a:r>
            <a:r>
              <a:rPr lang="en-US" altLang="x-none" sz="2400" dirty="0">
                <a:solidFill>
                  <a:srgbClr val="008000"/>
                </a:solidFill>
                <a:latin typeface="+mn-lt"/>
              </a:rPr>
              <a:t>and 52.</a:t>
            </a:r>
          </a:p>
        </p:txBody>
      </p:sp>
      <p:sp>
        <p:nvSpPr>
          <p:cNvPr id="10" name="Text Box 4"/>
          <p:cNvSpPr txBox="1">
            <a:spLocks noChangeArrowheads="1"/>
          </p:cNvSpPr>
          <p:nvPr/>
        </p:nvSpPr>
        <p:spPr bwMode="auto">
          <a:xfrm>
            <a:off x="76199" y="2533021"/>
            <a:ext cx="822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400" dirty="0">
                <a:latin typeface="+mn-lt"/>
              </a:rPr>
              <a:t>1) Find the </a:t>
            </a:r>
            <a:r>
              <a:rPr lang="en-US" altLang="x-none" sz="2400" b="1" dirty="0">
                <a:solidFill>
                  <a:srgbClr val="FF0000"/>
                </a:solidFill>
                <a:latin typeface="+mn-lt"/>
              </a:rPr>
              <a:t>mean</a:t>
            </a:r>
            <a:r>
              <a:rPr lang="en-US" altLang="x-none" sz="2400" dirty="0">
                <a:latin typeface="+mn-lt"/>
              </a:rPr>
              <a:t>: (</a:t>
            </a:r>
            <a:r>
              <a:rPr lang="en-US" altLang="x-none" sz="2400" dirty="0" smtClean="0">
                <a:latin typeface="+mn-lt"/>
              </a:rPr>
              <a:t>92+88+80+68+52</a:t>
            </a:r>
            <a:r>
              <a:rPr lang="en-US" altLang="x-none" sz="2400" dirty="0">
                <a:latin typeface="+mn-lt"/>
              </a:rPr>
              <a:t>)/5 = 76</a:t>
            </a:r>
          </a:p>
        </p:txBody>
      </p:sp>
      <p:sp>
        <p:nvSpPr>
          <p:cNvPr id="11" name="Text Box 5"/>
          <p:cNvSpPr txBox="1">
            <a:spLocks noChangeArrowheads="1"/>
          </p:cNvSpPr>
          <p:nvPr/>
        </p:nvSpPr>
        <p:spPr bwMode="auto">
          <a:xfrm>
            <a:off x="76199" y="3242528"/>
            <a:ext cx="6858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400" dirty="0">
                <a:latin typeface="+mn-lt"/>
              </a:rPr>
              <a:t>2) Find the deviation from the mean:  </a:t>
            </a:r>
          </a:p>
          <a:p>
            <a:r>
              <a:rPr lang="en-US" altLang="x-none" sz="2400" dirty="0">
                <a:latin typeface="+mn-lt"/>
              </a:rPr>
              <a:t>         92-76=16   </a:t>
            </a:r>
            <a:r>
              <a:rPr lang="en-US" altLang="x-none" sz="2400" dirty="0" smtClean="0">
                <a:latin typeface="+mn-lt"/>
              </a:rPr>
              <a:t>88-76=12    80-76=4 </a:t>
            </a:r>
            <a:endParaRPr lang="en-US" altLang="x-none" sz="2400" dirty="0">
              <a:latin typeface="+mn-lt"/>
            </a:endParaRPr>
          </a:p>
          <a:p>
            <a:r>
              <a:rPr lang="en-US" altLang="x-none" sz="2400" dirty="0">
                <a:latin typeface="+mn-lt"/>
              </a:rPr>
              <a:t>          </a:t>
            </a:r>
            <a:r>
              <a:rPr lang="en-US" altLang="x-none" sz="2400" dirty="0" smtClean="0">
                <a:latin typeface="+mn-lt"/>
              </a:rPr>
              <a:t>68-76</a:t>
            </a:r>
            <a:r>
              <a:rPr lang="en-US" altLang="x-none" sz="2400" dirty="0">
                <a:latin typeface="+mn-lt"/>
              </a:rPr>
              <a:t>= </a:t>
            </a:r>
            <a:r>
              <a:rPr lang="en-US" altLang="x-none" sz="2400" dirty="0" smtClean="0">
                <a:latin typeface="+mn-lt"/>
              </a:rPr>
              <a:t>-</a:t>
            </a:r>
            <a:r>
              <a:rPr lang="en-US" altLang="x-none" sz="2400" dirty="0">
                <a:latin typeface="+mn-lt"/>
              </a:rPr>
              <a:t>8</a:t>
            </a:r>
            <a:r>
              <a:rPr lang="en-US" altLang="x-none" sz="2400" dirty="0" smtClean="0">
                <a:latin typeface="+mn-lt"/>
              </a:rPr>
              <a:t>     </a:t>
            </a:r>
            <a:r>
              <a:rPr lang="en-US" altLang="x-none" sz="2400" dirty="0">
                <a:latin typeface="+mn-lt"/>
              </a:rPr>
              <a:t>52-76= -24</a:t>
            </a:r>
          </a:p>
        </p:txBody>
      </p:sp>
      <p:sp>
        <p:nvSpPr>
          <p:cNvPr id="12" name="Text Box 7"/>
          <p:cNvSpPr txBox="1">
            <a:spLocks noChangeArrowheads="1"/>
          </p:cNvSpPr>
          <p:nvPr/>
        </p:nvSpPr>
        <p:spPr bwMode="auto">
          <a:xfrm>
            <a:off x="212724" y="579840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endParaRPr lang="x-none" altLang="x-none" sz="2400">
              <a:latin typeface="+mn-lt"/>
            </a:endParaRPr>
          </a:p>
        </p:txBody>
      </p:sp>
      <p:sp>
        <p:nvSpPr>
          <p:cNvPr id="13" name="Text Box 34"/>
          <p:cNvSpPr txBox="1">
            <a:spLocks noChangeArrowheads="1"/>
          </p:cNvSpPr>
          <p:nvPr/>
        </p:nvSpPr>
        <p:spPr bwMode="auto">
          <a:xfrm>
            <a:off x="91441" y="6027003"/>
            <a:ext cx="607161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400" dirty="0">
                <a:latin typeface="+mn-lt"/>
              </a:rPr>
              <a:t>4) Find the sum of the squares:</a:t>
            </a:r>
          </a:p>
          <a:p>
            <a:r>
              <a:rPr lang="en-US" altLang="x-none" sz="2400" dirty="0">
                <a:latin typeface="+mn-lt"/>
              </a:rPr>
              <a:t>     </a:t>
            </a:r>
            <a:r>
              <a:rPr lang="en-US" altLang="x-none" sz="2400" dirty="0">
                <a:latin typeface="+mn-lt"/>
              </a:rPr>
              <a:t>256+144+16+64+576= </a:t>
            </a:r>
            <a:r>
              <a:rPr lang="en-US" altLang="x-none" sz="2400" dirty="0" smtClean="0">
                <a:latin typeface="+mn-lt"/>
              </a:rPr>
              <a:t>1056</a:t>
            </a:r>
            <a:endParaRPr lang="en-US" altLang="x-none" sz="2400" dirty="0">
              <a:latin typeface="+mn-lt"/>
            </a:endParaRPr>
          </a:p>
        </p:txBody>
      </p:sp>
      <p:sp>
        <p:nvSpPr>
          <p:cNvPr id="15" name="Text Box 10"/>
          <p:cNvSpPr txBox="1">
            <a:spLocks noChangeArrowheads="1"/>
          </p:cNvSpPr>
          <p:nvPr/>
        </p:nvSpPr>
        <p:spPr bwMode="auto">
          <a:xfrm>
            <a:off x="76199" y="4605893"/>
            <a:ext cx="7772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463550" indent="-463550"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400" dirty="0">
                <a:latin typeface="+mn-lt"/>
              </a:rPr>
              <a:t>3) Square the  deviation from the mean: </a:t>
            </a:r>
          </a:p>
          <a:p>
            <a:r>
              <a:rPr lang="en-US" altLang="x-none" sz="2400" dirty="0">
                <a:latin typeface="+mn-lt"/>
              </a:rPr>
              <a:t>       </a:t>
            </a:r>
          </a:p>
        </p:txBody>
      </p:sp>
      <p:grpSp>
        <p:nvGrpSpPr>
          <p:cNvPr id="16" name="Group 6"/>
          <p:cNvGrpSpPr>
            <a:grpSpLocks/>
          </p:cNvGrpSpPr>
          <p:nvPr/>
        </p:nvGrpSpPr>
        <p:grpSpPr bwMode="auto">
          <a:xfrm>
            <a:off x="609598" y="5021392"/>
            <a:ext cx="4372355" cy="1036505"/>
            <a:chOff x="2801" y="2560"/>
            <a:chExt cx="3551" cy="774"/>
          </a:xfrm>
        </p:grpSpPr>
        <p:graphicFrame>
          <p:nvGraphicFramePr>
            <p:cNvPr id="17" name="Object 7"/>
            <p:cNvGraphicFramePr>
              <a:graphicFrameLocks noChangeAspect="1"/>
            </p:cNvGraphicFramePr>
            <p:nvPr>
              <p:extLst>
                <p:ext uri="{D42A27DB-BD31-4B8C-83A1-F6EECF244321}">
                  <p14:modId xmlns:p14="http://schemas.microsoft.com/office/powerpoint/2010/main" val="2030792890"/>
                </p:ext>
              </p:extLst>
            </p:nvPr>
          </p:nvGraphicFramePr>
          <p:xfrm>
            <a:off x="5248" y="2560"/>
            <a:ext cx="1104" cy="399"/>
          </p:xfrm>
          <a:graphic>
            <a:graphicData uri="http://schemas.openxmlformats.org/presentationml/2006/ole">
              <mc:AlternateContent xmlns:mc="http://schemas.openxmlformats.org/markup-compatibility/2006">
                <mc:Choice xmlns:v="urn:schemas-microsoft-com:vml" Requires="v">
                  <p:oleObj spid="_x0000_s13335" name="Equation" r:id="rId6" imgW="634725" imgH="228501" progId="Equation.DSMT4">
                    <p:embed/>
                  </p:oleObj>
                </mc:Choice>
                <mc:Fallback>
                  <p:oleObj name="Equation" r:id="rId6" imgW="634725" imgH="228501"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48" y="2560"/>
                          <a:ext cx="1104" cy="3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8" name="Object 8"/>
            <p:cNvGraphicFramePr>
              <a:graphicFrameLocks noChangeAspect="1"/>
            </p:cNvGraphicFramePr>
            <p:nvPr>
              <p:extLst>
                <p:ext uri="{D42A27DB-BD31-4B8C-83A1-F6EECF244321}">
                  <p14:modId xmlns:p14="http://schemas.microsoft.com/office/powerpoint/2010/main" val="2061224965"/>
                </p:ext>
              </p:extLst>
            </p:nvPr>
          </p:nvGraphicFramePr>
          <p:xfrm>
            <a:off x="2801" y="2601"/>
            <a:ext cx="1200" cy="400"/>
          </p:xfrm>
          <a:graphic>
            <a:graphicData uri="http://schemas.openxmlformats.org/presentationml/2006/ole">
              <mc:AlternateContent xmlns:mc="http://schemas.openxmlformats.org/markup-compatibility/2006">
                <mc:Choice xmlns:v="urn:schemas-microsoft-com:vml" Requires="v">
                  <p:oleObj spid="_x0000_s13336" name="Equation" r:id="rId8" imgW="685800" imgH="228600" progId="Equation.DSMT4">
                    <p:embed/>
                  </p:oleObj>
                </mc:Choice>
                <mc:Fallback>
                  <p:oleObj name="Equation" r:id="rId8" imgW="685800" imgH="2286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01" y="2601"/>
                          <a:ext cx="1200" cy="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9" name="Object 9"/>
            <p:cNvGraphicFramePr>
              <a:graphicFrameLocks noChangeAspect="1"/>
            </p:cNvGraphicFramePr>
            <p:nvPr>
              <p:extLst>
                <p:ext uri="{D42A27DB-BD31-4B8C-83A1-F6EECF244321}">
                  <p14:modId xmlns:p14="http://schemas.microsoft.com/office/powerpoint/2010/main" val="1707831654"/>
                </p:ext>
              </p:extLst>
            </p:nvPr>
          </p:nvGraphicFramePr>
          <p:xfrm>
            <a:off x="4141" y="2597"/>
            <a:ext cx="960" cy="404"/>
          </p:xfrm>
          <a:graphic>
            <a:graphicData uri="http://schemas.openxmlformats.org/presentationml/2006/ole">
              <mc:AlternateContent xmlns:mc="http://schemas.openxmlformats.org/markup-compatibility/2006">
                <mc:Choice xmlns:v="urn:schemas-microsoft-com:vml" Requires="v">
                  <p:oleObj spid="_x0000_s13337" name="Equation" r:id="rId10" imgW="672808" imgH="228501" progId="Equation.DSMT4">
                    <p:embed/>
                  </p:oleObj>
                </mc:Choice>
                <mc:Fallback>
                  <p:oleObj name="Equation" r:id="rId10" imgW="672808" imgH="228501"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41" y="2597"/>
                          <a:ext cx="960"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0" name="Object 10"/>
            <p:cNvGraphicFramePr>
              <a:graphicFrameLocks noChangeAspect="1"/>
            </p:cNvGraphicFramePr>
            <p:nvPr>
              <p:extLst>
                <p:ext uri="{D42A27DB-BD31-4B8C-83A1-F6EECF244321}">
                  <p14:modId xmlns:p14="http://schemas.microsoft.com/office/powerpoint/2010/main" val="1635470401"/>
                </p:ext>
              </p:extLst>
            </p:nvPr>
          </p:nvGraphicFramePr>
          <p:xfrm>
            <a:off x="3011" y="2932"/>
            <a:ext cx="1248" cy="402"/>
          </p:xfrm>
          <a:graphic>
            <a:graphicData uri="http://schemas.openxmlformats.org/presentationml/2006/ole">
              <mc:AlternateContent xmlns:mc="http://schemas.openxmlformats.org/markup-compatibility/2006">
                <mc:Choice xmlns:v="urn:schemas-microsoft-com:vml" Requires="v">
                  <p:oleObj spid="_x0000_s13338" name="Equation" r:id="rId12" imgW="545863" imgH="228501" progId="Equation.DSMT4">
                    <p:embed/>
                  </p:oleObj>
                </mc:Choice>
                <mc:Fallback>
                  <p:oleObj name="Equation" r:id="rId12" imgW="545863" imgH="228501"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11" y="2932"/>
                          <a:ext cx="1248" cy="4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1" name="Object 11"/>
            <p:cNvGraphicFramePr>
              <a:graphicFrameLocks noChangeAspect="1"/>
            </p:cNvGraphicFramePr>
            <p:nvPr>
              <p:extLst>
                <p:ext uri="{D42A27DB-BD31-4B8C-83A1-F6EECF244321}">
                  <p14:modId xmlns:p14="http://schemas.microsoft.com/office/powerpoint/2010/main" val="1949276998"/>
                </p:ext>
              </p:extLst>
            </p:nvPr>
          </p:nvGraphicFramePr>
          <p:xfrm>
            <a:off x="4366" y="2910"/>
            <a:ext cx="1296" cy="383"/>
          </p:xfrm>
          <a:graphic>
            <a:graphicData uri="http://schemas.openxmlformats.org/presentationml/2006/ole">
              <mc:AlternateContent xmlns:mc="http://schemas.openxmlformats.org/markup-compatibility/2006">
                <mc:Choice xmlns:v="urn:schemas-microsoft-com:vml" Requires="v">
                  <p:oleObj spid="_x0000_s13339" name="Equation" r:id="rId14" imgW="774364" imgH="228501" progId="Equation.DSMT4">
                    <p:embed/>
                  </p:oleObj>
                </mc:Choice>
                <mc:Fallback>
                  <p:oleObj name="Equation" r:id="rId14" imgW="774364" imgH="228501"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66" y="2910"/>
                          <a:ext cx="1296" cy="3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spTree>
    <p:custDataLst>
      <p:tags r:id="rId2"/>
    </p:custDataLst>
    <p:extLst>
      <p:ext uri="{BB962C8B-B14F-4D97-AF65-F5344CB8AC3E}">
        <p14:creationId xmlns:p14="http://schemas.microsoft.com/office/powerpoint/2010/main" val="6860337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459"/>
                                        </p:tgtEl>
                                        <p:attrNameLst>
                                          <p:attrName>style.visibility</p:attrName>
                                        </p:attrNameLst>
                                      </p:cBhvr>
                                      <p:to>
                                        <p:strVal val="visible"/>
                                      </p:to>
                                    </p:set>
                                    <p:animEffect transition="in" filter="fade">
                                      <p:cBhvr>
                                        <p:cTn id="32" dur="500"/>
                                        <p:tgtEl>
                                          <p:spTgt spid="1945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9460"/>
                                        </p:tgtEl>
                                        <p:attrNameLst>
                                          <p:attrName>style.visibility</p:attrName>
                                        </p:attrNameLst>
                                      </p:cBhvr>
                                      <p:to>
                                        <p:strVal val="visible"/>
                                      </p:to>
                                    </p:set>
                                    <p:animEffect transition="in" filter="fade">
                                      <p:cBhvr>
                                        <p:cTn id="37" dur="500"/>
                                        <p:tgtEl>
                                          <p:spTgt spid="1946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9464"/>
                                        </p:tgtEl>
                                        <p:attrNameLst>
                                          <p:attrName>style.visibility</p:attrName>
                                        </p:attrNameLst>
                                      </p:cBhvr>
                                      <p:to>
                                        <p:strVal val="visible"/>
                                      </p:to>
                                    </p:set>
                                    <p:animEffect transition="in" filter="fade">
                                      <p:cBhvr>
                                        <p:cTn id="42" dur="500"/>
                                        <p:tgtEl>
                                          <p:spTgt spid="1946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9463"/>
                                        </p:tgtEl>
                                        <p:attrNameLst>
                                          <p:attrName>style.visibility</p:attrName>
                                        </p:attrNameLst>
                                      </p:cBhvr>
                                      <p:to>
                                        <p:strVal val="visible"/>
                                      </p:to>
                                    </p:set>
                                    <p:animEffect transition="in" filter="fade">
                                      <p:cBhvr>
                                        <p:cTn id="47" dur="500"/>
                                        <p:tgtEl>
                                          <p:spTgt spid="1946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9462"/>
                                        </p:tgtEl>
                                        <p:attrNameLst>
                                          <p:attrName>style.visibility</p:attrName>
                                        </p:attrNameLst>
                                      </p:cBhvr>
                                      <p:to>
                                        <p:strVal val="visible"/>
                                      </p:to>
                                    </p:set>
                                    <p:animEffect transition="in" filter="fade">
                                      <p:cBhvr>
                                        <p:cTn id="52" dur="500"/>
                                        <p:tgtEl>
                                          <p:spTgt spid="19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19460" grpId="0"/>
      <p:bldP spid="19462" grpId="0"/>
      <p:bldP spid="19464" grpId="0"/>
      <p:bldP spid="10" grpId="0"/>
      <p:bldP spid="11" grpId="0"/>
      <p:bldP spid="13"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3" name="Text Box 3"/>
          <p:cNvSpPr txBox="1">
            <a:spLocks noChangeArrowheads="1"/>
          </p:cNvSpPr>
          <p:nvPr/>
        </p:nvSpPr>
        <p:spPr bwMode="auto">
          <a:xfrm>
            <a:off x="5785104" y="3044589"/>
            <a:ext cx="66135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463550" indent="-463550"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400" dirty="0">
                <a:latin typeface="+mn-lt"/>
              </a:rPr>
              <a:t>5) Divide the sum of the squares </a:t>
            </a:r>
            <a:r>
              <a:rPr lang="en-US" altLang="x-none" sz="2400" dirty="0" smtClean="0">
                <a:latin typeface="+mn-lt"/>
              </a:rPr>
              <a:t>by </a:t>
            </a:r>
            <a:r>
              <a:rPr lang="en-US" altLang="x-none" sz="2400" dirty="0">
                <a:latin typeface="+mn-lt"/>
              </a:rPr>
              <a:t>the number of items </a:t>
            </a:r>
            <a:r>
              <a:rPr lang="en-US" altLang="x-none" sz="2400" dirty="0" smtClean="0">
                <a:latin typeface="+mn-lt"/>
              </a:rPr>
              <a:t>: 1920/5 </a:t>
            </a:r>
            <a:r>
              <a:rPr lang="en-US" altLang="x-none" sz="2400" dirty="0">
                <a:latin typeface="+mn-lt"/>
              </a:rPr>
              <a:t>= </a:t>
            </a:r>
            <a:r>
              <a:rPr lang="en-US" altLang="x-none" sz="2400" dirty="0" smtClean="0">
                <a:latin typeface="+mn-lt"/>
              </a:rPr>
              <a:t>384</a:t>
            </a:r>
            <a:endParaRPr lang="en-US" altLang="x-none" sz="2400" b="1" dirty="0">
              <a:solidFill>
                <a:srgbClr val="FF0000"/>
              </a:solidFill>
              <a:latin typeface="+mn-lt"/>
            </a:endParaRPr>
          </a:p>
        </p:txBody>
      </p:sp>
      <p:sp>
        <p:nvSpPr>
          <p:cNvPr id="20484" name="Text Box 5"/>
          <p:cNvSpPr txBox="1">
            <a:spLocks noChangeArrowheads="1"/>
          </p:cNvSpPr>
          <p:nvPr/>
        </p:nvSpPr>
        <p:spPr bwMode="auto">
          <a:xfrm>
            <a:off x="4729861" y="6295771"/>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endParaRPr lang="x-none" altLang="x-none" sz="2400">
              <a:latin typeface="+mn-lt"/>
            </a:endParaRPr>
          </a:p>
        </p:txBody>
      </p:sp>
      <p:sp>
        <p:nvSpPr>
          <p:cNvPr id="20485" name="Text Box 6"/>
          <p:cNvSpPr txBox="1">
            <a:spLocks noChangeArrowheads="1"/>
          </p:cNvSpPr>
          <p:nvPr/>
        </p:nvSpPr>
        <p:spPr bwMode="auto">
          <a:xfrm>
            <a:off x="5034661" y="5609971"/>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endParaRPr lang="x-none" altLang="x-none" sz="2400">
              <a:latin typeface="+mn-lt"/>
            </a:endParaRPr>
          </a:p>
        </p:txBody>
      </p:sp>
      <p:grpSp>
        <p:nvGrpSpPr>
          <p:cNvPr id="20486" name="Group 22"/>
          <p:cNvGrpSpPr>
            <a:grpSpLocks/>
          </p:cNvGrpSpPr>
          <p:nvPr/>
        </p:nvGrpSpPr>
        <p:grpSpPr bwMode="auto">
          <a:xfrm>
            <a:off x="6114288" y="4011705"/>
            <a:ext cx="4740275" cy="1330325"/>
            <a:chOff x="672" y="2352"/>
            <a:chExt cx="2986" cy="838"/>
          </a:xfrm>
        </p:grpSpPr>
        <p:sp>
          <p:nvSpPr>
            <p:cNvPr id="20488" name="Text Box 15"/>
            <p:cNvSpPr txBox="1">
              <a:spLocks noChangeArrowheads="1"/>
            </p:cNvSpPr>
            <p:nvPr/>
          </p:nvSpPr>
          <p:spPr bwMode="auto">
            <a:xfrm>
              <a:off x="672" y="2352"/>
              <a:ext cx="2986"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400" smtClean="0">
                  <a:latin typeface="+mn-lt"/>
                </a:rPr>
                <a:t>Find </a:t>
              </a:r>
              <a:r>
                <a:rPr lang="en-US" altLang="x-none" sz="2400" dirty="0">
                  <a:latin typeface="+mn-lt"/>
                </a:rPr>
                <a:t>the square root of the variance:</a:t>
              </a:r>
            </a:p>
            <a:p>
              <a:r>
                <a:rPr lang="en-US" altLang="x-none" sz="2400" dirty="0">
                  <a:latin typeface="+mn-lt"/>
                </a:rPr>
                <a:t>           </a:t>
              </a:r>
            </a:p>
          </p:txBody>
        </p:sp>
        <p:graphicFrame>
          <p:nvGraphicFramePr>
            <p:cNvPr id="20489" name="Object 19"/>
            <p:cNvGraphicFramePr>
              <a:graphicFrameLocks noChangeAspect="1"/>
            </p:cNvGraphicFramePr>
            <p:nvPr/>
          </p:nvGraphicFramePr>
          <p:xfrm>
            <a:off x="1824" y="2784"/>
            <a:ext cx="1302" cy="406"/>
          </p:xfrm>
          <a:graphic>
            <a:graphicData uri="http://schemas.openxmlformats.org/presentationml/2006/ole">
              <mc:AlternateContent xmlns:mc="http://schemas.openxmlformats.org/markup-compatibility/2006">
                <mc:Choice xmlns:v="urn:schemas-microsoft-com:vml" Requires="v">
                  <p:oleObj spid="_x0000_s14344" name="Equation" r:id="rId4" imgW="787400" imgH="228600" progId="Equation.DSMT4">
                    <p:embed/>
                  </p:oleObj>
                </mc:Choice>
                <mc:Fallback>
                  <p:oleObj name="Equation" r:id="rId4" imgW="78740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4" y="2784"/>
                          <a:ext cx="1302"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sp>
        <p:nvSpPr>
          <p:cNvPr id="20487" name="Text Box 21"/>
          <p:cNvSpPr txBox="1">
            <a:spLocks noChangeArrowheads="1"/>
          </p:cNvSpPr>
          <p:nvPr/>
        </p:nvSpPr>
        <p:spPr bwMode="auto">
          <a:xfrm>
            <a:off x="6555041" y="5527768"/>
            <a:ext cx="517918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400" b="1">
                <a:latin typeface="+mn-lt"/>
              </a:rPr>
              <a:t>Thus the </a:t>
            </a:r>
            <a:r>
              <a:rPr lang="en-US" altLang="x-none" sz="2400" b="1">
                <a:solidFill>
                  <a:srgbClr val="FF0000"/>
                </a:solidFill>
                <a:latin typeface="+mn-lt"/>
              </a:rPr>
              <a:t>standard deviation</a:t>
            </a:r>
            <a:r>
              <a:rPr lang="en-US" altLang="x-none" sz="2400" b="1">
                <a:latin typeface="+mn-lt"/>
              </a:rPr>
              <a:t> of the second set of test scores is 19.6.</a:t>
            </a:r>
          </a:p>
          <a:p>
            <a:endParaRPr lang="en-US" altLang="x-none" sz="2400" dirty="0">
              <a:latin typeface="+mn-lt"/>
            </a:endParaRPr>
          </a:p>
        </p:txBody>
      </p:sp>
      <p:sp>
        <p:nvSpPr>
          <p:cNvPr id="10" name="Text Box 4"/>
          <p:cNvSpPr txBox="1">
            <a:spLocks noChangeArrowheads="1"/>
          </p:cNvSpPr>
          <p:nvPr/>
        </p:nvSpPr>
        <p:spPr bwMode="auto">
          <a:xfrm>
            <a:off x="0" y="3044589"/>
            <a:ext cx="544982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463550" indent="-463550" eaLnBrk="0" hangingPunct="0">
              <a:tabLst>
                <a:tab pos="520700" algn="l"/>
              </a:tabLst>
              <a:defRPr>
                <a:solidFill>
                  <a:schemeClr val="tx1"/>
                </a:solidFill>
                <a:latin typeface="Tahoma" charset="0"/>
              </a:defRPr>
            </a:lvl1pPr>
            <a:lvl2pPr marL="742950" indent="-285750" eaLnBrk="0" hangingPunct="0">
              <a:tabLst>
                <a:tab pos="520700" algn="l"/>
              </a:tabLst>
              <a:defRPr>
                <a:solidFill>
                  <a:schemeClr val="tx1"/>
                </a:solidFill>
                <a:latin typeface="Tahoma" charset="0"/>
              </a:defRPr>
            </a:lvl2pPr>
            <a:lvl3pPr marL="1143000" indent="-228600" eaLnBrk="0" hangingPunct="0">
              <a:tabLst>
                <a:tab pos="520700" algn="l"/>
              </a:tabLst>
              <a:defRPr>
                <a:solidFill>
                  <a:schemeClr val="tx1"/>
                </a:solidFill>
                <a:latin typeface="Tahoma" charset="0"/>
              </a:defRPr>
            </a:lvl3pPr>
            <a:lvl4pPr marL="1600200" indent="-228600" eaLnBrk="0" hangingPunct="0">
              <a:tabLst>
                <a:tab pos="520700" algn="l"/>
              </a:tabLst>
              <a:defRPr>
                <a:solidFill>
                  <a:schemeClr val="tx1"/>
                </a:solidFill>
                <a:latin typeface="Tahoma" charset="0"/>
              </a:defRPr>
            </a:lvl4pPr>
            <a:lvl5pPr marL="2057400" indent="-228600" eaLnBrk="0" hangingPunct="0">
              <a:tabLst>
                <a:tab pos="520700" algn="l"/>
              </a:tabLst>
              <a:defRPr>
                <a:solidFill>
                  <a:schemeClr val="tx1"/>
                </a:solidFill>
                <a:latin typeface="Tahoma" charset="0"/>
              </a:defRPr>
            </a:lvl5pPr>
            <a:lvl6pPr marL="2514600" indent="-228600" eaLnBrk="0" fontAlgn="base" hangingPunct="0">
              <a:spcBef>
                <a:spcPct val="0"/>
              </a:spcBef>
              <a:spcAft>
                <a:spcPct val="0"/>
              </a:spcAft>
              <a:tabLst>
                <a:tab pos="520700" algn="l"/>
              </a:tabLst>
              <a:defRPr>
                <a:solidFill>
                  <a:schemeClr val="tx1"/>
                </a:solidFill>
                <a:latin typeface="Tahoma" charset="0"/>
              </a:defRPr>
            </a:lvl6pPr>
            <a:lvl7pPr marL="2971800" indent="-228600" eaLnBrk="0" fontAlgn="base" hangingPunct="0">
              <a:spcBef>
                <a:spcPct val="0"/>
              </a:spcBef>
              <a:spcAft>
                <a:spcPct val="0"/>
              </a:spcAft>
              <a:tabLst>
                <a:tab pos="520700" algn="l"/>
              </a:tabLst>
              <a:defRPr>
                <a:solidFill>
                  <a:schemeClr val="tx1"/>
                </a:solidFill>
                <a:latin typeface="Tahoma" charset="0"/>
              </a:defRPr>
            </a:lvl7pPr>
            <a:lvl8pPr marL="3429000" indent="-228600" eaLnBrk="0" fontAlgn="base" hangingPunct="0">
              <a:spcBef>
                <a:spcPct val="0"/>
              </a:spcBef>
              <a:spcAft>
                <a:spcPct val="0"/>
              </a:spcAft>
              <a:tabLst>
                <a:tab pos="520700" algn="l"/>
              </a:tabLst>
              <a:defRPr>
                <a:solidFill>
                  <a:schemeClr val="tx1"/>
                </a:solidFill>
                <a:latin typeface="Tahoma" charset="0"/>
              </a:defRPr>
            </a:lvl8pPr>
            <a:lvl9pPr marL="3886200" indent="-228600" eaLnBrk="0" fontAlgn="base" hangingPunct="0">
              <a:spcBef>
                <a:spcPct val="0"/>
              </a:spcBef>
              <a:spcAft>
                <a:spcPct val="0"/>
              </a:spcAft>
              <a:tabLst>
                <a:tab pos="520700" algn="l"/>
              </a:tabLst>
              <a:defRPr>
                <a:solidFill>
                  <a:schemeClr val="tx1"/>
                </a:solidFill>
                <a:latin typeface="Tahoma" charset="0"/>
              </a:defRPr>
            </a:lvl9pPr>
          </a:lstStyle>
          <a:p>
            <a:r>
              <a:rPr lang="en-US" altLang="x-none" sz="2400" dirty="0" smtClean="0">
                <a:latin typeface="+mn-lt"/>
              </a:rPr>
              <a:t>5) Divide the sum of the squares by the number of items: 1056/5 = 211.2</a:t>
            </a:r>
            <a:endParaRPr lang="en-US" altLang="x-none" sz="2400" dirty="0">
              <a:latin typeface="+mn-lt"/>
            </a:endParaRPr>
          </a:p>
          <a:p>
            <a:r>
              <a:rPr lang="en-US" altLang="x-none" sz="2400" dirty="0">
                <a:latin typeface="+mn-lt"/>
              </a:rPr>
              <a:t>         </a:t>
            </a:r>
            <a:endParaRPr lang="en-US" altLang="x-none" sz="2400" dirty="0">
              <a:latin typeface="+mn-lt"/>
            </a:endParaRPr>
          </a:p>
        </p:txBody>
      </p:sp>
      <p:sp>
        <p:nvSpPr>
          <p:cNvPr id="11" name="Text Box 8"/>
          <p:cNvSpPr txBox="1">
            <a:spLocks noChangeArrowheads="1"/>
          </p:cNvSpPr>
          <p:nvPr/>
        </p:nvSpPr>
        <p:spPr bwMode="auto">
          <a:xfrm>
            <a:off x="499237" y="5566485"/>
            <a:ext cx="423062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400" b="1" dirty="0">
                <a:latin typeface="+mn-lt"/>
              </a:rPr>
              <a:t>Thus the </a:t>
            </a:r>
            <a:r>
              <a:rPr lang="en-US" altLang="x-none" sz="2400" b="1" dirty="0">
                <a:solidFill>
                  <a:schemeClr val="hlink"/>
                </a:solidFill>
                <a:latin typeface="+mn-lt"/>
              </a:rPr>
              <a:t>standard deviation</a:t>
            </a:r>
            <a:r>
              <a:rPr lang="en-US" altLang="x-none" sz="2400" b="1" dirty="0">
                <a:latin typeface="+mn-lt"/>
              </a:rPr>
              <a:t> of the test scores is </a:t>
            </a:r>
            <a:r>
              <a:rPr lang="en-US" altLang="x-none" sz="2400" b="1" dirty="0">
                <a:solidFill>
                  <a:schemeClr val="hlink"/>
                </a:solidFill>
                <a:latin typeface="+mn-lt"/>
              </a:rPr>
              <a:t>14.53</a:t>
            </a:r>
            <a:r>
              <a:rPr lang="en-US" altLang="x-none" sz="2400" b="1" dirty="0">
                <a:latin typeface="+mn-lt"/>
              </a:rPr>
              <a:t>.</a:t>
            </a:r>
          </a:p>
        </p:txBody>
      </p:sp>
      <p:grpSp>
        <p:nvGrpSpPr>
          <p:cNvPr id="12" name="Group 9"/>
          <p:cNvGrpSpPr>
            <a:grpSpLocks/>
          </p:cNvGrpSpPr>
          <p:nvPr/>
        </p:nvGrpSpPr>
        <p:grpSpPr bwMode="auto">
          <a:xfrm>
            <a:off x="-158496" y="4074135"/>
            <a:ext cx="6858000" cy="1266826"/>
            <a:chOff x="384" y="2112"/>
            <a:chExt cx="4320" cy="798"/>
          </a:xfrm>
        </p:grpSpPr>
        <p:sp>
          <p:nvSpPr>
            <p:cNvPr id="13" name="Text Box 5"/>
            <p:cNvSpPr txBox="1">
              <a:spLocks noChangeArrowheads="1"/>
            </p:cNvSpPr>
            <p:nvPr/>
          </p:nvSpPr>
          <p:spPr bwMode="auto">
            <a:xfrm>
              <a:off x="384" y="2112"/>
              <a:ext cx="4320"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463550" indent="-176213"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400" dirty="0" smtClean="0">
                  <a:latin typeface="+mn-lt"/>
                </a:rPr>
                <a:t> </a:t>
              </a:r>
              <a:r>
                <a:rPr lang="en-US" altLang="x-none" sz="2400" dirty="0">
                  <a:latin typeface="+mn-lt"/>
                </a:rPr>
                <a:t>Find the square root of the </a:t>
              </a:r>
              <a:r>
                <a:rPr lang="en-US" altLang="x-none" sz="2400" dirty="0" smtClean="0">
                  <a:latin typeface="+mn-lt"/>
                </a:rPr>
                <a:t>variance</a:t>
              </a:r>
              <a:r>
                <a:rPr lang="en-US" altLang="x-none" sz="2400" dirty="0">
                  <a:latin typeface="+mn-lt"/>
                </a:rPr>
                <a:t>:  </a:t>
              </a:r>
            </a:p>
            <a:p>
              <a:r>
                <a:rPr lang="en-US" altLang="x-none" sz="2400" dirty="0">
                  <a:latin typeface="+mn-lt"/>
                </a:rPr>
                <a:t>            </a:t>
              </a:r>
            </a:p>
          </p:txBody>
        </p:sp>
        <p:graphicFrame>
          <p:nvGraphicFramePr>
            <p:cNvPr id="14" name="Object 6"/>
            <p:cNvGraphicFramePr>
              <a:graphicFrameLocks noChangeAspect="1"/>
            </p:cNvGraphicFramePr>
            <p:nvPr>
              <p:extLst>
                <p:ext uri="{D42A27DB-BD31-4B8C-83A1-F6EECF244321}">
                  <p14:modId xmlns:p14="http://schemas.microsoft.com/office/powerpoint/2010/main" val="1637085239"/>
                </p:ext>
              </p:extLst>
            </p:nvPr>
          </p:nvGraphicFramePr>
          <p:xfrm>
            <a:off x="1013" y="2547"/>
            <a:ext cx="1551" cy="363"/>
          </p:xfrm>
          <a:graphic>
            <a:graphicData uri="http://schemas.openxmlformats.org/presentationml/2006/ole">
              <mc:AlternateContent xmlns:mc="http://schemas.openxmlformats.org/markup-compatibility/2006">
                <mc:Choice xmlns:v="urn:schemas-microsoft-com:vml" Requires="v">
                  <p:oleObj spid="_x0000_s14345" name="Equation" r:id="rId6" imgW="977900" imgH="228600" progId="Equation.DSMT4">
                    <p:embed/>
                  </p:oleObj>
                </mc:Choice>
                <mc:Fallback>
                  <p:oleObj name="Equation" r:id="rId6" imgW="97790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3" y="2547"/>
                          <a:ext cx="1551" cy="363"/>
                        </a:xfrm>
                        <a:prstGeom prst="rect">
                          <a:avLst/>
                        </a:prstGeom>
                        <a:noFill/>
                        <a:ln>
                          <a:noFill/>
                        </a:ln>
                        <a:effectLst/>
                      </p:spPr>
                    </p:pic>
                  </p:oleObj>
                </mc:Fallback>
              </mc:AlternateContent>
            </a:graphicData>
          </a:graphic>
        </p:graphicFrame>
      </p:grpSp>
      <p:sp>
        <p:nvSpPr>
          <p:cNvPr id="15" name="Text Box 3"/>
          <p:cNvSpPr txBox="1">
            <a:spLocks noChangeArrowheads="1"/>
          </p:cNvSpPr>
          <p:nvPr/>
        </p:nvSpPr>
        <p:spPr bwMode="auto">
          <a:xfrm>
            <a:off x="643129" y="2101117"/>
            <a:ext cx="41788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400" dirty="0" smtClean="0">
                <a:solidFill>
                  <a:srgbClr val="008000"/>
                </a:solidFill>
                <a:latin typeface="+mn-lt"/>
              </a:rPr>
              <a:t>Class A:   92,88,80,68 </a:t>
            </a:r>
            <a:r>
              <a:rPr lang="en-US" altLang="x-none" sz="2400" dirty="0">
                <a:solidFill>
                  <a:srgbClr val="008000"/>
                </a:solidFill>
                <a:latin typeface="+mn-lt"/>
              </a:rPr>
              <a:t>and 52.</a:t>
            </a:r>
          </a:p>
        </p:txBody>
      </p:sp>
      <p:sp>
        <p:nvSpPr>
          <p:cNvPr id="16" name="Text Box 3"/>
          <p:cNvSpPr txBox="1">
            <a:spLocks noChangeArrowheads="1"/>
          </p:cNvSpPr>
          <p:nvPr/>
        </p:nvSpPr>
        <p:spPr bwMode="auto">
          <a:xfrm>
            <a:off x="7002462" y="2116586"/>
            <a:ext cx="41788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400" dirty="0" smtClean="0">
                <a:solidFill>
                  <a:srgbClr val="008000"/>
                </a:solidFill>
                <a:latin typeface="+mn-lt"/>
              </a:rPr>
              <a:t>Class B:   </a:t>
            </a:r>
            <a:r>
              <a:rPr lang="en-US" altLang="x-none" sz="2400" dirty="0">
                <a:solidFill>
                  <a:srgbClr val="008000"/>
                </a:solidFill>
                <a:latin typeface="+mn-lt"/>
              </a:rPr>
              <a:t>92,92,92,52 and 52.</a:t>
            </a:r>
          </a:p>
        </p:txBody>
      </p:sp>
    </p:spTree>
    <p:custDataLst>
      <p:tags r:id="rId2"/>
    </p:custDataLst>
    <p:extLst>
      <p:ext uri="{BB962C8B-B14F-4D97-AF65-F5344CB8AC3E}">
        <p14:creationId xmlns:p14="http://schemas.microsoft.com/office/powerpoint/2010/main" val="3287119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483"/>
                                        </p:tgtEl>
                                        <p:attrNameLst>
                                          <p:attrName>style.visibility</p:attrName>
                                        </p:attrNameLst>
                                      </p:cBhvr>
                                      <p:to>
                                        <p:strVal val="visible"/>
                                      </p:to>
                                    </p:set>
                                    <p:animEffect transition="in" filter="fade">
                                      <p:cBhvr>
                                        <p:cTn id="22" dur="500"/>
                                        <p:tgtEl>
                                          <p:spTgt spid="2048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486"/>
                                        </p:tgtEl>
                                        <p:attrNameLst>
                                          <p:attrName>style.visibility</p:attrName>
                                        </p:attrNameLst>
                                      </p:cBhvr>
                                      <p:to>
                                        <p:strVal val="visible"/>
                                      </p:to>
                                    </p:set>
                                    <p:animEffect transition="in" filter="fade">
                                      <p:cBhvr>
                                        <p:cTn id="27" dur="500"/>
                                        <p:tgtEl>
                                          <p:spTgt spid="2048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0487"/>
                                        </p:tgtEl>
                                        <p:attrNameLst>
                                          <p:attrName>style.visibility</p:attrName>
                                        </p:attrNameLst>
                                      </p:cBhvr>
                                      <p:to>
                                        <p:strVal val="visible"/>
                                      </p:to>
                                    </p:set>
                                    <p:animEffect transition="in" filter="fade">
                                      <p:cBhvr>
                                        <p:cTn id="32" dur="500"/>
                                        <p:tgtEl>
                                          <p:spTgt spid="20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p:bldP spid="20487"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idx="1"/>
          </p:nvPr>
        </p:nvSpPr>
        <p:spPr>
          <a:xfrm>
            <a:off x="106680" y="1905508"/>
            <a:ext cx="11658600" cy="1843532"/>
          </a:xfrm>
        </p:spPr>
        <p:txBody>
          <a:bodyPr>
            <a:normAutofit/>
          </a:bodyPr>
          <a:lstStyle/>
          <a:p>
            <a:pPr eaLnBrk="1" hangingPunct="1">
              <a:buFont typeface="Wingdings" charset="2"/>
              <a:buNone/>
            </a:pPr>
            <a:r>
              <a:rPr lang="en-US" altLang="x-none" sz="2400" dirty="0"/>
              <a:t>   Consider both sets of scores. Both classes have the same mean, 76. However, each class does not have the same scores. Thus we use the standard deviation to show the variation in the scores. With a standard variation of 14.53 for the first class and 19.6 for the second class, what does this tell us? </a:t>
            </a:r>
          </a:p>
        </p:txBody>
      </p:sp>
      <p:sp>
        <p:nvSpPr>
          <p:cNvPr id="21507" name="Text Box 4"/>
          <p:cNvSpPr txBox="1">
            <a:spLocks noChangeArrowheads="1"/>
          </p:cNvSpPr>
          <p:nvPr/>
        </p:nvSpPr>
        <p:spPr bwMode="auto">
          <a:xfrm>
            <a:off x="310897" y="901287"/>
            <a:ext cx="422452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eaLnBrk="0" fontAlgn="base" hangingPunct="0">
              <a:spcBef>
                <a:spcPct val="0"/>
              </a:spcBef>
              <a:spcAft>
                <a:spcPct val="0"/>
              </a:spcAft>
              <a:defRPr>
                <a:solidFill>
                  <a:schemeClr val="tx1"/>
                </a:solidFill>
                <a:latin typeface="Tahoma" charset="0"/>
              </a:defRPr>
            </a:lvl6pPr>
            <a:lvl7pPr marL="2971800" indent="-228600" eaLnBrk="0" fontAlgn="base" hangingPunct="0">
              <a:spcBef>
                <a:spcPct val="0"/>
              </a:spcBef>
              <a:spcAft>
                <a:spcPct val="0"/>
              </a:spcAft>
              <a:defRPr>
                <a:solidFill>
                  <a:schemeClr val="tx1"/>
                </a:solidFill>
                <a:latin typeface="Tahoma" charset="0"/>
              </a:defRPr>
            </a:lvl7pPr>
            <a:lvl8pPr marL="3429000" indent="-228600" eaLnBrk="0" fontAlgn="base" hangingPunct="0">
              <a:spcBef>
                <a:spcPct val="0"/>
              </a:spcBef>
              <a:spcAft>
                <a:spcPct val="0"/>
              </a:spcAft>
              <a:defRPr>
                <a:solidFill>
                  <a:schemeClr val="tx1"/>
                </a:solidFill>
                <a:latin typeface="Tahoma" charset="0"/>
              </a:defRPr>
            </a:lvl8pPr>
            <a:lvl9pPr marL="3886200" indent="-228600" eaLnBrk="0" fontAlgn="base" hangingPunct="0">
              <a:spcBef>
                <a:spcPct val="0"/>
              </a:spcBef>
              <a:spcAft>
                <a:spcPct val="0"/>
              </a:spcAft>
              <a:defRPr>
                <a:solidFill>
                  <a:schemeClr val="tx1"/>
                </a:solidFill>
                <a:latin typeface="Tahoma" charset="0"/>
              </a:defRPr>
            </a:lvl9pPr>
          </a:lstStyle>
          <a:p>
            <a:r>
              <a:rPr lang="en-US" altLang="x-none" sz="2800" b="1" dirty="0">
                <a:solidFill>
                  <a:schemeClr val="bg2"/>
                </a:solidFill>
                <a:latin typeface="+mn-lt"/>
              </a:rPr>
              <a:t>Analyzing the data:</a:t>
            </a:r>
          </a:p>
        </p:txBody>
      </p:sp>
      <p:sp>
        <p:nvSpPr>
          <p:cNvPr id="7" name="Rectangle 3"/>
          <p:cNvSpPr txBox="1">
            <a:spLocks noChangeArrowheads="1"/>
          </p:cNvSpPr>
          <p:nvPr/>
        </p:nvSpPr>
        <p:spPr>
          <a:xfrm>
            <a:off x="106680" y="3749040"/>
            <a:ext cx="11853672" cy="132283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mn-lt"/>
                <a:ea typeface="+mn-ea"/>
                <a:cs typeface="+mn-cs"/>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a:lstStyle>
          <a:p>
            <a:pPr>
              <a:buFont typeface="Wingdings" charset="2"/>
              <a:buNone/>
            </a:pPr>
            <a:r>
              <a:rPr lang="en-US" altLang="x-none" sz="2400" dirty="0" smtClean="0"/>
              <a:t>   With a standard variation of 14.53 for the first class and 19.6 for the second class, the scores from the second class would be more spread out than the scores in the second class.</a:t>
            </a:r>
            <a:endParaRPr lang="en-US" altLang="x-none" sz="2400" dirty="0"/>
          </a:p>
        </p:txBody>
      </p:sp>
      <p:sp>
        <p:nvSpPr>
          <p:cNvPr id="8" name="Rectangle 3"/>
          <p:cNvSpPr txBox="1">
            <a:spLocks noChangeArrowheads="1"/>
          </p:cNvSpPr>
          <p:nvPr/>
        </p:nvSpPr>
        <p:spPr>
          <a:xfrm>
            <a:off x="911352" y="5193792"/>
            <a:ext cx="10707624" cy="133502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mn-lt"/>
                <a:ea typeface="+mn-ea"/>
                <a:cs typeface="+mn-cs"/>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a:lstStyle>
          <a:p>
            <a:pPr>
              <a:buFont typeface="Wingdings" charset="2"/>
              <a:buNone/>
            </a:pPr>
            <a:r>
              <a:rPr lang="en-US" altLang="x-none" sz="2400" dirty="0" smtClean="0"/>
              <a:t>   </a:t>
            </a:r>
            <a:r>
              <a:rPr lang="en-US" altLang="x-none" sz="2400" b="1" dirty="0" smtClean="0"/>
              <a:t>For two data sets that have the same mean, the smaller the standard deviation, the more closely packed is the data set (more consistently located with respect to the mean).</a:t>
            </a:r>
            <a:endParaRPr lang="en-US" altLang="x-none" sz="2400" b="1" dirty="0"/>
          </a:p>
        </p:txBody>
      </p:sp>
    </p:spTree>
    <p:extLst>
      <p:ext uri="{BB962C8B-B14F-4D97-AF65-F5344CB8AC3E}">
        <p14:creationId xmlns:p14="http://schemas.microsoft.com/office/powerpoint/2010/main" val="1334038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t>Back to our original problem...</a:t>
            </a:r>
            <a:endParaRPr lang="en-US" sz="2900" dirty="0"/>
          </a:p>
        </p:txBody>
      </p:sp>
      <p:sp>
        <p:nvSpPr>
          <p:cNvPr id="5" name="TextBox 4"/>
          <p:cNvSpPr txBox="1"/>
          <p:nvPr/>
        </p:nvSpPr>
        <p:spPr>
          <a:xfrm>
            <a:off x="1174318" y="2114040"/>
            <a:ext cx="9533890" cy="1200329"/>
          </a:xfrm>
          <a:prstGeom prst="rect">
            <a:avLst/>
          </a:prstGeom>
          <a:noFill/>
        </p:spPr>
        <p:txBody>
          <a:bodyPr wrap="square" rtlCol="0">
            <a:spAutoFit/>
          </a:bodyPr>
          <a:lstStyle/>
          <a:p>
            <a:r>
              <a:rPr lang="en-GB" sz="2400" b="1" dirty="0" smtClean="0"/>
              <a:t>McDonalds and KFC are arguing over who sold the most chicken nuggets in one week.  Sales figures are below given to the nearest million, calculate the mean to help decide who sold the most.</a:t>
            </a:r>
          </a:p>
        </p:txBody>
      </p:sp>
      <p:graphicFrame>
        <p:nvGraphicFramePr>
          <p:cNvPr id="6" name="Table 5"/>
          <p:cNvGraphicFramePr>
            <a:graphicFrameLocks noGrp="1"/>
          </p:cNvGraphicFramePr>
          <p:nvPr>
            <p:extLst>
              <p:ext uri="{D42A27DB-BD31-4B8C-83A1-F6EECF244321}">
                <p14:modId xmlns:p14="http://schemas.microsoft.com/office/powerpoint/2010/main" val="550879151"/>
              </p:ext>
            </p:extLst>
          </p:nvPr>
        </p:nvGraphicFramePr>
        <p:xfrm>
          <a:off x="1225146" y="3454262"/>
          <a:ext cx="9660255" cy="1188720"/>
        </p:xfrm>
        <a:graphic>
          <a:graphicData uri="http://schemas.openxmlformats.org/drawingml/2006/table">
            <a:tbl>
              <a:tblPr firstRow="1" bandRow="1">
                <a:tableStyleId>{F5AB1C69-6EDB-4FF4-983F-18BD219EF322}</a:tableStyleId>
              </a:tblPr>
              <a:tblGrid>
                <a:gridCol w="1521328"/>
                <a:gridCol w="1160060"/>
                <a:gridCol w="1078173"/>
                <a:gridCol w="1473959"/>
                <a:gridCol w="1282889"/>
                <a:gridCol w="887105"/>
                <a:gridCol w="1241946"/>
                <a:gridCol w="1014795"/>
              </a:tblGrid>
              <a:tr h="370840">
                <a:tc>
                  <a:txBody>
                    <a:bodyPr/>
                    <a:lstStyle/>
                    <a:p>
                      <a:endParaRPr lang="en-GB" sz="2000" dirty="0"/>
                    </a:p>
                  </a:txBody>
                  <a:tcPr/>
                </a:tc>
                <a:tc>
                  <a:txBody>
                    <a:bodyPr/>
                    <a:lstStyle/>
                    <a:p>
                      <a:r>
                        <a:rPr lang="en-GB" sz="2000" dirty="0" smtClean="0"/>
                        <a:t>Monday</a:t>
                      </a:r>
                      <a:endParaRPr lang="en-GB" sz="2000" dirty="0"/>
                    </a:p>
                  </a:txBody>
                  <a:tcPr/>
                </a:tc>
                <a:tc>
                  <a:txBody>
                    <a:bodyPr/>
                    <a:lstStyle/>
                    <a:p>
                      <a:r>
                        <a:rPr lang="en-GB" sz="2000" dirty="0" smtClean="0"/>
                        <a:t>Tuesday</a:t>
                      </a:r>
                      <a:endParaRPr lang="en-GB" sz="2000" dirty="0"/>
                    </a:p>
                  </a:txBody>
                  <a:tcPr/>
                </a:tc>
                <a:tc>
                  <a:txBody>
                    <a:bodyPr/>
                    <a:lstStyle/>
                    <a:p>
                      <a:r>
                        <a:rPr lang="en-GB" sz="2000" dirty="0" smtClean="0"/>
                        <a:t>Wednesday</a:t>
                      </a:r>
                      <a:endParaRPr lang="en-GB" sz="2000" dirty="0"/>
                    </a:p>
                  </a:txBody>
                  <a:tcPr/>
                </a:tc>
                <a:tc>
                  <a:txBody>
                    <a:bodyPr/>
                    <a:lstStyle/>
                    <a:p>
                      <a:r>
                        <a:rPr lang="en-GB" sz="2000" dirty="0" smtClean="0"/>
                        <a:t>Thursday</a:t>
                      </a:r>
                      <a:endParaRPr lang="en-GB" sz="2000" dirty="0"/>
                    </a:p>
                  </a:txBody>
                  <a:tcPr/>
                </a:tc>
                <a:tc>
                  <a:txBody>
                    <a:bodyPr/>
                    <a:lstStyle/>
                    <a:p>
                      <a:r>
                        <a:rPr lang="en-GB" sz="2000" dirty="0" smtClean="0"/>
                        <a:t>Friday</a:t>
                      </a:r>
                      <a:endParaRPr lang="en-GB" sz="2000" dirty="0"/>
                    </a:p>
                  </a:txBody>
                  <a:tcPr/>
                </a:tc>
                <a:tc>
                  <a:txBody>
                    <a:bodyPr/>
                    <a:lstStyle/>
                    <a:p>
                      <a:r>
                        <a:rPr lang="en-GB" sz="2000" dirty="0" smtClean="0"/>
                        <a:t>Saturday</a:t>
                      </a:r>
                      <a:endParaRPr lang="en-GB" sz="2000" dirty="0"/>
                    </a:p>
                  </a:txBody>
                  <a:tcPr/>
                </a:tc>
                <a:tc>
                  <a:txBody>
                    <a:bodyPr/>
                    <a:lstStyle/>
                    <a:p>
                      <a:r>
                        <a:rPr lang="en-GB" sz="2000" dirty="0" smtClean="0"/>
                        <a:t>Sunday</a:t>
                      </a:r>
                      <a:endParaRPr lang="en-GB" sz="2000" dirty="0"/>
                    </a:p>
                  </a:txBody>
                  <a:tcPr/>
                </a:tc>
              </a:tr>
              <a:tr h="370840">
                <a:tc>
                  <a:txBody>
                    <a:bodyPr/>
                    <a:lstStyle/>
                    <a:p>
                      <a:r>
                        <a:rPr lang="en-GB" sz="2000" b="1" dirty="0" smtClean="0"/>
                        <a:t>McDonalds</a:t>
                      </a:r>
                      <a:endParaRPr lang="en-GB" sz="2000" b="1" dirty="0"/>
                    </a:p>
                  </a:txBody>
                  <a:tcPr/>
                </a:tc>
                <a:tc>
                  <a:txBody>
                    <a:bodyPr/>
                    <a:lstStyle/>
                    <a:p>
                      <a:r>
                        <a:rPr lang="en-GB" sz="2000" b="1" dirty="0" smtClean="0"/>
                        <a:t>1</a:t>
                      </a:r>
                      <a:endParaRPr lang="en-GB" sz="2000" b="1" dirty="0"/>
                    </a:p>
                  </a:txBody>
                  <a:tcPr/>
                </a:tc>
                <a:tc>
                  <a:txBody>
                    <a:bodyPr/>
                    <a:lstStyle/>
                    <a:p>
                      <a:r>
                        <a:rPr lang="en-GB" sz="2000" b="1" dirty="0" smtClean="0"/>
                        <a:t>1</a:t>
                      </a:r>
                      <a:endParaRPr lang="en-GB" sz="2000" b="1" dirty="0"/>
                    </a:p>
                  </a:txBody>
                  <a:tcPr/>
                </a:tc>
                <a:tc>
                  <a:txBody>
                    <a:bodyPr/>
                    <a:lstStyle/>
                    <a:p>
                      <a:r>
                        <a:rPr lang="en-GB" sz="2000" b="1" dirty="0" smtClean="0"/>
                        <a:t>1</a:t>
                      </a:r>
                      <a:endParaRPr lang="en-GB" sz="2000" b="1" dirty="0"/>
                    </a:p>
                  </a:txBody>
                  <a:tcPr/>
                </a:tc>
                <a:tc>
                  <a:txBody>
                    <a:bodyPr/>
                    <a:lstStyle/>
                    <a:p>
                      <a:r>
                        <a:rPr lang="en-GB" sz="2000" b="1" dirty="0" smtClean="0"/>
                        <a:t>4</a:t>
                      </a:r>
                      <a:endParaRPr lang="en-GB" sz="2000" b="1" dirty="0"/>
                    </a:p>
                  </a:txBody>
                  <a:tcPr/>
                </a:tc>
                <a:tc>
                  <a:txBody>
                    <a:bodyPr/>
                    <a:lstStyle/>
                    <a:p>
                      <a:r>
                        <a:rPr lang="en-GB" sz="2000" b="1" dirty="0" smtClean="0"/>
                        <a:t>8</a:t>
                      </a:r>
                      <a:endParaRPr lang="en-GB" sz="2000" b="1" dirty="0"/>
                    </a:p>
                  </a:txBody>
                  <a:tcPr/>
                </a:tc>
                <a:tc>
                  <a:txBody>
                    <a:bodyPr/>
                    <a:lstStyle/>
                    <a:p>
                      <a:r>
                        <a:rPr lang="en-GB" sz="2000" b="1" dirty="0" smtClean="0"/>
                        <a:t>8 </a:t>
                      </a:r>
                      <a:endParaRPr lang="en-GB" sz="2000" b="1" dirty="0"/>
                    </a:p>
                  </a:txBody>
                  <a:tcPr/>
                </a:tc>
                <a:tc>
                  <a:txBody>
                    <a:bodyPr/>
                    <a:lstStyle/>
                    <a:p>
                      <a:r>
                        <a:rPr lang="en-GB" sz="2000" b="1" dirty="0" smtClean="0"/>
                        <a:t>5</a:t>
                      </a:r>
                      <a:endParaRPr lang="en-GB" sz="2000" b="1" dirty="0"/>
                    </a:p>
                  </a:txBody>
                  <a:tcPr/>
                </a:tc>
              </a:tr>
              <a:tr h="370840">
                <a:tc>
                  <a:txBody>
                    <a:bodyPr/>
                    <a:lstStyle/>
                    <a:p>
                      <a:r>
                        <a:rPr lang="en-GB" sz="2000" b="1" dirty="0" smtClean="0"/>
                        <a:t>KFC</a:t>
                      </a:r>
                      <a:endParaRPr lang="en-GB" sz="2000" b="1" dirty="0"/>
                    </a:p>
                  </a:txBody>
                  <a:tcPr/>
                </a:tc>
                <a:tc>
                  <a:txBody>
                    <a:bodyPr/>
                    <a:lstStyle/>
                    <a:p>
                      <a:r>
                        <a:rPr lang="en-GB" sz="2000" b="1" dirty="0" smtClean="0"/>
                        <a:t>3</a:t>
                      </a:r>
                      <a:endParaRPr lang="en-GB" sz="2000" b="1" dirty="0"/>
                    </a:p>
                  </a:txBody>
                  <a:tcPr/>
                </a:tc>
                <a:tc>
                  <a:txBody>
                    <a:bodyPr/>
                    <a:lstStyle/>
                    <a:p>
                      <a:r>
                        <a:rPr lang="en-GB" sz="2000" b="1" dirty="0" smtClean="0"/>
                        <a:t>4</a:t>
                      </a:r>
                      <a:endParaRPr lang="en-GB" sz="2000" b="1" dirty="0"/>
                    </a:p>
                  </a:txBody>
                  <a:tcPr/>
                </a:tc>
                <a:tc>
                  <a:txBody>
                    <a:bodyPr/>
                    <a:lstStyle/>
                    <a:p>
                      <a:r>
                        <a:rPr lang="en-GB" sz="2000" b="1" dirty="0" smtClean="0"/>
                        <a:t>4</a:t>
                      </a:r>
                      <a:endParaRPr lang="en-GB" sz="2000" b="1" dirty="0"/>
                    </a:p>
                  </a:txBody>
                  <a:tcPr/>
                </a:tc>
                <a:tc>
                  <a:txBody>
                    <a:bodyPr/>
                    <a:lstStyle/>
                    <a:p>
                      <a:r>
                        <a:rPr lang="en-GB" sz="2000" b="1" dirty="0" smtClean="0"/>
                        <a:t>3</a:t>
                      </a:r>
                      <a:endParaRPr lang="en-GB" sz="2000" b="1" dirty="0"/>
                    </a:p>
                  </a:txBody>
                  <a:tcPr/>
                </a:tc>
                <a:tc>
                  <a:txBody>
                    <a:bodyPr/>
                    <a:lstStyle/>
                    <a:p>
                      <a:r>
                        <a:rPr lang="en-GB" sz="2000" b="1" dirty="0" smtClean="0"/>
                        <a:t>4</a:t>
                      </a:r>
                      <a:endParaRPr lang="en-GB" sz="2000" b="1" dirty="0"/>
                    </a:p>
                  </a:txBody>
                  <a:tcPr/>
                </a:tc>
                <a:tc>
                  <a:txBody>
                    <a:bodyPr/>
                    <a:lstStyle/>
                    <a:p>
                      <a:r>
                        <a:rPr lang="en-GB" sz="2000" b="1" dirty="0" smtClean="0"/>
                        <a:t>5</a:t>
                      </a:r>
                      <a:endParaRPr lang="en-GB" sz="2000" b="1" dirty="0"/>
                    </a:p>
                  </a:txBody>
                  <a:tcPr/>
                </a:tc>
                <a:tc>
                  <a:txBody>
                    <a:bodyPr/>
                    <a:lstStyle/>
                    <a:p>
                      <a:r>
                        <a:rPr lang="en-GB" sz="2000" b="1" dirty="0" smtClean="0"/>
                        <a:t>5</a:t>
                      </a:r>
                      <a:endParaRPr lang="en-GB" sz="2000" b="1" dirty="0"/>
                    </a:p>
                  </a:txBody>
                  <a:tcPr/>
                </a:tc>
              </a:tr>
            </a:tbl>
          </a:graphicData>
        </a:graphic>
      </p:graphicFrame>
      <p:sp>
        <p:nvSpPr>
          <p:cNvPr id="7" name="TextBox 6"/>
          <p:cNvSpPr txBox="1"/>
          <p:nvPr/>
        </p:nvSpPr>
        <p:spPr>
          <a:xfrm>
            <a:off x="1405689" y="5106215"/>
            <a:ext cx="9071147" cy="830997"/>
          </a:xfrm>
          <a:prstGeom prst="rect">
            <a:avLst/>
          </a:prstGeom>
          <a:noFill/>
          <a:ln w="38100">
            <a:solidFill>
              <a:schemeClr val="accent1">
                <a:lumMod val="60000"/>
                <a:lumOff val="40000"/>
              </a:schemeClr>
            </a:solidFill>
          </a:ln>
        </p:spPr>
        <p:txBody>
          <a:bodyPr wrap="square" rtlCol="0">
            <a:spAutoFit/>
          </a:bodyPr>
          <a:lstStyle/>
          <a:p>
            <a:pPr algn="ctr"/>
            <a:r>
              <a:rPr lang="en-GB" sz="2400" dirty="0" smtClean="0"/>
              <a:t>Find the standard deviation for both fast food franchises and comment on your findings. Answers on the next slide</a:t>
            </a:r>
            <a:endParaRPr lang="en-GB" sz="2400" dirty="0"/>
          </a:p>
        </p:txBody>
      </p:sp>
    </p:spTree>
    <p:extLst>
      <p:ext uri="{BB962C8B-B14F-4D97-AF65-F5344CB8AC3E}">
        <p14:creationId xmlns:p14="http://schemas.microsoft.com/office/powerpoint/2010/main" val="1282266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t>Standard Deviation</a:t>
            </a:r>
            <a:r>
              <a:rPr lang="en-US" dirty="0" smtClean="0"/>
              <a:t/>
            </a:r>
            <a:br>
              <a:rPr lang="en-US" dirty="0" smtClean="0"/>
            </a:br>
            <a:r>
              <a:rPr lang="en-US" dirty="0" smtClean="0"/>
              <a:t>EQ: </a:t>
            </a:r>
            <a:r>
              <a:rPr lang="en-US" sz="2900" dirty="0" smtClean="0"/>
              <a:t>What </a:t>
            </a:r>
            <a:r>
              <a:rPr lang="en-US" sz="2900" dirty="0" smtClean="0"/>
              <a:t>is standard deviation and what can it tell us about a data set? </a:t>
            </a:r>
            <a:endParaRPr lang="en-US" sz="2900" dirty="0"/>
          </a:p>
        </p:txBody>
      </p:sp>
      <p:sp>
        <p:nvSpPr>
          <p:cNvPr id="4" name="Rectangle 10"/>
          <p:cNvSpPr txBox="1">
            <a:spLocks noChangeArrowheads="1"/>
          </p:cNvSpPr>
          <p:nvPr/>
        </p:nvSpPr>
        <p:spPr>
          <a:xfrm>
            <a:off x="1276982" y="4990049"/>
            <a:ext cx="10220074" cy="171929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 typeface="Wingdings" pitchFamily="2" charset="2"/>
              <a:buNone/>
            </a:pPr>
            <a:r>
              <a:rPr lang="en-GB" sz="2800" dirty="0" smtClean="0"/>
              <a:t>They both have the same mean but KFC’s sales are less spread about the mean.  </a:t>
            </a:r>
          </a:p>
          <a:p>
            <a:pPr algn="l">
              <a:buFont typeface="Wingdings" pitchFamily="2" charset="2"/>
              <a:buNone/>
            </a:pPr>
            <a:r>
              <a:rPr lang="en-GB" sz="2800" b="1" dirty="0" smtClean="0"/>
              <a:t>You could say that KFC’s sales are more </a:t>
            </a:r>
            <a:r>
              <a:rPr lang="en-GB" sz="2800" b="1" dirty="0" smtClean="0"/>
              <a:t>consistent. Which is ridiculous because everyone knows </a:t>
            </a:r>
            <a:r>
              <a:rPr lang="en-GB" sz="2800" b="1" dirty="0" err="1" smtClean="0"/>
              <a:t>McD’s</a:t>
            </a:r>
            <a:r>
              <a:rPr lang="en-GB" sz="2800" b="1" dirty="0" smtClean="0"/>
              <a:t> has the best nuggets</a:t>
            </a:r>
            <a:endParaRPr lang="en-GB" sz="2800" b="1" dirty="0" smtClean="0"/>
          </a:p>
        </p:txBody>
      </p:sp>
      <mc:AlternateContent xmlns:mc="http://schemas.openxmlformats.org/markup-compatibility/2006">
        <mc:Choice xmlns:a14="http://schemas.microsoft.com/office/drawing/2010/main" Requires="a14">
          <p:sp>
            <p:nvSpPr>
              <p:cNvPr id="5" name="Rectangle 4"/>
              <p:cNvSpPr/>
              <p:nvPr/>
            </p:nvSpPr>
            <p:spPr>
              <a:xfrm>
                <a:off x="3385075" y="3988412"/>
                <a:ext cx="113761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GB" sz="2800" b="1" i="1" smtClean="0">
                              <a:latin typeface="Cambria Math" charset="0"/>
                            </a:rPr>
                          </m:ctrlPr>
                        </m:accPr>
                        <m:e>
                          <m:r>
                            <a:rPr lang="en-GB" sz="2800" b="1" i="0">
                              <a:latin typeface="Cambria Math"/>
                            </a:rPr>
                            <m:t>𝐱</m:t>
                          </m:r>
                        </m:e>
                      </m:acc>
                      <m:r>
                        <a:rPr lang="en-GB" sz="2800" b="1" i="0">
                          <a:latin typeface="Cambria Math"/>
                        </a:rPr>
                        <m:t>=</m:t>
                      </m:r>
                      <m:r>
                        <a:rPr lang="en-GB" sz="2800" b="1" i="1" smtClean="0">
                          <a:latin typeface="Cambria Math" panose="02040503050406030204" pitchFamily="18" charset="0"/>
                        </a:rPr>
                        <m:t>𝟒</m:t>
                      </m:r>
                    </m:oMath>
                  </m:oMathPara>
                </a14:m>
                <a:endParaRPr lang="en-GB" sz="2800" b="1" dirty="0"/>
              </a:p>
            </p:txBody>
          </p:sp>
        </mc:Choice>
        <mc:Fallback>
          <p:sp>
            <p:nvSpPr>
              <p:cNvPr id="5" name="Rectangle 4"/>
              <p:cNvSpPr>
                <a:spLocks noRot="1" noChangeAspect="1" noMove="1" noResize="1" noEditPoints="1" noAdjustHandles="1" noChangeArrowheads="1" noChangeShapeType="1" noTextEdit="1"/>
              </p:cNvSpPr>
              <p:nvPr/>
            </p:nvSpPr>
            <p:spPr>
              <a:xfrm>
                <a:off x="3385075" y="3988412"/>
                <a:ext cx="1137619" cy="523220"/>
              </a:xfrm>
              <a:prstGeom prst="rect">
                <a:avLst/>
              </a:prstGeom>
              <a:blipFill rotWithShape="0">
                <a:blip r:embed="rId2"/>
                <a:stretch>
                  <a:fillRect/>
                </a:stretch>
              </a:blipFill>
            </p:spPr>
            <p:txBody>
              <a:bodyPr/>
              <a:lstStyle/>
              <a:p>
                <a:r>
                  <a:rPr lang="en-US">
                    <a:noFill/>
                  </a:rPr>
                  <a:t> </a:t>
                </a:r>
              </a:p>
            </p:txBody>
          </p:sp>
        </mc:Fallback>
      </mc:AlternateContent>
      <p:pic>
        <p:nvPicPr>
          <p:cNvPr id="6" name="Picture 5"/>
          <p:cNvPicPr>
            <a:picLocks noChangeAspect="1"/>
          </p:cNvPicPr>
          <p:nvPr/>
        </p:nvPicPr>
        <p:blipFill>
          <a:blip r:embed="rId3"/>
          <a:stretch>
            <a:fillRect/>
          </a:stretch>
        </p:blipFill>
        <p:spPr>
          <a:xfrm>
            <a:off x="1750937" y="3510173"/>
            <a:ext cx="1182779" cy="1430197"/>
          </a:xfrm>
          <a:prstGeom prst="rect">
            <a:avLst/>
          </a:prstGeom>
        </p:spPr>
      </p:pic>
      <mc:AlternateContent xmlns:mc="http://schemas.openxmlformats.org/markup-compatibility/2006">
        <mc:Choice xmlns:a14="http://schemas.microsoft.com/office/drawing/2010/main" Requires="a14">
          <p:sp>
            <p:nvSpPr>
              <p:cNvPr id="7" name="Rectangle 6"/>
              <p:cNvSpPr/>
              <p:nvPr/>
            </p:nvSpPr>
            <p:spPr>
              <a:xfrm>
                <a:off x="4799258" y="3988412"/>
                <a:ext cx="1504323" cy="523220"/>
              </a:xfrm>
              <a:prstGeom prst="rect">
                <a:avLst/>
              </a:prstGeom>
            </p:spPr>
            <p:txBody>
              <a:bodyPr wrap="none">
                <a:spAutoFit/>
              </a:bodyPr>
              <a:lstStyle/>
              <a:p>
                <a14:m>
                  <m:oMath xmlns:m="http://schemas.openxmlformats.org/officeDocument/2006/math">
                    <m:r>
                      <a:rPr lang="en-GB" sz="2800" b="1" i="1" smtClean="0">
                        <a:latin typeface="Cambria Math" panose="02040503050406030204" pitchFamily="18" charset="0"/>
                        <a:ea typeface="Cambria Math" panose="02040503050406030204" pitchFamily="18" charset="0"/>
                      </a:rPr>
                      <m:t>𝝈</m:t>
                    </m:r>
                    <m:r>
                      <a:rPr lang="en-GB" sz="2800" b="1" i="1" smtClean="0">
                        <a:latin typeface="Cambria Math" panose="02040503050406030204" pitchFamily="18" charset="0"/>
                        <a:ea typeface="Cambria Math" panose="02040503050406030204" pitchFamily="18" charset="0"/>
                      </a:rPr>
                      <m:t>=</m:t>
                    </m:r>
                  </m:oMath>
                </a14:m>
                <a:r>
                  <a:rPr lang="en-GB" sz="2800" b="1" dirty="0" smtClean="0"/>
                  <a:t> </a:t>
                </a:r>
                <a:r>
                  <a:rPr lang="en-GB" sz="2800" b="1" dirty="0" smtClean="0"/>
                  <a:t>0.76</a:t>
                </a:r>
                <a:endParaRPr lang="en-GB" sz="2800" b="1" dirty="0"/>
              </a:p>
            </p:txBody>
          </p:sp>
        </mc:Choice>
        <mc:Fallback>
          <p:sp>
            <p:nvSpPr>
              <p:cNvPr id="7" name="Rectangle 6"/>
              <p:cNvSpPr>
                <a:spLocks noRot="1" noChangeAspect="1" noMove="1" noResize="1" noEditPoints="1" noAdjustHandles="1" noChangeArrowheads="1" noChangeShapeType="1" noTextEdit="1"/>
              </p:cNvSpPr>
              <p:nvPr/>
            </p:nvSpPr>
            <p:spPr>
              <a:xfrm>
                <a:off x="4799258" y="3988412"/>
                <a:ext cx="1504323" cy="523220"/>
              </a:xfrm>
              <a:prstGeom prst="rect">
                <a:avLst/>
              </a:prstGeom>
              <a:blipFill rotWithShape="0">
                <a:blip r:embed="rId4"/>
                <a:stretch>
                  <a:fillRect t="-10465" r="-6073" b="-32558"/>
                </a:stretch>
              </a:blipFill>
            </p:spPr>
            <p:txBody>
              <a:bodyPr/>
              <a:lstStyle/>
              <a:p>
                <a:r>
                  <a:rPr lang="en-US">
                    <a:noFill/>
                  </a:rPr>
                  <a:t> </a:t>
                </a:r>
              </a:p>
            </p:txBody>
          </p:sp>
        </mc:Fallback>
      </mc:AlternateContent>
      <p:pic>
        <p:nvPicPr>
          <p:cNvPr id="8" name="Picture 7"/>
          <p:cNvPicPr>
            <a:picLocks noChangeAspect="1"/>
          </p:cNvPicPr>
          <p:nvPr/>
        </p:nvPicPr>
        <p:blipFill>
          <a:blip r:embed="rId5"/>
          <a:stretch>
            <a:fillRect/>
          </a:stretch>
        </p:blipFill>
        <p:spPr>
          <a:xfrm>
            <a:off x="1750937" y="1878415"/>
            <a:ext cx="1106613" cy="1106613"/>
          </a:xfrm>
          <a:prstGeom prst="rect">
            <a:avLst/>
          </a:prstGeom>
        </p:spPr>
      </p:pic>
      <mc:AlternateContent xmlns:mc="http://schemas.openxmlformats.org/markup-compatibility/2006">
        <mc:Choice xmlns:a14="http://schemas.microsoft.com/office/drawing/2010/main" Requires="a14">
          <p:sp>
            <p:nvSpPr>
              <p:cNvPr id="9" name="Rectangle 8"/>
              <p:cNvSpPr/>
              <p:nvPr/>
            </p:nvSpPr>
            <p:spPr>
              <a:xfrm>
                <a:off x="3407659" y="2303083"/>
                <a:ext cx="113761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GB" sz="2800" b="1" i="1" smtClean="0">
                              <a:latin typeface="Cambria Math" charset="0"/>
                            </a:rPr>
                          </m:ctrlPr>
                        </m:accPr>
                        <m:e>
                          <m:r>
                            <a:rPr lang="en-GB" sz="2800" b="1" i="0">
                              <a:latin typeface="Cambria Math"/>
                            </a:rPr>
                            <m:t>𝐱</m:t>
                          </m:r>
                        </m:e>
                      </m:acc>
                      <m:r>
                        <a:rPr lang="en-GB" sz="2800" b="1" i="0">
                          <a:latin typeface="Cambria Math"/>
                        </a:rPr>
                        <m:t>=</m:t>
                      </m:r>
                      <m:r>
                        <a:rPr lang="en-GB" sz="2800" b="1" i="1" smtClean="0">
                          <a:latin typeface="Cambria Math" panose="02040503050406030204" pitchFamily="18" charset="0"/>
                        </a:rPr>
                        <m:t>𝟒</m:t>
                      </m:r>
                    </m:oMath>
                  </m:oMathPara>
                </a14:m>
                <a:endParaRPr lang="en-GB" sz="2800" b="1" dirty="0"/>
              </a:p>
            </p:txBody>
          </p:sp>
        </mc:Choice>
        <mc:Fallback>
          <p:sp>
            <p:nvSpPr>
              <p:cNvPr id="9" name="Rectangle 8"/>
              <p:cNvSpPr>
                <a:spLocks noRot="1" noChangeAspect="1" noMove="1" noResize="1" noEditPoints="1" noAdjustHandles="1" noChangeArrowheads="1" noChangeShapeType="1" noTextEdit="1"/>
              </p:cNvSpPr>
              <p:nvPr/>
            </p:nvSpPr>
            <p:spPr>
              <a:xfrm>
                <a:off x="3407659" y="2303083"/>
                <a:ext cx="1137619"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Rectangle 9"/>
              <p:cNvSpPr/>
              <p:nvPr/>
            </p:nvSpPr>
            <p:spPr>
              <a:xfrm>
                <a:off x="4821842" y="2303083"/>
                <a:ext cx="1504323" cy="523220"/>
              </a:xfrm>
              <a:prstGeom prst="rect">
                <a:avLst/>
              </a:prstGeom>
            </p:spPr>
            <p:txBody>
              <a:bodyPr wrap="none">
                <a:spAutoFit/>
              </a:bodyPr>
              <a:lstStyle/>
              <a:p>
                <a14:m>
                  <m:oMath xmlns:m="http://schemas.openxmlformats.org/officeDocument/2006/math">
                    <m:r>
                      <a:rPr lang="en-GB" sz="2800" b="1" i="1" smtClean="0">
                        <a:latin typeface="Cambria Math" panose="02040503050406030204" pitchFamily="18" charset="0"/>
                        <a:ea typeface="Cambria Math" panose="02040503050406030204" pitchFamily="18" charset="0"/>
                      </a:rPr>
                      <m:t>𝝈</m:t>
                    </m:r>
                    <m:r>
                      <a:rPr lang="en-GB" sz="2800" b="1" i="1" smtClean="0">
                        <a:latin typeface="Cambria Math" panose="02040503050406030204" pitchFamily="18" charset="0"/>
                        <a:ea typeface="Cambria Math" panose="02040503050406030204" pitchFamily="18" charset="0"/>
                      </a:rPr>
                      <m:t>=</m:t>
                    </m:r>
                  </m:oMath>
                </a14:m>
                <a:r>
                  <a:rPr lang="en-GB" sz="2800" b="1" dirty="0" smtClean="0"/>
                  <a:t> </a:t>
                </a:r>
                <a:r>
                  <a:rPr lang="en-GB" sz="2800" b="1" dirty="0" smtClean="0"/>
                  <a:t>2.93</a:t>
                </a:r>
                <a:endParaRPr lang="en-GB" sz="2800" b="1" dirty="0"/>
              </a:p>
            </p:txBody>
          </p:sp>
        </mc:Choice>
        <mc:Fallback>
          <p:sp>
            <p:nvSpPr>
              <p:cNvPr id="10" name="Rectangle 9"/>
              <p:cNvSpPr>
                <a:spLocks noRot="1" noChangeAspect="1" noMove="1" noResize="1" noEditPoints="1" noAdjustHandles="1" noChangeArrowheads="1" noChangeShapeType="1" noTextEdit="1"/>
              </p:cNvSpPr>
              <p:nvPr/>
            </p:nvSpPr>
            <p:spPr>
              <a:xfrm>
                <a:off x="4821842" y="2303083"/>
                <a:ext cx="1504323" cy="523220"/>
              </a:xfrm>
              <a:prstGeom prst="rect">
                <a:avLst/>
              </a:prstGeom>
              <a:blipFill rotWithShape="0">
                <a:blip r:embed="rId7"/>
                <a:stretch>
                  <a:fillRect t="-11628" r="-5668" b="-32558"/>
                </a:stretch>
              </a:blipFill>
            </p:spPr>
            <p:txBody>
              <a:bodyPr/>
              <a:lstStyle/>
              <a:p>
                <a:r>
                  <a:rPr lang="en-US">
                    <a:noFill/>
                  </a:rPr>
                  <a:t> </a:t>
                </a:r>
              </a:p>
            </p:txBody>
          </p:sp>
        </mc:Fallback>
      </mc:AlternateContent>
      <p:sp>
        <p:nvSpPr>
          <p:cNvPr id="11" name="TextBox 10"/>
          <p:cNvSpPr txBox="1"/>
          <p:nvPr/>
        </p:nvSpPr>
        <p:spPr>
          <a:xfrm>
            <a:off x="7103933" y="2985028"/>
            <a:ext cx="3548600" cy="461665"/>
          </a:xfrm>
          <a:prstGeom prst="rect">
            <a:avLst/>
          </a:prstGeom>
          <a:noFill/>
          <a:ln w="28575">
            <a:solidFill>
              <a:schemeClr val="accent1">
                <a:lumMod val="40000"/>
                <a:lumOff val="60000"/>
              </a:schemeClr>
            </a:solidFill>
          </a:ln>
        </p:spPr>
        <p:txBody>
          <a:bodyPr wrap="none" rtlCol="0">
            <a:spAutoFit/>
          </a:bodyPr>
          <a:lstStyle/>
          <a:p>
            <a:r>
              <a:rPr lang="en-GB" sz="2400" dirty="0" smtClean="0"/>
              <a:t>How can we interpret this?</a:t>
            </a:r>
            <a:endParaRPr lang="en-GB" sz="2400" dirty="0"/>
          </a:p>
        </p:txBody>
      </p:sp>
    </p:spTree>
    <p:extLst>
      <p:ext uri="{BB962C8B-B14F-4D97-AF65-F5344CB8AC3E}">
        <p14:creationId xmlns:p14="http://schemas.microsoft.com/office/powerpoint/2010/main" val="811781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t>Standard Deviation</a:t>
            </a:r>
            <a:r>
              <a:rPr lang="en-US" dirty="0" smtClean="0"/>
              <a:t/>
            </a:r>
            <a:br>
              <a:rPr lang="en-US" dirty="0" smtClean="0"/>
            </a:br>
            <a:r>
              <a:rPr lang="en-US" dirty="0" smtClean="0"/>
              <a:t>EQ: </a:t>
            </a:r>
            <a:r>
              <a:rPr lang="en-US" sz="2900" dirty="0" smtClean="0"/>
              <a:t>What </a:t>
            </a:r>
            <a:r>
              <a:rPr lang="en-US" sz="2900" dirty="0" smtClean="0"/>
              <a:t>is standard deviation and what can it tell us about a data set? </a:t>
            </a:r>
            <a:endParaRPr lang="en-US" sz="2900" dirty="0"/>
          </a:p>
        </p:txBody>
      </p:sp>
    </p:spTree>
    <p:extLst>
      <p:ext uri="{BB962C8B-B14F-4D97-AF65-F5344CB8AC3E}">
        <p14:creationId xmlns:p14="http://schemas.microsoft.com/office/powerpoint/2010/main" val="1874512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1"/>
          <p:cNvSpPr>
            <a:spLocks noGrp="1"/>
          </p:cNvSpPr>
          <p:nvPr>
            <p:ph type="title"/>
          </p:nvPr>
        </p:nvSpPr>
        <p:spPr>
          <a:xfrm>
            <a:off x="0" y="466343"/>
            <a:ext cx="12192000" cy="1324357"/>
          </a:xfrm>
        </p:spPr>
        <p:txBody>
          <a:bodyPr>
            <a:normAutofit/>
          </a:bodyPr>
          <a:lstStyle/>
          <a:p>
            <a:r>
              <a:rPr lang="en-US" dirty="0" smtClean="0"/>
              <a:t>Class/Homework</a:t>
            </a:r>
            <a:endParaRPr lang="en-US" sz="2900" dirty="0"/>
          </a:p>
        </p:txBody>
      </p:sp>
      <p:sp>
        <p:nvSpPr>
          <p:cNvPr id="53" name="TextBox 52"/>
          <p:cNvSpPr txBox="1"/>
          <p:nvPr/>
        </p:nvSpPr>
        <p:spPr>
          <a:xfrm>
            <a:off x="10098637" y="6499820"/>
            <a:ext cx="632475" cy="461665"/>
          </a:xfrm>
          <a:prstGeom prst="rect">
            <a:avLst/>
          </a:prstGeom>
          <a:noFill/>
        </p:spPr>
        <p:txBody>
          <a:bodyPr wrap="square" rtlCol="0">
            <a:spAutoFit/>
          </a:bodyPr>
          <a:lstStyle/>
          <a:p>
            <a:r>
              <a:rPr lang="en-AU" sz="2400" dirty="0">
                <a:solidFill>
                  <a:prstClr val="black"/>
                </a:solidFill>
              </a:rPr>
              <a:t> </a:t>
            </a:r>
          </a:p>
        </p:txBody>
      </p:sp>
      <p:sp>
        <p:nvSpPr>
          <p:cNvPr id="4" name="TextBox 3"/>
          <p:cNvSpPr txBox="1"/>
          <p:nvPr/>
        </p:nvSpPr>
        <p:spPr>
          <a:xfrm>
            <a:off x="853441" y="2462784"/>
            <a:ext cx="11026648" cy="646331"/>
          </a:xfrm>
          <a:prstGeom prst="rect">
            <a:avLst/>
          </a:prstGeom>
          <a:noFill/>
        </p:spPr>
        <p:txBody>
          <a:bodyPr wrap="square" rtlCol="0">
            <a:spAutoFit/>
          </a:bodyPr>
          <a:lstStyle/>
          <a:p>
            <a:pPr marL="285750" indent="-285750">
              <a:buFont typeface="Arial" charset="0"/>
              <a:buChar char="•"/>
            </a:pPr>
            <a:r>
              <a:rPr lang="en-US" sz="3600" dirty="0" smtClean="0"/>
              <a:t>10ticks worksheet on Standard Deviation</a:t>
            </a:r>
            <a:endParaRPr lang="en-US" sz="3600" dirty="0" smtClean="0"/>
          </a:p>
        </p:txBody>
      </p:sp>
    </p:spTree>
    <p:extLst>
      <p:ext uri="{BB962C8B-B14F-4D97-AF65-F5344CB8AC3E}">
        <p14:creationId xmlns:p14="http://schemas.microsoft.com/office/powerpoint/2010/main" val="1600733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5977900"/>
            <a:ext cx="1455463" cy="461665"/>
          </a:xfrm>
          <a:prstGeom prst="rect">
            <a:avLst/>
          </a:prstGeom>
          <a:noFill/>
        </p:spPr>
        <p:txBody>
          <a:bodyPr wrap="none" rtlCol="0">
            <a:spAutoFit/>
          </a:bodyPr>
          <a:lstStyle/>
          <a:p>
            <a:r>
              <a:rPr lang="en-US" sz="2400" dirty="0" smtClean="0"/>
              <a:t>Summary:</a:t>
            </a:r>
            <a:endParaRPr lang="en-US" sz="2400" dirty="0"/>
          </a:p>
        </p:txBody>
      </p:sp>
      <p:cxnSp>
        <p:nvCxnSpPr>
          <p:cNvPr id="6" name="Straight Connector 5"/>
          <p:cNvCxnSpPr/>
          <p:nvPr/>
        </p:nvCxnSpPr>
        <p:spPr>
          <a:xfrm>
            <a:off x="0" y="5977900"/>
            <a:ext cx="12192000"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7" name="Right Arrow 6"/>
          <p:cNvSpPr/>
          <p:nvPr/>
        </p:nvSpPr>
        <p:spPr>
          <a:xfrm rot="8845994">
            <a:off x="1520211" y="5114600"/>
            <a:ext cx="981068" cy="5271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474976" y="4547616"/>
            <a:ext cx="5897512" cy="461665"/>
          </a:xfrm>
          <a:prstGeom prst="rect">
            <a:avLst/>
          </a:prstGeom>
          <a:noFill/>
        </p:spPr>
        <p:txBody>
          <a:bodyPr wrap="none" rtlCol="0">
            <a:spAutoFit/>
          </a:bodyPr>
          <a:lstStyle/>
          <a:p>
            <a:r>
              <a:rPr lang="en-US" sz="2400" dirty="0" smtClean="0"/>
              <a:t>Complete your summary by answering the EQ</a:t>
            </a:r>
            <a:endParaRPr lang="en-US" sz="2400" dirty="0"/>
          </a:p>
        </p:txBody>
      </p:sp>
      <p:sp>
        <p:nvSpPr>
          <p:cNvPr id="13"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t>Standard Deviation</a:t>
            </a:r>
            <a:r>
              <a:rPr lang="en-US" dirty="0" smtClean="0"/>
              <a:t/>
            </a:r>
            <a:br>
              <a:rPr lang="en-US" dirty="0" smtClean="0"/>
            </a:br>
            <a:r>
              <a:rPr lang="en-US" dirty="0" smtClean="0"/>
              <a:t>EQ: </a:t>
            </a:r>
            <a:r>
              <a:rPr lang="en-US" sz="2900" dirty="0" smtClean="0"/>
              <a:t>What </a:t>
            </a:r>
            <a:r>
              <a:rPr lang="en-US" sz="2900" dirty="0" smtClean="0"/>
              <a:t>is standard deviation and what can it tell us about a data set? </a:t>
            </a:r>
            <a:endParaRPr lang="en-US" sz="2900" dirty="0"/>
          </a:p>
        </p:txBody>
      </p:sp>
    </p:spTree>
    <p:extLst>
      <p:ext uri="{BB962C8B-B14F-4D97-AF65-F5344CB8AC3E}">
        <p14:creationId xmlns:p14="http://schemas.microsoft.com/office/powerpoint/2010/main" val="1348115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tags/tag1.xml><?xml version="1.0" encoding="utf-8"?>
<p:tagLst xmlns:a="http://schemas.openxmlformats.org/drawingml/2006/main" xmlns:r="http://schemas.openxmlformats.org/officeDocument/2006/relationships" xmlns:p="http://schemas.openxmlformats.org/presentationml/2006/main">
  <p:tag name="NOPREFERENCE" val="False"/>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Lst>
</file>

<file path=ppt/theme/theme1.xml><?xml version="1.0" encoding="utf-8"?>
<a:theme xmlns:a="http://schemas.openxmlformats.org/drawingml/2006/main" name="Education 16x9">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ucation_16x9.potx" id="{AA5F22BC-61EA-4F01-AB22-75117871E196}" vid="{BD0EB374-1DDC-4F15-88A9-D386288C58A6}"/>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C1D5F340F01F94FA2FD29A5E6DC872E" ma:contentTypeVersion="0" ma:contentTypeDescription="Create a new document." ma:contentTypeScope="" ma:versionID="141aba3b8f8cb7f331be6546df69db50">
  <xsd:schema xmlns:xsd="http://www.w3.org/2001/XMLSchema" xmlns:xs="http://www.w3.org/2001/XMLSchema" xmlns:p="http://schemas.microsoft.com/office/2006/metadata/properties" targetNamespace="http://schemas.microsoft.com/office/2006/metadata/properties" ma:root="true" ma:fieldsID="f8e4ef66d87525153bd8907774ed28f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F7A874A-6E55-415B-9061-8B2D43DC2F48}">
  <ds:schemaRefs>
    <ds:schemaRef ds:uri="http://schemas.microsoft.com/sharepoint/v3/contenttype/forms"/>
  </ds:schemaRefs>
</ds:datastoreItem>
</file>

<file path=customXml/itemProps2.xml><?xml version="1.0" encoding="utf-8"?>
<ds:datastoreItem xmlns:ds="http://schemas.openxmlformats.org/officeDocument/2006/customXml" ds:itemID="{9896FEF9-821E-45A6-82F2-0B1CE4CD8C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91BC99BC-3A63-4255-9D4F-38C5B80A319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0</TotalTime>
  <Words>951</Words>
  <Application>Microsoft Macintosh PowerPoint</Application>
  <PresentationFormat>Widescreen</PresentationFormat>
  <Paragraphs>143</Paragraphs>
  <Slides>19</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19</vt:i4>
      </vt:variant>
    </vt:vector>
  </HeadingPairs>
  <TitlesOfParts>
    <vt:vector size="27" baseType="lpstr">
      <vt:lpstr>Calibri</vt:lpstr>
      <vt:lpstr>Cambria Math</vt:lpstr>
      <vt:lpstr>Mangal</vt:lpstr>
      <vt:lpstr>Arial</vt:lpstr>
      <vt:lpstr>Wingdings</vt:lpstr>
      <vt:lpstr>Education 16x9</vt:lpstr>
      <vt:lpstr>Microsoft Equation 3.0</vt:lpstr>
      <vt:lpstr>Equation</vt:lpstr>
      <vt:lpstr>Statistical Analysis</vt:lpstr>
      <vt:lpstr>The Judging Standards for this unit (aka - How You will be Assessed!)</vt:lpstr>
      <vt:lpstr>Starter Problem – To be done in pairs/groups of no more than 4</vt:lpstr>
      <vt:lpstr>PowerPoint Presentation</vt:lpstr>
      <vt:lpstr>PowerPoint Presentation</vt:lpstr>
      <vt:lpstr>PowerPoint Presentation</vt:lpstr>
      <vt:lpstr>PowerPoint Presentation</vt:lpstr>
      <vt:lpstr>Steps to Finding Standard Deviation</vt:lpstr>
      <vt:lpstr> Guided Practice</vt:lpstr>
      <vt:lpstr> Independent Practice</vt:lpstr>
      <vt:lpstr>Comparing data sets</vt:lpstr>
      <vt:lpstr>PowerPoint Presentation</vt:lpstr>
      <vt:lpstr>PowerPoint Presentation</vt:lpstr>
      <vt:lpstr>PowerPoint Presentation</vt:lpstr>
      <vt:lpstr>PowerPoint Presentation</vt:lpstr>
      <vt:lpstr>PowerPoint Presentation</vt:lpstr>
      <vt:lpstr>PowerPoint Presentation</vt:lpstr>
      <vt:lpstr>Class/Homework</vt:lpstr>
      <vt:lpstr>PowerPoint Presentation</vt:lpstr>
    </vt:vector>
  </TitlesOfParts>
  <Manager/>
  <Company/>
  <LinksUpToDate>false</LinksUpToDate>
  <SharedDoc>false</SharedDoc>
  <HyperlinkBase/>
  <HyperlinksChanged>false</HyperlinksChanged>
  <AppVersion>15.0034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2012-09-21T18:31:34Z</dcterms:created>
  <dcterms:modified xsi:type="dcterms:W3CDTF">2018-07-30T13:19:25Z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0x0101007C1D5F340F01F94FA2FD29A5E6DC872E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
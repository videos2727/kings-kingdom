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4" r:id="rId20"/>
    <p:sldId id="274" r:id="rId21"/>
    <p:sldId id="276" r:id="rId22"/>
    <p:sldId id="277" r:id="rId23"/>
    <p:sldId id="278" r:id="rId24"/>
    <p:sldId id="294" r:id="rId25"/>
    <p:sldId id="280" r:id="rId26"/>
    <p:sldId id="279" r:id="rId27"/>
    <p:sldId id="281" r:id="rId28"/>
    <p:sldId id="282" r:id="rId29"/>
    <p:sldId id="283" r:id="rId30"/>
    <p:sldId id="285" r:id="rId31"/>
    <p:sldId id="286" r:id="rId32"/>
    <p:sldId id="287" r:id="rId33"/>
    <p:sldId id="288" r:id="rId34"/>
    <p:sldId id="289" r:id="rId35"/>
    <p:sldId id="290" r:id="rId36"/>
    <p:sldId id="291" r:id="rId37"/>
    <p:sldId id="292" r:id="rId38"/>
    <p:sldId id="293"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102" y="-23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3.wmf"/><Relationship Id="rId4"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3.wmf"/><Relationship Id="rId4"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3.wmf"/><Relationship Id="rId1" Type="http://schemas.openxmlformats.org/officeDocument/2006/relationships/image" Target="../media/image18.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4" Type="http://schemas.openxmlformats.org/officeDocument/2006/relationships/image" Target="../media/image4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4" Type="http://schemas.openxmlformats.org/officeDocument/2006/relationships/image" Target="../media/image5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4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3.wmf"/><Relationship Id="rId4" Type="http://schemas.openxmlformats.org/officeDocument/2006/relationships/image" Target="../media/image5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44.wmf"/><Relationship Id="rId5" Type="http://schemas.openxmlformats.org/officeDocument/2006/relationships/image" Target="../media/image61.wmf"/><Relationship Id="rId4"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3.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5" Type="http://schemas.openxmlformats.org/officeDocument/2006/relationships/image" Target="../media/image76.wmf"/><Relationship Id="rId4" Type="http://schemas.openxmlformats.org/officeDocument/2006/relationships/image" Target="../media/image7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46651A5F-18C1-4B84-A2FC-931449F6EE03}" type="datetimeFigureOut">
              <a:rPr lang="en-US" smtClean="0"/>
              <a:pPr/>
              <a:t>6/19/2012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D4DEB46-C772-4F2A-BC7F-456406D26E1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6651A5F-18C1-4B84-A2FC-931449F6EE03}" type="datetimeFigureOut">
              <a:rPr lang="en-US" smtClean="0"/>
              <a:pPr/>
              <a:t>6/19/2012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6651A5F-18C1-4B84-A2FC-931449F6EE03}" type="datetimeFigureOut">
              <a:rPr lang="en-US" smtClean="0"/>
              <a:pPr/>
              <a:t>6/19/2012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4DEB46-C772-4F2A-BC7F-456406D26E1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6651A5F-18C1-4B84-A2FC-931449F6EE03}" type="datetimeFigureOut">
              <a:rPr lang="en-US" smtClean="0"/>
              <a:pPr/>
              <a:t>6/19/2012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6651A5F-18C1-4B84-A2FC-931449F6EE03}" type="datetimeFigureOut">
              <a:rPr lang="en-US" smtClean="0"/>
              <a:pPr/>
              <a:t>6/19/2012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6651A5F-18C1-4B84-A2FC-931449F6EE03}" type="datetimeFigureOut">
              <a:rPr lang="en-US" smtClean="0"/>
              <a:pPr/>
              <a:t>6/19/2012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651A5F-18C1-4B84-A2FC-931449F6EE03}" type="datetimeFigureOut">
              <a:rPr lang="en-US" smtClean="0"/>
              <a:pPr/>
              <a:t>6/19/2012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6651A5F-18C1-4B84-A2FC-931449F6EE03}" type="datetimeFigureOut">
              <a:rPr lang="en-US" smtClean="0"/>
              <a:pPr/>
              <a:t>6/19/2012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6651A5F-18C1-4B84-A2FC-931449F6EE03}" type="datetimeFigureOut">
              <a:rPr lang="en-US" smtClean="0"/>
              <a:pPr/>
              <a:t>6/19/2012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7D4DEB46-C772-4F2A-BC7F-456406D26E16}"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6651A5F-18C1-4B84-A2FC-931449F6EE03}" type="datetimeFigureOut">
              <a:rPr lang="en-US" smtClean="0"/>
              <a:pPr/>
              <a:t>6/19/2012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6651A5F-18C1-4B84-A2FC-931449F6EE03}" type="datetimeFigureOut">
              <a:rPr lang="en-US" smtClean="0"/>
              <a:pPr/>
              <a:t>6/19/2012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4DEB46-C772-4F2A-BC7F-456406D26E1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6651A5F-18C1-4B84-A2FC-931449F6EE03}" type="datetimeFigureOut">
              <a:rPr lang="en-US" smtClean="0"/>
              <a:pPr/>
              <a:t>6/19/2012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D4DEB46-C772-4F2A-BC7F-456406D26E16}"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5.v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0.bin"/><Relationship Id="rId5" Type="http://schemas.openxmlformats.org/officeDocument/2006/relationships/oleObject" Target="../embeddings/oleObject19.bin"/><Relationship Id="rId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 Id="rId9" Type="http://schemas.openxmlformats.org/officeDocument/2006/relationships/oleObject" Target="../embeddings/oleObject27.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1.v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2.v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13.v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39.bin"/><Relationship Id="rId5" Type="http://schemas.openxmlformats.org/officeDocument/2006/relationships/oleObject" Target="../embeddings/oleObject38.bin"/><Relationship Id="rId4" Type="http://schemas.openxmlformats.org/officeDocument/2006/relationships/oleObject" Target="../embeddings/oleObject37.bin"/><Relationship Id="rId9" Type="http://schemas.openxmlformats.org/officeDocument/2006/relationships/oleObject" Target="../embeddings/oleObject42.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oleObject" Target="../embeddings/oleObject45.bin"/><Relationship Id="rId4"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9.bin"/><Relationship Id="rId5" Type="http://schemas.openxmlformats.org/officeDocument/2006/relationships/oleObject" Target="../embeddings/oleObject48.bin"/><Relationship Id="rId4" Type="http://schemas.openxmlformats.org/officeDocument/2006/relationships/oleObject" Target="../embeddings/oleObject47.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7.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54.bin"/><Relationship Id="rId5" Type="http://schemas.openxmlformats.org/officeDocument/2006/relationships/oleObject" Target="../embeddings/oleObject53.bin"/><Relationship Id="rId4" Type="http://schemas.openxmlformats.org/officeDocument/2006/relationships/oleObject" Target="../embeddings/oleObject5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oleObject" Target="../embeddings/oleObject56.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oleObject" Target="../embeddings/oleObject61.bin"/><Relationship Id="rId4" Type="http://schemas.openxmlformats.org/officeDocument/2006/relationships/oleObject" Target="../embeddings/oleObject60.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65.bin"/><Relationship Id="rId5" Type="http://schemas.openxmlformats.org/officeDocument/2006/relationships/oleObject" Target="../embeddings/oleObject64.bin"/><Relationship Id="rId4" Type="http://schemas.openxmlformats.org/officeDocument/2006/relationships/oleObject" Target="../embeddings/oleObject63.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oleObject" Target="../embeddings/oleObject66.bin"/><Relationship Id="rId7"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68.bin"/><Relationship Id="rId5" Type="http://schemas.openxmlformats.org/officeDocument/2006/relationships/oleObject" Target="../embeddings/oleObject67.bin"/><Relationship Id="rId4" Type="http://schemas.openxmlformats.org/officeDocument/2006/relationships/image" Target="../media/image62.jpe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1.bin"/><Relationship Id="rId7" Type="http://schemas.openxmlformats.org/officeDocument/2006/relationships/image" Target="../media/image62.jpe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74.bin"/><Relationship Id="rId5" Type="http://schemas.openxmlformats.org/officeDocument/2006/relationships/oleObject" Target="../embeddings/oleObject73.bin"/><Relationship Id="rId4" Type="http://schemas.openxmlformats.org/officeDocument/2006/relationships/oleObject" Target="../embeddings/oleObject72.bin"/></Relationships>
</file>

<file path=ppt/slides/_rels/slide3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oleObject" Target="../embeddings/oleObject75.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77.bin"/><Relationship Id="rId5" Type="http://schemas.openxmlformats.org/officeDocument/2006/relationships/image" Target="../media/image62.jpeg"/><Relationship Id="rId4" Type="http://schemas.openxmlformats.org/officeDocument/2006/relationships/oleObject" Target="../embeddings/oleObject76.bin"/><Relationship Id="rId9" Type="http://schemas.openxmlformats.org/officeDocument/2006/relationships/oleObject" Target="../embeddings/oleObject80.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84.bin"/><Relationship Id="rId5" Type="http://schemas.openxmlformats.org/officeDocument/2006/relationships/oleObject" Target="../embeddings/oleObject83.bin"/><Relationship Id="rId4" Type="http://schemas.openxmlformats.org/officeDocument/2006/relationships/oleObject" Target="../embeddings/oleObject8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The Sine Rule</a:t>
            </a:r>
            <a:br>
              <a:rPr lang="en-AU" dirty="0" smtClean="0"/>
            </a:br>
            <a:r>
              <a:rPr lang="en-AU" dirty="0" smtClean="0"/>
              <a:t>The Cosine Rule</a:t>
            </a:r>
            <a:endParaRPr lang="en-US" dirty="0"/>
          </a:p>
        </p:txBody>
      </p:sp>
      <p:sp>
        <p:nvSpPr>
          <p:cNvPr id="3" name="Subtitle 2"/>
          <p:cNvSpPr>
            <a:spLocks noGrp="1"/>
          </p:cNvSpPr>
          <p:nvPr>
            <p:ph type="subTitle" idx="1"/>
          </p:nvPr>
        </p:nvSpPr>
        <p:spPr/>
        <p:txBody>
          <a:bodyPr/>
          <a:lstStyle/>
          <a:p>
            <a:r>
              <a:rPr lang="en-AU" dirty="0" smtClean="0"/>
              <a:t>Trigonometrical rules for finding sides and angles in triangles which are not right angled</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1"/>
          <p:cNvGrpSpPr/>
          <p:nvPr/>
        </p:nvGrpSpPr>
        <p:grpSpPr>
          <a:xfrm>
            <a:off x="3887416" y="1412776"/>
            <a:ext cx="4824536" cy="1872208"/>
            <a:chOff x="5868144" y="2132856"/>
            <a:chExt cx="2592288" cy="576064"/>
          </a:xfrm>
        </p:grpSpPr>
        <p:cxnSp>
          <p:nvCxnSpPr>
            <p:cNvPr id="9" name="Straight Connector 8"/>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3671392" y="1124744"/>
            <a:ext cx="504056" cy="369332"/>
          </a:xfrm>
          <a:prstGeom prst="rect">
            <a:avLst/>
          </a:prstGeom>
          <a:noFill/>
        </p:spPr>
        <p:txBody>
          <a:bodyPr wrap="square" rtlCol="0">
            <a:spAutoFit/>
          </a:bodyPr>
          <a:lstStyle/>
          <a:p>
            <a:r>
              <a:rPr lang="en-AU" dirty="0" smtClean="0">
                <a:solidFill>
                  <a:srgbClr val="0000FF"/>
                </a:solidFill>
              </a:rPr>
              <a:t>A</a:t>
            </a:r>
            <a:endParaRPr lang="en-US" dirty="0">
              <a:solidFill>
                <a:srgbClr val="0000FF"/>
              </a:solidFill>
            </a:endParaRPr>
          </a:p>
        </p:txBody>
      </p:sp>
      <p:sp>
        <p:nvSpPr>
          <p:cNvPr id="7" name="TextBox 6"/>
          <p:cNvSpPr txBox="1"/>
          <p:nvPr/>
        </p:nvSpPr>
        <p:spPr>
          <a:xfrm>
            <a:off x="8639944" y="1124744"/>
            <a:ext cx="504056" cy="369332"/>
          </a:xfrm>
          <a:prstGeom prst="rect">
            <a:avLst/>
          </a:prstGeom>
          <a:noFill/>
        </p:spPr>
        <p:txBody>
          <a:bodyPr wrap="square" rtlCol="0">
            <a:spAutoFit/>
          </a:bodyPr>
          <a:lstStyle/>
          <a:p>
            <a:r>
              <a:rPr lang="en-AU" dirty="0">
                <a:solidFill>
                  <a:srgbClr val="006600"/>
                </a:solidFill>
              </a:rPr>
              <a:t>B</a:t>
            </a:r>
            <a:endParaRPr lang="en-US" dirty="0">
              <a:solidFill>
                <a:srgbClr val="006600"/>
              </a:solidFill>
            </a:endParaRPr>
          </a:p>
        </p:txBody>
      </p:sp>
      <p:sp>
        <p:nvSpPr>
          <p:cNvPr id="8" name="TextBox 7"/>
          <p:cNvSpPr txBox="1"/>
          <p:nvPr/>
        </p:nvSpPr>
        <p:spPr>
          <a:xfrm>
            <a:off x="6983760" y="3284984"/>
            <a:ext cx="504056" cy="369332"/>
          </a:xfrm>
          <a:prstGeom prst="rect">
            <a:avLst/>
          </a:prstGeom>
          <a:noFill/>
        </p:spPr>
        <p:txBody>
          <a:bodyPr wrap="square" rtlCol="0">
            <a:spAutoFit/>
          </a:bodyPr>
          <a:lstStyle/>
          <a:p>
            <a:r>
              <a:rPr lang="en-AU" dirty="0">
                <a:solidFill>
                  <a:srgbClr val="FF0000"/>
                </a:solidFill>
              </a:rPr>
              <a:t>C</a:t>
            </a:r>
            <a:endParaRPr lang="en-US" dirty="0">
              <a:solidFill>
                <a:srgbClr val="FF0000"/>
              </a:solidFill>
            </a:endParaRPr>
          </a:p>
        </p:txBody>
      </p:sp>
      <p:sp>
        <p:nvSpPr>
          <p:cNvPr id="12" name="TextBox 11"/>
          <p:cNvSpPr txBox="1"/>
          <p:nvPr/>
        </p:nvSpPr>
        <p:spPr>
          <a:xfrm>
            <a:off x="539552" y="620688"/>
            <a:ext cx="6120680" cy="369332"/>
          </a:xfrm>
          <a:prstGeom prst="rect">
            <a:avLst/>
          </a:prstGeom>
          <a:noFill/>
        </p:spPr>
        <p:txBody>
          <a:bodyPr wrap="square" rtlCol="0">
            <a:spAutoFit/>
          </a:bodyPr>
          <a:lstStyle/>
          <a:p>
            <a:r>
              <a:rPr lang="en-AU" dirty="0" smtClean="0"/>
              <a:t>First, a word about labelling triangles……</a:t>
            </a:r>
            <a:endParaRPr lang="en-US" dirty="0"/>
          </a:p>
        </p:txBody>
      </p:sp>
      <p:sp>
        <p:nvSpPr>
          <p:cNvPr id="13" name="TextBox 12"/>
          <p:cNvSpPr txBox="1"/>
          <p:nvPr/>
        </p:nvSpPr>
        <p:spPr>
          <a:xfrm>
            <a:off x="467544" y="2996952"/>
            <a:ext cx="5472608" cy="646331"/>
          </a:xfrm>
          <a:prstGeom prst="rect">
            <a:avLst/>
          </a:prstGeom>
          <a:noFill/>
        </p:spPr>
        <p:txBody>
          <a:bodyPr wrap="square" rtlCol="0">
            <a:spAutoFit/>
          </a:bodyPr>
          <a:lstStyle/>
          <a:p>
            <a:r>
              <a:rPr lang="en-AU" dirty="0" smtClean="0"/>
              <a:t>The </a:t>
            </a:r>
            <a:r>
              <a:rPr lang="en-AU" b="1" u="sng" dirty="0" smtClean="0"/>
              <a:t>vertices </a:t>
            </a:r>
            <a:r>
              <a:rPr lang="en-AU" dirty="0" smtClean="0"/>
              <a:t>(corners) of a triangle are usually labelled using capital letters, for example A, B, C</a:t>
            </a:r>
            <a:endParaRPr lang="en-US" dirty="0"/>
          </a:p>
        </p:txBody>
      </p:sp>
      <p:sp>
        <p:nvSpPr>
          <p:cNvPr id="14" name="TextBox 13"/>
          <p:cNvSpPr txBox="1"/>
          <p:nvPr/>
        </p:nvSpPr>
        <p:spPr>
          <a:xfrm>
            <a:off x="467544" y="3790781"/>
            <a:ext cx="5472608" cy="923330"/>
          </a:xfrm>
          <a:prstGeom prst="rect">
            <a:avLst/>
          </a:prstGeom>
          <a:noFill/>
        </p:spPr>
        <p:txBody>
          <a:bodyPr wrap="square" rtlCol="0">
            <a:spAutoFit/>
          </a:bodyPr>
          <a:lstStyle/>
          <a:p>
            <a:r>
              <a:rPr lang="en-AU" dirty="0" smtClean="0"/>
              <a:t>The </a:t>
            </a:r>
            <a:r>
              <a:rPr lang="en-AU" b="1" u="sng" dirty="0" smtClean="0"/>
              <a:t>sides</a:t>
            </a:r>
            <a:r>
              <a:rPr lang="en-AU" b="1" dirty="0" smtClean="0"/>
              <a:t> </a:t>
            </a:r>
            <a:r>
              <a:rPr lang="en-AU" dirty="0" smtClean="0"/>
              <a:t>of the triangle are usually labelled using lower case letters, in this case, </a:t>
            </a:r>
            <a:r>
              <a:rPr lang="en-AU" i="1" dirty="0" smtClean="0"/>
              <a:t>a, b </a:t>
            </a:r>
            <a:r>
              <a:rPr lang="en-AU" dirty="0" smtClean="0"/>
              <a:t>and </a:t>
            </a:r>
            <a:r>
              <a:rPr lang="en-AU" i="1" dirty="0" smtClean="0"/>
              <a:t>c</a:t>
            </a:r>
            <a:r>
              <a:rPr lang="en-AU" dirty="0" smtClean="0"/>
              <a:t>, and are positioned opposite the respective vertices. So</a:t>
            </a:r>
            <a:endParaRPr lang="en-US" dirty="0"/>
          </a:p>
        </p:txBody>
      </p:sp>
      <p:sp>
        <p:nvSpPr>
          <p:cNvPr id="15" name="TextBox 14"/>
          <p:cNvSpPr txBox="1"/>
          <p:nvPr/>
        </p:nvSpPr>
        <p:spPr>
          <a:xfrm>
            <a:off x="1043608" y="4941168"/>
            <a:ext cx="4248472" cy="369332"/>
          </a:xfrm>
          <a:prstGeom prst="rect">
            <a:avLst/>
          </a:prstGeom>
          <a:noFill/>
        </p:spPr>
        <p:txBody>
          <a:bodyPr wrap="square" rtlCol="0">
            <a:spAutoFit/>
          </a:bodyPr>
          <a:lstStyle/>
          <a:p>
            <a:r>
              <a:rPr lang="en-AU" dirty="0" smtClean="0">
                <a:solidFill>
                  <a:srgbClr val="0000FF"/>
                </a:solidFill>
              </a:rPr>
              <a:t>Side </a:t>
            </a:r>
            <a:r>
              <a:rPr lang="en-AU" i="1" dirty="0" smtClean="0">
                <a:solidFill>
                  <a:srgbClr val="0000FF"/>
                </a:solidFill>
              </a:rPr>
              <a:t>a</a:t>
            </a:r>
            <a:r>
              <a:rPr lang="en-AU" dirty="0" smtClean="0">
                <a:solidFill>
                  <a:srgbClr val="0000FF"/>
                </a:solidFill>
              </a:rPr>
              <a:t> will be opposite vertex A</a:t>
            </a:r>
            <a:endParaRPr lang="en-US" dirty="0">
              <a:solidFill>
                <a:srgbClr val="0000FF"/>
              </a:solidFill>
            </a:endParaRPr>
          </a:p>
        </p:txBody>
      </p:sp>
      <p:sp>
        <p:nvSpPr>
          <p:cNvPr id="16" name="TextBox 15"/>
          <p:cNvSpPr txBox="1"/>
          <p:nvPr/>
        </p:nvSpPr>
        <p:spPr>
          <a:xfrm>
            <a:off x="7812360" y="2204864"/>
            <a:ext cx="720080" cy="369332"/>
          </a:xfrm>
          <a:prstGeom prst="rect">
            <a:avLst/>
          </a:prstGeom>
          <a:noFill/>
        </p:spPr>
        <p:txBody>
          <a:bodyPr wrap="square" rtlCol="0">
            <a:spAutoFit/>
          </a:bodyPr>
          <a:lstStyle/>
          <a:p>
            <a:r>
              <a:rPr lang="en-AU" i="1" dirty="0" smtClean="0">
                <a:solidFill>
                  <a:srgbClr val="0000FF"/>
                </a:solidFill>
              </a:rPr>
              <a:t>a</a:t>
            </a:r>
            <a:endParaRPr lang="en-US" i="1" dirty="0">
              <a:solidFill>
                <a:srgbClr val="0000FF"/>
              </a:solidFill>
            </a:endParaRPr>
          </a:p>
        </p:txBody>
      </p:sp>
      <p:sp>
        <p:nvSpPr>
          <p:cNvPr id="17" name="TextBox 16"/>
          <p:cNvSpPr txBox="1"/>
          <p:nvPr/>
        </p:nvSpPr>
        <p:spPr>
          <a:xfrm>
            <a:off x="1043608" y="5291916"/>
            <a:ext cx="4248472" cy="369332"/>
          </a:xfrm>
          <a:prstGeom prst="rect">
            <a:avLst/>
          </a:prstGeom>
          <a:noFill/>
        </p:spPr>
        <p:txBody>
          <a:bodyPr wrap="square" rtlCol="0">
            <a:spAutoFit/>
          </a:bodyPr>
          <a:lstStyle/>
          <a:p>
            <a:r>
              <a:rPr lang="en-AU" dirty="0" smtClean="0">
                <a:solidFill>
                  <a:srgbClr val="006600"/>
                </a:solidFill>
              </a:rPr>
              <a:t>Side </a:t>
            </a:r>
            <a:r>
              <a:rPr lang="en-AU" i="1" dirty="0">
                <a:solidFill>
                  <a:srgbClr val="006600"/>
                </a:solidFill>
              </a:rPr>
              <a:t>b</a:t>
            </a:r>
            <a:r>
              <a:rPr lang="en-AU" dirty="0" smtClean="0">
                <a:solidFill>
                  <a:srgbClr val="006600"/>
                </a:solidFill>
              </a:rPr>
              <a:t> will be opposite vertex B</a:t>
            </a:r>
            <a:endParaRPr lang="en-US" dirty="0">
              <a:solidFill>
                <a:srgbClr val="006600"/>
              </a:solidFill>
            </a:endParaRPr>
          </a:p>
        </p:txBody>
      </p:sp>
      <p:sp>
        <p:nvSpPr>
          <p:cNvPr id="18" name="TextBox 17"/>
          <p:cNvSpPr txBox="1"/>
          <p:nvPr/>
        </p:nvSpPr>
        <p:spPr>
          <a:xfrm>
            <a:off x="5292080" y="2276872"/>
            <a:ext cx="864096" cy="369332"/>
          </a:xfrm>
          <a:prstGeom prst="rect">
            <a:avLst/>
          </a:prstGeom>
          <a:noFill/>
        </p:spPr>
        <p:txBody>
          <a:bodyPr wrap="square" rtlCol="0">
            <a:spAutoFit/>
          </a:bodyPr>
          <a:lstStyle/>
          <a:p>
            <a:r>
              <a:rPr lang="en-AU" i="1" dirty="0" smtClean="0">
                <a:solidFill>
                  <a:srgbClr val="006600"/>
                </a:solidFill>
              </a:rPr>
              <a:t>b</a:t>
            </a:r>
            <a:endParaRPr lang="en-US" i="1" dirty="0">
              <a:solidFill>
                <a:srgbClr val="006600"/>
              </a:solidFill>
            </a:endParaRPr>
          </a:p>
        </p:txBody>
      </p:sp>
      <p:sp>
        <p:nvSpPr>
          <p:cNvPr id="19" name="TextBox 18"/>
          <p:cNvSpPr txBox="1"/>
          <p:nvPr/>
        </p:nvSpPr>
        <p:spPr>
          <a:xfrm>
            <a:off x="1043608" y="5651956"/>
            <a:ext cx="4248472" cy="369332"/>
          </a:xfrm>
          <a:prstGeom prst="rect">
            <a:avLst/>
          </a:prstGeom>
          <a:noFill/>
        </p:spPr>
        <p:txBody>
          <a:bodyPr wrap="square" rtlCol="0">
            <a:spAutoFit/>
          </a:bodyPr>
          <a:lstStyle/>
          <a:p>
            <a:r>
              <a:rPr lang="en-AU" dirty="0" smtClean="0">
                <a:solidFill>
                  <a:srgbClr val="FF0000"/>
                </a:solidFill>
              </a:rPr>
              <a:t>Side </a:t>
            </a:r>
            <a:r>
              <a:rPr lang="en-AU" i="1" dirty="0" smtClean="0">
                <a:solidFill>
                  <a:srgbClr val="FF0000"/>
                </a:solidFill>
              </a:rPr>
              <a:t>c</a:t>
            </a:r>
            <a:r>
              <a:rPr lang="en-AU" dirty="0" smtClean="0">
                <a:solidFill>
                  <a:srgbClr val="FF0000"/>
                </a:solidFill>
              </a:rPr>
              <a:t> will be opposite vertex C</a:t>
            </a:r>
            <a:endParaRPr lang="en-US" dirty="0">
              <a:solidFill>
                <a:srgbClr val="FF0000"/>
              </a:solidFill>
            </a:endParaRPr>
          </a:p>
        </p:txBody>
      </p:sp>
      <p:sp>
        <p:nvSpPr>
          <p:cNvPr id="20" name="TextBox 19"/>
          <p:cNvSpPr txBox="1"/>
          <p:nvPr/>
        </p:nvSpPr>
        <p:spPr>
          <a:xfrm>
            <a:off x="6012160" y="1124744"/>
            <a:ext cx="936104" cy="369332"/>
          </a:xfrm>
          <a:prstGeom prst="rect">
            <a:avLst/>
          </a:prstGeom>
          <a:noFill/>
        </p:spPr>
        <p:txBody>
          <a:bodyPr wrap="square" rtlCol="0">
            <a:spAutoFit/>
          </a:bodyPr>
          <a:lstStyle/>
          <a:p>
            <a:r>
              <a:rPr lang="en-AU" i="1" dirty="0">
                <a:solidFill>
                  <a:srgbClr val="FF0000"/>
                </a:solidFill>
              </a:rPr>
              <a:t>c</a:t>
            </a:r>
            <a:endParaRPr lang="en-US" i="1" dirty="0">
              <a:solidFill>
                <a:srgbClr val="FF0000"/>
              </a:solidFill>
            </a:endParaRPr>
          </a:p>
        </p:txBody>
      </p:sp>
      <p:sp>
        <p:nvSpPr>
          <p:cNvPr id="21" name="TextBox 20"/>
          <p:cNvSpPr txBox="1"/>
          <p:nvPr/>
        </p:nvSpPr>
        <p:spPr>
          <a:xfrm>
            <a:off x="5508104" y="4005064"/>
            <a:ext cx="2592288" cy="369332"/>
          </a:xfrm>
          <a:prstGeom prst="rect">
            <a:avLst/>
          </a:prstGeom>
          <a:noFill/>
        </p:spPr>
        <p:txBody>
          <a:bodyPr wrap="square" rtlCol="0">
            <a:spAutoFit/>
          </a:bodyPr>
          <a:lstStyle/>
          <a:p>
            <a:r>
              <a:rPr lang="en-AU" b="1" dirty="0" smtClean="0">
                <a:solidFill>
                  <a:srgbClr val="FF0000"/>
                </a:solidFill>
              </a:rPr>
              <a:t>IMPORTANT!!</a:t>
            </a:r>
            <a:endParaRPr lang="en-US" b="1" dirty="0">
              <a:solidFill>
                <a:srgbClr val="FF0000"/>
              </a:solidFill>
            </a:endParaRPr>
          </a:p>
        </p:txBody>
      </p:sp>
      <p:sp>
        <p:nvSpPr>
          <p:cNvPr id="22" name="TextBox 21"/>
          <p:cNvSpPr txBox="1"/>
          <p:nvPr/>
        </p:nvSpPr>
        <p:spPr>
          <a:xfrm>
            <a:off x="5436096" y="4941168"/>
            <a:ext cx="3312368" cy="1323439"/>
          </a:xfrm>
          <a:prstGeom prst="rect">
            <a:avLst/>
          </a:prstGeom>
          <a:noFill/>
        </p:spPr>
        <p:txBody>
          <a:bodyPr wrap="square" rtlCol="0">
            <a:spAutoFit/>
          </a:bodyPr>
          <a:lstStyle/>
          <a:p>
            <a:r>
              <a:rPr lang="en-AU" sz="1600" dirty="0" smtClean="0"/>
              <a:t>Note also that side </a:t>
            </a:r>
            <a:r>
              <a:rPr lang="en-AU" sz="1600" i="1" dirty="0" smtClean="0"/>
              <a:t>a</a:t>
            </a:r>
            <a:r>
              <a:rPr lang="en-AU" sz="1600" dirty="0" smtClean="0"/>
              <a:t> could also be called BC as it connects vertex B to vertex C etc….</a:t>
            </a:r>
          </a:p>
          <a:p>
            <a:r>
              <a:rPr lang="en-AU" sz="1600" dirty="0" smtClean="0"/>
              <a:t>(We won’t be using this labelling system in this unit of work)</a:t>
            </a:r>
            <a:endParaRPr lang="en-US" sz="1600" dirty="0"/>
          </a:p>
        </p:txBody>
      </p:sp>
      <p:cxnSp>
        <p:nvCxnSpPr>
          <p:cNvPr id="24" name="Straight Arrow Connector 23"/>
          <p:cNvCxnSpPr>
            <a:stCxn id="16" idx="1"/>
          </p:cNvCxnSpPr>
          <p:nvPr/>
        </p:nvCxnSpPr>
        <p:spPr>
          <a:xfrm flipH="1" flipV="1">
            <a:off x="4211960" y="1484784"/>
            <a:ext cx="3600400" cy="904746"/>
          </a:xfrm>
          <a:prstGeom prst="straightConnector1">
            <a:avLst/>
          </a:prstGeom>
          <a:ln w="47625">
            <a:solidFill>
              <a:srgbClr val="0000FF"/>
            </a:solidFill>
            <a:prstDash val="sys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amond(in)">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amond(in)">
                                      <p:cBhvr>
                                        <p:cTn id="28" dur="2000"/>
                                        <p:tgtEl>
                                          <p:spTgt spid="14"/>
                                        </p:tgtEl>
                                      </p:cBhvr>
                                    </p:animEffect>
                                  </p:childTnLst>
                                </p:cTn>
                              </p:par>
                            </p:childTnLst>
                          </p:cTn>
                        </p:par>
                        <p:par>
                          <p:cTn id="29" fill="hold">
                            <p:stCondLst>
                              <p:cond delay="2000"/>
                            </p:stCondLst>
                            <p:childTnLst>
                              <p:par>
                                <p:cTn id="30" presetID="2" presetClass="entr" presetSubtype="4"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dissolve">
                                      <p:cBhvr>
                                        <p:cTn id="38" dur="500"/>
                                        <p:tgtEl>
                                          <p:spTgt spid="15"/>
                                        </p:tgtEl>
                                      </p:cBhvr>
                                    </p:animEffect>
                                  </p:childTnLst>
                                </p:cTn>
                              </p:par>
                            </p:childTnLst>
                          </p:cTn>
                        </p:par>
                        <p:par>
                          <p:cTn id="39" fill="hold">
                            <p:stCondLst>
                              <p:cond delay="500"/>
                            </p:stCondLst>
                            <p:childTnLst>
                              <p:par>
                                <p:cTn id="40" presetID="2" presetClass="entr" presetSubtype="4"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par>
                          <p:cTn id="44" fill="hold">
                            <p:stCondLst>
                              <p:cond delay="1000"/>
                            </p:stCondLst>
                            <p:childTnLst>
                              <p:par>
                                <p:cTn id="45" presetID="22" presetClass="entr" presetSubtype="4"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2000"/>
                                        <p:tgtEl>
                                          <p:spTgt spid="24"/>
                                        </p:tgtEl>
                                      </p:cBhvr>
                                    </p:animEffect>
                                  </p:childTnLst>
                                </p:cTn>
                              </p:par>
                            </p:childTnLst>
                          </p:cTn>
                        </p:par>
                        <p:par>
                          <p:cTn id="48" fill="hold">
                            <p:stCondLst>
                              <p:cond delay="3000"/>
                            </p:stCondLst>
                            <p:childTnLst>
                              <p:par>
                                <p:cTn id="49" presetID="2" presetClass="exit" presetSubtype="4" fill="hold" nodeType="afterEffect">
                                  <p:stCondLst>
                                    <p:cond delay="5000"/>
                                  </p:stCondLst>
                                  <p:childTnLst>
                                    <p:anim calcmode="lin" valueType="num">
                                      <p:cBhvr additive="base">
                                        <p:cTn id="50" dur="2000"/>
                                        <p:tgtEl>
                                          <p:spTgt spid="24"/>
                                        </p:tgtEl>
                                        <p:attrNameLst>
                                          <p:attrName>ppt_x</p:attrName>
                                        </p:attrNameLst>
                                      </p:cBhvr>
                                      <p:tavLst>
                                        <p:tav tm="0">
                                          <p:val>
                                            <p:strVal val="ppt_x"/>
                                          </p:val>
                                        </p:tav>
                                        <p:tav tm="100000">
                                          <p:val>
                                            <p:strVal val="ppt_x"/>
                                          </p:val>
                                        </p:tav>
                                      </p:tavLst>
                                    </p:anim>
                                    <p:anim calcmode="lin" valueType="num">
                                      <p:cBhvr additive="base">
                                        <p:cTn id="51" dur="2000"/>
                                        <p:tgtEl>
                                          <p:spTgt spid="24"/>
                                        </p:tgtEl>
                                        <p:attrNameLst>
                                          <p:attrName>ppt_y</p:attrName>
                                        </p:attrNameLst>
                                      </p:cBhvr>
                                      <p:tavLst>
                                        <p:tav tm="0">
                                          <p:val>
                                            <p:strVal val="ppt_y"/>
                                          </p:val>
                                        </p:tav>
                                        <p:tav tm="100000">
                                          <p:val>
                                            <p:strVal val="1+ppt_h/2"/>
                                          </p:val>
                                        </p:tav>
                                      </p:tavLst>
                                    </p:anim>
                                    <p:set>
                                      <p:cBhvr>
                                        <p:cTn id="52" dur="1" fill="hold">
                                          <p:stCondLst>
                                            <p:cond delay="1999"/>
                                          </p:stCondLst>
                                        </p:cTn>
                                        <p:tgtEl>
                                          <p:spTgt spid="2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8" presetClass="entr" presetSubtype="16"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diamond(in)">
                                      <p:cBhvr>
                                        <p:cTn id="57" dur="2000"/>
                                        <p:tgtEl>
                                          <p:spTgt spid="17"/>
                                        </p:tgtEl>
                                      </p:cBhvr>
                                    </p:animEffect>
                                  </p:childTnLst>
                                </p:cTn>
                              </p:par>
                            </p:childTnLst>
                          </p:cTn>
                        </p:par>
                        <p:par>
                          <p:cTn id="58" fill="hold">
                            <p:stCondLst>
                              <p:cond delay="2000"/>
                            </p:stCondLst>
                            <p:childTnLst>
                              <p:par>
                                <p:cTn id="59" presetID="2" presetClass="entr" presetSubtype="4" fill="hold" grpId="0" nodeType="after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8" presetClass="entr" presetSubtype="16"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diamond(in)">
                                      <p:cBhvr>
                                        <p:cTn id="67" dur="2000"/>
                                        <p:tgtEl>
                                          <p:spTgt spid="19"/>
                                        </p:tgtEl>
                                      </p:cBhvr>
                                    </p:animEffect>
                                  </p:childTnLst>
                                </p:cTn>
                              </p:par>
                            </p:childTnLst>
                          </p:cTn>
                        </p:par>
                        <p:par>
                          <p:cTn id="68" fill="hold">
                            <p:stCondLst>
                              <p:cond delay="2000"/>
                            </p:stCondLst>
                            <p:childTnLst>
                              <p:par>
                                <p:cTn id="69" presetID="2" presetClass="entr" presetSubtype="4"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8" presetClass="entr" presetSubtype="16"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diamond(in)">
                                      <p:cBhvr>
                                        <p:cTn id="7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3" grpId="0"/>
      <p:bldP spid="14" grpId="0"/>
      <p:bldP spid="15" grpId="0"/>
      <p:bldP spid="16" grpId="0"/>
      <p:bldP spid="17" grpId="0"/>
      <p:bldP spid="18" grpId="0"/>
      <p:bldP spid="19" grpId="0"/>
      <p:bldP spid="20" grpId="0"/>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3648" y="1268760"/>
            <a:ext cx="6666890" cy="1754326"/>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A quick overview of </a:t>
            </a:r>
          </a:p>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the two rules</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3" name="TextBox 2"/>
          <p:cNvSpPr txBox="1"/>
          <p:nvPr/>
        </p:nvSpPr>
        <p:spPr>
          <a:xfrm>
            <a:off x="1043608" y="3717032"/>
            <a:ext cx="7560840" cy="369332"/>
          </a:xfrm>
          <a:prstGeom prst="rect">
            <a:avLst/>
          </a:prstGeom>
          <a:noFill/>
        </p:spPr>
        <p:txBody>
          <a:bodyPr wrap="square" rtlCol="0">
            <a:spAutoFit/>
          </a:bodyPr>
          <a:lstStyle/>
          <a:p>
            <a:r>
              <a:rPr lang="en-AU" dirty="0" smtClean="0"/>
              <a:t>We will look at the two rules very briefly before starting to use them!</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548680"/>
            <a:ext cx="5455341" cy="92333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5400" b="1" cap="all"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itchFamily="34" charset="0"/>
                <a:cs typeface="Arial" pitchFamily="34" charset="0"/>
              </a:rPr>
              <a:t>The Sine Rule</a:t>
            </a:r>
            <a:endParaRPr lang="en-US" sz="5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itchFamily="34" charset="0"/>
              <a:cs typeface="Arial" pitchFamily="34" charset="0"/>
            </a:endParaRPr>
          </a:p>
        </p:txBody>
      </p:sp>
      <p:grpSp>
        <p:nvGrpSpPr>
          <p:cNvPr id="21" name="Group 20"/>
          <p:cNvGrpSpPr/>
          <p:nvPr/>
        </p:nvGrpSpPr>
        <p:grpSpPr>
          <a:xfrm>
            <a:off x="3419872" y="1835532"/>
            <a:ext cx="5472608" cy="2538864"/>
            <a:chOff x="3419872" y="1835532"/>
            <a:chExt cx="5472608" cy="2538864"/>
          </a:xfrm>
        </p:grpSpPr>
        <p:grpSp>
          <p:nvGrpSpPr>
            <p:cNvPr id="16" name="Group 15"/>
            <p:cNvGrpSpPr/>
            <p:nvPr/>
          </p:nvGrpSpPr>
          <p:grpSpPr>
            <a:xfrm>
              <a:off x="3419872" y="1844824"/>
              <a:ext cx="5472608" cy="2529572"/>
              <a:chOff x="3419872" y="1844824"/>
              <a:chExt cx="5472608" cy="2529572"/>
            </a:xfrm>
          </p:grpSpPr>
          <p:grpSp>
            <p:nvGrpSpPr>
              <p:cNvPr id="12" name="Group 11"/>
              <p:cNvGrpSpPr/>
              <p:nvPr/>
            </p:nvGrpSpPr>
            <p:grpSpPr>
              <a:xfrm>
                <a:off x="3635896" y="2132856"/>
                <a:ext cx="4824536" cy="1872208"/>
                <a:chOff x="5868144" y="2132856"/>
                <a:chExt cx="2592288" cy="576064"/>
              </a:xfrm>
            </p:grpSpPr>
            <p:cxnSp>
              <p:nvCxnSpPr>
                <p:cNvPr id="7" name="Straight Connector 6"/>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3419872" y="1844824"/>
                <a:ext cx="504056" cy="369332"/>
              </a:xfrm>
              <a:prstGeom prst="rect">
                <a:avLst/>
              </a:prstGeom>
              <a:noFill/>
            </p:spPr>
            <p:txBody>
              <a:bodyPr wrap="square" rtlCol="0">
                <a:spAutoFit/>
              </a:bodyPr>
              <a:lstStyle/>
              <a:p>
                <a:r>
                  <a:rPr lang="en-AU" dirty="0" smtClean="0"/>
                  <a:t>A</a:t>
                </a:r>
                <a:endParaRPr lang="en-US" dirty="0"/>
              </a:p>
            </p:txBody>
          </p:sp>
          <p:sp>
            <p:nvSpPr>
              <p:cNvPr id="14" name="TextBox 13"/>
              <p:cNvSpPr txBox="1"/>
              <p:nvPr/>
            </p:nvSpPr>
            <p:spPr>
              <a:xfrm>
                <a:off x="8388424" y="1844824"/>
                <a:ext cx="504056" cy="369332"/>
              </a:xfrm>
              <a:prstGeom prst="rect">
                <a:avLst/>
              </a:prstGeom>
              <a:noFill/>
            </p:spPr>
            <p:txBody>
              <a:bodyPr wrap="square" rtlCol="0">
                <a:spAutoFit/>
              </a:bodyPr>
              <a:lstStyle/>
              <a:p>
                <a:r>
                  <a:rPr lang="en-AU" dirty="0"/>
                  <a:t>B</a:t>
                </a:r>
                <a:endParaRPr lang="en-US" dirty="0"/>
              </a:p>
            </p:txBody>
          </p:sp>
          <p:sp>
            <p:nvSpPr>
              <p:cNvPr id="15" name="TextBox 14"/>
              <p:cNvSpPr txBox="1"/>
              <p:nvPr/>
            </p:nvSpPr>
            <p:spPr>
              <a:xfrm>
                <a:off x="6732240" y="4005064"/>
                <a:ext cx="504056" cy="369332"/>
              </a:xfrm>
              <a:prstGeom prst="rect">
                <a:avLst/>
              </a:prstGeom>
              <a:noFill/>
            </p:spPr>
            <p:txBody>
              <a:bodyPr wrap="square" rtlCol="0">
                <a:spAutoFit/>
              </a:bodyPr>
              <a:lstStyle/>
              <a:p>
                <a:r>
                  <a:rPr lang="en-AU" dirty="0"/>
                  <a:t>C</a:t>
                </a:r>
                <a:endParaRPr lang="en-US" dirty="0"/>
              </a:p>
            </p:txBody>
          </p:sp>
        </p:grpSp>
        <p:sp>
          <p:nvSpPr>
            <p:cNvPr id="17" name="TextBox 16"/>
            <p:cNvSpPr txBox="1"/>
            <p:nvPr/>
          </p:nvSpPr>
          <p:spPr>
            <a:xfrm>
              <a:off x="7596336" y="2915652"/>
              <a:ext cx="720080" cy="369332"/>
            </a:xfrm>
            <a:prstGeom prst="rect">
              <a:avLst/>
            </a:prstGeom>
            <a:noFill/>
          </p:spPr>
          <p:txBody>
            <a:bodyPr wrap="square" rtlCol="0">
              <a:spAutoFit/>
            </a:bodyPr>
            <a:lstStyle/>
            <a:p>
              <a:r>
                <a:rPr lang="en-AU" i="1" dirty="0" smtClean="0">
                  <a:solidFill>
                    <a:srgbClr val="0000FF"/>
                  </a:solidFill>
                </a:rPr>
                <a:t>a</a:t>
              </a:r>
              <a:endParaRPr lang="en-US" i="1" dirty="0">
                <a:solidFill>
                  <a:srgbClr val="0000FF"/>
                </a:solidFill>
              </a:endParaRPr>
            </a:p>
          </p:txBody>
        </p:sp>
        <p:sp>
          <p:nvSpPr>
            <p:cNvPr id="18" name="TextBox 17"/>
            <p:cNvSpPr txBox="1"/>
            <p:nvPr/>
          </p:nvSpPr>
          <p:spPr>
            <a:xfrm>
              <a:off x="5076056" y="2987660"/>
              <a:ext cx="864096" cy="369332"/>
            </a:xfrm>
            <a:prstGeom prst="rect">
              <a:avLst/>
            </a:prstGeom>
            <a:noFill/>
          </p:spPr>
          <p:txBody>
            <a:bodyPr wrap="square" rtlCol="0">
              <a:spAutoFit/>
            </a:bodyPr>
            <a:lstStyle/>
            <a:p>
              <a:r>
                <a:rPr lang="en-AU" i="1" dirty="0" smtClean="0">
                  <a:solidFill>
                    <a:srgbClr val="006600"/>
                  </a:solidFill>
                </a:rPr>
                <a:t>b</a:t>
              </a:r>
              <a:endParaRPr lang="en-US" i="1" dirty="0">
                <a:solidFill>
                  <a:srgbClr val="006600"/>
                </a:solidFill>
              </a:endParaRPr>
            </a:p>
          </p:txBody>
        </p:sp>
        <p:sp>
          <p:nvSpPr>
            <p:cNvPr id="19" name="TextBox 18"/>
            <p:cNvSpPr txBox="1"/>
            <p:nvPr/>
          </p:nvSpPr>
          <p:spPr>
            <a:xfrm>
              <a:off x="5796136" y="1835532"/>
              <a:ext cx="936104" cy="369332"/>
            </a:xfrm>
            <a:prstGeom prst="rect">
              <a:avLst/>
            </a:prstGeom>
            <a:noFill/>
          </p:spPr>
          <p:txBody>
            <a:bodyPr wrap="square" rtlCol="0">
              <a:spAutoFit/>
            </a:bodyPr>
            <a:lstStyle/>
            <a:p>
              <a:r>
                <a:rPr lang="en-AU" i="1" dirty="0">
                  <a:solidFill>
                    <a:srgbClr val="FF0000"/>
                  </a:solidFill>
                </a:rPr>
                <a:t>c</a:t>
              </a:r>
              <a:endParaRPr lang="en-US" i="1" dirty="0">
                <a:solidFill>
                  <a:srgbClr val="FF0000"/>
                </a:solidFill>
              </a:endParaRPr>
            </a:p>
          </p:txBody>
        </p:sp>
      </p:grpSp>
      <p:sp>
        <p:nvSpPr>
          <p:cNvPr id="22" name="TextBox 21"/>
          <p:cNvSpPr txBox="1"/>
          <p:nvPr/>
        </p:nvSpPr>
        <p:spPr>
          <a:xfrm>
            <a:off x="395536" y="2996952"/>
            <a:ext cx="3960440" cy="646331"/>
          </a:xfrm>
          <a:prstGeom prst="rect">
            <a:avLst/>
          </a:prstGeom>
          <a:noFill/>
        </p:spPr>
        <p:txBody>
          <a:bodyPr wrap="square" rtlCol="0">
            <a:spAutoFit/>
          </a:bodyPr>
          <a:lstStyle/>
          <a:p>
            <a:r>
              <a:rPr lang="en-AU" dirty="0" smtClean="0"/>
              <a:t>The Sine Rule states that in any triangle ABC….</a:t>
            </a:r>
            <a:endParaRPr lang="en-US" dirty="0"/>
          </a:p>
        </p:txBody>
      </p:sp>
      <p:graphicFrame>
        <p:nvGraphicFramePr>
          <p:cNvPr id="23" name="Object 22"/>
          <p:cNvGraphicFramePr>
            <a:graphicFrameLocks noChangeAspect="1"/>
          </p:cNvGraphicFramePr>
          <p:nvPr/>
        </p:nvGraphicFramePr>
        <p:xfrm>
          <a:off x="2051720" y="3501008"/>
          <a:ext cx="3447093" cy="1008112"/>
        </p:xfrm>
        <a:graphic>
          <a:graphicData uri="http://schemas.openxmlformats.org/presentationml/2006/ole">
            <p:oleObj spid="_x0000_s1026" name="Equation" r:id="rId3" imgW="1346040" imgH="393480" progId="Equation.3">
              <p:embed/>
            </p:oleObj>
          </a:graphicData>
        </a:graphic>
      </p:graphicFrame>
      <p:sp>
        <p:nvSpPr>
          <p:cNvPr id="24" name="TextBox 23"/>
          <p:cNvSpPr txBox="1"/>
          <p:nvPr/>
        </p:nvSpPr>
        <p:spPr>
          <a:xfrm>
            <a:off x="395536" y="4725144"/>
            <a:ext cx="7992888" cy="646331"/>
          </a:xfrm>
          <a:prstGeom prst="rect">
            <a:avLst/>
          </a:prstGeom>
          <a:noFill/>
        </p:spPr>
        <p:txBody>
          <a:bodyPr wrap="square" rtlCol="0">
            <a:spAutoFit/>
          </a:bodyPr>
          <a:lstStyle/>
          <a:p>
            <a:r>
              <a:rPr lang="en-AU" dirty="0" smtClean="0"/>
              <a:t>This is the general formula for the sine rule.  </a:t>
            </a:r>
            <a:r>
              <a:rPr lang="en-AU" b="1" u="sng" dirty="0" smtClean="0"/>
              <a:t>In reality</a:t>
            </a:r>
            <a:r>
              <a:rPr lang="en-AU" b="1" dirty="0" smtClean="0"/>
              <a:t> </a:t>
            </a:r>
            <a:r>
              <a:rPr lang="en-AU" dirty="0" smtClean="0"/>
              <a:t>however, you will use only two of the three fractions at any one time. So the rule we will be using is</a:t>
            </a:r>
            <a:endParaRPr lang="en-US" dirty="0"/>
          </a:p>
        </p:txBody>
      </p:sp>
      <p:graphicFrame>
        <p:nvGraphicFramePr>
          <p:cNvPr id="1027" name="Object 3"/>
          <p:cNvGraphicFramePr>
            <a:graphicFrameLocks noChangeAspect="1"/>
          </p:cNvGraphicFramePr>
          <p:nvPr/>
        </p:nvGraphicFramePr>
        <p:xfrm>
          <a:off x="2915816" y="5517232"/>
          <a:ext cx="2178050" cy="1008063"/>
        </p:xfrm>
        <a:graphic>
          <a:graphicData uri="http://schemas.openxmlformats.org/presentationml/2006/ole">
            <p:oleObj spid="_x0000_s1027" name="Equation" r:id="rId4" imgW="850680" imgH="393480" progId="Equation.3">
              <p:embed/>
            </p:oleObj>
          </a:graphicData>
        </a:graphic>
      </p:graphicFrame>
      <p:sp>
        <p:nvSpPr>
          <p:cNvPr id="26" name="TextBox 25"/>
          <p:cNvSpPr txBox="1"/>
          <p:nvPr/>
        </p:nvSpPr>
        <p:spPr>
          <a:xfrm>
            <a:off x="6012160" y="5805264"/>
            <a:ext cx="2592288" cy="369332"/>
          </a:xfrm>
          <a:prstGeom prst="rect">
            <a:avLst/>
          </a:prstGeom>
          <a:noFill/>
        </p:spPr>
        <p:txBody>
          <a:bodyPr wrap="square" rtlCol="0">
            <a:spAutoFit/>
          </a:bodyPr>
          <a:lstStyle/>
          <a:p>
            <a:r>
              <a:rPr lang="en-AU" dirty="0" smtClean="0"/>
              <a:t>More on this later!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amond(in)">
                                      <p:cBhvr>
                                        <p:cTn id="7" dur="2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amond(in)">
                                      <p:cBhvr>
                                        <p:cTn id="17" dur="20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027"/>
                                        </p:tgtEl>
                                        <p:attrNameLst>
                                          <p:attrName>style.visibility</p:attrName>
                                        </p:attrNameLst>
                                      </p:cBhvr>
                                      <p:to>
                                        <p:strVal val="visible"/>
                                      </p:to>
                                    </p:set>
                                    <p:animEffect transition="in" filter="diamond(in)">
                                      <p:cBhvr>
                                        <p:cTn id="27" dur="2000"/>
                                        <p:tgtEl>
                                          <p:spTgt spid="1027"/>
                                        </p:tgtEl>
                                      </p:cBhvr>
                                    </p:animEffect>
                                  </p:childTnLst>
                                </p:cTn>
                              </p:par>
                            </p:childTnLst>
                          </p:cTn>
                        </p:par>
                        <p:par>
                          <p:cTn id="28" fill="hold">
                            <p:stCondLst>
                              <p:cond delay="2000"/>
                            </p:stCondLst>
                            <p:childTnLst>
                              <p:par>
                                <p:cTn id="29" presetID="2" presetClass="entr" presetSubtype="4"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1828" y="548680"/>
            <a:ext cx="6494085" cy="92333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5400" b="1" cap="all"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itchFamily="34" charset="0"/>
                <a:cs typeface="Arial" pitchFamily="34" charset="0"/>
              </a:rPr>
              <a:t>The </a:t>
            </a:r>
            <a:r>
              <a:rPr lang="en-US" sz="5400" b="1" cap="all" spc="0" dirty="0" err="1"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itchFamily="34" charset="0"/>
                <a:cs typeface="Arial" pitchFamily="34" charset="0"/>
              </a:rPr>
              <a:t>COSine</a:t>
            </a:r>
            <a:r>
              <a:rPr lang="en-US" sz="5400" b="1" cap="all" spc="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itchFamily="34" charset="0"/>
                <a:cs typeface="Arial" pitchFamily="34" charset="0"/>
              </a:rPr>
              <a:t> Rule</a:t>
            </a:r>
            <a:endParaRPr lang="en-US" sz="5400" b="1" cap="all" spc="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Arial" pitchFamily="34" charset="0"/>
              <a:cs typeface="Arial" pitchFamily="34" charset="0"/>
            </a:endParaRPr>
          </a:p>
        </p:txBody>
      </p:sp>
      <p:grpSp>
        <p:nvGrpSpPr>
          <p:cNvPr id="2" name="Group 20"/>
          <p:cNvGrpSpPr/>
          <p:nvPr/>
        </p:nvGrpSpPr>
        <p:grpSpPr>
          <a:xfrm>
            <a:off x="3419872" y="1835532"/>
            <a:ext cx="5472608" cy="2538864"/>
            <a:chOff x="3419872" y="1835532"/>
            <a:chExt cx="5472608" cy="2538864"/>
          </a:xfrm>
        </p:grpSpPr>
        <p:grpSp>
          <p:nvGrpSpPr>
            <p:cNvPr id="3" name="Group 15"/>
            <p:cNvGrpSpPr/>
            <p:nvPr/>
          </p:nvGrpSpPr>
          <p:grpSpPr>
            <a:xfrm>
              <a:off x="3419872" y="1844824"/>
              <a:ext cx="5472608" cy="2529572"/>
              <a:chOff x="3419872" y="1844824"/>
              <a:chExt cx="5472608" cy="2529572"/>
            </a:xfrm>
          </p:grpSpPr>
          <p:grpSp>
            <p:nvGrpSpPr>
              <p:cNvPr id="4" name="Group 11"/>
              <p:cNvGrpSpPr/>
              <p:nvPr/>
            </p:nvGrpSpPr>
            <p:grpSpPr>
              <a:xfrm>
                <a:off x="3635896" y="2132856"/>
                <a:ext cx="4824536" cy="1872208"/>
                <a:chOff x="5868144" y="2132856"/>
                <a:chExt cx="2592288" cy="576064"/>
              </a:xfrm>
            </p:grpSpPr>
            <p:cxnSp>
              <p:nvCxnSpPr>
                <p:cNvPr id="7" name="Straight Connector 6"/>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3419872" y="1844824"/>
                <a:ext cx="504056" cy="369332"/>
              </a:xfrm>
              <a:prstGeom prst="rect">
                <a:avLst/>
              </a:prstGeom>
              <a:noFill/>
            </p:spPr>
            <p:txBody>
              <a:bodyPr wrap="square" rtlCol="0">
                <a:spAutoFit/>
              </a:bodyPr>
              <a:lstStyle/>
              <a:p>
                <a:r>
                  <a:rPr lang="en-AU" dirty="0" smtClean="0"/>
                  <a:t>A</a:t>
                </a:r>
                <a:endParaRPr lang="en-US" dirty="0"/>
              </a:p>
            </p:txBody>
          </p:sp>
          <p:sp>
            <p:nvSpPr>
              <p:cNvPr id="14" name="TextBox 13"/>
              <p:cNvSpPr txBox="1"/>
              <p:nvPr/>
            </p:nvSpPr>
            <p:spPr>
              <a:xfrm>
                <a:off x="8388424" y="1844824"/>
                <a:ext cx="504056" cy="369332"/>
              </a:xfrm>
              <a:prstGeom prst="rect">
                <a:avLst/>
              </a:prstGeom>
              <a:noFill/>
            </p:spPr>
            <p:txBody>
              <a:bodyPr wrap="square" rtlCol="0">
                <a:spAutoFit/>
              </a:bodyPr>
              <a:lstStyle/>
              <a:p>
                <a:r>
                  <a:rPr lang="en-AU" dirty="0"/>
                  <a:t>B</a:t>
                </a:r>
                <a:endParaRPr lang="en-US" dirty="0"/>
              </a:p>
            </p:txBody>
          </p:sp>
          <p:sp>
            <p:nvSpPr>
              <p:cNvPr id="15" name="TextBox 14"/>
              <p:cNvSpPr txBox="1"/>
              <p:nvPr/>
            </p:nvSpPr>
            <p:spPr>
              <a:xfrm>
                <a:off x="6732240" y="4005064"/>
                <a:ext cx="504056" cy="369332"/>
              </a:xfrm>
              <a:prstGeom prst="rect">
                <a:avLst/>
              </a:prstGeom>
              <a:noFill/>
            </p:spPr>
            <p:txBody>
              <a:bodyPr wrap="square" rtlCol="0">
                <a:spAutoFit/>
              </a:bodyPr>
              <a:lstStyle/>
              <a:p>
                <a:r>
                  <a:rPr lang="en-AU" dirty="0"/>
                  <a:t>C</a:t>
                </a:r>
                <a:endParaRPr lang="en-US" dirty="0"/>
              </a:p>
            </p:txBody>
          </p:sp>
        </p:grpSp>
        <p:sp>
          <p:nvSpPr>
            <p:cNvPr id="17" name="TextBox 16"/>
            <p:cNvSpPr txBox="1"/>
            <p:nvPr/>
          </p:nvSpPr>
          <p:spPr>
            <a:xfrm>
              <a:off x="7596336" y="2915652"/>
              <a:ext cx="720080" cy="369332"/>
            </a:xfrm>
            <a:prstGeom prst="rect">
              <a:avLst/>
            </a:prstGeom>
            <a:noFill/>
          </p:spPr>
          <p:txBody>
            <a:bodyPr wrap="square" rtlCol="0">
              <a:spAutoFit/>
            </a:bodyPr>
            <a:lstStyle/>
            <a:p>
              <a:r>
                <a:rPr lang="en-AU" i="1" dirty="0" smtClean="0">
                  <a:solidFill>
                    <a:srgbClr val="0000FF"/>
                  </a:solidFill>
                </a:rPr>
                <a:t>a</a:t>
              </a:r>
              <a:endParaRPr lang="en-US" i="1" dirty="0">
                <a:solidFill>
                  <a:srgbClr val="0000FF"/>
                </a:solidFill>
              </a:endParaRPr>
            </a:p>
          </p:txBody>
        </p:sp>
        <p:sp>
          <p:nvSpPr>
            <p:cNvPr id="18" name="TextBox 17"/>
            <p:cNvSpPr txBox="1"/>
            <p:nvPr/>
          </p:nvSpPr>
          <p:spPr>
            <a:xfrm>
              <a:off x="5076056" y="2987660"/>
              <a:ext cx="864096" cy="369332"/>
            </a:xfrm>
            <a:prstGeom prst="rect">
              <a:avLst/>
            </a:prstGeom>
            <a:noFill/>
          </p:spPr>
          <p:txBody>
            <a:bodyPr wrap="square" rtlCol="0">
              <a:spAutoFit/>
            </a:bodyPr>
            <a:lstStyle/>
            <a:p>
              <a:r>
                <a:rPr lang="en-AU" i="1" dirty="0" smtClean="0">
                  <a:solidFill>
                    <a:srgbClr val="006600"/>
                  </a:solidFill>
                </a:rPr>
                <a:t>b</a:t>
              </a:r>
              <a:endParaRPr lang="en-US" i="1" dirty="0">
                <a:solidFill>
                  <a:srgbClr val="006600"/>
                </a:solidFill>
              </a:endParaRPr>
            </a:p>
          </p:txBody>
        </p:sp>
        <p:sp>
          <p:nvSpPr>
            <p:cNvPr id="19" name="TextBox 18"/>
            <p:cNvSpPr txBox="1"/>
            <p:nvPr/>
          </p:nvSpPr>
          <p:spPr>
            <a:xfrm>
              <a:off x="5796136" y="1835532"/>
              <a:ext cx="936104" cy="369332"/>
            </a:xfrm>
            <a:prstGeom prst="rect">
              <a:avLst/>
            </a:prstGeom>
            <a:noFill/>
          </p:spPr>
          <p:txBody>
            <a:bodyPr wrap="square" rtlCol="0">
              <a:spAutoFit/>
            </a:bodyPr>
            <a:lstStyle/>
            <a:p>
              <a:r>
                <a:rPr lang="en-AU" i="1" dirty="0">
                  <a:solidFill>
                    <a:srgbClr val="FF0000"/>
                  </a:solidFill>
                </a:rPr>
                <a:t>c</a:t>
              </a:r>
              <a:endParaRPr lang="en-US" i="1" dirty="0">
                <a:solidFill>
                  <a:srgbClr val="FF0000"/>
                </a:solidFill>
              </a:endParaRPr>
            </a:p>
          </p:txBody>
        </p:sp>
      </p:grpSp>
      <p:sp>
        <p:nvSpPr>
          <p:cNvPr id="22" name="TextBox 21"/>
          <p:cNvSpPr txBox="1"/>
          <p:nvPr/>
        </p:nvSpPr>
        <p:spPr>
          <a:xfrm>
            <a:off x="395536" y="2636912"/>
            <a:ext cx="3960440" cy="646331"/>
          </a:xfrm>
          <a:prstGeom prst="rect">
            <a:avLst/>
          </a:prstGeom>
          <a:noFill/>
        </p:spPr>
        <p:txBody>
          <a:bodyPr wrap="square" rtlCol="0">
            <a:spAutoFit/>
          </a:bodyPr>
          <a:lstStyle/>
          <a:p>
            <a:r>
              <a:rPr lang="en-AU" dirty="0" smtClean="0"/>
              <a:t>The Cosine Rule states that in any triangle ABC….</a:t>
            </a:r>
            <a:endParaRPr lang="en-US" dirty="0"/>
          </a:p>
        </p:txBody>
      </p:sp>
      <p:graphicFrame>
        <p:nvGraphicFramePr>
          <p:cNvPr id="23" name="Object 22"/>
          <p:cNvGraphicFramePr>
            <a:graphicFrameLocks noChangeAspect="1"/>
          </p:cNvGraphicFramePr>
          <p:nvPr/>
        </p:nvGraphicFramePr>
        <p:xfrm>
          <a:off x="1475656" y="3429000"/>
          <a:ext cx="3770313" cy="520700"/>
        </p:xfrm>
        <a:graphic>
          <a:graphicData uri="http://schemas.openxmlformats.org/presentationml/2006/ole">
            <p:oleObj spid="_x0000_s2050" name="Equation" r:id="rId3" imgW="1473120" imgH="203040" progId="Equation.3">
              <p:embed/>
            </p:oleObj>
          </a:graphicData>
        </a:graphic>
      </p:graphicFrame>
      <p:sp>
        <p:nvSpPr>
          <p:cNvPr id="20" name="TextBox 19"/>
          <p:cNvSpPr txBox="1"/>
          <p:nvPr/>
        </p:nvSpPr>
        <p:spPr>
          <a:xfrm>
            <a:off x="395536" y="4149080"/>
            <a:ext cx="3960440" cy="923330"/>
          </a:xfrm>
          <a:prstGeom prst="rect">
            <a:avLst/>
          </a:prstGeom>
          <a:noFill/>
        </p:spPr>
        <p:txBody>
          <a:bodyPr wrap="square" rtlCol="0">
            <a:spAutoFit/>
          </a:bodyPr>
          <a:lstStyle/>
          <a:p>
            <a:r>
              <a:rPr lang="en-AU" dirty="0" smtClean="0"/>
              <a:t>This formula has </a:t>
            </a:r>
            <a:r>
              <a:rPr lang="en-AU" i="1" dirty="0" smtClean="0"/>
              <a:t>c</a:t>
            </a:r>
            <a:r>
              <a:rPr lang="en-AU" i="1" baseline="30000" dirty="0" smtClean="0"/>
              <a:t>2</a:t>
            </a:r>
            <a:r>
              <a:rPr lang="en-AU" dirty="0" smtClean="0"/>
              <a:t>  as the subject, but the letters can be interchanged, so it can also be written as </a:t>
            </a:r>
            <a:endParaRPr lang="en-US" dirty="0"/>
          </a:p>
        </p:txBody>
      </p:sp>
      <p:graphicFrame>
        <p:nvGraphicFramePr>
          <p:cNvPr id="2051" name="Object 3"/>
          <p:cNvGraphicFramePr>
            <a:graphicFrameLocks noChangeAspect="1"/>
          </p:cNvGraphicFramePr>
          <p:nvPr/>
        </p:nvGraphicFramePr>
        <p:xfrm>
          <a:off x="1475656" y="5212556"/>
          <a:ext cx="3738563" cy="520700"/>
        </p:xfrm>
        <a:graphic>
          <a:graphicData uri="http://schemas.openxmlformats.org/presentationml/2006/ole">
            <p:oleObj spid="_x0000_s2051" name="Equation" r:id="rId4" imgW="1460160" imgH="203040" progId="Equation.3">
              <p:embed/>
            </p:oleObj>
          </a:graphicData>
        </a:graphic>
      </p:graphicFrame>
      <p:sp>
        <p:nvSpPr>
          <p:cNvPr id="21" name="TextBox 20"/>
          <p:cNvSpPr txBox="1"/>
          <p:nvPr/>
        </p:nvSpPr>
        <p:spPr>
          <a:xfrm>
            <a:off x="467544" y="5877272"/>
            <a:ext cx="792088" cy="369332"/>
          </a:xfrm>
          <a:prstGeom prst="rect">
            <a:avLst/>
          </a:prstGeom>
          <a:noFill/>
        </p:spPr>
        <p:txBody>
          <a:bodyPr wrap="square" rtlCol="0">
            <a:spAutoFit/>
          </a:bodyPr>
          <a:lstStyle/>
          <a:p>
            <a:r>
              <a:rPr lang="en-AU" dirty="0" smtClean="0"/>
              <a:t>or</a:t>
            </a:r>
            <a:endParaRPr lang="en-US" dirty="0"/>
          </a:p>
        </p:txBody>
      </p:sp>
      <p:graphicFrame>
        <p:nvGraphicFramePr>
          <p:cNvPr id="2052" name="Object 4"/>
          <p:cNvGraphicFramePr>
            <a:graphicFrameLocks noChangeAspect="1"/>
          </p:cNvGraphicFramePr>
          <p:nvPr/>
        </p:nvGraphicFramePr>
        <p:xfrm>
          <a:off x="1475656" y="6076652"/>
          <a:ext cx="3738563" cy="520700"/>
        </p:xfrm>
        <a:graphic>
          <a:graphicData uri="http://schemas.openxmlformats.org/presentationml/2006/ole">
            <p:oleObj spid="_x0000_s2052" name="Equation" r:id="rId5" imgW="1460160" imgH="203040" progId="Equation.3">
              <p:embed/>
            </p:oleObj>
          </a:graphicData>
        </a:graphic>
      </p:graphicFrame>
      <p:sp>
        <p:nvSpPr>
          <p:cNvPr id="24" name="TextBox 23"/>
          <p:cNvSpPr txBox="1"/>
          <p:nvPr/>
        </p:nvSpPr>
        <p:spPr>
          <a:xfrm>
            <a:off x="5724128" y="5229200"/>
            <a:ext cx="2736304" cy="1477328"/>
          </a:xfrm>
          <a:prstGeom prst="rect">
            <a:avLst/>
          </a:prstGeom>
          <a:noFill/>
        </p:spPr>
        <p:txBody>
          <a:bodyPr wrap="square" rtlCol="0">
            <a:spAutoFit/>
          </a:bodyPr>
          <a:lstStyle/>
          <a:p>
            <a:r>
              <a:rPr lang="en-AU" b="1" dirty="0" smtClean="0">
                <a:solidFill>
                  <a:srgbClr val="7030A0"/>
                </a:solidFill>
              </a:rPr>
              <a:t>Study the patterns and locations of the letters in the three formulae closely.  More on the cosine rule later!</a:t>
            </a:r>
            <a:endParaRPr lang="en-US" b="1"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amond(in)">
                                      <p:cBhvr>
                                        <p:cTn id="12" dur="2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amond(in)">
                                      <p:cBhvr>
                                        <p:cTn id="17" dur="20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amond(in)">
                                      <p:cBhvr>
                                        <p:cTn id="22" dur="20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051"/>
                                        </p:tgtEl>
                                        <p:attrNameLst>
                                          <p:attrName>style.visibility</p:attrName>
                                        </p:attrNameLst>
                                      </p:cBhvr>
                                      <p:to>
                                        <p:strVal val="visible"/>
                                      </p:to>
                                    </p:set>
                                    <p:animEffect transition="in" filter="dissolve">
                                      <p:cBhvr>
                                        <p:cTn id="27" dur="500"/>
                                        <p:tgtEl>
                                          <p:spTgt spid="2051"/>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par>
                          <p:cTn id="32" fill="hold">
                            <p:stCondLst>
                              <p:cond delay="1000"/>
                            </p:stCondLst>
                            <p:childTnLst>
                              <p:par>
                                <p:cTn id="33" presetID="9" presetClass="entr" presetSubtype="0" fill="hold" nodeType="afterEffect">
                                  <p:stCondLst>
                                    <p:cond delay="0"/>
                                  </p:stCondLst>
                                  <p:childTnLst>
                                    <p:set>
                                      <p:cBhvr>
                                        <p:cTn id="34" dur="1" fill="hold">
                                          <p:stCondLst>
                                            <p:cond delay="0"/>
                                          </p:stCondLst>
                                        </p:cTn>
                                        <p:tgtEl>
                                          <p:spTgt spid="2052"/>
                                        </p:tgtEl>
                                        <p:attrNameLst>
                                          <p:attrName>style.visibility</p:attrName>
                                        </p:attrNameLst>
                                      </p:cBhvr>
                                      <p:to>
                                        <p:strVal val="visible"/>
                                      </p:to>
                                    </p:set>
                                    <p:animEffect transition="in" filter="dissolve">
                                      <p:cBhvr>
                                        <p:cTn id="35" dur="500"/>
                                        <p:tgtEl>
                                          <p:spTgt spid="2052"/>
                                        </p:tgtEl>
                                      </p:cBhvr>
                                    </p:animEffect>
                                  </p:childTnLst>
                                </p:cTn>
                              </p:par>
                            </p:childTnLst>
                          </p:cTn>
                        </p:par>
                        <p:par>
                          <p:cTn id="36" fill="hold">
                            <p:stCondLst>
                              <p:cond delay="1500"/>
                            </p:stCondLst>
                            <p:childTnLst>
                              <p:par>
                                <p:cTn id="37" presetID="9"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0" grpId="0"/>
      <p:bldP spid="21" grpId="0"/>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2204864"/>
            <a:ext cx="7560840" cy="1569660"/>
          </a:xfrm>
          <a:prstGeom prst="rect">
            <a:avLst/>
          </a:prstGeom>
          <a:noFill/>
        </p:spPr>
        <p:txBody>
          <a:bodyPr wrap="square" rtlCol="0">
            <a:spAutoFit/>
          </a:bodyPr>
          <a:lstStyle/>
          <a:p>
            <a:pPr algn="ctr"/>
            <a:r>
              <a:rPr lang="en-AU" sz="9600" dirty="0" smtClean="0"/>
              <a:t>The Sine Rule</a:t>
            </a:r>
            <a:endParaRPr lang="en-US" sz="9600" dirty="0"/>
          </a:p>
        </p:txBody>
      </p:sp>
      <p:graphicFrame>
        <p:nvGraphicFramePr>
          <p:cNvPr id="4098" name="Object 2"/>
          <p:cNvGraphicFramePr>
            <a:graphicFrameLocks noChangeAspect="1"/>
          </p:cNvGraphicFramePr>
          <p:nvPr/>
        </p:nvGraphicFramePr>
        <p:xfrm>
          <a:off x="3419872" y="3933056"/>
          <a:ext cx="2178050" cy="1008062"/>
        </p:xfrm>
        <a:graphic>
          <a:graphicData uri="http://schemas.openxmlformats.org/presentationml/2006/ole">
            <p:oleObj spid="_x0000_s4098" name="Equation" r:id="rId3" imgW="850680" imgH="393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diamond(in)">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764704"/>
            <a:ext cx="2952328" cy="369332"/>
          </a:xfrm>
          <a:prstGeom prst="rect">
            <a:avLst/>
          </a:prstGeom>
          <a:noFill/>
        </p:spPr>
        <p:txBody>
          <a:bodyPr wrap="square" rtlCol="0">
            <a:spAutoFit/>
          </a:bodyPr>
          <a:lstStyle/>
          <a:p>
            <a:r>
              <a:rPr lang="en-AU" b="1" u="sng" dirty="0" smtClean="0"/>
              <a:t>Proof of the Sine Rule</a:t>
            </a:r>
            <a:r>
              <a:rPr lang="en-AU" dirty="0" smtClean="0"/>
              <a:t>: </a:t>
            </a:r>
            <a:endParaRPr lang="en-US" dirty="0"/>
          </a:p>
        </p:txBody>
      </p:sp>
      <p:sp>
        <p:nvSpPr>
          <p:cNvPr id="4" name="TextBox 3"/>
          <p:cNvSpPr txBox="1"/>
          <p:nvPr/>
        </p:nvSpPr>
        <p:spPr>
          <a:xfrm>
            <a:off x="611560" y="1340768"/>
            <a:ext cx="7632848" cy="369332"/>
          </a:xfrm>
          <a:prstGeom prst="rect">
            <a:avLst/>
          </a:prstGeom>
          <a:noFill/>
        </p:spPr>
        <p:txBody>
          <a:bodyPr wrap="square" rtlCol="0">
            <a:spAutoFit/>
          </a:bodyPr>
          <a:lstStyle/>
          <a:p>
            <a:r>
              <a:rPr lang="en-AU" dirty="0" smtClean="0"/>
              <a:t>Let ABC be any triangle with side lengths </a:t>
            </a:r>
            <a:r>
              <a:rPr lang="en-AU" i="1" dirty="0" smtClean="0"/>
              <a:t>a, b, c</a:t>
            </a:r>
            <a:r>
              <a:rPr lang="en-AU" dirty="0" smtClean="0"/>
              <a:t> respectively</a:t>
            </a:r>
            <a:endParaRPr lang="en-US" dirty="0"/>
          </a:p>
        </p:txBody>
      </p:sp>
      <p:grpSp>
        <p:nvGrpSpPr>
          <p:cNvPr id="18" name="Group 17"/>
          <p:cNvGrpSpPr/>
          <p:nvPr/>
        </p:nvGrpSpPr>
        <p:grpSpPr>
          <a:xfrm>
            <a:off x="1403648" y="1619508"/>
            <a:ext cx="5292080" cy="1665476"/>
            <a:chOff x="3851920" y="2348880"/>
            <a:chExt cx="5292080" cy="1665476"/>
          </a:xfrm>
        </p:grpSpPr>
        <p:cxnSp>
          <p:nvCxnSpPr>
            <p:cNvPr id="6" name="Straight Connector 5"/>
            <p:cNvCxnSpPr/>
            <p:nvPr/>
          </p:nvCxnSpPr>
          <p:spPr>
            <a:xfrm flipH="1">
              <a:off x="4139952" y="2636912"/>
              <a:ext cx="1584176" cy="1080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724128" y="2636912"/>
              <a:ext cx="2880320" cy="1080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139952" y="3717032"/>
              <a:ext cx="4464496"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580112" y="2348880"/>
              <a:ext cx="504056" cy="369332"/>
            </a:xfrm>
            <a:prstGeom prst="rect">
              <a:avLst/>
            </a:prstGeom>
            <a:noFill/>
          </p:spPr>
          <p:txBody>
            <a:bodyPr wrap="square" rtlCol="0">
              <a:spAutoFit/>
            </a:bodyPr>
            <a:lstStyle/>
            <a:p>
              <a:r>
                <a:rPr lang="en-AU" dirty="0" smtClean="0"/>
                <a:t>C</a:t>
              </a:r>
              <a:endParaRPr lang="en-US" dirty="0"/>
            </a:p>
          </p:txBody>
        </p:sp>
        <p:sp>
          <p:nvSpPr>
            <p:cNvPr id="12" name="TextBox 11"/>
            <p:cNvSpPr txBox="1"/>
            <p:nvPr/>
          </p:nvSpPr>
          <p:spPr>
            <a:xfrm>
              <a:off x="8639944" y="3573016"/>
              <a:ext cx="504056" cy="369332"/>
            </a:xfrm>
            <a:prstGeom prst="rect">
              <a:avLst/>
            </a:prstGeom>
            <a:noFill/>
          </p:spPr>
          <p:txBody>
            <a:bodyPr wrap="square" rtlCol="0">
              <a:spAutoFit/>
            </a:bodyPr>
            <a:lstStyle/>
            <a:p>
              <a:r>
                <a:rPr lang="en-AU" dirty="0"/>
                <a:t>B</a:t>
              </a:r>
              <a:endParaRPr lang="en-US" dirty="0"/>
            </a:p>
          </p:txBody>
        </p:sp>
        <p:sp>
          <p:nvSpPr>
            <p:cNvPr id="13" name="TextBox 12"/>
            <p:cNvSpPr txBox="1"/>
            <p:nvPr/>
          </p:nvSpPr>
          <p:spPr>
            <a:xfrm>
              <a:off x="3851920" y="3501008"/>
              <a:ext cx="504056" cy="369332"/>
            </a:xfrm>
            <a:prstGeom prst="rect">
              <a:avLst/>
            </a:prstGeom>
            <a:noFill/>
          </p:spPr>
          <p:txBody>
            <a:bodyPr wrap="square" rtlCol="0">
              <a:spAutoFit/>
            </a:bodyPr>
            <a:lstStyle/>
            <a:p>
              <a:r>
                <a:rPr lang="en-AU" dirty="0" smtClean="0"/>
                <a:t>A</a:t>
              </a:r>
              <a:endParaRPr lang="en-US" dirty="0"/>
            </a:p>
          </p:txBody>
        </p:sp>
        <p:sp>
          <p:nvSpPr>
            <p:cNvPr id="14" name="TextBox 13"/>
            <p:cNvSpPr txBox="1"/>
            <p:nvPr/>
          </p:nvSpPr>
          <p:spPr>
            <a:xfrm>
              <a:off x="6156176" y="3645024"/>
              <a:ext cx="720080" cy="369332"/>
            </a:xfrm>
            <a:prstGeom prst="rect">
              <a:avLst/>
            </a:prstGeom>
            <a:noFill/>
          </p:spPr>
          <p:txBody>
            <a:bodyPr wrap="square" rtlCol="0">
              <a:spAutoFit/>
            </a:bodyPr>
            <a:lstStyle/>
            <a:p>
              <a:r>
                <a:rPr lang="en-AU" i="1" dirty="0" smtClean="0">
                  <a:solidFill>
                    <a:srgbClr val="0000FF"/>
                  </a:solidFill>
                </a:rPr>
                <a:t>c</a:t>
              </a:r>
              <a:endParaRPr lang="en-US" i="1" dirty="0">
                <a:solidFill>
                  <a:srgbClr val="0000FF"/>
                </a:solidFill>
              </a:endParaRPr>
            </a:p>
          </p:txBody>
        </p:sp>
        <p:sp>
          <p:nvSpPr>
            <p:cNvPr id="16" name="TextBox 15"/>
            <p:cNvSpPr txBox="1"/>
            <p:nvPr/>
          </p:nvSpPr>
          <p:spPr>
            <a:xfrm>
              <a:off x="6948264" y="2780928"/>
              <a:ext cx="936104" cy="369332"/>
            </a:xfrm>
            <a:prstGeom prst="rect">
              <a:avLst/>
            </a:prstGeom>
            <a:noFill/>
          </p:spPr>
          <p:txBody>
            <a:bodyPr wrap="square" rtlCol="0">
              <a:spAutoFit/>
            </a:bodyPr>
            <a:lstStyle/>
            <a:p>
              <a:r>
                <a:rPr lang="en-AU" i="1" dirty="0" smtClean="0">
                  <a:solidFill>
                    <a:srgbClr val="FF0000"/>
                  </a:solidFill>
                </a:rPr>
                <a:t>a</a:t>
              </a:r>
              <a:endParaRPr lang="en-US" i="1" dirty="0">
                <a:solidFill>
                  <a:srgbClr val="FF0000"/>
                </a:solidFill>
              </a:endParaRPr>
            </a:p>
          </p:txBody>
        </p:sp>
        <p:sp>
          <p:nvSpPr>
            <p:cNvPr id="17" name="TextBox 16"/>
            <p:cNvSpPr txBox="1"/>
            <p:nvPr/>
          </p:nvSpPr>
          <p:spPr>
            <a:xfrm>
              <a:off x="4644008" y="2852936"/>
              <a:ext cx="864096" cy="369332"/>
            </a:xfrm>
            <a:prstGeom prst="rect">
              <a:avLst/>
            </a:prstGeom>
            <a:noFill/>
          </p:spPr>
          <p:txBody>
            <a:bodyPr wrap="square" rtlCol="0">
              <a:spAutoFit/>
            </a:bodyPr>
            <a:lstStyle/>
            <a:p>
              <a:r>
                <a:rPr lang="en-AU" i="1" dirty="0" smtClean="0">
                  <a:solidFill>
                    <a:srgbClr val="006600"/>
                  </a:solidFill>
                </a:rPr>
                <a:t>b</a:t>
              </a:r>
              <a:endParaRPr lang="en-US" i="1" dirty="0">
                <a:solidFill>
                  <a:srgbClr val="006600"/>
                </a:solidFill>
              </a:endParaRPr>
            </a:p>
          </p:txBody>
        </p:sp>
      </p:grpSp>
      <p:sp>
        <p:nvSpPr>
          <p:cNvPr id="19" name="TextBox 18"/>
          <p:cNvSpPr txBox="1"/>
          <p:nvPr/>
        </p:nvSpPr>
        <p:spPr>
          <a:xfrm>
            <a:off x="683568" y="3212976"/>
            <a:ext cx="7632848" cy="369332"/>
          </a:xfrm>
          <a:prstGeom prst="rect">
            <a:avLst/>
          </a:prstGeom>
          <a:noFill/>
        </p:spPr>
        <p:txBody>
          <a:bodyPr wrap="square" rtlCol="0">
            <a:spAutoFit/>
          </a:bodyPr>
          <a:lstStyle/>
          <a:p>
            <a:r>
              <a:rPr lang="en-AU" dirty="0" smtClean="0"/>
              <a:t>Now draw CD perpendicular to AB, and let the length of CD equal </a:t>
            </a:r>
            <a:r>
              <a:rPr lang="en-AU" i="1" dirty="0" smtClean="0"/>
              <a:t>h</a:t>
            </a:r>
            <a:endParaRPr lang="en-US" dirty="0"/>
          </a:p>
        </p:txBody>
      </p:sp>
      <p:cxnSp>
        <p:nvCxnSpPr>
          <p:cNvPr id="21" name="Straight Connector 20"/>
          <p:cNvCxnSpPr/>
          <p:nvPr/>
        </p:nvCxnSpPr>
        <p:spPr>
          <a:xfrm>
            <a:off x="3288382" y="1916832"/>
            <a:ext cx="0" cy="1080120"/>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241426" y="2204864"/>
            <a:ext cx="504056" cy="369332"/>
          </a:xfrm>
          <a:prstGeom prst="rect">
            <a:avLst/>
          </a:prstGeom>
          <a:noFill/>
        </p:spPr>
        <p:txBody>
          <a:bodyPr wrap="square" rtlCol="0">
            <a:spAutoFit/>
          </a:bodyPr>
          <a:lstStyle/>
          <a:p>
            <a:r>
              <a:rPr lang="en-AU" b="1" i="1" dirty="0">
                <a:solidFill>
                  <a:srgbClr val="7030A0"/>
                </a:solidFill>
              </a:rPr>
              <a:t>h</a:t>
            </a:r>
            <a:endParaRPr lang="en-US" b="1" i="1" dirty="0">
              <a:solidFill>
                <a:srgbClr val="7030A0"/>
              </a:solidFill>
            </a:endParaRPr>
          </a:p>
        </p:txBody>
      </p:sp>
      <p:cxnSp>
        <p:nvCxnSpPr>
          <p:cNvPr id="25" name="Straight Connector 24"/>
          <p:cNvCxnSpPr/>
          <p:nvPr/>
        </p:nvCxnSpPr>
        <p:spPr>
          <a:xfrm>
            <a:off x="3275856" y="2780928"/>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491880" y="2780928"/>
            <a:ext cx="0" cy="216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83568" y="3789040"/>
            <a:ext cx="1152128" cy="369332"/>
          </a:xfrm>
          <a:prstGeom prst="rect">
            <a:avLst/>
          </a:prstGeom>
          <a:noFill/>
        </p:spPr>
        <p:txBody>
          <a:bodyPr wrap="square" rtlCol="0">
            <a:spAutoFit/>
          </a:bodyPr>
          <a:lstStyle/>
          <a:p>
            <a:r>
              <a:rPr lang="en-AU" b="1" dirty="0" smtClean="0"/>
              <a:t>In </a:t>
            </a:r>
            <a:r>
              <a:rPr lang="en-AU" b="1" dirty="0" smtClean="0">
                <a:sym typeface="Symbol"/>
              </a:rPr>
              <a:t>BDC</a:t>
            </a:r>
            <a:endParaRPr lang="en-US" b="1" dirty="0"/>
          </a:p>
        </p:txBody>
      </p:sp>
      <p:graphicFrame>
        <p:nvGraphicFramePr>
          <p:cNvPr id="29" name="Object 28"/>
          <p:cNvGraphicFramePr>
            <a:graphicFrameLocks noChangeAspect="1"/>
          </p:cNvGraphicFramePr>
          <p:nvPr/>
        </p:nvGraphicFramePr>
        <p:xfrm>
          <a:off x="1259632" y="4149080"/>
          <a:ext cx="1008112" cy="651072"/>
        </p:xfrm>
        <a:graphic>
          <a:graphicData uri="http://schemas.openxmlformats.org/presentationml/2006/ole">
            <p:oleObj spid="_x0000_s3075" name="Equation" r:id="rId3" imgW="609480" imgH="393480" progId="Equation.3">
              <p:embed/>
            </p:oleObj>
          </a:graphicData>
        </a:graphic>
      </p:graphicFrame>
      <p:graphicFrame>
        <p:nvGraphicFramePr>
          <p:cNvPr id="3076" name="Object 4"/>
          <p:cNvGraphicFramePr>
            <a:graphicFrameLocks noChangeAspect="1"/>
          </p:cNvGraphicFramePr>
          <p:nvPr/>
        </p:nvGraphicFramePr>
        <p:xfrm>
          <a:off x="1609725" y="4941888"/>
          <a:ext cx="1135063" cy="293687"/>
        </p:xfrm>
        <a:graphic>
          <a:graphicData uri="http://schemas.openxmlformats.org/presentationml/2006/ole">
            <p:oleObj spid="_x0000_s3076" name="Equation" r:id="rId4" imgW="685800" imgH="177480" progId="Equation.3">
              <p:embed/>
            </p:oleObj>
          </a:graphicData>
        </a:graphic>
      </p:graphicFrame>
      <p:sp>
        <p:nvSpPr>
          <p:cNvPr id="31" name="TextBox 30"/>
          <p:cNvSpPr txBox="1"/>
          <p:nvPr/>
        </p:nvSpPr>
        <p:spPr>
          <a:xfrm>
            <a:off x="4177655" y="3789040"/>
            <a:ext cx="1152128" cy="369332"/>
          </a:xfrm>
          <a:prstGeom prst="rect">
            <a:avLst/>
          </a:prstGeom>
          <a:noFill/>
        </p:spPr>
        <p:txBody>
          <a:bodyPr wrap="square" rtlCol="0">
            <a:spAutoFit/>
          </a:bodyPr>
          <a:lstStyle/>
          <a:p>
            <a:r>
              <a:rPr lang="en-AU" b="1" dirty="0" smtClean="0"/>
              <a:t>In </a:t>
            </a:r>
            <a:r>
              <a:rPr lang="en-AU" b="1" dirty="0" smtClean="0">
                <a:sym typeface="Symbol"/>
              </a:rPr>
              <a:t>ACD</a:t>
            </a:r>
            <a:endParaRPr lang="en-US" b="1" dirty="0"/>
          </a:p>
        </p:txBody>
      </p:sp>
      <p:graphicFrame>
        <p:nvGraphicFramePr>
          <p:cNvPr id="32" name="Object 31"/>
          <p:cNvGraphicFramePr>
            <a:graphicFrameLocks noChangeAspect="1"/>
          </p:cNvGraphicFramePr>
          <p:nvPr/>
        </p:nvGraphicFramePr>
        <p:xfrm>
          <a:off x="4753719" y="4149080"/>
          <a:ext cx="1008112" cy="651072"/>
        </p:xfrm>
        <a:graphic>
          <a:graphicData uri="http://schemas.openxmlformats.org/presentationml/2006/ole">
            <p:oleObj spid="_x0000_s3077" name="Equation" r:id="rId5" imgW="609480" imgH="393480" progId="Equation.3">
              <p:embed/>
            </p:oleObj>
          </a:graphicData>
        </a:graphic>
      </p:graphicFrame>
      <p:graphicFrame>
        <p:nvGraphicFramePr>
          <p:cNvPr id="33" name="Object 4"/>
          <p:cNvGraphicFramePr>
            <a:graphicFrameLocks noChangeAspect="1"/>
          </p:cNvGraphicFramePr>
          <p:nvPr/>
        </p:nvGraphicFramePr>
        <p:xfrm>
          <a:off x="5113759" y="4941168"/>
          <a:ext cx="1114425" cy="293687"/>
        </p:xfrm>
        <a:graphic>
          <a:graphicData uri="http://schemas.openxmlformats.org/presentationml/2006/ole">
            <p:oleObj spid="_x0000_s3078" name="Equation" r:id="rId6" imgW="672840" imgH="177480" progId="Equation.3">
              <p:embed/>
            </p:oleObj>
          </a:graphicData>
        </a:graphic>
      </p:graphicFrame>
      <p:sp>
        <p:nvSpPr>
          <p:cNvPr id="34" name="Rectangle 33"/>
          <p:cNvSpPr/>
          <p:nvPr/>
        </p:nvSpPr>
        <p:spPr>
          <a:xfrm>
            <a:off x="539552" y="3573016"/>
            <a:ext cx="2448272" cy="1800200"/>
          </a:xfrm>
          <a:prstGeom prst="rect">
            <a:avLst/>
          </a:prstGeom>
          <a:solidFill>
            <a:schemeClr val="bg2">
              <a:lumMod val="90000"/>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3347864" y="4437112"/>
            <a:ext cx="864096" cy="369332"/>
          </a:xfrm>
          <a:prstGeom prst="rect">
            <a:avLst/>
          </a:prstGeom>
          <a:noFill/>
        </p:spPr>
        <p:txBody>
          <a:bodyPr wrap="square" rtlCol="0">
            <a:spAutoFit/>
          </a:bodyPr>
          <a:lstStyle/>
          <a:p>
            <a:r>
              <a:rPr lang="en-AU" dirty="0" smtClean="0"/>
              <a:t>and</a:t>
            </a:r>
            <a:endParaRPr lang="en-US" dirty="0"/>
          </a:p>
        </p:txBody>
      </p:sp>
      <p:sp>
        <p:nvSpPr>
          <p:cNvPr id="36" name="Rectangle 35"/>
          <p:cNvSpPr/>
          <p:nvPr/>
        </p:nvSpPr>
        <p:spPr>
          <a:xfrm>
            <a:off x="4067944" y="3573016"/>
            <a:ext cx="2448272" cy="1800200"/>
          </a:xfrm>
          <a:prstGeom prst="rect">
            <a:avLst/>
          </a:prstGeom>
          <a:solidFill>
            <a:schemeClr val="bg2">
              <a:lumMod val="90000"/>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755576" y="5598532"/>
            <a:ext cx="4680520" cy="369332"/>
          </a:xfrm>
          <a:prstGeom prst="rect">
            <a:avLst/>
          </a:prstGeom>
          <a:noFill/>
        </p:spPr>
        <p:txBody>
          <a:bodyPr wrap="square" rtlCol="0">
            <a:spAutoFit/>
          </a:bodyPr>
          <a:lstStyle/>
          <a:p>
            <a:r>
              <a:rPr lang="en-AU" dirty="0" smtClean="0"/>
              <a:t>As both expressions are equal to </a:t>
            </a:r>
            <a:r>
              <a:rPr lang="en-AU" i="1" dirty="0" smtClean="0"/>
              <a:t>h</a:t>
            </a:r>
            <a:r>
              <a:rPr lang="en-AU" dirty="0" smtClean="0"/>
              <a:t>, we can say</a:t>
            </a:r>
            <a:endParaRPr lang="en-US" dirty="0"/>
          </a:p>
        </p:txBody>
      </p:sp>
      <p:sp>
        <p:nvSpPr>
          <p:cNvPr id="38" name="TextBox 37"/>
          <p:cNvSpPr txBox="1"/>
          <p:nvPr/>
        </p:nvSpPr>
        <p:spPr>
          <a:xfrm>
            <a:off x="5652120" y="5589240"/>
            <a:ext cx="2952328" cy="369332"/>
          </a:xfrm>
          <a:prstGeom prst="rect">
            <a:avLst/>
          </a:prstGeom>
          <a:noFill/>
        </p:spPr>
        <p:txBody>
          <a:bodyPr wrap="square" rtlCol="0">
            <a:spAutoFit/>
          </a:bodyPr>
          <a:lstStyle/>
          <a:p>
            <a:r>
              <a:rPr lang="en-AU" i="1" dirty="0" smtClean="0"/>
              <a:t>a </a:t>
            </a:r>
            <a:r>
              <a:rPr lang="en-AU" dirty="0" smtClean="0"/>
              <a:t>sin </a:t>
            </a:r>
            <a:r>
              <a:rPr lang="en-AU" i="1" dirty="0" smtClean="0"/>
              <a:t>B</a:t>
            </a:r>
            <a:r>
              <a:rPr lang="en-AU" dirty="0" smtClean="0"/>
              <a:t> = </a:t>
            </a:r>
            <a:r>
              <a:rPr lang="en-AU" i="1" dirty="0" err="1" smtClean="0"/>
              <a:t>b</a:t>
            </a:r>
            <a:r>
              <a:rPr lang="en-AU" dirty="0" smtClean="0"/>
              <a:t> sin </a:t>
            </a:r>
            <a:r>
              <a:rPr lang="en-AU" i="1" dirty="0" smtClean="0"/>
              <a:t>A </a:t>
            </a:r>
            <a:endParaRPr lang="en-US" i="1" dirty="0"/>
          </a:p>
        </p:txBody>
      </p:sp>
      <p:sp>
        <p:nvSpPr>
          <p:cNvPr id="39" name="TextBox 38"/>
          <p:cNvSpPr txBox="1"/>
          <p:nvPr/>
        </p:nvSpPr>
        <p:spPr>
          <a:xfrm>
            <a:off x="971600" y="6093296"/>
            <a:ext cx="4608512" cy="646331"/>
          </a:xfrm>
          <a:prstGeom prst="rect">
            <a:avLst/>
          </a:prstGeom>
          <a:noFill/>
        </p:spPr>
        <p:txBody>
          <a:bodyPr wrap="square" rtlCol="0">
            <a:spAutoFit/>
          </a:bodyPr>
          <a:lstStyle/>
          <a:p>
            <a:r>
              <a:rPr lang="en-AU" dirty="0" smtClean="0"/>
              <a:t>Dividing through by (</a:t>
            </a:r>
            <a:r>
              <a:rPr lang="en-AU" dirty="0" err="1" smtClean="0"/>
              <a:t>sin</a:t>
            </a:r>
            <a:r>
              <a:rPr lang="en-AU" i="1" dirty="0" err="1" smtClean="0"/>
              <a:t>A</a:t>
            </a:r>
            <a:r>
              <a:rPr lang="en-AU" dirty="0" smtClean="0"/>
              <a:t>)( </a:t>
            </a:r>
            <a:r>
              <a:rPr lang="en-AU" dirty="0" err="1" smtClean="0"/>
              <a:t>sin</a:t>
            </a:r>
            <a:r>
              <a:rPr lang="en-AU" i="1" dirty="0" err="1" smtClean="0"/>
              <a:t>B</a:t>
            </a:r>
            <a:r>
              <a:rPr lang="en-AU" dirty="0" smtClean="0"/>
              <a:t>)</a:t>
            </a:r>
            <a:r>
              <a:rPr lang="en-AU" i="1" dirty="0" smtClean="0"/>
              <a:t> </a:t>
            </a:r>
            <a:r>
              <a:rPr lang="en-AU" dirty="0" smtClean="0"/>
              <a:t>this becomes</a:t>
            </a:r>
            <a:endParaRPr lang="en-US" dirty="0"/>
          </a:p>
        </p:txBody>
      </p:sp>
      <p:graphicFrame>
        <p:nvGraphicFramePr>
          <p:cNvPr id="40" name="Object 39"/>
          <p:cNvGraphicFramePr>
            <a:graphicFrameLocks noChangeAspect="1"/>
          </p:cNvGraphicFramePr>
          <p:nvPr/>
        </p:nvGraphicFramePr>
        <p:xfrm>
          <a:off x="5735638" y="6021388"/>
          <a:ext cx="1555750" cy="720725"/>
        </p:xfrm>
        <a:graphic>
          <a:graphicData uri="http://schemas.openxmlformats.org/presentationml/2006/ole">
            <p:oleObj spid="_x0000_s3079" name="Equation" r:id="rId7" imgW="850680" imgH="393480" progId="Equation.3">
              <p:embed/>
            </p:oleObj>
          </a:graphicData>
        </a:graphic>
      </p:graphicFrame>
      <p:sp>
        <p:nvSpPr>
          <p:cNvPr id="41" name="TextBox 40"/>
          <p:cNvSpPr txBox="1"/>
          <p:nvPr/>
        </p:nvSpPr>
        <p:spPr>
          <a:xfrm>
            <a:off x="7524328" y="6021288"/>
            <a:ext cx="1440160" cy="584775"/>
          </a:xfrm>
          <a:prstGeom prst="rect">
            <a:avLst/>
          </a:prstGeom>
          <a:noFill/>
        </p:spPr>
        <p:txBody>
          <a:bodyPr wrap="square" rtlCol="0">
            <a:spAutoFit/>
          </a:bodyPr>
          <a:lstStyle/>
          <a:p>
            <a:r>
              <a:rPr lang="en-AU" sz="1600" dirty="0"/>
              <a:t>w</a:t>
            </a:r>
            <a:r>
              <a:rPr lang="en-AU" sz="1600" dirty="0" smtClean="0"/>
              <a:t>hich is the Sine Rule</a:t>
            </a:r>
            <a:endParaRPr lang="en-US" sz="1600" dirty="0"/>
          </a:p>
        </p:txBody>
      </p:sp>
      <p:sp>
        <p:nvSpPr>
          <p:cNvPr id="42" name="TextBox 41"/>
          <p:cNvSpPr txBox="1"/>
          <p:nvPr/>
        </p:nvSpPr>
        <p:spPr>
          <a:xfrm>
            <a:off x="2987824" y="2708920"/>
            <a:ext cx="576064" cy="369332"/>
          </a:xfrm>
          <a:prstGeom prst="rect">
            <a:avLst/>
          </a:prstGeom>
          <a:noFill/>
        </p:spPr>
        <p:txBody>
          <a:bodyPr wrap="square" rtlCol="0">
            <a:spAutoFit/>
          </a:bodyPr>
          <a:lstStyle/>
          <a:p>
            <a:r>
              <a:rPr lang="en-AU" dirty="0" smtClean="0"/>
              <a:t>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amond(in)">
                                      <p:cBhvr>
                                        <p:cTn id="12" dur="20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dissolve">
                                      <p:cBhvr>
                                        <p:cTn id="26" dur="500"/>
                                        <p:tgtEl>
                                          <p:spTgt spid="42"/>
                                        </p:tgtEl>
                                      </p:cBhvr>
                                    </p:animEffect>
                                  </p:childTnLst>
                                </p:cTn>
                              </p:par>
                            </p:childTnLst>
                          </p:cTn>
                        </p:par>
                        <p:par>
                          <p:cTn id="27" fill="hold">
                            <p:stCondLst>
                              <p:cond delay="1000"/>
                            </p:stCondLst>
                            <p:childTnLst>
                              <p:par>
                                <p:cTn id="28" presetID="9" presetClass="entr" presetSubtype="0"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dissolve">
                                      <p:cBhvr>
                                        <p:cTn id="30" dur="500"/>
                                        <p:tgtEl>
                                          <p:spTgt spid="25"/>
                                        </p:tgtEl>
                                      </p:cBhvr>
                                    </p:animEffect>
                                  </p:childTnLst>
                                </p:cTn>
                              </p:par>
                            </p:childTnLst>
                          </p:cTn>
                        </p:par>
                        <p:par>
                          <p:cTn id="31" fill="hold">
                            <p:stCondLst>
                              <p:cond delay="1500"/>
                            </p:stCondLst>
                            <p:childTnLst>
                              <p:par>
                                <p:cTn id="32" presetID="9"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dissolve">
                                      <p:cBhvr>
                                        <p:cTn id="34" dur="500"/>
                                        <p:tgtEl>
                                          <p:spTgt spid="27"/>
                                        </p:tgtEl>
                                      </p:cBhvr>
                                    </p:animEffect>
                                  </p:childTnLst>
                                </p:cTn>
                              </p:par>
                            </p:childTnLst>
                          </p:cTn>
                        </p:par>
                        <p:par>
                          <p:cTn id="35" fill="hold">
                            <p:stCondLst>
                              <p:cond delay="2000"/>
                            </p:stCondLst>
                            <p:childTnLst>
                              <p:par>
                                <p:cTn id="36" presetID="9" presetClass="entr" presetSubtype="0" fill="hold" grpId="0"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dissolv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diamond(in)">
                                      <p:cBhvr>
                                        <p:cTn id="43" dur="2000"/>
                                        <p:tgtEl>
                                          <p:spTgt spid="34"/>
                                        </p:tgtEl>
                                      </p:cBhvr>
                                    </p:animEffect>
                                  </p:childTnLst>
                                </p:cTn>
                              </p:par>
                              <p:par>
                                <p:cTn id="44" presetID="8" presetClass="entr" presetSubtype="16"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diamond(in)">
                                      <p:cBhvr>
                                        <p:cTn id="46" dur="2000"/>
                                        <p:tgtEl>
                                          <p:spTgt spid="36"/>
                                        </p:tgtEl>
                                      </p:cBhvr>
                                    </p:animEffect>
                                  </p:childTnLst>
                                </p:cTn>
                              </p:par>
                            </p:childTnLst>
                          </p:cTn>
                        </p:par>
                      </p:childTnLst>
                    </p:cTn>
                  </p:par>
                  <p:par>
                    <p:cTn id="47" fill="hold">
                      <p:stCondLst>
                        <p:cond delay="indefinite"/>
                      </p:stCondLst>
                      <p:childTnLst>
                        <p:par>
                          <p:cTn id="48" fill="hold">
                            <p:stCondLst>
                              <p:cond delay="0"/>
                            </p:stCondLst>
                            <p:childTnLst>
                              <p:par>
                                <p:cTn id="49" presetID="8" presetClass="entr" presetSubtype="16"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diamond(in)">
                                      <p:cBhvr>
                                        <p:cTn id="51" dur="20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8" presetClass="entr" presetSubtype="16" fill="hold"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diamond(in)">
                                      <p:cBhvr>
                                        <p:cTn id="56" dur="20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8" presetClass="entr" presetSubtype="16" fill="hold" nodeType="clickEffect">
                                  <p:stCondLst>
                                    <p:cond delay="0"/>
                                  </p:stCondLst>
                                  <p:childTnLst>
                                    <p:set>
                                      <p:cBhvr>
                                        <p:cTn id="60" dur="1" fill="hold">
                                          <p:stCondLst>
                                            <p:cond delay="0"/>
                                          </p:stCondLst>
                                        </p:cTn>
                                        <p:tgtEl>
                                          <p:spTgt spid="3076"/>
                                        </p:tgtEl>
                                        <p:attrNameLst>
                                          <p:attrName>style.visibility</p:attrName>
                                        </p:attrNameLst>
                                      </p:cBhvr>
                                      <p:to>
                                        <p:strVal val="visible"/>
                                      </p:to>
                                    </p:set>
                                    <p:animEffect transition="in" filter="diamond(in)">
                                      <p:cBhvr>
                                        <p:cTn id="61" dur="2000"/>
                                        <p:tgtEl>
                                          <p:spTgt spid="3076"/>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ntr" presetSubtype="16" fill="hold" grpId="0" nodeType="click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diamond(in)">
                                      <p:cBhvr>
                                        <p:cTn id="66" dur="2000"/>
                                        <p:tgtEl>
                                          <p:spTgt spid="35"/>
                                        </p:tgtEl>
                                      </p:cBhvr>
                                    </p:animEffect>
                                  </p:childTnLst>
                                </p:cTn>
                              </p:par>
                            </p:childTnLst>
                          </p:cTn>
                        </p:par>
                      </p:childTnLst>
                    </p:cTn>
                  </p:par>
                  <p:par>
                    <p:cTn id="67" fill="hold">
                      <p:stCondLst>
                        <p:cond delay="indefinite"/>
                      </p:stCondLst>
                      <p:childTnLst>
                        <p:par>
                          <p:cTn id="68" fill="hold">
                            <p:stCondLst>
                              <p:cond delay="0"/>
                            </p:stCondLst>
                            <p:childTnLst>
                              <p:par>
                                <p:cTn id="69" presetID="8" presetClass="entr" presetSubtype="16"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diamond(in)">
                                      <p:cBhvr>
                                        <p:cTn id="71" dur="2000"/>
                                        <p:tgtEl>
                                          <p:spTgt spid="31"/>
                                        </p:tgtEl>
                                      </p:cBhvr>
                                    </p:animEffect>
                                  </p:childTnLst>
                                </p:cTn>
                              </p:par>
                            </p:childTnLst>
                          </p:cTn>
                        </p:par>
                      </p:childTnLst>
                    </p:cTn>
                  </p:par>
                  <p:par>
                    <p:cTn id="72" fill="hold">
                      <p:stCondLst>
                        <p:cond delay="indefinite"/>
                      </p:stCondLst>
                      <p:childTnLst>
                        <p:par>
                          <p:cTn id="73" fill="hold">
                            <p:stCondLst>
                              <p:cond delay="0"/>
                            </p:stCondLst>
                            <p:childTnLst>
                              <p:par>
                                <p:cTn id="74" presetID="8" presetClass="entr" presetSubtype="16" fill="hold" nodeType="click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diamond(in)">
                                      <p:cBhvr>
                                        <p:cTn id="76" dur="2000"/>
                                        <p:tgtEl>
                                          <p:spTgt spid="32"/>
                                        </p:tgtEl>
                                      </p:cBhvr>
                                    </p:animEffect>
                                  </p:childTnLst>
                                </p:cTn>
                              </p:par>
                            </p:childTnLst>
                          </p:cTn>
                        </p:par>
                      </p:childTnLst>
                    </p:cTn>
                  </p:par>
                  <p:par>
                    <p:cTn id="77" fill="hold">
                      <p:stCondLst>
                        <p:cond delay="indefinite"/>
                      </p:stCondLst>
                      <p:childTnLst>
                        <p:par>
                          <p:cTn id="78" fill="hold">
                            <p:stCondLst>
                              <p:cond delay="0"/>
                            </p:stCondLst>
                            <p:childTnLst>
                              <p:par>
                                <p:cTn id="79" presetID="8" presetClass="entr" presetSubtype="16"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diamond(in)">
                                      <p:cBhvr>
                                        <p:cTn id="81" dur="2000"/>
                                        <p:tgtEl>
                                          <p:spTgt spid="33"/>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dissolve">
                                      <p:cBhvr>
                                        <p:cTn id="86" dur="500"/>
                                        <p:tgtEl>
                                          <p:spTgt spid="37"/>
                                        </p:tgtEl>
                                      </p:cBhvr>
                                    </p:animEffect>
                                  </p:childTnLst>
                                </p:cTn>
                              </p:par>
                            </p:childTnLst>
                          </p:cTn>
                        </p:par>
                        <p:par>
                          <p:cTn id="87" fill="hold">
                            <p:stCondLst>
                              <p:cond delay="500"/>
                            </p:stCondLst>
                            <p:childTnLst>
                              <p:par>
                                <p:cTn id="88" presetID="2" presetClass="entr" presetSubtype="1" fill="hold" grpId="0" nodeType="afterEffect">
                                  <p:stCondLst>
                                    <p:cond delay="0"/>
                                  </p:stCondLst>
                                  <p:childTnLst>
                                    <p:set>
                                      <p:cBhvr>
                                        <p:cTn id="89" dur="1" fill="hold">
                                          <p:stCondLst>
                                            <p:cond delay="0"/>
                                          </p:stCondLst>
                                        </p:cTn>
                                        <p:tgtEl>
                                          <p:spTgt spid="38"/>
                                        </p:tgtEl>
                                        <p:attrNameLst>
                                          <p:attrName>style.visibility</p:attrName>
                                        </p:attrNameLst>
                                      </p:cBhvr>
                                      <p:to>
                                        <p:strVal val="visible"/>
                                      </p:to>
                                    </p:set>
                                    <p:anim calcmode="lin" valueType="num">
                                      <p:cBhvr additive="base">
                                        <p:cTn id="90" dur="500" fill="hold"/>
                                        <p:tgtEl>
                                          <p:spTgt spid="38"/>
                                        </p:tgtEl>
                                        <p:attrNameLst>
                                          <p:attrName>ppt_x</p:attrName>
                                        </p:attrNameLst>
                                      </p:cBhvr>
                                      <p:tavLst>
                                        <p:tav tm="0">
                                          <p:val>
                                            <p:strVal val="#ppt_x"/>
                                          </p:val>
                                        </p:tav>
                                        <p:tav tm="100000">
                                          <p:val>
                                            <p:strVal val="#ppt_x"/>
                                          </p:val>
                                        </p:tav>
                                      </p:tavLst>
                                    </p:anim>
                                    <p:anim calcmode="lin" valueType="num">
                                      <p:cBhvr additive="base">
                                        <p:cTn id="91" dur="500" fill="hold"/>
                                        <p:tgtEl>
                                          <p:spTgt spid="38"/>
                                        </p:tgtEl>
                                        <p:attrNameLst>
                                          <p:attrName>ppt_y</p:attrName>
                                        </p:attrNameLst>
                                      </p:cBhvr>
                                      <p:tavLst>
                                        <p:tav tm="0">
                                          <p:val>
                                            <p:strVal val="0-#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8" presetClass="entr" presetSubtype="16" fill="hold" grpId="0" nodeType="click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diamond(in)">
                                      <p:cBhvr>
                                        <p:cTn id="96" dur="2000"/>
                                        <p:tgtEl>
                                          <p:spTgt spid="39"/>
                                        </p:tgtEl>
                                      </p:cBhvr>
                                    </p:animEffect>
                                  </p:childTnLst>
                                </p:cTn>
                              </p:par>
                            </p:childTnLst>
                          </p:cTn>
                        </p:par>
                      </p:childTnLst>
                    </p:cTn>
                  </p:par>
                  <p:par>
                    <p:cTn id="97" fill="hold">
                      <p:stCondLst>
                        <p:cond delay="indefinite"/>
                      </p:stCondLst>
                      <p:childTnLst>
                        <p:par>
                          <p:cTn id="98" fill="hold">
                            <p:stCondLst>
                              <p:cond delay="0"/>
                            </p:stCondLst>
                            <p:childTnLst>
                              <p:par>
                                <p:cTn id="99" presetID="8" presetClass="entr" presetSubtype="16" fill="hold" nodeType="click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diamond(in)">
                                      <p:cBhvr>
                                        <p:cTn id="101" dur="2000"/>
                                        <p:tgtEl>
                                          <p:spTgt spid="40"/>
                                        </p:tgtEl>
                                      </p:cBhvr>
                                    </p:animEffect>
                                  </p:childTnLst>
                                </p:cTn>
                              </p:par>
                            </p:childTnLst>
                          </p:cTn>
                        </p:par>
                        <p:par>
                          <p:cTn id="102" fill="hold">
                            <p:stCondLst>
                              <p:cond delay="2000"/>
                            </p:stCondLst>
                            <p:childTnLst>
                              <p:par>
                                <p:cTn id="103" presetID="2" presetClass="entr" presetSubtype="4" fill="hold" grpId="0" nodeType="afterEffect">
                                  <p:stCondLst>
                                    <p:cond delay="0"/>
                                  </p:stCondLst>
                                  <p:childTnLst>
                                    <p:set>
                                      <p:cBhvr>
                                        <p:cTn id="104" dur="1" fill="hold">
                                          <p:stCondLst>
                                            <p:cond delay="0"/>
                                          </p:stCondLst>
                                        </p:cTn>
                                        <p:tgtEl>
                                          <p:spTgt spid="41"/>
                                        </p:tgtEl>
                                        <p:attrNameLst>
                                          <p:attrName>style.visibility</p:attrName>
                                        </p:attrNameLst>
                                      </p:cBhvr>
                                      <p:to>
                                        <p:strVal val="visible"/>
                                      </p:to>
                                    </p:set>
                                    <p:anim calcmode="lin" valueType="num">
                                      <p:cBhvr additive="base">
                                        <p:cTn id="105" dur="500" fill="hold"/>
                                        <p:tgtEl>
                                          <p:spTgt spid="41"/>
                                        </p:tgtEl>
                                        <p:attrNameLst>
                                          <p:attrName>ppt_x</p:attrName>
                                        </p:attrNameLst>
                                      </p:cBhvr>
                                      <p:tavLst>
                                        <p:tav tm="0">
                                          <p:val>
                                            <p:strVal val="#ppt_x"/>
                                          </p:val>
                                        </p:tav>
                                        <p:tav tm="100000">
                                          <p:val>
                                            <p:strVal val="#ppt_x"/>
                                          </p:val>
                                        </p:tav>
                                      </p:tavLst>
                                    </p:anim>
                                    <p:anim calcmode="lin" valueType="num">
                                      <p:cBhvr additive="base">
                                        <p:cTn id="10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3" grpId="0"/>
      <p:bldP spid="28" grpId="0"/>
      <p:bldP spid="31" grpId="0"/>
      <p:bldP spid="34" grpId="0" animBg="1"/>
      <p:bldP spid="35" grpId="0"/>
      <p:bldP spid="36" grpId="0" animBg="1"/>
      <p:bldP spid="37" grpId="0"/>
      <p:bldP spid="38" grpId="0"/>
      <p:bldP spid="39" grpId="0"/>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1 – Use the Sine Rule to find the value of </a:t>
            </a:r>
            <a:r>
              <a:rPr lang="en-AU" sz="2400" i="1" dirty="0" smtClean="0">
                <a:solidFill>
                  <a:srgbClr val="0000FF"/>
                </a:solidFill>
              </a:rPr>
              <a:t>x</a:t>
            </a:r>
            <a:r>
              <a:rPr lang="en-AU" sz="2400" dirty="0" smtClean="0">
                <a:solidFill>
                  <a:srgbClr val="0000FF"/>
                </a:solidFill>
              </a:rPr>
              <a:t> in the triangle:</a:t>
            </a:r>
            <a:endParaRPr lang="en-US" sz="2400" dirty="0">
              <a:solidFill>
                <a:srgbClr val="0000FF"/>
              </a:solidFill>
            </a:endParaRPr>
          </a:p>
        </p:txBody>
      </p:sp>
      <p:grpSp>
        <p:nvGrpSpPr>
          <p:cNvPr id="21" name="Group 20"/>
          <p:cNvGrpSpPr/>
          <p:nvPr/>
        </p:nvGrpSpPr>
        <p:grpSpPr>
          <a:xfrm>
            <a:off x="3419872" y="1268760"/>
            <a:ext cx="5472608" cy="2538864"/>
            <a:chOff x="3419872" y="1268760"/>
            <a:chExt cx="5472608" cy="2538864"/>
          </a:xfrm>
        </p:grpSpPr>
        <p:grpSp>
          <p:nvGrpSpPr>
            <p:cNvPr id="3" name="Group 20"/>
            <p:cNvGrpSpPr/>
            <p:nvPr/>
          </p:nvGrpSpPr>
          <p:grpSpPr>
            <a:xfrm>
              <a:off x="3419872" y="1268760"/>
              <a:ext cx="5472608" cy="2538864"/>
              <a:chOff x="3419872" y="1835532"/>
              <a:chExt cx="5472608" cy="2538864"/>
            </a:xfrm>
          </p:grpSpPr>
          <p:grpSp>
            <p:nvGrpSpPr>
              <p:cNvPr id="4" name="Group 15"/>
              <p:cNvGrpSpPr/>
              <p:nvPr/>
            </p:nvGrpSpPr>
            <p:grpSpPr>
              <a:xfrm>
                <a:off x="3419872" y="1844824"/>
                <a:ext cx="5472608" cy="2529572"/>
                <a:chOff x="3419872" y="1844824"/>
                <a:chExt cx="5472608" cy="2529572"/>
              </a:xfrm>
            </p:grpSpPr>
            <p:grpSp>
              <p:nvGrpSpPr>
                <p:cNvPr id="8" name="Group 11"/>
                <p:cNvGrpSpPr/>
                <p:nvPr/>
              </p:nvGrpSpPr>
              <p:grpSpPr>
                <a:xfrm>
                  <a:off x="3635896" y="2132856"/>
                  <a:ext cx="4824536" cy="1872208"/>
                  <a:chOff x="5868144" y="2132856"/>
                  <a:chExt cx="2592288" cy="576064"/>
                </a:xfrm>
              </p:grpSpPr>
              <p:cxnSp>
                <p:nvCxnSpPr>
                  <p:cNvPr id="12" name="Straight Connector 6"/>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3419872" y="1844824"/>
                  <a:ext cx="504056" cy="369332"/>
                </a:xfrm>
                <a:prstGeom prst="rect">
                  <a:avLst/>
                </a:prstGeom>
                <a:noFill/>
              </p:spPr>
              <p:txBody>
                <a:bodyPr wrap="square" rtlCol="0">
                  <a:spAutoFit/>
                </a:bodyPr>
                <a:lstStyle/>
                <a:p>
                  <a:r>
                    <a:rPr lang="en-AU" dirty="0">
                      <a:latin typeface="Times New Roman" pitchFamily="18" charset="0"/>
                      <a:cs typeface="Times New Roman" pitchFamily="18" charset="0"/>
                    </a:rPr>
                    <a:t>C</a:t>
                  </a:r>
                  <a:endParaRPr lang="en-US" dirty="0">
                    <a:latin typeface="Times New Roman" pitchFamily="18" charset="0"/>
                    <a:cs typeface="Times New Roman" pitchFamily="18" charset="0"/>
                  </a:endParaRPr>
                </a:p>
              </p:txBody>
            </p:sp>
            <p:sp>
              <p:nvSpPr>
                <p:cNvPr id="10" name="TextBox 9"/>
                <p:cNvSpPr txBox="1"/>
                <p:nvPr/>
              </p:nvSpPr>
              <p:spPr>
                <a:xfrm>
                  <a:off x="8388424" y="1844824"/>
                  <a:ext cx="50405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A</a:t>
                  </a:r>
                  <a:endParaRPr lang="en-US" dirty="0">
                    <a:latin typeface="Times New Roman" pitchFamily="18" charset="0"/>
                    <a:cs typeface="Times New Roman" pitchFamily="18" charset="0"/>
                  </a:endParaRPr>
                </a:p>
              </p:txBody>
            </p:sp>
            <p:sp>
              <p:nvSpPr>
                <p:cNvPr id="11" name="TextBox 10"/>
                <p:cNvSpPr txBox="1"/>
                <p:nvPr/>
              </p:nvSpPr>
              <p:spPr>
                <a:xfrm>
                  <a:off x="6732240" y="4005064"/>
                  <a:ext cx="50405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B</a:t>
                  </a:r>
                  <a:endParaRPr lang="en-US" dirty="0">
                    <a:latin typeface="Times New Roman" pitchFamily="18" charset="0"/>
                    <a:cs typeface="Times New Roman" pitchFamily="18" charset="0"/>
                  </a:endParaRPr>
                </a:p>
              </p:txBody>
            </p:sp>
          </p:grpSp>
          <p:sp>
            <p:nvSpPr>
              <p:cNvPr id="5" name="TextBox 4"/>
              <p:cNvSpPr txBox="1"/>
              <p:nvPr/>
            </p:nvSpPr>
            <p:spPr>
              <a:xfrm>
                <a:off x="6516216" y="3501008"/>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88</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6" name="TextBox 5"/>
              <p:cNvSpPr txBox="1"/>
              <p:nvPr/>
            </p:nvSpPr>
            <p:spPr>
              <a:xfrm>
                <a:off x="5076056" y="3131676"/>
                <a:ext cx="86409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12</a:t>
                </a:r>
                <a:r>
                  <a:rPr lang="en-AU" i="1" dirty="0"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7" name="TextBox 6"/>
              <p:cNvSpPr txBox="1"/>
              <p:nvPr/>
            </p:nvSpPr>
            <p:spPr>
              <a:xfrm>
                <a:off x="5796136" y="1835532"/>
                <a:ext cx="936104" cy="369332"/>
              </a:xfrm>
              <a:prstGeom prst="rect">
                <a:avLst/>
              </a:prstGeom>
              <a:noFill/>
            </p:spPr>
            <p:txBody>
              <a:bodyPr wrap="square" rtlCol="0">
                <a:spAutoFit/>
              </a:bodyPr>
              <a:lstStyle/>
              <a:p>
                <a:r>
                  <a:rPr lang="en-AU" i="1" dirty="0" smtClean="0">
                    <a:latin typeface="Times New Roman" pitchFamily="18" charset="0"/>
                    <a:cs typeface="Times New Roman" pitchFamily="18" charset="0"/>
                  </a:rPr>
                  <a:t>x </a:t>
                </a:r>
                <a:r>
                  <a:rPr lang="en-AU" i="1" dirty="0" err="1"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grpSp>
        <p:sp>
          <p:nvSpPr>
            <p:cNvPr id="15" name="TextBox 14"/>
            <p:cNvSpPr txBox="1"/>
            <p:nvPr/>
          </p:nvSpPr>
          <p:spPr>
            <a:xfrm>
              <a:off x="7812360" y="1556792"/>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sym typeface="Symbol"/>
                </a:rPr>
                <a:t>54</a:t>
              </a:r>
              <a:endParaRPr lang="en-US" dirty="0">
                <a:latin typeface="Times New Roman" pitchFamily="18" charset="0"/>
                <a:cs typeface="Times New Roman" pitchFamily="18" charset="0"/>
              </a:endParaRPr>
            </a:p>
          </p:txBody>
        </p:sp>
      </p:grpSp>
      <p:sp>
        <p:nvSpPr>
          <p:cNvPr id="16" name="TextBox 15"/>
          <p:cNvSpPr txBox="1"/>
          <p:nvPr/>
        </p:nvSpPr>
        <p:spPr>
          <a:xfrm>
            <a:off x="467544" y="3068960"/>
            <a:ext cx="6192688" cy="923330"/>
          </a:xfrm>
          <a:prstGeom prst="rect">
            <a:avLst/>
          </a:prstGeom>
          <a:noFill/>
        </p:spPr>
        <p:txBody>
          <a:bodyPr wrap="square" rtlCol="0">
            <a:spAutoFit/>
          </a:bodyPr>
          <a:lstStyle/>
          <a:p>
            <a:r>
              <a:rPr lang="en-AU" b="1" dirty="0" smtClean="0">
                <a:solidFill>
                  <a:srgbClr val="FF0000"/>
                </a:solidFill>
              </a:rPr>
              <a:t>VERY IMPORTANT!!  Take time to study the diagram. </a:t>
            </a:r>
            <a:r>
              <a:rPr lang="en-AU" dirty="0" smtClean="0"/>
              <a:t>Note the positions of the three “givens” (actual values you’re told) – the 88</a:t>
            </a:r>
            <a:r>
              <a:rPr lang="en-AU" dirty="0" smtClean="0">
                <a:sym typeface="Symbol"/>
              </a:rPr>
              <a:t></a:t>
            </a:r>
            <a:r>
              <a:rPr lang="en-AU" dirty="0" smtClean="0"/>
              <a:t>, 54</a:t>
            </a:r>
            <a:r>
              <a:rPr lang="en-AU" dirty="0" smtClean="0">
                <a:sym typeface="Symbol"/>
              </a:rPr>
              <a:t></a:t>
            </a:r>
            <a:r>
              <a:rPr lang="en-AU" dirty="0" smtClean="0"/>
              <a:t> and 12 </a:t>
            </a:r>
            <a:r>
              <a:rPr lang="en-AU" i="1" dirty="0" err="1" smtClean="0"/>
              <a:t>m</a:t>
            </a:r>
            <a:r>
              <a:rPr lang="en-AU" dirty="0" smtClean="0"/>
              <a:t>, and the one “unknown”, </a:t>
            </a:r>
            <a:r>
              <a:rPr lang="en-AU" i="1" dirty="0" smtClean="0"/>
              <a:t>x</a:t>
            </a:r>
            <a:r>
              <a:rPr lang="en-AU" dirty="0" smtClean="0"/>
              <a:t>. </a:t>
            </a:r>
            <a:endParaRPr lang="en-US" dirty="0"/>
          </a:p>
        </p:txBody>
      </p:sp>
      <p:sp>
        <p:nvSpPr>
          <p:cNvPr id="17" name="TextBox 16"/>
          <p:cNvSpPr txBox="1"/>
          <p:nvPr/>
        </p:nvSpPr>
        <p:spPr>
          <a:xfrm>
            <a:off x="467544" y="4089846"/>
            <a:ext cx="7560840" cy="369332"/>
          </a:xfrm>
          <a:prstGeom prst="rect">
            <a:avLst/>
          </a:prstGeom>
          <a:noFill/>
        </p:spPr>
        <p:txBody>
          <a:bodyPr wrap="square" rtlCol="0">
            <a:spAutoFit/>
          </a:bodyPr>
          <a:lstStyle/>
          <a:p>
            <a:r>
              <a:rPr lang="en-AU" dirty="0" smtClean="0"/>
              <a:t>The formula for the sine rule requires</a:t>
            </a:r>
            <a:endParaRPr lang="en-US" dirty="0"/>
          </a:p>
        </p:txBody>
      </p:sp>
      <p:sp>
        <p:nvSpPr>
          <p:cNvPr id="20" name="TextBox 19"/>
          <p:cNvSpPr txBox="1"/>
          <p:nvPr/>
        </p:nvSpPr>
        <p:spPr>
          <a:xfrm>
            <a:off x="1043608" y="4437112"/>
            <a:ext cx="7200800" cy="369332"/>
          </a:xfrm>
          <a:prstGeom prst="rect">
            <a:avLst/>
          </a:prstGeom>
          <a:noFill/>
        </p:spPr>
        <p:txBody>
          <a:bodyPr wrap="square" rtlCol="0">
            <a:spAutoFit/>
          </a:bodyPr>
          <a:lstStyle/>
          <a:p>
            <a:pPr>
              <a:buFont typeface="Arial" pitchFamily="34" charset="0"/>
              <a:buChar char="•"/>
            </a:pPr>
            <a:r>
              <a:rPr lang="en-AU" dirty="0" smtClean="0"/>
              <a:t>   three “givens” (in this case, 88</a:t>
            </a:r>
            <a:r>
              <a:rPr lang="en-AU" dirty="0" smtClean="0">
                <a:sym typeface="Symbol"/>
              </a:rPr>
              <a:t></a:t>
            </a:r>
            <a:r>
              <a:rPr lang="en-AU" dirty="0" smtClean="0"/>
              <a:t>, 54</a:t>
            </a:r>
            <a:r>
              <a:rPr lang="en-AU" dirty="0" smtClean="0">
                <a:sym typeface="Symbol"/>
              </a:rPr>
              <a:t></a:t>
            </a:r>
            <a:r>
              <a:rPr lang="en-AU" dirty="0" smtClean="0"/>
              <a:t> and 12 </a:t>
            </a:r>
            <a:r>
              <a:rPr lang="en-AU" i="1" dirty="0" err="1" smtClean="0"/>
              <a:t>m</a:t>
            </a:r>
            <a:r>
              <a:rPr lang="en-AU" dirty="0" smtClean="0"/>
              <a:t>) and one unknown (</a:t>
            </a:r>
            <a:r>
              <a:rPr lang="en-AU" i="1" dirty="0" smtClean="0"/>
              <a:t>x</a:t>
            </a:r>
            <a:r>
              <a:rPr lang="en-AU" dirty="0" smtClean="0"/>
              <a:t>)</a:t>
            </a:r>
          </a:p>
        </p:txBody>
      </p:sp>
      <p:sp>
        <p:nvSpPr>
          <p:cNvPr id="22" name="Oval 21"/>
          <p:cNvSpPr/>
          <p:nvPr/>
        </p:nvSpPr>
        <p:spPr>
          <a:xfrm>
            <a:off x="7812360" y="1556792"/>
            <a:ext cx="576064" cy="504056"/>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076056" y="2420888"/>
            <a:ext cx="648072" cy="576064"/>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6516216" y="2852936"/>
            <a:ext cx="576064" cy="504056"/>
          </a:xfrm>
          <a:prstGeom prst="ellipse">
            <a:avLst/>
          </a:prstGeom>
          <a:noFill/>
          <a:ln w="3175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652120" y="1196752"/>
            <a:ext cx="576064" cy="504056"/>
          </a:xfrm>
          <a:prstGeom prst="ellipse">
            <a:avLst/>
          </a:prstGeom>
          <a:noFill/>
          <a:ln w="31750">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2195736" y="6165304"/>
            <a:ext cx="4968552" cy="584775"/>
          </a:xfrm>
          <a:prstGeom prst="rect">
            <a:avLst/>
          </a:prstGeom>
          <a:noFill/>
        </p:spPr>
        <p:txBody>
          <a:bodyPr wrap="square" rtlCol="0">
            <a:spAutoFit/>
          </a:bodyPr>
          <a:lstStyle/>
          <a:p>
            <a:r>
              <a:rPr lang="en-AU" sz="1600" dirty="0" smtClean="0">
                <a:cs typeface="Arial" pitchFamily="34" charset="0"/>
              </a:rPr>
              <a:t>Note that the third angle C and its opposite side </a:t>
            </a:r>
            <a:r>
              <a:rPr lang="en-AU" sz="1600" i="1" dirty="0" smtClean="0">
                <a:cs typeface="Arial" pitchFamily="34" charset="0"/>
              </a:rPr>
              <a:t>c </a:t>
            </a:r>
            <a:r>
              <a:rPr lang="en-AU" sz="1600" dirty="0" smtClean="0">
                <a:cs typeface="Arial" pitchFamily="34" charset="0"/>
              </a:rPr>
              <a:t>are not used in this problem! </a:t>
            </a:r>
            <a:endParaRPr lang="en-US" sz="1600" dirty="0">
              <a:cs typeface="Arial" pitchFamily="34" charset="0"/>
            </a:endParaRPr>
          </a:p>
        </p:txBody>
      </p:sp>
      <p:sp>
        <p:nvSpPr>
          <p:cNvPr id="27" name="Rectangle 26"/>
          <p:cNvSpPr/>
          <p:nvPr/>
        </p:nvSpPr>
        <p:spPr>
          <a:xfrm>
            <a:off x="1043608" y="4797152"/>
            <a:ext cx="7776864" cy="646331"/>
          </a:xfrm>
          <a:prstGeom prst="rect">
            <a:avLst/>
          </a:prstGeom>
        </p:spPr>
        <p:txBody>
          <a:bodyPr wrap="square">
            <a:spAutoFit/>
          </a:bodyPr>
          <a:lstStyle/>
          <a:p>
            <a:pPr>
              <a:buFont typeface="Arial" pitchFamily="34" charset="0"/>
              <a:buChar char="•"/>
            </a:pPr>
            <a:r>
              <a:rPr lang="en-AU" dirty="0" smtClean="0"/>
              <a:t>   two of these givens must be </a:t>
            </a:r>
            <a:r>
              <a:rPr lang="en-AU" b="1" dirty="0" smtClean="0">
                <a:solidFill>
                  <a:srgbClr val="FF0000"/>
                </a:solidFill>
              </a:rPr>
              <a:t>an angle and its opposite side </a:t>
            </a:r>
            <a:r>
              <a:rPr lang="en-AU" dirty="0" smtClean="0"/>
              <a:t>(in this case, the 54</a:t>
            </a:r>
            <a:r>
              <a:rPr lang="en-AU" dirty="0" smtClean="0">
                <a:sym typeface="Symbol"/>
              </a:rPr>
              <a:t> and the 12 </a:t>
            </a:r>
            <a:r>
              <a:rPr lang="en-AU" i="1" dirty="0" err="1" smtClean="0">
                <a:sym typeface="Symbol"/>
              </a:rPr>
              <a:t>m</a:t>
            </a:r>
            <a:r>
              <a:rPr lang="en-AU" i="1" dirty="0" smtClean="0">
                <a:sym typeface="Symbol"/>
              </a:rPr>
              <a:t> </a:t>
            </a:r>
            <a:r>
              <a:rPr lang="en-AU" dirty="0" smtClean="0">
                <a:sym typeface="Symbol"/>
              </a:rPr>
              <a:t>which we will make our </a:t>
            </a:r>
            <a:r>
              <a:rPr lang="en-AU" i="1" dirty="0" smtClean="0">
                <a:sym typeface="Symbol"/>
              </a:rPr>
              <a:t>A </a:t>
            </a:r>
            <a:r>
              <a:rPr lang="en-AU" dirty="0" smtClean="0">
                <a:sym typeface="Symbol"/>
              </a:rPr>
              <a:t>and </a:t>
            </a:r>
            <a:r>
              <a:rPr lang="en-AU" i="1" dirty="0" smtClean="0">
                <a:sym typeface="Symbol"/>
              </a:rPr>
              <a:t>a</a:t>
            </a:r>
            <a:r>
              <a:rPr lang="en-AU" dirty="0" smtClean="0">
                <a:sym typeface="Symbol"/>
              </a:rPr>
              <a:t>). </a:t>
            </a:r>
          </a:p>
        </p:txBody>
      </p:sp>
      <p:sp>
        <p:nvSpPr>
          <p:cNvPr id="28" name="TextBox 27"/>
          <p:cNvSpPr txBox="1"/>
          <p:nvPr/>
        </p:nvSpPr>
        <p:spPr>
          <a:xfrm>
            <a:off x="1043608" y="5445224"/>
            <a:ext cx="7776864" cy="646331"/>
          </a:xfrm>
          <a:prstGeom prst="rect">
            <a:avLst/>
          </a:prstGeom>
          <a:noFill/>
        </p:spPr>
        <p:txBody>
          <a:bodyPr wrap="square" rtlCol="0">
            <a:spAutoFit/>
          </a:bodyPr>
          <a:lstStyle/>
          <a:p>
            <a:pPr>
              <a:buFont typeface="Arial" pitchFamily="34" charset="0"/>
              <a:buChar char="•"/>
            </a:pPr>
            <a:r>
              <a:rPr lang="en-AU" dirty="0" smtClean="0">
                <a:sym typeface="Symbol"/>
              </a:rPr>
              <a:t>   the third given (88) and the unknown (</a:t>
            </a:r>
            <a:r>
              <a:rPr lang="en-AU" i="1" dirty="0" smtClean="0">
                <a:sym typeface="Symbol"/>
              </a:rPr>
              <a:t>x</a:t>
            </a:r>
            <a:r>
              <a:rPr lang="en-AU" dirty="0" smtClean="0">
                <a:sym typeface="Symbol"/>
              </a:rPr>
              <a:t>) must also be </a:t>
            </a:r>
            <a:r>
              <a:rPr lang="en-AU" b="1" dirty="0" smtClean="0">
                <a:solidFill>
                  <a:srgbClr val="006600"/>
                </a:solidFill>
                <a:sym typeface="Symbol"/>
              </a:rPr>
              <a:t>an angle and its opposite side.</a:t>
            </a:r>
            <a:endParaRPr lang="en-US" dirty="0"/>
          </a:p>
        </p:txBody>
      </p:sp>
      <p:graphicFrame>
        <p:nvGraphicFramePr>
          <p:cNvPr id="6146" name="Object 2"/>
          <p:cNvGraphicFramePr>
            <a:graphicFrameLocks noChangeAspect="1"/>
          </p:cNvGraphicFramePr>
          <p:nvPr/>
        </p:nvGraphicFramePr>
        <p:xfrm>
          <a:off x="755576" y="1628800"/>
          <a:ext cx="2178050" cy="1008063"/>
        </p:xfrm>
        <a:graphic>
          <a:graphicData uri="http://schemas.openxmlformats.org/presentationml/2006/ole">
            <p:oleObj spid="_x0000_s6146" name="Equation" r:id="rId3" imgW="850680" imgH="393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diamond(in)">
                                      <p:cBhvr>
                                        <p:cTn id="7" dur="20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amond(in)">
                                      <p:cBhvr>
                                        <p:cTn id="12" dur="2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amond(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amond(in)">
                                      <p:cBhvr>
                                        <p:cTn id="22" dur="2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diamond(in)">
                                      <p:cBhvr>
                                        <p:cTn id="32" dur="2000"/>
                                        <p:tgtEl>
                                          <p:spTgt spid="27"/>
                                        </p:tgtEl>
                                      </p:cBhvr>
                                    </p:animEffect>
                                  </p:childTnLst>
                                </p:cTn>
                              </p:par>
                            </p:childTnLst>
                          </p:cTn>
                        </p:par>
                        <p:par>
                          <p:cTn id="33" fill="hold">
                            <p:stCondLst>
                              <p:cond delay="2000"/>
                            </p:stCondLst>
                            <p:childTnLst>
                              <p:par>
                                <p:cTn id="34" presetID="9" presetClass="entr" presetSubtype="0"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dissolve">
                                      <p:cBhvr>
                                        <p:cTn id="36" dur="500"/>
                                        <p:tgtEl>
                                          <p:spTgt spid="23"/>
                                        </p:tgtEl>
                                      </p:cBhvr>
                                    </p:animEffect>
                                  </p:childTnLst>
                                </p:cTn>
                              </p:par>
                            </p:childTnLst>
                          </p:cTn>
                        </p:par>
                        <p:par>
                          <p:cTn id="37" fill="hold">
                            <p:stCondLst>
                              <p:cond delay="2500"/>
                            </p:stCondLst>
                            <p:childTnLst>
                              <p:par>
                                <p:cTn id="38" presetID="9" presetClass="entr" presetSubtype="0" fill="hold" grpId="0" nodeType="after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35" presetClass="emph" presetSubtype="0" repeatCount="4000" fill="hold" grpId="1" nodeType="withEffect">
                                  <p:stCondLst>
                                    <p:cond delay="0"/>
                                  </p:stCondLst>
                                  <p:childTnLst>
                                    <p:anim calcmode="discrete" valueType="str">
                                      <p:cBhvr>
                                        <p:cTn id="42" dur="2000" fill="hold"/>
                                        <p:tgtEl>
                                          <p:spTgt spid="23"/>
                                        </p:tgtEl>
                                        <p:attrNameLst>
                                          <p:attrName>style.visibility</p:attrName>
                                        </p:attrNameLst>
                                      </p:cBhvr>
                                      <p:tavLst>
                                        <p:tav tm="0">
                                          <p:val>
                                            <p:strVal val="hidden"/>
                                          </p:val>
                                        </p:tav>
                                        <p:tav tm="50000">
                                          <p:val>
                                            <p:strVal val="visible"/>
                                          </p:val>
                                        </p:tav>
                                      </p:tavLst>
                                    </p:anim>
                                  </p:childTnLst>
                                </p:cTn>
                              </p:par>
                              <p:par>
                                <p:cTn id="43" presetID="35" presetClass="emph" presetSubtype="0" repeatCount="4000" fill="hold" grpId="1" nodeType="withEffect">
                                  <p:stCondLst>
                                    <p:cond delay="0"/>
                                  </p:stCondLst>
                                  <p:childTnLst>
                                    <p:anim calcmode="discrete" valueType="str">
                                      <p:cBhvr>
                                        <p:cTn id="44" dur="2000" fill="hold"/>
                                        <p:tgtEl>
                                          <p:spTgt spid="22"/>
                                        </p:tgtEl>
                                        <p:attrNameLst>
                                          <p:attrName>style.visibility</p:attrName>
                                        </p:attrNameLst>
                                      </p:cBhvr>
                                      <p:tavLst>
                                        <p:tav tm="0">
                                          <p:val>
                                            <p:strVal val="hidden"/>
                                          </p:val>
                                        </p:tav>
                                        <p:tav tm="50000">
                                          <p:val>
                                            <p:strVal val="visible"/>
                                          </p:val>
                                        </p:tav>
                                      </p:tavLst>
                                    </p:anim>
                                  </p:childTnLst>
                                </p:cTn>
                              </p:par>
                            </p:childTnLst>
                          </p:cTn>
                        </p:par>
                        <p:par>
                          <p:cTn id="45" fill="hold">
                            <p:stCondLst>
                              <p:cond delay="10500"/>
                            </p:stCondLst>
                            <p:childTnLst>
                              <p:par>
                                <p:cTn id="46" presetID="2" presetClass="exit" presetSubtype="4" fill="hold" grpId="2" nodeType="afterEffect">
                                  <p:stCondLst>
                                    <p:cond delay="0"/>
                                  </p:stCondLst>
                                  <p:childTnLst>
                                    <p:anim calcmode="lin" valueType="num">
                                      <p:cBhvr additive="base">
                                        <p:cTn id="47" dur="500"/>
                                        <p:tgtEl>
                                          <p:spTgt spid="22"/>
                                        </p:tgtEl>
                                        <p:attrNameLst>
                                          <p:attrName>ppt_x</p:attrName>
                                        </p:attrNameLst>
                                      </p:cBhvr>
                                      <p:tavLst>
                                        <p:tav tm="0">
                                          <p:val>
                                            <p:strVal val="ppt_x"/>
                                          </p:val>
                                        </p:tav>
                                        <p:tav tm="100000">
                                          <p:val>
                                            <p:strVal val="ppt_x"/>
                                          </p:val>
                                        </p:tav>
                                      </p:tavLst>
                                    </p:anim>
                                    <p:anim calcmode="lin" valueType="num">
                                      <p:cBhvr additive="base">
                                        <p:cTn id="48" dur="500"/>
                                        <p:tgtEl>
                                          <p:spTgt spid="22"/>
                                        </p:tgtEl>
                                        <p:attrNameLst>
                                          <p:attrName>ppt_y</p:attrName>
                                        </p:attrNameLst>
                                      </p:cBhvr>
                                      <p:tavLst>
                                        <p:tav tm="0">
                                          <p:val>
                                            <p:strVal val="ppt_y"/>
                                          </p:val>
                                        </p:tav>
                                        <p:tav tm="100000">
                                          <p:val>
                                            <p:strVal val="1+ppt_h/2"/>
                                          </p:val>
                                        </p:tav>
                                      </p:tavLst>
                                    </p:anim>
                                    <p:set>
                                      <p:cBhvr>
                                        <p:cTn id="49" dur="1" fill="hold">
                                          <p:stCondLst>
                                            <p:cond delay="499"/>
                                          </p:stCondLst>
                                        </p:cTn>
                                        <p:tgtEl>
                                          <p:spTgt spid="22"/>
                                        </p:tgtEl>
                                        <p:attrNameLst>
                                          <p:attrName>style.visibility</p:attrName>
                                        </p:attrNameLst>
                                      </p:cBhvr>
                                      <p:to>
                                        <p:strVal val="hidden"/>
                                      </p:to>
                                    </p:set>
                                  </p:childTnLst>
                                </p:cTn>
                              </p:par>
                              <p:par>
                                <p:cTn id="50" presetID="2" presetClass="exit" presetSubtype="4" fill="hold" grpId="2" nodeType="withEffect">
                                  <p:stCondLst>
                                    <p:cond delay="0"/>
                                  </p:stCondLst>
                                  <p:childTnLst>
                                    <p:anim calcmode="lin" valueType="num">
                                      <p:cBhvr additive="base">
                                        <p:cTn id="51" dur="500"/>
                                        <p:tgtEl>
                                          <p:spTgt spid="23"/>
                                        </p:tgtEl>
                                        <p:attrNameLst>
                                          <p:attrName>ppt_x</p:attrName>
                                        </p:attrNameLst>
                                      </p:cBhvr>
                                      <p:tavLst>
                                        <p:tav tm="0">
                                          <p:val>
                                            <p:strVal val="ppt_x"/>
                                          </p:val>
                                        </p:tav>
                                        <p:tav tm="100000">
                                          <p:val>
                                            <p:strVal val="ppt_x"/>
                                          </p:val>
                                        </p:tav>
                                      </p:tavLst>
                                    </p:anim>
                                    <p:anim calcmode="lin" valueType="num">
                                      <p:cBhvr additive="base">
                                        <p:cTn id="52" dur="500"/>
                                        <p:tgtEl>
                                          <p:spTgt spid="23"/>
                                        </p:tgtEl>
                                        <p:attrNameLst>
                                          <p:attrName>ppt_y</p:attrName>
                                        </p:attrNameLst>
                                      </p:cBhvr>
                                      <p:tavLst>
                                        <p:tav tm="0">
                                          <p:val>
                                            <p:strVal val="ppt_y"/>
                                          </p:val>
                                        </p:tav>
                                        <p:tav tm="100000">
                                          <p:val>
                                            <p:strVal val="1+ppt_h/2"/>
                                          </p:val>
                                        </p:tav>
                                      </p:tavLst>
                                    </p:anim>
                                    <p:set>
                                      <p:cBhvr>
                                        <p:cTn id="53" dur="1" fill="hold">
                                          <p:stCondLst>
                                            <p:cond delay="499"/>
                                          </p:stCondLst>
                                        </p:cTn>
                                        <p:tgtEl>
                                          <p:spTgt spid="2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8" presetClass="entr" presetSubtype="16"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diamond(in)">
                                      <p:cBhvr>
                                        <p:cTn id="58" dur="20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35"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2000"/>
                                        <p:tgtEl>
                                          <p:spTgt spid="25"/>
                                        </p:tgtEl>
                                      </p:cBhvr>
                                    </p:animEffect>
                                    <p:anim calcmode="lin" valueType="num">
                                      <p:cBhvr>
                                        <p:cTn id="64" dur="2000" fill="hold"/>
                                        <p:tgtEl>
                                          <p:spTgt spid="25"/>
                                        </p:tgtEl>
                                        <p:attrNameLst>
                                          <p:attrName>style.rotation</p:attrName>
                                        </p:attrNameLst>
                                      </p:cBhvr>
                                      <p:tavLst>
                                        <p:tav tm="0">
                                          <p:val>
                                            <p:fltVal val="720"/>
                                          </p:val>
                                        </p:tav>
                                        <p:tav tm="100000">
                                          <p:val>
                                            <p:fltVal val="0"/>
                                          </p:val>
                                        </p:tav>
                                      </p:tavLst>
                                    </p:anim>
                                    <p:anim calcmode="lin" valueType="num">
                                      <p:cBhvr>
                                        <p:cTn id="65" dur="2000" fill="hold"/>
                                        <p:tgtEl>
                                          <p:spTgt spid="25"/>
                                        </p:tgtEl>
                                        <p:attrNameLst>
                                          <p:attrName>ppt_h</p:attrName>
                                        </p:attrNameLst>
                                      </p:cBhvr>
                                      <p:tavLst>
                                        <p:tav tm="0">
                                          <p:val>
                                            <p:fltVal val="0"/>
                                          </p:val>
                                        </p:tav>
                                        <p:tav tm="100000">
                                          <p:val>
                                            <p:strVal val="#ppt_h"/>
                                          </p:val>
                                        </p:tav>
                                      </p:tavLst>
                                    </p:anim>
                                    <p:anim calcmode="lin" valueType="num">
                                      <p:cBhvr>
                                        <p:cTn id="66" dur="2000" fill="hold"/>
                                        <p:tgtEl>
                                          <p:spTgt spid="25"/>
                                        </p:tgtEl>
                                        <p:attrNameLst>
                                          <p:attrName>ppt_w</p:attrName>
                                        </p:attrNameLst>
                                      </p:cBhvr>
                                      <p:tavLst>
                                        <p:tav tm="0">
                                          <p:val>
                                            <p:fltVal val="0"/>
                                          </p:val>
                                        </p:tav>
                                        <p:tav tm="100000">
                                          <p:val>
                                            <p:strVal val="#ppt_w"/>
                                          </p:val>
                                        </p:tav>
                                      </p:tavLst>
                                    </p:anim>
                                  </p:childTnLst>
                                </p:cTn>
                              </p:par>
                              <p:par>
                                <p:cTn id="67" presetID="35"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2000"/>
                                        <p:tgtEl>
                                          <p:spTgt spid="24"/>
                                        </p:tgtEl>
                                      </p:cBhvr>
                                    </p:animEffect>
                                    <p:anim calcmode="lin" valueType="num">
                                      <p:cBhvr>
                                        <p:cTn id="70" dur="2000" fill="hold"/>
                                        <p:tgtEl>
                                          <p:spTgt spid="24"/>
                                        </p:tgtEl>
                                        <p:attrNameLst>
                                          <p:attrName>style.rotation</p:attrName>
                                        </p:attrNameLst>
                                      </p:cBhvr>
                                      <p:tavLst>
                                        <p:tav tm="0">
                                          <p:val>
                                            <p:fltVal val="720"/>
                                          </p:val>
                                        </p:tav>
                                        <p:tav tm="100000">
                                          <p:val>
                                            <p:fltVal val="0"/>
                                          </p:val>
                                        </p:tav>
                                      </p:tavLst>
                                    </p:anim>
                                    <p:anim calcmode="lin" valueType="num">
                                      <p:cBhvr>
                                        <p:cTn id="71" dur="2000" fill="hold"/>
                                        <p:tgtEl>
                                          <p:spTgt spid="24"/>
                                        </p:tgtEl>
                                        <p:attrNameLst>
                                          <p:attrName>ppt_h</p:attrName>
                                        </p:attrNameLst>
                                      </p:cBhvr>
                                      <p:tavLst>
                                        <p:tav tm="0">
                                          <p:val>
                                            <p:fltVal val="0"/>
                                          </p:val>
                                        </p:tav>
                                        <p:tav tm="100000">
                                          <p:val>
                                            <p:strVal val="#ppt_h"/>
                                          </p:val>
                                        </p:tav>
                                      </p:tavLst>
                                    </p:anim>
                                    <p:anim calcmode="lin" valueType="num">
                                      <p:cBhvr>
                                        <p:cTn id="72" dur="2000" fill="hold"/>
                                        <p:tgtEl>
                                          <p:spTgt spid="24"/>
                                        </p:tgtEl>
                                        <p:attrNameLst>
                                          <p:attrName>ppt_w</p:attrName>
                                        </p:attrNameLst>
                                      </p:cBhvr>
                                      <p:tavLst>
                                        <p:tav tm="0">
                                          <p:val>
                                            <p:fltVal val="0"/>
                                          </p:val>
                                        </p:tav>
                                        <p:tav tm="100000">
                                          <p:val>
                                            <p:strVal val="#ppt_w"/>
                                          </p:val>
                                        </p:tav>
                                      </p:tavLst>
                                    </p:anim>
                                  </p:childTnLst>
                                </p:cTn>
                              </p:par>
                            </p:childTnLst>
                          </p:cTn>
                        </p:par>
                        <p:par>
                          <p:cTn id="73" fill="hold">
                            <p:stCondLst>
                              <p:cond delay="2000"/>
                            </p:stCondLst>
                            <p:childTnLst>
                              <p:par>
                                <p:cTn id="74" presetID="8" presetClass="emph" presetSubtype="0" fill="hold" grpId="1" nodeType="afterEffect">
                                  <p:stCondLst>
                                    <p:cond delay="0"/>
                                  </p:stCondLst>
                                  <p:childTnLst>
                                    <p:animRot by="21600000">
                                      <p:cBhvr>
                                        <p:cTn id="75" dur="2000" fill="hold"/>
                                        <p:tgtEl>
                                          <p:spTgt spid="25"/>
                                        </p:tgtEl>
                                        <p:attrNameLst>
                                          <p:attrName>r</p:attrName>
                                        </p:attrNameLst>
                                      </p:cBhvr>
                                    </p:animRot>
                                  </p:childTnLst>
                                </p:cTn>
                              </p:par>
                              <p:par>
                                <p:cTn id="76" presetID="8" presetClass="emph" presetSubtype="0" fill="hold" grpId="1" nodeType="withEffect">
                                  <p:stCondLst>
                                    <p:cond delay="0"/>
                                  </p:stCondLst>
                                  <p:childTnLst>
                                    <p:animRot by="21600000">
                                      <p:cBhvr>
                                        <p:cTn id="77" dur="2000" fill="hold"/>
                                        <p:tgtEl>
                                          <p:spTgt spid="24"/>
                                        </p:tgtEl>
                                        <p:attrNameLst>
                                          <p:attrName>r</p:attrName>
                                        </p:attrNameLst>
                                      </p:cBhvr>
                                    </p:animRot>
                                  </p:childTnLst>
                                </p:cTn>
                              </p:par>
                            </p:childTnLst>
                          </p:cTn>
                        </p:par>
                        <p:par>
                          <p:cTn id="78" fill="hold">
                            <p:stCondLst>
                              <p:cond delay="4000"/>
                            </p:stCondLst>
                            <p:childTnLst>
                              <p:par>
                                <p:cTn id="79" presetID="2" presetClass="exit" presetSubtype="9" fill="hold" grpId="2" nodeType="afterEffect">
                                  <p:stCondLst>
                                    <p:cond delay="0"/>
                                  </p:stCondLst>
                                  <p:childTnLst>
                                    <p:anim calcmode="lin" valueType="num">
                                      <p:cBhvr additive="base">
                                        <p:cTn id="80" dur="500"/>
                                        <p:tgtEl>
                                          <p:spTgt spid="25"/>
                                        </p:tgtEl>
                                        <p:attrNameLst>
                                          <p:attrName>ppt_x</p:attrName>
                                        </p:attrNameLst>
                                      </p:cBhvr>
                                      <p:tavLst>
                                        <p:tav tm="0">
                                          <p:val>
                                            <p:strVal val="ppt_x"/>
                                          </p:val>
                                        </p:tav>
                                        <p:tav tm="100000">
                                          <p:val>
                                            <p:strVal val="0-ppt_w/2"/>
                                          </p:val>
                                        </p:tav>
                                      </p:tavLst>
                                    </p:anim>
                                    <p:anim calcmode="lin" valueType="num">
                                      <p:cBhvr additive="base">
                                        <p:cTn id="81" dur="500"/>
                                        <p:tgtEl>
                                          <p:spTgt spid="25"/>
                                        </p:tgtEl>
                                        <p:attrNameLst>
                                          <p:attrName>ppt_y</p:attrName>
                                        </p:attrNameLst>
                                      </p:cBhvr>
                                      <p:tavLst>
                                        <p:tav tm="0">
                                          <p:val>
                                            <p:strVal val="ppt_y"/>
                                          </p:val>
                                        </p:tav>
                                        <p:tav tm="100000">
                                          <p:val>
                                            <p:strVal val="0-ppt_h/2"/>
                                          </p:val>
                                        </p:tav>
                                      </p:tavLst>
                                    </p:anim>
                                    <p:set>
                                      <p:cBhvr>
                                        <p:cTn id="82" dur="1" fill="hold">
                                          <p:stCondLst>
                                            <p:cond delay="499"/>
                                          </p:stCondLst>
                                        </p:cTn>
                                        <p:tgtEl>
                                          <p:spTgt spid="25"/>
                                        </p:tgtEl>
                                        <p:attrNameLst>
                                          <p:attrName>style.visibility</p:attrName>
                                        </p:attrNameLst>
                                      </p:cBhvr>
                                      <p:to>
                                        <p:strVal val="hidden"/>
                                      </p:to>
                                    </p:set>
                                  </p:childTnLst>
                                </p:cTn>
                              </p:par>
                              <p:par>
                                <p:cTn id="83" presetID="2" presetClass="exit" presetSubtype="9" fill="hold" grpId="2" nodeType="withEffect">
                                  <p:stCondLst>
                                    <p:cond delay="0"/>
                                  </p:stCondLst>
                                  <p:childTnLst>
                                    <p:anim calcmode="lin" valueType="num">
                                      <p:cBhvr additive="base">
                                        <p:cTn id="84" dur="500"/>
                                        <p:tgtEl>
                                          <p:spTgt spid="24"/>
                                        </p:tgtEl>
                                        <p:attrNameLst>
                                          <p:attrName>ppt_x</p:attrName>
                                        </p:attrNameLst>
                                      </p:cBhvr>
                                      <p:tavLst>
                                        <p:tav tm="0">
                                          <p:val>
                                            <p:strVal val="ppt_x"/>
                                          </p:val>
                                        </p:tav>
                                        <p:tav tm="100000">
                                          <p:val>
                                            <p:strVal val="0-ppt_w/2"/>
                                          </p:val>
                                        </p:tav>
                                      </p:tavLst>
                                    </p:anim>
                                    <p:anim calcmode="lin" valueType="num">
                                      <p:cBhvr additive="base">
                                        <p:cTn id="85" dur="500"/>
                                        <p:tgtEl>
                                          <p:spTgt spid="24"/>
                                        </p:tgtEl>
                                        <p:attrNameLst>
                                          <p:attrName>ppt_y</p:attrName>
                                        </p:attrNameLst>
                                      </p:cBhvr>
                                      <p:tavLst>
                                        <p:tav tm="0">
                                          <p:val>
                                            <p:strVal val="ppt_y"/>
                                          </p:val>
                                        </p:tav>
                                        <p:tav tm="100000">
                                          <p:val>
                                            <p:strVal val="0-ppt_h/2"/>
                                          </p:val>
                                        </p:tav>
                                      </p:tavLst>
                                    </p:anim>
                                    <p:set>
                                      <p:cBhvr>
                                        <p:cTn id="86" dur="1" fill="hold">
                                          <p:stCondLst>
                                            <p:cond delay="499"/>
                                          </p:stCondLst>
                                        </p:cTn>
                                        <p:tgtEl>
                                          <p:spTgt spid="2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35" presetClass="entr" presetSubtype="0"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2000"/>
                                        <p:tgtEl>
                                          <p:spTgt spid="26"/>
                                        </p:tgtEl>
                                      </p:cBhvr>
                                    </p:animEffect>
                                    <p:anim calcmode="lin" valueType="num">
                                      <p:cBhvr>
                                        <p:cTn id="92" dur="2000" fill="hold"/>
                                        <p:tgtEl>
                                          <p:spTgt spid="26"/>
                                        </p:tgtEl>
                                        <p:attrNameLst>
                                          <p:attrName>style.rotation</p:attrName>
                                        </p:attrNameLst>
                                      </p:cBhvr>
                                      <p:tavLst>
                                        <p:tav tm="0">
                                          <p:val>
                                            <p:fltVal val="720"/>
                                          </p:val>
                                        </p:tav>
                                        <p:tav tm="100000">
                                          <p:val>
                                            <p:fltVal val="0"/>
                                          </p:val>
                                        </p:tav>
                                      </p:tavLst>
                                    </p:anim>
                                    <p:anim calcmode="lin" valueType="num">
                                      <p:cBhvr>
                                        <p:cTn id="93" dur="2000" fill="hold"/>
                                        <p:tgtEl>
                                          <p:spTgt spid="26"/>
                                        </p:tgtEl>
                                        <p:attrNameLst>
                                          <p:attrName>ppt_h</p:attrName>
                                        </p:attrNameLst>
                                      </p:cBhvr>
                                      <p:tavLst>
                                        <p:tav tm="0">
                                          <p:val>
                                            <p:fltVal val="0"/>
                                          </p:val>
                                        </p:tav>
                                        <p:tav tm="100000">
                                          <p:val>
                                            <p:strVal val="#ppt_h"/>
                                          </p:val>
                                        </p:tav>
                                      </p:tavLst>
                                    </p:anim>
                                    <p:anim calcmode="lin" valueType="num">
                                      <p:cBhvr>
                                        <p:cTn id="94" dur="2000" fill="hold"/>
                                        <p:tgtEl>
                                          <p:spTgt spid="2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2" grpId="0" animBg="1"/>
      <p:bldP spid="22" grpId="1" animBg="1"/>
      <p:bldP spid="22" grpId="2" animBg="1"/>
      <p:bldP spid="23" grpId="0" animBg="1"/>
      <p:bldP spid="23" grpId="1" animBg="1"/>
      <p:bldP spid="23" grpId="2" animBg="1"/>
      <p:bldP spid="24" grpId="0" animBg="1"/>
      <p:bldP spid="24" grpId="1" animBg="1"/>
      <p:bldP spid="24" grpId="2" animBg="1"/>
      <p:bldP spid="25" grpId="0" animBg="1"/>
      <p:bldP spid="25" grpId="1" animBg="1"/>
      <p:bldP spid="25" grpId="2" animBg="1"/>
      <p:bldP spid="26"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p:cNvGrpSpPr/>
          <p:nvPr/>
        </p:nvGrpSpPr>
        <p:grpSpPr>
          <a:xfrm>
            <a:off x="3203848" y="260648"/>
            <a:ext cx="5472608" cy="2538864"/>
            <a:chOff x="3203848" y="260648"/>
            <a:chExt cx="5472608" cy="2538864"/>
          </a:xfrm>
        </p:grpSpPr>
        <p:grpSp>
          <p:nvGrpSpPr>
            <p:cNvPr id="2" name="Group 20"/>
            <p:cNvGrpSpPr/>
            <p:nvPr/>
          </p:nvGrpSpPr>
          <p:grpSpPr>
            <a:xfrm>
              <a:off x="3203848" y="260648"/>
              <a:ext cx="5472608" cy="2538864"/>
              <a:chOff x="3419872" y="1835532"/>
              <a:chExt cx="5472608" cy="2538864"/>
            </a:xfrm>
          </p:grpSpPr>
          <p:grpSp>
            <p:nvGrpSpPr>
              <p:cNvPr id="3" name="Group 15"/>
              <p:cNvGrpSpPr/>
              <p:nvPr/>
            </p:nvGrpSpPr>
            <p:grpSpPr>
              <a:xfrm>
                <a:off x="3419872" y="1844824"/>
                <a:ext cx="5472608" cy="2529572"/>
                <a:chOff x="3419872" y="1844824"/>
                <a:chExt cx="5472608" cy="2529572"/>
              </a:xfrm>
            </p:grpSpPr>
            <p:grpSp>
              <p:nvGrpSpPr>
                <p:cNvPr id="7" name="Group 11"/>
                <p:cNvGrpSpPr/>
                <p:nvPr/>
              </p:nvGrpSpPr>
              <p:grpSpPr>
                <a:xfrm>
                  <a:off x="3635896" y="2132856"/>
                  <a:ext cx="4824536" cy="1872208"/>
                  <a:chOff x="5868144" y="2132856"/>
                  <a:chExt cx="2592288" cy="576064"/>
                </a:xfrm>
              </p:grpSpPr>
              <p:cxnSp>
                <p:nvCxnSpPr>
                  <p:cNvPr id="11" name="Straight Connector 6"/>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TextBox 7"/>
                <p:cNvSpPr txBox="1"/>
                <p:nvPr/>
              </p:nvSpPr>
              <p:spPr>
                <a:xfrm>
                  <a:off x="3419872" y="1844824"/>
                  <a:ext cx="504056" cy="369332"/>
                </a:xfrm>
                <a:prstGeom prst="rect">
                  <a:avLst/>
                </a:prstGeom>
                <a:noFill/>
              </p:spPr>
              <p:txBody>
                <a:bodyPr wrap="square" rtlCol="0">
                  <a:spAutoFit/>
                </a:bodyPr>
                <a:lstStyle/>
                <a:p>
                  <a:r>
                    <a:rPr lang="en-AU" dirty="0">
                      <a:latin typeface="Times New Roman" pitchFamily="18" charset="0"/>
                      <a:cs typeface="Times New Roman" pitchFamily="18" charset="0"/>
                    </a:rPr>
                    <a:t>C</a:t>
                  </a:r>
                  <a:endParaRPr lang="en-US" dirty="0">
                    <a:latin typeface="Times New Roman" pitchFamily="18" charset="0"/>
                    <a:cs typeface="Times New Roman" pitchFamily="18" charset="0"/>
                  </a:endParaRPr>
                </a:p>
              </p:txBody>
            </p:sp>
            <p:sp>
              <p:nvSpPr>
                <p:cNvPr id="9" name="TextBox 8"/>
                <p:cNvSpPr txBox="1"/>
                <p:nvPr/>
              </p:nvSpPr>
              <p:spPr>
                <a:xfrm>
                  <a:off x="8388424" y="1844824"/>
                  <a:ext cx="50405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A</a:t>
                  </a:r>
                  <a:endParaRPr lang="en-US" dirty="0">
                    <a:latin typeface="Times New Roman" pitchFamily="18" charset="0"/>
                    <a:cs typeface="Times New Roman" pitchFamily="18" charset="0"/>
                  </a:endParaRPr>
                </a:p>
              </p:txBody>
            </p:sp>
            <p:sp>
              <p:nvSpPr>
                <p:cNvPr id="10" name="TextBox 9"/>
                <p:cNvSpPr txBox="1"/>
                <p:nvPr/>
              </p:nvSpPr>
              <p:spPr>
                <a:xfrm>
                  <a:off x="6732240" y="4005064"/>
                  <a:ext cx="50405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B</a:t>
                  </a:r>
                  <a:endParaRPr lang="en-US" dirty="0">
                    <a:latin typeface="Times New Roman" pitchFamily="18" charset="0"/>
                    <a:cs typeface="Times New Roman" pitchFamily="18" charset="0"/>
                  </a:endParaRPr>
                </a:p>
              </p:txBody>
            </p:sp>
          </p:grpSp>
          <p:sp>
            <p:nvSpPr>
              <p:cNvPr id="4" name="TextBox 3"/>
              <p:cNvSpPr txBox="1"/>
              <p:nvPr/>
            </p:nvSpPr>
            <p:spPr>
              <a:xfrm>
                <a:off x="6516216" y="3501008"/>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88</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5" name="TextBox 4"/>
              <p:cNvSpPr txBox="1"/>
              <p:nvPr/>
            </p:nvSpPr>
            <p:spPr>
              <a:xfrm>
                <a:off x="5076056" y="3131676"/>
                <a:ext cx="86409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12m</a:t>
                </a:r>
                <a:endParaRPr lang="en-US" dirty="0">
                  <a:latin typeface="Times New Roman" pitchFamily="18" charset="0"/>
                  <a:cs typeface="Times New Roman" pitchFamily="18" charset="0"/>
                </a:endParaRPr>
              </a:p>
            </p:txBody>
          </p:sp>
          <p:sp>
            <p:nvSpPr>
              <p:cNvPr id="6" name="TextBox 5"/>
              <p:cNvSpPr txBox="1"/>
              <p:nvPr/>
            </p:nvSpPr>
            <p:spPr>
              <a:xfrm>
                <a:off x="5796136" y="1835532"/>
                <a:ext cx="936104" cy="369332"/>
              </a:xfrm>
              <a:prstGeom prst="rect">
                <a:avLst/>
              </a:prstGeom>
              <a:noFill/>
            </p:spPr>
            <p:txBody>
              <a:bodyPr wrap="square" rtlCol="0">
                <a:spAutoFit/>
              </a:bodyPr>
              <a:lstStyle/>
              <a:p>
                <a:r>
                  <a:rPr lang="en-AU" i="1" dirty="0" smtClean="0">
                    <a:solidFill>
                      <a:srgbClr val="FF0000"/>
                    </a:solidFill>
                    <a:latin typeface="Times New Roman" pitchFamily="18" charset="0"/>
                    <a:cs typeface="Times New Roman" pitchFamily="18" charset="0"/>
                  </a:rPr>
                  <a:t>x</a:t>
                </a:r>
                <a:endParaRPr lang="en-US" i="1" dirty="0">
                  <a:solidFill>
                    <a:srgbClr val="FF0000"/>
                  </a:solidFill>
                  <a:latin typeface="Times New Roman" pitchFamily="18" charset="0"/>
                  <a:cs typeface="Times New Roman" pitchFamily="18" charset="0"/>
                </a:endParaRPr>
              </a:p>
            </p:txBody>
          </p:sp>
        </p:grpSp>
        <p:sp>
          <p:nvSpPr>
            <p:cNvPr id="14" name="TextBox 13"/>
            <p:cNvSpPr txBox="1"/>
            <p:nvPr/>
          </p:nvSpPr>
          <p:spPr>
            <a:xfrm>
              <a:off x="7596336" y="557972"/>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sym typeface="Symbol"/>
                </a:rPr>
                <a:t>54</a:t>
              </a:r>
              <a:endParaRPr lang="en-US" dirty="0">
                <a:latin typeface="Times New Roman" pitchFamily="18" charset="0"/>
                <a:cs typeface="Times New Roman" pitchFamily="18" charset="0"/>
              </a:endParaRPr>
            </a:p>
          </p:txBody>
        </p:sp>
      </p:grpSp>
      <p:graphicFrame>
        <p:nvGraphicFramePr>
          <p:cNvPr id="5122" name="Object 2"/>
          <p:cNvGraphicFramePr>
            <a:graphicFrameLocks noChangeAspect="1"/>
          </p:cNvGraphicFramePr>
          <p:nvPr/>
        </p:nvGraphicFramePr>
        <p:xfrm>
          <a:off x="827584" y="764704"/>
          <a:ext cx="2178050" cy="1008062"/>
        </p:xfrm>
        <a:graphic>
          <a:graphicData uri="http://schemas.openxmlformats.org/presentationml/2006/ole">
            <p:oleObj spid="_x0000_s5122" name="Equation" r:id="rId3" imgW="850680" imgH="393480" progId="Equation.3">
              <p:embed/>
            </p:oleObj>
          </a:graphicData>
        </a:graphic>
      </p:graphicFrame>
      <p:sp>
        <p:nvSpPr>
          <p:cNvPr id="17" name="TextBox 16"/>
          <p:cNvSpPr txBox="1"/>
          <p:nvPr/>
        </p:nvSpPr>
        <p:spPr>
          <a:xfrm>
            <a:off x="467544" y="2276872"/>
            <a:ext cx="4824536" cy="646331"/>
          </a:xfrm>
          <a:prstGeom prst="rect">
            <a:avLst/>
          </a:prstGeom>
          <a:noFill/>
        </p:spPr>
        <p:txBody>
          <a:bodyPr wrap="square" rtlCol="0">
            <a:spAutoFit/>
          </a:bodyPr>
          <a:lstStyle/>
          <a:p>
            <a:r>
              <a:rPr lang="en-AU" dirty="0" smtClean="0"/>
              <a:t>Now we substitute the 3 givens and the unknown into this formula…..</a:t>
            </a:r>
            <a:endParaRPr lang="en-US" dirty="0"/>
          </a:p>
        </p:txBody>
      </p:sp>
      <p:sp>
        <p:nvSpPr>
          <p:cNvPr id="18" name="TextBox 17"/>
          <p:cNvSpPr txBox="1"/>
          <p:nvPr/>
        </p:nvSpPr>
        <p:spPr>
          <a:xfrm>
            <a:off x="467544" y="3212976"/>
            <a:ext cx="936104" cy="369332"/>
          </a:xfrm>
          <a:prstGeom prst="rect">
            <a:avLst/>
          </a:prstGeom>
          <a:noFill/>
        </p:spPr>
        <p:txBody>
          <a:bodyPr wrap="square" rtlCol="0">
            <a:spAutoFit/>
          </a:bodyPr>
          <a:lstStyle/>
          <a:p>
            <a:r>
              <a:rPr lang="en-AU" dirty="0" smtClean="0">
                <a:latin typeface="Times New Roman" pitchFamily="18" charset="0"/>
                <a:cs typeface="Times New Roman" pitchFamily="18" charset="0"/>
              </a:rPr>
              <a:t>A = 54</a:t>
            </a:r>
            <a:endParaRPr lang="en-US" dirty="0">
              <a:latin typeface="Times New Roman" pitchFamily="18" charset="0"/>
              <a:cs typeface="Times New Roman" pitchFamily="18" charset="0"/>
            </a:endParaRPr>
          </a:p>
        </p:txBody>
      </p:sp>
      <p:sp>
        <p:nvSpPr>
          <p:cNvPr id="19" name="TextBox 18"/>
          <p:cNvSpPr txBox="1"/>
          <p:nvPr/>
        </p:nvSpPr>
        <p:spPr>
          <a:xfrm>
            <a:off x="467544" y="3491716"/>
            <a:ext cx="936104" cy="369332"/>
          </a:xfrm>
          <a:prstGeom prst="rect">
            <a:avLst/>
          </a:prstGeom>
          <a:noFill/>
        </p:spPr>
        <p:txBody>
          <a:bodyPr wrap="square" rtlCol="0">
            <a:spAutoFit/>
          </a:bodyPr>
          <a:lstStyle/>
          <a:p>
            <a:r>
              <a:rPr lang="en-AU" i="1" dirty="0">
                <a:latin typeface="Times New Roman" pitchFamily="18" charset="0"/>
                <a:cs typeface="Times New Roman" pitchFamily="18" charset="0"/>
              </a:rPr>
              <a:t>a</a:t>
            </a:r>
            <a:r>
              <a:rPr lang="en-AU" dirty="0" smtClean="0">
                <a:latin typeface="Times New Roman" pitchFamily="18" charset="0"/>
                <a:cs typeface="Times New Roman" pitchFamily="18" charset="0"/>
              </a:rPr>
              <a:t> = 12</a:t>
            </a:r>
            <a:endParaRPr lang="en-US" dirty="0">
              <a:latin typeface="Times New Roman" pitchFamily="18" charset="0"/>
              <a:cs typeface="Times New Roman" pitchFamily="18" charset="0"/>
            </a:endParaRPr>
          </a:p>
        </p:txBody>
      </p:sp>
      <p:sp>
        <p:nvSpPr>
          <p:cNvPr id="20" name="TextBox 19"/>
          <p:cNvSpPr txBox="1"/>
          <p:nvPr/>
        </p:nvSpPr>
        <p:spPr>
          <a:xfrm>
            <a:off x="1331640" y="3140968"/>
            <a:ext cx="3888432" cy="923330"/>
          </a:xfrm>
          <a:prstGeom prst="rect">
            <a:avLst/>
          </a:prstGeom>
          <a:noFill/>
        </p:spPr>
        <p:txBody>
          <a:bodyPr wrap="square" rtlCol="0">
            <a:spAutoFit/>
          </a:bodyPr>
          <a:lstStyle/>
          <a:p>
            <a:r>
              <a:rPr lang="en-AU" dirty="0" smtClean="0">
                <a:solidFill>
                  <a:srgbClr val="FF0000"/>
                </a:solidFill>
              </a:rPr>
              <a:t>Remember these two “givens” must be an angle and its matching opposite side</a:t>
            </a:r>
            <a:endParaRPr lang="en-US" dirty="0">
              <a:solidFill>
                <a:srgbClr val="FF0000"/>
              </a:solidFill>
            </a:endParaRPr>
          </a:p>
        </p:txBody>
      </p:sp>
      <p:cxnSp>
        <p:nvCxnSpPr>
          <p:cNvPr id="22" name="Straight Arrow Connector 21"/>
          <p:cNvCxnSpPr>
            <a:stCxn id="14" idx="1"/>
          </p:cNvCxnSpPr>
          <p:nvPr/>
        </p:nvCxnSpPr>
        <p:spPr>
          <a:xfrm flipH="1">
            <a:off x="5436096" y="742638"/>
            <a:ext cx="2160240" cy="886162"/>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67544" y="4077072"/>
            <a:ext cx="1368152" cy="369332"/>
          </a:xfrm>
          <a:prstGeom prst="rect">
            <a:avLst/>
          </a:prstGeom>
          <a:noFill/>
        </p:spPr>
        <p:txBody>
          <a:bodyPr wrap="square" rtlCol="0">
            <a:spAutoFit/>
          </a:bodyPr>
          <a:lstStyle/>
          <a:p>
            <a:r>
              <a:rPr lang="en-AU" dirty="0" smtClean="0">
                <a:latin typeface="Times New Roman" pitchFamily="18" charset="0"/>
                <a:cs typeface="Times New Roman" pitchFamily="18" charset="0"/>
              </a:rPr>
              <a:t>B = 88</a:t>
            </a:r>
            <a:endParaRPr lang="en-US" dirty="0">
              <a:latin typeface="Times New Roman" pitchFamily="18" charset="0"/>
              <a:cs typeface="Times New Roman" pitchFamily="18" charset="0"/>
            </a:endParaRPr>
          </a:p>
        </p:txBody>
      </p:sp>
      <p:sp>
        <p:nvSpPr>
          <p:cNvPr id="24" name="TextBox 23"/>
          <p:cNvSpPr txBox="1"/>
          <p:nvPr/>
        </p:nvSpPr>
        <p:spPr>
          <a:xfrm>
            <a:off x="467544" y="4355812"/>
            <a:ext cx="1368152" cy="369332"/>
          </a:xfrm>
          <a:prstGeom prst="rect">
            <a:avLst/>
          </a:prstGeom>
          <a:noFill/>
        </p:spPr>
        <p:txBody>
          <a:bodyPr wrap="square" rtlCol="0">
            <a:spAutoFit/>
          </a:bodyPr>
          <a:lstStyle/>
          <a:p>
            <a:r>
              <a:rPr lang="en-AU" i="1" dirty="0">
                <a:latin typeface="Times New Roman" pitchFamily="18" charset="0"/>
                <a:cs typeface="Times New Roman" pitchFamily="18" charset="0"/>
              </a:rPr>
              <a:t>b</a:t>
            </a:r>
            <a:r>
              <a:rPr lang="en-AU" dirty="0" smtClean="0">
                <a:latin typeface="Times New Roman" pitchFamily="18" charset="0"/>
                <a:cs typeface="Times New Roman" pitchFamily="18" charset="0"/>
              </a:rPr>
              <a:t> = </a:t>
            </a:r>
            <a:r>
              <a:rPr lang="en-AU" i="1" dirty="0" smtClean="0">
                <a:latin typeface="Times New Roman" pitchFamily="18" charset="0"/>
                <a:cs typeface="Times New Roman" pitchFamily="18" charset="0"/>
              </a:rPr>
              <a:t>x</a:t>
            </a:r>
            <a:endParaRPr lang="en-US" dirty="0">
              <a:latin typeface="Times New Roman" pitchFamily="18" charset="0"/>
              <a:cs typeface="Times New Roman" pitchFamily="18" charset="0"/>
            </a:endParaRPr>
          </a:p>
        </p:txBody>
      </p:sp>
      <p:graphicFrame>
        <p:nvGraphicFramePr>
          <p:cNvPr id="5123" name="Object 3"/>
          <p:cNvGraphicFramePr>
            <a:graphicFrameLocks noChangeAspect="1"/>
          </p:cNvGraphicFramePr>
          <p:nvPr/>
        </p:nvGraphicFramePr>
        <p:xfrm>
          <a:off x="3171825" y="4076700"/>
          <a:ext cx="1755775" cy="647700"/>
        </p:xfrm>
        <a:graphic>
          <a:graphicData uri="http://schemas.openxmlformats.org/presentationml/2006/ole">
            <p:oleObj spid="_x0000_s5123" name="Equation" r:id="rId4" imgW="1066680" imgH="393480" progId="Equation.3">
              <p:embed/>
            </p:oleObj>
          </a:graphicData>
        </a:graphic>
      </p:graphicFrame>
      <p:sp>
        <p:nvSpPr>
          <p:cNvPr id="26" name="TextBox 25"/>
          <p:cNvSpPr txBox="1"/>
          <p:nvPr/>
        </p:nvSpPr>
        <p:spPr>
          <a:xfrm>
            <a:off x="1403648" y="4797152"/>
            <a:ext cx="2088232" cy="307777"/>
          </a:xfrm>
          <a:prstGeom prst="rect">
            <a:avLst/>
          </a:prstGeom>
          <a:noFill/>
        </p:spPr>
        <p:txBody>
          <a:bodyPr wrap="square" rtlCol="0">
            <a:spAutoFit/>
          </a:bodyPr>
          <a:lstStyle/>
          <a:p>
            <a:r>
              <a:rPr lang="en-AU" sz="1400" dirty="0" smtClean="0">
                <a:solidFill>
                  <a:srgbClr val="0000FF"/>
                </a:solidFill>
                <a:latin typeface="Arial" pitchFamily="34" charset="0"/>
                <a:cs typeface="Arial" pitchFamily="34" charset="0"/>
              </a:rPr>
              <a:t>Cross-multiply</a:t>
            </a:r>
            <a:endParaRPr lang="en-US" sz="1400" dirty="0">
              <a:solidFill>
                <a:srgbClr val="0000FF"/>
              </a:solidFill>
              <a:latin typeface="Arial" pitchFamily="34" charset="0"/>
              <a:cs typeface="Arial" pitchFamily="34" charset="0"/>
            </a:endParaRPr>
          </a:p>
        </p:txBody>
      </p:sp>
      <p:graphicFrame>
        <p:nvGraphicFramePr>
          <p:cNvPr id="5124" name="Object 4"/>
          <p:cNvGraphicFramePr>
            <a:graphicFrameLocks noChangeAspect="1"/>
          </p:cNvGraphicFramePr>
          <p:nvPr/>
        </p:nvGraphicFramePr>
        <p:xfrm>
          <a:off x="3171825" y="5084763"/>
          <a:ext cx="2090738" cy="292100"/>
        </p:xfrm>
        <a:graphic>
          <a:graphicData uri="http://schemas.openxmlformats.org/presentationml/2006/ole">
            <p:oleObj spid="_x0000_s5124" name="Equation" r:id="rId5" imgW="1269720" imgH="177480" progId="Equation.3">
              <p:embed/>
            </p:oleObj>
          </a:graphicData>
        </a:graphic>
      </p:graphicFrame>
      <p:sp>
        <p:nvSpPr>
          <p:cNvPr id="28" name="TextBox 27"/>
          <p:cNvSpPr txBox="1"/>
          <p:nvPr/>
        </p:nvSpPr>
        <p:spPr>
          <a:xfrm>
            <a:off x="1403648" y="5354052"/>
            <a:ext cx="2088232" cy="523220"/>
          </a:xfrm>
          <a:prstGeom prst="rect">
            <a:avLst/>
          </a:prstGeom>
          <a:noFill/>
        </p:spPr>
        <p:txBody>
          <a:bodyPr wrap="square" rtlCol="0">
            <a:spAutoFit/>
          </a:bodyPr>
          <a:lstStyle/>
          <a:p>
            <a:r>
              <a:rPr lang="en-AU" sz="1400" dirty="0" smtClean="0">
                <a:solidFill>
                  <a:srgbClr val="0000FF"/>
                </a:solidFill>
                <a:latin typeface="Arial" pitchFamily="34" charset="0"/>
                <a:cs typeface="Arial" pitchFamily="34" charset="0"/>
              </a:rPr>
              <a:t>Divide through by sin 54 to make the subject</a:t>
            </a:r>
            <a:endParaRPr lang="en-US" sz="1400" dirty="0">
              <a:solidFill>
                <a:srgbClr val="0000FF"/>
              </a:solidFill>
              <a:latin typeface="Arial" pitchFamily="34" charset="0"/>
              <a:cs typeface="Arial" pitchFamily="34" charset="0"/>
            </a:endParaRPr>
          </a:p>
        </p:txBody>
      </p:sp>
      <p:graphicFrame>
        <p:nvGraphicFramePr>
          <p:cNvPr id="5125" name="Object 5"/>
          <p:cNvGraphicFramePr>
            <a:graphicFrameLocks noChangeAspect="1"/>
          </p:cNvGraphicFramePr>
          <p:nvPr/>
        </p:nvGraphicFramePr>
        <p:xfrm>
          <a:off x="3871913" y="5445125"/>
          <a:ext cx="1420812" cy="647700"/>
        </p:xfrm>
        <a:graphic>
          <a:graphicData uri="http://schemas.openxmlformats.org/presentationml/2006/ole">
            <p:oleObj spid="_x0000_s5125" name="Equation" r:id="rId6" imgW="863280" imgH="393480" progId="Equation.3">
              <p:embed/>
            </p:oleObj>
          </a:graphicData>
        </a:graphic>
      </p:graphicFrame>
      <p:sp>
        <p:nvSpPr>
          <p:cNvPr id="30" name="TextBox 29"/>
          <p:cNvSpPr txBox="1"/>
          <p:nvPr/>
        </p:nvSpPr>
        <p:spPr>
          <a:xfrm>
            <a:off x="3851920" y="6237312"/>
            <a:ext cx="3312368" cy="461665"/>
          </a:xfrm>
          <a:prstGeom prst="rect">
            <a:avLst/>
          </a:prstGeom>
          <a:noFill/>
        </p:spPr>
        <p:txBody>
          <a:bodyPr wrap="square" rtlCol="0">
            <a:spAutoFit/>
          </a:bodyPr>
          <a:lstStyle/>
          <a:p>
            <a:r>
              <a:rPr lang="en-AU" sz="2400" b="1" i="1" u="sng" dirty="0" smtClean="0">
                <a:latin typeface="Times New Roman" pitchFamily="18" charset="0"/>
                <a:cs typeface="Times New Roman" pitchFamily="18" charset="0"/>
              </a:rPr>
              <a:t>x</a:t>
            </a:r>
            <a:r>
              <a:rPr lang="en-AU" sz="2400" b="1" u="sng" dirty="0" smtClean="0">
                <a:latin typeface="Times New Roman" pitchFamily="18" charset="0"/>
                <a:cs typeface="Times New Roman" pitchFamily="18" charset="0"/>
              </a:rPr>
              <a:t> = 14.82</a:t>
            </a:r>
            <a:r>
              <a:rPr lang="en-AU" sz="2400" dirty="0" smtClean="0">
                <a:latin typeface="Times New Roman" pitchFamily="18" charset="0"/>
                <a:cs typeface="Times New Roman" pitchFamily="18" charset="0"/>
              </a:rPr>
              <a:t> (to 2 </a:t>
            </a:r>
            <a:r>
              <a:rPr lang="en-AU" sz="2400" dirty="0" err="1" smtClean="0">
                <a:latin typeface="Times New Roman" pitchFamily="18" charset="0"/>
                <a:cs typeface="Times New Roman" pitchFamily="18" charset="0"/>
              </a:rPr>
              <a:t>dec</a:t>
            </a:r>
            <a:r>
              <a:rPr lang="en-AU" sz="2400" dirty="0" smtClean="0">
                <a:latin typeface="Times New Roman" pitchFamily="18" charset="0"/>
                <a:cs typeface="Times New Roman" pitchFamily="18" charset="0"/>
              </a:rPr>
              <a:t>. pl)</a:t>
            </a:r>
            <a:endParaRPr lang="en-US" sz="2400" i="1" dirty="0">
              <a:latin typeface="Times New Roman" pitchFamily="18" charset="0"/>
              <a:cs typeface="Times New Roman" pitchFamily="18" charset="0"/>
            </a:endParaRPr>
          </a:p>
        </p:txBody>
      </p:sp>
      <p:sp>
        <p:nvSpPr>
          <p:cNvPr id="31" name="Freeform 30"/>
          <p:cNvSpPr/>
          <p:nvPr/>
        </p:nvSpPr>
        <p:spPr>
          <a:xfrm>
            <a:off x="3059832" y="1268760"/>
            <a:ext cx="2880987" cy="3006246"/>
          </a:xfrm>
          <a:custGeom>
            <a:avLst/>
            <a:gdLst>
              <a:gd name="connsiteX0" fmla="*/ 0 w 2880987"/>
              <a:gd name="connsiteY0" fmla="*/ 0 h 3006246"/>
              <a:gd name="connsiteX1" fmla="*/ 2605414 w 2880987"/>
              <a:gd name="connsiteY1" fmla="*/ 1152394 h 3006246"/>
              <a:gd name="connsiteX2" fmla="*/ 1653436 w 2880987"/>
              <a:gd name="connsiteY2" fmla="*/ 2993720 h 3006246"/>
              <a:gd name="connsiteX3" fmla="*/ 1653436 w 2880987"/>
              <a:gd name="connsiteY3" fmla="*/ 2993720 h 3006246"/>
              <a:gd name="connsiteX4" fmla="*/ 1615858 w 2880987"/>
              <a:gd name="connsiteY4" fmla="*/ 3006246 h 30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987" h="3006246">
                <a:moveTo>
                  <a:pt x="0" y="0"/>
                </a:moveTo>
                <a:cubicBezTo>
                  <a:pt x="1164920" y="326720"/>
                  <a:pt x="2329841" y="653441"/>
                  <a:pt x="2605414" y="1152394"/>
                </a:cubicBezTo>
                <a:cubicBezTo>
                  <a:pt x="2880987" y="1651347"/>
                  <a:pt x="1653436" y="2993720"/>
                  <a:pt x="1653436" y="2993720"/>
                </a:cubicBezTo>
                <a:lnTo>
                  <a:pt x="1653436" y="2993720"/>
                </a:lnTo>
                <a:lnTo>
                  <a:pt x="1615858" y="3006246"/>
                </a:lnTo>
              </a:path>
            </a:pathLst>
          </a:custGeom>
          <a:ln w="60325">
            <a:solidFill>
              <a:srgbClr val="006600"/>
            </a:solidFill>
            <a:prstDash val="sysDash"/>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5436096" y="3284984"/>
            <a:ext cx="2664296" cy="646331"/>
          </a:xfrm>
          <a:prstGeom prst="rect">
            <a:avLst/>
          </a:prstGeom>
          <a:noFill/>
        </p:spPr>
        <p:txBody>
          <a:bodyPr wrap="square" rtlCol="0">
            <a:spAutoFit/>
          </a:bodyPr>
          <a:lstStyle/>
          <a:p>
            <a:r>
              <a:rPr lang="en-AU" dirty="0" smtClean="0">
                <a:solidFill>
                  <a:srgbClr val="006600"/>
                </a:solidFill>
              </a:rPr>
              <a:t>Substituting the values into the formula</a:t>
            </a:r>
            <a:endParaRPr lang="en-US" dirty="0">
              <a:solidFill>
                <a:srgbClr val="006600"/>
              </a:solidFill>
            </a:endParaRPr>
          </a:p>
        </p:txBody>
      </p:sp>
      <p:sp>
        <p:nvSpPr>
          <p:cNvPr id="36" name="TextBox 35"/>
          <p:cNvSpPr txBox="1"/>
          <p:nvPr/>
        </p:nvSpPr>
        <p:spPr>
          <a:xfrm>
            <a:off x="6300192" y="4581128"/>
            <a:ext cx="2592288" cy="1323439"/>
          </a:xfrm>
          <a:prstGeom prst="rect">
            <a:avLst/>
          </a:prstGeom>
          <a:noFill/>
        </p:spPr>
        <p:txBody>
          <a:bodyPr wrap="square" rtlCol="0">
            <a:spAutoFit/>
          </a:bodyPr>
          <a:lstStyle/>
          <a:p>
            <a:r>
              <a:rPr lang="en-AU" sz="1600" i="1" dirty="0" smtClean="0"/>
              <a:t>Finally, label the x as 14.82 on the diagram and check that your answer fits with the other numbers in  the problem!  </a:t>
            </a:r>
            <a:endParaRPr lang="en-US" sz="1600" i="1" dirty="0"/>
          </a:p>
        </p:txBody>
      </p:sp>
      <p:sp>
        <p:nvSpPr>
          <p:cNvPr id="37" name="TextBox 36"/>
          <p:cNvSpPr txBox="1"/>
          <p:nvPr/>
        </p:nvSpPr>
        <p:spPr>
          <a:xfrm>
            <a:off x="5796136" y="260648"/>
            <a:ext cx="216024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14.82m (looks OK)</a:t>
            </a:r>
            <a:endParaRPr lang="en-US" dirty="0">
              <a:latin typeface="Times New Roman" pitchFamily="18" charset="0"/>
              <a:cs typeface="Times New Roman" pitchFamily="18" charset="0"/>
            </a:endParaRPr>
          </a:p>
        </p:txBody>
      </p:sp>
      <p:cxnSp>
        <p:nvCxnSpPr>
          <p:cNvPr id="39" name="Straight Arrow Connector 38"/>
          <p:cNvCxnSpPr/>
          <p:nvPr/>
        </p:nvCxnSpPr>
        <p:spPr>
          <a:xfrm flipH="1" flipV="1">
            <a:off x="5652120" y="548680"/>
            <a:ext cx="720080" cy="1440160"/>
          </a:xfrm>
          <a:prstGeom prst="straightConnector1">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331640" y="4149080"/>
            <a:ext cx="1224136" cy="369332"/>
          </a:xfrm>
          <a:prstGeom prst="rect">
            <a:avLst/>
          </a:prstGeom>
          <a:noFill/>
        </p:spPr>
        <p:txBody>
          <a:bodyPr wrap="square" rtlCol="0">
            <a:spAutoFit/>
          </a:bodyPr>
          <a:lstStyle/>
          <a:p>
            <a:r>
              <a:rPr lang="en-AU" dirty="0" smtClean="0">
                <a:solidFill>
                  <a:srgbClr val="FF0000"/>
                </a:solidFill>
              </a:rPr>
              <a:t>These too!</a:t>
            </a:r>
            <a:endParaRPr lang="en-US" dirty="0">
              <a:solidFill>
                <a:srgbClr val="FF0000"/>
              </a:solidFill>
            </a:endParaRPr>
          </a:p>
        </p:txBody>
      </p:sp>
      <p:sp>
        <p:nvSpPr>
          <p:cNvPr id="42" name="TextBox 41"/>
          <p:cNvSpPr txBox="1"/>
          <p:nvPr/>
        </p:nvSpPr>
        <p:spPr>
          <a:xfrm>
            <a:off x="7884368" y="5733256"/>
            <a:ext cx="864096" cy="923330"/>
          </a:xfrm>
          <a:prstGeom prst="rect">
            <a:avLst/>
          </a:prstGeom>
          <a:noFill/>
        </p:spPr>
        <p:txBody>
          <a:bodyPr wrap="square" rtlCol="0">
            <a:spAutoFit/>
          </a:bodyPr>
          <a:lstStyle/>
          <a:p>
            <a:r>
              <a:rPr lang="en-AU" sz="5400" dirty="0" smtClean="0">
                <a:sym typeface="Wingdings"/>
              </a:rPr>
              <a:t></a:t>
            </a:r>
            <a:endParaRPr lang="en-US" sz="5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diamond(in)">
                                      <p:cBhvr>
                                        <p:cTn id="7" dur="20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amond(in)">
                                      <p:cBhvr>
                                        <p:cTn id="17" dur="20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diamond(in)">
                                      <p:cBhvr>
                                        <p:cTn id="22" dur="20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amond(in)">
                                      <p:cBhvr>
                                        <p:cTn id="27" dur="2000"/>
                                        <p:tgtEl>
                                          <p:spTgt spid="20"/>
                                        </p:tgtEl>
                                      </p:cBhvr>
                                    </p:animEffect>
                                  </p:childTnLst>
                                </p:cTn>
                              </p:par>
                            </p:childTnLst>
                          </p:cTn>
                        </p:par>
                        <p:par>
                          <p:cTn id="28" fill="hold">
                            <p:stCondLst>
                              <p:cond delay="2000"/>
                            </p:stCondLst>
                            <p:childTnLst>
                              <p:par>
                                <p:cTn id="29" presetID="22" presetClass="entr" presetSubtype="2"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right)">
                                      <p:cBhvr>
                                        <p:cTn id="31" dur="10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dissolv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dissolv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wipe(down)">
                                      <p:cBhvr>
                                        <p:cTn id="50" dur="500"/>
                                        <p:tgtEl>
                                          <p:spTgt spid="3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up)">
                                      <p:cBhvr>
                                        <p:cTn id="55" dur="3000"/>
                                        <p:tgtEl>
                                          <p:spTgt spid="31"/>
                                        </p:tgtEl>
                                      </p:cBhvr>
                                    </p:animEffect>
                                  </p:childTnLst>
                                </p:cTn>
                              </p:par>
                            </p:childTnLst>
                          </p:cTn>
                        </p:par>
                        <p:par>
                          <p:cTn id="56" fill="hold">
                            <p:stCondLst>
                              <p:cond delay="3000"/>
                            </p:stCondLst>
                            <p:childTnLst>
                              <p:par>
                                <p:cTn id="57" presetID="8" presetClass="entr" presetSubtype="16"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diamond(in)">
                                      <p:cBhvr>
                                        <p:cTn id="59" dur="20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8" presetClass="entr" presetSubtype="16" fill="hold" nodeType="clickEffect">
                                  <p:stCondLst>
                                    <p:cond delay="0"/>
                                  </p:stCondLst>
                                  <p:childTnLst>
                                    <p:set>
                                      <p:cBhvr>
                                        <p:cTn id="63" dur="1" fill="hold">
                                          <p:stCondLst>
                                            <p:cond delay="0"/>
                                          </p:stCondLst>
                                        </p:cTn>
                                        <p:tgtEl>
                                          <p:spTgt spid="5123"/>
                                        </p:tgtEl>
                                        <p:attrNameLst>
                                          <p:attrName>style.visibility</p:attrName>
                                        </p:attrNameLst>
                                      </p:cBhvr>
                                      <p:to>
                                        <p:strVal val="visible"/>
                                      </p:to>
                                    </p:set>
                                    <p:animEffect transition="in" filter="diamond(in)">
                                      <p:cBhvr>
                                        <p:cTn id="64" dur="2000"/>
                                        <p:tgtEl>
                                          <p:spTgt spid="5123"/>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500" fill="hold"/>
                                        <p:tgtEl>
                                          <p:spTgt spid="26"/>
                                        </p:tgtEl>
                                        <p:attrNameLst>
                                          <p:attrName>ppt_x</p:attrName>
                                        </p:attrNameLst>
                                      </p:cBhvr>
                                      <p:tavLst>
                                        <p:tav tm="0">
                                          <p:val>
                                            <p:strVal val="0-#ppt_w/2"/>
                                          </p:val>
                                        </p:tav>
                                        <p:tav tm="100000">
                                          <p:val>
                                            <p:strVal val="#ppt_x"/>
                                          </p:val>
                                        </p:tav>
                                      </p:tavLst>
                                    </p:anim>
                                    <p:anim calcmode="lin" valueType="num">
                                      <p:cBhvr additive="base">
                                        <p:cTn id="70" dur="500" fill="hold"/>
                                        <p:tgtEl>
                                          <p:spTgt spid="26"/>
                                        </p:tgtEl>
                                        <p:attrNameLst>
                                          <p:attrName>ppt_y</p:attrName>
                                        </p:attrNameLst>
                                      </p:cBhvr>
                                      <p:tavLst>
                                        <p:tav tm="0">
                                          <p:val>
                                            <p:strVal val="#ppt_y"/>
                                          </p:val>
                                        </p:tav>
                                        <p:tav tm="100000">
                                          <p:val>
                                            <p:strVal val="#ppt_y"/>
                                          </p:val>
                                        </p:tav>
                                      </p:tavLst>
                                    </p:anim>
                                  </p:childTnLst>
                                </p:cTn>
                              </p:par>
                            </p:childTnLst>
                          </p:cTn>
                        </p:par>
                        <p:par>
                          <p:cTn id="71" fill="hold">
                            <p:stCondLst>
                              <p:cond delay="500"/>
                            </p:stCondLst>
                            <p:childTnLst>
                              <p:par>
                                <p:cTn id="72" presetID="8" presetClass="entr" presetSubtype="16" fill="hold" nodeType="afterEffect">
                                  <p:stCondLst>
                                    <p:cond delay="0"/>
                                  </p:stCondLst>
                                  <p:childTnLst>
                                    <p:set>
                                      <p:cBhvr>
                                        <p:cTn id="73" dur="1" fill="hold">
                                          <p:stCondLst>
                                            <p:cond delay="0"/>
                                          </p:stCondLst>
                                        </p:cTn>
                                        <p:tgtEl>
                                          <p:spTgt spid="5124"/>
                                        </p:tgtEl>
                                        <p:attrNameLst>
                                          <p:attrName>style.visibility</p:attrName>
                                        </p:attrNameLst>
                                      </p:cBhvr>
                                      <p:to>
                                        <p:strVal val="visible"/>
                                      </p:to>
                                    </p:set>
                                    <p:animEffect transition="in" filter="diamond(in)">
                                      <p:cBhvr>
                                        <p:cTn id="74" dur="2000"/>
                                        <p:tgtEl>
                                          <p:spTgt spid="5124"/>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500" fill="hold"/>
                                        <p:tgtEl>
                                          <p:spTgt spid="28"/>
                                        </p:tgtEl>
                                        <p:attrNameLst>
                                          <p:attrName>ppt_x</p:attrName>
                                        </p:attrNameLst>
                                      </p:cBhvr>
                                      <p:tavLst>
                                        <p:tav tm="0">
                                          <p:val>
                                            <p:strVal val="0-#ppt_w/2"/>
                                          </p:val>
                                        </p:tav>
                                        <p:tav tm="100000">
                                          <p:val>
                                            <p:strVal val="#ppt_x"/>
                                          </p:val>
                                        </p:tav>
                                      </p:tavLst>
                                    </p:anim>
                                    <p:anim calcmode="lin" valueType="num">
                                      <p:cBhvr additive="base">
                                        <p:cTn id="80" dur="500" fill="hold"/>
                                        <p:tgtEl>
                                          <p:spTgt spid="28"/>
                                        </p:tgtEl>
                                        <p:attrNameLst>
                                          <p:attrName>ppt_y</p:attrName>
                                        </p:attrNameLst>
                                      </p:cBhvr>
                                      <p:tavLst>
                                        <p:tav tm="0">
                                          <p:val>
                                            <p:strVal val="#ppt_y"/>
                                          </p:val>
                                        </p:tav>
                                        <p:tav tm="100000">
                                          <p:val>
                                            <p:strVal val="#ppt_y"/>
                                          </p:val>
                                        </p:tav>
                                      </p:tavLst>
                                    </p:anim>
                                  </p:childTnLst>
                                </p:cTn>
                              </p:par>
                            </p:childTnLst>
                          </p:cTn>
                        </p:par>
                        <p:par>
                          <p:cTn id="81" fill="hold">
                            <p:stCondLst>
                              <p:cond delay="500"/>
                            </p:stCondLst>
                            <p:childTnLst>
                              <p:par>
                                <p:cTn id="82" presetID="8" presetClass="entr" presetSubtype="16" fill="hold" nodeType="afterEffect">
                                  <p:stCondLst>
                                    <p:cond delay="0"/>
                                  </p:stCondLst>
                                  <p:childTnLst>
                                    <p:set>
                                      <p:cBhvr>
                                        <p:cTn id="83" dur="1" fill="hold">
                                          <p:stCondLst>
                                            <p:cond delay="0"/>
                                          </p:stCondLst>
                                        </p:cTn>
                                        <p:tgtEl>
                                          <p:spTgt spid="5125"/>
                                        </p:tgtEl>
                                        <p:attrNameLst>
                                          <p:attrName>style.visibility</p:attrName>
                                        </p:attrNameLst>
                                      </p:cBhvr>
                                      <p:to>
                                        <p:strVal val="visible"/>
                                      </p:to>
                                    </p:set>
                                    <p:animEffect transition="in" filter="diamond(in)">
                                      <p:cBhvr>
                                        <p:cTn id="84" dur="2000"/>
                                        <p:tgtEl>
                                          <p:spTgt spid="5125"/>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30"/>
                                        </p:tgtEl>
                                        <p:attrNameLst>
                                          <p:attrName>style.visibility</p:attrName>
                                        </p:attrNameLst>
                                      </p:cBhvr>
                                      <p:to>
                                        <p:strVal val="visible"/>
                                      </p:to>
                                    </p:set>
                                    <p:anim calcmode="lin" valueType="num">
                                      <p:cBhvr additive="base">
                                        <p:cTn id="89" dur="500" fill="hold"/>
                                        <p:tgtEl>
                                          <p:spTgt spid="30"/>
                                        </p:tgtEl>
                                        <p:attrNameLst>
                                          <p:attrName>ppt_x</p:attrName>
                                        </p:attrNameLst>
                                      </p:cBhvr>
                                      <p:tavLst>
                                        <p:tav tm="0">
                                          <p:val>
                                            <p:strVal val="#ppt_x"/>
                                          </p:val>
                                        </p:tav>
                                        <p:tav tm="100000">
                                          <p:val>
                                            <p:strVal val="#ppt_x"/>
                                          </p:val>
                                        </p:tav>
                                      </p:tavLst>
                                    </p:anim>
                                    <p:anim calcmode="lin" valueType="num">
                                      <p:cBhvr additive="base">
                                        <p:cTn id="9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7" presetClass="entr" presetSubtype="0" fill="hold" grpId="0" nodeType="clickEffect">
                                  <p:stCondLst>
                                    <p:cond delay="0"/>
                                  </p:stCondLst>
                                  <p:iterate type="lt">
                                    <p:tmPct val="50000"/>
                                  </p:iterate>
                                  <p:childTnLst>
                                    <p:set>
                                      <p:cBhvr>
                                        <p:cTn id="94" dur="1" fill="hold">
                                          <p:stCondLst>
                                            <p:cond delay="0"/>
                                          </p:stCondLst>
                                        </p:cTn>
                                        <p:tgtEl>
                                          <p:spTgt spid="36"/>
                                        </p:tgtEl>
                                        <p:attrNameLst>
                                          <p:attrName>style.visibility</p:attrName>
                                        </p:attrNameLst>
                                      </p:cBhvr>
                                      <p:to>
                                        <p:strVal val="visible"/>
                                      </p:to>
                                    </p:set>
                                    <p:anim calcmode="discrete" valueType="clr">
                                      <p:cBhvr override="childStyle">
                                        <p:cTn id="95" dur="80"/>
                                        <p:tgtEl>
                                          <p:spTgt spid="36"/>
                                        </p:tgtEl>
                                        <p:attrNameLst>
                                          <p:attrName>style.color</p:attrName>
                                        </p:attrNameLst>
                                      </p:cBhvr>
                                      <p:tavLst>
                                        <p:tav tm="0">
                                          <p:val>
                                            <p:clrVal>
                                              <a:schemeClr val="accent2"/>
                                            </p:clrVal>
                                          </p:val>
                                        </p:tav>
                                        <p:tav tm="50000">
                                          <p:val>
                                            <p:clrVal>
                                              <a:schemeClr val="hlink"/>
                                            </p:clrVal>
                                          </p:val>
                                        </p:tav>
                                      </p:tavLst>
                                    </p:anim>
                                    <p:anim calcmode="discrete" valueType="clr">
                                      <p:cBhvr>
                                        <p:cTn id="96" dur="80"/>
                                        <p:tgtEl>
                                          <p:spTgt spid="36"/>
                                        </p:tgtEl>
                                        <p:attrNameLst>
                                          <p:attrName>fillcolor</p:attrName>
                                        </p:attrNameLst>
                                      </p:cBhvr>
                                      <p:tavLst>
                                        <p:tav tm="0">
                                          <p:val>
                                            <p:clrVal>
                                              <a:schemeClr val="accent2"/>
                                            </p:clrVal>
                                          </p:val>
                                        </p:tav>
                                        <p:tav tm="50000">
                                          <p:val>
                                            <p:clrVal>
                                              <a:schemeClr val="hlink"/>
                                            </p:clrVal>
                                          </p:val>
                                        </p:tav>
                                      </p:tavLst>
                                    </p:anim>
                                    <p:set>
                                      <p:cBhvr>
                                        <p:cTn id="97" dur="80"/>
                                        <p:tgtEl>
                                          <p:spTgt spid="36"/>
                                        </p:tgtEl>
                                        <p:attrNameLst>
                                          <p:attrName>fill.type</p:attrName>
                                        </p:attrNameLst>
                                      </p:cBhvr>
                                      <p:to>
                                        <p:strVal val="solid"/>
                                      </p:to>
                                    </p:set>
                                  </p:childTnLst>
                                </p:cTn>
                              </p:par>
                            </p:childTnLst>
                          </p:cTn>
                        </p:par>
                        <p:par>
                          <p:cTn id="98" fill="hold">
                            <p:stCondLst>
                              <p:cond delay="3800"/>
                            </p:stCondLst>
                            <p:childTnLst>
                              <p:par>
                                <p:cTn id="99" presetID="9" presetClass="entr" presetSubtype="0" fill="hold" grpId="0" nodeType="after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dissolve">
                                      <p:cBhvr>
                                        <p:cTn id="101" dur="500"/>
                                        <p:tgtEl>
                                          <p:spTgt spid="37"/>
                                        </p:tgtEl>
                                      </p:cBhvr>
                                    </p:animEffect>
                                  </p:childTnLst>
                                </p:cTn>
                              </p:par>
                            </p:childTnLst>
                          </p:cTn>
                        </p:par>
                        <p:par>
                          <p:cTn id="102" fill="hold">
                            <p:stCondLst>
                              <p:cond delay="4300"/>
                            </p:stCondLst>
                            <p:childTnLst>
                              <p:par>
                                <p:cTn id="103" presetID="8" presetClass="entr" presetSubtype="16" fill="hold" grpId="0" nodeType="after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diamond(in)">
                                      <p:cBhvr>
                                        <p:cTn id="105" dur="2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3" grpId="0"/>
      <p:bldP spid="24" grpId="0"/>
      <p:bldP spid="26" grpId="0"/>
      <p:bldP spid="28" grpId="0"/>
      <p:bldP spid="30" grpId="0"/>
      <p:bldP spid="31" grpId="0" animBg="1"/>
      <p:bldP spid="34" grpId="0"/>
      <p:bldP spid="36" grpId="0"/>
      <p:bldP spid="37" grpId="0"/>
      <p:bldP spid="40" grpId="0"/>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2 – Use the Sine Rule to find the value of </a:t>
            </a:r>
            <a:r>
              <a:rPr lang="en-AU" sz="2400" i="1" dirty="0" smtClean="0">
                <a:solidFill>
                  <a:srgbClr val="0000FF"/>
                </a:solidFill>
              </a:rPr>
              <a:t>x</a:t>
            </a:r>
            <a:r>
              <a:rPr lang="en-AU" sz="2400" dirty="0" smtClean="0">
                <a:solidFill>
                  <a:srgbClr val="0000FF"/>
                </a:solidFill>
              </a:rPr>
              <a:t> in the triangle:</a:t>
            </a:r>
            <a:endParaRPr lang="en-US" sz="2400" dirty="0">
              <a:solidFill>
                <a:srgbClr val="0000FF"/>
              </a:solidFill>
            </a:endParaRPr>
          </a:p>
        </p:txBody>
      </p:sp>
      <p:grpSp>
        <p:nvGrpSpPr>
          <p:cNvPr id="22" name="Group 21"/>
          <p:cNvGrpSpPr/>
          <p:nvPr/>
        </p:nvGrpSpPr>
        <p:grpSpPr>
          <a:xfrm>
            <a:off x="4499992" y="1196752"/>
            <a:ext cx="4380171" cy="2601580"/>
            <a:chOff x="4295737" y="1484784"/>
            <a:chExt cx="4380171" cy="2601580"/>
          </a:xfrm>
        </p:grpSpPr>
        <p:grpSp>
          <p:nvGrpSpPr>
            <p:cNvPr id="10" name="Group 11"/>
            <p:cNvGrpSpPr/>
            <p:nvPr/>
          </p:nvGrpSpPr>
          <p:grpSpPr>
            <a:xfrm rot="12859235">
              <a:off x="4295737" y="1950155"/>
              <a:ext cx="4380171" cy="1394307"/>
              <a:chOff x="5868144" y="2132856"/>
              <a:chExt cx="2592288" cy="576064"/>
            </a:xfrm>
          </p:grpSpPr>
          <p:cxnSp>
            <p:nvCxnSpPr>
              <p:cNvPr id="14" name="Straight Connector 6"/>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5940152" y="1628800"/>
              <a:ext cx="653757" cy="369332"/>
            </a:xfrm>
            <a:prstGeom prst="rect">
              <a:avLst/>
            </a:prstGeom>
            <a:noFill/>
          </p:spPr>
          <p:txBody>
            <a:bodyPr wrap="square" rtlCol="0">
              <a:spAutoFit/>
            </a:bodyPr>
            <a:lstStyle/>
            <a:p>
              <a:r>
                <a:rPr lang="en-AU" dirty="0" smtClean="0">
                  <a:solidFill>
                    <a:srgbClr val="006600"/>
                  </a:solidFill>
                  <a:latin typeface="Times New Roman" pitchFamily="18" charset="0"/>
                  <a:cs typeface="Times New Roman" pitchFamily="18" charset="0"/>
                  <a:sym typeface="Symbol"/>
                </a:rPr>
                <a:t>95</a:t>
              </a:r>
              <a:endParaRPr lang="en-US" dirty="0">
                <a:solidFill>
                  <a:srgbClr val="006600"/>
                </a:solidFill>
                <a:latin typeface="Times New Roman" pitchFamily="18" charset="0"/>
                <a:cs typeface="Times New Roman" pitchFamily="18" charset="0"/>
              </a:endParaRPr>
            </a:p>
          </p:txBody>
        </p:sp>
        <p:sp>
          <p:nvSpPr>
            <p:cNvPr id="8" name="TextBox 4"/>
            <p:cNvSpPr txBox="1"/>
            <p:nvPr/>
          </p:nvSpPr>
          <p:spPr>
            <a:xfrm>
              <a:off x="5436096" y="2996952"/>
              <a:ext cx="784508" cy="369332"/>
            </a:xfrm>
            <a:prstGeom prst="rect">
              <a:avLst/>
            </a:prstGeom>
            <a:noFill/>
          </p:spPr>
          <p:txBody>
            <a:bodyPr wrap="square" rtlCol="0">
              <a:spAutoFit/>
            </a:bodyPr>
            <a:lstStyle/>
            <a:p>
              <a:r>
                <a:rPr lang="en-AU" dirty="0" smtClean="0">
                  <a:solidFill>
                    <a:srgbClr val="006600"/>
                  </a:solidFill>
                  <a:latin typeface="Times New Roman" pitchFamily="18" charset="0"/>
                  <a:cs typeface="Times New Roman" pitchFamily="18" charset="0"/>
                </a:rPr>
                <a:t>35cm</a:t>
              </a:r>
              <a:endParaRPr lang="en-US" dirty="0">
                <a:solidFill>
                  <a:srgbClr val="006600"/>
                </a:solidFill>
                <a:latin typeface="Times New Roman" pitchFamily="18" charset="0"/>
                <a:cs typeface="Times New Roman" pitchFamily="18" charset="0"/>
              </a:endParaRPr>
            </a:p>
          </p:txBody>
        </p:sp>
        <p:sp>
          <p:nvSpPr>
            <p:cNvPr id="9" name="TextBox 8"/>
            <p:cNvSpPr txBox="1"/>
            <p:nvPr/>
          </p:nvSpPr>
          <p:spPr>
            <a:xfrm>
              <a:off x="5076056" y="1484784"/>
              <a:ext cx="849884" cy="369332"/>
            </a:xfrm>
            <a:prstGeom prst="rect">
              <a:avLst/>
            </a:prstGeom>
            <a:noFill/>
          </p:spPr>
          <p:txBody>
            <a:bodyPr wrap="square" rtlCol="0">
              <a:spAutoFit/>
            </a:bodyPr>
            <a:lstStyle/>
            <a:p>
              <a:r>
                <a:rPr lang="en-AU" i="1" dirty="0" smtClean="0">
                  <a:solidFill>
                    <a:srgbClr val="FF0000"/>
                  </a:solidFill>
                  <a:latin typeface="Times New Roman" pitchFamily="18" charset="0"/>
                  <a:cs typeface="Times New Roman" pitchFamily="18" charset="0"/>
                </a:rPr>
                <a:t>x cm</a:t>
              </a:r>
              <a:endParaRPr lang="en-US" i="1" dirty="0">
                <a:solidFill>
                  <a:srgbClr val="FF0000"/>
                </a:solidFill>
                <a:latin typeface="Times New Roman" pitchFamily="18" charset="0"/>
                <a:cs typeface="Times New Roman" pitchFamily="18" charset="0"/>
              </a:endParaRPr>
            </a:p>
          </p:txBody>
        </p:sp>
        <p:sp>
          <p:nvSpPr>
            <p:cNvPr id="5" name="TextBox 4"/>
            <p:cNvSpPr txBox="1"/>
            <p:nvPr/>
          </p:nvSpPr>
          <p:spPr>
            <a:xfrm>
              <a:off x="7164288" y="3717032"/>
              <a:ext cx="653757" cy="369332"/>
            </a:xfrm>
            <a:prstGeom prst="rect">
              <a:avLst/>
            </a:prstGeom>
            <a:noFill/>
          </p:spPr>
          <p:txBody>
            <a:bodyPr wrap="square" rtlCol="0">
              <a:spAutoFit/>
            </a:bodyPr>
            <a:lstStyle/>
            <a:p>
              <a:r>
                <a:rPr lang="en-AU" dirty="0" smtClean="0">
                  <a:solidFill>
                    <a:srgbClr val="FF0000"/>
                  </a:solidFill>
                  <a:latin typeface="Times New Roman" pitchFamily="18" charset="0"/>
                  <a:cs typeface="Times New Roman" pitchFamily="18" charset="0"/>
                  <a:sym typeface="Symbol"/>
                </a:rPr>
                <a:t>22</a:t>
              </a:r>
              <a:endParaRPr lang="en-US" dirty="0">
                <a:solidFill>
                  <a:srgbClr val="FF0000"/>
                </a:solidFill>
                <a:latin typeface="Times New Roman" pitchFamily="18" charset="0"/>
                <a:cs typeface="Times New Roman" pitchFamily="18" charset="0"/>
              </a:endParaRPr>
            </a:p>
          </p:txBody>
        </p:sp>
      </p:grpSp>
      <p:sp>
        <p:nvSpPr>
          <p:cNvPr id="17" name="TextBox 16"/>
          <p:cNvSpPr txBox="1"/>
          <p:nvPr/>
        </p:nvSpPr>
        <p:spPr>
          <a:xfrm>
            <a:off x="467544" y="1988840"/>
            <a:ext cx="3672408" cy="923330"/>
          </a:xfrm>
          <a:prstGeom prst="rect">
            <a:avLst/>
          </a:prstGeom>
          <a:noFill/>
        </p:spPr>
        <p:txBody>
          <a:bodyPr wrap="square" rtlCol="0">
            <a:spAutoFit/>
          </a:bodyPr>
          <a:lstStyle/>
          <a:p>
            <a:r>
              <a:rPr lang="en-AU" dirty="0" smtClean="0"/>
              <a:t>Here, no vertices are labelled so we will have to create our own. But first…</a:t>
            </a:r>
          </a:p>
        </p:txBody>
      </p:sp>
      <p:sp>
        <p:nvSpPr>
          <p:cNvPr id="18" name="TextBox 17"/>
          <p:cNvSpPr txBox="1"/>
          <p:nvPr/>
        </p:nvSpPr>
        <p:spPr>
          <a:xfrm>
            <a:off x="467544" y="3009726"/>
            <a:ext cx="4680520" cy="923330"/>
          </a:xfrm>
          <a:prstGeom prst="rect">
            <a:avLst/>
          </a:prstGeom>
          <a:noFill/>
        </p:spPr>
        <p:txBody>
          <a:bodyPr wrap="square" rtlCol="0">
            <a:spAutoFit/>
          </a:bodyPr>
          <a:lstStyle/>
          <a:p>
            <a:r>
              <a:rPr lang="en-AU" b="1" u="sng" dirty="0" smtClean="0">
                <a:solidFill>
                  <a:srgbClr val="006600"/>
                </a:solidFill>
              </a:rPr>
              <a:t>Step 1</a:t>
            </a:r>
            <a:r>
              <a:rPr lang="en-AU" dirty="0" smtClean="0">
                <a:solidFill>
                  <a:srgbClr val="006600"/>
                </a:solidFill>
              </a:rPr>
              <a:t>, check that there are 4 “labels” – i.e. 3 givens and 1 unknown.  There are a 95</a:t>
            </a:r>
            <a:r>
              <a:rPr lang="en-AU" dirty="0" smtClean="0">
                <a:solidFill>
                  <a:srgbClr val="006600"/>
                </a:solidFill>
                <a:sym typeface="Symbol"/>
              </a:rPr>
              <a:t></a:t>
            </a:r>
            <a:r>
              <a:rPr lang="en-AU" dirty="0" smtClean="0">
                <a:solidFill>
                  <a:srgbClr val="006600"/>
                </a:solidFill>
              </a:rPr>
              <a:t>, 22</a:t>
            </a:r>
            <a:r>
              <a:rPr lang="en-AU" dirty="0" smtClean="0">
                <a:solidFill>
                  <a:srgbClr val="006600"/>
                </a:solidFill>
                <a:sym typeface="Symbol"/>
              </a:rPr>
              <a:t></a:t>
            </a:r>
            <a:r>
              <a:rPr lang="en-AU" dirty="0" smtClean="0">
                <a:solidFill>
                  <a:srgbClr val="006600"/>
                </a:solidFill>
              </a:rPr>
              <a:t>, 35 </a:t>
            </a:r>
            <a:r>
              <a:rPr lang="en-AU" i="1" dirty="0" smtClean="0">
                <a:solidFill>
                  <a:srgbClr val="006600"/>
                </a:solidFill>
              </a:rPr>
              <a:t>cm </a:t>
            </a:r>
            <a:r>
              <a:rPr lang="en-AU" dirty="0" smtClean="0">
                <a:solidFill>
                  <a:srgbClr val="006600"/>
                </a:solidFill>
              </a:rPr>
              <a:t>and </a:t>
            </a:r>
            <a:r>
              <a:rPr lang="en-AU" i="1" dirty="0" smtClean="0">
                <a:solidFill>
                  <a:srgbClr val="006600"/>
                </a:solidFill>
              </a:rPr>
              <a:t>x</a:t>
            </a:r>
            <a:r>
              <a:rPr lang="en-AU" dirty="0" smtClean="0">
                <a:solidFill>
                  <a:srgbClr val="006600"/>
                </a:solidFill>
              </a:rPr>
              <a:t> </a:t>
            </a:r>
            <a:r>
              <a:rPr lang="en-AU" i="1" dirty="0" smtClean="0">
                <a:solidFill>
                  <a:srgbClr val="006600"/>
                </a:solidFill>
              </a:rPr>
              <a:t>cm</a:t>
            </a:r>
            <a:r>
              <a:rPr lang="en-AU" dirty="0" smtClean="0">
                <a:solidFill>
                  <a:srgbClr val="006600"/>
                </a:solidFill>
              </a:rPr>
              <a:t> so this fits our requirements.</a:t>
            </a:r>
            <a:endParaRPr lang="en-US" dirty="0">
              <a:solidFill>
                <a:srgbClr val="006600"/>
              </a:solidFill>
            </a:endParaRPr>
          </a:p>
        </p:txBody>
      </p:sp>
      <p:sp>
        <p:nvSpPr>
          <p:cNvPr id="19" name="TextBox 18"/>
          <p:cNvSpPr txBox="1"/>
          <p:nvPr/>
        </p:nvSpPr>
        <p:spPr>
          <a:xfrm>
            <a:off x="467544" y="4005064"/>
            <a:ext cx="6912768" cy="1477328"/>
          </a:xfrm>
          <a:prstGeom prst="rect">
            <a:avLst/>
          </a:prstGeom>
          <a:noFill/>
        </p:spPr>
        <p:txBody>
          <a:bodyPr wrap="square" rtlCol="0">
            <a:spAutoFit/>
          </a:bodyPr>
          <a:lstStyle/>
          <a:p>
            <a:r>
              <a:rPr lang="en-AU" b="1" u="sng" dirty="0" smtClean="0">
                <a:solidFill>
                  <a:srgbClr val="7030A0"/>
                </a:solidFill>
              </a:rPr>
              <a:t>Step 2</a:t>
            </a:r>
            <a:r>
              <a:rPr lang="en-AU" dirty="0" smtClean="0">
                <a:solidFill>
                  <a:srgbClr val="7030A0"/>
                </a:solidFill>
              </a:rPr>
              <a:t>, check that 2 of the 3 givens are a matching angle and opposite side. 95</a:t>
            </a:r>
            <a:r>
              <a:rPr lang="en-AU" dirty="0" smtClean="0">
                <a:solidFill>
                  <a:srgbClr val="7030A0"/>
                </a:solidFill>
                <a:sym typeface="Symbol"/>
              </a:rPr>
              <a:t></a:t>
            </a:r>
            <a:r>
              <a:rPr lang="en-AU" dirty="0" smtClean="0">
                <a:solidFill>
                  <a:srgbClr val="7030A0"/>
                </a:solidFill>
              </a:rPr>
              <a:t> and 35 </a:t>
            </a:r>
            <a:r>
              <a:rPr lang="en-AU" i="1" dirty="0" smtClean="0">
                <a:solidFill>
                  <a:srgbClr val="7030A0"/>
                </a:solidFill>
              </a:rPr>
              <a:t>cm</a:t>
            </a:r>
            <a:r>
              <a:rPr lang="en-AU" dirty="0" smtClean="0">
                <a:solidFill>
                  <a:srgbClr val="7030A0"/>
                </a:solidFill>
              </a:rPr>
              <a:t> fit this. Also check that the remaining given and the unknown form another matching angle and opposite side (22</a:t>
            </a:r>
            <a:r>
              <a:rPr lang="en-AU" dirty="0" smtClean="0">
                <a:solidFill>
                  <a:srgbClr val="7030A0"/>
                </a:solidFill>
                <a:sym typeface="Symbol"/>
              </a:rPr>
              <a:t></a:t>
            </a:r>
            <a:r>
              <a:rPr lang="en-AU" dirty="0" smtClean="0">
                <a:solidFill>
                  <a:srgbClr val="7030A0"/>
                </a:solidFill>
              </a:rPr>
              <a:t> and </a:t>
            </a:r>
            <a:r>
              <a:rPr lang="en-AU" i="1" dirty="0" smtClean="0">
                <a:solidFill>
                  <a:srgbClr val="7030A0"/>
                </a:solidFill>
              </a:rPr>
              <a:t>x cm</a:t>
            </a:r>
            <a:r>
              <a:rPr lang="en-AU" dirty="0" smtClean="0">
                <a:solidFill>
                  <a:srgbClr val="7030A0"/>
                </a:solidFill>
              </a:rPr>
              <a:t>). They do! All our requirements are in place so we can now use the Sine Rule!</a:t>
            </a:r>
            <a:endParaRPr lang="en-US" dirty="0">
              <a:solidFill>
                <a:srgbClr val="7030A0"/>
              </a:solidFill>
            </a:endParaRPr>
          </a:p>
        </p:txBody>
      </p:sp>
      <p:sp>
        <p:nvSpPr>
          <p:cNvPr id="20" name="TextBox 19"/>
          <p:cNvSpPr txBox="1"/>
          <p:nvPr/>
        </p:nvSpPr>
        <p:spPr>
          <a:xfrm>
            <a:off x="467544" y="5661248"/>
            <a:ext cx="4536504" cy="923330"/>
          </a:xfrm>
          <a:prstGeom prst="rect">
            <a:avLst/>
          </a:prstGeom>
          <a:noFill/>
        </p:spPr>
        <p:txBody>
          <a:bodyPr wrap="square" rtlCol="0">
            <a:spAutoFit/>
          </a:bodyPr>
          <a:lstStyle/>
          <a:p>
            <a:r>
              <a:rPr lang="en-AU" b="1" u="sng" dirty="0" smtClean="0"/>
              <a:t>Step 3</a:t>
            </a:r>
            <a:r>
              <a:rPr lang="en-AU" dirty="0" smtClean="0"/>
              <a:t>, Allocate letters </a:t>
            </a:r>
            <a:r>
              <a:rPr lang="en-AU" dirty="0" smtClean="0">
                <a:solidFill>
                  <a:srgbClr val="006600"/>
                </a:solidFill>
              </a:rPr>
              <a:t>A, </a:t>
            </a:r>
            <a:r>
              <a:rPr lang="en-AU" i="1" dirty="0" smtClean="0">
                <a:solidFill>
                  <a:srgbClr val="006600"/>
                </a:solidFill>
              </a:rPr>
              <a:t>a</a:t>
            </a:r>
            <a:r>
              <a:rPr lang="en-AU" dirty="0" smtClean="0"/>
              <a:t>, </a:t>
            </a:r>
            <a:r>
              <a:rPr lang="en-AU" dirty="0" smtClean="0">
                <a:solidFill>
                  <a:srgbClr val="FF0000"/>
                </a:solidFill>
              </a:rPr>
              <a:t>B, </a:t>
            </a:r>
            <a:r>
              <a:rPr lang="en-AU" i="1" dirty="0" smtClean="0">
                <a:solidFill>
                  <a:srgbClr val="FF0000"/>
                </a:solidFill>
              </a:rPr>
              <a:t>b </a:t>
            </a:r>
            <a:r>
              <a:rPr lang="en-AU" i="1" dirty="0" smtClean="0"/>
              <a:t>(or any other letters of your choice) </a:t>
            </a:r>
            <a:r>
              <a:rPr lang="en-AU" dirty="0" smtClean="0"/>
              <a:t>to matching pairs.</a:t>
            </a:r>
            <a:endParaRPr lang="en-US" dirty="0"/>
          </a:p>
        </p:txBody>
      </p:sp>
      <p:sp>
        <p:nvSpPr>
          <p:cNvPr id="21" name="TextBox 20"/>
          <p:cNvSpPr txBox="1"/>
          <p:nvPr/>
        </p:nvSpPr>
        <p:spPr>
          <a:xfrm>
            <a:off x="5652120" y="5373216"/>
            <a:ext cx="1872208" cy="1477328"/>
          </a:xfrm>
          <a:prstGeom prst="rect">
            <a:avLst/>
          </a:prstGeom>
          <a:noFill/>
        </p:spPr>
        <p:txBody>
          <a:bodyPr wrap="square" rtlCol="0">
            <a:spAutoFit/>
          </a:bodyPr>
          <a:lstStyle/>
          <a:p>
            <a:r>
              <a:rPr lang="en-AU" dirty="0" smtClean="0">
                <a:solidFill>
                  <a:srgbClr val="006600"/>
                </a:solidFill>
              </a:rPr>
              <a:t>A = 95</a:t>
            </a:r>
          </a:p>
          <a:p>
            <a:r>
              <a:rPr lang="en-AU" i="1" dirty="0" smtClean="0">
                <a:solidFill>
                  <a:srgbClr val="006600"/>
                </a:solidFill>
              </a:rPr>
              <a:t>a</a:t>
            </a:r>
            <a:r>
              <a:rPr lang="en-AU" dirty="0" smtClean="0">
                <a:solidFill>
                  <a:srgbClr val="006600"/>
                </a:solidFill>
              </a:rPr>
              <a:t> = 35</a:t>
            </a:r>
          </a:p>
          <a:p>
            <a:r>
              <a:rPr lang="en-AU" dirty="0" smtClean="0">
                <a:solidFill>
                  <a:srgbClr val="FF0000"/>
                </a:solidFill>
              </a:rPr>
              <a:t>B = 22</a:t>
            </a:r>
          </a:p>
          <a:p>
            <a:r>
              <a:rPr lang="en-AU" i="1" dirty="0" smtClean="0">
                <a:solidFill>
                  <a:srgbClr val="FF0000"/>
                </a:solidFill>
              </a:rPr>
              <a:t>b</a:t>
            </a:r>
            <a:r>
              <a:rPr lang="en-AU" dirty="0" smtClean="0">
                <a:solidFill>
                  <a:srgbClr val="FF0000"/>
                </a:solidFill>
              </a:rPr>
              <a:t> = </a:t>
            </a:r>
            <a:r>
              <a:rPr lang="en-AU" i="1" dirty="0" smtClean="0">
                <a:solidFill>
                  <a:srgbClr val="FF0000"/>
                </a:solidFill>
              </a:rPr>
              <a:t>x</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amond(in)">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amond(in)">
                                      <p:cBhvr>
                                        <p:cTn id="12" dur="20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amond(in)">
                                      <p:cBhvr>
                                        <p:cTn id="17" dur="20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diamond(in)">
                                      <p:cBhvr>
                                        <p:cTn id="22" dur="20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amond(in)">
                                      <p:cBhvr>
                                        <p:cTn id="27" dur="2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amond(in)">
                                      <p:cBhvr>
                                        <p:cTn id="32"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827584" y="332656"/>
            <a:ext cx="1872208" cy="1477328"/>
          </a:xfrm>
          <a:prstGeom prst="rect">
            <a:avLst/>
          </a:prstGeom>
          <a:noFill/>
        </p:spPr>
        <p:txBody>
          <a:bodyPr wrap="square" rtlCol="0">
            <a:spAutoFit/>
          </a:bodyPr>
          <a:lstStyle/>
          <a:p>
            <a:r>
              <a:rPr lang="en-AU" dirty="0" smtClean="0">
                <a:solidFill>
                  <a:srgbClr val="006600"/>
                </a:solidFill>
              </a:rPr>
              <a:t>A = 95</a:t>
            </a:r>
          </a:p>
          <a:p>
            <a:r>
              <a:rPr lang="en-AU" i="1" dirty="0" smtClean="0">
                <a:solidFill>
                  <a:srgbClr val="006600"/>
                </a:solidFill>
              </a:rPr>
              <a:t>a</a:t>
            </a:r>
            <a:r>
              <a:rPr lang="en-AU" dirty="0" smtClean="0">
                <a:solidFill>
                  <a:srgbClr val="006600"/>
                </a:solidFill>
              </a:rPr>
              <a:t> = 35</a:t>
            </a:r>
          </a:p>
          <a:p>
            <a:r>
              <a:rPr lang="en-AU" dirty="0" smtClean="0">
                <a:solidFill>
                  <a:srgbClr val="FF0000"/>
                </a:solidFill>
              </a:rPr>
              <a:t>B = 22</a:t>
            </a:r>
          </a:p>
          <a:p>
            <a:r>
              <a:rPr lang="en-AU" i="1" dirty="0" smtClean="0">
                <a:solidFill>
                  <a:srgbClr val="FF0000"/>
                </a:solidFill>
              </a:rPr>
              <a:t>b</a:t>
            </a:r>
            <a:r>
              <a:rPr lang="en-AU" dirty="0" smtClean="0">
                <a:solidFill>
                  <a:srgbClr val="FF0000"/>
                </a:solidFill>
              </a:rPr>
              <a:t> = </a:t>
            </a:r>
            <a:r>
              <a:rPr lang="en-AU" i="1" dirty="0" smtClean="0">
                <a:solidFill>
                  <a:srgbClr val="FF0000"/>
                </a:solidFill>
              </a:rPr>
              <a:t>x</a:t>
            </a:r>
          </a:p>
          <a:p>
            <a:endParaRPr lang="en-US" dirty="0"/>
          </a:p>
        </p:txBody>
      </p:sp>
      <p:graphicFrame>
        <p:nvGraphicFramePr>
          <p:cNvPr id="7170" name="Object 2"/>
          <p:cNvGraphicFramePr>
            <a:graphicFrameLocks noChangeAspect="1"/>
          </p:cNvGraphicFramePr>
          <p:nvPr/>
        </p:nvGraphicFramePr>
        <p:xfrm>
          <a:off x="1331640" y="1772816"/>
          <a:ext cx="1656184" cy="766529"/>
        </p:xfrm>
        <a:graphic>
          <a:graphicData uri="http://schemas.openxmlformats.org/presentationml/2006/ole">
            <p:oleObj spid="_x0000_s7170" name="Equation" r:id="rId3" imgW="850680" imgH="393480" progId="Equation.3">
              <p:embed/>
            </p:oleObj>
          </a:graphicData>
        </a:graphic>
      </p:graphicFrame>
      <p:graphicFrame>
        <p:nvGraphicFramePr>
          <p:cNvPr id="7171" name="Object 3"/>
          <p:cNvGraphicFramePr>
            <a:graphicFrameLocks noChangeAspect="1"/>
          </p:cNvGraphicFramePr>
          <p:nvPr/>
        </p:nvGraphicFramePr>
        <p:xfrm>
          <a:off x="1187624" y="2708920"/>
          <a:ext cx="2076450" cy="766763"/>
        </p:xfrm>
        <a:graphic>
          <a:graphicData uri="http://schemas.openxmlformats.org/presentationml/2006/ole">
            <p:oleObj spid="_x0000_s7171" name="Equation" r:id="rId4" imgW="1066680" imgH="393480" progId="Equation.3">
              <p:embed/>
            </p:oleObj>
          </a:graphicData>
        </a:graphic>
      </p:graphicFrame>
      <p:graphicFrame>
        <p:nvGraphicFramePr>
          <p:cNvPr id="7172" name="Object 4"/>
          <p:cNvGraphicFramePr>
            <a:graphicFrameLocks noChangeAspect="1"/>
          </p:cNvGraphicFramePr>
          <p:nvPr/>
        </p:nvGraphicFramePr>
        <p:xfrm>
          <a:off x="899592" y="3735388"/>
          <a:ext cx="2497138" cy="346075"/>
        </p:xfrm>
        <a:graphic>
          <a:graphicData uri="http://schemas.openxmlformats.org/presentationml/2006/ole">
            <p:oleObj spid="_x0000_s7172" name="Equation" r:id="rId5" imgW="1282680" imgH="177480" progId="Equation.3">
              <p:embed/>
            </p:oleObj>
          </a:graphicData>
        </a:graphic>
      </p:graphicFrame>
      <p:graphicFrame>
        <p:nvGraphicFramePr>
          <p:cNvPr id="7173" name="Object 5"/>
          <p:cNvGraphicFramePr>
            <a:graphicFrameLocks noChangeAspect="1"/>
          </p:cNvGraphicFramePr>
          <p:nvPr/>
        </p:nvGraphicFramePr>
        <p:xfrm>
          <a:off x="1929333" y="4175125"/>
          <a:ext cx="1706563" cy="766763"/>
        </p:xfrm>
        <a:graphic>
          <a:graphicData uri="http://schemas.openxmlformats.org/presentationml/2006/ole">
            <p:oleObj spid="_x0000_s7173" name="Equation" r:id="rId6" imgW="876240" imgH="393480" progId="Equation.3">
              <p:embed/>
            </p:oleObj>
          </a:graphicData>
        </a:graphic>
      </p:graphicFrame>
      <p:sp>
        <p:nvSpPr>
          <p:cNvPr id="16" name="TextBox 15"/>
          <p:cNvSpPr txBox="1"/>
          <p:nvPr/>
        </p:nvSpPr>
        <p:spPr>
          <a:xfrm>
            <a:off x="1979712" y="5229200"/>
            <a:ext cx="2808312" cy="461665"/>
          </a:xfrm>
          <a:prstGeom prst="rect">
            <a:avLst/>
          </a:prstGeom>
          <a:noFill/>
        </p:spPr>
        <p:txBody>
          <a:bodyPr wrap="square" rtlCol="0">
            <a:spAutoFit/>
          </a:bodyPr>
          <a:lstStyle/>
          <a:p>
            <a:r>
              <a:rPr lang="en-AU" sz="2400" b="1" i="1" dirty="0" smtClean="0">
                <a:latin typeface="Times New Roman" pitchFamily="18" charset="0"/>
                <a:cs typeface="Times New Roman" pitchFamily="18" charset="0"/>
              </a:rPr>
              <a:t>x</a:t>
            </a:r>
            <a:r>
              <a:rPr lang="en-AU" sz="2400" b="1" dirty="0" smtClean="0">
                <a:latin typeface="Times New Roman" pitchFamily="18" charset="0"/>
                <a:cs typeface="Times New Roman" pitchFamily="18" charset="0"/>
              </a:rPr>
              <a:t> = </a:t>
            </a:r>
            <a:r>
              <a:rPr lang="en-AU" sz="2400" b="1" u="sng" dirty="0" smtClean="0">
                <a:latin typeface="Times New Roman" pitchFamily="18" charset="0"/>
                <a:cs typeface="Times New Roman" pitchFamily="18" charset="0"/>
              </a:rPr>
              <a:t>13.16</a:t>
            </a:r>
            <a:r>
              <a:rPr lang="en-AU" sz="2400" b="1" dirty="0" smtClean="0">
                <a:latin typeface="Times New Roman" pitchFamily="18" charset="0"/>
                <a:cs typeface="Times New Roman" pitchFamily="18" charset="0"/>
              </a:rPr>
              <a:t> </a:t>
            </a:r>
            <a:r>
              <a:rPr lang="en-AU" sz="1600" dirty="0" smtClean="0">
                <a:latin typeface="Times New Roman" pitchFamily="18" charset="0"/>
                <a:cs typeface="Times New Roman" pitchFamily="18" charset="0"/>
              </a:rPr>
              <a:t>(2dec pl)</a:t>
            </a:r>
            <a:endParaRPr lang="en-US" sz="1600" b="1" i="1" u="sng" dirty="0">
              <a:latin typeface="Times New Roman" pitchFamily="18" charset="0"/>
              <a:cs typeface="Times New Roman" pitchFamily="18" charset="0"/>
            </a:endParaRPr>
          </a:p>
        </p:txBody>
      </p:sp>
      <p:sp>
        <p:nvSpPr>
          <p:cNvPr id="17" name="TextBox 16"/>
          <p:cNvSpPr txBox="1"/>
          <p:nvPr/>
        </p:nvSpPr>
        <p:spPr>
          <a:xfrm>
            <a:off x="4788024" y="5229200"/>
            <a:ext cx="3960440" cy="646331"/>
          </a:xfrm>
          <a:prstGeom prst="rect">
            <a:avLst/>
          </a:prstGeom>
          <a:noFill/>
        </p:spPr>
        <p:txBody>
          <a:bodyPr wrap="square" rtlCol="0">
            <a:spAutoFit/>
          </a:bodyPr>
          <a:lstStyle/>
          <a:p>
            <a:r>
              <a:rPr lang="en-AU" dirty="0" smtClean="0"/>
              <a:t>Remember to check that the answer fits the context of the diagram. </a:t>
            </a:r>
            <a:endParaRPr lang="en-US" dirty="0"/>
          </a:p>
        </p:txBody>
      </p:sp>
      <p:grpSp>
        <p:nvGrpSpPr>
          <p:cNvPr id="22" name="Group 21"/>
          <p:cNvGrpSpPr/>
          <p:nvPr/>
        </p:nvGrpSpPr>
        <p:grpSpPr>
          <a:xfrm>
            <a:off x="4499992" y="548680"/>
            <a:ext cx="4380171" cy="3456384"/>
            <a:chOff x="4499992" y="548680"/>
            <a:chExt cx="4380171" cy="3456384"/>
          </a:xfrm>
        </p:grpSpPr>
        <p:grpSp>
          <p:nvGrpSpPr>
            <p:cNvPr id="2" name="Group 1"/>
            <p:cNvGrpSpPr/>
            <p:nvPr/>
          </p:nvGrpSpPr>
          <p:grpSpPr>
            <a:xfrm>
              <a:off x="4499992" y="692696"/>
              <a:ext cx="4380171" cy="2601580"/>
              <a:chOff x="4295737" y="1484784"/>
              <a:chExt cx="4380171" cy="2601580"/>
            </a:xfrm>
          </p:grpSpPr>
          <p:grpSp>
            <p:nvGrpSpPr>
              <p:cNvPr id="3" name="Group 11"/>
              <p:cNvGrpSpPr/>
              <p:nvPr/>
            </p:nvGrpSpPr>
            <p:grpSpPr>
              <a:xfrm rot="12859235">
                <a:off x="4295737" y="1950155"/>
                <a:ext cx="4380171" cy="1394307"/>
                <a:chOff x="5868144" y="2132856"/>
                <a:chExt cx="2592288" cy="576064"/>
              </a:xfrm>
            </p:grpSpPr>
            <p:cxnSp>
              <p:nvCxnSpPr>
                <p:cNvPr id="8" name="Straight Connector 6"/>
                <p:cNvCxnSpPr/>
                <p:nvPr/>
              </p:nvCxnSpPr>
              <p:spPr>
                <a:xfrm>
                  <a:off x="5868144" y="2132856"/>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868144" y="2132856"/>
                  <a:ext cx="1728192"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7596336" y="2132856"/>
                  <a:ext cx="864096" cy="5760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5940152" y="1628800"/>
                <a:ext cx="653757" cy="369332"/>
              </a:xfrm>
              <a:prstGeom prst="rect">
                <a:avLst/>
              </a:prstGeom>
              <a:noFill/>
            </p:spPr>
            <p:txBody>
              <a:bodyPr wrap="square" rtlCol="0">
                <a:spAutoFit/>
              </a:bodyPr>
              <a:lstStyle/>
              <a:p>
                <a:r>
                  <a:rPr lang="en-AU" dirty="0" smtClean="0">
                    <a:solidFill>
                      <a:srgbClr val="006600"/>
                    </a:solidFill>
                    <a:latin typeface="Times New Roman" pitchFamily="18" charset="0"/>
                    <a:cs typeface="Times New Roman" pitchFamily="18" charset="0"/>
                    <a:sym typeface="Symbol"/>
                  </a:rPr>
                  <a:t>95</a:t>
                </a:r>
                <a:endParaRPr lang="en-US" dirty="0">
                  <a:solidFill>
                    <a:srgbClr val="006600"/>
                  </a:solidFill>
                  <a:latin typeface="Times New Roman" pitchFamily="18" charset="0"/>
                  <a:cs typeface="Times New Roman" pitchFamily="18" charset="0"/>
                </a:endParaRPr>
              </a:p>
            </p:txBody>
          </p:sp>
          <p:sp>
            <p:nvSpPr>
              <p:cNvPr id="5" name="TextBox 4"/>
              <p:cNvSpPr txBox="1"/>
              <p:nvPr/>
            </p:nvSpPr>
            <p:spPr>
              <a:xfrm>
                <a:off x="5436096" y="2996952"/>
                <a:ext cx="784508" cy="369332"/>
              </a:xfrm>
              <a:prstGeom prst="rect">
                <a:avLst/>
              </a:prstGeom>
              <a:noFill/>
            </p:spPr>
            <p:txBody>
              <a:bodyPr wrap="square" rtlCol="0">
                <a:spAutoFit/>
              </a:bodyPr>
              <a:lstStyle/>
              <a:p>
                <a:r>
                  <a:rPr lang="en-AU" dirty="0" smtClean="0">
                    <a:solidFill>
                      <a:srgbClr val="006600"/>
                    </a:solidFill>
                    <a:latin typeface="Times New Roman" pitchFamily="18" charset="0"/>
                    <a:cs typeface="Times New Roman" pitchFamily="18" charset="0"/>
                  </a:rPr>
                  <a:t>35 </a:t>
                </a:r>
                <a:r>
                  <a:rPr lang="en-AU" i="1" dirty="0" smtClean="0">
                    <a:solidFill>
                      <a:srgbClr val="006600"/>
                    </a:solidFill>
                    <a:latin typeface="Times New Roman" pitchFamily="18" charset="0"/>
                    <a:cs typeface="Times New Roman" pitchFamily="18" charset="0"/>
                  </a:rPr>
                  <a:t>cm</a:t>
                </a:r>
                <a:endParaRPr lang="en-US" i="1" dirty="0">
                  <a:solidFill>
                    <a:srgbClr val="006600"/>
                  </a:solidFill>
                  <a:latin typeface="Times New Roman" pitchFamily="18" charset="0"/>
                  <a:cs typeface="Times New Roman" pitchFamily="18" charset="0"/>
                </a:endParaRPr>
              </a:p>
            </p:txBody>
          </p:sp>
          <p:sp>
            <p:nvSpPr>
              <p:cNvPr id="6" name="TextBox 5"/>
              <p:cNvSpPr txBox="1"/>
              <p:nvPr/>
            </p:nvSpPr>
            <p:spPr>
              <a:xfrm>
                <a:off x="5076056" y="1484784"/>
                <a:ext cx="849884" cy="369332"/>
              </a:xfrm>
              <a:prstGeom prst="rect">
                <a:avLst/>
              </a:prstGeom>
              <a:noFill/>
            </p:spPr>
            <p:txBody>
              <a:bodyPr wrap="square" rtlCol="0">
                <a:spAutoFit/>
              </a:bodyPr>
              <a:lstStyle/>
              <a:p>
                <a:r>
                  <a:rPr lang="en-AU" i="1" dirty="0" smtClean="0">
                    <a:solidFill>
                      <a:srgbClr val="FF0000"/>
                    </a:solidFill>
                    <a:latin typeface="Times New Roman" pitchFamily="18" charset="0"/>
                    <a:cs typeface="Times New Roman" pitchFamily="18" charset="0"/>
                  </a:rPr>
                  <a:t>x cm</a:t>
                </a:r>
                <a:endParaRPr lang="en-US" i="1" dirty="0">
                  <a:solidFill>
                    <a:srgbClr val="FF0000"/>
                  </a:solidFill>
                  <a:latin typeface="Times New Roman" pitchFamily="18" charset="0"/>
                  <a:cs typeface="Times New Roman" pitchFamily="18" charset="0"/>
                </a:endParaRPr>
              </a:p>
            </p:txBody>
          </p:sp>
          <p:sp>
            <p:nvSpPr>
              <p:cNvPr id="7" name="TextBox 6"/>
              <p:cNvSpPr txBox="1"/>
              <p:nvPr/>
            </p:nvSpPr>
            <p:spPr>
              <a:xfrm>
                <a:off x="7164288" y="3717032"/>
                <a:ext cx="653757" cy="369332"/>
              </a:xfrm>
              <a:prstGeom prst="rect">
                <a:avLst/>
              </a:prstGeom>
              <a:noFill/>
            </p:spPr>
            <p:txBody>
              <a:bodyPr wrap="square" rtlCol="0">
                <a:spAutoFit/>
              </a:bodyPr>
              <a:lstStyle/>
              <a:p>
                <a:r>
                  <a:rPr lang="en-AU" dirty="0" smtClean="0">
                    <a:solidFill>
                      <a:srgbClr val="FF0000"/>
                    </a:solidFill>
                    <a:latin typeface="Times New Roman" pitchFamily="18" charset="0"/>
                    <a:cs typeface="Times New Roman" pitchFamily="18" charset="0"/>
                    <a:sym typeface="Symbol"/>
                  </a:rPr>
                  <a:t>22</a:t>
                </a:r>
                <a:endParaRPr lang="en-US" dirty="0">
                  <a:solidFill>
                    <a:srgbClr val="FF0000"/>
                  </a:solidFill>
                  <a:latin typeface="Times New Roman" pitchFamily="18" charset="0"/>
                  <a:cs typeface="Times New Roman" pitchFamily="18" charset="0"/>
                </a:endParaRPr>
              </a:p>
            </p:txBody>
          </p:sp>
        </p:grpSp>
        <p:sp>
          <p:nvSpPr>
            <p:cNvPr id="18" name="TextBox 17"/>
            <p:cNvSpPr txBox="1"/>
            <p:nvPr/>
          </p:nvSpPr>
          <p:spPr>
            <a:xfrm>
              <a:off x="6300192" y="548680"/>
              <a:ext cx="720080" cy="369332"/>
            </a:xfrm>
            <a:prstGeom prst="rect">
              <a:avLst/>
            </a:prstGeom>
            <a:noFill/>
          </p:spPr>
          <p:txBody>
            <a:bodyPr wrap="square" rtlCol="0">
              <a:spAutoFit/>
            </a:bodyPr>
            <a:lstStyle/>
            <a:p>
              <a:r>
                <a:rPr lang="en-AU" dirty="0" smtClean="0">
                  <a:solidFill>
                    <a:srgbClr val="006600"/>
                  </a:solidFill>
                </a:rPr>
                <a:t>A</a:t>
              </a:r>
              <a:endParaRPr lang="en-US" dirty="0">
                <a:solidFill>
                  <a:srgbClr val="006600"/>
                </a:solidFill>
              </a:endParaRPr>
            </a:p>
          </p:txBody>
        </p:sp>
        <p:sp>
          <p:nvSpPr>
            <p:cNvPr id="19" name="TextBox 18"/>
            <p:cNvSpPr txBox="1"/>
            <p:nvPr/>
          </p:nvSpPr>
          <p:spPr>
            <a:xfrm>
              <a:off x="5875724" y="1916832"/>
              <a:ext cx="784508" cy="369332"/>
            </a:xfrm>
            <a:prstGeom prst="rect">
              <a:avLst/>
            </a:prstGeom>
            <a:noFill/>
          </p:spPr>
          <p:txBody>
            <a:bodyPr wrap="square" rtlCol="0">
              <a:spAutoFit/>
            </a:bodyPr>
            <a:lstStyle/>
            <a:p>
              <a:r>
                <a:rPr lang="en-AU" i="1" dirty="0" smtClean="0">
                  <a:solidFill>
                    <a:srgbClr val="006600"/>
                  </a:solidFill>
                  <a:latin typeface="Times New Roman" pitchFamily="18" charset="0"/>
                  <a:cs typeface="Times New Roman" pitchFamily="18" charset="0"/>
                </a:rPr>
                <a:t>a</a:t>
              </a:r>
              <a:endParaRPr lang="en-US" i="1" dirty="0">
                <a:solidFill>
                  <a:srgbClr val="006600"/>
                </a:solidFill>
                <a:latin typeface="Times New Roman" pitchFamily="18" charset="0"/>
                <a:cs typeface="Times New Roman" pitchFamily="18" charset="0"/>
              </a:endParaRPr>
            </a:p>
          </p:txBody>
        </p:sp>
        <p:sp>
          <p:nvSpPr>
            <p:cNvPr id="20" name="TextBox 19"/>
            <p:cNvSpPr txBox="1"/>
            <p:nvPr/>
          </p:nvSpPr>
          <p:spPr>
            <a:xfrm>
              <a:off x="8094707" y="3635732"/>
              <a:ext cx="653757" cy="369332"/>
            </a:xfrm>
            <a:prstGeom prst="rect">
              <a:avLst/>
            </a:prstGeom>
            <a:noFill/>
          </p:spPr>
          <p:txBody>
            <a:bodyPr wrap="square" rtlCol="0">
              <a:spAutoFit/>
            </a:bodyPr>
            <a:lstStyle/>
            <a:p>
              <a:r>
                <a:rPr lang="en-AU" dirty="0" smtClean="0">
                  <a:solidFill>
                    <a:srgbClr val="FF0000"/>
                  </a:solidFill>
                  <a:latin typeface="Times New Roman" pitchFamily="18" charset="0"/>
                  <a:cs typeface="Times New Roman" pitchFamily="18" charset="0"/>
                  <a:sym typeface="Symbol"/>
                </a:rPr>
                <a:t>B</a:t>
              </a:r>
              <a:endParaRPr lang="en-US" dirty="0">
                <a:solidFill>
                  <a:srgbClr val="FF0000"/>
                </a:solidFill>
                <a:latin typeface="Times New Roman" pitchFamily="18" charset="0"/>
                <a:cs typeface="Times New Roman" pitchFamily="18" charset="0"/>
              </a:endParaRPr>
            </a:p>
          </p:txBody>
        </p:sp>
        <p:sp>
          <p:nvSpPr>
            <p:cNvPr id="21" name="TextBox 20"/>
            <p:cNvSpPr txBox="1"/>
            <p:nvPr/>
          </p:nvSpPr>
          <p:spPr>
            <a:xfrm>
              <a:off x="5432711" y="971436"/>
              <a:ext cx="849884" cy="369332"/>
            </a:xfrm>
            <a:prstGeom prst="rect">
              <a:avLst/>
            </a:prstGeom>
            <a:noFill/>
          </p:spPr>
          <p:txBody>
            <a:bodyPr wrap="square" rtlCol="0">
              <a:spAutoFit/>
            </a:bodyPr>
            <a:lstStyle/>
            <a:p>
              <a:r>
                <a:rPr lang="en-AU" i="1" dirty="0" smtClean="0">
                  <a:solidFill>
                    <a:srgbClr val="FF0000"/>
                  </a:solidFill>
                  <a:latin typeface="Times New Roman" pitchFamily="18" charset="0"/>
                  <a:cs typeface="Times New Roman" pitchFamily="18" charset="0"/>
                </a:rPr>
                <a:t>b</a:t>
              </a:r>
              <a:endParaRPr lang="en-US" i="1" dirty="0">
                <a:solidFill>
                  <a:srgbClr val="FF0000"/>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par>
                          <p:cTn id="8" fill="hold">
                            <p:stCondLst>
                              <p:cond delay="2000"/>
                            </p:stCondLst>
                            <p:childTnLst>
                              <p:par>
                                <p:cTn id="9" presetID="8" presetClass="entr" presetSubtype="16"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diamond(in)">
                                      <p:cBhvr>
                                        <p:cTn id="11" dur="20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7170"/>
                                        </p:tgtEl>
                                        <p:attrNameLst>
                                          <p:attrName>style.visibility</p:attrName>
                                        </p:attrNameLst>
                                      </p:cBhvr>
                                      <p:to>
                                        <p:strVal val="visible"/>
                                      </p:to>
                                    </p:set>
                                    <p:animEffect transition="in" filter="diamond(in)">
                                      <p:cBhvr>
                                        <p:cTn id="16" dur="2000"/>
                                        <p:tgtEl>
                                          <p:spTgt spid="7170"/>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7171"/>
                                        </p:tgtEl>
                                        <p:attrNameLst>
                                          <p:attrName>style.visibility</p:attrName>
                                        </p:attrNameLst>
                                      </p:cBhvr>
                                      <p:to>
                                        <p:strVal val="visible"/>
                                      </p:to>
                                    </p:set>
                                    <p:animEffect transition="in" filter="diamond(in)">
                                      <p:cBhvr>
                                        <p:cTn id="21" dur="2000"/>
                                        <p:tgtEl>
                                          <p:spTgt spid="7171"/>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7172"/>
                                        </p:tgtEl>
                                        <p:attrNameLst>
                                          <p:attrName>style.visibility</p:attrName>
                                        </p:attrNameLst>
                                      </p:cBhvr>
                                      <p:to>
                                        <p:strVal val="visible"/>
                                      </p:to>
                                    </p:set>
                                    <p:animEffect transition="in" filter="diamond(in)">
                                      <p:cBhvr>
                                        <p:cTn id="26" dur="2000"/>
                                        <p:tgtEl>
                                          <p:spTgt spid="7172"/>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nodeType="clickEffect">
                                  <p:stCondLst>
                                    <p:cond delay="0"/>
                                  </p:stCondLst>
                                  <p:childTnLst>
                                    <p:set>
                                      <p:cBhvr>
                                        <p:cTn id="30" dur="1" fill="hold">
                                          <p:stCondLst>
                                            <p:cond delay="0"/>
                                          </p:stCondLst>
                                        </p:cTn>
                                        <p:tgtEl>
                                          <p:spTgt spid="7173"/>
                                        </p:tgtEl>
                                        <p:attrNameLst>
                                          <p:attrName>style.visibility</p:attrName>
                                        </p:attrNameLst>
                                      </p:cBhvr>
                                      <p:to>
                                        <p:strVal val="visible"/>
                                      </p:to>
                                    </p:set>
                                    <p:animEffect transition="in" filter="diamond(in)">
                                      <p:cBhvr>
                                        <p:cTn id="31" dur="2000"/>
                                        <p:tgtEl>
                                          <p:spTgt spid="717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ppt_x"/>
                                          </p:val>
                                        </p:tav>
                                        <p:tav tm="100000">
                                          <p:val>
                                            <p:strVal val="#ppt_x"/>
                                          </p:val>
                                        </p:tav>
                                      </p:tavLst>
                                    </p:anim>
                                    <p:anim calcmode="lin" valueType="num">
                                      <p:cBhvr additive="base">
                                        <p:cTn id="37" dur="500" fill="hold"/>
                                        <p:tgtEl>
                                          <p:spTgt spid="16"/>
                                        </p:tgtEl>
                                        <p:attrNameLst>
                                          <p:attrName>ppt_y</p:attrName>
                                        </p:attrNameLst>
                                      </p:cBhvr>
                                      <p:tavLst>
                                        <p:tav tm="0">
                                          <p:val>
                                            <p:strVal val="1+#ppt_h/2"/>
                                          </p:val>
                                        </p:tav>
                                        <p:tav tm="100000">
                                          <p:val>
                                            <p:strVal val="#ppt_y"/>
                                          </p:val>
                                        </p:tav>
                                      </p:tavLst>
                                    </p:anim>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dissolve">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3 – Use the Sine Rule to find the value of </a:t>
            </a:r>
            <a:r>
              <a:rPr lang="en-AU" sz="2400" i="1" dirty="0">
                <a:solidFill>
                  <a:srgbClr val="0000FF"/>
                </a:solidFill>
                <a:sym typeface="Symbol"/>
              </a:rPr>
              <a:t></a:t>
            </a:r>
            <a:r>
              <a:rPr lang="en-AU" sz="2400" dirty="0" smtClean="0">
                <a:solidFill>
                  <a:srgbClr val="0000FF"/>
                </a:solidFill>
              </a:rPr>
              <a:t> in the triangle:</a:t>
            </a:r>
            <a:endParaRPr lang="en-US" sz="2400" dirty="0">
              <a:solidFill>
                <a:srgbClr val="0000FF"/>
              </a:solidFill>
            </a:endParaRPr>
          </a:p>
        </p:txBody>
      </p:sp>
      <p:grpSp>
        <p:nvGrpSpPr>
          <p:cNvPr id="13" name="Group 12"/>
          <p:cNvGrpSpPr/>
          <p:nvPr/>
        </p:nvGrpSpPr>
        <p:grpSpPr>
          <a:xfrm>
            <a:off x="2843808" y="1556792"/>
            <a:ext cx="2736304" cy="1953508"/>
            <a:chOff x="2843808" y="1556792"/>
            <a:chExt cx="2736304" cy="1953508"/>
          </a:xfrm>
        </p:grpSpPr>
        <p:cxnSp>
          <p:nvCxnSpPr>
            <p:cNvPr id="4" name="Straight Connector 3"/>
            <p:cNvCxnSpPr/>
            <p:nvPr/>
          </p:nvCxnSpPr>
          <p:spPr>
            <a:xfrm flipH="1">
              <a:off x="2843808" y="1556792"/>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563888" y="1556792"/>
              <a:ext cx="2016224" cy="144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843808" y="2996952"/>
              <a:ext cx="2736304" cy="43204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419872" y="1628800"/>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62</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10" name="TextBox 9"/>
            <p:cNvSpPr txBox="1"/>
            <p:nvPr/>
          </p:nvSpPr>
          <p:spPr>
            <a:xfrm>
              <a:off x="2843808" y="3068960"/>
              <a:ext cx="720080" cy="369332"/>
            </a:xfrm>
            <a:prstGeom prst="rect">
              <a:avLst/>
            </a:prstGeom>
            <a:noFill/>
          </p:spPr>
          <p:txBody>
            <a:bodyPr wrap="square" rtlCol="0">
              <a:spAutoFit/>
            </a:bodyPr>
            <a:lstStyle/>
            <a:p>
              <a:r>
                <a:rPr lang="en-AU" dirty="0">
                  <a:latin typeface="Times New Roman" pitchFamily="18" charset="0"/>
                  <a:cs typeface="Times New Roman" pitchFamily="18" charset="0"/>
                  <a:sym typeface="Symbol"/>
                </a:rPr>
                <a:t></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11" name="TextBox 10"/>
            <p:cNvSpPr txBox="1"/>
            <p:nvPr/>
          </p:nvSpPr>
          <p:spPr>
            <a:xfrm>
              <a:off x="4355976" y="1916832"/>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4.7</a:t>
              </a:r>
              <a:r>
                <a:rPr lang="en-AU" i="1" dirty="0"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12" name="TextBox 11"/>
            <p:cNvSpPr txBox="1"/>
            <p:nvPr/>
          </p:nvSpPr>
          <p:spPr>
            <a:xfrm>
              <a:off x="3851920" y="3140968"/>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5.1</a:t>
              </a:r>
              <a:r>
                <a:rPr lang="en-AU" i="1" dirty="0"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grpSp>
      <p:sp>
        <p:nvSpPr>
          <p:cNvPr id="14" name="TextBox 13"/>
          <p:cNvSpPr txBox="1"/>
          <p:nvPr/>
        </p:nvSpPr>
        <p:spPr>
          <a:xfrm>
            <a:off x="539552" y="3717032"/>
            <a:ext cx="7992888" cy="1938992"/>
          </a:xfrm>
          <a:prstGeom prst="rect">
            <a:avLst/>
          </a:prstGeom>
          <a:noFill/>
        </p:spPr>
        <p:txBody>
          <a:bodyPr wrap="square" rtlCol="0">
            <a:spAutoFit/>
          </a:bodyPr>
          <a:lstStyle/>
          <a:p>
            <a:pPr>
              <a:spcAft>
                <a:spcPts val="1200"/>
              </a:spcAft>
            </a:pPr>
            <a:r>
              <a:rPr lang="en-AU" dirty="0" smtClean="0"/>
              <a:t>A quick check indicates everything is in place to use the Sine Rule…. </a:t>
            </a:r>
          </a:p>
          <a:p>
            <a:pPr>
              <a:spcAft>
                <a:spcPts val="1200"/>
              </a:spcAft>
              <a:buFont typeface="Arial" pitchFamily="34" charset="0"/>
              <a:buChar char="•"/>
            </a:pPr>
            <a:r>
              <a:rPr lang="en-AU" dirty="0"/>
              <a:t> </a:t>
            </a:r>
            <a:r>
              <a:rPr lang="en-AU" dirty="0" smtClean="0"/>
              <a:t>  </a:t>
            </a:r>
            <a:r>
              <a:rPr lang="en-AU" dirty="0" smtClean="0">
                <a:solidFill>
                  <a:srgbClr val="7030A0"/>
                </a:solidFill>
              </a:rPr>
              <a:t>3 givens and one unknown</a:t>
            </a:r>
          </a:p>
          <a:p>
            <a:pPr>
              <a:spcAft>
                <a:spcPts val="1200"/>
              </a:spcAft>
              <a:buFont typeface="Arial" pitchFamily="34" charset="0"/>
              <a:buChar char="•"/>
            </a:pPr>
            <a:r>
              <a:rPr lang="en-AU" dirty="0">
                <a:solidFill>
                  <a:srgbClr val="7030A0"/>
                </a:solidFill>
              </a:rPr>
              <a:t> </a:t>
            </a:r>
            <a:r>
              <a:rPr lang="en-AU" dirty="0" smtClean="0">
                <a:solidFill>
                  <a:srgbClr val="7030A0"/>
                </a:solidFill>
              </a:rPr>
              <a:t>  One pair of givens (5.1 and 62) form a matching angle and opposite side; and</a:t>
            </a:r>
          </a:p>
          <a:p>
            <a:pPr>
              <a:buFont typeface="Arial" pitchFamily="34" charset="0"/>
              <a:buChar char="•"/>
            </a:pPr>
            <a:r>
              <a:rPr lang="en-AU" dirty="0">
                <a:solidFill>
                  <a:srgbClr val="7030A0"/>
                </a:solidFill>
              </a:rPr>
              <a:t> </a:t>
            </a:r>
            <a:r>
              <a:rPr lang="en-AU" dirty="0" smtClean="0">
                <a:solidFill>
                  <a:srgbClr val="7030A0"/>
                </a:solidFill>
              </a:rPr>
              <a:t>  The other pair (4.7 and </a:t>
            </a:r>
            <a:r>
              <a:rPr lang="en-AU" dirty="0" smtClean="0">
                <a:solidFill>
                  <a:srgbClr val="7030A0"/>
                </a:solidFill>
                <a:sym typeface="Symbol"/>
              </a:rPr>
              <a:t>) form the second matching angle and opposite side. Note the third side and angle are unmarked – we don’t use these.</a:t>
            </a:r>
            <a:endParaRPr lang="en-US" dirty="0">
              <a:solidFill>
                <a:srgbClr val="7030A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580112" y="692696"/>
            <a:ext cx="2736304" cy="1953508"/>
            <a:chOff x="2843808" y="1556792"/>
            <a:chExt cx="2736304" cy="1953508"/>
          </a:xfrm>
        </p:grpSpPr>
        <p:cxnSp>
          <p:nvCxnSpPr>
            <p:cNvPr id="3" name="Straight Connector 2"/>
            <p:cNvCxnSpPr/>
            <p:nvPr/>
          </p:nvCxnSpPr>
          <p:spPr>
            <a:xfrm flipH="1">
              <a:off x="2843808" y="1556792"/>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3563888" y="1556792"/>
              <a:ext cx="2016224" cy="144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2843808" y="2996952"/>
              <a:ext cx="2736304" cy="432048"/>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419872" y="1628800"/>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62</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7" name="TextBox 6"/>
            <p:cNvSpPr txBox="1"/>
            <p:nvPr/>
          </p:nvSpPr>
          <p:spPr>
            <a:xfrm>
              <a:off x="2843808" y="3068960"/>
              <a:ext cx="720080" cy="369332"/>
            </a:xfrm>
            <a:prstGeom prst="rect">
              <a:avLst/>
            </a:prstGeom>
            <a:noFill/>
          </p:spPr>
          <p:txBody>
            <a:bodyPr wrap="square" rtlCol="0">
              <a:spAutoFit/>
            </a:bodyPr>
            <a:lstStyle/>
            <a:p>
              <a:r>
                <a:rPr lang="en-AU" dirty="0">
                  <a:latin typeface="Times New Roman" pitchFamily="18" charset="0"/>
                  <a:cs typeface="Times New Roman" pitchFamily="18" charset="0"/>
                  <a:sym typeface="Symbol"/>
                </a:rPr>
                <a:t></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8" name="TextBox 7"/>
            <p:cNvSpPr txBox="1"/>
            <p:nvPr/>
          </p:nvSpPr>
          <p:spPr>
            <a:xfrm>
              <a:off x="4355976" y="1916832"/>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4.7</a:t>
              </a:r>
              <a:r>
                <a:rPr lang="en-AU" i="1" dirty="0"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9" name="TextBox 8"/>
            <p:cNvSpPr txBox="1"/>
            <p:nvPr/>
          </p:nvSpPr>
          <p:spPr>
            <a:xfrm>
              <a:off x="3851920" y="3140968"/>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5.1</a:t>
              </a:r>
              <a:r>
                <a:rPr lang="en-AU" i="1" dirty="0"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grpSp>
      <p:graphicFrame>
        <p:nvGraphicFramePr>
          <p:cNvPr id="8194" name="Object 2"/>
          <p:cNvGraphicFramePr>
            <a:graphicFrameLocks noChangeAspect="1"/>
          </p:cNvGraphicFramePr>
          <p:nvPr/>
        </p:nvGraphicFramePr>
        <p:xfrm>
          <a:off x="899592" y="1844824"/>
          <a:ext cx="1952625" cy="766762"/>
        </p:xfrm>
        <a:graphic>
          <a:graphicData uri="http://schemas.openxmlformats.org/presentationml/2006/ole">
            <p:oleObj spid="_x0000_s8194" name="Equation" r:id="rId3" imgW="1002960" imgH="393480" progId="Equation.3">
              <p:embed/>
            </p:oleObj>
          </a:graphicData>
        </a:graphic>
      </p:graphicFrame>
      <p:graphicFrame>
        <p:nvGraphicFramePr>
          <p:cNvPr id="8195" name="Object 3"/>
          <p:cNvGraphicFramePr>
            <a:graphicFrameLocks noChangeAspect="1"/>
          </p:cNvGraphicFramePr>
          <p:nvPr/>
        </p:nvGraphicFramePr>
        <p:xfrm>
          <a:off x="899592" y="764704"/>
          <a:ext cx="1655762" cy="766762"/>
        </p:xfrm>
        <a:graphic>
          <a:graphicData uri="http://schemas.openxmlformats.org/presentationml/2006/ole">
            <p:oleObj spid="_x0000_s8195" name="Equation" r:id="rId4" imgW="850680" imgH="393480" progId="Equation.3">
              <p:embed/>
            </p:oleObj>
          </a:graphicData>
        </a:graphic>
      </p:graphicFrame>
      <p:graphicFrame>
        <p:nvGraphicFramePr>
          <p:cNvPr id="8196" name="Object 4"/>
          <p:cNvGraphicFramePr>
            <a:graphicFrameLocks noChangeAspect="1"/>
          </p:cNvGraphicFramePr>
          <p:nvPr/>
        </p:nvGraphicFramePr>
        <p:xfrm>
          <a:off x="395536" y="2871788"/>
          <a:ext cx="2520950" cy="346075"/>
        </p:xfrm>
        <a:graphic>
          <a:graphicData uri="http://schemas.openxmlformats.org/presentationml/2006/ole">
            <p:oleObj spid="_x0000_s8196" name="Equation" r:id="rId5" imgW="1295280" imgH="177480" progId="Equation.3">
              <p:embed/>
            </p:oleObj>
          </a:graphicData>
        </a:graphic>
      </p:graphicFrame>
      <p:graphicFrame>
        <p:nvGraphicFramePr>
          <p:cNvPr id="8197" name="Object 5"/>
          <p:cNvGraphicFramePr>
            <a:graphicFrameLocks noChangeAspect="1"/>
          </p:cNvGraphicFramePr>
          <p:nvPr/>
        </p:nvGraphicFramePr>
        <p:xfrm>
          <a:off x="1077913" y="3382963"/>
          <a:ext cx="2198687" cy="766762"/>
        </p:xfrm>
        <a:graphic>
          <a:graphicData uri="http://schemas.openxmlformats.org/presentationml/2006/ole">
            <p:oleObj spid="_x0000_s8197" name="Equation" r:id="rId6" imgW="1130040" imgH="393480" progId="Equation.3">
              <p:embed/>
            </p:oleObj>
          </a:graphicData>
        </a:graphic>
      </p:graphicFrame>
      <p:graphicFrame>
        <p:nvGraphicFramePr>
          <p:cNvPr id="8198" name="Object 6"/>
          <p:cNvGraphicFramePr>
            <a:graphicFrameLocks noChangeAspect="1"/>
          </p:cNvGraphicFramePr>
          <p:nvPr/>
        </p:nvGraphicFramePr>
        <p:xfrm>
          <a:off x="1104900" y="4221163"/>
          <a:ext cx="1752600" cy="346075"/>
        </p:xfrm>
        <a:graphic>
          <a:graphicData uri="http://schemas.openxmlformats.org/presentationml/2006/ole">
            <p:oleObj spid="_x0000_s8198" name="Equation" r:id="rId7" imgW="901440" imgH="177480" progId="Equation.3">
              <p:embed/>
            </p:oleObj>
          </a:graphicData>
        </a:graphic>
      </p:graphicFrame>
      <p:graphicFrame>
        <p:nvGraphicFramePr>
          <p:cNvPr id="8199" name="Object 7"/>
          <p:cNvGraphicFramePr>
            <a:graphicFrameLocks noChangeAspect="1"/>
          </p:cNvGraphicFramePr>
          <p:nvPr/>
        </p:nvGraphicFramePr>
        <p:xfrm>
          <a:off x="1511821" y="4689475"/>
          <a:ext cx="2124075" cy="444500"/>
        </p:xfrm>
        <a:graphic>
          <a:graphicData uri="http://schemas.openxmlformats.org/presentationml/2006/ole">
            <p:oleObj spid="_x0000_s8199" name="Equation" r:id="rId8" imgW="1091880" imgH="228600" progId="Equation.3">
              <p:embed/>
            </p:oleObj>
          </a:graphicData>
        </a:graphic>
      </p:graphicFrame>
      <p:graphicFrame>
        <p:nvGraphicFramePr>
          <p:cNvPr id="8200" name="Object 8"/>
          <p:cNvGraphicFramePr>
            <a:graphicFrameLocks noChangeAspect="1"/>
          </p:cNvGraphicFramePr>
          <p:nvPr/>
        </p:nvGraphicFramePr>
        <p:xfrm>
          <a:off x="1523752" y="5219700"/>
          <a:ext cx="2616200" cy="395288"/>
        </p:xfrm>
        <a:graphic>
          <a:graphicData uri="http://schemas.openxmlformats.org/presentationml/2006/ole">
            <p:oleObj spid="_x0000_s8200" name="Equation" r:id="rId9" imgW="1346040" imgH="203040" progId="Equation.3">
              <p:embed/>
            </p:oleObj>
          </a:graphicData>
        </a:graphic>
      </p:graphicFrame>
      <p:sp>
        <p:nvSpPr>
          <p:cNvPr id="18" name="TextBox 17"/>
          <p:cNvSpPr txBox="1"/>
          <p:nvPr/>
        </p:nvSpPr>
        <p:spPr>
          <a:xfrm>
            <a:off x="4788024" y="2852936"/>
            <a:ext cx="3960440" cy="646331"/>
          </a:xfrm>
          <a:prstGeom prst="rect">
            <a:avLst/>
          </a:prstGeom>
          <a:noFill/>
        </p:spPr>
        <p:txBody>
          <a:bodyPr wrap="square" rtlCol="0">
            <a:spAutoFit/>
          </a:bodyPr>
          <a:lstStyle/>
          <a:p>
            <a:r>
              <a:rPr lang="en-AU" dirty="0" smtClean="0"/>
              <a:t>Remember to check that the answer fits the context of the diagram. </a:t>
            </a:r>
            <a:endParaRPr lang="en-US" dirty="0"/>
          </a:p>
        </p:txBody>
      </p:sp>
      <p:sp>
        <p:nvSpPr>
          <p:cNvPr id="19" name="TextBox 18"/>
          <p:cNvSpPr txBox="1"/>
          <p:nvPr/>
        </p:nvSpPr>
        <p:spPr>
          <a:xfrm>
            <a:off x="4427984" y="3501008"/>
            <a:ext cx="4392488" cy="3016210"/>
          </a:xfrm>
          <a:prstGeom prst="rect">
            <a:avLst/>
          </a:prstGeom>
          <a:noFill/>
        </p:spPr>
        <p:txBody>
          <a:bodyPr wrap="square" rtlCol="0">
            <a:spAutoFit/>
          </a:bodyPr>
          <a:lstStyle/>
          <a:p>
            <a:r>
              <a:rPr lang="en-AU" b="1" dirty="0" smtClean="0">
                <a:solidFill>
                  <a:srgbClr val="FF0000"/>
                </a:solidFill>
              </a:rPr>
              <a:t>Important point!</a:t>
            </a:r>
          </a:p>
          <a:p>
            <a:r>
              <a:rPr lang="en-AU" sz="1600" b="1" dirty="0" smtClean="0">
                <a:solidFill>
                  <a:srgbClr val="FF0000"/>
                </a:solidFill>
              </a:rPr>
              <a:t>In the diagram above, it </a:t>
            </a:r>
            <a:r>
              <a:rPr lang="en-AU" sz="1600" b="1" i="1" dirty="0" smtClean="0">
                <a:solidFill>
                  <a:srgbClr val="FF0000"/>
                </a:solidFill>
              </a:rPr>
              <a:t>looks</a:t>
            </a:r>
            <a:r>
              <a:rPr lang="en-AU" sz="1600" b="1" dirty="0" smtClean="0">
                <a:solidFill>
                  <a:srgbClr val="FF0000"/>
                </a:solidFill>
              </a:rPr>
              <a:t> like all angles are acute. However in some cases the diagram may not be drawn to scale, and the unknown angle </a:t>
            </a:r>
            <a:r>
              <a:rPr lang="en-AU" sz="1600" b="1" i="1" dirty="0" smtClean="0">
                <a:solidFill>
                  <a:srgbClr val="FF0000"/>
                </a:solidFill>
                <a:sym typeface="Symbol"/>
              </a:rPr>
              <a:t></a:t>
            </a:r>
            <a:r>
              <a:rPr lang="en-AU" sz="1600" b="1" dirty="0" smtClean="0">
                <a:solidFill>
                  <a:srgbClr val="FF0000"/>
                </a:solidFill>
                <a:sym typeface="Symbol"/>
              </a:rPr>
              <a:t>  may in fact be obtuse.  Note that sin 5428’ = sin (180 – 5428’)  i.e.</a:t>
            </a:r>
          </a:p>
          <a:p>
            <a:r>
              <a:rPr lang="en-AU" sz="1600" b="1" dirty="0" smtClean="0">
                <a:solidFill>
                  <a:srgbClr val="0000FF"/>
                </a:solidFill>
                <a:sym typeface="Symbol"/>
              </a:rPr>
              <a:t>sin 5428’ = sin </a:t>
            </a:r>
            <a:r>
              <a:rPr lang="en-AU" sz="1600" b="1" dirty="0" smtClean="0">
                <a:solidFill>
                  <a:srgbClr val="0000FF"/>
                </a:solidFill>
                <a:sym typeface="Symbol"/>
              </a:rPr>
              <a:t>12532’ </a:t>
            </a:r>
            <a:r>
              <a:rPr lang="en-AU" sz="1600" b="1" dirty="0" smtClean="0">
                <a:solidFill>
                  <a:srgbClr val="FF0000"/>
                </a:solidFill>
                <a:sym typeface="Symbol"/>
              </a:rPr>
              <a:t>and so there may be a second possible answer, i.e. </a:t>
            </a:r>
          </a:p>
          <a:p>
            <a:pPr>
              <a:buFont typeface="Symbol"/>
              <a:buChar char="q"/>
            </a:pPr>
            <a:r>
              <a:rPr lang="en-AU" sz="2000" b="1" i="1" dirty="0" smtClean="0">
                <a:solidFill>
                  <a:srgbClr val="0000FF"/>
                </a:solidFill>
                <a:sym typeface="Symbol"/>
              </a:rPr>
              <a:t>= </a:t>
            </a:r>
            <a:r>
              <a:rPr lang="en-AU" sz="2000" b="1" dirty="0" smtClean="0">
                <a:solidFill>
                  <a:srgbClr val="0000FF"/>
                </a:solidFill>
                <a:sym typeface="Symbol"/>
              </a:rPr>
              <a:t>5428’ </a:t>
            </a:r>
            <a:r>
              <a:rPr lang="en-AU" sz="2000" b="1" dirty="0" smtClean="0">
                <a:solidFill>
                  <a:srgbClr val="0000FF"/>
                </a:solidFill>
                <a:sym typeface="Symbol"/>
              </a:rPr>
              <a:t>or  </a:t>
            </a:r>
            <a:r>
              <a:rPr lang="en-AU" sz="2000" b="1" dirty="0" smtClean="0">
                <a:solidFill>
                  <a:srgbClr val="0000FF"/>
                </a:solidFill>
                <a:sym typeface="Symbol"/>
              </a:rPr>
              <a:t>12532’ </a:t>
            </a:r>
            <a:r>
              <a:rPr lang="en-AU" sz="2000" b="1" dirty="0" smtClean="0">
                <a:solidFill>
                  <a:srgbClr val="0000FF"/>
                </a:solidFill>
                <a:sym typeface="Symbol"/>
              </a:rPr>
              <a:t>.  </a:t>
            </a:r>
          </a:p>
          <a:p>
            <a:r>
              <a:rPr lang="en-AU" sz="2000" b="1" i="1" dirty="0" smtClean="0">
                <a:solidFill>
                  <a:srgbClr val="006600"/>
                </a:solidFill>
                <a:sym typeface="Symbol"/>
              </a:rPr>
              <a:t>See Slide #15 for a more thorough explanation of this.</a:t>
            </a:r>
            <a:endParaRPr lang="en-US" sz="2000" b="1" i="1" dirty="0">
              <a:solidFill>
                <a:srgbClr val="00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diamond(in)">
                                      <p:cBhvr>
                                        <p:cTn id="7" dur="2000"/>
                                        <p:tgtEl>
                                          <p:spTgt spid="819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diamond(in)">
                                      <p:cBhvr>
                                        <p:cTn id="12" dur="20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diamond(in)">
                                      <p:cBhvr>
                                        <p:cTn id="17" dur="2000"/>
                                        <p:tgtEl>
                                          <p:spTgt spid="8196"/>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diamond(in)">
                                      <p:cBhvr>
                                        <p:cTn id="22" dur="2000"/>
                                        <p:tgtEl>
                                          <p:spTgt spid="8197"/>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8198"/>
                                        </p:tgtEl>
                                        <p:attrNameLst>
                                          <p:attrName>style.visibility</p:attrName>
                                        </p:attrNameLst>
                                      </p:cBhvr>
                                      <p:to>
                                        <p:strVal val="visible"/>
                                      </p:to>
                                    </p:set>
                                    <p:animEffect transition="in" filter="diamond(in)">
                                      <p:cBhvr>
                                        <p:cTn id="27" dur="2000"/>
                                        <p:tgtEl>
                                          <p:spTgt spid="8198"/>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8199"/>
                                        </p:tgtEl>
                                        <p:attrNameLst>
                                          <p:attrName>style.visibility</p:attrName>
                                        </p:attrNameLst>
                                      </p:cBhvr>
                                      <p:to>
                                        <p:strVal val="visible"/>
                                      </p:to>
                                    </p:set>
                                    <p:animEffect transition="in" filter="diamond(in)">
                                      <p:cBhvr>
                                        <p:cTn id="32" dur="2000"/>
                                        <p:tgtEl>
                                          <p:spTgt spid="8199"/>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8200"/>
                                        </p:tgtEl>
                                        <p:attrNameLst>
                                          <p:attrName>style.visibility</p:attrName>
                                        </p:attrNameLst>
                                      </p:cBhvr>
                                      <p:to>
                                        <p:strVal val="visible"/>
                                      </p:to>
                                    </p:set>
                                    <p:animEffect transition="in" filter="diamond(in)">
                                      <p:cBhvr>
                                        <p:cTn id="37" dur="2000"/>
                                        <p:tgtEl>
                                          <p:spTgt spid="8200"/>
                                        </p:tgtEl>
                                      </p:cBhvr>
                                    </p:animEffect>
                                  </p:childTnLst>
                                </p:cTn>
                              </p:par>
                            </p:childTnLst>
                          </p:cTn>
                        </p:par>
                        <p:par>
                          <p:cTn id="38" fill="hold">
                            <p:stCondLst>
                              <p:cond delay="2000"/>
                            </p:stCondLst>
                            <p:childTnLst>
                              <p:par>
                                <p:cTn id="39" presetID="9"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dissolve">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diamond(in)">
                                      <p:cBhvr>
                                        <p:cTn id="46"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4 – Use the Sine Rule to find the value of </a:t>
            </a:r>
            <a:r>
              <a:rPr lang="en-AU" sz="2400" i="1" dirty="0" smtClean="0">
                <a:solidFill>
                  <a:srgbClr val="0000FF"/>
                </a:solidFill>
                <a:sym typeface="Symbol"/>
              </a:rPr>
              <a:t>x</a:t>
            </a:r>
            <a:r>
              <a:rPr lang="en-AU" sz="2400" dirty="0" smtClean="0">
                <a:solidFill>
                  <a:srgbClr val="0000FF"/>
                </a:solidFill>
              </a:rPr>
              <a:t> in the triangle:</a:t>
            </a:r>
            <a:endParaRPr lang="en-US" sz="2400" dirty="0">
              <a:solidFill>
                <a:srgbClr val="0000FF"/>
              </a:solidFill>
            </a:endParaRPr>
          </a:p>
        </p:txBody>
      </p:sp>
      <p:grpSp>
        <p:nvGrpSpPr>
          <p:cNvPr id="11" name="Group 10"/>
          <p:cNvGrpSpPr/>
          <p:nvPr/>
        </p:nvGrpSpPr>
        <p:grpSpPr>
          <a:xfrm rot="18082659">
            <a:off x="5580112" y="1196752"/>
            <a:ext cx="2736304" cy="1872208"/>
            <a:chOff x="5580112" y="1196752"/>
            <a:chExt cx="2736304" cy="1872208"/>
          </a:xfrm>
        </p:grpSpPr>
        <p:cxnSp>
          <p:nvCxnSpPr>
            <p:cNvPr id="4" name="Straight Connector 3"/>
            <p:cNvCxnSpPr/>
            <p:nvPr/>
          </p:nvCxnSpPr>
          <p:spPr>
            <a:xfrm flipH="1">
              <a:off x="5580112" y="1196752"/>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300192" y="1196752"/>
              <a:ext cx="2016224" cy="144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a:off x="5580112" y="2636912"/>
              <a:ext cx="2736304" cy="432048"/>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6732240" y="3284984"/>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68</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8" name="TextBox 7"/>
          <p:cNvSpPr txBox="1"/>
          <p:nvPr/>
        </p:nvSpPr>
        <p:spPr>
          <a:xfrm>
            <a:off x="7524328" y="1412776"/>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sym typeface="Symbol"/>
              </a:rPr>
              <a:t>33</a:t>
            </a:r>
            <a:endParaRPr lang="en-US" dirty="0">
              <a:latin typeface="Times New Roman" pitchFamily="18" charset="0"/>
              <a:cs typeface="Times New Roman" pitchFamily="18" charset="0"/>
            </a:endParaRPr>
          </a:p>
        </p:txBody>
      </p:sp>
      <p:sp>
        <p:nvSpPr>
          <p:cNvPr id="9" name="TextBox 8"/>
          <p:cNvSpPr txBox="1"/>
          <p:nvPr/>
        </p:nvSpPr>
        <p:spPr>
          <a:xfrm>
            <a:off x="7524328" y="2348880"/>
            <a:ext cx="1152128" cy="369332"/>
          </a:xfrm>
          <a:prstGeom prst="rect">
            <a:avLst/>
          </a:prstGeom>
          <a:noFill/>
        </p:spPr>
        <p:txBody>
          <a:bodyPr wrap="square" rtlCol="0">
            <a:spAutoFit/>
          </a:bodyPr>
          <a:lstStyle/>
          <a:p>
            <a:r>
              <a:rPr lang="en-AU" i="1" dirty="0" smtClean="0">
                <a:latin typeface="Times New Roman" pitchFamily="18" charset="0"/>
                <a:cs typeface="Times New Roman" pitchFamily="18" charset="0"/>
              </a:rPr>
              <a:t>x </a:t>
            </a:r>
            <a:r>
              <a:rPr lang="en-AU" i="1" dirty="0" err="1"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10" name="TextBox 9"/>
          <p:cNvSpPr txBox="1"/>
          <p:nvPr/>
        </p:nvSpPr>
        <p:spPr>
          <a:xfrm>
            <a:off x="6372200" y="1412776"/>
            <a:ext cx="1152128" cy="369332"/>
          </a:xfrm>
          <a:prstGeom prst="rect">
            <a:avLst/>
          </a:prstGeom>
          <a:noFill/>
        </p:spPr>
        <p:txBody>
          <a:bodyPr wrap="square" rtlCol="0">
            <a:spAutoFit/>
          </a:bodyPr>
          <a:lstStyle/>
          <a:p>
            <a:r>
              <a:rPr lang="en-AU" dirty="0" smtClean="0">
                <a:latin typeface="Times New Roman" pitchFamily="18" charset="0"/>
                <a:cs typeface="Times New Roman" pitchFamily="18" charset="0"/>
              </a:rPr>
              <a:t>35.7</a:t>
            </a:r>
            <a:r>
              <a:rPr lang="en-AU" i="1" dirty="0"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12" name="TextBox 11"/>
          <p:cNvSpPr txBox="1"/>
          <p:nvPr/>
        </p:nvSpPr>
        <p:spPr>
          <a:xfrm>
            <a:off x="683568" y="1628800"/>
            <a:ext cx="4608512" cy="646331"/>
          </a:xfrm>
          <a:prstGeom prst="rect">
            <a:avLst/>
          </a:prstGeom>
          <a:noFill/>
        </p:spPr>
        <p:txBody>
          <a:bodyPr wrap="square" rtlCol="0">
            <a:spAutoFit/>
          </a:bodyPr>
          <a:lstStyle/>
          <a:p>
            <a:r>
              <a:rPr lang="en-AU" dirty="0" smtClean="0"/>
              <a:t>Looking at the diagram, it seems we have a problem!  </a:t>
            </a:r>
            <a:r>
              <a:rPr lang="en-AU" dirty="0" smtClean="0">
                <a:sym typeface="Wingdings"/>
              </a:rPr>
              <a:t></a:t>
            </a:r>
            <a:endParaRPr lang="en-AU" dirty="0" smtClean="0"/>
          </a:p>
        </p:txBody>
      </p:sp>
      <p:sp>
        <p:nvSpPr>
          <p:cNvPr id="13" name="TextBox 12"/>
          <p:cNvSpPr txBox="1"/>
          <p:nvPr/>
        </p:nvSpPr>
        <p:spPr>
          <a:xfrm>
            <a:off x="683568" y="2276872"/>
            <a:ext cx="5184576" cy="646331"/>
          </a:xfrm>
          <a:prstGeom prst="rect">
            <a:avLst/>
          </a:prstGeom>
          <a:noFill/>
        </p:spPr>
        <p:txBody>
          <a:bodyPr wrap="square" rtlCol="0">
            <a:spAutoFit/>
          </a:bodyPr>
          <a:lstStyle/>
          <a:p>
            <a:r>
              <a:rPr lang="en-AU" dirty="0" smtClean="0"/>
              <a:t>Although the 68</a:t>
            </a:r>
            <a:r>
              <a:rPr lang="en-AU" dirty="0" smtClean="0">
                <a:sym typeface="Symbol"/>
              </a:rPr>
              <a:t></a:t>
            </a:r>
            <a:r>
              <a:rPr lang="en-AU" dirty="0" smtClean="0"/>
              <a:t> and 35.7 form a matching angle and opposite side, the 33</a:t>
            </a:r>
            <a:r>
              <a:rPr lang="en-AU" dirty="0" smtClean="0">
                <a:sym typeface="Symbol"/>
              </a:rPr>
              <a:t></a:t>
            </a:r>
            <a:r>
              <a:rPr lang="en-AU" dirty="0" smtClean="0"/>
              <a:t> and </a:t>
            </a:r>
            <a:r>
              <a:rPr lang="en-AU" i="1" dirty="0" smtClean="0"/>
              <a:t>x do not.</a:t>
            </a:r>
          </a:p>
        </p:txBody>
      </p:sp>
      <p:sp>
        <p:nvSpPr>
          <p:cNvPr id="14" name="TextBox 13"/>
          <p:cNvSpPr txBox="1"/>
          <p:nvPr/>
        </p:nvSpPr>
        <p:spPr>
          <a:xfrm>
            <a:off x="683568" y="3140968"/>
            <a:ext cx="5472608" cy="646331"/>
          </a:xfrm>
          <a:prstGeom prst="rect">
            <a:avLst/>
          </a:prstGeom>
          <a:noFill/>
        </p:spPr>
        <p:txBody>
          <a:bodyPr wrap="square" rtlCol="0">
            <a:spAutoFit/>
          </a:bodyPr>
          <a:lstStyle/>
          <a:p>
            <a:r>
              <a:rPr lang="en-AU" i="1" dirty="0" smtClean="0"/>
              <a:t>But…</a:t>
            </a:r>
            <a:r>
              <a:rPr lang="en-AU" dirty="0" smtClean="0"/>
              <a:t>remembering the angle sum of a triangle is 180</a:t>
            </a:r>
            <a:r>
              <a:rPr lang="en-AU" dirty="0" smtClean="0">
                <a:sym typeface="Symbol"/>
              </a:rPr>
              <a:t>, we can work out the 3</a:t>
            </a:r>
            <a:r>
              <a:rPr lang="en-AU" baseline="30000" dirty="0" smtClean="0">
                <a:sym typeface="Symbol"/>
              </a:rPr>
              <a:t>rd</a:t>
            </a:r>
            <a:r>
              <a:rPr lang="en-AU" dirty="0" smtClean="0">
                <a:sym typeface="Symbol"/>
              </a:rPr>
              <a:t> angle to be 180 – 33 – 68 = 79.  </a:t>
            </a:r>
            <a:endParaRPr lang="en-US" dirty="0" smtClean="0"/>
          </a:p>
        </p:txBody>
      </p:sp>
      <p:sp>
        <p:nvSpPr>
          <p:cNvPr id="15" name="TextBox 14"/>
          <p:cNvSpPr txBox="1"/>
          <p:nvPr/>
        </p:nvSpPr>
        <p:spPr>
          <a:xfrm>
            <a:off x="683568" y="4005064"/>
            <a:ext cx="6408712" cy="646331"/>
          </a:xfrm>
          <a:prstGeom prst="rect">
            <a:avLst/>
          </a:prstGeom>
          <a:noFill/>
        </p:spPr>
        <p:txBody>
          <a:bodyPr wrap="square" rtlCol="0">
            <a:spAutoFit/>
          </a:bodyPr>
          <a:lstStyle/>
          <a:p>
            <a:r>
              <a:rPr lang="en-AU" dirty="0" smtClean="0"/>
              <a:t>So now we use the 79 as the matching angle for the </a:t>
            </a:r>
            <a:r>
              <a:rPr lang="en-AU" i="1" dirty="0" smtClean="0"/>
              <a:t>x</a:t>
            </a:r>
            <a:r>
              <a:rPr lang="en-AU" dirty="0" smtClean="0"/>
              <a:t> and proceed as usual, ignoring the 33 which plays no further part.</a:t>
            </a:r>
            <a:endParaRPr lang="en-US" dirty="0"/>
          </a:p>
        </p:txBody>
      </p:sp>
      <p:graphicFrame>
        <p:nvGraphicFramePr>
          <p:cNvPr id="9218" name="Object 2"/>
          <p:cNvGraphicFramePr>
            <a:graphicFrameLocks noChangeAspect="1"/>
          </p:cNvGraphicFramePr>
          <p:nvPr/>
        </p:nvGraphicFramePr>
        <p:xfrm>
          <a:off x="1907704" y="4653136"/>
          <a:ext cx="1656184" cy="611572"/>
        </p:xfrm>
        <a:graphic>
          <a:graphicData uri="http://schemas.openxmlformats.org/presentationml/2006/ole">
            <p:oleObj spid="_x0000_s9218" name="Equation" r:id="rId3" imgW="1066680" imgH="393480" progId="Equation.3">
              <p:embed/>
            </p:oleObj>
          </a:graphicData>
        </a:graphic>
      </p:graphicFrame>
      <p:sp>
        <p:nvSpPr>
          <p:cNvPr id="17" name="TextBox 16"/>
          <p:cNvSpPr txBox="1"/>
          <p:nvPr/>
        </p:nvSpPr>
        <p:spPr>
          <a:xfrm>
            <a:off x="5940152" y="2060848"/>
            <a:ext cx="864096" cy="369332"/>
          </a:xfrm>
          <a:prstGeom prst="rect">
            <a:avLst/>
          </a:prstGeom>
          <a:noFill/>
        </p:spPr>
        <p:txBody>
          <a:bodyPr wrap="square" rtlCol="0">
            <a:spAutoFit/>
          </a:bodyPr>
          <a:lstStyle/>
          <a:p>
            <a:r>
              <a:rPr lang="en-AU" b="1" dirty="0" smtClean="0">
                <a:solidFill>
                  <a:srgbClr val="FF0000"/>
                </a:solidFill>
              </a:rPr>
              <a:t>79</a:t>
            </a:r>
            <a:r>
              <a:rPr lang="en-AU" b="1" dirty="0" smtClean="0">
                <a:solidFill>
                  <a:srgbClr val="FF0000"/>
                </a:solidFill>
                <a:sym typeface="Symbol"/>
              </a:rPr>
              <a:t></a:t>
            </a:r>
            <a:endParaRPr lang="en-US" b="1" dirty="0">
              <a:solidFill>
                <a:srgbClr val="FF0000"/>
              </a:solidFill>
            </a:endParaRPr>
          </a:p>
        </p:txBody>
      </p:sp>
      <p:graphicFrame>
        <p:nvGraphicFramePr>
          <p:cNvPr id="9219" name="Object 3"/>
          <p:cNvGraphicFramePr>
            <a:graphicFrameLocks noChangeAspect="1"/>
          </p:cNvGraphicFramePr>
          <p:nvPr/>
        </p:nvGraphicFramePr>
        <p:xfrm>
          <a:off x="2483768" y="5338093"/>
          <a:ext cx="1538287" cy="611187"/>
        </p:xfrm>
        <a:graphic>
          <a:graphicData uri="http://schemas.openxmlformats.org/presentationml/2006/ole">
            <p:oleObj spid="_x0000_s9219" name="Equation" r:id="rId4" imgW="990360" imgH="393480" progId="Equation.3">
              <p:embed/>
            </p:oleObj>
          </a:graphicData>
        </a:graphic>
      </p:graphicFrame>
      <p:sp>
        <p:nvSpPr>
          <p:cNvPr id="19" name="TextBox 18"/>
          <p:cNvSpPr txBox="1"/>
          <p:nvPr/>
        </p:nvSpPr>
        <p:spPr>
          <a:xfrm>
            <a:off x="2339752" y="5949280"/>
            <a:ext cx="4176464" cy="523220"/>
          </a:xfrm>
          <a:prstGeom prst="rect">
            <a:avLst/>
          </a:prstGeom>
          <a:noFill/>
        </p:spPr>
        <p:txBody>
          <a:bodyPr wrap="square" rtlCol="0">
            <a:spAutoFit/>
          </a:bodyPr>
          <a:lstStyle/>
          <a:p>
            <a:r>
              <a:rPr lang="en-AU" sz="2800" i="1" dirty="0" smtClean="0"/>
              <a:t>x</a:t>
            </a:r>
            <a:r>
              <a:rPr lang="en-AU" sz="2800" dirty="0" smtClean="0"/>
              <a:t> = 37.80 (2 </a:t>
            </a:r>
            <a:r>
              <a:rPr lang="en-AU" sz="2800" dirty="0" err="1" smtClean="0"/>
              <a:t>dec</a:t>
            </a:r>
            <a:r>
              <a:rPr lang="en-AU" sz="2800" dirty="0" smtClean="0"/>
              <a:t> pl)</a:t>
            </a:r>
            <a:endParaRPr lang="en-US" sz="28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par>
                          <p:cTn id="8" fill="hold">
                            <p:stCondLst>
                              <p:cond delay="20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dissolve">
                                      <p:cBhvr>
                                        <p:cTn id="14" dur="500"/>
                                        <p:tgtEl>
                                          <p:spTgt spid="9"/>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amond(in)">
                                      <p:cBhvr>
                                        <p:cTn id="25" dur="20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diamond(in)">
                                      <p:cBhvr>
                                        <p:cTn id="30" dur="20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dissolv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additive="base">
                                        <p:cTn id="40" dur="500" fill="hold"/>
                                        <p:tgtEl>
                                          <p:spTgt spid="17"/>
                                        </p:tgtEl>
                                        <p:attrNameLst>
                                          <p:attrName>ppt_x</p:attrName>
                                        </p:attrNameLst>
                                      </p:cBhvr>
                                      <p:tavLst>
                                        <p:tav tm="0">
                                          <p:val>
                                            <p:strVal val="#ppt_x"/>
                                          </p:val>
                                        </p:tav>
                                        <p:tav tm="100000">
                                          <p:val>
                                            <p:strVal val="#ppt_x"/>
                                          </p:val>
                                        </p:tav>
                                      </p:tavLst>
                                    </p:anim>
                                    <p:anim calcmode="lin" valueType="num">
                                      <p:cBhvr additive="base">
                                        <p:cTn id="4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diamond(in)">
                                      <p:cBhvr>
                                        <p:cTn id="46" dur="20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xit" presetSubtype="4" fill="hold" grpId="1" nodeType="clickEffect">
                                  <p:stCondLst>
                                    <p:cond delay="0"/>
                                  </p:stCondLst>
                                  <p:childTnLst>
                                    <p:anim calcmode="lin" valueType="num">
                                      <p:cBhvr additive="base">
                                        <p:cTn id="50" dur="500"/>
                                        <p:tgtEl>
                                          <p:spTgt spid="8"/>
                                        </p:tgtEl>
                                        <p:attrNameLst>
                                          <p:attrName>ppt_x</p:attrName>
                                        </p:attrNameLst>
                                      </p:cBhvr>
                                      <p:tavLst>
                                        <p:tav tm="0">
                                          <p:val>
                                            <p:strVal val="ppt_x"/>
                                          </p:val>
                                        </p:tav>
                                        <p:tav tm="100000">
                                          <p:val>
                                            <p:strVal val="ppt_x"/>
                                          </p:val>
                                        </p:tav>
                                      </p:tavLst>
                                    </p:anim>
                                    <p:anim calcmode="lin" valueType="num">
                                      <p:cBhvr additive="base">
                                        <p:cTn id="51" dur="500"/>
                                        <p:tgtEl>
                                          <p:spTgt spid="8"/>
                                        </p:tgtEl>
                                        <p:attrNameLst>
                                          <p:attrName>ppt_y</p:attrName>
                                        </p:attrNameLst>
                                      </p:cBhvr>
                                      <p:tavLst>
                                        <p:tav tm="0">
                                          <p:val>
                                            <p:strVal val="ppt_y"/>
                                          </p:val>
                                        </p:tav>
                                        <p:tav tm="100000">
                                          <p:val>
                                            <p:strVal val="1+ppt_h/2"/>
                                          </p:val>
                                        </p:tav>
                                      </p:tavLst>
                                    </p:anim>
                                    <p:set>
                                      <p:cBhvr>
                                        <p:cTn id="52" dur="1" fill="hold">
                                          <p:stCondLst>
                                            <p:cond delay="499"/>
                                          </p:stCondLst>
                                        </p:cTn>
                                        <p:tgtEl>
                                          <p:spTgt spid="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8" presetClass="entr" presetSubtype="16" fill="hold" nodeType="clickEffect">
                                  <p:stCondLst>
                                    <p:cond delay="0"/>
                                  </p:stCondLst>
                                  <p:childTnLst>
                                    <p:set>
                                      <p:cBhvr>
                                        <p:cTn id="56" dur="1" fill="hold">
                                          <p:stCondLst>
                                            <p:cond delay="0"/>
                                          </p:stCondLst>
                                        </p:cTn>
                                        <p:tgtEl>
                                          <p:spTgt spid="9218"/>
                                        </p:tgtEl>
                                        <p:attrNameLst>
                                          <p:attrName>style.visibility</p:attrName>
                                        </p:attrNameLst>
                                      </p:cBhvr>
                                      <p:to>
                                        <p:strVal val="visible"/>
                                      </p:to>
                                    </p:set>
                                    <p:animEffect transition="in" filter="diamond(in)">
                                      <p:cBhvr>
                                        <p:cTn id="57" dur="2000"/>
                                        <p:tgtEl>
                                          <p:spTgt spid="9218"/>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nodeType="clickEffect">
                                  <p:stCondLst>
                                    <p:cond delay="0"/>
                                  </p:stCondLst>
                                  <p:childTnLst>
                                    <p:set>
                                      <p:cBhvr>
                                        <p:cTn id="61" dur="1" fill="hold">
                                          <p:stCondLst>
                                            <p:cond delay="0"/>
                                          </p:stCondLst>
                                        </p:cTn>
                                        <p:tgtEl>
                                          <p:spTgt spid="9219"/>
                                        </p:tgtEl>
                                        <p:attrNameLst>
                                          <p:attrName>style.visibility</p:attrName>
                                        </p:attrNameLst>
                                      </p:cBhvr>
                                      <p:to>
                                        <p:strVal val="visible"/>
                                      </p:to>
                                    </p:set>
                                    <p:animEffect transition="in" filter="diamond(in)">
                                      <p:cBhvr>
                                        <p:cTn id="62" dur="2000"/>
                                        <p:tgtEl>
                                          <p:spTgt spid="9219"/>
                                        </p:tgtEl>
                                      </p:cBhvr>
                                    </p:animEffect>
                                  </p:childTnLst>
                                </p:cTn>
                              </p:par>
                            </p:childTnLst>
                          </p:cTn>
                        </p:par>
                      </p:childTnLst>
                    </p:cTn>
                  </p:par>
                  <p:par>
                    <p:cTn id="63" fill="hold">
                      <p:stCondLst>
                        <p:cond delay="indefinite"/>
                      </p:stCondLst>
                      <p:childTnLst>
                        <p:par>
                          <p:cTn id="64" fill="hold">
                            <p:stCondLst>
                              <p:cond delay="0"/>
                            </p:stCondLst>
                            <p:childTnLst>
                              <p:par>
                                <p:cTn id="65" presetID="35"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2000"/>
                                        <p:tgtEl>
                                          <p:spTgt spid="19"/>
                                        </p:tgtEl>
                                      </p:cBhvr>
                                    </p:animEffect>
                                    <p:anim calcmode="lin" valueType="num">
                                      <p:cBhvr>
                                        <p:cTn id="68" dur="2000" fill="hold"/>
                                        <p:tgtEl>
                                          <p:spTgt spid="19"/>
                                        </p:tgtEl>
                                        <p:attrNameLst>
                                          <p:attrName>style.rotation</p:attrName>
                                        </p:attrNameLst>
                                      </p:cBhvr>
                                      <p:tavLst>
                                        <p:tav tm="0">
                                          <p:val>
                                            <p:fltVal val="720"/>
                                          </p:val>
                                        </p:tav>
                                        <p:tav tm="100000">
                                          <p:val>
                                            <p:fltVal val="0"/>
                                          </p:val>
                                        </p:tav>
                                      </p:tavLst>
                                    </p:anim>
                                    <p:anim calcmode="lin" valueType="num">
                                      <p:cBhvr>
                                        <p:cTn id="69" dur="2000" fill="hold"/>
                                        <p:tgtEl>
                                          <p:spTgt spid="19"/>
                                        </p:tgtEl>
                                        <p:attrNameLst>
                                          <p:attrName>ppt_h</p:attrName>
                                        </p:attrNameLst>
                                      </p:cBhvr>
                                      <p:tavLst>
                                        <p:tav tm="0">
                                          <p:val>
                                            <p:fltVal val="0"/>
                                          </p:val>
                                        </p:tav>
                                        <p:tav tm="100000">
                                          <p:val>
                                            <p:strVal val="#ppt_h"/>
                                          </p:val>
                                        </p:tav>
                                      </p:tavLst>
                                    </p:anim>
                                    <p:anim calcmode="lin" valueType="num">
                                      <p:cBhvr>
                                        <p:cTn id="70" dur="2000" fill="hold"/>
                                        <p:tgtEl>
                                          <p:spTgt spid="19"/>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8" grpId="1"/>
      <p:bldP spid="9" grpId="0"/>
      <p:bldP spid="10" grpId="0"/>
      <p:bldP spid="12" grpId="0"/>
      <p:bldP spid="13" grpId="0"/>
      <p:bldP spid="14" grpId="0"/>
      <p:bldP spid="15" grpId="0"/>
      <p:bldP spid="17"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116632"/>
            <a:ext cx="8568952" cy="1200329"/>
          </a:xfrm>
          <a:prstGeom prst="rect">
            <a:avLst/>
          </a:prstGeom>
          <a:noFill/>
        </p:spPr>
        <p:txBody>
          <a:bodyPr wrap="square" rtlCol="0">
            <a:spAutoFit/>
          </a:bodyPr>
          <a:lstStyle/>
          <a:p>
            <a:r>
              <a:rPr lang="en-AU" sz="2400" dirty="0" smtClean="0">
                <a:solidFill>
                  <a:srgbClr val="0000FF"/>
                </a:solidFill>
              </a:rPr>
              <a:t>Example 5 – </a:t>
            </a:r>
            <a:r>
              <a:rPr lang="en-AU" sz="2400" dirty="0" smtClean="0">
                <a:solidFill>
                  <a:srgbClr val="FF0000"/>
                </a:solidFill>
              </a:rPr>
              <a:t>The “Ambiguous Case”. </a:t>
            </a:r>
            <a:r>
              <a:rPr lang="en-AU" sz="2400" dirty="0" smtClean="0">
                <a:solidFill>
                  <a:srgbClr val="0000FF"/>
                </a:solidFill>
              </a:rPr>
              <a:t>Draw two different shaped triangles ABC in which  c = 14</a:t>
            </a:r>
            <a:r>
              <a:rPr lang="en-AU" sz="2400" i="1" dirty="0" smtClean="0">
                <a:solidFill>
                  <a:srgbClr val="0000FF"/>
                </a:solidFill>
              </a:rPr>
              <a:t>m</a:t>
            </a:r>
            <a:r>
              <a:rPr lang="en-AU" sz="2400" dirty="0" smtClean="0">
                <a:solidFill>
                  <a:srgbClr val="0000FF"/>
                </a:solidFill>
              </a:rPr>
              <a:t>, </a:t>
            </a:r>
            <a:r>
              <a:rPr lang="en-AU" sz="2400" i="1" dirty="0" smtClean="0">
                <a:solidFill>
                  <a:srgbClr val="0000FF"/>
                </a:solidFill>
              </a:rPr>
              <a:t>a</a:t>
            </a:r>
            <a:r>
              <a:rPr lang="en-AU" sz="2400" dirty="0" smtClean="0">
                <a:solidFill>
                  <a:srgbClr val="0000FF"/>
                </a:solidFill>
              </a:rPr>
              <a:t> = 10</a:t>
            </a:r>
            <a:r>
              <a:rPr lang="en-AU" sz="2400" i="1" dirty="0" smtClean="0">
                <a:solidFill>
                  <a:srgbClr val="0000FF"/>
                </a:solidFill>
              </a:rPr>
              <a:t>m</a:t>
            </a:r>
            <a:r>
              <a:rPr lang="en-AU" sz="2400" dirty="0" smtClean="0">
                <a:solidFill>
                  <a:srgbClr val="0000FF"/>
                </a:solidFill>
              </a:rPr>
              <a:t> and A = 32</a:t>
            </a:r>
            <a:r>
              <a:rPr lang="en-AU" sz="2400" dirty="0" smtClean="0">
                <a:solidFill>
                  <a:srgbClr val="0000FF"/>
                </a:solidFill>
                <a:sym typeface="Symbol"/>
              </a:rPr>
              <a:t>. Hence find the size(</a:t>
            </a:r>
            <a:r>
              <a:rPr lang="en-AU" sz="2400" dirty="0" err="1" smtClean="0">
                <a:solidFill>
                  <a:srgbClr val="0000FF"/>
                </a:solidFill>
                <a:sym typeface="Symbol"/>
              </a:rPr>
              <a:t>s</a:t>
            </a:r>
            <a:r>
              <a:rPr lang="en-AU" sz="2400" dirty="0" smtClean="0">
                <a:solidFill>
                  <a:srgbClr val="0000FF"/>
                </a:solidFill>
                <a:sym typeface="Symbol"/>
              </a:rPr>
              <a:t>) of angle C. </a:t>
            </a:r>
            <a:endParaRPr lang="en-US" sz="2400" i="1" dirty="0">
              <a:solidFill>
                <a:srgbClr val="0000FF"/>
              </a:solidFill>
            </a:endParaRPr>
          </a:p>
        </p:txBody>
      </p:sp>
      <p:grpSp>
        <p:nvGrpSpPr>
          <p:cNvPr id="17" name="Group 16"/>
          <p:cNvGrpSpPr/>
          <p:nvPr/>
        </p:nvGrpSpPr>
        <p:grpSpPr>
          <a:xfrm>
            <a:off x="827584" y="2852936"/>
            <a:ext cx="2520280" cy="1953508"/>
            <a:chOff x="827584" y="1412776"/>
            <a:chExt cx="2520280" cy="1953508"/>
          </a:xfrm>
        </p:grpSpPr>
        <p:cxnSp>
          <p:nvCxnSpPr>
            <p:cNvPr id="4" name="Straight Connector 3"/>
            <p:cNvCxnSpPr/>
            <p:nvPr/>
          </p:nvCxnSpPr>
          <p:spPr>
            <a:xfrm flipV="1">
              <a:off x="971600" y="1700808"/>
              <a:ext cx="2016224" cy="1368152"/>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27584" y="2996952"/>
              <a:ext cx="432048" cy="369332"/>
            </a:xfrm>
            <a:prstGeom prst="rect">
              <a:avLst/>
            </a:prstGeom>
            <a:noFill/>
          </p:spPr>
          <p:txBody>
            <a:bodyPr wrap="square" rtlCol="0">
              <a:spAutoFit/>
            </a:bodyPr>
            <a:lstStyle/>
            <a:p>
              <a:r>
                <a:rPr lang="en-AU" dirty="0" smtClean="0"/>
                <a:t>A</a:t>
              </a:r>
              <a:endParaRPr lang="en-US" dirty="0"/>
            </a:p>
          </p:txBody>
        </p:sp>
        <p:sp>
          <p:nvSpPr>
            <p:cNvPr id="6" name="TextBox 5"/>
            <p:cNvSpPr txBox="1"/>
            <p:nvPr/>
          </p:nvSpPr>
          <p:spPr>
            <a:xfrm>
              <a:off x="2915816" y="1412776"/>
              <a:ext cx="432048" cy="369332"/>
            </a:xfrm>
            <a:prstGeom prst="rect">
              <a:avLst/>
            </a:prstGeom>
            <a:noFill/>
          </p:spPr>
          <p:txBody>
            <a:bodyPr wrap="square" rtlCol="0">
              <a:spAutoFit/>
            </a:bodyPr>
            <a:lstStyle/>
            <a:p>
              <a:r>
                <a:rPr lang="en-AU" dirty="0"/>
                <a:t>B</a:t>
              </a:r>
              <a:endParaRPr lang="en-US" dirty="0"/>
            </a:p>
          </p:txBody>
        </p:sp>
        <p:sp>
          <p:nvSpPr>
            <p:cNvPr id="8" name="TextBox 7"/>
            <p:cNvSpPr txBox="1"/>
            <p:nvPr/>
          </p:nvSpPr>
          <p:spPr>
            <a:xfrm>
              <a:off x="1691680" y="1988840"/>
              <a:ext cx="576064" cy="369332"/>
            </a:xfrm>
            <a:prstGeom prst="rect">
              <a:avLst/>
            </a:prstGeom>
            <a:noFill/>
          </p:spPr>
          <p:txBody>
            <a:bodyPr wrap="square" rtlCol="0">
              <a:spAutoFit/>
            </a:bodyPr>
            <a:lstStyle/>
            <a:p>
              <a:r>
                <a:rPr lang="en-AU" dirty="0" smtClean="0"/>
                <a:t>14</a:t>
              </a:r>
              <a:r>
                <a:rPr lang="en-AU" i="1" dirty="0" smtClean="0"/>
                <a:t>m</a:t>
              </a:r>
              <a:endParaRPr lang="en-US" dirty="0"/>
            </a:p>
          </p:txBody>
        </p:sp>
        <p:cxnSp>
          <p:nvCxnSpPr>
            <p:cNvPr id="10" name="Straight Connector 9"/>
            <p:cNvCxnSpPr/>
            <p:nvPr/>
          </p:nvCxnSpPr>
          <p:spPr>
            <a:xfrm flipV="1">
              <a:off x="1006030" y="2996952"/>
              <a:ext cx="1693762" cy="72008"/>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259632" y="2708920"/>
              <a:ext cx="792088" cy="369332"/>
            </a:xfrm>
            <a:prstGeom prst="rect">
              <a:avLst/>
            </a:prstGeom>
            <a:noFill/>
          </p:spPr>
          <p:txBody>
            <a:bodyPr wrap="square" rtlCol="0">
              <a:spAutoFit/>
            </a:bodyPr>
            <a:lstStyle/>
            <a:p>
              <a:r>
                <a:rPr lang="en-AU" dirty="0" smtClean="0"/>
                <a:t>32</a:t>
              </a:r>
              <a:r>
                <a:rPr lang="en-AU" dirty="0" smtClean="0">
                  <a:sym typeface="Symbol"/>
                </a:rPr>
                <a:t></a:t>
              </a:r>
              <a:endParaRPr lang="en-US" dirty="0"/>
            </a:p>
          </p:txBody>
        </p:sp>
        <p:cxnSp>
          <p:nvCxnSpPr>
            <p:cNvPr id="14" name="Straight Connector 13"/>
            <p:cNvCxnSpPr/>
            <p:nvPr/>
          </p:nvCxnSpPr>
          <p:spPr>
            <a:xfrm flipH="1">
              <a:off x="2699792" y="1700808"/>
              <a:ext cx="288032" cy="1296144"/>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27784" y="2924944"/>
              <a:ext cx="432048" cy="369332"/>
            </a:xfrm>
            <a:prstGeom prst="rect">
              <a:avLst/>
            </a:prstGeom>
            <a:noFill/>
          </p:spPr>
          <p:txBody>
            <a:bodyPr wrap="square" rtlCol="0">
              <a:spAutoFit/>
            </a:bodyPr>
            <a:lstStyle/>
            <a:p>
              <a:r>
                <a:rPr lang="en-AU" dirty="0" smtClean="0"/>
                <a:t>C</a:t>
              </a:r>
              <a:r>
                <a:rPr lang="en-AU" baseline="-25000" dirty="0" smtClean="0"/>
                <a:t>1</a:t>
              </a:r>
              <a:endParaRPr lang="en-US" dirty="0"/>
            </a:p>
          </p:txBody>
        </p:sp>
        <p:sp>
          <p:nvSpPr>
            <p:cNvPr id="16" name="TextBox 15"/>
            <p:cNvSpPr txBox="1"/>
            <p:nvPr/>
          </p:nvSpPr>
          <p:spPr>
            <a:xfrm>
              <a:off x="2771800" y="2204864"/>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grpSp>
      <p:sp>
        <p:nvSpPr>
          <p:cNvPr id="18" name="TextBox 17"/>
          <p:cNvSpPr txBox="1"/>
          <p:nvPr/>
        </p:nvSpPr>
        <p:spPr>
          <a:xfrm>
            <a:off x="323528" y="1628800"/>
            <a:ext cx="8280920" cy="923330"/>
          </a:xfrm>
          <a:prstGeom prst="rect">
            <a:avLst/>
          </a:prstGeom>
          <a:noFill/>
        </p:spPr>
        <p:txBody>
          <a:bodyPr wrap="square" rtlCol="0">
            <a:spAutoFit/>
          </a:bodyPr>
          <a:lstStyle/>
          <a:p>
            <a:r>
              <a:rPr lang="en-AU" dirty="0" smtClean="0"/>
              <a:t>This process (drawing triangles from verbal data and no diagram) takes time and practice. You need to access these types of problems  and practise them thoroughly.  Below is one possible diagram:</a:t>
            </a:r>
            <a:endParaRPr lang="en-US" dirty="0"/>
          </a:p>
        </p:txBody>
      </p:sp>
      <p:sp>
        <p:nvSpPr>
          <p:cNvPr id="19" name="TextBox 18"/>
          <p:cNvSpPr txBox="1"/>
          <p:nvPr/>
        </p:nvSpPr>
        <p:spPr>
          <a:xfrm>
            <a:off x="3563888" y="2780928"/>
            <a:ext cx="3240360" cy="1200329"/>
          </a:xfrm>
          <a:prstGeom prst="rect">
            <a:avLst/>
          </a:prstGeom>
          <a:noFill/>
        </p:spPr>
        <p:txBody>
          <a:bodyPr wrap="square" rtlCol="0">
            <a:spAutoFit/>
          </a:bodyPr>
          <a:lstStyle/>
          <a:p>
            <a:r>
              <a:rPr lang="en-AU" dirty="0" smtClean="0"/>
              <a:t>Now extend side AC</a:t>
            </a:r>
            <a:r>
              <a:rPr lang="en-AU" baseline="-25000" dirty="0" smtClean="0"/>
              <a:t>1</a:t>
            </a:r>
            <a:r>
              <a:rPr lang="en-AU" dirty="0" smtClean="0"/>
              <a:t> past C</a:t>
            </a:r>
            <a:r>
              <a:rPr lang="en-AU" baseline="-25000" dirty="0" smtClean="0"/>
              <a:t>1</a:t>
            </a:r>
            <a:r>
              <a:rPr lang="en-AU" dirty="0" smtClean="0"/>
              <a:t> to the new point C</a:t>
            </a:r>
            <a:r>
              <a:rPr lang="en-AU" baseline="-25000" dirty="0" smtClean="0"/>
              <a:t>2</a:t>
            </a:r>
            <a:r>
              <a:rPr lang="en-AU" dirty="0" smtClean="0"/>
              <a:t> where the new length BC</a:t>
            </a:r>
            <a:r>
              <a:rPr lang="en-AU" baseline="-25000" dirty="0" smtClean="0"/>
              <a:t>2</a:t>
            </a:r>
            <a:r>
              <a:rPr lang="en-AU" dirty="0" smtClean="0"/>
              <a:t> is the same as it was previously (10</a:t>
            </a:r>
            <a:r>
              <a:rPr lang="en-AU" i="1" dirty="0" smtClean="0"/>
              <a:t>m</a:t>
            </a:r>
            <a:r>
              <a:rPr lang="en-AU" dirty="0" smtClean="0"/>
              <a:t>)…..</a:t>
            </a:r>
            <a:endParaRPr lang="en-US" dirty="0"/>
          </a:p>
        </p:txBody>
      </p:sp>
      <p:grpSp>
        <p:nvGrpSpPr>
          <p:cNvPr id="30" name="Group 29"/>
          <p:cNvGrpSpPr/>
          <p:nvPr/>
        </p:nvGrpSpPr>
        <p:grpSpPr>
          <a:xfrm>
            <a:off x="2627784" y="4149080"/>
            <a:ext cx="2520280" cy="1953508"/>
            <a:chOff x="2627784" y="4149080"/>
            <a:chExt cx="2520280" cy="1953508"/>
          </a:xfrm>
        </p:grpSpPr>
        <p:sp>
          <p:nvSpPr>
            <p:cNvPr id="22" name="TextBox 21"/>
            <p:cNvSpPr txBox="1"/>
            <p:nvPr/>
          </p:nvSpPr>
          <p:spPr>
            <a:xfrm>
              <a:off x="2627784" y="5733256"/>
              <a:ext cx="432048" cy="369332"/>
            </a:xfrm>
            <a:prstGeom prst="rect">
              <a:avLst/>
            </a:prstGeom>
            <a:noFill/>
          </p:spPr>
          <p:txBody>
            <a:bodyPr wrap="square" rtlCol="0">
              <a:spAutoFit/>
            </a:bodyPr>
            <a:lstStyle/>
            <a:p>
              <a:r>
                <a:rPr lang="en-AU" dirty="0" smtClean="0"/>
                <a:t>A</a:t>
              </a:r>
              <a:endParaRPr lang="en-US" dirty="0"/>
            </a:p>
          </p:txBody>
        </p:sp>
        <p:grpSp>
          <p:nvGrpSpPr>
            <p:cNvPr id="41" name="Group 40"/>
            <p:cNvGrpSpPr/>
            <p:nvPr/>
          </p:nvGrpSpPr>
          <p:grpSpPr>
            <a:xfrm>
              <a:off x="2771800" y="4149080"/>
              <a:ext cx="2376264" cy="1881500"/>
              <a:chOff x="2771800" y="4149080"/>
              <a:chExt cx="2376264" cy="1881500"/>
            </a:xfrm>
          </p:grpSpPr>
          <p:cxnSp>
            <p:nvCxnSpPr>
              <p:cNvPr id="21" name="Straight Connector 20"/>
              <p:cNvCxnSpPr/>
              <p:nvPr/>
            </p:nvCxnSpPr>
            <p:spPr>
              <a:xfrm flipV="1">
                <a:off x="2771800" y="4437112"/>
                <a:ext cx="2016224" cy="1368152"/>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716016" y="4149080"/>
                <a:ext cx="432048" cy="369332"/>
              </a:xfrm>
              <a:prstGeom prst="rect">
                <a:avLst/>
              </a:prstGeom>
              <a:noFill/>
            </p:spPr>
            <p:txBody>
              <a:bodyPr wrap="square" rtlCol="0">
                <a:spAutoFit/>
              </a:bodyPr>
              <a:lstStyle/>
              <a:p>
                <a:r>
                  <a:rPr lang="en-AU" dirty="0"/>
                  <a:t>B</a:t>
                </a:r>
                <a:endParaRPr lang="en-US" dirty="0"/>
              </a:p>
            </p:txBody>
          </p:sp>
          <p:sp>
            <p:nvSpPr>
              <p:cNvPr id="24" name="TextBox 23"/>
              <p:cNvSpPr txBox="1"/>
              <p:nvPr/>
            </p:nvSpPr>
            <p:spPr>
              <a:xfrm>
                <a:off x="3491880" y="4725144"/>
                <a:ext cx="576064" cy="369332"/>
              </a:xfrm>
              <a:prstGeom prst="rect">
                <a:avLst/>
              </a:prstGeom>
              <a:noFill/>
            </p:spPr>
            <p:txBody>
              <a:bodyPr wrap="square" rtlCol="0">
                <a:spAutoFit/>
              </a:bodyPr>
              <a:lstStyle/>
              <a:p>
                <a:r>
                  <a:rPr lang="en-AU" dirty="0" smtClean="0"/>
                  <a:t>14</a:t>
                </a:r>
                <a:r>
                  <a:rPr lang="en-AU" i="1" dirty="0" smtClean="0"/>
                  <a:t>m</a:t>
                </a:r>
                <a:endParaRPr lang="en-US" dirty="0"/>
              </a:p>
            </p:txBody>
          </p:sp>
          <p:cxnSp>
            <p:nvCxnSpPr>
              <p:cNvPr id="25" name="Straight Connector 24"/>
              <p:cNvCxnSpPr/>
              <p:nvPr/>
            </p:nvCxnSpPr>
            <p:spPr>
              <a:xfrm flipV="1">
                <a:off x="2806230" y="5733256"/>
                <a:ext cx="1693762" cy="72008"/>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059832" y="5445224"/>
                <a:ext cx="792088" cy="369332"/>
              </a:xfrm>
              <a:prstGeom prst="rect">
                <a:avLst/>
              </a:prstGeom>
              <a:noFill/>
            </p:spPr>
            <p:txBody>
              <a:bodyPr wrap="square" rtlCol="0">
                <a:spAutoFit/>
              </a:bodyPr>
              <a:lstStyle/>
              <a:p>
                <a:r>
                  <a:rPr lang="en-AU" dirty="0" smtClean="0"/>
                  <a:t>32</a:t>
                </a:r>
                <a:r>
                  <a:rPr lang="en-AU" dirty="0" smtClean="0">
                    <a:sym typeface="Symbol"/>
                  </a:rPr>
                  <a:t></a:t>
                </a:r>
                <a:endParaRPr lang="en-US" dirty="0"/>
              </a:p>
            </p:txBody>
          </p:sp>
          <p:cxnSp>
            <p:nvCxnSpPr>
              <p:cNvPr id="27" name="Straight Connector 26"/>
              <p:cNvCxnSpPr/>
              <p:nvPr/>
            </p:nvCxnSpPr>
            <p:spPr>
              <a:xfrm flipH="1">
                <a:off x="4499992" y="4437112"/>
                <a:ext cx="288032" cy="1296144"/>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427984" y="5661248"/>
                <a:ext cx="432048" cy="369332"/>
              </a:xfrm>
              <a:prstGeom prst="rect">
                <a:avLst/>
              </a:prstGeom>
              <a:noFill/>
            </p:spPr>
            <p:txBody>
              <a:bodyPr wrap="square" rtlCol="0">
                <a:spAutoFit/>
              </a:bodyPr>
              <a:lstStyle/>
              <a:p>
                <a:r>
                  <a:rPr lang="en-AU" dirty="0" smtClean="0"/>
                  <a:t>C</a:t>
                </a:r>
                <a:r>
                  <a:rPr lang="en-AU" baseline="-25000" dirty="0" smtClean="0"/>
                  <a:t>1</a:t>
                </a:r>
                <a:endParaRPr lang="en-US" dirty="0"/>
              </a:p>
            </p:txBody>
          </p:sp>
          <p:sp>
            <p:nvSpPr>
              <p:cNvPr id="29" name="TextBox 28"/>
              <p:cNvSpPr txBox="1"/>
              <p:nvPr/>
            </p:nvSpPr>
            <p:spPr>
              <a:xfrm>
                <a:off x="4283968" y="4941168"/>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grpSp>
      </p:grpSp>
      <p:cxnSp>
        <p:nvCxnSpPr>
          <p:cNvPr id="33" name="Straight Connector 32"/>
          <p:cNvCxnSpPr/>
          <p:nvPr/>
        </p:nvCxnSpPr>
        <p:spPr>
          <a:xfrm flipV="1">
            <a:off x="4499992" y="5699342"/>
            <a:ext cx="735887" cy="33914"/>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148064" y="5661248"/>
            <a:ext cx="432048" cy="369332"/>
          </a:xfrm>
          <a:prstGeom prst="rect">
            <a:avLst/>
          </a:prstGeom>
          <a:noFill/>
        </p:spPr>
        <p:txBody>
          <a:bodyPr wrap="square" rtlCol="0">
            <a:spAutoFit/>
          </a:bodyPr>
          <a:lstStyle/>
          <a:p>
            <a:r>
              <a:rPr lang="en-AU" dirty="0" smtClean="0"/>
              <a:t>C</a:t>
            </a:r>
            <a:r>
              <a:rPr lang="en-AU" baseline="-25000" dirty="0"/>
              <a:t>2</a:t>
            </a:r>
            <a:endParaRPr lang="en-US" dirty="0"/>
          </a:p>
        </p:txBody>
      </p:sp>
      <p:cxnSp>
        <p:nvCxnSpPr>
          <p:cNvPr id="37" name="Straight Connector 36"/>
          <p:cNvCxnSpPr/>
          <p:nvPr/>
        </p:nvCxnSpPr>
        <p:spPr>
          <a:xfrm>
            <a:off x="4788024" y="4437112"/>
            <a:ext cx="432048" cy="1296144"/>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932040" y="4869160"/>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sp>
        <p:nvSpPr>
          <p:cNvPr id="40" name="TextBox 39"/>
          <p:cNvSpPr txBox="1"/>
          <p:nvPr/>
        </p:nvSpPr>
        <p:spPr>
          <a:xfrm>
            <a:off x="5940152" y="4293096"/>
            <a:ext cx="2952328" cy="2308324"/>
          </a:xfrm>
          <a:prstGeom prst="rect">
            <a:avLst/>
          </a:prstGeom>
          <a:noFill/>
        </p:spPr>
        <p:txBody>
          <a:bodyPr wrap="square" rtlCol="0">
            <a:spAutoFit/>
          </a:bodyPr>
          <a:lstStyle/>
          <a:p>
            <a:r>
              <a:rPr lang="en-AU" dirty="0" smtClean="0"/>
              <a:t>The new </a:t>
            </a:r>
            <a:r>
              <a:rPr lang="en-AU" dirty="0" smtClean="0">
                <a:sym typeface="Symbol"/>
              </a:rPr>
              <a:t>ABC</a:t>
            </a:r>
            <a:r>
              <a:rPr lang="en-AU" baseline="-25000" dirty="0">
                <a:sym typeface="Symbol"/>
              </a:rPr>
              <a:t>2</a:t>
            </a:r>
            <a:r>
              <a:rPr lang="en-AU" dirty="0" smtClean="0">
                <a:sym typeface="Symbol"/>
              </a:rPr>
              <a:t> has the same given properties as the original ABC</a:t>
            </a:r>
            <a:r>
              <a:rPr lang="en-AU" baseline="-25000" dirty="0" smtClean="0">
                <a:sym typeface="Symbol"/>
              </a:rPr>
              <a:t>1</a:t>
            </a:r>
            <a:r>
              <a:rPr lang="en-AU" dirty="0" smtClean="0">
                <a:sym typeface="Symbol"/>
              </a:rPr>
              <a:t> . Both triangles have c = 14, </a:t>
            </a:r>
            <a:r>
              <a:rPr lang="en-AU" i="1" dirty="0" smtClean="0">
                <a:sym typeface="Symbol"/>
              </a:rPr>
              <a:t>a</a:t>
            </a:r>
            <a:r>
              <a:rPr lang="en-AU" dirty="0" smtClean="0">
                <a:sym typeface="Symbol"/>
              </a:rPr>
              <a:t> = 10 and A = 32 . But note the angles at C are different! One is acute and the other obtuse.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amond(in)">
                                      <p:cBhvr>
                                        <p:cTn id="7" dur="2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amond(in)">
                                      <p:cBhvr>
                                        <p:cTn id="12" dur="20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amond(in)">
                                      <p:cBhvr>
                                        <p:cTn id="17" dur="20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down)">
                                      <p:cBhvr>
                                        <p:cTn id="27" dur="3000"/>
                                        <p:tgtEl>
                                          <p:spTgt spid="33"/>
                                        </p:tgtEl>
                                      </p:cBhvr>
                                    </p:animEffect>
                                  </p:childTnLst>
                                </p:cTn>
                              </p:par>
                            </p:childTnLst>
                          </p:cTn>
                        </p:par>
                        <p:par>
                          <p:cTn id="28" fill="hold">
                            <p:stCondLst>
                              <p:cond delay="3000"/>
                            </p:stCondLst>
                            <p:childTnLst>
                              <p:par>
                                <p:cTn id="29" presetID="8" presetClass="entr" presetSubtype="16" fill="hold" grpId="0"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diamond(in)">
                                      <p:cBhvr>
                                        <p:cTn id="31" dur="2000"/>
                                        <p:tgtEl>
                                          <p:spTgt spid="35"/>
                                        </p:tgtEl>
                                      </p:cBhvr>
                                    </p:animEffect>
                                  </p:childTnLst>
                                </p:cTn>
                              </p:par>
                            </p:childTnLst>
                          </p:cTn>
                        </p:par>
                        <p:par>
                          <p:cTn id="32" fill="hold">
                            <p:stCondLst>
                              <p:cond delay="5000"/>
                            </p:stCondLst>
                            <p:childTnLst>
                              <p:par>
                                <p:cTn id="33" presetID="22" presetClass="entr" presetSubtype="4" fill="hold"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down)">
                                      <p:cBhvr>
                                        <p:cTn id="35" dur="3000"/>
                                        <p:tgtEl>
                                          <p:spTgt spid="37"/>
                                        </p:tgtEl>
                                      </p:cBhvr>
                                    </p:animEffect>
                                  </p:childTnLst>
                                </p:cTn>
                              </p:par>
                            </p:childTnLst>
                          </p:cTn>
                        </p:par>
                        <p:par>
                          <p:cTn id="36" fill="hold">
                            <p:stCondLst>
                              <p:cond delay="8000"/>
                            </p:stCondLst>
                            <p:childTnLst>
                              <p:par>
                                <p:cTn id="37" presetID="8" presetClass="entr" presetSubtype="16" fill="hold" grpId="0" nodeType="after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diamond(in)">
                                      <p:cBhvr>
                                        <p:cTn id="39" dur="2000"/>
                                        <p:tgtEl>
                                          <p:spTgt spid="38"/>
                                        </p:tgtEl>
                                      </p:cBhvr>
                                    </p:animEffect>
                                  </p:childTnLst>
                                </p:cTn>
                              </p:par>
                            </p:childTnLst>
                          </p:cTn>
                        </p:par>
                      </p:childTnLst>
                    </p:cTn>
                  </p:par>
                  <p:par>
                    <p:cTn id="40" fill="hold">
                      <p:stCondLst>
                        <p:cond delay="indefinite"/>
                      </p:stCondLst>
                      <p:childTnLst>
                        <p:par>
                          <p:cTn id="41" fill="hold">
                            <p:stCondLst>
                              <p:cond delay="0"/>
                            </p:stCondLst>
                            <p:childTnLst>
                              <p:par>
                                <p:cTn id="42" presetID="8" presetClass="entr" presetSubtype="16" fill="hold" grpId="0"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diamond(in)">
                                      <p:cBhvr>
                                        <p:cTn id="44" dur="2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35" grpId="0"/>
      <p:bldP spid="38" grpId="0"/>
      <p:bldP spid="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83568" y="692696"/>
            <a:ext cx="2520280" cy="1953508"/>
            <a:chOff x="827584" y="1412776"/>
            <a:chExt cx="2520280" cy="1953508"/>
          </a:xfrm>
        </p:grpSpPr>
        <p:cxnSp>
          <p:nvCxnSpPr>
            <p:cNvPr id="3" name="Straight Connector 2"/>
            <p:cNvCxnSpPr/>
            <p:nvPr/>
          </p:nvCxnSpPr>
          <p:spPr>
            <a:xfrm flipV="1">
              <a:off x="971600" y="1700808"/>
              <a:ext cx="2016224" cy="136815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27584" y="2996952"/>
              <a:ext cx="432048" cy="369332"/>
            </a:xfrm>
            <a:prstGeom prst="rect">
              <a:avLst/>
            </a:prstGeom>
            <a:noFill/>
          </p:spPr>
          <p:txBody>
            <a:bodyPr wrap="square" rtlCol="0">
              <a:spAutoFit/>
            </a:bodyPr>
            <a:lstStyle/>
            <a:p>
              <a:r>
                <a:rPr lang="en-AU" dirty="0" smtClean="0"/>
                <a:t>A</a:t>
              </a:r>
              <a:endParaRPr lang="en-US" dirty="0"/>
            </a:p>
          </p:txBody>
        </p:sp>
        <p:sp>
          <p:nvSpPr>
            <p:cNvPr id="5" name="TextBox 4"/>
            <p:cNvSpPr txBox="1"/>
            <p:nvPr/>
          </p:nvSpPr>
          <p:spPr>
            <a:xfrm>
              <a:off x="2915816" y="1412776"/>
              <a:ext cx="432048" cy="369332"/>
            </a:xfrm>
            <a:prstGeom prst="rect">
              <a:avLst/>
            </a:prstGeom>
            <a:noFill/>
          </p:spPr>
          <p:txBody>
            <a:bodyPr wrap="square" rtlCol="0">
              <a:spAutoFit/>
            </a:bodyPr>
            <a:lstStyle/>
            <a:p>
              <a:r>
                <a:rPr lang="en-AU" dirty="0"/>
                <a:t>B</a:t>
              </a:r>
              <a:endParaRPr lang="en-US" dirty="0"/>
            </a:p>
          </p:txBody>
        </p:sp>
        <p:sp>
          <p:nvSpPr>
            <p:cNvPr id="6" name="TextBox 5"/>
            <p:cNvSpPr txBox="1"/>
            <p:nvPr/>
          </p:nvSpPr>
          <p:spPr>
            <a:xfrm>
              <a:off x="1691680" y="1988840"/>
              <a:ext cx="576064" cy="369332"/>
            </a:xfrm>
            <a:prstGeom prst="rect">
              <a:avLst/>
            </a:prstGeom>
            <a:noFill/>
          </p:spPr>
          <p:txBody>
            <a:bodyPr wrap="square" rtlCol="0">
              <a:spAutoFit/>
            </a:bodyPr>
            <a:lstStyle/>
            <a:p>
              <a:r>
                <a:rPr lang="en-AU" dirty="0" smtClean="0"/>
                <a:t>14</a:t>
              </a:r>
              <a:r>
                <a:rPr lang="en-AU" i="1" dirty="0" smtClean="0"/>
                <a:t>m</a:t>
              </a:r>
              <a:endParaRPr lang="en-US" dirty="0"/>
            </a:p>
          </p:txBody>
        </p:sp>
        <p:cxnSp>
          <p:nvCxnSpPr>
            <p:cNvPr id="7" name="Straight Connector 6"/>
            <p:cNvCxnSpPr/>
            <p:nvPr/>
          </p:nvCxnSpPr>
          <p:spPr>
            <a:xfrm flipV="1">
              <a:off x="1006030" y="2996952"/>
              <a:ext cx="1693762" cy="720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259632" y="2708920"/>
              <a:ext cx="792088" cy="369332"/>
            </a:xfrm>
            <a:prstGeom prst="rect">
              <a:avLst/>
            </a:prstGeom>
            <a:noFill/>
          </p:spPr>
          <p:txBody>
            <a:bodyPr wrap="square" rtlCol="0">
              <a:spAutoFit/>
            </a:bodyPr>
            <a:lstStyle/>
            <a:p>
              <a:r>
                <a:rPr lang="en-AU" dirty="0" smtClean="0"/>
                <a:t>32</a:t>
              </a:r>
              <a:r>
                <a:rPr lang="en-AU" dirty="0" smtClean="0">
                  <a:sym typeface="Symbol"/>
                </a:rPr>
                <a:t></a:t>
              </a:r>
              <a:endParaRPr lang="en-US" dirty="0"/>
            </a:p>
          </p:txBody>
        </p:sp>
        <p:cxnSp>
          <p:nvCxnSpPr>
            <p:cNvPr id="9" name="Straight Connector 8"/>
            <p:cNvCxnSpPr/>
            <p:nvPr/>
          </p:nvCxnSpPr>
          <p:spPr>
            <a:xfrm flipH="1">
              <a:off x="2699792" y="1700808"/>
              <a:ext cx="288032" cy="129614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627784" y="2924944"/>
              <a:ext cx="432048" cy="369332"/>
            </a:xfrm>
            <a:prstGeom prst="rect">
              <a:avLst/>
            </a:prstGeom>
            <a:noFill/>
          </p:spPr>
          <p:txBody>
            <a:bodyPr wrap="square" rtlCol="0">
              <a:spAutoFit/>
            </a:bodyPr>
            <a:lstStyle/>
            <a:p>
              <a:r>
                <a:rPr lang="en-AU" dirty="0" smtClean="0"/>
                <a:t>C</a:t>
              </a:r>
              <a:r>
                <a:rPr lang="en-AU" baseline="-25000" dirty="0" smtClean="0"/>
                <a:t>1</a:t>
              </a:r>
              <a:endParaRPr lang="en-US" dirty="0"/>
            </a:p>
          </p:txBody>
        </p:sp>
        <p:sp>
          <p:nvSpPr>
            <p:cNvPr id="11" name="TextBox 10"/>
            <p:cNvSpPr txBox="1"/>
            <p:nvPr/>
          </p:nvSpPr>
          <p:spPr>
            <a:xfrm>
              <a:off x="2771800" y="2204864"/>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grpSp>
      <p:sp>
        <p:nvSpPr>
          <p:cNvPr id="26" name="Arc 25"/>
          <p:cNvSpPr/>
          <p:nvPr/>
        </p:nvSpPr>
        <p:spPr>
          <a:xfrm rot="21062705" flipH="1">
            <a:off x="2208337" y="1712241"/>
            <a:ext cx="1164381" cy="1178297"/>
          </a:xfrm>
          <a:prstGeom prst="arc">
            <a:avLst>
              <a:gd name="adj1" fmla="val 16200000"/>
              <a:gd name="adj2" fmla="val 21006629"/>
            </a:avLst>
          </a:prstGeom>
          <a:ln w="412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827584" y="2708920"/>
            <a:ext cx="2232248" cy="369332"/>
          </a:xfrm>
          <a:prstGeom prst="rect">
            <a:avLst/>
          </a:prstGeom>
          <a:noFill/>
        </p:spPr>
        <p:txBody>
          <a:bodyPr wrap="square" rtlCol="0">
            <a:spAutoFit/>
          </a:bodyPr>
          <a:lstStyle/>
          <a:p>
            <a:r>
              <a:rPr lang="en-AU" dirty="0" smtClean="0">
                <a:solidFill>
                  <a:srgbClr val="FF0000"/>
                </a:solidFill>
              </a:rPr>
              <a:t>ANGLE C is obtuse</a:t>
            </a:r>
            <a:endParaRPr lang="en-US" dirty="0">
              <a:solidFill>
                <a:srgbClr val="FF0000"/>
              </a:solidFill>
            </a:endParaRPr>
          </a:p>
        </p:txBody>
      </p:sp>
      <p:grpSp>
        <p:nvGrpSpPr>
          <p:cNvPr id="59" name="Group 58"/>
          <p:cNvGrpSpPr/>
          <p:nvPr/>
        </p:nvGrpSpPr>
        <p:grpSpPr>
          <a:xfrm>
            <a:off x="4283968" y="764704"/>
            <a:ext cx="3168352" cy="1944216"/>
            <a:chOff x="4283968" y="764704"/>
            <a:chExt cx="3168352" cy="1944216"/>
          </a:xfrm>
        </p:grpSpPr>
        <p:cxnSp>
          <p:nvCxnSpPr>
            <p:cNvPr id="21" name="Straight Connector 20"/>
            <p:cNvCxnSpPr/>
            <p:nvPr/>
          </p:nvCxnSpPr>
          <p:spPr>
            <a:xfrm flipV="1">
              <a:off x="6225569" y="2308387"/>
              <a:ext cx="735887" cy="33914"/>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grpSp>
          <p:nvGrpSpPr>
            <p:cNvPr id="57" name="Group 56"/>
            <p:cNvGrpSpPr/>
            <p:nvPr/>
          </p:nvGrpSpPr>
          <p:grpSpPr>
            <a:xfrm>
              <a:off x="4283968" y="764704"/>
              <a:ext cx="3168352" cy="1944216"/>
              <a:chOff x="4283968" y="764704"/>
              <a:chExt cx="3168352" cy="1944216"/>
            </a:xfrm>
          </p:grpSpPr>
          <p:cxnSp>
            <p:nvCxnSpPr>
              <p:cNvPr id="13" name="Straight Connector 12"/>
              <p:cNvCxnSpPr/>
              <p:nvPr/>
            </p:nvCxnSpPr>
            <p:spPr>
              <a:xfrm flipV="1">
                <a:off x="4499992" y="1052736"/>
                <a:ext cx="2016224" cy="1368152"/>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444208" y="764704"/>
                <a:ext cx="432048" cy="369332"/>
              </a:xfrm>
              <a:prstGeom prst="rect">
                <a:avLst/>
              </a:prstGeom>
              <a:noFill/>
            </p:spPr>
            <p:txBody>
              <a:bodyPr wrap="square" rtlCol="0">
                <a:spAutoFit/>
              </a:bodyPr>
              <a:lstStyle/>
              <a:p>
                <a:r>
                  <a:rPr lang="en-AU" dirty="0"/>
                  <a:t>B</a:t>
                </a:r>
                <a:endParaRPr lang="en-US" dirty="0"/>
              </a:p>
            </p:txBody>
          </p:sp>
          <p:sp>
            <p:nvSpPr>
              <p:cNvPr id="15" name="TextBox 14"/>
              <p:cNvSpPr txBox="1"/>
              <p:nvPr/>
            </p:nvSpPr>
            <p:spPr>
              <a:xfrm>
                <a:off x="5220072" y="1340768"/>
                <a:ext cx="576064" cy="369332"/>
              </a:xfrm>
              <a:prstGeom prst="rect">
                <a:avLst/>
              </a:prstGeom>
              <a:noFill/>
            </p:spPr>
            <p:txBody>
              <a:bodyPr wrap="square" rtlCol="0">
                <a:spAutoFit/>
              </a:bodyPr>
              <a:lstStyle/>
              <a:p>
                <a:r>
                  <a:rPr lang="en-AU" dirty="0" smtClean="0"/>
                  <a:t>14</a:t>
                </a:r>
                <a:r>
                  <a:rPr lang="en-AU" i="1" dirty="0" smtClean="0"/>
                  <a:t>m</a:t>
                </a:r>
                <a:endParaRPr lang="en-US" dirty="0"/>
              </a:p>
            </p:txBody>
          </p:sp>
          <p:cxnSp>
            <p:nvCxnSpPr>
              <p:cNvPr id="16" name="Straight Connector 15"/>
              <p:cNvCxnSpPr/>
              <p:nvPr/>
            </p:nvCxnSpPr>
            <p:spPr>
              <a:xfrm flipV="1">
                <a:off x="4534422" y="2336354"/>
                <a:ext cx="1693762" cy="72008"/>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788024" y="2060848"/>
                <a:ext cx="792088" cy="369332"/>
              </a:xfrm>
              <a:prstGeom prst="rect">
                <a:avLst/>
              </a:prstGeom>
              <a:noFill/>
            </p:spPr>
            <p:txBody>
              <a:bodyPr wrap="square" rtlCol="0">
                <a:spAutoFit/>
              </a:bodyPr>
              <a:lstStyle/>
              <a:p>
                <a:r>
                  <a:rPr lang="en-AU" dirty="0" smtClean="0"/>
                  <a:t>32</a:t>
                </a:r>
                <a:r>
                  <a:rPr lang="en-AU" dirty="0" smtClean="0">
                    <a:sym typeface="Symbol"/>
                  </a:rPr>
                  <a:t></a:t>
                </a:r>
                <a:endParaRPr lang="en-US" dirty="0"/>
              </a:p>
            </p:txBody>
          </p:sp>
          <p:sp>
            <p:nvSpPr>
              <p:cNvPr id="19" name="TextBox 18"/>
              <p:cNvSpPr txBox="1"/>
              <p:nvPr/>
            </p:nvSpPr>
            <p:spPr>
              <a:xfrm>
                <a:off x="6156176" y="2276872"/>
                <a:ext cx="432048" cy="369332"/>
              </a:xfrm>
              <a:prstGeom prst="rect">
                <a:avLst/>
              </a:prstGeom>
              <a:noFill/>
            </p:spPr>
            <p:txBody>
              <a:bodyPr wrap="square" rtlCol="0">
                <a:spAutoFit/>
              </a:bodyPr>
              <a:lstStyle/>
              <a:p>
                <a:r>
                  <a:rPr lang="en-AU" dirty="0" smtClean="0"/>
                  <a:t>C</a:t>
                </a:r>
                <a:r>
                  <a:rPr lang="en-AU" baseline="-25000" dirty="0" smtClean="0"/>
                  <a:t>1</a:t>
                </a:r>
                <a:endParaRPr lang="en-US" dirty="0"/>
              </a:p>
            </p:txBody>
          </p:sp>
          <p:sp>
            <p:nvSpPr>
              <p:cNvPr id="22" name="TextBox 21"/>
              <p:cNvSpPr txBox="1"/>
              <p:nvPr/>
            </p:nvSpPr>
            <p:spPr>
              <a:xfrm>
                <a:off x="7020272" y="2204864"/>
                <a:ext cx="432048" cy="369332"/>
              </a:xfrm>
              <a:prstGeom prst="rect">
                <a:avLst/>
              </a:prstGeom>
              <a:noFill/>
            </p:spPr>
            <p:txBody>
              <a:bodyPr wrap="square" rtlCol="0">
                <a:spAutoFit/>
              </a:bodyPr>
              <a:lstStyle/>
              <a:p>
                <a:r>
                  <a:rPr lang="en-AU" dirty="0" smtClean="0"/>
                  <a:t>C</a:t>
                </a:r>
                <a:r>
                  <a:rPr lang="en-AU" baseline="-25000" dirty="0"/>
                  <a:t>2</a:t>
                </a:r>
                <a:endParaRPr lang="en-US" dirty="0"/>
              </a:p>
            </p:txBody>
          </p:sp>
          <p:cxnSp>
            <p:nvCxnSpPr>
              <p:cNvPr id="23" name="Straight Connector 22"/>
              <p:cNvCxnSpPr/>
              <p:nvPr/>
            </p:nvCxnSpPr>
            <p:spPr>
              <a:xfrm>
                <a:off x="6526127" y="1033631"/>
                <a:ext cx="432048" cy="1296144"/>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695195" y="1503257"/>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sp>
            <p:nvSpPr>
              <p:cNvPr id="28" name="TextBox 27"/>
              <p:cNvSpPr txBox="1"/>
              <p:nvPr/>
            </p:nvSpPr>
            <p:spPr>
              <a:xfrm>
                <a:off x="4283968" y="2339588"/>
                <a:ext cx="432048" cy="369332"/>
              </a:xfrm>
              <a:prstGeom prst="rect">
                <a:avLst/>
              </a:prstGeom>
              <a:noFill/>
            </p:spPr>
            <p:txBody>
              <a:bodyPr wrap="square" rtlCol="0">
                <a:spAutoFit/>
              </a:bodyPr>
              <a:lstStyle/>
              <a:p>
                <a:r>
                  <a:rPr lang="en-AU" dirty="0" smtClean="0"/>
                  <a:t>A</a:t>
                </a:r>
                <a:endParaRPr lang="en-US" dirty="0"/>
              </a:p>
            </p:txBody>
          </p:sp>
        </p:grpSp>
      </p:grpSp>
      <p:sp>
        <p:nvSpPr>
          <p:cNvPr id="29" name="Arc 28"/>
          <p:cNvSpPr/>
          <p:nvPr/>
        </p:nvSpPr>
        <p:spPr>
          <a:xfrm rot="20909541" flipH="1">
            <a:off x="6528817" y="1784249"/>
            <a:ext cx="1164381" cy="1178297"/>
          </a:xfrm>
          <a:prstGeom prst="arc">
            <a:avLst>
              <a:gd name="adj1" fmla="val 17450006"/>
              <a:gd name="adj2" fmla="val 20516117"/>
            </a:avLst>
          </a:prstGeom>
          <a:ln w="41275">
            <a:solidFill>
              <a:srgbClr val="0066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1" name="Group 60"/>
          <p:cNvGrpSpPr/>
          <p:nvPr/>
        </p:nvGrpSpPr>
        <p:grpSpPr>
          <a:xfrm>
            <a:off x="899592" y="692696"/>
            <a:ext cx="5544616" cy="369332"/>
            <a:chOff x="899592" y="692696"/>
            <a:chExt cx="5544616" cy="369332"/>
          </a:xfrm>
        </p:grpSpPr>
        <p:sp>
          <p:nvSpPr>
            <p:cNvPr id="25" name="TextBox 24"/>
            <p:cNvSpPr txBox="1"/>
            <p:nvPr/>
          </p:nvSpPr>
          <p:spPr>
            <a:xfrm>
              <a:off x="899592" y="692696"/>
              <a:ext cx="1656184" cy="369332"/>
            </a:xfrm>
            <a:prstGeom prst="rect">
              <a:avLst/>
            </a:prstGeom>
            <a:noFill/>
          </p:spPr>
          <p:txBody>
            <a:bodyPr wrap="square" rtlCol="0">
              <a:spAutoFit/>
            </a:bodyPr>
            <a:lstStyle/>
            <a:p>
              <a:r>
                <a:rPr lang="en-AU" dirty="0" smtClean="0">
                  <a:solidFill>
                    <a:srgbClr val="FF0000"/>
                  </a:solidFill>
                  <a:latin typeface="Times New Roman" pitchFamily="18" charset="0"/>
                  <a:cs typeface="Times New Roman" pitchFamily="18" charset="0"/>
                </a:rPr>
                <a:t>TRIANGLE 1</a:t>
              </a:r>
              <a:endParaRPr lang="en-US" dirty="0">
                <a:solidFill>
                  <a:srgbClr val="FF0000"/>
                </a:solidFill>
                <a:latin typeface="Times New Roman" pitchFamily="18" charset="0"/>
                <a:cs typeface="Times New Roman" pitchFamily="18" charset="0"/>
              </a:endParaRPr>
            </a:p>
          </p:txBody>
        </p:sp>
        <p:sp>
          <p:nvSpPr>
            <p:cNvPr id="30" name="TextBox 29"/>
            <p:cNvSpPr txBox="1"/>
            <p:nvPr/>
          </p:nvSpPr>
          <p:spPr>
            <a:xfrm>
              <a:off x="4788024" y="692696"/>
              <a:ext cx="1656184" cy="369332"/>
            </a:xfrm>
            <a:prstGeom prst="rect">
              <a:avLst/>
            </a:prstGeom>
            <a:noFill/>
          </p:spPr>
          <p:txBody>
            <a:bodyPr wrap="square" rtlCol="0">
              <a:spAutoFit/>
            </a:bodyPr>
            <a:lstStyle/>
            <a:p>
              <a:r>
                <a:rPr lang="en-AU" dirty="0" smtClean="0">
                  <a:solidFill>
                    <a:srgbClr val="006600"/>
                  </a:solidFill>
                  <a:latin typeface="Times New Roman" pitchFamily="18" charset="0"/>
                  <a:cs typeface="Times New Roman" pitchFamily="18" charset="0"/>
                </a:rPr>
                <a:t>TRIANGLE 2</a:t>
              </a:r>
              <a:endParaRPr lang="en-US" dirty="0">
                <a:solidFill>
                  <a:srgbClr val="006600"/>
                </a:solidFill>
                <a:latin typeface="Times New Roman" pitchFamily="18" charset="0"/>
                <a:cs typeface="Times New Roman" pitchFamily="18" charset="0"/>
              </a:endParaRPr>
            </a:p>
          </p:txBody>
        </p:sp>
      </p:grpSp>
      <p:sp>
        <p:nvSpPr>
          <p:cNvPr id="31" name="TextBox 30"/>
          <p:cNvSpPr txBox="1"/>
          <p:nvPr/>
        </p:nvSpPr>
        <p:spPr>
          <a:xfrm>
            <a:off x="4788024" y="2708920"/>
            <a:ext cx="2232248" cy="369332"/>
          </a:xfrm>
          <a:prstGeom prst="rect">
            <a:avLst/>
          </a:prstGeom>
          <a:noFill/>
        </p:spPr>
        <p:txBody>
          <a:bodyPr wrap="square" rtlCol="0">
            <a:spAutoFit/>
          </a:bodyPr>
          <a:lstStyle/>
          <a:p>
            <a:r>
              <a:rPr lang="en-AU" dirty="0" smtClean="0">
                <a:solidFill>
                  <a:srgbClr val="006600"/>
                </a:solidFill>
              </a:rPr>
              <a:t>ANGLE C is acute</a:t>
            </a:r>
            <a:endParaRPr lang="en-US" dirty="0">
              <a:solidFill>
                <a:srgbClr val="006600"/>
              </a:solidFill>
            </a:endParaRPr>
          </a:p>
        </p:txBody>
      </p:sp>
      <p:sp>
        <p:nvSpPr>
          <p:cNvPr id="41" name="TextBox 40"/>
          <p:cNvSpPr txBox="1"/>
          <p:nvPr/>
        </p:nvSpPr>
        <p:spPr>
          <a:xfrm>
            <a:off x="323528" y="3284984"/>
            <a:ext cx="5904656" cy="461665"/>
          </a:xfrm>
          <a:prstGeom prst="rect">
            <a:avLst/>
          </a:prstGeom>
          <a:noFill/>
        </p:spPr>
        <p:txBody>
          <a:bodyPr wrap="square" rtlCol="0">
            <a:spAutoFit/>
          </a:bodyPr>
          <a:lstStyle/>
          <a:p>
            <a:r>
              <a:rPr lang="en-AU" sz="2400" dirty="0" smtClean="0">
                <a:solidFill>
                  <a:srgbClr val="006600"/>
                </a:solidFill>
              </a:rPr>
              <a:t>How are the two C angles related? (if at all)</a:t>
            </a:r>
            <a:endParaRPr lang="en-US" sz="2400" dirty="0">
              <a:solidFill>
                <a:srgbClr val="006600"/>
              </a:solidFill>
            </a:endParaRPr>
          </a:p>
        </p:txBody>
      </p:sp>
      <p:sp>
        <p:nvSpPr>
          <p:cNvPr id="47" name="TextBox 46"/>
          <p:cNvSpPr txBox="1"/>
          <p:nvPr/>
        </p:nvSpPr>
        <p:spPr>
          <a:xfrm>
            <a:off x="1907704" y="5147900"/>
            <a:ext cx="432048" cy="369332"/>
          </a:xfrm>
          <a:prstGeom prst="rect">
            <a:avLst/>
          </a:prstGeom>
          <a:noFill/>
        </p:spPr>
        <p:txBody>
          <a:bodyPr wrap="square" rtlCol="0">
            <a:spAutoFit/>
          </a:bodyPr>
          <a:lstStyle/>
          <a:p>
            <a:r>
              <a:rPr lang="en-AU" dirty="0" smtClean="0"/>
              <a:t>A</a:t>
            </a:r>
            <a:endParaRPr lang="en-US" dirty="0"/>
          </a:p>
        </p:txBody>
      </p:sp>
      <p:grpSp>
        <p:nvGrpSpPr>
          <p:cNvPr id="60" name="Group 59"/>
          <p:cNvGrpSpPr/>
          <p:nvPr/>
        </p:nvGrpSpPr>
        <p:grpSpPr>
          <a:xfrm>
            <a:off x="2195736" y="3717032"/>
            <a:ext cx="2880320" cy="1881500"/>
            <a:chOff x="2195736" y="3717032"/>
            <a:chExt cx="2880320" cy="1881500"/>
          </a:xfrm>
        </p:grpSpPr>
        <p:cxnSp>
          <p:nvCxnSpPr>
            <p:cNvPr id="45" name="Straight Connector 44"/>
            <p:cNvCxnSpPr/>
            <p:nvPr/>
          </p:nvCxnSpPr>
          <p:spPr>
            <a:xfrm flipV="1">
              <a:off x="3923928" y="5260932"/>
              <a:ext cx="798384" cy="40276"/>
            </a:xfrm>
            <a:prstGeom prst="line">
              <a:avLst/>
            </a:prstGeom>
          </p:spPr>
          <p:style>
            <a:lnRef idx="1">
              <a:schemeClr val="accent1"/>
            </a:lnRef>
            <a:fillRef idx="0">
              <a:schemeClr val="accent1"/>
            </a:fillRef>
            <a:effectRef idx="0">
              <a:schemeClr val="accent1"/>
            </a:effectRef>
            <a:fontRef idx="minor">
              <a:schemeClr val="tx1"/>
            </a:fontRef>
          </p:style>
        </p:cxnSp>
        <p:grpSp>
          <p:nvGrpSpPr>
            <p:cNvPr id="58" name="Group 57"/>
            <p:cNvGrpSpPr/>
            <p:nvPr/>
          </p:nvGrpSpPr>
          <p:grpSpPr>
            <a:xfrm>
              <a:off x="2195736" y="3717032"/>
              <a:ext cx="2880320" cy="1881500"/>
              <a:chOff x="2195736" y="3717032"/>
              <a:chExt cx="2880320" cy="1881500"/>
            </a:xfrm>
          </p:grpSpPr>
          <p:grpSp>
            <p:nvGrpSpPr>
              <p:cNvPr id="32" name="Group 31"/>
              <p:cNvGrpSpPr/>
              <p:nvPr/>
            </p:nvGrpSpPr>
            <p:grpSpPr>
              <a:xfrm>
                <a:off x="2195736" y="3717032"/>
                <a:ext cx="2376264" cy="1881500"/>
                <a:chOff x="2771800" y="4149080"/>
                <a:chExt cx="2376264" cy="1881500"/>
              </a:xfrm>
            </p:grpSpPr>
            <p:cxnSp>
              <p:nvCxnSpPr>
                <p:cNvPr id="33" name="Straight Connector 32"/>
                <p:cNvCxnSpPr/>
                <p:nvPr/>
              </p:nvCxnSpPr>
              <p:spPr>
                <a:xfrm flipV="1">
                  <a:off x="2771800" y="4437112"/>
                  <a:ext cx="2016224" cy="1368152"/>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716016" y="4149080"/>
                  <a:ext cx="432048" cy="369332"/>
                </a:xfrm>
                <a:prstGeom prst="rect">
                  <a:avLst/>
                </a:prstGeom>
                <a:noFill/>
              </p:spPr>
              <p:txBody>
                <a:bodyPr wrap="square" rtlCol="0">
                  <a:spAutoFit/>
                </a:bodyPr>
                <a:lstStyle/>
                <a:p>
                  <a:r>
                    <a:rPr lang="en-AU" dirty="0"/>
                    <a:t>B</a:t>
                  </a:r>
                  <a:endParaRPr lang="en-US" dirty="0"/>
                </a:p>
              </p:txBody>
            </p:sp>
            <p:sp>
              <p:nvSpPr>
                <p:cNvPr id="35" name="TextBox 34"/>
                <p:cNvSpPr txBox="1"/>
                <p:nvPr/>
              </p:nvSpPr>
              <p:spPr>
                <a:xfrm>
                  <a:off x="3491880" y="4725144"/>
                  <a:ext cx="576064" cy="369332"/>
                </a:xfrm>
                <a:prstGeom prst="rect">
                  <a:avLst/>
                </a:prstGeom>
                <a:noFill/>
              </p:spPr>
              <p:txBody>
                <a:bodyPr wrap="square" rtlCol="0">
                  <a:spAutoFit/>
                </a:bodyPr>
                <a:lstStyle/>
                <a:p>
                  <a:r>
                    <a:rPr lang="en-AU" dirty="0" smtClean="0"/>
                    <a:t>14</a:t>
                  </a:r>
                  <a:r>
                    <a:rPr lang="en-AU" i="1" dirty="0" smtClean="0"/>
                    <a:t>m</a:t>
                  </a:r>
                  <a:endParaRPr lang="en-US" dirty="0"/>
                </a:p>
              </p:txBody>
            </p:sp>
            <p:cxnSp>
              <p:nvCxnSpPr>
                <p:cNvPr id="36" name="Straight Connector 35"/>
                <p:cNvCxnSpPr/>
                <p:nvPr/>
              </p:nvCxnSpPr>
              <p:spPr>
                <a:xfrm flipV="1">
                  <a:off x="2806230" y="5733256"/>
                  <a:ext cx="1693762" cy="72008"/>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059832" y="5445224"/>
                  <a:ext cx="792088" cy="369332"/>
                </a:xfrm>
                <a:prstGeom prst="rect">
                  <a:avLst/>
                </a:prstGeom>
                <a:noFill/>
              </p:spPr>
              <p:txBody>
                <a:bodyPr wrap="square" rtlCol="0">
                  <a:spAutoFit/>
                </a:bodyPr>
                <a:lstStyle/>
                <a:p>
                  <a:r>
                    <a:rPr lang="en-AU" dirty="0" smtClean="0"/>
                    <a:t>32</a:t>
                  </a:r>
                  <a:r>
                    <a:rPr lang="en-AU" dirty="0" smtClean="0">
                      <a:sym typeface="Symbol"/>
                    </a:rPr>
                    <a:t></a:t>
                  </a:r>
                  <a:endParaRPr lang="en-US" dirty="0"/>
                </a:p>
              </p:txBody>
            </p:sp>
            <p:cxnSp>
              <p:nvCxnSpPr>
                <p:cNvPr id="38" name="Straight Connector 37"/>
                <p:cNvCxnSpPr/>
                <p:nvPr/>
              </p:nvCxnSpPr>
              <p:spPr>
                <a:xfrm flipH="1">
                  <a:off x="4499992" y="4437112"/>
                  <a:ext cx="288032" cy="1296144"/>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4427984" y="5661248"/>
                  <a:ext cx="432048" cy="369332"/>
                </a:xfrm>
                <a:prstGeom prst="rect">
                  <a:avLst/>
                </a:prstGeom>
                <a:noFill/>
              </p:spPr>
              <p:txBody>
                <a:bodyPr wrap="square" rtlCol="0">
                  <a:spAutoFit/>
                </a:bodyPr>
                <a:lstStyle/>
                <a:p>
                  <a:r>
                    <a:rPr lang="en-AU" dirty="0" smtClean="0"/>
                    <a:t>C</a:t>
                  </a:r>
                  <a:r>
                    <a:rPr lang="en-AU" baseline="-25000" dirty="0" smtClean="0"/>
                    <a:t>1</a:t>
                  </a:r>
                  <a:endParaRPr lang="en-US" dirty="0"/>
                </a:p>
              </p:txBody>
            </p:sp>
            <p:sp>
              <p:nvSpPr>
                <p:cNvPr id="40" name="TextBox 39"/>
                <p:cNvSpPr txBox="1"/>
                <p:nvPr/>
              </p:nvSpPr>
              <p:spPr>
                <a:xfrm>
                  <a:off x="4283968" y="4941168"/>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grpSp>
          <p:cxnSp>
            <p:nvCxnSpPr>
              <p:cNvPr id="43" name="Straight Connector 42"/>
              <p:cNvCxnSpPr/>
              <p:nvPr/>
            </p:nvCxnSpPr>
            <p:spPr>
              <a:xfrm>
                <a:off x="4211960" y="4005064"/>
                <a:ext cx="485300" cy="128092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644008" y="5157192"/>
                <a:ext cx="432048" cy="369332"/>
              </a:xfrm>
              <a:prstGeom prst="rect">
                <a:avLst/>
              </a:prstGeom>
              <a:noFill/>
            </p:spPr>
            <p:txBody>
              <a:bodyPr wrap="square" rtlCol="0">
                <a:spAutoFit/>
              </a:bodyPr>
              <a:lstStyle/>
              <a:p>
                <a:r>
                  <a:rPr lang="en-AU" dirty="0" smtClean="0"/>
                  <a:t>C</a:t>
                </a:r>
                <a:r>
                  <a:rPr lang="en-AU" baseline="-25000" dirty="0"/>
                  <a:t>2</a:t>
                </a:r>
                <a:endParaRPr lang="en-US" dirty="0"/>
              </a:p>
            </p:txBody>
          </p:sp>
        </p:grpSp>
      </p:grpSp>
      <p:sp>
        <p:nvSpPr>
          <p:cNvPr id="49" name="TextBox 48"/>
          <p:cNvSpPr txBox="1"/>
          <p:nvPr/>
        </p:nvSpPr>
        <p:spPr>
          <a:xfrm>
            <a:off x="4355976" y="4509120"/>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sp>
        <p:nvSpPr>
          <p:cNvPr id="50" name="TextBox 49"/>
          <p:cNvSpPr txBox="1"/>
          <p:nvPr/>
        </p:nvSpPr>
        <p:spPr>
          <a:xfrm>
            <a:off x="5652120" y="3645024"/>
            <a:ext cx="2880320" cy="369332"/>
          </a:xfrm>
          <a:prstGeom prst="rect">
            <a:avLst/>
          </a:prstGeom>
          <a:noFill/>
        </p:spPr>
        <p:txBody>
          <a:bodyPr wrap="square" rtlCol="0">
            <a:spAutoFit/>
          </a:bodyPr>
          <a:lstStyle/>
          <a:p>
            <a:r>
              <a:rPr lang="en-AU" dirty="0" smtClean="0"/>
              <a:t>Let angle BC</a:t>
            </a:r>
            <a:r>
              <a:rPr lang="en-AU" baseline="-25000" dirty="0" smtClean="0"/>
              <a:t>2</a:t>
            </a:r>
            <a:r>
              <a:rPr lang="en-AU" dirty="0" smtClean="0"/>
              <a:t>C</a:t>
            </a:r>
            <a:r>
              <a:rPr lang="en-AU" baseline="-25000" dirty="0"/>
              <a:t>1</a:t>
            </a:r>
            <a:r>
              <a:rPr lang="en-AU" dirty="0" smtClean="0"/>
              <a:t> = </a:t>
            </a:r>
            <a:r>
              <a:rPr lang="en-AU" dirty="0" smtClean="0">
                <a:sym typeface="Symbol"/>
              </a:rPr>
              <a:t>.</a:t>
            </a:r>
            <a:endParaRPr lang="en-US" dirty="0"/>
          </a:p>
        </p:txBody>
      </p:sp>
      <p:sp>
        <p:nvSpPr>
          <p:cNvPr id="51" name="TextBox 50"/>
          <p:cNvSpPr txBox="1"/>
          <p:nvPr/>
        </p:nvSpPr>
        <p:spPr>
          <a:xfrm>
            <a:off x="4355976" y="4941168"/>
            <a:ext cx="720080" cy="369332"/>
          </a:xfrm>
          <a:prstGeom prst="rect">
            <a:avLst/>
          </a:prstGeom>
          <a:noFill/>
        </p:spPr>
        <p:txBody>
          <a:bodyPr wrap="square" rtlCol="0">
            <a:spAutoFit/>
          </a:bodyPr>
          <a:lstStyle/>
          <a:p>
            <a:r>
              <a:rPr lang="en-US" b="1" dirty="0" smtClean="0">
                <a:solidFill>
                  <a:srgbClr val="006600"/>
                </a:solidFill>
                <a:sym typeface="Symbol"/>
              </a:rPr>
              <a:t></a:t>
            </a:r>
            <a:endParaRPr lang="en-US" b="1" dirty="0">
              <a:solidFill>
                <a:srgbClr val="006600"/>
              </a:solidFill>
            </a:endParaRPr>
          </a:p>
        </p:txBody>
      </p:sp>
      <p:sp>
        <p:nvSpPr>
          <p:cNvPr id="52" name="TextBox 51"/>
          <p:cNvSpPr txBox="1"/>
          <p:nvPr/>
        </p:nvSpPr>
        <p:spPr>
          <a:xfrm>
            <a:off x="5652120" y="4067780"/>
            <a:ext cx="2880320" cy="369332"/>
          </a:xfrm>
          <a:prstGeom prst="rect">
            <a:avLst/>
          </a:prstGeom>
          <a:noFill/>
        </p:spPr>
        <p:txBody>
          <a:bodyPr wrap="square" rtlCol="0">
            <a:spAutoFit/>
          </a:bodyPr>
          <a:lstStyle/>
          <a:p>
            <a:r>
              <a:rPr lang="en-AU" dirty="0" smtClean="0">
                <a:sym typeface="Symbol"/>
              </a:rPr>
              <a:t></a:t>
            </a:r>
            <a:r>
              <a:rPr lang="en-AU" dirty="0" smtClean="0"/>
              <a:t> angle BC</a:t>
            </a:r>
            <a:r>
              <a:rPr lang="en-AU" baseline="-25000" dirty="0" smtClean="0"/>
              <a:t>1</a:t>
            </a:r>
            <a:r>
              <a:rPr lang="en-AU" dirty="0" smtClean="0"/>
              <a:t>C</a:t>
            </a:r>
            <a:r>
              <a:rPr lang="en-AU" baseline="-25000" dirty="0"/>
              <a:t>2</a:t>
            </a:r>
            <a:r>
              <a:rPr lang="en-AU" dirty="0" smtClean="0"/>
              <a:t> = </a:t>
            </a:r>
            <a:r>
              <a:rPr lang="en-AU" dirty="0" smtClean="0">
                <a:sym typeface="Symbol"/>
              </a:rPr>
              <a:t>. (</a:t>
            </a:r>
            <a:r>
              <a:rPr lang="en-AU" dirty="0" err="1" smtClean="0">
                <a:sym typeface="Symbol"/>
              </a:rPr>
              <a:t>isos</a:t>
            </a:r>
            <a:r>
              <a:rPr lang="en-AU" dirty="0" smtClean="0">
                <a:sym typeface="Symbol"/>
              </a:rPr>
              <a:t> )</a:t>
            </a:r>
            <a:endParaRPr lang="en-US" dirty="0"/>
          </a:p>
        </p:txBody>
      </p:sp>
      <p:sp>
        <p:nvSpPr>
          <p:cNvPr id="53" name="TextBox 52"/>
          <p:cNvSpPr txBox="1"/>
          <p:nvPr/>
        </p:nvSpPr>
        <p:spPr>
          <a:xfrm>
            <a:off x="3923928" y="4931876"/>
            <a:ext cx="720080" cy="369332"/>
          </a:xfrm>
          <a:prstGeom prst="rect">
            <a:avLst/>
          </a:prstGeom>
          <a:noFill/>
        </p:spPr>
        <p:txBody>
          <a:bodyPr wrap="square" rtlCol="0">
            <a:spAutoFit/>
          </a:bodyPr>
          <a:lstStyle/>
          <a:p>
            <a:r>
              <a:rPr lang="en-US" b="1" dirty="0" smtClean="0">
                <a:solidFill>
                  <a:srgbClr val="FF0000"/>
                </a:solidFill>
                <a:sym typeface="Symbol"/>
              </a:rPr>
              <a:t></a:t>
            </a:r>
            <a:endParaRPr lang="en-US" b="1" dirty="0">
              <a:solidFill>
                <a:srgbClr val="FF0000"/>
              </a:solidFill>
            </a:endParaRPr>
          </a:p>
        </p:txBody>
      </p:sp>
      <p:sp>
        <p:nvSpPr>
          <p:cNvPr id="54" name="TextBox 53"/>
          <p:cNvSpPr txBox="1"/>
          <p:nvPr/>
        </p:nvSpPr>
        <p:spPr>
          <a:xfrm>
            <a:off x="5652120" y="4427820"/>
            <a:ext cx="2880320" cy="646331"/>
          </a:xfrm>
          <a:prstGeom prst="rect">
            <a:avLst/>
          </a:prstGeom>
          <a:noFill/>
        </p:spPr>
        <p:txBody>
          <a:bodyPr wrap="square" rtlCol="0">
            <a:spAutoFit/>
          </a:bodyPr>
          <a:lstStyle/>
          <a:p>
            <a:r>
              <a:rPr lang="en-AU" dirty="0" smtClean="0">
                <a:sym typeface="Symbol"/>
              </a:rPr>
              <a:t></a:t>
            </a:r>
            <a:r>
              <a:rPr lang="en-AU" dirty="0" smtClean="0"/>
              <a:t> angle BC</a:t>
            </a:r>
            <a:r>
              <a:rPr lang="en-AU" baseline="-25000" dirty="0" smtClean="0"/>
              <a:t>1</a:t>
            </a:r>
            <a:r>
              <a:rPr lang="en-AU" dirty="0" smtClean="0"/>
              <a:t>A = 180 – </a:t>
            </a:r>
            <a:r>
              <a:rPr lang="en-AU" dirty="0" smtClean="0">
                <a:sym typeface="Symbol"/>
              </a:rPr>
              <a:t> (straight line)</a:t>
            </a:r>
            <a:endParaRPr lang="en-US" dirty="0"/>
          </a:p>
        </p:txBody>
      </p:sp>
      <p:sp>
        <p:nvSpPr>
          <p:cNvPr id="55" name="TextBox 54"/>
          <p:cNvSpPr txBox="1"/>
          <p:nvPr/>
        </p:nvSpPr>
        <p:spPr>
          <a:xfrm>
            <a:off x="3131840" y="4941168"/>
            <a:ext cx="1008112" cy="369332"/>
          </a:xfrm>
          <a:prstGeom prst="rect">
            <a:avLst/>
          </a:prstGeom>
          <a:noFill/>
        </p:spPr>
        <p:txBody>
          <a:bodyPr wrap="square" rtlCol="0">
            <a:spAutoFit/>
          </a:bodyPr>
          <a:lstStyle/>
          <a:p>
            <a:r>
              <a:rPr lang="en-US" b="1" dirty="0" smtClean="0">
                <a:solidFill>
                  <a:srgbClr val="0000FF"/>
                </a:solidFill>
                <a:sym typeface="Symbol"/>
              </a:rPr>
              <a:t>180 – </a:t>
            </a:r>
            <a:endParaRPr lang="en-US" b="1" dirty="0">
              <a:solidFill>
                <a:srgbClr val="0000FF"/>
              </a:solidFill>
            </a:endParaRPr>
          </a:p>
        </p:txBody>
      </p:sp>
      <p:sp>
        <p:nvSpPr>
          <p:cNvPr id="56" name="TextBox 55"/>
          <p:cNvSpPr txBox="1"/>
          <p:nvPr/>
        </p:nvSpPr>
        <p:spPr>
          <a:xfrm>
            <a:off x="395536" y="5805264"/>
            <a:ext cx="8352928" cy="923330"/>
          </a:xfrm>
          <a:prstGeom prst="rect">
            <a:avLst/>
          </a:prstGeom>
          <a:noFill/>
        </p:spPr>
        <p:txBody>
          <a:bodyPr wrap="square" rtlCol="0">
            <a:spAutoFit/>
          </a:bodyPr>
          <a:lstStyle/>
          <a:p>
            <a:r>
              <a:rPr lang="en-AU" dirty="0" smtClean="0"/>
              <a:t>Conclusion:  The (green) acute angle at C</a:t>
            </a:r>
            <a:r>
              <a:rPr lang="en-AU" baseline="-25000" dirty="0" smtClean="0"/>
              <a:t>2</a:t>
            </a:r>
            <a:r>
              <a:rPr lang="en-AU" dirty="0" smtClean="0"/>
              <a:t> and the (blue) obtuse angle at C</a:t>
            </a:r>
            <a:r>
              <a:rPr lang="en-AU" baseline="-25000" dirty="0" smtClean="0"/>
              <a:t>1</a:t>
            </a:r>
            <a:r>
              <a:rPr lang="en-AU" dirty="0" smtClean="0"/>
              <a:t> are supplementary.  Thus, for example if one solution is 73</a:t>
            </a:r>
            <a:r>
              <a:rPr lang="en-AU" dirty="0" smtClean="0">
                <a:sym typeface="Symbol"/>
              </a:rPr>
              <a:t> then the other solution is 180 – 73 = 107</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diamond(in)">
                                      <p:cBhvr>
                                        <p:cTn id="7" dur="20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amond(in)">
                                      <p:cBhvr>
                                        <p:cTn id="17" dur="20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diamond(in)">
                                      <p:cBhvr>
                                        <p:cTn id="22" dur="20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amond(in)">
                                      <p:cBhvr>
                                        <p:cTn id="32" dur="20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dissolv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diamond(in)">
                                      <p:cBhvr>
                                        <p:cTn id="42" dur="20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diamond(in)">
                                      <p:cBhvr>
                                        <p:cTn id="47" dur="2000"/>
                                        <p:tgtEl>
                                          <p:spTgt spid="60"/>
                                        </p:tgtEl>
                                      </p:cBhvr>
                                    </p:animEffect>
                                  </p:childTnLst>
                                </p:cTn>
                              </p:par>
                              <p:par>
                                <p:cTn id="48" presetID="8" presetClass="entr" presetSubtype="16" fill="hold" grpId="0" nodeType="with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diamond(in)">
                                      <p:cBhvr>
                                        <p:cTn id="50" dur="2000"/>
                                        <p:tgtEl>
                                          <p:spTgt spid="49"/>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dissolve">
                                      <p:cBhvr>
                                        <p:cTn id="53" dur="500"/>
                                        <p:tgtEl>
                                          <p:spTgt spid="47"/>
                                        </p:tgtEl>
                                      </p:cBhvr>
                                    </p:animEffect>
                                  </p:childTnLst>
                                </p:cTn>
                              </p:par>
                            </p:childTnLst>
                          </p:cTn>
                        </p:par>
                      </p:childTnLst>
                    </p:cTn>
                  </p:par>
                  <p:par>
                    <p:cTn id="54" fill="hold">
                      <p:stCondLst>
                        <p:cond delay="indefinite"/>
                      </p:stCondLst>
                      <p:childTnLst>
                        <p:par>
                          <p:cTn id="55" fill="hold">
                            <p:stCondLst>
                              <p:cond delay="0"/>
                            </p:stCondLst>
                            <p:childTnLst>
                              <p:par>
                                <p:cTn id="56" presetID="8" presetClass="entr" presetSubtype="16"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diamond(in)">
                                      <p:cBhvr>
                                        <p:cTn id="58" dur="2000"/>
                                        <p:tgtEl>
                                          <p:spTgt spid="50"/>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1"/>
                                        </p:tgtEl>
                                        <p:attrNameLst>
                                          <p:attrName>style.visibility</p:attrName>
                                        </p:attrNameLst>
                                      </p:cBhvr>
                                      <p:to>
                                        <p:strVal val="visible"/>
                                      </p:to>
                                    </p:set>
                                    <p:anim calcmode="lin" valueType="num">
                                      <p:cBhvr additive="base">
                                        <p:cTn id="63" dur="500" fill="hold"/>
                                        <p:tgtEl>
                                          <p:spTgt spid="51"/>
                                        </p:tgtEl>
                                        <p:attrNameLst>
                                          <p:attrName>ppt_x</p:attrName>
                                        </p:attrNameLst>
                                      </p:cBhvr>
                                      <p:tavLst>
                                        <p:tav tm="0">
                                          <p:val>
                                            <p:strVal val="#ppt_x"/>
                                          </p:val>
                                        </p:tav>
                                        <p:tav tm="100000">
                                          <p:val>
                                            <p:strVal val="#ppt_x"/>
                                          </p:val>
                                        </p:tav>
                                      </p:tavLst>
                                    </p:anim>
                                    <p:anim calcmode="lin" valueType="num">
                                      <p:cBhvr additive="base">
                                        <p:cTn id="6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8" presetClass="entr" presetSubtype="16" fill="hold" grpId="0" nodeType="click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diamond(in)">
                                      <p:cBhvr>
                                        <p:cTn id="69" dur="2000"/>
                                        <p:tgtEl>
                                          <p:spTgt spid="52"/>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grpId="0" nodeType="clickEffect">
                                  <p:stCondLst>
                                    <p:cond delay="0"/>
                                  </p:stCondLst>
                                  <p:childTnLst>
                                    <p:set>
                                      <p:cBhvr>
                                        <p:cTn id="73" dur="1" fill="hold">
                                          <p:stCondLst>
                                            <p:cond delay="0"/>
                                          </p:stCondLst>
                                        </p:cTn>
                                        <p:tgtEl>
                                          <p:spTgt spid="53"/>
                                        </p:tgtEl>
                                        <p:attrNameLst>
                                          <p:attrName>style.visibility</p:attrName>
                                        </p:attrNameLst>
                                      </p:cBhvr>
                                      <p:to>
                                        <p:strVal val="visible"/>
                                      </p:to>
                                    </p:set>
                                    <p:anim calcmode="lin" valueType="num">
                                      <p:cBhvr additive="base">
                                        <p:cTn id="74" dur="500" fill="hold"/>
                                        <p:tgtEl>
                                          <p:spTgt spid="53"/>
                                        </p:tgtEl>
                                        <p:attrNameLst>
                                          <p:attrName>ppt_x</p:attrName>
                                        </p:attrNameLst>
                                      </p:cBhvr>
                                      <p:tavLst>
                                        <p:tav tm="0">
                                          <p:val>
                                            <p:strVal val="#ppt_x"/>
                                          </p:val>
                                        </p:tav>
                                        <p:tav tm="100000">
                                          <p:val>
                                            <p:strVal val="#ppt_x"/>
                                          </p:val>
                                        </p:tav>
                                      </p:tavLst>
                                    </p:anim>
                                    <p:anim calcmode="lin" valueType="num">
                                      <p:cBhvr additive="base">
                                        <p:cTn id="75"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8" presetClass="entr" presetSubtype="16" fill="hold" grpId="0" nodeType="clickEffect">
                                  <p:stCondLst>
                                    <p:cond delay="0"/>
                                  </p:stCondLst>
                                  <p:childTnLst>
                                    <p:set>
                                      <p:cBhvr>
                                        <p:cTn id="79" dur="1" fill="hold">
                                          <p:stCondLst>
                                            <p:cond delay="0"/>
                                          </p:stCondLst>
                                        </p:cTn>
                                        <p:tgtEl>
                                          <p:spTgt spid="54"/>
                                        </p:tgtEl>
                                        <p:attrNameLst>
                                          <p:attrName>style.visibility</p:attrName>
                                        </p:attrNameLst>
                                      </p:cBhvr>
                                      <p:to>
                                        <p:strVal val="visible"/>
                                      </p:to>
                                    </p:set>
                                    <p:animEffect transition="in" filter="diamond(in)">
                                      <p:cBhvr>
                                        <p:cTn id="80" dur="2000"/>
                                        <p:tgtEl>
                                          <p:spTgt spid="54"/>
                                        </p:tgtEl>
                                      </p:cBhvr>
                                    </p:animEffec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55"/>
                                        </p:tgtEl>
                                        <p:attrNameLst>
                                          <p:attrName>style.visibility</p:attrName>
                                        </p:attrNameLst>
                                      </p:cBhvr>
                                      <p:to>
                                        <p:strVal val="visible"/>
                                      </p:to>
                                    </p:set>
                                    <p:anim calcmode="lin" valueType="num">
                                      <p:cBhvr additive="base">
                                        <p:cTn id="85" dur="500" fill="hold"/>
                                        <p:tgtEl>
                                          <p:spTgt spid="55"/>
                                        </p:tgtEl>
                                        <p:attrNameLst>
                                          <p:attrName>ppt_x</p:attrName>
                                        </p:attrNameLst>
                                      </p:cBhvr>
                                      <p:tavLst>
                                        <p:tav tm="0">
                                          <p:val>
                                            <p:strVal val="#ppt_x"/>
                                          </p:val>
                                        </p:tav>
                                        <p:tav tm="100000">
                                          <p:val>
                                            <p:strVal val="#ppt_x"/>
                                          </p:val>
                                        </p:tav>
                                      </p:tavLst>
                                    </p:anim>
                                    <p:anim calcmode="lin" valueType="num">
                                      <p:cBhvr additive="base">
                                        <p:cTn id="86"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8" presetClass="entr" presetSubtype="16" fill="hold" grpId="0" nodeType="clickEffect">
                                  <p:stCondLst>
                                    <p:cond delay="0"/>
                                  </p:stCondLst>
                                  <p:childTnLst>
                                    <p:set>
                                      <p:cBhvr>
                                        <p:cTn id="90" dur="1" fill="hold">
                                          <p:stCondLst>
                                            <p:cond delay="0"/>
                                          </p:stCondLst>
                                        </p:cTn>
                                        <p:tgtEl>
                                          <p:spTgt spid="56"/>
                                        </p:tgtEl>
                                        <p:attrNameLst>
                                          <p:attrName>style.visibility</p:attrName>
                                        </p:attrNameLst>
                                      </p:cBhvr>
                                      <p:to>
                                        <p:strVal val="visible"/>
                                      </p:to>
                                    </p:set>
                                    <p:animEffect transition="in" filter="diamond(in)">
                                      <p:cBhvr>
                                        <p:cTn id="91" dur="2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9" grpId="0" animBg="1"/>
      <p:bldP spid="31" grpId="0"/>
      <p:bldP spid="41" grpId="0"/>
      <p:bldP spid="47" grpId="0"/>
      <p:bldP spid="49" grpId="0"/>
      <p:bldP spid="50" grpId="0"/>
      <p:bldP spid="51" grpId="0"/>
      <p:bldP spid="52" grpId="0"/>
      <p:bldP spid="53" grpId="0"/>
      <p:bldP spid="54" grpId="0"/>
      <p:bldP spid="55" grpId="0"/>
      <p:bldP spid="5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476672"/>
            <a:ext cx="6984776" cy="523220"/>
          </a:xfrm>
          <a:prstGeom prst="rect">
            <a:avLst/>
          </a:prstGeom>
          <a:noFill/>
        </p:spPr>
        <p:txBody>
          <a:bodyPr wrap="square" rtlCol="0">
            <a:spAutoFit/>
          </a:bodyPr>
          <a:lstStyle/>
          <a:p>
            <a:r>
              <a:rPr lang="en-AU" sz="2800" dirty="0" smtClean="0">
                <a:solidFill>
                  <a:srgbClr val="006600"/>
                </a:solidFill>
              </a:rPr>
              <a:t>Back to the question!</a:t>
            </a:r>
            <a:endParaRPr lang="en-US" sz="2800" dirty="0">
              <a:solidFill>
                <a:srgbClr val="006600"/>
              </a:solidFill>
            </a:endParaRPr>
          </a:p>
        </p:txBody>
      </p:sp>
      <p:sp>
        <p:nvSpPr>
          <p:cNvPr id="13" name="TextBox 12"/>
          <p:cNvSpPr txBox="1"/>
          <p:nvPr/>
        </p:nvSpPr>
        <p:spPr>
          <a:xfrm>
            <a:off x="467544" y="1052736"/>
            <a:ext cx="6408712" cy="646331"/>
          </a:xfrm>
          <a:prstGeom prst="rect">
            <a:avLst/>
          </a:prstGeom>
          <a:noFill/>
        </p:spPr>
        <p:txBody>
          <a:bodyPr wrap="square" rtlCol="0">
            <a:spAutoFit/>
          </a:bodyPr>
          <a:lstStyle/>
          <a:p>
            <a:r>
              <a:rPr lang="en-AU" dirty="0" smtClean="0"/>
              <a:t>Draw the triangle with the acute, rather than the obtuse, angle at C.</a:t>
            </a:r>
            <a:endParaRPr lang="en-US" dirty="0"/>
          </a:p>
        </p:txBody>
      </p:sp>
      <p:sp>
        <p:nvSpPr>
          <p:cNvPr id="27" name="TextBox 26"/>
          <p:cNvSpPr txBox="1"/>
          <p:nvPr/>
        </p:nvSpPr>
        <p:spPr>
          <a:xfrm>
            <a:off x="539552" y="3645024"/>
            <a:ext cx="5760640" cy="369332"/>
          </a:xfrm>
          <a:prstGeom prst="rect">
            <a:avLst/>
          </a:prstGeom>
          <a:noFill/>
        </p:spPr>
        <p:txBody>
          <a:bodyPr wrap="square" rtlCol="0">
            <a:spAutoFit/>
          </a:bodyPr>
          <a:lstStyle/>
          <a:p>
            <a:r>
              <a:rPr lang="en-AU" dirty="0" smtClean="0"/>
              <a:t>Applying the Sine Rule, </a:t>
            </a:r>
            <a:endParaRPr lang="en-US" dirty="0"/>
          </a:p>
        </p:txBody>
      </p:sp>
      <p:graphicFrame>
        <p:nvGraphicFramePr>
          <p:cNvPr id="10242" name="Object 2"/>
          <p:cNvGraphicFramePr>
            <a:graphicFrameLocks noChangeAspect="1"/>
          </p:cNvGraphicFramePr>
          <p:nvPr/>
        </p:nvGraphicFramePr>
        <p:xfrm>
          <a:off x="1475656" y="4077072"/>
          <a:ext cx="1952625" cy="766763"/>
        </p:xfrm>
        <a:graphic>
          <a:graphicData uri="http://schemas.openxmlformats.org/presentationml/2006/ole">
            <p:oleObj spid="_x0000_s10242" name="Equation" r:id="rId3" imgW="1002960" imgH="393480" progId="Equation.3">
              <p:embed/>
            </p:oleObj>
          </a:graphicData>
        </a:graphic>
      </p:graphicFrame>
      <p:grpSp>
        <p:nvGrpSpPr>
          <p:cNvPr id="33" name="Group 32"/>
          <p:cNvGrpSpPr/>
          <p:nvPr/>
        </p:nvGrpSpPr>
        <p:grpSpPr>
          <a:xfrm>
            <a:off x="4283968" y="1628800"/>
            <a:ext cx="3168352" cy="1944216"/>
            <a:chOff x="4283968" y="1628800"/>
            <a:chExt cx="3168352" cy="1944216"/>
          </a:xfrm>
        </p:grpSpPr>
        <p:grpSp>
          <p:nvGrpSpPr>
            <p:cNvPr id="14" name="Group 13"/>
            <p:cNvGrpSpPr/>
            <p:nvPr/>
          </p:nvGrpSpPr>
          <p:grpSpPr>
            <a:xfrm>
              <a:off x="4283968" y="1628800"/>
              <a:ext cx="3168352" cy="1944216"/>
              <a:chOff x="4283968" y="764704"/>
              <a:chExt cx="3168352" cy="1944216"/>
            </a:xfrm>
          </p:grpSpPr>
          <p:cxnSp>
            <p:nvCxnSpPr>
              <p:cNvPr id="15" name="Straight Connector 14"/>
              <p:cNvCxnSpPr/>
              <p:nvPr/>
            </p:nvCxnSpPr>
            <p:spPr>
              <a:xfrm flipV="1">
                <a:off x="6225569" y="2296957"/>
                <a:ext cx="735887" cy="33914"/>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grpSp>
            <p:nvGrpSpPr>
              <p:cNvPr id="16" name="Group 56"/>
              <p:cNvGrpSpPr/>
              <p:nvPr/>
            </p:nvGrpSpPr>
            <p:grpSpPr>
              <a:xfrm>
                <a:off x="4283968" y="764704"/>
                <a:ext cx="3168352" cy="1944216"/>
                <a:chOff x="4283968" y="764704"/>
                <a:chExt cx="3168352" cy="1944216"/>
              </a:xfrm>
            </p:grpSpPr>
            <p:cxnSp>
              <p:nvCxnSpPr>
                <p:cNvPr id="17" name="Straight Connector 16"/>
                <p:cNvCxnSpPr/>
                <p:nvPr/>
              </p:nvCxnSpPr>
              <p:spPr>
                <a:xfrm flipV="1">
                  <a:off x="4499992" y="1052736"/>
                  <a:ext cx="2016224" cy="1368152"/>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444208" y="764704"/>
                  <a:ext cx="432048" cy="369332"/>
                </a:xfrm>
                <a:prstGeom prst="rect">
                  <a:avLst/>
                </a:prstGeom>
                <a:noFill/>
              </p:spPr>
              <p:txBody>
                <a:bodyPr wrap="square" rtlCol="0">
                  <a:spAutoFit/>
                </a:bodyPr>
                <a:lstStyle/>
                <a:p>
                  <a:r>
                    <a:rPr lang="en-AU" dirty="0"/>
                    <a:t>B</a:t>
                  </a:r>
                  <a:endParaRPr lang="en-US" dirty="0"/>
                </a:p>
              </p:txBody>
            </p:sp>
            <p:sp>
              <p:nvSpPr>
                <p:cNvPr id="19" name="TextBox 18"/>
                <p:cNvSpPr txBox="1"/>
                <p:nvPr/>
              </p:nvSpPr>
              <p:spPr>
                <a:xfrm>
                  <a:off x="5220072" y="1340768"/>
                  <a:ext cx="576064" cy="369332"/>
                </a:xfrm>
                <a:prstGeom prst="rect">
                  <a:avLst/>
                </a:prstGeom>
                <a:noFill/>
              </p:spPr>
              <p:txBody>
                <a:bodyPr wrap="square" rtlCol="0">
                  <a:spAutoFit/>
                </a:bodyPr>
                <a:lstStyle/>
                <a:p>
                  <a:r>
                    <a:rPr lang="en-AU" dirty="0" smtClean="0"/>
                    <a:t>14</a:t>
                  </a:r>
                  <a:r>
                    <a:rPr lang="en-AU" i="1" dirty="0" smtClean="0"/>
                    <a:t>m</a:t>
                  </a:r>
                  <a:endParaRPr lang="en-US" dirty="0"/>
                </a:p>
              </p:txBody>
            </p:sp>
            <p:cxnSp>
              <p:nvCxnSpPr>
                <p:cNvPr id="20" name="Straight Connector 19"/>
                <p:cNvCxnSpPr/>
                <p:nvPr/>
              </p:nvCxnSpPr>
              <p:spPr>
                <a:xfrm flipV="1">
                  <a:off x="4534422" y="2336354"/>
                  <a:ext cx="1693762" cy="72008"/>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788024" y="2060848"/>
                  <a:ext cx="792088" cy="369332"/>
                </a:xfrm>
                <a:prstGeom prst="rect">
                  <a:avLst/>
                </a:prstGeom>
                <a:noFill/>
              </p:spPr>
              <p:txBody>
                <a:bodyPr wrap="square" rtlCol="0">
                  <a:spAutoFit/>
                </a:bodyPr>
                <a:lstStyle/>
                <a:p>
                  <a:r>
                    <a:rPr lang="en-AU" dirty="0" smtClean="0"/>
                    <a:t>32</a:t>
                  </a:r>
                  <a:r>
                    <a:rPr lang="en-AU" dirty="0" smtClean="0">
                      <a:sym typeface="Symbol"/>
                    </a:rPr>
                    <a:t></a:t>
                  </a:r>
                  <a:endParaRPr lang="en-US" dirty="0"/>
                </a:p>
              </p:txBody>
            </p:sp>
            <p:sp>
              <p:nvSpPr>
                <p:cNvPr id="23" name="TextBox 22"/>
                <p:cNvSpPr txBox="1"/>
                <p:nvPr/>
              </p:nvSpPr>
              <p:spPr>
                <a:xfrm>
                  <a:off x="7020272" y="2204864"/>
                  <a:ext cx="432048" cy="369332"/>
                </a:xfrm>
                <a:prstGeom prst="rect">
                  <a:avLst/>
                </a:prstGeom>
                <a:noFill/>
              </p:spPr>
              <p:txBody>
                <a:bodyPr wrap="square" rtlCol="0">
                  <a:spAutoFit/>
                </a:bodyPr>
                <a:lstStyle/>
                <a:p>
                  <a:r>
                    <a:rPr lang="en-AU" dirty="0" smtClean="0"/>
                    <a:t>C</a:t>
                  </a:r>
                  <a:r>
                    <a:rPr lang="en-AU" baseline="-25000" dirty="0"/>
                    <a:t>2</a:t>
                  </a:r>
                  <a:endParaRPr lang="en-US" dirty="0"/>
                </a:p>
              </p:txBody>
            </p:sp>
            <p:cxnSp>
              <p:nvCxnSpPr>
                <p:cNvPr id="24" name="Straight Connector 23"/>
                <p:cNvCxnSpPr/>
                <p:nvPr/>
              </p:nvCxnSpPr>
              <p:spPr>
                <a:xfrm>
                  <a:off x="6526127" y="1033631"/>
                  <a:ext cx="432048" cy="1296144"/>
                </a:xfrm>
                <a:prstGeom prst="line">
                  <a:avLst/>
                </a:prstGeom>
                <a:ln w="25400">
                  <a:solidFill>
                    <a:srgbClr val="0066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695195" y="1503257"/>
                  <a:ext cx="576064" cy="369332"/>
                </a:xfrm>
                <a:prstGeom prst="rect">
                  <a:avLst/>
                </a:prstGeom>
                <a:noFill/>
              </p:spPr>
              <p:txBody>
                <a:bodyPr wrap="square" rtlCol="0">
                  <a:spAutoFit/>
                </a:bodyPr>
                <a:lstStyle/>
                <a:p>
                  <a:r>
                    <a:rPr lang="en-AU" dirty="0" smtClean="0"/>
                    <a:t>10</a:t>
                  </a:r>
                  <a:r>
                    <a:rPr lang="en-AU" i="1" dirty="0" smtClean="0"/>
                    <a:t>m</a:t>
                  </a:r>
                  <a:endParaRPr lang="en-US" dirty="0"/>
                </a:p>
              </p:txBody>
            </p:sp>
            <p:sp>
              <p:nvSpPr>
                <p:cNvPr id="26" name="TextBox 25"/>
                <p:cNvSpPr txBox="1"/>
                <p:nvPr/>
              </p:nvSpPr>
              <p:spPr>
                <a:xfrm>
                  <a:off x="4283968" y="2339588"/>
                  <a:ext cx="432048" cy="369332"/>
                </a:xfrm>
                <a:prstGeom prst="rect">
                  <a:avLst/>
                </a:prstGeom>
                <a:noFill/>
              </p:spPr>
              <p:txBody>
                <a:bodyPr wrap="square" rtlCol="0">
                  <a:spAutoFit/>
                </a:bodyPr>
                <a:lstStyle/>
                <a:p>
                  <a:r>
                    <a:rPr lang="en-AU" dirty="0" smtClean="0"/>
                    <a:t>A</a:t>
                  </a:r>
                  <a:endParaRPr lang="en-US" dirty="0"/>
                </a:p>
              </p:txBody>
            </p:sp>
          </p:grpSp>
        </p:grpSp>
        <p:sp>
          <p:nvSpPr>
            <p:cNvPr id="29" name="TextBox 28"/>
            <p:cNvSpPr txBox="1"/>
            <p:nvPr/>
          </p:nvSpPr>
          <p:spPr>
            <a:xfrm>
              <a:off x="6516216" y="2780928"/>
              <a:ext cx="792088" cy="369332"/>
            </a:xfrm>
            <a:prstGeom prst="rect">
              <a:avLst/>
            </a:prstGeom>
            <a:noFill/>
          </p:spPr>
          <p:txBody>
            <a:bodyPr wrap="square" rtlCol="0">
              <a:spAutoFit/>
            </a:bodyPr>
            <a:lstStyle/>
            <a:p>
              <a:r>
                <a:rPr lang="en-AU" dirty="0">
                  <a:sym typeface="Symbol"/>
                </a:rPr>
                <a:t></a:t>
              </a:r>
              <a:r>
                <a:rPr lang="en-AU" dirty="0" smtClean="0">
                  <a:sym typeface="Symbol"/>
                </a:rPr>
                <a:t></a:t>
              </a:r>
              <a:endParaRPr lang="en-US" dirty="0"/>
            </a:p>
          </p:txBody>
        </p:sp>
      </p:grpSp>
      <p:graphicFrame>
        <p:nvGraphicFramePr>
          <p:cNvPr id="10243" name="Object 3"/>
          <p:cNvGraphicFramePr>
            <a:graphicFrameLocks noChangeAspect="1"/>
          </p:cNvGraphicFramePr>
          <p:nvPr/>
        </p:nvGraphicFramePr>
        <p:xfrm>
          <a:off x="1803475" y="4822825"/>
          <a:ext cx="1976437" cy="766763"/>
        </p:xfrm>
        <a:graphic>
          <a:graphicData uri="http://schemas.openxmlformats.org/presentationml/2006/ole">
            <p:oleObj spid="_x0000_s10243" name="Equation" r:id="rId4" imgW="1015920" imgH="393480" progId="Equation.3">
              <p:embed/>
            </p:oleObj>
          </a:graphicData>
        </a:graphic>
      </p:graphicFrame>
      <p:graphicFrame>
        <p:nvGraphicFramePr>
          <p:cNvPr id="10244" name="Object 4"/>
          <p:cNvGraphicFramePr>
            <a:graphicFrameLocks noChangeAspect="1"/>
          </p:cNvGraphicFramePr>
          <p:nvPr/>
        </p:nvGraphicFramePr>
        <p:xfrm>
          <a:off x="2230438" y="5751513"/>
          <a:ext cx="1185862" cy="346075"/>
        </p:xfrm>
        <a:graphic>
          <a:graphicData uri="http://schemas.openxmlformats.org/presentationml/2006/ole">
            <p:oleObj spid="_x0000_s10244" name="Equation" r:id="rId5" imgW="609480" imgH="177480" progId="Equation.3">
              <p:embed/>
            </p:oleObj>
          </a:graphicData>
        </a:graphic>
      </p:graphicFrame>
      <p:sp>
        <p:nvSpPr>
          <p:cNvPr id="32" name="TextBox 31"/>
          <p:cNvSpPr txBox="1"/>
          <p:nvPr/>
        </p:nvSpPr>
        <p:spPr>
          <a:xfrm>
            <a:off x="4283968" y="4293096"/>
            <a:ext cx="4608512" cy="1323439"/>
          </a:xfrm>
          <a:prstGeom prst="rect">
            <a:avLst/>
          </a:prstGeom>
          <a:noFill/>
        </p:spPr>
        <p:txBody>
          <a:bodyPr wrap="square" rtlCol="0">
            <a:spAutoFit/>
          </a:bodyPr>
          <a:lstStyle/>
          <a:p>
            <a:r>
              <a:rPr lang="en-AU" sz="2000" dirty="0" smtClean="0">
                <a:solidFill>
                  <a:srgbClr val="0000FF"/>
                </a:solidFill>
              </a:rPr>
              <a:t>One solution (the acute angle which is the only one given by the calculator) is therefore </a:t>
            </a:r>
            <a:r>
              <a:rPr lang="en-AU" sz="2000" b="1" dirty="0" smtClean="0">
                <a:solidFill>
                  <a:srgbClr val="0000FF"/>
                </a:solidFill>
              </a:rPr>
              <a:t>47.9</a:t>
            </a:r>
            <a:r>
              <a:rPr lang="en-AU" sz="2000" b="1" dirty="0" smtClean="0">
                <a:solidFill>
                  <a:srgbClr val="0000FF"/>
                </a:solidFill>
                <a:sym typeface="Symbol"/>
              </a:rPr>
              <a:t> </a:t>
            </a:r>
            <a:r>
              <a:rPr lang="en-AU" sz="2000" dirty="0" smtClean="0">
                <a:solidFill>
                  <a:srgbClr val="0000FF"/>
                </a:solidFill>
                <a:sym typeface="Symbol"/>
              </a:rPr>
              <a:t>and the second solution (the obtuse angle) is 180 – 47.9 = </a:t>
            </a:r>
            <a:r>
              <a:rPr lang="en-AU" sz="2000" b="1" dirty="0" smtClean="0">
                <a:solidFill>
                  <a:srgbClr val="0000FF"/>
                </a:solidFill>
                <a:sym typeface="Symbol"/>
              </a:rPr>
              <a:t>132.1</a:t>
            </a:r>
            <a:endParaRPr lang="en-US" sz="2000" b="1" dirty="0">
              <a:solidFill>
                <a:srgbClr val="0000FF"/>
              </a:solidFill>
            </a:endParaRPr>
          </a:p>
        </p:txBody>
      </p:sp>
      <p:sp>
        <p:nvSpPr>
          <p:cNvPr id="28" name="TextBox 27"/>
          <p:cNvSpPr txBox="1"/>
          <p:nvPr/>
        </p:nvSpPr>
        <p:spPr>
          <a:xfrm>
            <a:off x="3995936" y="5805264"/>
            <a:ext cx="4824536" cy="646331"/>
          </a:xfrm>
          <a:prstGeom prst="rect">
            <a:avLst/>
          </a:prstGeom>
          <a:noFill/>
        </p:spPr>
        <p:txBody>
          <a:bodyPr wrap="square" rtlCol="0">
            <a:spAutoFit/>
          </a:bodyPr>
          <a:lstStyle/>
          <a:p>
            <a:r>
              <a:rPr lang="en-AU" sz="3600" dirty="0" err="1" smtClean="0">
                <a:solidFill>
                  <a:srgbClr val="FF0000"/>
                </a:solidFill>
              </a:rPr>
              <a:t>Ans</a:t>
            </a:r>
            <a:r>
              <a:rPr lang="en-AU" sz="3600" dirty="0" smtClean="0">
                <a:solidFill>
                  <a:srgbClr val="FF0000"/>
                </a:solidFill>
              </a:rPr>
              <a:t>: </a:t>
            </a:r>
            <a:r>
              <a:rPr lang="en-AU" sz="3600" dirty="0" smtClean="0">
                <a:solidFill>
                  <a:srgbClr val="FF0000"/>
                </a:solidFill>
                <a:sym typeface="Symbol"/>
              </a:rPr>
              <a:t> = 47.9 or 132.1</a:t>
            </a:r>
            <a:endParaRPr lang="en-US" sz="36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in)">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amond(in)">
                                      <p:cBhvr>
                                        <p:cTn id="12" dur="20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amond(in)">
                                      <p:cBhvr>
                                        <p:cTn id="17" dur="20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10242"/>
                                        </p:tgtEl>
                                        <p:attrNameLst>
                                          <p:attrName>style.visibility</p:attrName>
                                        </p:attrNameLst>
                                      </p:cBhvr>
                                      <p:to>
                                        <p:strVal val="visible"/>
                                      </p:to>
                                    </p:set>
                                    <p:animEffect transition="in" filter="diamond(in)">
                                      <p:cBhvr>
                                        <p:cTn id="22" dur="2000"/>
                                        <p:tgtEl>
                                          <p:spTgt spid="10242"/>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0243"/>
                                        </p:tgtEl>
                                        <p:attrNameLst>
                                          <p:attrName>style.visibility</p:attrName>
                                        </p:attrNameLst>
                                      </p:cBhvr>
                                      <p:to>
                                        <p:strVal val="visible"/>
                                      </p:to>
                                    </p:set>
                                    <p:animEffect transition="in" filter="diamond(in)">
                                      <p:cBhvr>
                                        <p:cTn id="27" dur="2000"/>
                                        <p:tgtEl>
                                          <p:spTgt spid="10243"/>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10244"/>
                                        </p:tgtEl>
                                        <p:attrNameLst>
                                          <p:attrName>style.visibility</p:attrName>
                                        </p:attrNameLst>
                                      </p:cBhvr>
                                      <p:to>
                                        <p:strVal val="visible"/>
                                      </p:to>
                                    </p:set>
                                    <p:animEffect transition="in" filter="diamond(in)">
                                      <p:cBhvr>
                                        <p:cTn id="32" dur="2000"/>
                                        <p:tgtEl>
                                          <p:spTgt spid="10244"/>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diamond(in)">
                                      <p:cBhvr>
                                        <p:cTn id="37" dur="20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35"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2000"/>
                                        <p:tgtEl>
                                          <p:spTgt spid="28"/>
                                        </p:tgtEl>
                                      </p:cBhvr>
                                    </p:animEffect>
                                    <p:anim calcmode="lin" valueType="num">
                                      <p:cBhvr>
                                        <p:cTn id="43" dur="2000" fill="hold"/>
                                        <p:tgtEl>
                                          <p:spTgt spid="28"/>
                                        </p:tgtEl>
                                        <p:attrNameLst>
                                          <p:attrName>style.rotation</p:attrName>
                                        </p:attrNameLst>
                                      </p:cBhvr>
                                      <p:tavLst>
                                        <p:tav tm="0">
                                          <p:val>
                                            <p:fltVal val="720"/>
                                          </p:val>
                                        </p:tav>
                                        <p:tav tm="100000">
                                          <p:val>
                                            <p:fltVal val="0"/>
                                          </p:val>
                                        </p:tav>
                                      </p:tavLst>
                                    </p:anim>
                                    <p:anim calcmode="lin" valueType="num">
                                      <p:cBhvr>
                                        <p:cTn id="44" dur="2000" fill="hold"/>
                                        <p:tgtEl>
                                          <p:spTgt spid="28"/>
                                        </p:tgtEl>
                                        <p:attrNameLst>
                                          <p:attrName>ppt_h</p:attrName>
                                        </p:attrNameLst>
                                      </p:cBhvr>
                                      <p:tavLst>
                                        <p:tav tm="0">
                                          <p:val>
                                            <p:fltVal val="0"/>
                                          </p:val>
                                        </p:tav>
                                        <p:tav tm="100000">
                                          <p:val>
                                            <p:strVal val="#ppt_h"/>
                                          </p:val>
                                        </p:tav>
                                      </p:tavLst>
                                    </p:anim>
                                    <p:anim calcmode="lin" valueType="num">
                                      <p:cBhvr>
                                        <p:cTn id="45" dur="2000" fill="hold"/>
                                        <p:tgtEl>
                                          <p:spTgt spid="28"/>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7" grpId="0"/>
      <p:bldP spid="32"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53" y="692696"/>
            <a:ext cx="9217653" cy="923330"/>
          </a:xfrm>
          <a:prstGeom prst="rect">
            <a:avLst/>
          </a:prstGeom>
          <a:noFill/>
        </p:spPr>
        <p:txBody>
          <a:bodyPr wrap="none" lIns="91440" tIns="45720" rIns="91440" bIns="45720">
            <a:spAutoFit/>
          </a:bodyPr>
          <a:lstStyle/>
          <a:p>
            <a:pPr algn="ctr"/>
            <a:r>
              <a:rPr lang="en-US" sz="54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The Sine Rule - Summary</a:t>
            </a:r>
            <a:endParaRPr lang="en-US" sz="5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3" name="TextBox 2"/>
          <p:cNvSpPr txBox="1"/>
          <p:nvPr/>
        </p:nvSpPr>
        <p:spPr>
          <a:xfrm>
            <a:off x="395536" y="1484784"/>
            <a:ext cx="8208912" cy="369332"/>
          </a:xfrm>
          <a:prstGeom prst="rect">
            <a:avLst/>
          </a:prstGeom>
          <a:noFill/>
        </p:spPr>
        <p:txBody>
          <a:bodyPr wrap="square" rtlCol="0">
            <a:spAutoFit/>
          </a:bodyPr>
          <a:lstStyle/>
          <a:p>
            <a:pPr>
              <a:buFont typeface="Arial" pitchFamily="34" charset="0"/>
              <a:buChar char="•"/>
            </a:pPr>
            <a:r>
              <a:rPr lang="en-AU" dirty="0" smtClean="0"/>
              <a:t>  The Sine Rule can be used to find unknown sides or angles in triangles.</a:t>
            </a:r>
            <a:endParaRPr lang="en-US" dirty="0"/>
          </a:p>
        </p:txBody>
      </p:sp>
      <p:sp>
        <p:nvSpPr>
          <p:cNvPr id="4" name="TextBox 3"/>
          <p:cNvSpPr txBox="1"/>
          <p:nvPr/>
        </p:nvSpPr>
        <p:spPr>
          <a:xfrm>
            <a:off x="395536" y="1907540"/>
            <a:ext cx="8208912" cy="369332"/>
          </a:xfrm>
          <a:prstGeom prst="rect">
            <a:avLst/>
          </a:prstGeom>
          <a:noFill/>
        </p:spPr>
        <p:txBody>
          <a:bodyPr wrap="square" rtlCol="0">
            <a:spAutoFit/>
          </a:bodyPr>
          <a:lstStyle/>
          <a:p>
            <a:pPr>
              <a:buFont typeface="Arial" pitchFamily="34" charset="0"/>
              <a:buChar char="•"/>
            </a:pPr>
            <a:r>
              <a:rPr lang="en-AU" dirty="0" smtClean="0"/>
              <a:t>  The Sine Rule formula is </a:t>
            </a:r>
            <a:endParaRPr lang="en-US" dirty="0"/>
          </a:p>
        </p:txBody>
      </p:sp>
      <p:graphicFrame>
        <p:nvGraphicFramePr>
          <p:cNvPr id="11266" name="Object 2"/>
          <p:cNvGraphicFramePr>
            <a:graphicFrameLocks noChangeAspect="1"/>
          </p:cNvGraphicFramePr>
          <p:nvPr/>
        </p:nvGraphicFramePr>
        <p:xfrm>
          <a:off x="3131840" y="1772816"/>
          <a:ext cx="1800870" cy="526497"/>
        </p:xfrm>
        <a:graphic>
          <a:graphicData uri="http://schemas.openxmlformats.org/presentationml/2006/ole">
            <p:oleObj spid="_x0000_s11266" name="Equation" r:id="rId3" imgW="1346040" imgH="393480" progId="Equation.3">
              <p:embed/>
            </p:oleObj>
          </a:graphicData>
        </a:graphic>
      </p:graphicFrame>
      <p:sp>
        <p:nvSpPr>
          <p:cNvPr id="6" name="TextBox 5"/>
          <p:cNvSpPr txBox="1"/>
          <p:nvPr/>
        </p:nvSpPr>
        <p:spPr>
          <a:xfrm>
            <a:off x="395536" y="2420888"/>
            <a:ext cx="7920880" cy="369332"/>
          </a:xfrm>
          <a:prstGeom prst="rect">
            <a:avLst/>
          </a:prstGeom>
          <a:noFill/>
        </p:spPr>
        <p:txBody>
          <a:bodyPr wrap="square" rtlCol="0">
            <a:spAutoFit/>
          </a:bodyPr>
          <a:lstStyle/>
          <a:p>
            <a:pPr>
              <a:buFont typeface="Arial" pitchFamily="34" charset="0"/>
              <a:buChar char="•"/>
            </a:pPr>
            <a:r>
              <a:rPr lang="en-AU" dirty="0" smtClean="0"/>
              <a:t>  To use the Sine Rule, you must have</a:t>
            </a:r>
            <a:endParaRPr lang="en-US" dirty="0"/>
          </a:p>
        </p:txBody>
      </p:sp>
      <p:sp>
        <p:nvSpPr>
          <p:cNvPr id="7" name="TextBox 6"/>
          <p:cNvSpPr txBox="1"/>
          <p:nvPr/>
        </p:nvSpPr>
        <p:spPr>
          <a:xfrm>
            <a:off x="1547664" y="2924944"/>
            <a:ext cx="6408712" cy="923330"/>
          </a:xfrm>
          <a:prstGeom prst="rect">
            <a:avLst/>
          </a:prstGeom>
          <a:noFill/>
        </p:spPr>
        <p:txBody>
          <a:bodyPr wrap="square" rtlCol="0">
            <a:spAutoFit/>
          </a:bodyPr>
          <a:lstStyle/>
          <a:p>
            <a:pPr>
              <a:buFont typeface="Wingdings" pitchFamily="2" charset="2"/>
              <a:buChar char="q"/>
            </a:pPr>
            <a:r>
              <a:rPr lang="en-AU" dirty="0" smtClean="0"/>
              <a:t>  A matching angle and opposite side pair (two givens)</a:t>
            </a:r>
          </a:p>
          <a:p>
            <a:pPr>
              <a:buFont typeface="Wingdings" pitchFamily="2" charset="2"/>
              <a:buChar char="q"/>
            </a:pPr>
            <a:r>
              <a:rPr lang="en-AU" dirty="0"/>
              <a:t> </a:t>
            </a:r>
            <a:r>
              <a:rPr lang="en-AU" dirty="0" smtClean="0"/>
              <a:t> A third given and an unknown, which also make an angle and opposite side pair </a:t>
            </a:r>
            <a:endParaRPr lang="en-US" dirty="0"/>
          </a:p>
        </p:txBody>
      </p:sp>
      <p:sp>
        <p:nvSpPr>
          <p:cNvPr id="8" name="TextBox 7"/>
          <p:cNvSpPr txBox="1"/>
          <p:nvPr/>
        </p:nvSpPr>
        <p:spPr>
          <a:xfrm>
            <a:off x="395536" y="5097958"/>
            <a:ext cx="7920880" cy="923330"/>
          </a:xfrm>
          <a:prstGeom prst="rect">
            <a:avLst/>
          </a:prstGeom>
          <a:noFill/>
        </p:spPr>
        <p:txBody>
          <a:bodyPr wrap="square" rtlCol="0">
            <a:spAutoFit/>
          </a:bodyPr>
          <a:lstStyle/>
          <a:p>
            <a:pPr>
              <a:buFont typeface="Arial" pitchFamily="34" charset="0"/>
              <a:buChar char="•"/>
            </a:pPr>
            <a:r>
              <a:rPr lang="en-AU" dirty="0" smtClean="0"/>
              <a:t>  When confronted with a problem where you have to decide whether to use the Sine Rule or the Cosine Rule, always try for the Sine Rule first, as it is easier. We will have this discussion later!</a:t>
            </a:r>
            <a:endParaRPr lang="en-US" dirty="0"/>
          </a:p>
        </p:txBody>
      </p:sp>
      <p:sp>
        <p:nvSpPr>
          <p:cNvPr id="9" name="TextBox 8"/>
          <p:cNvSpPr txBox="1"/>
          <p:nvPr/>
        </p:nvSpPr>
        <p:spPr>
          <a:xfrm>
            <a:off x="395536" y="4005064"/>
            <a:ext cx="7920880" cy="923330"/>
          </a:xfrm>
          <a:prstGeom prst="rect">
            <a:avLst/>
          </a:prstGeom>
          <a:noFill/>
        </p:spPr>
        <p:txBody>
          <a:bodyPr wrap="square" rtlCol="0">
            <a:spAutoFit/>
          </a:bodyPr>
          <a:lstStyle/>
          <a:p>
            <a:pPr>
              <a:buFont typeface="Arial" pitchFamily="34" charset="0"/>
              <a:buChar char="•"/>
            </a:pPr>
            <a:r>
              <a:rPr lang="en-AU" dirty="0" smtClean="0"/>
              <a:t>  When asked to find the size of an </a:t>
            </a:r>
            <a:r>
              <a:rPr lang="en-AU" b="1" dirty="0" smtClean="0"/>
              <a:t>ANGLE, </a:t>
            </a:r>
            <a:r>
              <a:rPr lang="en-AU" dirty="0" smtClean="0"/>
              <a:t>first check whether the problem could involve the ambiguous case (see Example 5). In that case, the two answers are </a:t>
            </a:r>
            <a:r>
              <a:rPr lang="en-AU" b="1" dirty="0" smtClean="0"/>
              <a:t>supplementary </a:t>
            </a:r>
            <a:r>
              <a:rPr lang="en-AU" dirty="0" smtClean="0"/>
              <a:t>– i.e. add to 180</a:t>
            </a:r>
            <a:r>
              <a:rPr lang="en-AU" dirty="0" smtClean="0">
                <a:sym typeface="Symbol"/>
              </a:rPr>
              <a:t></a:t>
            </a:r>
            <a:endParaRPr lang="en-US" dirty="0"/>
          </a:p>
        </p:txBody>
      </p:sp>
      <p:sp>
        <p:nvSpPr>
          <p:cNvPr id="10" name="TextBox 9"/>
          <p:cNvSpPr txBox="1"/>
          <p:nvPr/>
        </p:nvSpPr>
        <p:spPr>
          <a:xfrm>
            <a:off x="395536" y="6084004"/>
            <a:ext cx="7920880" cy="646331"/>
          </a:xfrm>
          <a:prstGeom prst="rect">
            <a:avLst/>
          </a:prstGeom>
          <a:noFill/>
        </p:spPr>
        <p:txBody>
          <a:bodyPr wrap="square" rtlCol="0">
            <a:spAutoFit/>
          </a:bodyPr>
          <a:lstStyle/>
          <a:p>
            <a:pPr>
              <a:buFont typeface="Arial" pitchFamily="34" charset="0"/>
              <a:buChar char="•"/>
            </a:pPr>
            <a:r>
              <a:rPr lang="en-AU" dirty="0" smtClean="0"/>
              <a:t>  In every triangle, the largest side is always opposite the largest angle. The side lengths are in the ratio of the sines of their opposite angles.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53" y="692696"/>
            <a:ext cx="9217653" cy="923330"/>
          </a:xfrm>
          <a:prstGeom prst="rect">
            <a:avLst/>
          </a:prstGeom>
          <a:noFill/>
        </p:spPr>
        <p:txBody>
          <a:bodyPr wrap="none" lIns="91440" tIns="45720" rIns="91440" bIns="45720">
            <a:spAutoFit/>
          </a:bodyPr>
          <a:lstStyle/>
          <a:p>
            <a:pPr algn="ctr"/>
            <a:r>
              <a:rPr lang="en-US" sz="54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The Sine Rule - Summary</a:t>
            </a:r>
            <a:endParaRPr lang="en-US" sz="5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10" name="TextBox 9"/>
          <p:cNvSpPr txBox="1"/>
          <p:nvPr/>
        </p:nvSpPr>
        <p:spPr>
          <a:xfrm>
            <a:off x="467544" y="1628800"/>
            <a:ext cx="7920880" cy="1754326"/>
          </a:xfrm>
          <a:prstGeom prst="rect">
            <a:avLst/>
          </a:prstGeom>
          <a:noFill/>
        </p:spPr>
        <p:txBody>
          <a:bodyPr wrap="square" rtlCol="0">
            <a:spAutoFit/>
          </a:bodyPr>
          <a:lstStyle/>
          <a:p>
            <a:r>
              <a:rPr lang="en-AU" sz="3600" b="1" i="1" u="sng" dirty="0" smtClean="0"/>
              <a:t>In every triangle</a:t>
            </a:r>
            <a:r>
              <a:rPr lang="en-AU" sz="3600" b="1" i="1" dirty="0" smtClean="0"/>
              <a:t>, </a:t>
            </a:r>
          </a:p>
          <a:p>
            <a:endParaRPr lang="en-AU" dirty="0" smtClean="0"/>
          </a:p>
          <a:p>
            <a:pPr>
              <a:buFont typeface="Wingdings" pitchFamily="2" charset="2"/>
              <a:buChar char="q"/>
            </a:pPr>
            <a:r>
              <a:rPr lang="en-AU" dirty="0" smtClean="0"/>
              <a:t>  The largest side is always opposite the largest angle. </a:t>
            </a:r>
          </a:p>
          <a:p>
            <a:pPr>
              <a:buFont typeface="Wingdings" pitchFamily="2" charset="2"/>
              <a:buChar char="q"/>
            </a:pPr>
            <a:r>
              <a:rPr lang="en-AU" dirty="0" smtClean="0"/>
              <a:t>  The middle sized side is always opposite the middle sized angle, and </a:t>
            </a:r>
          </a:p>
          <a:p>
            <a:pPr>
              <a:buFont typeface="Wingdings" pitchFamily="2" charset="2"/>
              <a:buChar char="q"/>
            </a:pPr>
            <a:r>
              <a:rPr lang="en-AU" dirty="0" smtClean="0"/>
              <a:t>  The smallest side is always opposite the smallest angle</a:t>
            </a:r>
            <a:endParaRPr lang="en-US" dirty="0"/>
          </a:p>
        </p:txBody>
      </p:sp>
      <p:sp>
        <p:nvSpPr>
          <p:cNvPr id="11" name="Rectangle 10"/>
          <p:cNvSpPr/>
          <p:nvPr/>
        </p:nvSpPr>
        <p:spPr>
          <a:xfrm>
            <a:off x="395536" y="3573016"/>
            <a:ext cx="8352928" cy="646331"/>
          </a:xfrm>
          <a:prstGeom prst="rect">
            <a:avLst/>
          </a:prstGeom>
        </p:spPr>
        <p:txBody>
          <a:bodyPr wrap="square">
            <a:spAutoFit/>
          </a:bodyPr>
          <a:lstStyle/>
          <a:p>
            <a:pPr>
              <a:buFont typeface="Arial" pitchFamily="34" charset="0"/>
              <a:buChar char="•"/>
            </a:pPr>
            <a:r>
              <a:rPr lang="en-AU" dirty="0" smtClean="0"/>
              <a:t>  The ratio of any two side lengths is always equal to the ratio of the sines of their respective opposite angles.   </a:t>
            </a:r>
            <a:endParaRPr lang="en-US" dirty="0"/>
          </a:p>
        </p:txBody>
      </p:sp>
      <p:sp>
        <p:nvSpPr>
          <p:cNvPr id="12" name="Isosceles Triangle 11"/>
          <p:cNvSpPr/>
          <p:nvPr/>
        </p:nvSpPr>
        <p:spPr>
          <a:xfrm>
            <a:off x="1331640" y="4509120"/>
            <a:ext cx="2736304" cy="1656184"/>
          </a:xfrm>
          <a:prstGeom prst="triangle">
            <a:avLst>
              <a:gd name="adj" fmla="val 27111"/>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339752" y="6165304"/>
            <a:ext cx="648072" cy="369332"/>
          </a:xfrm>
          <a:prstGeom prst="rect">
            <a:avLst/>
          </a:prstGeom>
          <a:noFill/>
        </p:spPr>
        <p:txBody>
          <a:bodyPr wrap="square" rtlCol="0">
            <a:spAutoFit/>
          </a:bodyPr>
          <a:lstStyle/>
          <a:p>
            <a:r>
              <a:rPr lang="en-AU" i="1" dirty="0" smtClean="0"/>
              <a:t>a</a:t>
            </a:r>
            <a:endParaRPr lang="en-US" i="1" dirty="0"/>
          </a:p>
        </p:txBody>
      </p:sp>
      <p:sp>
        <p:nvSpPr>
          <p:cNvPr id="14" name="TextBox 13"/>
          <p:cNvSpPr txBox="1"/>
          <p:nvPr/>
        </p:nvSpPr>
        <p:spPr>
          <a:xfrm>
            <a:off x="1475656" y="5003884"/>
            <a:ext cx="648072" cy="369332"/>
          </a:xfrm>
          <a:prstGeom prst="rect">
            <a:avLst/>
          </a:prstGeom>
          <a:noFill/>
        </p:spPr>
        <p:txBody>
          <a:bodyPr wrap="square" rtlCol="0">
            <a:spAutoFit/>
          </a:bodyPr>
          <a:lstStyle/>
          <a:p>
            <a:r>
              <a:rPr lang="en-AU" i="1" dirty="0" smtClean="0"/>
              <a:t>b</a:t>
            </a:r>
            <a:endParaRPr lang="en-US" i="1" dirty="0"/>
          </a:p>
        </p:txBody>
      </p:sp>
      <p:sp>
        <p:nvSpPr>
          <p:cNvPr id="15" name="TextBox 14"/>
          <p:cNvSpPr txBox="1"/>
          <p:nvPr/>
        </p:nvSpPr>
        <p:spPr>
          <a:xfrm>
            <a:off x="2915816" y="5013176"/>
            <a:ext cx="648072" cy="369332"/>
          </a:xfrm>
          <a:prstGeom prst="rect">
            <a:avLst/>
          </a:prstGeom>
          <a:noFill/>
        </p:spPr>
        <p:txBody>
          <a:bodyPr wrap="square" rtlCol="0">
            <a:spAutoFit/>
          </a:bodyPr>
          <a:lstStyle/>
          <a:p>
            <a:r>
              <a:rPr lang="en-AU" i="1" dirty="0" smtClean="0"/>
              <a:t>c</a:t>
            </a:r>
            <a:endParaRPr lang="en-US" i="1" dirty="0"/>
          </a:p>
        </p:txBody>
      </p:sp>
      <p:sp>
        <p:nvSpPr>
          <p:cNvPr id="16" name="TextBox 15"/>
          <p:cNvSpPr txBox="1"/>
          <p:nvPr/>
        </p:nvSpPr>
        <p:spPr>
          <a:xfrm>
            <a:off x="971600" y="6021288"/>
            <a:ext cx="648072" cy="369332"/>
          </a:xfrm>
          <a:prstGeom prst="rect">
            <a:avLst/>
          </a:prstGeom>
          <a:noFill/>
        </p:spPr>
        <p:txBody>
          <a:bodyPr wrap="square" rtlCol="0">
            <a:spAutoFit/>
          </a:bodyPr>
          <a:lstStyle/>
          <a:p>
            <a:r>
              <a:rPr lang="en-AU" dirty="0" smtClean="0"/>
              <a:t>C</a:t>
            </a:r>
            <a:endParaRPr lang="en-US" dirty="0"/>
          </a:p>
        </p:txBody>
      </p:sp>
      <p:sp>
        <p:nvSpPr>
          <p:cNvPr id="17" name="TextBox 16"/>
          <p:cNvSpPr txBox="1"/>
          <p:nvPr/>
        </p:nvSpPr>
        <p:spPr>
          <a:xfrm>
            <a:off x="4067944" y="5949280"/>
            <a:ext cx="648072" cy="369332"/>
          </a:xfrm>
          <a:prstGeom prst="rect">
            <a:avLst/>
          </a:prstGeom>
          <a:noFill/>
        </p:spPr>
        <p:txBody>
          <a:bodyPr wrap="square" rtlCol="0">
            <a:spAutoFit/>
          </a:bodyPr>
          <a:lstStyle/>
          <a:p>
            <a:r>
              <a:rPr lang="en-AU" dirty="0" smtClean="0"/>
              <a:t>B</a:t>
            </a:r>
            <a:endParaRPr lang="en-US" dirty="0"/>
          </a:p>
        </p:txBody>
      </p:sp>
      <p:sp>
        <p:nvSpPr>
          <p:cNvPr id="18" name="TextBox 17"/>
          <p:cNvSpPr txBox="1"/>
          <p:nvPr/>
        </p:nvSpPr>
        <p:spPr>
          <a:xfrm>
            <a:off x="1835696" y="4221088"/>
            <a:ext cx="648072" cy="369332"/>
          </a:xfrm>
          <a:prstGeom prst="rect">
            <a:avLst/>
          </a:prstGeom>
          <a:noFill/>
        </p:spPr>
        <p:txBody>
          <a:bodyPr wrap="square" rtlCol="0">
            <a:spAutoFit/>
          </a:bodyPr>
          <a:lstStyle/>
          <a:p>
            <a:r>
              <a:rPr lang="en-AU" dirty="0" smtClean="0"/>
              <a:t>A</a:t>
            </a:r>
            <a:endParaRPr lang="en-US" dirty="0"/>
          </a:p>
        </p:txBody>
      </p:sp>
      <p:graphicFrame>
        <p:nvGraphicFramePr>
          <p:cNvPr id="20" name="Object 19"/>
          <p:cNvGraphicFramePr>
            <a:graphicFrameLocks noChangeAspect="1"/>
          </p:cNvGraphicFramePr>
          <p:nvPr/>
        </p:nvGraphicFramePr>
        <p:xfrm>
          <a:off x="5530850" y="4052888"/>
          <a:ext cx="1858963" cy="1489075"/>
        </p:xfrm>
        <a:graphic>
          <a:graphicData uri="http://schemas.openxmlformats.org/presentationml/2006/ole">
            <p:oleObj spid="_x0000_s36868" name="Equation" r:id="rId3" imgW="1015920" imgH="812520" progId="Equation.3">
              <p:embed/>
            </p:oleObj>
          </a:graphicData>
        </a:graphic>
      </p:graphicFrame>
      <p:sp>
        <p:nvSpPr>
          <p:cNvPr id="21" name="TextBox 20"/>
          <p:cNvSpPr txBox="1"/>
          <p:nvPr/>
        </p:nvSpPr>
        <p:spPr>
          <a:xfrm>
            <a:off x="4716016" y="5805264"/>
            <a:ext cx="4032448" cy="646331"/>
          </a:xfrm>
          <a:prstGeom prst="rect">
            <a:avLst/>
          </a:prstGeom>
          <a:noFill/>
        </p:spPr>
        <p:txBody>
          <a:bodyPr wrap="square" rtlCol="0">
            <a:spAutoFit/>
          </a:bodyPr>
          <a:lstStyle/>
          <a:p>
            <a:r>
              <a:rPr lang="en-AU" dirty="0" smtClean="0"/>
              <a:t>These are just re-shaped versions of the original sine rule formulae.</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692696"/>
            <a:ext cx="8352928" cy="1446550"/>
          </a:xfrm>
          <a:prstGeom prst="rect">
            <a:avLst/>
          </a:prstGeom>
          <a:noFill/>
        </p:spPr>
        <p:txBody>
          <a:bodyPr wrap="square" rtlCol="0">
            <a:spAutoFit/>
          </a:bodyPr>
          <a:lstStyle/>
          <a:p>
            <a:pPr algn="ctr"/>
            <a:r>
              <a:rPr lang="en-AU" sz="8800" dirty="0" smtClean="0"/>
              <a:t>The Cosine Rule</a:t>
            </a:r>
            <a:endParaRPr lang="en-US" sz="8800" dirty="0"/>
          </a:p>
        </p:txBody>
      </p:sp>
      <p:sp>
        <p:nvSpPr>
          <p:cNvPr id="4" name="TextBox 3"/>
          <p:cNvSpPr txBox="1"/>
          <p:nvPr/>
        </p:nvSpPr>
        <p:spPr>
          <a:xfrm>
            <a:off x="1187624" y="2276872"/>
            <a:ext cx="6192688" cy="369332"/>
          </a:xfrm>
          <a:prstGeom prst="rect">
            <a:avLst/>
          </a:prstGeom>
          <a:noFill/>
        </p:spPr>
        <p:txBody>
          <a:bodyPr wrap="square" rtlCol="0">
            <a:spAutoFit/>
          </a:bodyPr>
          <a:lstStyle/>
          <a:p>
            <a:r>
              <a:rPr lang="en-AU" dirty="0" smtClean="0"/>
              <a:t>There are two variations of this….</a:t>
            </a:r>
            <a:endParaRPr lang="en-US" dirty="0"/>
          </a:p>
        </p:txBody>
      </p:sp>
      <p:sp>
        <p:nvSpPr>
          <p:cNvPr id="5" name="TextBox 4"/>
          <p:cNvSpPr txBox="1"/>
          <p:nvPr/>
        </p:nvSpPr>
        <p:spPr>
          <a:xfrm>
            <a:off x="1475656" y="3140968"/>
            <a:ext cx="2664296" cy="369332"/>
          </a:xfrm>
          <a:prstGeom prst="rect">
            <a:avLst/>
          </a:prstGeom>
          <a:noFill/>
        </p:spPr>
        <p:txBody>
          <a:bodyPr wrap="square" rtlCol="0">
            <a:spAutoFit/>
          </a:bodyPr>
          <a:lstStyle/>
          <a:p>
            <a:pPr algn="ctr"/>
            <a:r>
              <a:rPr lang="en-AU" b="1" dirty="0" smtClean="0">
                <a:solidFill>
                  <a:srgbClr val="C00000"/>
                </a:solidFill>
              </a:rPr>
              <a:t>To find a side use</a:t>
            </a:r>
            <a:endParaRPr lang="en-US" b="1" dirty="0">
              <a:solidFill>
                <a:srgbClr val="C00000"/>
              </a:solidFill>
            </a:endParaRPr>
          </a:p>
        </p:txBody>
      </p:sp>
      <p:sp>
        <p:nvSpPr>
          <p:cNvPr id="6" name="TextBox 5"/>
          <p:cNvSpPr txBox="1"/>
          <p:nvPr/>
        </p:nvSpPr>
        <p:spPr>
          <a:xfrm>
            <a:off x="827584" y="3645024"/>
            <a:ext cx="3888432" cy="461665"/>
          </a:xfrm>
          <a:prstGeom prst="rect">
            <a:avLst/>
          </a:prstGeom>
          <a:noFill/>
        </p:spPr>
        <p:txBody>
          <a:bodyPr wrap="square" rtlCol="0">
            <a:spAutoFit/>
          </a:bodyPr>
          <a:lstStyle/>
          <a:p>
            <a:pPr algn="ctr"/>
            <a:r>
              <a:rPr lang="en-AU" sz="2400" i="1" dirty="0" smtClean="0">
                <a:latin typeface="Times New Roman" pitchFamily="18" charset="0"/>
                <a:cs typeface="Times New Roman" pitchFamily="18" charset="0"/>
              </a:rPr>
              <a:t>c</a:t>
            </a:r>
            <a:r>
              <a:rPr lang="en-AU" sz="2400" i="1" baseline="30000" dirty="0" smtClean="0">
                <a:latin typeface="Times New Roman" pitchFamily="18" charset="0"/>
                <a:cs typeface="Times New Roman" pitchFamily="18" charset="0"/>
              </a:rPr>
              <a:t>2</a:t>
            </a:r>
            <a:r>
              <a:rPr lang="en-AU" sz="2400" dirty="0" smtClean="0">
                <a:latin typeface="Times New Roman" pitchFamily="18" charset="0"/>
                <a:cs typeface="Times New Roman" pitchFamily="18" charset="0"/>
              </a:rPr>
              <a:t> = </a:t>
            </a:r>
            <a:r>
              <a:rPr lang="en-AU" sz="2400" i="1" dirty="0" smtClean="0">
                <a:latin typeface="Times New Roman" pitchFamily="18" charset="0"/>
                <a:cs typeface="Times New Roman" pitchFamily="18" charset="0"/>
              </a:rPr>
              <a:t>a</a:t>
            </a:r>
            <a:r>
              <a:rPr lang="en-AU" sz="2400" baseline="30000" dirty="0" smtClean="0">
                <a:latin typeface="Times New Roman" pitchFamily="18" charset="0"/>
                <a:cs typeface="Times New Roman" pitchFamily="18" charset="0"/>
              </a:rPr>
              <a:t>2</a:t>
            </a:r>
            <a:r>
              <a:rPr lang="en-AU" sz="2400" i="1" dirty="0" smtClean="0">
                <a:latin typeface="Times New Roman" pitchFamily="18" charset="0"/>
                <a:cs typeface="Times New Roman" pitchFamily="18" charset="0"/>
              </a:rPr>
              <a:t>  + b</a:t>
            </a:r>
            <a:r>
              <a:rPr lang="en-AU" sz="2400" baseline="30000" dirty="0" smtClean="0">
                <a:latin typeface="Times New Roman" pitchFamily="18" charset="0"/>
                <a:cs typeface="Times New Roman" pitchFamily="18" charset="0"/>
              </a:rPr>
              <a:t>2</a:t>
            </a:r>
            <a:r>
              <a:rPr lang="en-AU" sz="2400" i="1" dirty="0" smtClean="0">
                <a:latin typeface="Times New Roman" pitchFamily="18" charset="0"/>
                <a:cs typeface="Times New Roman" pitchFamily="18" charset="0"/>
              </a:rPr>
              <a:t> </a:t>
            </a:r>
            <a:r>
              <a:rPr lang="en-AU" sz="2400" dirty="0" smtClean="0">
                <a:latin typeface="Times New Roman" pitchFamily="18" charset="0"/>
                <a:cs typeface="Times New Roman" pitchFamily="18" charset="0"/>
              </a:rPr>
              <a:t>– 2</a:t>
            </a:r>
            <a:r>
              <a:rPr lang="en-AU" sz="2400" i="1" dirty="0" smtClean="0">
                <a:latin typeface="Times New Roman" pitchFamily="18" charset="0"/>
                <a:cs typeface="Times New Roman" pitchFamily="18" charset="0"/>
              </a:rPr>
              <a:t>ab </a:t>
            </a:r>
            <a:r>
              <a:rPr lang="en-AU" sz="2400" dirty="0" err="1" smtClean="0">
                <a:latin typeface="Times New Roman" pitchFamily="18" charset="0"/>
                <a:cs typeface="Times New Roman" pitchFamily="18" charset="0"/>
              </a:rPr>
              <a:t>cos</a:t>
            </a:r>
            <a:r>
              <a:rPr lang="en-AU" sz="2400" dirty="0" smtClean="0">
                <a:latin typeface="Times New Roman" pitchFamily="18" charset="0"/>
                <a:cs typeface="Times New Roman" pitchFamily="18" charset="0"/>
              </a:rPr>
              <a:t> </a:t>
            </a:r>
            <a:r>
              <a:rPr lang="en-AU" sz="2400" i="1" dirty="0" smtClean="0">
                <a:latin typeface="Times New Roman" pitchFamily="18" charset="0"/>
                <a:cs typeface="Times New Roman" pitchFamily="18" charset="0"/>
              </a:rPr>
              <a:t>C</a:t>
            </a:r>
            <a:r>
              <a:rPr lang="en-AU" sz="2400" dirty="0" smtClean="0">
                <a:latin typeface="Times New Roman" pitchFamily="18" charset="0"/>
                <a:cs typeface="Times New Roman" pitchFamily="18" charset="0"/>
              </a:rPr>
              <a:t> </a:t>
            </a:r>
            <a:endParaRPr lang="en-US" sz="2400" i="1" dirty="0">
              <a:latin typeface="Times New Roman" pitchFamily="18" charset="0"/>
              <a:cs typeface="Times New Roman" pitchFamily="18" charset="0"/>
            </a:endParaRPr>
          </a:p>
        </p:txBody>
      </p:sp>
      <p:sp>
        <p:nvSpPr>
          <p:cNvPr id="7" name="TextBox 6"/>
          <p:cNvSpPr txBox="1"/>
          <p:nvPr/>
        </p:nvSpPr>
        <p:spPr>
          <a:xfrm>
            <a:off x="5724128" y="3140968"/>
            <a:ext cx="2664296" cy="369332"/>
          </a:xfrm>
          <a:prstGeom prst="rect">
            <a:avLst/>
          </a:prstGeom>
          <a:noFill/>
        </p:spPr>
        <p:txBody>
          <a:bodyPr wrap="square" rtlCol="0">
            <a:spAutoFit/>
          </a:bodyPr>
          <a:lstStyle/>
          <a:p>
            <a:pPr algn="ctr"/>
            <a:r>
              <a:rPr lang="en-AU" b="1" dirty="0" smtClean="0">
                <a:solidFill>
                  <a:srgbClr val="C00000"/>
                </a:solidFill>
              </a:rPr>
              <a:t>To find an angle use</a:t>
            </a:r>
            <a:endParaRPr lang="en-US" b="1" dirty="0">
              <a:solidFill>
                <a:srgbClr val="C00000"/>
              </a:solidFill>
            </a:endParaRPr>
          </a:p>
        </p:txBody>
      </p:sp>
      <p:graphicFrame>
        <p:nvGraphicFramePr>
          <p:cNvPr id="8" name="Object 7"/>
          <p:cNvGraphicFramePr>
            <a:graphicFrameLocks noChangeAspect="1"/>
          </p:cNvGraphicFramePr>
          <p:nvPr/>
        </p:nvGraphicFramePr>
        <p:xfrm>
          <a:off x="5940152" y="3501008"/>
          <a:ext cx="2160240" cy="727428"/>
        </p:xfrm>
        <a:graphic>
          <a:graphicData uri="http://schemas.openxmlformats.org/presentationml/2006/ole">
            <p:oleObj spid="_x0000_s12291" name="Equation" r:id="rId3" imgW="1244520" imgH="419040" progId="Equation.3">
              <p:embed/>
            </p:oleObj>
          </a:graphicData>
        </a:graphic>
      </p:graphicFrame>
      <p:sp>
        <p:nvSpPr>
          <p:cNvPr id="9" name="Rectangle 8"/>
          <p:cNvSpPr/>
          <p:nvPr/>
        </p:nvSpPr>
        <p:spPr>
          <a:xfrm>
            <a:off x="899592" y="3140968"/>
            <a:ext cx="3744416" cy="1152128"/>
          </a:xfrm>
          <a:prstGeom prst="rect">
            <a:avLst/>
          </a:prstGeom>
          <a:solidFill>
            <a:schemeClr val="tx2">
              <a:lumMod val="40000"/>
              <a:lumOff val="60000"/>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076056" y="3140968"/>
            <a:ext cx="3744416" cy="1152128"/>
          </a:xfrm>
          <a:prstGeom prst="rect">
            <a:avLst/>
          </a:prstGeom>
          <a:solidFill>
            <a:schemeClr val="tx2">
              <a:lumMod val="40000"/>
              <a:lumOff val="60000"/>
              <a:alpha val="1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411760" y="4653136"/>
            <a:ext cx="4824536" cy="646331"/>
          </a:xfrm>
          <a:prstGeom prst="rect">
            <a:avLst/>
          </a:prstGeom>
          <a:noFill/>
        </p:spPr>
        <p:txBody>
          <a:bodyPr wrap="square" rtlCol="0">
            <a:spAutoFit/>
          </a:bodyPr>
          <a:lstStyle/>
          <a:p>
            <a:r>
              <a:rPr lang="en-AU" dirty="0" smtClean="0"/>
              <a:t>These formulae are just rearrangements of each other. Verify this as an exercise.</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764704"/>
            <a:ext cx="2952328" cy="369332"/>
          </a:xfrm>
          <a:prstGeom prst="rect">
            <a:avLst/>
          </a:prstGeom>
          <a:noFill/>
        </p:spPr>
        <p:txBody>
          <a:bodyPr wrap="square" rtlCol="0">
            <a:spAutoFit/>
          </a:bodyPr>
          <a:lstStyle/>
          <a:p>
            <a:r>
              <a:rPr lang="en-AU" b="1" u="sng" dirty="0" smtClean="0"/>
              <a:t>Proof of the Cosine Rule</a:t>
            </a:r>
            <a:r>
              <a:rPr lang="en-AU" dirty="0" smtClean="0"/>
              <a:t>: </a:t>
            </a:r>
            <a:endParaRPr lang="en-US" dirty="0"/>
          </a:p>
        </p:txBody>
      </p:sp>
      <p:sp>
        <p:nvSpPr>
          <p:cNvPr id="4" name="TextBox 3"/>
          <p:cNvSpPr txBox="1"/>
          <p:nvPr/>
        </p:nvSpPr>
        <p:spPr>
          <a:xfrm>
            <a:off x="611560" y="1340768"/>
            <a:ext cx="7632848" cy="369332"/>
          </a:xfrm>
          <a:prstGeom prst="rect">
            <a:avLst/>
          </a:prstGeom>
          <a:noFill/>
        </p:spPr>
        <p:txBody>
          <a:bodyPr wrap="square" rtlCol="0">
            <a:spAutoFit/>
          </a:bodyPr>
          <a:lstStyle/>
          <a:p>
            <a:r>
              <a:rPr lang="en-AU" dirty="0" smtClean="0"/>
              <a:t>Let ABC be any triangle with side lengths </a:t>
            </a:r>
            <a:r>
              <a:rPr lang="en-AU" i="1" dirty="0" smtClean="0"/>
              <a:t>a, b, c</a:t>
            </a:r>
            <a:r>
              <a:rPr lang="en-AU" dirty="0" smtClean="0"/>
              <a:t> respectively</a:t>
            </a:r>
            <a:endParaRPr lang="en-US" dirty="0"/>
          </a:p>
        </p:txBody>
      </p:sp>
      <p:grpSp>
        <p:nvGrpSpPr>
          <p:cNvPr id="3" name="Group 17"/>
          <p:cNvGrpSpPr/>
          <p:nvPr/>
        </p:nvGrpSpPr>
        <p:grpSpPr>
          <a:xfrm>
            <a:off x="1403648" y="1619508"/>
            <a:ext cx="5292080" cy="1665476"/>
            <a:chOff x="3851920" y="2348880"/>
            <a:chExt cx="5292080" cy="1665476"/>
          </a:xfrm>
        </p:grpSpPr>
        <p:cxnSp>
          <p:nvCxnSpPr>
            <p:cNvPr id="6" name="Straight Connector 5"/>
            <p:cNvCxnSpPr/>
            <p:nvPr/>
          </p:nvCxnSpPr>
          <p:spPr>
            <a:xfrm flipH="1">
              <a:off x="4139952" y="2636912"/>
              <a:ext cx="1584176" cy="1080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724128" y="2636912"/>
              <a:ext cx="2880320" cy="1080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139952" y="3717032"/>
              <a:ext cx="4464496"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580112" y="2348880"/>
              <a:ext cx="504056" cy="369332"/>
            </a:xfrm>
            <a:prstGeom prst="rect">
              <a:avLst/>
            </a:prstGeom>
            <a:noFill/>
          </p:spPr>
          <p:txBody>
            <a:bodyPr wrap="square" rtlCol="0">
              <a:spAutoFit/>
            </a:bodyPr>
            <a:lstStyle/>
            <a:p>
              <a:r>
                <a:rPr lang="en-AU" dirty="0" smtClean="0"/>
                <a:t>A</a:t>
              </a:r>
              <a:endParaRPr lang="en-US" dirty="0"/>
            </a:p>
          </p:txBody>
        </p:sp>
        <p:sp>
          <p:nvSpPr>
            <p:cNvPr id="12" name="TextBox 11"/>
            <p:cNvSpPr txBox="1"/>
            <p:nvPr/>
          </p:nvSpPr>
          <p:spPr>
            <a:xfrm>
              <a:off x="8639944" y="3573016"/>
              <a:ext cx="504056" cy="369332"/>
            </a:xfrm>
            <a:prstGeom prst="rect">
              <a:avLst/>
            </a:prstGeom>
            <a:noFill/>
          </p:spPr>
          <p:txBody>
            <a:bodyPr wrap="square" rtlCol="0">
              <a:spAutoFit/>
            </a:bodyPr>
            <a:lstStyle/>
            <a:p>
              <a:r>
                <a:rPr lang="en-AU" dirty="0"/>
                <a:t>B</a:t>
              </a:r>
              <a:endParaRPr lang="en-US" dirty="0"/>
            </a:p>
          </p:txBody>
        </p:sp>
        <p:sp>
          <p:nvSpPr>
            <p:cNvPr id="13" name="TextBox 12"/>
            <p:cNvSpPr txBox="1"/>
            <p:nvPr/>
          </p:nvSpPr>
          <p:spPr>
            <a:xfrm>
              <a:off x="3851920" y="3501008"/>
              <a:ext cx="504056" cy="369332"/>
            </a:xfrm>
            <a:prstGeom prst="rect">
              <a:avLst/>
            </a:prstGeom>
            <a:noFill/>
          </p:spPr>
          <p:txBody>
            <a:bodyPr wrap="square" rtlCol="0">
              <a:spAutoFit/>
            </a:bodyPr>
            <a:lstStyle/>
            <a:p>
              <a:r>
                <a:rPr lang="en-AU" dirty="0"/>
                <a:t>C</a:t>
              </a:r>
              <a:endParaRPr lang="en-US" dirty="0"/>
            </a:p>
          </p:txBody>
        </p:sp>
        <p:sp>
          <p:nvSpPr>
            <p:cNvPr id="14" name="TextBox 13"/>
            <p:cNvSpPr txBox="1"/>
            <p:nvPr/>
          </p:nvSpPr>
          <p:spPr>
            <a:xfrm>
              <a:off x="6156176" y="3645024"/>
              <a:ext cx="720080" cy="369332"/>
            </a:xfrm>
            <a:prstGeom prst="rect">
              <a:avLst/>
            </a:prstGeom>
            <a:noFill/>
          </p:spPr>
          <p:txBody>
            <a:bodyPr wrap="square" rtlCol="0">
              <a:spAutoFit/>
            </a:bodyPr>
            <a:lstStyle/>
            <a:p>
              <a:r>
                <a:rPr lang="en-AU" i="1" dirty="0" smtClean="0">
                  <a:solidFill>
                    <a:srgbClr val="0000FF"/>
                  </a:solidFill>
                </a:rPr>
                <a:t>a</a:t>
              </a:r>
              <a:endParaRPr lang="en-US" i="1" dirty="0">
                <a:solidFill>
                  <a:srgbClr val="0000FF"/>
                </a:solidFill>
              </a:endParaRPr>
            </a:p>
          </p:txBody>
        </p:sp>
        <p:sp>
          <p:nvSpPr>
            <p:cNvPr id="16" name="TextBox 15"/>
            <p:cNvSpPr txBox="1"/>
            <p:nvPr/>
          </p:nvSpPr>
          <p:spPr>
            <a:xfrm>
              <a:off x="6948264" y="2780928"/>
              <a:ext cx="936104" cy="369332"/>
            </a:xfrm>
            <a:prstGeom prst="rect">
              <a:avLst/>
            </a:prstGeom>
            <a:noFill/>
          </p:spPr>
          <p:txBody>
            <a:bodyPr wrap="square" rtlCol="0">
              <a:spAutoFit/>
            </a:bodyPr>
            <a:lstStyle/>
            <a:p>
              <a:r>
                <a:rPr lang="en-AU" i="1" dirty="0">
                  <a:solidFill>
                    <a:srgbClr val="FF0000"/>
                  </a:solidFill>
                </a:rPr>
                <a:t>c</a:t>
              </a:r>
              <a:endParaRPr lang="en-US" i="1" dirty="0">
                <a:solidFill>
                  <a:srgbClr val="FF0000"/>
                </a:solidFill>
              </a:endParaRPr>
            </a:p>
          </p:txBody>
        </p:sp>
        <p:sp>
          <p:nvSpPr>
            <p:cNvPr id="17" name="TextBox 16"/>
            <p:cNvSpPr txBox="1"/>
            <p:nvPr/>
          </p:nvSpPr>
          <p:spPr>
            <a:xfrm>
              <a:off x="4644008" y="2852936"/>
              <a:ext cx="864096" cy="369332"/>
            </a:xfrm>
            <a:prstGeom prst="rect">
              <a:avLst/>
            </a:prstGeom>
            <a:noFill/>
          </p:spPr>
          <p:txBody>
            <a:bodyPr wrap="square" rtlCol="0">
              <a:spAutoFit/>
            </a:bodyPr>
            <a:lstStyle/>
            <a:p>
              <a:r>
                <a:rPr lang="en-AU" i="1" dirty="0" smtClean="0">
                  <a:solidFill>
                    <a:srgbClr val="006600"/>
                  </a:solidFill>
                </a:rPr>
                <a:t>b</a:t>
              </a:r>
              <a:endParaRPr lang="en-US" i="1" dirty="0">
                <a:solidFill>
                  <a:srgbClr val="006600"/>
                </a:solidFill>
              </a:endParaRPr>
            </a:p>
          </p:txBody>
        </p:sp>
      </p:grpSp>
      <p:sp>
        <p:nvSpPr>
          <p:cNvPr id="19" name="TextBox 18"/>
          <p:cNvSpPr txBox="1"/>
          <p:nvPr/>
        </p:nvSpPr>
        <p:spPr>
          <a:xfrm>
            <a:off x="683568" y="3356992"/>
            <a:ext cx="7632848" cy="369332"/>
          </a:xfrm>
          <a:prstGeom prst="rect">
            <a:avLst/>
          </a:prstGeom>
          <a:noFill/>
        </p:spPr>
        <p:txBody>
          <a:bodyPr wrap="square" rtlCol="0">
            <a:spAutoFit/>
          </a:bodyPr>
          <a:lstStyle/>
          <a:p>
            <a:r>
              <a:rPr lang="en-AU" dirty="0" smtClean="0"/>
              <a:t>Now draw AD perpendicular to BC, and let the length of AD equal </a:t>
            </a:r>
            <a:r>
              <a:rPr lang="en-AU" i="1" dirty="0" smtClean="0"/>
              <a:t>h</a:t>
            </a:r>
            <a:endParaRPr lang="en-US" dirty="0"/>
          </a:p>
        </p:txBody>
      </p:sp>
      <p:cxnSp>
        <p:nvCxnSpPr>
          <p:cNvPr id="21" name="Straight Connector 20"/>
          <p:cNvCxnSpPr/>
          <p:nvPr/>
        </p:nvCxnSpPr>
        <p:spPr>
          <a:xfrm>
            <a:off x="3288382" y="1916832"/>
            <a:ext cx="0" cy="1080120"/>
          </a:xfrm>
          <a:prstGeom prst="line">
            <a:avLst/>
          </a:prstGeom>
          <a:ln w="254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241426" y="2204864"/>
            <a:ext cx="504056" cy="369332"/>
          </a:xfrm>
          <a:prstGeom prst="rect">
            <a:avLst/>
          </a:prstGeom>
          <a:noFill/>
        </p:spPr>
        <p:txBody>
          <a:bodyPr wrap="square" rtlCol="0">
            <a:spAutoFit/>
          </a:bodyPr>
          <a:lstStyle/>
          <a:p>
            <a:r>
              <a:rPr lang="en-AU" b="1" i="1" dirty="0">
                <a:solidFill>
                  <a:srgbClr val="7030A0"/>
                </a:solidFill>
              </a:rPr>
              <a:t>h</a:t>
            </a:r>
            <a:endParaRPr lang="en-US" b="1" i="1" dirty="0">
              <a:solidFill>
                <a:srgbClr val="7030A0"/>
              </a:solidFill>
            </a:endParaRPr>
          </a:p>
        </p:txBody>
      </p:sp>
      <p:cxnSp>
        <p:nvCxnSpPr>
          <p:cNvPr id="25" name="Straight Connector 24"/>
          <p:cNvCxnSpPr/>
          <p:nvPr/>
        </p:nvCxnSpPr>
        <p:spPr>
          <a:xfrm>
            <a:off x="3275856" y="2780928"/>
            <a:ext cx="2160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491880" y="2780928"/>
            <a:ext cx="0" cy="216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5496" y="4293096"/>
            <a:ext cx="2016224" cy="369332"/>
          </a:xfrm>
          <a:prstGeom prst="rect">
            <a:avLst/>
          </a:prstGeom>
          <a:noFill/>
        </p:spPr>
        <p:txBody>
          <a:bodyPr wrap="square" rtlCol="0">
            <a:spAutoFit/>
          </a:bodyPr>
          <a:lstStyle/>
          <a:p>
            <a:pPr algn="ctr"/>
            <a:r>
              <a:rPr lang="en-AU" b="1" dirty="0" smtClean="0"/>
              <a:t>In </a:t>
            </a:r>
            <a:r>
              <a:rPr lang="en-AU" b="1" dirty="0" smtClean="0">
                <a:sym typeface="Symbol"/>
              </a:rPr>
              <a:t>ACD</a:t>
            </a:r>
            <a:endParaRPr lang="en-US" b="1" dirty="0"/>
          </a:p>
        </p:txBody>
      </p:sp>
      <p:graphicFrame>
        <p:nvGraphicFramePr>
          <p:cNvPr id="3076" name="Object 4"/>
          <p:cNvGraphicFramePr>
            <a:graphicFrameLocks noChangeAspect="1"/>
          </p:cNvGraphicFramePr>
          <p:nvPr/>
        </p:nvGraphicFramePr>
        <p:xfrm>
          <a:off x="539552" y="4653136"/>
          <a:ext cx="1050925" cy="649288"/>
        </p:xfrm>
        <a:graphic>
          <a:graphicData uri="http://schemas.openxmlformats.org/presentationml/2006/ole">
            <p:oleObj spid="_x0000_s13315" name="Equation" r:id="rId3" imgW="634680" imgH="393480" progId="Equation.3">
              <p:embed/>
            </p:oleObj>
          </a:graphicData>
        </a:graphic>
      </p:graphicFrame>
      <p:sp>
        <p:nvSpPr>
          <p:cNvPr id="31" name="TextBox 30"/>
          <p:cNvSpPr txBox="1"/>
          <p:nvPr/>
        </p:nvSpPr>
        <p:spPr>
          <a:xfrm>
            <a:off x="3203848" y="4293096"/>
            <a:ext cx="2160240" cy="646331"/>
          </a:xfrm>
          <a:prstGeom prst="rect">
            <a:avLst/>
          </a:prstGeom>
          <a:noFill/>
        </p:spPr>
        <p:txBody>
          <a:bodyPr wrap="square" rtlCol="0">
            <a:spAutoFit/>
          </a:bodyPr>
          <a:lstStyle/>
          <a:p>
            <a:r>
              <a:rPr lang="en-AU" b="1" dirty="0" smtClean="0"/>
              <a:t>In </a:t>
            </a:r>
            <a:r>
              <a:rPr lang="en-AU" b="1" dirty="0" smtClean="0">
                <a:sym typeface="Symbol"/>
              </a:rPr>
              <a:t>ABD</a:t>
            </a:r>
          </a:p>
          <a:p>
            <a:r>
              <a:rPr lang="en-AU" b="1" dirty="0" smtClean="0">
                <a:sym typeface="Symbol"/>
              </a:rPr>
              <a:t>Pythagoras gives</a:t>
            </a:r>
            <a:endParaRPr lang="en-US" b="1" dirty="0"/>
          </a:p>
        </p:txBody>
      </p:sp>
      <p:graphicFrame>
        <p:nvGraphicFramePr>
          <p:cNvPr id="33" name="Object 4"/>
          <p:cNvGraphicFramePr>
            <a:graphicFrameLocks noChangeAspect="1"/>
          </p:cNvGraphicFramePr>
          <p:nvPr/>
        </p:nvGraphicFramePr>
        <p:xfrm>
          <a:off x="3347864" y="4941168"/>
          <a:ext cx="1765300" cy="377825"/>
        </p:xfrm>
        <a:graphic>
          <a:graphicData uri="http://schemas.openxmlformats.org/presentationml/2006/ole">
            <p:oleObj spid="_x0000_s13317" name="Equation" r:id="rId4" imgW="1066680" imgH="228600" progId="Equation.3">
              <p:embed/>
            </p:oleObj>
          </a:graphicData>
        </a:graphic>
      </p:graphicFrame>
      <p:sp>
        <p:nvSpPr>
          <p:cNvPr id="34" name="Rectangle 33"/>
          <p:cNvSpPr/>
          <p:nvPr/>
        </p:nvSpPr>
        <p:spPr>
          <a:xfrm>
            <a:off x="323528" y="4221088"/>
            <a:ext cx="2448272" cy="1800200"/>
          </a:xfrm>
          <a:prstGeom prst="rect">
            <a:avLst/>
          </a:prstGeom>
          <a:solidFill>
            <a:schemeClr val="bg2">
              <a:lumMod val="90000"/>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3203848" y="4221088"/>
            <a:ext cx="2808312" cy="1800200"/>
          </a:xfrm>
          <a:prstGeom prst="rect">
            <a:avLst/>
          </a:prstGeom>
          <a:solidFill>
            <a:schemeClr val="bg2">
              <a:lumMod val="90000"/>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2987824" y="2708920"/>
            <a:ext cx="576064" cy="369332"/>
          </a:xfrm>
          <a:prstGeom prst="rect">
            <a:avLst/>
          </a:prstGeom>
          <a:noFill/>
        </p:spPr>
        <p:txBody>
          <a:bodyPr wrap="square" rtlCol="0">
            <a:spAutoFit/>
          </a:bodyPr>
          <a:lstStyle/>
          <a:p>
            <a:r>
              <a:rPr lang="en-AU" dirty="0" smtClean="0"/>
              <a:t>D</a:t>
            </a:r>
            <a:endParaRPr lang="en-US" dirty="0"/>
          </a:p>
        </p:txBody>
      </p:sp>
      <p:sp>
        <p:nvSpPr>
          <p:cNvPr id="43" name="TextBox 42"/>
          <p:cNvSpPr txBox="1"/>
          <p:nvPr/>
        </p:nvSpPr>
        <p:spPr>
          <a:xfrm>
            <a:off x="683568" y="3707740"/>
            <a:ext cx="7632848" cy="369332"/>
          </a:xfrm>
          <a:prstGeom prst="rect">
            <a:avLst/>
          </a:prstGeom>
          <a:noFill/>
        </p:spPr>
        <p:txBody>
          <a:bodyPr wrap="square" rtlCol="0">
            <a:spAutoFit/>
          </a:bodyPr>
          <a:lstStyle/>
          <a:p>
            <a:r>
              <a:rPr lang="en-AU" dirty="0" smtClean="0"/>
              <a:t>Let the length CD = </a:t>
            </a:r>
            <a:r>
              <a:rPr lang="en-AU" i="1" dirty="0" smtClean="0"/>
              <a:t>x</a:t>
            </a:r>
            <a:r>
              <a:rPr lang="en-AU" dirty="0" smtClean="0"/>
              <a:t>, and so length BD will be </a:t>
            </a:r>
            <a:r>
              <a:rPr lang="en-AU" i="1" dirty="0" smtClean="0"/>
              <a:t>a – x. </a:t>
            </a:r>
            <a:endParaRPr lang="en-US" dirty="0"/>
          </a:p>
        </p:txBody>
      </p:sp>
      <p:sp>
        <p:nvSpPr>
          <p:cNvPr id="44" name="TextBox 43"/>
          <p:cNvSpPr txBox="1"/>
          <p:nvPr/>
        </p:nvSpPr>
        <p:spPr>
          <a:xfrm>
            <a:off x="2339752" y="2708920"/>
            <a:ext cx="576064" cy="369332"/>
          </a:xfrm>
          <a:prstGeom prst="rect">
            <a:avLst/>
          </a:prstGeom>
          <a:noFill/>
        </p:spPr>
        <p:txBody>
          <a:bodyPr wrap="square" rtlCol="0">
            <a:spAutoFit/>
          </a:bodyPr>
          <a:lstStyle/>
          <a:p>
            <a:r>
              <a:rPr lang="en-AU" i="1" dirty="0" smtClean="0"/>
              <a:t>x</a:t>
            </a:r>
            <a:endParaRPr lang="en-US" i="1" dirty="0"/>
          </a:p>
        </p:txBody>
      </p:sp>
      <p:sp>
        <p:nvSpPr>
          <p:cNvPr id="45" name="TextBox 44"/>
          <p:cNvSpPr txBox="1"/>
          <p:nvPr/>
        </p:nvSpPr>
        <p:spPr>
          <a:xfrm>
            <a:off x="4283968" y="2708920"/>
            <a:ext cx="936104" cy="369332"/>
          </a:xfrm>
          <a:prstGeom prst="rect">
            <a:avLst/>
          </a:prstGeom>
          <a:noFill/>
        </p:spPr>
        <p:txBody>
          <a:bodyPr wrap="square" rtlCol="0">
            <a:spAutoFit/>
          </a:bodyPr>
          <a:lstStyle/>
          <a:p>
            <a:r>
              <a:rPr lang="en-AU" i="1" dirty="0" smtClean="0"/>
              <a:t>a – x</a:t>
            </a:r>
            <a:endParaRPr lang="en-US" i="1" dirty="0"/>
          </a:p>
        </p:txBody>
      </p:sp>
      <p:graphicFrame>
        <p:nvGraphicFramePr>
          <p:cNvPr id="13319" name="Object 7"/>
          <p:cNvGraphicFramePr>
            <a:graphicFrameLocks noChangeAspect="1"/>
          </p:cNvGraphicFramePr>
          <p:nvPr/>
        </p:nvGraphicFramePr>
        <p:xfrm>
          <a:off x="966441" y="5445224"/>
          <a:ext cx="1157287" cy="293687"/>
        </p:xfrm>
        <a:graphic>
          <a:graphicData uri="http://schemas.openxmlformats.org/presentationml/2006/ole">
            <p:oleObj spid="_x0000_s13319" name="Equation" r:id="rId5" imgW="698400" imgH="177480" progId="Equation.3">
              <p:embed/>
            </p:oleObj>
          </a:graphicData>
        </a:graphic>
      </p:graphicFrame>
      <p:sp>
        <p:nvSpPr>
          <p:cNvPr id="47" name="TextBox 46"/>
          <p:cNvSpPr txBox="1"/>
          <p:nvPr/>
        </p:nvSpPr>
        <p:spPr>
          <a:xfrm>
            <a:off x="2267744" y="5373216"/>
            <a:ext cx="576064" cy="369332"/>
          </a:xfrm>
          <a:prstGeom prst="rect">
            <a:avLst/>
          </a:prstGeom>
          <a:noFill/>
        </p:spPr>
        <p:txBody>
          <a:bodyPr wrap="square" rtlCol="0">
            <a:spAutoFit/>
          </a:bodyPr>
          <a:lstStyle/>
          <a:p>
            <a:r>
              <a:rPr lang="en-AU" b="1" dirty="0" smtClean="0">
                <a:solidFill>
                  <a:srgbClr val="C00000"/>
                </a:solidFill>
              </a:rPr>
              <a:t>(1)</a:t>
            </a:r>
            <a:endParaRPr lang="en-US" b="1" dirty="0">
              <a:solidFill>
                <a:srgbClr val="C00000"/>
              </a:solidFill>
            </a:endParaRPr>
          </a:p>
        </p:txBody>
      </p:sp>
      <p:graphicFrame>
        <p:nvGraphicFramePr>
          <p:cNvPr id="13320" name="Object 8"/>
          <p:cNvGraphicFramePr>
            <a:graphicFrameLocks noChangeAspect="1"/>
          </p:cNvGraphicFramePr>
          <p:nvPr/>
        </p:nvGraphicFramePr>
        <p:xfrm>
          <a:off x="3340720" y="5303838"/>
          <a:ext cx="2311400" cy="336550"/>
        </p:xfrm>
        <a:graphic>
          <a:graphicData uri="http://schemas.openxmlformats.org/presentationml/2006/ole">
            <p:oleObj spid="_x0000_s13320" name="Equation" r:id="rId6" imgW="1396800" imgH="203040" progId="Equation.3">
              <p:embed/>
            </p:oleObj>
          </a:graphicData>
        </a:graphic>
      </p:graphicFrame>
      <p:sp>
        <p:nvSpPr>
          <p:cNvPr id="48" name="TextBox 47"/>
          <p:cNvSpPr txBox="1"/>
          <p:nvPr/>
        </p:nvSpPr>
        <p:spPr>
          <a:xfrm>
            <a:off x="5580112" y="5661248"/>
            <a:ext cx="576064" cy="369332"/>
          </a:xfrm>
          <a:prstGeom prst="rect">
            <a:avLst/>
          </a:prstGeom>
          <a:noFill/>
        </p:spPr>
        <p:txBody>
          <a:bodyPr wrap="square" rtlCol="0">
            <a:spAutoFit/>
          </a:bodyPr>
          <a:lstStyle/>
          <a:p>
            <a:r>
              <a:rPr lang="en-AU" b="1" dirty="0" smtClean="0">
                <a:solidFill>
                  <a:srgbClr val="C00000"/>
                </a:solidFill>
              </a:rPr>
              <a:t>(2)</a:t>
            </a:r>
            <a:endParaRPr lang="en-US" b="1" dirty="0">
              <a:solidFill>
                <a:srgbClr val="C00000"/>
              </a:solidFill>
            </a:endParaRPr>
          </a:p>
        </p:txBody>
      </p:sp>
      <p:sp>
        <p:nvSpPr>
          <p:cNvPr id="49" name="Rectangle 48"/>
          <p:cNvSpPr/>
          <p:nvPr/>
        </p:nvSpPr>
        <p:spPr>
          <a:xfrm>
            <a:off x="6156176" y="4221088"/>
            <a:ext cx="2808312" cy="1800200"/>
          </a:xfrm>
          <a:prstGeom prst="rect">
            <a:avLst/>
          </a:prstGeom>
          <a:solidFill>
            <a:schemeClr val="bg2">
              <a:lumMod val="90000"/>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6300192" y="4293096"/>
            <a:ext cx="2160240" cy="646331"/>
          </a:xfrm>
          <a:prstGeom prst="rect">
            <a:avLst/>
          </a:prstGeom>
          <a:noFill/>
        </p:spPr>
        <p:txBody>
          <a:bodyPr wrap="square" rtlCol="0">
            <a:spAutoFit/>
          </a:bodyPr>
          <a:lstStyle/>
          <a:p>
            <a:r>
              <a:rPr lang="en-AU" b="1" dirty="0" smtClean="0"/>
              <a:t>In </a:t>
            </a:r>
            <a:r>
              <a:rPr lang="en-AU" b="1" dirty="0" smtClean="0">
                <a:sym typeface="Symbol"/>
              </a:rPr>
              <a:t>ACD</a:t>
            </a:r>
          </a:p>
          <a:p>
            <a:r>
              <a:rPr lang="en-AU" b="1" dirty="0" smtClean="0">
                <a:sym typeface="Symbol"/>
              </a:rPr>
              <a:t>Pythagoras gives</a:t>
            </a:r>
            <a:endParaRPr lang="en-US" b="1" dirty="0"/>
          </a:p>
        </p:txBody>
      </p:sp>
      <p:graphicFrame>
        <p:nvGraphicFramePr>
          <p:cNvPr id="51" name="Object 4"/>
          <p:cNvGraphicFramePr>
            <a:graphicFrameLocks noChangeAspect="1"/>
          </p:cNvGraphicFramePr>
          <p:nvPr/>
        </p:nvGraphicFramePr>
        <p:xfrm>
          <a:off x="6372200" y="4962525"/>
          <a:ext cx="1239837" cy="336550"/>
        </p:xfrm>
        <a:graphic>
          <a:graphicData uri="http://schemas.openxmlformats.org/presentationml/2006/ole">
            <p:oleObj spid="_x0000_s13321" name="Equation" r:id="rId7" imgW="749160" imgH="203040" progId="Equation.3">
              <p:embed/>
            </p:oleObj>
          </a:graphicData>
        </a:graphic>
      </p:graphicFrame>
      <p:graphicFrame>
        <p:nvGraphicFramePr>
          <p:cNvPr id="52" name="Object 8"/>
          <p:cNvGraphicFramePr>
            <a:graphicFrameLocks noChangeAspect="1"/>
          </p:cNvGraphicFramePr>
          <p:nvPr/>
        </p:nvGraphicFramePr>
        <p:xfrm>
          <a:off x="6444208" y="5301208"/>
          <a:ext cx="1239838" cy="336550"/>
        </p:xfrm>
        <a:graphic>
          <a:graphicData uri="http://schemas.openxmlformats.org/presentationml/2006/ole">
            <p:oleObj spid="_x0000_s13322" name="Equation" r:id="rId8" imgW="749160" imgH="203040" progId="Equation.3">
              <p:embed/>
            </p:oleObj>
          </a:graphicData>
        </a:graphic>
      </p:graphicFrame>
      <p:sp>
        <p:nvSpPr>
          <p:cNvPr id="53" name="TextBox 52"/>
          <p:cNvSpPr txBox="1"/>
          <p:nvPr/>
        </p:nvSpPr>
        <p:spPr>
          <a:xfrm>
            <a:off x="7664916" y="5255488"/>
            <a:ext cx="576064" cy="369332"/>
          </a:xfrm>
          <a:prstGeom prst="rect">
            <a:avLst/>
          </a:prstGeom>
          <a:noFill/>
        </p:spPr>
        <p:txBody>
          <a:bodyPr wrap="square" rtlCol="0">
            <a:spAutoFit/>
          </a:bodyPr>
          <a:lstStyle/>
          <a:p>
            <a:r>
              <a:rPr lang="en-AU" b="1" dirty="0" smtClean="0">
                <a:solidFill>
                  <a:srgbClr val="C00000"/>
                </a:solidFill>
              </a:rPr>
              <a:t>(3)</a:t>
            </a:r>
            <a:endParaRPr lang="en-US" b="1" dirty="0">
              <a:solidFill>
                <a:srgbClr val="C00000"/>
              </a:solidFill>
            </a:endParaRPr>
          </a:p>
        </p:txBody>
      </p:sp>
      <p:graphicFrame>
        <p:nvGraphicFramePr>
          <p:cNvPr id="13323" name="Object 11"/>
          <p:cNvGraphicFramePr>
            <a:graphicFrameLocks noChangeAspect="1"/>
          </p:cNvGraphicFramePr>
          <p:nvPr/>
        </p:nvGraphicFramePr>
        <p:xfrm>
          <a:off x="3275856" y="5661248"/>
          <a:ext cx="2311400" cy="336550"/>
        </p:xfrm>
        <a:graphic>
          <a:graphicData uri="http://schemas.openxmlformats.org/presentationml/2006/ole">
            <p:oleObj spid="_x0000_s13323" name="Equation" r:id="rId9" imgW="1396800" imgH="203040" progId="Equation.3">
              <p:embed/>
            </p:oleObj>
          </a:graphicData>
        </a:graphic>
      </p:graphicFrame>
      <p:sp>
        <p:nvSpPr>
          <p:cNvPr id="54" name="TextBox 53"/>
          <p:cNvSpPr txBox="1"/>
          <p:nvPr/>
        </p:nvSpPr>
        <p:spPr>
          <a:xfrm>
            <a:off x="899592" y="6165304"/>
            <a:ext cx="7776864" cy="369332"/>
          </a:xfrm>
          <a:prstGeom prst="rect">
            <a:avLst/>
          </a:prstGeom>
          <a:noFill/>
        </p:spPr>
        <p:txBody>
          <a:bodyPr wrap="square" rtlCol="0">
            <a:spAutoFit/>
          </a:bodyPr>
          <a:lstStyle/>
          <a:p>
            <a:r>
              <a:rPr lang="en-AU" dirty="0" smtClean="0"/>
              <a:t>The formulae </a:t>
            </a:r>
            <a:r>
              <a:rPr lang="en-AU" dirty="0" smtClean="0">
                <a:solidFill>
                  <a:srgbClr val="C00000"/>
                </a:solidFill>
              </a:rPr>
              <a:t>(2)</a:t>
            </a:r>
            <a:r>
              <a:rPr lang="en-AU" dirty="0" smtClean="0"/>
              <a:t> and </a:t>
            </a:r>
            <a:r>
              <a:rPr lang="en-AU" dirty="0" smtClean="0">
                <a:solidFill>
                  <a:srgbClr val="C00000"/>
                </a:solidFill>
              </a:rPr>
              <a:t>(3)</a:t>
            </a:r>
            <a:r>
              <a:rPr lang="en-AU" dirty="0" smtClean="0"/>
              <a:t> are both for </a:t>
            </a:r>
            <a:r>
              <a:rPr lang="en-AU" i="1" dirty="0" smtClean="0"/>
              <a:t>h</a:t>
            </a:r>
            <a:r>
              <a:rPr lang="en-AU" baseline="30000" dirty="0" smtClean="0"/>
              <a:t>2</a:t>
            </a:r>
            <a:r>
              <a:rPr lang="en-AU" dirty="0" smtClean="0"/>
              <a:t> so we make them equal to each other.</a:t>
            </a:r>
            <a:endParaRPr lang="en-US" dirty="0"/>
          </a:p>
        </p:txBody>
      </p:sp>
      <p:sp>
        <p:nvSpPr>
          <p:cNvPr id="40" name="TextBox 39"/>
          <p:cNvSpPr txBox="1"/>
          <p:nvPr/>
        </p:nvSpPr>
        <p:spPr>
          <a:xfrm>
            <a:off x="5724128" y="1844824"/>
            <a:ext cx="3024336" cy="584775"/>
          </a:xfrm>
          <a:prstGeom prst="rect">
            <a:avLst/>
          </a:prstGeom>
          <a:noFill/>
          <a:ln w="47625">
            <a:solidFill>
              <a:schemeClr val="tx1"/>
            </a:solidFill>
          </a:ln>
        </p:spPr>
        <p:txBody>
          <a:bodyPr wrap="square" rtlCol="0">
            <a:spAutoFit/>
          </a:bodyPr>
          <a:lstStyle/>
          <a:p>
            <a:r>
              <a:rPr lang="en-AU" sz="1600" b="1" dirty="0" smtClean="0">
                <a:solidFill>
                  <a:srgbClr val="FF0000"/>
                </a:solidFill>
                <a:latin typeface="Arial" pitchFamily="34" charset="0"/>
                <a:cs typeface="Arial" pitchFamily="34" charset="0"/>
              </a:rPr>
              <a:t>NOTE!! The expansion</a:t>
            </a:r>
          </a:p>
          <a:p>
            <a:r>
              <a:rPr lang="en-AU" sz="1600" b="1" dirty="0" smtClean="0">
                <a:solidFill>
                  <a:srgbClr val="FF0000"/>
                </a:solidFill>
                <a:latin typeface="Arial" pitchFamily="34" charset="0"/>
                <a:cs typeface="Arial" pitchFamily="34" charset="0"/>
              </a:rPr>
              <a:t>(a – x)</a:t>
            </a:r>
            <a:r>
              <a:rPr lang="en-AU" sz="1600" b="1" baseline="30000" dirty="0" smtClean="0">
                <a:solidFill>
                  <a:srgbClr val="FF0000"/>
                </a:solidFill>
                <a:latin typeface="Arial" pitchFamily="34" charset="0"/>
                <a:cs typeface="Arial" pitchFamily="34" charset="0"/>
              </a:rPr>
              <a:t>2</a:t>
            </a:r>
            <a:r>
              <a:rPr lang="en-AU" sz="1600" b="1" dirty="0" smtClean="0">
                <a:solidFill>
                  <a:srgbClr val="FF0000"/>
                </a:solidFill>
                <a:latin typeface="Arial" pitchFamily="34" charset="0"/>
                <a:cs typeface="Arial" pitchFamily="34" charset="0"/>
              </a:rPr>
              <a:t>  = a</a:t>
            </a:r>
            <a:r>
              <a:rPr lang="en-AU" sz="1600" b="1" baseline="30000" dirty="0" smtClean="0">
                <a:solidFill>
                  <a:srgbClr val="FF0000"/>
                </a:solidFill>
                <a:latin typeface="Arial" pitchFamily="34" charset="0"/>
                <a:cs typeface="Arial" pitchFamily="34" charset="0"/>
              </a:rPr>
              <a:t>2</a:t>
            </a:r>
            <a:r>
              <a:rPr lang="en-AU" sz="1600" b="1" dirty="0" smtClean="0">
                <a:solidFill>
                  <a:srgbClr val="FF0000"/>
                </a:solidFill>
                <a:latin typeface="Arial" pitchFamily="34" charset="0"/>
                <a:cs typeface="Arial" pitchFamily="34" charset="0"/>
              </a:rPr>
              <a:t>  – 2ax + x</a:t>
            </a:r>
            <a:r>
              <a:rPr lang="en-AU" sz="1600" b="1" baseline="30000" dirty="0" smtClean="0">
                <a:solidFill>
                  <a:srgbClr val="FF0000"/>
                </a:solidFill>
                <a:latin typeface="Arial" pitchFamily="34" charset="0"/>
                <a:cs typeface="Arial" pitchFamily="34" charset="0"/>
              </a:rPr>
              <a:t>2</a:t>
            </a:r>
            <a:r>
              <a:rPr lang="en-AU" sz="1600" b="1" dirty="0" smtClean="0">
                <a:solidFill>
                  <a:srgbClr val="FF0000"/>
                </a:solidFill>
                <a:latin typeface="Arial" pitchFamily="34" charset="0"/>
                <a:cs typeface="Arial" pitchFamily="34" charset="0"/>
              </a:rPr>
              <a:t> </a:t>
            </a:r>
            <a:endParaRPr lang="en-US" sz="16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amond(in)">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dissolve">
                                      <p:cBhvr>
                                        <p:cTn id="26" dur="500"/>
                                        <p:tgtEl>
                                          <p:spTgt spid="42"/>
                                        </p:tgtEl>
                                      </p:cBhvr>
                                    </p:animEffect>
                                  </p:childTnLst>
                                </p:cTn>
                              </p:par>
                            </p:childTnLst>
                          </p:cTn>
                        </p:par>
                        <p:par>
                          <p:cTn id="27" fill="hold">
                            <p:stCondLst>
                              <p:cond delay="1000"/>
                            </p:stCondLst>
                            <p:childTnLst>
                              <p:par>
                                <p:cTn id="28" presetID="9" presetClass="entr" presetSubtype="0"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dissolve">
                                      <p:cBhvr>
                                        <p:cTn id="30" dur="500"/>
                                        <p:tgtEl>
                                          <p:spTgt spid="25"/>
                                        </p:tgtEl>
                                      </p:cBhvr>
                                    </p:animEffect>
                                  </p:childTnLst>
                                </p:cTn>
                              </p:par>
                            </p:childTnLst>
                          </p:cTn>
                        </p:par>
                        <p:par>
                          <p:cTn id="31" fill="hold">
                            <p:stCondLst>
                              <p:cond delay="1500"/>
                            </p:stCondLst>
                            <p:childTnLst>
                              <p:par>
                                <p:cTn id="32" presetID="9"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dissolve">
                                      <p:cBhvr>
                                        <p:cTn id="34" dur="500"/>
                                        <p:tgtEl>
                                          <p:spTgt spid="27"/>
                                        </p:tgtEl>
                                      </p:cBhvr>
                                    </p:animEffect>
                                  </p:childTnLst>
                                </p:cTn>
                              </p:par>
                            </p:childTnLst>
                          </p:cTn>
                        </p:par>
                        <p:par>
                          <p:cTn id="35" fill="hold">
                            <p:stCondLst>
                              <p:cond delay="2000"/>
                            </p:stCondLst>
                            <p:childTnLst>
                              <p:par>
                                <p:cTn id="36" presetID="9" presetClass="entr" presetSubtype="0" fill="hold" grpId="0"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dissolve">
                                      <p:cBhvr>
                                        <p:cTn id="38" dur="5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dissolve">
                                      <p:cBhvr>
                                        <p:cTn id="43" dur="500"/>
                                        <p:tgtEl>
                                          <p:spTgt spid="43"/>
                                        </p:tgtEl>
                                      </p:cBhvr>
                                    </p:animEffect>
                                  </p:childTnLst>
                                </p:cTn>
                              </p:par>
                            </p:childTnLst>
                          </p:cTn>
                        </p:par>
                        <p:par>
                          <p:cTn id="44" fill="hold">
                            <p:stCondLst>
                              <p:cond delay="500"/>
                            </p:stCondLst>
                            <p:childTnLst>
                              <p:par>
                                <p:cTn id="45" presetID="2" presetClass="entr" presetSubtype="4" fill="hold" grpId="0" nodeType="after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500" fill="hold"/>
                                        <p:tgtEl>
                                          <p:spTgt spid="44"/>
                                        </p:tgtEl>
                                        <p:attrNameLst>
                                          <p:attrName>ppt_x</p:attrName>
                                        </p:attrNameLst>
                                      </p:cBhvr>
                                      <p:tavLst>
                                        <p:tav tm="0">
                                          <p:val>
                                            <p:strVal val="#ppt_x"/>
                                          </p:val>
                                        </p:tav>
                                        <p:tav tm="100000">
                                          <p:val>
                                            <p:strVal val="#ppt_x"/>
                                          </p:val>
                                        </p:tav>
                                      </p:tavLst>
                                    </p:anim>
                                    <p:anim calcmode="lin" valueType="num">
                                      <p:cBhvr additive="base">
                                        <p:cTn id="48" dur="500" fill="hold"/>
                                        <p:tgtEl>
                                          <p:spTgt spid="44"/>
                                        </p:tgtEl>
                                        <p:attrNameLst>
                                          <p:attrName>ppt_y</p:attrName>
                                        </p:attrNameLst>
                                      </p:cBhvr>
                                      <p:tavLst>
                                        <p:tav tm="0">
                                          <p:val>
                                            <p:strVal val="1+#ppt_h/2"/>
                                          </p:val>
                                        </p:tav>
                                        <p:tav tm="100000">
                                          <p:val>
                                            <p:strVal val="#ppt_y"/>
                                          </p:val>
                                        </p:tav>
                                      </p:tavLst>
                                    </p:anim>
                                  </p:childTnLst>
                                </p:cTn>
                              </p:par>
                            </p:childTnLst>
                          </p:cTn>
                        </p:par>
                        <p:par>
                          <p:cTn id="49" fill="hold">
                            <p:stCondLst>
                              <p:cond delay="1000"/>
                            </p:stCondLst>
                            <p:childTnLst>
                              <p:par>
                                <p:cTn id="50" presetID="2" presetClass="entr" presetSubtype="4" fill="hold" grpId="0" nodeType="afterEffect">
                                  <p:stCondLst>
                                    <p:cond delay="0"/>
                                  </p:stCondLst>
                                  <p:childTnLst>
                                    <p:set>
                                      <p:cBhvr>
                                        <p:cTn id="51" dur="1" fill="hold">
                                          <p:stCondLst>
                                            <p:cond delay="0"/>
                                          </p:stCondLst>
                                        </p:cTn>
                                        <p:tgtEl>
                                          <p:spTgt spid="45"/>
                                        </p:tgtEl>
                                        <p:attrNameLst>
                                          <p:attrName>style.visibility</p:attrName>
                                        </p:attrNameLst>
                                      </p:cBhvr>
                                      <p:to>
                                        <p:strVal val="visible"/>
                                      </p:to>
                                    </p:set>
                                    <p:anim calcmode="lin" valueType="num">
                                      <p:cBhvr additive="base">
                                        <p:cTn id="52" dur="500" fill="hold"/>
                                        <p:tgtEl>
                                          <p:spTgt spid="45"/>
                                        </p:tgtEl>
                                        <p:attrNameLst>
                                          <p:attrName>ppt_x</p:attrName>
                                        </p:attrNameLst>
                                      </p:cBhvr>
                                      <p:tavLst>
                                        <p:tav tm="0">
                                          <p:val>
                                            <p:strVal val="#ppt_x"/>
                                          </p:val>
                                        </p:tav>
                                        <p:tav tm="100000">
                                          <p:val>
                                            <p:strVal val="#ppt_x"/>
                                          </p:val>
                                        </p:tav>
                                      </p:tavLst>
                                    </p:anim>
                                    <p:anim calcmode="lin" valueType="num">
                                      <p:cBhvr additive="base">
                                        <p:cTn id="5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blinds(horizontal)">
                                      <p:cBhvr>
                                        <p:cTn id="58" dur="500"/>
                                        <p:tgtEl>
                                          <p:spTgt spid="34"/>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blinds(horizontal)">
                                      <p:cBhvr>
                                        <p:cTn id="61" dur="500"/>
                                        <p:tgtEl>
                                          <p:spTgt spid="36"/>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blinds(horizontal)">
                                      <p:cBhvr>
                                        <p:cTn id="64" dur="500"/>
                                        <p:tgtEl>
                                          <p:spTgt spid="49"/>
                                        </p:tgtEl>
                                      </p:cBhvr>
                                    </p:animEffect>
                                  </p:childTnLst>
                                </p:cTn>
                              </p:par>
                            </p:childTnLst>
                          </p:cTn>
                        </p:par>
                      </p:childTnLst>
                    </p:cTn>
                  </p:par>
                  <p:par>
                    <p:cTn id="65" fill="hold">
                      <p:stCondLst>
                        <p:cond delay="indefinite"/>
                      </p:stCondLst>
                      <p:childTnLst>
                        <p:par>
                          <p:cTn id="66" fill="hold">
                            <p:stCondLst>
                              <p:cond delay="0"/>
                            </p:stCondLst>
                            <p:childTnLst>
                              <p:par>
                                <p:cTn id="67" presetID="8" presetClass="entr" presetSubtype="16"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diamond(in)">
                                      <p:cBhvr>
                                        <p:cTn id="69" dur="2000"/>
                                        <p:tgtEl>
                                          <p:spTgt spid="28"/>
                                        </p:tgtEl>
                                      </p:cBhvr>
                                    </p:animEffect>
                                  </p:childTnLst>
                                </p:cTn>
                              </p:par>
                            </p:childTnLst>
                          </p:cTn>
                        </p:par>
                      </p:childTnLst>
                    </p:cTn>
                  </p:par>
                  <p:par>
                    <p:cTn id="70" fill="hold">
                      <p:stCondLst>
                        <p:cond delay="indefinite"/>
                      </p:stCondLst>
                      <p:childTnLst>
                        <p:par>
                          <p:cTn id="71" fill="hold">
                            <p:stCondLst>
                              <p:cond delay="0"/>
                            </p:stCondLst>
                            <p:childTnLst>
                              <p:par>
                                <p:cTn id="72" presetID="8" presetClass="entr" presetSubtype="16" fill="hold" nodeType="clickEffect">
                                  <p:stCondLst>
                                    <p:cond delay="0"/>
                                  </p:stCondLst>
                                  <p:childTnLst>
                                    <p:set>
                                      <p:cBhvr>
                                        <p:cTn id="73" dur="1" fill="hold">
                                          <p:stCondLst>
                                            <p:cond delay="0"/>
                                          </p:stCondLst>
                                        </p:cTn>
                                        <p:tgtEl>
                                          <p:spTgt spid="3076"/>
                                        </p:tgtEl>
                                        <p:attrNameLst>
                                          <p:attrName>style.visibility</p:attrName>
                                        </p:attrNameLst>
                                      </p:cBhvr>
                                      <p:to>
                                        <p:strVal val="visible"/>
                                      </p:to>
                                    </p:set>
                                    <p:animEffect transition="in" filter="diamond(in)">
                                      <p:cBhvr>
                                        <p:cTn id="74" dur="2000"/>
                                        <p:tgtEl>
                                          <p:spTgt spid="3076"/>
                                        </p:tgtEl>
                                      </p:cBhvr>
                                    </p:animEffect>
                                  </p:childTnLst>
                                </p:cTn>
                              </p:par>
                            </p:childTnLst>
                          </p:cTn>
                        </p:par>
                      </p:childTnLst>
                    </p:cTn>
                  </p:par>
                  <p:par>
                    <p:cTn id="75" fill="hold">
                      <p:stCondLst>
                        <p:cond delay="indefinite"/>
                      </p:stCondLst>
                      <p:childTnLst>
                        <p:par>
                          <p:cTn id="76" fill="hold">
                            <p:stCondLst>
                              <p:cond delay="0"/>
                            </p:stCondLst>
                            <p:childTnLst>
                              <p:par>
                                <p:cTn id="77" presetID="8" presetClass="entr" presetSubtype="16" fill="hold" nodeType="clickEffect">
                                  <p:stCondLst>
                                    <p:cond delay="0"/>
                                  </p:stCondLst>
                                  <p:childTnLst>
                                    <p:set>
                                      <p:cBhvr>
                                        <p:cTn id="78" dur="1" fill="hold">
                                          <p:stCondLst>
                                            <p:cond delay="0"/>
                                          </p:stCondLst>
                                        </p:cTn>
                                        <p:tgtEl>
                                          <p:spTgt spid="13319"/>
                                        </p:tgtEl>
                                        <p:attrNameLst>
                                          <p:attrName>style.visibility</p:attrName>
                                        </p:attrNameLst>
                                      </p:cBhvr>
                                      <p:to>
                                        <p:strVal val="visible"/>
                                      </p:to>
                                    </p:set>
                                    <p:animEffect transition="in" filter="diamond(in)">
                                      <p:cBhvr>
                                        <p:cTn id="79" dur="2000"/>
                                        <p:tgtEl>
                                          <p:spTgt spid="13319"/>
                                        </p:tgtEl>
                                      </p:cBhvr>
                                    </p:animEffect>
                                  </p:childTnLst>
                                </p:cTn>
                              </p:par>
                            </p:childTnLst>
                          </p:cTn>
                        </p:par>
                        <p:par>
                          <p:cTn id="80" fill="hold">
                            <p:stCondLst>
                              <p:cond delay="2000"/>
                            </p:stCondLst>
                            <p:childTnLst>
                              <p:par>
                                <p:cTn id="81" presetID="2" presetClass="entr" presetSubtype="4" fill="hold" grpId="0" nodeType="afterEffect">
                                  <p:stCondLst>
                                    <p:cond delay="0"/>
                                  </p:stCondLst>
                                  <p:childTnLst>
                                    <p:set>
                                      <p:cBhvr>
                                        <p:cTn id="82" dur="1" fill="hold">
                                          <p:stCondLst>
                                            <p:cond delay="0"/>
                                          </p:stCondLst>
                                        </p:cTn>
                                        <p:tgtEl>
                                          <p:spTgt spid="47"/>
                                        </p:tgtEl>
                                        <p:attrNameLst>
                                          <p:attrName>style.visibility</p:attrName>
                                        </p:attrNameLst>
                                      </p:cBhvr>
                                      <p:to>
                                        <p:strVal val="visible"/>
                                      </p:to>
                                    </p:set>
                                    <p:anim calcmode="lin" valueType="num">
                                      <p:cBhvr additive="base">
                                        <p:cTn id="83" dur="500" fill="hold"/>
                                        <p:tgtEl>
                                          <p:spTgt spid="47"/>
                                        </p:tgtEl>
                                        <p:attrNameLst>
                                          <p:attrName>ppt_x</p:attrName>
                                        </p:attrNameLst>
                                      </p:cBhvr>
                                      <p:tavLst>
                                        <p:tav tm="0">
                                          <p:val>
                                            <p:strVal val="#ppt_x"/>
                                          </p:val>
                                        </p:tav>
                                        <p:tav tm="100000">
                                          <p:val>
                                            <p:strVal val="#ppt_x"/>
                                          </p:val>
                                        </p:tav>
                                      </p:tavLst>
                                    </p:anim>
                                    <p:anim calcmode="lin" valueType="num">
                                      <p:cBhvr additive="base">
                                        <p:cTn id="8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8" presetClass="entr" presetSubtype="16" fill="hold" grpId="0" nodeType="click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diamond(in)">
                                      <p:cBhvr>
                                        <p:cTn id="89" dur="2000"/>
                                        <p:tgtEl>
                                          <p:spTgt spid="31"/>
                                        </p:tgtEl>
                                      </p:cBhvr>
                                    </p:animEffect>
                                  </p:childTnLst>
                                </p:cTn>
                              </p:par>
                            </p:childTnLst>
                          </p:cTn>
                        </p:par>
                      </p:childTnLst>
                    </p:cTn>
                  </p:par>
                  <p:par>
                    <p:cTn id="90" fill="hold">
                      <p:stCondLst>
                        <p:cond delay="indefinite"/>
                      </p:stCondLst>
                      <p:childTnLst>
                        <p:par>
                          <p:cTn id="91" fill="hold">
                            <p:stCondLst>
                              <p:cond delay="0"/>
                            </p:stCondLst>
                            <p:childTnLst>
                              <p:par>
                                <p:cTn id="92" presetID="8" presetClass="entr" presetSubtype="16" fill="hold"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diamond(in)">
                                      <p:cBhvr>
                                        <p:cTn id="94" dur="2000"/>
                                        <p:tgtEl>
                                          <p:spTgt spid="33"/>
                                        </p:tgtEl>
                                      </p:cBhvr>
                                    </p:animEffect>
                                  </p:childTnLst>
                                </p:cTn>
                              </p:par>
                            </p:childTnLst>
                          </p:cTn>
                        </p:par>
                      </p:childTnLst>
                    </p:cTn>
                  </p:par>
                  <p:par>
                    <p:cTn id="95" fill="hold">
                      <p:stCondLst>
                        <p:cond delay="indefinite"/>
                      </p:stCondLst>
                      <p:childTnLst>
                        <p:par>
                          <p:cTn id="96" fill="hold">
                            <p:stCondLst>
                              <p:cond delay="0"/>
                            </p:stCondLst>
                            <p:childTnLst>
                              <p:par>
                                <p:cTn id="97" presetID="8" presetClass="entr" presetSubtype="16" fill="hold" nodeType="clickEffect">
                                  <p:stCondLst>
                                    <p:cond delay="0"/>
                                  </p:stCondLst>
                                  <p:childTnLst>
                                    <p:set>
                                      <p:cBhvr>
                                        <p:cTn id="98" dur="1" fill="hold">
                                          <p:stCondLst>
                                            <p:cond delay="0"/>
                                          </p:stCondLst>
                                        </p:cTn>
                                        <p:tgtEl>
                                          <p:spTgt spid="13320"/>
                                        </p:tgtEl>
                                        <p:attrNameLst>
                                          <p:attrName>style.visibility</p:attrName>
                                        </p:attrNameLst>
                                      </p:cBhvr>
                                      <p:to>
                                        <p:strVal val="visible"/>
                                      </p:to>
                                    </p:set>
                                    <p:animEffect transition="in" filter="diamond(in)">
                                      <p:cBhvr>
                                        <p:cTn id="99" dur="2000"/>
                                        <p:tgtEl>
                                          <p:spTgt spid="13320"/>
                                        </p:tgtEl>
                                      </p:cBhvr>
                                    </p:animEffect>
                                  </p:childTnLst>
                                </p:cTn>
                              </p:par>
                            </p:childTnLst>
                          </p:cTn>
                        </p:par>
                        <p:par>
                          <p:cTn id="100" fill="hold">
                            <p:stCondLst>
                              <p:cond delay="2000"/>
                            </p:stCondLst>
                            <p:childTnLst>
                              <p:par>
                                <p:cTn id="101" presetID="2" presetClass="entr" presetSubtype="12" fill="hold" grpId="0" nodeType="afterEffect">
                                  <p:stCondLst>
                                    <p:cond delay="0"/>
                                  </p:stCondLst>
                                  <p:childTnLst>
                                    <p:set>
                                      <p:cBhvr>
                                        <p:cTn id="102" dur="1" fill="hold">
                                          <p:stCondLst>
                                            <p:cond delay="0"/>
                                          </p:stCondLst>
                                        </p:cTn>
                                        <p:tgtEl>
                                          <p:spTgt spid="40"/>
                                        </p:tgtEl>
                                        <p:attrNameLst>
                                          <p:attrName>style.visibility</p:attrName>
                                        </p:attrNameLst>
                                      </p:cBhvr>
                                      <p:to>
                                        <p:strVal val="visible"/>
                                      </p:to>
                                    </p:set>
                                    <p:anim calcmode="lin" valueType="num">
                                      <p:cBhvr additive="base">
                                        <p:cTn id="103" dur="5000" fill="hold"/>
                                        <p:tgtEl>
                                          <p:spTgt spid="40"/>
                                        </p:tgtEl>
                                        <p:attrNameLst>
                                          <p:attrName>ppt_x</p:attrName>
                                        </p:attrNameLst>
                                      </p:cBhvr>
                                      <p:tavLst>
                                        <p:tav tm="0">
                                          <p:val>
                                            <p:strVal val="0-#ppt_w/2"/>
                                          </p:val>
                                        </p:tav>
                                        <p:tav tm="100000">
                                          <p:val>
                                            <p:strVal val="#ppt_x"/>
                                          </p:val>
                                        </p:tav>
                                      </p:tavLst>
                                    </p:anim>
                                    <p:anim calcmode="lin" valueType="num">
                                      <p:cBhvr additive="base">
                                        <p:cTn id="104" dur="50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8" presetClass="entr" presetSubtype="16" fill="hold" nodeType="clickEffect">
                                  <p:stCondLst>
                                    <p:cond delay="0"/>
                                  </p:stCondLst>
                                  <p:childTnLst>
                                    <p:set>
                                      <p:cBhvr>
                                        <p:cTn id="108" dur="1" fill="hold">
                                          <p:stCondLst>
                                            <p:cond delay="0"/>
                                          </p:stCondLst>
                                        </p:cTn>
                                        <p:tgtEl>
                                          <p:spTgt spid="13323"/>
                                        </p:tgtEl>
                                        <p:attrNameLst>
                                          <p:attrName>style.visibility</p:attrName>
                                        </p:attrNameLst>
                                      </p:cBhvr>
                                      <p:to>
                                        <p:strVal val="visible"/>
                                      </p:to>
                                    </p:set>
                                    <p:animEffect transition="in" filter="diamond(in)">
                                      <p:cBhvr>
                                        <p:cTn id="109" dur="2000"/>
                                        <p:tgtEl>
                                          <p:spTgt spid="13323"/>
                                        </p:tgtEl>
                                      </p:cBhvr>
                                    </p:animEffect>
                                  </p:childTnLst>
                                </p:cTn>
                              </p:par>
                            </p:childTnLst>
                          </p:cTn>
                        </p:par>
                        <p:par>
                          <p:cTn id="110" fill="hold">
                            <p:stCondLst>
                              <p:cond delay="2000"/>
                            </p:stCondLst>
                            <p:childTnLst>
                              <p:par>
                                <p:cTn id="111" presetID="2" presetClass="entr" presetSubtype="4" fill="hold" grpId="0" nodeType="afterEffect">
                                  <p:stCondLst>
                                    <p:cond delay="0"/>
                                  </p:stCondLst>
                                  <p:childTnLst>
                                    <p:set>
                                      <p:cBhvr>
                                        <p:cTn id="112" dur="1" fill="hold">
                                          <p:stCondLst>
                                            <p:cond delay="0"/>
                                          </p:stCondLst>
                                        </p:cTn>
                                        <p:tgtEl>
                                          <p:spTgt spid="48"/>
                                        </p:tgtEl>
                                        <p:attrNameLst>
                                          <p:attrName>style.visibility</p:attrName>
                                        </p:attrNameLst>
                                      </p:cBhvr>
                                      <p:to>
                                        <p:strVal val="visible"/>
                                      </p:to>
                                    </p:set>
                                    <p:anim calcmode="lin" valueType="num">
                                      <p:cBhvr additive="base">
                                        <p:cTn id="113" dur="500" fill="hold"/>
                                        <p:tgtEl>
                                          <p:spTgt spid="48"/>
                                        </p:tgtEl>
                                        <p:attrNameLst>
                                          <p:attrName>ppt_x</p:attrName>
                                        </p:attrNameLst>
                                      </p:cBhvr>
                                      <p:tavLst>
                                        <p:tav tm="0">
                                          <p:val>
                                            <p:strVal val="#ppt_x"/>
                                          </p:val>
                                        </p:tav>
                                        <p:tav tm="100000">
                                          <p:val>
                                            <p:strVal val="#ppt_x"/>
                                          </p:val>
                                        </p:tav>
                                      </p:tavLst>
                                    </p:anim>
                                    <p:anim calcmode="lin" valueType="num">
                                      <p:cBhvr additive="base">
                                        <p:cTn id="114"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8" presetClass="entr" presetSubtype="16" fill="hold" grpId="0" nodeType="click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diamond(in)">
                                      <p:cBhvr>
                                        <p:cTn id="119" dur="2000"/>
                                        <p:tgtEl>
                                          <p:spTgt spid="50"/>
                                        </p:tgtEl>
                                      </p:cBhvr>
                                    </p:animEffect>
                                  </p:childTnLst>
                                </p:cTn>
                              </p:par>
                            </p:childTnLst>
                          </p:cTn>
                        </p:par>
                      </p:childTnLst>
                    </p:cTn>
                  </p:par>
                  <p:par>
                    <p:cTn id="120" fill="hold">
                      <p:stCondLst>
                        <p:cond delay="indefinite"/>
                      </p:stCondLst>
                      <p:childTnLst>
                        <p:par>
                          <p:cTn id="121" fill="hold">
                            <p:stCondLst>
                              <p:cond delay="0"/>
                            </p:stCondLst>
                            <p:childTnLst>
                              <p:par>
                                <p:cTn id="122" presetID="8" presetClass="entr" presetSubtype="16" fill="hold" nodeType="clickEffect">
                                  <p:stCondLst>
                                    <p:cond delay="0"/>
                                  </p:stCondLst>
                                  <p:childTnLst>
                                    <p:set>
                                      <p:cBhvr>
                                        <p:cTn id="123" dur="1" fill="hold">
                                          <p:stCondLst>
                                            <p:cond delay="0"/>
                                          </p:stCondLst>
                                        </p:cTn>
                                        <p:tgtEl>
                                          <p:spTgt spid="51"/>
                                        </p:tgtEl>
                                        <p:attrNameLst>
                                          <p:attrName>style.visibility</p:attrName>
                                        </p:attrNameLst>
                                      </p:cBhvr>
                                      <p:to>
                                        <p:strVal val="visible"/>
                                      </p:to>
                                    </p:set>
                                    <p:animEffect transition="in" filter="diamond(in)">
                                      <p:cBhvr>
                                        <p:cTn id="124" dur="2000"/>
                                        <p:tgtEl>
                                          <p:spTgt spid="51"/>
                                        </p:tgtEl>
                                      </p:cBhvr>
                                    </p:animEffect>
                                  </p:childTnLst>
                                </p:cTn>
                              </p:par>
                            </p:childTnLst>
                          </p:cTn>
                        </p:par>
                      </p:childTnLst>
                    </p:cTn>
                  </p:par>
                  <p:par>
                    <p:cTn id="125" fill="hold">
                      <p:stCondLst>
                        <p:cond delay="indefinite"/>
                      </p:stCondLst>
                      <p:childTnLst>
                        <p:par>
                          <p:cTn id="126" fill="hold">
                            <p:stCondLst>
                              <p:cond delay="0"/>
                            </p:stCondLst>
                            <p:childTnLst>
                              <p:par>
                                <p:cTn id="127" presetID="8" presetClass="entr" presetSubtype="16" fill="hold" nodeType="clickEffect">
                                  <p:stCondLst>
                                    <p:cond delay="0"/>
                                  </p:stCondLst>
                                  <p:childTnLst>
                                    <p:set>
                                      <p:cBhvr>
                                        <p:cTn id="128" dur="1" fill="hold">
                                          <p:stCondLst>
                                            <p:cond delay="0"/>
                                          </p:stCondLst>
                                        </p:cTn>
                                        <p:tgtEl>
                                          <p:spTgt spid="52"/>
                                        </p:tgtEl>
                                        <p:attrNameLst>
                                          <p:attrName>style.visibility</p:attrName>
                                        </p:attrNameLst>
                                      </p:cBhvr>
                                      <p:to>
                                        <p:strVal val="visible"/>
                                      </p:to>
                                    </p:set>
                                    <p:animEffect transition="in" filter="diamond(in)">
                                      <p:cBhvr>
                                        <p:cTn id="129" dur="2000"/>
                                        <p:tgtEl>
                                          <p:spTgt spid="52"/>
                                        </p:tgtEl>
                                      </p:cBhvr>
                                    </p:animEffect>
                                  </p:childTnLst>
                                </p:cTn>
                              </p:par>
                            </p:childTnLst>
                          </p:cTn>
                        </p:par>
                        <p:par>
                          <p:cTn id="130" fill="hold">
                            <p:stCondLst>
                              <p:cond delay="2000"/>
                            </p:stCondLst>
                            <p:childTnLst>
                              <p:par>
                                <p:cTn id="131" presetID="2" presetClass="entr" presetSubtype="4" fill="hold" grpId="0" nodeType="afterEffect">
                                  <p:stCondLst>
                                    <p:cond delay="0"/>
                                  </p:stCondLst>
                                  <p:childTnLst>
                                    <p:set>
                                      <p:cBhvr>
                                        <p:cTn id="132" dur="1" fill="hold">
                                          <p:stCondLst>
                                            <p:cond delay="0"/>
                                          </p:stCondLst>
                                        </p:cTn>
                                        <p:tgtEl>
                                          <p:spTgt spid="53"/>
                                        </p:tgtEl>
                                        <p:attrNameLst>
                                          <p:attrName>style.visibility</p:attrName>
                                        </p:attrNameLst>
                                      </p:cBhvr>
                                      <p:to>
                                        <p:strVal val="visible"/>
                                      </p:to>
                                    </p:set>
                                    <p:anim calcmode="lin" valueType="num">
                                      <p:cBhvr additive="base">
                                        <p:cTn id="133" dur="500" fill="hold"/>
                                        <p:tgtEl>
                                          <p:spTgt spid="53"/>
                                        </p:tgtEl>
                                        <p:attrNameLst>
                                          <p:attrName>ppt_x</p:attrName>
                                        </p:attrNameLst>
                                      </p:cBhvr>
                                      <p:tavLst>
                                        <p:tav tm="0">
                                          <p:val>
                                            <p:strVal val="#ppt_x"/>
                                          </p:val>
                                        </p:tav>
                                        <p:tav tm="100000">
                                          <p:val>
                                            <p:strVal val="#ppt_x"/>
                                          </p:val>
                                        </p:tav>
                                      </p:tavLst>
                                    </p:anim>
                                    <p:anim calcmode="lin" valueType="num">
                                      <p:cBhvr additive="base">
                                        <p:cTn id="13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9" presetClass="entr" presetSubtype="0" fill="hold" grpId="0" nodeType="clickEffect">
                                  <p:stCondLst>
                                    <p:cond delay="0"/>
                                  </p:stCondLst>
                                  <p:childTnLst>
                                    <p:set>
                                      <p:cBhvr>
                                        <p:cTn id="138" dur="1" fill="hold">
                                          <p:stCondLst>
                                            <p:cond delay="0"/>
                                          </p:stCondLst>
                                        </p:cTn>
                                        <p:tgtEl>
                                          <p:spTgt spid="54"/>
                                        </p:tgtEl>
                                        <p:attrNameLst>
                                          <p:attrName>style.visibility</p:attrName>
                                        </p:attrNameLst>
                                      </p:cBhvr>
                                      <p:to>
                                        <p:strVal val="visible"/>
                                      </p:to>
                                    </p:set>
                                    <p:animEffect transition="in" filter="dissolve">
                                      <p:cBhvr>
                                        <p:cTn id="13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23" grpId="0"/>
      <p:bldP spid="28" grpId="0"/>
      <p:bldP spid="31" grpId="0"/>
      <p:bldP spid="34" grpId="0" animBg="1"/>
      <p:bldP spid="36" grpId="0" animBg="1"/>
      <p:bldP spid="42" grpId="0"/>
      <p:bldP spid="43" grpId="0"/>
      <p:bldP spid="44" grpId="0"/>
      <p:bldP spid="45" grpId="0"/>
      <p:bldP spid="47" grpId="0"/>
      <p:bldP spid="48" grpId="0"/>
      <p:bldP spid="49" grpId="0" animBg="1"/>
      <p:bldP spid="50" grpId="0"/>
      <p:bldP spid="53" grpId="0"/>
      <p:bldP spid="54" grpId="0"/>
      <p:bldP spid="4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2195736" y="692696"/>
          <a:ext cx="4711769" cy="576064"/>
        </p:xfrm>
        <a:graphic>
          <a:graphicData uri="http://schemas.openxmlformats.org/presentationml/2006/ole">
            <p:oleObj spid="_x0000_s14338" name="Equation" r:id="rId3" imgW="1663560" imgH="203040" progId="Equation.3">
              <p:embed/>
            </p:oleObj>
          </a:graphicData>
        </a:graphic>
      </p:graphicFrame>
      <p:sp>
        <p:nvSpPr>
          <p:cNvPr id="3" name="TextBox 2"/>
          <p:cNvSpPr txBox="1"/>
          <p:nvPr/>
        </p:nvSpPr>
        <p:spPr>
          <a:xfrm>
            <a:off x="611560" y="1412776"/>
            <a:ext cx="4608512" cy="646331"/>
          </a:xfrm>
          <a:prstGeom prst="rect">
            <a:avLst/>
          </a:prstGeom>
          <a:noFill/>
        </p:spPr>
        <p:txBody>
          <a:bodyPr wrap="square" rtlCol="0">
            <a:spAutoFit/>
          </a:bodyPr>
          <a:lstStyle/>
          <a:p>
            <a:r>
              <a:rPr lang="en-AU" dirty="0" smtClean="0"/>
              <a:t>Now cancel the </a:t>
            </a:r>
            <a:r>
              <a:rPr lang="en-AU" i="1" dirty="0" smtClean="0"/>
              <a:t>x</a:t>
            </a:r>
            <a:r>
              <a:rPr lang="en-AU" baseline="30000" dirty="0" smtClean="0"/>
              <a:t>2</a:t>
            </a:r>
            <a:r>
              <a:rPr lang="en-AU" i="1" dirty="0" smtClean="0"/>
              <a:t> </a:t>
            </a:r>
            <a:r>
              <a:rPr lang="en-AU" dirty="0" smtClean="0"/>
              <a:t>on each side and make </a:t>
            </a:r>
            <a:r>
              <a:rPr lang="en-AU" i="1" dirty="0" smtClean="0"/>
              <a:t>c</a:t>
            </a:r>
            <a:r>
              <a:rPr lang="en-AU" dirty="0" smtClean="0"/>
              <a:t> </a:t>
            </a:r>
            <a:r>
              <a:rPr lang="en-AU" baseline="30000" dirty="0" smtClean="0"/>
              <a:t>2</a:t>
            </a:r>
            <a:r>
              <a:rPr lang="en-AU" dirty="0" smtClean="0"/>
              <a:t> the subject…</a:t>
            </a:r>
            <a:endParaRPr lang="en-US" dirty="0"/>
          </a:p>
        </p:txBody>
      </p:sp>
      <p:graphicFrame>
        <p:nvGraphicFramePr>
          <p:cNvPr id="14339" name="Object 3"/>
          <p:cNvGraphicFramePr>
            <a:graphicFrameLocks noChangeAspect="1"/>
          </p:cNvGraphicFramePr>
          <p:nvPr/>
        </p:nvGraphicFramePr>
        <p:xfrm>
          <a:off x="2987824" y="1844824"/>
          <a:ext cx="3165475" cy="576262"/>
        </p:xfrm>
        <a:graphic>
          <a:graphicData uri="http://schemas.openxmlformats.org/presentationml/2006/ole">
            <p:oleObj spid="_x0000_s14339" name="Equation" r:id="rId4" imgW="1117440" imgH="203040" progId="Equation.3">
              <p:embed/>
            </p:oleObj>
          </a:graphicData>
        </a:graphic>
      </p:graphicFrame>
      <p:cxnSp>
        <p:nvCxnSpPr>
          <p:cNvPr id="6" name="Straight Connector 5"/>
          <p:cNvCxnSpPr/>
          <p:nvPr/>
        </p:nvCxnSpPr>
        <p:spPr>
          <a:xfrm flipV="1">
            <a:off x="4427984" y="764704"/>
            <a:ext cx="864096" cy="576064"/>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6012160" y="764704"/>
            <a:ext cx="864096" cy="576064"/>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11560" y="2852936"/>
            <a:ext cx="6840760" cy="369332"/>
          </a:xfrm>
          <a:prstGeom prst="rect">
            <a:avLst/>
          </a:prstGeom>
          <a:noFill/>
        </p:spPr>
        <p:txBody>
          <a:bodyPr wrap="square" rtlCol="0">
            <a:spAutoFit/>
          </a:bodyPr>
          <a:lstStyle/>
          <a:p>
            <a:r>
              <a:rPr lang="en-AU" dirty="0" smtClean="0"/>
              <a:t>From the first box on the previous slide, taking result </a:t>
            </a:r>
            <a:r>
              <a:rPr lang="en-AU" dirty="0" smtClean="0">
                <a:solidFill>
                  <a:srgbClr val="C00000"/>
                </a:solidFill>
              </a:rPr>
              <a:t>(1) </a:t>
            </a:r>
            <a:endParaRPr lang="en-US" dirty="0"/>
          </a:p>
        </p:txBody>
      </p:sp>
      <p:sp>
        <p:nvSpPr>
          <p:cNvPr id="9" name="TextBox 8"/>
          <p:cNvSpPr txBox="1"/>
          <p:nvPr/>
        </p:nvSpPr>
        <p:spPr>
          <a:xfrm>
            <a:off x="3491880" y="3212976"/>
            <a:ext cx="2160240" cy="461665"/>
          </a:xfrm>
          <a:prstGeom prst="rect">
            <a:avLst/>
          </a:prstGeom>
          <a:noFill/>
        </p:spPr>
        <p:txBody>
          <a:bodyPr wrap="square" rtlCol="0">
            <a:spAutoFit/>
          </a:bodyPr>
          <a:lstStyle/>
          <a:p>
            <a:r>
              <a:rPr lang="en-AU" sz="2400" i="1" dirty="0" smtClean="0"/>
              <a:t>x</a:t>
            </a:r>
            <a:r>
              <a:rPr lang="en-AU" sz="2400" dirty="0" smtClean="0"/>
              <a:t> = </a:t>
            </a:r>
            <a:r>
              <a:rPr lang="en-AU" sz="2400" i="1" dirty="0" smtClean="0"/>
              <a:t>b </a:t>
            </a:r>
            <a:r>
              <a:rPr lang="en-AU" sz="2400" dirty="0" err="1" smtClean="0"/>
              <a:t>cos</a:t>
            </a:r>
            <a:r>
              <a:rPr lang="en-AU" sz="2400" dirty="0" smtClean="0"/>
              <a:t> </a:t>
            </a:r>
            <a:r>
              <a:rPr lang="en-AU" sz="2400" i="1" dirty="0" smtClean="0"/>
              <a:t>C</a:t>
            </a:r>
            <a:endParaRPr lang="en-US" sz="2400" i="1" dirty="0"/>
          </a:p>
        </p:txBody>
      </p:sp>
      <p:sp>
        <p:nvSpPr>
          <p:cNvPr id="10" name="TextBox 9"/>
          <p:cNvSpPr txBox="1"/>
          <p:nvPr/>
        </p:nvSpPr>
        <p:spPr>
          <a:xfrm>
            <a:off x="6588224" y="1988840"/>
            <a:ext cx="864096" cy="369332"/>
          </a:xfrm>
          <a:prstGeom prst="rect">
            <a:avLst/>
          </a:prstGeom>
          <a:noFill/>
        </p:spPr>
        <p:txBody>
          <a:bodyPr wrap="square" rtlCol="0">
            <a:spAutoFit/>
          </a:bodyPr>
          <a:lstStyle/>
          <a:p>
            <a:r>
              <a:rPr lang="en-AU" b="1" dirty="0" smtClean="0">
                <a:solidFill>
                  <a:srgbClr val="C00000"/>
                </a:solidFill>
              </a:rPr>
              <a:t>(4)</a:t>
            </a:r>
            <a:endParaRPr lang="en-US" b="1" dirty="0">
              <a:solidFill>
                <a:srgbClr val="C00000"/>
              </a:solidFill>
            </a:endParaRPr>
          </a:p>
        </p:txBody>
      </p:sp>
      <p:sp>
        <p:nvSpPr>
          <p:cNvPr id="11" name="TextBox 10"/>
          <p:cNvSpPr txBox="1"/>
          <p:nvPr/>
        </p:nvSpPr>
        <p:spPr>
          <a:xfrm>
            <a:off x="755576" y="3717032"/>
            <a:ext cx="4248472" cy="369332"/>
          </a:xfrm>
          <a:prstGeom prst="rect">
            <a:avLst/>
          </a:prstGeom>
          <a:noFill/>
        </p:spPr>
        <p:txBody>
          <a:bodyPr wrap="square" rtlCol="0">
            <a:spAutoFit/>
          </a:bodyPr>
          <a:lstStyle/>
          <a:p>
            <a:r>
              <a:rPr lang="en-AU" dirty="0" smtClean="0"/>
              <a:t>and substituting this into </a:t>
            </a:r>
            <a:r>
              <a:rPr lang="en-AU" b="1" dirty="0" smtClean="0">
                <a:solidFill>
                  <a:srgbClr val="C00000"/>
                </a:solidFill>
              </a:rPr>
              <a:t>(4), </a:t>
            </a:r>
            <a:r>
              <a:rPr lang="en-AU" dirty="0" smtClean="0"/>
              <a:t>we get</a:t>
            </a:r>
            <a:endParaRPr lang="en-US" dirty="0"/>
          </a:p>
        </p:txBody>
      </p:sp>
      <p:graphicFrame>
        <p:nvGraphicFramePr>
          <p:cNvPr id="14340" name="Object 4"/>
          <p:cNvGraphicFramePr>
            <a:graphicFrameLocks noChangeAspect="1"/>
          </p:cNvGraphicFramePr>
          <p:nvPr/>
        </p:nvGraphicFramePr>
        <p:xfrm>
          <a:off x="2484438" y="4364906"/>
          <a:ext cx="4171950" cy="576262"/>
        </p:xfrm>
        <a:graphic>
          <a:graphicData uri="http://schemas.openxmlformats.org/presentationml/2006/ole">
            <p:oleObj spid="_x0000_s14340" name="Equation" r:id="rId5" imgW="1473120" imgH="203040" progId="Equation.3">
              <p:embed/>
            </p:oleObj>
          </a:graphicData>
        </a:graphic>
      </p:graphicFrame>
      <p:sp>
        <p:nvSpPr>
          <p:cNvPr id="13" name="TextBox 12"/>
          <p:cNvSpPr txBox="1"/>
          <p:nvPr/>
        </p:nvSpPr>
        <p:spPr>
          <a:xfrm>
            <a:off x="755576" y="5157192"/>
            <a:ext cx="6264696" cy="369332"/>
          </a:xfrm>
          <a:prstGeom prst="rect">
            <a:avLst/>
          </a:prstGeom>
          <a:noFill/>
        </p:spPr>
        <p:txBody>
          <a:bodyPr wrap="square" rtlCol="0">
            <a:spAutoFit/>
          </a:bodyPr>
          <a:lstStyle/>
          <a:p>
            <a:r>
              <a:rPr lang="en-AU" dirty="0" smtClean="0"/>
              <a:t>which is a version of the Cosine Rule (for finding a side)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diamond(in)">
                                      <p:cBhvr>
                                        <p:cTn id="7" dur="20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14339"/>
                                        </p:tgtEl>
                                        <p:attrNameLst>
                                          <p:attrName>style.visibility</p:attrName>
                                        </p:attrNameLst>
                                      </p:cBhvr>
                                      <p:to>
                                        <p:strVal val="visible"/>
                                      </p:to>
                                    </p:set>
                                    <p:animEffect transition="in" filter="dissolve">
                                      <p:cBhvr>
                                        <p:cTn id="24" dur="500"/>
                                        <p:tgtEl>
                                          <p:spTgt spid="14339"/>
                                        </p:tgtEl>
                                      </p:cBhvr>
                                    </p:animEffect>
                                  </p:childTnLst>
                                </p:cTn>
                              </p:par>
                            </p:childTnLst>
                          </p:cTn>
                        </p:par>
                        <p:par>
                          <p:cTn id="25" fill="hold">
                            <p:stCondLst>
                              <p:cond delay="1000"/>
                            </p:stCondLst>
                            <p:childTnLst>
                              <p:par>
                                <p:cTn id="26" presetID="2" presetClass="entr" presetSubtype="4"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diamond(in)">
                                      <p:cBhvr>
                                        <p:cTn id="34" dur="2000"/>
                                        <p:tgtEl>
                                          <p:spTgt spid="8"/>
                                        </p:tgtEl>
                                      </p:cBhvr>
                                    </p:animEffect>
                                  </p:childTnLst>
                                </p:cTn>
                              </p:par>
                              <p:par>
                                <p:cTn id="35" presetID="8"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amond(in)">
                                      <p:cBhvr>
                                        <p:cTn id="37" dur="2000"/>
                                        <p:tgtEl>
                                          <p:spTgt spid="9"/>
                                        </p:tgtEl>
                                      </p:cBhvr>
                                    </p:animEffect>
                                  </p:childTnLst>
                                </p:cTn>
                              </p:par>
                            </p:childTnLst>
                          </p:cTn>
                        </p:par>
                        <p:par>
                          <p:cTn id="38" fill="hold">
                            <p:stCondLst>
                              <p:cond delay="2000"/>
                            </p:stCondLst>
                            <p:childTnLst>
                              <p:par>
                                <p:cTn id="39" presetID="8" presetClass="entr" presetSubtype="16"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diamond(in)">
                                      <p:cBhvr>
                                        <p:cTn id="41" dur="20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35" presetClass="entr" presetSubtype="0" fill="hold" nodeType="clickEffect">
                                  <p:stCondLst>
                                    <p:cond delay="0"/>
                                  </p:stCondLst>
                                  <p:childTnLst>
                                    <p:set>
                                      <p:cBhvr>
                                        <p:cTn id="45" dur="1" fill="hold">
                                          <p:stCondLst>
                                            <p:cond delay="0"/>
                                          </p:stCondLst>
                                        </p:cTn>
                                        <p:tgtEl>
                                          <p:spTgt spid="14340"/>
                                        </p:tgtEl>
                                        <p:attrNameLst>
                                          <p:attrName>style.visibility</p:attrName>
                                        </p:attrNameLst>
                                      </p:cBhvr>
                                      <p:to>
                                        <p:strVal val="visible"/>
                                      </p:to>
                                    </p:set>
                                    <p:animEffect transition="in" filter="fade">
                                      <p:cBhvr>
                                        <p:cTn id="46" dur="2000"/>
                                        <p:tgtEl>
                                          <p:spTgt spid="14340"/>
                                        </p:tgtEl>
                                      </p:cBhvr>
                                    </p:animEffect>
                                    <p:anim calcmode="lin" valueType="num">
                                      <p:cBhvr>
                                        <p:cTn id="47" dur="2000" fill="hold"/>
                                        <p:tgtEl>
                                          <p:spTgt spid="14340"/>
                                        </p:tgtEl>
                                        <p:attrNameLst>
                                          <p:attrName>style.rotation</p:attrName>
                                        </p:attrNameLst>
                                      </p:cBhvr>
                                      <p:tavLst>
                                        <p:tav tm="0">
                                          <p:val>
                                            <p:fltVal val="720"/>
                                          </p:val>
                                        </p:tav>
                                        <p:tav tm="100000">
                                          <p:val>
                                            <p:fltVal val="0"/>
                                          </p:val>
                                        </p:tav>
                                      </p:tavLst>
                                    </p:anim>
                                    <p:anim calcmode="lin" valueType="num">
                                      <p:cBhvr>
                                        <p:cTn id="48" dur="2000" fill="hold"/>
                                        <p:tgtEl>
                                          <p:spTgt spid="14340"/>
                                        </p:tgtEl>
                                        <p:attrNameLst>
                                          <p:attrName>ppt_h</p:attrName>
                                        </p:attrNameLst>
                                      </p:cBhvr>
                                      <p:tavLst>
                                        <p:tav tm="0">
                                          <p:val>
                                            <p:fltVal val="0"/>
                                          </p:val>
                                        </p:tav>
                                        <p:tav tm="100000">
                                          <p:val>
                                            <p:strVal val="#ppt_h"/>
                                          </p:val>
                                        </p:tav>
                                      </p:tavLst>
                                    </p:anim>
                                    <p:anim calcmode="lin" valueType="num">
                                      <p:cBhvr>
                                        <p:cTn id="49" dur="2000" fill="hold"/>
                                        <p:tgtEl>
                                          <p:spTgt spid="14340"/>
                                        </p:tgtEl>
                                        <p:attrNameLst>
                                          <p:attrName>ppt_w</p:attrName>
                                        </p:attrNameLst>
                                      </p:cBhvr>
                                      <p:tavLst>
                                        <p:tav tm="0">
                                          <p:val>
                                            <p:fltVal val="0"/>
                                          </p:val>
                                        </p:tav>
                                        <p:tav tm="100000">
                                          <p:val>
                                            <p:strVal val="#ppt_w"/>
                                          </p:val>
                                        </p:tav>
                                      </p:tavLst>
                                    </p:anim>
                                  </p:childTnLst>
                                </p:cTn>
                              </p:par>
                            </p:childTnLst>
                          </p:cTn>
                        </p:par>
                        <p:par>
                          <p:cTn id="50" fill="hold">
                            <p:stCondLst>
                              <p:cond delay="2000"/>
                            </p:stCondLst>
                            <p:childTnLst>
                              <p:par>
                                <p:cTn id="51" presetID="2" presetClass="entr" presetSubtype="4"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2000" fill="hold"/>
                                        <p:tgtEl>
                                          <p:spTgt spid="13"/>
                                        </p:tgtEl>
                                        <p:attrNameLst>
                                          <p:attrName>ppt_x</p:attrName>
                                        </p:attrNameLst>
                                      </p:cBhvr>
                                      <p:tavLst>
                                        <p:tav tm="0">
                                          <p:val>
                                            <p:strVal val="#ppt_x"/>
                                          </p:val>
                                        </p:tav>
                                        <p:tav tm="100000">
                                          <p:val>
                                            <p:strVal val="#ppt_x"/>
                                          </p:val>
                                        </p:tav>
                                      </p:tavLst>
                                    </p:anim>
                                    <p:anim calcmode="lin" valueType="num">
                                      <p:cBhvr additive="base">
                                        <p:cTn id="54" dur="2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3235" y="836712"/>
            <a:ext cx="7116948" cy="707886"/>
          </a:xfrm>
          <a:prstGeom prst="rect">
            <a:avLst/>
          </a:prstGeom>
          <a:noFill/>
        </p:spPr>
        <p:txBody>
          <a:bodyPr wrap="none" lIns="91440" tIns="45720" rIns="91440" bIns="45720">
            <a:spAutoFit/>
          </a:bodyPr>
          <a:lstStyle/>
          <a:p>
            <a:pPr algn="ctr"/>
            <a:r>
              <a:rPr lang="en-US" sz="4000" b="1" cap="none" spc="0"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rPr>
              <a:t>Cosine Rule – Finding a SIDE</a:t>
            </a:r>
            <a:endParaRPr lang="en-US" sz="4000" b="1"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
        <p:nvSpPr>
          <p:cNvPr id="3" name="TextBox 2"/>
          <p:cNvSpPr txBox="1"/>
          <p:nvPr/>
        </p:nvSpPr>
        <p:spPr>
          <a:xfrm>
            <a:off x="2195736" y="1628800"/>
            <a:ext cx="4752528" cy="523220"/>
          </a:xfrm>
          <a:prstGeom prst="rect">
            <a:avLst/>
          </a:prstGeom>
          <a:noFill/>
        </p:spPr>
        <p:txBody>
          <a:bodyPr wrap="square" rtlCol="0">
            <a:spAutoFit/>
          </a:bodyPr>
          <a:lstStyle/>
          <a:p>
            <a:pPr algn="ctr"/>
            <a:r>
              <a:rPr lang="en-AU" sz="2800" dirty="0" smtClean="0"/>
              <a:t>c </a:t>
            </a:r>
            <a:r>
              <a:rPr lang="en-AU" sz="2800" baseline="30000" dirty="0" smtClean="0"/>
              <a:t>2</a:t>
            </a:r>
            <a:r>
              <a:rPr lang="en-AU" sz="2800" dirty="0" smtClean="0"/>
              <a:t> =  </a:t>
            </a:r>
            <a:r>
              <a:rPr lang="en-AU" sz="2800" i="1" dirty="0" smtClean="0"/>
              <a:t>a</a:t>
            </a:r>
            <a:r>
              <a:rPr lang="en-AU" sz="2800" baseline="30000" dirty="0" smtClean="0"/>
              <a:t>2</a:t>
            </a:r>
            <a:r>
              <a:rPr lang="en-AU" sz="2800" i="1" dirty="0" smtClean="0"/>
              <a:t>  +  b</a:t>
            </a:r>
            <a:r>
              <a:rPr lang="en-AU" sz="2800" baseline="30000" dirty="0" smtClean="0"/>
              <a:t>2</a:t>
            </a:r>
            <a:r>
              <a:rPr lang="en-AU" sz="2800" i="1" dirty="0" smtClean="0"/>
              <a:t>  – 2ab </a:t>
            </a:r>
            <a:r>
              <a:rPr lang="en-AU" sz="2800" dirty="0" err="1" smtClean="0"/>
              <a:t>cos</a:t>
            </a:r>
            <a:r>
              <a:rPr lang="en-AU" sz="2800" i="1" dirty="0" smtClean="0"/>
              <a:t> C  </a:t>
            </a:r>
            <a:endParaRPr lang="en-US" sz="2800" dirty="0"/>
          </a:p>
        </p:txBody>
      </p:sp>
      <p:sp>
        <p:nvSpPr>
          <p:cNvPr id="4" name="TextBox 3"/>
          <p:cNvSpPr txBox="1"/>
          <p:nvPr/>
        </p:nvSpPr>
        <p:spPr>
          <a:xfrm>
            <a:off x="611560" y="2420888"/>
            <a:ext cx="7704856" cy="923330"/>
          </a:xfrm>
          <a:prstGeom prst="rect">
            <a:avLst/>
          </a:prstGeom>
          <a:noFill/>
        </p:spPr>
        <p:txBody>
          <a:bodyPr wrap="square" rtlCol="0">
            <a:spAutoFit/>
          </a:bodyPr>
          <a:lstStyle/>
          <a:p>
            <a:r>
              <a:rPr lang="en-AU" dirty="0" smtClean="0">
                <a:latin typeface="Times New Roman" pitchFamily="18" charset="0"/>
                <a:cs typeface="Times New Roman" pitchFamily="18" charset="0"/>
              </a:rPr>
              <a:t>(1) Note the positions of the letters. If the 2</a:t>
            </a:r>
            <a:r>
              <a:rPr lang="en-AU" i="1" dirty="0" smtClean="0">
                <a:latin typeface="Times New Roman" pitchFamily="18" charset="0"/>
                <a:cs typeface="Times New Roman" pitchFamily="18" charset="0"/>
              </a:rPr>
              <a:t>ab </a:t>
            </a:r>
            <a:r>
              <a:rPr lang="en-AU" dirty="0" err="1" smtClean="0">
                <a:latin typeface="Times New Roman" pitchFamily="18" charset="0"/>
                <a:cs typeface="Times New Roman" pitchFamily="18" charset="0"/>
              </a:rPr>
              <a:t>cos</a:t>
            </a:r>
            <a:r>
              <a:rPr lang="en-AU" dirty="0" smtClean="0">
                <a:latin typeface="Times New Roman" pitchFamily="18" charset="0"/>
                <a:cs typeface="Times New Roman" pitchFamily="18" charset="0"/>
              </a:rPr>
              <a:t> </a:t>
            </a:r>
            <a:r>
              <a:rPr lang="en-AU" i="1" dirty="0" smtClean="0">
                <a:latin typeface="Times New Roman" pitchFamily="18" charset="0"/>
                <a:cs typeface="Times New Roman" pitchFamily="18" charset="0"/>
              </a:rPr>
              <a:t>C</a:t>
            </a:r>
            <a:r>
              <a:rPr lang="en-AU" dirty="0" smtClean="0">
                <a:latin typeface="Times New Roman" pitchFamily="18" charset="0"/>
                <a:cs typeface="Times New Roman" pitchFamily="18" charset="0"/>
              </a:rPr>
              <a:t> were missing, this would just be Pythagoras’ Theorem, </a:t>
            </a:r>
            <a:r>
              <a:rPr lang="en-AU" i="1" dirty="0" smtClean="0">
                <a:latin typeface="Times New Roman" pitchFamily="18" charset="0"/>
                <a:cs typeface="Times New Roman" pitchFamily="18" charset="0"/>
              </a:rPr>
              <a:t>c</a:t>
            </a:r>
            <a:r>
              <a:rPr lang="en-AU" baseline="30000" dirty="0">
                <a:latin typeface="Times New Roman" pitchFamily="18" charset="0"/>
                <a:cs typeface="Times New Roman" pitchFamily="18" charset="0"/>
              </a:rPr>
              <a:t> </a:t>
            </a:r>
            <a:r>
              <a:rPr lang="en-AU" baseline="30000" dirty="0" smtClean="0">
                <a:latin typeface="Times New Roman" pitchFamily="18" charset="0"/>
                <a:cs typeface="Times New Roman" pitchFamily="18" charset="0"/>
              </a:rPr>
              <a:t>2</a:t>
            </a:r>
            <a:r>
              <a:rPr lang="en-AU" dirty="0" smtClean="0">
                <a:latin typeface="Times New Roman" pitchFamily="18" charset="0"/>
                <a:cs typeface="Times New Roman" pitchFamily="18" charset="0"/>
              </a:rPr>
              <a:t> = </a:t>
            </a:r>
            <a:r>
              <a:rPr lang="en-AU" i="1" dirty="0" smtClean="0">
                <a:latin typeface="Times New Roman" pitchFamily="18" charset="0"/>
                <a:cs typeface="Times New Roman" pitchFamily="18" charset="0"/>
              </a:rPr>
              <a:t>a</a:t>
            </a:r>
            <a:r>
              <a:rPr lang="en-AU" baseline="30000" dirty="0" smtClean="0">
                <a:latin typeface="Times New Roman" pitchFamily="18" charset="0"/>
                <a:cs typeface="Times New Roman" pitchFamily="18" charset="0"/>
              </a:rPr>
              <a:t>2</a:t>
            </a:r>
            <a:r>
              <a:rPr lang="en-AU" i="1" dirty="0" smtClean="0">
                <a:latin typeface="Times New Roman" pitchFamily="18" charset="0"/>
                <a:cs typeface="Times New Roman" pitchFamily="18" charset="0"/>
              </a:rPr>
              <a:t>  +  b</a:t>
            </a:r>
            <a:r>
              <a:rPr lang="en-AU" baseline="30000" dirty="0" smtClean="0">
                <a:latin typeface="Times New Roman" pitchFamily="18" charset="0"/>
                <a:cs typeface="Times New Roman" pitchFamily="18" charset="0"/>
              </a:rPr>
              <a:t>2 </a:t>
            </a:r>
            <a:r>
              <a:rPr lang="en-AU" dirty="0" smtClean="0">
                <a:latin typeface="Times New Roman" pitchFamily="18" charset="0"/>
                <a:cs typeface="Times New Roman" pitchFamily="18" charset="0"/>
              </a:rPr>
              <a:t>. If the triangle were right angled, then C would be 90</a:t>
            </a:r>
            <a:r>
              <a:rPr lang="en-AU" dirty="0" smtClean="0">
                <a:latin typeface="Times New Roman" pitchFamily="18" charset="0"/>
                <a:cs typeface="Times New Roman" pitchFamily="18" charset="0"/>
                <a:sym typeface="Symbol"/>
              </a:rPr>
              <a:t> and as </a:t>
            </a:r>
            <a:r>
              <a:rPr lang="en-AU" dirty="0" err="1" smtClean="0">
                <a:solidFill>
                  <a:srgbClr val="FF0000"/>
                </a:solidFill>
                <a:latin typeface="Times New Roman" pitchFamily="18" charset="0"/>
                <a:cs typeface="Times New Roman" pitchFamily="18" charset="0"/>
                <a:sym typeface="Symbol"/>
              </a:rPr>
              <a:t>cos</a:t>
            </a:r>
            <a:r>
              <a:rPr lang="en-AU" dirty="0" smtClean="0">
                <a:solidFill>
                  <a:srgbClr val="FF0000"/>
                </a:solidFill>
                <a:latin typeface="Times New Roman" pitchFamily="18" charset="0"/>
                <a:cs typeface="Times New Roman" pitchFamily="18" charset="0"/>
                <a:sym typeface="Symbol"/>
              </a:rPr>
              <a:t> 90 = 0, </a:t>
            </a:r>
            <a:r>
              <a:rPr lang="en-AU" b="1" dirty="0" smtClean="0">
                <a:latin typeface="Times New Roman" pitchFamily="18" charset="0"/>
                <a:cs typeface="Times New Roman" pitchFamily="18" charset="0"/>
                <a:sym typeface="Symbol"/>
              </a:rPr>
              <a:t>it becomes Pythagoras’ Theorem!</a:t>
            </a:r>
            <a:endParaRPr lang="en-US" b="1" i="1" dirty="0">
              <a:latin typeface="Times New Roman" pitchFamily="18" charset="0"/>
              <a:cs typeface="Times New Roman" pitchFamily="18" charset="0"/>
            </a:endParaRPr>
          </a:p>
        </p:txBody>
      </p:sp>
      <p:sp>
        <p:nvSpPr>
          <p:cNvPr id="5" name="TextBox 4"/>
          <p:cNvSpPr txBox="1"/>
          <p:nvPr/>
        </p:nvSpPr>
        <p:spPr>
          <a:xfrm>
            <a:off x="611560" y="3441774"/>
            <a:ext cx="7704856" cy="646331"/>
          </a:xfrm>
          <a:prstGeom prst="rect">
            <a:avLst/>
          </a:prstGeom>
          <a:noFill/>
        </p:spPr>
        <p:txBody>
          <a:bodyPr wrap="square" rtlCol="0">
            <a:spAutoFit/>
          </a:bodyPr>
          <a:lstStyle/>
          <a:p>
            <a:r>
              <a:rPr lang="en-AU" dirty="0" smtClean="0">
                <a:latin typeface="Times New Roman" pitchFamily="18" charset="0"/>
                <a:cs typeface="Times New Roman" pitchFamily="18" charset="0"/>
              </a:rPr>
              <a:t>(2) When </a:t>
            </a:r>
            <a:r>
              <a:rPr lang="en-AU" i="1" dirty="0" smtClean="0">
                <a:latin typeface="Times New Roman" pitchFamily="18" charset="0"/>
                <a:cs typeface="Times New Roman" pitchFamily="18" charset="0"/>
              </a:rPr>
              <a:t>c</a:t>
            </a:r>
            <a:r>
              <a:rPr lang="en-AU" baseline="30000" dirty="0" smtClean="0">
                <a:latin typeface="Times New Roman" pitchFamily="18" charset="0"/>
                <a:cs typeface="Times New Roman" pitchFamily="18" charset="0"/>
              </a:rPr>
              <a:t>2</a:t>
            </a:r>
            <a:r>
              <a:rPr lang="en-AU" dirty="0" smtClean="0">
                <a:latin typeface="Times New Roman" pitchFamily="18" charset="0"/>
                <a:cs typeface="Times New Roman" pitchFamily="18" charset="0"/>
              </a:rPr>
              <a:t>  is the subject, the only </a:t>
            </a:r>
            <a:r>
              <a:rPr lang="en-AU" b="1" dirty="0" smtClean="0">
                <a:latin typeface="Times New Roman" pitchFamily="18" charset="0"/>
                <a:cs typeface="Times New Roman" pitchFamily="18" charset="0"/>
              </a:rPr>
              <a:t>angle </a:t>
            </a:r>
            <a:r>
              <a:rPr lang="en-AU" dirty="0" smtClean="0">
                <a:latin typeface="Times New Roman" pitchFamily="18" charset="0"/>
                <a:cs typeface="Times New Roman" pitchFamily="18" charset="0"/>
              </a:rPr>
              <a:t>in the formula is </a:t>
            </a:r>
            <a:r>
              <a:rPr lang="en-AU" i="1" dirty="0" smtClean="0">
                <a:latin typeface="Times New Roman" pitchFamily="18" charset="0"/>
                <a:cs typeface="Times New Roman" pitchFamily="18" charset="0"/>
              </a:rPr>
              <a:t>C</a:t>
            </a:r>
            <a:r>
              <a:rPr lang="en-AU" dirty="0" smtClean="0">
                <a:latin typeface="Times New Roman" pitchFamily="18" charset="0"/>
                <a:cs typeface="Times New Roman" pitchFamily="18" charset="0"/>
              </a:rPr>
              <a:t> (the angle opposite to side </a:t>
            </a:r>
            <a:r>
              <a:rPr lang="en-AU" i="1" dirty="0" smtClean="0">
                <a:latin typeface="Times New Roman" pitchFamily="18" charset="0"/>
                <a:cs typeface="Times New Roman" pitchFamily="18" charset="0"/>
              </a:rPr>
              <a:t>c</a:t>
            </a:r>
            <a:r>
              <a:rPr lang="en-AU" dirty="0" smtClean="0">
                <a:latin typeface="Times New Roman" pitchFamily="18" charset="0"/>
                <a:cs typeface="Times New Roman" pitchFamily="18" charset="0"/>
              </a:rPr>
              <a:t>). Note A and B are absent from the formula.</a:t>
            </a:r>
            <a:endParaRPr lang="en-US" b="1" i="1" dirty="0">
              <a:latin typeface="Times New Roman" pitchFamily="18" charset="0"/>
              <a:cs typeface="Times New Roman" pitchFamily="18" charset="0"/>
            </a:endParaRPr>
          </a:p>
        </p:txBody>
      </p:sp>
      <p:sp>
        <p:nvSpPr>
          <p:cNvPr id="6" name="TextBox 5"/>
          <p:cNvSpPr txBox="1"/>
          <p:nvPr/>
        </p:nvSpPr>
        <p:spPr>
          <a:xfrm>
            <a:off x="611560" y="4150821"/>
            <a:ext cx="7704856" cy="646331"/>
          </a:xfrm>
          <a:prstGeom prst="rect">
            <a:avLst/>
          </a:prstGeom>
          <a:noFill/>
        </p:spPr>
        <p:txBody>
          <a:bodyPr wrap="square" rtlCol="0">
            <a:spAutoFit/>
          </a:bodyPr>
          <a:lstStyle/>
          <a:p>
            <a:r>
              <a:rPr lang="en-AU" dirty="0" smtClean="0">
                <a:latin typeface="Times New Roman" pitchFamily="18" charset="0"/>
                <a:cs typeface="Times New Roman" pitchFamily="18" charset="0"/>
              </a:rPr>
              <a:t>(3) The above formula is </a:t>
            </a:r>
            <a:r>
              <a:rPr lang="en-AU" b="1" dirty="0" smtClean="0">
                <a:latin typeface="Times New Roman" pitchFamily="18" charset="0"/>
                <a:cs typeface="Times New Roman" pitchFamily="18" charset="0"/>
              </a:rPr>
              <a:t>to find a side length. </a:t>
            </a:r>
            <a:r>
              <a:rPr lang="en-AU" dirty="0" smtClean="0">
                <a:latin typeface="Times New Roman" pitchFamily="18" charset="0"/>
                <a:cs typeface="Times New Roman" pitchFamily="18" charset="0"/>
              </a:rPr>
              <a:t>The letters can be swapped around and the same formula can be written</a:t>
            </a:r>
            <a:endParaRPr lang="en-US" b="1" i="1" dirty="0">
              <a:latin typeface="Times New Roman" pitchFamily="18" charset="0"/>
              <a:cs typeface="Times New Roman" pitchFamily="18" charset="0"/>
            </a:endParaRPr>
          </a:p>
        </p:txBody>
      </p:sp>
      <p:sp>
        <p:nvSpPr>
          <p:cNvPr id="7" name="TextBox 6"/>
          <p:cNvSpPr txBox="1"/>
          <p:nvPr/>
        </p:nvSpPr>
        <p:spPr>
          <a:xfrm>
            <a:off x="2195736" y="5385742"/>
            <a:ext cx="4752528" cy="523220"/>
          </a:xfrm>
          <a:prstGeom prst="rect">
            <a:avLst/>
          </a:prstGeom>
          <a:noFill/>
        </p:spPr>
        <p:txBody>
          <a:bodyPr wrap="square" rtlCol="0">
            <a:spAutoFit/>
          </a:bodyPr>
          <a:lstStyle/>
          <a:p>
            <a:pPr algn="ctr"/>
            <a:r>
              <a:rPr lang="en-AU" sz="2800" i="1" dirty="0"/>
              <a:t>b</a:t>
            </a:r>
            <a:r>
              <a:rPr lang="en-AU" sz="2800" dirty="0" smtClean="0"/>
              <a:t> </a:t>
            </a:r>
            <a:r>
              <a:rPr lang="en-AU" sz="2800" baseline="30000" dirty="0" smtClean="0"/>
              <a:t>2</a:t>
            </a:r>
            <a:r>
              <a:rPr lang="en-AU" sz="2800" dirty="0" smtClean="0"/>
              <a:t> =  </a:t>
            </a:r>
            <a:r>
              <a:rPr lang="en-AU" sz="2800" i="1" dirty="0" smtClean="0"/>
              <a:t>a</a:t>
            </a:r>
            <a:r>
              <a:rPr lang="en-AU" sz="2800" baseline="30000" dirty="0" smtClean="0"/>
              <a:t>2</a:t>
            </a:r>
            <a:r>
              <a:rPr lang="en-AU" sz="2800" i="1" dirty="0" smtClean="0"/>
              <a:t>  +  c</a:t>
            </a:r>
            <a:r>
              <a:rPr lang="en-AU" sz="2800" baseline="30000" dirty="0" smtClean="0"/>
              <a:t>2</a:t>
            </a:r>
            <a:r>
              <a:rPr lang="en-AU" sz="2800" i="1" dirty="0" smtClean="0"/>
              <a:t>  – 2ac </a:t>
            </a:r>
            <a:r>
              <a:rPr lang="en-AU" sz="2800" dirty="0" err="1" smtClean="0"/>
              <a:t>cos</a:t>
            </a:r>
            <a:r>
              <a:rPr lang="en-AU" sz="2800" i="1" dirty="0" smtClean="0"/>
              <a:t> B  </a:t>
            </a:r>
            <a:endParaRPr lang="en-US" sz="2800" dirty="0"/>
          </a:p>
        </p:txBody>
      </p:sp>
      <p:sp>
        <p:nvSpPr>
          <p:cNvPr id="8" name="TextBox 7"/>
          <p:cNvSpPr txBox="1"/>
          <p:nvPr/>
        </p:nvSpPr>
        <p:spPr>
          <a:xfrm>
            <a:off x="2195736" y="4849996"/>
            <a:ext cx="4752528" cy="523220"/>
          </a:xfrm>
          <a:prstGeom prst="rect">
            <a:avLst/>
          </a:prstGeom>
          <a:noFill/>
        </p:spPr>
        <p:txBody>
          <a:bodyPr wrap="square" rtlCol="0">
            <a:spAutoFit/>
          </a:bodyPr>
          <a:lstStyle/>
          <a:p>
            <a:pPr algn="ctr"/>
            <a:r>
              <a:rPr lang="en-AU" sz="2800" i="1" dirty="0" smtClean="0"/>
              <a:t>a</a:t>
            </a:r>
            <a:r>
              <a:rPr lang="en-AU" sz="2800" dirty="0" smtClean="0"/>
              <a:t> </a:t>
            </a:r>
            <a:r>
              <a:rPr lang="en-AU" sz="2800" baseline="30000" dirty="0" smtClean="0"/>
              <a:t>2</a:t>
            </a:r>
            <a:r>
              <a:rPr lang="en-AU" sz="2800" dirty="0" smtClean="0"/>
              <a:t> =  </a:t>
            </a:r>
            <a:r>
              <a:rPr lang="en-AU" sz="2800" i="1" dirty="0"/>
              <a:t>b</a:t>
            </a:r>
            <a:r>
              <a:rPr lang="en-AU" sz="2800" baseline="30000" dirty="0" smtClean="0"/>
              <a:t>2</a:t>
            </a:r>
            <a:r>
              <a:rPr lang="en-AU" sz="2800" i="1" dirty="0" smtClean="0"/>
              <a:t>  +  c</a:t>
            </a:r>
            <a:r>
              <a:rPr lang="en-AU" sz="2800" baseline="30000" dirty="0" smtClean="0"/>
              <a:t>2</a:t>
            </a:r>
            <a:r>
              <a:rPr lang="en-AU" sz="2800" i="1" dirty="0" smtClean="0"/>
              <a:t>  – 2bc </a:t>
            </a:r>
            <a:r>
              <a:rPr lang="en-AU" sz="2800" dirty="0" err="1" smtClean="0"/>
              <a:t>cos</a:t>
            </a:r>
            <a:r>
              <a:rPr lang="en-AU" sz="2800" i="1" dirty="0" smtClean="0"/>
              <a:t> A  </a:t>
            </a:r>
            <a:endParaRPr lang="en-US" sz="2800" dirty="0"/>
          </a:p>
        </p:txBody>
      </p:sp>
      <p:sp>
        <p:nvSpPr>
          <p:cNvPr id="9" name="TextBox 8"/>
          <p:cNvSpPr txBox="1"/>
          <p:nvPr/>
        </p:nvSpPr>
        <p:spPr>
          <a:xfrm>
            <a:off x="2267744" y="5930116"/>
            <a:ext cx="4752528" cy="523220"/>
          </a:xfrm>
          <a:prstGeom prst="rect">
            <a:avLst/>
          </a:prstGeom>
          <a:noFill/>
        </p:spPr>
        <p:txBody>
          <a:bodyPr wrap="square" rtlCol="0">
            <a:spAutoFit/>
          </a:bodyPr>
          <a:lstStyle/>
          <a:p>
            <a:pPr algn="ctr"/>
            <a:r>
              <a:rPr lang="en-AU" sz="2800" dirty="0" smtClean="0"/>
              <a:t>c </a:t>
            </a:r>
            <a:r>
              <a:rPr lang="en-AU" sz="2800" baseline="30000" dirty="0" smtClean="0"/>
              <a:t>2</a:t>
            </a:r>
            <a:r>
              <a:rPr lang="en-AU" sz="2800" dirty="0" smtClean="0"/>
              <a:t> =  </a:t>
            </a:r>
            <a:r>
              <a:rPr lang="en-AU" sz="2800" i="1" dirty="0" smtClean="0"/>
              <a:t>a</a:t>
            </a:r>
            <a:r>
              <a:rPr lang="en-AU" sz="2800" baseline="30000" dirty="0" smtClean="0"/>
              <a:t>2</a:t>
            </a:r>
            <a:r>
              <a:rPr lang="en-AU" sz="2800" i="1" dirty="0" smtClean="0"/>
              <a:t>  +  b</a:t>
            </a:r>
            <a:r>
              <a:rPr lang="en-AU" sz="2800" baseline="30000" dirty="0" smtClean="0"/>
              <a:t>2</a:t>
            </a:r>
            <a:r>
              <a:rPr lang="en-AU" sz="2800" i="1" dirty="0" smtClean="0"/>
              <a:t>  – 2ab </a:t>
            </a:r>
            <a:r>
              <a:rPr lang="en-AU" sz="2800" dirty="0" err="1" smtClean="0"/>
              <a:t>cos</a:t>
            </a:r>
            <a:r>
              <a:rPr lang="en-AU" sz="2800" i="1" dirty="0" smtClean="0"/>
              <a:t> C  </a:t>
            </a:r>
            <a:endParaRPr lang="en-US" sz="2800" dirty="0"/>
          </a:p>
        </p:txBody>
      </p:sp>
      <p:sp>
        <p:nvSpPr>
          <p:cNvPr id="10" name="TextBox 9"/>
          <p:cNvSpPr txBox="1"/>
          <p:nvPr/>
        </p:nvSpPr>
        <p:spPr>
          <a:xfrm>
            <a:off x="6876256" y="4797152"/>
            <a:ext cx="1944216" cy="1754326"/>
          </a:xfrm>
          <a:prstGeom prst="rect">
            <a:avLst/>
          </a:prstGeom>
          <a:noFill/>
        </p:spPr>
        <p:txBody>
          <a:bodyPr wrap="square" rtlCol="0">
            <a:spAutoFit/>
          </a:bodyPr>
          <a:lstStyle/>
          <a:p>
            <a:r>
              <a:rPr lang="en-AU" dirty="0" smtClean="0">
                <a:solidFill>
                  <a:srgbClr val="FF0000"/>
                </a:solidFill>
              </a:rPr>
              <a:t>Here are the three variations of the formula shown together. Study them closely and note the patterns!</a:t>
            </a:r>
            <a:endParaRPr lang="en-US" dirty="0">
              <a:solidFill>
                <a:srgbClr val="FF0000"/>
              </a:solidFill>
            </a:endParaRPr>
          </a:p>
        </p:txBody>
      </p:sp>
      <p:sp>
        <p:nvSpPr>
          <p:cNvPr id="11" name="Rectangle 10"/>
          <p:cNvSpPr/>
          <p:nvPr/>
        </p:nvSpPr>
        <p:spPr>
          <a:xfrm>
            <a:off x="2483768" y="4797152"/>
            <a:ext cx="4248472" cy="1728192"/>
          </a:xfrm>
          <a:prstGeom prst="rect">
            <a:avLst/>
          </a:prstGeom>
          <a:solidFill>
            <a:schemeClr val="accent5">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5262" y="836712"/>
            <a:ext cx="7972888" cy="707886"/>
          </a:xfrm>
          <a:prstGeom prst="rect">
            <a:avLst/>
          </a:prstGeom>
          <a:noFill/>
        </p:spPr>
        <p:txBody>
          <a:bodyPr wrap="none" lIns="91440" tIns="45720" rIns="91440" bIns="45720">
            <a:spAutoFit/>
          </a:bodyPr>
          <a:lstStyle/>
          <a:p>
            <a:pPr algn="ctr"/>
            <a:r>
              <a:rPr lang="en-US" sz="4000" b="1" cap="none" spc="0"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rPr>
              <a:t>Cosine Rule – Finding an ANGLE</a:t>
            </a:r>
            <a:endParaRPr lang="en-US" sz="4000" b="1"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
        <p:nvSpPr>
          <p:cNvPr id="3" name="TextBox 2"/>
          <p:cNvSpPr txBox="1"/>
          <p:nvPr/>
        </p:nvSpPr>
        <p:spPr>
          <a:xfrm>
            <a:off x="2195736" y="1628800"/>
            <a:ext cx="4752528" cy="523220"/>
          </a:xfrm>
          <a:prstGeom prst="rect">
            <a:avLst/>
          </a:prstGeom>
          <a:noFill/>
        </p:spPr>
        <p:txBody>
          <a:bodyPr wrap="square" rtlCol="0">
            <a:spAutoFit/>
          </a:bodyPr>
          <a:lstStyle/>
          <a:p>
            <a:pPr algn="ctr"/>
            <a:r>
              <a:rPr lang="en-AU" sz="2800" dirty="0" smtClean="0"/>
              <a:t>c </a:t>
            </a:r>
            <a:r>
              <a:rPr lang="en-AU" sz="2800" baseline="30000" dirty="0" smtClean="0"/>
              <a:t>2</a:t>
            </a:r>
            <a:r>
              <a:rPr lang="en-AU" sz="2800" dirty="0" smtClean="0"/>
              <a:t> =  </a:t>
            </a:r>
            <a:r>
              <a:rPr lang="en-AU" sz="2800" i="1" dirty="0" smtClean="0"/>
              <a:t>a</a:t>
            </a:r>
            <a:r>
              <a:rPr lang="en-AU" sz="2800" baseline="30000" dirty="0" smtClean="0"/>
              <a:t>2</a:t>
            </a:r>
            <a:r>
              <a:rPr lang="en-AU" sz="2800" i="1" dirty="0" smtClean="0"/>
              <a:t>  +  b</a:t>
            </a:r>
            <a:r>
              <a:rPr lang="en-AU" sz="2800" baseline="30000" dirty="0" smtClean="0"/>
              <a:t>2</a:t>
            </a:r>
            <a:r>
              <a:rPr lang="en-AU" sz="2800" i="1" dirty="0" smtClean="0"/>
              <a:t>  – 2ab </a:t>
            </a:r>
            <a:r>
              <a:rPr lang="en-AU" sz="2800" dirty="0" err="1" smtClean="0"/>
              <a:t>cos</a:t>
            </a:r>
            <a:r>
              <a:rPr lang="en-AU" sz="2800" i="1" dirty="0" smtClean="0"/>
              <a:t> C  </a:t>
            </a:r>
            <a:endParaRPr lang="en-US" sz="2800" dirty="0"/>
          </a:p>
        </p:txBody>
      </p:sp>
      <p:sp>
        <p:nvSpPr>
          <p:cNvPr id="4" name="TextBox 3"/>
          <p:cNvSpPr txBox="1"/>
          <p:nvPr/>
        </p:nvSpPr>
        <p:spPr>
          <a:xfrm>
            <a:off x="611560" y="2420888"/>
            <a:ext cx="770485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(4) This formula can be rearranged to make </a:t>
            </a:r>
            <a:r>
              <a:rPr lang="en-AU" dirty="0" err="1" smtClean="0">
                <a:latin typeface="Times New Roman" pitchFamily="18" charset="0"/>
                <a:cs typeface="Times New Roman" pitchFamily="18" charset="0"/>
              </a:rPr>
              <a:t>cos</a:t>
            </a:r>
            <a:r>
              <a:rPr lang="en-AU" dirty="0" smtClean="0">
                <a:latin typeface="Times New Roman" pitchFamily="18" charset="0"/>
                <a:cs typeface="Times New Roman" pitchFamily="18" charset="0"/>
              </a:rPr>
              <a:t> C the subject, i.e.</a:t>
            </a:r>
            <a:endParaRPr lang="en-US" b="1" i="1" dirty="0">
              <a:latin typeface="Times New Roman" pitchFamily="18" charset="0"/>
              <a:cs typeface="Times New Roman" pitchFamily="18" charset="0"/>
            </a:endParaRPr>
          </a:p>
        </p:txBody>
      </p:sp>
      <p:graphicFrame>
        <p:nvGraphicFramePr>
          <p:cNvPr id="11" name="Object 10"/>
          <p:cNvGraphicFramePr>
            <a:graphicFrameLocks noChangeAspect="1"/>
          </p:cNvGraphicFramePr>
          <p:nvPr/>
        </p:nvGraphicFramePr>
        <p:xfrm>
          <a:off x="3203848" y="2996952"/>
          <a:ext cx="2119194" cy="713606"/>
        </p:xfrm>
        <a:graphic>
          <a:graphicData uri="http://schemas.openxmlformats.org/presentationml/2006/ole">
            <p:oleObj spid="_x0000_s55298" name="Equation" r:id="rId3" imgW="1244520" imgH="419040" progId="Equation.3">
              <p:embed/>
            </p:oleObj>
          </a:graphicData>
        </a:graphic>
      </p:graphicFrame>
      <p:sp>
        <p:nvSpPr>
          <p:cNvPr id="12" name="TextBox 11"/>
          <p:cNvSpPr txBox="1"/>
          <p:nvPr/>
        </p:nvSpPr>
        <p:spPr>
          <a:xfrm>
            <a:off x="5652120" y="2924944"/>
            <a:ext cx="2736304" cy="923330"/>
          </a:xfrm>
          <a:prstGeom prst="rect">
            <a:avLst/>
          </a:prstGeom>
          <a:noFill/>
        </p:spPr>
        <p:txBody>
          <a:bodyPr wrap="square" rtlCol="0">
            <a:spAutoFit/>
          </a:bodyPr>
          <a:lstStyle/>
          <a:p>
            <a:r>
              <a:rPr lang="en-AU" dirty="0" smtClean="0">
                <a:solidFill>
                  <a:srgbClr val="FF0000"/>
                </a:solidFill>
              </a:rPr>
              <a:t>This is the version of the Cosine Rule to use when </a:t>
            </a:r>
            <a:r>
              <a:rPr lang="en-AU" b="1" dirty="0" smtClean="0">
                <a:solidFill>
                  <a:srgbClr val="FF0000"/>
                </a:solidFill>
              </a:rPr>
              <a:t>FINDING AN ANGLE.</a:t>
            </a:r>
            <a:endParaRPr lang="en-US" dirty="0">
              <a:solidFill>
                <a:srgbClr val="FF0000"/>
              </a:solidFill>
            </a:endParaRPr>
          </a:p>
        </p:txBody>
      </p:sp>
      <p:sp>
        <p:nvSpPr>
          <p:cNvPr id="13" name="TextBox 12"/>
          <p:cNvSpPr txBox="1"/>
          <p:nvPr/>
        </p:nvSpPr>
        <p:spPr>
          <a:xfrm>
            <a:off x="611560" y="4005064"/>
            <a:ext cx="7704856" cy="369332"/>
          </a:xfrm>
          <a:prstGeom prst="rect">
            <a:avLst/>
          </a:prstGeom>
          <a:noFill/>
        </p:spPr>
        <p:txBody>
          <a:bodyPr wrap="square" rtlCol="0">
            <a:spAutoFit/>
          </a:bodyPr>
          <a:lstStyle/>
          <a:p>
            <a:r>
              <a:rPr lang="en-AU" dirty="0" smtClean="0">
                <a:latin typeface="Times New Roman" pitchFamily="18" charset="0"/>
                <a:cs typeface="Times New Roman" pitchFamily="18" charset="0"/>
              </a:rPr>
              <a:t>(5) Again, the letters can be swapped around and the same formula can be written</a:t>
            </a:r>
            <a:endParaRPr lang="en-US" b="1" i="1" dirty="0">
              <a:latin typeface="Times New Roman" pitchFamily="18" charset="0"/>
              <a:cs typeface="Times New Roman" pitchFamily="18" charset="0"/>
            </a:endParaRPr>
          </a:p>
        </p:txBody>
      </p:sp>
      <p:graphicFrame>
        <p:nvGraphicFramePr>
          <p:cNvPr id="55299" name="Object 3"/>
          <p:cNvGraphicFramePr>
            <a:graphicFrameLocks noChangeAspect="1"/>
          </p:cNvGraphicFramePr>
          <p:nvPr/>
        </p:nvGraphicFramePr>
        <p:xfrm>
          <a:off x="3203848" y="5157192"/>
          <a:ext cx="2119313" cy="712788"/>
        </p:xfrm>
        <a:graphic>
          <a:graphicData uri="http://schemas.openxmlformats.org/presentationml/2006/ole">
            <p:oleObj spid="_x0000_s55299" name="Equation" r:id="rId4" imgW="1244520" imgH="419040" progId="Equation.3">
              <p:embed/>
            </p:oleObj>
          </a:graphicData>
        </a:graphic>
      </p:graphicFrame>
      <p:graphicFrame>
        <p:nvGraphicFramePr>
          <p:cNvPr id="55300" name="Object 4"/>
          <p:cNvGraphicFramePr>
            <a:graphicFrameLocks noChangeAspect="1"/>
          </p:cNvGraphicFramePr>
          <p:nvPr/>
        </p:nvGraphicFramePr>
        <p:xfrm>
          <a:off x="3203848" y="5956572"/>
          <a:ext cx="2119313" cy="712788"/>
        </p:xfrm>
        <a:graphic>
          <a:graphicData uri="http://schemas.openxmlformats.org/presentationml/2006/ole">
            <p:oleObj spid="_x0000_s55300" name="Equation" r:id="rId5" imgW="1244520" imgH="419040" progId="Equation.3">
              <p:embed/>
            </p:oleObj>
          </a:graphicData>
        </a:graphic>
      </p:graphicFrame>
      <p:graphicFrame>
        <p:nvGraphicFramePr>
          <p:cNvPr id="55301" name="Object 5"/>
          <p:cNvGraphicFramePr>
            <a:graphicFrameLocks noChangeAspect="1"/>
          </p:cNvGraphicFramePr>
          <p:nvPr/>
        </p:nvGraphicFramePr>
        <p:xfrm>
          <a:off x="3203848" y="4372396"/>
          <a:ext cx="2119313" cy="712788"/>
        </p:xfrm>
        <a:graphic>
          <a:graphicData uri="http://schemas.openxmlformats.org/presentationml/2006/ole">
            <p:oleObj spid="_x0000_s55301" name="Equation" r:id="rId6" imgW="1244520" imgH="419040" progId="Equation.3">
              <p:embed/>
            </p:oleObj>
          </a:graphicData>
        </a:graphic>
      </p:graphicFrame>
      <p:sp>
        <p:nvSpPr>
          <p:cNvPr id="17" name="Rectangle 16"/>
          <p:cNvSpPr/>
          <p:nvPr/>
        </p:nvSpPr>
        <p:spPr>
          <a:xfrm>
            <a:off x="2987824" y="4365104"/>
            <a:ext cx="2952328" cy="2304256"/>
          </a:xfrm>
          <a:prstGeom prst="rect">
            <a:avLst/>
          </a:prstGeom>
          <a:solidFill>
            <a:schemeClr val="accent5">
              <a:lumMod val="60000"/>
              <a:lumOff val="40000"/>
              <a:alpha val="1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548680"/>
            <a:ext cx="7704856" cy="523220"/>
          </a:xfrm>
          <a:prstGeom prst="rect">
            <a:avLst/>
          </a:prstGeom>
          <a:noFill/>
        </p:spPr>
        <p:txBody>
          <a:bodyPr wrap="square" rtlCol="0">
            <a:spAutoFit/>
          </a:bodyPr>
          <a:lstStyle/>
          <a:p>
            <a:pPr algn="ctr"/>
            <a:r>
              <a:rPr lang="en-AU" sz="2800" dirty="0" smtClean="0">
                <a:solidFill>
                  <a:srgbClr val="FF0000"/>
                </a:solidFill>
              </a:rPr>
              <a:t>When do we use the Cosine Rule?</a:t>
            </a:r>
            <a:endParaRPr lang="en-US" sz="2800" dirty="0">
              <a:solidFill>
                <a:srgbClr val="FF0000"/>
              </a:solidFill>
            </a:endParaRPr>
          </a:p>
        </p:txBody>
      </p:sp>
      <p:sp>
        <p:nvSpPr>
          <p:cNvPr id="3" name="TextBox 2"/>
          <p:cNvSpPr txBox="1"/>
          <p:nvPr/>
        </p:nvSpPr>
        <p:spPr>
          <a:xfrm>
            <a:off x="827584" y="1340768"/>
            <a:ext cx="7344816" cy="400110"/>
          </a:xfrm>
          <a:prstGeom prst="rect">
            <a:avLst/>
          </a:prstGeom>
          <a:noFill/>
        </p:spPr>
        <p:txBody>
          <a:bodyPr wrap="square" rtlCol="0">
            <a:spAutoFit/>
          </a:bodyPr>
          <a:lstStyle/>
          <a:p>
            <a:pPr>
              <a:buFont typeface="Arial" pitchFamily="34" charset="0"/>
              <a:buChar char="•"/>
            </a:pPr>
            <a:r>
              <a:rPr lang="en-AU" sz="2000" b="1" dirty="0" smtClean="0"/>
              <a:t>  First, check to see if you can use the Sine Rule. It’s easier!</a:t>
            </a:r>
            <a:endParaRPr lang="en-US" sz="2000" b="1" dirty="0"/>
          </a:p>
        </p:txBody>
      </p:sp>
      <p:sp>
        <p:nvSpPr>
          <p:cNvPr id="4" name="TextBox 3"/>
          <p:cNvSpPr txBox="1"/>
          <p:nvPr/>
        </p:nvSpPr>
        <p:spPr>
          <a:xfrm>
            <a:off x="827584" y="2492896"/>
            <a:ext cx="2952328" cy="923330"/>
          </a:xfrm>
          <a:prstGeom prst="rect">
            <a:avLst/>
          </a:prstGeom>
          <a:noFill/>
        </p:spPr>
        <p:txBody>
          <a:bodyPr wrap="square" rtlCol="0">
            <a:spAutoFit/>
          </a:bodyPr>
          <a:lstStyle/>
          <a:p>
            <a:pPr>
              <a:buFont typeface="Arial" pitchFamily="34" charset="0"/>
              <a:buChar char="•"/>
            </a:pPr>
            <a:r>
              <a:rPr lang="en-AU" b="1" dirty="0" smtClean="0">
                <a:solidFill>
                  <a:srgbClr val="0000FF"/>
                </a:solidFill>
              </a:rPr>
              <a:t>  You are told </a:t>
            </a:r>
            <a:r>
              <a:rPr lang="en-AU" b="1" dirty="0" smtClean="0"/>
              <a:t>ALL THREE SIDES</a:t>
            </a:r>
            <a:r>
              <a:rPr lang="en-AU" b="1" dirty="0" smtClean="0">
                <a:solidFill>
                  <a:srgbClr val="0000FF"/>
                </a:solidFill>
              </a:rPr>
              <a:t> and asked to      </a:t>
            </a:r>
            <a:r>
              <a:rPr lang="en-AU" b="1" cap="all" dirty="0" smtClean="0">
                <a:solidFill>
                  <a:srgbClr val="FF0000"/>
                </a:solidFill>
              </a:rPr>
              <a:t>find any ANGLE</a:t>
            </a:r>
            <a:endParaRPr lang="en-US" b="1" cap="all" dirty="0">
              <a:solidFill>
                <a:srgbClr val="FF0000"/>
              </a:solidFill>
            </a:endParaRPr>
          </a:p>
        </p:txBody>
      </p:sp>
      <p:sp>
        <p:nvSpPr>
          <p:cNvPr id="5" name="TextBox 4"/>
          <p:cNvSpPr txBox="1"/>
          <p:nvPr/>
        </p:nvSpPr>
        <p:spPr>
          <a:xfrm>
            <a:off x="2051720" y="1916832"/>
            <a:ext cx="5112568" cy="461665"/>
          </a:xfrm>
          <a:prstGeom prst="rect">
            <a:avLst/>
          </a:prstGeom>
          <a:noFill/>
        </p:spPr>
        <p:txBody>
          <a:bodyPr wrap="square" rtlCol="0">
            <a:spAutoFit/>
          </a:bodyPr>
          <a:lstStyle/>
          <a:p>
            <a:r>
              <a:rPr lang="en-AU" sz="2400" b="1" i="1" dirty="0" smtClean="0">
                <a:solidFill>
                  <a:srgbClr val="FF0000"/>
                </a:solidFill>
              </a:rPr>
              <a:t>You can use the Cosine Rule when</a:t>
            </a:r>
            <a:endParaRPr lang="en-US" sz="2400" b="1" i="1" dirty="0">
              <a:solidFill>
                <a:srgbClr val="FF0000"/>
              </a:solidFill>
            </a:endParaRPr>
          </a:p>
        </p:txBody>
      </p:sp>
      <p:sp>
        <p:nvSpPr>
          <p:cNvPr id="15" name="TextBox 14"/>
          <p:cNvSpPr txBox="1"/>
          <p:nvPr/>
        </p:nvSpPr>
        <p:spPr>
          <a:xfrm>
            <a:off x="4283968" y="4005064"/>
            <a:ext cx="936104" cy="646331"/>
          </a:xfrm>
          <a:prstGeom prst="rect">
            <a:avLst/>
          </a:prstGeom>
          <a:noFill/>
        </p:spPr>
        <p:txBody>
          <a:bodyPr wrap="square" rtlCol="0">
            <a:spAutoFit/>
          </a:bodyPr>
          <a:lstStyle/>
          <a:p>
            <a:pPr algn="ctr"/>
            <a:r>
              <a:rPr lang="en-AU" sz="3600" dirty="0" smtClean="0"/>
              <a:t>OR</a:t>
            </a:r>
            <a:endParaRPr lang="en-US" sz="3600" dirty="0"/>
          </a:p>
        </p:txBody>
      </p:sp>
      <p:cxnSp>
        <p:nvCxnSpPr>
          <p:cNvPr id="17" name="Straight Connector 16"/>
          <p:cNvCxnSpPr/>
          <p:nvPr/>
        </p:nvCxnSpPr>
        <p:spPr>
          <a:xfrm>
            <a:off x="4644008" y="2780928"/>
            <a:ext cx="0" cy="1224136"/>
          </a:xfrm>
          <a:prstGeom prst="line">
            <a:avLst/>
          </a:prstGeom>
          <a:ln w="53975">
            <a:solidFill>
              <a:srgbClr val="0066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644008" y="4797152"/>
            <a:ext cx="0" cy="1224136"/>
          </a:xfrm>
          <a:prstGeom prst="line">
            <a:avLst/>
          </a:prstGeom>
          <a:ln w="53975">
            <a:solidFill>
              <a:srgbClr val="006600"/>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1331640" y="3573016"/>
            <a:ext cx="2304256" cy="1593468"/>
            <a:chOff x="1475656" y="4077072"/>
            <a:chExt cx="2304256" cy="1593468"/>
          </a:xfrm>
        </p:grpSpPr>
        <p:grpSp>
          <p:nvGrpSpPr>
            <p:cNvPr id="21" name="Group 20"/>
            <p:cNvGrpSpPr/>
            <p:nvPr/>
          </p:nvGrpSpPr>
          <p:grpSpPr>
            <a:xfrm>
              <a:off x="1475656" y="4077072"/>
              <a:ext cx="2088232" cy="1512168"/>
              <a:chOff x="1475656" y="4077072"/>
              <a:chExt cx="2088232" cy="1512168"/>
            </a:xfrm>
          </p:grpSpPr>
          <p:cxnSp>
            <p:nvCxnSpPr>
              <p:cNvPr id="7" name="Straight Connector 6"/>
              <p:cNvCxnSpPr/>
              <p:nvPr/>
            </p:nvCxnSpPr>
            <p:spPr>
              <a:xfrm flipH="1">
                <a:off x="1475656" y="4077072"/>
                <a:ext cx="936104" cy="151216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411760" y="4077072"/>
                <a:ext cx="1152128" cy="1008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1475656" y="5085184"/>
                <a:ext cx="2088232" cy="50405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2915816" y="4365104"/>
              <a:ext cx="792088" cy="369332"/>
            </a:xfrm>
            <a:prstGeom prst="rect">
              <a:avLst/>
            </a:prstGeom>
            <a:noFill/>
          </p:spPr>
          <p:txBody>
            <a:bodyPr wrap="square" rtlCol="0">
              <a:spAutoFit/>
            </a:bodyPr>
            <a:lstStyle/>
            <a:p>
              <a:r>
                <a:rPr lang="en-AU" dirty="0" smtClean="0"/>
                <a:t>8</a:t>
              </a:r>
              <a:r>
                <a:rPr lang="en-AU" i="1" dirty="0" smtClean="0"/>
                <a:t>m</a:t>
              </a:r>
              <a:endParaRPr lang="en-US" i="1" dirty="0"/>
            </a:p>
          </p:txBody>
        </p:sp>
        <p:sp>
          <p:nvSpPr>
            <p:cNvPr id="13" name="TextBox 12"/>
            <p:cNvSpPr txBox="1"/>
            <p:nvPr/>
          </p:nvSpPr>
          <p:spPr>
            <a:xfrm>
              <a:off x="2339752" y="5301208"/>
              <a:ext cx="792088" cy="369332"/>
            </a:xfrm>
            <a:prstGeom prst="rect">
              <a:avLst/>
            </a:prstGeom>
            <a:noFill/>
          </p:spPr>
          <p:txBody>
            <a:bodyPr wrap="square" rtlCol="0">
              <a:spAutoFit/>
            </a:bodyPr>
            <a:lstStyle/>
            <a:p>
              <a:r>
                <a:rPr lang="en-AU" dirty="0" smtClean="0"/>
                <a:t>9</a:t>
              </a:r>
              <a:r>
                <a:rPr lang="en-AU" i="1" dirty="0" smtClean="0"/>
                <a:t>m</a:t>
              </a:r>
              <a:endParaRPr lang="en-US" i="1" dirty="0"/>
            </a:p>
          </p:txBody>
        </p:sp>
        <p:sp>
          <p:nvSpPr>
            <p:cNvPr id="14" name="TextBox 13"/>
            <p:cNvSpPr txBox="1"/>
            <p:nvPr/>
          </p:nvSpPr>
          <p:spPr>
            <a:xfrm>
              <a:off x="1475656" y="4581128"/>
              <a:ext cx="792088" cy="369332"/>
            </a:xfrm>
            <a:prstGeom prst="rect">
              <a:avLst/>
            </a:prstGeom>
            <a:noFill/>
          </p:spPr>
          <p:txBody>
            <a:bodyPr wrap="square" rtlCol="0">
              <a:spAutoFit/>
            </a:bodyPr>
            <a:lstStyle/>
            <a:p>
              <a:r>
                <a:rPr lang="en-AU" dirty="0" smtClean="0"/>
                <a:t>10</a:t>
              </a:r>
              <a:r>
                <a:rPr lang="en-AU" i="1" dirty="0" smtClean="0"/>
                <a:t>m</a:t>
              </a:r>
              <a:endParaRPr lang="en-US" i="1" dirty="0"/>
            </a:p>
          </p:txBody>
        </p:sp>
        <p:sp>
          <p:nvSpPr>
            <p:cNvPr id="19" name="TextBox 18"/>
            <p:cNvSpPr txBox="1"/>
            <p:nvPr/>
          </p:nvSpPr>
          <p:spPr>
            <a:xfrm>
              <a:off x="2987824" y="4797152"/>
              <a:ext cx="792088" cy="369332"/>
            </a:xfrm>
            <a:prstGeom prst="rect">
              <a:avLst/>
            </a:prstGeom>
            <a:noFill/>
          </p:spPr>
          <p:txBody>
            <a:bodyPr wrap="square" rtlCol="0">
              <a:spAutoFit/>
            </a:bodyPr>
            <a:lstStyle/>
            <a:p>
              <a:r>
                <a:rPr lang="en-AU" b="1" dirty="0" smtClean="0">
                  <a:sym typeface="Symbol"/>
                </a:rPr>
                <a:t></a:t>
              </a:r>
              <a:endParaRPr lang="en-US" b="1" i="1" dirty="0"/>
            </a:p>
          </p:txBody>
        </p:sp>
      </p:grpSp>
      <p:sp>
        <p:nvSpPr>
          <p:cNvPr id="20" name="TextBox 19"/>
          <p:cNvSpPr txBox="1"/>
          <p:nvPr/>
        </p:nvSpPr>
        <p:spPr>
          <a:xfrm>
            <a:off x="5292080" y="2420888"/>
            <a:ext cx="3528392" cy="1477328"/>
          </a:xfrm>
          <a:prstGeom prst="rect">
            <a:avLst/>
          </a:prstGeom>
          <a:noFill/>
        </p:spPr>
        <p:txBody>
          <a:bodyPr wrap="square" rtlCol="0">
            <a:spAutoFit/>
          </a:bodyPr>
          <a:lstStyle/>
          <a:p>
            <a:pPr>
              <a:buFont typeface="Arial" pitchFamily="34" charset="0"/>
              <a:buChar char="•"/>
            </a:pPr>
            <a:r>
              <a:rPr lang="en-AU" b="1" dirty="0" smtClean="0">
                <a:solidFill>
                  <a:srgbClr val="0000FF"/>
                </a:solidFill>
              </a:rPr>
              <a:t>  You are told </a:t>
            </a:r>
            <a:r>
              <a:rPr lang="en-AU" b="1" dirty="0" smtClean="0"/>
              <a:t>TWO SIDES and THEIR INCLUDED ANGLE </a:t>
            </a:r>
            <a:r>
              <a:rPr lang="en-AU" b="1" dirty="0" smtClean="0">
                <a:solidFill>
                  <a:srgbClr val="0000FF"/>
                </a:solidFill>
              </a:rPr>
              <a:t>(i.e. the angle between those two sides) and asked to                </a:t>
            </a:r>
            <a:r>
              <a:rPr lang="en-AU" b="1" cap="all" dirty="0" smtClean="0">
                <a:solidFill>
                  <a:srgbClr val="FF0000"/>
                </a:solidFill>
              </a:rPr>
              <a:t>find the THIRD SIDE</a:t>
            </a:r>
            <a:endParaRPr lang="en-US" b="1" cap="all" dirty="0">
              <a:solidFill>
                <a:srgbClr val="FF0000"/>
              </a:solidFill>
            </a:endParaRPr>
          </a:p>
        </p:txBody>
      </p:sp>
      <p:grpSp>
        <p:nvGrpSpPr>
          <p:cNvPr id="31" name="Group 30"/>
          <p:cNvGrpSpPr/>
          <p:nvPr/>
        </p:nvGrpSpPr>
        <p:grpSpPr>
          <a:xfrm>
            <a:off x="6588224" y="3573016"/>
            <a:ext cx="2232248" cy="2088232"/>
            <a:chOff x="5868144" y="4278878"/>
            <a:chExt cx="2232248" cy="2088232"/>
          </a:xfrm>
        </p:grpSpPr>
        <p:grpSp>
          <p:nvGrpSpPr>
            <p:cNvPr id="22" name="Group 21"/>
            <p:cNvGrpSpPr/>
            <p:nvPr/>
          </p:nvGrpSpPr>
          <p:grpSpPr>
            <a:xfrm rot="4513957">
              <a:off x="5868144" y="4566910"/>
              <a:ext cx="2088232" cy="1512168"/>
              <a:chOff x="1475656" y="4077072"/>
              <a:chExt cx="2088232" cy="1512168"/>
            </a:xfrm>
          </p:grpSpPr>
          <p:cxnSp>
            <p:nvCxnSpPr>
              <p:cNvPr id="23" name="Straight Connector 22"/>
              <p:cNvCxnSpPr/>
              <p:nvPr/>
            </p:nvCxnSpPr>
            <p:spPr>
              <a:xfrm flipH="1">
                <a:off x="1475656" y="4077072"/>
                <a:ext cx="936104" cy="15121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411760" y="4077072"/>
                <a:ext cx="1152128" cy="1008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1475656" y="5085184"/>
                <a:ext cx="2088232" cy="50405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a:off x="5868144" y="5229200"/>
              <a:ext cx="792088" cy="369332"/>
            </a:xfrm>
            <a:prstGeom prst="rect">
              <a:avLst/>
            </a:prstGeom>
            <a:noFill/>
          </p:spPr>
          <p:txBody>
            <a:bodyPr wrap="square" rtlCol="0">
              <a:spAutoFit/>
            </a:bodyPr>
            <a:lstStyle/>
            <a:p>
              <a:r>
                <a:rPr lang="en-AU" dirty="0" smtClean="0"/>
                <a:t>20 </a:t>
              </a:r>
              <a:r>
                <a:rPr lang="en-AU" i="1" dirty="0" smtClean="0"/>
                <a:t>cm</a:t>
              </a:r>
              <a:endParaRPr lang="en-US" i="1" dirty="0"/>
            </a:p>
          </p:txBody>
        </p:sp>
        <p:sp>
          <p:nvSpPr>
            <p:cNvPr id="28" name="TextBox 27"/>
            <p:cNvSpPr txBox="1"/>
            <p:nvPr/>
          </p:nvSpPr>
          <p:spPr>
            <a:xfrm>
              <a:off x="6660232" y="5805264"/>
              <a:ext cx="792088" cy="369332"/>
            </a:xfrm>
            <a:prstGeom prst="rect">
              <a:avLst/>
            </a:prstGeom>
            <a:noFill/>
          </p:spPr>
          <p:txBody>
            <a:bodyPr wrap="square" rtlCol="0">
              <a:spAutoFit/>
            </a:bodyPr>
            <a:lstStyle/>
            <a:p>
              <a:r>
                <a:rPr lang="en-AU" dirty="0" smtClean="0"/>
                <a:t>45</a:t>
              </a:r>
              <a:r>
                <a:rPr lang="en-AU" dirty="0" smtClean="0">
                  <a:sym typeface="Symbol"/>
                </a:rPr>
                <a:t></a:t>
              </a:r>
              <a:endParaRPr lang="en-US" i="1" dirty="0"/>
            </a:p>
          </p:txBody>
        </p:sp>
        <p:sp>
          <p:nvSpPr>
            <p:cNvPr id="29" name="TextBox 28"/>
            <p:cNvSpPr txBox="1"/>
            <p:nvPr/>
          </p:nvSpPr>
          <p:spPr>
            <a:xfrm>
              <a:off x="7308304" y="5517232"/>
              <a:ext cx="792088" cy="369332"/>
            </a:xfrm>
            <a:prstGeom prst="rect">
              <a:avLst/>
            </a:prstGeom>
            <a:noFill/>
          </p:spPr>
          <p:txBody>
            <a:bodyPr wrap="square" rtlCol="0">
              <a:spAutoFit/>
            </a:bodyPr>
            <a:lstStyle/>
            <a:p>
              <a:r>
                <a:rPr lang="en-AU" dirty="0" smtClean="0"/>
                <a:t>15 </a:t>
              </a:r>
              <a:r>
                <a:rPr lang="en-AU" i="1" dirty="0" smtClean="0"/>
                <a:t>cm</a:t>
              </a:r>
              <a:endParaRPr lang="en-US" i="1" dirty="0"/>
            </a:p>
          </p:txBody>
        </p:sp>
        <p:sp>
          <p:nvSpPr>
            <p:cNvPr id="30" name="TextBox 29"/>
            <p:cNvSpPr txBox="1"/>
            <p:nvPr/>
          </p:nvSpPr>
          <p:spPr>
            <a:xfrm>
              <a:off x="6732240" y="4499828"/>
              <a:ext cx="792088" cy="369332"/>
            </a:xfrm>
            <a:prstGeom prst="rect">
              <a:avLst/>
            </a:prstGeom>
            <a:noFill/>
          </p:spPr>
          <p:txBody>
            <a:bodyPr wrap="square" rtlCol="0">
              <a:spAutoFit/>
            </a:bodyPr>
            <a:lstStyle/>
            <a:p>
              <a:r>
                <a:rPr lang="en-AU" i="1" dirty="0" smtClean="0"/>
                <a:t>x</a:t>
              </a:r>
              <a:endParaRPr lang="en-US" i="1" dirty="0"/>
            </a:p>
          </p:txBody>
        </p:sp>
      </p:grpSp>
      <p:sp>
        <p:nvSpPr>
          <p:cNvPr id="32" name="TextBox 31"/>
          <p:cNvSpPr txBox="1"/>
          <p:nvPr/>
        </p:nvSpPr>
        <p:spPr>
          <a:xfrm>
            <a:off x="395536" y="5733256"/>
            <a:ext cx="2016224" cy="369332"/>
          </a:xfrm>
          <a:prstGeom prst="rect">
            <a:avLst/>
          </a:prstGeom>
          <a:noFill/>
        </p:spPr>
        <p:txBody>
          <a:bodyPr wrap="square" rtlCol="0">
            <a:spAutoFit/>
          </a:bodyPr>
          <a:lstStyle/>
          <a:p>
            <a:r>
              <a:rPr lang="en-AU" dirty="0" smtClean="0"/>
              <a:t>Here, we use </a:t>
            </a:r>
            <a:endParaRPr lang="en-US" dirty="0"/>
          </a:p>
        </p:txBody>
      </p:sp>
      <p:graphicFrame>
        <p:nvGraphicFramePr>
          <p:cNvPr id="33" name="Object 32"/>
          <p:cNvGraphicFramePr>
            <a:graphicFrameLocks noChangeAspect="1"/>
          </p:cNvGraphicFramePr>
          <p:nvPr/>
        </p:nvGraphicFramePr>
        <p:xfrm>
          <a:off x="1979712" y="5589240"/>
          <a:ext cx="1924577" cy="648072"/>
        </p:xfrm>
        <a:graphic>
          <a:graphicData uri="http://schemas.openxmlformats.org/presentationml/2006/ole">
            <p:oleObj spid="_x0000_s34818" name="Equation" r:id="rId3" imgW="1244520" imgH="419040" progId="Equation.3">
              <p:embed/>
            </p:oleObj>
          </a:graphicData>
        </a:graphic>
      </p:graphicFrame>
      <p:sp>
        <p:nvSpPr>
          <p:cNvPr id="34" name="TextBox 33"/>
          <p:cNvSpPr txBox="1"/>
          <p:nvPr/>
        </p:nvSpPr>
        <p:spPr>
          <a:xfrm>
            <a:off x="4932040" y="5445224"/>
            <a:ext cx="2016224" cy="369332"/>
          </a:xfrm>
          <a:prstGeom prst="rect">
            <a:avLst/>
          </a:prstGeom>
          <a:noFill/>
        </p:spPr>
        <p:txBody>
          <a:bodyPr wrap="square" rtlCol="0">
            <a:spAutoFit/>
          </a:bodyPr>
          <a:lstStyle/>
          <a:p>
            <a:r>
              <a:rPr lang="en-AU" dirty="0" smtClean="0"/>
              <a:t>Here, we use </a:t>
            </a:r>
            <a:endParaRPr lang="en-US" dirty="0"/>
          </a:p>
        </p:txBody>
      </p:sp>
      <p:sp>
        <p:nvSpPr>
          <p:cNvPr id="35" name="TextBox 34"/>
          <p:cNvSpPr txBox="1"/>
          <p:nvPr/>
        </p:nvSpPr>
        <p:spPr>
          <a:xfrm>
            <a:off x="5687616" y="5805264"/>
            <a:ext cx="3060848" cy="400110"/>
          </a:xfrm>
          <a:prstGeom prst="rect">
            <a:avLst/>
          </a:prstGeom>
          <a:noFill/>
          <a:ln w="34925">
            <a:solidFill>
              <a:srgbClr val="FF0000"/>
            </a:solidFill>
          </a:ln>
        </p:spPr>
        <p:txBody>
          <a:bodyPr wrap="square" rtlCol="0">
            <a:spAutoFit/>
          </a:bodyPr>
          <a:lstStyle/>
          <a:p>
            <a:pPr algn="ctr"/>
            <a:r>
              <a:rPr lang="en-AU" sz="2000" dirty="0" smtClean="0"/>
              <a:t>c </a:t>
            </a:r>
            <a:r>
              <a:rPr lang="en-AU" sz="2000" baseline="30000" dirty="0" smtClean="0"/>
              <a:t>2</a:t>
            </a:r>
            <a:r>
              <a:rPr lang="en-AU" sz="2000" dirty="0" smtClean="0"/>
              <a:t> =  </a:t>
            </a:r>
            <a:r>
              <a:rPr lang="en-AU" sz="2000" i="1" dirty="0" smtClean="0"/>
              <a:t>a</a:t>
            </a:r>
            <a:r>
              <a:rPr lang="en-AU" sz="2000" baseline="30000" dirty="0" smtClean="0"/>
              <a:t>2</a:t>
            </a:r>
            <a:r>
              <a:rPr lang="en-AU" sz="2000" i="1" dirty="0" smtClean="0"/>
              <a:t>  +  b</a:t>
            </a:r>
            <a:r>
              <a:rPr lang="en-AU" sz="2000" baseline="30000" dirty="0" smtClean="0"/>
              <a:t>2</a:t>
            </a:r>
            <a:r>
              <a:rPr lang="en-AU" sz="2000" i="1" dirty="0" smtClean="0"/>
              <a:t>  – 2ab </a:t>
            </a:r>
            <a:r>
              <a:rPr lang="en-AU" sz="2000" dirty="0" err="1" smtClean="0"/>
              <a:t>cos</a:t>
            </a:r>
            <a:r>
              <a:rPr lang="en-AU" sz="2000" i="1" dirty="0" smtClean="0"/>
              <a:t> C  </a:t>
            </a:r>
            <a:endParaRPr lang="en-US" sz="2000" dirty="0"/>
          </a:p>
        </p:txBody>
      </p:sp>
      <p:grpSp>
        <p:nvGrpSpPr>
          <p:cNvPr id="42" name="Group 41"/>
          <p:cNvGrpSpPr/>
          <p:nvPr/>
        </p:nvGrpSpPr>
        <p:grpSpPr>
          <a:xfrm>
            <a:off x="7129858" y="4653136"/>
            <a:ext cx="1042542" cy="1079295"/>
            <a:chOff x="7129858" y="4653136"/>
            <a:chExt cx="1042542" cy="1079295"/>
          </a:xfrm>
        </p:grpSpPr>
        <p:cxnSp>
          <p:nvCxnSpPr>
            <p:cNvPr id="38" name="Straight Arrow Connector 37"/>
            <p:cNvCxnSpPr/>
            <p:nvPr/>
          </p:nvCxnSpPr>
          <p:spPr>
            <a:xfrm flipV="1">
              <a:off x="7668344" y="4653136"/>
              <a:ext cx="504056" cy="10081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7129858" y="4725144"/>
              <a:ext cx="512440" cy="9444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Arc 40"/>
            <p:cNvSpPr/>
            <p:nvPr/>
          </p:nvSpPr>
          <p:spPr>
            <a:xfrm rot="19526159">
              <a:off x="7322371" y="5071211"/>
              <a:ext cx="664159" cy="661220"/>
            </a:xfrm>
            <a:prstGeom prst="arc">
              <a:avLst>
                <a:gd name="adj1" fmla="val 15053536"/>
                <a:gd name="adj2" fmla="val 21454605"/>
              </a:avLst>
            </a:prstGeom>
            <a:ln w="412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amond(in)">
                                      <p:cBhvr>
                                        <p:cTn id="25" dur="2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diamond(in)">
                                      <p:cBhvr>
                                        <p:cTn id="30" dur="20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500"/>
                                        <p:tgtEl>
                                          <p:spTgt spid="17"/>
                                        </p:tgtEl>
                                      </p:cBhvr>
                                    </p:animEffect>
                                  </p:childTnLst>
                                </p:cTn>
                              </p:par>
                              <p:par>
                                <p:cTn id="36" presetID="22" presetClass="entr" presetSubtype="1"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diamond(in)">
                                      <p:cBhvr>
                                        <p:cTn id="43" dur="20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8" presetClass="entr" presetSubtype="16"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diamond(in)">
                                      <p:cBhvr>
                                        <p:cTn id="48" dur="20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dissolve">
                                      <p:cBhvr>
                                        <p:cTn id="53" dur="500"/>
                                        <p:tgtEl>
                                          <p:spTgt spid="32"/>
                                        </p:tgtEl>
                                      </p:cBhvr>
                                    </p:animEffect>
                                  </p:childTnLst>
                                </p:cTn>
                              </p:par>
                            </p:childTnLst>
                          </p:cTn>
                        </p:par>
                        <p:par>
                          <p:cTn id="54" fill="hold">
                            <p:stCondLst>
                              <p:cond delay="500"/>
                            </p:stCondLst>
                            <p:childTnLst>
                              <p:par>
                                <p:cTn id="55" presetID="8" presetClass="entr" presetSubtype="16" fill="hold" nodeType="after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amond(in)">
                                      <p:cBhvr>
                                        <p:cTn id="57" dur="20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12"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0-#ppt_w/2"/>
                                          </p:val>
                                        </p:tav>
                                        <p:tav tm="100000">
                                          <p:val>
                                            <p:strVal val="#ppt_x"/>
                                          </p:val>
                                        </p:tav>
                                      </p:tavLst>
                                    </p:anim>
                                    <p:anim calcmode="lin" valueType="num">
                                      <p:cBhvr additive="base">
                                        <p:cTn id="6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8" presetClass="entr" presetSubtype="16"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diamond(in)">
                                      <p:cBhvr>
                                        <p:cTn id="68" dur="20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8" presetClass="entr" presetSubtype="16" fill="hold"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diamond(in)">
                                      <p:cBhvr>
                                        <p:cTn id="73" dur="2000"/>
                                        <p:tgtEl>
                                          <p:spTgt spid="31"/>
                                        </p:tgtEl>
                                      </p:cBhvr>
                                    </p:animEffect>
                                  </p:childTnLst>
                                </p:cTn>
                              </p:par>
                            </p:childTnLst>
                          </p:cTn>
                        </p:par>
                        <p:par>
                          <p:cTn id="74" fill="hold">
                            <p:stCondLst>
                              <p:cond delay="2000"/>
                            </p:stCondLst>
                            <p:childTnLst>
                              <p:par>
                                <p:cTn id="75" presetID="9" presetClass="entr" presetSubtype="0" fill="hold"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dissolve">
                                      <p:cBhvr>
                                        <p:cTn id="77" dur="500"/>
                                        <p:tgtEl>
                                          <p:spTgt spid="42"/>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dissolve">
                                      <p:cBhvr>
                                        <p:cTn id="82" dur="500"/>
                                        <p:tgtEl>
                                          <p:spTgt spid="34"/>
                                        </p:tgtEl>
                                      </p:cBhvr>
                                    </p:animEffect>
                                  </p:childTnLst>
                                </p:cTn>
                              </p:par>
                            </p:childTnLst>
                          </p:cTn>
                        </p:par>
                        <p:par>
                          <p:cTn id="83" fill="hold">
                            <p:stCondLst>
                              <p:cond delay="500"/>
                            </p:stCondLst>
                            <p:childTnLst>
                              <p:par>
                                <p:cTn id="84" presetID="8" presetClass="entr" presetSubtype="16" fill="hold" grpId="0"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diamond(in)">
                                      <p:cBhvr>
                                        <p:cTn id="86"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15" grpId="0"/>
      <p:bldP spid="20" grpId="0"/>
      <p:bldP spid="32" grpId="0"/>
      <p:bldP spid="34" grpId="0"/>
      <p:bldP spid="3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6 – Use the Cosine Rule to find the value of </a:t>
            </a:r>
            <a:r>
              <a:rPr lang="en-AU" sz="2400" i="1" dirty="0" smtClean="0">
                <a:solidFill>
                  <a:srgbClr val="0000FF"/>
                </a:solidFill>
              </a:rPr>
              <a:t>c</a:t>
            </a:r>
            <a:r>
              <a:rPr lang="en-AU" sz="2400" dirty="0" smtClean="0">
                <a:solidFill>
                  <a:srgbClr val="0000FF"/>
                </a:solidFill>
              </a:rPr>
              <a:t> in the triangle:</a:t>
            </a:r>
            <a:endParaRPr lang="en-US" sz="2400" dirty="0">
              <a:solidFill>
                <a:srgbClr val="0000FF"/>
              </a:solidFill>
            </a:endParaRPr>
          </a:p>
        </p:txBody>
      </p:sp>
      <p:sp>
        <p:nvSpPr>
          <p:cNvPr id="14" name="TextBox 13"/>
          <p:cNvSpPr txBox="1"/>
          <p:nvPr/>
        </p:nvSpPr>
        <p:spPr>
          <a:xfrm>
            <a:off x="539552" y="3501008"/>
            <a:ext cx="7992888" cy="369332"/>
          </a:xfrm>
          <a:prstGeom prst="rect">
            <a:avLst/>
          </a:prstGeom>
          <a:noFill/>
        </p:spPr>
        <p:txBody>
          <a:bodyPr wrap="square" rtlCol="0">
            <a:spAutoFit/>
          </a:bodyPr>
          <a:lstStyle/>
          <a:p>
            <a:pPr>
              <a:spcAft>
                <a:spcPts val="1200"/>
              </a:spcAft>
            </a:pPr>
            <a:r>
              <a:rPr lang="en-AU" dirty="0" smtClean="0"/>
              <a:t>Note that we have </a:t>
            </a:r>
            <a:r>
              <a:rPr lang="en-AU" dirty="0" smtClean="0">
                <a:solidFill>
                  <a:srgbClr val="7030A0"/>
                </a:solidFill>
              </a:rPr>
              <a:t>2 given sides (3 cm and 4 cm) and their included angle (65</a:t>
            </a:r>
            <a:r>
              <a:rPr lang="en-AU" dirty="0" smtClean="0">
                <a:solidFill>
                  <a:srgbClr val="7030A0"/>
                </a:solidFill>
                <a:sym typeface="Symbol"/>
              </a:rPr>
              <a:t></a:t>
            </a:r>
            <a:r>
              <a:rPr lang="en-AU" dirty="0" smtClean="0">
                <a:solidFill>
                  <a:srgbClr val="7030A0"/>
                </a:solidFill>
              </a:rPr>
              <a:t>)</a:t>
            </a:r>
            <a:endParaRPr lang="en-AU" dirty="0" smtClean="0"/>
          </a:p>
        </p:txBody>
      </p:sp>
      <p:grpSp>
        <p:nvGrpSpPr>
          <p:cNvPr id="26" name="Group 25"/>
          <p:cNvGrpSpPr/>
          <p:nvPr/>
        </p:nvGrpSpPr>
        <p:grpSpPr>
          <a:xfrm>
            <a:off x="2699792" y="1124744"/>
            <a:ext cx="3600400" cy="2385556"/>
            <a:chOff x="2627784" y="1124744"/>
            <a:chExt cx="3600400" cy="2385556"/>
          </a:xfrm>
        </p:grpSpPr>
        <p:grpSp>
          <p:nvGrpSpPr>
            <p:cNvPr id="3" name="Group 12"/>
            <p:cNvGrpSpPr/>
            <p:nvPr/>
          </p:nvGrpSpPr>
          <p:grpSpPr>
            <a:xfrm>
              <a:off x="2915816" y="1412776"/>
              <a:ext cx="2736304" cy="1953508"/>
              <a:chOff x="2843808" y="1556792"/>
              <a:chExt cx="2736304" cy="1953508"/>
            </a:xfrm>
          </p:grpSpPr>
          <p:cxnSp>
            <p:nvCxnSpPr>
              <p:cNvPr id="4" name="Straight Connector 3"/>
              <p:cNvCxnSpPr/>
              <p:nvPr/>
            </p:nvCxnSpPr>
            <p:spPr>
              <a:xfrm flipH="1">
                <a:off x="2843808" y="1556792"/>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563888" y="1556792"/>
                <a:ext cx="2016224" cy="144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843808" y="2996952"/>
                <a:ext cx="2736304" cy="43204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491880" y="1691516"/>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65</a:t>
                </a:r>
                <a:r>
                  <a:rPr lang="en-AU" dirty="0" smtClean="0">
                    <a:latin typeface="Times New Roman" pitchFamily="18" charset="0"/>
                    <a:cs typeface="Times New Roman" pitchFamily="18" charset="0"/>
                    <a:sym typeface="Symbol"/>
                  </a:rPr>
                  <a:t></a:t>
                </a:r>
                <a:endParaRPr lang="en-US" dirty="0">
                  <a:latin typeface="Times New Roman" pitchFamily="18" charset="0"/>
                  <a:cs typeface="Times New Roman" pitchFamily="18" charset="0"/>
                </a:endParaRPr>
              </a:p>
            </p:txBody>
          </p:sp>
          <p:sp>
            <p:nvSpPr>
              <p:cNvPr id="11" name="TextBox 10"/>
              <p:cNvSpPr txBox="1"/>
              <p:nvPr/>
            </p:nvSpPr>
            <p:spPr>
              <a:xfrm>
                <a:off x="4283968" y="1772816"/>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4 </a:t>
                </a:r>
                <a:r>
                  <a:rPr lang="en-AU" i="1" dirty="0" smtClean="0">
                    <a:latin typeface="Times New Roman" pitchFamily="18" charset="0"/>
                    <a:cs typeface="Times New Roman" pitchFamily="18" charset="0"/>
                  </a:rPr>
                  <a:t>cm</a:t>
                </a:r>
                <a:endParaRPr lang="en-US" i="1" dirty="0">
                  <a:latin typeface="Times New Roman" pitchFamily="18" charset="0"/>
                  <a:cs typeface="Times New Roman" pitchFamily="18" charset="0"/>
                </a:endParaRPr>
              </a:p>
            </p:txBody>
          </p:sp>
          <p:sp>
            <p:nvSpPr>
              <p:cNvPr id="12" name="TextBox 11"/>
              <p:cNvSpPr txBox="1"/>
              <p:nvPr/>
            </p:nvSpPr>
            <p:spPr>
              <a:xfrm>
                <a:off x="3851920" y="3140968"/>
                <a:ext cx="720080" cy="369332"/>
              </a:xfrm>
              <a:prstGeom prst="rect">
                <a:avLst/>
              </a:prstGeom>
              <a:noFill/>
            </p:spPr>
            <p:txBody>
              <a:bodyPr wrap="square" rtlCol="0">
                <a:spAutoFit/>
              </a:bodyPr>
              <a:lstStyle/>
              <a:p>
                <a:r>
                  <a:rPr lang="en-AU" i="1" dirty="0" smtClean="0">
                    <a:latin typeface="Times New Roman" pitchFamily="18" charset="0"/>
                    <a:cs typeface="Times New Roman" pitchFamily="18" charset="0"/>
                  </a:rPr>
                  <a:t>c</a:t>
                </a:r>
                <a:endParaRPr lang="en-US" i="1" dirty="0">
                  <a:latin typeface="Times New Roman" pitchFamily="18" charset="0"/>
                  <a:cs typeface="Times New Roman" pitchFamily="18" charset="0"/>
                </a:endParaRPr>
              </a:p>
            </p:txBody>
          </p:sp>
        </p:grpSp>
        <p:sp>
          <p:nvSpPr>
            <p:cNvPr id="13" name="TextBox 12"/>
            <p:cNvSpPr txBox="1"/>
            <p:nvPr/>
          </p:nvSpPr>
          <p:spPr>
            <a:xfrm>
              <a:off x="3419872" y="1124744"/>
              <a:ext cx="648072" cy="369332"/>
            </a:xfrm>
            <a:prstGeom prst="rect">
              <a:avLst/>
            </a:prstGeom>
            <a:noFill/>
          </p:spPr>
          <p:txBody>
            <a:bodyPr wrap="square" rtlCol="0">
              <a:spAutoFit/>
            </a:bodyPr>
            <a:lstStyle/>
            <a:p>
              <a:r>
                <a:rPr lang="en-AU" dirty="0" smtClean="0"/>
                <a:t>C</a:t>
              </a:r>
              <a:endParaRPr lang="en-US" dirty="0"/>
            </a:p>
          </p:txBody>
        </p:sp>
        <p:sp>
          <p:nvSpPr>
            <p:cNvPr id="15" name="TextBox 14"/>
            <p:cNvSpPr txBox="1"/>
            <p:nvPr/>
          </p:nvSpPr>
          <p:spPr>
            <a:xfrm>
              <a:off x="2699792" y="2060848"/>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3 </a:t>
              </a:r>
              <a:r>
                <a:rPr lang="en-AU" i="1" dirty="0" smtClean="0">
                  <a:latin typeface="Times New Roman" pitchFamily="18" charset="0"/>
                  <a:cs typeface="Times New Roman" pitchFamily="18" charset="0"/>
                </a:rPr>
                <a:t>cm</a:t>
              </a:r>
              <a:endParaRPr lang="en-US" i="1" dirty="0">
                <a:latin typeface="Times New Roman" pitchFamily="18" charset="0"/>
                <a:cs typeface="Times New Roman" pitchFamily="18" charset="0"/>
              </a:endParaRPr>
            </a:p>
          </p:txBody>
        </p:sp>
        <p:sp>
          <p:nvSpPr>
            <p:cNvPr id="16" name="TextBox 15"/>
            <p:cNvSpPr txBox="1"/>
            <p:nvPr/>
          </p:nvSpPr>
          <p:spPr>
            <a:xfrm>
              <a:off x="5580112" y="2636912"/>
              <a:ext cx="648072" cy="369332"/>
            </a:xfrm>
            <a:prstGeom prst="rect">
              <a:avLst/>
            </a:prstGeom>
            <a:noFill/>
          </p:spPr>
          <p:txBody>
            <a:bodyPr wrap="square" rtlCol="0">
              <a:spAutoFit/>
            </a:bodyPr>
            <a:lstStyle/>
            <a:p>
              <a:r>
                <a:rPr lang="en-AU" dirty="0" smtClean="0"/>
                <a:t>A</a:t>
              </a:r>
              <a:endParaRPr lang="en-US" dirty="0"/>
            </a:p>
          </p:txBody>
        </p:sp>
        <p:sp>
          <p:nvSpPr>
            <p:cNvPr id="17" name="TextBox 16"/>
            <p:cNvSpPr txBox="1"/>
            <p:nvPr/>
          </p:nvSpPr>
          <p:spPr>
            <a:xfrm>
              <a:off x="2627784" y="3140968"/>
              <a:ext cx="648072" cy="369332"/>
            </a:xfrm>
            <a:prstGeom prst="rect">
              <a:avLst/>
            </a:prstGeom>
            <a:noFill/>
          </p:spPr>
          <p:txBody>
            <a:bodyPr wrap="square" rtlCol="0">
              <a:spAutoFit/>
            </a:bodyPr>
            <a:lstStyle/>
            <a:p>
              <a:r>
                <a:rPr lang="en-AU" dirty="0" smtClean="0"/>
                <a:t>B</a:t>
              </a:r>
              <a:endParaRPr lang="en-US" dirty="0"/>
            </a:p>
          </p:txBody>
        </p:sp>
      </p:grpSp>
      <p:sp>
        <p:nvSpPr>
          <p:cNvPr id="18" name="TextBox 17"/>
          <p:cNvSpPr txBox="1"/>
          <p:nvPr/>
        </p:nvSpPr>
        <p:spPr>
          <a:xfrm>
            <a:off x="2915816" y="4437112"/>
            <a:ext cx="3060848" cy="400110"/>
          </a:xfrm>
          <a:prstGeom prst="rect">
            <a:avLst/>
          </a:prstGeom>
          <a:noFill/>
          <a:ln w="34925">
            <a:solidFill>
              <a:srgbClr val="FF0000"/>
            </a:solidFill>
          </a:ln>
        </p:spPr>
        <p:txBody>
          <a:bodyPr wrap="square" rtlCol="0">
            <a:spAutoFit/>
          </a:bodyPr>
          <a:lstStyle/>
          <a:p>
            <a:pPr algn="ctr"/>
            <a:r>
              <a:rPr lang="en-AU" sz="2000" dirty="0" smtClean="0"/>
              <a:t>c </a:t>
            </a:r>
            <a:r>
              <a:rPr lang="en-AU" sz="2000" baseline="30000" dirty="0" smtClean="0"/>
              <a:t>2</a:t>
            </a:r>
            <a:r>
              <a:rPr lang="en-AU" sz="2000" dirty="0" smtClean="0"/>
              <a:t> =  </a:t>
            </a:r>
            <a:r>
              <a:rPr lang="en-AU" sz="2000" i="1" dirty="0" smtClean="0"/>
              <a:t>a</a:t>
            </a:r>
            <a:r>
              <a:rPr lang="en-AU" sz="2000" baseline="30000" dirty="0" smtClean="0"/>
              <a:t>2</a:t>
            </a:r>
            <a:r>
              <a:rPr lang="en-AU" sz="2000" i="1" dirty="0" smtClean="0"/>
              <a:t>  +  b</a:t>
            </a:r>
            <a:r>
              <a:rPr lang="en-AU" sz="2000" baseline="30000" dirty="0" smtClean="0"/>
              <a:t>2</a:t>
            </a:r>
            <a:r>
              <a:rPr lang="en-AU" sz="2000" i="1" dirty="0" smtClean="0"/>
              <a:t>  – 2ab </a:t>
            </a:r>
            <a:r>
              <a:rPr lang="en-AU" sz="2000" dirty="0" err="1" smtClean="0"/>
              <a:t>cos</a:t>
            </a:r>
            <a:r>
              <a:rPr lang="en-AU" sz="2000" i="1" dirty="0" smtClean="0"/>
              <a:t> C  </a:t>
            </a:r>
            <a:endParaRPr lang="en-US" sz="2000" dirty="0"/>
          </a:p>
        </p:txBody>
      </p:sp>
      <p:sp>
        <p:nvSpPr>
          <p:cNvPr id="19" name="TextBox 18"/>
          <p:cNvSpPr txBox="1"/>
          <p:nvPr/>
        </p:nvSpPr>
        <p:spPr>
          <a:xfrm>
            <a:off x="611560" y="5229200"/>
            <a:ext cx="2376264" cy="1200329"/>
          </a:xfrm>
          <a:prstGeom prst="rect">
            <a:avLst/>
          </a:prstGeom>
          <a:noFill/>
        </p:spPr>
        <p:txBody>
          <a:bodyPr wrap="square" rtlCol="0">
            <a:spAutoFit/>
          </a:bodyPr>
          <a:lstStyle/>
          <a:p>
            <a:r>
              <a:rPr lang="en-AU" dirty="0" smtClean="0"/>
              <a:t>Let</a:t>
            </a:r>
          </a:p>
          <a:p>
            <a:r>
              <a:rPr lang="en-AU" i="1" dirty="0" smtClean="0"/>
              <a:t>a</a:t>
            </a:r>
            <a:r>
              <a:rPr lang="en-AU" dirty="0" smtClean="0"/>
              <a:t> = 3</a:t>
            </a:r>
          </a:p>
          <a:p>
            <a:r>
              <a:rPr lang="en-AU" i="1" dirty="0" smtClean="0"/>
              <a:t>b = 4</a:t>
            </a:r>
          </a:p>
          <a:p>
            <a:r>
              <a:rPr lang="en-AU" i="1" dirty="0" smtClean="0"/>
              <a:t>C</a:t>
            </a:r>
            <a:r>
              <a:rPr lang="en-AU" dirty="0" smtClean="0"/>
              <a:t> = 65</a:t>
            </a:r>
            <a:endParaRPr lang="en-US" i="1" dirty="0"/>
          </a:p>
        </p:txBody>
      </p:sp>
      <p:sp>
        <p:nvSpPr>
          <p:cNvPr id="21" name="TextBox 20"/>
          <p:cNvSpPr txBox="1"/>
          <p:nvPr/>
        </p:nvSpPr>
        <p:spPr>
          <a:xfrm>
            <a:off x="2915816" y="4973106"/>
            <a:ext cx="4464496" cy="400110"/>
          </a:xfrm>
          <a:prstGeom prst="rect">
            <a:avLst/>
          </a:prstGeom>
          <a:noFill/>
          <a:ln w="34925">
            <a:noFill/>
          </a:ln>
        </p:spPr>
        <p:txBody>
          <a:bodyPr wrap="square" rtlCol="0">
            <a:spAutoFit/>
          </a:bodyPr>
          <a:lstStyle/>
          <a:p>
            <a:pPr algn="ctr"/>
            <a:r>
              <a:rPr lang="en-AU" sz="2000" dirty="0" smtClean="0"/>
              <a:t>c </a:t>
            </a:r>
            <a:r>
              <a:rPr lang="en-AU" sz="2000" baseline="30000" dirty="0" smtClean="0"/>
              <a:t>2</a:t>
            </a:r>
            <a:r>
              <a:rPr lang="en-AU" sz="2000" dirty="0" smtClean="0"/>
              <a:t> =  3</a:t>
            </a:r>
            <a:r>
              <a:rPr lang="en-AU" sz="2000" baseline="30000" dirty="0" smtClean="0"/>
              <a:t>2</a:t>
            </a:r>
            <a:r>
              <a:rPr lang="en-AU" sz="2000" i="1" dirty="0" smtClean="0"/>
              <a:t>  +  </a:t>
            </a:r>
            <a:r>
              <a:rPr lang="en-AU" sz="2000" dirty="0" smtClean="0"/>
              <a:t>4</a:t>
            </a:r>
            <a:r>
              <a:rPr lang="en-AU" sz="2000" baseline="30000" dirty="0" smtClean="0"/>
              <a:t>2</a:t>
            </a:r>
            <a:r>
              <a:rPr lang="en-AU" sz="2000" i="1" dirty="0" smtClean="0"/>
              <a:t>  – </a:t>
            </a:r>
            <a:r>
              <a:rPr lang="en-AU" sz="2000" dirty="0" smtClean="0"/>
              <a:t>2</a:t>
            </a:r>
            <a:r>
              <a:rPr lang="en-AU" sz="2000" i="1" dirty="0" smtClean="0"/>
              <a:t> × </a:t>
            </a:r>
            <a:r>
              <a:rPr lang="en-AU" sz="2000" dirty="0" smtClean="0"/>
              <a:t>3</a:t>
            </a:r>
            <a:r>
              <a:rPr lang="en-AU" sz="2000" i="1" dirty="0" smtClean="0"/>
              <a:t>× </a:t>
            </a:r>
            <a:r>
              <a:rPr lang="en-AU" sz="2000" dirty="0" smtClean="0"/>
              <a:t>4 ×</a:t>
            </a:r>
            <a:r>
              <a:rPr lang="en-AU" sz="2000" i="1" dirty="0" smtClean="0"/>
              <a:t> </a:t>
            </a:r>
            <a:r>
              <a:rPr lang="en-AU" sz="2000" dirty="0" err="1" smtClean="0"/>
              <a:t>cos</a:t>
            </a:r>
            <a:r>
              <a:rPr lang="en-AU" sz="2000" i="1" dirty="0" smtClean="0"/>
              <a:t> </a:t>
            </a:r>
            <a:r>
              <a:rPr lang="en-AU" sz="2000" dirty="0" smtClean="0"/>
              <a:t>65</a:t>
            </a:r>
            <a:r>
              <a:rPr lang="en-AU" sz="2000" i="1" dirty="0" smtClean="0"/>
              <a:t>  </a:t>
            </a:r>
            <a:endParaRPr lang="en-US" sz="2000" dirty="0"/>
          </a:p>
        </p:txBody>
      </p:sp>
      <p:sp>
        <p:nvSpPr>
          <p:cNvPr id="22" name="TextBox 21"/>
          <p:cNvSpPr txBox="1"/>
          <p:nvPr/>
        </p:nvSpPr>
        <p:spPr>
          <a:xfrm>
            <a:off x="2915816" y="5333146"/>
            <a:ext cx="4464496" cy="400110"/>
          </a:xfrm>
          <a:prstGeom prst="rect">
            <a:avLst/>
          </a:prstGeom>
          <a:noFill/>
          <a:ln w="34925">
            <a:noFill/>
          </a:ln>
        </p:spPr>
        <p:txBody>
          <a:bodyPr wrap="square" rtlCol="0">
            <a:spAutoFit/>
          </a:bodyPr>
          <a:lstStyle/>
          <a:p>
            <a:pPr algn="ctr"/>
            <a:r>
              <a:rPr lang="en-AU" sz="2000" dirty="0" smtClean="0"/>
              <a:t>c </a:t>
            </a:r>
            <a:r>
              <a:rPr lang="en-AU" sz="2000" baseline="30000" dirty="0" smtClean="0"/>
              <a:t>2</a:t>
            </a:r>
            <a:r>
              <a:rPr lang="en-AU" sz="2000" dirty="0" smtClean="0"/>
              <a:t> =  14.857 </a:t>
            </a:r>
            <a:r>
              <a:rPr lang="en-AU" sz="1400" dirty="0" smtClean="0"/>
              <a:t>(do in one step on calculator)</a:t>
            </a:r>
            <a:r>
              <a:rPr lang="en-AU" sz="2000" i="1" dirty="0" smtClean="0"/>
              <a:t>  </a:t>
            </a:r>
            <a:endParaRPr lang="en-US" sz="2000" dirty="0"/>
          </a:p>
        </p:txBody>
      </p:sp>
      <p:sp>
        <p:nvSpPr>
          <p:cNvPr id="23" name="TextBox 22"/>
          <p:cNvSpPr txBox="1"/>
          <p:nvPr/>
        </p:nvSpPr>
        <p:spPr>
          <a:xfrm>
            <a:off x="3491880" y="5733256"/>
            <a:ext cx="4248472" cy="400110"/>
          </a:xfrm>
          <a:prstGeom prst="rect">
            <a:avLst/>
          </a:prstGeom>
          <a:noFill/>
        </p:spPr>
        <p:txBody>
          <a:bodyPr wrap="square" rtlCol="0">
            <a:spAutoFit/>
          </a:bodyPr>
          <a:lstStyle/>
          <a:p>
            <a:r>
              <a:rPr lang="en-AU" sz="2000" b="1" i="1" dirty="0" smtClean="0"/>
              <a:t>c</a:t>
            </a:r>
            <a:r>
              <a:rPr lang="en-AU" sz="2000" b="1" dirty="0" smtClean="0"/>
              <a:t> = 3.85 (to two </a:t>
            </a:r>
            <a:r>
              <a:rPr lang="en-AU" sz="2000" b="1" dirty="0" err="1" smtClean="0"/>
              <a:t>dec</a:t>
            </a:r>
            <a:r>
              <a:rPr lang="en-AU" sz="2000" b="1" dirty="0" smtClean="0"/>
              <a:t> pl)</a:t>
            </a:r>
            <a:endParaRPr lang="en-US" sz="2000" b="1" i="1" dirty="0"/>
          </a:p>
        </p:txBody>
      </p:sp>
      <p:sp>
        <p:nvSpPr>
          <p:cNvPr id="24" name="Rectangle 23"/>
          <p:cNvSpPr/>
          <p:nvPr/>
        </p:nvSpPr>
        <p:spPr>
          <a:xfrm>
            <a:off x="467544" y="5229200"/>
            <a:ext cx="1008112" cy="1296144"/>
          </a:xfrm>
          <a:prstGeom prst="rect">
            <a:avLst/>
          </a:prstGeom>
          <a:solidFill>
            <a:srgbClr val="FFFF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5" name="TextBox 24"/>
          <p:cNvSpPr txBox="1"/>
          <p:nvPr/>
        </p:nvSpPr>
        <p:spPr>
          <a:xfrm>
            <a:off x="2483768" y="6135687"/>
            <a:ext cx="6480720" cy="461665"/>
          </a:xfrm>
          <a:prstGeom prst="rect">
            <a:avLst/>
          </a:prstGeom>
          <a:noFill/>
        </p:spPr>
        <p:txBody>
          <a:bodyPr wrap="square" rtlCol="0">
            <a:spAutoFit/>
          </a:bodyPr>
          <a:lstStyle/>
          <a:p>
            <a:r>
              <a:rPr lang="en-AU" sz="2400" dirty="0" err="1" smtClean="0">
                <a:solidFill>
                  <a:srgbClr val="FF0000"/>
                </a:solidFill>
              </a:rPr>
              <a:t>Ans</a:t>
            </a:r>
            <a:r>
              <a:rPr lang="en-AU" sz="2400" dirty="0" smtClean="0">
                <a:solidFill>
                  <a:srgbClr val="FF0000"/>
                </a:solidFill>
              </a:rPr>
              <a:t>: The length of the required side is 3.85 cm</a:t>
            </a:r>
            <a:endParaRPr lang="en-US" sz="2400" dirty="0">
              <a:solidFill>
                <a:srgbClr val="FF0000"/>
              </a:solidFill>
            </a:endParaRPr>
          </a:p>
        </p:txBody>
      </p:sp>
      <p:sp>
        <p:nvSpPr>
          <p:cNvPr id="27" name="TextBox 26"/>
          <p:cNvSpPr txBox="1"/>
          <p:nvPr/>
        </p:nvSpPr>
        <p:spPr>
          <a:xfrm>
            <a:off x="6444208" y="1556792"/>
            <a:ext cx="1872208" cy="923330"/>
          </a:xfrm>
          <a:prstGeom prst="rect">
            <a:avLst/>
          </a:prstGeom>
          <a:noFill/>
        </p:spPr>
        <p:txBody>
          <a:bodyPr wrap="square" rtlCol="0">
            <a:spAutoFit/>
          </a:bodyPr>
          <a:lstStyle/>
          <a:p>
            <a:r>
              <a:rPr lang="en-AU" dirty="0" smtClean="0">
                <a:solidFill>
                  <a:srgbClr val="006600"/>
                </a:solidFill>
              </a:rPr>
              <a:t>Finally, check that c = 3.85 fits the diagram.</a:t>
            </a:r>
            <a:endParaRPr lang="en-US" dirty="0">
              <a:solidFill>
                <a:srgbClr val="006600"/>
              </a:solidFill>
            </a:endParaRPr>
          </a:p>
        </p:txBody>
      </p:sp>
      <p:cxnSp>
        <p:nvCxnSpPr>
          <p:cNvPr id="29" name="Straight Arrow Connector 28"/>
          <p:cNvCxnSpPr/>
          <p:nvPr/>
        </p:nvCxnSpPr>
        <p:spPr>
          <a:xfrm>
            <a:off x="3707904" y="1412776"/>
            <a:ext cx="1224136" cy="864096"/>
          </a:xfrm>
          <a:prstGeom prst="straightConnector1">
            <a:avLst/>
          </a:prstGeom>
          <a:ln w="603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3203848" y="1437828"/>
            <a:ext cx="541634" cy="1199084"/>
          </a:xfrm>
          <a:prstGeom prst="straightConnector1">
            <a:avLst/>
          </a:prstGeom>
          <a:ln w="603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3" name="Arc 32"/>
          <p:cNvSpPr/>
          <p:nvPr/>
        </p:nvSpPr>
        <p:spPr>
          <a:xfrm rot="7832464">
            <a:off x="3309754" y="1144486"/>
            <a:ext cx="1008112" cy="936104"/>
          </a:xfrm>
          <a:prstGeom prst="arc">
            <a:avLst>
              <a:gd name="adj1" fmla="val 15053536"/>
              <a:gd name="adj2" fmla="val 21454605"/>
            </a:avLst>
          </a:prstGeom>
          <a:ln w="412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539552" y="3851756"/>
            <a:ext cx="5400600" cy="369332"/>
          </a:xfrm>
          <a:prstGeom prst="rect">
            <a:avLst/>
          </a:prstGeom>
          <a:noFill/>
        </p:spPr>
        <p:txBody>
          <a:bodyPr wrap="square" rtlCol="0">
            <a:spAutoFit/>
          </a:bodyPr>
          <a:lstStyle/>
          <a:p>
            <a:r>
              <a:rPr lang="en-AU" dirty="0" smtClean="0">
                <a:solidFill>
                  <a:srgbClr val="002060"/>
                </a:solidFill>
              </a:rPr>
              <a:t>so </a:t>
            </a:r>
            <a:r>
              <a:rPr lang="en-AU" dirty="0" smtClean="0"/>
              <a:t>we can use the Cosine Rule for finding a side…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amond(in)">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up)">
                                      <p:cBhvr>
                                        <p:cTn id="17" dur="2000"/>
                                        <p:tgtEl>
                                          <p:spTgt spid="29"/>
                                        </p:tgtEl>
                                      </p:cBhvr>
                                    </p:animEffect>
                                  </p:childTnLst>
                                </p:cTn>
                              </p:par>
                              <p:par>
                                <p:cTn id="18" presetID="22" presetClass="entr" presetSubtype="1" fill="hold"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wipe(up)">
                                      <p:cBhvr>
                                        <p:cTn id="20" dur="2000"/>
                                        <p:tgtEl>
                                          <p:spTgt spid="31"/>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down)">
                                      <p:cBhvr>
                                        <p:cTn id="23" dur="500"/>
                                        <p:tgtEl>
                                          <p:spTgt spid="3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dissolve">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diamond(in)">
                                      <p:cBhvr>
                                        <p:cTn id="33" dur="20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dissolve">
                                      <p:cBhvr>
                                        <p:cTn id="38" dur="500"/>
                                        <p:tgtEl>
                                          <p:spTgt spid="19"/>
                                        </p:tgtEl>
                                      </p:cBhvr>
                                    </p:animEffect>
                                  </p:childTnLst>
                                </p:cTn>
                              </p:par>
                              <p:par>
                                <p:cTn id="39" presetID="8" presetClass="entr" presetSubtype="16"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diamond(in)">
                                      <p:cBhvr>
                                        <p:cTn id="41" dur="20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dissolve">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dissolv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8" presetClass="entr" presetSubtype="16"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diamond(in)">
                                      <p:cBhvr>
                                        <p:cTn id="56" dur="2000"/>
                                        <p:tgtEl>
                                          <p:spTgt spid="23"/>
                                        </p:tgtEl>
                                      </p:cBhvr>
                                    </p:animEffect>
                                  </p:childTnLst>
                                </p:cTn>
                              </p:par>
                            </p:childTnLst>
                          </p:cTn>
                        </p:par>
                        <p:par>
                          <p:cTn id="57" fill="hold">
                            <p:stCondLst>
                              <p:cond delay="2000"/>
                            </p:stCondLst>
                            <p:childTnLst>
                              <p:par>
                                <p:cTn id="58" presetID="2" presetClass="entr" presetSubtype="4" fill="hold" grpId="0" nodeType="after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additive="base">
                                        <p:cTn id="60" dur="2000" fill="hold"/>
                                        <p:tgtEl>
                                          <p:spTgt spid="25"/>
                                        </p:tgtEl>
                                        <p:attrNameLst>
                                          <p:attrName>ppt_x</p:attrName>
                                        </p:attrNameLst>
                                      </p:cBhvr>
                                      <p:tavLst>
                                        <p:tav tm="0">
                                          <p:val>
                                            <p:strVal val="#ppt_x"/>
                                          </p:val>
                                        </p:tav>
                                        <p:tav tm="100000">
                                          <p:val>
                                            <p:strVal val="#ppt_x"/>
                                          </p:val>
                                        </p:tav>
                                      </p:tavLst>
                                    </p:anim>
                                    <p:anim calcmode="lin" valueType="num">
                                      <p:cBhvr additive="base">
                                        <p:cTn id="61" dur="2000" fill="hold"/>
                                        <p:tgtEl>
                                          <p:spTgt spid="25"/>
                                        </p:tgtEl>
                                        <p:attrNameLst>
                                          <p:attrName>ppt_y</p:attrName>
                                        </p:attrNameLst>
                                      </p:cBhvr>
                                      <p:tavLst>
                                        <p:tav tm="0">
                                          <p:val>
                                            <p:strVal val="1+#ppt_h/2"/>
                                          </p:val>
                                        </p:tav>
                                        <p:tav tm="100000">
                                          <p:val>
                                            <p:strVal val="#ppt_y"/>
                                          </p:val>
                                        </p:tav>
                                      </p:tavLst>
                                    </p:anim>
                                  </p:childTnLst>
                                </p:cTn>
                              </p:par>
                            </p:childTnLst>
                          </p:cTn>
                        </p:par>
                        <p:par>
                          <p:cTn id="62" fill="hold">
                            <p:stCondLst>
                              <p:cond delay="4000"/>
                            </p:stCondLst>
                            <p:childTnLst>
                              <p:par>
                                <p:cTn id="63" presetID="8" presetClass="entr" presetSubtype="16"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diamond(in)">
                                      <p:cBhvr>
                                        <p:cTn id="65"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animBg="1"/>
      <p:bldP spid="19" grpId="0"/>
      <p:bldP spid="21" grpId="0"/>
      <p:bldP spid="22" grpId="0"/>
      <p:bldP spid="23" grpId="0"/>
      <p:bldP spid="24" grpId="0" animBg="1"/>
      <p:bldP spid="25" grpId="0"/>
      <p:bldP spid="27" grpId="0"/>
      <p:bldP spid="33" grpId="0" animBg="1"/>
      <p:bldP spid="3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7 – Use the Cosine Rule to find the size of </a:t>
            </a:r>
            <a:r>
              <a:rPr lang="en-AU" sz="2400" i="1" dirty="0" smtClean="0">
                <a:solidFill>
                  <a:srgbClr val="0000FF"/>
                </a:solidFill>
                <a:sym typeface="Symbol"/>
              </a:rPr>
              <a:t>C</a:t>
            </a:r>
            <a:r>
              <a:rPr lang="en-AU" sz="2400" dirty="0" smtClean="0">
                <a:solidFill>
                  <a:srgbClr val="0000FF"/>
                </a:solidFill>
                <a:sym typeface="Symbol"/>
              </a:rPr>
              <a:t> </a:t>
            </a:r>
            <a:r>
              <a:rPr lang="en-AU" sz="2400" dirty="0" smtClean="0">
                <a:solidFill>
                  <a:srgbClr val="0000FF"/>
                </a:solidFill>
              </a:rPr>
              <a:t>in the triangle:</a:t>
            </a:r>
            <a:endParaRPr lang="en-US" sz="2400" dirty="0">
              <a:solidFill>
                <a:srgbClr val="0000FF"/>
              </a:solidFill>
            </a:endParaRPr>
          </a:p>
        </p:txBody>
      </p:sp>
      <p:sp>
        <p:nvSpPr>
          <p:cNvPr id="14" name="TextBox 13"/>
          <p:cNvSpPr txBox="1"/>
          <p:nvPr/>
        </p:nvSpPr>
        <p:spPr>
          <a:xfrm>
            <a:off x="539552" y="3501008"/>
            <a:ext cx="7992888" cy="369332"/>
          </a:xfrm>
          <a:prstGeom prst="rect">
            <a:avLst/>
          </a:prstGeom>
          <a:noFill/>
        </p:spPr>
        <p:txBody>
          <a:bodyPr wrap="square" rtlCol="0">
            <a:spAutoFit/>
          </a:bodyPr>
          <a:lstStyle/>
          <a:p>
            <a:pPr>
              <a:spcAft>
                <a:spcPts val="1200"/>
              </a:spcAft>
            </a:pPr>
            <a:r>
              <a:rPr lang="en-AU" dirty="0" smtClean="0"/>
              <a:t>Note that we have </a:t>
            </a:r>
            <a:r>
              <a:rPr lang="en-AU" dirty="0" smtClean="0">
                <a:solidFill>
                  <a:srgbClr val="7030A0"/>
                </a:solidFill>
              </a:rPr>
              <a:t>3 given sides and are asked to find angle at C (opposite 7.5)</a:t>
            </a:r>
            <a:endParaRPr lang="en-AU" dirty="0" smtClean="0"/>
          </a:p>
        </p:txBody>
      </p:sp>
      <p:grpSp>
        <p:nvGrpSpPr>
          <p:cNvPr id="3" name="Group 25"/>
          <p:cNvGrpSpPr/>
          <p:nvPr/>
        </p:nvGrpSpPr>
        <p:grpSpPr>
          <a:xfrm>
            <a:off x="2699792" y="1124744"/>
            <a:ext cx="3600400" cy="2385556"/>
            <a:chOff x="2627784" y="1124744"/>
            <a:chExt cx="3600400" cy="2385556"/>
          </a:xfrm>
        </p:grpSpPr>
        <p:grpSp>
          <p:nvGrpSpPr>
            <p:cNvPr id="5" name="Group 12"/>
            <p:cNvGrpSpPr/>
            <p:nvPr/>
          </p:nvGrpSpPr>
          <p:grpSpPr>
            <a:xfrm>
              <a:off x="2915816" y="1412776"/>
              <a:ext cx="2880320" cy="1872208"/>
              <a:chOff x="2843808" y="1556792"/>
              <a:chExt cx="2880320" cy="1872208"/>
            </a:xfrm>
          </p:grpSpPr>
          <p:cxnSp>
            <p:nvCxnSpPr>
              <p:cNvPr id="4" name="Straight Connector 3"/>
              <p:cNvCxnSpPr/>
              <p:nvPr/>
            </p:nvCxnSpPr>
            <p:spPr>
              <a:xfrm flipH="1">
                <a:off x="2843808" y="1556792"/>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563888" y="1556792"/>
                <a:ext cx="2016224" cy="144016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843808" y="2996952"/>
                <a:ext cx="2736304" cy="432048"/>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43808" y="2132856"/>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7.5 </a:t>
                </a:r>
                <a:r>
                  <a:rPr lang="en-AU" i="1" dirty="0" err="1" smtClean="0">
                    <a:latin typeface="Times New Roman" pitchFamily="18" charset="0"/>
                    <a:cs typeface="Times New Roman" pitchFamily="18" charset="0"/>
                  </a:rPr>
                  <a:t>m</a:t>
                </a:r>
                <a:endParaRPr lang="en-US" dirty="0">
                  <a:latin typeface="Times New Roman" pitchFamily="18" charset="0"/>
                  <a:cs typeface="Times New Roman" pitchFamily="18" charset="0"/>
                </a:endParaRPr>
              </a:p>
            </p:txBody>
          </p:sp>
          <p:sp>
            <p:nvSpPr>
              <p:cNvPr id="11" name="TextBox 10"/>
              <p:cNvSpPr txBox="1"/>
              <p:nvPr/>
            </p:nvSpPr>
            <p:spPr>
              <a:xfrm>
                <a:off x="4283968" y="1772816"/>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8 </a:t>
                </a:r>
                <a:r>
                  <a:rPr lang="en-AU" i="1" dirty="0" err="1"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12" name="TextBox 11"/>
              <p:cNvSpPr txBox="1"/>
              <p:nvPr/>
            </p:nvSpPr>
            <p:spPr>
              <a:xfrm>
                <a:off x="5004048" y="2708920"/>
                <a:ext cx="720080" cy="369332"/>
              </a:xfrm>
              <a:prstGeom prst="rect">
                <a:avLst/>
              </a:prstGeom>
              <a:noFill/>
            </p:spPr>
            <p:txBody>
              <a:bodyPr wrap="square" rtlCol="0">
                <a:spAutoFit/>
              </a:bodyPr>
              <a:lstStyle/>
              <a:p>
                <a:r>
                  <a:rPr lang="en-AU" i="1" dirty="0" smtClean="0">
                    <a:latin typeface="Times New Roman" pitchFamily="18" charset="0"/>
                    <a:cs typeface="Times New Roman" pitchFamily="18" charset="0"/>
                    <a:sym typeface="Symbol"/>
                  </a:rPr>
                  <a:t>?</a:t>
                </a:r>
                <a:endParaRPr lang="en-US" i="1" dirty="0">
                  <a:latin typeface="Times New Roman" pitchFamily="18" charset="0"/>
                  <a:cs typeface="Times New Roman" pitchFamily="18" charset="0"/>
                </a:endParaRPr>
              </a:p>
            </p:txBody>
          </p:sp>
        </p:grpSp>
        <p:sp>
          <p:nvSpPr>
            <p:cNvPr id="13" name="TextBox 12"/>
            <p:cNvSpPr txBox="1"/>
            <p:nvPr/>
          </p:nvSpPr>
          <p:spPr>
            <a:xfrm>
              <a:off x="3419872" y="1124744"/>
              <a:ext cx="648072" cy="369332"/>
            </a:xfrm>
            <a:prstGeom prst="rect">
              <a:avLst/>
            </a:prstGeom>
            <a:noFill/>
          </p:spPr>
          <p:txBody>
            <a:bodyPr wrap="square" rtlCol="0">
              <a:spAutoFit/>
            </a:bodyPr>
            <a:lstStyle/>
            <a:p>
              <a:r>
                <a:rPr lang="en-AU" dirty="0" smtClean="0"/>
                <a:t>B</a:t>
              </a:r>
              <a:endParaRPr lang="en-US" dirty="0"/>
            </a:p>
          </p:txBody>
        </p:sp>
        <p:sp>
          <p:nvSpPr>
            <p:cNvPr id="15" name="TextBox 14"/>
            <p:cNvSpPr txBox="1"/>
            <p:nvPr/>
          </p:nvSpPr>
          <p:spPr>
            <a:xfrm>
              <a:off x="3923928" y="2780928"/>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9 </a:t>
              </a:r>
              <a:r>
                <a:rPr lang="en-AU" i="1" dirty="0" err="1"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16" name="TextBox 15"/>
            <p:cNvSpPr txBox="1"/>
            <p:nvPr/>
          </p:nvSpPr>
          <p:spPr>
            <a:xfrm>
              <a:off x="5580112" y="2636912"/>
              <a:ext cx="648072" cy="369332"/>
            </a:xfrm>
            <a:prstGeom prst="rect">
              <a:avLst/>
            </a:prstGeom>
            <a:noFill/>
          </p:spPr>
          <p:txBody>
            <a:bodyPr wrap="square" rtlCol="0">
              <a:spAutoFit/>
            </a:bodyPr>
            <a:lstStyle/>
            <a:p>
              <a:r>
                <a:rPr lang="en-AU" dirty="0" smtClean="0"/>
                <a:t>C</a:t>
              </a:r>
              <a:endParaRPr lang="en-US" dirty="0"/>
            </a:p>
          </p:txBody>
        </p:sp>
        <p:sp>
          <p:nvSpPr>
            <p:cNvPr id="17" name="TextBox 16"/>
            <p:cNvSpPr txBox="1"/>
            <p:nvPr/>
          </p:nvSpPr>
          <p:spPr>
            <a:xfrm>
              <a:off x="2627784" y="3140968"/>
              <a:ext cx="648072" cy="369332"/>
            </a:xfrm>
            <a:prstGeom prst="rect">
              <a:avLst/>
            </a:prstGeom>
            <a:noFill/>
          </p:spPr>
          <p:txBody>
            <a:bodyPr wrap="square" rtlCol="0">
              <a:spAutoFit/>
            </a:bodyPr>
            <a:lstStyle/>
            <a:p>
              <a:r>
                <a:rPr lang="en-AU" dirty="0" smtClean="0"/>
                <a:t>A</a:t>
              </a:r>
              <a:endParaRPr lang="en-US" dirty="0"/>
            </a:p>
          </p:txBody>
        </p:sp>
      </p:grpSp>
      <p:sp>
        <p:nvSpPr>
          <p:cNvPr id="19" name="TextBox 18"/>
          <p:cNvSpPr txBox="1"/>
          <p:nvPr/>
        </p:nvSpPr>
        <p:spPr>
          <a:xfrm>
            <a:off x="395536" y="4293096"/>
            <a:ext cx="2376264" cy="1200329"/>
          </a:xfrm>
          <a:prstGeom prst="rect">
            <a:avLst/>
          </a:prstGeom>
          <a:noFill/>
        </p:spPr>
        <p:txBody>
          <a:bodyPr wrap="square" rtlCol="0">
            <a:spAutoFit/>
          </a:bodyPr>
          <a:lstStyle/>
          <a:p>
            <a:r>
              <a:rPr lang="en-AU" dirty="0" smtClean="0"/>
              <a:t>Let</a:t>
            </a:r>
          </a:p>
          <a:p>
            <a:r>
              <a:rPr lang="en-AU" i="1" dirty="0" smtClean="0"/>
              <a:t>a</a:t>
            </a:r>
            <a:r>
              <a:rPr lang="en-AU" dirty="0" smtClean="0"/>
              <a:t> = 8</a:t>
            </a:r>
          </a:p>
          <a:p>
            <a:r>
              <a:rPr lang="en-AU" i="1" dirty="0" smtClean="0"/>
              <a:t>b = </a:t>
            </a:r>
            <a:r>
              <a:rPr lang="en-AU" dirty="0" smtClean="0"/>
              <a:t>9</a:t>
            </a:r>
          </a:p>
          <a:p>
            <a:r>
              <a:rPr lang="en-AU" i="1" dirty="0" smtClean="0"/>
              <a:t>c</a:t>
            </a:r>
            <a:r>
              <a:rPr lang="en-AU" dirty="0" smtClean="0"/>
              <a:t> = 7,5</a:t>
            </a:r>
            <a:endParaRPr lang="en-US" i="1" dirty="0"/>
          </a:p>
        </p:txBody>
      </p:sp>
      <p:sp>
        <p:nvSpPr>
          <p:cNvPr id="24" name="Rectangle 23"/>
          <p:cNvSpPr/>
          <p:nvPr/>
        </p:nvSpPr>
        <p:spPr>
          <a:xfrm>
            <a:off x="395536" y="4293096"/>
            <a:ext cx="1008112" cy="1296144"/>
          </a:xfrm>
          <a:prstGeom prst="rect">
            <a:avLst/>
          </a:prstGeom>
          <a:solidFill>
            <a:srgbClr val="FFFF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5" name="TextBox 24"/>
          <p:cNvSpPr txBox="1"/>
          <p:nvPr/>
        </p:nvSpPr>
        <p:spPr>
          <a:xfrm>
            <a:off x="0" y="6027003"/>
            <a:ext cx="5328592" cy="830997"/>
          </a:xfrm>
          <a:prstGeom prst="rect">
            <a:avLst/>
          </a:prstGeom>
          <a:noFill/>
        </p:spPr>
        <p:txBody>
          <a:bodyPr wrap="square" rtlCol="0">
            <a:spAutoFit/>
          </a:bodyPr>
          <a:lstStyle/>
          <a:p>
            <a:r>
              <a:rPr lang="en-AU" sz="2400" dirty="0" err="1" smtClean="0">
                <a:solidFill>
                  <a:srgbClr val="FF0000"/>
                </a:solidFill>
              </a:rPr>
              <a:t>Ans</a:t>
            </a:r>
            <a:r>
              <a:rPr lang="en-AU" sz="2400" dirty="0" smtClean="0">
                <a:solidFill>
                  <a:srgbClr val="FF0000"/>
                </a:solidFill>
              </a:rPr>
              <a:t>: Angle C is equal to </a:t>
            </a:r>
            <a:r>
              <a:rPr lang="en-AU" sz="2400" dirty="0" smtClean="0">
                <a:solidFill>
                  <a:srgbClr val="006600"/>
                </a:solidFill>
              </a:rPr>
              <a:t>51.95</a:t>
            </a:r>
            <a:r>
              <a:rPr lang="en-AU" sz="2400" dirty="0" smtClean="0">
                <a:solidFill>
                  <a:srgbClr val="006600"/>
                </a:solidFill>
                <a:sym typeface="Symbol"/>
              </a:rPr>
              <a:t> </a:t>
            </a:r>
            <a:r>
              <a:rPr lang="en-AU" sz="1600" dirty="0" smtClean="0">
                <a:solidFill>
                  <a:srgbClr val="FF0000"/>
                </a:solidFill>
                <a:sym typeface="Symbol"/>
              </a:rPr>
              <a:t>(to 2 </a:t>
            </a:r>
            <a:r>
              <a:rPr lang="en-AU" sz="1600" dirty="0" err="1" smtClean="0">
                <a:solidFill>
                  <a:srgbClr val="FF0000"/>
                </a:solidFill>
                <a:sym typeface="Symbol"/>
              </a:rPr>
              <a:t>dec</a:t>
            </a:r>
            <a:r>
              <a:rPr lang="en-AU" sz="1600" dirty="0" smtClean="0">
                <a:solidFill>
                  <a:srgbClr val="FF0000"/>
                </a:solidFill>
                <a:sym typeface="Symbol"/>
              </a:rPr>
              <a:t> pl) </a:t>
            </a:r>
          </a:p>
          <a:p>
            <a:r>
              <a:rPr lang="en-AU" sz="2400" dirty="0" smtClean="0">
                <a:solidFill>
                  <a:srgbClr val="FF0000"/>
                </a:solidFill>
                <a:sym typeface="Symbol"/>
              </a:rPr>
              <a:t>or </a:t>
            </a:r>
            <a:r>
              <a:rPr lang="en-AU" sz="2400" dirty="0" smtClean="0">
                <a:solidFill>
                  <a:srgbClr val="006600"/>
                </a:solidFill>
                <a:sym typeface="Symbol"/>
              </a:rPr>
              <a:t>5157’ </a:t>
            </a:r>
            <a:r>
              <a:rPr lang="en-AU" sz="1600" dirty="0" smtClean="0">
                <a:solidFill>
                  <a:srgbClr val="FF0000"/>
                </a:solidFill>
                <a:sym typeface="Symbol"/>
              </a:rPr>
              <a:t>(to nearest minute)</a:t>
            </a:r>
            <a:endParaRPr lang="en-US" sz="2400" dirty="0">
              <a:solidFill>
                <a:srgbClr val="FF0000"/>
              </a:solidFill>
            </a:endParaRPr>
          </a:p>
        </p:txBody>
      </p:sp>
      <p:sp>
        <p:nvSpPr>
          <p:cNvPr id="27" name="TextBox 26"/>
          <p:cNvSpPr txBox="1"/>
          <p:nvPr/>
        </p:nvSpPr>
        <p:spPr>
          <a:xfrm>
            <a:off x="6444208" y="1556792"/>
            <a:ext cx="1872208" cy="923330"/>
          </a:xfrm>
          <a:prstGeom prst="rect">
            <a:avLst/>
          </a:prstGeom>
          <a:noFill/>
        </p:spPr>
        <p:txBody>
          <a:bodyPr wrap="square" rtlCol="0">
            <a:spAutoFit/>
          </a:bodyPr>
          <a:lstStyle/>
          <a:p>
            <a:r>
              <a:rPr lang="en-AU" dirty="0" smtClean="0">
                <a:solidFill>
                  <a:srgbClr val="006600"/>
                </a:solidFill>
              </a:rPr>
              <a:t>Finally, check that </a:t>
            </a:r>
            <a:r>
              <a:rPr lang="en-AU" i="1" dirty="0" smtClean="0">
                <a:solidFill>
                  <a:srgbClr val="006600"/>
                </a:solidFill>
                <a:sym typeface="Symbol"/>
              </a:rPr>
              <a:t>C</a:t>
            </a:r>
            <a:r>
              <a:rPr lang="en-AU" dirty="0" smtClean="0">
                <a:solidFill>
                  <a:srgbClr val="006600"/>
                </a:solidFill>
              </a:rPr>
              <a:t> = 51.95 fits the diagram.</a:t>
            </a:r>
            <a:endParaRPr lang="en-US" dirty="0">
              <a:solidFill>
                <a:srgbClr val="006600"/>
              </a:solidFill>
            </a:endParaRPr>
          </a:p>
        </p:txBody>
      </p:sp>
      <p:sp>
        <p:nvSpPr>
          <p:cNvPr id="36" name="TextBox 35"/>
          <p:cNvSpPr txBox="1"/>
          <p:nvPr/>
        </p:nvSpPr>
        <p:spPr>
          <a:xfrm>
            <a:off x="539552" y="3851756"/>
            <a:ext cx="5400600" cy="369332"/>
          </a:xfrm>
          <a:prstGeom prst="rect">
            <a:avLst/>
          </a:prstGeom>
          <a:noFill/>
        </p:spPr>
        <p:txBody>
          <a:bodyPr wrap="square" rtlCol="0">
            <a:spAutoFit/>
          </a:bodyPr>
          <a:lstStyle/>
          <a:p>
            <a:r>
              <a:rPr lang="en-AU" dirty="0" smtClean="0">
                <a:solidFill>
                  <a:srgbClr val="002060"/>
                </a:solidFill>
              </a:rPr>
              <a:t>so </a:t>
            </a:r>
            <a:r>
              <a:rPr lang="en-AU" dirty="0" smtClean="0"/>
              <a:t>we can use the Cosine Rule for finding an angle…</a:t>
            </a:r>
            <a:endParaRPr lang="en-US" dirty="0"/>
          </a:p>
        </p:txBody>
      </p:sp>
      <p:graphicFrame>
        <p:nvGraphicFramePr>
          <p:cNvPr id="35842" name="Object 2"/>
          <p:cNvGraphicFramePr>
            <a:graphicFrameLocks noChangeAspect="1"/>
          </p:cNvGraphicFramePr>
          <p:nvPr/>
        </p:nvGraphicFramePr>
        <p:xfrm>
          <a:off x="6084168" y="3861048"/>
          <a:ext cx="1924050" cy="647700"/>
        </p:xfrm>
        <a:graphic>
          <a:graphicData uri="http://schemas.openxmlformats.org/presentationml/2006/ole">
            <p:oleObj spid="_x0000_s35842" name="Equation" r:id="rId3" imgW="1244520" imgH="419040" progId="Equation.3">
              <p:embed/>
            </p:oleObj>
          </a:graphicData>
        </a:graphic>
      </p:graphicFrame>
      <p:sp>
        <p:nvSpPr>
          <p:cNvPr id="30" name="TextBox 29"/>
          <p:cNvSpPr txBox="1"/>
          <p:nvPr/>
        </p:nvSpPr>
        <p:spPr>
          <a:xfrm>
            <a:off x="1475656" y="4365104"/>
            <a:ext cx="3528392" cy="1077218"/>
          </a:xfrm>
          <a:prstGeom prst="rect">
            <a:avLst/>
          </a:prstGeom>
          <a:noFill/>
        </p:spPr>
        <p:txBody>
          <a:bodyPr wrap="square" rtlCol="0">
            <a:spAutoFit/>
          </a:bodyPr>
          <a:lstStyle/>
          <a:p>
            <a:r>
              <a:rPr lang="en-AU" sz="1600" dirty="0" smtClean="0">
                <a:solidFill>
                  <a:srgbClr val="FF0000"/>
                </a:solidFill>
                <a:latin typeface="Arial" pitchFamily="34" charset="0"/>
                <a:cs typeface="Arial" pitchFamily="34" charset="0"/>
              </a:rPr>
              <a:t>Caution! Here we </a:t>
            </a:r>
            <a:r>
              <a:rPr lang="en-AU" sz="1600" b="1" dirty="0" smtClean="0">
                <a:solidFill>
                  <a:srgbClr val="FF0000"/>
                </a:solidFill>
                <a:latin typeface="Arial" pitchFamily="34" charset="0"/>
                <a:cs typeface="Arial" pitchFamily="34" charset="0"/>
              </a:rPr>
              <a:t>MUST </a:t>
            </a:r>
            <a:r>
              <a:rPr lang="en-AU" sz="1600" dirty="0" smtClean="0">
                <a:solidFill>
                  <a:srgbClr val="FF0000"/>
                </a:solidFill>
                <a:latin typeface="Arial" pitchFamily="34" charset="0"/>
                <a:cs typeface="Arial" pitchFamily="34" charset="0"/>
              </a:rPr>
              <a:t>make </a:t>
            </a:r>
            <a:r>
              <a:rPr lang="en-AU" sz="1600" i="1" dirty="0" smtClean="0">
                <a:solidFill>
                  <a:srgbClr val="FF0000"/>
                </a:solidFill>
                <a:latin typeface="Arial" pitchFamily="34" charset="0"/>
                <a:cs typeface="Arial" pitchFamily="34" charset="0"/>
              </a:rPr>
              <a:t>c</a:t>
            </a:r>
            <a:r>
              <a:rPr lang="en-AU" sz="1600" dirty="0" smtClean="0">
                <a:solidFill>
                  <a:srgbClr val="FF0000"/>
                </a:solidFill>
                <a:latin typeface="Arial" pitchFamily="34" charset="0"/>
                <a:cs typeface="Arial" pitchFamily="34" charset="0"/>
              </a:rPr>
              <a:t> = 7.5 as it is the side opposite the angle we’re finding, i.e. C, whereas </a:t>
            </a:r>
            <a:r>
              <a:rPr lang="en-AU" sz="1600" i="1" dirty="0" smtClean="0">
                <a:solidFill>
                  <a:srgbClr val="FF0000"/>
                </a:solidFill>
                <a:latin typeface="Arial" pitchFamily="34" charset="0"/>
                <a:cs typeface="Arial" pitchFamily="34" charset="0"/>
              </a:rPr>
              <a:t>a</a:t>
            </a:r>
            <a:r>
              <a:rPr lang="en-AU" sz="1600" dirty="0" smtClean="0">
                <a:solidFill>
                  <a:srgbClr val="FF0000"/>
                </a:solidFill>
                <a:latin typeface="Arial" pitchFamily="34" charset="0"/>
                <a:cs typeface="Arial" pitchFamily="34" charset="0"/>
              </a:rPr>
              <a:t> and </a:t>
            </a:r>
            <a:r>
              <a:rPr lang="en-AU" sz="1600" i="1" dirty="0" smtClean="0">
                <a:solidFill>
                  <a:srgbClr val="FF0000"/>
                </a:solidFill>
                <a:latin typeface="Arial" pitchFamily="34" charset="0"/>
                <a:cs typeface="Arial" pitchFamily="34" charset="0"/>
              </a:rPr>
              <a:t>b</a:t>
            </a:r>
            <a:r>
              <a:rPr lang="en-AU" sz="1600" dirty="0" smtClean="0">
                <a:solidFill>
                  <a:srgbClr val="FF0000"/>
                </a:solidFill>
                <a:latin typeface="Arial" pitchFamily="34" charset="0"/>
                <a:cs typeface="Arial" pitchFamily="34" charset="0"/>
              </a:rPr>
              <a:t> are interchangeable.</a:t>
            </a:r>
            <a:endParaRPr lang="en-US" sz="1600" dirty="0">
              <a:solidFill>
                <a:srgbClr val="FF0000"/>
              </a:solidFill>
              <a:latin typeface="Arial" pitchFamily="34" charset="0"/>
              <a:cs typeface="Arial" pitchFamily="34" charset="0"/>
            </a:endParaRPr>
          </a:p>
        </p:txBody>
      </p:sp>
      <p:graphicFrame>
        <p:nvGraphicFramePr>
          <p:cNvPr id="35843" name="Object 3"/>
          <p:cNvGraphicFramePr>
            <a:graphicFrameLocks noChangeAspect="1"/>
          </p:cNvGraphicFramePr>
          <p:nvPr/>
        </p:nvGraphicFramePr>
        <p:xfrm>
          <a:off x="5076056" y="4581128"/>
          <a:ext cx="2197100" cy="685800"/>
        </p:xfrm>
        <a:graphic>
          <a:graphicData uri="http://schemas.openxmlformats.org/presentationml/2006/ole">
            <p:oleObj spid="_x0000_s35843" name="Equation" r:id="rId4" imgW="1422360" imgH="444240" progId="Equation.3">
              <p:embed/>
            </p:oleObj>
          </a:graphicData>
        </a:graphic>
      </p:graphicFrame>
      <p:sp>
        <p:nvSpPr>
          <p:cNvPr id="32" name="TextBox 31"/>
          <p:cNvSpPr txBox="1"/>
          <p:nvPr/>
        </p:nvSpPr>
        <p:spPr>
          <a:xfrm>
            <a:off x="5571901" y="5248423"/>
            <a:ext cx="1152128" cy="369332"/>
          </a:xfrm>
          <a:prstGeom prst="rect">
            <a:avLst/>
          </a:prstGeom>
          <a:noFill/>
        </p:spPr>
        <p:txBody>
          <a:bodyPr wrap="square" rtlCol="0">
            <a:spAutoFit/>
          </a:bodyPr>
          <a:lstStyle/>
          <a:p>
            <a:r>
              <a:rPr lang="en-AU" dirty="0" smtClean="0"/>
              <a:t>= 0.6163</a:t>
            </a:r>
            <a:endParaRPr lang="en-US" dirty="0"/>
          </a:p>
        </p:txBody>
      </p:sp>
      <p:sp>
        <p:nvSpPr>
          <p:cNvPr id="34" name="TextBox 33"/>
          <p:cNvSpPr txBox="1"/>
          <p:nvPr/>
        </p:nvSpPr>
        <p:spPr>
          <a:xfrm>
            <a:off x="7380312" y="4581128"/>
            <a:ext cx="1512168" cy="1169551"/>
          </a:xfrm>
          <a:prstGeom prst="rect">
            <a:avLst/>
          </a:prstGeom>
          <a:noFill/>
        </p:spPr>
        <p:txBody>
          <a:bodyPr wrap="square" rtlCol="0">
            <a:spAutoFit/>
          </a:bodyPr>
          <a:lstStyle/>
          <a:p>
            <a:r>
              <a:rPr lang="en-AU" sz="1400" b="1" dirty="0" smtClean="0">
                <a:solidFill>
                  <a:srgbClr val="7030A0"/>
                </a:solidFill>
                <a:latin typeface="Arial" pitchFamily="34" charset="0"/>
                <a:cs typeface="Arial" pitchFamily="34" charset="0"/>
              </a:rPr>
              <a:t>NOTE </a:t>
            </a:r>
            <a:r>
              <a:rPr lang="en-AU" sz="1400" dirty="0" smtClean="0">
                <a:solidFill>
                  <a:srgbClr val="7030A0"/>
                </a:solidFill>
                <a:latin typeface="Arial" pitchFamily="34" charset="0"/>
                <a:cs typeface="Arial" pitchFamily="34" charset="0"/>
              </a:rPr>
              <a:t>!! Bracket numerator and denominator when entering into calculator.</a:t>
            </a:r>
            <a:endParaRPr lang="en-US" sz="1400" b="1" dirty="0">
              <a:solidFill>
                <a:srgbClr val="7030A0"/>
              </a:solidFill>
              <a:latin typeface="Arial" pitchFamily="34" charset="0"/>
              <a:cs typeface="Arial" pitchFamily="34" charset="0"/>
            </a:endParaRPr>
          </a:p>
        </p:txBody>
      </p:sp>
      <p:graphicFrame>
        <p:nvGraphicFramePr>
          <p:cNvPr id="35" name="Object 34"/>
          <p:cNvGraphicFramePr>
            <a:graphicFrameLocks noChangeAspect="1"/>
          </p:cNvGraphicFramePr>
          <p:nvPr/>
        </p:nvGraphicFramePr>
        <p:xfrm>
          <a:off x="5364088" y="5589240"/>
          <a:ext cx="2160240" cy="432048"/>
        </p:xfrm>
        <a:graphic>
          <a:graphicData uri="http://schemas.openxmlformats.org/presentationml/2006/ole">
            <p:oleObj spid="_x0000_s35844" name="Equation" r:id="rId5" imgW="1143000" imgH="228600" progId="Equation.3">
              <p:embed/>
            </p:oleObj>
          </a:graphicData>
        </a:graphic>
      </p:graphicFrame>
      <p:graphicFrame>
        <p:nvGraphicFramePr>
          <p:cNvPr id="35845" name="Object 5"/>
          <p:cNvGraphicFramePr>
            <a:graphicFrameLocks noChangeAspect="1"/>
          </p:cNvGraphicFramePr>
          <p:nvPr/>
        </p:nvGraphicFramePr>
        <p:xfrm>
          <a:off x="5364088" y="6093296"/>
          <a:ext cx="1223963" cy="336550"/>
        </p:xfrm>
        <a:graphic>
          <a:graphicData uri="http://schemas.openxmlformats.org/presentationml/2006/ole">
            <p:oleObj spid="_x0000_s35845" name="Equation" r:id="rId6" imgW="647640" imgH="177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amond(in)">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500"/>
                            </p:stCondLst>
                            <p:childTnLst>
                              <p:par>
                                <p:cTn id="19" presetID="8" presetClass="entr" presetSubtype="16" fill="hold" nodeType="afterEffect">
                                  <p:stCondLst>
                                    <p:cond delay="0"/>
                                  </p:stCondLst>
                                  <p:childTnLst>
                                    <p:set>
                                      <p:cBhvr>
                                        <p:cTn id="20" dur="1" fill="hold">
                                          <p:stCondLst>
                                            <p:cond delay="0"/>
                                          </p:stCondLst>
                                        </p:cTn>
                                        <p:tgtEl>
                                          <p:spTgt spid="35842"/>
                                        </p:tgtEl>
                                        <p:attrNameLst>
                                          <p:attrName>style.visibility</p:attrName>
                                        </p:attrNameLst>
                                      </p:cBhvr>
                                      <p:to>
                                        <p:strVal val="visible"/>
                                      </p:to>
                                    </p:set>
                                    <p:animEffect transition="in" filter="diamond(in)">
                                      <p:cBhvr>
                                        <p:cTn id="21" dur="2000"/>
                                        <p:tgtEl>
                                          <p:spTgt spid="3584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par>
                                <p:cTn id="27" presetID="8" presetClass="entr" presetSubtype="16"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diamond(in)">
                                      <p:cBhvr>
                                        <p:cTn id="29" dur="20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diamond(in)">
                                      <p:cBhvr>
                                        <p:cTn id="34" dur="20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nodeType="clickEffect">
                                  <p:stCondLst>
                                    <p:cond delay="0"/>
                                  </p:stCondLst>
                                  <p:childTnLst>
                                    <p:set>
                                      <p:cBhvr>
                                        <p:cTn id="38" dur="1" fill="hold">
                                          <p:stCondLst>
                                            <p:cond delay="0"/>
                                          </p:stCondLst>
                                        </p:cTn>
                                        <p:tgtEl>
                                          <p:spTgt spid="35843"/>
                                        </p:tgtEl>
                                        <p:attrNameLst>
                                          <p:attrName>style.visibility</p:attrName>
                                        </p:attrNameLst>
                                      </p:cBhvr>
                                      <p:to>
                                        <p:strVal val="visible"/>
                                      </p:to>
                                    </p:set>
                                    <p:animEffect transition="in" filter="diamond(in)">
                                      <p:cBhvr>
                                        <p:cTn id="39" dur="2000"/>
                                        <p:tgtEl>
                                          <p:spTgt spid="35843"/>
                                        </p:tgtEl>
                                      </p:cBhvr>
                                    </p:animEffect>
                                  </p:childTnLst>
                                </p:cTn>
                              </p:par>
                            </p:childTnLst>
                          </p:cTn>
                        </p:par>
                        <p:par>
                          <p:cTn id="40" fill="hold">
                            <p:stCondLst>
                              <p:cond delay="2000"/>
                            </p:stCondLst>
                            <p:childTnLst>
                              <p:par>
                                <p:cTn id="41" presetID="2" presetClass="entr" presetSubtype="4"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additive="base">
                                        <p:cTn id="43" dur="500" fill="hold"/>
                                        <p:tgtEl>
                                          <p:spTgt spid="34"/>
                                        </p:tgtEl>
                                        <p:attrNameLst>
                                          <p:attrName>ppt_x</p:attrName>
                                        </p:attrNameLst>
                                      </p:cBhvr>
                                      <p:tavLst>
                                        <p:tav tm="0">
                                          <p:val>
                                            <p:strVal val="#ppt_x"/>
                                          </p:val>
                                        </p:tav>
                                        <p:tav tm="100000">
                                          <p:val>
                                            <p:strVal val="#ppt_x"/>
                                          </p:val>
                                        </p:tav>
                                      </p:tavLst>
                                    </p:anim>
                                    <p:anim calcmode="lin" valueType="num">
                                      <p:cBhvr additive="base">
                                        <p:cTn id="44" dur="500" fill="hold"/>
                                        <p:tgtEl>
                                          <p:spTgt spid="34"/>
                                        </p:tgtEl>
                                        <p:attrNameLst>
                                          <p:attrName>ppt_y</p:attrName>
                                        </p:attrNameLst>
                                      </p:cBhvr>
                                      <p:tavLst>
                                        <p:tav tm="0">
                                          <p:val>
                                            <p:strVal val="1+#ppt_h/2"/>
                                          </p:val>
                                        </p:tav>
                                        <p:tav tm="100000">
                                          <p:val>
                                            <p:strVal val="#ppt_y"/>
                                          </p:val>
                                        </p:tav>
                                      </p:tavLst>
                                    </p:anim>
                                  </p:childTnLst>
                                </p:cTn>
                              </p:par>
                            </p:childTnLst>
                          </p:cTn>
                        </p:par>
                        <p:par>
                          <p:cTn id="45" fill="hold">
                            <p:stCondLst>
                              <p:cond delay="2500"/>
                            </p:stCondLst>
                            <p:childTnLst>
                              <p:par>
                                <p:cTn id="46" presetID="35" presetClass="emph" presetSubtype="0" repeatCount="4000" fill="hold" grpId="1" nodeType="afterEffect">
                                  <p:stCondLst>
                                    <p:cond delay="0"/>
                                  </p:stCondLst>
                                  <p:childTnLst>
                                    <p:anim calcmode="discrete" valueType="str">
                                      <p:cBhvr>
                                        <p:cTn id="47" dur="2000" fill="hold"/>
                                        <p:tgtEl>
                                          <p:spTgt spid="34"/>
                                        </p:tgtEl>
                                        <p:attrNameLst>
                                          <p:attrName>style.visibility</p:attrName>
                                        </p:attrNameLst>
                                      </p:cBhvr>
                                      <p:tavLst>
                                        <p:tav tm="0">
                                          <p:val>
                                            <p:strVal val="hidden"/>
                                          </p:val>
                                        </p:tav>
                                        <p:tav tm="50000">
                                          <p:val>
                                            <p:strVal val="visible"/>
                                          </p:val>
                                        </p:tav>
                                      </p:tavLst>
                                    </p:anim>
                                  </p:childTnLst>
                                </p:cTn>
                              </p:par>
                            </p:childTnLst>
                          </p:cTn>
                        </p:par>
                      </p:childTnLst>
                    </p:cTn>
                  </p:par>
                  <p:par>
                    <p:cTn id="48" fill="hold">
                      <p:stCondLst>
                        <p:cond delay="indefinite"/>
                      </p:stCondLst>
                      <p:childTnLst>
                        <p:par>
                          <p:cTn id="49" fill="hold">
                            <p:stCondLst>
                              <p:cond delay="0"/>
                            </p:stCondLst>
                            <p:childTnLst>
                              <p:par>
                                <p:cTn id="50" presetID="8" presetClass="entr" presetSubtype="16"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diamond(in)">
                                      <p:cBhvr>
                                        <p:cTn id="52" dur="20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8" presetClass="entr" presetSubtype="16"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diamond(in)">
                                      <p:cBhvr>
                                        <p:cTn id="57" dur="20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nodeType="clickEffect">
                                  <p:stCondLst>
                                    <p:cond delay="0"/>
                                  </p:stCondLst>
                                  <p:childTnLst>
                                    <p:set>
                                      <p:cBhvr>
                                        <p:cTn id="61" dur="1" fill="hold">
                                          <p:stCondLst>
                                            <p:cond delay="0"/>
                                          </p:stCondLst>
                                        </p:cTn>
                                        <p:tgtEl>
                                          <p:spTgt spid="35845"/>
                                        </p:tgtEl>
                                        <p:attrNameLst>
                                          <p:attrName>style.visibility</p:attrName>
                                        </p:attrNameLst>
                                      </p:cBhvr>
                                      <p:to>
                                        <p:strVal val="visible"/>
                                      </p:to>
                                    </p:set>
                                    <p:animEffect transition="in" filter="diamond(in)">
                                      <p:cBhvr>
                                        <p:cTn id="62" dur="2000"/>
                                        <p:tgtEl>
                                          <p:spTgt spid="35845"/>
                                        </p:tgtEl>
                                      </p:cBhvr>
                                    </p:animEffect>
                                  </p:childTnLst>
                                </p:cTn>
                              </p:par>
                            </p:childTnLst>
                          </p:cTn>
                        </p:par>
                        <p:par>
                          <p:cTn id="63" fill="hold">
                            <p:stCondLst>
                              <p:cond delay="2000"/>
                            </p:stCondLst>
                            <p:childTnLst>
                              <p:par>
                                <p:cTn id="64" presetID="2" presetClass="entr" presetSubtype="4" fill="hold" grpId="0" nodeType="after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500" fill="hold"/>
                                        <p:tgtEl>
                                          <p:spTgt spid="25"/>
                                        </p:tgtEl>
                                        <p:attrNameLst>
                                          <p:attrName>ppt_x</p:attrName>
                                        </p:attrNameLst>
                                      </p:cBhvr>
                                      <p:tavLst>
                                        <p:tav tm="0">
                                          <p:val>
                                            <p:strVal val="#ppt_x"/>
                                          </p:val>
                                        </p:tav>
                                        <p:tav tm="100000">
                                          <p:val>
                                            <p:strVal val="#ppt_x"/>
                                          </p:val>
                                        </p:tav>
                                      </p:tavLst>
                                    </p:anim>
                                    <p:anim calcmode="lin" valueType="num">
                                      <p:cBhvr additive="base">
                                        <p:cTn id="67" dur="500" fill="hold"/>
                                        <p:tgtEl>
                                          <p:spTgt spid="25"/>
                                        </p:tgtEl>
                                        <p:attrNameLst>
                                          <p:attrName>ppt_y</p:attrName>
                                        </p:attrNameLst>
                                      </p:cBhvr>
                                      <p:tavLst>
                                        <p:tav tm="0">
                                          <p:val>
                                            <p:strVal val="1+#ppt_h/2"/>
                                          </p:val>
                                        </p:tav>
                                        <p:tav tm="100000">
                                          <p:val>
                                            <p:strVal val="#ppt_y"/>
                                          </p:val>
                                        </p:tav>
                                      </p:tavLst>
                                    </p:anim>
                                  </p:childTnLst>
                                </p:cTn>
                              </p:par>
                            </p:childTnLst>
                          </p:cTn>
                        </p:par>
                        <p:par>
                          <p:cTn id="68" fill="hold">
                            <p:stCondLst>
                              <p:cond delay="2500"/>
                            </p:stCondLst>
                            <p:childTnLst>
                              <p:par>
                                <p:cTn id="69" presetID="2" presetClass="entr" presetSubtype="4" fill="hold" grpId="0" nodeType="after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additive="base">
                                        <p:cTn id="71" dur="2000" fill="hold"/>
                                        <p:tgtEl>
                                          <p:spTgt spid="27"/>
                                        </p:tgtEl>
                                        <p:attrNameLst>
                                          <p:attrName>ppt_x</p:attrName>
                                        </p:attrNameLst>
                                      </p:cBhvr>
                                      <p:tavLst>
                                        <p:tav tm="0">
                                          <p:val>
                                            <p:strVal val="#ppt_x"/>
                                          </p:val>
                                        </p:tav>
                                        <p:tav tm="100000">
                                          <p:val>
                                            <p:strVal val="#ppt_x"/>
                                          </p:val>
                                        </p:tav>
                                      </p:tavLst>
                                    </p:anim>
                                    <p:anim calcmode="lin" valueType="num">
                                      <p:cBhvr additive="base">
                                        <p:cTn id="72" dur="20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4" grpId="0" animBg="1"/>
      <p:bldP spid="25" grpId="0"/>
      <p:bldP spid="27" grpId="0"/>
      <p:bldP spid="36" grpId="0"/>
      <p:bldP spid="30" grpId="0"/>
      <p:bldP spid="32" grpId="0"/>
      <p:bldP spid="34" grpId="0"/>
      <p:bldP spid="34"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8 – Use the Cosine Rule to find the value of </a:t>
            </a:r>
            <a:r>
              <a:rPr lang="en-AU" sz="2400" i="1" dirty="0" smtClean="0">
                <a:solidFill>
                  <a:srgbClr val="0000FF"/>
                </a:solidFill>
              </a:rPr>
              <a:t>x</a:t>
            </a:r>
            <a:r>
              <a:rPr lang="en-AU" sz="2400" dirty="0" smtClean="0">
                <a:solidFill>
                  <a:srgbClr val="0000FF"/>
                </a:solidFill>
              </a:rPr>
              <a:t> in the triangle:</a:t>
            </a:r>
            <a:endParaRPr lang="en-US" sz="2400" dirty="0">
              <a:solidFill>
                <a:srgbClr val="0000FF"/>
              </a:solidFill>
            </a:endParaRPr>
          </a:p>
        </p:txBody>
      </p:sp>
      <p:sp>
        <p:nvSpPr>
          <p:cNvPr id="14" name="TextBox 13"/>
          <p:cNvSpPr txBox="1"/>
          <p:nvPr/>
        </p:nvSpPr>
        <p:spPr>
          <a:xfrm>
            <a:off x="539552" y="3501008"/>
            <a:ext cx="7992888" cy="369332"/>
          </a:xfrm>
          <a:prstGeom prst="rect">
            <a:avLst/>
          </a:prstGeom>
          <a:noFill/>
        </p:spPr>
        <p:txBody>
          <a:bodyPr wrap="square" rtlCol="0">
            <a:spAutoFit/>
          </a:bodyPr>
          <a:lstStyle/>
          <a:p>
            <a:pPr>
              <a:spcAft>
                <a:spcPts val="1200"/>
              </a:spcAft>
            </a:pPr>
            <a:r>
              <a:rPr lang="en-AU" dirty="0" smtClean="0"/>
              <a:t>Note that we have </a:t>
            </a:r>
            <a:r>
              <a:rPr lang="en-AU" dirty="0" smtClean="0">
                <a:solidFill>
                  <a:srgbClr val="7030A0"/>
                </a:solidFill>
              </a:rPr>
              <a:t>2 given sides (10 </a:t>
            </a:r>
            <a:r>
              <a:rPr lang="en-AU" dirty="0" err="1" smtClean="0">
                <a:solidFill>
                  <a:srgbClr val="7030A0"/>
                </a:solidFill>
              </a:rPr>
              <a:t>m</a:t>
            </a:r>
            <a:r>
              <a:rPr lang="en-AU" dirty="0" smtClean="0">
                <a:solidFill>
                  <a:srgbClr val="7030A0"/>
                </a:solidFill>
              </a:rPr>
              <a:t> and 11 cm) and their included angle (100</a:t>
            </a:r>
            <a:r>
              <a:rPr lang="en-AU" dirty="0" smtClean="0">
                <a:solidFill>
                  <a:srgbClr val="7030A0"/>
                </a:solidFill>
                <a:sym typeface="Symbol"/>
              </a:rPr>
              <a:t></a:t>
            </a:r>
            <a:r>
              <a:rPr lang="en-AU" dirty="0" smtClean="0">
                <a:solidFill>
                  <a:srgbClr val="7030A0"/>
                </a:solidFill>
              </a:rPr>
              <a:t>)</a:t>
            </a:r>
            <a:endParaRPr lang="en-AU" dirty="0" smtClean="0"/>
          </a:p>
        </p:txBody>
      </p:sp>
      <p:grpSp>
        <p:nvGrpSpPr>
          <p:cNvPr id="34" name="Group 33"/>
          <p:cNvGrpSpPr/>
          <p:nvPr/>
        </p:nvGrpSpPr>
        <p:grpSpPr>
          <a:xfrm>
            <a:off x="2987824" y="1268760"/>
            <a:ext cx="2664296" cy="2016224"/>
            <a:chOff x="2987824" y="1268760"/>
            <a:chExt cx="2664296" cy="2016224"/>
          </a:xfrm>
        </p:grpSpPr>
        <p:grpSp>
          <p:nvGrpSpPr>
            <p:cNvPr id="32" name="Group 31"/>
            <p:cNvGrpSpPr/>
            <p:nvPr/>
          </p:nvGrpSpPr>
          <p:grpSpPr>
            <a:xfrm>
              <a:off x="2987824" y="1412776"/>
              <a:ext cx="2664296" cy="1872208"/>
              <a:chOff x="2987824" y="1412776"/>
              <a:chExt cx="2664296" cy="1872208"/>
            </a:xfrm>
          </p:grpSpPr>
          <p:cxnSp>
            <p:nvCxnSpPr>
              <p:cNvPr id="4" name="Straight Connector 3"/>
              <p:cNvCxnSpPr/>
              <p:nvPr/>
            </p:nvCxnSpPr>
            <p:spPr>
              <a:xfrm flipH="1">
                <a:off x="2987824" y="1412776"/>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707904" y="1412776"/>
                <a:ext cx="1944216"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987824" y="1772816"/>
                <a:ext cx="2664296" cy="1512168"/>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rot="21421719">
              <a:off x="3644984" y="1503199"/>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sym typeface="Symbol"/>
                </a:rPr>
                <a:t>100</a:t>
              </a:r>
              <a:endParaRPr lang="en-US" dirty="0">
                <a:latin typeface="Times New Roman" pitchFamily="18" charset="0"/>
                <a:cs typeface="Times New Roman" pitchFamily="18" charset="0"/>
              </a:endParaRPr>
            </a:p>
          </p:txBody>
        </p:sp>
        <p:sp>
          <p:nvSpPr>
            <p:cNvPr id="11" name="TextBox 10"/>
            <p:cNvSpPr txBox="1"/>
            <p:nvPr/>
          </p:nvSpPr>
          <p:spPr>
            <a:xfrm>
              <a:off x="3059832" y="1988840"/>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11 </a:t>
              </a:r>
              <a:r>
                <a:rPr lang="en-AU" i="1" dirty="0" err="1"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sp>
          <p:nvSpPr>
            <p:cNvPr id="12" name="TextBox 11"/>
            <p:cNvSpPr txBox="1"/>
            <p:nvPr/>
          </p:nvSpPr>
          <p:spPr>
            <a:xfrm>
              <a:off x="4283968" y="2420888"/>
              <a:ext cx="720080" cy="369332"/>
            </a:xfrm>
            <a:prstGeom prst="rect">
              <a:avLst/>
            </a:prstGeom>
            <a:noFill/>
          </p:spPr>
          <p:txBody>
            <a:bodyPr wrap="square" rtlCol="0">
              <a:spAutoFit/>
            </a:bodyPr>
            <a:lstStyle/>
            <a:p>
              <a:r>
                <a:rPr lang="en-AU" i="1" dirty="0" smtClean="0">
                  <a:latin typeface="Times New Roman" pitchFamily="18" charset="0"/>
                  <a:cs typeface="Times New Roman" pitchFamily="18" charset="0"/>
                </a:rPr>
                <a:t>x</a:t>
              </a:r>
              <a:endParaRPr lang="en-US" i="1" dirty="0">
                <a:latin typeface="Times New Roman" pitchFamily="18" charset="0"/>
                <a:cs typeface="Times New Roman" pitchFamily="18" charset="0"/>
              </a:endParaRPr>
            </a:p>
          </p:txBody>
        </p:sp>
        <p:sp>
          <p:nvSpPr>
            <p:cNvPr id="15" name="TextBox 14"/>
            <p:cNvSpPr txBox="1"/>
            <p:nvPr/>
          </p:nvSpPr>
          <p:spPr>
            <a:xfrm>
              <a:off x="4427984" y="1268760"/>
              <a:ext cx="720080" cy="369332"/>
            </a:xfrm>
            <a:prstGeom prst="rect">
              <a:avLst/>
            </a:prstGeom>
            <a:noFill/>
          </p:spPr>
          <p:txBody>
            <a:bodyPr wrap="square" rtlCol="0">
              <a:spAutoFit/>
            </a:bodyPr>
            <a:lstStyle/>
            <a:p>
              <a:r>
                <a:rPr lang="en-AU" dirty="0" smtClean="0">
                  <a:latin typeface="Times New Roman" pitchFamily="18" charset="0"/>
                  <a:cs typeface="Times New Roman" pitchFamily="18" charset="0"/>
                </a:rPr>
                <a:t>10 </a:t>
              </a:r>
              <a:r>
                <a:rPr lang="en-AU" i="1" dirty="0" err="1" smtClean="0">
                  <a:latin typeface="Times New Roman" pitchFamily="18" charset="0"/>
                  <a:cs typeface="Times New Roman" pitchFamily="18" charset="0"/>
                </a:rPr>
                <a:t>m</a:t>
              </a:r>
              <a:endParaRPr lang="en-US" i="1" dirty="0">
                <a:latin typeface="Times New Roman" pitchFamily="18" charset="0"/>
                <a:cs typeface="Times New Roman" pitchFamily="18" charset="0"/>
              </a:endParaRPr>
            </a:p>
          </p:txBody>
        </p:sp>
      </p:grpSp>
      <p:sp>
        <p:nvSpPr>
          <p:cNvPr id="18" name="TextBox 17"/>
          <p:cNvSpPr txBox="1"/>
          <p:nvPr/>
        </p:nvSpPr>
        <p:spPr>
          <a:xfrm>
            <a:off x="2915816" y="4437112"/>
            <a:ext cx="3060848" cy="400110"/>
          </a:xfrm>
          <a:prstGeom prst="rect">
            <a:avLst/>
          </a:prstGeom>
          <a:noFill/>
          <a:ln w="34925">
            <a:solidFill>
              <a:srgbClr val="FF0000"/>
            </a:solidFill>
          </a:ln>
        </p:spPr>
        <p:txBody>
          <a:bodyPr wrap="square" rtlCol="0">
            <a:spAutoFit/>
          </a:bodyPr>
          <a:lstStyle/>
          <a:p>
            <a:pPr algn="ctr"/>
            <a:r>
              <a:rPr lang="en-AU" sz="2000" dirty="0" smtClean="0"/>
              <a:t>c </a:t>
            </a:r>
            <a:r>
              <a:rPr lang="en-AU" sz="2000" baseline="30000" dirty="0" smtClean="0"/>
              <a:t>2</a:t>
            </a:r>
            <a:r>
              <a:rPr lang="en-AU" sz="2000" dirty="0" smtClean="0"/>
              <a:t> =  </a:t>
            </a:r>
            <a:r>
              <a:rPr lang="en-AU" sz="2000" i="1" dirty="0" smtClean="0"/>
              <a:t>a</a:t>
            </a:r>
            <a:r>
              <a:rPr lang="en-AU" sz="2000" baseline="30000" dirty="0" smtClean="0"/>
              <a:t>2</a:t>
            </a:r>
            <a:r>
              <a:rPr lang="en-AU" sz="2000" i="1" dirty="0" smtClean="0"/>
              <a:t>  +  b</a:t>
            </a:r>
            <a:r>
              <a:rPr lang="en-AU" sz="2000" baseline="30000" dirty="0" smtClean="0"/>
              <a:t>2</a:t>
            </a:r>
            <a:r>
              <a:rPr lang="en-AU" sz="2000" i="1" dirty="0" smtClean="0"/>
              <a:t>  – 2ab </a:t>
            </a:r>
            <a:r>
              <a:rPr lang="en-AU" sz="2000" dirty="0" err="1" smtClean="0"/>
              <a:t>cos</a:t>
            </a:r>
            <a:r>
              <a:rPr lang="en-AU" sz="2000" i="1" dirty="0" smtClean="0"/>
              <a:t> C  </a:t>
            </a:r>
            <a:endParaRPr lang="en-US" sz="2000" dirty="0"/>
          </a:p>
        </p:txBody>
      </p:sp>
      <p:sp>
        <p:nvSpPr>
          <p:cNvPr id="19" name="TextBox 18"/>
          <p:cNvSpPr txBox="1"/>
          <p:nvPr/>
        </p:nvSpPr>
        <p:spPr>
          <a:xfrm>
            <a:off x="251520" y="4509120"/>
            <a:ext cx="1224136" cy="1477328"/>
          </a:xfrm>
          <a:prstGeom prst="rect">
            <a:avLst/>
          </a:prstGeom>
          <a:noFill/>
        </p:spPr>
        <p:txBody>
          <a:bodyPr wrap="square" rtlCol="0">
            <a:spAutoFit/>
          </a:bodyPr>
          <a:lstStyle/>
          <a:p>
            <a:r>
              <a:rPr lang="en-AU" dirty="0" smtClean="0"/>
              <a:t>Let</a:t>
            </a:r>
          </a:p>
          <a:p>
            <a:r>
              <a:rPr lang="en-AU" i="1" dirty="0" smtClean="0"/>
              <a:t>a</a:t>
            </a:r>
            <a:r>
              <a:rPr lang="en-AU" dirty="0" smtClean="0"/>
              <a:t> = 10</a:t>
            </a:r>
          </a:p>
          <a:p>
            <a:r>
              <a:rPr lang="en-AU" i="1" dirty="0" smtClean="0"/>
              <a:t>b = 11</a:t>
            </a:r>
          </a:p>
          <a:p>
            <a:r>
              <a:rPr lang="en-AU" i="1" dirty="0" smtClean="0"/>
              <a:t>c = x</a:t>
            </a:r>
          </a:p>
          <a:p>
            <a:r>
              <a:rPr lang="en-AU" i="1" dirty="0" smtClean="0"/>
              <a:t>C</a:t>
            </a:r>
            <a:r>
              <a:rPr lang="en-AU" dirty="0" smtClean="0"/>
              <a:t> = 100</a:t>
            </a:r>
            <a:endParaRPr lang="en-US" i="1" dirty="0"/>
          </a:p>
        </p:txBody>
      </p:sp>
      <p:sp>
        <p:nvSpPr>
          <p:cNvPr id="21" name="TextBox 20"/>
          <p:cNvSpPr txBox="1"/>
          <p:nvPr/>
        </p:nvSpPr>
        <p:spPr>
          <a:xfrm>
            <a:off x="2793704" y="4973106"/>
            <a:ext cx="4464496" cy="400110"/>
          </a:xfrm>
          <a:prstGeom prst="rect">
            <a:avLst/>
          </a:prstGeom>
          <a:noFill/>
          <a:ln w="34925">
            <a:noFill/>
          </a:ln>
        </p:spPr>
        <p:txBody>
          <a:bodyPr wrap="square" rtlCol="0">
            <a:spAutoFit/>
          </a:bodyPr>
          <a:lstStyle/>
          <a:p>
            <a:pPr algn="ctr"/>
            <a:r>
              <a:rPr lang="en-AU" sz="2000" i="1" dirty="0" smtClean="0"/>
              <a:t>x</a:t>
            </a:r>
            <a:r>
              <a:rPr lang="en-AU" sz="2000" dirty="0" smtClean="0"/>
              <a:t> </a:t>
            </a:r>
            <a:r>
              <a:rPr lang="en-AU" sz="2000" baseline="30000" dirty="0" smtClean="0"/>
              <a:t>2</a:t>
            </a:r>
            <a:r>
              <a:rPr lang="en-AU" sz="2000" dirty="0" smtClean="0"/>
              <a:t> =  10</a:t>
            </a:r>
            <a:r>
              <a:rPr lang="en-AU" sz="2000" baseline="30000" dirty="0" smtClean="0"/>
              <a:t>2</a:t>
            </a:r>
            <a:r>
              <a:rPr lang="en-AU" sz="2000" i="1" dirty="0" smtClean="0"/>
              <a:t>  +  </a:t>
            </a:r>
            <a:r>
              <a:rPr lang="en-AU" sz="2000" dirty="0" smtClean="0"/>
              <a:t>11</a:t>
            </a:r>
            <a:r>
              <a:rPr lang="en-AU" sz="2000" baseline="30000" dirty="0" smtClean="0"/>
              <a:t>2</a:t>
            </a:r>
            <a:r>
              <a:rPr lang="en-AU" sz="2000" i="1" dirty="0" smtClean="0"/>
              <a:t>  – </a:t>
            </a:r>
            <a:r>
              <a:rPr lang="en-AU" sz="2000" dirty="0" smtClean="0"/>
              <a:t>2</a:t>
            </a:r>
            <a:r>
              <a:rPr lang="en-AU" sz="2000" i="1" dirty="0" smtClean="0"/>
              <a:t> × </a:t>
            </a:r>
            <a:r>
              <a:rPr lang="en-AU" sz="2000" dirty="0" smtClean="0"/>
              <a:t>10 </a:t>
            </a:r>
            <a:r>
              <a:rPr lang="en-AU" sz="2000" i="1" dirty="0" smtClean="0"/>
              <a:t>× </a:t>
            </a:r>
            <a:r>
              <a:rPr lang="en-AU" sz="2000" dirty="0" smtClean="0"/>
              <a:t>11 ×</a:t>
            </a:r>
            <a:r>
              <a:rPr lang="en-AU" sz="2000" i="1" dirty="0" smtClean="0"/>
              <a:t> </a:t>
            </a:r>
            <a:r>
              <a:rPr lang="en-AU" sz="2000" dirty="0" err="1" smtClean="0"/>
              <a:t>cos</a:t>
            </a:r>
            <a:r>
              <a:rPr lang="en-AU" sz="2000" i="1" dirty="0" smtClean="0"/>
              <a:t> </a:t>
            </a:r>
            <a:r>
              <a:rPr lang="en-AU" sz="2000" dirty="0" smtClean="0"/>
              <a:t>100</a:t>
            </a:r>
            <a:r>
              <a:rPr lang="en-AU" sz="2000" dirty="0" smtClean="0">
                <a:sym typeface="Symbol"/>
              </a:rPr>
              <a:t></a:t>
            </a:r>
            <a:r>
              <a:rPr lang="en-AU" sz="2000" i="1" dirty="0" smtClean="0"/>
              <a:t>  </a:t>
            </a:r>
            <a:endParaRPr lang="en-US" sz="2000" dirty="0"/>
          </a:p>
        </p:txBody>
      </p:sp>
      <p:sp>
        <p:nvSpPr>
          <p:cNvPr id="22" name="TextBox 21"/>
          <p:cNvSpPr txBox="1"/>
          <p:nvPr/>
        </p:nvSpPr>
        <p:spPr>
          <a:xfrm>
            <a:off x="2555776" y="5333146"/>
            <a:ext cx="4464496" cy="400110"/>
          </a:xfrm>
          <a:prstGeom prst="rect">
            <a:avLst/>
          </a:prstGeom>
          <a:noFill/>
          <a:ln w="34925">
            <a:noFill/>
          </a:ln>
        </p:spPr>
        <p:txBody>
          <a:bodyPr wrap="square" rtlCol="0">
            <a:spAutoFit/>
          </a:bodyPr>
          <a:lstStyle/>
          <a:p>
            <a:pPr algn="ctr"/>
            <a:r>
              <a:rPr lang="en-AU" sz="2000" i="1" dirty="0" smtClean="0"/>
              <a:t>x</a:t>
            </a:r>
            <a:r>
              <a:rPr lang="en-AU" sz="2000" dirty="0" smtClean="0"/>
              <a:t> </a:t>
            </a:r>
            <a:r>
              <a:rPr lang="en-AU" sz="2000" baseline="30000" dirty="0" smtClean="0"/>
              <a:t>2</a:t>
            </a:r>
            <a:r>
              <a:rPr lang="en-AU" sz="2000" dirty="0" smtClean="0"/>
              <a:t> =  259.2 </a:t>
            </a:r>
            <a:r>
              <a:rPr lang="en-AU" sz="1400" dirty="0" smtClean="0"/>
              <a:t>(do in one step on calculator)</a:t>
            </a:r>
            <a:r>
              <a:rPr lang="en-AU" sz="2000" i="1" dirty="0" smtClean="0"/>
              <a:t>  </a:t>
            </a:r>
            <a:endParaRPr lang="en-US" sz="2000" dirty="0"/>
          </a:p>
        </p:txBody>
      </p:sp>
      <p:sp>
        <p:nvSpPr>
          <p:cNvPr id="23" name="TextBox 22"/>
          <p:cNvSpPr txBox="1"/>
          <p:nvPr/>
        </p:nvSpPr>
        <p:spPr>
          <a:xfrm>
            <a:off x="3131840" y="5733256"/>
            <a:ext cx="4248472" cy="400110"/>
          </a:xfrm>
          <a:prstGeom prst="rect">
            <a:avLst/>
          </a:prstGeom>
          <a:noFill/>
        </p:spPr>
        <p:txBody>
          <a:bodyPr wrap="square" rtlCol="0">
            <a:spAutoFit/>
          </a:bodyPr>
          <a:lstStyle/>
          <a:p>
            <a:r>
              <a:rPr lang="en-AU" sz="2000" b="1" i="1" dirty="0" smtClean="0"/>
              <a:t>x</a:t>
            </a:r>
            <a:r>
              <a:rPr lang="en-AU" sz="2000" b="1" dirty="0" smtClean="0"/>
              <a:t> = 16.10 (to two </a:t>
            </a:r>
            <a:r>
              <a:rPr lang="en-AU" sz="2000" b="1" dirty="0" err="1" smtClean="0"/>
              <a:t>dec</a:t>
            </a:r>
            <a:r>
              <a:rPr lang="en-AU" sz="2000" b="1" dirty="0" smtClean="0"/>
              <a:t> pl)</a:t>
            </a:r>
            <a:endParaRPr lang="en-US" sz="2000" b="1" i="1" dirty="0"/>
          </a:p>
        </p:txBody>
      </p:sp>
      <p:sp>
        <p:nvSpPr>
          <p:cNvPr id="24" name="Rectangle 23"/>
          <p:cNvSpPr/>
          <p:nvPr/>
        </p:nvSpPr>
        <p:spPr>
          <a:xfrm>
            <a:off x="251520" y="4509120"/>
            <a:ext cx="1008112" cy="1512168"/>
          </a:xfrm>
          <a:prstGeom prst="rect">
            <a:avLst/>
          </a:prstGeom>
          <a:solidFill>
            <a:srgbClr val="FFFF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5" name="TextBox 24"/>
          <p:cNvSpPr txBox="1"/>
          <p:nvPr/>
        </p:nvSpPr>
        <p:spPr>
          <a:xfrm>
            <a:off x="2483768" y="6135687"/>
            <a:ext cx="6480720" cy="461665"/>
          </a:xfrm>
          <a:prstGeom prst="rect">
            <a:avLst/>
          </a:prstGeom>
          <a:noFill/>
        </p:spPr>
        <p:txBody>
          <a:bodyPr wrap="square" rtlCol="0">
            <a:spAutoFit/>
          </a:bodyPr>
          <a:lstStyle/>
          <a:p>
            <a:r>
              <a:rPr lang="en-AU" sz="2400" dirty="0" err="1" smtClean="0">
                <a:solidFill>
                  <a:srgbClr val="FF0000"/>
                </a:solidFill>
              </a:rPr>
              <a:t>Ans</a:t>
            </a:r>
            <a:r>
              <a:rPr lang="en-AU" sz="2400" dirty="0" smtClean="0">
                <a:solidFill>
                  <a:srgbClr val="FF0000"/>
                </a:solidFill>
              </a:rPr>
              <a:t>: The length of the required side is 16.10 </a:t>
            </a:r>
            <a:r>
              <a:rPr lang="en-AU" sz="2400" dirty="0" err="1" smtClean="0">
                <a:solidFill>
                  <a:srgbClr val="FF0000"/>
                </a:solidFill>
              </a:rPr>
              <a:t>m</a:t>
            </a:r>
            <a:endParaRPr lang="en-US" sz="2400" dirty="0">
              <a:solidFill>
                <a:srgbClr val="FF0000"/>
              </a:solidFill>
            </a:endParaRPr>
          </a:p>
        </p:txBody>
      </p:sp>
      <p:sp>
        <p:nvSpPr>
          <p:cNvPr id="27" name="TextBox 26"/>
          <p:cNvSpPr txBox="1"/>
          <p:nvPr/>
        </p:nvSpPr>
        <p:spPr>
          <a:xfrm>
            <a:off x="6444208" y="1556792"/>
            <a:ext cx="1872208" cy="1754326"/>
          </a:xfrm>
          <a:prstGeom prst="rect">
            <a:avLst/>
          </a:prstGeom>
          <a:noFill/>
        </p:spPr>
        <p:txBody>
          <a:bodyPr wrap="square" rtlCol="0">
            <a:spAutoFit/>
          </a:bodyPr>
          <a:lstStyle/>
          <a:p>
            <a:r>
              <a:rPr lang="en-AU" dirty="0" smtClean="0">
                <a:solidFill>
                  <a:srgbClr val="006600"/>
                </a:solidFill>
              </a:rPr>
              <a:t>Finally, check that </a:t>
            </a:r>
            <a:r>
              <a:rPr lang="en-AU" i="1" dirty="0" smtClean="0">
                <a:solidFill>
                  <a:srgbClr val="006600"/>
                </a:solidFill>
              </a:rPr>
              <a:t>x</a:t>
            </a:r>
            <a:r>
              <a:rPr lang="en-AU" dirty="0" smtClean="0">
                <a:solidFill>
                  <a:srgbClr val="006600"/>
                </a:solidFill>
              </a:rPr>
              <a:t> = 16.10 fits the diagram. </a:t>
            </a:r>
            <a:r>
              <a:rPr lang="en-AU" i="1" dirty="0" smtClean="0">
                <a:solidFill>
                  <a:srgbClr val="006600"/>
                </a:solidFill>
              </a:rPr>
              <a:t>x</a:t>
            </a:r>
            <a:r>
              <a:rPr lang="en-AU" dirty="0" smtClean="0">
                <a:solidFill>
                  <a:srgbClr val="006600"/>
                </a:solidFill>
              </a:rPr>
              <a:t> is the longest side so this would seem reasonable.</a:t>
            </a:r>
            <a:endParaRPr lang="en-US" dirty="0">
              <a:solidFill>
                <a:srgbClr val="006600"/>
              </a:solidFill>
            </a:endParaRPr>
          </a:p>
        </p:txBody>
      </p:sp>
      <p:sp>
        <p:nvSpPr>
          <p:cNvPr id="36" name="TextBox 35"/>
          <p:cNvSpPr txBox="1"/>
          <p:nvPr/>
        </p:nvSpPr>
        <p:spPr>
          <a:xfrm>
            <a:off x="539552" y="3851756"/>
            <a:ext cx="5400600" cy="369332"/>
          </a:xfrm>
          <a:prstGeom prst="rect">
            <a:avLst/>
          </a:prstGeom>
          <a:noFill/>
        </p:spPr>
        <p:txBody>
          <a:bodyPr wrap="square" rtlCol="0">
            <a:spAutoFit/>
          </a:bodyPr>
          <a:lstStyle/>
          <a:p>
            <a:r>
              <a:rPr lang="en-AU" dirty="0" smtClean="0">
                <a:solidFill>
                  <a:srgbClr val="002060"/>
                </a:solidFill>
              </a:rPr>
              <a:t>so </a:t>
            </a:r>
            <a:r>
              <a:rPr lang="en-AU" dirty="0" smtClean="0"/>
              <a:t>we use the Cosine Rule for finding a side…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20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500"/>
                            </p:stCondLst>
                            <p:childTnLst>
                              <p:par>
                                <p:cTn id="19" presetID="8" presetClass="entr" presetSubtype="16"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diamond(in)">
                                      <p:cBhvr>
                                        <p:cTn id="21" dur="20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dissolve">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dissolv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ssolve">
                                      <p:cBhvr>
                                        <p:cTn id="44" dur="500"/>
                                        <p:tgtEl>
                                          <p:spTgt spid="23"/>
                                        </p:tgtEl>
                                      </p:cBhvr>
                                    </p:animEffect>
                                  </p:childTnLst>
                                </p:cTn>
                              </p:par>
                            </p:childTnLst>
                          </p:cTn>
                        </p:par>
                        <p:par>
                          <p:cTn id="45" fill="hold">
                            <p:stCondLst>
                              <p:cond delay="500"/>
                            </p:stCondLst>
                            <p:childTnLst>
                              <p:par>
                                <p:cTn id="46" presetID="2" presetClass="entr" presetSubtype="4"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fill="hold"/>
                                        <p:tgtEl>
                                          <p:spTgt spid="25"/>
                                        </p:tgtEl>
                                        <p:attrNameLst>
                                          <p:attrName>ppt_x</p:attrName>
                                        </p:attrNameLst>
                                      </p:cBhvr>
                                      <p:tavLst>
                                        <p:tav tm="0">
                                          <p:val>
                                            <p:strVal val="#ppt_x"/>
                                          </p:val>
                                        </p:tav>
                                        <p:tav tm="100000">
                                          <p:val>
                                            <p:strVal val="#ppt_x"/>
                                          </p:val>
                                        </p:tav>
                                      </p:tavLst>
                                    </p:anim>
                                    <p:anim calcmode="lin" valueType="num">
                                      <p:cBhvr additive="base">
                                        <p:cTn id="49" dur="500" fill="hold"/>
                                        <p:tgtEl>
                                          <p:spTgt spid="25"/>
                                        </p:tgtEl>
                                        <p:attrNameLst>
                                          <p:attrName>ppt_y</p:attrName>
                                        </p:attrNameLst>
                                      </p:cBhvr>
                                      <p:tavLst>
                                        <p:tav tm="0">
                                          <p:val>
                                            <p:strVal val="1+#ppt_h/2"/>
                                          </p:val>
                                        </p:tav>
                                        <p:tav tm="100000">
                                          <p:val>
                                            <p:strVal val="#ppt_y"/>
                                          </p:val>
                                        </p:tav>
                                      </p:tavLst>
                                    </p:anim>
                                  </p:childTnLst>
                                </p:cTn>
                              </p:par>
                            </p:childTnLst>
                          </p:cTn>
                        </p:par>
                        <p:par>
                          <p:cTn id="50" fill="hold">
                            <p:stCondLst>
                              <p:cond delay="1000"/>
                            </p:stCondLst>
                            <p:childTnLst>
                              <p:par>
                                <p:cTn id="51" presetID="8" presetClass="entr" presetSubtype="16"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diamond(in)">
                                      <p:cBhvr>
                                        <p:cTn id="53"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animBg="1"/>
      <p:bldP spid="19" grpId="0"/>
      <p:bldP spid="21" grpId="0"/>
      <p:bldP spid="22" grpId="0"/>
      <p:bldP spid="23" grpId="0"/>
      <p:bldP spid="24" grpId="0" animBg="1"/>
      <p:bldP spid="25" grpId="0"/>
      <p:bldP spid="27" grpId="0"/>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5536" y="548680"/>
            <a:ext cx="7920880" cy="830997"/>
          </a:xfrm>
          <a:prstGeom prst="rect">
            <a:avLst/>
          </a:prstGeom>
          <a:noFill/>
        </p:spPr>
        <p:txBody>
          <a:bodyPr wrap="square" rtlCol="0">
            <a:spAutoFit/>
          </a:bodyPr>
          <a:lstStyle/>
          <a:p>
            <a:r>
              <a:rPr lang="en-AU" sz="2400" dirty="0" smtClean="0">
                <a:solidFill>
                  <a:srgbClr val="0000FF"/>
                </a:solidFill>
              </a:rPr>
              <a:t>Example 9 – Use the Cosine Rule to find the value of </a:t>
            </a:r>
            <a:r>
              <a:rPr lang="en-AU" sz="2400" i="1" dirty="0" smtClean="0">
                <a:solidFill>
                  <a:srgbClr val="0000FF"/>
                </a:solidFill>
                <a:sym typeface="Symbol"/>
              </a:rPr>
              <a:t></a:t>
            </a:r>
            <a:r>
              <a:rPr lang="en-AU" sz="2400" dirty="0" smtClean="0">
                <a:solidFill>
                  <a:srgbClr val="0000FF"/>
                </a:solidFill>
              </a:rPr>
              <a:t> in the triangle:</a:t>
            </a:r>
            <a:endParaRPr lang="en-US" sz="2400" dirty="0">
              <a:solidFill>
                <a:srgbClr val="0000FF"/>
              </a:solidFill>
            </a:endParaRPr>
          </a:p>
        </p:txBody>
      </p:sp>
      <p:grpSp>
        <p:nvGrpSpPr>
          <p:cNvPr id="23" name="Group 22"/>
          <p:cNvGrpSpPr/>
          <p:nvPr/>
        </p:nvGrpSpPr>
        <p:grpSpPr>
          <a:xfrm>
            <a:off x="971600" y="836712"/>
            <a:ext cx="2592288" cy="2664296"/>
            <a:chOff x="3203848" y="700575"/>
            <a:chExt cx="2592288" cy="2664296"/>
          </a:xfrm>
        </p:grpSpPr>
        <p:grpSp>
          <p:nvGrpSpPr>
            <p:cNvPr id="2" name="Group 1"/>
            <p:cNvGrpSpPr/>
            <p:nvPr/>
          </p:nvGrpSpPr>
          <p:grpSpPr>
            <a:xfrm rot="14132784">
              <a:off x="3181221" y="1096619"/>
              <a:ext cx="2664296" cy="1872208"/>
              <a:chOff x="2987824" y="1412776"/>
              <a:chExt cx="2664296" cy="1872208"/>
            </a:xfrm>
          </p:grpSpPr>
          <p:cxnSp>
            <p:nvCxnSpPr>
              <p:cNvPr id="3" name="Straight Connector 2"/>
              <p:cNvCxnSpPr/>
              <p:nvPr/>
            </p:nvCxnSpPr>
            <p:spPr>
              <a:xfrm flipH="1">
                <a:off x="2987824" y="1412776"/>
                <a:ext cx="720080" cy="18722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3707904" y="1412776"/>
                <a:ext cx="1944216"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2987824" y="1772816"/>
                <a:ext cx="2664296" cy="1512168"/>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3995936" y="2636912"/>
              <a:ext cx="648072" cy="369332"/>
            </a:xfrm>
            <a:prstGeom prst="rect">
              <a:avLst/>
            </a:prstGeom>
            <a:noFill/>
          </p:spPr>
          <p:txBody>
            <a:bodyPr wrap="square" rtlCol="0">
              <a:spAutoFit/>
            </a:bodyPr>
            <a:lstStyle/>
            <a:p>
              <a:r>
                <a:rPr lang="en-US" b="1" dirty="0" smtClean="0">
                  <a:sym typeface="Symbol"/>
                </a:rPr>
                <a:t></a:t>
              </a:r>
              <a:endParaRPr lang="en-US" b="1" dirty="0"/>
            </a:p>
          </p:txBody>
        </p:sp>
        <p:sp>
          <p:nvSpPr>
            <p:cNvPr id="8" name="TextBox 7"/>
            <p:cNvSpPr txBox="1"/>
            <p:nvPr/>
          </p:nvSpPr>
          <p:spPr>
            <a:xfrm>
              <a:off x="3203848" y="2204864"/>
              <a:ext cx="864096" cy="369332"/>
            </a:xfrm>
            <a:prstGeom prst="rect">
              <a:avLst/>
            </a:prstGeom>
            <a:noFill/>
          </p:spPr>
          <p:txBody>
            <a:bodyPr wrap="square" rtlCol="0">
              <a:spAutoFit/>
            </a:bodyPr>
            <a:lstStyle/>
            <a:p>
              <a:r>
                <a:rPr lang="en-AU" dirty="0" smtClean="0">
                  <a:sym typeface="Symbol"/>
                </a:rPr>
                <a:t>29 </a:t>
              </a:r>
              <a:r>
                <a:rPr lang="en-AU" i="1" dirty="0" smtClean="0">
                  <a:sym typeface="Symbol"/>
                </a:rPr>
                <a:t>mm</a:t>
              </a:r>
              <a:endParaRPr lang="en-US" i="1" dirty="0"/>
            </a:p>
          </p:txBody>
        </p:sp>
        <p:sp>
          <p:nvSpPr>
            <p:cNvPr id="9" name="TextBox 8"/>
            <p:cNvSpPr txBox="1"/>
            <p:nvPr/>
          </p:nvSpPr>
          <p:spPr>
            <a:xfrm>
              <a:off x="4860032" y="2852936"/>
              <a:ext cx="936104" cy="369332"/>
            </a:xfrm>
            <a:prstGeom prst="rect">
              <a:avLst/>
            </a:prstGeom>
            <a:noFill/>
          </p:spPr>
          <p:txBody>
            <a:bodyPr wrap="square" rtlCol="0">
              <a:spAutoFit/>
            </a:bodyPr>
            <a:lstStyle/>
            <a:p>
              <a:r>
                <a:rPr lang="en-AU" dirty="0" smtClean="0">
                  <a:sym typeface="Symbol"/>
                </a:rPr>
                <a:t>21 </a:t>
              </a:r>
              <a:r>
                <a:rPr lang="en-AU" i="1" dirty="0" smtClean="0">
                  <a:sym typeface="Symbol"/>
                </a:rPr>
                <a:t>mm</a:t>
              </a:r>
              <a:endParaRPr lang="en-US" i="1" dirty="0"/>
            </a:p>
          </p:txBody>
        </p:sp>
        <p:sp>
          <p:nvSpPr>
            <p:cNvPr id="10" name="TextBox 9"/>
            <p:cNvSpPr txBox="1"/>
            <p:nvPr/>
          </p:nvSpPr>
          <p:spPr>
            <a:xfrm>
              <a:off x="4499992" y="1628800"/>
              <a:ext cx="1008112" cy="369332"/>
            </a:xfrm>
            <a:prstGeom prst="rect">
              <a:avLst/>
            </a:prstGeom>
            <a:noFill/>
          </p:spPr>
          <p:txBody>
            <a:bodyPr wrap="square" rtlCol="0">
              <a:spAutoFit/>
            </a:bodyPr>
            <a:lstStyle/>
            <a:p>
              <a:r>
                <a:rPr lang="en-AU" dirty="0" smtClean="0">
                  <a:sym typeface="Symbol"/>
                </a:rPr>
                <a:t>40 </a:t>
              </a:r>
              <a:r>
                <a:rPr lang="en-AU" i="1" dirty="0" smtClean="0">
                  <a:sym typeface="Symbol"/>
                </a:rPr>
                <a:t>mm</a:t>
              </a:r>
              <a:endParaRPr lang="en-US" i="1" dirty="0"/>
            </a:p>
          </p:txBody>
        </p:sp>
      </p:grpSp>
      <p:sp>
        <p:nvSpPr>
          <p:cNvPr id="11" name="TextBox 10"/>
          <p:cNvSpPr txBox="1"/>
          <p:nvPr/>
        </p:nvSpPr>
        <p:spPr>
          <a:xfrm>
            <a:off x="539552" y="3501008"/>
            <a:ext cx="7992888" cy="369332"/>
          </a:xfrm>
          <a:prstGeom prst="rect">
            <a:avLst/>
          </a:prstGeom>
          <a:noFill/>
        </p:spPr>
        <p:txBody>
          <a:bodyPr wrap="square" rtlCol="0">
            <a:spAutoFit/>
          </a:bodyPr>
          <a:lstStyle/>
          <a:p>
            <a:pPr>
              <a:spcAft>
                <a:spcPts val="1200"/>
              </a:spcAft>
            </a:pPr>
            <a:r>
              <a:rPr lang="en-AU" dirty="0" smtClean="0"/>
              <a:t>Note that we have </a:t>
            </a:r>
            <a:r>
              <a:rPr lang="en-AU" dirty="0" smtClean="0">
                <a:solidFill>
                  <a:srgbClr val="7030A0"/>
                </a:solidFill>
              </a:rPr>
              <a:t>3 given sides and are asked to find angle opposite to 40 </a:t>
            </a:r>
            <a:r>
              <a:rPr lang="en-AU" i="1" dirty="0" smtClean="0">
                <a:solidFill>
                  <a:srgbClr val="7030A0"/>
                </a:solidFill>
              </a:rPr>
              <a:t>mm</a:t>
            </a:r>
            <a:endParaRPr lang="en-AU" i="1" dirty="0" smtClean="0"/>
          </a:p>
        </p:txBody>
      </p:sp>
      <p:sp>
        <p:nvSpPr>
          <p:cNvPr id="12" name="TextBox 11"/>
          <p:cNvSpPr txBox="1"/>
          <p:nvPr/>
        </p:nvSpPr>
        <p:spPr>
          <a:xfrm>
            <a:off x="539552" y="3851756"/>
            <a:ext cx="5400600" cy="369332"/>
          </a:xfrm>
          <a:prstGeom prst="rect">
            <a:avLst/>
          </a:prstGeom>
          <a:noFill/>
        </p:spPr>
        <p:txBody>
          <a:bodyPr wrap="square" rtlCol="0">
            <a:spAutoFit/>
          </a:bodyPr>
          <a:lstStyle/>
          <a:p>
            <a:r>
              <a:rPr lang="en-AU" dirty="0" smtClean="0">
                <a:solidFill>
                  <a:srgbClr val="002060"/>
                </a:solidFill>
              </a:rPr>
              <a:t>so </a:t>
            </a:r>
            <a:r>
              <a:rPr lang="en-AU" dirty="0" smtClean="0"/>
              <a:t>we use the Cosine Rule for finding an angle…</a:t>
            </a:r>
            <a:endParaRPr lang="en-US" dirty="0"/>
          </a:p>
        </p:txBody>
      </p:sp>
      <p:graphicFrame>
        <p:nvGraphicFramePr>
          <p:cNvPr id="13" name="Object 2"/>
          <p:cNvGraphicFramePr>
            <a:graphicFrameLocks noChangeAspect="1"/>
          </p:cNvGraphicFramePr>
          <p:nvPr/>
        </p:nvGraphicFramePr>
        <p:xfrm>
          <a:off x="6084168" y="3861048"/>
          <a:ext cx="1924050" cy="647700"/>
        </p:xfrm>
        <a:graphic>
          <a:graphicData uri="http://schemas.openxmlformats.org/presentationml/2006/ole">
            <p:oleObj spid="_x0000_s37890" name="Equation" r:id="rId3" imgW="1244520" imgH="419040" progId="Equation.3">
              <p:embed/>
            </p:oleObj>
          </a:graphicData>
        </a:graphic>
      </p:graphicFrame>
      <p:grpSp>
        <p:nvGrpSpPr>
          <p:cNvPr id="16" name="Group 15"/>
          <p:cNvGrpSpPr/>
          <p:nvPr/>
        </p:nvGrpSpPr>
        <p:grpSpPr>
          <a:xfrm>
            <a:off x="827584" y="4725144"/>
            <a:ext cx="1224136" cy="1512168"/>
            <a:chOff x="251520" y="4509120"/>
            <a:chExt cx="1224136" cy="1512168"/>
          </a:xfrm>
        </p:grpSpPr>
        <p:sp>
          <p:nvSpPr>
            <p:cNvPr id="14" name="TextBox 13"/>
            <p:cNvSpPr txBox="1"/>
            <p:nvPr/>
          </p:nvSpPr>
          <p:spPr>
            <a:xfrm>
              <a:off x="251520" y="4509120"/>
              <a:ext cx="1224136" cy="1477328"/>
            </a:xfrm>
            <a:prstGeom prst="rect">
              <a:avLst/>
            </a:prstGeom>
            <a:noFill/>
          </p:spPr>
          <p:txBody>
            <a:bodyPr wrap="square" rtlCol="0">
              <a:spAutoFit/>
            </a:bodyPr>
            <a:lstStyle/>
            <a:p>
              <a:r>
                <a:rPr lang="en-AU" dirty="0" smtClean="0"/>
                <a:t>Let</a:t>
              </a:r>
            </a:p>
            <a:p>
              <a:r>
                <a:rPr lang="en-AU" i="1" dirty="0" smtClean="0"/>
                <a:t>a</a:t>
              </a:r>
              <a:r>
                <a:rPr lang="en-AU" dirty="0" smtClean="0"/>
                <a:t> = 21</a:t>
              </a:r>
            </a:p>
            <a:p>
              <a:r>
                <a:rPr lang="en-AU" i="1" dirty="0" smtClean="0"/>
                <a:t>b = </a:t>
              </a:r>
              <a:r>
                <a:rPr lang="en-AU" dirty="0" smtClean="0"/>
                <a:t>29</a:t>
              </a:r>
            </a:p>
            <a:p>
              <a:r>
                <a:rPr lang="en-AU" i="1" dirty="0" smtClean="0"/>
                <a:t>c = </a:t>
              </a:r>
              <a:r>
                <a:rPr lang="en-AU" dirty="0" smtClean="0"/>
                <a:t>40</a:t>
              </a:r>
            </a:p>
            <a:p>
              <a:r>
                <a:rPr lang="en-AU" i="1" dirty="0" smtClean="0"/>
                <a:t>C</a:t>
              </a:r>
              <a:r>
                <a:rPr lang="en-AU" dirty="0" smtClean="0"/>
                <a:t> = </a:t>
              </a:r>
              <a:r>
                <a:rPr lang="en-AU" dirty="0" smtClean="0">
                  <a:sym typeface="Symbol"/>
                </a:rPr>
                <a:t></a:t>
              </a:r>
              <a:endParaRPr lang="en-US" i="1" dirty="0"/>
            </a:p>
          </p:txBody>
        </p:sp>
        <p:sp>
          <p:nvSpPr>
            <p:cNvPr id="15" name="Rectangle 14"/>
            <p:cNvSpPr/>
            <p:nvPr/>
          </p:nvSpPr>
          <p:spPr>
            <a:xfrm>
              <a:off x="251520" y="4509120"/>
              <a:ext cx="1008112" cy="1512168"/>
            </a:xfrm>
            <a:prstGeom prst="rect">
              <a:avLst/>
            </a:prstGeom>
            <a:solidFill>
              <a:srgbClr val="FFFF00">
                <a:alpha val="2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graphicFrame>
        <p:nvGraphicFramePr>
          <p:cNvPr id="37891" name="Object 3"/>
          <p:cNvGraphicFramePr>
            <a:graphicFrameLocks noChangeAspect="1"/>
          </p:cNvGraphicFramePr>
          <p:nvPr/>
        </p:nvGraphicFramePr>
        <p:xfrm>
          <a:off x="2051720" y="4418013"/>
          <a:ext cx="2354262" cy="687387"/>
        </p:xfrm>
        <a:graphic>
          <a:graphicData uri="http://schemas.openxmlformats.org/presentationml/2006/ole">
            <p:oleObj spid="_x0000_s37891" name="Equation" r:id="rId4" imgW="1523880" imgH="444240" progId="Equation.3">
              <p:embed/>
            </p:oleObj>
          </a:graphicData>
        </a:graphic>
      </p:graphicFrame>
      <p:graphicFrame>
        <p:nvGraphicFramePr>
          <p:cNvPr id="37892" name="Object 4"/>
          <p:cNvGraphicFramePr>
            <a:graphicFrameLocks noChangeAspect="1"/>
          </p:cNvGraphicFramePr>
          <p:nvPr/>
        </p:nvGraphicFramePr>
        <p:xfrm>
          <a:off x="2543126" y="5157192"/>
          <a:ext cx="1020762" cy="274638"/>
        </p:xfrm>
        <a:graphic>
          <a:graphicData uri="http://schemas.openxmlformats.org/presentationml/2006/ole">
            <p:oleObj spid="_x0000_s37892" name="Equation" r:id="rId5" imgW="660240" imgH="177480" progId="Equation.3">
              <p:embed/>
            </p:oleObj>
          </a:graphicData>
        </a:graphic>
      </p:graphicFrame>
      <p:graphicFrame>
        <p:nvGraphicFramePr>
          <p:cNvPr id="37893" name="Object 5"/>
          <p:cNvGraphicFramePr>
            <a:graphicFrameLocks noChangeAspect="1"/>
          </p:cNvGraphicFramePr>
          <p:nvPr/>
        </p:nvGraphicFramePr>
        <p:xfrm>
          <a:off x="2411760" y="5604991"/>
          <a:ext cx="1844675" cy="354013"/>
        </p:xfrm>
        <a:graphic>
          <a:graphicData uri="http://schemas.openxmlformats.org/presentationml/2006/ole">
            <p:oleObj spid="_x0000_s37893" name="Equation" r:id="rId6" imgW="1193760" imgH="228600" progId="Equation.3">
              <p:embed/>
            </p:oleObj>
          </a:graphicData>
        </a:graphic>
      </p:graphicFrame>
      <p:sp>
        <p:nvSpPr>
          <p:cNvPr id="21" name="TextBox 20"/>
          <p:cNvSpPr txBox="1"/>
          <p:nvPr/>
        </p:nvSpPr>
        <p:spPr>
          <a:xfrm>
            <a:off x="2555776" y="5991671"/>
            <a:ext cx="1872208" cy="461665"/>
          </a:xfrm>
          <a:prstGeom prst="rect">
            <a:avLst/>
          </a:prstGeom>
          <a:noFill/>
        </p:spPr>
        <p:txBody>
          <a:bodyPr wrap="square" rtlCol="0">
            <a:spAutoFit/>
          </a:bodyPr>
          <a:lstStyle/>
          <a:p>
            <a:r>
              <a:rPr lang="en-AU" sz="2400" b="1" dirty="0" smtClean="0"/>
              <a:t>= 105.13</a:t>
            </a:r>
            <a:endParaRPr lang="en-US" sz="2400" b="1" dirty="0"/>
          </a:p>
        </p:txBody>
      </p:sp>
      <p:sp>
        <p:nvSpPr>
          <p:cNvPr id="22" name="TextBox 21"/>
          <p:cNvSpPr txBox="1"/>
          <p:nvPr/>
        </p:nvSpPr>
        <p:spPr>
          <a:xfrm>
            <a:off x="5148064" y="5613047"/>
            <a:ext cx="3672408" cy="1200329"/>
          </a:xfrm>
          <a:prstGeom prst="rect">
            <a:avLst/>
          </a:prstGeom>
          <a:noFill/>
        </p:spPr>
        <p:txBody>
          <a:bodyPr wrap="square" rtlCol="0">
            <a:spAutoFit/>
          </a:bodyPr>
          <a:lstStyle/>
          <a:p>
            <a:r>
              <a:rPr lang="en-AU" sz="2400" b="1" dirty="0" err="1" smtClean="0">
                <a:solidFill>
                  <a:srgbClr val="006600"/>
                </a:solidFill>
              </a:rPr>
              <a:t>Ans</a:t>
            </a:r>
            <a:r>
              <a:rPr lang="en-AU" sz="2400" b="1" dirty="0" smtClean="0">
                <a:solidFill>
                  <a:srgbClr val="006600"/>
                </a:solidFill>
              </a:rPr>
              <a:t>: </a:t>
            </a:r>
            <a:r>
              <a:rPr lang="en-AU" sz="2400" dirty="0" smtClean="0">
                <a:solidFill>
                  <a:srgbClr val="006600"/>
                </a:solidFill>
                <a:sym typeface="Symbol"/>
              </a:rPr>
              <a:t> is approx. equal to</a:t>
            </a:r>
          </a:p>
          <a:p>
            <a:r>
              <a:rPr lang="en-AU" sz="2400" b="1" dirty="0" smtClean="0">
                <a:solidFill>
                  <a:srgbClr val="006600"/>
                </a:solidFill>
                <a:sym typeface="Symbol"/>
              </a:rPr>
              <a:t>105.13 </a:t>
            </a:r>
            <a:r>
              <a:rPr lang="en-AU" sz="2400" dirty="0" smtClean="0">
                <a:solidFill>
                  <a:srgbClr val="006600"/>
                </a:solidFill>
                <a:sym typeface="Symbol"/>
              </a:rPr>
              <a:t>(to 2 </a:t>
            </a:r>
            <a:r>
              <a:rPr lang="en-AU" sz="2400" dirty="0" err="1" smtClean="0">
                <a:solidFill>
                  <a:srgbClr val="006600"/>
                </a:solidFill>
                <a:sym typeface="Symbol"/>
              </a:rPr>
              <a:t>dec</a:t>
            </a:r>
            <a:r>
              <a:rPr lang="en-AU" sz="2400" dirty="0" smtClean="0">
                <a:solidFill>
                  <a:srgbClr val="006600"/>
                </a:solidFill>
                <a:sym typeface="Symbol"/>
              </a:rPr>
              <a:t> pl) or</a:t>
            </a:r>
          </a:p>
          <a:p>
            <a:r>
              <a:rPr lang="en-AU" sz="2400" b="1" dirty="0" smtClean="0">
                <a:solidFill>
                  <a:srgbClr val="006600"/>
                </a:solidFill>
                <a:sym typeface="Symbol"/>
              </a:rPr>
              <a:t>1058’ </a:t>
            </a:r>
            <a:r>
              <a:rPr lang="en-AU" sz="2400" dirty="0" smtClean="0">
                <a:solidFill>
                  <a:srgbClr val="006600"/>
                </a:solidFill>
                <a:sym typeface="Symbol"/>
              </a:rPr>
              <a:t>(to nearest min)</a:t>
            </a:r>
            <a:endParaRPr lang="en-US" sz="2400" dirty="0">
              <a:solidFill>
                <a:srgbClr val="006600"/>
              </a:solidFill>
            </a:endParaRPr>
          </a:p>
        </p:txBody>
      </p:sp>
      <p:sp>
        <p:nvSpPr>
          <p:cNvPr id="24" name="TextBox 23"/>
          <p:cNvSpPr txBox="1"/>
          <p:nvPr/>
        </p:nvSpPr>
        <p:spPr>
          <a:xfrm>
            <a:off x="4572000" y="4581128"/>
            <a:ext cx="2592288" cy="369332"/>
          </a:xfrm>
          <a:prstGeom prst="rect">
            <a:avLst/>
          </a:prstGeom>
          <a:noFill/>
        </p:spPr>
        <p:txBody>
          <a:bodyPr wrap="square" rtlCol="0">
            <a:spAutoFit/>
          </a:bodyPr>
          <a:lstStyle/>
          <a:p>
            <a:r>
              <a:rPr lang="en-AU" dirty="0" smtClean="0">
                <a:solidFill>
                  <a:srgbClr val="7030A0"/>
                </a:solidFill>
              </a:rPr>
              <a:t>remember the brackets</a:t>
            </a:r>
            <a:endParaRPr lang="en-US" dirty="0">
              <a:solidFill>
                <a:srgbClr val="7030A0"/>
              </a:solidFill>
            </a:endParaRPr>
          </a:p>
        </p:txBody>
      </p:sp>
      <p:sp>
        <p:nvSpPr>
          <p:cNvPr id="25" name="TextBox 24"/>
          <p:cNvSpPr txBox="1"/>
          <p:nvPr/>
        </p:nvSpPr>
        <p:spPr>
          <a:xfrm>
            <a:off x="3635896" y="5013176"/>
            <a:ext cx="5112568" cy="584775"/>
          </a:xfrm>
          <a:prstGeom prst="rect">
            <a:avLst/>
          </a:prstGeom>
          <a:noFill/>
        </p:spPr>
        <p:txBody>
          <a:bodyPr wrap="square" rtlCol="0">
            <a:spAutoFit/>
          </a:bodyPr>
          <a:lstStyle/>
          <a:p>
            <a:r>
              <a:rPr lang="en-AU" sz="1600" dirty="0" smtClean="0">
                <a:solidFill>
                  <a:srgbClr val="FF0000"/>
                </a:solidFill>
              </a:rPr>
              <a:t>Note the negative cos. This means our angle is obtuse!  </a:t>
            </a:r>
            <a:r>
              <a:rPr lang="en-AU" sz="1600" b="1" dirty="0" smtClean="0">
                <a:solidFill>
                  <a:srgbClr val="FF0000"/>
                </a:solidFill>
              </a:rPr>
              <a:t>ALL OBTUSE ANGLES HAVE A NEGATIVE COSINE!</a:t>
            </a:r>
            <a:endParaRPr lang="en-US" sz="1600" dirty="0">
              <a:solidFill>
                <a:srgbClr val="FF0000"/>
              </a:solidFill>
            </a:endParaRPr>
          </a:p>
        </p:txBody>
      </p:sp>
      <p:sp>
        <p:nvSpPr>
          <p:cNvPr id="26" name="TextBox 25"/>
          <p:cNvSpPr txBox="1"/>
          <p:nvPr/>
        </p:nvSpPr>
        <p:spPr>
          <a:xfrm>
            <a:off x="3995936" y="1556792"/>
            <a:ext cx="4608512" cy="1754326"/>
          </a:xfrm>
          <a:prstGeom prst="rect">
            <a:avLst/>
          </a:prstGeom>
          <a:noFill/>
        </p:spPr>
        <p:txBody>
          <a:bodyPr wrap="square" rtlCol="0">
            <a:spAutoFit/>
          </a:bodyPr>
          <a:lstStyle/>
          <a:p>
            <a:r>
              <a:rPr lang="en-AU" dirty="0" smtClean="0">
                <a:solidFill>
                  <a:srgbClr val="006600"/>
                </a:solidFill>
              </a:rPr>
              <a:t>Finally, check that </a:t>
            </a:r>
            <a:r>
              <a:rPr lang="en-AU" i="1" dirty="0" smtClean="0">
                <a:solidFill>
                  <a:srgbClr val="006600"/>
                </a:solidFill>
                <a:sym typeface="Symbol"/>
              </a:rPr>
              <a:t> = </a:t>
            </a:r>
            <a:r>
              <a:rPr lang="en-AU" dirty="0" smtClean="0">
                <a:solidFill>
                  <a:srgbClr val="006600"/>
                </a:solidFill>
                <a:sym typeface="Symbol"/>
              </a:rPr>
              <a:t>105 </a:t>
            </a:r>
            <a:r>
              <a:rPr lang="en-AU" dirty="0" smtClean="0">
                <a:solidFill>
                  <a:srgbClr val="006600"/>
                </a:solidFill>
              </a:rPr>
              <a:t>fits the diagram. </a:t>
            </a:r>
            <a:r>
              <a:rPr lang="en-AU" i="1" dirty="0" smtClean="0">
                <a:solidFill>
                  <a:srgbClr val="006600"/>
                </a:solidFill>
                <a:sym typeface="Symbol"/>
              </a:rPr>
              <a:t></a:t>
            </a:r>
            <a:r>
              <a:rPr lang="en-AU" dirty="0" smtClean="0">
                <a:solidFill>
                  <a:srgbClr val="006600"/>
                </a:solidFill>
              </a:rPr>
              <a:t> LOOKS obtuse so this would seem reasonable. </a:t>
            </a:r>
            <a:r>
              <a:rPr lang="en-AU" dirty="0" smtClean="0">
                <a:solidFill>
                  <a:srgbClr val="FF0000"/>
                </a:solidFill>
              </a:rPr>
              <a:t>Beware – you can’t always presume the drawings are to scale, so be careful when judging the appropriateness of your answers (in all problems)</a:t>
            </a:r>
            <a:endParaRPr lang="en-US" dirty="0">
              <a:solidFill>
                <a:srgbClr val="00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amond(in)">
                                      <p:cBhvr>
                                        <p:cTn id="7" dur="2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par>
                          <p:cTn id="13" fill="hold">
                            <p:stCondLst>
                              <p:cond delay="500"/>
                            </p:stCondLst>
                            <p:childTnLst>
                              <p:par>
                                <p:cTn id="14" presetID="8"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diamond(in)">
                                      <p:cBhvr>
                                        <p:cTn id="16" dur="2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diamond(in)">
                                      <p:cBhvr>
                                        <p:cTn id="21" dur="20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37891"/>
                                        </p:tgtEl>
                                        <p:attrNameLst>
                                          <p:attrName>style.visibility</p:attrName>
                                        </p:attrNameLst>
                                      </p:cBhvr>
                                      <p:to>
                                        <p:strVal val="visible"/>
                                      </p:to>
                                    </p:set>
                                    <p:animEffect transition="in" filter="diamond(in)">
                                      <p:cBhvr>
                                        <p:cTn id="26" dur="2000"/>
                                        <p:tgtEl>
                                          <p:spTgt spid="37891"/>
                                        </p:tgtEl>
                                      </p:cBhvr>
                                    </p:animEffect>
                                  </p:childTnLst>
                                </p:cTn>
                              </p:par>
                            </p:childTnLst>
                          </p:cTn>
                        </p:par>
                        <p:par>
                          <p:cTn id="27" fill="hold">
                            <p:stCondLst>
                              <p:cond delay="2000"/>
                            </p:stCondLst>
                            <p:childTnLst>
                              <p:par>
                                <p:cTn id="28" presetID="2" presetClass="entr" presetSubtype="3"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2000" fill="hold"/>
                                        <p:tgtEl>
                                          <p:spTgt spid="24"/>
                                        </p:tgtEl>
                                        <p:attrNameLst>
                                          <p:attrName>ppt_x</p:attrName>
                                        </p:attrNameLst>
                                      </p:cBhvr>
                                      <p:tavLst>
                                        <p:tav tm="0">
                                          <p:val>
                                            <p:strVal val="1+#ppt_w/2"/>
                                          </p:val>
                                        </p:tav>
                                        <p:tav tm="100000">
                                          <p:val>
                                            <p:strVal val="#ppt_x"/>
                                          </p:val>
                                        </p:tav>
                                      </p:tavLst>
                                    </p:anim>
                                    <p:anim calcmode="lin" valueType="num">
                                      <p:cBhvr additive="base">
                                        <p:cTn id="31" dur="20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7892"/>
                                        </p:tgtEl>
                                        <p:attrNameLst>
                                          <p:attrName>style.visibility</p:attrName>
                                        </p:attrNameLst>
                                      </p:cBhvr>
                                      <p:to>
                                        <p:strVal val="visible"/>
                                      </p:to>
                                    </p:set>
                                    <p:animEffect transition="in" filter="dissolve">
                                      <p:cBhvr>
                                        <p:cTn id="36" dur="500"/>
                                        <p:tgtEl>
                                          <p:spTgt spid="37892"/>
                                        </p:tgtEl>
                                      </p:cBhvr>
                                    </p:animEffect>
                                  </p:childTnLst>
                                </p:cTn>
                              </p:par>
                            </p:childTnLst>
                          </p:cTn>
                        </p:par>
                      </p:childTnLst>
                    </p:cTn>
                  </p:par>
                  <p:par>
                    <p:cTn id="37" fill="hold">
                      <p:stCondLst>
                        <p:cond delay="indefinite"/>
                      </p:stCondLst>
                      <p:childTnLst>
                        <p:par>
                          <p:cTn id="38" fill="hold">
                            <p:stCondLst>
                              <p:cond delay="0"/>
                            </p:stCondLst>
                            <p:childTnLst>
                              <p:par>
                                <p:cTn id="39" presetID="35"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2000"/>
                                        <p:tgtEl>
                                          <p:spTgt spid="25"/>
                                        </p:tgtEl>
                                      </p:cBhvr>
                                    </p:animEffect>
                                    <p:anim calcmode="lin" valueType="num">
                                      <p:cBhvr>
                                        <p:cTn id="42" dur="2000" fill="hold"/>
                                        <p:tgtEl>
                                          <p:spTgt spid="25"/>
                                        </p:tgtEl>
                                        <p:attrNameLst>
                                          <p:attrName>style.rotation</p:attrName>
                                        </p:attrNameLst>
                                      </p:cBhvr>
                                      <p:tavLst>
                                        <p:tav tm="0">
                                          <p:val>
                                            <p:fltVal val="720"/>
                                          </p:val>
                                        </p:tav>
                                        <p:tav tm="100000">
                                          <p:val>
                                            <p:fltVal val="0"/>
                                          </p:val>
                                        </p:tav>
                                      </p:tavLst>
                                    </p:anim>
                                    <p:anim calcmode="lin" valueType="num">
                                      <p:cBhvr>
                                        <p:cTn id="43" dur="2000" fill="hold"/>
                                        <p:tgtEl>
                                          <p:spTgt spid="25"/>
                                        </p:tgtEl>
                                        <p:attrNameLst>
                                          <p:attrName>ppt_h</p:attrName>
                                        </p:attrNameLst>
                                      </p:cBhvr>
                                      <p:tavLst>
                                        <p:tav tm="0">
                                          <p:val>
                                            <p:fltVal val="0"/>
                                          </p:val>
                                        </p:tav>
                                        <p:tav tm="100000">
                                          <p:val>
                                            <p:strVal val="#ppt_h"/>
                                          </p:val>
                                        </p:tav>
                                      </p:tavLst>
                                    </p:anim>
                                    <p:anim calcmode="lin" valueType="num">
                                      <p:cBhvr>
                                        <p:cTn id="44" dur="2000" fill="hold"/>
                                        <p:tgtEl>
                                          <p:spTgt spid="25"/>
                                        </p:tgtEl>
                                        <p:attrNameLst>
                                          <p:attrName>ppt_w</p:attrName>
                                        </p:attrNameLst>
                                      </p:cBhvr>
                                      <p:tavLst>
                                        <p:tav tm="0">
                                          <p:val>
                                            <p:fltVal val="0"/>
                                          </p:val>
                                        </p:tav>
                                        <p:tav tm="100000">
                                          <p:val>
                                            <p:strVal val="#ppt_w"/>
                                          </p:val>
                                        </p:tav>
                                      </p:tavLst>
                                    </p:anim>
                                  </p:childTnLst>
                                </p:cTn>
                              </p:par>
                            </p:childTnLst>
                          </p:cTn>
                        </p:par>
                      </p:childTnLst>
                    </p:cTn>
                  </p:par>
                  <p:par>
                    <p:cTn id="45" fill="hold">
                      <p:stCondLst>
                        <p:cond delay="indefinite"/>
                      </p:stCondLst>
                      <p:childTnLst>
                        <p:par>
                          <p:cTn id="46" fill="hold">
                            <p:stCondLst>
                              <p:cond delay="0"/>
                            </p:stCondLst>
                            <p:childTnLst>
                              <p:par>
                                <p:cTn id="47" presetID="8" presetClass="entr" presetSubtype="16" fill="hold" nodeType="clickEffect">
                                  <p:stCondLst>
                                    <p:cond delay="0"/>
                                  </p:stCondLst>
                                  <p:childTnLst>
                                    <p:set>
                                      <p:cBhvr>
                                        <p:cTn id="48" dur="1" fill="hold">
                                          <p:stCondLst>
                                            <p:cond delay="0"/>
                                          </p:stCondLst>
                                        </p:cTn>
                                        <p:tgtEl>
                                          <p:spTgt spid="37893"/>
                                        </p:tgtEl>
                                        <p:attrNameLst>
                                          <p:attrName>style.visibility</p:attrName>
                                        </p:attrNameLst>
                                      </p:cBhvr>
                                      <p:to>
                                        <p:strVal val="visible"/>
                                      </p:to>
                                    </p:set>
                                    <p:animEffect transition="in" filter="diamond(in)">
                                      <p:cBhvr>
                                        <p:cTn id="49" dur="2000"/>
                                        <p:tgtEl>
                                          <p:spTgt spid="37893"/>
                                        </p:tgtEl>
                                      </p:cBhvr>
                                    </p:animEffect>
                                  </p:childTnLst>
                                </p:cTn>
                              </p:par>
                            </p:childTnLst>
                          </p:cTn>
                        </p:par>
                      </p:childTnLst>
                    </p:cTn>
                  </p:par>
                  <p:par>
                    <p:cTn id="50" fill="hold">
                      <p:stCondLst>
                        <p:cond delay="indefinite"/>
                      </p:stCondLst>
                      <p:childTnLst>
                        <p:par>
                          <p:cTn id="51" fill="hold">
                            <p:stCondLst>
                              <p:cond delay="0"/>
                            </p:stCondLst>
                            <p:childTnLst>
                              <p:par>
                                <p:cTn id="52" presetID="8" presetClass="entr" presetSubtype="16"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diamond(in)">
                                      <p:cBhvr>
                                        <p:cTn id="54" dur="20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8" presetClass="entr" presetSubtype="16"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diamond(in)">
                                      <p:cBhvr>
                                        <p:cTn id="59" dur="2000"/>
                                        <p:tgtEl>
                                          <p:spTgt spid="22"/>
                                        </p:tgtEl>
                                      </p:cBhvr>
                                    </p:animEffect>
                                  </p:childTnLst>
                                </p:cTn>
                              </p:par>
                            </p:childTnLst>
                          </p:cTn>
                        </p:par>
                        <p:par>
                          <p:cTn id="60" fill="hold">
                            <p:stCondLst>
                              <p:cond delay="2000"/>
                            </p:stCondLst>
                            <p:childTnLst>
                              <p:par>
                                <p:cTn id="61" presetID="8" presetClass="entr" presetSubtype="16" fill="hold" grpId="0"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diamond(in)">
                                      <p:cBhvr>
                                        <p:cTn id="63"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1" grpId="0"/>
      <p:bldP spid="22" grpId="0"/>
      <p:bldP spid="24" grpId="0"/>
      <p:bldP spid="25"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008" y="620688"/>
            <a:ext cx="8928992" cy="769441"/>
          </a:xfrm>
          <a:prstGeom prst="rect">
            <a:avLst/>
          </a:prstGeom>
          <a:noFill/>
        </p:spPr>
        <p:txBody>
          <a:bodyPr wrap="square" lIns="91440" tIns="45720" rIns="91440" bIns="45720">
            <a:spAutoFit/>
          </a:bodyPr>
          <a:lstStyle/>
          <a:p>
            <a:pPr algn="ctr"/>
            <a:r>
              <a:rPr lang="en-US" sz="44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The Cosine Rule - Summary</a:t>
            </a:r>
            <a:endParaRPr lang="en-US" sz="4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3" name="TextBox 2"/>
          <p:cNvSpPr txBox="1"/>
          <p:nvPr/>
        </p:nvSpPr>
        <p:spPr>
          <a:xfrm>
            <a:off x="395536" y="1484784"/>
            <a:ext cx="8208912" cy="369332"/>
          </a:xfrm>
          <a:prstGeom prst="rect">
            <a:avLst/>
          </a:prstGeom>
          <a:noFill/>
        </p:spPr>
        <p:txBody>
          <a:bodyPr wrap="square" rtlCol="0">
            <a:spAutoFit/>
          </a:bodyPr>
          <a:lstStyle/>
          <a:p>
            <a:pPr>
              <a:buFont typeface="Arial" pitchFamily="34" charset="0"/>
              <a:buChar char="•"/>
            </a:pPr>
            <a:r>
              <a:rPr lang="en-AU" dirty="0" smtClean="0"/>
              <a:t>  The Cosine Rule can be used to find unknown sides or angles in triangles.</a:t>
            </a:r>
            <a:endParaRPr lang="en-US" dirty="0"/>
          </a:p>
        </p:txBody>
      </p:sp>
      <p:sp>
        <p:nvSpPr>
          <p:cNvPr id="4" name="TextBox 3"/>
          <p:cNvSpPr txBox="1"/>
          <p:nvPr/>
        </p:nvSpPr>
        <p:spPr>
          <a:xfrm>
            <a:off x="395536" y="1907540"/>
            <a:ext cx="8208912" cy="646331"/>
          </a:xfrm>
          <a:prstGeom prst="rect">
            <a:avLst/>
          </a:prstGeom>
          <a:noFill/>
        </p:spPr>
        <p:txBody>
          <a:bodyPr wrap="square" rtlCol="0">
            <a:spAutoFit/>
          </a:bodyPr>
          <a:lstStyle/>
          <a:p>
            <a:pPr>
              <a:buFont typeface="Arial" pitchFamily="34" charset="0"/>
              <a:buChar char="•"/>
            </a:pPr>
            <a:r>
              <a:rPr lang="en-AU" dirty="0" smtClean="0"/>
              <a:t>  There are two versions of the Cosine Rule formula and three variations within each of these, depending on what is required as the subject</a:t>
            </a:r>
            <a:endParaRPr lang="en-US" dirty="0"/>
          </a:p>
        </p:txBody>
      </p:sp>
      <p:graphicFrame>
        <p:nvGraphicFramePr>
          <p:cNvPr id="11" name="Object 10"/>
          <p:cNvGraphicFramePr>
            <a:graphicFrameLocks noChangeAspect="1"/>
          </p:cNvGraphicFramePr>
          <p:nvPr/>
        </p:nvGraphicFramePr>
        <p:xfrm>
          <a:off x="5868144" y="3068960"/>
          <a:ext cx="1924577" cy="648072"/>
        </p:xfrm>
        <a:graphic>
          <a:graphicData uri="http://schemas.openxmlformats.org/presentationml/2006/ole">
            <p:oleObj spid="_x0000_s38915" name="Equation" r:id="rId3" imgW="1244520" imgH="419040" progId="Equation.3">
              <p:embed/>
            </p:oleObj>
          </a:graphicData>
        </a:graphic>
      </p:graphicFrame>
      <p:sp>
        <p:nvSpPr>
          <p:cNvPr id="12" name="TextBox 11"/>
          <p:cNvSpPr txBox="1"/>
          <p:nvPr/>
        </p:nvSpPr>
        <p:spPr>
          <a:xfrm>
            <a:off x="683568" y="3140968"/>
            <a:ext cx="3060848" cy="400110"/>
          </a:xfrm>
          <a:prstGeom prst="rect">
            <a:avLst/>
          </a:prstGeom>
          <a:noFill/>
          <a:ln w="34925">
            <a:solidFill>
              <a:srgbClr val="FF0000"/>
            </a:solidFill>
          </a:ln>
        </p:spPr>
        <p:txBody>
          <a:bodyPr wrap="square" rtlCol="0">
            <a:spAutoFit/>
          </a:bodyPr>
          <a:lstStyle/>
          <a:p>
            <a:pPr algn="ctr"/>
            <a:r>
              <a:rPr lang="en-AU" sz="2000" dirty="0" smtClean="0"/>
              <a:t>c </a:t>
            </a:r>
            <a:r>
              <a:rPr lang="en-AU" sz="2000" baseline="30000" dirty="0" smtClean="0"/>
              <a:t>2</a:t>
            </a:r>
            <a:r>
              <a:rPr lang="en-AU" sz="2000" dirty="0" smtClean="0"/>
              <a:t> =  </a:t>
            </a:r>
            <a:r>
              <a:rPr lang="en-AU" sz="2000" i="1" dirty="0" smtClean="0"/>
              <a:t>a</a:t>
            </a:r>
            <a:r>
              <a:rPr lang="en-AU" sz="2000" baseline="30000" dirty="0" smtClean="0"/>
              <a:t>2</a:t>
            </a:r>
            <a:r>
              <a:rPr lang="en-AU" sz="2000" i="1" dirty="0" smtClean="0"/>
              <a:t>  +  b</a:t>
            </a:r>
            <a:r>
              <a:rPr lang="en-AU" sz="2000" baseline="30000" dirty="0" smtClean="0"/>
              <a:t>2</a:t>
            </a:r>
            <a:r>
              <a:rPr lang="en-AU" sz="2000" i="1" dirty="0" smtClean="0"/>
              <a:t>  – 2ab </a:t>
            </a:r>
            <a:r>
              <a:rPr lang="en-AU" sz="2000" dirty="0" err="1" smtClean="0"/>
              <a:t>cos</a:t>
            </a:r>
            <a:r>
              <a:rPr lang="en-AU" sz="2000" i="1" dirty="0" smtClean="0"/>
              <a:t> C  </a:t>
            </a:r>
            <a:endParaRPr lang="en-US" sz="2000" dirty="0"/>
          </a:p>
        </p:txBody>
      </p:sp>
      <p:sp>
        <p:nvSpPr>
          <p:cNvPr id="13" name="TextBox 12"/>
          <p:cNvSpPr txBox="1"/>
          <p:nvPr/>
        </p:nvSpPr>
        <p:spPr>
          <a:xfrm>
            <a:off x="1259632" y="2636912"/>
            <a:ext cx="1728192" cy="369332"/>
          </a:xfrm>
          <a:prstGeom prst="rect">
            <a:avLst/>
          </a:prstGeom>
          <a:noFill/>
        </p:spPr>
        <p:txBody>
          <a:bodyPr wrap="square" rtlCol="0">
            <a:spAutoFit/>
          </a:bodyPr>
          <a:lstStyle/>
          <a:p>
            <a:r>
              <a:rPr lang="en-AU" dirty="0" smtClean="0"/>
              <a:t>To find a </a:t>
            </a:r>
            <a:r>
              <a:rPr lang="en-AU" b="1" dirty="0" smtClean="0"/>
              <a:t>SIDE</a:t>
            </a:r>
            <a:endParaRPr lang="en-US" dirty="0"/>
          </a:p>
        </p:txBody>
      </p:sp>
      <p:sp>
        <p:nvSpPr>
          <p:cNvPr id="14" name="TextBox 13"/>
          <p:cNvSpPr txBox="1"/>
          <p:nvPr/>
        </p:nvSpPr>
        <p:spPr>
          <a:xfrm>
            <a:off x="5724128" y="2636912"/>
            <a:ext cx="2160240" cy="369332"/>
          </a:xfrm>
          <a:prstGeom prst="rect">
            <a:avLst/>
          </a:prstGeom>
          <a:noFill/>
        </p:spPr>
        <p:txBody>
          <a:bodyPr wrap="square" rtlCol="0">
            <a:spAutoFit/>
          </a:bodyPr>
          <a:lstStyle/>
          <a:p>
            <a:r>
              <a:rPr lang="en-AU" dirty="0" smtClean="0"/>
              <a:t>To find an </a:t>
            </a:r>
            <a:r>
              <a:rPr lang="en-AU" b="1" dirty="0" smtClean="0"/>
              <a:t>ANGLE</a:t>
            </a:r>
            <a:endParaRPr lang="en-US" dirty="0"/>
          </a:p>
        </p:txBody>
      </p:sp>
      <p:cxnSp>
        <p:nvCxnSpPr>
          <p:cNvPr id="18" name="Straight Connector 17"/>
          <p:cNvCxnSpPr/>
          <p:nvPr/>
        </p:nvCxnSpPr>
        <p:spPr>
          <a:xfrm>
            <a:off x="4572000" y="2636912"/>
            <a:ext cx="0" cy="3024336"/>
          </a:xfrm>
          <a:prstGeom prst="line">
            <a:avLst/>
          </a:prstGeom>
          <a:ln w="53975">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83568" y="3820978"/>
            <a:ext cx="3060848" cy="400110"/>
          </a:xfrm>
          <a:prstGeom prst="rect">
            <a:avLst/>
          </a:prstGeom>
          <a:noFill/>
          <a:ln w="34925">
            <a:solidFill>
              <a:srgbClr val="FF0000"/>
            </a:solidFill>
          </a:ln>
        </p:spPr>
        <p:txBody>
          <a:bodyPr wrap="square" rtlCol="0">
            <a:spAutoFit/>
          </a:bodyPr>
          <a:lstStyle/>
          <a:p>
            <a:pPr algn="ctr"/>
            <a:r>
              <a:rPr lang="en-AU" sz="2000" i="1" dirty="0" smtClean="0"/>
              <a:t>a</a:t>
            </a:r>
            <a:r>
              <a:rPr lang="en-AU" sz="2000" dirty="0" smtClean="0"/>
              <a:t> </a:t>
            </a:r>
            <a:r>
              <a:rPr lang="en-AU" sz="2000" baseline="30000" dirty="0" smtClean="0"/>
              <a:t>2</a:t>
            </a:r>
            <a:r>
              <a:rPr lang="en-AU" sz="2000" dirty="0" smtClean="0"/>
              <a:t> =  </a:t>
            </a:r>
            <a:r>
              <a:rPr lang="en-AU" sz="2000" i="1" dirty="0" smtClean="0"/>
              <a:t>b</a:t>
            </a:r>
            <a:r>
              <a:rPr lang="en-AU" sz="2000" baseline="30000" dirty="0" smtClean="0"/>
              <a:t>2</a:t>
            </a:r>
            <a:r>
              <a:rPr lang="en-AU" sz="2000" i="1" dirty="0" smtClean="0"/>
              <a:t>  +  c</a:t>
            </a:r>
            <a:r>
              <a:rPr lang="en-AU" sz="2000" baseline="30000" dirty="0" smtClean="0"/>
              <a:t>2</a:t>
            </a:r>
            <a:r>
              <a:rPr lang="en-AU" sz="2000" i="1" dirty="0" smtClean="0"/>
              <a:t>  – 2bc </a:t>
            </a:r>
            <a:r>
              <a:rPr lang="en-AU" sz="2000" dirty="0" err="1" smtClean="0"/>
              <a:t>cos</a:t>
            </a:r>
            <a:r>
              <a:rPr lang="en-AU" sz="2000" i="1" dirty="0" smtClean="0"/>
              <a:t> A  </a:t>
            </a:r>
            <a:endParaRPr lang="en-US" sz="2000" dirty="0"/>
          </a:p>
        </p:txBody>
      </p:sp>
      <p:sp>
        <p:nvSpPr>
          <p:cNvPr id="20" name="TextBox 19"/>
          <p:cNvSpPr txBox="1"/>
          <p:nvPr/>
        </p:nvSpPr>
        <p:spPr>
          <a:xfrm>
            <a:off x="683568" y="4541058"/>
            <a:ext cx="3060848" cy="400110"/>
          </a:xfrm>
          <a:prstGeom prst="rect">
            <a:avLst/>
          </a:prstGeom>
          <a:noFill/>
          <a:ln w="34925">
            <a:solidFill>
              <a:srgbClr val="FF0000"/>
            </a:solidFill>
          </a:ln>
        </p:spPr>
        <p:txBody>
          <a:bodyPr wrap="square" rtlCol="0">
            <a:spAutoFit/>
          </a:bodyPr>
          <a:lstStyle/>
          <a:p>
            <a:pPr algn="ctr"/>
            <a:r>
              <a:rPr lang="en-AU" sz="2000" i="1" dirty="0" smtClean="0"/>
              <a:t>b</a:t>
            </a:r>
            <a:r>
              <a:rPr lang="en-AU" sz="2000" baseline="30000" dirty="0" smtClean="0"/>
              <a:t>2</a:t>
            </a:r>
            <a:r>
              <a:rPr lang="en-AU" sz="2000" dirty="0" smtClean="0"/>
              <a:t> =  </a:t>
            </a:r>
            <a:r>
              <a:rPr lang="en-AU" sz="2000" i="1" dirty="0" smtClean="0"/>
              <a:t>a</a:t>
            </a:r>
            <a:r>
              <a:rPr lang="en-AU" sz="2000" baseline="30000" dirty="0" smtClean="0"/>
              <a:t>2</a:t>
            </a:r>
            <a:r>
              <a:rPr lang="en-AU" sz="2000" i="1" dirty="0" smtClean="0"/>
              <a:t>  +  c</a:t>
            </a:r>
            <a:r>
              <a:rPr lang="en-AU" sz="2000" baseline="30000" dirty="0" smtClean="0"/>
              <a:t>2</a:t>
            </a:r>
            <a:r>
              <a:rPr lang="en-AU" sz="2000" i="1" dirty="0" smtClean="0"/>
              <a:t>  – 2ac </a:t>
            </a:r>
            <a:r>
              <a:rPr lang="en-AU" sz="2000" dirty="0" err="1" smtClean="0"/>
              <a:t>cos</a:t>
            </a:r>
            <a:r>
              <a:rPr lang="en-AU" sz="2000" i="1" dirty="0" smtClean="0"/>
              <a:t> B  </a:t>
            </a:r>
            <a:endParaRPr lang="en-US" sz="2000" dirty="0"/>
          </a:p>
        </p:txBody>
      </p:sp>
      <p:graphicFrame>
        <p:nvGraphicFramePr>
          <p:cNvPr id="38916" name="Object 4"/>
          <p:cNvGraphicFramePr>
            <a:graphicFrameLocks noChangeAspect="1"/>
          </p:cNvGraphicFramePr>
          <p:nvPr/>
        </p:nvGraphicFramePr>
        <p:xfrm>
          <a:off x="5868144" y="4005436"/>
          <a:ext cx="1925638" cy="647700"/>
        </p:xfrm>
        <a:graphic>
          <a:graphicData uri="http://schemas.openxmlformats.org/presentationml/2006/ole">
            <p:oleObj spid="_x0000_s38916" name="Equation" r:id="rId4" imgW="1244520" imgH="419040" progId="Equation.3">
              <p:embed/>
            </p:oleObj>
          </a:graphicData>
        </a:graphic>
      </p:graphicFrame>
      <p:graphicFrame>
        <p:nvGraphicFramePr>
          <p:cNvPr id="38917" name="Object 5"/>
          <p:cNvGraphicFramePr>
            <a:graphicFrameLocks noChangeAspect="1"/>
          </p:cNvGraphicFramePr>
          <p:nvPr/>
        </p:nvGraphicFramePr>
        <p:xfrm>
          <a:off x="5868144" y="4941540"/>
          <a:ext cx="1925638" cy="647700"/>
        </p:xfrm>
        <a:graphic>
          <a:graphicData uri="http://schemas.openxmlformats.org/presentationml/2006/ole">
            <p:oleObj spid="_x0000_s38917" name="Equation" r:id="rId5" imgW="1244520" imgH="419040" progId="Equation.3">
              <p:embed/>
            </p:oleObj>
          </a:graphicData>
        </a:graphic>
      </p:graphicFrame>
      <p:sp>
        <p:nvSpPr>
          <p:cNvPr id="24" name="TextBox 23"/>
          <p:cNvSpPr txBox="1"/>
          <p:nvPr/>
        </p:nvSpPr>
        <p:spPr>
          <a:xfrm>
            <a:off x="755576" y="5805264"/>
            <a:ext cx="7632848" cy="923330"/>
          </a:xfrm>
          <a:prstGeom prst="rect">
            <a:avLst/>
          </a:prstGeom>
          <a:noFill/>
        </p:spPr>
        <p:txBody>
          <a:bodyPr wrap="square" rtlCol="0">
            <a:spAutoFit/>
          </a:bodyPr>
          <a:lstStyle/>
          <a:p>
            <a:pPr algn="ctr"/>
            <a:r>
              <a:rPr lang="en-AU" dirty="0" smtClean="0"/>
              <a:t>Make sure you familiarise yourself with how the </a:t>
            </a:r>
            <a:r>
              <a:rPr lang="en-AU" b="1" dirty="0" smtClean="0"/>
              <a:t>PATTERNS</a:t>
            </a:r>
            <a:r>
              <a:rPr lang="en-AU" dirty="0" smtClean="0"/>
              <a:t> in these configurations work. Also remember each formula on the left is just a rearrangement of its corresponding formula on the right.</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008" y="620688"/>
            <a:ext cx="8928992" cy="769441"/>
          </a:xfrm>
          <a:prstGeom prst="rect">
            <a:avLst/>
          </a:prstGeom>
          <a:noFill/>
        </p:spPr>
        <p:txBody>
          <a:bodyPr wrap="square" lIns="91440" tIns="45720" rIns="91440" bIns="45720">
            <a:spAutoFit/>
          </a:bodyPr>
          <a:lstStyle/>
          <a:p>
            <a:pPr algn="ctr"/>
            <a:r>
              <a:rPr lang="en-US" sz="44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The Cosine Rule - Summary</a:t>
            </a:r>
            <a:endParaRPr lang="en-US" sz="4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6" name="TextBox 5"/>
          <p:cNvSpPr txBox="1"/>
          <p:nvPr/>
        </p:nvSpPr>
        <p:spPr>
          <a:xfrm>
            <a:off x="611560" y="1628800"/>
            <a:ext cx="7920880" cy="369332"/>
          </a:xfrm>
          <a:prstGeom prst="rect">
            <a:avLst/>
          </a:prstGeom>
          <a:noFill/>
        </p:spPr>
        <p:txBody>
          <a:bodyPr wrap="square" rtlCol="0">
            <a:spAutoFit/>
          </a:bodyPr>
          <a:lstStyle/>
          <a:p>
            <a:pPr>
              <a:buFont typeface="Arial" pitchFamily="34" charset="0"/>
              <a:buChar char="•"/>
            </a:pPr>
            <a:r>
              <a:rPr lang="en-AU" dirty="0" smtClean="0"/>
              <a:t>  To use the Cosine Rule to </a:t>
            </a:r>
            <a:r>
              <a:rPr lang="en-AU" b="1" dirty="0" smtClean="0">
                <a:solidFill>
                  <a:srgbClr val="FF0000"/>
                </a:solidFill>
              </a:rPr>
              <a:t>find an angle </a:t>
            </a:r>
            <a:r>
              <a:rPr lang="en-AU" dirty="0" smtClean="0"/>
              <a:t>you must be given all three sides</a:t>
            </a:r>
            <a:endParaRPr lang="en-US" dirty="0"/>
          </a:p>
        </p:txBody>
      </p:sp>
      <p:sp>
        <p:nvSpPr>
          <p:cNvPr id="8" name="TextBox 7"/>
          <p:cNvSpPr txBox="1"/>
          <p:nvPr/>
        </p:nvSpPr>
        <p:spPr>
          <a:xfrm>
            <a:off x="611560" y="2996952"/>
            <a:ext cx="7920880" cy="646331"/>
          </a:xfrm>
          <a:prstGeom prst="rect">
            <a:avLst/>
          </a:prstGeom>
          <a:noFill/>
        </p:spPr>
        <p:txBody>
          <a:bodyPr wrap="square" rtlCol="0">
            <a:spAutoFit/>
          </a:bodyPr>
          <a:lstStyle/>
          <a:p>
            <a:pPr>
              <a:buFont typeface="Arial" pitchFamily="34" charset="0"/>
              <a:buChar char="•"/>
            </a:pPr>
            <a:r>
              <a:rPr lang="en-AU" dirty="0" smtClean="0"/>
              <a:t>  When deciding whether to use the Sine Rule or the Cosine Rule, always </a:t>
            </a:r>
            <a:r>
              <a:rPr lang="en-AU" b="1" dirty="0" smtClean="0">
                <a:solidFill>
                  <a:srgbClr val="FF0000"/>
                </a:solidFill>
              </a:rPr>
              <a:t>try the Sine Rule first</a:t>
            </a:r>
            <a:r>
              <a:rPr lang="en-AU" dirty="0" smtClean="0"/>
              <a:t>, as it is easier (only one formula to deal with). </a:t>
            </a:r>
            <a:endParaRPr lang="en-US" dirty="0"/>
          </a:p>
        </p:txBody>
      </p:sp>
      <p:sp>
        <p:nvSpPr>
          <p:cNvPr id="16" name="TextBox 15"/>
          <p:cNvSpPr txBox="1"/>
          <p:nvPr/>
        </p:nvSpPr>
        <p:spPr>
          <a:xfrm>
            <a:off x="611560" y="2204864"/>
            <a:ext cx="7920880" cy="646331"/>
          </a:xfrm>
          <a:prstGeom prst="rect">
            <a:avLst/>
          </a:prstGeom>
          <a:noFill/>
        </p:spPr>
        <p:txBody>
          <a:bodyPr wrap="square" rtlCol="0">
            <a:spAutoFit/>
          </a:bodyPr>
          <a:lstStyle/>
          <a:p>
            <a:pPr>
              <a:buFont typeface="Arial" pitchFamily="34" charset="0"/>
              <a:buChar char="•"/>
            </a:pPr>
            <a:r>
              <a:rPr lang="en-AU" dirty="0" smtClean="0"/>
              <a:t>  To use the Cosine Rule to </a:t>
            </a:r>
            <a:r>
              <a:rPr lang="en-AU" b="1" dirty="0" smtClean="0">
                <a:solidFill>
                  <a:srgbClr val="FF0000"/>
                </a:solidFill>
              </a:rPr>
              <a:t>find a side </a:t>
            </a:r>
            <a:r>
              <a:rPr lang="en-AU" dirty="0" smtClean="0"/>
              <a:t>you must be given the other two sides and their included angle.</a:t>
            </a:r>
            <a:endParaRPr lang="en-US" dirty="0"/>
          </a:p>
        </p:txBody>
      </p:sp>
      <p:sp>
        <p:nvSpPr>
          <p:cNvPr id="17" name="TextBox 16"/>
          <p:cNvSpPr txBox="1"/>
          <p:nvPr/>
        </p:nvSpPr>
        <p:spPr>
          <a:xfrm>
            <a:off x="611560" y="3862789"/>
            <a:ext cx="7920880" cy="923330"/>
          </a:xfrm>
          <a:prstGeom prst="rect">
            <a:avLst/>
          </a:prstGeom>
          <a:noFill/>
        </p:spPr>
        <p:txBody>
          <a:bodyPr wrap="square" rtlCol="0">
            <a:spAutoFit/>
          </a:bodyPr>
          <a:lstStyle/>
          <a:p>
            <a:pPr>
              <a:buFont typeface="Arial" pitchFamily="34" charset="0"/>
              <a:buChar char="•"/>
            </a:pPr>
            <a:r>
              <a:rPr lang="en-AU" dirty="0" smtClean="0"/>
              <a:t>  When dealing with angles in the range 90</a:t>
            </a:r>
            <a:r>
              <a:rPr lang="en-AU" dirty="0" smtClean="0">
                <a:sym typeface="Symbol"/>
              </a:rPr>
              <a:t></a:t>
            </a:r>
            <a:r>
              <a:rPr lang="en-AU" dirty="0" smtClean="0"/>
              <a:t> &lt; </a:t>
            </a:r>
            <a:r>
              <a:rPr lang="en-AU" dirty="0" smtClean="0">
                <a:sym typeface="Symbol"/>
              </a:rPr>
              <a:t> &lt; 180, i.e. </a:t>
            </a:r>
            <a:r>
              <a:rPr lang="en-AU" b="1" dirty="0" smtClean="0">
                <a:sym typeface="Symbol"/>
              </a:rPr>
              <a:t>OBTUSE ANGLES, </a:t>
            </a:r>
            <a:r>
              <a:rPr lang="en-AU" dirty="0" smtClean="0">
                <a:sym typeface="Symbol"/>
              </a:rPr>
              <a:t>remember that their </a:t>
            </a:r>
            <a:r>
              <a:rPr lang="en-AU" b="1" dirty="0" smtClean="0">
                <a:solidFill>
                  <a:srgbClr val="FF0000"/>
                </a:solidFill>
                <a:sym typeface="Symbol"/>
              </a:rPr>
              <a:t>cosines are negative</a:t>
            </a:r>
            <a:r>
              <a:rPr lang="en-AU" dirty="0" smtClean="0">
                <a:sym typeface="Symbol"/>
              </a:rPr>
              <a:t>. This does not apply to their sines – they are still positive.</a:t>
            </a:r>
            <a:r>
              <a:rPr lang="en-AU" dirty="0" smtClean="0"/>
              <a:t> </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476672"/>
            <a:ext cx="7920880" cy="584775"/>
          </a:xfrm>
          <a:prstGeom prst="rect">
            <a:avLst/>
          </a:prstGeom>
          <a:noFill/>
        </p:spPr>
        <p:txBody>
          <a:bodyPr wrap="square" rtlCol="0">
            <a:spAutoFit/>
          </a:bodyPr>
          <a:lstStyle/>
          <a:p>
            <a:r>
              <a:rPr lang="en-AU" sz="3200" dirty="0" smtClean="0">
                <a:solidFill>
                  <a:srgbClr val="FF0000"/>
                </a:solidFill>
              </a:rPr>
              <a:t>Mixed examples – which rule to use? </a:t>
            </a:r>
            <a:endParaRPr lang="en-US" sz="3200" dirty="0">
              <a:solidFill>
                <a:srgbClr val="FF0000"/>
              </a:solidFill>
            </a:endParaRPr>
          </a:p>
        </p:txBody>
      </p:sp>
      <p:sp>
        <p:nvSpPr>
          <p:cNvPr id="3" name="TextBox 2"/>
          <p:cNvSpPr txBox="1"/>
          <p:nvPr/>
        </p:nvSpPr>
        <p:spPr>
          <a:xfrm>
            <a:off x="611560" y="1124744"/>
            <a:ext cx="7920880" cy="646331"/>
          </a:xfrm>
          <a:prstGeom prst="rect">
            <a:avLst/>
          </a:prstGeom>
          <a:noFill/>
        </p:spPr>
        <p:txBody>
          <a:bodyPr wrap="square" rtlCol="0">
            <a:spAutoFit/>
          </a:bodyPr>
          <a:lstStyle/>
          <a:p>
            <a:r>
              <a:rPr lang="en-AU" dirty="0" smtClean="0"/>
              <a:t>Study each of these diagrams and determine which rule to use – Sine Rule or Cosine Rule? If Cosine Rule, which version? </a:t>
            </a:r>
            <a:r>
              <a:rPr lang="en-AU" dirty="0" smtClean="0">
                <a:solidFill>
                  <a:srgbClr val="0000FF"/>
                </a:solidFill>
              </a:rPr>
              <a:t>Answers &amp; working on next slides.</a:t>
            </a:r>
            <a:endParaRPr lang="en-US" dirty="0">
              <a:solidFill>
                <a:srgbClr val="0000FF"/>
              </a:solidFill>
            </a:endParaRPr>
          </a:p>
        </p:txBody>
      </p:sp>
      <p:grpSp>
        <p:nvGrpSpPr>
          <p:cNvPr id="48" name="Group 47"/>
          <p:cNvGrpSpPr/>
          <p:nvPr/>
        </p:nvGrpSpPr>
        <p:grpSpPr>
          <a:xfrm>
            <a:off x="827584" y="2132856"/>
            <a:ext cx="2952328" cy="1809492"/>
            <a:chOff x="827584" y="2132856"/>
            <a:chExt cx="2952328" cy="1809492"/>
          </a:xfrm>
        </p:grpSpPr>
        <p:sp>
          <p:nvSpPr>
            <p:cNvPr id="4" name="Isosceles Triangle 3"/>
            <p:cNvSpPr/>
            <p:nvPr/>
          </p:nvSpPr>
          <p:spPr>
            <a:xfrm rot="20441215">
              <a:off x="827584" y="2132856"/>
              <a:ext cx="2592288" cy="1584176"/>
            </a:xfrm>
            <a:prstGeom prst="triangle">
              <a:avLst>
                <a:gd name="adj" fmla="val 7319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2267744" y="2780928"/>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A</a:t>
              </a:r>
              <a:endParaRPr lang="en-US" sz="2000" b="1" dirty="0">
                <a:solidFill>
                  <a:srgbClr val="FF0000"/>
                </a:solidFill>
                <a:latin typeface="Arial" pitchFamily="34" charset="0"/>
                <a:cs typeface="Arial" pitchFamily="34" charset="0"/>
              </a:endParaRPr>
            </a:p>
          </p:txBody>
        </p:sp>
        <p:sp>
          <p:nvSpPr>
            <p:cNvPr id="24" name="TextBox 23"/>
            <p:cNvSpPr txBox="1"/>
            <p:nvPr/>
          </p:nvSpPr>
          <p:spPr>
            <a:xfrm>
              <a:off x="1331640" y="3573016"/>
              <a:ext cx="576064" cy="369332"/>
            </a:xfrm>
            <a:prstGeom prst="rect">
              <a:avLst/>
            </a:prstGeom>
            <a:noFill/>
          </p:spPr>
          <p:txBody>
            <a:bodyPr wrap="square" rtlCol="0">
              <a:spAutoFit/>
            </a:bodyPr>
            <a:lstStyle/>
            <a:p>
              <a:r>
                <a:rPr lang="en-AU" dirty="0" smtClean="0"/>
                <a:t>35</a:t>
              </a:r>
              <a:r>
                <a:rPr lang="en-AU" dirty="0" smtClean="0">
                  <a:sym typeface="Symbol"/>
                </a:rPr>
                <a:t></a:t>
              </a:r>
              <a:endParaRPr lang="en-US" dirty="0"/>
            </a:p>
          </p:txBody>
        </p:sp>
        <p:sp>
          <p:nvSpPr>
            <p:cNvPr id="25" name="TextBox 24"/>
            <p:cNvSpPr txBox="1"/>
            <p:nvPr/>
          </p:nvSpPr>
          <p:spPr>
            <a:xfrm>
              <a:off x="3059832" y="2924944"/>
              <a:ext cx="576064" cy="369332"/>
            </a:xfrm>
            <a:prstGeom prst="rect">
              <a:avLst/>
            </a:prstGeom>
            <a:noFill/>
          </p:spPr>
          <p:txBody>
            <a:bodyPr wrap="square" rtlCol="0">
              <a:spAutoFit/>
            </a:bodyPr>
            <a:lstStyle/>
            <a:p>
              <a:r>
                <a:rPr lang="en-AU" dirty="0" smtClean="0">
                  <a:sym typeface="Symbol"/>
                </a:rPr>
                <a:t>71</a:t>
              </a:r>
              <a:endParaRPr lang="en-US" dirty="0"/>
            </a:p>
          </p:txBody>
        </p:sp>
        <p:sp>
          <p:nvSpPr>
            <p:cNvPr id="26" name="TextBox 25"/>
            <p:cNvSpPr txBox="1"/>
            <p:nvPr/>
          </p:nvSpPr>
          <p:spPr>
            <a:xfrm>
              <a:off x="1403648" y="2636912"/>
              <a:ext cx="576064" cy="369332"/>
            </a:xfrm>
            <a:prstGeom prst="rect">
              <a:avLst/>
            </a:prstGeom>
            <a:noFill/>
          </p:spPr>
          <p:txBody>
            <a:bodyPr wrap="square" rtlCol="0">
              <a:spAutoFit/>
            </a:bodyPr>
            <a:lstStyle/>
            <a:p>
              <a:r>
                <a:rPr lang="en-AU" i="1" dirty="0" smtClean="0"/>
                <a:t>x </a:t>
              </a:r>
              <a:r>
                <a:rPr lang="en-AU" i="1" dirty="0" err="1" smtClean="0"/>
                <a:t>m</a:t>
              </a:r>
              <a:endParaRPr lang="en-US" i="1" dirty="0"/>
            </a:p>
          </p:txBody>
        </p:sp>
        <p:sp>
          <p:nvSpPr>
            <p:cNvPr id="27" name="TextBox 26"/>
            <p:cNvSpPr txBox="1"/>
            <p:nvPr/>
          </p:nvSpPr>
          <p:spPr>
            <a:xfrm>
              <a:off x="2987824" y="2348880"/>
              <a:ext cx="792088" cy="369332"/>
            </a:xfrm>
            <a:prstGeom prst="rect">
              <a:avLst/>
            </a:prstGeom>
            <a:noFill/>
          </p:spPr>
          <p:txBody>
            <a:bodyPr wrap="square" rtlCol="0">
              <a:spAutoFit/>
            </a:bodyPr>
            <a:lstStyle/>
            <a:p>
              <a:r>
                <a:rPr lang="en-AU" dirty="0" smtClean="0"/>
                <a:t>16</a:t>
              </a:r>
              <a:r>
                <a:rPr lang="en-AU" i="1" dirty="0" smtClean="0"/>
                <a:t> </a:t>
              </a:r>
              <a:r>
                <a:rPr lang="en-AU" i="1" dirty="0" err="1" smtClean="0"/>
                <a:t>m</a:t>
              </a:r>
              <a:endParaRPr lang="en-US" i="1" dirty="0"/>
            </a:p>
          </p:txBody>
        </p:sp>
      </p:grpSp>
      <p:grpSp>
        <p:nvGrpSpPr>
          <p:cNvPr id="52" name="Group 51"/>
          <p:cNvGrpSpPr/>
          <p:nvPr/>
        </p:nvGrpSpPr>
        <p:grpSpPr>
          <a:xfrm>
            <a:off x="2960828" y="4317155"/>
            <a:ext cx="2835308" cy="1584176"/>
            <a:chOff x="2960828" y="4317155"/>
            <a:chExt cx="2835308" cy="1584176"/>
          </a:xfrm>
        </p:grpSpPr>
        <p:sp>
          <p:nvSpPr>
            <p:cNvPr id="16" name="Isosceles Triangle 15"/>
            <p:cNvSpPr/>
            <p:nvPr/>
          </p:nvSpPr>
          <p:spPr>
            <a:xfrm rot="20441215">
              <a:off x="2960828" y="4317155"/>
              <a:ext cx="2592288" cy="1584176"/>
            </a:xfrm>
            <a:prstGeom prst="triangle">
              <a:avLst>
                <a:gd name="adj" fmla="val 73194"/>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499992" y="4941168"/>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E</a:t>
              </a:r>
              <a:endParaRPr lang="en-US" sz="2000" b="1" dirty="0">
                <a:solidFill>
                  <a:srgbClr val="FF0000"/>
                </a:solidFill>
                <a:latin typeface="Arial" pitchFamily="34" charset="0"/>
                <a:cs typeface="Arial" pitchFamily="34" charset="0"/>
              </a:endParaRPr>
            </a:p>
          </p:txBody>
        </p:sp>
        <p:sp>
          <p:nvSpPr>
            <p:cNvPr id="28" name="TextBox 27"/>
            <p:cNvSpPr txBox="1"/>
            <p:nvPr/>
          </p:nvSpPr>
          <p:spPr>
            <a:xfrm>
              <a:off x="4355976" y="4365104"/>
              <a:ext cx="576064" cy="369332"/>
            </a:xfrm>
            <a:prstGeom prst="rect">
              <a:avLst/>
            </a:prstGeom>
            <a:noFill/>
          </p:spPr>
          <p:txBody>
            <a:bodyPr wrap="square" rtlCol="0">
              <a:spAutoFit/>
            </a:bodyPr>
            <a:lstStyle/>
            <a:p>
              <a:r>
                <a:rPr lang="en-AU" dirty="0" smtClean="0">
                  <a:sym typeface="Symbol"/>
                </a:rPr>
                <a:t></a:t>
              </a:r>
              <a:endParaRPr lang="en-US" dirty="0"/>
            </a:p>
          </p:txBody>
        </p:sp>
        <p:sp>
          <p:nvSpPr>
            <p:cNvPr id="29" name="TextBox 28"/>
            <p:cNvSpPr txBox="1"/>
            <p:nvPr/>
          </p:nvSpPr>
          <p:spPr>
            <a:xfrm>
              <a:off x="5148064" y="5157192"/>
              <a:ext cx="576064" cy="369332"/>
            </a:xfrm>
            <a:prstGeom prst="rect">
              <a:avLst/>
            </a:prstGeom>
            <a:noFill/>
          </p:spPr>
          <p:txBody>
            <a:bodyPr wrap="square" rtlCol="0">
              <a:spAutoFit/>
            </a:bodyPr>
            <a:lstStyle/>
            <a:p>
              <a:r>
                <a:rPr lang="en-AU" dirty="0" smtClean="0">
                  <a:sym typeface="Symbol"/>
                </a:rPr>
                <a:t>80</a:t>
              </a:r>
              <a:endParaRPr lang="en-US" dirty="0"/>
            </a:p>
          </p:txBody>
        </p:sp>
        <p:sp>
          <p:nvSpPr>
            <p:cNvPr id="30" name="TextBox 29"/>
            <p:cNvSpPr txBox="1"/>
            <p:nvPr/>
          </p:nvSpPr>
          <p:spPr>
            <a:xfrm>
              <a:off x="3491880" y="4787860"/>
              <a:ext cx="720080" cy="369332"/>
            </a:xfrm>
            <a:prstGeom prst="rect">
              <a:avLst/>
            </a:prstGeom>
            <a:noFill/>
          </p:spPr>
          <p:txBody>
            <a:bodyPr wrap="square" rtlCol="0">
              <a:spAutoFit/>
            </a:bodyPr>
            <a:lstStyle/>
            <a:p>
              <a:r>
                <a:rPr lang="en-AU" dirty="0" smtClean="0"/>
                <a:t>9</a:t>
              </a:r>
              <a:r>
                <a:rPr lang="en-AU" i="1" dirty="0" smtClean="0"/>
                <a:t> cm</a:t>
              </a:r>
              <a:endParaRPr lang="en-US" i="1" dirty="0"/>
            </a:p>
          </p:txBody>
        </p:sp>
        <p:sp>
          <p:nvSpPr>
            <p:cNvPr id="31" name="TextBox 30"/>
            <p:cNvSpPr txBox="1"/>
            <p:nvPr/>
          </p:nvSpPr>
          <p:spPr>
            <a:xfrm>
              <a:off x="5004048" y="4437112"/>
              <a:ext cx="792088" cy="369332"/>
            </a:xfrm>
            <a:prstGeom prst="rect">
              <a:avLst/>
            </a:prstGeom>
            <a:noFill/>
          </p:spPr>
          <p:txBody>
            <a:bodyPr wrap="square" rtlCol="0">
              <a:spAutoFit/>
            </a:bodyPr>
            <a:lstStyle/>
            <a:p>
              <a:r>
                <a:rPr lang="en-AU" dirty="0" smtClean="0"/>
                <a:t>6</a:t>
              </a:r>
              <a:r>
                <a:rPr lang="en-AU" i="1" dirty="0" smtClean="0"/>
                <a:t> cm</a:t>
              </a:r>
              <a:endParaRPr lang="en-US" i="1" dirty="0"/>
            </a:p>
          </p:txBody>
        </p:sp>
      </p:grpSp>
      <p:grpSp>
        <p:nvGrpSpPr>
          <p:cNvPr id="50" name="Group 49"/>
          <p:cNvGrpSpPr/>
          <p:nvPr/>
        </p:nvGrpSpPr>
        <p:grpSpPr>
          <a:xfrm>
            <a:off x="7020272" y="2204864"/>
            <a:ext cx="1872208" cy="2304256"/>
            <a:chOff x="7020272" y="2204864"/>
            <a:chExt cx="1872208" cy="2304256"/>
          </a:xfrm>
        </p:grpSpPr>
        <p:grpSp>
          <p:nvGrpSpPr>
            <p:cNvPr id="14" name="Group 13"/>
            <p:cNvGrpSpPr/>
            <p:nvPr/>
          </p:nvGrpSpPr>
          <p:grpSpPr>
            <a:xfrm>
              <a:off x="7020272" y="2204864"/>
              <a:ext cx="1224136" cy="2304256"/>
              <a:chOff x="7452320" y="2420888"/>
              <a:chExt cx="1224136" cy="2304256"/>
            </a:xfrm>
            <a:effectLst>
              <a:outerShdw blurRad="50800" dist="50800" dir="5400000" algn="ctr" rotWithShape="0">
                <a:schemeClr val="accent3"/>
              </a:outerShdw>
            </a:effectLst>
          </p:grpSpPr>
          <p:cxnSp>
            <p:nvCxnSpPr>
              <p:cNvPr id="9" name="Straight Connector 8"/>
              <p:cNvCxnSpPr/>
              <p:nvPr/>
            </p:nvCxnSpPr>
            <p:spPr>
              <a:xfrm>
                <a:off x="7452320" y="2420888"/>
                <a:ext cx="1224136"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452320" y="2420888"/>
                <a:ext cx="1152128" cy="2304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8604448" y="3140968"/>
                <a:ext cx="72008" cy="158417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668344" y="3172906"/>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C</a:t>
              </a:r>
              <a:endParaRPr lang="en-US" sz="2000" b="1" dirty="0">
                <a:solidFill>
                  <a:srgbClr val="FF0000"/>
                </a:solidFill>
                <a:latin typeface="Arial" pitchFamily="34" charset="0"/>
                <a:cs typeface="Arial" pitchFamily="34" charset="0"/>
              </a:endParaRPr>
            </a:p>
          </p:txBody>
        </p:sp>
        <p:sp>
          <p:nvSpPr>
            <p:cNvPr id="32" name="TextBox 31"/>
            <p:cNvSpPr txBox="1"/>
            <p:nvPr/>
          </p:nvSpPr>
          <p:spPr>
            <a:xfrm>
              <a:off x="7812360" y="3789040"/>
              <a:ext cx="576064" cy="369332"/>
            </a:xfrm>
            <a:prstGeom prst="rect">
              <a:avLst/>
            </a:prstGeom>
            <a:noFill/>
          </p:spPr>
          <p:txBody>
            <a:bodyPr wrap="square" rtlCol="0">
              <a:spAutoFit/>
            </a:bodyPr>
            <a:lstStyle/>
            <a:p>
              <a:r>
                <a:rPr lang="en-AU" dirty="0" smtClean="0">
                  <a:sym typeface="Symbol"/>
                </a:rPr>
                <a:t>29</a:t>
              </a:r>
              <a:endParaRPr lang="en-US" dirty="0"/>
            </a:p>
          </p:txBody>
        </p:sp>
        <p:sp>
          <p:nvSpPr>
            <p:cNvPr id="33" name="TextBox 32"/>
            <p:cNvSpPr txBox="1"/>
            <p:nvPr/>
          </p:nvSpPr>
          <p:spPr>
            <a:xfrm>
              <a:off x="7749730" y="2831032"/>
              <a:ext cx="576064" cy="369332"/>
            </a:xfrm>
            <a:prstGeom prst="rect">
              <a:avLst/>
            </a:prstGeom>
            <a:noFill/>
          </p:spPr>
          <p:txBody>
            <a:bodyPr wrap="square" rtlCol="0">
              <a:spAutoFit/>
            </a:bodyPr>
            <a:lstStyle/>
            <a:p>
              <a:r>
                <a:rPr lang="en-AU" dirty="0" smtClean="0">
                  <a:sym typeface="Symbol"/>
                </a:rPr>
                <a:t>119</a:t>
              </a:r>
              <a:endParaRPr lang="en-US" dirty="0"/>
            </a:p>
          </p:txBody>
        </p:sp>
        <p:sp>
          <p:nvSpPr>
            <p:cNvPr id="34" name="TextBox 33"/>
            <p:cNvSpPr txBox="1"/>
            <p:nvPr/>
          </p:nvSpPr>
          <p:spPr>
            <a:xfrm>
              <a:off x="8172400" y="3356992"/>
              <a:ext cx="720080" cy="369332"/>
            </a:xfrm>
            <a:prstGeom prst="rect">
              <a:avLst/>
            </a:prstGeom>
            <a:noFill/>
          </p:spPr>
          <p:txBody>
            <a:bodyPr wrap="square" rtlCol="0">
              <a:spAutoFit/>
            </a:bodyPr>
            <a:lstStyle/>
            <a:p>
              <a:r>
                <a:rPr lang="en-AU" i="1" dirty="0" smtClean="0"/>
                <a:t>x cm</a:t>
              </a:r>
              <a:endParaRPr lang="en-US" i="1" dirty="0"/>
            </a:p>
          </p:txBody>
        </p:sp>
        <p:sp>
          <p:nvSpPr>
            <p:cNvPr id="35" name="TextBox 34"/>
            <p:cNvSpPr txBox="1"/>
            <p:nvPr/>
          </p:nvSpPr>
          <p:spPr>
            <a:xfrm>
              <a:off x="7524328" y="2276872"/>
              <a:ext cx="792088" cy="369332"/>
            </a:xfrm>
            <a:prstGeom prst="rect">
              <a:avLst/>
            </a:prstGeom>
            <a:noFill/>
          </p:spPr>
          <p:txBody>
            <a:bodyPr wrap="square" rtlCol="0">
              <a:spAutoFit/>
            </a:bodyPr>
            <a:lstStyle/>
            <a:p>
              <a:r>
                <a:rPr lang="en-AU" dirty="0" smtClean="0"/>
                <a:t>12</a:t>
              </a:r>
              <a:r>
                <a:rPr lang="en-AU" i="1" dirty="0" smtClean="0"/>
                <a:t> cm</a:t>
              </a:r>
              <a:endParaRPr lang="en-US" i="1" dirty="0"/>
            </a:p>
          </p:txBody>
        </p:sp>
      </p:grpSp>
      <p:grpSp>
        <p:nvGrpSpPr>
          <p:cNvPr id="49" name="Group 48"/>
          <p:cNvGrpSpPr/>
          <p:nvPr/>
        </p:nvGrpSpPr>
        <p:grpSpPr>
          <a:xfrm>
            <a:off x="4139952" y="1844824"/>
            <a:ext cx="2016224" cy="2016224"/>
            <a:chOff x="4139952" y="1844824"/>
            <a:chExt cx="2016224" cy="2016224"/>
          </a:xfrm>
        </p:grpSpPr>
        <p:sp>
          <p:nvSpPr>
            <p:cNvPr id="6" name="Isosceles Triangle 5"/>
            <p:cNvSpPr/>
            <p:nvPr/>
          </p:nvSpPr>
          <p:spPr>
            <a:xfrm rot="10800000">
              <a:off x="4283968" y="2204864"/>
              <a:ext cx="1368152" cy="1656184"/>
            </a:xfrm>
            <a:prstGeom prst="triangle">
              <a:avLst>
                <a:gd name="adj" fmla="val 2802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932040" y="2492896"/>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B</a:t>
              </a:r>
              <a:endParaRPr lang="en-US" sz="2000" b="1" dirty="0">
                <a:solidFill>
                  <a:srgbClr val="FF0000"/>
                </a:solidFill>
                <a:latin typeface="Arial" pitchFamily="34" charset="0"/>
                <a:cs typeface="Arial" pitchFamily="34" charset="0"/>
              </a:endParaRPr>
            </a:p>
          </p:txBody>
        </p:sp>
        <p:sp>
          <p:nvSpPr>
            <p:cNvPr id="36" name="TextBox 35"/>
            <p:cNvSpPr txBox="1"/>
            <p:nvPr/>
          </p:nvSpPr>
          <p:spPr>
            <a:xfrm>
              <a:off x="5076056" y="3356992"/>
              <a:ext cx="576064" cy="369332"/>
            </a:xfrm>
            <a:prstGeom prst="rect">
              <a:avLst/>
            </a:prstGeom>
            <a:noFill/>
          </p:spPr>
          <p:txBody>
            <a:bodyPr wrap="square" rtlCol="0">
              <a:spAutoFit/>
            </a:bodyPr>
            <a:lstStyle/>
            <a:p>
              <a:r>
                <a:rPr lang="en-AU" dirty="0" smtClean="0">
                  <a:sym typeface="Symbol"/>
                </a:rPr>
                <a:t></a:t>
              </a:r>
              <a:endParaRPr lang="en-US" dirty="0"/>
            </a:p>
          </p:txBody>
        </p:sp>
        <p:sp>
          <p:nvSpPr>
            <p:cNvPr id="37" name="TextBox 36"/>
            <p:cNvSpPr txBox="1"/>
            <p:nvPr/>
          </p:nvSpPr>
          <p:spPr>
            <a:xfrm>
              <a:off x="4139952" y="2708920"/>
              <a:ext cx="936104" cy="369332"/>
            </a:xfrm>
            <a:prstGeom prst="rect">
              <a:avLst/>
            </a:prstGeom>
            <a:noFill/>
          </p:spPr>
          <p:txBody>
            <a:bodyPr wrap="square" rtlCol="0">
              <a:spAutoFit/>
            </a:bodyPr>
            <a:lstStyle/>
            <a:p>
              <a:r>
                <a:rPr lang="en-AU" dirty="0" smtClean="0"/>
                <a:t>14</a:t>
              </a:r>
              <a:r>
                <a:rPr lang="en-AU" i="1" dirty="0" smtClean="0"/>
                <a:t> cm</a:t>
              </a:r>
              <a:endParaRPr lang="en-US" i="1" dirty="0"/>
            </a:p>
          </p:txBody>
        </p:sp>
        <p:sp>
          <p:nvSpPr>
            <p:cNvPr id="38" name="TextBox 37"/>
            <p:cNvSpPr txBox="1"/>
            <p:nvPr/>
          </p:nvSpPr>
          <p:spPr>
            <a:xfrm>
              <a:off x="4716016" y="1844824"/>
              <a:ext cx="792088" cy="369332"/>
            </a:xfrm>
            <a:prstGeom prst="rect">
              <a:avLst/>
            </a:prstGeom>
            <a:noFill/>
          </p:spPr>
          <p:txBody>
            <a:bodyPr wrap="square" rtlCol="0">
              <a:spAutoFit/>
            </a:bodyPr>
            <a:lstStyle/>
            <a:p>
              <a:r>
                <a:rPr lang="en-AU" dirty="0" smtClean="0"/>
                <a:t>10</a:t>
              </a:r>
              <a:r>
                <a:rPr lang="en-AU" i="1" dirty="0" smtClean="0"/>
                <a:t> cm</a:t>
              </a:r>
              <a:endParaRPr lang="en-US" i="1" dirty="0"/>
            </a:p>
          </p:txBody>
        </p:sp>
        <p:sp>
          <p:nvSpPr>
            <p:cNvPr id="39" name="TextBox 38"/>
            <p:cNvSpPr txBox="1"/>
            <p:nvPr/>
          </p:nvSpPr>
          <p:spPr>
            <a:xfrm>
              <a:off x="5364088" y="2708920"/>
              <a:ext cx="792088" cy="369332"/>
            </a:xfrm>
            <a:prstGeom prst="rect">
              <a:avLst/>
            </a:prstGeom>
            <a:noFill/>
          </p:spPr>
          <p:txBody>
            <a:bodyPr wrap="square" rtlCol="0">
              <a:spAutoFit/>
            </a:bodyPr>
            <a:lstStyle/>
            <a:p>
              <a:r>
                <a:rPr lang="en-AU" dirty="0" smtClean="0"/>
                <a:t>12</a:t>
              </a:r>
              <a:r>
                <a:rPr lang="en-AU" i="1" dirty="0" smtClean="0"/>
                <a:t> cm</a:t>
              </a:r>
              <a:endParaRPr lang="en-US" i="1" dirty="0"/>
            </a:p>
          </p:txBody>
        </p:sp>
      </p:grpSp>
      <p:grpSp>
        <p:nvGrpSpPr>
          <p:cNvPr id="51" name="Group 50"/>
          <p:cNvGrpSpPr/>
          <p:nvPr/>
        </p:nvGrpSpPr>
        <p:grpSpPr>
          <a:xfrm>
            <a:off x="1043608" y="4437112"/>
            <a:ext cx="2160240" cy="1800200"/>
            <a:chOff x="1043608" y="4437112"/>
            <a:chExt cx="2160240" cy="1800200"/>
          </a:xfrm>
        </p:grpSpPr>
        <p:sp>
          <p:nvSpPr>
            <p:cNvPr id="15" name="Isosceles Triangle 14"/>
            <p:cNvSpPr/>
            <p:nvPr/>
          </p:nvSpPr>
          <p:spPr>
            <a:xfrm rot="9162334">
              <a:off x="1043608" y="4653136"/>
              <a:ext cx="2016224" cy="1584176"/>
            </a:xfrm>
            <a:prstGeom prst="triangle">
              <a:avLst>
                <a:gd name="adj" fmla="val 60071"/>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691680" y="5013176"/>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D</a:t>
              </a:r>
              <a:endParaRPr lang="en-US" sz="2000" b="1" dirty="0">
                <a:solidFill>
                  <a:srgbClr val="FF0000"/>
                </a:solidFill>
                <a:latin typeface="Arial" pitchFamily="34" charset="0"/>
                <a:cs typeface="Arial" pitchFamily="34" charset="0"/>
              </a:endParaRPr>
            </a:p>
          </p:txBody>
        </p:sp>
        <p:sp>
          <p:nvSpPr>
            <p:cNvPr id="40" name="TextBox 39"/>
            <p:cNvSpPr txBox="1"/>
            <p:nvPr/>
          </p:nvSpPr>
          <p:spPr>
            <a:xfrm>
              <a:off x="1835696" y="5733256"/>
              <a:ext cx="576064" cy="369332"/>
            </a:xfrm>
            <a:prstGeom prst="rect">
              <a:avLst/>
            </a:prstGeom>
            <a:noFill/>
          </p:spPr>
          <p:txBody>
            <a:bodyPr wrap="square" rtlCol="0">
              <a:spAutoFit/>
            </a:bodyPr>
            <a:lstStyle/>
            <a:p>
              <a:r>
                <a:rPr lang="en-AU" dirty="0" smtClean="0">
                  <a:sym typeface="Symbol"/>
                </a:rPr>
                <a:t>67</a:t>
              </a:r>
              <a:endParaRPr lang="en-US" dirty="0"/>
            </a:p>
          </p:txBody>
        </p:sp>
        <p:sp>
          <p:nvSpPr>
            <p:cNvPr id="41" name="TextBox 40"/>
            <p:cNvSpPr txBox="1"/>
            <p:nvPr/>
          </p:nvSpPr>
          <p:spPr>
            <a:xfrm>
              <a:off x="1331640" y="4437112"/>
              <a:ext cx="576064" cy="369332"/>
            </a:xfrm>
            <a:prstGeom prst="rect">
              <a:avLst/>
            </a:prstGeom>
            <a:noFill/>
          </p:spPr>
          <p:txBody>
            <a:bodyPr wrap="square" rtlCol="0">
              <a:spAutoFit/>
            </a:bodyPr>
            <a:lstStyle/>
            <a:p>
              <a:r>
                <a:rPr lang="en-AU" i="1" dirty="0" smtClean="0"/>
                <a:t>x </a:t>
              </a:r>
              <a:r>
                <a:rPr lang="en-AU" i="1" dirty="0" err="1" smtClean="0"/>
                <a:t>m</a:t>
              </a:r>
              <a:endParaRPr lang="en-US" i="1" dirty="0"/>
            </a:p>
          </p:txBody>
        </p:sp>
        <p:sp>
          <p:nvSpPr>
            <p:cNvPr id="42" name="TextBox 41"/>
            <p:cNvSpPr txBox="1"/>
            <p:nvPr/>
          </p:nvSpPr>
          <p:spPr>
            <a:xfrm>
              <a:off x="1187624" y="5661248"/>
              <a:ext cx="792088" cy="369332"/>
            </a:xfrm>
            <a:prstGeom prst="rect">
              <a:avLst/>
            </a:prstGeom>
            <a:noFill/>
          </p:spPr>
          <p:txBody>
            <a:bodyPr wrap="square" rtlCol="0">
              <a:spAutoFit/>
            </a:bodyPr>
            <a:lstStyle/>
            <a:p>
              <a:r>
                <a:rPr lang="en-AU" dirty="0" smtClean="0"/>
                <a:t>11</a:t>
              </a:r>
              <a:r>
                <a:rPr lang="en-AU" i="1" dirty="0" smtClean="0"/>
                <a:t> </a:t>
              </a:r>
              <a:r>
                <a:rPr lang="en-AU" i="1" dirty="0" err="1" smtClean="0"/>
                <a:t>m</a:t>
              </a:r>
              <a:endParaRPr lang="en-US" i="1" dirty="0"/>
            </a:p>
          </p:txBody>
        </p:sp>
        <p:sp>
          <p:nvSpPr>
            <p:cNvPr id="43" name="TextBox 42"/>
            <p:cNvSpPr txBox="1"/>
            <p:nvPr/>
          </p:nvSpPr>
          <p:spPr>
            <a:xfrm>
              <a:off x="2411760" y="5085184"/>
              <a:ext cx="792088" cy="369332"/>
            </a:xfrm>
            <a:prstGeom prst="rect">
              <a:avLst/>
            </a:prstGeom>
            <a:noFill/>
          </p:spPr>
          <p:txBody>
            <a:bodyPr wrap="square" rtlCol="0">
              <a:spAutoFit/>
            </a:bodyPr>
            <a:lstStyle/>
            <a:p>
              <a:r>
                <a:rPr lang="en-AU" dirty="0" smtClean="0"/>
                <a:t>13</a:t>
              </a:r>
              <a:r>
                <a:rPr lang="en-AU" i="1" dirty="0" smtClean="0"/>
                <a:t> </a:t>
              </a:r>
              <a:r>
                <a:rPr lang="en-AU" i="1" dirty="0" err="1" smtClean="0"/>
                <a:t>m</a:t>
              </a:r>
              <a:endParaRPr lang="en-US" i="1" dirty="0"/>
            </a:p>
          </p:txBody>
        </p:sp>
      </p:grpSp>
      <p:grpSp>
        <p:nvGrpSpPr>
          <p:cNvPr id="53" name="Group 52"/>
          <p:cNvGrpSpPr/>
          <p:nvPr/>
        </p:nvGrpSpPr>
        <p:grpSpPr>
          <a:xfrm>
            <a:off x="6228184" y="3813099"/>
            <a:ext cx="2448272" cy="2592288"/>
            <a:chOff x="6228184" y="3813099"/>
            <a:chExt cx="2448272" cy="2592288"/>
          </a:xfrm>
        </p:grpSpPr>
        <p:sp>
          <p:nvSpPr>
            <p:cNvPr id="17" name="Isosceles Triangle 16"/>
            <p:cNvSpPr/>
            <p:nvPr/>
          </p:nvSpPr>
          <p:spPr>
            <a:xfrm rot="5400000">
              <a:off x="6516216" y="4317155"/>
              <a:ext cx="2592288" cy="1584176"/>
            </a:xfrm>
            <a:prstGeom prst="triangle">
              <a:avLst>
                <a:gd name="adj" fmla="val 7319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7452320" y="5229200"/>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F</a:t>
              </a:r>
              <a:endParaRPr lang="en-US" sz="2000" b="1" dirty="0">
                <a:solidFill>
                  <a:srgbClr val="FF0000"/>
                </a:solidFill>
                <a:latin typeface="Arial" pitchFamily="34" charset="0"/>
                <a:cs typeface="Arial" pitchFamily="34" charset="0"/>
              </a:endParaRPr>
            </a:p>
          </p:txBody>
        </p:sp>
        <p:sp>
          <p:nvSpPr>
            <p:cNvPr id="44" name="TextBox 43"/>
            <p:cNvSpPr txBox="1"/>
            <p:nvPr/>
          </p:nvSpPr>
          <p:spPr>
            <a:xfrm>
              <a:off x="7020272" y="4293096"/>
              <a:ext cx="576064" cy="369332"/>
            </a:xfrm>
            <a:prstGeom prst="rect">
              <a:avLst/>
            </a:prstGeom>
            <a:noFill/>
          </p:spPr>
          <p:txBody>
            <a:bodyPr wrap="square" rtlCol="0">
              <a:spAutoFit/>
            </a:bodyPr>
            <a:lstStyle/>
            <a:p>
              <a:r>
                <a:rPr lang="en-AU" dirty="0" smtClean="0">
                  <a:sym typeface="Symbol"/>
                </a:rPr>
                <a:t>33</a:t>
              </a:r>
              <a:endParaRPr lang="en-US" dirty="0"/>
            </a:p>
          </p:txBody>
        </p:sp>
        <p:sp>
          <p:nvSpPr>
            <p:cNvPr id="45" name="TextBox 44"/>
            <p:cNvSpPr txBox="1"/>
            <p:nvPr/>
          </p:nvSpPr>
          <p:spPr>
            <a:xfrm>
              <a:off x="7812360" y="5949280"/>
              <a:ext cx="792088" cy="369332"/>
            </a:xfrm>
            <a:prstGeom prst="rect">
              <a:avLst/>
            </a:prstGeom>
            <a:noFill/>
          </p:spPr>
          <p:txBody>
            <a:bodyPr wrap="square" rtlCol="0">
              <a:spAutoFit/>
            </a:bodyPr>
            <a:lstStyle/>
            <a:p>
              <a:r>
                <a:rPr lang="en-AU" dirty="0" smtClean="0"/>
                <a:t>9 </a:t>
              </a:r>
              <a:r>
                <a:rPr lang="en-AU" i="1" dirty="0" smtClean="0"/>
                <a:t>cm</a:t>
              </a:r>
              <a:endParaRPr lang="en-US" dirty="0"/>
            </a:p>
          </p:txBody>
        </p:sp>
        <p:sp>
          <p:nvSpPr>
            <p:cNvPr id="46" name="TextBox 45"/>
            <p:cNvSpPr txBox="1"/>
            <p:nvPr/>
          </p:nvSpPr>
          <p:spPr>
            <a:xfrm>
              <a:off x="7956376" y="4653136"/>
              <a:ext cx="720080" cy="369332"/>
            </a:xfrm>
            <a:prstGeom prst="rect">
              <a:avLst/>
            </a:prstGeom>
            <a:noFill/>
          </p:spPr>
          <p:txBody>
            <a:bodyPr wrap="square" rtlCol="0">
              <a:spAutoFit/>
            </a:bodyPr>
            <a:lstStyle/>
            <a:p>
              <a:r>
                <a:rPr lang="en-AU" i="1" dirty="0" smtClean="0"/>
                <a:t>x cm</a:t>
              </a:r>
              <a:endParaRPr lang="en-US" i="1" dirty="0"/>
            </a:p>
          </p:txBody>
        </p:sp>
        <p:sp>
          <p:nvSpPr>
            <p:cNvPr id="47" name="TextBox 46"/>
            <p:cNvSpPr txBox="1"/>
            <p:nvPr/>
          </p:nvSpPr>
          <p:spPr>
            <a:xfrm>
              <a:off x="6228184" y="4797152"/>
              <a:ext cx="792088" cy="369332"/>
            </a:xfrm>
            <a:prstGeom prst="rect">
              <a:avLst/>
            </a:prstGeom>
            <a:noFill/>
          </p:spPr>
          <p:txBody>
            <a:bodyPr wrap="square" rtlCol="0">
              <a:spAutoFit/>
            </a:bodyPr>
            <a:lstStyle/>
            <a:p>
              <a:r>
                <a:rPr lang="en-AU" dirty="0" smtClean="0"/>
                <a:t>12</a:t>
              </a:r>
              <a:r>
                <a:rPr lang="en-AU" i="1" dirty="0" smtClean="0"/>
                <a:t> cm</a:t>
              </a:r>
              <a:endParaRPr lang="en-US" i="1" dirty="0"/>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79512" y="1412776"/>
            <a:ext cx="2952328" cy="1809492"/>
            <a:chOff x="827584" y="2132856"/>
            <a:chExt cx="2952328" cy="1809492"/>
          </a:xfrm>
        </p:grpSpPr>
        <p:sp>
          <p:nvSpPr>
            <p:cNvPr id="3" name="Isosceles Triangle 2"/>
            <p:cNvSpPr/>
            <p:nvPr/>
          </p:nvSpPr>
          <p:spPr>
            <a:xfrm rot="20441215">
              <a:off x="827584" y="2132856"/>
              <a:ext cx="2592288" cy="1584176"/>
            </a:xfrm>
            <a:prstGeom prst="triangle">
              <a:avLst>
                <a:gd name="adj" fmla="val 7319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267744" y="2780928"/>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A</a:t>
              </a:r>
              <a:endParaRPr lang="en-US" sz="2000" b="1" dirty="0">
                <a:solidFill>
                  <a:srgbClr val="FF0000"/>
                </a:solidFill>
                <a:latin typeface="Arial" pitchFamily="34" charset="0"/>
                <a:cs typeface="Arial" pitchFamily="34" charset="0"/>
              </a:endParaRPr>
            </a:p>
          </p:txBody>
        </p:sp>
        <p:sp>
          <p:nvSpPr>
            <p:cNvPr id="5" name="TextBox 4"/>
            <p:cNvSpPr txBox="1"/>
            <p:nvPr/>
          </p:nvSpPr>
          <p:spPr>
            <a:xfrm>
              <a:off x="1331640" y="3573016"/>
              <a:ext cx="576064" cy="369332"/>
            </a:xfrm>
            <a:prstGeom prst="rect">
              <a:avLst/>
            </a:prstGeom>
            <a:noFill/>
          </p:spPr>
          <p:txBody>
            <a:bodyPr wrap="square" rtlCol="0">
              <a:spAutoFit/>
            </a:bodyPr>
            <a:lstStyle/>
            <a:p>
              <a:r>
                <a:rPr lang="en-AU" dirty="0" smtClean="0"/>
                <a:t>35</a:t>
              </a:r>
              <a:r>
                <a:rPr lang="en-AU" dirty="0" smtClean="0">
                  <a:sym typeface="Symbol"/>
                </a:rPr>
                <a:t></a:t>
              </a:r>
              <a:endParaRPr lang="en-US" dirty="0"/>
            </a:p>
          </p:txBody>
        </p:sp>
        <p:sp>
          <p:nvSpPr>
            <p:cNvPr id="6" name="TextBox 5"/>
            <p:cNvSpPr txBox="1"/>
            <p:nvPr/>
          </p:nvSpPr>
          <p:spPr>
            <a:xfrm>
              <a:off x="3059832" y="2924944"/>
              <a:ext cx="576064" cy="369332"/>
            </a:xfrm>
            <a:prstGeom prst="rect">
              <a:avLst/>
            </a:prstGeom>
            <a:noFill/>
          </p:spPr>
          <p:txBody>
            <a:bodyPr wrap="square" rtlCol="0">
              <a:spAutoFit/>
            </a:bodyPr>
            <a:lstStyle/>
            <a:p>
              <a:r>
                <a:rPr lang="en-AU" dirty="0" smtClean="0">
                  <a:sym typeface="Symbol"/>
                </a:rPr>
                <a:t>71</a:t>
              </a:r>
              <a:endParaRPr lang="en-US" dirty="0"/>
            </a:p>
          </p:txBody>
        </p:sp>
        <p:sp>
          <p:nvSpPr>
            <p:cNvPr id="7" name="TextBox 6"/>
            <p:cNvSpPr txBox="1"/>
            <p:nvPr/>
          </p:nvSpPr>
          <p:spPr>
            <a:xfrm>
              <a:off x="1403648" y="2636912"/>
              <a:ext cx="576064" cy="369332"/>
            </a:xfrm>
            <a:prstGeom prst="rect">
              <a:avLst/>
            </a:prstGeom>
            <a:noFill/>
          </p:spPr>
          <p:txBody>
            <a:bodyPr wrap="square" rtlCol="0">
              <a:spAutoFit/>
            </a:bodyPr>
            <a:lstStyle/>
            <a:p>
              <a:r>
                <a:rPr lang="en-AU" i="1" dirty="0" smtClean="0"/>
                <a:t>x </a:t>
              </a:r>
              <a:r>
                <a:rPr lang="en-AU" i="1" dirty="0" err="1" smtClean="0"/>
                <a:t>m</a:t>
              </a:r>
              <a:endParaRPr lang="en-US" i="1" dirty="0"/>
            </a:p>
          </p:txBody>
        </p:sp>
        <p:sp>
          <p:nvSpPr>
            <p:cNvPr id="8" name="TextBox 7"/>
            <p:cNvSpPr txBox="1"/>
            <p:nvPr/>
          </p:nvSpPr>
          <p:spPr>
            <a:xfrm>
              <a:off x="2987824" y="2348880"/>
              <a:ext cx="792088" cy="369332"/>
            </a:xfrm>
            <a:prstGeom prst="rect">
              <a:avLst/>
            </a:prstGeom>
            <a:noFill/>
          </p:spPr>
          <p:txBody>
            <a:bodyPr wrap="square" rtlCol="0">
              <a:spAutoFit/>
            </a:bodyPr>
            <a:lstStyle/>
            <a:p>
              <a:r>
                <a:rPr lang="en-AU" dirty="0" smtClean="0"/>
                <a:t>16</a:t>
              </a:r>
              <a:r>
                <a:rPr lang="en-AU" i="1" dirty="0" smtClean="0"/>
                <a:t> </a:t>
              </a:r>
              <a:r>
                <a:rPr lang="en-AU" i="1" dirty="0" err="1" smtClean="0"/>
                <a:t>m</a:t>
              </a:r>
              <a:endParaRPr lang="en-US" i="1" dirty="0"/>
            </a:p>
          </p:txBody>
        </p:sp>
      </p:grpSp>
      <p:sp>
        <p:nvSpPr>
          <p:cNvPr id="9" name="TextBox 8"/>
          <p:cNvSpPr txBox="1"/>
          <p:nvPr/>
        </p:nvSpPr>
        <p:spPr>
          <a:xfrm>
            <a:off x="395536" y="548680"/>
            <a:ext cx="1800200" cy="461665"/>
          </a:xfrm>
          <a:prstGeom prst="rect">
            <a:avLst/>
          </a:prstGeom>
          <a:noFill/>
        </p:spPr>
        <p:txBody>
          <a:bodyPr wrap="square" rtlCol="0">
            <a:spAutoFit/>
          </a:bodyPr>
          <a:lstStyle/>
          <a:p>
            <a:r>
              <a:rPr lang="en-AU" sz="2400" dirty="0" smtClean="0">
                <a:solidFill>
                  <a:srgbClr val="0000FF"/>
                </a:solidFill>
              </a:rPr>
              <a:t>Example 10</a:t>
            </a:r>
            <a:endParaRPr lang="en-US" sz="2400" dirty="0">
              <a:solidFill>
                <a:srgbClr val="0000FF"/>
              </a:solidFill>
            </a:endParaRPr>
          </a:p>
        </p:txBody>
      </p:sp>
      <p:sp>
        <p:nvSpPr>
          <p:cNvPr id="10" name="TextBox 9"/>
          <p:cNvSpPr txBox="1"/>
          <p:nvPr/>
        </p:nvSpPr>
        <p:spPr>
          <a:xfrm>
            <a:off x="3275856" y="1196752"/>
            <a:ext cx="5040560" cy="369332"/>
          </a:xfrm>
          <a:prstGeom prst="rect">
            <a:avLst/>
          </a:prstGeom>
          <a:noFill/>
        </p:spPr>
        <p:txBody>
          <a:bodyPr wrap="square" rtlCol="0">
            <a:spAutoFit/>
          </a:bodyPr>
          <a:lstStyle/>
          <a:p>
            <a:r>
              <a:rPr lang="en-AU" dirty="0" smtClean="0"/>
              <a:t>First check to see if we can use the Sine Rule.</a:t>
            </a:r>
            <a:endParaRPr lang="en-US" dirty="0"/>
          </a:p>
        </p:txBody>
      </p:sp>
      <p:sp>
        <p:nvSpPr>
          <p:cNvPr id="11" name="TextBox 10"/>
          <p:cNvSpPr txBox="1"/>
          <p:nvPr/>
        </p:nvSpPr>
        <p:spPr>
          <a:xfrm>
            <a:off x="3347864" y="1844824"/>
            <a:ext cx="5616624" cy="1200329"/>
          </a:xfrm>
          <a:prstGeom prst="rect">
            <a:avLst/>
          </a:prstGeom>
          <a:noFill/>
        </p:spPr>
        <p:txBody>
          <a:bodyPr wrap="square" rtlCol="0">
            <a:spAutoFit/>
          </a:bodyPr>
          <a:lstStyle/>
          <a:p>
            <a:r>
              <a:rPr lang="en-AU" dirty="0" smtClean="0"/>
              <a:t>We have a given angle and opposite side (35</a:t>
            </a:r>
            <a:r>
              <a:rPr lang="en-AU" dirty="0" smtClean="0">
                <a:sym typeface="Symbol"/>
              </a:rPr>
              <a:t></a:t>
            </a:r>
            <a:r>
              <a:rPr lang="en-AU" dirty="0" smtClean="0"/>
              <a:t> and 16</a:t>
            </a:r>
            <a:r>
              <a:rPr lang="en-AU" i="1" dirty="0" smtClean="0"/>
              <a:t>m</a:t>
            </a:r>
            <a:r>
              <a:rPr lang="en-AU" dirty="0" smtClean="0"/>
              <a:t>), and the unknown </a:t>
            </a:r>
            <a:r>
              <a:rPr lang="en-AU" i="1" dirty="0" smtClean="0"/>
              <a:t>x</a:t>
            </a:r>
            <a:r>
              <a:rPr lang="en-AU" dirty="0" smtClean="0"/>
              <a:t> and the other given (71</a:t>
            </a:r>
            <a:r>
              <a:rPr lang="en-AU" dirty="0" smtClean="0">
                <a:sym typeface="Symbol"/>
              </a:rPr>
              <a:t>) also form a matching angle and opposite pair. So we can use the </a:t>
            </a:r>
            <a:r>
              <a:rPr lang="en-AU" b="1" dirty="0" smtClean="0">
                <a:solidFill>
                  <a:srgbClr val="FF0000"/>
                </a:solidFill>
                <a:sym typeface="Symbol"/>
              </a:rPr>
              <a:t>SINE RULE</a:t>
            </a:r>
            <a:endParaRPr lang="en-US" i="1" dirty="0">
              <a:solidFill>
                <a:srgbClr val="FF0000"/>
              </a:solidFill>
            </a:endParaRPr>
          </a:p>
        </p:txBody>
      </p:sp>
      <p:graphicFrame>
        <p:nvGraphicFramePr>
          <p:cNvPr id="40962" name="Object 2"/>
          <p:cNvGraphicFramePr>
            <a:graphicFrameLocks noChangeAspect="1"/>
          </p:cNvGraphicFramePr>
          <p:nvPr/>
        </p:nvGraphicFramePr>
        <p:xfrm>
          <a:off x="2699792" y="3284984"/>
          <a:ext cx="1655762" cy="766763"/>
        </p:xfrm>
        <a:graphic>
          <a:graphicData uri="http://schemas.openxmlformats.org/presentationml/2006/ole">
            <p:oleObj spid="_x0000_s40962" name="Equation" r:id="rId3" imgW="850680" imgH="393480" progId="Equation.3">
              <p:embed/>
            </p:oleObj>
          </a:graphicData>
        </a:graphic>
      </p:graphicFrame>
      <p:graphicFrame>
        <p:nvGraphicFramePr>
          <p:cNvPr id="40963" name="Object 3"/>
          <p:cNvGraphicFramePr>
            <a:graphicFrameLocks noChangeAspect="1"/>
          </p:cNvGraphicFramePr>
          <p:nvPr/>
        </p:nvGraphicFramePr>
        <p:xfrm>
          <a:off x="2490788" y="4175125"/>
          <a:ext cx="2074862" cy="766763"/>
        </p:xfrm>
        <a:graphic>
          <a:graphicData uri="http://schemas.openxmlformats.org/presentationml/2006/ole">
            <p:oleObj spid="_x0000_s40963" name="Equation" r:id="rId4" imgW="1066680" imgH="393480" progId="Equation.3">
              <p:embed/>
            </p:oleObj>
          </a:graphicData>
        </a:graphic>
      </p:graphicFrame>
      <p:graphicFrame>
        <p:nvGraphicFramePr>
          <p:cNvPr id="40964" name="Object 4"/>
          <p:cNvGraphicFramePr>
            <a:graphicFrameLocks noChangeAspect="1"/>
          </p:cNvGraphicFramePr>
          <p:nvPr/>
        </p:nvGraphicFramePr>
        <p:xfrm>
          <a:off x="3252465" y="5038501"/>
          <a:ext cx="1679575" cy="766763"/>
        </p:xfrm>
        <a:graphic>
          <a:graphicData uri="http://schemas.openxmlformats.org/presentationml/2006/ole">
            <p:oleObj spid="_x0000_s40964" name="Equation" r:id="rId5" imgW="863280" imgH="393480" progId="Equation.3">
              <p:embed/>
            </p:oleObj>
          </a:graphicData>
        </a:graphic>
      </p:graphicFrame>
      <p:graphicFrame>
        <p:nvGraphicFramePr>
          <p:cNvPr id="40965" name="Object 5"/>
          <p:cNvGraphicFramePr>
            <a:graphicFrameLocks noChangeAspect="1"/>
          </p:cNvGraphicFramePr>
          <p:nvPr/>
        </p:nvGraphicFramePr>
        <p:xfrm>
          <a:off x="3275856" y="5895975"/>
          <a:ext cx="1211262" cy="346075"/>
        </p:xfrm>
        <a:graphic>
          <a:graphicData uri="http://schemas.openxmlformats.org/presentationml/2006/ole">
            <p:oleObj spid="_x0000_s40965" name="Equation" r:id="rId6" imgW="622080" imgH="177480" progId="Equation.3">
              <p:embed/>
            </p:oleObj>
          </a:graphicData>
        </a:graphic>
      </p:graphicFrame>
      <p:sp>
        <p:nvSpPr>
          <p:cNvPr id="16" name="TextBox 15"/>
          <p:cNvSpPr txBox="1"/>
          <p:nvPr/>
        </p:nvSpPr>
        <p:spPr>
          <a:xfrm>
            <a:off x="4572000" y="5877272"/>
            <a:ext cx="1512168" cy="369332"/>
          </a:xfrm>
          <a:prstGeom prst="rect">
            <a:avLst/>
          </a:prstGeom>
          <a:noFill/>
        </p:spPr>
        <p:txBody>
          <a:bodyPr wrap="square" rtlCol="0">
            <a:spAutoFit/>
          </a:bodyPr>
          <a:lstStyle/>
          <a:p>
            <a:r>
              <a:rPr lang="en-AU" dirty="0" smtClean="0"/>
              <a:t>to two </a:t>
            </a:r>
            <a:r>
              <a:rPr lang="en-AU" dirty="0" err="1" smtClean="0"/>
              <a:t>dec</a:t>
            </a:r>
            <a:r>
              <a:rPr lang="en-AU" dirty="0" smtClean="0"/>
              <a:t> pl.</a:t>
            </a:r>
            <a:endParaRPr lang="en-US" dirty="0"/>
          </a:p>
        </p:txBody>
      </p:sp>
      <p:sp>
        <p:nvSpPr>
          <p:cNvPr id="17" name="TextBox 16"/>
          <p:cNvSpPr txBox="1"/>
          <p:nvPr/>
        </p:nvSpPr>
        <p:spPr>
          <a:xfrm>
            <a:off x="5652120" y="3861048"/>
            <a:ext cx="3096344" cy="1384995"/>
          </a:xfrm>
          <a:prstGeom prst="rect">
            <a:avLst/>
          </a:prstGeom>
          <a:noFill/>
        </p:spPr>
        <p:txBody>
          <a:bodyPr wrap="square" rtlCol="0">
            <a:spAutoFit/>
          </a:bodyPr>
          <a:lstStyle/>
          <a:p>
            <a:r>
              <a:rPr lang="en-AU" sz="2800" dirty="0" err="1" smtClean="0">
                <a:solidFill>
                  <a:srgbClr val="006600"/>
                </a:solidFill>
              </a:rPr>
              <a:t>Ans</a:t>
            </a:r>
            <a:r>
              <a:rPr lang="en-AU" sz="2800" dirty="0" smtClean="0">
                <a:solidFill>
                  <a:srgbClr val="006600"/>
                </a:solidFill>
              </a:rPr>
              <a:t>: the length of side </a:t>
            </a:r>
            <a:r>
              <a:rPr lang="en-AU" sz="2800" i="1" dirty="0" smtClean="0">
                <a:solidFill>
                  <a:srgbClr val="006600"/>
                </a:solidFill>
              </a:rPr>
              <a:t>x</a:t>
            </a:r>
            <a:r>
              <a:rPr lang="en-AU" sz="2800" dirty="0" smtClean="0">
                <a:solidFill>
                  <a:srgbClr val="006600"/>
                </a:solidFill>
              </a:rPr>
              <a:t> is 26.38 </a:t>
            </a:r>
            <a:r>
              <a:rPr lang="en-AU" sz="2800" i="1" dirty="0" err="1" smtClean="0">
                <a:solidFill>
                  <a:srgbClr val="006600"/>
                </a:solidFill>
              </a:rPr>
              <a:t>m</a:t>
            </a:r>
            <a:r>
              <a:rPr lang="en-AU" sz="2800" dirty="0" smtClean="0">
                <a:solidFill>
                  <a:srgbClr val="006600"/>
                </a:solidFill>
              </a:rPr>
              <a:t> approximately.</a:t>
            </a:r>
            <a:endParaRPr lang="en-US" sz="2800" dirty="0">
              <a:solidFill>
                <a:srgbClr val="006600"/>
              </a:solidFill>
            </a:endParaRPr>
          </a:p>
        </p:txBody>
      </p:sp>
      <p:sp>
        <p:nvSpPr>
          <p:cNvPr id="18" name="TextBox 17"/>
          <p:cNvSpPr txBox="1"/>
          <p:nvPr/>
        </p:nvSpPr>
        <p:spPr>
          <a:xfrm>
            <a:off x="6444208" y="5805264"/>
            <a:ext cx="2232248" cy="830997"/>
          </a:xfrm>
          <a:prstGeom prst="rect">
            <a:avLst/>
          </a:prstGeom>
          <a:noFill/>
        </p:spPr>
        <p:txBody>
          <a:bodyPr wrap="square" rtlCol="0">
            <a:spAutoFit/>
          </a:bodyPr>
          <a:lstStyle/>
          <a:p>
            <a:r>
              <a:rPr lang="en-AU" sz="1600" b="1" dirty="0" smtClean="0">
                <a:solidFill>
                  <a:srgbClr val="FF0000"/>
                </a:solidFill>
                <a:latin typeface="Arial" pitchFamily="34" charset="0"/>
                <a:cs typeface="Arial" pitchFamily="34" charset="0"/>
              </a:rPr>
              <a:t>Remember to check appropriateness of your answer!</a:t>
            </a:r>
            <a:endParaRPr lang="en-US" sz="1600" b="1" dirty="0">
              <a:solidFill>
                <a:srgbClr val="FF0000"/>
              </a:solidFill>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par>
                          <p:cTn id="13" fill="hold">
                            <p:stCondLst>
                              <p:cond delay="2000"/>
                            </p:stCondLst>
                            <p:childTnLst>
                              <p:par>
                                <p:cTn id="14" presetID="8" presetClass="entr" presetSubtype="16" fill="hold" nodeType="afterEffect">
                                  <p:stCondLst>
                                    <p:cond delay="0"/>
                                  </p:stCondLst>
                                  <p:childTnLst>
                                    <p:set>
                                      <p:cBhvr>
                                        <p:cTn id="15" dur="1" fill="hold">
                                          <p:stCondLst>
                                            <p:cond delay="0"/>
                                          </p:stCondLst>
                                        </p:cTn>
                                        <p:tgtEl>
                                          <p:spTgt spid="40962"/>
                                        </p:tgtEl>
                                        <p:attrNameLst>
                                          <p:attrName>style.visibility</p:attrName>
                                        </p:attrNameLst>
                                      </p:cBhvr>
                                      <p:to>
                                        <p:strVal val="visible"/>
                                      </p:to>
                                    </p:set>
                                    <p:animEffect transition="in" filter="diamond(in)">
                                      <p:cBhvr>
                                        <p:cTn id="16" dur="2000"/>
                                        <p:tgtEl>
                                          <p:spTgt spid="40962"/>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40963"/>
                                        </p:tgtEl>
                                        <p:attrNameLst>
                                          <p:attrName>style.visibility</p:attrName>
                                        </p:attrNameLst>
                                      </p:cBhvr>
                                      <p:to>
                                        <p:strVal val="visible"/>
                                      </p:to>
                                    </p:set>
                                    <p:animEffect transition="in" filter="diamond(in)">
                                      <p:cBhvr>
                                        <p:cTn id="21" dur="2000"/>
                                        <p:tgtEl>
                                          <p:spTgt spid="40963"/>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40964"/>
                                        </p:tgtEl>
                                        <p:attrNameLst>
                                          <p:attrName>style.visibility</p:attrName>
                                        </p:attrNameLst>
                                      </p:cBhvr>
                                      <p:to>
                                        <p:strVal val="visible"/>
                                      </p:to>
                                    </p:set>
                                    <p:animEffect transition="in" filter="diamond(in)">
                                      <p:cBhvr>
                                        <p:cTn id="26" dur="2000"/>
                                        <p:tgtEl>
                                          <p:spTgt spid="40964"/>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diamond(in)">
                                      <p:cBhvr>
                                        <p:cTn id="31" dur="2000"/>
                                        <p:tgtEl>
                                          <p:spTgt spid="16"/>
                                        </p:tgtEl>
                                      </p:cBhvr>
                                    </p:animEffect>
                                  </p:childTnLst>
                                </p:cTn>
                              </p:par>
                              <p:par>
                                <p:cTn id="32" presetID="8" presetClass="entr" presetSubtype="16" fill="hold" nodeType="withEffect">
                                  <p:stCondLst>
                                    <p:cond delay="0"/>
                                  </p:stCondLst>
                                  <p:childTnLst>
                                    <p:set>
                                      <p:cBhvr>
                                        <p:cTn id="33" dur="1" fill="hold">
                                          <p:stCondLst>
                                            <p:cond delay="0"/>
                                          </p:stCondLst>
                                        </p:cTn>
                                        <p:tgtEl>
                                          <p:spTgt spid="40965"/>
                                        </p:tgtEl>
                                        <p:attrNameLst>
                                          <p:attrName>style.visibility</p:attrName>
                                        </p:attrNameLst>
                                      </p:cBhvr>
                                      <p:to>
                                        <p:strVal val="visible"/>
                                      </p:to>
                                    </p:set>
                                    <p:animEffect transition="in" filter="diamond(in)">
                                      <p:cBhvr>
                                        <p:cTn id="34" dur="2000"/>
                                        <p:tgtEl>
                                          <p:spTgt spid="40965"/>
                                        </p:tgtEl>
                                      </p:cBhvr>
                                    </p:animEffect>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diamond(in)">
                                      <p:cBhvr>
                                        <p:cTn id="39" dur="2000"/>
                                        <p:tgtEl>
                                          <p:spTgt spid="17"/>
                                        </p:tgtEl>
                                      </p:cBhvr>
                                    </p:animEffect>
                                  </p:childTnLst>
                                </p:cTn>
                              </p:par>
                            </p:childTnLst>
                          </p:cTn>
                        </p:par>
                        <p:par>
                          <p:cTn id="40" fill="hold">
                            <p:stCondLst>
                              <p:cond delay="2000"/>
                            </p:stCondLst>
                            <p:childTnLst>
                              <p:par>
                                <p:cTn id="41" presetID="2" presetClass="entr" presetSubtype="9"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3000" fill="hold"/>
                                        <p:tgtEl>
                                          <p:spTgt spid="18"/>
                                        </p:tgtEl>
                                        <p:attrNameLst>
                                          <p:attrName>ppt_x</p:attrName>
                                        </p:attrNameLst>
                                      </p:cBhvr>
                                      <p:tavLst>
                                        <p:tav tm="0">
                                          <p:val>
                                            <p:strVal val="0-#ppt_w/2"/>
                                          </p:val>
                                        </p:tav>
                                        <p:tav tm="100000">
                                          <p:val>
                                            <p:strVal val="#ppt_x"/>
                                          </p:val>
                                        </p:tav>
                                      </p:tavLst>
                                    </p:anim>
                                    <p:anim calcmode="lin" valueType="num">
                                      <p:cBhvr additive="base">
                                        <p:cTn id="44" dur="30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6" grpId="0"/>
      <p:bldP spid="17" grpId="0"/>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548680"/>
            <a:ext cx="1800200" cy="461665"/>
          </a:xfrm>
          <a:prstGeom prst="rect">
            <a:avLst/>
          </a:prstGeom>
          <a:noFill/>
        </p:spPr>
        <p:txBody>
          <a:bodyPr wrap="square" rtlCol="0">
            <a:spAutoFit/>
          </a:bodyPr>
          <a:lstStyle/>
          <a:p>
            <a:r>
              <a:rPr lang="en-AU" sz="2400" dirty="0" smtClean="0">
                <a:solidFill>
                  <a:srgbClr val="0000FF"/>
                </a:solidFill>
              </a:rPr>
              <a:t>Example 11</a:t>
            </a:r>
            <a:endParaRPr lang="en-US" sz="2400" dirty="0">
              <a:solidFill>
                <a:srgbClr val="0000FF"/>
              </a:solidFill>
            </a:endParaRPr>
          </a:p>
        </p:txBody>
      </p:sp>
      <p:sp>
        <p:nvSpPr>
          <p:cNvPr id="10" name="TextBox 9"/>
          <p:cNvSpPr txBox="1"/>
          <p:nvPr/>
        </p:nvSpPr>
        <p:spPr>
          <a:xfrm>
            <a:off x="3275856" y="1196752"/>
            <a:ext cx="5040560" cy="369332"/>
          </a:xfrm>
          <a:prstGeom prst="rect">
            <a:avLst/>
          </a:prstGeom>
          <a:noFill/>
        </p:spPr>
        <p:txBody>
          <a:bodyPr wrap="square" rtlCol="0">
            <a:spAutoFit/>
          </a:bodyPr>
          <a:lstStyle/>
          <a:p>
            <a:r>
              <a:rPr lang="en-AU" dirty="0" smtClean="0"/>
              <a:t>First check to see if we can use the Sine Rule.</a:t>
            </a:r>
            <a:endParaRPr lang="en-US" dirty="0"/>
          </a:p>
        </p:txBody>
      </p:sp>
      <p:sp>
        <p:nvSpPr>
          <p:cNvPr id="11" name="TextBox 10"/>
          <p:cNvSpPr txBox="1"/>
          <p:nvPr/>
        </p:nvSpPr>
        <p:spPr>
          <a:xfrm>
            <a:off x="3275856" y="1700808"/>
            <a:ext cx="5616624" cy="923330"/>
          </a:xfrm>
          <a:prstGeom prst="rect">
            <a:avLst/>
          </a:prstGeom>
          <a:noFill/>
        </p:spPr>
        <p:txBody>
          <a:bodyPr wrap="square" rtlCol="0">
            <a:spAutoFit/>
          </a:bodyPr>
          <a:lstStyle/>
          <a:p>
            <a:r>
              <a:rPr lang="en-AU" dirty="0" smtClean="0"/>
              <a:t>We are not given any angle s</a:t>
            </a:r>
            <a:r>
              <a:rPr lang="en-AU" dirty="0" smtClean="0">
                <a:sym typeface="Symbol"/>
              </a:rPr>
              <a:t>o we can’t use the Sine Rule so we have to use the </a:t>
            </a:r>
            <a:r>
              <a:rPr lang="en-AU" b="1" dirty="0" smtClean="0">
                <a:solidFill>
                  <a:srgbClr val="FF0000"/>
                </a:solidFill>
                <a:sym typeface="Symbol"/>
              </a:rPr>
              <a:t>COSINE RULE – the angle version</a:t>
            </a:r>
            <a:endParaRPr lang="en-US" i="1" dirty="0">
              <a:solidFill>
                <a:srgbClr val="FF0000"/>
              </a:solidFill>
            </a:endParaRPr>
          </a:p>
        </p:txBody>
      </p:sp>
      <p:sp>
        <p:nvSpPr>
          <p:cNvPr id="17" name="TextBox 16"/>
          <p:cNvSpPr txBox="1"/>
          <p:nvPr/>
        </p:nvSpPr>
        <p:spPr>
          <a:xfrm>
            <a:off x="5580112" y="4005064"/>
            <a:ext cx="3096344" cy="1384995"/>
          </a:xfrm>
          <a:prstGeom prst="rect">
            <a:avLst/>
          </a:prstGeom>
          <a:noFill/>
        </p:spPr>
        <p:txBody>
          <a:bodyPr wrap="square" rtlCol="0">
            <a:spAutoFit/>
          </a:bodyPr>
          <a:lstStyle/>
          <a:p>
            <a:r>
              <a:rPr lang="en-AU" sz="2800" dirty="0" err="1" smtClean="0">
                <a:solidFill>
                  <a:srgbClr val="006600"/>
                </a:solidFill>
              </a:rPr>
              <a:t>Ans</a:t>
            </a:r>
            <a:r>
              <a:rPr lang="en-AU" sz="2800" dirty="0" smtClean="0">
                <a:solidFill>
                  <a:srgbClr val="006600"/>
                </a:solidFill>
              </a:rPr>
              <a:t>: the size of angle </a:t>
            </a:r>
            <a:r>
              <a:rPr lang="en-AU" sz="2800" dirty="0" smtClean="0">
                <a:solidFill>
                  <a:srgbClr val="006600"/>
                </a:solidFill>
                <a:sym typeface="Symbol"/>
              </a:rPr>
              <a:t> </a:t>
            </a:r>
            <a:r>
              <a:rPr lang="en-AU" sz="2800" dirty="0" smtClean="0">
                <a:solidFill>
                  <a:srgbClr val="006600"/>
                </a:solidFill>
              </a:rPr>
              <a:t>is 44.42</a:t>
            </a:r>
            <a:r>
              <a:rPr lang="en-AU" sz="2800" dirty="0" smtClean="0">
                <a:solidFill>
                  <a:srgbClr val="006600"/>
                </a:solidFill>
                <a:sym typeface="Symbol"/>
              </a:rPr>
              <a:t></a:t>
            </a:r>
            <a:r>
              <a:rPr lang="en-AU" sz="2800" dirty="0" smtClean="0">
                <a:solidFill>
                  <a:srgbClr val="006600"/>
                </a:solidFill>
              </a:rPr>
              <a:t> or 44</a:t>
            </a:r>
            <a:r>
              <a:rPr lang="en-AU" sz="2800" dirty="0" smtClean="0">
                <a:solidFill>
                  <a:srgbClr val="006600"/>
                </a:solidFill>
                <a:sym typeface="Symbol"/>
              </a:rPr>
              <a:t>25’</a:t>
            </a:r>
            <a:r>
              <a:rPr lang="en-AU" sz="2800" dirty="0" smtClean="0">
                <a:solidFill>
                  <a:srgbClr val="006600"/>
                </a:solidFill>
              </a:rPr>
              <a:t> approx.</a:t>
            </a:r>
            <a:endParaRPr lang="en-US" sz="2800" dirty="0">
              <a:solidFill>
                <a:srgbClr val="006600"/>
              </a:solidFill>
            </a:endParaRPr>
          </a:p>
        </p:txBody>
      </p:sp>
      <p:sp>
        <p:nvSpPr>
          <p:cNvPr id="18" name="TextBox 17"/>
          <p:cNvSpPr txBox="1"/>
          <p:nvPr/>
        </p:nvSpPr>
        <p:spPr>
          <a:xfrm>
            <a:off x="6444208" y="5805264"/>
            <a:ext cx="2232248" cy="830997"/>
          </a:xfrm>
          <a:prstGeom prst="rect">
            <a:avLst/>
          </a:prstGeom>
          <a:noFill/>
        </p:spPr>
        <p:txBody>
          <a:bodyPr wrap="square" rtlCol="0">
            <a:spAutoFit/>
          </a:bodyPr>
          <a:lstStyle/>
          <a:p>
            <a:r>
              <a:rPr lang="en-AU" sz="1600" b="1" dirty="0" smtClean="0">
                <a:solidFill>
                  <a:srgbClr val="FF0000"/>
                </a:solidFill>
                <a:latin typeface="Arial" pitchFamily="34" charset="0"/>
                <a:cs typeface="Arial" pitchFamily="34" charset="0"/>
              </a:rPr>
              <a:t>Remember to check appropriateness of your answer!</a:t>
            </a:r>
            <a:endParaRPr lang="en-US" sz="1600" b="1" dirty="0">
              <a:solidFill>
                <a:srgbClr val="FF0000"/>
              </a:solidFill>
              <a:latin typeface="Arial" pitchFamily="34" charset="0"/>
              <a:cs typeface="Arial" pitchFamily="34" charset="0"/>
            </a:endParaRPr>
          </a:p>
        </p:txBody>
      </p:sp>
      <p:grpSp>
        <p:nvGrpSpPr>
          <p:cNvPr id="19" name="Group 18"/>
          <p:cNvGrpSpPr/>
          <p:nvPr/>
        </p:nvGrpSpPr>
        <p:grpSpPr>
          <a:xfrm>
            <a:off x="539552" y="1412776"/>
            <a:ext cx="2016224" cy="2016224"/>
            <a:chOff x="4139952" y="1844824"/>
            <a:chExt cx="2016224" cy="2016224"/>
          </a:xfrm>
        </p:grpSpPr>
        <p:sp>
          <p:nvSpPr>
            <p:cNvPr id="20" name="Isosceles Triangle 19"/>
            <p:cNvSpPr/>
            <p:nvPr/>
          </p:nvSpPr>
          <p:spPr>
            <a:xfrm rot="10800000">
              <a:off x="4283968" y="2204864"/>
              <a:ext cx="1368152" cy="1656184"/>
            </a:xfrm>
            <a:prstGeom prst="triangle">
              <a:avLst>
                <a:gd name="adj" fmla="val 2802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932040" y="2492896"/>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B</a:t>
              </a:r>
              <a:endParaRPr lang="en-US" sz="2000" b="1" dirty="0">
                <a:solidFill>
                  <a:srgbClr val="FF0000"/>
                </a:solidFill>
                <a:latin typeface="Arial" pitchFamily="34" charset="0"/>
                <a:cs typeface="Arial" pitchFamily="34" charset="0"/>
              </a:endParaRPr>
            </a:p>
          </p:txBody>
        </p:sp>
        <p:sp>
          <p:nvSpPr>
            <p:cNvPr id="22" name="TextBox 21"/>
            <p:cNvSpPr txBox="1"/>
            <p:nvPr/>
          </p:nvSpPr>
          <p:spPr>
            <a:xfrm>
              <a:off x="5076056" y="3356992"/>
              <a:ext cx="576064" cy="369332"/>
            </a:xfrm>
            <a:prstGeom prst="rect">
              <a:avLst/>
            </a:prstGeom>
            <a:noFill/>
          </p:spPr>
          <p:txBody>
            <a:bodyPr wrap="square" rtlCol="0">
              <a:spAutoFit/>
            </a:bodyPr>
            <a:lstStyle/>
            <a:p>
              <a:r>
                <a:rPr lang="en-AU" dirty="0" smtClean="0">
                  <a:sym typeface="Symbol"/>
                </a:rPr>
                <a:t></a:t>
              </a:r>
              <a:endParaRPr lang="en-US" dirty="0"/>
            </a:p>
          </p:txBody>
        </p:sp>
        <p:sp>
          <p:nvSpPr>
            <p:cNvPr id="23" name="TextBox 22"/>
            <p:cNvSpPr txBox="1"/>
            <p:nvPr/>
          </p:nvSpPr>
          <p:spPr>
            <a:xfrm>
              <a:off x="4139952" y="2708920"/>
              <a:ext cx="936104" cy="369332"/>
            </a:xfrm>
            <a:prstGeom prst="rect">
              <a:avLst/>
            </a:prstGeom>
            <a:noFill/>
          </p:spPr>
          <p:txBody>
            <a:bodyPr wrap="square" rtlCol="0">
              <a:spAutoFit/>
            </a:bodyPr>
            <a:lstStyle/>
            <a:p>
              <a:r>
                <a:rPr lang="en-AU" dirty="0" smtClean="0"/>
                <a:t>14</a:t>
              </a:r>
              <a:r>
                <a:rPr lang="en-AU" i="1" dirty="0" smtClean="0"/>
                <a:t> cm</a:t>
              </a:r>
              <a:endParaRPr lang="en-US" i="1" dirty="0"/>
            </a:p>
          </p:txBody>
        </p:sp>
        <p:sp>
          <p:nvSpPr>
            <p:cNvPr id="24" name="TextBox 23"/>
            <p:cNvSpPr txBox="1"/>
            <p:nvPr/>
          </p:nvSpPr>
          <p:spPr>
            <a:xfrm>
              <a:off x="4716016" y="1844824"/>
              <a:ext cx="792088" cy="369332"/>
            </a:xfrm>
            <a:prstGeom prst="rect">
              <a:avLst/>
            </a:prstGeom>
            <a:noFill/>
          </p:spPr>
          <p:txBody>
            <a:bodyPr wrap="square" rtlCol="0">
              <a:spAutoFit/>
            </a:bodyPr>
            <a:lstStyle/>
            <a:p>
              <a:r>
                <a:rPr lang="en-AU" dirty="0" smtClean="0"/>
                <a:t>10</a:t>
              </a:r>
              <a:r>
                <a:rPr lang="en-AU" i="1" dirty="0" smtClean="0"/>
                <a:t> cm</a:t>
              </a:r>
              <a:endParaRPr lang="en-US" i="1" dirty="0"/>
            </a:p>
          </p:txBody>
        </p:sp>
        <p:sp>
          <p:nvSpPr>
            <p:cNvPr id="25" name="TextBox 24"/>
            <p:cNvSpPr txBox="1"/>
            <p:nvPr/>
          </p:nvSpPr>
          <p:spPr>
            <a:xfrm>
              <a:off x="5364088" y="2708920"/>
              <a:ext cx="792088" cy="369332"/>
            </a:xfrm>
            <a:prstGeom prst="rect">
              <a:avLst/>
            </a:prstGeom>
            <a:noFill/>
          </p:spPr>
          <p:txBody>
            <a:bodyPr wrap="square" rtlCol="0">
              <a:spAutoFit/>
            </a:bodyPr>
            <a:lstStyle/>
            <a:p>
              <a:r>
                <a:rPr lang="en-AU" dirty="0" smtClean="0"/>
                <a:t>12</a:t>
              </a:r>
              <a:r>
                <a:rPr lang="en-AU" i="1" dirty="0" smtClean="0"/>
                <a:t> cm</a:t>
              </a:r>
              <a:endParaRPr lang="en-US" i="1" dirty="0"/>
            </a:p>
          </p:txBody>
        </p:sp>
      </p:grpSp>
      <p:graphicFrame>
        <p:nvGraphicFramePr>
          <p:cNvPr id="41990" name="Object 6"/>
          <p:cNvGraphicFramePr>
            <a:graphicFrameLocks noChangeAspect="1"/>
          </p:cNvGraphicFramePr>
          <p:nvPr/>
        </p:nvGraphicFramePr>
        <p:xfrm>
          <a:off x="2483768" y="3140968"/>
          <a:ext cx="1925638" cy="647700"/>
        </p:xfrm>
        <a:graphic>
          <a:graphicData uri="http://schemas.openxmlformats.org/presentationml/2006/ole">
            <p:oleObj spid="_x0000_s41990" name="Equation" r:id="rId3" imgW="1244520" imgH="419040" progId="Equation.3">
              <p:embed/>
            </p:oleObj>
          </a:graphicData>
        </a:graphic>
      </p:graphicFrame>
      <p:sp>
        <p:nvSpPr>
          <p:cNvPr id="27" name="TextBox 26"/>
          <p:cNvSpPr txBox="1"/>
          <p:nvPr/>
        </p:nvSpPr>
        <p:spPr>
          <a:xfrm>
            <a:off x="611560" y="4149080"/>
            <a:ext cx="936104" cy="1631216"/>
          </a:xfrm>
          <a:prstGeom prst="rect">
            <a:avLst/>
          </a:prstGeom>
          <a:blipFill>
            <a:blip r:embed="rId4" cstate="print"/>
            <a:tile tx="0" ty="0" sx="100000" sy="100000" flip="none" algn="tl"/>
          </a:blipFill>
          <a:ln w="44450">
            <a:solidFill>
              <a:schemeClr val="accent6">
                <a:lumMod val="75000"/>
              </a:schemeClr>
            </a:solidFill>
          </a:ln>
        </p:spPr>
        <p:txBody>
          <a:bodyPr wrap="square" rtlCol="0">
            <a:spAutoFit/>
          </a:bodyPr>
          <a:lstStyle/>
          <a:p>
            <a:r>
              <a:rPr lang="en-AU" sz="2000" b="1" dirty="0" smtClean="0"/>
              <a:t>Let….</a:t>
            </a:r>
          </a:p>
          <a:p>
            <a:r>
              <a:rPr lang="en-AU" sz="2000" b="1" dirty="0" smtClean="0"/>
              <a:t>C = </a:t>
            </a:r>
            <a:r>
              <a:rPr lang="en-AU" sz="2000" b="1" dirty="0" smtClean="0">
                <a:sym typeface="Symbol"/>
              </a:rPr>
              <a:t></a:t>
            </a:r>
          </a:p>
          <a:p>
            <a:r>
              <a:rPr lang="en-AU" sz="2000" b="1" i="1" dirty="0" smtClean="0">
                <a:sym typeface="Symbol"/>
              </a:rPr>
              <a:t>c</a:t>
            </a:r>
            <a:r>
              <a:rPr lang="en-AU" sz="2000" b="1" dirty="0" smtClean="0">
                <a:sym typeface="Symbol"/>
              </a:rPr>
              <a:t> = 10 </a:t>
            </a:r>
          </a:p>
          <a:p>
            <a:r>
              <a:rPr lang="en-AU" sz="2000" b="1" i="1" dirty="0" smtClean="0">
                <a:sym typeface="Symbol"/>
              </a:rPr>
              <a:t>a</a:t>
            </a:r>
            <a:r>
              <a:rPr lang="en-AU" sz="2000" b="1" dirty="0" smtClean="0">
                <a:sym typeface="Symbol"/>
              </a:rPr>
              <a:t> = 12</a:t>
            </a:r>
          </a:p>
          <a:p>
            <a:r>
              <a:rPr lang="en-AU" sz="2000" b="1" i="1" dirty="0" smtClean="0">
                <a:sym typeface="Symbol"/>
              </a:rPr>
              <a:t>b</a:t>
            </a:r>
            <a:r>
              <a:rPr lang="en-AU" sz="2000" b="1" dirty="0" smtClean="0">
                <a:sym typeface="Symbol"/>
              </a:rPr>
              <a:t> = 14</a:t>
            </a:r>
            <a:endParaRPr lang="en-US" sz="2000" b="1" i="1" dirty="0"/>
          </a:p>
        </p:txBody>
      </p:sp>
      <p:graphicFrame>
        <p:nvGraphicFramePr>
          <p:cNvPr id="41991" name="Object 7"/>
          <p:cNvGraphicFramePr>
            <a:graphicFrameLocks noChangeAspect="1"/>
          </p:cNvGraphicFramePr>
          <p:nvPr/>
        </p:nvGraphicFramePr>
        <p:xfrm>
          <a:off x="2483768" y="4005064"/>
          <a:ext cx="2298700" cy="687388"/>
        </p:xfrm>
        <a:graphic>
          <a:graphicData uri="http://schemas.openxmlformats.org/presentationml/2006/ole">
            <p:oleObj spid="_x0000_s41991" name="Equation" r:id="rId5" imgW="1485720" imgH="444240" progId="Equation.3">
              <p:embed/>
            </p:oleObj>
          </a:graphicData>
        </a:graphic>
      </p:graphicFrame>
      <p:graphicFrame>
        <p:nvGraphicFramePr>
          <p:cNvPr id="41992" name="Object 8"/>
          <p:cNvGraphicFramePr>
            <a:graphicFrameLocks noChangeAspect="1"/>
          </p:cNvGraphicFramePr>
          <p:nvPr/>
        </p:nvGraphicFramePr>
        <p:xfrm>
          <a:off x="2483768" y="4818063"/>
          <a:ext cx="1414462" cy="276225"/>
        </p:xfrm>
        <a:graphic>
          <a:graphicData uri="http://schemas.openxmlformats.org/presentationml/2006/ole">
            <p:oleObj spid="_x0000_s41992" name="Equation" r:id="rId6" imgW="914400" imgH="177480" progId="Equation.3">
              <p:embed/>
            </p:oleObj>
          </a:graphicData>
        </a:graphic>
      </p:graphicFrame>
      <p:graphicFrame>
        <p:nvGraphicFramePr>
          <p:cNvPr id="41993" name="Object 9"/>
          <p:cNvGraphicFramePr>
            <a:graphicFrameLocks noChangeAspect="1"/>
          </p:cNvGraphicFramePr>
          <p:nvPr/>
        </p:nvGraphicFramePr>
        <p:xfrm>
          <a:off x="2837309" y="5221288"/>
          <a:ext cx="1590675" cy="314325"/>
        </p:xfrm>
        <a:graphic>
          <a:graphicData uri="http://schemas.openxmlformats.org/presentationml/2006/ole">
            <p:oleObj spid="_x0000_s41993" name="Equation" r:id="rId7" imgW="1028520" imgH="203040" progId="Equation.3">
              <p:embed/>
            </p:oleObj>
          </a:graphicData>
        </a:graphic>
      </p:graphicFrame>
      <p:graphicFrame>
        <p:nvGraphicFramePr>
          <p:cNvPr id="41994" name="Object 10"/>
          <p:cNvGraphicFramePr>
            <a:graphicFrameLocks noChangeAspect="1"/>
          </p:cNvGraphicFramePr>
          <p:nvPr/>
        </p:nvGraphicFramePr>
        <p:xfrm>
          <a:off x="2843808" y="5654675"/>
          <a:ext cx="963613" cy="276225"/>
        </p:xfrm>
        <a:graphic>
          <a:graphicData uri="http://schemas.openxmlformats.org/presentationml/2006/ole">
            <p:oleObj spid="_x0000_s41994" name="Equation" r:id="rId8" imgW="622080" imgH="177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par>
                          <p:cTn id="13" fill="hold">
                            <p:stCondLst>
                              <p:cond delay="2000"/>
                            </p:stCondLst>
                            <p:childTnLst>
                              <p:par>
                                <p:cTn id="14" presetID="8" presetClass="entr" presetSubtype="16" fill="hold" nodeType="afterEffect">
                                  <p:stCondLst>
                                    <p:cond delay="0"/>
                                  </p:stCondLst>
                                  <p:childTnLst>
                                    <p:set>
                                      <p:cBhvr>
                                        <p:cTn id="15" dur="1" fill="hold">
                                          <p:stCondLst>
                                            <p:cond delay="0"/>
                                          </p:stCondLst>
                                        </p:cTn>
                                        <p:tgtEl>
                                          <p:spTgt spid="41990"/>
                                        </p:tgtEl>
                                        <p:attrNameLst>
                                          <p:attrName>style.visibility</p:attrName>
                                        </p:attrNameLst>
                                      </p:cBhvr>
                                      <p:to>
                                        <p:strVal val="visible"/>
                                      </p:to>
                                    </p:set>
                                    <p:animEffect transition="in" filter="diamond(in)">
                                      <p:cBhvr>
                                        <p:cTn id="16" dur="2000"/>
                                        <p:tgtEl>
                                          <p:spTgt spid="41990"/>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diamond(in)">
                                      <p:cBhvr>
                                        <p:cTn id="21" dur="20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nodeType="clickEffect">
                                  <p:stCondLst>
                                    <p:cond delay="0"/>
                                  </p:stCondLst>
                                  <p:childTnLst>
                                    <p:set>
                                      <p:cBhvr>
                                        <p:cTn id="25" dur="1" fill="hold">
                                          <p:stCondLst>
                                            <p:cond delay="0"/>
                                          </p:stCondLst>
                                        </p:cTn>
                                        <p:tgtEl>
                                          <p:spTgt spid="41991"/>
                                        </p:tgtEl>
                                        <p:attrNameLst>
                                          <p:attrName>style.visibility</p:attrName>
                                        </p:attrNameLst>
                                      </p:cBhvr>
                                      <p:to>
                                        <p:strVal val="visible"/>
                                      </p:to>
                                    </p:set>
                                    <p:animEffect transition="in" filter="diamond(in)">
                                      <p:cBhvr>
                                        <p:cTn id="26" dur="2000"/>
                                        <p:tgtEl>
                                          <p:spTgt spid="41991"/>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nodeType="clickEffect">
                                  <p:stCondLst>
                                    <p:cond delay="0"/>
                                  </p:stCondLst>
                                  <p:childTnLst>
                                    <p:set>
                                      <p:cBhvr>
                                        <p:cTn id="30" dur="1" fill="hold">
                                          <p:stCondLst>
                                            <p:cond delay="0"/>
                                          </p:stCondLst>
                                        </p:cTn>
                                        <p:tgtEl>
                                          <p:spTgt spid="41992"/>
                                        </p:tgtEl>
                                        <p:attrNameLst>
                                          <p:attrName>style.visibility</p:attrName>
                                        </p:attrNameLst>
                                      </p:cBhvr>
                                      <p:to>
                                        <p:strVal val="visible"/>
                                      </p:to>
                                    </p:set>
                                    <p:animEffect transition="in" filter="diamond(in)">
                                      <p:cBhvr>
                                        <p:cTn id="31" dur="2000"/>
                                        <p:tgtEl>
                                          <p:spTgt spid="41992"/>
                                        </p:tgtEl>
                                      </p:cBhvr>
                                    </p:animEffect>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41993"/>
                                        </p:tgtEl>
                                        <p:attrNameLst>
                                          <p:attrName>style.visibility</p:attrName>
                                        </p:attrNameLst>
                                      </p:cBhvr>
                                      <p:to>
                                        <p:strVal val="visible"/>
                                      </p:to>
                                    </p:set>
                                    <p:animEffect transition="in" filter="diamond(in)">
                                      <p:cBhvr>
                                        <p:cTn id="36" dur="2000"/>
                                        <p:tgtEl>
                                          <p:spTgt spid="41993"/>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nodeType="clickEffect">
                                  <p:stCondLst>
                                    <p:cond delay="0"/>
                                  </p:stCondLst>
                                  <p:childTnLst>
                                    <p:set>
                                      <p:cBhvr>
                                        <p:cTn id="40" dur="1" fill="hold">
                                          <p:stCondLst>
                                            <p:cond delay="0"/>
                                          </p:stCondLst>
                                        </p:cTn>
                                        <p:tgtEl>
                                          <p:spTgt spid="41994"/>
                                        </p:tgtEl>
                                        <p:attrNameLst>
                                          <p:attrName>style.visibility</p:attrName>
                                        </p:attrNameLst>
                                      </p:cBhvr>
                                      <p:to>
                                        <p:strVal val="visible"/>
                                      </p:to>
                                    </p:set>
                                    <p:animEffect transition="in" filter="diamond(in)">
                                      <p:cBhvr>
                                        <p:cTn id="41" dur="2000"/>
                                        <p:tgtEl>
                                          <p:spTgt spid="41994"/>
                                        </p:tgtEl>
                                      </p:cBhvr>
                                    </p:animEffect>
                                  </p:childTnLst>
                                </p:cTn>
                              </p:par>
                            </p:childTnLst>
                          </p:cTn>
                        </p:par>
                      </p:childTnLst>
                    </p:cTn>
                  </p:par>
                  <p:par>
                    <p:cTn id="42" fill="hold">
                      <p:stCondLst>
                        <p:cond delay="indefinite"/>
                      </p:stCondLst>
                      <p:childTnLst>
                        <p:par>
                          <p:cTn id="43" fill="hold">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amond(in)">
                                      <p:cBhvr>
                                        <p:cTn id="46" dur="20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9"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2000" fill="hold"/>
                                        <p:tgtEl>
                                          <p:spTgt spid="18"/>
                                        </p:tgtEl>
                                        <p:attrNameLst>
                                          <p:attrName>ppt_x</p:attrName>
                                        </p:attrNameLst>
                                      </p:cBhvr>
                                      <p:tavLst>
                                        <p:tav tm="0">
                                          <p:val>
                                            <p:strVal val="0-#ppt_w/2"/>
                                          </p:val>
                                        </p:tav>
                                        <p:tav tm="100000">
                                          <p:val>
                                            <p:strVal val="#ppt_x"/>
                                          </p:val>
                                        </p:tav>
                                      </p:tavLst>
                                    </p:anim>
                                    <p:anim calcmode="lin" valueType="num">
                                      <p:cBhvr additive="base">
                                        <p:cTn id="52" dur="20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7" grpId="0"/>
      <p:bldP spid="18" grpId="0"/>
      <p:bldP spid="2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548680"/>
            <a:ext cx="1800200" cy="461665"/>
          </a:xfrm>
          <a:prstGeom prst="rect">
            <a:avLst/>
          </a:prstGeom>
          <a:noFill/>
        </p:spPr>
        <p:txBody>
          <a:bodyPr wrap="square" rtlCol="0">
            <a:spAutoFit/>
          </a:bodyPr>
          <a:lstStyle/>
          <a:p>
            <a:r>
              <a:rPr lang="en-AU" sz="2400" dirty="0" smtClean="0">
                <a:solidFill>
                  <a:srgbClr val="0000FF"/>
                </a:solidFill>
              </a:rPr>
              <a:t>Example 12</a:t>
            </a:r>
            <a:endParaRPr lang="en-US" sz="2400" dirty="0">
              <a:solidFill>
                <a:srgbClr val="0000FF"/>
              </a:solidFill>
            </a:endParaRPr>
          </a:p>
        </p:txBody>
      </p:sp>
      <p:sp>
        <p:nvSpPr>
          <p:cNvPr id="10" name="TextBox 9"/>
          <p:cNvSpPr txBox="1"/>
          <p:nvPr/>
        </p:nvSpPr>
        <p:spPr>
          <a:xfrm>
            <a:off x="3275856" y="1196752"/>
            <a:ext cx="5040560" cy="369332"/>
          </a:xfrm>
          <a:prstGeom prst="rect">
            <a:avLst/>
          </a:prstGeom>
          <a:noFill/>
        </p:spPr>
        <p:txBody>
          <a:bodyPr wrap="square" rtlCol="0">
            <a:spAutoFit/>
          </a:bodyPr>
          <a:lstStyle/>
          <a:p>
            <a:r>
              <a:rPr lang="en-AU" dirty="0" smtClean="0"/>
              <a:t>First check to see if we can use the Sine Rule.</a:t>
            </a:r>
            <a:endParaRPr lang="en-US" dirty="0"/>
          </a:p>
        </p:txBody>
      </p:sp>
      <p:sp>
        <p:nvSpPr>
          <p:cNvPr id="11" name="TextBox 10"/>
          <p:cNvSpPr txBox="1"/>
          <p:nvPr/>
        </p:nvSpPr>
        <p:spPr>
          <a:xfrm>
            <a:off x="3059832" y="1844824"/>
            <a:ext cx="5904656" cy="1200329"/>
          </a:xfrm>
          <a:prstGeom prst="rect">
            <a:avLst/>
          </a:prstGeom>
          <a:noFill/>
        </p:spPr>
        <p:txBody>
          <a:bodyPr wrap="square" rtlCol="0">
            <a:spAutoFit/>
          </a:bodyPr>
          <a:lstStyle/>
          <a:p>
            <a:r>
              <a:rPr lang="en-AU" dirty="0" smtClean="0"/>
              <a:t>We have a given angle and opposite side (29</a:t>
            </a:r>
            <a:r>
              <a:rPr lang="en-AU" dirty="0" smtClean="0">
                <a:sym typeface="Symbol"/>
              </a:rPr>
              <a:t></a:t>
            </a:r>
            <a:r>
              <a:rPr lang="en-AU" dirty="0" smtClean="0"/>
              <a:t> and 12c</a:t>
            </a:r>
            <a:r>
              <a:rPr lang="en-AU" i="1" dirty="0" smtClean="0"/>
              <a:t>m</a:t>
            </a:r>
            <a:r>
              <a:rPr lang="en-AU" dirty="0" smtClean="0"/>
              <a:t>), but the unknown </a:t>
            </a:r>
            <a:r>
              <a:rPr lang="en-AU" i="1" dirty="0" smtClean="0"/>
              <a:t>x</a:t>
            </a:r>
            <a:r>
              <a:rPr lang="en-AU" dirty="0" smtClean="0"/>
              <a:t> and the other given (119</a:t>
            </a:r>
            <a:r>
              <a:rPr lang="en-AU" dirty="0" smtClean="0">
                <a:sym typeface="Symbol"/>
              </a:rPr>
              <a:t>) are </a:t>
            </a:r>
            <a:r>
              <a:rPr lang="en-AU" b="1" dirty="0" smtClean="0">
                <a:sym typeface="Symbol"/>
              </a:rPr>
              <a:t>NOT</a:t>
            </a:r>
            <a:r>
              <a:rPr lang="en-AU" dirty="0" smtClean="0">
                <a:sym typeface="Symbol"/>
              </a:rPr>
              <a:t> a matching angle and opposite pair. </a:t>
            </a:r>
            <a:r>
              <a:rPr lang="en-AU" b="1" dirty="0" smtClean="0">
                <a:sym typeface="Symbol"/>
              </a:rPr>
              <a:t>BUT…</a:t>
            </a:r>
            <a:r>
              <a:rPr lang="en-AU" dirty="0" smtClean="0">
                <a:sym typeface="Symbol"/>
              </a:rPr>
              <a:t>the third angle is 180 – 119 – 29 = 32 so we can use the </a:t>
            </a:r>
            <a:r>
              <a:rPr lang="en-AU" b="1" dirty="0" smtClean="0">
                <a:solidFill>
                  <a:srgbClr val="FF0000"/>
                </a:solidFill>
                <a:sym typeface="Symbol"/>
              </a:rPr>
              <a:t>SINE RULE</a:t>
            </a:r>
            <a:endParaRPr lang="en-US" i="1" dirty="0">
              <a:solidFill>
                <a:srgbClr val="FF0000"/>
              </a:solidFill>
            </a:endParaRPr>
          </a:p>
        </p:txBody>
      </p:sp>
      <p:graphicFrame>
        <p:nvGraphicFramePr>
          <p:cNvPr id="40962" name="Object 2"/>
          <p:cNvGraphicFramePr>
            <a:graphicFrameLocks noChangeAspect="1"/>
          </p:cNvGraphicFramePr>
          <p:nvPr/>
        </p:nvGraphicFramePr>
        <p:xfrm>
          <a:off x="2699792" y="3284984"/>
          <a:ext cx="1655762" cy="766763"/>
        </p:xfrm>
        <a:graphic>
          <a:graphicData uri="http://schemas.openxmlformats.org/presentationml/2006/ole">
            <p:oleObj spid="_x0000_s43010" name="Equation" r:id="rId3" imgW="850680" imgH="393480" progId="Equation.3">
              <p:embed/>
            </p:oleObj>
          </a:graphicData>
        </a:graphic>
      </p:graphicFrame>
      <p:graphicFrame>
        <p:nvGraphicFramePr>
          <p:cNvPr id="40964" name="Object 4"/>
          <p:cNvGraphicFramePr>
            <a:graphicFrameLocks noChangeAspect="1"/>
          </p:cNvGraphicFramePr>
          <p:nvPr/>
        </p:nvGraphicFramePr>
        <p:xfrm>
          <a:off x="3252465" y="5038501"/>
          <a:ext cx="1679575" cy="766763"/>
        </p:xfrm>
        <a:graphic>
          <a:graphicData uri="http://schemas.openxmlformats.org/presentationml/2006/ole">
            <p:oleObj spid="_x0000_s43012" name="Equation" r:id="rId4" imgW="863280" imgH="393480" progId="Equation.3">
              <p:embed/>
            </p:oleObj>
          </a:graphicData>
        </a:graphic>
      </p:graphicFrame>
      <p:graphicFrame>
        <p:nvGraphicFramePr>
          <p:cNvPr id="40965" name="Object 5"/>
          <p:cNvGraphicFramePr>
            <a:graphicFrameLocks noChangeAspect="1"/>
          </p:cNvGraphicFramePr>
          <p:nvPr/>
        </p:nvGraphicFramePr>
        <p:xfrm>
          <a:off x="3289300" y="5895975"/>
          <a:ext cx="1185863" cy="346075"/>
        </p:xfrm>
        <a:graphic>
          <a:graphicData uri="http://schemas.openxmlformats.org/presentationml/2006/ole">
            <p:oleObj spid="_x0000_s43013" name="Equation" r:id="rId5" imgW="609480" imgH="177480" progId="Equation.3">
              <p:embed/>
            </p:oleObj>
          </a:graphicData>
        </a:graphic>
      </p:graphicFrame>
      <p:sp>
        <p:nvSpPr>
          <p:cNvPr id="16" name="TextBox 15"/>
          <p:cNvSpPr txBox="1"/>
          <p:nvPr/>
        </p:nvSpPr>
        <p:spPr>
          <a:xfrm>
            <a:off x="4572000" y="5877272"/>
            <a:ext cx="1512168" cy="369332"/>
          </a:xfrm>
          <a:prstGeom prst="rect">
            <a:avLst/>
          </a:prstGeom>
          <a:noFill/>
        </p:spPr>
        <p:txBody>
          <a:bodyPr wrap="square" rtlCol="0">
            <a:spAutoFit/>
          </a:bodyPr>
          <a:lstStyle/>
          <a:p>
            <a:r>
              <a:rPr lang="en-AU" dirty="0" smtClean="0"/>
              <a:t>to two </a:t>
            </a:r>
            <a:r>
              <a:rPr lang="en-AU" dirty="0" err="1" smtClean="0"/>
              <a:t>dec</a:t>
            </a:r>
            <a:r>
              <a:rPr lang="en-AU" dirty="0" smtClean="0"/>
              <a:t> pl.</a:t>
            </a:r>
            <a:endParaRPr lang="en-US" dirty="0"/>
          </a:p>
        </p:txBody>
      </p:sp>
      <p:sp>
        <p:nvSpPr>
          <p:cNvPr id="17" name="TextBox 16"/>
          <p:cNvSpPr txBox="1"/>
          <p:nvPr/>
        </p:nvSpPr>
        <p:spPr>
          <a:xfrm>
            <a:off x="5652120" y="3861048"/>
            <a:ext cx="3096344" cy="1384995"/>
          </a:xfrm>
          <a:prstGeom prst="rect">
            <a:avLst/>
          </a:prstGeom>
          <a:noFill/>
        </p:spPr>
        <p:txBody>
          <a:bodyPr wrap="square" rtlCol="0">
            <a:spAutoFit/>
          </a:bodyPr>
          <a:lstStyle/>
          <a:p>
            <a:r>
              <a:rPr lang="en-AU" sz="2800" dirty="0" err="1" smtClean="0">
                <a:solidFill>
                  <a:srgbClr val="006600"/>
                </a:solidFill>
              </a:rPr>
              <a:t>Ans</a:t>
            </a:r>
            <a:r>
              <a:rPr lang="en-AU" sz="2800" dirty="0" smtClean="0">
                <a:solidFill>
                  <a:srgbClr val="006600"/>
                </a:solidFill>
              </a:rPr>
              <a:t>: the length of side </a:t>
            </a:r>
            <a:r>
              <a:rPr lang="en-AU" sz="2800" i="1" dirty="0" smtClean="0">
                <a:solidFill>
                  <a:srgbClr val="006600"/>
                </a:solidFill>
              </a:rPr>
              <a:t>x</a:t>
            </a:r>
            <a:r>
              <a:rPr lang="en-AU" sz="2800" dirty="0" smtClean="0">
                <a:solidFill>
                  <a:srgbClr val="006600"/>
                </a:solidFill>
              </a:rPr>
              <a:t> is 13.12 </a:t>
            </a:r>
            <a:r>
              <a:rPr lang="en-AU" sz="2800" i="1" dirty="0" smtClean="0">
                <a:solidFill>
                  <a:srgbClr val="006600"/>
                </a:solidFill>
              </a:rPr>
              <a:t>cm </a:t>
            </a:r>
            <a:r>
              <a:rPr lang="en-AU" sz="2800" dirty="0" smtClean="0">
                <a:solidFill>
                  <a:srgbClr val="006600"/>
                </a:solidFill>
              </a:rPr>
              <a:t>approximately.</a:t>
            </a:r>
            <a:endParaRPr lang="en-US" sz="2800" dirty="0">
              <a:solidFill>
                <a:srgbClr val="006600"/>
              </a:solidFill>
            </a:endParaRPr>
          </a:p>
        </p:txBody>
      </p:sp>
      <p:sp>
        <p:nvSpPr>
          <p:cNvPr id="18" name="TextBox 17"/>
          <p:cNvSpPr txBox="1"/>
          <p:nvPr/>
        </p:nvSpPr>
        <p:spPr>
          <a:xfrm>
            <a:off x="6444208" y="5805264"/>
            <a:ext cx="2232248" cy="830997"/>
          </a:xfrm>
          <a:prstGeom prst="rect">
            <a:avLst/>
          </a:prstGeom>
          <a:noFill/>
        </p:spPr>
        <p:txBody>
          <a:bodyPr wrap="square" rtlCol="0">
            <a:spAutoFit/>
          </a:bodyPr>
          <a:lstStyle/>
          <a:p>
            <a:r>
              <a:rPr lang="en-AU" sz="1600" b="1" dirty="0" smtClean="0">
                <a:solidFill>
                  <a:srgbClr val="FF0000"/>
                </a:solidFill>
                <a:latin typeface="Arial" pitchFamily="34" charset="0"/>
                <a:cs typeface="Arial" pitchFamily="34" charset="0"/>
              </a:rPr>
              <a:t>Remember to check appropriateness of your answer!</a:t>
            </a:r>
            <a:endParaRPr lang="en-US" sz="1600" b="1" dirty="0">
              <a:solidFill>
                <a:srgbClr val="FF0000"/>
              </a:solidFill>
              <a:latin typeface="Arial" pitchFamily="34" charset="0"/>
              <a:cs typeface="Arial" pitchFamily="34" charset="0"/>
            </a:endParaRPr>
          </a:p>
        </p:txBody>
      </p:sp>
      <p:grpSp>
        <p:nvGrpSpPr>
          <p:cNvPr id="19" name="Group 18"/>
          <p:cNvGrpSpPr/>
          <p:nvPr/>
        </p:nvGrpSpPr>
        <p:grpSpPr>
          <a:xfrm>
            <a:off x="395536" y="1124744"/>
            <a:ext cx="1872208" cy="2304256"/>
            <a:chOff x="7020272" y="2204864"/>
            <a:chExt cx="1872208" cy="2304256"/>
          </a:xfrm>
        </p:grpSpPr>
        <p:grpSp>
          <p:nvGrpSpPr>
            <p:cNvPr id="20" name="Group 13"/>
            <p:cNvGrpSpPr/>
            <p:nvPr/>
          </p:nvGrpSpPr>
          <p:grpSpPr>
            <a:xfrm>
              <a:off x="7020272" y="2204864"/>
              <a:ext cx="1224136" cy="2304256"/>
              <a:chOff x="7452320" y="2420888"/>
              <a:chExt cx="1224136" cy="2304256"/>
            </a:xfrm>
            <a:effectLst>
              <a:outerShdw blurRad="50800" dist="50800" dir="5400000" algn="ctr" rotWithShape="0">
                <a:schemeClr val="accent3"/>
              </a:outerShdw>
            </a:effectLst>
          </p:grpSpPr>
          <p:cxnSp>
            <p:nvCxnSpPr>
              <p:cNvPr id="26" name="Straight Connector 25"/>
              <p:cNvCxnSpPr/>
              <p:nvPr/>
            </p:nvCxnSpPr>
            <p:spPr>
              <a:xfrm>
                <a:off x="7452320" y="2420888"/>
                <a:ext cx="1224136"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7452320" y="2420888"/>
                <a:ext cx="1152128" cy="2304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8604448" y="3140968"/>
                <a:ext cx="72008" cy="158417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668344" y="3172906"/>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C</a:t>
              </a:r>
              <a:endParaRPr lang="en-US" sz="2000" b="1" dirty="0">
                <a:solidFill>
                  <a:srgbClr val="FF0000"/>
                </a:solidFill>
                <a:latin typeface="Arial" pitchFamily="34" charset="0"/>
                <a:cs typeface="Arial" pitchFamily="34" charset="0"/>
              </a:endParaRPr>
            </a:p>
          </p:txBody>
        </p:sp>
        <p:sp>
          <p:nvSpPr>
            <p:cNvPr id="22" name="TextBox 21"/>
            <p:cNvSpPr txBox="1"/>
            <p:nvPr/>
          </p:nvSpPr>
          <p:spPr>
            <a:xfrm>
              <a:off x="7812360" y="3789040"/>
              <a:ext cx="576064" cy="369332"/>
            </a:xfrm>
            <a:prstGeom prst="rect">
              <a:avLst/>
            </a:prstGeom>
            <a:noFill/>
          </p:spPr>
          <p:txBody>
            <a:bodyPr wrap="square" rtlCol="0">
              <a:spAutoFit/>
            </a:bodyPr>
            <a:lstStyle/>
            <a:p>
              <a:r>
                <a:rPr lang="en-AU" dirty="0" smtClean="0">
                  <a:sym typeface="Symbol"/>
                </a:rPr>
                <a:t>29</a:t>
              </a:r>
              <a:endParaRPr lang="en-US" dirty="0"/>
            </a:p>
          </p:txBody>
        </p:sp>
        <p:sp>
          <p:nvSpPr>
            <p:cNvPr id="23" name="TextBox 22"/>
            <p:cNvSpPr txBox="1"/>
            <p:nvPr/>
          </p:nvSpPr>
          <p:spPr>
            <a:xfrm>
              <a:off x="7749730" y="2831032"/>
              <a:ext cx="576064" cy="369332"/>
            </a:xfrm>
            <a:prstGeom prst="rect">
              <a:avLst/>
            </a:prstGeom>
            <a:noFill/>
          </p:spPr>
          <p:txBody>
            <a:bodyPr wrap="square" rtlCol="0">
              <a:spAutoFit/>
            </a:bodyPr>
            <a:lstStyle/>
            <a:p>
              <a:r>
                <a:rPr lang="en-AU" dirty="0" smtClean="0">
                  <a:sym typeface="Symbol"/>
                </a:rPr>
                <a:t>119</a:t>
              </a:r>
              <a:endParaRPr lang="en-US" dirty="0"/>
            </a:p>
          </p:txBody>
        </p:sp>
        <p:sp>
          <p:nvSpPr>
            <p:cNvPr id="24" name="TextBox 23"/>
            <p:cNvSpPr txBox="1"/>
            <p:nvPr/>
          </p:nvSpPr>
          <p:spPr>
            <a:xfrm>
              <a:off x="8172400" y="3356992"/>
              <a:ext cx="720080" cy="369332"/>
            </a:xfrm>
            <a:prstGeom prst="rect">
              <a:avLst/>
            </a:prstGeom>
            <a:noFill/>
          </p:spPr>
          <p:txBody>
            <a:bodyPr wrap="square" rtlCol="0">
              <a:spAutoFit/>
            </a:bodyPr>
            <a:lstStyle/>
            <a:p>
              <a:r>
                <a:rPr lang="en-AU" i="1" dirty="0" smtClean="0"/>
                <a:t>x cm</a:t>
              </a:r>
              <a:endParaRPr lang="en-US" i="1" dirty="0"/>
            </a:p>
          </p:txBody>
        </p:sp>
        <p:sp>
          <p:nvSpPr>
            <p:cNvPr id="25" name="TextBox 24"/>
            <p:cNvSpPr txBox="1"/>
            <p:nvPr/>
          </p:nvSpPr>
          <p:spPr>
            <a:xfrm>
              <a:off x="7524328" y="2276872"/>
              <a:ext cx="792088" cy="369332"/>
            </a:xfrm>
            <a:prstGeom prst="rect">
              <a:avLst/>
            </a:prstGeom>
            <a:noFill/>
          </p:spPr>
          <p:txBody>
            <a:bodyPr wrap="square" rtlCol="0">
              <a:spAutoFit/>
            </a:bodyPr>
            <a:lstStyle/>
            <a:p>
              <a:r>
                <a:rPr lang="en-AU" dirty="0" smtClean="0"/>
                <a:t>12</a:t>
              </a:r>
              <a:r>
                <a:rPr lang="en-AU" i="1" dirty="0" smtClean="0"/>
                <a:t> cm</a:t>
              </a:r>
              <a:endParaRPr lang="en-US" i="1" dirty="0"/>
            </a:p>
          </p:txBody>
        </p:sp>
      </p:grpSp>
      <p:sp>
        <p:nvSpPr>
          <p:cNvPr id="29" name="TextBox 28"/>
          <p:cNvSpPr txBox="1"/>
          <p:nvPr/>
        </p:nvSpPr>
        <p:spPr>
          <a:xfrm>
            <a:off x="611560" y="1412776"/>
            <a:ext cx="648072" cy="369332"/>
          </a:xfrm>
          <a:prstGeom prst="rect">
            <a:avLst/>
          </a:prstGeom>
          <a:noFill/>
        </p:spPr>
        <p:txBody>
          <a:bodyPr wrap="square" rtlCol="0">
            <a:spAutoFit/>
          </a:bodyPr>
          <a:lstStyle/>
          <a:p>
            <a:r>
              <a:rPr lang="en-AU" b="1" dirty="0" smtClean="0">
                <a:solidFill>
                  <a:srgbClr val="FF0000"/>
                </a:solidFill>
              </a:rPr>
              <a:t>32</a:t>
            </a:r>
            <a:r>
              <a:rPr lang="en-AU" b="1" dirty="0" smtClean="0">
                <a:solidFill>
                  <a:srgbClr val="FF0000"/>
                </a:solidFill>
                <a:sym typeface="Symbol"/>
              </a:rPr>
              <a:t></a:t>
            </a:r>
            <a:endParaRPr lang="en-US" b="1" dirty="0">
              <a:solidFill>
                <a:srgbClr val="FF0000"/>
              </a:solidFill>
            </a:endParaRPr>
          </a:p>
        </p:txBody>
      </p:sp>
      <p:graphicFrame>
        <p:nvGraphicFramePr>
          <p:cNvPr id="43014" name="Object 6"/>
          <p:cNvGraphicFramePr>
            <a:graphicFrameLocks noChangeAspect="1"/>
          </p:cNvGraphicFramePr>
          <p:nvPr/>
        </p:nvGraphicFramePr>
        <p:xfrm>
          <a:off x="2490788" y="4149725"/>
          <a:ext cx="2074862" cy="766763"/>
        </p:xfrm>
        <a:graphic>
          <a:graphicData uri="http://schemas.openxmlformats.org/presentationml/2006/ole">
            <p:oleObj spid="_x0000_s43014" name="Equation" r:id="rId6" imgW="1066680" imgH="393480" progId="Equation.3">
              <p:embed/>
            </p:oleObj>
          </a:graphicData>
        </a:graphic>
      </p:graphicFrame>
      <p:sp>
        <p:nvSpPr>
          <p:cNvPr id="30" name="TextBox 29"/>
          <p:cNvSpPr txBox="1"/>
          <p:nvPr/>
        </p:nvSpPr>
        <p:spPr>
          <a:xfrm>
            <a:off x="611560" y="4149080"/>
            <a:ext cx="936104" cy="1631216"/>
          </a:xfrm>
          <a:prstGeom prst="rect">
            <a:avLst/>
          </a:prstGeom>
          <a:blipFill>
            <a:blip r:embed="rId7" cstate="print"/>
            <a:tile tx="0" ty="0" sx="100000" sy="100000" flip="none" algn="tl"/>
          </a:blipFill>
          <a:ln w="44450">
            <a:solidFill>
              <a:schemeClr val="accent6">
                <a:lumMod val="75000"/>
              </a:schemeClr>
            </a:solidFill>
          </a:ln>
        </p:spPr>
        <p:txBody>
          <a:bodyPr wrap="square" rtlCol="0">
            <a:spAutoFit/>
          </a:bodyPr>
          <a:lstStyle/>
          <a:p>
            <a:r>
              <a:rPr lang="en-AU" sz="2000" b="1" dirty="0" smtClean="0"/>
              <a:t>Let….</a:t>
            </a:r>
          </a:p>
          <a:p>
            <a:r>
              <a:rPr lang="en-AU" sz="2000" b="1" i="1" dirty="0" smtClean="0"/>
              <a:t>a</a:t>
            </a:r>
            <a:r>
              <a:rPr lang="en-AU" sz="2000" b="1" dirty="0" smtClean="0"/>
              <a:t> = </a:t>
            </a:r>
            <a:r>
              <a:rPr lang="en-AU" sz="2000" b="1" i="1" dirty="0" smtClean="0">
                <a:sym typeface="Symbol"/>
              </a:rPr>
              <a:t>x</a:t>
            </a:r>
            <a:endParaRPr lang="en-AU" sz="2000" b="1" dirty="0" smtClean="0">
              <a:sym typeface="Symbol"/>
            </a:endParaRPr>
          </a:p>
          <a:p>
            <a:r>
              <a:rPr lang="en-AU" sz="2000" b="1" i="1" dirty="0" smtClean="0">
                <a:sym typeface="Symbol"/>
              </a:rPr>
              <a:t>A</a:t>
            </a:r>
            <a:r>
              <a:rPr lang="en-AU" sz="2000" b="1" dirty="0" smtClean="0">
                <a:sym typeface="Symbol"/>
              </a:rPr>
              <a:t> = 32 </a:t>
            </a:r>
          </a:p>
          <a:p>
            <a:r>
              <a:rPr lang="en-AU" sz="2000" b="1" i="1" dirty="0" smtClean="0">
                <a:sym typeface="Symbol"/>
              </a:rPr>
              <a:t>b</a:t>
            </a:r>
            <a:r>
              <a:rPr lang="en-AU" sz="2000" b="1" dirty="0" smtClean="0">
                <a:sym typeface="Symbol"/>
              </a:rPr>
              <a:t> = 12</a:t>
            </a:r>
          </a:p>
          <a:p>
            <a:r>
              <a:rPr lang="en-AU" sz="2000" b="1" i="1" dirty="0" smtClean="0">
                <a:sym typeface="Symbol"/>
              </a:rPr>
              <a:t>B</a:t>
            </a:r>
            <a:r>
              <a:rPr lang="en-AU" sz="2000" b="1" dirty="0" smtClean="0">
                <a:sym typeface="Symbol"/>
              </a:rPr>
              <a:t> = 29</a:t>
            </a:r>
            <a:endParaRPr lang="en-US" sz="20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3000" fill="hold"/>
                                        <p:tgtEl>
                                          <p:spTgt spid="29"/>
                                        </p:tgtEl>
                                        <p:attrNameLst>
                                          <p:attrName>ppt_x</p:attrName>
                                        </p:attrNameLst>
                                      </p:cBhvr>
                                      <p:tavLst>
                                        <p:tav tm="0">
                                          <p:val>
                                            <p:strVal val="#ppt_x"/>
                                          </p:val>
                                        </p:tav>
                                        <p:tav tm="100000">
                                          <p:val>
                                            <p:strVal val="#ppt_x"/>
                                          </p:val>
                                        </p:tav>
                                      </p:tavLst>
                                    </p:anim>
                                    <p:anim calcmode="lin" valueType="num">
                                      <p:cBhvr additive="base">
                                        <p:cTn id="18" dur="3000" fill="hold"/>
                                        <p:tgtEl>
                                          <p:spTgt spid="29"/>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8" presetClass="entr" presetSubtype="16" fill="hold" nodeType="afterEffect">
                                  <p:stCondLst>
                                    <p:cond delay="0"/>
                                  </p:stCondLst>
                                  <p:childTnLst>
                                    <p:set>
                                      <p:cBhvr>
                                        <p:cTn id="21" dur="1" fill="hold">
                                          <p:stCondLst>
                                            <p:cond delay="0"/>
                                          </p:stCondLst>
                                        </p:cTn>
                                        <p:tgtEl>
                                          <p:spTgt spid="40962"/>
                                        </p:tgtEl>
                                        <p:attrNameLst>
                                          <p:attrName>style.visibility</p:attrName>
                                        </p:attrNameLst>
                                      </p:cBhvr>
                                      <p:to>
                                        <p:strVal val="visible"/>
                                      </p:to>
                                    </p:set>
                                    <p:animEffect transition="in" filter="diamond(in)">
                                      <p:cBhvr>
                                        <p:cTn id="22" dur="2000"/>
                                        <p:tgtEl>
                                          <p:spTgt spid="40962"/>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diamond(in)">
                                      <p:cBhvr>
                                        <p:cTn id="27" dur="20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43014"/>
                                        </p:tgtEl>
                                        <p:attrNameLst>
                                          <p:attrName>style.visibility</p:attrName>
                                        </p:attrNameLst>
                                      </p:cBhvr>
                                      <p:to>
                                        <p:strVal val="visible"/>
                                      </p:to>
                                    </p:set>
                                    <p:animEffect transition="in" filter="diamond(in)">
                                      <p:cBhvr>
                                        <p:cTn id="32" dur="2000"/>
                                        <p:tgtEl>
                                          <p:spTgt spid="43014"/>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40964"/>
                                        </p:tgtEl>
                                        <p:attrNameLst>
                                          <p:attrName>style.visibility</p:attrName>
                                        </p:attrNameLst>
                                      </p:cBhvr>
                                      <p:to>
                                        <p:strVal val="visible"/>
                                      </p:to>
                                    </p:set>
                                    <p:animEffect transition="in" filter="diamond(in)">
                                      <p:cBhvr>
                                        <p:cTn id="37" dur="2000"/>
                                        <p:tgtEl>
                                          <p:spTgt spid="40964"/>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amond(in)">
                                      <p:cBhvr>
                                        <p:cTn id="42" dur="2000"/>
                                        <p:tgtEl>
                                          <p:spTgt spid="16"/>
                                        </p:tgtEl>
                                      </p:cBhvr>
                                    </p:animEffect>
                                  </p:childTnLst>
                                </p:cTn>
                              </p:par>
                              <p:par>
                                <p:cTn id="43" presetID="8" presetClass="entr" presetSubtype="16" fill="hold" nodeType="withEffect">
                                  <p:stCondLst>
                                    <p:cond delay="0"/>
                                  </p:stCondLst>
                                  <p:childTnLst>
                                    <p:set>
                                      <p:cBhvr>
                                        <p:cTn id="44" dur="1" fill="hold">
                                          <p:stCondLst>
                                            <p:cond delay="0"/>
                                          </p:stCondLst>
                                        </p:cTn>
                                        <p:tgtEl>
                                          <p:spTgt spid="40965"/>
                                        </p:tgtEl>
                                        <p:attrNameLst>
                                          <p:attrName>style.visibility</p:attrName>
                                        </p:attrNameLst>
                                      </p:cBhvr>
                                      <p:to>
                                        <p:strVal val="visible"/>
                                      </p:to>
                                    </p:set>
                                    <p:animEffect transition="in" filter="diamond(in)">
                                      <p:cBhvr>
                                        <p:cTn id="45" dur="2000"/>
                                        <p:tgtEl>
                                          <p:spTgt spid="40965"/>
                                        </p:tgtEl>
                                      </p:cBhvr>
                                    </p:animEffect>
                                  </p:childTnLst>
                                </p:cTn>
                              </p:par>
                            </p:childTnLst>
                          </p:cTn>
                        </p:par>
                      </p:childTnLst>
                    </p:cTn>
                  </p:par>
                  <p:par>
                    <p:cTn id="46" fill="hold">
                      <p:stCondLst>
                        <p:cond delay="indefinite"/>
                      </p:stCondLst>
                      <p:childTnLst>
                        <p:par>
                          <p:cTn id="47" fill="hold">
                            <p:stCondLst>
                              <p:cond delay="0"/>
                            </p:stCondLst>
                            <p:childTnLst>
                              <p:par>
                                <p:cTn id="48" presetID="8" presetClass="entr" presetSubtype="16"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diamond(in)">
                                      <p:cBhvr>
                                        <p:cTn id="50" dur="2000"/>
                                        <p:tgtEl>
                                          <p:spTgt spid="17"/>
                                        </p:tgtEl>
                                      </p:cBhvr>
                                    </p:animEffect>
                                  </p:childTnLst>
                                </p:cTn>
                              </p:par>
                            </p:childTnLst>
                          </p:cTn>
                        </p:par>
                        <p:par>
                          <p:cTn id="51" fill="hold">
                            <p:stCondLst>
                              <p:cond delay="2000"/>
                            </p:stCondLst>
                            <p:childTnLst>
                              <p:par>
                                <p:cTn id="52" presetID="2" presetClass="entr" presetSubtype="9"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3000" fill="hold"/>
                                        <p:tgtEl>
                                          <p:spTgt spid="18"/>
                                        </p:tgtEl>
                                        <p:attrNameLst>
                                          <p:attrName>ppt_x</p:attrName>
                                        </p:attrNameLst>
                                      </p:cBhvr>
                                      <p:tavLst>
                                        <p:tav tm="0">
                                          <p:val>
                                            <p:strVal val="0-#ppt_w/2"/>
                                          </p:val>
                                        </p:tav>
                                        <p:tav tm="100000">
                                          <p:val>
                                            <p:strVal val="#ppt_x"/>
                                          </p:val>
                                        </p:tav>
                                      </p:tavLst>
                                    </p:anim>
                                    <p:anim calcmode="lin" valueType="num">
                                      <p:cBhvr additive="base">
                                        <p:cTn id="55" dur="30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6" grpId="0"/>
      <p:bldP spid="17" grpId="0"/>
      <p:bldP spid="18" grpId="0"/>
      <p:bldP spid="29" grpId="0"/>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548680"/>
            <a:ext cx="1800200" cy="461665"/>
          </a:xfrm>
          <a:prstGeom prst="rect">
            <a:avLst/>
          </a:prstGeom>
          <a:noFill/>
        </p:spPr>
        <p:txBody>
          <a:bodyPr wrap="square" rtlCol="0">
            <a:spAutoFit/>
          </a:bodyPr>
          <a:lstStyle/>
          <a:p>
            <a:r>
              <a:rPr lang="en-AU" sz="2400" dirty="0" smtClean="0">
                <a:solidFill>
                  <a:srgbClr val="0000FF"/>
                </a:solidFill>
              </a:rPr>
              <a:t>Example 13</a:t>
            </a:r>
            <a:endParaRPr lang="en-US" sz="2400" dirty="0">
              <a:solidFill>
                <a:srgbClr val="0000FF"/>
              </a:solidFill>
            </a:endParaRPr>
          </a:p>
        </p:txBody>
      </p:sp>
      <p:sp>
        <p:nvSpPr>
          <p:cNvPr id="10" name="TextBox 9"/>
          <p:cNvSpPr txBox="1"/>
          <p:nvPr/>
        </p:nvSpPr>
        <p:spPr>
          <a:xfrm>
            <a:off x="3275856" y="1196752"/>
            <a:ext cx="5040560" cy="369332"/>
          </a:xfrm>
          <a:prstGeom prst="rect">
            <a:avLst/>
          </a:prstGeom>
          <a:noFill/>
        </p:spPr>
        <p:txBody>
          <a:bodyPr wrap="square" rtlCol="0">
            <a:spAutoFit/>
          </a:bodyPr>
          <a:lstStyle/>
          <a:p>
            <a:r>
              <a:rPr lang="en-AU" dirty="0" smtClean="0"/>
              <a:t>First check to see if we can use the Sine Rule.</a:t>
            </a:r>
            <a:endParaRPr lang="en-US" dirty="0"/>
          </a:p>
        </p:txBody>
      </p:sp>
      <p:sp>
        <p:nvSpPr>
          <p:cNvPr id="11" name="TextBox 10"/>
          <p:cNvSpPr txBox="1"/>
          <p:nvPr/>
        </p:nvSpPr>
        <p:spPr>
          <a:xfrm>
            <a:off x="3275856" y="1700808"/>
            <a:ext cx="5616624" cy="923330"/>
          </a:xfrm>
          <a:prstGeom prst="rect">
            <a:avLst/>
          </a:prstGeom>
          <a:noFill/>
        </p:spPr>
        <p:txBody>
          <a:bodyPr wrap="square" rtlCol="0">
            <a:spAutoFit/>
          </a:bodyPr>
          <a:lstStyle/>
          <a:p>
            <a:r>
              <a:rPr lang="en-AU" dirty="0" smtClean="0"/>
              <a:t>We are not given any angle and matching opposite side s</a:t>
            </a:r>
            <a:r>
              <a:rPr lang="en-AU" dirty="0" smtClean="0">
                <a:sym typeface="Symbol"/>
              </a:rPr>
              <a:t>o we can’t use the Sine Rule, so we have to use the </a:t>
            </a:r>
            <a:r>
              <a:rPr lang="en-AU" b="1" dirty="0" smtClean="0">
                <a:solidFill>
                  <a:srgbClr val="FF0000"/>
                </a:solidFill>
                <a:sym typeface="Symbol"/>
              </a:rPr>
              <a:t>COSINE RULE – the side version</a:t>
            </a:r>
            <a:endParaRPr lang="en-US" i="1" dirty="0">
              <a:solidFill>
                <a:srgbClr val="FF0000"/>
              </a:solidFill>
            </a:endParaRPr>
          </a:p>
        </p:txBody>
      </p:sp>
      <p:sp>
        <p:nvSpPr>
          <p:cNvPr id="17" name="TextBox 16"/>
          <p:cNvSpPr txBox="1"/>
          <p:nvPr/>
        </p:nvSpPr>
        <p:spPr>
          <a:xfrm>
            <a:off x="4716016" y="4293096"/>
            <a:ext cx="3816424" cy="830997"/>
          </a:xfrm>
          <a:prstGeom prst="rect">
            <a:avLst/>
          </a:prstGeom>
          <a:noFill/>
        </p:spPr>
        <p:txBody>
          <a:bodyPr wrap="square" rtlCol="0">
            <a:spAutoFit/>
          </a:bodyPr>
          <a:lstStyle/>
          <a:p>
            <a:r>
              <a:rPr lang="en-AU" sz="2400" dirty="0" err="1" smtClean="0">
                <a:solidFill>
                  <a:srgbClr val="006600"/>
                </a:solidFill>
              </a:rPr>
              <a:t>Ans</a:t>
            </a:r>
            <a:r>
              <a:rPr lang="en-AU" sz="2400" dirty="0" smtClean="0">
                <a:solidFill>
                  <a:srgbClr val="006600"/>
                </a:solidFill>
              </a:rPr>
              <a:t>: the size of side </a:t>
            </a:r>
            <a:r>
              <a:rPr lang="en-AU" sz="2400" i="1" dirty="0" smtClean="0">
                <a:solidFill>
                  <a:srgbClr val="006600"/>
                </a:solidFill>
              </a:rPr>
              <a:t>x</a:t>
            </a:r>
            <a:r>
              <a:rPr lang="en-AU" sz="2400" dirty="0" smtClean="0">
                <a:solidFill>
                  <a:srgbClr val="006600"/>
                </a:solidFill>
                <a:sym typeface="Symbol"/>
              </a:rPr>
              <a:t> </a:t>
            </a:r>
            <a:r>
              <a:rPr lang="en-AU" sz="2400" dirty="0" smtClean="0">
                <a:solidFill>
                  <a:srgbClr val="006600"/>
                </a:solidFill>
              </a:rPr>
              <a:t>is 13.35 </a:t>
            </a:r>
            <a:r>
              <a:rPr lang="en-AU" sz="2400" i="1" dirty="0" err="1" smtClean="0">
                <a:solidFill>
                  <a:srgbClr val="006600"/>
                </a:solidFill>
              </a:rPr>
              <a:t>m</a:t>
            </a:r>
            <a:r>
              <a:rPr lang="en-AU" sz="2400" i="1" dirty="0" smtClean="0">
                <a:solidFill>
                  <a:srgbClr val="006600"/>
                </a:solidFill>
              </a:rPr>
              <a:t> (to 2 </a:t>
            </a:r>
            <a:r>
              <a:rPr lang="en-AU" sz="2400" i="1" dirty="0" err="1" smtClean="0">
                <a:solidFill>
                  <a:srgbClr val="006600"/>
                </a:solidFill>
              </a:rPr>
              <a:t>dec</a:t>
            </a:r>
            <a:r>
              <a:rPr lang="en-AU" sz="2400" i="1" dirty="0" smtClean="0">
                <a:solidFill>
                  <a:srgbClr val="006600"/>
                </a:solidFill>
              </a:rPr>
              <a:t> places)</a:t>
            </a:r>
            <a:endParaRPr lang="en-US" sz="2400" dirty="0">
              <a:solidFill>
                <a:srgbClr val="006600"/>
              </a:solidFill>
            </a:endParaRPr>
          </a:p>
        </p:txBody>
      </p:sp>
      <p:sp>
        <p:nvSpPr>
          <p:cNvPr id="18" name="TextBox 17"/>
          <p:cNvSpPr txBox="1"/>
          <p:nvPr/>
        </p:nvSpPr>
        <p:spPr>
          <a:xfrm>
            <a:off x="6444208" y="5805264"/>
            <a:ext cx="2232248" cy="830997"/>
          </a:xfrm>
          <a:prstGeom prst="rect">
            <a:avLst/>
          </a:prstGeom>
          <a:noFill/>
        </p:spPr>
        <p:txBody>
          <a:bodyPr wrap="square" rtlCol="0">
            <a:spAutoFit/>
          </a:bodyPr>
          <a:lstStyle/>
          <a:p>
            <a:r>
              <a:rPr lang="en-AU" sz="1600" b="1" dirty="0" smtClean="0">
                <a:solidFill>
                  <a:srgbClr val="FF0000"/>
                </a:solidFill>
                <a:latin typeface="Arial" pitchFamily="34" charset="0"/>
                <a:cs typeface="Arial" pitchFamily="34" charset="0"/>
              </a:rPr>
              <a:t>Remember to check appropriateness of your answer!</a:t>
            </a:r>
            <a:endParaRPr lang="en-US" sz="1600" b="1" dirty="0">
              <a:solidFill>
                <a:srgbClr val="FF0000"/>
              </a:solidFill>
              <a:latin typeface="Arial" pitchFamily="34" charset="0"/>
              <a:cs typeface="Arial" pitchFamily="34" charset="0"/>
            </a:endParaRPr>
          </a:p>
        </p:txBody>
      </p:sp>
      <p:sp>
        <p:nvSpPr>
          <p:cNvPr id="27" name="TextBox 26"/>
          <p:cNvSpPr txBox="1"/>
          <p:nvPr/>
        </p:nvSpPr>
        <p:spPr>
          <a:xfrm>
            <a:off x="611560" y="4149080"/>
            <a:ext cx="936104" cy="1631216"/>
          </a:xfrm>
          <a:prstGeom prst="rect">
            <a:avLst/>
          </a:prstGeom>
          <a:blipFill>
            <a:blip r:embed="rId2" cstate="print"/>
            <a:tile tx="0" ty="0" sx="100000" sy="100000" flip="none" algn="tl"/>
          </a:blipFill>
          <a:ln w="44450">
            <a:solidFill>
              <a:schemeClr val="accent6">
                <a:lumMod val="75000"/>
              </a:schemeClr>
            </a:solidFill>
          </a:ln>
        </p:spPr>
        <p:txBody>
          <a:bodyPr wrap="square" rtlCol="0">
            <a:spAutoFit/>
          </a:bodyPr>
          <a:lstStyle/>
          <a:p>
            <a:r>
              <a:rPr lang="en-AU" sz="2000" b="1" dirty="0" smtClean="0"/>
              <a:t>Let….</a:t>
            </a:r>
          </a:p>
          <a:p>
            <a:r>
              <a:rPr lang="en-AU" sz="2000" b="1" dirty="0" smtClean="0"/>
              <a:t>C = </a:t>
            </a:r>
            <a:r>
              <a:rPr lang="en-AU" sz="2000" b="1" dirty="0" smtClean="0">
                <a:sym typeface="Symbol"/>
              </a:rPr>
              <a:t>67</a:t>
            </a:r>
          </a:p>
          <a:p>
            <a:r>
              <a:rPr lang="en-AU" sz="2000" b="1" i="1" dirty="0" smtClean="0">
                <a:sym typeface="Symbol"/>
              </a:rPr>
              <a:t>c</a:t>
            </a:r>
            <a:r>
              <a:rPr lang="en-AU" sz="2000" b="1" dirty="0" smtClean="0">
                <a:sym typeface="Symbol"/>
              </a:rPr>
              <a:t> = </a:t>
            </a:r>
            <a:r>
              <a:rPr lang="en-AU" sz="2000" b="1" i="1" dirty="0" smtClean="0">
                <a:sym typeface="Symbol"/>
              </a:rPr>
              <a:t>x</a:t>
            </a:r>
            <a:r>
              <a:rPr lang="en-AU" sz="2000" b="1" dirty="0" smtClean="0">
                <a:sym typeface="Symbol"/>
              </a:rPr>
              <a:t> </a:t>
            </a:r>
          </a:p>
          <a:p>
            <a:r>
              <a:rPr lang="en-AU" sz="2000" b="1" i="1" dirty="0" smtClean="0">
                <a:sym typeface="Symbol"/>
              </a:rPr>
              <a:t>a</a:t>
            </a:r>
            <a:r>
              <a:rPr lang="en-AU" sz="2000" b="1" dirty="0" smtClean="0">
                <a:sym typeface="Symbol"/>
              </a:rPr>
              <a:t> = 11</a:t>
            </a:r>
          </a:p>
          <a:p>
            <a:r>
              <a:rPr lang="en-AU" sz="2000" b="1" i="1" dirty="0" smtClean="0">
                <a:sym typeface="Symbol"/>
              </a:rPr>
              <a:t>b</a:t>
            </a:r>
            <a:r>
              <a:rPr lang="en-AU" sz="2000" b="1" dirty="0" smtClean="0">
                <a:sym typeface="Symbol"/>
              </a:rPr>
              <a:t> = 13</a:t>
            </a:r>
            <a:endParaRPr lang="en-US" sz="2000" b="1" i="1" dirty="0"/>
          </a:p>
        </p:txBody>
      </p:sp>
      <p:grpSp>
        <p:nvGrpSpPr>
          <p:cNvPr id="26" name="Group 25"/>
          <p:cNvGrpSpPr/>
          <p:nvPr/>
        </p:nvGrpSpPr>
        <p:grpSpPr>
          <a:xfrm>
            <a:off x="467544" y="1268760"/>
            <a:ext cx="2160240" cy="1800200"/>
            <a:chOff x="1043608" y="4437112"/>
            <a:chExt cx="2160240" cy="1800200"/>
          </a:xfrm>
        </p:grpSpPr>
        <p:sp>
          <p:nvSpPr>
            <p:cNvPr id="28" name="Isosceles Triangle 27"/>
            <p:cNvSpPr/>
            <p:nvPr/>
          </p:nvSpPr>
          <p:spPr>
            <a:xfrm rot="9162334">
              <a:off x="1043608" y="4653136"/>
              <a:ext cx="2016224" cy="1584176"/>
            </a:xfrm>
            <a:prstGeom prst="triangle">
              <a:avLst>
                <a:gd name="adj" fmla="val 60071"/>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1691680" y="5013176"/>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D</a:t>
              </a:r>
              <a:endParaRPr lang="en-US" sz="2000" b="1" dirty="0">
                <a:solidFill>
                  <a:srgbClr val="FF0000"/>
                </a:solidFill>
                <a:latin typeface="Arial" pitchFamily="34" charset="0"/>
                <a:cs typeface="Arial" pitchFamily="34" charset="0"/>
              </a:endParaRPr>
            </a:p>
          </p:txBody>
        </p:sp>
        <p:sp>
          <p:nvSpPr>
            <p:cNvPr id="30" name="TextBox 29"/>
            <p:cNvSpPr txBox="1"/>
            <p:nvPr/>
          </p:nvSpPr>
          <p:spPr>
            <a:xfrm>
              <a:off x="1835696" y="5733256"/>
              <a:ext cx="576064" cy="369332"/>
            </a:xfrm>
            <a:prstGeom prst="rect">
              <a:avLst/>
            </a:prstGeom>
            <a:noFill/>
          </p:spPr>
          <p:txBody>
            <a:bodyPr wrap="square" rtlCol="0">
              <a:spAutoFit/>
            </a:bodyPr>
            <a:lstStyle/>
            <a:p>
              <a:r>
                <a:rPr lang="en-AU" dirty="0" smtClean="0">
                  <a:sym typeface="Symbol"/>
                </a:rPr>
                <a:t>67</a:t>
              </a:r>
              <a:endParaRPr lang="en-US" dirty="0"/>
            </a:p>
          </p:txBody>
        </p:sp>
        <p:sp>
          <p:nvSpPr>
            <p:cNvPr id="31" name="TextBox 30"/>
            <p:cNvSpPr txBox="1"/>
            <p:nvPr/>
          </p:nvSpPr>
          <p:spPr>
            <a:xfrm>
              <a:off x="1331640" y="4437112"/>
              <a:ext cx="576064" cy="369332"/>
            </a:xfrm>
            <a:prstGeom prst="rect">
              <a:avLst/>
            </a:prstGeom>
            <a:noFill/>
          </p:spPr>
          <p:txBody>
            <a:bodyPr wrap="square" rtlCol="0">
              <a:spAutoFit/>
            </a:bodyPr>
            <a:lstStyle/>
            <a:p>
              <a:r>
                <a:rPr lang="en-AU" i="1" dirty="0" smtClean="0"/>
                <a:t>x </a:t>
              </a:r>
              <a:r>
                <a:rPr lang="en-AU" i="1" dirty="0" err="1" smtClean="0"/>
                <a:t>m</a:t>
              </a:r>
              <a:endParaRPr lang="en-US" i="1" dirty="0"/>
            </a:p>
          </p:txBody>
        </p:sp>
        <p:sp>
          <p:nvSpPr>
            <p:cNvPr id="32" name="TextBox 31"/>
            <p:cNvSpPr txBox="1"/>
            <p:nvPr/>
          </p:nvSpPr>
          <p:spPr>
            <a:xfrm>
              <a:off x="1187624" y="5661248"/>
              <a:ext cx="792088" cy="369332"/>
            </a:xfrm>
            <a:prstGeom prst="rect">
              <a:avLst/>
            </a:prstGeom>
            <a:noFill/>
          </p:spPr>
          <p:txBody>
            <a:bodyPr wrap="square" rtlCol="0">
              <a:spAutoFit/>
            </a:bodyPr>
            <a:lstStyle/>
            <a:p>
              <a:r>
                <a:rPr lang="en-AU" dirty="0" smtClean="0"/>
                <a:t>11</a:t>
              </a:r>
              <a:r>
                <a:rPr lang="en-AU" i="1" dirty="0" smtClean="0"/>
                <a:t> </a:t>
              </a:r>
              <a:r>
                <a:rPr lang="en-AU" i="1" dirty="0" err="1" smtClean="0"/>
                <a:t>m</a:t>
              </a:r>
              <a:endParaRPr lang="en-US" i="1" dirty="0"/>
            </a:p>
          </p:txBody>
        </p:sp>
        <p:sp>
          <p:nvSpPr>
            <p:cNvPr id="33" name="TextBox 32"/>
            <p:cNvSpPr txBox="1"/>
            <p:nvPr/>
          </p:nvSpPr>
          <p:spPr>
            <a:xfrm>
              <a:off x="2411760" y="5085184"/>
              <a:ext cx="792088" cy="369332"/>
            </a:xfrm>
            <a:prstGeom prst="rect">
              <a:avLst/>
            </a:prstGeom>
            <a:noFill/>
          </p:spPr>
          <p:txBody>
            <a:bodyPr wrap="square" rtlCol="0">
              <a:spAutoFit/>
            </a:bodyPr>
            <a:lstStyle/>
            <a:p>
              <a:r>
                <a:rPr lang="en-AU" dirty="0" smtClean="0"/>
                <a:t>13</a:t>
              </a:r>
              <a:r>
                <a:rPr lang="en-AU" i="1" dirty="0" smtClean="0"/>
                <a:t> </a:t>
              </a:r>
              <a:r>
                <a:rPr lang="en-AU" i="1" dirty="0" err="1" smtClean="0"/>
                <a:t>m</a:t>
              </a:r>
              <a:endParaRPr lang="en-US" i="1" dirty="0"/>
            </a:p>
          </p:txBody>
        </p:sp>
      </p:grpSp>
      <p:sp>
        <p:nvSpPr>
          <p:cNvPr id="34" name="TextBox 33"/>
          <p:cNvSpPr txBox="1"/>
          <p:nvPr/>
        </p:nvSpPr>
        <p:spPr>
          <a:xfrm>
            <a:off x="2843808" y="2924944"/>
            <a:ext cx="4248472" cy="523220"/>
          </a:xfrm>
          <a:prstGeom prst="rect">
            <a:avLst/>
          </a:prstGeom>
          <a:noFill/>
          <a:ln w="34925">
            <a:solidFill>
              <a:srgbClr val="FF0000"/>
            </a:solidFill>
          </a:ln>
        </p:spPr>
        <p:txBody>
          <a:bodyPr wrap="square" rtlCol="0">
            <a:spAutoFit/>
          </a:bodyPr>
          <a:lstStyle/>
          <a:p>
            <a:pPr algn="ctr"/>
            <a:r>
              <a:rPr lang="en-AU" sz="2800" dirty="0" smtClean="0"/>
              <a:t>c </a:t>
            </a:r>
            <a:r>
              <a:rPr lang="en-AU" sz="2800" baseline="30000" dirty="0" smtClean="0"/>
              <a:t>2</a:t>
            </a:r>
            <a:r>
              <a:rPr lang="en-AU" sz="2800" dirty="0" smtClean="0"/>
              <a:t> =  </a:t>
            </a:r>
            <a:r>
              <a:rPr lang="en-AU" sz="2800" i="1" dirty="0" smtClean="0"/>
              <a:t>a</a:t>
            </a:r>
            <a:r>
              <a:rPr lang="en-AU" sz="2800" baseline="30000" dirty="0" smtClean="0"/>
              <a:t>2</a:t>
            </a:r>
            <a:r>
              <a:rPr lang="en-AU" sz="2800" i="1" dirty="0" smtClean="0"/>
              <a:t>  +  b</a:t>
            </a:r>
            <a:r>
              <a:rPr lang="en-AU" sz="2800" baseline="30000" dirty="0" smtClean="0"/>
              <a:t>2</a:t>
            </a:r>
            <a:r>
              <a:rPr lang="en-AU" sz="2800" i="1" dirty="0" smtClean="0"/>
              <a:t>  – 2ab </a:t>
            </a:r>
            <a:r>
              <a:rPr lang="en-AU" sz="2800" dirty="0" err="1" smtClean="0"/>
              <a:t>cos</a:t>
            </a:r>
            <a:r>
              <a:rPr lang="en-AU" sz="2800" i="1" dirty="0" smtClean="0"/>
              <a:t> C  </a:t>
            </a:r>
            <a:endParaRPr lang="en-US" sz="2800" dirty="0"/>
          </a:p>
        </p:txBody>
      </p:sp>
      <p:sp>
        <p:nvSpPr>
          <p:cNvPr id="35" name="TextBox 34"/>
          <p:cNvSpPr txBox="1"/>
          <p:nvPr/>
        </p:nvSpPr>
        <p:spPr>
          <a:xfrm>
            <a:off x="1835696" y="3717032"/>
            <a:ext cx="4752528" cy="461665"/>
          </a:xfrm>
          <a:prstGeom prst="rect">
            <a:avLst/>
          </a:prstGeom>
          <a:noFill/>
          <a:ln w="34925">
            <a:noFill/>
          </a:ln>
        </p:spPr>
        <p:txBody>
          <a:bodyPr wrap="square" rtlCol="0">
            <a:spAutoFit/>
          </a:bodyPr>
          <a:lstStyle/>
          <a:p>
            <a:pPr algn="ctr"/>
            <a:r>
              <a:rPr lang="en-AU" sz="2400" i="1" dirty="0" smtClean="0"/>
              <a:t>x</a:t>
            </a:r>
            <a:r>
              <a:rPr lang="en-AU" sz="2400" dirty="0" smtClean="0"/>
              <a:t> </a:t>
            </a:r>
            <a:r>
              <a:rPr lang="en-AU" sz="2400" baseline="30000" dirty="0" smtClean="0"/>
              <a:t>2</a:t>
            </a:r>
            <a:r>
              <a:rPr lang="en-AU" sz="2400" dirty="0" smtClean="0"/>
              <a:t> =  11</a:t>
            </a:r>
            <a:r>
              <a:rPr lang="en-AU" sz="2400" baseline="30000" dirty="0" smtClean="0"/>
              <a:t>2</a:t>
            </a:r>
            <a:r>
              <a:rPr lang="en-AU" sz="2400" i="1" dirty="0" smtClean="0"/>
              <a:t>  +  </a:t>
            </a:r>
            <a:r>
              <a:rPr lang="en-AU" sz="2400" dirty="0" smtClean="0"/>
              <a:t>13</a:t>
            </a:r>
            <a:r>
              <a:rPr lang="en-AU" sz="2400" baseline="30000" dirty="0" smtClean="0"/>
              <a:t>2</a:t>
            </a:r>
            <a:r>
              <a:rPr lang="en-AU" sz="2400" i="1" dirty="0" smtClean="0"/>
              <a:t> – 2 × </a:t>
            </a:r>
            <a:r>
              <a:rPr lang="en-AU" sz="2400" dirty="0" smtClean="0"/>
              <a:t>11 × 13 </a:t>
            </a:r>
            <a:r>
              <a:rPr lang="en-AU" sz="2400" i="1" dirty="0" smtClean="0"/>
              <a:t>× </a:t>
            </a:r>
            <a:r>
              <a:rPr lang="en-AU" sz="2400" dirty="0" err="1" smtClean="0"/>
              <a:t>cos</a:t>
            </a:r>
            <a:r>
              <a:rPr lang="en-AU" sz="2400" i="1" dirty="0" smtClean="0"/>
              <a:t> </a:t>
            </a:r>
            <a:r>
              <a:rPr lang="en-AU" sz="2400" dirty="0" smtClean="0"/>
              <a:t>67</a:t>
            </a:r>
            <a:r>
              <a:rPr lang="en-AU" sz="2400" i="1" dirty="0" smtClean="0"/>
              <a:t>  </a:t>
            </a:r>
            <a:endParaRPr lang="en-US" sz="2400" dirty="0"/>
          </a:p>
        </p:txBody>
      </p:sp>
      <p:sp>
        <p:nvSpPr>
          <p:cNvPr id="36" name="TextBox 35"/>
          <p:cNvSpPr txBox="1"/>
          <p:nvPr/>
        </p:nvSpPr>
        <p:spPr>
          <a:xfrm>
            <a:off x="1691680" y="4119463"/>
            <a:ext cx="2304256" cy="461665"/>
          </a:xfrm>
          <a:prstGeom prst="rect">
            <a:avLst/>
          </a:prstGeom>
          <a:noFill/>
          <a:ln w="34925">
            <a:noFill/>
          </a:ln>
        </p:spPr>
        <p:txBody>
          <a:bodyPr wrap="square" rtlCol="0">
            <a:spAutoFit/>
          </a:bodyPr>
          <a:lstStyle/>
          <a:p>
            <a:pPr algn="ctr"/>
            <a:r>
              <a:rPr lang="en-AU" sz="2400" i="1" dirty="0" smtClean="0"/>
              <a:t>x</a:t>
            </a:r>
            <a:r>
              <a:rPr lang="en-AU" sz="2400" dirty="0" smtClean="0"/>
              <a:t> </a:t>
            </a:r>
            <a:r>
              <a:rPr lang="en-AU" sz="2400" baseline="30000" dirty="0" smtClean="0"/>
              <a:t>2</a:t>
            </a:r>
            <a:r>
              <a:rPr lang="en-AU" sz="2400" dirty="0" smtClean="0"/>
              <a:t> =  178.251</a:t>
            </a:r>
            <a:endParaRPr lang="en-US" sz="2400" dirty="0"/>
          </a:p>
        </p:txBody>
      </p:sp>
      <p:sp>
        <p:nvSpPr>
          <p:cNvPr id="37" name="TextBox 36"/>
          <p:cNvSpPr txBox="1"/>
          <p:nvPr/>
        </p:nvSpPr>
        <p:spPr>
          <a:xfrm>
            <a:off x="1547664" y="4551511"/>
            <a:ext cx="2304256" cy="461665"/>
          </a:xfrm>
          <a:prstGeom prst="rect">
            <a:avLst/>
          </a:prstGeom>
          <a:noFill/>
          <a:ln w="34925">
            <a:noFill/>
          </a:ln>
        </p:spPr>
        <p:txBody>
          <a:bodyPr wrap="square" rtlCol="0">
            <a:spAutoFit/>
          </a:bodyPr>
          <a:lstStyle/>
          <a:p>
            <a:pPr algn="ctr"/>
            <a:r>
              <a:rPr lang="en-AU" sz="2400" i="1" dirty="0" smtClean="0"/>
              <a:t>x </a:t>
            </a:r>
            <a:r>
              <a:rPr lang="en-AU" sz="2400" dirty="0" smtClean="0"/>
              <a:t>  =  13.35</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par>
                          <p:cTn id="13" fill="hold">
                            <p:stCondLst>
                              <p:cond delay="2000"/>
                            </p:stCondLst>
                            <p:childTnLst>
                              <p:par>
                                <p:cTn id="14" presetID="8" presetClass="entr" presetSubtype="16"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diamond(in)">
                                      <p:cBhvr>
                                        <p:cTn id="16" dur="20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diamond(in)">
                                      <p:cBhvr>
                                        <p:cTn id="21" dur="2000"/>
                                        <p:tgtEl>
                                          <p:spTgt spid="27"/>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diamond(in)">
                                      <p:cBhvr>
                                        <p:cTn id="26" dur="20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diamond(in)">
                                      <p:cBhvr>
                                        <p:cTn id="31" dur="2000"/>
                                        <p:tgtEl>
                                          <p:spTgt spid="36"/>
                                        </p:tgtEl>
                                      </p:cBhvr>
                                    </p:animEffect>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grpId="0"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diamond(in)">
                                      <p:cBhvr>
                                        <p:cTn id="36" dur="20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diamond(in)">
                                      <p:cBhvr>
                                        <p:cTn id="41" dur="2000"/>
                                        <p:tgtEl>
                                          <p:spTgt spid="17"/>
                                        </p:tgtEl>
                                      </p:cBhvr>
                                    </p:animEffect>
                                  </p:childTnLst>
                                </p:cTn>
                              </p:par>
                            </p:childTnLst>
                          </p:cTn>
                        </p:par>
                        <p:par>
                          <p:cTn id="42" fill="hold">
                            <p:stCondLst>
                              <p:cond delay="2000"/>
                            </p:stCondLst>
                            <p:childTnLst>
                              <p:par>
                                <p:cTn id="43" presetID="2" presetClass="entr" presetSubtype="12"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2000" fill="hold"/>
                                        <p:tgtEl>
                                          <p:spTgt spid="18"/>
                                        </p:tgtEl>
                                        <p:attrNameLst>
                                          <p:attrName>ppt_x</p:attrName>
                                        </p:attrNameLst>
                                      </p:cBhvr>
                                      <p:tavLst>
                                        <p:tav tm="0">
                                          <p:val>
                                            <p:strVal val="0-#ppt_w/2"/>
                                          </p:val>
                                        </p:tav>
                                        <p:tav tm="100000">
                                          <p:val>
                                            <p:strVal val="#ppt_x"/>
                                          </p:val>
                                        </p:tav>
                                      </p:tavLst>
                                    </p:anim>
                                    <p:anim calcmode="lin" valueType="num">
                                      <p:cBhvr additive="base">
                                        <p:cTn id="46" dur="20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7" grpId="0"/>
      <p:bldP spid="18" grpId="0"/>
      <p:bldP spid="27" grpId="0" animBg="1"/>
      <p:bldP spid="34" grpId="0" animBg="1"/>
      <p:bldP spid="35" grpId="0"/>
      <p:bldP spid="36" grpId="0"/>
      <p:bldP spid="3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95536" y="548680"/>
            <a:ext cx="1800200" cy="461665"/>
          </a:xfrm>
          <a:prstGeom prst="rect">
            <a:avLst/>
          </a:prstGeom>
          <a:noFill/>
        </p:spPr>
        <p:txBody>
          <a:bodyPr wrap="square" rtlCol="0">
            <a:spAutoFit/>
          </a:bodyPr>
          <a:lstStyle/>
          <a:p>
            <a:r>
              <a:rPr lang="en-AU" sz="2400" dirty="0" smtClean="0">
                <a:solidFill>
                  <a:srgbClr val="0000FF"/>
                </a:solidFill>
              </a:rPr>
              <a:t>Example 14</a:t>
            </a:r>
            <a:endParaRPr lang="en-US" sz="2400" dirty="0">
              <a:solidFill>
                <a:srgbClr val="0000FF"/>
              </a:solidFill>
            </a:endParaRPr>
          </a:p>
        </p:txBody>
      </p:sp>
      <p:sp>
        <p:nvSpPr>
          <p:cNvPr id="10" name="TextBox 9"/>
          <p:cNvSpPr txBox="1"/>
          <p:nvPr/>
        </p:nvSpPr>
        <p:spPr>
          <a:xfrm>
            <a:off x="3275856" y="1196752"/>
            <a:ext cx="5040560" cy="369332"/>
          </a:xfrm>
          <a:prstGeom prst="rect">
            <a:avLst/>
          </a:prstGeom>
          <a:noFill/>
        </p:spPr>
        <p:txBody>
          <a:bodyPr wrap="square" rtlCol="0">
            <a:spAutoFit/>
          </a:bodyPr>
          <a:lstStyle/>
          <a:p>
            <a:r>
              <a:rPr lang="en-AU" dirty="0" smtClean="0"/>
              <a:t>First check to see if we can use the Sine Rule.</a:t>
            </a:r>
            <a:endParaRPr lang="en-US" dirty="0"/>
          </a:p>
        </p:txBody>
      </p:sp>
      <p:sp>
        <p:nvSpPr>
          <p:cNvPr id="11" name="TextBox 10"/>
          <p:cNvSpPr txBox="1"/>
          <p:nvPr/>
        </p:nvSpPr>
        <p:spPr>
          <a:xfrm>
            <a:off x="2699792" y="1844824"/>
            <a:ext cx="6444208" cy="1477328"/>
          </a:xfrm>
          <a:prstGeom prst="rect">
            <a:avLst/>
          </a:prstGeom>
          <a:noFill/>
        </p:spPr>
        <p:txBody>
          <a:bodyPr wrap="square" rtlCol="0">
            <a:spAutoFit/>
          </a:bodyPr>
          <a:lstStyle/>
          <a:p>
            <a:r>
              <a:rPr lang="en-AU" dirty="0" smtClean="0"/>
              <a:t>We have a given angle and opposite side (80</a:t>
            </a:r>
            <a:r>
              <a:rPr lang="en-AU" dirty="0" smtClean="0">
                <a:sym typeface="Symbol"/>
              </a:rPr>
              <a:t></a:t>
            </a:r>
            <a:r>
              <a:rPr lang="en-AU" dirty="0" smtClean="0"/>
              <a:t> and 9 c</a:t>
            </a:r>
            <a:r>
              <a:rPr lang="en-AU" i="1" dirty="0" smtClean="0"/>
              <a:t>m</a:t>
            </a:r>
            <a:r>
              <a:rPr lang="en-AU" dirty="0" smtClean="0"/>
              <a:t>), but the unknown </a:t>
            </a:r>
            <a:r>
              <a:rPr lang="en-AU" i="1" dirty="0" smtClean="0">
                <a:sym typeface="Symbol"/>
              </a:rPr>
              <a:t></a:t>
            </a:r>
            <a:r>
              <a:rPr lang="en-AU" dirty="0" smtClean="0"/>
              <a:t> and the other given (6 </a:t>
            </a:r>
            <a:r>
              <a:rPr lang="en-AU" i="1" dirty="0" smtClean="0"/>
              <a:t>cm</a:t>
            </a:r>
            <a:r>
              <a:rPr lang="en-AU" dirty="0" smtClean="0">
                <a:sym typeface="Symbol"/>
              </a:rPr>
              <a:t>) are </a:t>
            </a:r>
            <a:r>
              <a:rPr lang="en-AU" b="1" dirty="0" smtClean="0">
                <a:sym typeface="Symbol"/>
              </a:rPr>
              <a:t>NOT</a:t>
            </a:r>
            <a:r>
              <a:rPr lang="en-AU" dirty="0" smtClean="0">
                <a:sym typeface="Symbol"/>
              </a:rPr>
              <a:t> a matching angle and opposite side. </a:t>
            </a:r>
            <a:r>
              <a:rPr lang="en-AU" b="1" dirty="0" smtClean="0">
                <a:sym typeface="Symbol"/>
              </a:rPr>
              <a:t>HOWEVER…we can use the </a:t>
            </a:r>
            <a:r>
              <a:rPr lang="en-AU" b="1" dirty="0" smtClean="0">
                <a:solidFill>
                  <a:srgbClr val="FF0000"/>
                </a:solidFill>
                <a:sym typeface="Symbol"/>
              </a:rPr>
              <a:t>SINE RULE </a:t>
            </a:r>
            <a:r>
              <a:rPr lang="en-AU" dirty="0" smtClean="0">
                <a:sym typeface="Symbol"/>
              </a:rPr>
              <a:t>to find the third angle </a:t>
            </a:r>
            <a:r>
              <a:rPr lang="en-AU" b="1" dirty="0" smtClean="0">
                <a:solidFill>
                  <a:srgbClr val="FF0000"/>
                </a:solidFill>
                <a:sym typeface="Symbol"/>
              </a:rPr>
              <a:t> </a:t>
            </a:r>
            <a:r>
              <a:rPr lang="en-AU" dirty="0" smtClean="0">
                <a:solidFill>
                  <a:srgbClr val="0000FF"/>
                </a:solidFill>
                <a:sym typeface="Symbol"/>
              </a:rPr>
              <a:t>(which forms a matching pair with the 6</a:t>
            </a:r>
            <a:r>
              <a:rPr lang="en-AU" i="1" dirty="0" smtClean="0">
                <a:solidFill>
                  <a:srgbClr val="0000FF"/>
                </a:solidFill>
                <a:sym typeface="Symbol"/>
              </a:rPr>
              <a:t>cm</a:t>
            </a:r>
            <a:r>
              <a:rPr lang="en-AU" dirty="0" smtClean="0">
                <a:solidFill>
                  <a:srgbClr val="0000FF"/>
                </a:solidFill>
                <a:sym typeface="Symbol"/>
              </a:rPr>
              <a:t>) </a:t>
            </a:r>
            <a:r>
              <a:rPr lang="en-AU" dirty="0" smtClean="0">
                <a:sym typeface="Symbol"/>
              </a:rPr>
              <a:t>then use the 180 rule to find </a:t>
            </a:r>
            <a:endParaRPr lang="en-US" i="1" dirty="0">
              <a:solidFill>
                <a:srgbClr val="FF0000"/>
              </a:solidFill>
            </a:endParaRPr>
          </a:p>
        </p:txBody>
      </p:sp>
      <p:graphicFrame>
        <p:nvGraphicFramePr>
          <p:cNvPr id="40962" name="Object 2"/>
          <p:cNvGraphicFramePr>
            <a:graphicFrameLocks noChangeAspect="1"/>
          </p:cNvGraphicFramePr>
          <p:nvPr/>
        </p:nvGraphicFramePr>
        <p:xfrm>
          <a:off x="2627784" y="3324274"/>
          <a:ext cx="1655762" cy="766763"/>
        </p:xfrm>
        <a:graphic>
          <a:graphicData uri="http://schemas.openxmlformats.org/presentationml/2006/ole">
            <p:oleObj spid="_x0000_s52226" name="Equation" r:id="rId3" imgW="850680" imgH="393480" progId="Equation.3">
              <p:embed/>
            </p:oleObj>
          </a:graphicData>
        </a:graphic>
      </p:graphicFrame>
      <p:sp>
        <p:nvSpPr>
          <p:cNvPr id="17" name="TextBox 16"/>
          <p:cNvSpPr txBox="1"/>
          <p:nvPr/>
        </p:nvSpPr>
        <p:spPr>
          <a:xfrm>
            <a:off x="5652120" y="3861048"/>
            <a:ext cx="3096344" cy="1384995"/>
          </a:xfrm>
          <a:prstGeom prst="rect">
            <a:avLst/>
          </a:prstGeom>
          <a:noFill/>
        </p:spPr>
        <p:txBody>
          <a:bodyPr wrap="square" rtlCol="0">
            <a:spAutoFit/>
          </a:bodyPr>
          <a:lstStyle/>
          <a:p>
            <a:r>
              <a:rPr lang="en-AU" sz="2800" dirty="0" err="1" smtClean="0">
                <a:solidFill>
                  <a:srgbClr val="006600"/>
                </a:solidFill>
              </a:rPr>
              <a:t>Ans</a:t>
            </a:r>
            <a:r>
              <a:rPr lang="en-AU" sz="2800" dirty="0" smtClean="0">
                <a:solidFill>
                  <a:srgbClr val="006600"/>
                </a:solidFill>
              </a:rPr>
              <a:t>: the size of angle </a:t>
            </a:r>
            <a:r>
              <a:rPr lang="en-AU" sz="2800" dirty="0" smtClean="0">
                <a:solidFill>
                  <a:srgbClr val="006600"/>
                </a:solidFill>
                <a:sym typeface="Symbol"/>
              </a:rPr>
              <a:t> </a:t>
            </a:r>
            <a:r>
              <a:rPr lang="en-AU" sz="2800" dirty="0" smtClean="0">
                <a:solidFill>
                  <a:srgbClr val="006600"/>
                </a:solidFill>
              </a:rPr>
              <a:t>is approx. 58.96</a:t>
            </a:r>
            <a:r>
              <a:rPr lang="en-AU" sz="2800" dirty="0" smtClean="0">
                <a:solidFill>
                  <a:srgbClr val="006600"/>
                </a:solidFill>
                <a:sym typeface="Symbol"/>
              </a:rPr>
              <a:t> or 5858’</a:t>
            </a:r>
            <a:endParaRPr lang="en-US" sz="2800" dirty="0">
              <a:solidFill>
                <a:srgbClr val="006600"/>
              </a:solidFill>
            </a:endParaRPr>
          </a:p>
        </p:txBody>
      </p:sp>
      <p:sp>
        <p:nvSpPr>
          <p:cNvPr id="18" name="TextBox 17"/>
          <p:cNvSpPr txBox="1"/>
          <p:nvPr/>
        </p:nvSpPr>
        <p:spPr>
          <a:xfrm>
            <a:off x="6444208" y="5805264"/>
            <a:ext cx="2232248" cy="830997"/>
          </a:xfrm>
          <a:prstGeom prst="rect">
            <a:avLst/>
          </a:prstGeom>
          <a:noFill/>
        </p:spPr>
        <p:txBody>
          <a:bodyPr wrap="square" rtlCol="0">
            <a:spAutoFit/>
          </a:bodyPr>
          <a:lstStyle/>
          <a:p>
            <a:r>
              <a:rPr lang="en-AU" sz="1600" b="1" dirty="0" smtClean="0">
                <a:solidFill>
                  <a:srgbClr val="FF0000"/>
                </a:solidFill>
                <a:latin typeface="Arial" pitchFamily="34" charset="0"/>
                <a:cs typeface="Arial" pitchFamily="34" charset="0"/>
              </a:rPr>
              <a:t>Remember to check appropriateness of your answer!</a:t>
            </a:r>
            <a:endParaRPr lang="en-US" sz="1600" b="1" dirty="0">
              <a:solidFill>
                <a:srgbClr val="FF0000"/>
              </a:solidFill>
              <a:latin typeface="Arial" pitchFamily="34" charset="0"/>
              <a:cs typeface="Arial" pitchFamily="34" charset="0"/>
            </a:endParaRPr>
          </a:p>
        </p:txBody>
      </p:sp>
      <p:graphicFrame>
        <p:nvGraphicFramePr>
          <p:cNvPr id="43014" name="Object 6"/>
          <p:cNvGraphicFramePr>
            <a:graphicFrameLocks noChangeAspect="1"/>
          </p:cNvGraphicFramePr>
          <p:nvPr/>
        </p:nvGraphicFramePr>
        <p:xfrm>
          <a:off x="2540000" y="4115941"/>
          <a:ext cx="1976438" cy="766763"/>
        </p:xfrm>
        <a:graphic>
          <a:graphicData uri="http://schemas.openxmlformats.org/presentationml/2006/ole">
            <p:oleObj spid="_x0000_s52229" name="Equation" r:id="rId4" imgW="1015920" imgH="393480" progId="Equation.3">
              <p:embed/>
            </p:oleObj>
          </a:graphicData>
        </a:graphic>
      </p:graphicFrame>
      <p:sp>
        <p:nvSpPr>
          <p:cNvPr id="30" name="TextBox 29"/>
          <p:cNvSpPr txBox="1"/>
          <p:nvPr/>
        </p:nvSpPr>
        <p:spPr>
          <a:xfrm>
            <a:off x="611560" y="4149080"/>
            <a:ext cx="936104" cy="1631216"/>
          </a:xfrm>
          <a:prstGeom prst="rect">
            <a:avLst/>
          </a:prstGeom>
          <a:blipFill>
            <a:blip r:embed="rId5" cstate="print"/>
            <a:tile tx="0" ty="0" sx="100000" sy="100000" flip="none" algn="tl"/>
          </a:blipFill>
          <a:ln w="44450">
            <a:solidFill>
              <a:schemeClr val="accent6">
                <a:lumMod val="75000"/>
              </a:schemeClr>
            </a:solidFill>
          </a:ln>
        </p:spPr>
        <p:txBody>
          <a:bodyPr wrap="square" rtlCol="0">
            <a:spAutoFit/>
          </a:bodyPr>
          <a:lstStyle/>
          <a:p>
            <a:r>
              <a:rPr lang="en-AU" sz="2000" b="1" dirty="0" smtClean="0"/>
              <a:t>Let….</a:t>
            </a:r>
          </a:p>
          <a:p>
            <a:r>
              <a:rPr lang="en-AU" sz="2000" b="1" i="1" dirty="0" smtClean="0"/>
              <a:t>a</a:t>
            </a:r>
            <a:r>
              <a:rPr lang="en-AU" sz="2000" b="1" dirty="0" smtClean="0"/>
              <a:t> = </a:t>
            </a:r>
            <a:r>
              <a:rPr lang="en-AU" sz="2000" b="1" dirty="0" smtClean="0">
                <a:sym typeface="Symbol"/>
              </a:rPr>
              <a:t>6</a:t>
            </a:r>
          </a:p>
          <a:p>
            <a:r>
              <a:rPr lang="en-AU" sz="2000" b="1" i="1" dirty="0" smtClean="0">
                <a:sym typeface="Symbol"/>
              </a:rPr>
              <a:t>A</a:t>
            </a:r>
            <a:r>
              <a:rPr lang="en-AU" sz="2000" b="1" dirty="0" smtClean="0">
                <a:sym typeface="Symbol"/>
              </a:rPr>
              <a:t> = </a:t>
            </a:r>
            <a:r>
              <a:rPr lang="en-AU" sz="2000" b="1" dirty="0" smtClean="0">
                <a:solidFill>
                  <a:srgbClr val="FF0000"/>
                </a:solidFill>
                <a:sym typeface="Symbol"/>
              </a:rPr>
              <a:t></a:t>
            </a:r>
            <a:r>
              <a:rPr lang="en-AU" sz="2000" b="1" dirty="0" smtClean="0">
                <a:sym typeface="Symbol"/>
              </a:rPr>
              <a:t> </a:t>
            </a:r>
          </a:p>
          <a:p>
            <a:r>
              <a:rPr lang="en-AU" sz="2000" b="1" i="1" dirty="0" smtClean="0">
                <a:sym typeface="Symbol"/>
              </a:rPr>
              <a:t>b</a:t>
            </a:r>
            <a:r>
              <a:rPr lang="en-AU" sz="2000" b="1" dirty="0" smtClean="0">
                <a:sym typeface="Symbol"/>
              </a:rPr>
              <a:t> = 9</a:t>
            </a:r>
          </a:p>
          <a:p>
            <a:r>
              <a:rPr lang="en-AU" sz="2000" b="1" i="1" dirty="0" smtClean="0">
                <a:sym typeface="Symbol"/>
              </a:rPr>
              <a:t>B</a:t>
            </a:r>
            <a:r>
              <a:rPr lang="en-AU" sz="2000" b="1" dirty="0" smtClean="0">
                <a:sym typeface="Symbol"/>
              </a:rPr>
              <a:t> = 80</a:t>
            </a:r>
            <a:endParaRPr lang="en-US" sz="2000" b="1" i="1" dirty="0"/>
          </a:p>
        </p:txBody>
      </p:sp>
      <p:grpSp>
        <p:nvGrpSpPr>
          <p:cNvPr id="31" name="Group 30"/>
          <p:cNvGrpSpPr/>
          <p:nvPr/>
        </p:nvGrpSpPr>
        <p:grpSpPr>
          <a:xfrm>
            <a:off x="-324544" y="1412776"/>
            <a:ext cx="2835308" cy="1584176"/>
            <a:chOff x="2960828" y="4317155"/>
            <a:chExt cx="2835308" cy="1584176"/>
          </a:xfrm>
        </p:grpSpPr>
        <p:sp>
          <p:nvSpPr>
            <p:cNvPr id="32" name="Isosceles Triangle 31"/>
            <p:cNvSpPr/>
            <p:nvPr/>
          </p:nvSpPr>
          <p:spPr>
            <a:xfrm rot="20441215">
              <a:off x="2960828" y="4317155"/>
              <a:ext cx="2592288" cy="1584176"/>
            </a:xfrm>
            <a:prstGeom prst="triangle">
              <a:avLst>
                <a:gd name="adj" fmla="val 73194"/>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4499992" y="4941168"/>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E</a:t>
              </a:r>
              <a:endParaRPr lang="en-US" sz="2000" b="1" dirty="0">
                <a:solidFill>
                  <a:srgbClr val="FF0000"/>
                </a:solidFill>
                <a:latin typeface="Arial" pitchFamily="34" charset="0"/>
                <a:cs typeface="Arial" pitchFamily="34" charset="0"/>
              </a:endParaRPr>
            </a:p>
          </p:txBody>
        </p:sp>
        <p:sp>
          <p:nvSpPr>
            <p:cNvPr id="34" name="TextBox 33"/>
            <p:cNvSpPr txBox="1"/>
            <p:nvPr/>
          </p:nvSpPr>
          <p:spPr>
            <a:xfrm>
              <a:off x="4355976" y="4365104"/>
              <a:ext cx="576064" cy="369332"/>
            </a:xfrm>
            <a:prstGeom prst="rect">
              <a:avLst/>
            </a:prstGeom>
            <a:noFill/>
          </p:spPr>
          <p:txBody>
            <a:bodyPr wrap="square" rtlCol="0">
              <a:spAutoFit/>
            </a:bodyPr>
            <a:lstStyle/>
            <a:p>
              <a:r>
                <a:rPr lang="en-AU" dirty="0" smtClean="0">
                  <a:sym typeface="Symbol"/>
                </a:rPr>
                <a:t></a:t>
              </a:r>
              <a:endParaRPr lang="en-US" dirty="0"/>
            </a:p>
          </p:txBody>
        </p:sp>
        <p:sp>
          <p:nvSpPr>
            <p:cNvPr id="35" name="TextBox 34"/>
            <p:cNvSpPr txBox="1"/>
            <p:nvPr/>
          </p:nvSpPr>
          <p:spPr>
            <a:xfrm>
              <a:off x="5148064" y="5157192"/>
              <a:ext cx="576064" cy="369332"/>
            </a:xfrm>
            <a:prstGeom prst="rect">
              <a:avLst/>
            </a:prstGeom>
            <a:noFill/>
          </p:spPr>
          <p:txBody>
            <a:bodyPr wrap="square" rtlCol="0">
              <a:spAutoFit/>
            </a:bodyPr>
            <a:lstStyle/>
            <a:p>
              <a:r>
                <a:rPr lang="en-AU" dirty="0" smtClean="0">
                  <a:sym typeface="Symbol"/>
                </a:rPr>
                <a:t>80</a:t>
              </a:r>
              <a:endParaRPr lang="en-US" dirty="0"/>
            </a:p>
          </p:txBody>
        </p:sp>
        <p:sp>
          <p:nvSpPr>
            <p:cNvPr id="36" name="TextBox 35"/>
            <p:cNvSpPr txBox="1"/>
            <p:nvPr/>
          </p:nvSpPr>
          <p:spPr>
            <a:xfrm>
              <a:off x="3491880" y="4787860"/>
              <a:ext cx="720080" cy="369332"/>
            </a:xfrm>
            <a:prstGeom prst="rect">
              <a:avLst/>
            </a:prstGeom>
            <a:noFill/>
          </p:spPr>
          <p:txBody>
            <a:bodyPr wrap="square" rtlCol="0">
              <a:spAutoFit/>
            </a:bodyPr>
            <a:lstStyle/>
            <a:p>
              <a:r>
                <a:rPr lang="en-AU" dirty="0" smtClean="0"/>
                <a:t>9</a:t>
              </a:r>
              <a:r>
                <a:rPr lang="en-AU" i="1" dirty="0" smtClean="0"/>
                <a:t> cm</a:t>
              </a:r>
              <a:endParaRPr lang="en-US" i="1" dirty="0"/>
            </a:p>
          </p:txBody>
        </p:sp>
        <p:sp>
          <p:nvSpPr>
            <p:cNvPr id="37" name="TextBox 36"/>
            <p:cNvSpPr txBox="1"/>
            <p:nvPr/>
          </p:nvSpPr>
          <p:spPr>
            <a:xfrm>
              <a:off x="5004048" y="4437112"/>
              <a:ext cx="792088" cy="369332"/>
            </a:xfrm>
            <a:prstGeom prst="rect">
              <a:avLst/>
            </a:prstGeom>
            <a:noFill/>
          </p:spPr>
          <p:txBody>
            <a:bodyPr wrap="square" rtlCol="0">
              <a:spAutoFit/>
            </a:bodyPr>
            <a:lstStyle/>
            <a:p>
              <a:r>
                <a:rPr lang="en-AU" dirty="0" smtClean="0"/>
                <a:t>6</a:t>
              </a:r>
              <a:r>
                <a:rPr lang="en-AU" i="1" dirty="0" smtClean="0"/>
                <a:t> cm</a:t>
              </a:r>
              <a:endParaRPr lang="en-US" i="1" dirty="0"/>
            </a:p>
          </p:txBody>
        </p:sp>
      </p:grpSp>
      <p:sp>
        <p:nvSpPr>
          <p:cNvPr id="38" name="TextBox 37"/>
          <p:cNvSpPr txBox="1"/>
          <p:nvPr/>
        </p:nvSpPr>
        <p:spPr>
          <a:xfrm>
            <a:off x="179512" y="2924944"/>
            <a:ext cx="648072" cy="369332"/>
          </a:xfrm>
          <a:prstGeom prst="rect">
            <a:avLst/>
          </a:prstGeom>
          <a:noFill/>
        </p:spPr>
        <p:txBody>
          <a:bodyPr wrap="square" rtlCol="0">
            <a:spAutoFit/>
          </a:bodyPr>
          <a:lstStyle/>
          <a:p>
            <a:r>
              <a:rPr lang="en-US" b="1" dirty="0" smtClean="0">
                <a:solidFill>
                  <a:srgbClr val="FF0000"/>
                </a:solidFill>
                <a:sym typeface="Symbol"/>
              </a:rPr>
              <a:t></a:t>
            </a:r>
            <a:endParaRPr lang="en-US" b="1" dirty="0">
              <a:solidFill>
                <a:srgbClr val="FF0000"/>
              </a:solidFill>
            </a:endParaRPr>
          </a:p>
        </p:txBody>
      </p:sp>
      <p:graphicFrame>
        <p:nvGraphicFramePr>
          <p:cNvPr id="52230" name="Object 6"/>
          <p:cNvGraphicFramePr>
            <a:graphicFrameLocks noChangeAspect="1"/>
          </p:cNvGraphicFramePr>
          <p:nvPr/>
        </p:nvGraphicFramePr>
        <p:xfrm>
          <a:off x="2617341" y="4883125"/>
          <a:ext cx="2098675" cy="766763"/>
        </p:xfrm>
        <a:graphic>
          <a:graphicData uri="http://schemas.openxmlformats.org/presentationml/2006/ole">
            <p:oleObj spid="_x0000_s52230" name="Equation" r:id="rId6" imgW="1079280" imgH="393480" progId="Equation.3">
              <p:embed/>
            </p:oleObj>
          </a:graphicData>
        </a:graphic>
      </p:graphicFrame>
      <p:graphicFrame>
        <p:nvGraphicFramePr>
          <p:cNvPr id="52231" name="Object 7"/>
          <p:cNvGraphicFramePr>
            <a:graphicFrameLocks noChangeAspect="1"/>
          </p:cNvGraphicFramePr>
          <p:nvPr/>
        </p:nvGraphicFramePr>
        <p:xfrm>
          <a:off x="3097088" y="5603205"/>
          <a:ext cx="1258888" cy="346075"/>
        </p:xfrm>
        <a:graphic>
          <a:graphicData uri="http://schemas.openxmlformats.org/presentationml/2006/ole">
            <p:oleObj spid="_x0000_s52231" name="Equation" r:id="rId7" imgW="647640" imgH="177480" progId="Equation.3">
              <p:embed/>
            </p:oleObj>
          </a:graphicData>
        </a:graphic>
      </p:graphicFrame>
      <p:graphicFrame>
        <p:nvGraphicFramePr>
          <p:cNvPr id="52232" name="Object 8"/>
          <p:cNvGraphicFramePr>
            <a:graphicFrameLocks noChangeAspect="1"/>
          </p:cNvGraphicFramePr>
          <p:nvPr/>
        </p:nvGraphicFramePr>
        <p:xfrm>
          <a:off x="3135362" y="6035253"/>
          <a:ext cx="2444750" cy="346075"/>
        </p:xfrm>
        <a:graphic>
          <a:graphicData uri="http://schemas.openxmlformats.org/presentationml/2006/ole">
            <p:oleObj spid="_x0000_s52232" name="Equation" r:id="rId8" imgW="1257120" imgH="177480" progId="Equation.3">
              <p:embed/>
            </p:oleObj>
          </a:graphicData>
        </a:graphic>
      </p:graphicFrame>
      <p:graphicFrame>
        <p:nvGraphicFramePr>
          <p:cNvPr id="52233" name="Object 9"/>
          <p:cNvGraphicFramePr>
            <a:graphicFrameLocks noChangeAspect="1"/>
          </p:cNvGraphicFramePr>
          <p:nvPr/>
        </p:nvGraphicFramePr>
        <p:xfrm>
          <a:off x="3131840" y="6467301"/>
          <a:ext cx="1333500" cy="346075"/>
        </p:xfrm>
        <a:graphic>
          <a:graphicData uri="http://schemas.openxmlformats.org/presentationml/2006/ole">
            <p:oleObj spid="_x0000_s52233" name="Equation" r:id="rId9" imgW="685800" imgH="177480" progId="Equation.3">
              <p:embed/>
            </p:oleObj>
          </a:graphicData>
        </a:graphic>
      </p:graphicFrame>
      <p:sp>
        <p:nvSpPr>
          <p:cNvPr id="39" name="Oval 38"/>
          <p:cNvSpPr/>
          <p:nvPr/>
        </p:nvSpPr>
        <p:spPr>
          <a:xfrm>
            <a:off x="0" y="2924944"/>
            <a:ext cx="648072" cy="57606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1691680" y="1412776"/>
            <a:ext cx="648072" cy="57606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amond(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amond(in)">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 calcmode="lin" valueType="num">
                                      <p:cBhvr additive="base">
                                        <p:cTn id="17" dur="3000" fill="hold"/>
                                        <p:tgtEl>
                                          <p:spTgt spid="38"/>
                                        </p:tgtEl>
                                        <p:attrNameLst>
                                          <p:attrName>ppt_x</p:attrName>
                                        </p:attrNameLst>
                                      </p:cBhvr>
                                      <p:tavLst>
                                        <p:tav tm="0">
                                          <p:val>
                                            <p:strVal val="#ppt_x"/>
                                          </p:val>
                                        </p:tav>
                                        <p:tav tm="100000">
                                          <p:val>
                                            <p:strVal val="#ppt_x"/>
                                          </p:val>
                                        </p:tav>
                                      </p:tavLst>
                                    </p:anim>
                                    <p:anim calcmode="lin" valueType="num">
                                      <p:cBhvr additive="base">
                                        <p:cTn id="18" dur="3000" fill="hold"/>
                                        <p:tgtEl>
                                          <p:spTgt spid="38"/>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35" presetClass="entr" presetSubtype="0" fill="hold" grpId="0" nodeType="after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2000"/>
                                        <p:tgtEl>
                                          <p:spTgt spid="39"/>
                                        </p:tgtEl>
                                      </p:cBhvr>
                                    </p:animEffect>
                                    <p:anim calcmode="lin" valueType="num">
                                      <p:cBhvr>
                                        <p:cTn id="23" dur="2000" fill="hold"/>
                                        <p:tgtEl>
                                          <p:spTgt spid="39"/>
                                        </p:tgtEl>
                                        <p:attrNameLst>
                                          <p:attrName>style.rotation</p:attrName>
                                        </p:attrNameLst>
                                      </p:cBhvr>
                                      <p:tavLst>
                                        <p:tav tm="0">
                                          <p:val>
                                            <p:fltVal val="720"/>
                                          </p:val>
                                        </p:tav>
                                        <p:tav tm="100000">
                                          <p:val>
                                            <p:fltVal val="0"/>
                                          </p:val>
                                        </p:tav>
                                      </p:tavLst>
                                    </p:anim>
                                    <p:anim calcmode="lin" valueType="num">
                                      <p:cBhvr>
                                        <p:cTn id="24" dur="2000" fill="hold"/>
                                        <p:tgtEl>
                                          <p:spTgt spid="39"/>
                                        </p:tgtEl>
                                        <p:attrNameLst>
                                          <p:attrName>ppt_h</p:attrName>
                                        </p:attrNameLst>
                                      </p:cBhvr>
                                      <p:tavLst>
                                        <p:tav tm="0">
                                          <p:val>
                                            <p:fltVal val="0"/>
                                          </p:val>
                                        </p:tav>
                                        <p:tav tm="100000">
                                          <p:val>
                                            <p:strVal val="#ppt_h"/>
                                          </p:val>
                                        </p:tav>
                                      </p:tavLst>
                                    </p:anim>
                                    <p:anim calcmode="lin" valueType="num">
                                      <p:cBhvr>
                                        <p:cTn id="25" dur="2000" fill="hold"/>
                                        <p:tgtEl>
                                          <p:spTgt spid="39"/>
                                        </p:tgtEl>
                                        <p:attrNameLst>
                                          <p:attrName>ppt_w</p:attrName>
                                        </p:attrNameLst>
                                      </p:cBhvr>
                                      <p:tavLst>
                                        <p:tav tm="0">
                                          <p:val>
                                            <p:fltVal val="0"/>
                                          </p:val>
                                        </p:tav>
                                        <p:tav tm="100000">
                                          <p:val>
                                            <p:strVal val="#ppt_w"/>
                                          </p:val>
                                        </p:tav>
                                      </p:tavLst>
                                    </p:anim>
                                  </p:childTnLst>
                                </p:cTn>
                              </p:par>
                              <p:par>
                                <p:cTn id="26" presetID="35" presetClass="entr" presetSubtype="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2000"/>
                                        <p:tgtEl>
                                          <p:spTgt spid="40"/>
                                        </p:tgtEl>
                                      </p:cBhvr>
                                    </p:animEffect>
                                    <p:anim calcmode="lin" valueType="num">
                                      <p:cBhvr>
                                        <p:cTn id="29" dur="2000" fill="hold"/>
                                        <p:tgtEl>
                                          <p:spTgt spid="40"/>
                                        </p:tgtEl>
                                        <p:attrNameLst>
                                          <p:attrName>style.rotation</p:attrName>
                                        </p:attrNameLst>
                                      </p:cBhvr>
                                      <p:tavLst>
                                        <p:tav tm="0">
                                          <p:val>
                                            <p:fltVal val="720"/>
                                          </p:val>
                                        </p:tav>
                                        <p:tav tm="100000">
                                          <p:val>
                                            <p:fltVal val="0"/>
                                          </p:val>
                                        </p:tav>
                                      </p:tavLst>
                                    </p:anim>
                                    <p:anim calcmode="lin" valueType="num">
                                      <p:cBhvr>
                                        <p:cTn id="30" dur="2000" fill="hold"/>
                                        <p:tgtEl>
                                          <p:spTgt spid="40"/>
                                        </p:tgtEl>
                                        <p:attrNameLst>
                                          <p:attrName>ppt_h</p:attrName>
                                        </p:attrNameLst>
                                      </p:cBhvr>
                                      <p:tavLst>
                                        <p:tav tm="0">
                                          <p:val>
                                            <p:fltVal val="0"/>
                                          </p:val>
                                        </p:tav>
                                        <p:tav tm="100000">
                                          <p:val>
                                            <p:strVal val="#ppt_h"/>
                                          </p:val>
                                        </p:tav>
                                      </p:tavLst>
                                    </p:anim>
                                    <p:anim calcmode="lin" valueType="num">
                                      <p:cBhvr>
                                        <p:cTn id="31" dur="2000" fill="hold"/>
                                        <p:tgtEl>
                                          <p:spTgt spid="40"/>
                                        </p:tgtEl>
                                        <p:attrNameLst>
                                          <p:attrName>ppt_w</p:attrName>
                                        </p:attrNameLst>
                                      </p:cBhvr>
                                      <p:tavLst>
                                        <p:tav tm="0">
                                          <p:val>
                                            <p:fltVal val="0"/>
                                          </p:val>
                                        </p:tav>
                                        <p:tav tm="100000">
                                          <p:val>
                                            <p:strVal val="#ppt_w"/>
                                          </p:val>
                                        </p:tav>
                                      </p:tavLst>
                                    </p:anim>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40962"/>
                                        </p:tgtEl>
                                        <p:attrNameLst>
                                          <p:attrName>style.visibility</p:attrName>
                                        </p:attrNameLst>
                                      </p:cBhvr>
                                      <p:to>
                                        <p:strVal val="visible"/>
                                      </p:to>
                                    </p:set>
                                    <p:animEffect transition="in" filter="diamond(in)">
                                      <p:cBhvr>
                                        <p:cTn id="36" dur="2000"/>
                                        <p:tgtEl>
                                          <p:spTgt spid="40962"/>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ntr" presetSubtype="16"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diamond(in)">
                                      <p:cBhvr>
                                        <p:cTn id="41" dur="20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8" presetClass="entr" presetSubtype="16" fill="hold" nodeType="clickEffect">
                                  <p:stCondLst>
                                    <p:cond delay="0"/>
                                  </p:stCondLst>
                                  <p:childTnLst>
                                    <p:set>
                                      <p:cBhvr>
                                        <p:cTn id="45" dur="1" fill="hold">
                                          <p:stCondLst>
                                            <p:cond delay="0"/>
                                          </p:stCondLst>
                                        </p:cTn>
                                        <p:tgtEl>
                                          <p:spTgt spid="43014"/>
                                        </p:tgtEl>
                                        <p:attrNameLst>
                                          <p:attrName>style.visibility</p:attrName>
                                        </p:attrNameLst>
                                      </p:cBhvr>
                                      <p:to>
                                        <p:strVal val="visible"/>
                                      </p:to>
                                    </p:set>
                                    <p:animEffect transition="in" filter="diamond(in)">
                                      <p:cBhvr>
                                        <p:cTn id="46" dur="2000"/>
                                        <p:tgtEl>
                                          <p:spTgt spid="43014"/>
                                        </p:tgtEl>
                                      </p:cBhvr>
                                    </p:animEffect>
                                  </p:childTnLst>
                                </p:cTn>
                              </p:par>
                            </p:childTnLst>
                          </p:cTn>
                        </p:par>
                      </p:childTnLst>
                    </p:cTn>
                  </p:par>
                  <p:par>
                    <p:cTn id="47" fill="hold">
                      <p:stCondLst>
                        <p:cond delay="indefinite"/>
                      </p:stCondLst>
                      <p:childTnLst>
                        <p:par>
                          <p:cTn id="48" fill="hold">
                            <p:stCondLst>
                              <p:cond delay="0"/>
                            </p:stCondLst>
                            <p:childTnLst>
                              <p:par>
                                <p:cTn id="49" presetID="8" presetClass="entr" presetSubtype="16" fill="hold" nodeType="clickEffect">
                                  <p:stCondLst>
                                    <p:cond delay="0"/>
                                  </p:stCondLst>
                                  <p:childTnLst>
                                    <p:set>
                                      <p:cBhvr>
                                        <p:cTn id="50" dur="1" fill="hold">
                                          <p:stCondLst>
                                            <p:cond delay="0"/>
                                          </p:stCondLst>
                                        </p:cTn>
                                        <p:tgtEl>
                                          <p:spTgt spid="52230"/>
                                        </p:tgtEl>
                                        <p:attrNameLst>
                                          <p:attrName>style.visibility</p:attrName>
                                        </p:attrNameLst>
                                      </p:cBhvr>
                                      <p:to>
                                        <p:strVal val="visible"/>
                                      </p:to>
                                    </p:set>
                                    <p:animEffect transition="in" filter="diamond(in)">
                                      <p:cBhvr>
                                        <p:cTn id="51" dur="2000"/>
                                        <p:tgtEl>
                                          <p:spTgt spid="52230"/>
                                        </p:tgtEl>
                                      </p:cBhvr>
                                    </p:animEffect>
                                  </p:childTnLst>
                                </p:cTn>
                              </p:par>
                            </p:childTnLst>
                          </p:cTn>
                        </p:par>
                      </p:childTnLst>
                    </p:cTn>
                  </p:par>
                  <p:par>
                    <p:cTn id="52" fill="hold">
                      <p:stCondLst>
                        <p:cond delay="indefinite"/>
                      </p:stCondLst>
                      <p:childTnLst>
                        <p:par>
                          <p:cTn id="53" fill="hold">
                            <p:stCondLst>
                              <p:cond delay="0"/>
                            </p:stCondLst>
                            <p:childTnLst>
                              <p:par>
                                <p:cTn id="54" presetID="8" presetClass="entr" presetSubtype="16" fill="hold" nodeType="clickEffect">
                                  <p:stCondLst>
                                    <p:cond delay="0"/>
                                  </p:stCondLst>
                                  <p:childTnLst>
                                    <p:set>
                                      <p:cBhvr>
                                        <p:cTn id="55" dur="1" fill="hold">
                                          <p:stCondLst>
                                            <p:cond delay="0"/>
                                          </p:stCondLst>
                                        </p:cTn>
                                        <p:tgtEl>
                                          <p:spTgt spid="52231"/>
                                        </p:tgtEl>
                                        <p:attrNameLst>
                                          <p:attrName>style.visibility</p:attrName>
                                        </p:attrNameLst>
                                      </p:cBhvr>
                                      <p:to>
                                        <p:strVal val="visible"/>
                                      </p:to>
                                    </p:set>
                                    <p:animEffect transition="in" filter="diamond(in)">
                                      <p:cBhvr>
                                        <p:cTn id="56" dur="2000"/>
                                        <p:tgtEl>
                                          <p:spTgt spid="52231"/>
                                        </p:tgtEl>
                                      </p:cBhvr>
                                    </p:animEffect>
                                  </p:childTnLst>
                                </p:cTn>
                              </p:par>
                            </p:childTnLst>
                          </p:cTn>
                        </p:par>
                      </p:childTnLst>
                    </p:cTn>
                  </p:par>
                  <p:par>
                    <p:cTn id="57" fill="hold">
                      <p:stCondLst>
                        <p:cond delay="indefinite"/>
                      </p:stCondLst>
                      <p:childTnLst>
                        <p:par>
                          <p:cTn id="58" fill="hold">
                            <p:stCondLst>
                              <p:cond delay="0"/>
                            </p:stCondLst>
                            <p:childTnLst>
                              <p:par>
                                <p:cTn id="59" presetID="8" presetClass="entr" presetSubtype="16" fill="hold" nodeType="clickEffect">
                                  <p:stCondLst>
                                    <p:cond delay="0"/>
                                  </p:stCondLst>
                                  <p:childTnLst>
                                    <p:set>
                                      <p:cBhvr>
                                        <p:cTn id="60" dur="1" fill="hold">
                                          <p:stCondLst>
                                            <p:cond delay="0"/>
                                          </p:stCondLst>
                                        </p:cTn>
                                        <p:tgtEl>
                                          <p:spTgt spid="52232"/>
                                        </p:tgtEl>
                                        <p:attrNameLst>
                                          <p:attrName>style.visibility</p:attrName>
                                        </p:attrNameLst>
                                      </p:cBhvr>
                                      <p:to>
                                        <p:strVal val="visible"/>
                                      </p:to>
                                    </p:set>
                                    <p:animEffect transition="in" filter="diamond(in)">
                                      <p:cBhvr>
                                        <p:cTn id="61" dur="2000"/>
                                        <p:tgtEl>
                                          <p:spTgt spid="52232"/>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ntr" presetSubtype="16" fill="hold" nodeType="clickEffect">
                                  <p:stCondLst>
                                    <p:cond delay="0"/>
                                  </p:stCondLst>
                                  <p:childTnLst>
                                    <p:set>
                                      <p:cBhvr>
                                        <p:cTn id="65" dur="1" fill="hold">
                                          <p:stCondLst>
                                            <p:cond delay="0"/>
                                          </p:stCondLst>
                                        </p:cTn>
                                        <p:tgtEl>
                                          <p:spTgt spid="52233"/>
                                        </p:tgtEl>
                                        <p:attrNameLst>
                                          <p:attrName>style.visibility</p:attrName>
                                        </p:attrNameLst>
                                      </p:cBhvr>
                                      <p:to>
                                        <p:strVal val="visible"/>
                                      </p:to>
                                    </p:set>
                                    <p:animEffect transition="in" filter="diamond(in)">
                                      <p:cBhvr>
                                        <p:cTn id="66" dur="2000"/>
                                        <p:tgtEl>
                                          <p:spTgt spid="52233"/>
                                        </p:tgtEl>
                                      </p:cBhvr>
                                    </p:animEffect>
                                  </p:childTnLst>
                                </p:cTn>
                              </p:par>
                            </p:childTnLst>
                          </p:cTn>
                        </p:par>
                      </p:childTnLst>
                    </p:cTn>
                  </p:par>
                  <p:par>
                    <p:cTn id="67" fill="hold">
                      <p:stCondLst>
                        <p:cond delay="indefinite"/>
                      </p:stCondLst>
                      <p:childTnLst>
                        <p:par>
                          <p:cTn id="68" fill="hold">
                            <p:stCondLst>
                              <p:cond delay="0"/>
                            </p:stCondLst>
                            <p:childTnLst>
                              <p:par>
                                <p:cTn id="69" presetID="8" presetClass="entr" presetSubtype="16"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diamond(in)">
                                      <p:cBhvr>
                                        <p:cTn id="71" dur="2000"/>
                                        <p:tgtEl>
                                          <p:spTgt spid="17"/>
                                        </p:tgtEl>
                                      </p:cBhvr>
                                    </p:animEffect>
                                  </p:childTnLst>
                                </p:cTn>
                              </p:par>
                            </p:childTnLst>
                          </p:cTn>
                        </p:par>
                        <p:par>
                          <p:cTn id="72" fill="hold">
                            <p:stCondLst>
                              <p:cond delay="2000"/>
                            </p:stCondLst>
                            <p:childTnLst>
                              <p:par>
                                <p:cTn id="73" presetID="2" presetClass="entr" presetSubtype="9"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3000" fill="hold"/>
                                        <p:tgtEl>
                                          <p:spTgt spid="18"/>
                                        </p:tgtEl>
                                        <p:attrNameLst>
                                          <p:attrName>ppt_x</p:attrName>
                                        </p:attrNameLst>
                                      </p:cBhvr>
                                      <p:tavLst>
                                        <p:tav tm="0">
                                          <p:val>
                                            <p:strVal val="0-#ppt_w/2"/>
                                          </p:val>
                                        </p:tav>
                                        <p:tav tm="100000">
                                          <p:val>
                                            <p:strVal val="#ppt_x"/>
                                          </p:val>
                                        </p:tav>
                                      </p:tavLst>
                                    </p:anim>
                                    <p:anim calcmode="lin" valueType="num">
                                      <p:cBhvr additive="base">
                                        <p:cTn id="76" dur="30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7" grpId="0"/>
      <p:bldP spid="18" grpId="0"/>
      <p:bldP spid="30" grpId="0" animBg="1"/>
      <p:bldP spid="38" grpId="0"/>
      <p:bldP spid="39" grpId="0" animBg="1"/>
      <p:bldP spid="4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1800200" cy="461665"/>
          </a:xfrm>
          <a:prstGeom prst="rect">
            <a:avLst/>
          </a:prstGeom>
          <a:noFill/>
        </p:spPr>
        <p:txBody>
          <a:bodyPr wrap="square" rtlCol="0">
            <a:spAutoFit/>
          </a:bodyPr>
          <a:lstStyle/>
          <a:p>
            <a:r>
              <a:rPr lang="en-AU" sz="2400" dirty="0" smtClean="0">
                <a:solidFill>
                  <a:srgbClr val="0000FF"/>
                </a:solidFill>
              </a:rPr>
              <a:t>Example 15</a:t>
            </a:r>
            <a:endParaRPr lang="en-US" sz="2400" dirty="0">
              <a:solidFill>
                <a:srgbClr val="0000FF"/>
              </a:solidFill>
            </a:endParaRPr>
          </a:p>
        </p:txBody>
      </p:sp>
      <p:grpSp>
        <p:nvGrpSpPr>
          <p:cNvPr id="3" name="Group 2"/>
          <p:cNvGrpSpPr/>
          <p:nvPr/>
        </p:nvGrpSpPr>
        <p:grpSpPr>
          <a:xfrm>
            <a:off x="0" y="1268760"/>
            <a:ext cx="2448272" cy="2592288"/>
            <a:chOff x="6228184" y="3813099"/>
            <a:chExt cx="2448272" cy="2592288"/>
          </a:xfrm>
        </p:grpSpPr>
        <p:sp>
          <p:nvSpPr>
            <p:cNvPr id="4" name="Isosceles Triangle 3"/>
            <p:cNvSpPr/>
            <p:nvPr/>
          </p:nvSpPr>
          <p:spPr>
            <a:xfrm rot="5400000">
              <a:off x="6516216" y="4317155"/>
              <a:ext cx="2592288" cy="1584176"/>
            </a:xfrm>
            <a:prstGeom prst="triangle">
              <a:avLst>
                <a:gd name="adj" fmla="val 7319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452320" y="5229200"/>
              <a:ext cx="432048" cy="400110"/>
            </a:xfrm>
            <a:prstGeom prst="rect">
              <a:avLst/>
            </a:prstGeom>
            <a:noFill/>
          </p:spPr>
          <p:txBody>
            <a:bodyPr wrap="square" rtlCol="0">
              <a:spAutoFit/>
            </a:bodyPr>
            <a:lstStyle/>
            <a:p>
              <a:r>
                <a:rPr lang="en-AU" sz="2000" b="1" dirty="0" smtClean="0">
                  <a:solidFill>
                    <a:srgbClr val="FF0000"/>
                  </a:solidFill>
                  <a:latin typeface="Arial" pitchFamily="34" charset="0"/>
                  <a:cs typeface="Arial" pitchFamily="34" charset="0"/>
                </a:rPr>
                <a:t>F</a:t>
              </a:r>
              <a:endParaRPr lang="en-US" sz="2000" b="1" dirty="0">
                <a:solidFill>
                  <a:srgbClr val="FF0000"/>
                </a:solidFill>
                <a:latin typeface="Arial" pitchFamily="34" charset="0"/>
                <a:cs typeface="Arial" pitchFamily="34" charset="0"/>
              </a:endParaRPr>
            </a:p>
          </p:txBody>
        </p:sp>
        <p:sp>
          <p:nvSpPr>
            <p:cNvPr id="6" name="TextBox 5"/>
            <p:cNvSpPr txBox="1"/>
            <p:nvPr/>
          </p:nvSpPr>
          <p:spPr>
            <a:xfrm>
              <a:off x="7020272" y="4293096"/>
              <a:ext cx="576064" cy="369332"/>
            </a:xfrm>
            <a:prstGeom prst="rect">
              <a:avLst/>
            </a:prstGeom>
            <a:noFill/>
          </p:spPr>
          <p:txBody>
            <a:bodyPr wrap="square" rtlCol="0">
              <a:spAutoFit/>
            </a:bodyPr>
            <a:lstStyle/>
            <a:p>
              <a:r>
                <a:rPr lang="en-AU" dirty="0" smtClean="0">
                  <a:sym typeface="Symbol"/>
                </a:rPr>
                <a:t>33</a:t>
              </a:r>
              <a:endParaRPr lang="en-US" dirty="0"/>
            </a:p>
          </p:txBody>
        </p:sp>
        <p:sp>
          <p:nvSpPr>
            <p:cNvPr id="7" name="TextBox 6"/>
            <p:cNvSpPr txBox="1"/>
            <p:nvPr/>
          </p:nvSpPr>
          <p:spPr>
            <a:xfrm>
              <a:off x="7812360" y="5949280"/>
              <a:ext cx="792088" cy="369332"/>
            </a:xfrm>
            <a:prstGeom prst="rect">
              <a:avLst/>
            </a:prstGeom>
            <a:noFill/>
          </p:spPr>
          <p:txBody>
            <a:bodyPr wrap="square" rtlCol="0">
              <a:spAutoFit/>
            </a:bodyPr>
            <a:lstStyle/>
            <a:p>
              <a:r>
                <a:rPr lang="en-AU" dirty="0" smtClean="0"/>
                <a:t>9 </a:t>
              </a:r>
              <a:r>
                <a:rPr lang="en-AU" i="1" dirty="0" smtClean="0"/>
                <a:t>cm</a:t>
              </a:r>
              <a:endParaRPr lang="en-US" dirty="0"/>
            </a:p>
          </p:txBody>
        </p:sp>
        <p:sp>
          <p:nvSpPr>
            <p:cNvPr id="8" name="TextBox 7"/>
            <p:cNvSpPr txBox="1"/>
            <p:nvPr/>
          </p:nvSpPr>
          <p:spPr>
            <a:xfrm>
              <a:off x="7956376" y="4653136"/>
              <a:ext cx="720080" cy="369332"/>
            </a:xfrm>
            <a:prstGeom prst="rect">
              <a:avLst/>
            </a:prstGeom>
            <a:noFill/>
          </p:spPr>
          <p:txBody>
            <a:bodyPr wrap="square" rtlCol="0">
              <a:spAutoFit/>
            </a:bodyPr>
            <a:lstStyle/>
            <a:p>
              <a:r>
                <a:rPr lang="en-AU" i="1" dirty="0" smtClean="0"/>
                <a:t>x cm</a:t>
              </a:r>
              <a:endParaRPr lang="en-US" i="1" dirty="0"/>
            </a:p>
          </p:txBody>
        </p:sp>
        <p:sp>
          <p:nvSpPr>
            <p:cNvPr id="9" name="TextBox 8"/>
            <p:cNvSpPr txBox="1"/>
            <p:nvPr/>
          </p:nvSpPr>
          <p:spPr>
            <a:xfrm>
              <a:off x="6228184" y="4797152"/>
              <a:ext cx="792088" cy="369332"/>
            </a:xfrm>
            <a:prstGeom prst="rect">
              <a:avLst/>
            </a:prstGeom>
            <a:noFill/>
          </p:spPr>
          <p:txBody>
            <a:bodyPr wrap="square" rtlCol="0">
              <a:spAutoFit/>
            </a:bodyPr>
            <a:lstStyle/>
            <a:p>
              <a:r>
                <a:rPr lang="en-AU" dirty="0" smtClean="0"/>
                <a:t>12</a:t>
              </a:r>
              <a:r>
                <a:rPr lang="en-AU" i="1" dirty="0" smtClean="0"/>
                <a:t> cm</a:t>
              </a:r>
              <a:endParaRPr lang="en-US" i="1" dirty="0"/>
            </a:p>
          </p:txBody>
        </p:sp>
      </p:grpSp>
      <p:sp>
        <p:nvSpPr>
          <p:cNvPr id="10" name="TextBox 9"/>
          <p:cNvSpPr txBox="1"/>
          <p:nvPr/>
        </p:nvSpPr>
        <p:spPr>
          <a:xfrm>
            <a:off x="2483768" y="908720"/>
            <a:ext cx="5040560" cy="369332"/>
          </a:xfrm>
          <a:prstGeom prst="rect">
            <a:avLst/>
          </a:prstGeom>
          <a:noFill/>
        </p:spPr>
        <p:txBody>
          <a:bodyPr wrap="square" rtlCol="0">
            <a:spAutoFit/>
          </a:bodyPr>
          <a:lstStyle/>
          <a:p>
            <a:r>
              <a:rPr lang="en-AU" dirty="0" smtClean="0"/>
              <a:t>First check to see if we can use the Sine Rule.</a:t>
            </a:r>
            <a:endParaRPr lang="en-US" dirty="0"/>
          </a:p>
        </p:txBody>
      </p:sp>
      <p:sp>
        <p:nvSpPr>
          <p:cNvPr id="11" name="TextBox 10"/>
          <p:cNvSpPr txBox="1"/>
          <p:nvPr/>
        </p:nvSpPr>
        <p:spPr>
          <a:xfrm>
            <a:off x="2483768" y="1397675"/>
            <a:ext cx="6444208" cy="2031325"/>
          </a:xfrm>
          <a:prstGeom prst="rect">
            <a:avLst/>
          </a:prstGeom>
          <a:noFill/>
        </p:spPr>
        <p:txBody>
          <a:bodyPr wrap="square" rtlCol="0">
            <a:spAutoFit/>
          </a:bodyPr>
          <a:lstStyle/>
          <a:p>
            <a:r>
              <a:rPr lang="en-AU" dirty="0" smtClean="0"/>
              <a:t>We have a given angle and opposite side (33</a:t>
            </a:r>
            <a:r>
              <a:rPr lang="en-AU" dirty="0" smtClean="0">
                <a:sym typeface="Symbol"/>
              </a:rPr>
              <a:t></a:t>
            </a:r>
            <a:r>
              <a:rPr lang="en-AU" dirty="0" smtClean="0"/>
              <a:t> and 9 c</a:t>
            </a:r>
            <a:r>
              <a:rPr lang="en-AU" i="1" dirty="0" smtClean="0"/>
              <a:t>m</a:t>
            </a:r>
            <a:r>
              <a:rPr lang="en-AU" dirty="0" smtClean="0"/>
              <a:t>), but the unknown </a:t>
            </a:r>
            <a:r>
              <a:rPr lang="en-AU" i="1" dirty="0" smtClean="0">
                <a:sym typeface="Symbol"/>
              </a:rPr>
              <a:t>x</a:t>
            </a:r>
            <a:r>
              <a:rPr lang="en-AU" dirty="0" smtClean="0"/>
              <a:t> and the other given (12 </a:t>
            </a:r>
            <a:r>
              <a:rPr lang="en-AU" i="1" dirty="0" smtClean="0"/>
              <a:t>cm</a:t>
            </a:r>
            <a:r>
              <a:rPr lang="en-AU" dirty="0" smtClean="0">
                <a:sym typeface="Symbol"/>
              </a:rPr>
              <a:t>) are insufficient data for Sine Rule. The Cosine Rule won’t work either as the triangle’s data does not match either of the two configurations for the Cosine Rule. HOWEVER…if we let </a:t>
            </a:r>
            <a:r>
              <a:rPr lang="en-AU" b="1" dirty="0" smtClean="0">
                <a:solidFill>
                  <a:srgbClr val="FF0000"/>
                </a:solidFill>
                <a:sym typeface="Symbol"/>
              </a:rPr>
              <a:t></a:t>
            </a:r>
            <a:r>
              <a:rPr lang="en-AU" dirty="0" smtClean="0">
                <a:solidFill>
                  <a:srgbClr val="FF0000"/>
                </a:solidFill>
                <a:sym typeface="Symbol"/>
              </a:rPr>
              <a:t> </a:t>
            </a:r>
            <a:r>
              <a:rPr lang="en-AU" dirty="0" smtClean="0">
                <a:sym typeface="Symbol"/>
              </a:rPr>
              <a:t>be the angle opposite the 12cm we then have a second matching pair and can begin with using the </a:t>
            </a:r>
            <a:r>
              <a:rPr lang="en-AU" b="1" dirty="0" smtClean="0">
                <a:solidFill>
                  <a:srgbClr val="FF0000"/>
                </a:solidFill>
                <a:sym typeface="Symbol"/>
              </a:rPr>
              <a:t>SINE RULE </a:t>
            </a:r>
            <a:r>
              <a:rPr lang="en-AU" dirty="0" smtClean="0">
                <a:sym typeface="Symbol"/>
              </a:rPr>
              <a:t>to find angle </a:t>
            </a:r>
            <a:r>
              <a:rPr lang="en-AU" b="1" dirty="0" smtClean="0">
                <a:solidFill>
                  <a:srgbClr val="FF0000"/>
                </a:solidFill>
                <a:sym typeface="Symbol"/>
              </a:rPr>
              <a:t>. (This is </a:t>
            </a:r>
            <a:r>
              <a:rPr lang="en-AU" b="1" dirty="0" smtClean="0">
                <a:solidFill>
                  <a:srgbClr val="FF0000"/>
                </a:solidFill>
                <a:latin typeface="Times New Roman" pitchFamily="18" charset="0"/>
                <a:cs typeface="Times New Roman" pitchFamily="18" charset="0"/>
                <a:sym typeface="Symbol"/>
              </a:rPr>
              <a:t>PART 1</a:t>
            </a:r>
            <a:r>
              <a:rPr lang="en-AU" b="1" dirty="0" smtClean="0">
                <a:solidFill>
                  <a:srgbClr val="FF0000"/>
                </a:solidFill>
                <a:sym typeface="Symbol"/>
              </a:rPr>
              <a:t>)  </a:t>
            </a:r>
            <a:endParaRPr lang="en-US" i="1" dirty="0">
              <a:solidFill>
                <a:srgbClr val="FF0000"/>
              </a:solidFill>
            </a:endParaRPr>
          </a:p>
        </p:txBody>
      </p:sp>
      <p:sp>
        <p:nvSpPr>
          <p:cNvPr id="12" name="TextBox 11"/>
          <p:cNvSpPr txBox="1"/>
          <p:nvPr/>
        </p:nvSpPr>
        <p:spPr>
          <a:xfrm>
            <a:off x="2555776" y="3501008"/>
            <a:ext cx="6192688" cy="923330"/>
          </a:xfrm>
          <a:prstGeom prst="rect">
            <a:avLst/>
          </a:prstGeom>
          <a:noFill/>
        </p:spPr>
        <p:txBody>
          <a:bodyPr wrap="square" rtlCol="0">
            <a:spAutoFit/>
          </a:bodyPr>
          <a:lstStyle/>
          <a:p>
            <a:r>
              <a:rPr lang="en-AU" b="1" u="sng" dirty="0" smtClean="0">
                <a:solidFill>
                  <a:srgbClr val="0000FF"/>
                </a:solidFill>
                <a:latin typeface="Times New Roman" pitchFamily="18" charset="0"/>
                <a:cs typeface="Times New Roman" pitchFamily="18" charset="0"/>
                <a:sym typeface="Symbol"/>
              </a:rPr>
              <a:t>NOW FOR PART 2</a:t>
            </a:r>
            <a:r>
              <a:rPr lang="en-AU" b="1" dirty="0" smtClean="0">
                <a:solidFill>
                  <a:srgbClr val="0000FF"/>
                </a:solidFill>
                <a:sym typeface="Symbol"/>
              </a:rPr>
              <a:t> …..</a:t>
            </a:r>
            <a:r>
              <a:rPr lang="en-AU" dirty="0" smtClean="0">
                <a:solidFill>
                  <a:srgbClr val="0000FF"/>
                </a:solidFill>
                <a:sym typeface="Symbol"/>
              </a:rPr>
              <a:t>Once we know </a:t>
            </a:r>
            <a:r>
              <a:rPr lang="en-AU" b="1" dirty="0" smtClean="0">
                <a:solidFill>
                  <a:srgbClr val="FF0000"/>
                </a:solidFill>
                <a:sym typeface="Symbol"/>
              </a:rPr>
              <a:t> </a:t>
            </a:r>
            <a:r>
              <a:rPr lang="en-AU" dirty="0" smtClean="0">
                <a:solidFill>
                  <a:srgbClr val="0000FF"/>
                </a:solidFill>
                <a:sym typeface="Symbol"/>
              </a:rPr>
              <a:t>we can then find the third angle </a:t>
            </a:r>
            <a:r>
              <a:rPr lang="en-AU" b="1" dirty="0" smtClean="0">
                <a:solidFill>
                  <a:srgbClr val="FF0000"/>
                </a:solidFill>
                <a:sym typeface="Symbol"/>
              </a:rPr>
              <a:t> </a:t>
            </a:r>
            <a:r>
              <a:rPr lang="en-AU" dirty="0" smtClean="0">
                <a:solidFill>
                  <a:srgbClr val="0000FF"/>
                </a:solidFill>
                <a:sym typeface="Symbol"/>
              </a:rPr>
              <a:t>(which is opposite to </a:t>
            </a:r>
            <a:r>
              <a:rPr lang="en-AU" i="1" dirty="0" smtClean="0">
                <a:solidFill>
                  <a:srgbClr val="0000FF"/>
                </a:solidFill>
                <a:sym typeface="Symbol"/>
              </a:rPr>
              <a:t>x</a:t>
            </a:r>
            <a:r>
              <a:rPr lang="en-AU" dirty="0" smtClean="0">
                <a:solidFill>
                  <a:srgbClr val="0000FF"/>
                </a:solidFill>
                <a:sym typeface="Symbol"/>
              </a:rPr>
              <a:t>) and then apply the Sine Rule a second time to find </a:t>
            </a:r>
            <a:r>
              <a:rPr lang="en-AU" i="1" dirty="0" smtClean="0">
                <a:solidFill>
                  <a:srgbClr val="0000FF"/>
                </a:solidFill>
                <a:sym typeface="Symbol"/>
              </a:rPr>
              <a:t>x</a:t>
            </a:r>
            <a:r>
              <a:rPr lang="en-AU" dirty="0" smtClean="0">
                <a:solidFill>
                  <a:srgbClr val="0000FF"/>
                </a:solidFill>
                <a:sym typeface="Symbol"/>
              </a:rPr>
              <a:t>.</a:t>
            </a:r>
            <a:endParaRPr lang="en-US" dirty="0"/>
          </a:p>
        </p:txBody>
      </p:sp>
      <p:sp>
        <p:nvSpPr>
          <p:cNvPr id="13" name="TextBox 12"/>
          <p:cNvSpPr txBox="1"/>
          <p:nvPr/>
        </p:nvSpPr>
        <p:spPr>
          <a:xfrm>
            <a:off x="1907704" y="2924944"/>
            <a:ext cx="1008112" cy="369332"/>
          </a:xfrm>
          <a:prstGeom prst="rect">
            <a:avLst/>
          </a:prstGeom>
          <a:noFill/>
        </p:spPr>
        <p:txBody>
          <a:bodyPr wrap="square" rtlCol="0">
            <a:spAutoFit/>
          </a:bodyPr>
          <a:lstStyle/>
          <a:p>
            <a:r>
              <a:rPr lang="en-US" b="1" dirty="0" smtClean="0">
                <a:solidFill>
                  <a:srgbClr val="FF0000"/>
                </a:solidFill>
                <a:sym typeface="Symbol"/>
              </a:rPr>
              <a:t></a:t>
            </a:r>
            <a:endParaRPr lang="en-US" b="1" dirty="0">
              <a:solidFill>
                <a:srgbClr val="FF0000"/>
              </a:solidFill>
            </a:endParaRPr>
          </a:p>
        </p:txBody>
      </p:sp>
      <p:sp>
        <p:nvSpPr>
          <p:cNvPr id="14" name="TextBox 13"/>
          <p:cNvSpPr txBox="1"/>
          <p:nvPr/>
        </p:nvSpPr>
        <p:spPr>
          <a:xfrm>
            <a:off x="755576" y="3429000"/>
            <a:ext cx="792088" cy="369332"/>
          </a:xfrm>
          <a:prstGeom prst="rect">
            <a:avLst/>
          </a:prstGeom>
          <a:noFill/>
        </p:spPr>
        <p:txBody>
          <a:bodyPr wrap="square" rtlCol="0">
            <a:spAutoFit/>
          </a:bodyPr>
          <a:lstStyle/>
          <a:p>
            <a:r>
              <a:rPr lang="en-US" b="1" dirty="0" smtClean="0">
                <a:solidFill>
                  <a:srgbClr val="FF0000"/>
                </a:solidFill>
                <a:sym typeface="Symbol"/>
              </a:rPr>
              <a:t></a:t>
            </a:r>
            <a:endParaRPr lang="en-US" b="1" dirty="0">
              <a:solidFill>
                <a:srgbClr val="FF0000"/>
              </a:solidFill>
            </a:endParaRPr>
          </a:p>
        </p:txBody>
      </p:sp>
      <p:cxnSp>
        <p:nvCxnSpPr>
          <p:cNvPr id="16" name="Straight Connector 15"/>
          <p:cNvCxnSpPr/>
          <p:nvPr/>
        </p:nvCxnSpPr>
        <p:spPr>
          <a:xfrm>
            <a:off x="3203848" y="4509120"/>
            <a:ext cx="0" cy="2088232"/>
          </a:xfrm>
          <a:prstGeom prst="line">
            <a:avLst/>
          </a:prstGeom>
          <a:ln w="66675">
            <a:solidFill>
              <a:srgbClr val="0066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83568" y="4365104"/>
            <a:ext cx="2016224" cy="369332"/>
          </a:xfrm>
          <a:prstGeom prst="rect">
            <a:avLst/>
          </a:prstGeom>
          <a:noFill/>
          <a:ln w="28575">
            <a:solidFill>
              <a:srgbClr val="C00000"/>
            </a:solidFill>
          </a:ln>
        </p:spPr>
        <p:txBody>
          <a:bodyPr wrap="square" rtlCol="0">
            <a:spAutoFit/>
          </a:bodyPr>
          <a:lstStyle/>
          <a:p>
            <a:r>
              <a:rPr lang="en-AU" b="1" dirty="0" smtClean="0">
                <a:latin typeface="Times New Roman" pitchFamily="18" charset="0"/>
                <a:cs typeface="Times New Roman" pitchFamily="18" charset="0"/>
              </a:rPr>
              <a:t>Part 1 (finding </a:t>
            </a:r>
            <a:r>
              <a:rPr lang="en-AU" b="1" dirty="0" smtClean="0">
                <a:solidFill>
                  <a:srgbClr val="FF0000"/>
                </a:solidFill>
                <a:sym typeface="Symbol"/>
              </a:rPr>
              <a:t></a:t>
            </a:r>
            <a:r>
              <a:rPr lang="en-AU" b="1" dirty="0" smtClean="0">
                <a:sym typeface="Symbol"/>
              </a:rPr>
              <a:t>)</a:t>
            </a:r>
            <a:r>
              <a:rPr lang="en-AU" b="1" dirty="0" smtClean="0">
                <a:latin typeface="Times New Roman" pitchFamily="18" charset="0"/>
                <a:cs typeface="Times New Roman" pitchFamily="18" charset="0"/>
              </a:rPr>
              <a:t> </a:t>
            </a:r>
            <a:endParaRPr lang="en-US" b="1" dirty="0">
              <a:latin typeface="Times New Roman" pitchFamily="18" charset="0"/>
              <a:cs typeface="Times New Roman" pitchFamily="18" charset="0"/>
            </a:endParaRPr>
          </a:p>
        </p:txBody>
      </p:sp>
      <p:graphicFrame>
        <p:nvGraphicFramePr>
          <p:cNvPr id="53250" name="Object 2"/>
          <p:cNvGraphicFramePr>
            <a:graphicFrameLocks noChangeAspect="1"/>
          </p:cNvGraphicFramePr>
          <p:nvPr/>
        </p:nvGraphicFramePr>
        <p:xfrm>
          <a:off x="1043608" y="4797152"/>
          <a:ext cx="1670496" cy="648072"/>
        </p:xfrm>
        <a:graphic>
          <a:graphicData uri="http://schemas.openxmlformats.org/presentationml/2006/ole">
            <p:oleObj spid="_x0000_s53250" name="Equation" r:id="rId3" imgW="1015920" imgH="393480" progId="Equation.3">
              <p:embed/>
            </p:oleObj>
          </a:graphicData>
        </a:graphic>
      </p:graphicFrame>
      <p:graphicFrame>
        <p:nvGraphicFramePr>
          <p:cNvPr id="53251" name="Object 3"/>
          <p:cNvGraphicFramePr>
            <a:graphicFrameLocks noChangeAspect="1"/>
          </p:cNvGraphicFramePr>
          <p:nvPr/>
        </p:nvGraphicFramePr>
        <p:xfrm>
          <a:off x="1192361" y="5445125"/>
          <a:ext cx="1795463" cy="647700"/>
        </p:xfrm>
        <a:graphic>
          <a:graphicData uri="http://schemas.openxmlformats.org/presentationml/2006/ole">
            <p:oleObj spid="_x0000_s53251" name="Equation" r:id="rId4" imgW="1091880" imgH="393480" progId="Equation.3">
              <p:embed/>
            </p:oleObj>
          </a:graphicData>
        </a:graphic>
      </p:graphicFrame>
      <p:graphicFrame>
        <p:nvGraphicFramePr>
          <p:cNvPr id="53252" name="Object 4"/>
          <p:cNvGraphicFramePr>
            <a:graphicFrameLocks noChangeAspect="1"/>
          </p:cNvGraphicFramePr>
          <p:nvPr/>
        </p:nvGraphicFramePr>
        <p:xfrm>
          <a:off x="1553220" y="6127750"/>
          <a:ext cx="1065213" cy="292100"/>
        </p:xfrm>
        <a:graphic>
          <a:graphicData uri="http://schemas.openxmlformats.org/presentationml/2006/ole">
            <p:oleObj spid="_x0000_s53252" name="Equation" r:id="rId5" imgW="647640" imgH="177480" progId="Equation.3">
              <p:embed/>
            </p:oleObj>
          </a:graphicData>
        </a:graphic>
      </p:graphicFrame>
      <p:sp>
        <p:nvSpPr>
          <p:cNvPr id="22" name="TextBox 21"/>
          <p:cNvSpPr txBox="1"/>
          <p:nvPr/>
        </p:nvSpPr>
        <p:spPr>
          <a:xfrm>
            <a:off x="3491880" y="4725144"/>
            <a:ext cx="1728192" cy="369332"/>
          </a:xfrm>
          <a:prstGeom prst="rect">
            <a:avLst/>
          </a:prstGeom>
          <a:noFill/>
        </p:spPr>
        <p:txBody>
          <a:bodyPr wrap="square" rtlCol="0">
            <a:spAutoFit/>
          </a:bodyPr>
          <a:lstStyle/>
          <a:p>
            <a:r>
              <a:rPr lang="en-AU" b="1" dirty="0" smtClean="0"/>
              <a:t>Finding </a:t>
            </a:r>
            <a:r>
              <a:rPr lang="en-AU" b="1" dirty="0" smtClean="0">
                <a:solidFill>
                  <a:srgbClr val="FF0000"/>
                </a:solidFill>
                <a:sym typeface="Symbol"/>
              </a:rPr>
              <a:t></a:t>
            </a:r>
            <a:r>
              <a:rPr lang="en-AU" dirty="0" smtClean="0"/>
              <a:t> </a:t>
            </a:r>
            <a:endParaRPr lang="en-US" dirty="0"/>
          </a:p>
        </p:txBody>
      </p:sp>
      <p:sp>
        <p:nvSpPr>
          <p:cNvPr id="23" name="TextBox 22"/>
          <p:cNvSpPr txBox="1"/>
          <p:nvPr/>
        </p:nvSpPr>
        <p:spPr>
          <a:xfrm>
            <a:off x="3347864" y="5229200"/>
            <a:ext cx="2232248" cy="369332"/>
          </a:xfrm>
          <a:prstGeom prst="rect">
            <a:avLst/>
          </a:prstGeom>
          <a:noFill/>
        </p:spPr>
        <p:txBody>
          <a:bodyPr wrap="square" rtlCol="0">
            <a:spAutoFit/>
          </a:bodyPr>
          <a:lstStyle/>
          <a:p>
            <a:r>
              <a:rPr lang="en-AU" b="1" dirty="0" smtClean="0">
                <a:solidFill>
                  <a:srgbClr val="FF0000"/>
                </a:solidFill>
                <a:sym typeface="Symbol"/>
              </a:rPr>
              <a:t> </a:t>
            </a:r>
            <a:r>
              <a:rPr lang="en-AU" b="1" dirty="0" smtClean="0">
                <a:sym typeface="Symbol"/>
              </a:rPr>
              <a:t>= 180 – 33 – 46.57</a:t>
            </a:r>
            <a:endParaRPr lang="en-US" dirty="0"/>
          </a:p>
        </p:txBody>
      </p:sp>
      <p:sp>
        <p:nvSpPr>
          <p:cNvPr id="24" name="TextBox 23"/>
          <p:cNvSpPr txBox="1"/>
          <p:nvPr/>
        </p:nvSpPr>
        <p:spPr>
          <a:xfrm>
            <a:off x="3347864" y="5579948"/>
            <a:ext cx="2232248" cy="369332"/>
          </a:xfrm>
          <a:prstGeom prst="rect">
            <a:avLst/>
          </a:prstGeom>
          <a:noFill/>
        </p:spPr>
        <p:txBody>
          <a:bodyPr wrap="square" rtlCol="0">
            <a:spAutoFit/>
          </a:bodyPr>
          <a:lstStyle/>
          <a:p>
            <a:r>
              <a:rPr lang="en-AU" b="1" dirty="0" smtClean="0">
                <a:solidFill>
                  <a:srgbClr val="FF0000"/>
                </a:solidFill>
                <a:sym typeface="Symbol"/>
              </a:rPr>
              <a:t> </a:t>
            </a:r>
            <a:r>
              <a:rPr lang="en-AU" b="1" dirty="0" smtClean="0">
                <a:sym typeface="Symbol"/>
              </a:rPr>
              <a:t>= 100.43</a:t>
            </a:r>
            <a:endParaRPr lang="en-US" dirty="0"/>
          </a:p>
        </p:txBody>
      </p:sp>
      <p:cxnSp>
        <p:nvCxnSpPr>
          <p:cNvPr id="25" name="Straight Connector 24"/>
          <p:cNvCxnSpPr/>
          <p:nvPr/>
        </p:nvCxnSpPr>
        <p:spPr>
          <a:xfrm>
            <a:off x="5652120" y="4509120"/>
            <a:ext cx="0" cy="2088232"/>
          </a:xfrm>
          <a:prstGeom prst="line">
            <a:avLst/>
          </a:prstGeom>
          <a:ln w="66675">
            <a:solidFill>
              <a:srgbClr val="00660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300192" y="4365104"/>
            <a:ext cx="2016224" cy="369332"/>
          </a:xfrm>
          <a:prstGeom prst="rect">
            <a:avLst/>
          </a:prstGeom>
          <a:noFill/>
          <a:ln w="28575">
            <a:solidFill>
              <a:srgbClr val="C00000"/>
            </a:solidFill>
          </a:ln>
        </p:spPr>
        <p:txBody>
          <a:bodyPr wrap="square" rtlCol="0">
            <a:spAutoFit/>
          </a:bodyPr>
          <a:lstStyle/>
          <a:p>
            <a:r>
              <a:rPr lang="en-AU" b="1" dirty="0" smtClean="0">
                <a:latin typeface="Times New Roman" pitchFamily="18" charset="0"/>
                <a:cs typeface="Times New Roman" pitchFamily="18" charset="0"/>
              </a:rPr>
              <a:t>Part 2 (finding </a:t>
            </a:r>
            <a:r>
              <a:rPr lang="en-AU" b="1" i="1" dirty="0" smtClean="0">
                <a:solidFill>
                  <a:srgbClr val="FF0000"/>
                </a:solidFill>
                <a:sym typeface="Symbol"/>
              </a:rPr>
              <a:t>x</a:t>
            </a:r>
            <a:r>
              <a:rPr lang="en-AU" b="1" dirty="0" smtClean="0">
                <a:sym typeface="Symbol"/>
              </a:rPr>
              <a:t>)</a:t>
            </a:r>
            <a:r>
              <a:rPr lang="en-AU" b="1" dirty="0" smtClean="0">
                <a:latin typeface="Times New Roman" pitchFamily="18" charset="0"/>
                <a:cs typeface="Times New Roman" pitchFamily="18" charset="0"/>
              </a:rPr>
              <a:t> </a:t>
            </a:r>
            <a:endParaRPr lang="en-US" b="1" dirty="0">
              <a:latin typeface="Times New Roman" pitchFamily="18" charset="0"/>
              <a:cs typeface="Times New Roman" pitchFamily="18" charset="0"/>
            </a:endParaRPr>
          </a:p>
        </p:txBody>
      </p:sp>
      <p:graphicFrame>
        <p:nvGraphicFramePr>
          <p:cNvPr id="53253" name="Object 5"/>
          <p:cNvGraphicFramePr>
            <a:graphicFrameLocks noChangeAspect="1"/>
          </p:cNvGraphicFramePr>
          <p:nvPr/>
        </p:nvGraphicFramePr>
        <p:xfrm>
          <a:off x="5927104" y="4725144"/>
          <a:ext cx="2173288" cy="647700"/>
        </p:xfrm>
        <a:graphic>
          <a:graphicData uri="http://schemas.openxmlformats.org/presentationml/2006/ole">
            <p:oleObj spid="_x0000_s53253" name="Equation" r:id="rId6" imgW="1320480" imgH="393480" progId="Equation.3">
              <p:embed/>
            </p:oleObj>
          </a:graphicData>
        </a:graphic>
      </p:graphicFrame>
      <p:graphicFrame>
        <p:nvGraphicFramePr>
          <p:cNvPr id="53254" name="Object 6"/>
          <p:cNvGraphicFramePr>
            <a:graphicFrameLocks noChangeAspect="1"/>
          </p:cNvGraphicFramePr>
          <p:nvPr/>
        </p:nvGraphicFramePr>
        <p:xfrm>
          <a:off x="6975301" y="5445224"/>
          <a:ext cx="981075" cy="293688"/>
        </p:xfrm>
        <a:graphic>
          <a:graphicData uri="http://schemas.openxmlformats.org/presentationml/2006/ole">
            <p:oleObj spid="_x0000_s53254" name="Equation" r:id="rId7" imgW="596880" imgH="177480" progId="Equation.3">
              <p:embed/>
            </p:oleObj>
          </a:graphicData>
        </a:graphic>
      </p:graphicFrame>
      <p:sp>
        <p:nvSpPr>
          <p:cNvPr id="30" name="TextBox 29"/>
          <p:cNvSpPr txBox="1"/>
          <p:nvPr/>
        </p:nvSpPr>
        <p:spPr>
          <a:xfrm>
            <a:off x="4644008" y="5877272"/>
            <a:ext cx="4499992" cy="923330"/>
          </a:xfrm>
          <a:prstGeom prst="rect">
            <a:avLst/>
          </a:prstGeom>
          <a:solidFill>
            <a:schemeClr val="accent1"/>
          </a:solidFill>
        </p:spPr>
        <p:txBody>
          <a:bodyPr wrap="square" rtlCol="0">
            <a:spAutoFit/>
          </a:bodyPr>
          <a:lstStyle/>
          <a:p>
            <a:r>
              <a:rPr lang="en-AU" dirty="0" smtClean="0">
                <a:solidFill>
                  <a:schemeClr val="bg1"/>
                </a:solidFill>
              </a:rPr>
              <a:t>Note!! Here the diagram is quite out of scale. This becomes apparent on checking the reasonableness of your answer</a:t>
            </a:r>
            <a:endParaRPr 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amond(in)">
                                      <p:cBhvr>
                                        <p:cTn id="12" dur="2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amond(in)">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6"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3000" fill="hold"/>
                                        <p:tgtEl>
                                          <p:spTgt spid="13"/>
                                        </p:tgtEl>
                                        <p:attrNameLst>
                                          <p:attrName>ppt_x</p:attrName>
                                        </p:attrNameLst>
                                      </p:cBhvr>
                                      <p:tavLst>
                                        <p:tav tm="0">
                                          <p:val>
                                            <p:strVal val="1+#ppt_w/2"/>
                                          </p:val>
                                        </p:tav>
                                        <p:tav tm="100000">
                                          <p:val>
                                            <p:strVal val="#ppt_x"/>
                                          </p:val>
                                        </p:tav>
                                      </p:tavLst>
                                    </p:anim>
                                    <p:anim calcmode="lin" valueType="num">
                                      <p:cBhvr additive="base">
                                        <p:cTn id="23" dur="30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amond(in)">
                                      <p:cBhvr>
                                        <p:cTn id="28" dur="2000"/>
                                        <p:tgtEl>
                                          <p:spTgt spid="12"/>
                                        </p:tgtEl>
                                      </p:cBhvr>
                                    </p:animEffect>
                                  </p:childTnLst>
                                </p:cTn>
                              </p:par>
                            </p:childTnLst>
                          </p:cTn>
                        </p:par>
                        <p:par>
                          <p:cTn id="29" fill="hold">
                            <p:stCondLst>
                              <p:cond delay="2000"/>
                            </p:stCondLst>
                            <p:childTnLst>
                              <p:par>
                                <p:cTn id="30" presetID="22" presetClass="entr" presetSubtype="1"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2000"/>
                                        <p:tgtEl>
                                          <p:spTgt spid="16"/>
                                        </p:tgtEl>
                                      </p:cBhvr>
                                    </p:animEffect>
                                  </p:childTnLst>
                                </p:cTn>
                              </p:par>
                              <p:par>
                                <p:cTn id="33" presetID="22" presetClass="entr" presetSubtype="1"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up)">
                                      <p:cBhvr>
                                        <p:cTn id="35" dur="20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26"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80">
                                          <p:stCondLst>
                                            <p:cond delay="0"/>
                                          </p:stCondLst>
                                        </p:cTn>
                                        <p:tgtEl>
                                          <p:spTgt spid="14"/>
                                        </p:tgtEl>
                                      </p:cBhvr>
                                    </p:animEffect>
                                    <p:anim calcmode="lin" valueType="num">
                                      <p:cBhvr>
                                        <p:cTn id="41"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46" dur="26">
                                          <p:stCondLst>
                                            <p:cond delay="650"/>
                                          </p:stCondLst>
                                        </p:cTn>
                                        <p:tgtEl>
                                          <p:spTgt spid="14"/>
                                        </p:tgtEl>
                                      </p:cBhvr>
                                      <p:to x="100000" y="60000"/>
                                    </p:animScale>
                                    <p:animScale>
                                      <p:cBhvr>
                                        <p:cTn id="47" dur="166" decel="50000">
                                          <p:stCondLst>
                                            <p:cond delay="676"/>
                                          </p:stCondLst>
                                        </p:cTn>
                                        <p:tgtEl>
                                          <p:spTgt spid="14"/>
                                        </p:tgtEl>
                                      </p:cBhvr>
                                      <p:to x="100000" y="100000"/>
                                    </p:animScale>
                                    <p:animScale>
                                      <p:cBhvr>
                                        <p:cTn id="48" dur="26">
                                          <p:stCondLst>
                                            <p:cond delay="1312"/>
                                          </p:stCondLst>
                                        </p:cTn>
                                        <p:tgtEl>
                                          <p:spTgt spid="14"/>
                                        </p:tgtEl>
                                      </p:cBhvr>
                                      <p:to x="100000" y="80000"/>
                                    </p:animScale>
                                    <p:animScale>
                                      <p:cBhvr>
                                        <p:cTn id="49" dur="166" decel="50000">
                                          <p:stCondLst>
                                            <p:cond delay="1338"/>
                                          </p:stCondLst>
                                        </p:cTn>
                                        <p:tgtEl>
                                          <p:spTgt spid="14"/>
                                        </p:tgtEl>
                                      </p:cBhvr>
                                      <p:to x="100000" y="100000"/>
                                    </p:animScale>
                                    <p:animScale>
                                      <p:cBhvr>
                                        <p:cTn id="50" dur="26">
                                          <p:stCondLst>
                                            <p:cond delay="1642"/>
                                          </p:stCondLst>
                                        </p:cTn>
                                        <p:tgtEl>
                                          <p:spTgt spid="14"/>
                                        </p:tgtEl>
                                      </p:cBhvr>
                                      <p:to x="100000" y="90000"/>
                                    </p:animScale>
                                    <p:animScale>
                                      <p:cBhvr>
                                        <p:cTn id="51" dur="166" decel="50000">
                                          <p:stCondLst>
                                            <p:cond delay="1668"/>
                                          </p:stCondLst>
                                        </p:cTn>
                                        <p:tgtEl>
                                          <p:spTgt spid="14"/>
                                        </p:tgtEl>
                                      </p:cBhvr>
                                      <p:to x="100000" y="100000"/>
                                    </p:animScale>
                                    <p:animScale>
                                      <p:cBhvr>
                                        <p:cTn id="52" dur="26">
                                          <p:stCondLst>
                                            <p:cond delay="1808"/>
                                          </p:stCondLst>
                                        </p:cTn>
                                        <p:tgtEl>
                                          <p:spTgt spid="14"/>
                                        </p:tgtEl>
                                      </p:cBhvr>
                                      <p:to x="100000" y="95000"/>
                                    </p:animScale>
                                    <p:animScale>
                                      <p:cBhvr>
                                        <p:cTn id="53" dur="166" decel="50000">
                                          <p:stCondLst>
                                            <p:cond delay="1834"/>
                                          </p:stCondLst>
                                        </p:cTn>
                                        <p:tgtEl>
                                          <p:spTgt spid="14"/>
                                        </p:tgtEl>
                                      </p:cBhvr>
                                      <p:to x="100000" y="100000"/>
                                    </p:animScale>
                                  </p:childTnLst>
                                </p:cTn>
                              </p:par>
                            </p:childTnLst>
                          </p:cTn>
                        </p:par>
                      </p:childTnLst>
                    </p:cTn>
                  </p:par>
                  <p:par>
                    <p:cTn id="54" fill="hold">
                      <p:stCondLst>
                        <p:cond delay="indefinite"/>
                      </p:stCondLst>
                      <p:childTnLst>
                        <p:par>
                          <p:cTn id="55" fill="hold">
                            <p:stCondLst>
                              <p:cond delay="0"/>
                            </p:stCondLst>
                            <p:childTnLst>
                              <p:par>
                                <p:cTn id="56" presetID="8" presetClass="entr" presetSubtype="16"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diamond(in)">
                                      <p:cBhvr>
                                        <p:cTn id="58" dur="20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8" presetClass="entr" presetSubtype="16" fill="hold" nodeType="clickEffect">
                                  <p:stCondLst>
                                    <p:cond delay="0"/>
                                  </p:stCondLst>
                                  <p:childTnLst>
                                    <p:set>
                                      <p:cBhvr>
                                        <p:cTn id="62" dur="1" fill="hold">
                                          <p:stCondLst>
                                            <p:cond delay="0"/>
                                          </p:stCondLst>
                                        </p:cTn>
                                        <p:tgtEl>
                                          <p:spTgt spid="53250"/>
                                        </p:tgtEl>
                                        <p:attrNameLst>
                                          <p:attrName>style.visibility</p:attrName>
                                        </p:attrNameLst>
                                      </p:cBhvr>
                                      <p:to>
                                        <p:strVal val="visible"/>
                                      </p:to>
                                    </p:set>
                                    <p:animEffect transition="in" filter="diamond(in)">
                                      <p:cBhvr>
                                        <p:cTn id="63" dur="2000"/>
                                        <p:tgtEl>
                                          <p:spTgt spid="53250"/>
                                        </p:tgtEl>
                                      </p:cBhvr>
                                    </p:animEffect>
                                  </p:childTnLst>
                                </p:cTn>
                              </p:par>
                            </p:childTnLst>
                          </p:cTn>
                        </p:par>
                      </p:childTnLst>
                    </p:cTn>
                  </p:par>
                  <p:par>
                    <p:cTn id="64" fill="hold">
                      <p:stCondLst>
                        <p:cond delay="indefinite"/>
                      </p:stCondLst>
                      <p:childTnLst>
                        <p:par>
                          <p:cTn id="65" fill="hold">
                            <p:stCondLst>
                              <p:cond delay="0"/>
                            </p:stCondLst>
                            <p:childTnLst>
                              <p:par>
                                <p:cTn id="66" presetID="8" presetClass="entr" presetSubtype="16" fill="hold" nodeType="clickEffect">
                                  <p:stCondLst>
                                    <p:cond delay="0"/>
                                  </p:stCondLst>
                                  <p:childTnLst>
                                    <p:set>
                                      <p:cBhvr>
                                        <p:cTn id="67" dur="1" fill="hold">
                                          <p:stCondLst>
                                            <p:cond delay="0"/>
                                          </p:stCondLst>
                                        </p:cTn>
                                        <p:tgtEl>
                                          <p:spTgt spid="53251"/>
                                        </p:tgtEl>
                                        <p:attrNameLst>
                                          <p:attrName>style.visibility</p:attrName>
                                        </p:attrNameLst>
                                      </p:cBhvr>
                                      <p:to>
                                        <p:strVal val="visible"/>
                                      </p:to>
                                    </p:set>
                                    <p:animEffect transition="in" filter="diamond(in)">
                                      <p:cBhvr>
                                        <p:cTn id="68" dur="2000"/>
                                        <p:tgtEl>
                                          <p:spTgt spid="53251"/>
                                        </p:tgtEl>
                                      </p:cBhvr>
                                    </p:animEffect>
                                  </p:childTnLst>
                                </p:cTn>
                              </p:par>
                            </p:childTnLst>
                          </p:cTn>
                        </p:par>
                      </p:childTnLst>
                    </p:cTn>
                  </p:par>
                  <p:par>
                    <p:cTn id="69" fill="hold">
                      <p:stCondLst>
                        <p:cond delay="indefinite"/>
                      </p:stCondLst>
                      <p:childTnLst>
                        <p:par>
                          <p:cTn id="70" fill="hold">
                            <p:stCondLst>
                              <p:cond delay="0"/>
                            </p:stCondLst>
                            <p:childTnLst>
                              <p:par>
                                <p:cTn id="71" presetID="8" presetClass="entr" presetSubtype="16" fill="hold" nodeType="clickEffect">
                                  <p:stCondLst>
                                    <p:cond delay="0"/>
                                  </p:stCondLst>
                                  <p:childTnLst>
                                    <p:set>
                                      <p:cBhvr>
                                        <p:cTn id="72" dur="1" fill="hold">
                                          <p:stCondLst>
                                            <p:cond delay="0"/>
                                          </p:stCondLst>
                                        </p:cTn>
                                        <p:tgtEl>
                                          <p:spTgt spid="53252"/>
                                        </p:tgtEl>
                                        <p:attrNameLst>
                                          <p:attrName>style.visibility</p:attrName>
                                        </p:attrNameLst>
                                      </p:cBhvr>
                                      <p:to>
                                        <p:strVal val="visible"/>
                                      </p:to>
                                    </p:set>
                                    <p:animEffect transition="in" filter="diamond(in)">
                                      <p:cBhvr>
                                        <p:cTn id="73" dur="2000"/>
                                        <p:tgtEl>
                                          <p:spTgt spid="53252"/>
                                        </p:tgtEl>
                                      </p:cBhvr>
                                    </p:animEffect>
                                  </p:childTnLst>
                                </p:cTn>
                              </p:par>
                            </p:childTnLst>
                          </p:cTn>
                        </p:par>
                      </p:childTnLst>
                    </p:cTn>
                  </p:par>
                  <p:par>
                    <p:cTn id="74" fill="hold">
                      <p:stCondLst>
                        <p:cond delay="indefinite"/>
                      </p:stCondLst>
                      <p:childTnLst>
                        <p:par>
                          <p:cTn id="75" fill="hold">
                            <p:stCondLst>
                              <p:cond delay="0"/>
                            </p:stCondLst>
                            <p:childTnLst>
                              <p:par>
                                <p:cTn id="76" presetID="8" presetClass="entr" presetSubtype="16" fill="hold" grpId="0"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diamond(in)">
                                      <p:cBhvr>
                                        <p:cTn id="78" dur="20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8" presetClass="entr" presetSubtype="16"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diamond(in)">
                                      <p:cBhvr>
                                        <p:cTn id="83" dur="2000"/>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8" presetClass="entr" presetSubtype="16"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diamond(in)">
                                      <p:cBhvr>
                                        <p:cTn id="88" dur="2000"/>
                                        <p:tgtEl>
                                          <p:spTgt spid="24"/>
                                        </p:tgtEl>
                                      </p:cBhvr>
                                    </p:animEffect>
                                  </p:childTnLst>
                                </p:cTn>
                              </p:par>
                            </p:childTnLst>
                          </p:cTn>
                        </p:par>
                      </p:childTnLst>
                    </p:cTn>
                  </p:par>
                  <p:par>
                    <p:cTn id="89" fill="hold">
                      <p:stCondLst>
                        <p:cond delay="indefinite"/>
                      </p:stCondLst>
                      <p:childTnLst>
                        <p:par>
                          <p:cTn id="90" fill="hold">
                            <p:stCondLst>
                              <p:cond delay="0"/>
                            </p:stCondLst>
                            <p:childTnLst>
                              <p:par>
                                <p:cTn id="91" presetID="8" presetClass="entr" presetSubtype="16"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diamond(in)">
                                      <p:cBhvr>
                                        <p:cTn id="93" dur="2000"/>
                                        <p:tgtEl>
                                          <p:spTgt spid="26"/>
                                        </p:tgtEl>
                                      </p:cBhvr>
                                    </p:animEffect>
                                  </p:childTnLst>
                                </p:cTn>
                              </p:par>
                            </p:childTnLst>
                          </p:cTn>
                        </p:par>
                      </p:childTnLst>
                    </p:cTn>
                  </p:par>
                  <p:par>
                    <p:cTn id="94" fill="hold">
                      <p:stCondLst>
                        <p:cond delay="indefinite"/>
                      </p:stCondLst>
                      <p:childTnLst>
                        <p:par>
                          <p:cTn id="95" fill="hold">
                            <p:stCondLst>
                              <p:cond delay="0"/>
                            </p:stCondLst>
                            <p:childTnLst>
                              <p:par>
                                <p:cTn id="96" presetID="8" presetClass="entr" presetSubtype="16" fill="hold" nodeType="clickEffect">
                                  <p:stCondLst>
                                    <p:cond delay="0"/>
                                  </p:stCondLst>
                                  <p:childTnLst>
                                    <p:set>
                                      <p:cBhvr>
                                        <p:cTn id="97" dur="1" fill="hold">
                                          <p:stCondLst>
                                            <p:cond delay="0"/>
                                          </p:stCondLst>
                                        </p:cTn>
                                        <p:tgtEl>
                                          <p:spTgt spid="53253"/>
                                        </p:tgtEl>
                                        <p:attrNameLst>
                                          <p:attrName>style.visibility</p:attrName>
                                        </p:attrNameLst>
                                      </p:cBhvr>
                                      <p:to>
                                        <p:strVal val="visible"/>
                                      </p:to>
                                    </p:set>
                                    <p:animEffect transition="in" filter="diamond(in)">
                                      <p:cBhvr>
                                        <p:cTn id="98" dur="2000"/>
                                        <p:tgtEl>
                                          <p:spTgt spid="53253"/>
                                        </p:tgtEl>
                                      </p:cBhvr>
                                    </p:animEffect>
                                  </p:childTnLst>
                                </p:cTn>
                              </p:par>
                            </p:childTnLst>
                          </p:cTn>
                        </p:par>
                      </p:childTnLst>
                    </p:cTn>
                  </p:par>
                  <p:par>
                    <p:cTn id="99" fill="hold">
                      <p:stCondLst>
                        <p:cond delay="indefinite"/>
                      </p:stCondLst>
                      <p:childTnLst>
                        <p:par>
                          <p:cTn id="100" fill="hold">
                            <p:stCondLst>
                              <p:cond delay="0"/>
                            </p:stCondLst>
                            <p:childTnLst>
                              <p:par>
                                <p:cTn id="101" presetID="8" presetClass="entr" presetSubtype="16" fill="hold" nodeType="clickEffect">
                                  <p:stCondLst>
                                    <p:cond delay="0"/>
                                  </p:stCondLst>
                                  <p:childTnLst>
                                    <p:set>
                                      <p:cBhvr>
                                        <p:cTn id="102" dur="1" fill="hold">
                                          <p:stCondLst>
                                            <p:cond delay="0"/>
                                          </p:stCondLst>
                                        </p:cTn>
                                        <p:tgtEl>
                                          <p:spTgt spid="53254"/>
                                        </p:tgtEl>
                                        <p:attrNameLst>
                                          <p:attrName>style.visibility</p:attrName>
                                        </p:attrNameLst>
                                      </p:cBhvr>
                                      <p:to>
                                        <p:strVal val="visible"/>
                                      </p:to>
                                    </p:set>
                                    <p:animEffect transition="in" filter="diamond(in)">
                                      <p:cBhvr>
                                        <p:cTn id="103" dur="2000"/>
                                        <p:tgtEl>
                                          <p:spTgt spid="53254"/>
                                        </p:tgtEl>
                                      </p:cBhvr>
                                    </p:animEffect>
                                  </p:childTnLst>
                                </p:cTn>
                              </p:par>
                            </p:childTnLst>
                          </p:cTn>
                        </p:par>
                      </p:childTnLst>
                    </p:cTn>
                  </p:par>
                  <p:par>
                    <p:cTn id="104" fill="hold">
                      <p:stCondLst>
                        <p:cond delay="indefinite"/>
                      </p:stCondLst>
                      <p:childTnLst>
                        <p:par>
                          <p:cTn id="105" fill="hold">
                            <p:stCondLst>
                              <p:cond delay="0"/>
                            </p:stCondLst>
                            <p:childTnLst>
                              <p:par>
                                <p:cTn id="106" presetID="35" presetClass="entr" presetSubtype="0" fill="hold" grpId="0" nodeType="click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fade">
                                      <p:cBhvr>
                                        <p:cTn id="108" dur="2000"/>
                                        <p:tgtEl>
                                          <p:spTgt spid="30"/>
                                        </p:tgtEl>
                                      </p:cBhvr>
                                    </p:animEffect>
                                    <p:anim calcmode="lin" valueType="num">
                                      <p:cBhvr>
                                        <p:cTn id="109" dur="2000" fill="hold"/>
                                        <p:tgtEl>
                                          <p:spTgt spid="30"/>
                                        </p:tgtEl>
                                        <p:attrNameLst>
                                          <p:attrName>style.rotation</p:attrName>
                                        </p:attrNameLst>
                                      </p:cBhvr>
                                      <p:tavLst>
                                        <p:tav tm="0">
                                          <p:val>
                                            <p:fltVal val="720"/>
                                          </p:val>
                                        </p:tav>
                                        <p:tav tm="100000">
                                          <p:val>
                                            <p:fltVal val="0"/>
                                          </p:val>
                                        </p:tav>
                                      </p:tavLst>
                                    </p:anim>
                                    <p:anim calcmode="lin" valueType="num">
                                      <p:cBhvr>
                                        <p:cTn id="110" dur="2000" fill="hold"/>
                                        <p:tgtEl>
                                          <p:spTgt spid="30"/>
                                        </p:tgtEl>
                                        <p:attrNameLst>
                                          <p:attrName>ppt_h</p:attrName>
                                        </p:attrNameLst>
                                      </p:cBhvr>
                                      <p:tavLst>
                                        <p:tav tm="0">
                                          <p:val>
                                            <p:fltVal val="0"/>
                                          </p:val>
                                        </p:tav>
                                        <p:tav tm="100000">
                                          <p:val>
                                            <p:strVal val="#ppt_h"/>
                                          </p:val>
                                        </p:tav>
                                      </p:tavLst>
                                    </p:anim>
                                    <p:anim calcmode="lin" valueType="num">
                                      <p:cBhvr>
                                        <p:cTn id="111" dur="2000" fill="hold"/>
                                        <p:tgtEl>
                                          <p:spTgt spid="30"/>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7" grpId="0" animBg="1"/>
      <p:bldP spid="22" grpId="0"/>
      <p:bldP spid="23" grpId="0"/>
      <p:bldP spid="24" grpId="0"/>
      <p:bldP spid="26" grpId="0" animBg="1"/>
      <p:bldP spid="30"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1192</TotalTime>
  <Words>4114</Words>
  <Application>Microsoft Office PowerPoint</Application>
  <PresentationFormat>On-screen Show (4:3)</PresentationFormat>
  <Paragraphs>524</Paragraphs>
  <Slides>38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0" baseType="lpstr">
      <vt:lpstr>Flow</vt:lpstr>
      <vt:lpstr>Equation</vt:lpstr>
      <vt:lpstr>The Sine Rule The Cosine Rule</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Sine Rule The Cosine Rule</dc:title>
  <dc:creator>Rick</dc:creator>
  <cp:lastModifiedBy>Rick</cp:lastModifiedBy>
  <cp:revision>92</cp:revision>
  <dcterms:created xsi:type="dcterms:W3CDTF">2012-01-05T21:34:33Z</dcterms:created>
  <dcterms:modified xsi:type="dcterms:W3CDTF">2012-06-19T01:18:54Z</dcterms:modified>
</cp:coreProperties>
</file>
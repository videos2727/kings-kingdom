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10"/>
  </p:notesMasterIdLst>
  <p:handoutMasterIdLst>
    <p:handoutMasterId r:id="rId11"/>
  </p:handoutMasterIdLst>
  <p:sldIdLst>
    <p:sldId id="258" r:id="rId2"/>
    <p:sldId id="260" r:id="rId3"/>
    <p:sldId id="272" r:id="rId4"/>
    <p:sldId id="276" r:id="rId5"/>
    <p:sldId id="273" r:id="rId6"/>
    <p:sldId id="274" r:id="rId7"/>
    <p:sldId id="275" r:id="rId8"/>
    <p:sldId id="27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7B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9/3/2020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9/3/2020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9/3/2020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1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0284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9/3/2020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7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61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689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198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603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125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803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9/3/2020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615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9/3/2020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193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9/3/2020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4534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9/3/2020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892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9/3/2020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773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9/3/2020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500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944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2CCFE9AC-F15C-4FA0-A6F1-298829FA691D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098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9/3/2020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124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Sketching Linear Graphs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EQ – Describe the different methods for sketching linear graphs.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 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Sketching linear graphs given the equation</a:t>
            </a:r>
          </a:p>
          <a:p>
            <a:r>
              <a:rPr lang="en-US" dirty="0" smtClean="0"/>
              <a:t>Methods – Table of values</a:t>
            </a:r>
          </a:p>
          <a:p>
            <a:r>
              <a:rPr lang="en-US" dirty="0" smtClean="0"/>
              <a:t>Using the intercept and gradient method </a:t>
            </a:r>
          </a:p>
          <a:p>
            <a:r>
              <a:rPr lang="en-US" dirty="0" smtClean="0"/>
              <a:t>Using the intercepts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63" y="787789"/>
            <a:ext cx="9628632" cy="1362113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Sketching Linear graphs</a:t>
            </a:r>
            <a:br>
              <a:rPr lang="en-AU" dirty="0" smtClean="0"/>
            </a:br>
            <a:r>
              <a:rPr lang="en-US" dirty="0"/>
              <a:t>EQ – Describe the different methods for sketching linear graphs. </a:t>
            </a:r>
            <a:br>
              <a:rPr lang="en-US" dirty="0"/>
            </a:b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86260" y="1810595"/>
            <a:ext cx="5079991" cy="823912"/>
          </a:xfrm>
        </p:spPr>
        <p:txBody>
          <a:bodyPr/>
          <a:lstStyle/>
          <a:p>
            <a:r>
              <a:rPr lang="en-AU" dirty="0" smtClean="0"/>
              <a:t>Task: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Solve and represent of a number line</a:t>
                </a:r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≥−20</m:t>
                    </m:r>
                  </m:oMath>
                </a14:m>
                <a:endParaRPr lang="en-AU" b="0" i="1" dirty="0" smtClean="0">
                  <a:latin typeface="Cambria Math" panose="02040503050406030204" pitchFamily="18" charset="0"/>
                </a:endParaRPr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7−2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&lt;3</m:t>
                    </m:r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Solve the equation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+11=7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−15</m:t>
                    </m:r>
                  </m:oMath>
                </a14:m>
                <a:r>
                  <a:rPr lang="en-AU" dirty="0" smtClean="0"/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Make y the subject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Solve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+1=0</m:t>
                    </m:r>
                  </m:oMath>
                </a14:m>
                <a:r>
                  <a:rPr lang="en-AU" dirty="0" smtClean="0"/>
                  <a:t> </a:t>
                </a:r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  <a:blipFill>
                <a:blip r:embed="rId2"/>
                <a:stretch>
                  <a:fillRect l="-1163" t="-24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63" y="787789"/>
            <a:ext cx="9628632" cy="1362113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Sketching Linear graphs</a:t>
            </a:r>
            <a:br>
              <a:rPr lang="en-AU" dirty="0" smtClean="0"/>
            </a:br>
            <a:r>
              <a:rPr lang="en-US" dirty="0"/>
              <a:t>EQ – Describe the different methods for sketching linear graphs. </a:t>
            </a:r>
            <a:br>
              <a:rPr lang="en-US" dirty="0"/>
            </a:b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86260" y="1810595"/>
            <a:ext cx="5079991" cy="823912"/>
          </a:xfrm>
        </p:spPr>
        <p:txBody>
          <a:bodyPr/>
          <a:lstStyle/>
          <a:p>
            <a:r>
              <a:rPr lang="en-AU" dirty="0" smtClean="0"/>
              <a:t>Task: In pairs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AU" dirty="0" smtClean="0"/>
                  <a:t>How would you sketch the graph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AU" dirty="0" smtClean="0"/>
                  <a:t>?</a:t>
                </a: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  <a:blipFill>
                <a:blip r:embed="rId2"/>
                <a:stretch>
                  <a:fillRect l="-1240" t="-24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9794095" y="118518"/>
            <a:ext cx="2409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Collaboration/Inquiry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5841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62309" y="843656"/>
            <a:ext cx="9613861" cy="1080938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Sketching Linear graphs</a:t>
            </a:r>
            <a:br>
              <a:rPr lang="en-AU" dirty="0" smtClean="0"/>
            </a:br>
            <a:r>
              <a:rPr lang="en-US" dirty="0"/>
              <a:t>EQ – Describe the different methods for sketching linear </a:t>
            </a:r>
            <a:r>
              <a:rPr lang="en-US" dirty="0" smtClean="0"/>
              <a:t>graphs</a:t>
            </a:r>
            <a:r>
              <a:rPr lang="en-US" dirty="0"/>
              <a:t>. </a:t>
            </a:r>
            <a:br>
              <a:rPr lang="en-US" dirty="0"/>
            </a:br>
            <a:endParaRPr lang="en-AU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3222171" cy="3985469"/>
          </a:xfrm>
        </p:spPr>
        <p:txBody>
          <a:bodyPr/>
          <a:lstStyle/>
          <a:p>
            <a:pPr marL="0" indent="0">
              <a:buNone/>
            </a:pPr>
            <a:r>
              <a:rPr lang="en-AU" dirty="0" smtClean="0"/>
              <a:t>What is the equation of a straight line? </a:t>
            </a:r>
          </a:p>
          <a:p>
            <a:pPr marL="0" indent="0">
              <a:buNone/>
            </a:pPr>
            <a:r>
              <a:rPr lang="en-AU" dirty="0" smtClean="0"/>
              <a:t>What information does this give us about the line?</a:t>
            </a:r>
          </a:p>
          <a:p>
            <a:pPr marL="0" indent="0">
              <a:buNone/>
            </a:pPr>
            <a:r>
              <a:rPr lang="en-AU" dirty="0" smtClean="0"/>
              <a:t>How can sketch the graph of a straight line? 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/>
              <p:cNvSpPr>
                <a:spLocks noGrp="1"/>
              </p:cNvSpPr>
              <p:nvPr>
                <p:ph sz="half" idx="2"/>
              </p:nvPr>
            </p:nvSpPr>
            <p:spPr>
              <a:xfrm>
                <a:off x="3591151" y="1950720"/>
                <a:ext cx="6841718" cy="472004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dirty="0" smtClean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 smtClean="0"/>
                  <a:t>- the gradient of the line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 smtClean="0"/>
                  <a:t>– the y-intercept</a:t>
                </a:r>
              </a:p>
              <a:p>
                <a:pPr marL="0" indent="0">
                  <a:buNone/>
                </a:pPr>
                <a:r>
                  <a:rPr lang="en-AU" dirty="0" smtClean="0"/>
                  <a:t>Sketch the line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AU" dirty="0"/>
              </a:p>
              <a:p>
                <a:pPr marL="0" indent="0">
                  <a:buNone/>
                </a:pPr>
                <a:r>
                  <a:rPr lang="en-AU" u="sng" dirty="0" smtClean="0"/>
                  <a:t>Method 1 </a:t>
                </a:r>
                <a:r>
                  <a:rPr lang="en-AU" dirty="0" smtClean="0"/>
                  <a:t>– Draw a table of values</a:t>
                </a: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591151" y="1950720"/>
                <a:ext cx="6841718" cy="4720046"/>
              </a:xfrm>
              <a:blipFill>
                <a:blip r:embed="rId2"/>
                <a:stretch>
                  <a:fillRect l="-133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/>
          <p:cNvCxnSpPr/>
          <p:nvPr/>
        </p:nvCxnSpPr>
        <p:spPr>
          <a:xfrm>
            <a:off x="3274423" y="192459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7763352"/>
                  </p:ext>
                </p:extLst>
              </p:nvPr>
            </p:nvGraphicFramePr>
            <p:xfrm>
              <a:off x="3712754" y="4693920"/>
              <a:ext cx="4708435" cy="755952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941687">
                      <a:extLst>
                        <a:ext uri="{9D8B030D-6E8A-4147-A177-3AD203B41FA5}">
                          <a16:colId xmlns:a16="http://schemas.microsoft.com/office/drawing/2014/main" val="4008009977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2508119208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2803968715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389022802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4129397999"/>
                        </a:ext>
                      </a:extLst>
                    </a:gridCol>
                  </a:tblGrid>
                  <a:tr h="3779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1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4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605902730"/>
                      </a:ext>
                    </a:extLst>
                  </a:tr>
                  <a:tr h="3779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8688404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7763352"/>
                  </p:ext>
                </p:extLst>
              </p:nvPr>
            </p:nvGraphicFramePr>
            <p:xfrm>
              <a:off x="3712754" y="4693920"/>
              <a:ext cx="4708435" cy="755952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941687">
                      <a:extLst>
                        <a:ext uri="{9D8B030D-6E8A-4147-A177-3AD203B41FA5}">
                          <a16:colId xmlns:a16="http://schemas.microsoft.com/office/drawing/2014/main" val="4008009977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2508119208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2803968715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389022802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4129397999"/>
                        </a:ext>
                      </a:extLst>
                    </a:gridCol>
                  </a:tblGrid>
                  <a:tr h="3779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t="-9524" r="-399355" b="-10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1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4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605902730"/>
                      </a:ext>
                    </a:extLst>
                  </a:tr>
                  <a:tr h="3779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t="-111290" r="-399355" b="-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8688404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TextBox 14"/>
          <p:cNvSpPr txBox="1"/>
          <p:nvPr/>
        </p:nvSpPr>
        <p:spPr>
          <a:xfrm>
            <a:off x="11267131" y="121921"/>
            <a:ext cx="92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9016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62309" y="843656"/>
            <a:ext cx="9613861" cy="1080938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Sketching Linear graphs</a:t>
            </a:r>
            <a:br>
              <a:rPr lang="en-AU" dirty="0" smtClean="0"/>
            </a:br>
            <a:r>
              <a:rPr lang="en-US" dirty="0"/>
              <a:t>EQ – Describe the different methods for sketching linear </a:t>
            </a:r>
            <a:r>
              <a:rPr lang="en-US" dirty="0" smtClean="0"/>
              <a:t>graphs</a:t>
            </a:r>
            <a:r>
              <a:rPr lang="en-US" dirty="0"/>
              <a:t>. </a:t>
            </a:r>
            <a:br>
              <a:rPr lang="en-US" dirty="0"/>
            </a:br>
            <a:endParaRPr lang="en-AU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3222171" cy="3985469"/>
          </a:xfrm>
        </p:spPr>
        <p:txBody>
          <a:bodyPr/>
          <a:lstStyle/>
          <a:p>
            <a:pPr marL="0" indent="0">
              <a:buNone/>
            </a:pPr>
            <a:r>
              <a:rPr lang="en-AU" dirty="0" smtClean="0"/>
              <a:t>What is the equation of a straight line? </a:t>
            </a:r>
          </a:p>
          <a:p>
            <a:pPr marL="0" indent="0">
              <a:buNone/>
            </a:pPr>
            <a:r>
              <a:rPr lang="en-AU" dirty="0" smtClean="0"/>
              <a:t>What information does this give us about the line?</a:t>
            </a:r>
          </a:p>
          <a:p>
            <a:pPr marL="0" indent="0">
              <a:buNone/>
            </a:pPr>
            <a:r>
              <a:rPr lang="en-AU" dirty="0" smtClean="0"/>
              <a:t>How can sketch the graph of a straight line? 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/>
              <p:cNvSpPr>
                <a:spLocks noGrp="1"/>
              </p:cNvSpPr>
              <p:nvPr>
                <p:ph sz="half" idx="2"/>
              </p:nvPr>
            </p:nvSpPr>
            <p:spPr>
              <a:xfrm>
                <a:off x="3591151" y="1950720"/>
                <a:ext cx="6841718" cy="472004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 smtClean="0"/>
                  <a:t>- the gradient of the line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 smtClean="0"/>
                  <a:t>– the y-intercept</a:t>
                </a:r>
              </a:p>
              <a:p>
                <a:pPr marL="0" indent="0">
                  <a:buNone/>
                </a:pPr>
                <a:r>
                  <a:rPr lang="en-AU" dirty="0" smtClean="0"/>
                  <a:t>Sketch the line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AU" dirty="0"/>
              </a:p>
              <a:p>
                <a:pPr marL="0" indent="0">
                  <a:buNone/>
                </a:pPr>
                <a:r>
                  <a:rPr lang="en-AU" u="sng" dirty="0" smtClean="0"/>
                  <a:t>Method 1 </a:t>
                </a:r>
                <a:r>
                  <a:rPr lang="en-AU" dirty="0" smtClean="0"/>
                  <a:t>– </a:t>
                </a:r>
              </a:p>
              <a:p>
                <a:pPr marL="0" indent="0">
                  <a:buNone/>
                </a:pPr>
                <a:r>
                  <a:rPr lang="en-AU" dirty="0" smtClean="0"/>
                  <a:t>Draw a table of values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 smtClean="0"/>
              </a:p>
              <a:p>
                <a:pPr marL="0" indent="0">
                  <a:buNone/>
                </a:pPr>
                <a:r>
                  <a:rPr lang="en-AU" dirty="0" smtClean="0"/>
                  <a:t>Plot these points and draw a line through them</a:t>
                </a: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591151" y="1950720"/>
                <a:ext cx="6841718" cy="4720046"/>
              </a:xfrm>
              <a:blipFill>
                <a:blip r:embed="rId2"/>
                <a:stretch>
                  <a:fillRect l="-133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/>
          <p:cNvCxnSpPr/>
          <p:nvPr/>
        </p:nvCxnSpPr>
        <p:spPr>
          <a:xfrm>
            <a:off x="3274423" y="192459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8069411"/>
                  </p:ext>
                </p:extLst>
              </p:nvPr>
            </p:nvGraphicFramePr>
            <p:xfrm>
              <a:off x="3712754" y="5076976"/>
              <a:ext cx="4708435" cy="743736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941687">
                      <a:extLst>
                        <a:ext uri="{9D8B030D-6E8A-4147-A177-3AD203B41FA5}">
                          <a16:colId xmlns:a16="http://schemas.microsoft.com/office/drawing/2014/main" val="4008009977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2508119208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2803968715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389022802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412939799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1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4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605902730"/>
                      </a:ext>
                    </a:extLst>
                  </a:tr>
                  <a:tr h="3779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5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7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9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8688404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8069411"/>
                  </p:ext>
                </p:extLst>
              </p:nvPr>
            </p:nvGraphicFramePr>
            <p:xfrm>
              <a:off x="3712754" y="5076976"/>
              <a:ext cx="4708435" cy="743736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941687">
                      <a:extLst>
                        <a:ext uri="{9D8B030D-6E8A-4147-A177-3AD203B41FA5}">
                          <a16:colId xmlns:a16="http://schemas.microsoft.com/office/drawing/2014/main" val="4008009977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2508119208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2803968715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389022802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4129397999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t="-10000" r="-399355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1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4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605902730"/>
                      </a:ext>
                    </a:extLst>
                  </a:tr>
                  <a:tr h="3779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t="-104762" r="-399355" b="-20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5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7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9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86884048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3877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62309" y="843656"/>
            <a:ext cx="9613861" cy="1080938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Sketching Linear graphs</a:t>
            </a:r>
            <a:br>
              <a:rPr lang="en-AU" dirty="0" smtClean="0"/>
            </a:br>
            <a:r>
              <a:rPr lang="en-US" dirty="0"/>
              <a:t>EQ – Describe the different methods for sketching linear </a:t>
            </a:r>
            <a:r>
              <a:rPr lang="en-US" dirty="0" smtClean="0"/>
              <a:t>graphs</a:t>
            </a:r>
            <a:r>
              <a:rPr lang="en-US" dirty="0"/>
              <a:t>. </a:t>
            </a:r>
            <a:br>
              <a:rPr lang="en-US" dirty="0"/>
            </a:br>
            <a:endParaRPr lang="en-AU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3222171" cy="3985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How can sketch the graph of a straight line?  </a:t>
            </a:r>
            <a:endParaRPr lang="en-AU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274423" y="192459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/>
              <p:cNvSpPr>
                <a:spLocks noGrp="1"/>
              </p:cNvSpPr>
              <p:nvPr>
                <p:ph sz="half" idx="2"/>
              </p:nvPr>
            </p:nvSpPr>
            <p:spPr>
              <a:xfrm>
                <a:off x="3300548" y="1950720"/>
                <a:ext cx="8891451" cy="49072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AU" sz="2200" u="sng" dirty="0" smtClean="0"/>
                  <a:t>Method 2 </a:t>
                </a:r>
                <a:r>
                  <a:rPr lang="en-AU" sz="2200" dirty="0" smtClean="0"/>
                  <a:t>– </a:t>
                </a:r>
              </a:p>
              <a:p>
                <a:pPr marL="0" indent="0">
                  <a:buNone/>
                </a:pPr>
                <a:r>
                  <a:rPr lang="en-AU" sz="2200" dirty="0" smtClean="0"/>
                  <a:t>Use the equation to find the y-intercept and the gradient. </a:t>
                </a:r>
              </a:p>
              <a:p>
                <a:pPr marL="0" indent="0">
                  <a:buNone/>
                </a:pPr>
                <a:r>
                  <a:rPr lang="en-AU" sz="2200" dirty="0" smtClean="0"/>
                  <a:t>For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AU" sz="2200" dirty="0" smtClean="0"/>
                  <a:t> </a:t>
                </a:r>
              </a:p>
              <a:p>
                <a:pPr marL="0" indent="0">
                  <a:buNone/>
                </a:pPr>
                <a:r>
                  <a:rPr lang="en-AU" sz="2200" dirty="0" smtClean="0"/>
                  <a:t>y-intercept is 1</a:t>
                </a:r>
              </a:p>
              <a:p>
                <a:pPr marL="0" indent="0">
                  <a:buNone/>
                </a:pPr>
                <a:r>
                  <a:rPr lang="en-AU" sz="2200" dirty="0" smtClean="0"/>
                  <a:t>Gradient is 2. (As x increases by 1 y increases by 2)</a:t>
                </a:r>
              </a:p>
              <a:p>
                <a:pPr marL="0" indent="0">
                  <a:buNone/>
                </a:pPr>
                <a:r>
                  <a:rPr lang="en-AU" sz="2200" dirty="0" smtClean="0"/>
                  <a:t>Plot these two points and draw a line through them. </a:t>
                </a:r>
              </a:p>
              <a:p>
                <a:pPr marL="0" indent="0">
                  <a:buNone/>
                </a:pPr>
                <a:endParaRPr lang="en-AU" sz="2200" dirty="0"/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300548" y="1950720"/>
                <a:ext cx="8891451" cy="4907280"/>
              </a:xfrm>
              <a:blipFill>
                <a:blip r:embed="rId2"/>
                <a:stretch>
                  <a:fillRect l="-891" t="-16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907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62309" y="843656"/>
            <a:ext cx="9613861" cy="1080938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Sketching Linear graphs</a:t>
            </a:r>
            <a:br>
              <a:rPr lang="en-AU" dirty="0" smtClean="0"/>
            </a:br>
            <a:r>
              <a:rPr lang="en-US" dirty="0"/>
              <a:t>EQ – Describe the different methods for sketching linear </a:t>
            </a:r>
            <a:r>
              <a:rPr lang="en-US" dirty="0" smtClean="0"/>
              <a:t>graphs</a:t>
            </a:r>
            <a:r>
              <a:rPr lang="en-US" dirty="0"/>
              <a:t>. </a:t>
            </a:r>
            <a:br>
              <a:rPr lang="en-US" dirty="0"/>
            </a:br>
            <a:endParaRPr lang="en-AU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3222171" cy="3985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How can sketch the graph of a straight line?  </a:t>
            </a:r>
            <a:endParaRPr lang="en-AU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274423" y="192459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/>
              <p:cNvSpPr>
                <a:spLocks noGrp="1"/>
              </p:cNvSpPr>
              <p:nvPr>
                <p:ph sz="half" idx="2"/>
              </p:nvPr>
            </p:nvSpPr>
            <p:spPr>
              <a:xfrm>
                <a:off x="3300548" y="1950720"/>
                <a:ext cx="8891451" cy="49072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AU" sz="2200" u="sng" dirty="0" smtClean="0"/>
                  <a:t>Method </a:t>
                </a:r>
                <a:r>
                  <a:rPr lang="en-AU" sz="2200" u="sng" dirty="0" smtClean="0"/>
                  <a:t>3 </a:t>
                </a:r>
                <a:r>
                  <a:rPr lang="en-AU" sz="2200" dirty="0" smtClean="0"/>
                  <a:t>– </a:t>
                </a:r>
              </a:p>
              <a:p>
                <a:pPr marL="0" indent="0">
                  <a:buNone/>
                </a:pPr>
                <a:r>
                  <a:rPr lang="en-AU" sz="2200" dirty="0" smtClean="0"/>
                  <a:t>Put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AU" sz="2200" dirty="0" smtClean="0"/>
                  <a:t> and find the y-intercept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sz="2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200" i="1">
                        <a:latin typeface="Cambria Math" panose="02040503050406030204" pitchFamily="18" charset="0"/>
                      </a:rPr>
                      <m:t>=2×0+1</m:t>
                    </m:r>
                  </m:oMath>
                </a14:m>
                <a:r>
                  <a:rPr lang="en-AU" sz="2200" dirty="0"/>
                  <a:t> </a:t>
                </a:r>
                <a:endParaRPr lang="en-AU" sz="22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sz="2200" dirty="0"/>
              </a:p>
              <a:p>
                <a:pPr marL="0" indent="0">
                  <a:buNone/>
                </a:pPr>
                <a:r>
                  <a:rPr lang="en-AU" sz="2200" dirty="0" smtClean="0"/>
                  <a:t>Put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AU" sz="2200" dirty="0" smtClean="0"/>
                  <a:t>and find the x-intercept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2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AU" sz="22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200" dirty="0" smtClean="0"/>
              </a:p>
              <a:p>
                <a:pPr marL="0" indent="0">
                  <a:buNone/>
                </a:pPr>
                <a:r>
                  <a:rPr lang="en-AU" sz="2200" dirty="0" smtClean="0"/>
                  <a:t>Plot these points and draw a line through them.</a:t>
                </a:r>
              </a:p>
              <a:p>
                <a:pPr marL="0" indent="0">
                  <a:buNone/>
                </a:pPr>
                <a:endParaRPr lang="en-AU" sz="2200" dirty="0"/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300548" y="1950720"/>
                <a:ext cx="8891451" cy="4907280"/>
              </a:xfrm>
              <a:blipFill>
                <a:blip r:embed="rId2"/>
                <a:stretch>
                  <a:fillRect l="-891" t="-16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527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rlin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900</TotalTime>
  <Words>466</Words>
  <Application>Microsoft Office PowerPoint</Application>
  <PresentationFormat>Widescreen</PresentationFormat>
  <Paragraphs>79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Trebuchet MS</vt:lpstr>
      <vt:lpstr>Berlin</vt:lpstr>
      <vt:lpstr>Sketching Linear Graphs </vt:lpstr>
      <vt:lpstr>Learning Objectives </vt:lpstr>
      <vt:lpstr>Sketching Linear graphs EQ – Describe the different methods for sketching linear graphs.  </vt:lpstr>
      <vt:lpstr>Sketching Linear graphs EQ – Describe the different methods for sketching linear graphs.  </vt:lpstr>
      <vt:lpstr>Sketching Linear graphs EQ – Describe the different methods for sketching linear graphs.  </vt:lpstr>
      <vt:lpstr>Sketching Linear graphs EQ – Describe the different methods for sketching linear graphs.  </vt:lpstr>
      <vt:lpstr>Sketching Linear graphs EQ – Describe the different methods for sketching linear graphs.  </vt:lpstr>
      <vt:lpstr>Sketching Linear graphs EQ – Describe the different methods for sketching linear graphs. 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of Area</dc:title>
  <dc:creator>RUST Joanne [Baldivis Secondary College]</dc:creator>
  <cp:lastModifiedBy>RUST Joanne [Baldivis Secondary College]</cp:lastModifiedBy>
  <cp:revision>35</cp:revision>
  <dcterms:created xsi:type="dcterms:W3CDTF">2019-03-18T23:45:29Z</dcterms:created>
  <dcterms:modified xsi:type="dcterms:W3CDTF">2020-09-03T12:18:04Z</dcterms:modified>
</cp:coreProperties>
</file>
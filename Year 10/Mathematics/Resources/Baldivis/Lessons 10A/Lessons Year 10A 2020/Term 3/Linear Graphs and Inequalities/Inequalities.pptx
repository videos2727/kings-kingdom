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61" autoAdjust="0"/>
    <p:restoredTop sz="94660"/>
  </p:normalViewPr>
  <p:slideViewPr>
    <p:cSldViewPr snapToGrid="0">
      <p:cViewPr>
        <p:scale>
          <a:sx n="78" d="100"/>
          <a:sy n="78" d="100"/>
        </p:scale>
        <p:origin x="51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E307-0681-4726-8ADD-294D5E80F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AAAEC-5F53-49D8-9A90-0EF3014BF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CB94-972C-4E90-A246-EC66C45E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222A-2292-4629-A12E-48A5995D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AB8B3-6760-4A02-9BFF-712034EC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77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C5A6-9AC7-4E86-8F11-06FFCA37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DE4A-4330-4F0C-AF19-EB737E7D1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9618-D08F-4F38-8BEB-91975B49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69AD-7ADF-429A-B3CD-A08BF42C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BCB5-671E-4860-A478-7A63F076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44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96E8-EA68-4361-BB3D-103582BD2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1BE9-57FD-4472-952C-5D6E7F776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70797-C765-44A8-BFDA-86E16BF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3A817-2681-4710-9E64-1F3868CC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9F2D4-43B7-4A71-93C4-FE3D3CF5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78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8ED9-3518-49FE-BC46-4EE97EBC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F900-D0E8-4929-B1C6-197F0E71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5296E-8206-4463-B51B-07DBC0DBF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551E3-B119-48A6-9831-7F59BEF8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F1B8D-E9CE-4DE5-84A5-BD6F725E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9879C-491E-468D-A72A-21AF41D4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59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53EF-9D25-45AC-8AEC-220E184F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56AE4-D187-4073-999D-C0177490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8879C-6428-4AFB-AE0C-73C5B1790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FC613-E276-4995-BADF-27BDFDEC4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4C9D7-8A05-46E5-B54C-2438E5F92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ABC60-C235-424B-A79C-2D4ABB0F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8EBC1-57A5-4752-A1C4-7406AC00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F924-9F62-46D6-BDCC-FAE86A95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42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E1BC-4249-40D5-8780-34D1F8D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DBA12-EA59-43E7-94EE-CCB6CC22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47A4E-A1F4-4A2E-BFBB-77A571EE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611EE-791E-4302-A471-96D49C23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92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CEA80-500E-48D5-80B7-05111272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AA0CA-79CF-43AC-B5C4-3483A935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7B983-0141-4C4C-84D6-350A56FC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06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5C06-8B70-48DB-98F1-49588BF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07DE2-C500-4A29-9271-AD676D936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B77A-DC43-44B2-A0D6-EC96411B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39639-36BB-4B69-BF9E-45462258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63D69-F040-4C43-896A-223DCDA3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91D5B-7F02-40A9-B023-0A60A065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67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756DE-2213-470F-B4D8-62B0D63A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F8BF3-118C-4EDC-909D-E320091FC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2B438-71D6-42F2-8F1C-B09713232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0CA97-9D62-43CB-A55D-9943D20B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BDB5A-3B12-4B40-A68B-B0FE398C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80CD2-7099-4366-81EB-51D36BCF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03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92D7-A657-4F18-8945-FC942192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B07E6-B9EB-4C0E-9D4A-FEAE65BAD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4F8E-73EC-430F-9351-65CEE369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E135E-87DB-4A08-A921-DB673BAB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835D-1617-415D-9EBC-D70F96CB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18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FD04E-43F1-4566-AA34-2B15CC8AC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DEE66-2093-409C-A51A-8864BE510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0C2E4-7FDC-4A5B-9203-85D6E042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60FD-2D4E-4263-B18C-87D6879D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5064-F103-442F-B86F-1EE8132E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16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BE31F-A341-4855-9068-642AEB41A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D2A6A-3524-4055-8316-492F9D2AC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2B66D-B2E3-4F3A-B696-1218F88D3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41229-D311-47A8-ACC9-A6B546B197F7}" type="datetimeFigureOut">
              <a:rPr lang="en-AU" smtClean="0"/>
              <a:t>2/9/20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8F789-7590-47F1-9EA8-EDBBB0A61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93BE-01F7-4368-BAE8-CB49489CB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70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9B70-1179-488A-A488-0821EC444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Linear inequalities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76438-C07D-4046-8B0F-DD963A3ED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to solve linear inequalities?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831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989583" y="106055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4035995" y="1126054"/>
            <a:ext cx="80824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equation is a statement of </a:t>
            </a:r>
            <a:r>
              <a:rPr lang="en-US" i="1" dirty="0"/>
              <a:t>equality</a:t>
            </a:r>
            <a:r>
              <a:rPr lang="en-US" dirty="0"/>
              <a:t> such as </a:t>
            </a:r>
            <a:r>
              <a:rPr lang="en-US" i="1" dirty="0"/>
              <a:t>x</a:t>
            </a:r>
            <a:r>
              <a:rPr lang="en-US" dirty="0"/>
              <a:t> 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 </a:t>
            </a:r>
            <a:r>
              <a:rPr lang="en-US" b="1" dirty="0"/>
              <a:t>inequality</a:t>
            </a:r>
            <a:r>
              <a:rPr lang="en-US" dirty="0"/>
              <a:t> is a statement of inequality such as </a:t>
            </a:r>
            <a:r>
              <a:rPr lang="en-US" i="1" dirty="0"/>
              <a:t>x</a:t>
            </a:r>
            <a:r>
              <a:rPr lang="en-US" dirty="0"/>
              <a:t>&lt; 2 (</a:t>
            </a:r>
            <a:r>
              <a:rPr lang="en-US" i="1" dirty="0"/>
              <a:t>x</a:t>
            </a:r>
            <a:r>
              <a:rPr lang="en-US" dirty="0"/>
              <a:t> is less than 2).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solution to a linear equation is a single point on a number line, but the solution to an inequality is a portion of the number line- the solution to the inequality has many values.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following table shows four types of simple inequations and their corresponding representation on a number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323786" y="158471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an inequality?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EC5424-CA37-4C90-8039-364F5895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94" y="4211073"/>
            <a:ext cx="6358909" cy="2175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70FA77-95CE-4A56-98F5-B6855B33187C}"/>
              </a:ext>
            </a:extLst>
          </p:cNvPr>
          <p:cNvSpPr txBox="1"/>
          <p:nvPr/>
        </p:nvSpPr>
        <p:spPr>
          <a:xfrm>
            <a:off x="10199329" y="3960118"/>
            <a:ext cx="18455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An open circle placed over the 2 indicates that 2 is not included; that is, 2 </a:t>
            </a:r>
            <a:r>
              <a:rPr lang="en-US" sz="1400" b="1" dirty="0"/>
              <a:t>does not </a:t>
            </a:r>
            <a:r>
              <a:rPr lang="en-US" sz="1400" dirty="0"/>
              <a:t>satisfy the inequality statement.</a:t>
            </a:r>
          </a:p>
          <a:p>
            <a:endParaRPr lang="en-US" sz="1400" dirty="0"/>
          </a:p>
          <a:p>
            <a:r>
              <a:rPr lang="en-US" sz="1400" dirty="0"/>
              <a:t> A closed or solid circle indicates that 2 is included; that is, it </a:t>
            </a:r>
            <a:r>
              <a:rPr lang="en-US" sz="1400" b="1" dirty="0"/>
              <a:t>does</a:t>
            </a:r>
            <a:r>
              <a:rPr lang="en-US" sz="1400" dirty="0"/>
              <a:t> satisfy the inequality statement.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93420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80919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37671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015575" y="109395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698" y="666681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2376356" y="1265258"/>
            <a:ext cx="86846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basic technique for solving inequality is to: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imagine that in place of the inequality sign, there is an equals (=) sign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solve the inequality as if it were a linear equation, except that in place of the equals sign keep the original inequality sign unless the special case outlined below applies- </a:t>
            </a:r>
            <a:r>
              <a:rPr lang="en-US" sz="2400" b="1" dirty="0"/>
              <a:t>we will do these examples later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73572" y="1241245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solve an inequality?</a:t>
            </a:r>
          </a:p>
        </p:txBody>
      </p:sp>
    </p:spTree>
    <p:extLst>
      <p:ext uri="{BB962C8B-B14F-4D97-AF65-F5344CB8AC3E}">
        <p14:creationId xmlns:p14="http://schemas.microsoft.com/office/powerpoint/2010/main" val="378865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BBCE-1AAF-4D83-A246-7788AC81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11"/>
            <a:ext cx="10515600" cy="1325563"/>
          </a:xfrm>
        </p:spPr>
        <p:txBody>
          <a:bodyPr/>
          <a:lstStyle/>
          <a:p>
            <a:r>
              <a:rPr lang="en-US" dirty="0"/>
              <a:t>Worked examples: We will do these together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B221B5-9E16-4C67-B04F-3BA2C2ED2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86" y="1155532"/>
            <a:ext cx="5698568" cy="1942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18E4F-D869-4267-9F44-6815E3744FAA}"/>
              </a:ext>
            </a:extLst>
          </p:cNvPr>
          <p:cNvSpPr txBox="1"/>
          <p:nvPr/>
        </p:nvSpPr>
        <p:spPr>
          <a:xfrm>
            <a:off x="4852777" y="1942349"/>
            <a:ext cx="193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  <a:endParaRPr lang="en-AU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B5BE1E-7C1F-FD4F-ACD1-C2EA5CDE0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46" y="3032430"/>
            <a:ext cx="3522225" cy="2193083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F6100427-9826-214F-ADFA-0624E2DE5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48" y="3032430"/>
            <a:ext cx="3305361" cy="3472018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6B16A8-F162-6A4A-924E-9D0767F1E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970" y="1653852"/>
            <a:ext cx="3949379" cy="420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9889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72199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976" y="3530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4515" y="1272199"/>
            <a:ext cx="0" cy="5585803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76" y="69903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83" y="98866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2444516" y="2161491"/>
            <a:ext cx="963950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the inequation 6 &gt; 5 (6 is greater than 5).If we multiply both sides of the inequation by −1 we get: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2400" dirty="0"/>
              <a:t>−6 &gt; −5, which is not correct.</a:t>
            </a:r>
          </a:p>
          <a:p>
            <a:pPr algn="ctr"/>
            <a:r>
              <a:rPr lang="en-US" sz="2400" dirty="0"/>
              <a:t>In fact −6 &lt; −5. </a:t>
            </a:r>
          </a:p>
          <a:p>
            <a:pPr algn="ctr"/>
            <a:endParaRPr lang="en-US" sz="2400" dirty="0"/>
          </a:p>
          <a:p>
            <a:r>
              <a:rPr lang="en-US" sz="2400" dirty="0"/>
              <a:t>Applying this to inequalities generally, when we multiply or divide an inequality by a negative number, the direction of the inequality sign must change.</a:t>
            </a:r>
          </a:p>
          <a:p>
            <a:pPr algn="ctr"/>
            <a:endParaRPr lang="en-US" dirty="0"/>
          </a:p>
          <a:p>
            <a:r>
              <a:rPr lang="en-AU" sz="2400" dirty="0"/>
              <a:t>&lt; to &gt;		 &gt; to &lt;			 ≤ to ≥				 ≥ to ≤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07976" y="1383703"/>
            <a:ext cx="2336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solve an inequality when we multiply or divide by a negative number?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C5E1975-21E0-4DD8-BF38-3C1CF43B7CF3}"/>
              </a:ext>
            </a:extLst>
          </p:cNvPr>
          <p:cNvSpPr txBox="1">
            <a:spLocks/>
          </p:cNvSpPr>
          <p:nvPr/>
        </p:nvSpPr>
        <p:spPr>
          <a:xfrm>
            <a:off x="2636359" y="1369778"/>
            <a:ext cx="9383474" cy="6680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The special case — multiplying or dividing both sides of the inequation by a negative number</a:t>
            </a:r>
            <a:br>
              <a:rPr lang="en-US" sz="2400" dirty="0">
                <a:latin typeface="+mn-lt"/>
              </a:rPr>
            </a:br>
            <a:endParaRPr lang="en-AU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034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BBCE-1AAF-4D83-A246-7788AC81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2480"/>
            <a:ext cx="10515600" cy="1325563"/>
          </a:xfrm>
        </p:spPr>
        <p:txBody>
          <a:bodyPr/>
          <a:lstStyle/>
          <a:p>
            <a:r>
              <a:rPr lang="en-US" dirty="0"/>
              <a:t>Worked examples: We will do these together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18E4F-D869-4267-9F44-6815E3744FAA}"/>
              </a:ext>
            </a:extLst>
          </p:cNvPr>
          <p:cNvSpPr txBox="1"/>
          <p:nvPr/>
        </p:nvSpPr>
        <p:spPr>
          <a:xfrm>
            <a:off x="366382" y="3198167"/>
            <a:ext cx="1933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Solutions:</a:t>
            </a:r>
            <a:endParaRPr lang="en-A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96AED0-14C8-4B46-B6FA-C4BB7E7EE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3" y="1260249"/>
            <a:ext cx="6513411" cy="1786152"/>
          </a:xfrm>
          <a:prstGeom prst="rect">
            <a:avLst/>
          </a:prstGeom>
        </p:spPr>
      </p:pic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651184-2A06-FB4B-83A0-82F356838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71" y="3123567"/>
            <a:ext cx="3458029" cy="3032862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F435085-168F-2449-A052-2DF12D3B5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161" y="982472"/>
            <a:ext cx="4121639" cy="587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089151-4715-482C-878B-DF288903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38" y="176300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Complete “Puzzling Inequations 1 worksheet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students will need a ruler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827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431</Words>
  <Application>Microsoft Macintosh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Chalkboard</vt:lpstr>
      <vt:lpstr>Office Theme</vt:lpstr>
      <vt:lpstr>Topic: Linear inequalities</vt:lpstr>
      <vt:lpstr>PowerPoint Presentation</vt:lpstr>
      <vt:lpstr>PowerPoint Presentation</vt:lpstr>
      <vt:lpstr>Worked examples: We will do these together</vt:lpstr>
      <vt:lpstr>PowerPoint Presentation</vt:lpstr>
      <vt:lpstr>Worked examples: We will do these together</vt:lpstr>
      <vt:lpstr>Complete “Puzzling Inequations 1 worksheet  - students will need a ruler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inequalities</dc:title>
  <dc:creator>Sarah James</dc:creator>
  <cp:lastModifiedBy>SUMMERS Brad [Baldivis Secondary College]</cp:lastModifiedBy>
  <cp:revision>11</cp:revision>
  <dcterms:created xsi:type="dcterms:W3CDTF">2018-05-23T00:04:20Z</dcterms:created>
  <dcterms:modified xsi:type="dcterms:W3CDTF">2020-09-02T13:55:37Z</dcterms:modified>
</cp:coreProperties>
</file>
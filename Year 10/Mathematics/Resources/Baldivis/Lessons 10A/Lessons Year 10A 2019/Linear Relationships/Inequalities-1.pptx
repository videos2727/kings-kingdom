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301" r:id="rId2"/>
    <p:sldId id="302" r:id="rId3"/>
    <p:sldId id="303" r:id="rId4"/>
    <p:sldId id="304" r:id="rId5"/>
    <p:sldId id="305" r:id="rId6"/>
    <p:sldId id="306" r:id="rId7"/>
    <p:sldId id="307" r:id="rId8"/>
    <p:sldId id="320" r:id="rId9"/>
    <p:sldId id="319" r:id="rId10"/>
    <p:sldId id="314" r:id="rId11"/>
    <p:sldId id="321" r:id="rId12"/>
    <p:sldId id="322" r:id="rId13"/>
    <p:sldId id="308" r:id="rId14"/>
    <p:sldId id="323" r:id="rId15"/>
    <p:sldId id="324" r:id="rId16"/>
    <p:sldId id="325" r:id="rId17"/>
    <p:sldId id="326" r:id="rId18"/>
    <p:sldId id="327" r:id="rId19"/>
    <p:sldId id="336" r:id="rId20"/>
    <p:sldId id="337" r:id="rId21"/>
    <p:sldId id="338" r:id="rId22"/>
    <p:sldId id="339" r:id="rId23"/>
    <p:sldId id="340" r:id="rId24"/>
    <p:sldId id="341" r:id="rId25"/>
    <p:sldId id="342" r:id="rId26"/>
    <p:sldId id="343" r:id="rId27"/>
    <p:sldId id="335" r:id="rId28"/>
    <p:sldId id="311" r:id="rId29"/>
    <p:sldId id="329" r:id="rId30"/>
    <p:sldId id="330" r:id="rId31"/>
    <p:sldId id="333" r:id="rId32"/>
    <p:sldId id="344" r:id="rId33"/>
    <p:sldId id="345" r:id="rId34"/>
    <p:sldId id="347" r:id="rId35"/>
    <p:sldId id="346" r:id="rId36"/>
    <p:sldId id="328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75" autoAdjust="0"/>
    <p:restoredTop sz="94660"/>
  </p:normalViewPr>
  <p:slideViewPr>
    <p:cSldViewPr>
      <p:cViewPr varScale="1">
        <p:scale>
          <a:sx n="88" d="100"/>
          <a:sy n="88" d="100"/>
        </p:scale>
        <p:origin x="135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DBE8B9-F4AE-48F5-B0F0-0271EB90648A}" type="datetimeFigureOut">
              <a:rPr lang="en-GB" smtClean="0"/>
              <a:pPr/>
              <a:t>01/05/2019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DDEAE1-248F-4F57-BEC1-045E16A57A7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6688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5301-F3F0-4281-9ACA-0C4B05D7C272}" type="datetimeFigureOut">
              <a:rPr lang="en-GB" smtClean="0"/>
              <a:pPr/>
              <a:t>01/05/2019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8BFCE-9F41-4E3D-80C5-8C1A97461A0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5301-F3F0-4281-9ACA-0C4B05D7C272}" type="datetimeFigureOut">
              <a:rPr lang="en-GB" smtClean="0"/>
              <a:pPr/>
              <a:t>01/05/2019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8BFCE-9F41-4E3D-80C5-8C1A97461A0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5301-F3F0-4281-9ACA-0C4B05D7C272}" type="datetimeFigureOut">
              <a:rPr lang="en-GB" smtClean="0"/>
              <a:pPr/>
              <a:t>01/05/2019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8BFCE-9F41-4E3D-80C5-8C1A97461A0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5301-F3F0-4281-9ACA-0C4B05D7C272}" type="datetimeFigureOut">
              <a:rPr lang="en-GB" smtClean="0"/>
              <a:pPr/>
              <a:t>01/05/2019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8BFCE-9F41-4E3D-80C5-8C1A97461A0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5301-F3F0-4281-9ACA-0C4B05D7C272}" type="datetimeFigureOut">
              <a:rPr lang="en-GB" smtClean="0"/>
              <a:pPr/>
              <a:t>01/05/2019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8BFCE-9F41-4E3D-80C5-8C1A97461A0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5301-F3F0-4281-9ACA-0C4B05D7C272}" type="datetimeFigureOut">
              <a:rPr lang="en-GB" smtClean="0"/>
              <a:pPr/>
              <a:t>01/05/2019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8BFCE-9F41-4E3D-80C5-8C1A97461A0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5301-F3F0-4281-9ACA-0C4B05D7C272}" type="datetimeFigureOut">
              <a:rPr lang="en-GB" smtClean="0"/>
              <a:pPr/>
              <a:t>01/05/2019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8BFCE-9F41-4E3D-80C5-8C1A97461A0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5301-F3F0-4281-9ACA-0C4B05D7C272}" type="datetimeFigureOut">
              <a:rPr lang="en-GB" smtClean="0"/>
              <a:pPr/>
              <a:t>01/05/2019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8BFCE-9F41-4E3D-80C5-8C1A97461A0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5301-F3F0-4281-9ACA-0C4B05D7C272}" type="datetimeFigureOut">
              <a:rPr lang="en-GB" smtClean="0"/>
              <a:pPr/>
              <a:t>01/05/2019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8BFCE-9F41-4E3D-80C5-8C1A97461A0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5301-F3F0-4281-9ACA-0C4B05D7C272}" type="datetimeFigureOut">
              <a:rPr lang="en-GB" smtClean="0"/>
              <a:pPr/>
              <a:t>01/05/2019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8BFCE-9F41-4E3D-80C5-8C1A97461A0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5301-F3F0-4281-9ACA-0C4B05D7C272}" type="datetimeFigureOut">
              <a:rPr lang="en-GB" smtClean="0"/>
              <a:pPr/>
              <a:t>01/05/2019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8BFCE-9F41-4E3D-80C5-8C1A97461A0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>
            <a:alpha val="1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C5301-F3F0-4281-9ACA-0C4B05D7C272}" type="datetimeFigureOut">
              <a:rPr lang="en-GB" smtClean="0"/>
              <a:pPr/>
              <a:t>01/05/2019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8BFCE-9F41-4E3D-80C5-8C1A97461A0D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7544" y="2060848"/>
            <a:ext cx="8229600" cy="1143000"/>
          </a:xfrm>
        </p:spPr>
        <p:txBody>
          <a:bodyPr/>
          <a:lstStyle/>
          <a:p>
            <a:r>
              <a:rPr lang="en-GB" b="1" dirty="0" smtClean="0">
                <a:solidFill>
                  <a:srgbClr val="002060"/>
                </a:solidFill>
              </a:rPr>
              <a:t>Inequalities</a:t>
            </a:r>
            <a:endParaRPr lang="en-GB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5302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4"/>
            <a:ext cx="8219256" cy="4853135"/>
          </a:xfrm>
          <a:ln w="38100">
            <a:solidFill>
              <a:srgbClr val="FF0000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altLang="en-US" dirty="0" smtClean="0">
                <a:solidFill>
                  <a:srgbClr val="002060"/>
                </a:solidFill>
              </a:rPr>
              <a:t>There are four </a:t>
            </a:r>
            <a:r>
              <a:rPr lang="en-GB" altLang="en-US" dirty="0">
                <a:solidFill>
                  <a:srgbClr val="002060"/>
                </a:solidFill>
              </a:rPr>
              <a:t>inequality signs: </a:t>
            </a:r>
            <a:endParaRPr lang="en-GB" altLang="en-US" sz="1600" dirty="0" smtClean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GB" altLang="en-US" sz="4400" dirty="0" smtClean="0">
                <a:solidFill>
                  <a:srgbClr val="002060"/>
                </a:solidFill>
              </a:rPr>
              <a:t>&lt;     </a:t>
            </a:r>
            <a:r>
              <a:rPr lang="en-GB" altLang="en-US" sz="4400" dirty="0">
                <a:solidFill>
                  <a:srgbClr val="002060"/>
                </a:solidFill>
              </a:rPr>
              <a:t>&gt;     ≥      ≤</a:t>
            </a:r>
            <a:endParaRPr lang="en-GB" altLang="en-US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	</a:t>
            </a:r>
            <a:r>
              <a:rPr lang="en-US" sz="2400" dirty="0" smtClean="0">
                <a:solidFill>
                  <a:srgbClr val="002060"/>
                </a:solidFill>
              </a:rPr>
              <a:t>a &lt; 4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002060"/>
                </a:solidFill>
              </a:rPr>
              <a:t>	f &gt; 6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002060"/>
                </a:solidFill>
              </a:rPr>
              <a:t>	s ≤ 5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002060"/>
                </a:solidFill>
              </a:rPr>
              <a:t>	k ≥ 7</a:t>
            </a:r>
          </a:p>
          <a:p>
            <a:pPr marL="0" indent="0">
              <a:buNone/>
            </a:pPr>
            <a:endParaRPr lang="en-US" sz="24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400" dirty="0" smtClean="0">
                <a:solidFill>
                  <a:srgbClr val="002060"/>
                </a:solidFill>
              </a:rPr>
              <a:t>	3 &lt; g ≤ 6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GB" b="1" dirty="0" smtClean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Inequalities</a:t>
            </a:r>
            <a:endParaRPr lang="en-US" b="1" dirty="0">
              <a:solidFill>
                <a:srgbClr val="00206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83768" y="2924944"/>
            <a:ext cx="2294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 -  a is less than 4</a:t>
            </a:r>
            <a:endParaRPr lang="en-US" sz="2400" dirty="0">
              <a:solidFill>
                <a:srgbClr val="00206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83768" y="3356992"/>
            <a:ext cx="2683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 -  f is greater than 6</a:t>
            </a:r>
            <a:endParaRPr lang="en-US" sz="2400" dirty="0">
              <a:solidFill>
                <a:srgbClr val="00206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483768" y="3831431"/>
            <a:ext cx="37002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 -  s is less than or equal to 5</a:t>
            </a:r>
            <a:endParaRPr lang="en-US" sz="2400" dirty="0">
              <a:solidFill>
                <a:srgbClr val="00206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83768" y="4293096"/>
            <a:ext cx="41612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 -  k is greater than or equal to 7</a:t>
            </a:r>
            <a:endParaRPr lang="en-US" sz="2400" dirty="0">
              <a:solidFill>
                <a:srgbClr val="00206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43808" y="5157192"/>
            <a:ext cx="46360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 -  g is greater than 3 and less than or equal to 6</a:t>
            </a:r>
            <a:endParaRPr lang="en-US" sz="2400" dirty="0">
              <a:solidFill>
                <a:srgbClr val="002060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567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908720"/>
            <a:ext cx="8219256" cy="4853135"/>
          </a:xfrm>
          <a:ln w="38100"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altLang="en-US" b="1" dirty="0" smtClean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Representing inequalities on a number line:</a:t>
            </a:r>
            <a:endParaRPr lang="en-GB" altLang="en-US" sz="1600" b="1" dirty="0" smtClean="0">
              <a:solidFill>
                <a:srgbClr val="002060"/>
              </a:solidFill>
              <a:latin typeface="Calibri" pitchFamily="34" charset="0"/>
              <a:cs typeface="Calibri" pitchFamily="34" charset="0"/>
            </a:endParaRPr>
          </a:p>
          <a:p>
            <a:pPr marL="0" indent="0" algn="ctr">
              <a:buNone/>
            </a:pPr>
            <a:endParaRPr lang="en-US" b="1" dirty="0">
              <a:solidFill>
                <a:srgbClr val="002060"/>
              </a:solidFill>
              <a:latin typeface="Calibri" pitchFamily="34" charset="0"/>
              <a:cs typeface="Calibri" pitchFamily="34" charset="0"/>
            </a:endParaRPr>
          </a:p>
          <a:p>
            <a:pPr marL="0" indent="0" algn="ctr">
              <a:buNone/>
            </a:pPr>
            <a:r>
              <a:rPr lang="en-US" b="1" dirty="0" smtClean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x &gt; 2</a:t>
            </a:r>
            <a:r>
              <a:rPr lang="en-US" b="1" dirty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	</a:t>
            </a:r>
            <a:endParaRPr lang="en-US" sz="2400" b="1" dirty="0" smtClean="0">
              <a:solidFill>
                <a:srgbClr val="00206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1187624" y="4293096"/>
            <a:ext cx="67687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/>
            <a:r>
              <a:rPr lang="en-GB" sz="2400" dirty="0">
                <a:latin typeface="Comic Sans MS"/>
                <a:cs typeface="Comic Sans MS"/>
              </a:rPr>
              <a:t>-4     -3     -2     -1     0     1     2     3     4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979712" y="5013176"/>
            <a:ext cx="5400600" cy="0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979712" y="4868714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470424" y="4873476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699792" y="4869160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788024" y="4869160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436096" y="4869160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6084168" y="4869160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6732240" y="4869160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380312" y="4869160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211960" y="4868714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6"/>
          </p:cNvCxnSpPr>
          <p:nvPr/>
        </p:nvCxnSpPr>
        <p:spPr>
          <a:xfrm>
            <a:off x="6228184" y="3861048"/>
            <a:ext cx="1296144" cy="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5940152" y="3717032"/>
            <a:ext cx="288032" cy="288032"/>
          </a:xfrm>
          <a:prstGeom prst="ellipse">
            <a:avLst/>
          </a:prstGeom>
          <a:solidFill>
            <a:schemeClr val="bg1"/>
          </a:solidFill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406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1187624" y="4293096"/>
            <a:ext cx="67687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/>
            <a:r>
              <a:rPr lang="en-GB" sz="2400" dirty="0">
                <a:latin typeface="Comic Sans MS"/>
                <a:cs typeface="Comic Sans MS"/>
              </a:rPr>
              <a:t>-4     -3     -2     -1     0     1     2     3     4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979712" y="5013176"/>
            <a:ext cx="5400600" cy="0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979712" y="4868714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470424" y="4873476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699792" y="4869160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788024" y="4869160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436096" y="4869160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6084168" y="4869160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6732240" y="4869160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380312" y="4869160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211960" y="4868714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1979712" y="3861048"/>
            <a:ext cx="3312368" cy="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5292080" y="3717032"/>
            <a:ext cx="288032" cy="288032"/>
          </a:xfrm>
          <a:prstGeom prst="ellipse">
            <a:avLst/>
          </a:prstGeom>
          <a:solidFill>
            <a:schemeClr val="bg1"/>
          </a:solidFill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395536" y="908720"/>
            <a:ext cx="8219256" cy="4853135"/>
          </a:xfrm>
          <a:prstGeom prst="rect">
            <a:avLst/>
          </a:prstGeom>
          <a:ln w="38100"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Representing inequalities on a number line:</a:t>
            </a:r>
            <a:endParaRPr kumimoji="0" lang="en-GB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x &lt; </a:t>
            </a:r>
            <a:r>
              <a:rPr lang="en-US" sz="3200" b="1" dirty="0" smtClean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1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	</a:t>
            </a:r>
            <a:endParaRPr kumimoji="0" lang="en-US" sz="2400" b="1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07704" y="5733256"/>
            <a:ext cx="540060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002060"/>
                </a:solidFill>
              </a:rPr>
              <a:t>If it is greater than or less than, the circle is not filled in</a:t>
            </a:r>
            <a:endParaRPr lang="en-GB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1433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1187624" y="4293096"/>
            <a:ext cx="67687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/>
            <a:r>
              <a:rPr lang="en-GB" sz="2400" dirty="0">
                <a:latin typeface="Comic Sans MS"/>
                <a:cs typeface="Comic Sans MS"/>
              </a:rPr>
              <a:t>-4     -3     -2     -1     0     1     2     3     4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979712" y="5013176"/>
            <a:ext cx="5400600" cy="0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979712" y="4868714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470424" y="4873476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699792" y="4869160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788024" y="4869160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436096" y="4869160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6084168" y="4869160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6732240" y="4869160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380312" y="4869160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211960" y="4868714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1763688" y="3861048"/>
            <a:ext cx="1584176" cy="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3347864" y="3717032"/>
            <a:ext cx="288032" cy="288032"/>
          </a:xfrm>
          <a:prstGeom prst="ellipse">
            <a:avLst/>
          </a:prstGeom>
          <a:solidFill>
            <a:srgbClr val="FF0000"/>
          </a:solidFill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395536" y="908720"/>
            <a:ext cx="8219256" cy="4853135"/>
          </a:xfrm>
          <a:prstGeom prst="rect">
            <a:avLst/>
          </a:prstGeom>
          <a:ln w="38100"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Representing inequalities on a number line:</a:t>
            </a:r>
            <a:endParaRPr kumimoji="0" lang="en-GB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x ≤ -2	</a:t>
            </a:r>
            <a:endParaRPr kumimoji="0" lang="en-US" sz="2400" b="1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785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1187624" y="4293096"/>
            <a:ext cx="67687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/>
            <a:r>
              <a:rPr lang="en-GB" sz="2400" dirty="0">
                <a:latin typeface="Comic Sans MS"/>
                <a:cs typeface="Comic Sans MS"/>
              </a:rPr>
              <a:t>-4     -3     -2     -1     0     1     2     3     4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979712" y="5013176"/>
            <a:ext cx="5400600" cy="0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979712" y="4868714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470424" y="4873476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699792" y="4869160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788024" y="4869160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436096" y="4869160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6084168" y="4869160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6732240" y="4869160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380312" y="4869160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211960" y="4868714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4355976" y="3861048"/>
            <a:ext cx="3096344" cy="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4067944" y="3717032"/>
            <a:ext cx="288032" cy="288032"/>
          </a:xfrm>
          <a:prstGeom prst="ellipse">
            <a:avLst/>
          </a:prstGeom>
          <a:solidFill>
            <a:srgbClr val="FF0000"/>
          </a:solidFill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395536" y="908720"/>
            <a:ext cx="8219256" cy="4853135"/>
          </a:xfrm>
          <a:prstGeom prst="rect">
            <a:avLst/>
          </a:prstGeom>
          <a:ln w="38100"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Representing inequalities on a number line:</a:t>
            </a:r>
            <a:endParaRPr kumimoji="0" lang="en-GB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lvl="0" algn="ctr">
              <a:spcBef>
                <a:spcPct val="20000"/>
              </a:spcBef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+mn-ea"/>
                <a:cs typeface="Calibri" pitchFamily="34" charset="0"/>
              </a:rPr>
              <a:t>x </a:t>
            </a:r>
            <a:r>
              <a:rPr lang="en-GB" sz="3200" b="1" dirty="0" smtClean="0">
                <a:solidFill>
                  <a:srgbClr val="002060"/>
                </a:solidFill>
              </a:rPr>
              <a:t>≥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+mn-ea"/>
                <a:cs typeface="Calibri" pitchFamily="34" charset="0"/>
              </a:rPr>
              <a:t> -1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	</a:t>
            </a:r>
            <a:endParaRPr kumimoji="0" lang="en-US" sz="2400" b="1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07704" y="5733256"/>
            <a:ext cx="5400600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002060"/>
                </a:solidFill>
              </a:rPr>
              <a:t>If it is greater than or equal to / less than or equal to, the circle </a:t>
            </a:r>
            <a:r>
              <a:rPr lang="en-GB" b="1" u="sng" dirty="0" smtClean="0">
                <a:solidFill>
                  <a:srgbClr val="002060"/>
                </a:solidFill>
              </a:rPr>
              <a:t>is</a:t>
            </a:r>
            <a:r>
              <a:rPr lang="en-GB" b="1" dirty="0" smtClean="0">
                <a:solidFill>
                  <a:srgbClr val="002060"/>
                </a:solidFill>
              </a:rPr>
              <a:t> filled in. The way I remember it: more values are valid, more ink is needed to fill in the dot.</a:t>
            </a:r>
            <a:endParaRPr lang="en-GB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2564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1187624" y="4005634"/>
            <a:ext cx="67687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/>
            <a:r>
              <a:rPr lang="en-GB" sz="2400" dirty="0">
                <a:latin typeface="Comic Sans MS"/>
                <a:cs typeface="Comic Sans MS"/>
              </a:rPr>
              <a:t>-4     -3     -2     -1     0     1     2     3     4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979712" y="4725714"/>
            <a:ext cx="5400600" cy="0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979712" y="4581252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470424" y="4586014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699792" y="4581698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788024" y="4581698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436096" y="4581698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6084168" y="4581698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6732240" y="4581698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380312" y="4581698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211960" y="4581252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endCxn id="20" idx="6"/>
          </p:cNvCxnSpPr>
          <p:nvPr/>
        </p:nvCxnSpPr>
        <p:spPr>
          <a:xfrm>
            <a:off x="3635896" y="3573586"/>
            <a:ext cx="3888432" cy="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3347864" y="3429570"/>
            <a:ext cx="288032" cy="288032"/>
          </a:xfrm>
          <a:prstGeom prst="ellipse">
            <a:avLst/>
          </a:prstGeom>
          <a:solidFill>
            <a:schemeClr val="bg1"/>
          </a:solidFill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7236296" y="3429570"/>
            <a:ext cx="288032" cy="288032"/>
          </a:xfrm>
          <a:prstGeom prst="ellipse">
            <a:avLst/>
          </a:prstGeom>
          <a:solidFill>
            <a:srgbClr val="FF0000"/>
          </a:solidFill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395536" y="908720"/>
            <a:ext cx="8219256" cy="4853135"/>
          </a:xfrm>
          <a:prstGeom prst="rect">
            <a:avLst/>
          </a:prstGeom>
          <a:ln w="38100"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Representing inequalities on a number line:</a:t>
            </a:r>
            <a:endParaRPr kumimoji="0" lang="en-GB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lvl="0" algn="ctr">
              <a:spcBef>
                <a:spcPct val="20000"/>
              </a:spcBef>
            </a:pPr>
            <a:r>
              <a:rPr lang="en-GB" sz="3200" b="1" dirty="0" smtClean="0">
                <a:solidFill>
                  <a:srgbClr val="002060"/>
                </a:solidFill>
                <a:latin typeface="+mj-lt"/>
              </a:rPr>
              <a:t>-2 &lt; </a:t>
            </a:r>
            <a:r>
              <a:rPr lang="en-US" sz="3200" b="1" dirty="0" smtClean="0">
                <a:solidFill>
                  <a:srgbClr val="002060"/>
                </a:solidFill>
                <a:latin typeface="+mj-lt"/>
                <a:cs typeface="Calibri" pitchFamily="34" charset="0"/>
              </a:rPr>
              <a:t>x ≤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  <a:ea typeface="+mn-ea"/>
                <a:cs typeface="Calibri" pitchFamily="34" charset="0"/>
              </a:rPr>
              <a:t>4	</a:t>
            </a:r>
            <a:endParaRPr kumimoji="0" lang="en-US" sz="2400" b="1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j-lt"/>
              <a:ea typeface="+mn-ea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101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3600" dirty="0">
              <a:solidFill>
                <a:srgbClr val="002060"/>
              </a:solidFill>
              <a:latin typeface="+mj-lt"/>
            </a:endParaRPr>
          </a:p>
          <a:p>
            <a:pPr algn="ctr"/>
            <a:r>
              <a:rPr lang="en-GB" sz="3600" dirty="0" smtClean="0">
                <a:solidFill>
                  <a:srgbClr val="002060"/>
                </a:solidFill>
                <a:latin typeface="+mj-lt"/>
              </a:rPr>
              <a:t>Match the inequalities with their diagram.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724"/>
          <a:stretch/>
        </p:blipFill>
        <p:spPr>
          <a:xfrm>
            <a:off x="269748" y="1893189"/>
            <a:ext cx="4340352" cy="697611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724"/>
          <a:stretch/>
        </p:blipFill>
        <p:spPr>
          <a:xfrm>
            <a:off x="269748" y="2852833"/>
            <a:ext cx="4340352" cy="697611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724"/>
          <a:stretch/>
        </p:blipFill>
        <p:spPr>
          <a:xfrm>
            <a:off x="269748" y="3812477"/>
            <a:ext cx="4340352" cy="697611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724"/>
          <a:stretch/>
        </p:blipFill>
        <p:spPr>
          <a:xfrm>
            <a:off x="269748" y="4772121"/>
            <a:ext cx="4340352" cy="697611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724"/>
          <a:stretch/>
        </p:blipFill>
        <p:spPr>
          <a:xfrm>
            <a:off x="269748" y="5731764"/>
            <a:ext cx="4340352" cy="697611"/>
          </a:xfrm>
          <a:prstGeom prst="rect">
            <a:avLst/>
          </a:prstGeom>
        </p:spPr>
      </p:pic>
      <p:grpSp>
        <p:nvGrpSpPr>
          <p:cNvPr id="3" name="Group 6"/>
          <p:cNvGrpSpPr/>
          <p:nvPr/>
        </p:nvGrpSpPr>
        <p:grpSpPr>
          <a:xfrm>
            <a:off x="2166937" y="1909953"/>
            <a:ext cx="1819275" cy="123825"/>
            <a:chOff x="2166937" y="1909953"/>
            <a:chExt cx="1819275" cy="123825"/>
          </a:xfrm>
        </p:grpSpPr>
        <p:cxnSp>
          <p:nvCxnSpPr>
            <p:cNvPr id="5" name="Straight Arrow Connector 4"/>
            <p:cNvCxnSpPr/>
            <p:nvPr/>
          </p:nvCxnSpPr>
          <p:spPr>
            <a:xfrm>
              <a:off x="2290762" y="1981391"/>
              <a:ext cx="169545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2166937" y="1909953"/>
              <a:ext cx="123825" cy="12382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46" name="Straight Arrow Connector 45"/>
          <p:cNvCxnSpPr/>
          <p:nvPr/>
        </p:nvCxnSpPr>
        <p:spPr>
          <a:xfrm>
            <a:off x="2290762" y="3915520"/>
            <a:ext cx="169545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2166937" y="3844082"/>
            <a:ext cx="123825" cy="1238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9" name="Straight Arrow Connector 48"/>
          <p:cNvCxnSpPr/>
          <p:nvPr/>
        </p:nvCxnSpPr>
        <p:spPr>
          <a:xfrm rot="10800000">
            <a:off x="1600200" y="4865206"/>
            <a:ext cx="169545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 rot="10800000">
            <a:off x="3295650" y="4803294"/>
            <a:ext cx="123825" cy="1238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" name="Group 2"/>
          <p:cNvGrpSpPr/>
          <p:nvPr/>
        </p:nvGrpSpPr>
        <p:grpSpPr>
          <a:xfrm>
            <a:off x="1600199" y="2900891"/>
            <a:ext cx="1819275" cy="123825"/>
            <a:chOff x="1600199" y="2900891"/>
            <a:chExt cx="1819275" cy="123825"/>
          </a:xfrm>
        </p:grpSpPr>
        <p:cxnSp>
          <p:nvCxnSpPr>
            <p:cNvPr id="52" name="Straight Arrow Connector 51"/>
            <p:cNvCxnSpPr/>
            <p:nvPr/>
          </p:nvCxnSpPr>
          <p:spPr>
            <a:xfrm rot="10800000">
              <a:off x="1600199" y="2962803"/>
              <a:ext cx="169545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Oval 52"/>
            <p:cNvSpPr/>
            <p:nvPr/>
          </p:nvSpPr>
          <p:spPr>
            <a:xfrm rot="10800000">
              <a:off x="3295649" y="2900891"/>
              <a:ext cx="123825" cy="12382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9" name="Straight Connector 18"/>
          <p:cNvCxnSpPr/>
          <p:nvPr/>
        </p:nvCxnSpPr>
        <p:spPr>
          <a:xfrm flipV="1">
            <a:off x="2219325" y="5846065"/>
            <a:ext cx="1133473" cy="420"/>
          </a:xfrm>
          <a:prstGeom prst="line">
            <a:avLst/>
          </a:prstGeom>
          <a:ln w="3810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187036" y="1704109"/>
            <a:ext cx="4423064" cy="80010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Rounded Rectangle 56"/>
          <p:cNvSpPr/>
          <p:nvPr/>
        </p:nvSpPr>
        <p:spPr>
          <a:xfrm>
            <a:off x="187036" y="2705101"/>
            <a:ext cx="4423064" cy="80010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Rounded Rectangle 57"/>
          <p:cNvSpPr/>
          <p:nvPr/>
        </p:nvSpPr>
        <p:spPr>
          <a:xfrm>
            <a:off x="187036" y="3664190"/>
            <a:ext cx="4423064" cy="80010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ounded Rectangle 58"/>
          <p:cNvSpPr/>
          <p:nvPr/>
        </p:nvSpPr>
        <p:spPr>
          <a:xfrm>
            <a:off x="203524" y="4658375"/>
            <a:ext cx="4423064" cy="80010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Rounded Rectangle 59"/>
          <p:cNvSpPr/>
          <p:nvPr/>
        </p:nvSpPr>
        <p:spPr>
          <a:xfrm>
            <a:off x="187036" y="5566593"/>
            <a:ext cx="4423064" cy="80010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Rounded Rectangle 61"/>
          <p:cNvSpPr/>
          <p:nvPr/>
        </p:nvSpPr>
        <p:spPr>
          <a:xfrm>
            <a:off x="6614848" y="1676813"/>
            <a:ext cx="2268266" cy="80010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x &lt; 8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683086" y="2698212"/>
            <a:ext cx="2268266" cy="80010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5 ≤ x ≤ </a:t>
            </a: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8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6683086" y="3692315"/>
            <a:ext cx="2268266" cy="80010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x ≥ 5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6683086" y="4686418"/>
            <a:ext cx="2268266" cy="80010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x &gt; </a:t>
            </a: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5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6683086" y="5680519"/>
            <a:ext cx="2268266" cy="80010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>
                <a:solidFill>
                  <a:schemeClr val="tx1"/>
                </a:solidFill>
                <a:latin typeface="Comic Sans MS" panose="030F0702030302020204" pitchFamily="66" charset="0"/>
              </a:rPr>
              <a:t>x ≤ 8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8707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2D050"/>
          </a:solidFill>
        </p:spPr>
        <p:txBody>
          <a:bodyPr/>
          <a:lstStyle/>
          <a:p>
            <a:r>
              <a:rPr lang="en-GB" dirty="0" smtClean="0">
                <a:solidFill>
                  <a:schemeClr val="bg1"/>
                </a:solidFill>
                <a:latin typeface="Comic Sans MS" pitchFamily="66" charset="0"/>
              </a:rPr>
              <a:t>To Do</a:t>
            </a:r>
            <a:endParaRPr lang="en-US" dirty="0">
              <a:solidFill>
                <a:schemeClr val="bg1"/>
              </a:solidFill>
              <a:latin typeface="Comic Sans MS" pitchFamily="66" charset="0"/>
            </a:endParaRP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556792"/>
            <a:ext cx="8712968" cy="1684951"/>
          </a:xfrm>
          <a:prstGeom prst="rect">
            <a:avLst/>
          </a:prstGeom>
        </p:spPr>
      </p:pic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60648"/>
            <a:ext cx="8686800" cy="34956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71600" y="1196752"/>
            <a:ext cx="7848872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611560" y="2636912"/>
            <a:ext cx="7848872" cy="9361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251520" y="0"/>
            <a:ext cx="7848872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0" y="1772816"/>
            <a:ext cx="7848872" cy="8640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7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2D050"/>
          </a:solidFill>
        </p:spPr>
        <p:txBody>
          <a:bodyPr/>
          <a:lstStyle/>
          <a:p>
            <a:r>
              <a:rPr lang="en-GB" dirty="0" smtClean="0">
                <a:solidFill>
                  <a:schemeClr val="bg1"/>
                </a:solidFill>
                <a:latin typeface="Comic Sans MS" pitchFamily="66" charset="0"/>
              </a:rPr>
              <a:t>To Do</a:t>
            </a:r>
            <a:endParaRPr lang="en-US" dirty="0">
              <a:solidFill>
                <a:schemeClr val="bg1"/>
              </a:solidFill>
              <a:latin typeface="Comic Sans MS" pitchFamily="66" charset="0"/>
            </a:endParaRP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556792"/>
            <a:ext cx="8712968" cy="1684951"/>
          </a:xfrm>
          <a:prstGeom prst="rect">
            <a:avLst/>
          </a:prstGeom>
        </p:spPr>
      </p:pic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60648"/>
            <a:ext cx="8686800" cy="34956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51520" y="0"/>
            <a:ext cx="7848872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0" y="1772816"/>
            <a:ext cx="7848872" cy="22322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7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347864" y="692696"/>
            <a:ext cx="2845184" cy="5689600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Show 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these </a:t>
            </a: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inequalities 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on </a:t>
            </a: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a 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number line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1 ≤ x 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&lt; 5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-3 ≥ x 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&gt; </a:t>
            </a: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-5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x &lt; -2, x ≥ 4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1 &lt; x &lt;3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x ≤ 3, x &gt; 1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817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310992" y="332656"/>
            <a:ext cx="2845184" cy="568960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400" dirty="0" smtClean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algn="ctr"/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Show 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these </a:t>
            </a: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inequalities 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on </a:t>
            </a: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a 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number line</a:t>
            </a:r>
          </a:p>
          <a:p>
            <a:pPr marL="342900" indent="-342900">
              <a:lnSpc>
                <a:spcPct val="220000"/>
              </a:lnSpc>
              <a:buFont typeface="+mj-lt"/>
              <a:buAutoNum type="arabicParenR"/>
            </a:pP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342900" indent="-342900">
              <a:lnSpc>
                <a:spcPct val="220000"/>
              </a:lnSpc>
              <a:buFont typeface="+mj-lt"/>
              <a:buAutoNum type="arabicParenR"/>
            </a:pP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342900" indent="-342900">
              <a:lnSpc>
                <a:spcPct val="220000"/>
              </a:lnSpc>
              <a:buFont typeface="+mj-lt"/>
              <a:buAutoNum type="arabicParenR"/>
            </a:pP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</a:p>
          <a:p>
            <a:pPr marL="342900" indent="-342900">
              <a:lnSpc>
                <a:spcPct val="220000"/>
              </a:lnSpc>
              <a:buFont typeface="+mj-lt"/>
              <a:buAutoNum type="arabicParenR"/>
            </a:pP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</a:p>
          <a:p>
            <a:pPr marL="342900" indent="-342900">
              <a:lnSpc>
                <a:spcPct val="220000"/>
              </a:lnSpc>
              <a:buFont typeface="+mj-lt"/>
              <a:buAutoNum type="arabicParenR"/>
            </a:pP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01" t="68066" r="25159" b="14363"/>
          <a:stretch/>
        </p:blipFill>
        <p:spPr>
          <a:xfrm>
            <a:off x="4037841" y="2271809"/>
            <a:ext cx="1362457" cy="453572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991441" y="2033229"/>
            <a:ext cx="170760" cy="17076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Straight Connector 2"/>
          <p:cNvCxnSpPr/>
          <p:nvPr/>
        </p:nvCxnSpPr>
        <p:spPr>
          <a:xfrm flipH="1">
            <a:off x="4199272" y="2118609"/>
            <a:ext cx="7921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113892" y="2031896"/>
            <a:ext cx="170760" cy="170760"/>
          </a:xfrm>
          <a:prstGeom prst="ellipse">
            <a:avLst/>
          </a:prstGeom>
          <a:solidFill>
            <a:srgbClr val="0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51" t="68066" r="56189" b="14363"/>
          <a:stretch/>
        </p:blipFill>
        <p:spPr>
          <a:xfrm>
            <a:off x="4037841" y="3076153"/>
            <a:ext cx="1152143" cy="453572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4326569" y="2843949"/>
            <a:ext cx="170760" cy="17076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/>
          <p:cNvCxnSpPr>
            <a:stCxn id="21" idx="6"/>
            <a:endCxn id="19" idx="6"/>
          </p:cNvCxnSpPr>
          <p:nvPr/>
        </p:nvCxnSpPr>
        <p:spPr>
          <a:xfrm flipH="1">
            <a:off x="4497329" y="2929329"/>
            <a:ext cx="43937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765945" y="2843949"/>
            <a:ext cx="170760" cy="170760"/>
          </a:xfrm>
          <a:prstGeom prst="ellipse">
            <a:avLst/>
          </a:prstGeom>
          <a:solidFill>
            <a:srgbClr val="0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45" t="68066" r="27854" b="14363"/>
          <a:stretch/>
        </p:blipFill>
        <p:spPr>
          <a:xfrm>
            <a:off x="3995936" y="3909658"/>
            <a:ext cx="2057400" cy="453572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4232927" y="3705166"/>
            <a:ext cx="170760" cy="17076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/>
          <p:cNvSpPr/>
          <p:nvPr/>
        </p:nvSpPr>
        <p:spPr>
          <a:xfrm>
            <a:off x="5566134" y="3699115"/>
            <a:ext cx="170760" cy="170760"/>
          </a:xfrm>
          <a:prstGeom prst="ellipse">
            <a:avLst/>
          </a:prstGeom>
          <a:solidFill>
            <a:srgbClr val="0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" name="Straight Arrow Connector 30"/>
          <p:cNvCxnSpPr>
            <a:stCxn id="26" idx="2"/>
          </p:cNvCxnSpPr>
          <p:nvPr/>
        </p:nvCxnSpPr>
        <p:spPr>
          <a:xfrm flipH="1" flipV="1">
            <a:off x="3995936" y="3787457"/>
            <a:ext cx="236991" cy="3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8" idx="6"/>
          </p:cNvCxnSpPr>
          <p:nvPr/>
        </p:nvCxnSpPr>
        <p:spPr>
          <a:xfrm>
            <a:off x="5736894" y="3784495"/>
            <a:ext cx="3164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01" t="68066" r="25159" b="14363"/>
          <a:stretch/>
        </p:blipFill>
        <p:spPr>
          <a:xfrm>
            <a:off x="4009187" y="4744846"/>
            <a:ext cx="1362457" cy="453572"/>
          </a:xfrm>
          <a:prstGeom prst="rect">
            <a:avLst/>
          </a:prstGeom>
        </p:spPr>
      </p:pic>
      <p:sp>
        <p:nvSpPr>
          <p:cNvPr id="38" name="Oval 37"/>
          <p:cNvSpPr/>
          <p:nvPr/>
        </p:nvSpPr>
        <p:spPr>
          <a:xfrm>
            <a:off x="4492169" y="4506266"/>
            <a:ext cx="170760" cy="17076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9" name="Straight Connector 38"/>
          <p:cNvCxnSpPr/>
          <p:nvPr/>
        </p:nvCxnSpPr>
        <p:spPr>
          <a:xfrm flipH="1">
            <a:off x="4250768" y="4591646"/>
            <a:ext cx="2588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4071896" y="4506266"/>
            <a:ext cx="170760" cy="17076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01" t="68066" r="25159" b="14363"/>
          <a:stretch/>
        </p:blipFill>
        <p:spPr>
          <a:xfrm>
            <a:off x="4023628" y="5514801"/>
            <a:ext cx="1362457" cy="453572"/>
          </a:xfrm>
          <a:prstGeom prst="rect">
            <a:avLst/>
          </a:prstGeom>
        </p:spPr>
      </p:pic>
      <p:sp>
        <p:nvSpPr>
          <p:cNvPr id="46" name="Oval 45"/>
          <p:cNvSpPr/>
          <p:nvPr/>
        </p:nvSpPr>
        <p:spPr>
          <a:xfrm>
            <a:off x="4506610" y="5276221"/>
            <a:ext cx="170760" cy="1707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7" name="Straight Connector 46"/>
          <p:cNvCxnSpPr/>
          <p:nvPr/>
        </p:nvCxnSpPr>
        <p:spPr>
          <a:xfrm flipH="1">
            <a:off x="4265209" y="5361601"/>
            <a:ext cx="2588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4086337" y="5276221"/>
            <a:ext cx="170760" cy="17076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9582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097824"/>
              </p:ext>
            </p:extLst>
          </p:nvPr>
        </p:nvGraphicFramePr>
        <p:xfrm>
          <a:off x="755576" y="2852934"/>
          <a:ext cx="7632850" cy="2808318"/>
        </p:xfrm>
        <a:graphic>
          <a:graphicData uri="http://schemas.openxmlformats.org/drawingml/2006/table">
            <a:tbl>
              <a:tblPr/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85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Inequality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Integer Values 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-2 &lt; x </a:t>
                      </a:r>
                      <a:r>
                        <a:rPr lang="en-US" sz="2000" dirty="0" smtClean="0">
                          <a:latin typeface="+mj-lt"/>
                        </a:rPr>
                        <a:t>≤</a:t>
                      </a: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4</a:t>
                      </a:r>
                      <a:endParaRPr kumimoji="0" lang="en-US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2.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 &lt; r &lt; 5</a:t>
                      </a:r>
                      <a:endParaRPr kumimoji="0" lang="en-US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3.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-4 &lt; s ≤ 2</a:t>
                      </a:r>
                      <a:endParaRPr kumimoji="0" lang="en-US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4.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-5 ≤ p ≤ -2</a:t>
                      </a:r>
                      <a:endParaRPr kumimoji="0" lang="en-US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5.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-4 ≤ h &lt; 2</a:t>
                      </a:r>
                      <a:endParaRPr kumimoji="0" lang="en-US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1187624" y="1844824"/>
            <a:ext cx="67687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/>
            <a:r>
              <a:rPr lang="en-GB" sz="2400" b="1" dirty="0">
                <a:solidFill>
                  <a:srgbClr val="002060"/>
                </a:solidFill>
                <a:latin typeface="+mn-lt"/>
                <a:cs typeface="Comic Sans MS"/>
              </a:rPr>
              <a:t>-4     -3     -2     -1     0     1     2     3     4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979712" y="2564904"/>
            <a:ext cx="5400600" cy="0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979712" y="2420442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470424" y="2425204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699792" y="2420888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788024" y="2420888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436096" y="2420888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84168" y="2420888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6732240" y="2420888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80312" y="2420888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211960" y="2420442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8" idx="2"/>
            <a:endCxn id="19" idx="6"/>
          </p:cNvCxnSpPr>
          <p:nvPr/>
        </p:nvCxnSpPr>
        <p:spPr>
          <a:xfrm>
            <a:off x="3347864" y="1628800"/>
            <a:ext cx="3600400" cy="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347864" y="1484784"/>
            <a:ext cx="288032" cy="288032"/>
          </a:xfrm>
          <a:prstGeom prst="ellipse">
            <a:avLst/>
          </a:prstGeom>
          <a:solidFill>
            <a:schemeClr val="bg1"/>
          </a:solidFill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rgbClr val="00206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6660232" y="1484784"/>
            <a:ext cx="288032" cy="288032"/>
          </a:xfrm>
          <a:prstGeom prst="ellipse">
            <a:avLst/>
          </a:prstGeom>
          <a:solidFill>
            <a:srgbClr val="FF0000"/>
          </a:solidFill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rgbClr val="00206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0" y="620688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</a:rPr>
              <a:t>-2 &lt; x ≤ </a:t>
            </a:r>
            <a:r>
              <a:rPr lang="en-US" sz="2800" b="1" dirty="0" smtClean="0">
                <a:solidFill>
                  <a:srgbClr val="002060"/>
                </a:solidFill>
              </a:rPr>
              <a:t>4</a:t>
            </a:r>
            <a:endParaRPr lang="en-US" sz="2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269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097824"/>
              </p:ext>
            </p:extLst>
          </p:nvPr>
        </p:nvGraphicFramePr>
        <p:xfrm>
          <a:off x="755576" y="2852934"/>
          <a:ext cx="7632850" cy="2808318"/>
        </p:xfrm>
        <a:graphic>
          <a:graphicData uri="http://schemas.openxmlformats.org/drawingml/2006/table">
            <a:tbl>
              <a:tblPr/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85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Inequality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Integer Values 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-2 &lt; x </a:t>
                      </a:r>
                      <a:r>
                        <a:rPr lang="en-US" sz="2000" dirty="0" smtClean="0">
                          <a:latin typeface="+mj-lt"/>
                        </a:rPr>
                        <a:t>≤</a:t>
                      </a: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4</a:t>
                      </a:r>
                      <a:endParaRPr kumimoji="0" lang="en-US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2.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 &lt; r &lt; 5</a:t>
                      </a:r>
                      <a:endParaRPr kumimoji="0" lang="en-US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3.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-4 &lt; s ≤ 2</a:t>
                      </a:r>
                      <a:endParaRPr kumimoji="0" lang="en-US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4.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-5 ≤ p ≤ -2</a:t>
                      </a:r>
                      <a:endParaRPr kumimoji="0" lang="en-US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5.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-4 ≤ h &lt; 2</a:t>
                      </a:r>
                      <a:endParaRPr kumimoji="0" lang="en-US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1187624" y="1844824"/>
            <a:ext cx="67687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/>
            <a:r>
              <a:rPr lang="en-GB" sz="2400" b="1" dirty="0">
                <a:solidFill>
                  <a:srgbClr val="002060"/>
                </a:solidFill>
                <a:latin typeface="+mn-lt"/>
                <a:cs typeface="Comic Sans MS"/>
              </a:rPr>
              <a:t>-4     -3     -2     -1     0     1     2     3     4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979712" y="2564904"/>
            <a:ext cx="5400600" cy="0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979712" y="2420442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470424" y="2425204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699792" y="2420888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788024" y="2420888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436096" y="2420888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84168" y="2420888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6732240" y="2420888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80312" y="2420888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211960" y="2420442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8" idx="2"/>
            <a:endCxn id="19" idx="6"/>
          </p:cNvCxnSpPr>
          <p:nvPr/>
        </p:nvCxnSpPr>
        <p:spPr>
          <a:xfrm>
            <a:off x="3347864" y="1628800"/>
            <a:ext cx="3600400" cy="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347864" y="1484784"/>
            <a:ext cx="288032" cy="288032"/>
          </a:xfrm>
          <a:prstGeom prst="ellipse">
            <a:avLst/>
          </a:prstGeom>
          <a:solidFill>
            <a:schemeClr val="bg1"/>
          </a:solidFill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rgbClr val="00206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6660232" y="1484784"/>
            <a:ext cx="288032" cy="288032"/>
          </a:xfrm>
          <a:prstGeom prst="ellipse">
            <a:avLst/>
          </a:prstGeom>
          <a:solidFill>
            <a:srgbClr val="FF0000"/>
          </a:solidFill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rgbClr val="00206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0" y="620688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</a:rPr>
              <a:t>-2 &lt; x ≤ </a:t>
            </a:r>
            <a:r>
              <a:rPr lang="en-US" sz="2800" b="1" dirty="0" smtClean="0">
                <a:solidFill>
                  <a:srgbClr val="002060"/>
                </a:solidFill>
              </a:rPr>
              <a:t>4</a:t>
            </a:r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19872" y="3356992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-1, 0, 1, 2, 3, 4</a:t>
            </a:r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269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097824"/>
              </p:ext>
            </p:extLst>
          </p:nvPr>
        </p:nvGraphicFramePr>
        <p:xfrm>
          <a:off x="755576" y="2852934"/>
          <a:ext cx="7632850" cy="2808318"/>
        </p:xfrm>
        <a:graphic>
          <a:graphicData uri="http://schemas.openxmlformats.org/drawingml/2006/table">
            <a:tbl>
              <a:tblPr/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85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Inequality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Integer Values 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-2 &lt; x </a:t>
                      </a:r>
                      <a:r>
                        <a:rPr lang="en-US" sz="2000" dirty="0" smtClean="0">
                          <a:latin typeface="+mj-lt"/>
                        </a:rPr>
                        <a:t>≤</a:t>
                      </a: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4</a:t>
                      </a:r>
                      <a:endParaRPr kumimoji="0" lang="en-US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2.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 &lt; r &lt; 5</a:t>
                      </a:r>
                      <a:endParaRPr kumimoji="0" lang="en-US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3.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-4 &lt; s ≤ 2</a:t>
                      </a:r>
                      <a:endParaRPr kumimoji="0" lang="en-US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4.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-5 ≤ p ≤ -2</a:t>
                      </a:r>
                      <a:endParaRPr kumimoji="0" lang="en-US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5.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-4 ≤ h &lt; 2</a:t>
                      </a:r>
                      <a:endParaRPr kumimoji="0" lang="en-US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1187624" y="1844824"/>
            <a:ext cx="67687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/>
            <a:r>
              <a:rPr lang="en-GB" sz="2400" b="1" dirty="0">
                <a:solidFill>
                  <a:srgbClr val="002060"/>
                </a:solidFill>
                <a:latin typeface="+mn-lt"/>
                <a:cs typeface="Comic Sans MS"/>
              </a:rPr>
              <a:t>-4     -3     -2     -1     0     1     2     3     4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979712" y="2564904"/>
            <a:ext cx="5400600" cy="0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979712" y="2420442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470424" y="2425204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699792" y="2420888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788024" y="2420888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436096" y="2420888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84168" y="2420888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6732240" y="2420888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80312" y="2420888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211960" y="2420442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8" idx="2"/>
            <a:endCxn id="19" idx="6"/>
          </p:cNvCxnSpPr>
          <p:nvPr/>
        </p:nvCxnSpPr>
        <p:spPr>
          <a:xfrm>
            <a:off x="3347864" y="1628800"/>
            <a:ext cx="3600400" cy="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347864" y="1484784"/>
            <a:ext cx="288032" cy="288032"/>
          </a:xfrm>
          <a:prstGeom prst="ellipse">
            <a:avLst/>
          </a:prstGeom>
          <a:solidFill>
            <a:schemeClr val="bg1"/>
          </a:solidFill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rgbClr val="00206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6660232" y="1484784"/>
            <a:ext cx="288032" cy="288032"/>
          </a:xfrm>
          <a:prstGeom prst="ellipse">
            <a:avLst/>
          </a:prstGeom>
          <a:solidFill>
            <a:srgbClr val="FF0000"/>
          </a:solidFill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rgbClr val="00206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0" y="620688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</a:rPr>
              <a:t>-2 &lt; x ≤ </a:t>
            </a:r>
            <a:r>
              <a:rPr lang="en-US" sz="2800" b="1" dirty="0" smtClean="0">
                <a:solidFill>
                  <a:srgbClr val="002060"/>
                </a:solidFill>
              </a:rPr>
              <a:t>4</a:t>
            </a:r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19872" y="3356992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-1, 0, 1, 2, 3, 4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63888" y="3861048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1, 2, 3, 4</a:t>
            </a:r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269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097824"/>
              </p:ext>
            </p:extLst>
          </p:nvPr>
        </p:nvGraphicFramePr>
        <p:xfrm>
          <a:off x="755576" y="2852934"/>
          <a:ext cx="7632850" cy="2808318"/>
        </p:xfrm>
        <a:graphic>
          <a:graphicData uri="http://schemas.openxmlformats.org/drawingml/2006/table">
            <a:tbl>
              <a:tblPr/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85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Inequality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Integer Values 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-2 &lt; x </a:t>
                      </a:r>
                      <a:r>
                        <a:rPr lang="en-US" sz="2000" dirty="0" smtClean="0">
                          <a:latin typeface="+mj-lt"/>
                        </a:rPr>
                        <a:t>≤</a:t>
                      </a: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4</a:t>
                      </a:r>
                      <a:endParaRPr kumimoji="0" lang="en-US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2.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 &lt; r &lt; 5</a:t>
                      </a:r>
                      <a:endParaRPr kumimoji="0" lang="en-US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3.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-4 &lt; s ≤ 2</a:t>
                      </a:r>
                      <a:endParaRPr kumimoji="0" lang="en-US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4.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-5 ≤ p ≤ -2</a:t>
                      </a:r>
                      <a:endParaRPr kumimoji="0" lang="en-US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5.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-4 ≤ h &lt; 2</a:t>
                      </a:r>
                      <a:endParaRPr kumimoji="0" lang="en-US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1187624" y="1844824"/>
            <a:ext cx="67687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/>
            <a:r>
              <a:rPr lang="en-GB" sz="2400" b="1" dirty="0">
                <a:solidFill>
                  <a:srgbClr val="002060"/>
                </a:solidFill>
                <a:latin typeface="+mn-lt"/>
                <a:cs typeface="Comic Sans MS"/>
              </a:rPr>
              <a:t>-4     -3     -2     -1     0     1     2     3     4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979712" y="2564904"/>
            <a:ext cx="5400600" cy="0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979712" y="2420442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470424" y="2425204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699792" y="2420888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788024" y="2420888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436096" y="2420888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84168" y="2420888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6732240" y="2420888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80312" y="2420888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211960" y="2420442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8" idx="2"/>
            <a:endCxn id="19" idx="6"/>
          </p:cNvCxnSpPr>
          <p:nvPr/>
        </p:nvCxnSpPr>
        <p:spPr>
          <a:xfrm>
            <a:off x="3347864" y="1628800"/>
            <a:ext cx="3600400" cy="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347864" y="1484784"/>
            <a:ext cx="288032" cy="288032"/>
          </a:xfrm>
          <a:prstGeom prst="ellipse">
            <a:avLst/>
          </a:prstGeom>
          <a:solidFill>
            <a:schemeClr val="bg1"/>
          </a:solidFill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rgbClr val="00206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6660232" y="1484784"/>
            <a:ext cx="288032" cy="288032"/>
          </a:xfrm>
          <a:prstGeom prst="ellipse">
            <a:avLst/>
          </a:prstGeom>
          <a:solidFill>
            <a:srgbClr val="FF0000"/>
          </a:solidFill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rgbClr val="00206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0" y="620688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</a:rPr>
              <a:t>-2 &lt; x ≤ </a:t>
            </a:r>
            <a:r>
              <a:rPr lang="en-US" sz="2800" b="1" dirty="0" smtClean="0">
                <a:solidFill>
                  <a:srgbClr val="002060"/>
                </a:solidFill>
              </a:rPr>
              <a:t>4</a:t>
            </a:r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19872" y="3356992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-1, 0, 1, 2, 3, 4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63888" y="3861048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1, 2, 3, 4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91880" y="4293096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-3, -2, -1, 0, 1, 2</a:t>
            </a:r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269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097824"/>
              </p:ext>
            </p:extLst>
          </p:nvPr>
        </p:nvGraphicFramePr>
        <p:xfrm>
          <a:off x="755576" y="2852934"/>
          <a:ext cx="7632850" cy="2808318"/>
        </p:xfrm>
        <a:graphic>
          <a:graphicData uri="http://schemas.openxmlformats.org/drawingml/2006/table">
            <a:tbl>
              <a:tblPr/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85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Inequality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Integer Values 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-2 &lt; x </a:t>
                      </a:r>
                      <a:r>
                        <a:rPr lang="en-US" sz="2000" dirty="0" smtClean="0">
                          <a:latin typeface="+mj-lt"/>
                        </a:rPr>
                        <a:t>≤</a:t>
                      </a: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4</a:t>
                      </a:r>
                      <a:endParaRPr kumimoji="0" lang="en-US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2.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 &lt; r &lt; 5</a:t>
                      </a:r>
                      <a:endParaRPr kumimoji="0" lang="en-US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3.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-4 &lt; s ≤ 2</a:t>
                      </a:r>
                      <a:endParaRPr kumimoji="0" lang="en-US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4.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-5 ≤ p ≤ -2</a:t>
                      </a:r>
                      <a:endParaRPr kumimoji="0" lang="en-US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5.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-4 ≤ h &lt; 2</a:t>
                      </a:r>
                      <a:endParaRPr kumimoji="0" lang="en-US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1187624" y="1844824"/>
            <a:ext cx="67687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/>
            <a:r>
              <a:rPr lang="en-GB" sz="2400" b="1" dirty="0">
                <a:solidFill>
                  <a:srgbClr val="002060"/>
                </a:solidFill>
                <a:latin typeface="+mn-lt"/>
                <a:cs typeface="Comic Sans MS"/>
              </a:rPr>
              <a:t>-4     -3     -2     -1     0     1     2     3     4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979712" y="2564904"/>
            <a:ext cx="5400600" cy="0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979712" y="2420442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470424" y="2425204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699792" y="2420888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788024" y="2420888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436096" y="2420888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84168" y="2420888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6732240" y="2420888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80312" y="2420888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211960" y="2420442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8" idx="2"/>
            <a:endCxn id="19" idx="6"/>
          </p:cNvCxnSpPr>
          <p:nvPr/>
        </p:nvCxnSpPr>
        <p:spPr>
          <a:xfrm>
            <a:off x="3347864" y="1628800"/>
            <a:ext cx="3600400" cy="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347864" y="1484784"/>
            <a:ext cx="288032" cy="288032"/>
          </a:xfrm>
          <a:prstGeom prst="ellipse">
            <a:avLst/>
          </a:prstGeom>
          <a:solidFill>
            <a:schemeClr val="bg1"/>
          </a:solidFill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rgbClr val="00206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6660232" y="1484784"/>
            <a:ext cx="288032" cy="288032"/>
          </a:xfrm>
          <a:prstGeom prst="ellipse">
            <a:avLst/>
          </a:prstGeom>
          <a:solidFill>
            <a:srgbClr val="FF0000"/>
          </a:solidFill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rgbClr val="00206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0" y="620688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</a:rPr>
              <a:t>-2 &lt; x ≤ </a:t>
            </a:r>
            <a:r>
              <a:rPr lang="en-US" sz="2800" b="1" dirty="0" smtClean="0">
                <a:solidFill>
                  <a:srgbClr val="002060"/>
                </a:solidFill>
              </a:rPr>
              <a:t>4</a:t>
            </a:r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19872" y="3356992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-1, 0, 1, 2, 3, 4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63888" y="3861048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1, 2, 3, 4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91880" y="4293096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-3, -2, -1, 0, 1, 2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491880" y="4787860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-5, -4, -3, -2</a:t>
            </a:r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269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097824"/>
              </p:ext>
            </p:extLst>
          </p:nvPr>
        </p:nvGraphicFramePr>
        <p:xfrm>
          <a:off x="755576" y="2852934"/>
          <a:ext cx="7632850" cy="2808318"/>
        </p:xfrm>
        <a:graphic>
          <a:graphicData uri="http://schemas.openxmlformats.org/drawingml/2006/table">
            <a:tbl>
              <a:tblPr/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85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Inequality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Integer Values 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-2 &lt; x </a:t>
                      </a:r>
                      <a:r>
                        <a:rPr lang="en-US" sz="2000" dirty="0" smtClean="0">
                          <a:latin typeface="+mj-lt"/>
                        </a:rPr>
                        <a:t>≤</a:t>
                      </a: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4</a:t>
                      </a:r>
                      <a:endParaRPr kumimoji="0" lang="en-US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2.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 &lt; r &lt; 5</a:t>
                      </a:r>
                      <a:endParaRPr kumimoji="0" lang="en-US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3.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-4 &lt; s ≤ 2</a:t>
                      </a:r>
                      <a:endParaRPr kumimoji="0" lang="en-US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4.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-5 ≤ p ≤ -2</a:t>
                      </a:r>
                      <a:endParaRPr kumimoji="0" lang="en-US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5.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-4 ≤ h &lt; 2</a:t>
                      </a:r>
                      <a:endParaRPr kumimoji="0" lang="en-US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1187624" y="1844824"/>
            <a:ext cx="67687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/>
            <a:r>
              <a:rPr lang="en-GB" sz="2400" b="1" dirty="0">
                <a:solidFill>
                  <a:srgbClr val="002060"/>
                </a:solidFill>
                <a:latin typeface="+mn-lt"/>
                <a:cs typeface="Comic Sans MS"/>
              </a:rPr>
              <a:t>-4     -3     -2     -1     0     1     2     3     4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979712" y="2564904"/>
            <a:ext cx="5400600" cy="0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979712" y="2420442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470424" y="2425204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699792" y="2420888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788024" y="2420888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436096" y="2420888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84168" y="2420888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6732240" y="2420888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80312" y="2420888"/>
            <a:ext cx="0" cy="211138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211960" y="2420442"/>
            <a:ext cx="0" cy="211137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8" idx="2"/>
            <a:endCxn id="19" idx="6"/>
          </p:cNvCxnSpPr>
          <p:nvPr/>
        </p:nvCxnSpPr>
        <p:spPr>
          <a:xfrm>
            <a:off x="3347864" y="1628800"/>
            <a:ext cx="3600400" cy="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347864" y="1484784"/>
            <a:ext cx="288032" cy="288032"/>
          </a:xfrm>
          <a:prstGeom prst="ellipse">
            <a:avLst/>
          </a:prstGeom>
          <a:solidFill>
            <a:schemeClr val="bg1"/>
          </a:solidFill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rgbClr val="00206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6660232" y="1484784"/>
            <a:ext cx="288032" cy="288032"/>
          </a:xfrm>
          <a:prstGeom prst="ellipse">
            <a:avLst/>
          </a:prstGeom>
          <a:solidFill>
            <a:srgbClr val="FF0000"/>
          </a:solidFill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rgbClr val="00206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0" y="620688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</a:rPr>
              <a:t>-2 &lt; x ≤ </a:t>
            </a:r>
            <a:r>
              <a:rPr lang="en-US" sz="2800" b="1" dirty="0" smtClean="0">
                <a:solidFill>
                  <a:srgbClr val="002060"/>
                </a:solidFill>
              </a:rPr>
              <a:t>4</a:t>
            </a:r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19872" y="3356992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-1, 0, 1, 2, 3, 4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63888" y="3861048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1, 2, 3, 4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91880" y="4293096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-3, -2, -1, 0, 1, 2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491880" y="4787860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-5, -4, -3, -2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491880" y="5229200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 -4, -3, -2, -1, 0, 1</a:t>
            </a:r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269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002060"/>
                </a:solidFill>
              </a:rPr>
              <a:t>True or false?</a:t>
            </a:r>
            <a:endParaRPr lang="en-GB" b="1" dirty="0">
              <a:solidFill>
                <a:srgbClr val="002060"/>
              </a:solidFill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3923928" y="2348880"/>
            <a:ext cx="1423467" cy="769441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x &lt; 1 </a:t>
            </a:r>
            <a:endParaRPr kumimoji="0" lang="en-US" sz="44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29" name="Group 5"/>
          <p:cNvGrpSpPr>
            <a:grpSpLocks/>
          </p:cNvGrpSpPr>
          <p:nvPr/>
        </p:nvGrpSpPr>
        <p:grpSpPr bwMode="auto">
          <a:xfrm>
            <a:off x="1658563" y="3708889"/>
            <a:ext cx="6009781" cy="1664327"/>
            <a:chOff x="5561" y="3822"/>
            <a:chExt cx="4915" cy="1361"/>
          </a:xfrm>
        </p:grpSpPr>
        <p:sp>
          <p:nvSpPr>
            <p:cNvPr id="1030" name="Text Box 6"/>
            <p:cNvSpPr txBox="1">
              <a:spLocks noChangeArrowheads="1"/>
            </p:cNvSpPr>
            <p:nvPr/>
          </p:nvSpPr>
          <p:spPr bwMode="auto">
            <a:xfrm>
              <a:off x="7157" y="4601"/>
              <a:ext cx="1706" cy="5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GB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cs typeface="Arial" pitchFamily="34" charset="0"/>
                </a:rPr>
                <a:t>1</a:t>
              </a:r>
              <a:endPara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1" name="Oval 7"/>
            <p:cNvSpPr>
              <a:spLocks noChangeArrowheads="1"/>
            </p:cNvSpPr>
            <p:nvPr/>
          </p:nvSpPr>
          <p:spPr bwMode="auto">
            <a:xfrm>
              <a:off x="7919" y="3822"/>
              <a:ext cx="178" cy="178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grpSp>
          <p:nvGrpSpPr>
            <p:cNvPr id="1032" name="Group 8"/>
            <p:cNvGrpSpPr>
              <a:grpSpLocks/>
            </p:cNvGrpSpPr>
            <p:nvPr/>
          </p:nvGrpSpPr>
          <p:grpSpPr bwMode="auto">
            <a:xfrm>
              <a:off x="5561" y="4245"/>
              <a:ext cx="4915" cy="198"/>
              <a:chOff x="5561" y="4245"/>
              <a:chExt cx="4915" cy="198"/>
            </a:xfrm>
          </p:grpSpPr>
          <p:cxnSp>
            <p:nvCxnSpPr>
              <p:cNvPr id="1033" name="AutoShape 9"/>
              <p:cNvCxnSpPr>
                <a:cxnSpLocks noChangeShapeType="1"/>
              </p:cNvCxnSpPr>
              <p:nvPr/>
            </p:nvCxnSpPr>
            <p:spPr bwMode="auto">
              <a:xfrm>
                <a:off x="5561" y="4245"/>
                <a:ext cx="4915" cy="0"/>
              </a:xfrm>
              <a:prstGeom prst="straightConnector1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034" name="AutoShape 10"/>
              <p:cNvCxnSpPr>
                <a:cxnSpLocks noChangeShapeType="1"/>
              </p:cNvCxnSpPr>
              <p:nvPr/>
            </p:nvCxnSpPr>
            <p:spPr bwMode="auto">
              <a:xfrm flipV="1">
                <a:off x="8019" y="4245"/>
                <a:ext cx="0" cy="198"/>
              </a:xfrm>
              <a:prstGeom prst="straightConnector1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</p:grpSp>
      <p:cxnSp>
        <p:nvCxnSpPr>
          <p:cNvPr id="16" name="Straight Arrow Connector 15"/>
          <p:cNvCxnSpPr>
            <a:stCxn id="1031" idx="6"/>
          </p:cNvCxnSpPr>
          <p:nvPr/>
        </p:nvCxnSpPr>
        <p:spPr>
          <a:xfrm flipV="1">
            <a:off x="4759439" y="3789040"/>
            <a:ext cx="2692881" cy="2868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002060"/>
                </a:solidFill>
              </a:rPr>
              <a:t>True or false?</a:t>
            </a:r>
            <a:endParaRPr lang="en-GB" b="1" dirty="0">
              <a:solidFill>
                <a:srgbClr val="002060"/>
              </a:solidFill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3923928" y="2348880"/>
            <a:ext cx="1423467" cy="769441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x &gt; 4 </a:t>
            </a:r>
            <a:endParaRPr kumimoji="0" lang="en-US" sz="44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1658563" y="3708888"/>
            <a:ext cx="6009781" cy="1321923"/>
            <a:chOff x="5561" y="3822"/>
            <a:chExt cx="4915" cy="1081"/>
          </a:xfrm>
        </p:grpSpPr>
        <p:sp>
          <p:nvSpPr>
            <p:cNvPr id="1030" name="Text Box 6"/>
            <p:cNvSpPr txBox="1">
              <a:spLocks noChangeArrowheads="1"/>
            </p:cNvSpPr>
            <p:nvPr/>
          </p:nvSpPr>
          <p:spPr bwMode="auto">
            <a:xfrm>
              <a:off x="7157" y="4601"/>
              <a:ext cx="1706" cy="3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rPr>
                <a:t>4</a:t>
              </a:r>
            </a:p>
          </p:txBody>
        </p:sp>
        <p:sp>
          <p:nvSpPr>
            <p:cNvPr id="1031" name="Oval 7"/>
            <p:cNvSpPr>
              <a:spLocks noChangeArrowheads="1"/>
            </p:cNvSpPr>
            <p:nvPr/>
          </p:nvSpPr>
          <p:spPr bwMode="auto">
            <a:xfrm>
              <a:off x="7919" y="3822"/>
              <a:ext cx="178" cy="178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5561" y="4245"/>
              <a:ext cx="4915" cy="198"/>
              <a:chOff x="5561" y="4245"/>
              <a:chExt cx="4915" cy="198"/>
            </a:xfrm>
          </p:grpSpPr>
          <p:cxnSp>
            <p:nvCxnSpPr>
              <p:cNvPr id="1033" name="AutoShape 9"/>
              <p:cNvCxnSpPr>
                <a:cxnSpLocks noChangeShapeType="1"/>
              </p:cNvCxnSpPr>
              <p:nvPr/>
            </p:nvCxnSpPr>
            <p:spPr bwMode="auto">
              <a:xfrm>
                <a:off x="5561" y="4245"/>
                <a:ext cx="4915" cy="0"/>
              </a:xfrm>
              <a:prstGeom prst="straightConnector1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034" name="AutoShape 10"/>
              <p:cNvCxnSpPr>
                <a:cxnSpLocks noChangeShapeType="1"/>
              </p:cNvCxnSpPr>
              <p:nvPr/>
            </p:nvCxnSpPr>
            <p:spPr bwMode="auto">
              <a:xfrm flipV="1">
                <a:off x="8019" y="4245"/>
                <a:ext cx="0" cy="198"/>
              </a:xfrm>
              <a:prstGeom prst="straightConnector1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</p:grpSp>
      <p:cxnSp>
        <p:nvCxnSpPr>
          <p:cNvPr id="16" name="Straight Arrow Connector 15"/>
          <p:cNvCxnSpPr>
            <a:stCxn id="1031" idx="6"/>
          </p:cNvCxnSpPr>
          <p:nvPr/>
        </p:nvCxnSpPr>
        <p:spPr>
          <a:xfrm flipV="1">
            <a:off x="4759439" y="3789040"/>
            <a:ext cx="2692881" cy="2868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002060"/>
                </a:solidFill>
              </a:rPr>
              <a:t>True or false?</a:t>
            </a:r>
            <a:endParaRPr lang="en-GB" b="1" dirty="0">
              <a:solidFill>
                <a:srgbClr val="002060"/>
              </a:solidFill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3923928" y="2348880"/>
            <a:ext cx="1423467" cy="769441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x &lt; 7 </a:t>
            </a:r>
            <a:endParaRPr kumimoji="0" lang="en-US" sz="44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1658563" y="3708888"/>
            <a:ext cx="6009781" cy="1321923"/>
            <a:chOff x="5561" y="3822"/>
            <a:chExt cx="4915" cy="1081"/>
          </a:xfrm>
        </p:grpSpPr>
        <p:sp>
          <p:nvSpPr>
            <p:cNvPr id="1030" name="Text Box 6"/>
            <p:cNvSpPr txBox="1">
              <a:spLocks noChangeArrowheads="1"/>
            </p:cNvSpPr>
            <p:nvPr/>
          </p:nvSpPr>
          <p:spPr bwMode="auto">
            <a:xfrm>
              <a:off x="7157" y="4601"/>
              <a:ext cx="1706" cy="3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rPr>
                <a:t>7</a:t>
              </a:r>
            </a:p>
          </p:txBody>
        </p:sp>
        <p:sp>
          <p:nvSpPr>
            <p:cNvPr id="1031" name="Oval 7"/>
            <p:cNvSpPr>
              <a:spLocks noChangeArrowheads="1"/>
            </p:cNvSpPr>
            <p:nvPr/>
          </p:nvSpPr>
          <p:spPr bwMode="auto">
            <a:xfrm>
              <a:off x="7919" y="3822"/>
              <a:ext cx="178" cy="17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5561" y="4245"/>
              <a:ext cx="4915" cy="198"/>
              <a:chOff x="5561" y="4245"/>
              <a:chExt cx="4915" cy="198"/>
            </a:xfrm>
          </p:grpSpPr>
          <p:cxnSp>
            <p:nvCxnSpPr>
              <p:cNvPr id="1033" name="AutoShape 9"/>
              <p:cNvCxnSpPr>
                <a:cxnSpLocks noChangeShapeType="1"/>
              </p:cNvCxnSpPr>
              <p:nvPr/>
            </p:nvCxnSpPr>
            <p:spPr bwMode="auto">
              <a:xfrm>
                <a:off x="5561" y="4245"/>
                <a:ext cx="4915" cy="0"/>
              </a:xfrm>
              <a:prstGeom prst="straightConnector1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034" name="AutoShape 10"/>
              <p:cNvCxnSpPr>
                <a:cxnSpLocks noChangeShapeType="1"/>
              </p:cNvCxnSpPr>
              <p:nvPr/>
            </p:nvCxnSpPr>
            <p:spPr bwMode="auto">
              <a:xfrm flipV="1">
                <a:off x="8019" y="4245"/>
                <a:ext cx="0" cy="198"/>
              </a:xfrm>
              <a:prstGeom prst="straightConnector1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</p:grpSp>
      <p:cxnSp>
        <p:nvCxnSpPr>
          <p:cNvPr id="16" name="Straight Arrow Connector 15"/>
          <p:cNvCxnSpPr>
            <a:stCxn id="1031" idx="2"/>
          </p:cNvCxnSpPr>
          <p:nvPr/>
        </p:nvCxnSpPr>
        <p:spPr>
          <a:xfrm flipH="1" flipV="1">
            <a:off x="1691681" y="3789040"/>
            <a:ext cx="2850110" cy="2868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002060"/>
                </a:solidFill>
              </a:rPr>
              <a:t>True or false?</a:t>
            </a:r>
            <a:endParaRPr lang="en-GB" b="1" dirty="0">
              <a:solidFill>
                <a:srgbClr val="002060"/>
              </a:solidFill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3779912" y="2348880"/>
            <a:ext cx="1944216" cy="769441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x ≤ 12 </a:t>
            </a:r>
            <a:endParaRPr kumimoji="0" lang="en-US" sz="44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1658563" y="3708888"/>
            <a:ext cx="6009781" cy="1321923"/>
            <a:chOff x="5561" y="3822"/>
            <a:chExt cx="4915" cy="1081"/>
          </a:xfrm>
        </p:grpSpPr>
        <p:sp>
          <p:nvSpPr>
            <p:cNvPr id="1030" name="Text Box 6"/>
            <p:cNvSpPr txBox="1">
              <a:spLocks noChangeArrowheads="1"/>
            </p:cNvSpPr>
            <p:nvPr/>
          </p:nvSpPr>
          <p:spPr bwMode="auto">
            <a:xfrm>
              <a:off x="7157" y="4601"/>
              <a:ext cx="1706" cy="3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rPr>
                <a:t>12</a:t>
              </a:r>
            </a:p>
          </p:txBody>
        </p:sp>
        <p:sp>
          <p:nvSpPr>
            <p:cNvPr id="1031" name="Oval 7"/>
            <p:cNvSpPr>
              <a:spLocks noChangeArrowheads="1"/>
            </p:cNvSpPr>
            <p:nvPr/>
          </p:nvSpPr>
          <p:spPr bwMode="auto">
            <a:xfrm>
              <a:off x="7919" y="3822"/>
              <a:ext cx="178" cy="17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5561" y="4245"/>
              <a:ext cx="4915" cy="198"/>
              <a:chOff x="5561" y="4245"/>
              <a:chExt cx="4915" cy="198"/>
            </a:xfrm>
          </p:grpSpPr>
          <p:cxnSp>
            <p:nvCxnSpPr>
              <p:cNvPr id="1033" name="AutoShape 9"/>
              <p:cNvCxnSpPr>
                <a:cxnSpLocks noChangeShapeType="1"/>
              </p:cNvCxnSpPr>
              <p:nvPr/>
            </p:nvCxnSpPr>
            <p:spPr bwMode="auto">
              <a:xfrm>
                <a:off x="5561" y="4245"/>
                <a:ext cx="4915" cy="0"/>
              </a:xfrm>
              <a:prstGeom prst="straightConnector1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034" name="AutoShape 10"/>
              <p:cNvCxnSpPr>
                <a:cxnSpLocks noChangeShapeType="1"/>
              </p:cNvCxnSpPr>
              <p:nvPr/>
            </p:nvCxnSpPr>
            <p:spPr bwMode="auto">
              <a:xfrm flipV="1">
                <a:off x="8019" y="4245"/>
                <a:ext cx="0" cy="198"/>
              </a:xfrm>
              <a:prstGeom prst="straightConnector1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</p:grpSp>
      <p:cxnSp>
        <p:nvCxnSpPr>
          <p:cNvPr id="16" name="Straight Arrow Connector 15"/>
          <p:cNvCxnSpPr>
            <a:stCxn id="1031" idx="2"/>
          </p:cNvCxnSpPr>
          <p:nvPr/>
        </p:nvCxnSpPr>
        <p:spPr>
          <a:xfrm flipV="1">
            <a:off x="4541791" y="3789040"/>
            <a:ext cx="2982537" cy="2868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002060"/>
                </a:solidFill>
              </a:rPr>
              <a:t>True or false?</a:t>
            </a:r>
            <a:endParaRPr lang="en-GB" b="1" dirty="0">
              <a:solidFill>
                <a:srgbClr val="002060"/>
              </a:solidFill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3779912" y="2348880"/>
            <a:ext cx="1944216" cy="769441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x ≤ 9 </a:t>
            </a:r>
            <a:endParaRPr kumimoji="0" lang="en-US" sz="44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1658563" y="3708888"/>
            <a:ext cx="6009781" cy="1321923"/>
            <a:chOff x="5561" y="3822"/>
            <a:chExt cx="4915" cy="1081"/>
          </a:xfrm>
        </p:grpSpPr>
        <p:sp>
          <p:nvSpPr>
            <p:cNvPr id="1030" name="Text Box 6"/>
            <p:cNvSpPr txBox="1">
              <a:spLocks noChangeArrowheads="1"/>
            </p:cNvSpPr>
            <p:nvPr/>
          </p:nvSpPr>
          <p:spPr bwMode="auto">
            <a:xfrm>
              <a:off x="7157" y="4601"/>
              <a:ext cx="1706" cy="3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rPr>
                <a:t>9</a:t>
              </a:r>
            </a:p>
          </p:txBody>
        </p:sp>
        <p:sp>
          <p:nvSpPr>
            <p:cNvPr id="1031" name="Oval 7"/>
            <p:cNvSpPr>
              <a:spLocks noChangeArrowheads="1"/>
            </p:cNvSpPr>
            <p:nvPr/>
          </p:nvSpPr>
          <p:spPr bwMode="auto">
            <a:xfrm>
              <a:off x="7919" y="3822"/>
              <a:ext cx="178" cy="17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5561" y="4245"/>
              <a:ext cx="4915" cy="198"/>
              <a:chOff x="5561" y="4245"/>
              <a:chExt cx="4915" cy="198"/>
            </a:xfrm>
          </p:grpSpPr>
          <p:cxnSp>
            <p:nvCxnSpPr>
              <p:cNvPr id="1033" name="AutoShape 9"/>
              <p:cNvCxnSpPr>
                <a:cxnSpLocks noChangeShapeType="1"/>
              </p:cNvCxnSpPr>
              <p:nvPr/>
            </p:nvCxnSpPr>
            <p:spPr bwMode="auto">
              <a:xfrm>
                <a:off x="5561" y="4245"/>
                <a:ext cx="4915" cy="0"/>
              </a:xfrm>
              <a:prstGeom prst="straightConnector1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034" name="AutoShape 10"/>
              <p:cNvCxnSpPr>
                <a:cxnSpLocks noChangeShapeType="1"/>
              </p:cNvCxnSpPr>
              <p:nvPr/>
            </p:nvCxnSpPr>
            <p:spPr bwMode="auto">
              <a:xfrm flipV="1">
                <a:off x="8019" y="4245"/>
                <a:ext cx="0" cy="198"/>
              </a:xfrm>
              <a:prstGeom prst="straightConnector1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</p:grpSp>
      <p:cxnSp>
        <p:nvCxnSpPr>
          <p:cNvPr id="16" name="Straight Arrow Connector 15"/>
          <p:cNvCxnSpPr>
            <a:stCxn id="1031" idx="2"/>
          </p:cNvCxnSpPr>
          <p:nvPr/>
        </p:nvCxnSpPr>
        <p:spPr>
          <a:xfrm flipH="1" flipV="1">
            <a:off x="1907704" y="3789040"/>
            <a:ext cx="2634087" cy="2868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002060"/>
                </a:solidFill>
              </a:rPr>
              <a:t>True or false?</a:t>
            </a:r>
            <a:endParaRPr lang="en-GB" b="1" dirty="0">
              <a:solidFill>
                <a:srgbClr val="002060"/>
              </a:solidFill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3779912" y="2348880"/>
            <a:ext cx="1944216" cy="769441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5 ≤ x </a:t>
            </a:r>
            <a:endParaRPr kumimoji="0" lang="en-US" sz="44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1658563" y="3708888"/>
            <a:ext cx="6009781" cy="1321923"/>
            <a:chOff x="5561" y="3822"/>
            <a:chExt cx="4915" cy="1081"/>
          </a:xfrm>
        </p:grpSpPr>
        <p:sp>
          <p:nvSpPr>
            <p:cNvPr id="1030" name="Text Box 6"/>
            <p:cNvSpPr txBox="1">
              <a:spLocks noChangeArrowheads="1"/>
            </p:cNvSpPr>
            <p:nvPr/>
          </p:nvSpPr>
          <p:spPr bwMode="auto">
            <a:xfrm>
              <a:off x="7157" y="4601"/>
              <a:ext cx="1706" cy="3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rPr>
                <a:t>5</a:t>
              </a:r>
            </a:p>
          </p:txBody>
        </p:sp>
        <p:sp>
          <p:nvSpPr>
            <p:cNvPr id="1031" name="Oval 7"/>
            <p:cNvSpPr>
              <a:spLocks noChangeArrowheads="1"/>
            </p:cNvSpPr>
            <p:nvPr/>
          </p:nvSpPr>
          <p:spPr bwMode="auto">
            <a:xfrm>
              <a:off x="7919" y="3822"/>
              <a:ext cx="178" cy="17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5561" y="4245"/>
              <a:ext cx="4915" cy="198"/>
              <a:chOff x="5561" y="4245"/>
              <a:chExt cx="4915" cy="198"/>
            </a:xfrm>
          </p:grpSpPr>
          <p:cxnSp>
            <p:nvCxnSpPr>
              <p:cNvPr id="1033" name="AutoShape 9"/>
              <p:cNvCxnSpPr>
                <a:cxnSpLocks noChangeShapeType="1"/>
              </p:cNvCxnSpPr>
              <p:nvPr/>
            </p:nvCxnSpPr>
            <p:spPr bwMode="auto">
              <a:xfrm>
                <a:off x="5561" y="4245"/>
                <a:ext cx="4915" cy="0"/>
              </a:xfrm>
              <a:prstGeom prst="straightConnector1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034" name="AutoShape 10"/>
              <p:cNvCxnSpPr>
                <a:cxnSpLocks noChangeShapeType="1"/>
              </p:cNvCxnSpPr>
              <p:nvPr/>
            </p:nvCxnSpPr>
            <p:spPr bwMode="auto">
              <a:xfrm flipV="1">
                <a:off x="8019" y="4245"/>
                <a:ext cx="0" cy="198"/>
              </a:xfrm>
              <a:prstGeom prst="straightConnector1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</p:grpSp>
      <p:cxnSp>
        <p:nvCxnSpPr>
          <p:cNvPr id="16" name="Straight Arrow Connector 15"/>
          <p:cNvCxnSpPr>
            <a:stCxn id="1031" idx="2"/>
          </p:cNvCxnSpPr>
          <p:nvPr/>
        </p:nvCxnSpPr>
        <p:spPr>
          <a:xfrm flipV="1">
            <a:off x="4541791" y="3789040"/>
            <a:ext cx="2838521" cy="2868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002060"/>
                </a:solidFill>
              </a:rPr>
              <a:t>True or false?</a:t>
            </a:r>
            <a:endParaRPr lang="en-GB" b="1" dirty="0">
              <a:solidFill>
                <a:srgbClr val="002060"/>
              </a:solidFill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3275856" y="2348880"/>
            <a:ext cx="3384376" cy="769441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4 ≤ x &lt; 7 </a:t>
            </a:r>
            <a:endParaRPr kumimoji="0" lang="en-US" sz="44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3059832" y="4653136"/>
            <a:ext cx="1105955" cy="369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4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1" name="Oval 7"/>
          <p:cNvSpPr>
            <a:spLocks noChangeArrowheads="1"/>
          </p:cNvSpPr>
          <p:nvPr/>
        </p:nvSpPr>
        <p:spPr bwMode="auto">
          <a:xfrm>
            <a:off x="3491880" y="3715385"/>
            <a:ext cx="217648" cy="217671"/>
          </a:xfrm>
          <a:prstGeom prst="ellipse">
            <a:avLst/>
          </a:prstGeom>
          <a:solidFill>
            <a:schemeClr val="tx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cxnSp>
        <p:nvCxnSpPr>
          <p:cNvPr id="1033" name="AutoShape 9"/>
          <p:cNvCxnSpPr>
            <a:cxnSpLocks noChangeShapeType="1"/>
          </p:cNvCxnSpPr>
          <p:nvPr/>
        </p:nvCxnSpPr>
        <p:spPr bwMode="auto">
          <a:xfrm>
            <a:off x="1658563" y="4226162"/>
            <a:ext cx="6009781" cy="0"/>
          </a:xfrm>
          <a:prstGeom prst="straightConnector1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034" name="AutoShape 10"/>
          <p:cNvCxnSpPr>
            <a:cxnSpLocks noChangeShapeType="1"/>
          </p:cNvCxnSpPr>
          <p:nvPr/>
        </p:nvCxnSpPr>
        <p:spPr bwMode="auto">
          <a:xfrm flipV="1">
            <a:off x="3635896" y="4226162"/>
            <a:ext cx="0" cy="242128"/>
          </a:xfrm>
          <a:prstGeom prst="straightConnector1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2" name="AutoShape 10"/>
          <p:cNvCxnSpPr>
            <a:cxnSpLocks noChangeShapeType="1"/>
          </p:cNvCxnSpPr>
          <p:nvPr/>
        </p:nvCxnSpPr>
        <p:spPr bwMode="auto">
          <a:xfrm flipV="1">
            <a:off x="5868144" y="4221088"/>
            <a:ext cx="0" cy="242128"/>
          </a:xfrm>
          <a:prstGeom prst="straightConnector1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</p:spPr>
      </p:cxnSp>
      <p:sp>
        <p:nvSpPr>
          <p:cNvPr id="13" name="Oval 7"/>
          <p:cNvSpPr>
            <a:spLocks noChangeArrowheads="1"/>
          </p:cNvSpPr>
          <p:nvPr/>
        </p:nvSpPr>
        <p:spPr bwMode="auto">
          <a:xfrm>
            <a:off x="5724128" y="3717032"/>
            <a:ext cx="217648" cy="2176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3635896" y="3789040"/>
            <a:ext cx="2078348" cy="16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5292080" y="4643869"/>
            <a:ext cx="1105955" cy="369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7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002060"/>
                </a:solidFill>
              </a:rPr>
              <a:t>True or false?</a:t>
            </a:r>
            <a:endParaRPr lang="en-GB" b="1" dirty="0">
              <a:solidFill>
                <a:srgbClr val="002060"/>
              </a:solidFill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987824" y="2348880"/>
            <a:ext cx="3384376" cy="769441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ts val="1000"/>
              </a:spcAft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11 </a:t>
            </a:r>
            <a:r>
              <a:rPr lang="en-GB" sz="4400" dirty="0" smtClean="0">
                <a:solidFill>
                  <a:srgbClr val="002060"/>
                </a:solidFill>
                <a:latin typeface="Comic Sans MS" panose="030F0702030302020204" pitchFamily="66" charset="0"/>
              </a:rPr>
              <a:t>≥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 x &gt; 5 </a:t>
            </a:r>
            <a:endParaRPr kumimoji="0" lang="en-US" sz="44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3059832" y="4653136"/>
            <a:ext cx="1105955" cy="369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5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1" name="Oval 7"/>
          <p:cNvSpPr>
            <a:spLocks noChangeArrowheads="1"/>
          </p:cNvSpPr>
          <p:nvPr/>
        </p:nvSpPr>
        <p:spPr bwMode="auto">
          <a:xfrm>
            <a:off x="3491880" y="3715385"/>
            <a:ext cx="217648" cy="217671"/>
          </a:xfrm>
          <a:prstGeom prst="ellipse">
            <a:avLst/>
          </a:prstGeom>
          <a:solidFill>
            <a:schemeClr val="tx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cxnSp>
        <p:nvCxnSpPr>
          <p:cNvPr id="1033" name="AutoShape 9"/>
          <p:cNvCxnSpPr>
            <a:cxnSpLocks noChangeShapeType="1"/>
          </p:cNvCxnSpPr>
          <p:nvPr/>
        </p:nvCxnSpPr>
        <p:spPr bwMode="auto">
          <a:xfrm>
            <a:off x="1658563" y="4226162"/>
            <a:ext cx="6009781" cy="0"/>
          </a:xfrm>
          <a:prstGeom prst="straightConnector1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034" name="AutoShape 10"/>
          <p:cNvCxnSpPr>
            <a:cxnSpLocks noChangeShapeType="1"/>
          </p:cNvCxnSpPr>
          <p:nvPr/>
        </p:nvCxnSpPr>
        <p:spPr bwMode="auto">
          <a:xfrm flipV="1">
            <a:off x="3635896" y="4226162"/>
            <a:ext cx="0" cy="242128"/>
          </a:xfrm>
          <a:prstGeom prst="straightConnector1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2" name="AutoShape 10"/>
          <p:cNvCxnSpPr>
            <a:cxnSpLocks noChangeShapeType="1"/>
          </p:cNvCxnSpPr>
          <p:nvPr/>
        </p:nvCxnSpPr>
        <p:spPr bwMode="auto">
          <a:xfrm flipV="1">
            <a:off x="5868144" y="4221088"/>
            <a:ext cx="0" cy="242128"/>
          </a:xfrm>
          <a:prstGeom prst="straightConnector1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</p:spPr>
      </p:cxnSp>
      <p:sp>
        <p:nvSpPr>
          <p:cNvPr id="13" name="Oval 7"/>
          <p:cNvSpPr>
            <a:spLocks noChangeArrowheads="1"/>
          </p:cNvSpPr>
          <p:nvPr/>
        </p:nvSpPr>
        <p:spPr bwMode="auto">
          <a:xfrm>
            <a:off x="5724128" y="3717032"/>
            <a:ext cx="217648" cy="2176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3635896" y="3789040"/>
            <a:ext cx="2078348" cy="16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5292080" y="4643869"/>
            <a:ext cx="1105955" cy="369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11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GB" sz="4000" b="1" dirty="0" smtClean="0">
                <a:solidFill>
                  <a:srgbClr val="002060"/>
                </a:solidFill>
              </a:rPr>
              <a:t>Solving Inequalities</a:t>
            </a:r>
            <a:endParaRPr lang="en-GB" sz="40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19256" cy="4853135"/>
          </a:xfrm>
          <a:ln w="38100">
            <a:noFill/>
          </a:ln>
        </p:spPr>
        <p:txBody>
          <a:bodyPr>
            <a:normAutofit/>
          </a:bodyPr>
          <a:lstStyle/>
          <a:p>
            <a:pPr marL="0" indent="0">
              <a:spcBef>
                <a:spcPct val="50000"/>
              </a:spcBef>
              <a:buNone/>
            </a:pPr>
            <a:endParaRPr lang="en-US" altLang="en-US" b="1" dirty="0">
              <a:solidFill>
                <a:srgbClr val="002060"/>
              </a:solidFill>
              <a:latin typeface="Calibri" pitchFamily="34" charset="0"/>
              <a:cs typeface="Calibri" pitchFamily="34" charset="0"/>
            </a:endParaRPr>
          </a:p>
          <a:p>
            <a:pPr marL="0" indent="0" algn="ctr">
              <a:spcBef>
                <a:spcPct val="50000"/>
              </a:spcBef>
              <a:buNone/>
            </a:pPr>
            <a:r>
              <a:rPr lang="en-GB" altLang="en-US" b="1" dirty="0" smtClean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5p + 5 &gt; 20</a:t>
            </a:r>
            <a:endParaRPr lang="en-GB" altLang="en-US" b="1" dirty="0">
              <a:solidFill>
                <a:srgbClr val="002060"/>
              </a:solidFill>
              <a:latin typeface="Calibri" pitchFamily="34" charset="0"/>
              <a:cs typeface="Calibri" pitchFamily="34" charset="0"/>
            </a:endParaRPr>
          </a:p>
          <a:p>
            <a:pPr marL="0" indent="0" algn="ctr">
              <a:buNone/>
            </a:pPr>
            <a:endParaRPr lang="en-US" b="1" dirty="0" smtClean="0">
              <a:solidFill>
                <a:srgbClr val="002060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848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39064" y="231031"/>
            <a:ext cx="8453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>
                <a:solidFill>
                  <a:srgbClr val="002060"/>
                </a:solidFill>
                <a:latin typeface="+mj-lt"/>
              </a:rPr>
              <a:t>One Step                      Two Step                 With Fractions          </a:t>
            </a:r>
            <a:endParaRPr lang="en-GB" sz="2800" b="1" dirty="0">
              <a:solidFill>
                <a:srgbClr val="002060"/>
              </a:solidFill>
              <a:latin typeface="+mj-lt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131840" y="1051768"/>
            <a:ext cx="2845184" cy="5689600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200000"/>
              </a:lnSpc>
            </a:pPr>
            <a:r>
              <a:rPr lang="en-GB" sz="2400" b="1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Task 2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4a 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+ </a:t>
            </a: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5 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&gt; </a:t>
            </a: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-11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3b 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- </a:t>
            </a: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7 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≥ </a:t>
            </a: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-22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4c + 3 &lt;</a:t>
            </a: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27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9(g – 4) </a:t>
            </a: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≤ 54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2e 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+ </a:t>
            </a: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6 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≤ </a:t>
            </a: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2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42640" y="1052736"/>
            <a:ext cx="2845184" cy="56896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200000"/>
              </a:lnSpc>
            </a:pPr>
            <a:r>
              <a:rPr lang="en-GB" sz="2400" b="1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Task 1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37 + a &lt; 62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b - 10 ≤ -34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6c 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≥</a:t>
            </a: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 -84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d </a:t>
            </a:r>
            <a:r>
              <a:rPr lang="en-GB" sz="2400" dirty="0" smtClean="0">
                <a:solidFill>
                  <a:schemeClr val="tx1"/>
                </a:solidFill>
                <a:latin typeface="Arial"/>
                <a:cs typeface="Arial"/>
              </a:rPr>
              <a:t>÷ 3</a:t>
            </a: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 &lt; -8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GB" sz="2400" u="sng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e</a:t>
            </a: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 ≥ 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568" y="5445224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/>
              <a:t>3</a:t>
            </a:r>
            <a:endParaRPr lang="en-GB" sz="2400" b="1" dirty="0"/>
          </a:p>
        </p:txBody>
      </p:sp>
      <p:sp>
        <p:nvSpPr>
          <p:cNvPr id="16" name="Rounded Rectangle 1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207981" y="1045028"/>
            <a:ext cx="2845184" cy="5689600"/>
          </a:xfrm>
          <a:prstGeom prst="roundRect">
            <a:avLst/>
          </a:prstGeom>
          <a:blipFill rotWithShape="1">
            <a:blip r:embed="rId2" cstate="print"/>
            <a:stretch>
              <a:fillRect/>
            </a:stretch>
          </a:blipFill>
          <a:ln w="38100">
            <a:solidFill>
              <a:srgbClr val="00B050"/>
            </a:solidFill>
          </a:ln>
        </p:spPr>
        <p:txBody>
          <a:bodyPr/>
          <a:lstStyle/>
          <a:p>
            <a:r>
              <a:rPr lang="en-GB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780817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142640" y="1045028"/>
            <a:ext cx="2845184" cy="56896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200000"/>
              </a:lnSpc>
            </a:pPr>
            <a:r>
              <a:rPr lang="en-GB" sz="2400" b="1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Task 1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a &lt; 25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b </a:t>
            </a: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≤ -24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c 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≥</a:t>
            </a: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 -14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d </a:t>
            </a: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&lt; -24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e ≥ 63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149408" y="1045028"/>
            <a:ext cx="2845184" cy="5689600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200000"/>
              </a:lnSpc>
            </a:pPr>
            <a:r>
              <a:rPr lang="en-GB" sz="2400" b="1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Task 2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a 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&gt; </a:t>
            </a: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-4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b ≥ -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5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c 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&lt;</a:t>
            </a: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6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g ≤ 10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en-GB" sz="2400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e ≤ -2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12" name="Rounded Rectangle 1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207981" y="1045028"/>
            <a:ext cx="2845184" cy="5689600"/>
          </a:xfrm>
          <a:prstGeom prst="roundRect">
            <a:avLst/>
          </a:prstGeom>
          <a:blipFill rotWithShape="0">
            <a:blip r:embed="rId2" cstate="print"/>
            <a:stretch>
              <a:fillRect/>
            </a:stretch>
          </a:blipFill>
          <a:ln w="38100">
            <a:solidFill>
              <a:srgbClr val="00B050"/>
            </a:solidFill>
          </a:ln>
        </p:spPr>
        <p:txBody>
          <a:bodyPr/>
          <a:lstStyle/>
          <a:p>
            <a:r>
              <a:rPr lang="en-GB"/>
              <a:t>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064" y="231031"/>
            <a:ext cx="8453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>
                <a:solidFill>
                  <a:srgbClr val="002060"/>
                </a:solidFill>
                <a:latin typeface="+mj-lt"/>
              </a:rPr>
              <a:t>One Step                      Two Step                 With Fractions          </a:t>
            </a:r>
            <a:endParaRPr lang="en-GB" sz="2800" b="1" dirty="0">
              <a:solidFill>
                <a:srgbClr val="00206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14765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74610"/>
            <a:ext cx="914400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016" y="44624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Comic Sans MS" pitchFamily="66" charset="0"/>
              </a:rPr>
              <a:t>Outcome 5</a:t>
            </a:r>
          </a:p>
          <a:p>
            <a:pPr algn="ctr"/>
            <a:r>
              <a:rPr lang="en-GB" sz="2400">
                <a:latin typeface="Comic Sans MS" pitchFamily="66" charset="0"/>
              </a:rPr>
              <a:t>I </a:t>
            </a:r>
            <a:r>
              <a:rPr lang="en-GB" sz="2400" smtClean="0">
                <a:latin typeface="Comic Sans MS" pitchFamily="66" charset="0"/>
              </a:rPr>
              <a:t>can </a:t>
            </a:r>
            <a:r>
              <a:rPr lang="en-GB" sz="2400" dirty="0">
                <a:latin typeface="Comic Sans MS" pitchFamily="66" charset="0"/>
              </a:rPr>
              <a:t>solve single  two </a:t>
            </a:r>
            <a:r>
              <a:rPr lang="en-GB" sz="2400">
                <a:latin typeface="Comic Sans MS" pitchFamily="66" charset="0"/>
              </a:rPr>
              <a:t>step </a:t>
            </a:r>
            <a:r>
              <a:rPr lang="en-GB" sz="2400" smtClean="0">
                <a:latin typeface="Comic Sans MS" pitchFamily="66" charset="0"/>
              </a:rPr>
              <a:t>inequalities </a:t>
            </a:r>
            <a:r>
              <a:rPr lang="en-GB" sz="2400">
                <a:latin typeface="Comic Sans MS" pitchFamily="66" charset="0"/>
              </a:rPr>
              <a:t>involving </a:t>
            </a:r>
            <a:r>
              <a:rPr lang="en-GB" sz="2400" smtClean="0">
                <a:latin typeface="Comic Sans MS" pitchFamily="66" charset="0"/>
              </a:rPr>
              <a:t>fractions</a:t>
            </a:r>
            <a:endParaRPr lang="en-GB" sz="2400" dirty="0">
              <a:latin typeface="Comic Sans MS" pitchFamily="66" charset="0"/>
            </a:endParaRPr>
          </a:p>
        </p:txBody>
      </p:sp>
      <p:grpSp>
        <p:nvGrpSpPr>
          <p:cNvPr id="2" name="Group 12"/>
          <p:cNvGrpSpPr/>
          <p:nvPr/>
        </p:nvGrpSpPr>
        <p:grpSpPr>
          <a:xfrm>
            <a:off x="90835" y="1045028"/>
            <a:ext cx="8962330" cy="5689600"/>
            <a:chOff x="188686" y="1030514"/>
            <a:chExt cx="8686800" cy="5689600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ounded Rectangle 14"/>
                <p:cNvSpPr/>
                <p:nvPr/>
              </p:nvSpPr>
              <p:spPr>
                <a:xfrm>
                  <a:off x="188686" y="1030514"/>
                  <a:ext cx="2757714" cy="5689600"/>
                </a:xfrm>
                <a:prstGeom prst="roundRect">
                  <a:avLst/>
                </a:prstGeom>
                <a:grpFill/>
                <a:ln w="381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n-GB" sz="2400" b="1" dirty="0" smtClean="0">
                      <a:solidFill>
                        <a:schemeClr val="tx1"/>
                      </a:solidFill>
                      <a:latin typeface="Comic Sans MS" panose="030F0702030302020204" pitchFamily="66" charset="0"/>
                    </a:rPr>
                    <a:t>Task 1</a:t>
                  </a:r>
                </a:p>
                <a:p>
                  <a:pPr marL="342900" indent="-342900">
                    <a:lnSpc>
                      <a:spcPct val="150000"/>
                    </a:lnSpc>
                    <a:buFont typeface="+mj-lt"/>
                    <a:buAutoNum type="arabicParenR"/>
                  </a:pPr>
                  <a:r>
                    <a:rPr lang="en-GB" sz="2400" dirty="0" smtClean="0">
                      <a:solidFill>
                        <a:schemeClr val="tx1"/>
                      </a:solidFill>
                      <a:latin typeface="Comic Sans MS" pitchFamily="66" charset="0"/>
                    </a:rPr>
                    <a:t>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−16</m:t>
                          </m:r>
                        </m:num>
                        <m:den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8</m:t>
                          </m:r>
                        </m:den>
                      </m:f>
                    </m:oMath>
                  </a14:m>
                  <a:r>
                    <a:rPr lang="en-GB" sz="2400" dirty="0">
                      <a:solidFill>
                        <a:schemeClr val="tx1"/>
                      </a:solidFill>
                      <a:latin typeface="Comic Sans MS" panose="030F0702030302020204" pitchFamily="66" charset="0"/>
                    </a:rPr>
                    <a:t> </a:t>
                  </a:r>
                  <a:r>
                    <a:rPr lang="en-GB" sz="2400" dirty="0" smtClean="0">
                      <a:solidFill>
                        <a:schemeClr val="tx1"/>
                      </a:solidFill>
                      <a:latin typeface="Comic Sans MS" panose="030F0702030302020204" pitchFamily="66" charset="0"/>
                    </a:rPr>
                    <a:t>&lt; 11</a:t>
                  </a:r>
                </a:p>
                <a:p>
                  <a:pPr marL="342900" indent="-342900">
                    <a:lnSpc>
                      <a:spcPct val="150000"/>
                    </a:lnSpc>
                    <a:buFont typeface="+mj-lt"/>
                    <a:buAutoNum type="arabicParenR"/>
                  </a:pPr>
                  <a:r>
                    <a:rPr lang="en-GB" sz="2400" dirty="0" smtClean="0">
                      <a:solidFill>
                        <a:schemeClr val="tx1"/>
                      </a:solidFill>
                      <a:latin typeface="Comic Sans MS" panose="030F0702030302020204" pitchFamily="66" charset="0"/>
                    </a:rPr>
                    <a:t>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num>
                        <m:den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7</m:t>
                          </m:r>
                        </m:den>
                      </m:f>
                    </m:oMath>
                  </a14:m>
                  <a:r>
                    <a:rPr lang="en-GB" sz="2400" dirty="0">
                      <a:solidFill>
                        <a:schemeClr val="tx1"/>
                      </a:solidFill>
                      <a:latin typeface="Comic Sans MS" pitchFamily="66" charset="0"/>
                    </a:rPr>
                    <a:t> - 7 </a:t>
                  </a:r>
                  <a:r>
                    <a:rPr lang="en-GB" sz="2400" dirty="0" smtClean="0">
                      <a:solidFill>
                        <a:schemeClr val="tx1"/>
                      </a:solidFill>
                      <a:latin typeface="Comic Sans MS" pitchFamily="66" charset="0"/>
                    </a:rPr>
                    <a:t>≤ </a:t>
                  </a:r>
                  <a:r>
                    <a:rPr lang="en-GB" sz="2400" dirty="0">
                      <a:solidFill>
                        <a:schemeClr val="tx1"/>
                      </a:solidFill>
                      <a:latin typeface="Comic Sans MS" pitchFamily="66" charset="0"/>
                    </a:rPr>
                    <a:t>-2</a:t>
                  </a:r>
                </a:p>
                <a:p>
                  <a:pPr marL="342900" indent="-342900">
                    <a:lnSpc>
                      <a:spcPct val="200000"/>
                    </a:lnSpc>
                    <a:buFont typeface="+mj-lt"/>
                    <a:buAutoNum type="arabicParenR"/>
                  </a:pPr>
                  <a:r>
                    <a:rPr lang="en-GB" sz="2400" dirty="0" smtClean="0">
                      <a:solidFill>
                        <a:schemeClr val="tx1"/>
                      </a:solidFill>
                      <a:latin typeface="Comic Sans MS" pitchFamily="66" charset="0"/>
                    </a:rPr>
                    <a:t>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num>
                        <m:den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a14:m>
                  <a:r>
                    <a:rPr lang="en-GB" sz="2400" dirty="0">
                      <a:solidFill>
                        <a:schemeClr val="tx1"/>
                      </a:solidFill>
                      <a:latin typeface="Comic Sans MS" pitchFamily="66" charset="0"/>
                    </a:rPr>
                    <a:t> - 6 </a:t>
                  </a:r>
                  <a:r>
                    <a:rPr lang="en-GB" sz="2400" dirty="0" smtClean="0">
                      <a:solidFill>
                        <a:schemeClr val="tx1"/>
                      </a:solidFill>
                      <a:latin typeface="Comic Sans MS" pitchFamily="66" charset="0"/>
                    </a:rPr>
                    <a:t>&gt; </a:t>
                  </a:r>
                  <a:r>
                    <a:rPr lang="en-GB" sz="2400" dirty="0">
                      <a:solidFill>
                        <a:schemeClr val="tx1"/>
                      </a:solidFill>
                      <a:latin typeface="Comic Sans MS" pitchFamily="66" charset="0"/>
                    </a:rPr>
                    <a:t>6</a:t>
                  </a:r>
                </a:p>
                <a:p>
                  <a:pPr marL="342900" indent="-342900">
                    <a:lnSpc>
                      <a:spcPct val="150000"/>
                    </a:lnSpc>
                    <a:buFont typeface="+mj-lt"/>
                    <a:buAutoNum type="arabicParenR"/>
                  </a:pPr>
                  <a:r>
                    <a:rPr lang="en-GB" sz="2400" dirty="0">
                      <a:solidFill>
                        <a:schemeClr val="tx1"/>
                      </a:solidFill>
                      <a:latin typeface="Comic Sans MS" pitchFamily="66" charset="0"/>
                    </a:rPr>
                    <a:t>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−36</m:t>
                          </m:r>
                        </m:num>
                        <m:den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9</m:t>
                          </m:r>
                        </m:den>
                      </m:f>
                    </m:oMath>
                  </a14:m>
                  <a:r>
                    <a:rPr lang="en-GB" sz="2400" dirty="0">
                      <a:solidFill>
                        <a:schemeClr val="tx1"/>
                      </a:solidFill>
                      <a:latin typeface="Comic Sans MS" panose="030F0702030302020204" pitchFamily="66" charset="0"/>
                    </a:rPr>
                    <a:t> &lt; 8</a:t>
                  </a:r>
                </a:p>
                <a:p>
                  <a:pPr marL="342900" indent="-342900">
                    <a:lnSpc>
                      <a:spcPct val="200000"/>
                    </a:lnSpc>
                    <a:buFont typeface="+mj-lt"/>
                    <a:buAutoNum type="arabicParenR"/>
                  </a:pPr>
                  <a:r>
                    <a:rPr lang="en-GB" sz="2400" dirty="0">
                      <a:solidFill>
                        <a:schemeClr val="tx1"/>
                      </a:solidFill>
                      <a:latin typeface="Comic Sans MS" panose="030F0702030302020204" pitchFamily="66" charset="0"/>
                    </a:rPr>
                    <a:t>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num>
                        <m:den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sz="2400" dirty="0">
                      <a:solidFill>
                        <a:schemeClr val="tx1"/>
                      </a:solidFill>
                      <a:latin typeface="Comic Sans MS" pitchFamily="66" charset="0"/>
                    </a:rPr>
                    <a:t> - 6 </a:t>
                  </a:r>
                  <a:r>
                    <a:rPr lang="en-GB" sz="2400" dirty="0" smtClean="0">
                      <a:solidFill>
                        <a:schemeClr val="tx1"/>
                      </a:solidFill>
                      <a:latin typeface="Comic Sans MS" pitchFamily="66" charset="0"/>
                    </a:rPr>
                    <a:t>≥ </a:t>
                  </a:r>
                  <a:r>
                    <a:rPr lang="en-GB" sz="2400" dirty="0">
                      <a:solidFill>
                        <a:schemeClr val="tx1"/>
                      </a:solidFill>
                      <a:latin typeface="Comic Sans MS" pitchFamily="66" charset="0"/>
                    </a:rPr>
                    <a:t>38</a:t>
                  </a:r>
                </a:p>
              </p:txBody>
            </p:sp>
          </mc:Choice>
          <mc:Fallback xmlns="">
            <p:sp>
              <p:nvSpPr>
                <p:cNvPr id="15" name="Rounded Rectangle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686" y="1030514"/>
                  <a:ext cx="2757714" cy="5689600"/>
                </a:xfrm>
                <a:prstGeom prst="roundRect">
                  <a:avLst/>
                </a:prstGeom>
                <a:blipFill rotWithShape="1">
                  <a:blip r:embed="rId2" cstate="print"/>
                  <a:stretch>
                    <a:fillRect/>
                  </a:stretch>
                </a:blipFill>
                <a:ln w="3810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ounded Rectangle 15"/>
                <p:cNvSpPr/>
                <p:nvPr/>
              </p:nvSpPr>
              <p:spPr>
                <a:xfrm>
                  <a:off x="3153229" y="1030514"/>
                  <a:ext cx="2757714" cy="5689600"/>
                </a:xfrm>
                <a:prstGeom prst="roundRect">
                  <a:avLst/>
                </a:prstGeom>
                <a:grpFill/>
                <a:ln w="381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n-GB" sz="2400" b="1" dirty="0" smtClean="0">
                      <a:solidFill>
                        <a:schemeClr val="tx1"/>
                      </a:solidFill>
                      <a:latin typeface="Comic Sans MS" panose="030F0702030302020204" pitchFamily="66" charset="0"/>
                    </a:rPr>
                    <a:t>Task 2</a:t>
                  </a:r>
                </a:p>
                <a:p>
                  <a:pPr marL="342900" indent="-342900">
                    <a:lnSpc>
                      <a:spcPct val="150000"/>
                    </a:lnSpc>
                    <a:buFont typeface="+mj-lt"/>
                    <a:buAutoNum type="arabicParenR"/>
                  </a:pPr>
                  <a:r>
                    <a:rPr lang="en-GB" sz="2400" dirty="0" smtClean="0">
                      <a:solidFill>
                        <a:schemeClr val="tx1"/>
                      </a:solidFill>
                      <a:latin typeface="Comic Sans MS" panose="030F0702030302020204" pitchFamily="66" charset="0"/>
                    </a:rPr>
                    <a:t>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+9</m:t>
                          </m:r>
                        </m:num>
                        <m:den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a14:m>
                  <a:r>
                    <a:rPr lang="en-GB" sz="2400" dirty="0">
                      <a:solidFill>
                        <a:schemeClr val="tx1"/>
                      </a:solidFill>
                      <a:latin typeface="Comic Sans MS" panose="030F0702030302020204" pitchFamily="66" charset="0"/>
                    </a:rPr>
                    <a:t> = 14</a:t>
                  </a:r>
                </a:p>
                <a:p>
                  <a:pPr marL="342900" indent="-342900">
                    <a:lnSpc>
                      <a:spcPct val="200000"/>
                    </a:lnSpc>
                    <a:buFont typeface="+mj-lt"/>
                    <a:buAutoNum type="arabicParenR"/>
                  </a:pPr>
                  <a:r>
                    <a:rPr lang="en-GB" sz="2400" dirty="0">
                      <a:solidFill>
                        <a:schemeClr val="tx1"/>
                      </a:solidFill>
                      <a:latin typeface="Comic Sans MS" panose="030F0702030302020204" pitchFamily="66" charset="0"/>
                    </a:rPr>
                    <a:t>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num>
                        <m:den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7</m:t>
                          </m:r>
                        </m:den>
                      </m:f>
                    </m:oMath>
                  </a14:m>
                  <a:r>
                    <a:rPr lang="en-GB" sz="2400" dirty="0">
                      <a:solidFill>
                        <a:schemeClr val="tx1"/>
                      </a:solidFill>
                      <a:latin typeface="Comic Sans MS" panose="030F0702030302020204" pitchFamily="66" charset="0"/>
                    </a:rPr>
                    <a:t> - 12 ≤ -15</a:t>
                  </a:r>
                </a:p>
                <a:p>
                  <a:pPr marL="342900" indent="-342900">
                    <a:lnSpc>
                      <a:spcPct val="200000"/>
                    </a:lnSpc>
                    <a:buFont typeface="+mj-lt"/>
                    <a:buAutoNum type="arabicParenR"/>
                  </a:pPr>
                  <a:r>
                    <a:rPr lang="en-GB" sz="2400" dirty="0">
                      <a:solidFill>
                        <a:schemeClr val="tx1"/>
                      </a:solidFill>
                      <a:latin typeface="Comic Sans MS" panose="030F0702030302020204" pitchFamily="66" charset="0"/>
                    </a:rPr>
                    <a:t>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num>
                        <m:den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a14:m>
                  <a:r>
                    <a:rPr lang="en-GB" sz="2400" dirty="0">
                      <a:solidFill>
                        <a:schemeClr val="tx1"/>
                      </a:solidFill>
                      <a:latin typeface="Comic Sans MS" panose="030F0702030302020204" pitchFamily="66" charset="0"/>
                    </a:rPr>
                    <a:t> + 6 &gt; 27</a:t>
                  </a:r>
                </a:p>
                <a:p>
                  <a:pPr marL="342900" indent="-342900">
                    <a:lnSpc>
                      <a:spcPct val="150000"/>
                    </a:lnSpc>
                    <a:buFont typeface="+mj-lt"/>
                    <a:buAutoNum type="arabicParenR"/>
                  </a:pPr>
                  <a:r>
                    <a:rPr lang="en-GB" sz="2400" dirty="0">
                      <a:solidFill>
                        <a:schemeClr val="tx1"/>
                      </a:solidFill>
                      <a:latin typeface="Comic Sans MS" panose="030F0702030302020204" pitchFamily="66" charset="0"/>
                    </a:rPr>
                    <a:t>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−7</m:t>
                          </m:r>
                        </m:num>
                        <m:den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a14:m>
                  <a:r>
                    <a:rPr lang="en-GB" sz="2400" dirty="0">
                      <a:solidFill>
                        <a:schemeClr val="tx1"/>
                      </a:solidFill>
                      <a:latin typeface="Comic Sans MS" panose="030F0702030302020204" pitchFamily="66" charset="0"/>
                    </a:rPr>
                    <a:t> ≥ 13</a:t>
                  </a:r>
                </a:p>
                <a:p>
                  <a:pPr marL="342900" indent="-342900">
                    <a:lnSpc>
                      <a:spcPct val="200000"/>
                    </a:lnSpc>
                    <a:buFont typeface="+mj-lt"/>
                    <a:buAutoNum type="arabicParenR"/>
                  </a:pPr>
                  <a:r>
                    <a:rPr lang="en-GB" sz="2400" dirty="0">
                      <a:solidFill>
                        <a:schemeClr val="tx1"/>
                      </a:solidFill>
                      <a:latin typeface="Comic Sans MS" panose="030F0702030302020204" pitchFamily="66" charset="0"/>
                    </a:rPr>
                    <a:t>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num>
                        <m:den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8</m:t>
                          </m:r>
                        </m:den>
                      </m:f>
                    </m:oMath>
                  </a14:m>
                  <a:r>
                    <a:rPr lang="en-GB" sz="2400" dirty="0">
                      <a:solidFill>
                        <a:schemeClr val="tx1"/>
                      </a:solidFill>
                      <a:latin typeface="Comic Sans MS" panose="030F0702030302020204" pitchFamily="66" charset="0"/>
                    </a:rPr>
                    <a:t> + 5 ≥ -9</a:t>
                  </a:r>
                </a:p>
              </p:txBody>
            </p:sp>
          </mc:Choice>
          <mc:Fallback xmlns="">
            <p:sp>
              <p:nvSpPr>
                <p:cNvPr id="16" name="Rounded Rectangle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3229" y="1030514"/>
                  <a:ext cx="2757714" cy="5689600"/>
                </a:xfrm>
                <a:prstGeom prst="roundRect">
                  <a:avLst/>
                </a:prstGeom>
                <a:blipFill rotWithShape="1">
                  <a:blip r:embed="rId3" cstate="print"/>
                  <a:stretch>
                    <a:fillRect/>
                  </a:stretch>
                </a:blipFill>
                <a:ln w="3810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ounded Rectangle 16"/>
                <p:cNvSpPr/>
                <p:nvPr/>
              </p:nvSpPr>
              <p:spPr>
                <a:xfrm>
                  <a:off x="6117772" y="1030514"/>
                  <a:ext cx="2757714" cy="5689600"/>
                </a:xfrm>
                <a:prstGeom prst="roundRect">
                  <a:avLst/>
                </a:prstGeom>
                <a:grpFill/>
                <a:ln w="381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n-GB" sz="2400" b="1" dirty="0" smtClean="0">
                      <a:solidFill>
                        <a:schemeClr val="tx1"/>
                      </a:solidFill>
                      <a:latin typeface="Comic Sans MS" panose="030F0702030302020204" pitchFamily="66" charset="0"/>
                    </a:rPr>
                    <a:t>Task 3</a:t>
                  </a:r>
                </a:p>
                <a:p>
                  <a:pPr marL="342900" indent="-342900">
                    <a:lnSpc>
                      <a:spcPct val="200000"/>
                    </a:lnSpc>
                    <a:buFont typeface="+mj-lt"/>
                    <a:buAutoNum type="arabicParenR"/>
                  </a:pPr>
                  <a:r>
                    <a:rPr lang="en-GB" sz="2400" dirty="0">
                      <a:solidFill>
                        <a:schemeClr val="tx1"/>
                      </a:solidFill>
                      <a:latin typeface="Comic Sans MS" pitchFamily="66" charset="0"/>
                    </a:rPr>
                    <a:t>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num>
                        <m:den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a14:m>
                  <a:r>
                    <a:rPr lang="en-GB" sz="2400" dirty="0">
                      <a:solidFill>
                        <a:schemeClr val="tx1"/>
                      </a:solidFill>
                      <a:latin typeface="Comic Sans MS" pitchFamily="66" charset="0"/>
                    </a:rPr>
                    <a:t> - 4 &gt; 9</a:t>
                  </a:r>
                </a:p>
                <a:p>
                  <a:pPr marL="342900" indent="-342900">
                    <a:lnSpc>
                      <a:spcPct val="150000"/>
                    </a:lnSpc>
                    <a:buFont typeface="+mj-lt"/>
                    <a:buAutoNum type="arabicParenR"/>
                  </a:pPr>
                  <a:r>
                    <a:rPr lang="en-GB" sz="2400" dirty="0">
                      <a:solidFill>
                        <a:schemeClr val="tx1"/>
                      </a:solidFill>
                      <a:latin typeface="Comic Sans MS" pitchFamily="66" charset="0"/>
                    </a:rPr>
                    <a:t>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−3</m:t>
                          </m:r>
                        </m:num>
                        <m:den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9</m:t>
                          </m:r>
                        </m:den>
                      </m:f>
                    </m:oMath>
                  </a14:m>
                  <a:r>
                    <a:rPr lang="en-GB" sz="2400" dirty="0">
                      <a:solidFill>
                        <a:schemeClr val="tx1"/>
                      </a:solidFill>
                      <a:latin typeface="Comic Sans MS" panose="030F0702030302020204" pitchFamily="66" charset="0"/>
                    </a:rPr>
                    <a:t> ≤ 7</a:t>
                  </a:r>
                </a:p>
                <a:p>
                  <a:pPr marL="342900" indent="-342900">
                    <a:lnSpc>
                      <a:spcPct val="200000"/>
                    </a:lnSpc>
                    <a:buFont typeface="+mj-lt"/>
                    <a:buAutoNum type="arabicParenR"/>
                  </a:pPr>
                  <a:r>
                    <a:rPr lang="en-GB" sz="2400" dirty="0">
                      <a:solidFill>
                        <a:schemeClr val="tx1"/>
                      </a:solidFill>
                      <a:latin typeface="Comic Sans MS" panose="030F0702030302020204" pitchFamily="66" charset="0"/>
                    </a:rPr>
                    <a:t>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num>
                        <m:den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9</m:t>
                          </m:r>
                        </m:den>
                      </m:f>
                    </m:oMath>
                  </a14:m>
                  <a:r>
                    <a:rPr lang="en-GB" sz="2400" dirty="0">
                      <a:solidFill>
                        <a:schemeClr val="tx1"/>
                      </a:solidFill>
                      <a:latin typeface="Comic Sans MS" panose="030F0702030302020204" pitchFamily="66" charset="0"/>
                    </a:rPr>
                    <a:t> - 7 ≥ -2</a:t>
                  </a:r>
                </a:p>
                <a:p>
                  <a:pPr marL="342900" indent="-342900">
                    <a:lnSpc>
                      <a:spcPct val="200000"/>
                    </a:lnSpc>
                    <a:buFont typeface="+mj-lt"/>
                    <a:buAutoNum type="arabicParenR"/>
                  </a:pPr>
                  <a:r>
                    <a:rPr lang="en-GB" sz="2400" dirty="0">
                      <a:solidFill>
                        <a:schemeClr val="tx1"/>
                      </a:solidFill>
                      <a:latin typeface="Comic Sans MS" panose="030F0702030302020204" pitchFamily="66" charset="0"/>
                    </a:rPr>
                    <a:t>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num>
                        <m:den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a14:m>
                  <a:r>
                    <a:rPr lang="en-GB" sz="2400" dirty="0">
                      <a:solidFill>
                        <a:schemeClr val="tx1"/>
                      </a:solidFill>
                      <a:latin typeface="Comic Sans MS" panose="030F0702030302020204" pitchFamily="66" charset="0"/>
                    </a:rPr>
                    <a:t> + 11 ≤ </a:t>
                  </a:r>
                  <a:r>
                    <a:rPr lang="en-GB" sz="2400" dirty="0" smtClean="0">
                      <a:solidFill>
                        <a:schemeClr val="tx1"/>
                      </a:solidFill>
                      <a:latin typeface="Comic Sans MS" pitchFamily="66" charset="0"/>
                    </a:rPr>
                    <a:t>27</a:t>
                  </a:r>
                </a:p>
                <a:p>
                  <a:pPr marL="342900" indent="-342900">
                    <a:lnSpc>
                      <a:spcPct val="200000"/>
                    </a:lnSpc>
                    <a:buFont typeface="+mj-lt"/>
                    <a:buAutoNum type="arabicParenR"/>
                  </a:pPr>
                  <a:r>
                    <a:rPr lang="en-GB" sz="2400" dirty="0" smtClean="0">
                      <a:solidFill>
                        <a:schemeClr val="tx1"/>
                      </a:solidFill>
                      <a:latin typeface="Comic Sans MS" pitchFamily="66" charset="0"/>
                    </a:rPr>
                    <a:t>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+19</m:t>
                          </m:r>
                        </m:num>
                        <m:den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a14:m>
                  <a:r>
                    <a:rPr lang="en-GB" sz="2400" dirty="0">
                      <a:solidFill>
                        <a:schemeClr val="tx1"/>
                      </a:solidFill>
                      <a:latin typeface="Comic Sans MS" panose="030F0702030302020204" pitchFamily="66" charset="0"/>
                    </a:rPr>
                    <a:t> &gt; 21</a:t>
                  </a:r>
                </a:p>
              </p:txBody>
            </p:sp>
          </mc:Choice>
          <mc:Fallback xmlns="">
            <p:sp>
              <p:nvSpPr>
                <p:cNvPr id="17" name="Rounded Rectangle 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7772" y="1030514"/>
                  <a:ext cx="2757714" cy="5689600"/>
                </a:xfrm>
                <a:prstGeom prst="roundRect">
                  <a:avLst/>
                </a:prstGeom>
                <a:blipFill rotWithShape="1">
                  <a:blip r:embed="rId4" cstate="print"/>
                  <a:stretch>
                    <a:fillRect/>
                  </a:stretch>
                </a:blipFill>
                <a:ln w="3810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80817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002060"/>
                </a:solidFill>
              </a:rPr>
              <a:t>Negative coefficients</a:t>
            </a:r>
            <a:endParaRPr lang="en-GB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b="1" dirty="0" smtClean="0">
                <a:solidFill>
                  <a:srgbClr val="002060"/>
                </a:solidFill>
              </a:rPr>
              <a:t>-2x &lt; 2</a:t>
            </a:r>
          </a:p>
          <a:p>
            <a:pPr>
              <a:buNone/>
            </a:pPr>
            <a:r>
              <a:rPr lang="en-GB" b="1" dirty="0" smtClean="0">
                <a:solidFill>
                  <a:srgbClr val="002060"/>
                </a:solidFill>
              </a:rPr>
              <a:t>  -x &lt; 1</a:t>
            </a:r>
          </a:p>
          <a:p>
            <a:pPr>
              <a:buNone/>
            </a:pPr>
            <a:endParaRPr lang="en-GB" b="1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en-GB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002060"/>
                </a:solidFill>
              </a:rPr>
              <a:t>Negative coefficients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b="1" dirty="0" smtClean="0">
                <a:solidFill>
                  <a:srgbClr val="002060"/>
                </a:solidFill>
              </a:rPr>
              <a:t>-2x &lt; 2</a:t>
            </a:r>
          </a:p>
          <a:p>
            <a:pPr>
              <a:buNone/>
            </a:pPr>
            <a:r>
              <a:rPr lang="en-GB" b="1" dirty="0" smtClean="0">
                <a:solidFill>
                  <a:srgbClr val="002060"/>
                </a:solidFill>
              </a:rPr>
              <a:t>  -x &lt; 1                    </a:t>
            </a:r>
            <a:r>
              <a:rPr lang="en-GB" b="1" dirty="0" smtClean="0">
                <a:solidFill>
                  <a:srgbClr val="FF0000"/>
                </a:solidFill>
              </a:rPr>
              <a:t>(Divide by -1)</a:t>
            </a:r>
          </a:p>
          <a:p>
            <a:pPr>
              <a:buNone/>
            </a:pPr>
            <a:r>
              <a:rPr lang="en-GB" b="1" dirty="0" smtClean="0">
                <a:solidFill>
                  <a:srgbClr val="002060"/>
                </a:solidFill>
              </a:rPr>
              <a:t>So is x &lt; -1?  </a:t>
            </a:r>
          </a:p>
          <a:p>
            <a:pPr>
              <a:buNone/>
            </a:pPr>
            <a:endParaRPr lang="en-GB" b="1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en-GB" b="1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en-GB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002060"/>
                </a:solidFill>
              </a:rPr>
              <a:t>Negative coefficients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b="1" dirty="0" smtClean="0">
                <a:solidFill>
                  <a:srgbClr val="002060"/>
                </a:solidFill>
              </a:rPr>
              <a:t>-2x &lt; 2</a:t>
            </a:r>
          </a:p>
          <a:p>
            <a:pPr>
              <a:buNone/>
            </a:pPr>
            <a:r>
              <a:rPr lang="en-GB" b="1" dirty="0" smtClean="0">
                <a:solidFill>
                  <a:srgbClr val="002060"/>
                </a:solidFill>
              </a:rPr>
              <a:t>  -x &lt; 1                    </a:t>
            </a:r>
            <a:r>
              <a:rPr lang="en-GB" b="1" dirty="0" smtClean="0">
                <a:solidFill>
                  <a:srgbClr val="FF0000"/>
                </a:solidFill>
              </a:rPr>
              <a:t>(Divide by -1)</a:t>
            </a:r>
          </a:p>
          <a:p>
            <a:pPr>
              <a:buNone/>
            </a:pPr>
            <a:r>
              <a:rPr lang="en-GB" b="1" dirty="0" smtClean="0">
                <a:solidFill>
                  <a:srgbClr val="002060"/>
                </a:solidFill>
              </a:rPr>
              <a:t>So is x &lt; -1?  </a:t>
            </a:r>
          </a:p>
          <a:p>
            <a:pPr>
              <a:buNone/>
            </a:pPr>
            <a:r>
              <a:rPr lang="en-GB" b="1" dirty="0" smtClean="0">
                <a:solidFill>
                  <a:srgbClr val="002060"/>
                </a:solidFill>
              </a:rPr>
              <a:t>Try substituting any value less than -1 into the original equation</a:t>
            </a:r>
          </a:p>
          <a:p>
            <a:pPr>
              <a:buNone/>
            </a:pPr>
            <a:r>
              <a:rPr lang="en-GB" b="1" dirty="0" smtClean="0">
                <a:solidFill>
                  <a:srgbClr val="002060"/>
                </a:solidFill>
              </a:rPr>
              <a:t>e.g.   -2(-3) &lt; 2</a:t>
            </a:r>
          </a:p>
          <a:p>
            <a:pPr>
              <a:buNone/>
            </a:pPr>
            <a:r>
              <a:rPr lang="en-GB" b="1" dirty="0" smtClean="0">
                <a:solidFill>
                  <a:srgbClr val="002060"/>
                </a:solidFill>
              </a:rPr>
              <a:t>                 6 &lt; 2   </a:t>
            </a:r>
          </a:p>
          <a:p>
            <a:pPr>
              <a:buNone/>
            </a:pPr>
            <a:endParaRPr lang="en-GB" b="1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en-GB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002060"/>
                </a:solidFill>
              </a:rPr>
              <a:t>Negative coefficients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b="1" dirty="0" smtClean="0">
                <a:solidFill>
                  <a:srgbClr val="002060"/>
                </a:solidFill>
              </a:rPr>
              <a:t>-2x &lt; 2</a:t>
            </a:r>
          </a:p>
          <a:p>
            <a:pPr>
              <a:buNone/>
            </a:pPr>
            <a:r>
              <a:rPr lang="en-GB" b="1" dirty="0" smtClean="0">
                <a:solidFill>
                  <a:srgbClr val="002060"/>
                </a:solidFill>
              </a:rPr>
              <a:t>  -x &lt; 1</a:t>
            </a:r>
          </a:p>
          <a:p>
            <a:pPr>
              <a:buNone/>
            </a:pPr>
            <a:r>
              <a:rPr lang="en-GB" b="1" dirty="0" smtClean="0">
                <a:solidFill>
                  <a:srgbClr val="002060"/>
                </a:solidFill>
              </a:rPr>
              <a:t>So is x &lt; -1?</a:t>
            </a:r>
          </a:p>
          <a:p>
            <a:pPr>
              <a:buNone/>
            </a:pPr>
            <a:r>
              <a:rPr lang="en-GB" b="1" dirty="0" smtClean="0">
                <a:solidFill>
                  <a:srgbClr val="002060"/>
                </a:solidFill>
              </a:rPr>
              <a:t>Try substituting any value less than -1 into the original equation</a:t>
            </a:r>
          </a:p>
          <a:p>
            <a:pPr>
              <a:buNone/>
            </a:pPr>
            <a:r>
              <a:rPr lang="en-GB" b="1" dirty="0" smtClean="0">
                <a:solidFill>
                  <a:srgbClr val="002060"/>
                </a:solidFill>
              </a:rPr>
              <a:t>e.g.   -2(-3) &lt; 2</a:t>
            </a:r>
          </a:p>
          <a:p>
            <a:pPr>
              <a:buNone/>
            </a:pPr>
            <a:r>
              <a:rPr lang="en-GB" b="1" dirty="0" smtClean="0">
                <a:solidFill>
                  <a:srgbClr val="002060"/>
                </a:solidFill>
              </a:rPr>
              <a:t>                 6 &lt; 2  </a:t>
            </a:r>
            <a:r>
              <a:rPr lang="en-GB" b="1" dirty="0" smtClean="0">
                <a:solidFill>
                  <a:srgbClr val="FF0000"/>
                </a:solidFill>
              </a:rPr>
              <a:t>Incorrect </a:t>
            </a:r>
          </a:p>
          <a:p>
            <a:pPr>
              <a:buNone/>
            </a:pPr>
            <a:endParaRPr lang="en-GB" b="1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en-GB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1640" y="2204864"/>
            <a:ext cx="6552728" cy="1656184"/>
          </a:xfrm>
          <a:ln w="38100">
            <a:solidFill>
              <a:srgbClr val="FF0000"/>
            </a:solidFill>
          </a:ln>
        </p:spPr>
        <p:txBody>
          <a:bodyPr>
            <a:normAutofit/>
          </a:bodyPr>
          <a:lstStyle/>
          <a:p>
            <a:pPr marL="0" indent="0" algn="ctr">
              <a:spcBef>
                <a:spcPct val="50000"/>
              </a:spcBef>
              <a:buNone/>
            </a:pPr>
            <a:r>
              <a:rPr lang="en-GB" dirty="0" smtClean="0">
                <a:solidFill>
                  <a:srgbClr val="002060"/>
                </a:solidFill>
              </a:rPr>
              <a:t>Whenever you multiply or divide an </a:t>
            </a:r>
            <a:r>
              <a:rPr lang="en-GB" b="1" dirty="0" smtClean="0">
                <a:solidFill>
                  <a:srgbClr val="002060"/>
                </a:solidFill>
              </a:rPr>
              <a:t>inequality</a:t>
            </a:r>
            <a:r>
              <a:rPr lang="en-GB" dirty="0" smtClean="0">
                <a:solidFill>
                  <a:srgbClr val="002060"/>
                </a:solidFill>
              </a:rPr>
              <a:t> by a negative number, you must </a:t>
            </a:r>
            <a:r>
              <a:rPr lang="en-GB" b="1" dirty="0" smtClean="0">
                <a:solidFill>
                  <a:srgbClr val="002060"/>
                </a:solidFill>
              </a:rPr>
              <a:t>flip the inequality sign</a:t>
            </a:r>
            <a:r>
              <a:rPr lang="en-GB" dirty="0" smtClean="0">
                <a:solidFill>
                  <a:srgbClr val="002060"/>
                </a:solidFill>
              </a:rPr>
              <a:t>.</a:t>
            </a:r>
            <a:endParaRPr lang="en-US" b="1" dirty="0" smtClean="0">
              <a:solidFill>
                <a:srgbClr val="002060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886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</TotalTime>
  <Words>1196</Words>
  <Application>Microsoft Office PowerPoint</Application>
  <PresentationFormat>On-screen Show (4:3)</PresentationFormat>
  <Paragraphs>259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ＭＳ Ｐゴシック</vt:lpstr>
      <vt:lpstr>Arial</vt:lpstr>
      <vt:lpstr>Calibri</vt:lpstr>
      <vt:lpstr>Cambria Math</vt:lpstr>
      <vt:lpstr>Comic Sans MS</vt:lpstr>
      <vt:lpstr>Office Theme</vt:lpstr>
      <vt:lpstr>Inequalities</vt:lpstr>
      <vt:lpstr>Inequalities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 Do</vt:lpstr>
      <vt:lpstr>To Do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True or false?</vt:lpstr>
      <vt:lpstr>True or false?</vt:lpstr>
      <vt:lpstr>True or false?</vt:lpstr>
      <vt:lpstr>True or false?</vt:lpstr>
      <vt:lpstr>True or false?</vt:lpstr>
      <vt:lpstr>True or false?</vt:lpstr>
      <vt:lpstr>True or false?</vt:lpstr>
      <vt:lpstr>True or false?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Negative coefficients</vt:lpstr>
      <vt:lpstr>Negative coefficients</vt:lpstr>
      <vt:lpstr>Negative coefficients</vt:lpstr>
      <vt:lpstr>Negative coefficients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Solving Equations</dc:title>
  <dc:creator>STBNE</dc:creator>
  <cp:lastModifiedBy>RUST Joanne [Baldivis Secondary College]</cp:lastModifiedBy>
  <cp:revision>23</cp:revision>
  <dcterms:created xsi:type="dcterms:W3CDTF">2013-03-10T12:26:27Z</dcterms:created>
  <dcterms:modified xsi:type="dcterms:W3CDTF">2019-05-01T12:36:32Z</dcterms:modified>
</cp:coreProperties>
</file>